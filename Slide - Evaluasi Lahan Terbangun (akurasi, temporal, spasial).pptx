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9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96"/>
  </p:notesMasterIdLst>
  <p:sldIdLst>
    <p:sldId id="284" r:id="rId34"/>
    <p:sldId id="285" r:id="rId35"/>
    <p:sldId id="346" r:id="rId194"/>
  </p:sldIdLst>
  <p:sldSz cx="18288000" cy="10287000"/>
  <p:notesSz cx="6858000" cy="9144000"/>
  <p:embeddedFontLst>
    <p:embeddedFont>
      <p:font typeface="Calibri (MS) Bold" charset="1" panose="020F0702030404030204"/>
      <p:regular r:id="rId99"/>
    </p:embeddedFont>
    <p:embeddedFont>
      <p:font typeface="Calibri (MS) Bold Italics" charset="1" panose="020F07020304040A0204"/>
      <p:regular r:id="rId100"/>
    </p:embeddedFont>
    <p:embeddedFont>
      <p:font typeface="Calibri (MS)" charset="1" panose="020F0502020204030204"/>
      <p:regular r:id="rId101"/>
    </p:embeddedFont>
    <p:embeddedFont>
      <p:font typeface="Montserrat" charset="1" panose="00000500000000000000"/>
      <p:regular r:id="rId105"/>
    </p:embeddedFont>
    <p:embeddedFont>
      <p:font typeface="Calibri (MS) Italics" charset="1" panose="020F05020202040A0204"/>
      <p:regular r:id="rId108"/>
    </p:embeddedFont>
    <p:embeddedFont>
      <p:font typeface="Cambria Italics" charset="1" panose="020405030504060A0204"/>
      <p:regular r:id="rId1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34" Type="http://schemas.openxmlformats.org/officeDocument/2006/relationships/slide" Target="slides/slide1.xml"/><Relationship Id="rId35" Type="http://schemas.openxmlformats.org/officeDocument/2006/relationships/slide" Target="slides/slide2.xml"/><Relationship Id="rId96" Type="http://schemas.openxmlformats.org/officeDocument/2006/relationships/notesMaster" Target="notesMasters/notesMaster1.xml"/><Relationship Id="rId97" Type="http://schemas.openxmlformats.org/officeDocument/2006/relationships/theme" Target="theme/theme2.xml"/><Relationship Id="rId99" Type="http://schemas.openxmlformats.org/officeDocument/2006/relationships/font" Target="fonts/font99.fntdata"/><Relationship Id="rId100" Type="http://schemas.openxmlformats.org/officeDocument/2006/relationships/font" Target="fonts/font100.fntdata"/><Relationship Id="rId101" Type="http://schemas.openxmlformats.org/officeDocument/2006/relationships/font" Target="fonts/font101.fntdata"/><Relationship Id="rId105" Type="http://schemas.openxmlformats.org/officeDocument/2006/relationships/font" Target="fonts/font105.fntdata"/><Relationship Id="rId108" Type="http://schemas.openxmlformats.org/officeDocument/2006/relationships/font" Target="fonts/font108.fntdata"/><Relationship Id="rId128" Type="http://schemas.openxmlformats.org/officeDocument/2006/relationships/font" Target="fonts/font128.fntdata"/><Relationship Id="rId194"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Dynamic World (dipakai di model)</c:v>
                </c:pt>
              </c:strCache>
            </c:strRef>
          </c:tx>
          <c:spPr>
            <a:ln w="34925">
              <a:solidFill>
                <a:srgbClr val="0B5E6E"/>
              </a:solidFill>
            </a:ln>
          </c:spPr>
          <c:marker>
            <c:size val="8"/>
            <c:spPr>
              <a:solidFill>
                <a:srgbClr val="0B5E6E"/>
              </a:solidFill>
              <a:ln>
                <a:solidFill>
                  <a:srgbClr val="0B5E6E"/>
                </a:solidFill>
              </a:ln>
            </c:spPr>
          </c:marker>
          <c:cat>
            <c:strRef>
              <c:f>Sheet1!$A$2:$A$12</c:f>
              <c:strCache>
                <c:ptCount val="11"/>
                <c:pt idx="0">
                  <c:v>2015</c:v>
                </c:pt>
                <c:pt idx="1">
                  <c:v>2016</c:v>
                </c:pt>
                <c:pt idx="2">
                  <c:v>2017</c:v>
                </c:pt>
                <c:pt idx="3">
                  <c:v>2018</c:v>
                </c:pt>
                <c:pt idx="4">
                  <c:v>2019</c:v>
                </c:pt>
                <c:pt idx="5">
                  <c:v>2020</c:v>
                </c:pt>
                <c:pt idx="6">
                  <c:v>2021</c:v>
                </c:pt>
                <c:pt idx="7">
                  <c:v>2022</c:v>
                </c:pt>
                <c:pt idx="8">
                  <c:v>2023</c:v>
                </c:pt>
                <c:pt idx="9">
                  <c:v>2024</c:v>
                </c:pt>
                <c:pt idx="10">
                  <c:v>2025</c:v>
                </c:pt>
              </c:strCache>
            </c:strRef>
          </c:cat>
          <c:val>
            <c:numRef>
              <c:f>Sheet1!$B$2:$B$12</c:f>
              <c:numCache>
                <c:formatCode>General</c:formatCode>
                <c:ptCount val="11"/>
                <c:pt idx="0">
                  <c:v>43037</c:v>
                </c:pt>
                <c:pt idx="1">
                  <c:v>44561</c:v>
                </c:pt>
                <c:pt idx="2">
                  <c:v>50224</c:v>
                </c:pt>
                <c:pt idx="3">
                  <c:v>56624</c:v>
                </c:pt>
                <c:pt idx="4">
                  <c:v>63480</c:v>
                </c:pt>
                <c:pt idx="5">
                  <c:v>58962</c:v>
                </c:pt>
                <c:pt idx="6">
                  <c:v>59888</c:v>
                </c:pt>
                <c:pt idx="7">
                  <c:v>57709</c:v>
                </c:pt>
                <c:pt idx="8">
                  <c:v>75624</c:v>
                </c:pt>
                <c:pt idx="9">
                  <c:v>73512</c:v>
                </c:pt>
                <c:pt idx="10">
                  <c:v>55030</c:v>
                </c:pt>
              </c:numCache>
            </c:numRef>
          </c:val>
          <c:smooth val="0"/>
        </c:ser>
        <c:ser>
          <c:idx val="1"/>
          <c:order val="1"/>
          <c:tx>
            <c:strRef>
              <c:f>Sheet1!$C$1</c:f>
              <c:strCache>
                <c:ptCount val="1"/>
                <c:pt idx="0">
                  <c:v>BPS (lahan bukan pertanian)</c:v>
                </c:pt>
              </c:strCache>
            </c:strRef>
          </c:tx>
          <c:spPr>
            <a:ln w="34925">
              <a:solidFill>
                <a:srgbClr val="E4604F"/>
              </a:solidFill>
            </a:ln>
          </c:spPr>
          <c:marker>
            <c:size val="8"/>
            <c:spPr>
              <a:solidFill>
                <a:srgbClr val="E4604F"/>
              </a:solidFill>
              <a:ln>
                <a:solidFill>
                  <a:srgbClr val="E4604F"/>
                </a:solidFill>
              </a:ln>
            </c:spPr>
          </c:marker>
          <c:dLbls>
            <c:numFmt formatCode="#,##0" sourceLinked="0"/>
            <c:txPr>
              <a:bodyPr/>
              <a:lstStyle/>
              <a:p>
                <a:pPr>
                  <a:defRPr sz="950">
                    <a:solidFill>
                      <a:srgbClr val="E4604F"/>
                    </a:solidFill>
                  </a:defRPr>
                </a:pPr>
              </a:p>
            </c:txPr>
            <c:dLblPos val="t"/>
            <c:showLegendKey val="0"/>
            <c:showVal val="1"/>
            <c:showCatName val="0"/>
            <c:showSerName val="0"/>
            <c:showPercent val="0"/>
            <c:showBubbleSize val="0"/>
            <c:showLeaderLines val="1"/>
          </c:dLbls>
          <c:cat>
            <c:strRef>
              <c:f>Sheet1!$A$2:$A$12</c:f>
              <c:strCache>
                <c:ptCount val="11"/>
                <c:pt idx="0">
                  <c:v>2015</c:v>
                </c:pt>
                <c:pt idx="1">
                  <c:v>2016</c:v>
                </c:pt>
                <c:pt idx="2">
                  <c:v>2017</c:v>
                </c:pt>
                <c:pt idx="3">
                  <c:v>2018</c:v>
                </c:pt>
                <c:pt idx="4">
                  <c:v>2019</c:v>
                </c:pt>
                <c:pt idx="5">
                  <c:v>2020</c:v>
                </c:pt>
                <c:pt idx="6">
                  <c:v>2021</c:v>
                </c:pt>
                <c:pt idx="7">
                  <c:v>2022</c:v>
                </c:pt>
                <c:pt idx="8">
                  <c:v>2023</c:v>
                </c:pt>
                <c:pt idx="9">
                  <c:v>2024</c:v>
                </c:pt>
                <c:pt idx="10">
                  <c:v>2025</c:v>
                </c:pt>
              </c:strCache>
            </c:strRef>
          </c:cat>
          <c:val>
            <c:numRef>
              <c:f>Sheet1!$C$2:$C$12</c:f>
              <c:numCache>
                <c:formatCode>General</c:formatCode>
                <c:ptCount val="11"/>
                <c:pt idx="0">
                  <c:v>76334</c:v>
                </c:pt>
                <c:pt idx="1">
                  <c:v>77467</c:v>
                </c:pt>
                <c:pt idx="2">
                  <c:v>108580</c:v>
                </c:pt>
                <c:pt idx="3">
                  <c:v>114942</c:v>
                </c:pt>
                <c:pt idx="4">
                  <c:v>70371</c:v>
                </c:pt>
              </c:numCache>
            </c:numRef>
          </c:val>
          <c:smooth val="0"/>
        </c:ser>
        <c:ser>
          <c:idx val="2"/>
          <c:order val="2"/>
          <c:tx>
            <c:strRef>
              <c:f>Sheet1!$D$1</c:f>
              <c:strCache>
                <c:ptCount val="1"/>
                <c:pt idx="0">
                  <c:v>DLHK DIY</c:v>
                </c:pt>
              </c:strCache>
            </c:strRef>
          </c:tx>
          <c:spPr>
            <a:ln w="34925">
              <a:solidFill>
                <a:srgbClr val="E0A800"/>
              </a:solidFill>
            </a:ln>
          </c:spPr>
          <c:marker>
            <c:size val="8"/>
            <c:spPr>
              <a:solidFill>
                <a:srgbClr val="E0A800"/>
              </a:solidFill>
              <a:ln>
                <a:solidFill>
                  <a:srgbClr val="E0A800"/>
                </a:solidFill>
              </a:ln>
            </c:spPr>
          </c:marker>
          <c:dLbls>
            <c:numFmt formatCode="#,##0" sourceLinked="0"/>
            <c:txPr>
              <a:bodyPr/>
              <a:lstStyle/>
              <a:p>
                <a:pPr>
                  <a:defRPr sz="950">
                    <a:solidFill>
                      <a:srgbClr val="9A6B00"/>
                    </a:solidFill>
                  </a:defRPr>
                </a:pPr>
              </a:p>
            </c:txPr>
            <c:dLblPos val="b"/>
            <c:showLegendKey val="0"/>
            <c:showVal val="1"/>
            <c:showCatName val="0"/>
            <c:showSerName val="0"/>
            <c:showPercent val="0"/>
            <c:showBubbleSize val="0"/>
            <c:showLeaderLines val="1"/>
          </c:dLbls>
          <c:cat>
            <c:strRef>
              <c:f>Sheet1!$A$2:$A$12</c:f>
              <c:strCache>
                <c:ptCount val="11"/>
                <c:pt idx="0">
                  <c:v>2015</c:v>
                </c:pt>
                <c:pt idx="1">
                  <c:v>2016</c:v>
                </c:pt>
                <c:pt idx="2">
                  <c:v>2017</c:v>
                </c:pt>
                <c:pt idx="3">
                  <c:v>2018</c:v>
                </c:pt>
                <c:pt idx="4">
                  <c:v>2019</c:v>
                </c:pt>
                <c:pt idx="5">
                  <c:v>2020</c:v>
                </c:pt>
                <c:pt idx="6">
                  <c:v>2021</c:v>
                </c:pt>
                <c:pt idx="7">
                  <c:v>2022</c:v>
                </c:pt>
                <c:pt idx="8">
                  <c:v>2023</c:v>
                </c:pt>
                <c:pt idx="9">
                  <c:v>2024</c:v>
                </c:pt>
                <c:pt idx="10">
                  <c:v>2025</c:v>
                </c:pt>
              </c:strCache>
            </c:strRef>
          </c:cat>
          <c:val>
            <c:numRef>
              <c:f>Sheet1!$D$2:$D$12</c:f>
              <c:numCache>
                <c:formatCode>General</c:formatCode>
                <c:ptCount val="11"/>
                <c:pt idx="0">
                  <c:v>75146</c:v>
                </c:pt>
                <c:pt idx="1">
                  <c:v>65461</c:v>
                </c:pt>
                <c:pt idx="2">
                  <c:v>70371</c:v>
                </c:pt>
                <c:pt idx="3">
                  <c:v>70371</c:v>
                </c:pt>
              </c:numCache>
            </c:numRef>
          </c:val>
          <c:smooth val="0"/>
        </c:ser>
        <c:dLbls>
          <c:numFmt formatCode="#,##0" sourceLinked="0"/>
          <c:txPr>
            <a:bodyPr/>
            <a:lstStyle/>
            <a:p>
              <a:pPr>
                <a:defRPr sz="950"/>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000"/>
            </a:pPr>
          </a:p>
        </c:txPr>
        <c:crossAx val="2140495176"/>
        <c:crosses val="autoZero"/>
        <c:auto val="1"/>
        <c:lblAlgn val="ctr"/>
        <c:lblOffset val="100"/>
        <c:noMultiLvlLbl val="0"/>
      </c:catAx>
      <c:valAx>
        <c:axId val="2140495176"/>
        <c:scaling>
          <c:max val="125000.0"/>
          <c:min val="30000.0"/>
        </c:scaling>
        <c:delete val="0"/>
        <c:axPos val="l"/>
        <c:majorGridlines>
          <c:spPr>
            <a:ln>
              <a:solidFill>
                <a:srgbClr val="E3EEF1"/>
              </a:solidFill>
            </a:ln>
          </c:spPr>
        </c:majorGridlines>
        <c:numFmt formatCode="#,##0" sourceLinked="0"/>
        <c:majorTickMark val="out"/>
        <c:minorTickMark val="none"/>
        <c:tickLblPos val="nextTo"/>
        <c:txPr>
          <a:bodyPr/>
          <a:lstStyle/>
          <a:p>
            <a:pPr>
              <a:defRPr sz="1000"/>
            </a:pPr>
          </a:p>
        </c:txPr>
        <c:crossAx val="2118791784"/>
        <c:crosses val="autoZero"/>
      </c:valAx>
    </c:plotArea>
    <c:legend>
      <c:legendPos val="t"/>
      <c:layout/>
      <c:overlay val="0"/>
    </c:legend>
    <c:plotVisOnly val="1"/>
    <c:dispBlanksAs val="gap"/>
    <c:showDLblsOverMax val="0"/>
  </c:chart>
  <c:txPr>
    <a:bodyPr/>
    <a:lstStyle/>
    <a:p>
      <a:pPr>
        <a:defRPr sz="1100">
          <a:solidFill>
            <a:srgbClr val="14313B"/>
          </a:solidFill>
          <a:latin typeface="Calibri (M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Akurasi kelas terbangun Dynamic World 2025 diuji dengan 200 titik acak berstrata, dibandingkan dengan interpretasi visual citra resolusi tinggi. Karena sampel dibuat 50:50 padahal luas lahan terbangun jauh lebih kecil, ukuran utamanya adalah akurasi terbobot luas mengikuti Olofsson dkk.: 89,95 persen. Kappa 0,61 termasuk kesepakatan kuat. Kesalahan didominasi commission error, 34 titik, artinya peta cenderung sedikit melebihkan lahan terbangun.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Validasi temporal membandingkan Dynamic World dengan data resmi pada tahun yang tersedia, 2015 sampai 2019. Data BPS naik 40,2 persen lalu turun 38,8 persen, dan DLHK turun 12,9 persen; keduanya tidak konsisten dan tidak sejalan. Dynamic World naik stabil sekitar 12 sampai 13 persen per tahun, sehingga tetap dipilih. Setelah 2019 data Dynamic World naik-turun, dan diagnosis menunjukkan naik-turunnya mengikuti jumlah observasi citra, bukan perubahan lahan. Ini saya catat sebagai keterbatasan.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Validasi spasial: titik-titik dari uji akurasi saya cek ulang di citra resolusi tinggi. Titik yang benar berada di kawasan yang jelas terbangun atau jelas bervegetasi. Titik yang salah umumnya di tepi objek, misalnya tepi jalan yang hanya menutupi sekitar 7 dari 10 meter piksel. Ini didukung angka: akurasi pada probabilitas rendah 97,7 persen, tetapi pada probabilitas dekat 0,5 hanya 52 persen. Jadi kesalahannya sistematis, bukan acak.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3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35.png"/><Relationship Id="rId8"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3.png"/><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35.png"/><Relationship Id="rId8" Type="http://schemas.openxmlformats.org/officeDocument/2006/relationships/image" Target="../media/image104.png"/><Relationship Id="rId9" Type="http://schemas.openxmlformats.org/officeDocument/2006/relationships/notesSlide" Target="../notesSlides/notesSlide91.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Estimasi Lahan Terbangun — Uji Akurasi dan Metrik Evaluasi</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Dynamic World cukup akurat untuk data lahan terbangun: akurasi 89,95%, Kappa 0,61</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110" id="110"/>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
            </a:r>
          </a:p>
        </p:txBody>
      </p:sp>
      <p:grpSp>
        <p:nvGrpSpPr>
          <p:cNvPr name="Group 111" id="111"/>
          <p:cNvGrpSpPr/>
          <p:nvPr/>
        </p:nvGrpSpPr>
        <p:grpSpPr>
          <a:xfrm rot="0">
            <a:off x="12755880" y="274320"/>
            <a:ext cx="3931920" cy="411480"/>
            <a:chOff x="0" y="0"/>
            <a:chExt cx="5242560" cy="548640"/>
          </a:xfrm>
        </p:grpSpPr>
        <p:sp>
          <p:nvSpPr>
            <p:cNvPr name="Freeform 112" id="112"/>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13" id="113"/>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2A · Integrasi citra satelit</a:t>
              </a:r>
            </a:p>
          </p:txBody>
        </p:sp>
      </p:grpSp>
      <p:sp>
        <p:nvSpPr>
          <p:cNvPr id="114" name="Rounded Rectangle 113"/>
          <p:cNvSpPr/>
          <p:nvPr/>
        </p:nvSpPr>
        <p:spPr>
          <a:xfrm>
            <a:off x="822960" y="1783080"/>
            <a:ext cx="16642080" cy="566928"/>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550" b="1" i="0">
                <a:solidFill>
                  <a:srgbClr val="FFD23B"/>
                </a:solidFill>
                <a:latin typeface="Calibri (MS) Bold"/>
              </a:rPr>
              <a:t>Desain uji  </a:t>
            </a:r>
            <a:r>
              <a:rPr sz="1490" b="1" i="0">
                <a:solidFill>
                  <a:srgbClr val="FFFFFF"/>
                </a:solidFill>
                <a:latin typeface="Calibri (MS) Bold"/>
              </a:rPr>
              <a:t>Peta Dynamic World 2025 (kelas built, probabilitas ≥ 0,5) · 200 titik acak berstrata (100 terbangun, 100 bukan) · rujukan: interpretasi visual citra resolusi tinggi Google Earth</a:t>
            </a:r>
          </a:p>
        </p:txBody>
      </p:sp>
      <p:graphicFrame>
        <p:nvGraphicFramePr>
          <p:cNvPr id="115" name="Table 114"/>
          <p:cNvGraphicFramePr>
            <a:graphicFrameLocks noGrp="1"/>
          </p:cNvGraphicFramePr>
          <p:nvPr/>
        </p:nvGraphicFramePr>
        <p:xfrm>
          <a:off x="822960" y="2487168"/>
          <a:ext cx="16642079" cy="3968496"/>
        </p:xfrm>
        <a:graphic>
          <a:graphicData uri="http://schemas.openxmlformats.org/drawingml/2006/table">
            <a:tbl>
              <a:tblPr firstRow="1" bandRow="1">
                <a:tableStyleId>{5C22544A-7EE6-4342-B048-85BDC9FD1C3A}</a:tableStyleId>
              </a:tblPr>
              <a:tblGrid>
                <a:gridCol w="3566159"/>
                <a:gridCol w="4480560"/>
                <a:gridCol w="4663440"/>
                <a:gridCol w="1737360"/>
                <a:gridCol w="2194560"/>
              </a:tblGrid>
              <a:tr h="566928">
                <a:tc>
                  <a:txBody>
                    <a:bodyPr wrap="square"/>
                    <a:lstStyle/>
                    <a:p>
                      <a:r>
                        <a:rPr sz="1320" b="1" i="0">
                          <a:solidFill>
                            <a:srgbClr val="FFFFFF"/>
                          </a:solidFill>
                          <a:latin typeface="Calibri (MS) Bold"/>
                        </a:rPr>
                        <a:t>Metrik</a:t>
                      </a:r>
                    </a:p>
                  </a:txBody>
                  <a:tcPr marL="73152" marR="73152" marT="36576" marB="36576" anchor="ctr">
                    <a:solidFill>
                      <a:srgbClr val="0B5E6E"/>
                    </a:solidFill>
                  </a:tcPr>
                </a:tc>
                <a:tc>
                  <a:txBody>
                    <a:bodyPr wrap="square"/>
                    <a:lstStyle/>
                    <a:p>
                      <a:r>
                        <a:rPr sz="1320" b="1" i="0">
                          <a:solidFill>
                            <a:srgbClr val="FFFFFF"/>
                          </a:solidFill>
                          <a:latin typeface="Calibri (MS) Bold"/>
                        </a:rPr>
                        <a:t>Rumus</a:t>
                      </a:r>
                    </a:p>
                  </a:txBody>
                  <a:tcPr marL="73152" marR="73152" marT="36576" marB="36576" anchor="ctr">
                    <a:solidFill>
                      <a:srgbClr val="0B5E6E"/>
                    </a:solidFill>
                  </a:tcPr>
                </a:tc>
                <a:tc>
                  <a:txBody>
                    <a:bodyPr wrap="square"/>
                    <a:lstStyle/>
                    <a:p>
                      <a:r>
                        <a:rPr sz="1320" b="1" i="0">
                          <a:solidFill>
                            <a:srgbClr val="FFFFFF"/>
                          </a:solidFill>
                          <a:latin typeface="Calibri (MS) Bold"/>
                        </a:rPr>
                        <a:t>Cara membaca / kriteria</a:t>
                      </a:r>
                    </a:p>
                  </a:txBody>
                  <a:tcPr marL="73152" marR="73152" marT="36576" marB="36576" anchor="ctr">
                    <a:solidFill>
                      <a:srgbClr val="0B5E6E"/>
                    </a:solidFill>
                  </a:tcPr>
                </a:tc>
                <a:tc>
                  <a:txBody>
                    <a:bodyPr wrap="square"/>
                    <a:lstStyle/>
                    <a:p>
                      <a:r>
                        <a:rPr sz="1320" b="1" i="0">
                          <a:solidFill>
                            <a:srgbClr val="FFFFFF"/>
                          </a:solidFill>
                          <a:latin typeface="Calibri (MS) Bold"/>
                        </a:rPr>
                        <a:t>Hasil</a:t>
                      </a:r>
                    </a:p>
                  </a:txBody>
                  <a:tcPr marL="73152" marR="73152" marT="36576" marB="36576" anchor="ctr">
                    <a:solidFill>
                      <a:srgbClr val="0B5E6E"/>
                    </a:solidFill>
                  </a:tcPr>
                </a:tc>
                <a:tc>
                  <a:txBody>
                    <a:bodyPr wrap="square"/>
                    <a:lstStyle/>
                    <a:p>
                      <a:r>
                        <a:rPr sz="1320" b="1" i="0">
                          <a:solidFill>
                            <a:srgbClr val="FFFFFF"/>
                          </a:solidFill>
                          <a:latin typeface="Calibri (MS) Bold"/>
                        </a:rPr>
                        <a:t>IK 95%</a:t>
                      </a:r>
                    </a:p>
                  </a:txBody>
                  <a:tcPr marL="73152" marR="73152" marT="36576" marB="36576" anchor="ctr">
                    <a:solidFill>
                      <a:srgbClr val="0B5E6E"/>
                    </a:solidFill>
                  </a:tcPr>
                </a:tc>
              </a:tr>
              <a:tr h="566928">
                <a:tc>
                  <a:txBody>
                    <a:bodyPr wrap="square"/>
                    <a:lstStyle/>
                    <a:p>
                      <a:r>
                        <a:rPr sz="1320" b="1" i="0">
                          <a:solidFill>
                            <a:srgbClr val="14313B"/>
                          </a:solidFill>
                          <a:latin typeface="Calibri (MS) Bold"/>
                        </a:rPr>
                        <a:t>Overall accuracy (tak terbobot)</a:t>
                      </a:r>
                    </a:p>
                  </a:txBody>
                  <a:tcPr marL="73152" marR="73152" marT="36576" marB="36576" anchor="ctr">
                    <a:solidFill>
                      <a:srgbClr val="FFFFFF"/>
                    </a:solidFill>
                  </a:tcPr>
                </a:tc>
                <a:tc>
                  <a:txBody>
                    <a:bodyPr wrap="square"/>
                    <a:lstStyle/>
                    <a:p>
                      <a:r>
                        <a:rPr sz="1320" b="0" i="0">
                          <a:solidFill>
                            <a:srgbClr val="14313B"/>
                          </a:solidFill>
                          <a:latin typeface="Calibri (MS)"/>
                        </a:rPr>
                        <a:t>OA = (n₁₁ + n₀₀) / n</a:t>
                      </a:r>
                    </a:p>
                  </a:txBody>
                  <a:tcPr marL="73152" marR="73152" marT="36576" marB="36576" anchor="ctr">
                    <a:solidFill>
                      <a:srgbClr val="FFFFFF"/>
                    </a:solidFill>
                  </a:tcPr>
                </a:tc>
                <a:tc>
                  <a:txBody>
                    <a:bodyPr wrap="square"/>
                    <a:lstStyle/>
                    <a:p>
                      <a:r>
                        <a:rPr sz="1320" b="0" i="0">
                          <a:solidFill>
                            <a:srgbClr val="14313B"/>
                          </a:solidFill>
                          <a:latin typeface="Calibri (MS)"/>
                        </a:rPr>
                        <a:t>Porsi titik yang benar; bias karena sampel 50:50</a:t>
                      </a:r>
                    </a:p>
                  </a:txBody>
                  <a:tcPr marL="73152" marR="73152" marT="36576" marB="36576" anchor="ctr">
                    <a:solidFill>
                      <a:srgbClr val="FFFFFF"/>
                    </a:solidFill>
                  </a:tcPr>
                </a:tc>
                <a:tc>
                  <a:txBody>
                    <a:bodyPr wrap="square"/>
                    <a:lstStyle/>
                    <a:p>
                      <a:pPr algn="ctr"/>
                      <a:r>
                        <a:rPr sz="1320" b="0" i="0">
                          <a:solidFill>
                            <a:srgbClr val="14313B"/>
                          </a:solidFill>
                          <a:latin typeface="Calibri (MS)"/>
                        </a:rPr>
                        <a:t>80,50%</a:t>
                      </a:r>
                    </a:p>
                  </a:txBody>
                  <a:tcPr marL="73152" marR="73152" marT="36576" marB="36576" anchor="ctr">
                    <a:solidFill>
                      <a:srgbClr val="FFFFFF"/>
                    </a:solidFill>
                  </a:tcPr>
                </a:tc>
                <a:tc>
                  <a:txBody>
                    <a:bodyPr wrap="square"/>
                    <a:lstStyle/>
                    <a:p>
                      <a:pPr algn="ctr"/>
                      <a:r>
                        <a:rPr sz="1320" b="0" i="0">
                          <a:solidFill>
                            <a:srgbClr val="14313B"/>
                          </a:solidFill>
                          <a:latin typeface="Calibri (MS)"/>
                        </a:rPr>
                        <a:t>74,46–85,39%</a:t>
                      </a:r>
                    </a:p>
                  </a:txBody>
                  <a:tcPr marL="73152" marR="73152" marT="36576" marB="36576" anchor="ctr">
                    <a:solidFill>
                      <a:srgbClr val="FFFFFF"/>
                    </a:solidFill>
                  </a:tcPr>
                </a:tc>
              </a:tr>
              <a:tr h="566928">
                <a:tc>
                  <a:txBody>
                    <a:bodyPr wrap="square"/>
                    <a:lstStyle/>
                    <a:p>
                      <a:r>
                        <a:rPr sz="1320" b="1" i="0">
                          <a:solidFill>
                            <a:srgbClr val="14313B"/>
                          </a:solidFill>
                          <a:latin typeface="Calibri (MS) Bold"/>
                        </a:rPr>
                        <a:t>Overall accuracy terbobot luas (Olofsson dkk., 2014)</a:t>
                      </a:r>
                    </a:p>
                  </a:txBody>
                  <a:tcPr marL="73152" marR="73152" marT="36576" marB="36576" anchor="ctr">
                    <a:solidFill>
                      <a:srgbClr val="EAF8FA"/>
                    </a:solidFill>
                  </a:tcPr>
                </a:tc>
                <a:tc>
                  <a:txBody>
                    <a:bodyPr wrap="square"/>
                    <a:lstStyle/>
                    <a:p>
                      <a:r>
                        <a:rPr sz="1320" b="0" i="0">
                          <a:solidFill>
                            <a:srgbClr val="14313B"/>
                          </a:solidFill>
                          <a:latin typeface="Calibri (MS)"/>
                        </a:rPr>
                        <a:t>ÔA = Σ Wᵢ · (nᵢᵢ / nᵢ.) ;  Wᵢ = Aᵢ / A_total</a:t>
                      </a:r>
                    </a:p>
                  </a:txBody>
                  <a:tcPr marL="73152" marR="73152" marT="36576" marB="36576" anchor="ctr">
                    <a:solidFill>
                      <a:srgbClr val="EAF8FA"/>
                    </a:solidFill>
                  </a:tcPr>
                </a:tc>
                <a:tc>
                  <a:txBody>
                    <a:bodyPr wrap="square"/>
                    <a:lstStyle/>
                    <a:p>
                      <a:r>
                        <a:rPr sz="1320" b="0" i="0">
                          <a:solidFill>
                            <a:srgbClr val="14313B"/>
                          </a:solidFill>
                          <a:latin typeface="Calibri (MS)"/>
                        </a:rPr>
                        <a:t>Ukuran utama: menyesuaikan dengan luas tiap kelas</a:t>
                      </a:r>
                    </a:p>
                  </a:txBody>
                  <a:tcPr marL="73152" marR="73152" marT="36576" marB="36576" anchor="ctr">
                    <a:solidFill>
                      <a:srgbClr val="EAF8FA"/>
                    </a:solidFill>
                  </a:tcPr>
                </a:tc>
                <a:tc>
                  <a:txBody>
                    <a:bodyPr wrap="square"/>
                    <a:lstStyle/>
                    <a:p>
                      <a:pPr algn="ctr"/>
                      <a:r>
                        <a:rPr sz="1320" b="1" i="0">
                          <a:solidFill>
                            <a:srgbClr val="14313B"/>
                          </a:solidFill>
                          <a:latin typeface="Calibri (MS)"/>
                        </a:rPr>
                        <a:t>89,95%</a:t>
                      </a:r>
                    </a:p>
                  </a:txBody>
                  <a:tcPr marL="73152" marR="73152" marT="36576" marB="36576" anchor="ctr">
                    <a:solidFill>
                      <a:srgbClr val="C9F0D6"/>
                    </a:solidFill>
                  </a:tcPr>
                </a:tc>
                <a:tc>
                  <a:txBody>
                    <a:bodyPr wrap="square"/>
                    <a:lstStyle/>
                    <a:p>
                      <a:pPr algn="ctr"/>
                      <a:r>
                        <a:rPr sz="1320" b="0" i="0">
                          <a:solidFill>
                            <a:srgbClr val="14313B"/>
                          </a:solidFill>
                          <a:latin typeface="Calibri (MS)"/>
                        </a:rPr>
                        <a:t>86,05–93,85%</a:t>
                      </a:r>
                    </a:p>
                  </a:txBody>
                  <a:tcPr marL="73152" marR="73152" marT="36576" marB="36576" anchor="ctr">
                    <a:solidFill>
                      <a:srgbClr val="EAF8FA"/>
                    </a:solidFill>
                  </a:tcPr>
                </a:tc>
              </a:tr>
              <a:tr h="566928">
                <a:tc>
                  <a:txBody>
                    <a:bodyPr wrap="square"/>
                    <a:lstStyle/>
                    <a:p>
                      <a:r>
                        <a:rPr sz="1320" b="1" i="0">
                          <a:solidFill>
                            <a:srgbClr val="14313B"/>
                          </a:solidFill>
                          <a:latin typeface="Calibri (MS) Bold"/>
                        </a:rPr>
                        <a:t>User's accuracy (terbangun)</a:t>
                      </a:r>
                    </a:p>
                  </a:txBody>
                  <a:tcPr marL="73152" marR="73152" marT="36576" marB="36576" anchor="ctr">
                    <a:solidFill>
                      <a:srgbClr val="FFFFFF"/>
                    </a:solidFill>
                  </a:tcPr>
                </a:tc>
                <a:tc>
                  <a:txBody>
                    <a:bodyPr wrap="square"/>
                    <a:lstStyle/>
                    <a:p>
                      <a:r>
                        <a:rPr sz="1320" b="0" i="0">
                          <a:solidFill>
                            <a:srgbClr val="14313B"/>
                          </a:solidFill>
                          <a:latin typeface="Calibri (MS)"/>
                        </a:rPr>
                        <a:t>UA = n₁₁ / (n₁₁ + n₁₀)</a:t>
                      </a:r>
                    </a:p>
                  </a:txBody>
                  <a:tcPr marL="73152" marR="73152" marT="36576" marB="36576" anchor="ctr">
                    <a:solidFill>
                      <a:srgbClr val="FFFFFF"/>
                    </a:solidFill>
                  </a:tcPr>
                </a:tc>
                <a:tc>
                  <a:txBody>
                    <a:bodyPr wrap="square"/>
                    <a:lstStyle/>
                    <a:p>
                      <a:r>
                        <a:rPr sz="1320" b="0" i="0">
                          <a:solidFill>
                            <a:srgbClr val="14313B"/>
                          </a:solidFill>
                          <a:latin typeface="Calibri (MS)"/>
                        </a:rPr>
                        <a:t>Ketepatan peta: yang dipetakan terbangun benar terbangun</a:t>
                      </a:r>
                    </a:p>
                  </a:txBody>
                  <a:tcPr marL="73152" marR="73152" marT="36576" marB="36576" anchor="ctr">
                    <a:solidFill>
                      <a:srgbClr val="FFFFFF"/>
                    </a:solidFill>
                  </a:tcPr>
                </a:tc>
                <a:tc>
                  <a:txBody>
                    <a:bodyPr wrap="square"/>
                    <a:lstStyle/>
                    <a:p>
                      <a:pPr algn="ctr"/>
                      <a:r>
                        <a:rPr sz="1320" b="0" i="0">
                          <a:solidFill>
                            <a:srgbClr val="14313B"/>
                          </a:solidFill>
                          <a:latin typeface="Calibri (MS)"/>
                        </a:rPr>
                        <a:t>66,00%</a:t>
                      </a:r>
                    </a:p>
                  </a:txBody>
                  <a:tcPr marL="73152" marR="73152" marT="36576" marB="36576" anchor="ctr">
                    <a:solidFill>
                      <a:srgbClr val="FFFFFF"/>
                    </a:solidFill>
                  </a:tcPr>
                </a:tc>
                <a:tc>
                  <a:txBody>
                    <a:bodyPr wrap="square"/>
                    <a:lstStyle/>
                    <a:p>
                      <a:pPr algn="ctr"/>
                      <a:r>
                        <a:rPr sz="1320" b="0" i="0">
                          <a:solidFill>
                            <a:srgbClr val="14313B"/>
                          </a:solidFill>
                          <a:latin typeface="Calibri (MS)"/>
                        </a:rPr>
                        <a:t>56,67–75,33%</a:t>
                      </a:r>
                    </a:p>
                  </a:txBody>
                  <a:tcPr marL="73152" marR="73152" marT="36576" marB="36576" anchor="ctr">
                    <a:solidFill>
                      <a:srgbClr val="FFFFFF"/>
                    </a:solidFill>
                  </a:tcPr>
                </a:tc>
              </a:tr>
              <a:tr h="566928">
                <a:tc>
                  <a:txBody>
                    <a:bodyPr wrap="square"/>
                    <a:lstStyle/>
                    <a:p>
                      <a:r>
                        <a:rPr sz="1320" b="1" i="0">
                          <a:solidFill>
                            <a:srgbClr val="14313B"/>
                          </a:solidFill>
                          <a:latin typeface="Calibri (MS) Bold"/>
                        </a:rPr>
                        <a:t>Producer's accuracy (terbangun)</a:t>
                      </a:r>
                    </a:p>
                  </a:txBody>
                  <a:tcPr marL="73152" marR="73152" marT="36576" marB="36576" anchor="ctr">
                    <a:solidFill>
                      <a:srgbClr val="EAF8FA"/>
                    </a:solidFill>
                  </a:tcPr>
                </a:tc>
                <a:tc>
                  <a:txBody>
                    <a:bodyPr wrap="square"/>
                    <a:lstStyle/>
                    <a:p>
                      <a:r>
                        <a:rPr sz="1320" b="0" i="0">
                          <a:solidFill>
                            <a:srgbClr val="14313B"/>
                          </a:solidFill>
                          <a:latin typeface="Calibri (MS)"/>
                        </a:rPr>
                        <a:t>PA = n₁₁ / (n₁₁ + n₀₁)</a:t>
                      </a:r>
                    </a:p>
                  </a:txBody>
                  <a:tcPr marL="73152" marR="73152" marT="36576" marB="36576" anchor="ctr">
                    <a:solidFill>
                      <a:srgbClr val="EAF8FA"/>
                    </a:solidFill>
                  </a:tcPr>
                </a:tc>
                <a:tc>
                  <a:txBody>
                    <a:bodyPr wrap="square"/>
                    <a:lstStyle/>
                    <a:p>
                      <a:r>
                        <a:rPr sz="1320" b="0" i="0">
                          <a:solidFill>
                            <a:srgbClr val="14313B"/>
                          </a:solidFill>
                          <a:latin typeface="Calibri (MS)"/>
                        </a:rPr>
                        <a:t>Kelengkapan: terbangun di lapangan ikut terpetakan</a:t>
                      </a:r>
                    </a:p>
                  </a:txBody>
                  <a:tcPr marL="73152" marR="73152" marT="36576" marB="36576" anchor="ctr">
                    <a:solidFill>
                      <a:srgbClr val="EAF8FA"/>
                    </a:solidFill>
                  </a:tcPr>
                </a:tc>
                <a:tc>
                  <a:txBody>
                    <a:bodyPr wrap="square"/>
                    <a:lstStyle/>
                    <a:p>
                      <a:pPr algn="ctr"/>
                      <a:r>
                        <a:rPr sz="1320" b="0" i="0">
                          <a:solidFill>
                            <a:srgbClr val="14313B"/>
                          </a:solidFill>
                          <a:latin typeface="Calibri (MS)"/>
                        </a:rPr>
                        <a:t>73,58%</a:t>
                      </a:r>
                    </a:p>
                  </a:txBody>
                  <a:tcPr marL="73152" marR="73152" marT="36576" marB="36576" anchor="ctr">
                    <a:solidFill>
                      <a:srgbClr val="EAF8FA"/>
                    </a:solidFill>
                  </a:tcPr>
                </a:tc>
                <a:tc>
                  <a:txBody>
                    <a:bodyPr wrap="square"/>
                    <a:lstStyle/>
                    <a:p>
                      <a:pPr algn="ctr"/>
                      <a:r>
                        <a:rPr sz="1320" b="0" i="0">
                          <a:solidFill>
                            <a:srgbClr val="14313B"/>
                          </a:solidFill>
                          <a:latin typeface="Calibri (MS)"/>
                        </a:rPr>
                        <a:t>56,66–90,50%</a:t>
                      </a:r>
                    </a:p>
                  </a:txBody>
                  <a:tcPr marL="73152" marR="73152" marT="36576" marB="36576" anchor="ctr">
                    <a:solidFill>
                      <a:srgbClr val="EAF8FA"/>
                    </a:solidFill>
                  </a:tcPr>
                </a:tc>
              </a:tr>
              <a:tr h="566928">
                <a:tc>
                  <a:txBody>
                    <a:bodyPr wrap="square"/>
                    <a:lstStyle/>
                    <a:p>
                      <a:r>
                        <a:rPr sz="1320" b="1" i="0">
                          <a:solidFill>
                            <a:srgbClr val="14313B"/>
                          </a:solidFill>
                          <a:latin typeface="Calibri (MS) Bold"/>
                        </a:rPr>
                        <a:t>F1-score (terbangun)</a:t>
                      </a:r>
                    </a:p>
                  </a:txBody>
                  <a:tcPr marL="73152" marR="73152" marT="36576" marB="36576" anchor="ctr">
                    <a:solidFill>
                      <a:srgbClr val="FFFFFF"/>
                    </a:solidFill>
                  </a:tcPr>
                </a:tc>
                <a:tc>
                  <a:txBody>
                    <a:bodyPr wrap="square"/>
                    <a:lstStyle/>
                    <a:p>
                      <a:r>
                        <a:rPr sz="1320" b="0" i="0">
                          <a:solidFill>
                            <a:srgbClr val="14313B"/>
                          </a:solidFill>
                          <a:latin typeface="Calibri (MS)"/>
                        </a:rPr>
                        <a:t>F1 = 2 · UA · PA / (UA + PA)</a:t>
                      </a:r>
                    </a:p>
                  </a:txBody>
                  <a:tcPr marL="73152" marR="73152" marT="36576" marB="36576" anchor="ctr">
                    <a:solidFill>
                      <a:srgbClr val="FFFFFF"/>
                    </a:solidFill>
                  </a:tcPr>
                </a:tc>
                <a:tc>
                  <a:txBody>
                    <a:bodyPr wrap="square"/>
                    <a:lstStyle/>
                    <a:p>
                      <a:r>
                        <a:rPr sz="1320" b="0" i="0">
                          <a:solidFill>
                            <a:srgbClr val="14313B"/>
                          </a:solidFill>
                          <a:latin typeface="Calibri (MS)"/>
                        </a:rPr>
                        <a:t>Gabungan UA dan PA; makin dekat 100% makin baik</a:t>
                      </a:r>
                    </a:p>
                  </a:txBody>
                  <a:tcPr marL="73152" marR="73152" marT="36576" marB="36576" anchor="ctr">
                    <a:solidFill>
                      <a:srgbClr val="FFFFFF"/>
                    </a:solidFill>
                  </a:tcPr>
                </a:tc>
                <a:tc>
                  <a:txBody>
                    <a:bodyPr wrap="square"/>
                    <a:lstStyle/>
                    <a:p>
                      <a:pPr algn="ctr"/>
                      <a:r>
                        <a:rPr sz="1320" b="0" i="0">
                          <a:solidFill>
                            <a:srgbClr val="14313B"/>
                          </a:solidFill>
                          <a:latin typeface="Calibri (MS)"/>
                        </a:rPr>
                        <a:t>77,19%</a:t>
                      </a:r>
                    </a:p>
                  </a:txBody>
                  <a:tcPr marL="73152" marR="73152" marT="36576" marB="36576" anchor="ctr">
                    <a:solidFill>
                      <a:srgbClr val="FFFFFF"/>
                    </a:solidFill>
                  </a:tcPr>
                </a:tc>
                <a:tc>
                  <a:txBody>
                    <a:bodyPr wrap="square"/>
                    <a:lstStyle/>
                    <a:p>
                      <a:pPr algn="ctr"/>
                      <a:r>
                        <a:rPr sz="1320" b="0" i="0">
                          <a:solidFill>
                            <a:srgbClr val="14313B"/>
                          </a:solidFill>
                          <a:latin typeface="Calibri (MS)"/>
                        </a:rPr>
                        <a:t>—</a:t>
                      </a:r>
                    </a:p>
                  </a:txBody>
                  <a:tcPr marL="73152" marR="73152" marT="36576" marB="36576" anchor="ctr">
                    <a:solidFill>
                      <a:srgbClr val="FFFFFF"/>
                    </a:solidFill>
                  </a:tcPr>
                </a:tc>
              </a:tr>
              <a:tr h="566928">
                <a:tc>
                  <a:txBody>
                    <a:bodyPr wrap="square"/>
                    <a:lstStyle/>
                    <a:p>
                      <a:r>
                        <a:rPr sz="1320" b="1" i="0">
                          <a:solidFill>
                            <a:srgbClr val="14313B"/>
                          </a:solidFill>
                          <a:latin typeface="Calibri (MS) Bold"/>
                        </a:rPr>
                        <a:t>Koefisien Kappa</a:t>
                      </a:r>
                    </a:p>
                  </a:txBody>
                  <a:tcPr marL="73152" marR="73152" marT="36576" marB="36576" anchor="ctr">
                    <a:solidFill>
                      <a:srgbClr val="EAF8FA"/>
                    </a:solidFill>
                  </a:tcPr>
                </a:tc>
                <a:tc>
                  <a:txBody>
                    <a:bodyPr wrap="square"/>
                    <a:lstStyle/>
                    <a:p>
                      <a:r>
                        <a:rPr sz="1320" b="0" i="0">
                          <a:solidFill>
                            <a:srgbClr val="14313B"/>
                          </a:solidFill>
                          <a:latin typeface="Calibri (MS)"/>
                        </a:rPr>
                        <a:t>κ = (pₒ − pₑ) / (1 − pₑ)</a:t>
                      </a:r>
                    </a:p>
                  </a:txBody>
                  <a:tcPr marL="73152" marR="73152" marT="36576" marB="36576" anchor="ctr">
                    <a:solidFill>
                      <a:srgbClr val="EAF8FA"/>
                    </a:solidFill>
                  </a:tcPr>
                </a:tc>
                <a:tc>
                  <a:txBody>
                    <a:bodyPr wrap="square"/>
                    <a:lstStyle/>
                    <a:p>
                      <a:r>
                        <a:rPr sz="1320" b="0" i="0">
                          <a:solidFill>
                            <a:srgbClr val="14313B"/>
                          </a:solidFill>
                          <a:latin typeface="Calibri (MS)"/>
                        </a:rPr>
                        <a:t>Landis &amp; Koch (1977): 0,61–0,80 = kesepakatan kuat</a:t>
                      </a:r>
                    </a:p>
                  </a:txBody>
                  <a:tcPr marL="73152" marR="73152" marT="36576" marB="36576" anchor="ctr">
                    <a:solidFill>
                      <a:srgbClr val="EAF8FA"/>
                    </a:solidFill>
                  </a:tcPr>
                </a:tc>
                <a:tc>
                  <a:txBody>
                    <a:bodyPr wrap="square"/>
                    <a:lstStyle/>
                    <a:p>
                      <a:pPr algn="ctr"/>
                      <a:r>
                        <a:rPr sz="1320" b="1" i="0">
                          <a:solidFill>
                            <a:srgbClr val="14313B"/>
                          </a:solidFill>
                          <a:latin typeface="Calibri (MS)"/>
                        </a:rPr>
                        <a:t>0,61</a:t>
                      </a:r>
                    </a:p>
                  </a:txBody>
                  <a:tcPr marL="73152" marR="73152" marT="36576" marB="36576" anchor="ctr">
                    <a:solidFill>
                      <a:srgbClr val="C9F0D6"/>
                    </a:solidFill>
                  </a:tcPr>
                </a:tc>
                <a:tc>
                  <a:txBody>
                    <a:bodyPr wrap="square"/>
                    <a:lstStyle/>
                    <a:p>
                      <a:pPr algn="ctr"/>
                      <a:r>
                        <a:rPr sz="1320" b="0" i="0">
                          <a:solidFill>
                            <a:srgbClr val="14313B"/>
                          </a:solidFill>
                          <a:latin typeface="Calibri (MS)"/>
                        </a:rPr>
                        <a:t>0,50–0,72</a:t>
                      </a:r>
                    </a:p>
                  </a:txBody>
                  <a:tcPr marL="73152" marR="73152" marT="36576" marB="36576" anchor="ctr">
                    <a:solidFill>
                      <a:srgbClr val="EAF8FA"/>
                    </a:solidFill>
                  </a:tcPr>
                </a:tc>
              </a:tr>
            </a:tbl>
          </a:graphicData>
        </a:graphic>
      </p:graphicFrame>
      <p:sp>
        <p:nvSpPr>
          <p:cNvPr id="116" name="TextBox 115"/>
          <p:cNvSpPr txBox="1"/>
          <p:nvPr/>
        </p:nvSpPr>
        <p:spPr>
          <a:xfrm>
            <a:off x="822960" y="6510528"/>
            <a:ext cx="16642080" cy="32004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n₁₁ = terbangun benar · n₀₀ = bukan terbangun benar · n₁₀ = commission error (dipetakan terbangun padahal bukan) · n₀₁ = omission error (terbangun tetapi tidak terpetakan) · Aᵢ = luas kelas i di peta · pₒ = kesepakatan teramati · pₑ = kesepakatan karena kebetulan</a:t>
            </a:r>
          </a:p>
        </p:txBody>
      </p:sp>
      <p:graphicFrame>
        <p:nvGraphicFramePr>
          <p:cNvPr id="117" name="Table 116"/>
          <p:cNvGraphicFramePr>
            <a:graphicFrameLocks noGrp="1"/>
          </p:cNvGraphicFramePr>
          <p:nvPr/>
        </p:nvGraphicFramePr>
        <p:xfrm>
          <a:off x="822960" y="7086600"/>
          <a:ext cx="6035040" cy="1316736"/>
        </p:xfrm>
        <a:graphic>
          <a:graphicData uri="http://schemas.openxmlformats.org/drawingml/2006/table">
            <a:tbl>
              <a:tblPr firstRow="1" bandRow="1">
                <a:tableStyleId>{5C22544A-7EE6-4342-B048-85BDC9FD1C3A}</a:tableStyleId>
              </a:tblPr>
              <a:tblGrid>
                <a:gridCol w="2194560"/>
                <a:gridCol w="1920240"/>
                <a:gridCol w="1920240"/>
              </a:tblGrid>
              <a:tr h="438912">
                <a:tc>
                  <a:txBody>
                    <a:bodyPr wrap="square"/>
                    <a:lstStyle/>
                    <a:p>
                      <a:r>
                        <a:rPr sz="1440" b="1" i="0">
                          <a:solidFill>
                            <a:srgbClr val="FFFFFF"/>
                          </a:solidFill>
                          <a:latin typeface="Calibri (MS) Bold"/>
                        </a:rPr>
                        <a:t>Peta \ Rujukan</a:t>
                      </a:r>
                    </a:p>
                  </a:txBody>
                  <a:tcPr marL="73152" marR="73152" marT="36576" marB="36576" anchor="ctr">
                    <a:solidFill>
                      <a:srgbClr val="0B5E6E"/>
                    </a:solidFill>
                  </a:tcPr>
                </a:tc>
                <a:tc>
                  <a:txBody>
                    <a:bodyPr wrap="square"/>
                    <a:lstStyle/>
                    <a:p>
                      <a:pPr algn="ctr"/>
                      <a:r>
                        <a:rPr sz="1440" b="1" i="0">
                          <a:solidFill>
                            <a:srgbClr val="FFFFFF"/>
                          </a:solidFill>
                          <a:latin typeface="Calibri (MS) Bold"/>
                        </a:rPr>
                        <a:t>Bukan terbangun</a:t>
                      </a:r>
                    </a:p>
                  </a:txBody>
                  <a:tcPr marL="73152" marR="73152" marT="36576" marB="36576" anchor="ctr">
                    <a:solidFill>
                      <a:srgbClr val="0B5E6E"/>
                    </a:solidFill>
                  </a:tcPr>
                </a:tc>
                <a:tc>
                  <a:txBody>
                    <a:bodyPr wrap="square"/>
                    <a:lstStyle/>
                    <a:p>
                      <a:pPr algn="ctr"/>
                      <a:r>
                        <a:rPr sz="1440" b="1" i="0">
                          <a:solidFill>
                            <a:srgbClr val="FFFFFF"/>
                          </a:solidFill>
                          <a:latin typeface="Calibri (MS) Bold"/>
                        </a:rPr>
                        <a:t>Terbangun</a:t>
                      </a:r>
                    </a:p>
                  </a:txBody>
                  <a:tcPr marL="73152" marR="73152" marT="36576" marB="36576" anchor="ctr">
                    <a:solidFill>
                      <a:srgbClr val="0B5E6E"/>
                    </a:solidFill>
                  </a:tcPr>
                </a:tc>
              </a:tr>
              <a:tr h="438912">
                <a:tc>
                  <a:txBody>
                    <a:bodyPr wrap="square"/>
                    <a:lstStyle/>
                    <a:p>
                      <a:r>
                        <a:rPr sz="1440" b="1" i="0">
                          <a:solidFill>
                            <a:srgbClr val="14313B"/>
                          </a:solidFill>
                          <a:latin typeface="Calibri (MS) Bold"/>
                        </a:rPr>
                        <a:t>Bukan terbangun</a:t>
                      </a:r>
                    </a:p>
                  </a:txBody>
                  <a:tcPr marL="73152" marR="73152" marT="36576" marB="36576" anchor="ctr">
                    <a:solidFill>
                      <a:srgbClr val="FFFFFF"/>
                    </a:solidFill>
                  </a:tcPr>
                </a:tc>
                <a:tc>
                  <a:txBody>
                    <a:bodyPr wrap="square"/>
                    <a:lstStyle/>
                    <a:p>
                      <a:pPr algn="ctr"/>
                      <a:r>
                        <a:rPr sz="1440" b="0" i="0">
                          <a:solidFill>
                            <a:srgbClr val="14313B"/>
                          </a:solidFill>
                          <a:latin typeface="Calibri (MS)"/>
                        </a:rPr>
                        <a:t>95</a:t>
                      </a:r>
                    </a:p>
                  </a:txBody>
                  <a:tcPr marL="73152" marR="73152" marT="36576" marB="36576" anchor="ctr">
                    <a:solidFill>
                      <a:srgbClr val="C9F0D6"/>
                    </a:solidFill>
                  </a:tcPr>
                </a:tc>
                <a:tc>
                  <a:txBody>
                    <a:bodyPr wrap="square"/>
                    <a:lstStyle/>
                    <a:p>
                      <a:pPr algn="ctr"/>
                      <a:r>
                        <a:rPr sz="1440" b="0" i="0">
                          <a:solidFill>
                            <a:srgbClr val="14313B"/>
                          </a:solidFill>
                          <a:latin typeface="Calibri (MS)"/>
                        </a:rPr>
                        <a:t>5</a:t>
                      </a:r>
                    </a:p>
                  </a:txBody>
                  <a:tcPr marL="73152" marR="73152" marT="36576" marB="36576" anchor="ctr">
                    <a:solidFill>
                      <a:srgbClr val="EAF8FA"/>
                    </a:solidFill>
                  </a:tcPr>
                </a:tc>
              </a:tr>
              <a:tr h="438912">
                <a:tc>
                  <a:txBody>
                    <a:bodyPr wrap="square"/>
                    <a:lstStyle/>
                    <a:p>
                      <a:r>
                        <a:rPr sz="1440" b="1" i="0">
                          <a:solidFill>
                            <a:srgbClr val="14313B"/>
                          </a:solidFill>
                          <a:latin typeface="Calibri (MS) Bold"/>
                        </a:rPr>
                        <a:t>Terbangun</a:t>
                      </a:r>
                    </a:p>
                  </a:txBody>
                  <a:tcPr marL="73152" marR="73152" marT="36576" marB="36576" anchor="ctr">
                    <a:solidFill>
                      <a:srgbClr val="EAF8FA"/>
                    </a:solidFill>
                  </a:tcPr>
                </a:tc>
                <a:tc>
                  <a:txBody>
                    <a:bodyPr wrap="square"/>
                    <a:lstStyle/>
                    <a:p>
                      <a:pPr algn="ctr"/>
                      <a:r>
                        <a:rPr sz="1440" b="0" i="0">
                          <a:solidFill>
                            <a:srgbClr val="14313B"/>
                          </a:solidFill>
                          <a:latin typeface="Calibri (MS)"/>
                        </a:rPr>
                        <a:t>34</a:t>
                      </a:r>
                    </a:p>
                  </a:txBody>
                  <a:tcPr marL="73152" marR="73152" marT="36576" marB="36576" anchor="ctr">
                    <a:solidFill>
                      <a:srgbClr val="FDE2DE"/>
                    </a:solidFill>
                  </a:tcPr>
                </a:tc>
                <a:tc>
                  <a:txBody>
                    <a:bodyPr wrap="square"/>
                    <a:lstStyle/>
                    <a:p>
                      <a:pPr algn="ctr"/>
                      <a:r>
                        <a:rPr sz="1440" b="0" i="0">
                          <a:solidFill>
                            <a:srgbClr val="14313B"/>
                          </a:solidFill>
                          <a:latin typeface="Calibri (MS)"/>
                        </a:rPr>
                        <a:t>66</a:t>
                      </a:r>
                    </a:p>
                  </a:txBody>
                  <a:tcPr marL="73152" marR="73152" marT="36576" marB="36576" anchor="ctr">
                    <a:solidFill>
                      <a:srgbClr val="C9F0D6"/>
                    </a:solidFill>
                  </a:tcPr>
                </a:tc>
              </a:tr>
            </a:tbl>
          </a:graphicData>
        </a:graphic>
      </p:graphicFrame>
      <p:sp>
        <p:nvSpPr>
          <p:cNvPr id="118" name="TextBox 117"/>
          <p:cNvSpPr txBox="1"/>
          <p:nvPr/>
        </p:nvSpPr>
        <p:spPr>
          <a:xfrm>
            <a:off x="822960" y="8613648"/>
            <a:ext cx="6035040" cy="274320"/>
          </a:xfrm>
          <a:prstGeom prst="rect">
            <a:avLst/>
          </a:prstGeom>
          <a:noFill/>
        </p:spPr>
        <p:txBody>
          <a:bodyPr wrap="square" anchor="t" lIns="0" rIns="0" tIns="0" bIns="0">
            <a:spAutoFit/>
          </a:bodyPr>
          <a:lstStyle/>
          <a:p>
            <a:pPr algn="l">
              <a:spcAft>
                <a:spcPts val="400"/>
              </a:spcAft>
            </a:pPr>
            <a:r>
              <a:rPr sz="1260" b="1" i="0">
                <a:solidFill>
                  <a:srgbClr val="0B5E6E"/>
                </a:solidFill>
                <a:latin typeface="Calibri (MS) Bold"/>
              </a:rPr>
              <a:t>Matriks konfusi (jumlah titik)</a:t>
            </a:r>
          </a:p>
        </p:txBody>
      </p:sp>
      <p:sp>
        <p:nvSpPr>
          <p:cNvPr id="119" name="Rounded Rectangle 118"/>
          <p:cNvSpPr/>
          <p:nvPr/>
        </p:nvSpPr>
        <p:spPr>
          <a:xfrm>
            <a:off x="7132320" y="7086600"/>
            <a:ext cx="5074920" cy="16002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90" b="1" i="0">
                <a:solidFill>
                  <a:srgbClr val="0B5E6E"/>
                </a:solidFill>
                <a:latin typeface="Calibri (MS) Bold"/>
              </a:rPr>
              <a:t>Kesalahan utama: commission error</a:t>
            </a:r>
          </a:p>
          <a:p>
            <a:pPr algn="l">
              <a:spcAft>
                <a:spcPts val="300"/>
              </a:spcAft>
            </a:pPr>
            <a:r>
              <a:rPr sz="1320" b="0" i="0">
                <a:solidFill>
                  <a:srgbClr val="14313B"/>
                </a:solidFill>
                <a:latin typeface="Calibri (MS)"/>
              </a:rPr>
              <a:t>34 titik dipetakan terbangun padahal bukan, dibanding 5 omission error. Peta cenderung sedikit melebihkan lahan terbangun.</a:t>
            </a:r>
          </a:p>
        </p:txBody>
      </p:sp>
      <p:sp>
        <p:nvSpPr>
          <p:cNvPr id="120" name="Rounded Rectangle 119"/>
          <p:cNvSpPr/>
          <p:nvPr/>
        </p:nvSpPr>
        <p:spPr>
          <a:xfrm>
            <a:off x="12390120" y="7086600"/>
            <a:ext cx="5074920" cy="16002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90" b="1" i="0">
                <a:solidFill>
                  <a:srgbClr val="0B5E6E"/>
                </a:solidFill>
                <a:latin typeface="Calibri (MS) Bold"/>
              </a:rPr>
              <a:t>Cek batas probabilitas</a:t>
            </a:r>
          </a:p>
          <a:p>
            <a:pPr algn="l">
              <a:spcAft>
                <a:spcPts val="300"/>
              </a:spcAft>
            </a:pPr>
            <a:r>
              <a:rPr sz="1320" b="0" i="0">
                <a:solidFill>
                  <a:srgbClr val="14313B"/>
                </a:solidFill>
                <a:latin typeface="Calibri (MS)"/>
              </a:rPr>
              <a:t>F1 tertinggi pada batas 0,40–0,45, dekat dengan batas baku 0,5. Batas 0,5 tetap dipakai agar tidak terlalu menyesuaikan sampel.</a:t>
            </a:r>
          </a:p>
        </p:txBody>
      </p:sp>
      <p:sp>
        <p:nvSpPr>
          <p:cNvPr id="121" name="TextBox 120"/>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3.5.2 dan 4.2.2, Tabel 31–32; Olofsson dkk. (2014); Landis &amp; Koch (1977).</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5725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Estimasi Lahan Terbangun — Validasi Temporal</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Dynamic World naik konsisten, sedangkan data resmi BPS dan DLHK tidak konsisten</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
            </a:r>
          </a:p>
        </p:txBody>
      </p:sp>
      <p:grpSp>
        <p:nvGrpSpPr>
          <p:cNvPr name="Group 67" id="67"/>
          <p:cNvGrpSpPr/>
          <p:nvPr/>
        </p:nvGrpSpPr>
        <p:grpSpPr>
          <a:xfrm rot="0">
            <a:off x="12755880" y="274320"/>
            <a:ext cx="3931920" cy="411480"/>
            <a:chOff x="0" y="0"/>
            <a:chExt cx="5242560" cy="548640"/>
          </a:xfrm>
        </p:grpSpPr>
        <p:sp>
          <p:nvSpPr>
            <p:cNvPr name="Freeform 68" id="68"/>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69" id="69"/>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2A · Integrasi citra satelit</a:t>
              </a:r>
            </a:p>
          </p:txBody>
        </p:sp>
      </p:grpSp>
      <p:graphicFrame>
        <p:nvGraphicFramePr>
          <p:cNvPr id="70" name="Chart 69"/>
          <p:cNvGraphicFramePr>
            <a:graphicFrameLocks noGrp="1"/>
          </p:cNvGraphicFramePr>
          <p:nvPr/>
        </p:nvGraphicFramePr>
        <p:xfrm>
          <a:off x="822960" y="1783080"/>
          <a:ext cx="10058400" cy="6309360"/>
        </p:xfrm>
        <a:graphic>
          <a:graphicData uri="http://schemas.openxmlformats.org/drawingml/2006/chart">
            <c:chart xmlns:c="http://schemas.openxmlformats.org/drawingml/2006/chart" r:id="rId8"/>
          </a:graphicData>
        </a:graphic>
      </p:graphicFrame>
      <p:sp>
        <p:nvSpPr>
          <p:cNvPr id="71" name="TextBox 70"/>
          <p:cNvSpPr txBox="1"/>
          <p:nvPr/>
        </p:nvSpPr>
        <p:spPr>
          <a:xfrm>
            <a:off x="822960" y="8092440"/>
            <a:ext cx="10058400" cy="32004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Luas lahan terbangun DIY (ha). Nilai Dynamic World 2015 adalah hasil ekstrapolasi tren.</a:t>
            </a:r>
          </a:p>
        </p:txBody>
      </p:sp>
      <p:graphicFrame>
        <p:nvGraphicFramePr>
          <p:cNvPr id="72" name="Table 71"/>
          <p:cNvGraphicFramePr>
            <a:graphicFrameLocks noGrp="1"/>
          </p:cNvGraphicFramePr>
          <p:nvPr/>
        </p:nvGraphicFramePr>
        <p:xfrm>
          <a:off x="11247120" y="1783080"/>
          <a:ext cx="6217916" cy="2286000"/>
        </p:xfrm>
        <a:graphic>
          <a:graphicData uri="http://schemas.openxmlformats.org/drawingml/2006/table">
            <a:tbl>
              <a:tblPr firstRow="1" bandRow="1">
                <a:tableStyleId>{5C22544A-7EE6-4342-B048-85BDC9FD1C3A}</a:tableStyleId>
              </a:tblPr>
              <a:tblGrid>
                <a:gridCol w="1737359"/>
                <a:gridCol w="1371599"/>
                <a:gridCol w="1371599"/>
                <a:gridCol w="1737359"/>
              </a:tblGrid>
              <a:tr h="457200">
                <a:tc>
                  <a:txBody>
                    <a:bodyPr wrap="square"/>
                    <a:lstStyle/>
                    <a:p>
                      <a:r>
                        <a:rPr sz="1440" b="1" i="0">
                          <a:solidFill>
                            <a:srgbClr val="FFFFFF"/>
                          </a:solidFill>
                          <a:latin typeface="Calibri (MS) Bold"/>
                        </a:rPr>
                        <a:t>Perubahan</a:t>
                      </a:r>
                    </a:p>
                  </a:txBody>
                  <a:tcPr marL="73152" marR="73152" marT="36576" marB="36576" anchor="ctr">
                    <a:solidFill>
                      <a:srgbClr val="0B5E6E"/>
                    </a:solidFill>
                  </a:tcPr>
                </a:tc>
                <a:tc>
                  <a:txBody>
                    <a:bodyPr wrap="square"/>
                    <a:lstStyle/>
                    <a:p>
                      <a:pPr algn="ctr"/>
                      <a:r>
                        <a:rPr sz="1440" b="1" i="0">
                          <a:solidFill>
                            <a:srgbClr val="FFFFFF"/>
                          </a:solidFill>
                          <a:latin typeface="Calibri (MS) Bold"/>
                        </a:rPr>
                        <a:t>BPS</a:t>
                      </a:r>
                    </a:p>
                  </a:txBody>
                  <a:tcPr marL="73152" marR="73152" marT="36576" marB="36576" anchor="ctr">
                    <a:solidFill>
                      <a:srgbClr val="0B5E6E"/>
                    </a:solidFill>
                  </a:tcPr>
                </a:tc>
                <a:tc>
                  <a:txBody>
                    <a:bodyPr wrap="square"/>
                    <a:lstStyle/>
                    <a:p>
                      <a:pPr algn="ctr"/>
                      <a:r>
                        <a:rPr sz="1440" b="1" i="0">
                          <a:solidFill>
                            <a:srgbClr val="FFFFFF"/>
                          </a:solidFill>
                          <a:latin typeface="Calibri (MS) Bold"/>
                        </a:rPr>
                        <a:t>DLHK</a:t>
                      </a:r>
                    </a:p>
                  </a:txBody>
                  <a:tcPr marL="73152" marR="73152" marT="36576" marB="36576" anchor="ctr">
                    <a:solidFill>
                      <a:srgbClr val="0B5E6E"/>
                    </a:solidFill>
                  </a:tcPr>
                </a:tc>
                <a:tc>
                  <a:txBody>
                    <a:bodyPr wrap="square"/>
                    <a:lstStyle/>
                    <a:p>
                      <a:pPr algn="ctr"/>
                      <a:r>
                        <a:rPr sz="1440" b="1" i="0">
                          <a:solidFill>
                            <a:srgbClr val="FFFFFF"/>
                          </a:solidFill>
                          <a:latin typeface="Calibri (MS) Bold"/>
                        </a:rPr>
                        <a:t>Dynamic World</a:t>
                      </a:r>
                    </a:p>
                  </a:txBody>
                  <a:tcPr marL="73152" marR="73152" marT="36576" marB="36576" anchor="ctr">
                    <a:solidFill>
                      <a:srgbClr val="0B5E6E"/>
                    </a:solidFill>
                  </a:tcPr>
                </a:tc>
              </a:tr>
              <a:tr h="457200">
                <a:tc>
                  <a:txBody>
                    <a:bodyPr wrap="square"/>
                    <a:lstStyle/>
                    <a:p>
                      <a:r>
                        <a:rPr sz="1440" b="1" i="0">
                          <a:solidFill>
                            <a:srgbClr val="14313B"/>
                          </a:solidFill>
                          <a:latin typeface="Calibri (MS) Bold"/>
                        </a:rPr>
                        <a:t>2015→2016</a:t>
                      </a:r>
                    </a:p>
                  </a:txBody>
                  <a:tcPr marL="73152" marR="73152" marT="36576" marB="36576" anchor="ctr">
                    <a:solidFill>
                      <a:srgbClr val="FFFFFF"/>
                    </a:solidFill>
                  </a:tcPr>
                </a:tc>
                <a:tc>
                  <a:txBody>
                    <a:bodyPr wrap="square"/>
                    <a:lstStyle/>
                    <a:p>
                      <a:pPr algn="ctr"/>
                      <a:r>
                        <a:rPr sz="1440" b="0" i="0">
                          <a:solidFill>
                            <a:srgbClr val="14313B"/>
                          </a:solidFill>
                          <a:latin typeface="Calibri (MS)"/>
                        </a:rPr>
                        <a:t>+1,5%</a:t>
                      </a:r>
                    </a:p>
                  </a:txBody>
                  <a:tcPr marL="73152" marR="73152" marT="36576" marB="36576" anchor="ctr">
                    <a:solidFill>
                      <a:srgbClr val="FFFFFF"/>
                    </a:solidFill>
                  </a:tcPr>
                </a:tc>
                <a:tc>
                  <a:txBody>
                    <a:bodyPr wrap="square"/>
                    <a:lstStyle/>
                    <a:p>
                      <a:pPr algn="ctr"/>
                      <a:r>
                        <a:rPr sz="1440" b="0" i="0">
                          <a:solidFill>
                            <a:srgbClr val="14313B"/>
                          </a:solidFill>
                          <a:latin typeface="Calibri (MS)"/>
                        </a:rPr>
                        <a:t>−12,9%</a:t>
                      </a:r>
                    </a:p>
                  </a:txBody>
                  <a:tcPr marL="73152" marR="73152" marT="36576" marB="36576" anchor="ctr">
                    <a:solidFill>
                      <a:srgbClr val="FDE2DE"/>
                    </a:solidFill>
                  </a:tcPr>
                </a:tc>
                <a:tc>
                  <a:txBody>
                    <a:bodyPr wrap="square"/>
                    <a:lstStyle/>
                    <a:p>
                      <a:pPr algn="ctr"/>
                      <a:r>
                        <a:rPr sz="1440" b="0" i="0">
                          <a:solidFill>
                            <a:srgbClr val="14313B"/>
                          </a:solidFill>
                          <a:latin typeface="Calibri (MS)"/>
                        </a:rPr>
                        <a:t>+3,5%*</a:t>
                      </a:r>
                    </a:p>
                  </a:txBody>
                  <a:tcPr marL="73152" marR="73152" marT="36576" marB="36576" anchor="ctr">
                    <a:solidFill>
                      <a:srgbClr val="FFFFFF"/>
                    </a:solidFill>
                  </a:tcPr>
                </a:tc>
              </a:tr>
              <a:tr h="457200">
                <a:tc>
                  <a:txBody>
                    <a:bodyPr wrap="square"/>
                    <a:lstStyle/>
                    <a:p>
                      <a:r>
                        <a:rPr sz="1440" b="1" i="0">
                          <a:solidFill>
                            <a:srgbClr val="14313B"/>
                          </a:solidFill>
                          <a:latin typeface="Calibri (MS) Bold"/>
                        </a:rPr>
                        <a:t>2016→2017</a:t>
                      </a:r>
                    </a:p>
                  </a:txBody>
                  <a:tcPr marL="73152" marR="73152" marT="36576" marB="36576" anchor="ctr">
                    <a:solidFill>
                      <a:srgbClr val="EAF8FA"/>
                    </a:solidFill>
                  </a:tcPr>
                </a:tc>
                <a:tc>
                  <a:txBody>
                    <a:bodyPr wrap="square"/>
                    <a:lstStyle/>
                    <a:p>
                      <a:pPr algn="ctr"/>
                      <a:r>
                        <a:rPr sz="1440" b="0" i="0">
                          <a:solidFill>
                            <a:srgbClr val="14313B"/>
                          </a:solidFill>
                          <a:latin typeface="Calibri (MS)"/>
                        </a:rPr>
                        <a:t>+40,2%</a:t>
                      </a:r>
                    </a:p>
                  </a:txBody>
                  <a:tcPr marL="73152" marR="73152" marT="36576" marB="36576" anchor="ctr">
                    <a:solidFill>
                      <a:srgbClr val="FDE2DE"/>
                    </a:solidFill>
                  </a:tcPr>
                </a:tc>
                <a:tc>
                  <a:txBody>
                    <a:bodyPr wrap="square"/>
                    <a:lstStyle/>
                    <a:p>
                      <a:pPr algn="ctr"/>
                      <a:r>
                        <a:rPr sz="1440" b="0" i="0">
                          <a:solidFill>
                            <a:srgbClr val="14313B"/>
                          </a:solidFill>
                          <a:latin typeface="Calibri (MS)"/>
                        </a:rPr>
                        <a:t>+7,5%</a:t>
                      </a:r>
                    </a:p>
                  </a:txBody>
                  <a:tcPr marL="73152" marR="73152" marT="36576" marB="36576" anchor="ctr">
                    <a:solidFill>
                      <a:srgbClr val="EAF8FA"/>
                    </a:solidFill>
                  </a:tcPr>
                </a:tc>
                <a:tc>
                  <a:txBody>
                    <a:bodyPr wrap="square"/>
                    <a:lstStyle/>
                    <a:p>
                      <a:pPr algn="ctr"/>
                      <a:r>
                        <a:rPr sz="1440" b="0" i="0">
                          <a:solidFill>
                            <a:srgbClr val="14313B"/>
                          </a:solidFill>
                          <a:latin typeface="Calibri (MS)"/>
                        </a:rPr>
                        <a:t>+12,7%</a:t>
                      </a:r>
                    </a:p>
                  </a:txBody>
                  <a:tcPr marL="73152" marR="73152" marT="36576" marB="36576" anchor="ctr">
                    <a:solidFill>
                      <a:srgbClr val="C9F0D6"/>
                    </a:solidFill>
                  </a:tcPr>
                </a:tc>
              </a:tr>
              <a:tr h="457200">
                <a:tc>
                  <a:txBody>
                    <a:bodyPr wrap="square"/>
                    <a:lstStyle/>
                    <a:p>
                      <a:r>
                        <a:rPr sz="1440" b="1" i="0">
                          <a:solidFill>
                            <a:srgbClr val="14313B"/>
                          </a:solidFill>
                          <a:latin typeface="Calibri (MS) Bold"/>
                        </a:rPr>
                        <a:t>2017→2018</a:t>
                      </a:r>
                    </a:p>
                  </a:txBody>
                  <a:tcPr marL="73152" marR="73152" marT="36576" marB="36576" anchor="ctr">
                    <a:solidFill>
                      <a:srgbClr val="FFFFFF"/>
                    </a:solidFill>
                  </a:tcPr>
                </a:tc>
                <a:tc>
                  <a:txBody>
                    <a:bodyPr wrap="square"/>
                    <a:lstStyle/>
                    <a:p>
                      <a:pPr algn="ctr"/>
                      <a:r>
                        <a:rPr sz="1440" b="0" i="0">
                          <a:solidFill>
                            <a:srgbClr val="14313B"/>
                          </a:solidFill>
                          <a:latin typeface="Calibri (MS)"/>
                        </a:rPr>
                        <a:t>+5,9%</a:t>
                      </a:r>
                    </a:p>
                  </a:txBody>
                  <a:tcPr marL="73152" marR="73152" marT="36576" marB="36576" anchor="ctr">
                    <a:solidFill>
                      <a:srgbClr val="FFFFFF"/>
                    </a:solidFill>
                  </a:tcPr>
                </a:tc>
                <a:tc>
                  <a:txBody>
                    <a:bodyPr wrap="square"/>
                    <a:lstStyle/>
                    <a:p>
                      <a:pPr algn="ctr"/>
                      <a:r>
                        <a:rPr sz="1440" b="0" i="0">
                          <a:solidFill>
                            <a:srgbClr val="14313B"/>
                          </a:solidFill>
                          <a:latin typeface="Calibri (MS)"/>
                        </a:rPr>
                        <a:t>0,0%</a:t>
                      </a:r>
                    </a:p>
                  </a:txBody>
                  <a:tcPr marL="73152" marR="73152" marT="36576" marB="36576" anchor="ctr">
                    <a:solidFill>
                      <a:srgbClr val="FFFFFF"/>
                    </a:solidFill>
                  </a:tcPr>
                </a:tc>
                <a:tc>
                  <a:txBody>
                    <a:bodyPr wrap="square"/>
                    <a:lstStyle/>
                    <a:p>
                      <a:pPr algn="ctr"/>
                      <a:r>
                        <a:rPr sz="1440" b="0" i="0">
                          <a:solidFill>
                            <a:srgbClr val="14313B"/>
                          </a:solidFill>
                          <a:latin typeface="Calibri (MS)"/>
                        </a:rPr>
                        <a:t>+12,7%</a:t>
                      </a:r>
                    </a:p>
                  </a:txBody>
                  <a:tcPr marL="73152" marR="73152" marT="36576" marB="36576" anchor="ctr">
                    <a:solidFill>
                      <a:srgbClr val="C9F0D6"/>
                    </a:solidFill>
                  </a:tcPr>
                </a:tc>
              </a:tr>
              <a:tr h="457200">
                <a:tc>
                  <a:txBody>
                    <a:bodyPr wrap="square"/>
                    <a:lstStyle/>
                    <a:p>
                      <a:r>
                        <a:rPr sz="1440" b="1" i="0">
                          <a:solidFill>
                            <a:srgbClr val="14313B"/>
                          </a:solidFill>
                          <a:latin typeface="Calibri (MS) Bold"/>
                        </a:rPr>
                        <a:t>2018→2019</a:t>
                      </a:r>
                    </a:p>
                  </a:txBody>
                  <a:tcPr marL="73152" marR="73152" marT="36576" marB="36576" anchor="ctr">
                    <a:solidFill>
                      <a:srgbClr val="EAF8FA"/>
                    </a:solidFill>
                  </a:tcPr>
                </a:tc>
                <a:tc>
                  <a:txBody>
                    <a:bodyPr wrap="square"/>
                    <a:lstStyle/>
                    <a:p>
                      <a:pPr algn="ctr"/>
                      <a:r>
                        <a:rPr sz="1440" b="0" i="0">
                          <a:solidFill>
                            <a:srgbClr val="14313B"/>
                          </a:solidFill>
                          <a:latin typeface="Calibri (MS)"/>
                        </a:rPr>
                        <a:t>−38,8%</a:t>
                      </a:r>
                    </a:p>
                  </a:txBody>
                  <a:tcPr marL="73152" marR="73152" marT="36576" marB="36576" anchor="ctr">
                    <a:solidFill>
                      <a:srgbClr val="FDE2DE"/>
                    </a:solidFill>
                  </a:tcPr>
                </a:tc>
                <a:tc>
                  <a:txBody>
                    <a:bodyPr wrap="square"/>
                    <a:lstStyle/>
                    <a:p>
                      <a:pPr algn="ctr"/>
                      <a:r>
                        <a:rPr sz="1440" b="0" i="0">
                          <a:solidFill>
                            <a:srgbClr val="14313B"/>
                          </a:solidFill>
                          <a:latin typeface="Calibri (MS)"/>
                        </a:rPr>
                        <a:t>—</a:t>
                      </a:r>
                    </a:p>
                  </a:txBody>
                  <a:tcPr marL="73152" marR="73152" marT="36576" marB="36576" anchor="ctr">
                    <a:solidFill>
                      <a:srgbClr val="EAF8FA"/>
                    </a:solidFill>
                  </a:tcPr>
                </a:tc>
                <a:tc>
                  <a:txBody>
                    <a:bodyPr wrap="square"/>
                    <a:lstStyle/>
                    <a:p>
                      <a:pPr algn="ctr"/>
                      <a:r>
                        <a:rPr sz="1440" b="0" i="0">
                          <a:solidFill>
                            <a:srgbClr val="14313B"/>
                          </a:solidFill>
                          <a:latin typeface="Calibri (MS)"/>
                        </a:rPr>
                        <a:t>+12,1%</a:t>
                      </a:r>
                    </a:p>
                  </a:txBody>
                  <a:tcPr marL="73152" marR="73152" marT="36576" marB="36576" anchor="ctr">
                    <a:solidFill>
                      <a:srgbClr val="C9F0D6"/>
                    </a:solidFill>
                  </a:tcPr>
                </a:tc>
              </a:tr>
            </a:tbl>
          </a:graphicData>
        </a:graphic>
      </p:graphicFrame>
      <p:sp>
        <p:nvSpPr>
          <p:cNvPr id="73" name="TextBox 72"/>
          <p:cNvSpPr txBox="1"/>
          <p:nvPr/>
        </p:nvSpPr>
        <p:spPr>
          <a:xfrm>
            <a:off x="11247120" y="4114800"/>
            <a:ext cx="6217920" cy="274320"/>
          </a:xfrm>
          <a:prstGeom prst="rect">
            <a:avLst/>
          </a:prstGeom>
          <a:noFill/>
        </p:spPr>
        <p:txBody>
          <a:bodyPr wrap="square" anchor="t" lIns="0" rIns="0" tIns="0" bIns="0">
            <a:spAutoFit/>
          </a:bodyPr>
          <a:lstStyle/>
          <a:p>
            <a:pPr algn="l">
              <a:spcAft>
                <a:spcPts val="400"/>
              </a:spcAft>
            </a:pPr>
            <a:r>
              <a:rPr sz="1150" b="0" i="1">
                <a:solidFill>
                  <a:srgbClr val="5E6E78"/>
                </a:solidFill>
                <a:latin typeface="Calibri (MS)"/>
              </a:rPr>
              <a:t>*2015 berdasarkan nilai ekstrapolasi</a:t>
            </a:r>
          </a:p>
        </p:txBody>
      </p:sp>
      <p:sp>
        <p:nvSpPr>
          <p:cNvPr id="74" name="Rounded Rectangle 73"/>
          <p:cNvSpPr/>
          <p:nvPr/>
        </p:nvSpPr>
        <p:spPr>
          <a:xfrm>
            <a:off x="11247120" y="4526280"/>
            <a:ext cx="6217920" cy="16002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550" b="1" i="0">
                <a:solidFill>
                  <a:srgbClr val="0B5E6E"/>
                </a:solidFill>
                <a:latin typeface="Calibri (MS) Bold"/>
              </a:rPr>
              <a:t>Hasil 2015–2019</a:t>
            </a:r>
          </a:p>
          <a:p>
            <a:pPr algn="l">
              <a:spcAft>
                <a:spcPts val="300"/>
              </a:spcAft>
            </a:pPr>
            <a:r>
              <a:rPr sz="1320" b="0" i="0">
                <a:solidFill>
                  <a:srgbClr val="14313B"/>
                </a:solidFill>
                <a:latin typeface="Calibri (MS)"/>
              </a:rPr>
              <a:t>BPS naik 40,2% lalu turun 38,8%; DLHK turun 12,9%. Dynamic World naik stabil ±12–13% per tahun, sehingga tetap dipilih.</a:t>
            </a:r>
          </a:p>
        </p:txBody>
      </p:sp>
      <p:sp>
        <p:nvSpPr>
          <p:cNvPr id="75" name="Rounded Rectangle 74"/>
          <p:cNvSpPr/>
          <p:nvPr/>
        </p:nvSpPr>
        <p:spPr>
          <a:xfrm>
            <a:off x="11247120" y="6263640"/>
            <a:ext cx="6217920" cy="21488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90" b="1" i="0">
                <a:solidFill>
                  <a:srgbClr val="0B5E6E"/>
                </a:solidFill>
                <a:latin typeface="Calibri (MS) Bold"/>
              </a:rPr>
              <a:t>Setelah 2019: naik-turun karena jumlah observasi</a:t>
            </a:r>
          </a:p>
          <a:p>
            <a:pPr algn="l">
              <a:spcAft>
                <a:spcPts val="300"/>
              </a:spcAft>
            </a:pPr>
            <a:r>
              <a:rPr sz="1320" b="0" i="0">
                <a:solidFill>
                  <a:srgbClr val="14313B"/>
                </a:solidFill>
                <a:latin typeface="Calibri (MS)"/>
              </a:rPr>
              <a:t>Luas berkorelasi dengan jumlah observasi citra per piksel (r = 0,788; p = 0,007), bukan dengan tahun (r = 0,174; p = 0,631). Penurunan 27% pada 2023→2025 adalah noise; dicatat sebagai keterbatasan.</a:t>
            </a:r>
          </a:p>
        </p:txBody>
      </p:sp>
      <p:sp>
        <p:nvSpPr>
          <p:cNvPr id="76" name="TextBox 75"/>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3.5.2 dan 4.2.2, Gambar 13; Master Data (BPS, DLHK DIY, Dynamic World); notebook "Data Citra untuk Lahan Terbangun".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85725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Estimasi Lahan Terbangun — Validasi Spasial</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Kesalahan Dynamic World terkumpul di tepi objek, bukan tersebar acak</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
            </a:r>
          </a:p>
        </p:txBody>
      </p:sp>
      <p:grpSp>
        <p:nvGrpSpPr>
          <p:cNvPr name="Group 67" id="67"/>
          <p:cNvGrpSpPr/>
          <p:nvPr/>
        </p:nvGrpSpPr>
        <p:grpSpPr>
          <a:xfrm rot="0">
            <a:off x="12755880" y="274320"/>
            <a:ext cx="3931920" cy="411480"/>
            <a:chOff x="0" y="0"/>
            <a:chExt cx="5242560" cy="548640"/>
          </a:xfrm>
        </p:grpSpPr>
        <p:sp>
          <p:nvSpPr>
            <p:cNvPr name="Freeform 68" id="68"/>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69" id="69"/>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2A · Integrasi citra satelit</a:t>
              </a:r>
            </a:p>
          </p:txBody>
        </p:sp>
      </p:grpSp>
      <p:pic>
        <p:nvPicPr>
          <p:cNvPr id="70" name="Picture 69" descr="image.png"/>
          <p:cNvPicPr>
            <a:picLocks noChangeAspect="1"/>
          </p:cNvPicPr>
          <p:nvPr/>
        </p:nvPicPr>
        <p:blipFill>
          <a:blip r:embed="rId2"/>
          <a:stretch>
            <a:fillRect/>
          </a:stretch>
        </p:blipFill>
        <p:spPr>
          <a:xfrm>
            <a:off x="822960" y="1853581"/>
            <a:ext cx="5394959" cy="3150837"/>
          </a:xfrm>
          <a:prstGeom prst="rect">
            <a:avLst/>
          </a:prstGeom>
        </p:spPr>
      </p:pic>
      <p:pic>
        <p:nvPicPr>
          <p:cNvPr id="71" name="Picture 70" descr="image.png"/>
          <p:cNvPicPr>
            <a:picLocks noChangeAspect="1"/>
          </p:cNvPicPr>
          <p:nvPr/>
        </p:nvPicPr>
        <p:blipFill>
          <a:blip r:embed="rId8"/>
          <a:stretch>
            <a:fillRect/>
          </a:stretch>
        </p:blipFill>
        <p:spPr>
          <a:xfrm>
            <a:off x="6511003" y="1783080"/>
            <a:ext cx="5083113" cy="3291839"/>
          </a:xfrm>
          <a:prstGeom prst="rect">
            <a:avLst/>
          </a:prstGeom>
        </p:spPr>
      </p:pic>
      <p:sp>
        <p:nvSpPr>
          <p:cNvPr id="72" name="TextBox 71"/>
          <p:cNvSpPr txBox="1"/>
          <p:nvPr/>
        </p:nvSpPr>
        <p:spPr>
          <a:xfrm>
            <a:off x="822960" y="5120640"/>
            <a:ext cx="5394960" cy="320040"/>
          </a:xfrm>
          <a:prstGeom prst="rect">
            <a:avLst/>
          </a:prstGeom>
          <a:noFill/>
        </p:spPr>
        <p:txBody>
          <a:bodyPr wrap="square" anchor="t" lIns="0" rIns="0" tIns="0" bIns="0">
            <a:spAutoFit/>
          </a:bodyPr>
          <a:lstStyle/>
          <a:p>
            <a:pPr algn="ctr">
              <a:spcAft>
                <a:spcPts val="400"/>
              </a:spcAft>
            </a:pPr>
            <a:r>
              <a:rPr sz="1320" b="1" i="0">
                <a:solidFill>
                  <a:srgbClr val="0B5E6E"/>
                </a:solidFill>
                <a:latin typeface="Calibri (MS) Bold"/>
              </a:rPr>
              <a:t>Titik 8: bukan terbangun (vegetasi)</a:t>
            </a:r>
          </a:p>
        </p:txBody>
      </p:sp>
      <p:sp>
        <p:nvSpPr>
          <p:cNvPr id="73" name="TextBox 72"/>
          <p:cNvSpPr txBox="1"/>
          <p:nvPr/>
        </p:nvSpPr>
        <p:spPr>
          <a:xfrm>
            <a:off x="6355080" y="5120640"/>
            <a:ext cx="5394960" cy="320040"/>
          </a:xfrm>
          <a:prstGeom prst="rect">
            <a:avLst/>
          </a:prstGeom>
          <a:noFill/>
        </p:spPr>
        <p:txBody>
          <a:bodyPr wrap="square" anchor="t" lIns="0" rIns="0" tIns="0" bIns="0">
            <a:spAutoFit/>
          </a:bodyPr>
          <a:lstStyle/>
          <a:p>
            <a:pPr algn="ctr">
              <a:spcAft>
                <a:spcPts val="400"/>
              </a:spcAft>
            </a:pPr>
            <a:r>
              <a:rPr sz="1320" b="1" i="0">
                <a:solidFill>
                  <a:srgbClr val="0B5E6E"/>
                </a:solidFill>
                <a:latin typeface="Calibri (MS) Bold"/>
              </a:rPr>
              <a:t>Titik 69: terbangun (atap bangunan)</a:t>
            </a:r>
          </a:p>
        </p:txBody>
      </p:sp>
      <p:graphicFrame>
        <p:nvGraphicFramePr>
          <p:cNvPr id="74" name="Table 73"/>
          <p:cNvGraphicFramePr>
            <a:graphicFrameLocks noGrp="1"/>
          </p:cNvGraphicFramePr>
          <p:nvPr/>
        </p:nvGraphicFramePr>
        <p:xfrm>
          <a:off x="12070080" y="1783080"/>
          <a:ext cx="5394960" cy="2834640"/>
        </p:xfrm>
        <a:graphic>
          <a:graphicData uri="http://schemas.openxmlformats.org/drawingml/2006/table">
            <a:tbl>
              <a:tblPr firstRow="1" bandRow="1">
                <a:tableStyleId>{5C22544A-7EE6-4342-B048-85BDC9FD1C3A}</a:tableStyleId>
              </a:tblPr>
              <a:tblGrid>
                <a:gridCol w="4023360"/>
                <a:gridCol w="1371600"/>
              </a:tblGrid>
              <a:tr h="566928">
                <a:tc>
                  <a:txBody>
                    <a:bodyPr wrap="square"/>
                    <a:lstStyle/>
                    <a:p>
                      <a:r>
                        <a:rPr sz="1380" b="1" i="0">
                          <a:solidFill>
                            <a:srgbClr val="FFFFFF"/>
                          </a:solidFill>
                          <a:latin typeface="Calibri (MS) Bold"/>
                        </a:rPr>
                        <a:t>Kelompok titik</a:t>
                      </a:r>
                    </a:p>
                  </a:txBody>
                  <a:tcPr marL="73152" marR="73152" marT="36576" marB="36576" anchor="ctr">
                    <a:solidFill>
                      <a:srgbClr val="0B5E6E"/>
                    </a:solidFill>
                  </a:tcPr>
                </a:tc>
                <a:tc>
                  <a:txBody>
                    <a:bodyPr wrap="square"/>
                    <a:lstStyle/>
                    <a:p>
                      <a:pPr algn="ctr"/>
                      <a:r>
                        <a:rPr sz="1380" b="1" i="0">
                          <a:solidFill>
                            <a:srgbClr val="FFFFFF"/>
                          </a:solidFill>
                          <a:latin typeface="Calibri (MS) Bold"/>
                        </a:rPr>
                        <a:t>Nilai</a:t>
                      </a:r>
                    </a:p>
                  </a:txBody>
                  <a:tcPr marL="73152" marR="73152" marT="36576" marB="36576" anchor="ctr">
                    <a:solidFill>
                      <a:srgbClr val="0B5E6E"/>
                    </a:solidFill>
                  </a:tcPr>
                </a:tc>
              </a:tr>
              <a:tr h="566928">
                <a:tc>
                  <a:txBody>
                    <a:bodyPr wrap="square"/>
                    <a:lstStyle/>
                    <a:p>
                      <a:r>
                        <a:rPr sz="1380" b="1" i="0">
                          <a:solidFill>
                            <a:srgbClr val="14313B"/>
                          </a:solidFill>
                          <a:latin typeface="Calibri (MS) Bold"/>
                        </a:rPr>
                        <a:t>Rata-rata probabilitas "built" — titik benar</a:t>
                      </a:r>
                    </a:p>
                  </a:txBody>
                  <a:tcPr marL="73152" marR="73152" marT="36576" marB="36576" anchor="ctr">
                    <a:solidFill>
                      <a:srgbClr val="FFFFFF"/>
                    </a:solidFill>
                  </a:tcPr>
                </a:tc>
                <a:tc>
                  <a:txBody>
                    <a:bodyPr wrap="square"/>
                    <a:lstStyle/>
                    <a:p>
                      <a:pPr algn="ctr"/>
                      <a:r>
                        <a:rPr sz="1380" b="0" i="0">
                          <a:solidFill>
                            <a:srgbClr val="14313B"/>
                          </a:solidFill>
                          <a:latin typeface="Calibri (MS)"/>
                        </a:rPr>
                        <a:t>0,330</a:t>
                      </a:r>
                    </a:p>
                  </a:txBody>
                  <a:tcPr marL="73152" marR="73152" marT="36576" marB="36576" anchor="ctr">
                    <a:solidFill>
                      <a:srgbClr val="FFFFFF"/>
                    </a:solidFill>
                  </a:tcPr>
                </a:tc>
              </a:tr>
              <a:tr h="566928">
                <a:tc>
                  <a:txBody>
                    <a:bodyPr wrap="square"/>
                    <a:lstStyle/>
                    <a:p>
                      <a:r>
                        <a:rPr sz="1380" b="1" i="0">
                          <a:solidFill>
                            <a:srgbClr val="14313B"/>
                          </a:solidFill>
                          <a:latin typeface="Calibri (MS) Bold"/>
                        </a:rPr>
                        <a:t>Rata-rata probabilitas "built" — titik salah</a:t>
                      </a:r>
                    </a:p>
                  </a:txBody>
                  <a:tcPr marL="73152" marR="73152" marT="36576" marB="36576" anchor="ctr">
                    <a:solidFill>
                      <a:srgbClr val="EAF8FA"/>
                    </a:solidFill>
                  </a:tcPr>
                </a:tc>
                <a:tc>
                  <a:txBody>
                    <a:bodyPr wrap="square"/>
                    <a:lstStyle/>
                    <a:p>
                      <a:pPr algn="ctr"/>
                      <a:r>
                        <a:rPr sz="1380" b="0" i="0">
                          <a:solidFill>
                            <a:srgbClr val="14313B"/>
                          </a:solidFill>
                          <a:latin typeface="Calibri (MS)"/>
                        </a:rPr>
                        <a:t>0,574</a:t>
                      </a:r>
                    </a:p>
                  </a:txBody>
                  <a:tcPr marL="73152" marR="73152" marT="36576" marB="36576" anchor="ctr">
                    <a:solidFill>
                      <a:srgbClr val="FDE2DE"/>
                    </a:solidFill>
                  </a:tcPr>
                </a:tc>
              </a:tr>
              <a:tr h="566928">
                <a:tc>
                  <a:txBody>
                    <a:bodyPr wrap="square"/>
                    <a:lstStyle/>
                    <a:p>
                      <a:r>
                        <a:rPr sz="1380" b="1" i="0">
                          <a:solidFill>
                            <a:srgbClr val="14313B"/>
                          </a:solidFill>
                          <a:latin typeface="Calibri (MS) Bold"/>
                        </a:rPr>
                        <a:t>Akurasi pada probabilitas 0–0,25</a:t>
                      </a:r>
                    </a:p>
                  </a:txBody>
                  <a:tcPr marL="73152" marR="73152" marT="36576" marB="36576" anchor="ctr">
                    <a:solidFill>
                      <a:srgbClr val="FFFFFF"/>
                    </a:solidFill>
                  </a:tcPr>
                </a:tc>
                <a:tc>
                  <a:txBody>
                    <a:bodyPr wrap="square"/>
                    <a:lstStyle/>
                    <a:p>
                      <a:pPr algn="ctr"/>
                      <a:r>
                        <a:rPr sz="1380" b="0" i="0">
                          <a:solidFill>
                            <a:srgbClr val="14313B"/>
                          </a:solidFill>
                          <a:latin typeface="Calibri (MS)"/>
                        </a:rPr>
                        <a:t>97,7%</a:t>
                      </a:r>
                    </a:p>
                  </a:txBody>
                  <a:tcPr marL="73152" marR="73152" marT="36576" marB="36576" anchor="ctr">
                    <a:solidFill>
                      <a:srgbClr val="C9F0D6"/>
                    </a:solidFill>
                  </a:tcPr>
                </a:tc>
              </a:tr>
              <a:tr h="566928">
                <a:tc>
                  <a:txBody>
                    <a:bodyPr wrap="square"/>
                    <a:lstStyle/>
                    <a:p>
                      <a:r>
                        <a:rPr sz="1380" b="1" i="0">
                          <a:solidFill>
                            <a:srgbClr val="14313B"/>
                          </a:solidFill>
                          <a:latin typeface="Calibri (MS) Bold"/>
                        </a:rPr>
                        <a:t>Akurasi pada probabilitas 0,5–0,6</a:t>
                      </a:r>
                    </a:p>
                  </a:txBody>
                  <a:tcPr marL="73152" marR="73152" marT="36576" marB="36576" anchor="ctr">
                    <a:solidFill>
                      <a:srgbClr val="EAF8FA"/>
                    </a:solidFill>
                  </a:tcPr>
                </a:tc>
                <a:tc>
                  <a:txBody>
                    <a:bodyPr wrap="square"/>
                    <a:lstStyle/>
                    <a:p>
                      <a:pPr algn="ctr"/>
                      <a:r>
                        <a:rPr sz="1380" b="0" i="0">
                          <a:solidFill>
                            <a:srgbClr val="14313B"/>
                          </a:solidFill>
                          <a:latin typeface="Calibri (MS)"/>
                        </a:rPr>
                        <a:t>52,0%</a:t>
                      </a:r>
                    </a:p>
                  </a:txBody>
                  <a:tcPr marL="73152" marR="73152" marT="36576" marB="36576" anchor="ctr">
                    <a:solidFill>
                      <a:srgbClr val="FDE2DE"/>
                    </a:solidFill>
                  </a:tcPr>
                </a:tc>
              </a:tr>
            </a:tbl>
          </a:graphicData>
        </a:graphic>
      </p:graphicFrame>
      <p:sp>
        <p:nvSpPr>
          <p:cNvPr id="75" name="TextBox 74"/>
          <p:cNvSpPr txBox="1"/>
          <p:nvPr/>
        </p:nvSpPr>
        <p:spPr>
          <a:xfrm>
            <a:off x="12070080" y="4709160"/>
            <a:ext cx="5394960" cy="457200"/>
          </a:xfrm>
          <a:prstGeom prst="rect">
            <a:avLst/>
          </a:prstGeom>
          <a:noFill/>
        </p:spPr>
        <p:txBody>
          <a:bodyPr wrap="square" anchor="t" lIns="0" rIns="0" tIns="0" bIns="0">
            <a:spAutoFit/>
          </a:bodyPr>
          <a:lstStyle/>
          <a:p>
            <a:pPr algn="l">
              <a:spcAft>
                <a:spcPts val="400"/>
              </a:spcAft>
            </a:pPr>
            <a:r>
              <a:rPr sz="1260" b="0" i="1">
                <a:solidFill>
                  <a:srgbClr val="5E6E78"/>
                </a:solidFill>
                <a:latin typeface="Calibri (MS)"/>
              </a:rPr>
              <a:t>Kesalahan menumpuk pada titik yang probabilitasnya dekat batas 0,5</a:t>
            </a:r>
          </a:p>
        </p:txBody>
      </p:sp>
      <p:sp>
        <p:nvSpPr>
          <p:cNvPr id="76" name="Rounded Rectangle 75"/>
          <p:cNvSpPr/>
          <p:nvPr/>
        </p:nvSpPr>
        <p:spPr>
          <a:xfrm>
            <a:off x="822960" y="5623560"/>
            <a:ext cx="5440680" cy="16002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550" b="1" i="0">
                <a:solidFill>
                  <a:srgbClr val="0B5E6E"/>
                </a:solidFill>
                <a:latin typeface="Calibri (MS) Bold"/>
              </a:rPr>
              <a:t>Cara</a:t>
            </a:r>
          </a:p>
          <a:p>
            <a:pPr algn="l">
              <a:spcAft>
                <a:spcPts val="300"/>
              </a:spcAft>
            </a:pPr>
            <a:r>
              <a:rPr sz="1380" b="0" i="0">
                <a:solidFill>
                  <a:srgbClr val="14313B"/>
                </a:solidFill>
                <a:latin typeface="Calibri (MS)"/>
              </a:rPr>
              <a:t>Titik sampel uji akurasi dicek ulang pada citra resolusi tinggi Google Earth: kelas Dynamic World dibandingkan dengan kondisi lapangan.</a:t>
            </a:r>
          </a:p>
        </p:txBody>
      </p:sp>
      <p:sp>
        <p:nvSpPr>
          <p:cNvPr id="77" name="Rounded Rectangle 76"/>
          <p:cNvSpPr/>
          <p:nvPr/>
        </p:nvSpPr>
        <p:spPr>
          <a:xfrm>
            <a:off x="6428232" y="5623560"/>
            <a:ext cx="5440680" cy="16002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550" b="1" i="0">
                <a:solidFill>
                  <a:srgbClr val="0B5E6E"/>
                </a:solidFill>
                <a:latin typeface="Calibri (MS) Bold"/>
              </a:rPr>
              <a:t>Titik yang tepat</a:t>
            </a:r>
          </a:p>
          <a:p>
            <a:pPr algn="l">
              <a:spcAft>
                <a:spcPts val="300"/>
              </a:spcAft>
            </a:pPr>
            <a:r>
              <a:rPr sz="1380" b="0" i="0">
                <a:solidFill>
                  <a:srgbClr val="14313B"/>
                </a:solidFill>
                <a:latin typeface="Calibri (MS)"/>
              </a:rPr>
              <a:t>Kawasan yang jelas terbangun atau jelas bervegetasi: kelas prediksi sesuai kondisi lapangan.</a:t>
            </a:r>
          </a:p>
        </p:txBody>
      </p:sp>
      <p:sp>
        <p:nvSpPr>
          <p:cNvPr id="78" name="Rounded Rectangle 77"/>
          <p:cNvSpPr/>
          <p:nvPr/>
        </p:nvSpPr>
        <p:spPr>
          <a:xfrm>
            <a:off x="12033504" y="5623560"/>
            <a:ext cx="5440680" cy="16002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550" b="1" i="0">
                <a:solidFill>
                  <a:srgbClr val="0B5E6E"/>
                </a:solidFill>
                <a:latin typeface="Calibri (MS) Bold"/>
              </a:rPr>
              <a:t>Titik yang salah</a:t>
            </a:r>
          </a:p>
          <a:p>
            <a:pPr algn="l">
              <a:spcAft>
                <a:spcPts val="300"/>
              </a:spcAft>
            </a:pPr>
            <a:r>
              <a:rPr sz="1380" b="0" i="0">
                <a:solidFill>
                  <a:srgbClr val="14313B"/>
                </a:solidFill>
                <a:latin typeface="Calibri (MS)"/>
              </a:rPr>
              <a:t>Di tepi objek, misalnya tepi jalan yang perkerasannya hanya menutupi ±7 dari 10 m piksel (piksel campuran).</a:t>
            </a:r>
          </a:p>
        </p:txBody>
      </p:sp>
      <p:sp>
        <p:nvSpPr>
          <p:cNvPr id="79" name="Rounded Rectangle 78"/>
          <p:cNvSpPr/>
          <p:nvPr/>
        </p:nvSpPr>
        <p:spPr>
          <a:xfrm>
            <a:off x="822960" y="7406640"/>
            <a:ext cx="16642080" cy="9144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550" b="1" i="0">
                <a:solidFill>
                  <a:srgbClr val="0B5E6E"/>
                </a:solidFill>
                <a:latin typeface="Calibri (MS) Bold"/>
              </a:rPr>
              <a:t>Kesimpulan  </a:t>
            </a:r>
            <a:r>
              <a:rPr sz="1440" b="0" i="0">
                <a:solidFill>
                  <a:srgbClr val="14313B"/>
                </a:solidFill>
                <a:latin typeface="Calibri (MS)"/>
              </a:rPr>
              <a:t>Kesalahan bersifat sistematis di tepi objek dan pada piksel campuran, bukan acak di seluruh wilayah; data tetap layak dipakai.</a:t>
            </a:r>
          </a:p>
        </p:txBody>
      </p:sp>
      <p:sp>
        <p:nvSpPr>
          <p:cNvPr id="80" name="TextBox 79"/>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3.5.2 dan 4.2.2, Gambar 14–15; sampel uji akurasi Dynamic World 2025 (Google Earth).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DAHXA7-drhs</dc:identifier>
  <dcterms:modified xsi:type="dcterms:W3CDTF">2011-08-01T06:04:30Z</dcterms:modified>
  <cp:revision>1</cp:revision>
  <dc:title>[Lengkap] PPT SIDANG FINAL</dc:title>
</cp:coreProperties>
</file>