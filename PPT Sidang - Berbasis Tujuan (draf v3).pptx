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11.svg" ContentType="image/svg+xml"/>
  <Override PartName="/ppt/media/image13.svg" ContentType="image/svg+xml"/>
  <Override PartName="/ppt/media/image18.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4.svg" ContentType="image/svg+xml"/>
  <Override PartName="/ppt/media/image43.svg" ContentType="image/svg+xml"/>
  <Override PartName="/ppt/media/image47.svg" ContentType="image/svg+xml"/>
  <Override PartName="/ppt/media/image51.svg" ContentType="image/svg+xml"/>
  <Override PartName="/ppt/media/image63.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74"/>
  </p:notesMasterIdLst>
  <p:sldIdLst>
    <p:sldId id="256" r:id="rId6"/>
    <p:sldId id="257" r:id="rId7"/>
    <p:sldId id="259" r:id="rId9"/>
    <p:sldId id="260" r:id="rId10"/>
    <p:sldId id="261" r:id="rId11"/>
    <p:sldId id="262" r:id="rId12"/>
    <p:sldId id="263" r:id="rId13"/>
    <p:sldId id="264" r:id="rId14"/>
    <p:sldId id="265" r:id="rId15"/>
    <p:sldId id="266" r:id="rId16"/>
    <p:sldId id="267" r:id="rId17"/>
    <p:sldId id="268" r:id="rId18"/>
    <p:sldId id="269" r:id="rId19"/>
    <p:sldId id="271" r:id="rId21"/>
    <p:sldId id="270" r:id="rId20"/>
    <p:sldId id="324" r:id="rId150"/>
    <p:sldId id="342" r:id="rId168"/>
    <p:sldId id="325" r:id="rId151"/>
    <p:sldId id="281" r:id="rId31"/>
    <p:sldId id="326" r:id="rId152"/>
    <p:sldId id="282" r:id="rId32"/>
    <p:sldId id="327" r:id="rId153"/>
    <p:sldId id="328" r:id="rId154"/>
    <p:sldId id="343" r:id="rId169"/>
    <p:sldId id="272" r:id="rId22"/>
    <p:sldId id="273" r:id="rId23"/>
    <p:sldId id="274" r:id="rId24"/>
    <p:sldId id="285" r:id="rId35"/>
    <p:sldId id="329" r:id="rId155"/>
    <p:sldId id="286" r:id="rId36"/>
    <p:sldId id="330" r:id="rId156"/>
    <p:sldId id="331" r:id="rId157"/>
    <p:sldId id="283" r:id="rId33"/>
    <p:sldId id="348" r:id="rId174"/>
    <p:sldId id="284" r:id="rId34"/>
    <p:sldId id="332" r:id="rId158"/>
    <p:sldId id="333" r:id="rId159"/>
    <p:sldId id="334" r:id="rId160"/>
    <p:sldId id="295" r:id="rId45"/>
    <p:sldId id="276" r:id="rId26"/>
    <p:sldId id="287" r:id="rId37"/>
    <p:sldId id="288" r:id="rId38"/>
    <p:sldId id="289" r:id="rId39"/>
    <p:sldId id="277" r:id="rId27"/>
    <p:sldId id="290" r:id="rId40"/>
    <p:sldId id="335" r:id="rId161"/>
    <p:sldId id="291" r:id="rId41"/>
    <p:sldId id="292" r:id="rId42"/>
    <p:sldId id="278" r:id="rId28"/>
    <p:sldId id="293" r:id="rId43"/>
    <p:sldId id="336" r:id="rId162"/>
    <p:sldId id="337" r:id="rId163"/>
    <p:sldId id="279" r:id="rId29"/>
    <p:sldId id="294" r:id="rId44"/>
    <p:sldId id="280" r:id="rId30"/>
    <p:sldId id="296" r:id="rId46"/>
    <p:sldId id="297" r:id="rId47"/>
    <p:sldId id="298" r:id="rId48"/>
    <p:sldId id="299" r:id="rId49"/>
    <p:sldId id="300" r:id="rId50"/>
    <p:sldId id="301" r:id="rId51"/>
    <p:sldId id="302" r:id="rId52"/>
    <p:sldId id="338" r:id="rId164"/>
    <p:sldId id="344" r:id="rId170"/>
    <p:sldId id="339" r:id="rId165"/>
    <p:sldId id="304" r:id="rId54"/>
    <p:sldId id="315" r:id="rId65"/>
    <p:sldId id="340" r:id="rId166"/>
    <p:sldId id="305" r:id="rId55"/>
    <p:sldId id="341" r:id="rId167"/>
    <p:sldId id="303" r:id="rId53"/>
    <p:sldId id="306" r:id="rId56"/>
    <p:sldId id="307" r:id="rId57"/>
    <p:sldId id="308" r:id="rId58"/>
    <p:sldId id="309" r:id="rId59"/>
    <p:sldId id="258" r:id="rId8"/>
    <p:sldId id="310" r:id="rId60"/>
    <p:sldId id="311" r:id="rId61"/>
    <p:sldId id="312" r:id="rId62"/>
    <p:sldId id="345" r:id="rId171"/>
    <p:sldId id="313" r:id="rId63"/>
    <p:sldId id="347" r:id="rId173"/>
    <p:sldId id="314" r:id="rId64"/>
    <p:sldId id="317" r:id="rId67"/>
    <p:sldId id="318" r:id="rId68"/>
    <p:sldId id="319" r:id="rId69"/>
    <p:sldId id="346" r:id="rId172"/>
    <p:sldId id="320" r:id="rId70"/>
    <p:sldId id="321" r:id="rId71"/>
    <p:sldId id="322" r:id="rId72"/>
    <p:sldId id="323" r:id="rId73"/>
  </p:sldIdLst>
  <p:sldSz cx="18288000" cy="10287000"/>
  <p:notesSz cx="6858000" cy="9144000"/>
  <p:embeddedFontLst>
    <p:embeddedFont>
      <p:font typeface="Calibri (MS) Bold" charset="1" panose="020F0702030404030204"/>
      <p:regular r:id="rId77"/>
    </p:embeddedFont>
    <p:embeddedFont>
      <p:font typeface="Calibri (MS) Bold Italics" charset="1" panose="020F07020304040A0204"/>
      <p:regular r:id="rId78"/>
    </p:embeddedFont>
    <p:embeddedFont>
      <p:font typeface="Calibri (MS)" charset="1" panose="020F0502020204030204"/>
      <p:regular r:id="rId79"/>
    </p:embeddedFont>
    <p:embeddedFont>
      <p:font typeface="Calibri (MS) Italics" charset="1" panose="020F05020202040A0204"/>
      <p:regular r:id="rId86"/>
    </p:embeddedFont>
    <p:embeddedFont>
      <p:font typeface="Montserrat Bold" charset="1" panose="00000800000000000000"/>
      <p:regular r:id="rId89"/>
    </p:embeddedFont>
    <p:embeddedFont>
      <p:font typeface="Cambria Italics" charset="1" panose="020405030504060A0204"/>
      <p:regular r:id="rId9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76.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5.xml"/><Relationship Id="rId21" Type="http://schemas.openxmlformats.org/officeDocument/2006/relationships/slide" Target="slides/slide14.xml"/><Relationship Id="rId22" Type="http://schemas.openxmlformats.org/officeDocument/2006/relationships/slide" Target="slides/slide25.xml"/><Relationship Id="rId23" Type="http://schemas.openxmlformats.org/officeDocument/2006/relationships/slide" Target="slides/slide26.xml"/><Relationship Id="rId24" Type="http://schemas.openxmlformats.org/officeDocument/2006/relationships/slide" Target="slides/slide27.xml"/><Relationship Id="rId26" Type="http://schemas.openxmlformats.org/officeDocument/2006/relationships/slide" Target="slides/slide40.xml"/><Relationship Id="rId27" Type="http://schemas.openxmlformats.org/officeDocument/2006/relationships/slide" Target="slides/slide44.xml"/><Relationship Id="rId28" Type="http://schemas.openxmlformats.org/officeDocument/2006/relationships/slide" Target="slides/slide49.xml"/><Relationship Id="rId29" Type="http://schemas.openxmlformats.org/officeDocument/2006/relationships/slide" Target="slides/slide53.xml"/><Relationship Id="rId30" Type="http://schemas.openxmlformats.org/officeDocument/2006/relationships/slide" Target="slides/slide55.xml"/><Relationship Id="rId31" Type="http://schemas.openxmlformats.org/officeDocument/2006/relationships/slide" Target="slides/slide19.xml"/><Relationship Id="rId32" Type="http://schemas.openxmlformats.org/officeDocument/2006/relationships/slide" Target="slides/slide21.xml"/><Relationship Id="rId33" Type="http://schemas.openxmlformats.org/officeDocument/2006/relationships/slide" Target="slides/slide33.xml"/><Relationship Id="rId34" Type="http://schemas.openxmlformats.org/officeDocument/2006/relationships/slide" Target="slides/slide35.xml"/><Relationship Id="rId35" Type="http://schemas.openxmlformats.org/officeDocument/2006/relationships/slide" Target="slides/slide28.xml"/><Relationship Id="rId36" Type="http://schemas.openxmlformats.org/officeDocument/2006/relationships/slide" Target="slides/slide30.xml"/><Relationship Id="rId37" Type="http://schemas.openxmlformats.org/officeDocument/2006/relationships/slide" Target="slides/slide41.xml"/><Relationship Id="rId38" Type="http://schemas.openxmlformats.org/officeDocument/2006/relationships/slide" Target="slides/slide42.xml"/><Relationship Id="rId39" Type="http://schemas.openxmlformats.org/officeDocument/2006/relationships/slide" Target="slides/slide43.xml"/><Relationship Id="rId40" Type="http://schemas.openxmlformats.org/officeDocument/2006/relationships/slide" Target="slides/slide45.xml"/><Relationship Id="rId41" Type="http://schemas.openxmlformats.org/officeDocument/2006/relationships/slide" Target="slides/slide47.xml"/><Relationship Id="rId42" Type="http://schemas.openxmlformats.org/officeDocument/2006/relationships/slide" Target="slides/slide48.xml"/><Relationship Id="rId43" Type="http://schemas.openxmlformats.org/officeDocument/2006/relationships/slide" Target="slides/slide50.xml"/><Relationship Id="rId44" Type="http://schemas.openxmlformats.org/officeDocument/2006/relationships/slide" Target="slides/slide54.xml"/><Relationship Id="rId45" Type="http://schemas.openxmlformats.org/officeDocument/2006/relationships/slide" Target="slides/slide39.xml"/><Relationship Id="rId46" Type="http://schemas.openxmlformats.org/officeDocument/2006/relationships/slide" Target="slides/slide56.xml"/><Relationship Id="rId47" Type="http://schemas.openxmlformats.org/officeDocument/2006/relationships/slide" Target="slides/slide57.xml"/><Relationship Id="rId48" Type="http://schemas.openxmlformats.org/officeDocument/2006/relationships/slide" Target="slides/slide58.xml"/><Relationship Id="rId49" Type="http://schemas.openxmlformats.org/officeDocument/2006/relationships/slide" Target="slides/slide59.xml"/><Relationship Id="rId50" Type="http://schemas.openxmlformats.org/officeDocument/2006/relationships/slide" Target="slides/slide60.xml"/><Relationship Id="rId51" Type="http://schemas.openxmlformats.org/officeDocument/2006/relationships/slide" Target="slides/slide61.xml"/><Relationship Id="rId52" Type="http://schemas.openxmlformats.org/officeDocument/2006/relationships/slide" Target="slides/slide62.xml"/><Relationship Id="rId53" Type="http://schemas.openxmlformats.org/officeDocument/2006/relationships/slide" Target="slides/slide71.xml"/><Relationship Id="rId54" Type="http://schemas.openxmlformats.org/officeDocument/2006/relationships/slide" Target="slides/slide66.xml"/><Relationship Id="rId55" Type="http://schemas.openxmlformats.org/officeDocument/2006/relationships/slide" Target="slides/slide69.xml"/><Relationship Id="rId56" Type="http://schemas.openxmlformats.org/officeDocument/2006/relationships/slide" Target="slides/slide72.xml"/><Relationship Id="rId57" Type="http://schemas.openxmlformats.org/officeDocument/2006/relationships/slide" Target="slides/slide73.xml"/><Relationship Id="rId58" Type="http://schemas.openxmlformats.org/officeDocument/2006/relationships/slide" Target="slides/slide74.xml"/><Relationship Id="rId59" Type="http://schemas.openxmlformats.org/officeDocument/2006/relationships/slide" Target="slides/slide75.xml"/><Relationship Id="rId60" Type="http://schemas.openxmlformats.org/officeDocument/2006/relationships/slide" Target="slides/slide77.xml"/><Relationship Id="rId61" Type="http://schemas.openxmlformats.org/officeDocument/2006/relationships/slide" Target="slides/slide78.xml"/><Relationship Id="rId62" Type="http://schemas.openxmlformats.org/officeDocument/2006/relationships/slide" Target="slides/slide79.xml"/><Relationship Id="rId63" Type="http://schemas.openxmlformats.org/officeDocument/2006/relationships/slide" Target="slides/slide81.xml"/><Relationship Id="rId64" Type="http://schemas.openxmlformats.org/officeDocument/2006/relationships/slide" Target="slides/slide83.xml"/><Relationship Id="rId65" Type="http://schemas.openxmlformats.org/officeDocument/2006/relationships/slide" Target="slides/slide67.xml"/><Relationship Id="rId67" Type="http://schemas.openxmlformats.org/officeDocument/2006/relationships/slide" Target="slides/slide84.xml"/><Relationship Id="rId68" Type="http://schemas.openxmlformats.org/officeDocument/2006/relationships/slide" Target="slides/slide85.xml"/><Relationship Id="rId69" Type="http://schemas.openxmlformats.org/officeDocument/2006/relationships/slide" Target="slides/slide86.xml"/><Relationship Id="rId70" Type="http://schemas.openxmlformats.org/officeDocument/2006/relationships/slide" Target="slides/slide88.xml"/><Relationship Id="rId71" Type="http://schemas.openxmlformats.org/officeDocument/2006/relationships/slide" Target="slides/slide89.xml"/><Relationship Id="rId72" Type="http://schemas.openxmlformats.org/officeDocument/2006/relationships/slide" Target="slides/slide90.xml"/><Relationship Id="rId73" Type="http://schemas.openxmlformats.org/officeDocument/2006/relationships/slide" Target="slides/slide91.xml"/><Relationship Id="rId74" Type="http://schemas.openxmlformats.org/officeDocument/2006/relationships/notesMaster" Target="notesMasters/notesMaster1.xml"/><Relationship Id="rId75" Type="http://schemas.openxmlformats.org/officeDocument/2006/relationships/theme" Target="theme/theme2.xml"/><Relationship Id="rId76" Type="http://schemas.openxmlformats.org/officeDocument/2006/relationships/notesSlide" Target="notesSlides/notesSlide1.xml"/><Relationship Id="rId77" Type="http://schemas.openxmlformats.org/officeDocument/2006/relationships/font" Target="fonts/font77.fntdata"/><Relationship Id="rId78" Type="http://schemas.openxmlformats.org/officeDocument/2006/relationships/font" Target="fonts/font78.fntdata"/><Relationship Id="rId79" Type="http://schemas.openxmlformats.org/officeDocument/2006/relationships/font" Target="fonts/font79.fntdata"/><Relationship Id="rId80" Type="http://schemas.openxmlformats.org/officeDocument/2006/relationships/notesSlide" Target="notesSlides/notesSlide2.xml"/><Relationship Id="rId81" Type="http://schemas.openxmlformats.org/officeDocument/2006/relationships/notesSlide" Target="notesSlides/notesSlide3.xml"/><Relationship Id="rId82" Type="http://schemas.openxmlformats.org/officeDocument/2006/relationships/notesSlide" Target="notesSlides/notesSlide4.xml"/><Relationship Id="rId83" Type="http://schemas.openxmlformats.org/officeDocument/2006/relationships/notesSlide" Target="notesSlides/notesSlide5.xml"/><Relationship Id="rId84" Type="http://schemas.openxmlformats.org/officeDocument/2006/relationships/notesSlide" Target="notesSlides/notesSlide6.xml"/><Relationship Id="rId85" Type="http://schemas.openxmlformats.org/officeDocument/2006/relationships/notesSlide" Target="notesSlides/notesSlide7.xml"/><Relationship Id="rId86" Type="http://schemas.openxmlformats.org/officeDocument/2006/relationships/font" Target="fonts/font86.fntdata"/><Relationship Id="rId87" Type="http://schemas.openxmlformats.org/officeDocument/2006/relationships/notesSlide" Target="notesSlides/notesSlide8.xml"/><Relationship Id="rId88" Type="http://schemas.openxmlformats.org/officeDocument/2006/relationships/notesSlide" Target="notesSlides/notesSlide9.xml"/><Relationship Id="rId89" Type="http://schemas.openxmlformats.org/officeDocument/2006/relationships/font" Target="fonts/font89.fntdata"/><Relationship Id="rId90" Type="http://schemas.openxmlformats.org/officeDocument/2006/relationships/notesSlide" Target="notesSlides/notesSlide10.xml"/><Relationship Id="rId91" Type="http://schemas.openxmlformats.org/officeDocument/2006/relationships/notesSlide" Target="notesSlides/notesSlide11.xml"/><Relationship Id="rId92" Type="http://schemas.openxmlformats.org/officeDocument/2006/relationships/notesSlide" Target="notesSlides/notesSlide12.xml"/><Relationship Id="rId93" Type="http://schemas.openxmlformats.org/officeDocument/2006/relationships/notesSlide" Target="notesSlides/notesSlide13.xml"/><Relationship Id="rId94" Type="http://schemas.openxmlformats.org/officeDocument/2006/relationships/notesSlide" Target="notesSlides/notesSlide14.xml"/><Relationship Id="rId95" Type="http://schemas.openxmlformats.org/officeDocument/2006/relationships/notesSlide" Target="notesSlides/notesSlide15.xml"/><Relationship Id="rId96" Type="http://schemas.openxmlformats.org/officeDocument/2006/relationships/notesSlide" Target="notesSlides/notesSlide16.xml"/><Relationship Id="rId97" Type="http://schemas.openxmlformats.org/officeDocument/2006/relationships/notesSlide" Target="notesSlides/notesSlide17.xml"/><Relationship Id="rId98" Type="http://schemas.openxmlformats.org/officeDocument/2006/relationships/notesSlide" Target="notesSlides/notesSlide18.xml"/><Relationship Id="rId99" Type="http://schemas.openxmlformats.org/officeDocument/2006/relationships/font" Target="fonts/font99.fntdata"/><Relationship Id="rId100" Type="http://schemas.openxmlformats.org/officeDocument/2006/relationships/notesSlide" Target="notesSlides/notesSlide19.xml"/><Relationship Id="rId101" Type="http://schemas.openxmlformats.org/officeDocument/2006/relationships/notesSlide" Target="notesSlides/notesSlide20.xml"/><Relationship Id="rId102" Type="http://schemas.openxmlformats.org/officeDocument/2006/relationships/notesSlide" Target="notesSlides/notesSlide21.xml"/><Relationship Id="rId103" Type="http://schemas.openxmlformats.org/officeDocument/2006/relationships/notesSlide" Target="notesSlides/notesSlide22.xml"/><Relationship Id="rId104" Type="http://schemas.openxmlformats.org/officeDocument/2006/relationships/notesSlide" Target="notesSlides/notesSlide23.xml"/><Relationship Id="rId105" Type="http://schemas.openxmlformats.org/officeDocument/2006/relationships/notesSlide" Target="notesSlides/notesSlide24.xml"/><Relationship Id="rId106" Type="http://schemas.openxmlformats.org/officeDocument/2006/relationships/notesSlide" Target="notesSlides/notesSlide25.xml"/><Relationship Id="rId107" Type="http://schemas.openxmlformats.org/officeDocument/2006/relationships/notesSlide" Target="notesSlides/notesSlide26.xml"/><Relationship Id="rId108" Type="http://schemas.openxmlformats.org/officeDocument/2006/relationships/notesSlide" Target="notesSlides/notesSlide27.xml"/><Relationship Id="rId109" Type="http://schemas.openxmlformats.org/officeDocument/2006/relationships/notesSlide" Target="notesSlides/notesSlide28.xml"/><Relationship Id="rId110" Type="http://schemas.openxmlformats.org/officeDocument/2006/relationships/notesSlide" Target="notesSlides/notesSlide29.xml"/><Relationship Id="rId111" Type="http://schemas.openxmlformats.org/officeDocument/2006/relationships/notesSlide" Target="notesSlides/notesSlide30.xml"/><Relationship Id="rId112" Type="http://schemas.openxmlformats.org/officeDocument/2006/relationships/notesSlide" Target="notesSlides/notesSlide31.xml"/><Relationship Id="rId113" Type="http://schemas.openxmlformats.org/officeDocument/2006/relationships/notesSlide" Target="notesSlides/notesSlide32.xml"/><Relationship Id="rId114" Type="http://schemas.openxmlformats.org/officeDocument/2006/relationships/notesSlide" Target="notesSlides/notesSlide33.xml"/><Relationship Id="rId115" Type="http://schemas.openxmlformats.org/officeDocument/2006/relationships/notesSlide" Target="notesSlides/notesSlide34.xml"/><Relationship Id="rId116" Type="http://schemas.openxmlformats.org/officeDocument/2006/relationships/notesSlide" Target="notesSlides/notesSlide35.xml"/><Relationship Id="rId117" Type="http://schemas.openxmlformats.org/officeDocument/2006/relationships/notesSlide" Target="notesSlides/notesSlide36.xml"/><Relationship Id="rId118" Type="http://schemas.openxmlformats.org/officeDocument/2006/relationships/notesSlide" Target="notesSlides/notesSlide37.xml"/><Relationship Id="rId119" Type="http://schemas.openxmlformats.org/officeDocument/2006/relationships/notesSlide" Target="notesSlides/notesSlide38.xml"/><Relationship Id="rId120" Type="http://schemas.openxmlformats.org/officeDocument/2006/relationships/notesSlide" Target="notesSlides/notesSlide39.xml"/><Relationship Id="rId121" Type="http://schemas.openxmlformats.org/officeDocument/2006/relationships/notesSlide" Target="notesSlides/notesSlide40.xml"/><Relationship Id="rId122" Type="http://schemas.openxmlformats.org/officeDocument/2006/relationships/notesSlide" Target="notesSlides/notesSlide41.xml"/><Relationship Id="rId123" Type="http://schemas.openxmlformats.org/officeDocument/2006/relationships/notesSlide" Target="notesSlides/notesSlide42.xml"/><Relationship Id="rId124" Type="http://schemas.openxmlformats.org/officeDocument/2006/relationships/notesSlide" Target="notesSlides/notesSlide43.xml"/><Relationship Id="rId125" Type="http://schemas.openxmlformats.org/officeDocument/2006/relationships/notesSlide" Target="notesSlides/notesSlide44.xml"/><Relationship Id="rId126" Type="http://schemas.openxmlformats.org/officeDocument/2006/relationships/notesSlide" Target="notesSlides/notesSlide45.xml"/><Relationship Id="rId127" Type="http://schemas.openxmlformats.org/officeDocument/2006/relationships/notesSlide" Target="notesSlides/notesSlide46.xml"/><Relationship Id="rId128" Type="http://schemas.openxmlformats.org/officeDocument/2006/relationships/notesSlide" Target="notesSlides/notesSlide47.xml"/><Relationship Id="rId129" Type="http://schemas.openxmlformats.org/officeDocument/2006/relationships/notesSlide" Target="notesSlides/notesSlide48.xml"/><Relationship Id="rId130" Type="http://schemas.openxmlformats.org/officeDocument/2006/relationships/notesSlide" Target="notesSlides/notesSlide49.xml"/><Relationship Id="rId131" Type="http://schemas.openxmlformats.org/officeDocument/2006/relationships/notesSlide" Target="notesSlides/notesSlide50.xml"/><Relationship Id="rId132" Type="http://schemas.openxmlformats.org/officeDocument/2006/relationships/notesSlide" Target="notesSlides/notesSlide51.xml"/><Relationship Id="rId133" Type="http://schemas.openxmlformats.org/officeDocument/2006/relationships/notesSlide" Target="notesSlides/notesSlide52.xml"/><Relationship Id="rId134" Type="http://schemas.openxmlformats.org/officeDocument/2006/relationships/notesSlide" Target="notesSlides/notesSlide53.xml"/><Relationship Id="rId135" Type="http://schemas.openxmlformats.org/officeDocument/2006/relationships/notesSlide" Target="notesSlides/notesSlide54.xml"/><Relationship Id="rId136" Type="http://schemas.openxmlformats.org/officeDocument/2006/relationships/notesSlide" Target="notesSlides/notesSlide55.xml"/><Relationship Id="rId137" Type="http://schemas.openxmlformats.org/officeDocument/2006/relationships/notesSlide" Target="notesSlides/notesSlide56.xml"/><Relationship Id="rId138" Type="http://schemas.openxmlformats.org/officeDocument/2006/relationships/notesSlide" Target="notesSlides/notesSlide57.xml"/><Relationship Id="rId139" Type="http://schemas.openxmlformats.org/officeDocument/2006/relationships/notesSlide" Target="notesSlides/notesSlide58.xml"/><Relationship Id="rId140" Type="http://schemas.openxmlformats.org/officeDocument/2006/relationships/notesSlide" Target="notesSlides/notesSlide59.xml"/><Relationship Id="rId141" Type="http://schemas.openxmlformats.org/officeDocument/2006/relationships/notesSlide" Target="notesSlides/notesSlide60.xml"/><Relationship Id="rId142" Type="http://schemas.openxmlformats.org/officeDocument/2006/relationships/notesSlide" Target="notesSlides/notesSlide61.xml"/><Relationship Id="rId143" Type="http://schemas.openxmlformats.org/officeDocument/2006/relationships/notesSlide" Target="notesSlides/notesSlide62.xml"/><Relationship Id="rId144" Type="http://schemas.openxmlformats.org/officeDocument/2006/relationships/notesSlide" Target="notesSlides/notesSlide63.xml"/><Relationship Id="rId145" Type="http://schemas.openxmlformats.org/officeDocument/2006/relationships/notesSlide" Target="notesSlides/notesSlide64.xml"/><Relationship Id="rId146" Type="http://schemas.openxmlformats.org/officeDocument/2006/relationships/notesSlide" Target="notesSlides/notesSlide65.xml"/><Relationship Id="rId147" Type="http://schemas.openxmlformats.org/officeDocument/2006/relationships/notesSlide" Target="notesSlides/notesSlide66.xml"/><Relationship Id="rId148" Type="http://schemas.openxmlformats.org/officeDocument/2006/relationships/notesSlide" Target="notesSlides/notesSlide67.xml"/><Relationship Id="rId149" Type="http://schemas.openxmlformats.org/officeDocument/2006/relationships/notesSlide" Target="notesSlides/notesSlide68.xml"/><Relationship Id="rId150" Type="http://schemas.openxmlformats.org/officeDocument/2006/relationships/slide" Target="slides/slide16.xml"/><Relationship Id="rId151" Type="http://schemas.openxmlformats.org/officeDocument/2006/relationships/slide" Target="slides/slide18.xml"/><Relationship Id="rId152" Type="http://schemas.openxmlformats.org/officeDocument/2006/relationships/slide" Target="slides/slide20.xml"/><Relationship Id="rId153" Type="http://schemas.openxmlformats.org/officeDocument/2006/relationships/slide" Target="slides/slide22.xml"/><Relationship Id="rId154" Type="http://schemas.openxmlformats.org/officeDocument/2006/relationships/slide" Target="slides/slide23.xml"/><Relationship Id="rId155" Type="http://schemas.openxmlformats.org/officeDocument/2006/relationships/slide" Target="slides/slide29.xml"/><Relationship Id="rId156" Type="http://schemas.openxmlformats.org/officeDocument/2006/relationships/slide" Target="slides/slide31.xml"/><Relationship Id="rId157" Type="http://schemas.openxmlformats.org/officeDocument/2006/relationships/slide" Target="slides/slide32.xml"/><Relationship Id="rId158" Type="http://schemas.openxmlformats.org/officeDocument/2006/relationships/slide" Target="slides/slide36.xml"/><Relationship Id="rId159" Type="http://schemas.openxmlformats.org/officeDocument/2006/relationships/slide" Target="slides/slide37.xml"/><Relationship Id="rId160" Type="http://schemas.openxmlformats.org/officeDocument/2006/relationships/slide" Target="slides/slide38.xml"/><Relationship Id="rId161" Type="http://schemas.openxmlformats.org/officeDocument/2006/relationships/slide" Target="slides/slide46.xml"/><Relationship Id="rId162" Type="http://schemas.openxmlformats.org/officeDocument/2006/relationships/slide" Target="slides/slide51.xml"/><Relationship Id="rId163" Type="http://schemas.openxmlformats.org/officeDocument/2006/relationships/slide" Target="slides/slide52.xml"/><Relationship Id="rId164" Type="http://schemas.openxmlformats.org/officeDocument/2006/relationships/slide" Target="slides/slide63.xml"/><Relationship Id="rId165" Type="http://schemas.openxmlformats.org/officeDocument/2006/relationships/slide" Target="slides/slide65.xml"/><Relationship Id="rId166" Type="http://schemas.openxmlformats.org/officeDocument/2006/relationships/slide" Target="slides/slide68.xml"/><Relationship Id="rId167" Type="http://schemas.openxmlformats.org/officeDocument/2006/relationships/slide" Target="slides/slide70.xml"/><Relationship Id="rId168" Type="http://schemas.openxmlformats.org/officeDocument/2006/relationships/slide" Target="slides/slide17.xml"/><Relationship Id="rId169" Type="http://schemas.openxmlformats.org/officeDocument/2006/relationships/slide" Target="slides/slide24.xml"/><Relationship Id="rId170" Type="http://schemas.openxmlformats.org/officeDocument/2006/relationships/slide" Target="slides/slide64.xml"/><Relationship Id="rId171" Type="http://schemas.openxmlformats.org/officeDocument/2006/relationships/slide" Target="slides/slide80.xml"/><Relationship Id="rId172" Type="http://schemas.openxmlformats.org/officeDocument/2006/relationships/slide" Target="slides/slide87.xml"/><Relationship Id="rId173" Type="http://schemas.openxmlformats.org/officeDocument/2006/relationships/slide" Target="slides/slide82.xml"/><Relationship Id="rId174" Type="http://schemas.openxmlformats.org/officeDocument/2006/relationships/slide" Target="slides/slide3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Lahan terbangun DW (ha)</c:v>
                </c:pt>
              </c:strCache>
            </c:strRef>
          </c:tx>
          <c:spPr>
            <a:ln w="31750">
              <a:solidFill>
                <a:srgbClr val="0B5E6E"/>
              </a:solidFill>
            </a:ln>
          </c:spPr>
          <c:marker>
            <c:spPr>
              <a:solidFill>
                <a:srgbClr val="0B5E6E"/>
              </a:solidFill>
            </c:spPr>
          </c:marker>
          <c:cat>
            <c:strRef>
              <c:f>Sheet1!$A$2:$A$11</c:f>
              <c:strCache>
                <c:ptCount val="10"/>
                <c:pt idx="0">
                  <c:v>2016
4,3</c:v>
                </c:pt>
                <c:pt idx="1">
                  <c:v>2017
7,0</c:v>
                </c:pt>
                <c:pt idx="2">
                  <c:v>2018
16,2</c:v>
                </c:pt>
                <c:pt idx="3">
                  <c:v>2019
22,4</c:v>
                </c:pt>
                <c:pt idx="4">
                  <c:v>2020
13,5</c:v>
                </c:pt>
                <c:pt idx="5">
                  <c:v>2021
8,5</c:v>
                </c:pt>
                <c:pt idx="6">
                  <c:v>2022
7,1</c:v>
                </c:pt>
                <c:pt idx="7">
                  <c:v>2023
16,7</c:v>
                </c:pt>
                <c:pt idx="8">
                  <c:v>2024
15,2</c:v>
                </c:pt>
                <c:pt idx="9">
                  <c:v>2025
9,3</c:v>
                </c:pt>
              </c:strCache>
            </c:strRef>
          </c:cat>
          <c:val>
            <c:numRef>
              <c:f>Sheet1!$B$2:$B$11</c:f>
              <c:numCache>
                <c:formatCode>General</c:formatCode>
                <c:ptCount val="10"/>
                <c:pt idx="0">
                  <c:v>44561</c:v>
                </c:pt>
                <c:pt idx="1">
                  <c:v>50224</c:v>
                </c:pt>
                <c:pt idx="2">
                  <c:v>56624</c:v>
                </c:pt>
                <c:pt idx="3">
                  <c:v>63480</c:v>
                </c:pt>
                <c:pt idx="4">
                  <c:v>58962</c:v>
                </c:pt>
                <c:pt idx="5">
                  <c:v>59888</c:v>
                </c:pt>
                <c:pt idx="6">
                  <c:v>57709</c:v>
                </c:pt>
                <c:pt idx="7">
                  <c:v>75624</c:v>
                </c:pt>
                <c:pt idx="8">
                  <c:v>73512</c:v>
                </c:pt>
                <c:pt idx="9">
                  <c:v>55030</c:v>
                </c:pt>
              </c:numCache>
            </c:numRef>
          </c:val>
          <c:smooth val="0"/>
        </c:ser>
        <c:dLbls>
          <c:numFmt formatCode="#,##0" sourceLinked="0"/>
          <c:txPr>
            <a:bodyPr/>
            <a:lstStyle/>
            <a:p>
              <a:pPr>
                <a:defRPr sz="1000">
                  <a:solidFill>
                    <a:srgbClr val="14313B"/>
                  </a:solidFill>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solidFill>
                  <a:srgbClr val="5E6E78"/>
                </a:solidFill>
              </a:defRPr>
            </a:pPr>
          </a:p>
        </c:txPr>
        <c:crossAx val="2140495176"/>
        <c:crosses val="autoZero"/>
        <c:auto val="1"/>
        <c:lblAlgn val="ctr"/>
        <c:lblOffset val="100"/>
        <c:noMultiLvlLbl val="0"/>
      </c:catAx>
      <c:valAx>
        <c:axId val="2140495176"/>
        <c:scaling>
          <c:min val="40000.0"/>
        </c:scaling>
        <c:delete val="0"/>
        <c:axPos val="l"/>
        <c:majorGridlines>
          <c:spPr>
            <a:ln>
              <a:solidFill>
                <a:srgbClr val="CFE5E9"/>
              </a:solidFill>
            </a:ln>
          </c:spPr>
        </c:majorGridlines>
        <c:majorTickMark val="out"/>
        <c:minorTickMark val="none"/>
        <c:tickLblPos val="nextTo"/>
        <c:txPr>
          <a:bodyPr/>
          <a:lstStyle/>
          <a:p>
            <a:pPr>
              <a:defRPr sz="1100">
                <a:solidFill>
                  <a:srgbClr val="5E6E78"/>
                </a:solidFill>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Salam dan perkenalan. Judul: Perancangan Aplikasi Simulasi Kebijakan Pariwisata Menggunakan Sistem Dinamis dengan Integrasi Data Citra Satelit, studi kasus Provinsi DIY. Sebutkan dosen pembimbing dan dua dosen penguji.</a:t>
            </a:r>
          </a:p>
          <a:p>
            <a:r>
              <a:rPr lang="en-US"/>
              <a:t>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Paparan mengikuti tiga tujuan penelitian, bukan urutan bab. Setelah pendahuluan dan fondasi metodologi (data, enam tahap, preprocessing), setiap tujuan dibahas dengan pola metode, hasil, makna, lalu ditutup slide ringkasan hasil tujuan. Lampiran disiapkan untuk tanya jawab.</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menit. Mulai dari konteks global dan nasional secara singkat, lalu fokus ke DIY. Tekankan kalimat terakhir: kompleksitas dan tekanan daya dukung adalah alasan perlunya pendekatan sistem.</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Pariwisata global mencapai sekitar 1,53 miliar wisatawan internasional pada 2025 dan menyumbang 10% PDB global (2024). Proyeksi lima tahun menempatkan Travel &amp; Tourism sebagai sektor dengan laju pertumbuhan nilai tambah bruto tertinggi (CAGR 3,6%). Di Indonesia, kontribusi terhadap PDB naik dari 2,2% (2020) menjadi 4% (2024), dan kunjungan wisman 2025 mencapai 15,38 juta, naik 10,8%.</a:t>
            </a:r>
          </a:p>
          <a:p>
            <a:r>
              <a:rPr lang="en-US"/>
              <a:t>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Kontribusi pariwisata terhadap PDB Indonesia naik dari 2,2 persen pada 2020 menjadi 4 persen pada 2024 dan 4,9 persen pada 2025 (Kementerian Pariwisata). Di sisi permintaan, perjalanan wisatawan nusantara naik dari 524,6 juta pada 2020 menjadi 1.200,3 juta pada 2025, dan kunjungan wisman pulih dari 1,6 juta pada 2021 menjadi 15,4 juta pada 2025. Pesannya: pariwisata pulih cepat pascapandemi dan menjadi prioritas nasional, sehingga perencanaannya butuh alat yang mampu menangkap pertumbuhan jangka panjang. (±45 detik)</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DIY menerima lebih dari 40 juta perjalanan wisatawan nusantara pada 2025 (peringkat ketujuh nasional). Proporsi perjalanan antarprovinsi menuju DIY 59,69%, urutan kedua setelah DKI Jakarta. DIY peringkat satu nasional pada sub-indeks Travel and Tourism Demand Drivers IPKN 2024. Pariwisata adalah sektor prioritas kedua setelah pendidikan dalam RPJMD 2012-2025, dan kawasan Borobudur-Yogyakarta-Prambanan ditetapkan sebagai destinasi pariwisata prioritas melalui Perpres 88/2024.</a:t>
            </a:r>
          </a:p>
          <a:p>
            <a:r>
              <a:rPr lang="en-US"/>
              <a:t>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Pariwisata adalah sistem yang kompleks: permintaan, akomodasi, objek daya tarik, tenaga kerja, nilai tambah, dan lahan saling berinteraksi secara non-linear dan dengan jeda waktu (Mai &amp; Smith, 2018). Tekanannya nyata, misalnya kepadatan di koridor Malioboro dan konversi lahan terbangun. Karena itu keterkaitan antarkomponen, bukan komponen secara terpisah, yang menentukan apakah pertumbuhan berkelanjutan.</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Metode kuantitatif umum seperti ARIMA, exponential smoothing, VECM, regresi, dan machine learning andal untuk memproyeksikan satu atau beberapa variabel, tetapi memperlakukan variabel secara parsial tanpa feedback loop, akumulasi, dan keterkaitan antara permintaan, kapasitas, dan daya dukung. Sistem dinamis dirancang untuk memahami perilaku sistem kompleks melalui stocks, flows, feedback loop, dan delays, sehingga kebijakan dapat diuji secara virtual (Sterman, 2000). Mai &amp; Smith (2018) di Cat Ba Island menemukan limits to growth tanpa intervensi; pendekatan serupa dipakai di Labuan Bajo dan Saba Budaya Baduy.</a:t>
            </a:r>
          </a:p>
          <a:p>
            <a:r>
              <a:rPr lang="en-US"/>
              <a:t>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Ada tiga celah. Pertama, model sistem dinamis pariwisata umumnya diadaptasi langsung dari kerangka luar negeri; variabel seperti populasi, limbah, dan air tanah per sektor tidak punya padanan data tahunan provinsi di Indonesia. Kedua, statistik agregat terbit dengan jeda waktu, dan integrasi sistem dinamis dengan remote sensing masih jarang. Ketiga, hasil pemodelan sering berhenti pada grafik statis. Responsnya: struktur model dirumuskan ulang berbasis klasifikasi resmi, citra satelit diposisikan sebagai estimator pemutakhir data, dan hasil diimplementasikan sebagai aplikasi web.</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Tujuan umum: mengembangkan dan memvalidasi model sistem dinamis pariwisata yang terintegrasi dengan citra satelit untuk pemutakhiran data, guna mendukung simulasi kebijakan pariwisata di DIY. Tiga masalah: belum ada variabel penyusun CLD; belum ada model simulasi tervalidasi yang memakai citra satelit dan statistik resmi; belum ada aplikasi web pendukung keputusan. Tiap masalah dijawab satu tujuan operasional.</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Lima batasan penelitian. Wilayah DIY dengan data historis 2015-2025 dan tahun dasar 2025 sampai 2050. Struktur dibatasi pada lima stok inti dan tidak memuat guncangan eksternal, harga, promosi, dan musim. Citra satelit hanya estimator untuk lahan terbangun dan jumlah ODTW. Skenario dibatasi pada dua tuas, disusun dari analisis sensitivitas dan dokumen kebijakan tanpa lokakarya pemangku kepentingan. Model dipakai untuk membandingkan arah dan besaran relatif antarskenario, bukan meramalkan angka absolut.</a:t>
            </a:r>
          </a:p>
          <a:p>
            <a:r>
              <a:rPr lang="en-US"/>
              <a:t>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Dari sembilan studi sistem dinamis pariwisata yang ditinjau, semuanya bergantung pada data statistik agregat sebagai satu-satunya input dan tidak ada yang menghasilkan aplikasi web. Penelitian ini memadukan statistik resmi, data citra satelit, dan aplikasi web sekaligus, di Provinsi DIY. Tiga kebaruan: integrasi sistem dinamis dengan data spasial multi-temporal, DIY sebagai lokasi yang belum dimodelkan dengan pendekatan terpadu ini, dan implementasi tiga skenario dalam aplikasi web decision support tool.</a:t>
            </a:r>
          </a:p>
          <a:p>
            <a:r>
              <a:rPr lang="en-US"/>
              <a:t>10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Kerangka pikir menghubungkan masalah, tujuan, metode, dan keluaran. Masalah satu dijawab dengan identifikasi variabel dan penyusunan CLD serta SFD. Masalah dua dijawab dengan integrasi citra satelit, pengujian struktur dan perilaku, kalibrasi, analisis sensitivitas, dan simulasi skenario. Masalah tiga dijawab dengan implementasi aplikasi web yang dievaluasi dengan black-box testing dan SUS.</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Data historis 2015-2025 tahunan mengikuti ketersediaan statistik resmi tingkat provinsi. Tahun dasar 2025, horizon proyeksi 2050, langkah waktu satu tahun. Wilayah studi DIY terdiri atas lima kabupaten/kota seluas 317.036 hektare. Data dikelompokkan dalam enam kelompok dan bersumber dari BPS (nasional dan DIY), Kementerian Investasi/BKPM, serta hasil pengolahan citra satelit melalui Google Earth Engine.</a:t>
            </a:r>
          </a:p>
          <a:p>
            <a:r>
              <a:rPr lang="en-US"/>
              <a:t>12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 historis 2015-2025 tahunan mengikuti ketersediaan statistik resmi tingkat provinsi. Tahun dasar 2025, horizon proyeksi 2050, langkah waktu satu tahun. Wilayah studi DIY terdiri atas lima kabupaten/kota seluas 317.036 hektare. Data dikelompokkan dalam enam kelompok dan bersumber dari BPS (nasional dan DIY), Kementerian Investasi/BKPM, serta hasil pengolahan citra satelit melalui Google Earth Engine.</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Kerangka mengadaptasi lima tahap Mai &amp; Smith (2018): identifikasi masalah, formulasi hipotesis dinamis, formulasi model, pengujian model, serta perancangan dan evaluasi kebijakan. Diperluas satu tahap di awal (pengumpulan dan preprocessing data) dan satu di akhir (implementasi aplikasi web), serta satu perluasan metodologis: tahap kalibrasi di antara uji perilaku dan analisis sensitivitas (Oliva, 2003; Homer, 2012). Alat: Google Earth Engine, Vensim PLE, Python dengan PySD, Excel/Google Sheets, SDEverywhere, dan Next.js.</a:t>
            </a:r>
          </a:p>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Citra satelit dipakai untuk dua variabel yang datanya tidak lengkap, dan perannya hanya memutakhirkan data. Pertama, ODTW: BPS hanya menerbitkan 2018–2024; kekosongan 2015–2017 dan 2025 diisi regresi linear ODTW = 121,61 + 34,59 × NTL dari VIIRS, menghasilkan stok awal 201 unit. Kedua, lahan terbangun: luas kelas built Dynamic World 2016–2025 diagregasi langsung tanpa regresi; 2015 diekstrapolasi log-linear dan tidak dipakai menurunkan parameter; stok awal 55.029,54 ha. Kelayakan NTL dinilai dari R² selisih tahunan minimal 0,30 dan RMSE relatif LOOCV maksimal 10 persen; Dynamic World diuji akurasinya pada 200 titik. Tahapan dan rumus evaluasinya dijelaskan pada dua slide berikutnya. (±45 detik)</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Ini tahapan estimasi ODTW dari cahaya malam. Langkah satu sampai empat dikerjakan di Google Earth Engine: menetapkan batas DIY, memanggil komposit bulanan VIIRS 2015–2025, merata-ratakannya menjadi komposit tahunan, lalu mengambil rata-rata zonal seluruh piksel sehingga diperoleh satu nilai NTL per tahun. Langkah lima, NTL dipasangkan dengan ODTW BPS 2018–2024 dan diregresikan secara linear: ODTW = 121,61 + 34,59 × NTL. Langkah enam, kelayakan diuji dengan korelasi selisih tahunan dan LOOCV; keduanya lolos. Langkah tujuh, model final dilatih pada ketujuh titik dan dipakai mengisi 2015–2017 serta 2025 beserta selang prediksi 95 persen; estimasi 2025 sebesar 200,7 menjadi stok awal 201 unit. (±1,5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ini merangkum metrik evaluasi kedua data citra. Untuk NTL: korelasi dihitung pada level dan pada selisih tahunan; yang menentukan kelayakan adalah R² selisih karena korelasi level bisa tinggi hanya karena tren bersama. Hasilnya 0,405, di atas ambang 0,30. LOOCV mengeluarkan satu tahun bergantian dan memprediksinya; RMSE relatif 5,99 persen, di bawah 10 persen. Setiap estimasi disertai selang prediksi 95 persen. Untuk Dynamic World: uji akurasi pada 200 titik berstratifikasi dengan OA, UA, PA, F1, dan Kappa; karena sampel tidak proporsional terhadap luas, dihitung juga OA terbobot luas sebesar 89,95 persen. Fluktuasi tahunan didiagnosis dengan penyesuaian kovariat gaya ANCOVA terhadap jumlah observasi. (±1,5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Pengujian mengikuti kerangka Barlas (1989, 1996) dan Sterman (2000): uji struktur didahulukan karena kesesuaian terhadap data historis tidak bermakna bila struktur tidak dapat dipertanggungjawabkan. Uji perilaku memakai lima uji parsial dan satu uji penuh dengan tren, E1, E2, DC, MAPE, dan dekomposisi galat U1-U3. Kalibrasi lima tahap dengan aturan keputusan yang ditetapkan sebelum pencarian. Sensitivitas mencakup perubahan 10 persen dan rentang penuh, lalu kekokohan peringkat skenario diuji pada tujuh kondisi.</a:t>
            </a:r>
          </a:p>
          <a:p>
            <a:r>
              <a:rPr lang="en-US"/>
              <a:t>15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Uji struktur dilakukan sebelum uji perilaku, mengikuti Barlas dan Sterman, karena kecocokan dengan data tidak bermakna bila strukturnya keliru. Ada tujuh pemeriksaan. Kesesuaian struktur menelusuri setiap hubungan kausal dan kategori sumber parameter. Konsistensi dimensi memakai Units Check di Vensim. Kecukupan batas menyusun daftar variabel endogen, eksogen, dan yang dikeluarkan. Kekekalan materi membandingkan stok dengan identitas Euler dengan toleransi 10 pangkat minus 9. Uji loop melumpuhkan satu loop per kali dan menghitung selisih persen nilai 2050. Uji kondisi ekstrem menjalankan 17 kombinasi dengan enam aturan fisik. Uji galat integrasi membandingkan hasil pada langkah waktu lebih kecil. (±1,5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Uji perilaku dilakukan dalam dua bentuk. Uji parsial menguji tiap subsistem secara terpisah dengan mengganti variabel dari luar subsistem menggunakan data aktual, sehingga kesalahan subsistem lain tidak terbawa. Uji penuh menjalankan model tanpa penggantian sejak 2019. Untuk P5, data wisnus sebelum 2019 disambung dengan faktor 2,2997 dari rasio lompatan 2018–2019 terhadap laju pertumbuhan wajar. Penilaiannya berurutan menurut Barlas: uji tren dulu; bila tren berbeda nyata, E1 dan E2 tidak ditafsirkan. Lalu E1, E2, dan DC sebagai ringkasan, dilengkapi MAPE serta dekomposisi U1–U3 untuk mendiagnosis apakah galat sistematis atau sekadar derau. (±1,5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Kalibrasi adalah perluasan di luar kerangka Mai dan Smith, mengikuti Oliva (2003) dan Homer (2012). Protokolnya ditetapkan sebelum pencarian dijalankan, dengan lima ketentuan: hanya parameter tidak pasti yang boleh dikalibrasi; rentangnya harus berdasar, misalnya selang kepercayaan 95 persen dari tren log-linear; parameter berpasangan dihitung ulang; fungsi tujuannya NRMSE; dan keputusan memakai himpunan indiferen, yaitu titik yang tidak lebih buruk 5 persen dari minimum. Empat aturan R1–R4 menentukan apakah nilai turunan data dipertahankan atau optimum diadopsi. Kalibrasi berjalan per subsistem, lalu Tahap 4 menguji kompatibilitas di model penuh dengan empat pemicu penolakan. (±1,5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Analisis sensitivitas punya dua tujuan: memilih tuas kebijakan dan mengukur ketidakpastian dari asumsi. Bagian pertama mengikuti Mai dan Smith: 32 parameter diubah plus-minus 10 persen satu per satu, dan perubahan keluaran 2050 dihitung dalam persen terhadap simulasi dasar. Bagian kedua menguji parameter berstatus asumsi dan kedua tuas pada rentang penuhnya, dengan keluaran berupa lebar rentang. Pemeringkatan dilakukan pada enam variabel keluaran, dan parameter berpasangan selalu dihitung ulang supaya peringkat tidak menyesatkan. Terakhir, kekokohan peringkat skenario diuji pada tujuh kondisi parameter. (±1,5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Penetapan tuas tidak semata berdasarkan besarnya pengaruh parameter. Tiga kriteria harus terpenuhi bersamaan: relevansi struktural (terbukti memengaruhi perilaku model), dasar kebijakan (ada peraturan atau dokumen perencanaan), dan keterkendalian (pemerintah punya instrumen). Hasilnya dua tuas: Insentif Kebijakan dan Kebijakan Konservasi Lahan. Parameter yang hanya relevan secara struktural, seperti perilaku wisatawan dan bobot indeks, diperlakukan sebagai sumber ketidakpastian dan diuji pada uji kekokohan.</a:t>
            </a:r>
          </a:p>
          <a:p>
            <a:r>
              <a:rPr lang="en-US"/>
              <a:t>16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ini menjawab Tujuan 1. Kandidat variabel berangkat dari model Mai dan Smith (2018), lalu dikontekstualisasikan dengan RIPPARDA DIY, Renja Dinas Pariwisata DIY 2025, indikator resmi, dan literatur. Lima belas kandidat dari enam subsistem dievaluasi dan seluruhnya dipertahankan karena punya fungsi struktural. Delapan belas hubungan kausal dinilai dari arah pengaruh, mekanisme, dan jenis dukungannya; hubungan yang didukung literatur substantif dibedakan dari yang berasal dari identitas stok-aliran. Satu keputusan penting: hubungan langsung tenaga kerja ke pembangunan ODTW dibuang karena tidak ada dasar kausal memadai, sehingga tenaga kerja menjadi indikator keluaran. Jadi CLD final adalah hasil adaptasi dan evaluasi, bukan replikasi. (±1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CLD final dibangun dari kandidat variabel yang dievaluasi terhadap regulasi, dokumen perencanaan, dan literatur. Ada dua loop penguat (R1 pertumbuhan wisatawan, R2 ekonomi-investasi-atraksi) dan empat loop penyeimbang (B1 kepadatan, B2 daya dukung lahan, B3 kapasitas kamar, B4 penyesuaian tenaga kerja). Hubungan yang hanya asosiasi tanpa dasar kausal tidak dipertahankan; salah satunya hubungan langsung tenaga kerja ke pembangunan ODTW.</a:t>
            </a:r>
          </a:p>
          <a:p>
            <a:r>
              <a:rPr lang="en-US"/>
              <a:t>17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CLD dikonversi menjadi stock-flow diagram dengan 61 variabel: lima stok, sepuluh aliran, sebelas auxiliary, dan 35 parameter; 26 di antaranya endogen dan 35 eksogen. Lima stok adalah jumlah wisatawan, jumlah hotel dan akomodasi, jumlah ODTW, tenaga kerja pariwisata, dan lahan terbangun, dengan nilai awal tahun dasar 2025 seperti pada tabel.</a:t>
            </a:r>
          </a:p>
          <a:p>
            <a:r>
              <a:rPr lang="en-US"/>
              <a:t>18</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Laju kedatangan wisatawan dihitung dari jumlah wisatawan dikalikan laju pertumbuhan eksternal dan indeks Daya Tarik; laju penurunan dari jumlah wisatawan dikalikan laju penurunan dasar. Daya Tarik adalah indeks tak berdimensi, dinormalisasi terhadap tahun dasar, dengan tiga komponen berbobot: ODTW 0,40, kepadatan 0,35, dan daya dukung lahan 0,25. Komponen ODTW dan kepadatan dibatasi nilai maksimum sebagai hasil perbaikan struktur setelah uji kondisi ekstrem. Laju pertumbuhan dan penurunan hampir seimbang sehingga model sangat sensitif terhadap rasio keduanya.</a:t>
            </a:r>
          </a:p>
          <a:p>
            <a:r>
              <a:rPr lang="en-US"/>
              <a:t>19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Regresi ODTW = 121,61 + 34,59 x NTL. Korelasi pada level (R2 0,785) sebagian besar dibentuk tren waktu bersama, sehingga kelayakan dinilai dari korelasi selisih tahunan: R2 0,405, di atas ambang 0,30. LOOCV menghasilkan RMSE relatif 5,99 persen, di bawah ambang 10 persen. Estimasi 2025 sebesar 201 unit turun dari 218 pada 2024 dan hanya sedikit di atas satu RMSE, sehingga diuji sensitivitasnya pada 189-218 unit. Validasi spasial: NTL Malioboro-Keraton 37,376 jauh di atas TN Gunung Merapi 0,959, tetapi kurang tajam membedakan kawasan industri tahap awal dan wisata pantai skala kecil.</a:t>
            </a:r>
          </a:p>
          <a:p>
            <a:r>
              <a:rPr lang="en-US"/>
              <a:t>20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Akurasi kelas terbangun Dynamic World 2025 diuji pada 200 titik sampel berstratifikasi: akurasi keseluruhan terbobot luas 89,95 persen, tak terbobot 80,50 persen, Kappa 0,61. User's accuracy kelas terbangun 66 persen dengan komisi dominan (34 dari 100 titik peta terbangun). Seri mentah mencapai puncak 75.624 ha pada 2023 lalu turun ke 55.030 ha pada 2025, penurunan 27 persen yang secara fisik tidak mungkin; diagnosis menunjukkan artefak jumlah observasi per piksel. Dua sumber resmi (BPS dan DLHK) justru lebih tidak konsisten dan tidak sejalan, sehingga Dynamic World tetap dipilih. Nilai mentah tetap dipakai karena tahun dasar 2025 menjadi acuan seluruh parameter dan kalibrasi; koreksi hanya bersifat diagnostik.</a:t>
            </a:r>
          </a:p>
          <a:p>
            <a:r>
              <a:rPr lang="en-US"/>
              <a:t>21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Empat uji struktur. Konsistensi dimensi: Units Check dan Check Model di Vensim tidak menemukan ketidaksesuaian satuan. Kekekalan materi: selisih nol pada kelima stok untuk 2025-2049; contoh akomodasi 2.291 + 158,18 - 114,55 = 2.334,63, persis sama dengan simulasi 2026. Uji loop: keenam loop berfungsi sesuai hipotesis. Kondisi ekstrem: 17 uji, 15 lolos, 2 lolos dengan catatan, tidak ada yang gagal; uji awalnya menemukan empat titik struktur yang diperbaiki dengan fungsi pembatas tanpa mengubah simulasi dasar secara berarti. Batas model: 61 variabel, 26 endogen dan 35 eksogen.</a:t>
            </a:r>
          </a:p>
          <a:p>
            <a:r>
              <a:rPr lang="en-US"/>
              <a:t>22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Pada uji loop, setiap loop dilumpuhkan satu per satu dengan menahan variabel penutup loop pada nilai tahun dasar. Mematikan B1 menaikkan wisatawan 2050 dari 96,20 menjadi 250,32 juta (+160,2 persen) dan mengubah lima dari enam variabel lebih dari 1 persen. Hasilnya tidak aditif: mematikan B1 saja lebih tinggi daripada mematikan seluruh rem (217,37 juta), karena R2 tetap menguatkan Daya Tarik hingga 1,0696. Loop okupansi dan goal-seeking bersifat lokal: hanya memengaruhi jumlah hotel dan tenaga kerja.</a:t>
            </a:r>
          </a:p>
          <a:p>
            <a:r>
              <a:rPr lang="en-US"/>
              <a:t>23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Uji kondisi ekstrem menjalankan 17 kombinasi parameter jauh di luar kondisi wajar dan menilainya dengan enam aturan fisik. Pada E04, rasio investasi terhadap PDRB dinolkan: konstruksi berhenti, akomodasi menyusut, dan TPK naik lalu mendatar tepat di 1,000, artinya pembatas TPK bekerja sebagai batas keras. Pada E09, laju konversi dasar dinaikkan sepuluh kali: RDDL turun tepat ke nol dan lahan berhenti di luas wilayah. Tidak ada uji yang gagal: 15 lolos dan 2 lolos dengan catatan. E15 memicu uji galat integrasi: pelanggaran 57,70 ha pada langkah waktu satu tahun hilang pada langkah 0,25 tahun, jadi itu galat numerik, bukan kesalahan struktur. Batas keberlakuan model sekitar LPE 0,336. Tabel lengkap di Lampiran 9. (±1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Data kunjungan wisatawan nusantara mengalami patahan metode pencacahan pada 2018 menuju 2019: dari 8,0 juta menjadi 20,5 juta, sekitar 2,57 kali. Untuk uji P5 yang butuh seri sejak 2016, data 2015-2018 disambung dengan faktor 2,2997 yang diturunkan dari besarnya lompatan dan laju pertumbuhan wajar sebelum dan sesudah patahan. Faktor ini punya ketidakpastian dengan rentang 2,22 sampai 2,38 dan diuji ulang pada kalibrasi diagnostik. Uji penuh dimulai 2019 sehingga tidak memakai sambungan.</a:t>
            </a:r>
          </a:p>
          <a:p>
            <a:r>
              <a:rPr lang="en-US"/>
              <a:t>24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Pada uji parsial, jumlah hotel lolos ketiga uji dengan DC 0,2011 dan MAPE 6,05 persen; ODTW DC 0,3367; tenaga kerja DC 0,4945; lahan terbangun DC 0,4813. TPK adalah titik terlemah (DC 0,6692) karena derau data total malam menginap. Pada uji penuh, DC hotel, ODTW, dan tenaga kerja naik tinggi karena galat merambat dari hulu, sedangkan MAPE tetap tergolong wajar: ODTW sangat baik, wisatawan, hotel, tenaga kerja, lahan, dan TPK baik, tiga variabel ekonomi layak, dan tidak ada yang buruk. Wisatawan gagal uji tren pada uji P5 dan uji penuh.</a:t>
            </a:r>
          </a:p>
          <a:p>
            <a:r>
              <a:rPr lang="en-US"/>
              <a:t>25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Kesesuaian yang baik pada subsistem individual tidak sepenuhnya bertahan saat umpan balik antarsubsistem aktif. Penyebabnya dapat ditelusuri ke satu sumber bersama: galat pertumbuhan jumlah wisatawan yang merambat melalui jalur ekonomi (pengeluaran, PDRB, investasi) ke konstruksi hotel dan pembangunan ODTW, lalu ke tenaga kerja dan lahan terbangun. Komponen U1 (bias level) dominan pada enam dari sembilan variabel. Kesenjangan tren berasal dari rezim pemulihan pascapandemi 2022-2024 yang berada di luar batas model; kenaikan wisnus nasional 2024 sebesar 21,61 persen menunjukkan pola ini tidak spesifik DIY.</a:t>
            </a:r>
          </a:p>
          <a:p>
            <a:r>
              <a:rPr lang="en-US"/>
              <a:t>26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Kalibrasi lima tahap. Tahap 0 adalah koreksi penurunan parameter laju pertumbuhan eksternal dan laju penurunan dasar karena penurunan awal keliru memakai indeks Daya Tarik 1 pada 2024 padahal nilainya 0,99223; dampaknya sekitar 1,6 persen pada wisatawan 2050 dan ini bukan kalibrasi. Tahap 1 dan 2 mencari nilai optimum akomodasi dan lahan. Tahap 3 diagnostik wisatawan karena parameter tidak teridentifikasi terpisah. Tahap 4 menguji kompatibilitas hasil Tahap 2 pada model penuh dan menolaknya. Dari tiga parameter yang diuji, tidak satu pun berubah. Kegagalan itu informatif: kalibrasi berfungsi sebagai instrumen validasi (Oliva, 2003).</a:t>
            </a:r>
          </a:p>
          <a:p>
            <a:r>
              <a:rPr lang="en-US"/>
              <a:t>27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Pada uji perubahan 10 persen terhadap wisatawan 2050, Laju Penurunan Dasar menempati peringkat pertama dengan pengaruh maksimum 42,07 persen, karena laju pertumbuhan dan penurunan hampir seimbang sehingga selisih bersihnya sensitif. Tiga dari empat peringkat teratas berstatus asumsi. Laju Pertumbuhan Eksternal hanya peringkat enam karena saat diubah laju penurunan ikut berubah mengikuti rasio sehingga saling meredam. Pada rentang penuh, rasio LPD/LPE 0,60-0,90 menghasilkan lebar rentang wisatawan 153,57 poin persen bila LPE ditahan tetap, dan 69,65 bila LPE diturunkan ulang. Catatan: bobot daya dukung lahan awalnya 10,3 persen tetapi turun menjadi 0,51 persen setelah ketiga bobot dinormalkan, sehingga pengaruh awal adalah artefak.</a:t>
            </a:r>
          </a:p>
          <a:p>
            <a:r>
              <a:rPr lang="en-US"/>
              <a:t>28</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Lima asumsi yang paling mungkin ditanyakan. Rasio LPD/LPE 0,75 adalah asumsi struktural yang tidak teridentifikasi dari data; data hanya mengidentifikasi selisih bersih keduanya. Bobot daya tarik 0,40/0,35/0,25 murni asumsi peneliti tanpa panel ahli, survei, atau AHP, dengan syarat kestabilan bobot kepadatan lebih dari 0,25 terpenuhi oleh 0,35. Laju demolisi 0,05 setara umur operasi 20 tahun hasil triangulasi Permen PU 45/PRT/M/2007, UU 36/2008 Pasal 11 ayat 6, dan proksi laju penutupan ODTW. Nilai tuas adalah ketetapan peneliti karena tidak ditemukan dokumen kebijakan yang memuat angka. Ambang kepadatan 2,0 ditetapkan sebagai dua kali kepadatan tahun dasar karena tidak ada dasar empiris baku untuk DIY.</a:t>
            </a:r>
          </a:p>
          <a:p>
            <a:r>
              <a:rPr lang="en-US"/>
              <a:t>29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Skenario disusun sebagai paket kebijakan dari dua tuas. Business-as-Usual: tanpa insentif tambahan dan kebutuhan lahan dipenuhi lewat konversi seperti pola historis. Sustainable: insentif 0,1 dan konservasi 1,0, yaitu dorongan investasi terbatas disertai pemenuhan kebutuhan lahan fasilitas pariwisata tanpa konversi tambahan. Development Priority: insentif 0,3 dan konservasi 0, yaitu ekspansi investasi agresif tanpa pengendalian kebutuhan lahan. Dua skenario terakhir memotret ketegangan antara Perda DIY 1/2012 dan Perda DIY 6/2021. Nilai tuas adalah ketetapan peneliti, bukan target pemerintah.</a:t>
            </a:r>
          </a:p>
          <a:p>
            <a:r>
              <a:rPr lang="en-US"/>
              <a:t>30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Hasil 2050. Development Priority unggul pada seluruh indikator ekonomi: lapangan kerja 697.021 jiwa (+7,18 persen terhadap BAU) dan PDRB pariwisata Rp43.152 miliar (+7,71 persen). Sustainable unggul pada seluruh indikator lingkungan: konversi lahan pariwisata kumulatif nol hektare (turun 100 persen), lahan terbangun terendah, dan rasio daya dukung lahan tertinggi. Business-as-Usual unggul pada indeks kepadatan (2,36 dibanding 2,55). Daya tarik destinasi justru tertinggi pada Development Priority karena komponen ODTW naik 0,0297, jauh melampaui penurunan komponen kepadatan 0,0106 dan komponen lahan 0,0002; rasio daya dukung lahan masih sekitar 0,614 sehingga rem daya dukung belum bekerja berarti.</a:t>
            </a:r>
          </a:p>
          <a:p>
            <a:r>
              <a:rPr lang="en-US"/>
              <a:t>31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Grafik memperlihatkan lintasan wisatawan dan PDRB 2025–2050: ketiga skenario berhimpit di awal lalu melebar, dengan Development Priority tertinggi. Pertanyaan yang wajar: mengapa daya tarik justru tertinggi pada Development Priority padahal kepadatannya paling tinggi? Tabel komposisi menjawabnya: dibanding BAU, komponen ODTW naik 0,0297, jauh melampaui penurunan komponen kepadatan 0,0106 dan komponen lahan 0,0002. Komponen lahan hampir tidak bergerak karena RDDL masih sekitar 0,614, jauh di atas ambang 0,331. Jadi sampai 2050 pertumbuhan atraksi lebih menentukan daya tarik daripada tekanan lahan. (±1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Ambang indeks kepadatan 2,0 terlampaui pada ketiga skenario: 2041 pada Development Priority, 2042 pada Sustainable, dan 2043 pada BAU, selisih hanya dua tahun. Artinya kedua tuas hanya menggeser waktu, bukan mencegahnya. Penjelasannya struktural: kedua tuas bekerja di sisi penyediaan (investasi dan lahan), sedangkan kepadatan ditentukan pertumbuhan permintaan. Sebaliknya, ambang rasio daya dukung lahan 0,331 (Perda DIY 6/2021) tidak terlampaui pada ketiga skenario karena nilainya sekitar 0,614. Ambang 2,0 adalah ketetapan peneliti sehingga dibaca sebagai sinyal deskriptif.</a:t>
            </a:r>
          </a:p>
          <a:p>
            <a:r>
              <a:rPr lang="en-US"/>
              <a:t>32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Karena skenario Sustainable memuat dua tuas, dilakukan simulasi dekomposisi: kontribusi tuas = keluaran tuas tunggal dikurangi tanpa intervensi, dan efek interaksi = selisih paket dikurangi jumlah kontribusi kedua tuas. Tuas insentif menggerakkan dimensi ekonomi, tuas konservasi menggerakkan dimensi lahan. Interaksi pada jumlah wisatawan hanya sekitar 0,7 persen dari selisih paket. Pada lahan terbangun, efek interaksi -57,6 hektare persis menetralkan kontribusi insentif +57,6 hektare, artinya tambahan kebutuhan lahan dari insentif diserap penuh oleh konservasi. Implikasi metodologis: portofolio kebijakan dapat dirancang modular.</a:t>
            </a:r>
          </a:p>
          <a:p>
            <a:r>
              <a:rPr lang="en-US"/>
              <a:t>33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Pengujian kekokohan menjalankan tiga skenario pada tujuh kondisi parameter: satu kondisi acuan C0 dan enam kondisi C1-C6 yang menggeser rasio LPD/LPE ke 0,65 dan 0,90, bobot daya tarik ke dua kombinasi alternatif, dan laju konversi dasar ke batas selang kepercayaan 95 persen. Ketujuh indikator berperingkat menunjukkan urutan identik pada seluruh kondisi. Perlu ditegaskan bahwa kekokohan berlaku pada peringkat, bukan pada besaran: nilai absolut 2050 berubah cukup besar antarkondisi, sehingga angka proyeksi tidak dapat diklaim sebagai ramalan.</a:t>
            </a:r>
          </a:p>
          <a:p>
            <a:r>
              <a:rPr lang="en-US"/>
              <a:t>34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Empat implikasi. Pertama, tidak ada pilihan yang unggul pada semua dimensi sehingga penetapan prioritas menjadi keniscayaan. Kedua, instrumen pengendalian lahan pada lingkup kewenangan pariwisata terbatas: lahan terbangun keseluruhan hanya berkurang 0,91 persen karena konversi non-pariwisata tetap berjalan. Ketiga, kepadatan tidak dapat diselesaikan oleh dua tuas yang tersedia dan memerlukan instrumen sisi permintaan seperti pengelolaan sebaran kunjungan antarwaktu dan antarlokasi, di luar cakupan model. Keempat, ada ketegangan antardokumen kebijakan yang terpotret dalam perbandingan Development Priority dan Sustainable. Angka dibaca sebagai perbandingan antarskenario, bukan ramalan.</a:t>
            </a:r>
          </a:p>
          <a:p>
            <a:r>
              <a:rPr lang="en-US"/>
              <a:t>35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Tiga hal perlu didiskusikan. Pertama, tahap kalibrasi yang saya tambahkan di luar kerangka Mai dan Smith justru tidak mengubah satu parameter pun; artinya kalibrasi berfungsi sebagai instrumen validasi, sejalan dengan Oliva (2003). Kedua, nilai citra satelit bersifat kondisional: lahan terbangun dari Dynamic World dapat dipakai langsung tanpa regresi, sedangkan ODTW dari cahaya malam butuh regresi proksi dengan kekuatan moderat. Ketiga, karena interaksi kedua tuas hanya sekitar 0,7 persen, portofolio kebijakan dapat dirancang modular. Kontribusi penelitian ini adalah kerangka pengujian yang membedakan sumber ketidaksesuaian dan memetakan pertukaran kebijakan beserta kekokohannya. (±1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Model Vensim dikonversi memakai SDEverywhere, sedangkan antarmuka dikembangkan dengan Next.js, TypeScript, dan Tailwind CSS. Aplikasi memiliki empat halaman: Beranda, Model (struktur dan evaluasi model), Skenario (tiga skenario dan perbandingan), dan Simulasi (pengguna mengubah dua tuas, memilih variabel keluaran, dan menjalankan simulasi 2025-2050). Pengguna tidak perlu mengubah persamaan atau mengoperasikan software sistem dinamis. Aplikasi dapat diakses di sistemdinamispariwisata.vercel.app.</a:t>
            </a:r>
          </a:p>
          <a:p>
            <a:r>
              <a:rPr lang="en-US"/>
              <a:t>36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Black-box testing terhadap sembilan fungsi utama: seluruhnya Pass (100 persen). Evaluasi usability dengan System Usability Scale pada 10 responden setelah lima tugas: rata-rata 88,50, median 92,50, simpangan baku 13,85, minimum 60, maksimum 100; delapan dari sepuluh responden memberi skor 85 atau lebih. Rata-rata normatif SUS sekitar 68 (Brooke, 2013); skor 88,50 berada di antara Excellent (85,5) dan Best Imaginable (90,9) menurut Bangor et al. (2009). Dua responden kesulitan menafsirkan grafik atau hasil simulasi dan satu bingung pada tampilan dua garis di tuas kebijakan; saran: interpretasi otomatis, panduan penggunaan, dan chatbot. Hasil ini mengukur perceived usability pada 10 responden.</a:t>
            </a:r>
          </a:p>
          <a:p>
            <a:r>
              <a:rPr lang="en-US"/>
              <a:t>37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Keterbatasan dikelompokkan menjadi tiga. Data: patahan metode wisnus 2018/2019, lahan terbangun berderau, ODTW 2015-2017 dan 2025 hasil regresi dengan R2 sekitar 0,41, lonjakan akomodasi 2018, dan data investasi hanya PMA/PMDN. Struktur model: guncangan, harga, promosi, musim, dan lingkungan dikeluarkan; daya dukung lahan memakai luas wilayah sehingga longgar; permintaan kamar tak terlayani tidak menekan kunjungan; tenaga kerja hanya indikator keluaran. Penafsiran: rasio LPD/LPE adalah asumsi; nilai tuas dan ambang kepadatan ketetapan peneliti; evaluasi pascakalibrasi memakai data yang sama sehingga bukan validasi independen; skenario tanpa lokakarya pemangku kepentingan.</a:t>
            </a:r>
          </a:p>
          <a:p>
            <a:r>
              <a:rPr lang="en-US"/>
              <a:t>38</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Tujuan satu: variabel penyusun CLD teridentifikasi dan dirumuskan menjadi model dengan 5 stock, 10 flow, 11 auxiliary, 35 parameter, dan enam loop, teradaptasi dari Mai &amp; Smith (2018) ke ketersediaan data resmi Indonesia. Tujuan dua: model yang mengintegrasikan citra satelit valid secara struktural dan memadai pada tingkat subsistem; kalibrasi tidak mengubah parameter apa pun; tiga skenario menunjukkan tidak ada yang unggul pada semua dimensi dan pola itu kokoh terhadap ketidakpastian parameter terbesar. Tujuan tiga: aplikasi web lulus pengujian fungsional pada seluruh fungsi utama.</a:t>
            </a:r>
          </a:p>
          <a:p>
            <a:r>
              <a:rPr lang="en-US"/>
              <a:t>39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Saran: memperkuat dasar empiris parameter berstatus ketetapan, khususnya rasio laju penurunan terhadap laju pertumbuhan dan ambang indeks kepadatan, melalui survei primer; memperluas model dengan guncangan eksternal, memisahkan pembangunan ODTW berdasarkan sumber pembiayaan bersama Dinas Pariwisata dan Bappeda DIY, dan memverifikasi silang Dynamic World; melibatkan lokakarya pemangku kepentingan dalam penyusunan skenario; dan menambahkan fitur pembaruan data tahunan dan ekspor laporan pada aplikasi.</a:t>
            </a:r>
          </a:p>
          <a:p>
            <a:r>
              <a:rPr lang="en-US"/>
              <a:t>40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Tutup dengan terima kasih dan buka sesi tanya jawab. Siapkan lampiran sebagai bahan cadangan.</a:t>
            </a:r>
          </a:p>
          <a:p>
            <a:r>
              <a:rPr lang="en-US"/>
              <a:t>41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Rujukan cepat untuk pertanyaan tentang nilai parameter. Lima kelompok: data statistik resmi (11), identitas stok-aliran (8), ketentuan regulasi (2), asumsi pemodelan (8), dan normalisasi serta tuas kebijakan (6).</a:t>
            </a:r>
          </a:p>
          <a:p>
            <a:r>
              <a:rPr lang="en-US"/>
              <a:t>42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LOOCV pada tujuh titik tahun (2018-2024) menghasilkan RMSE relatif 5,99 persen. Galat terbesar pada 2022 (-8,2 persen), 2023 (+7,0 persen), dan 2024 (-8,9 persen). Estimasi tahun tanpa data BPS disertai selang prediksi 95 persen; 2016 paling lebar (sekitar 58 unit) karena NTL 1,054 berada di luar rentang data latih (1,483-2,512).</a:t>
            </a:r>
          </a:p>
          <a:p>
            <a:r>
              <a:rPr lang="en-US"/>
              <a:t>43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Uji akurasi pada 200 titik sampel berstratifikasi (100 per kelas prediksi) terhadap interpretasi visual citra resolusi tinggi. Akurasi tak terbobot bias karena sampel tidak proporsional terhadap luas kelas, sehingga dihitung juga versi terbobot luas mengikuti Olofsson et al. (2014). Ambang klasifikasi baku 0,50 dipertahankan walaupun F1 tertinggi ada di sekitar 0,40-0,45, untuk menghindari penyesuaian berlebih.</a:t>
            </a:r>
          </a:p>
          <a:p>
            <a:r>
              <a:rPr lang="en-US"/>
              <a:t>44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Perbandingan antarskenario memakai sepuluh indikator dalam tiga dimensi triple bottom line (ekonomi, lingkungan, sosial) ditambah satu indikator skala. Arah interpretasi sengaja dibedakan: tidak semua diarahkan ke maksimum. Ambang rasio daya dukung lahan 0,331 bersumber dari Perda DIY 6/2021; ambang kepadatan 2,0 adalah ketetapan peneliti.</a:t>
            </a:r>
          </a:p>
          <a:p>
            <a:r>
              <a:rPr lang="en-US"/>
              <a:t>45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Hasil lengkap uji perilaku. Uji parsial dilaporkan versi tanpa COVID (2020-2021 dikeluarkan); uji penuh dilaporkan versi dengan COVID karena hanya tersisa lima titik data bila dua tahun itu dikeluarkan. Pada uji penuh jumlah wisatawan gagal uji tren sehingga E1 dan E2 tidak ditafsirkan. Pedoman: E1 di bawah 0,05, E2 di bawah 0,30, DC 0,4-0,7 rata-rata sampai baik, MAPE kategori Lewis (1982).</a:t>
            </a:r>
          </a:p>
          <a:p>
            <a:r>
              <a:rPr lang="en-US"/>
              <a:t>46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Empat halaman aplikasi sistem dinamis pariwisata DIY: Beranda, Model (struktur dan evaluasi model), Skenario, dan Simulasi. Alamat: sistemdinamispariwisata.vercel.app.</a:t>
            </a:r>
          </a:p>
          <a:p>
            <a:r>
              <a:rPr lang="en-US"/>
              <a:t>47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Cadangan untuk pertanyaan struktur model: SFD lengkap 61 variabel (5 stock, 10 flow, 11 auxiliary, 35 parameter). Persamaan kuncinya ada di Lampiran 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Batas model: 61 variabel, 26 endogen dan 35 eksogen (nilai eksogen di Lampiran 1). Tabel ini merangkum aspek yang sengaja dikeluarkan beserta konsekuensinya, sehingga hasil model tidak ditafsirkan pada ranah tersebut, misalnya harga, promosi, musim, dan guncangan eksternal.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Enam aturan fisik: stok tidak negatif, TPK tidak lebih dari satu, RDDL tidak negatif, lahan tidak melebihi luas wilayah, indeks daya tarik 0–3, dan wisatawan akhir tidak lebih dari lima kali simulasi dasar. Aturan kelipatan tidak diterapkan pada E02 dan E15 karena desain ujinya sengaja menghilangkan rem atau memperbesar pendorong; keduanya lolos dengan catatan.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Setiap loop dilumpuhkan dengan menahan variabel penutupnya pada nilai tahun dasar. B1 paling kuat dan sistemik; gugus daya dukung lahan satu-satunya yang memengaruhi keenam variabel; R2 berdampak terbesar pada ODTW; loop okupansi dan goal-seeking bersifat lokal. Mematikan B1 saja lebih tinggi daripada mematikan seluruh rem karena R2 tetap menguatkan daya tarik.</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Rincian visual empat tahap kalibrasi setelah koreksi penurunan di Tahap 0. Tahap 1 dan 2 adalah pencarian menyeluruh, Tahap 3 diagnostik karena parameter wisatawan tidak teridentifikasi terpisah, dan Tahap 4 menguji kompatibilitas hasil Tahap 2 pada model penuh. Aturan keputusan ditetapkan sebelum pencarian dijalankan.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Tornado untuk lima variabel keluaran selain jumlah wisatawan, serta lebar rentang ketidakpastian pada pengujian rentang penuh. Rasio LPD/LPE tetap menjadi sumber ketidakpastian terbesar; pada lahan terbangun, laju konversi dasar paling menentukan.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Persamaan diambil dari model Vensim final yang dipakai pada simulasi skenario. Stok diintegrasikan dengan metode Euler pada langkah waktu satu tahun. Pembatas MIN dan MAX adalah hasil perbaikan struktur setelah uji kondisi ekstrem.</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 historis tahunan yang menjadi dasar penurunan parameter dan uji perilaku. Wisatawan 2015–2018 ditampilkan sebelum penyambungan (patahan metode 2018→2019). ODTW 2015–2017 dan 2025 adalah estimasi NTL; lahan terbangun berasal dari Dynamic World.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Sebelum pemodelan ada empat ketidakteraturan data. Patahan metode wisnus 2018 ke 2019 disambung dengan faktor 2,2997 hanya untuk uji P5. Lahan 2015 diekstrapolasi dan tidak dipakai menurunkan parameter. Lonjakan akomodasi 2018 dipertahankan karena tidak ada dasar koreksi. Tahun pandemi tetap disimulasikan dan statistik dilaporkan dua versi. Semua perlakuan ditetapkan sebelum model dijalankan.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Tujuan 1: mengidentifikasi dan merumuskan variabel penyusun CLD. Alurnya metode identifikasi, evaluasi kandidat, hubungan kausal, CLD, dan batas model.</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Variabel tidak diambil mentah dari Mai dan Smith. Model rujukan hanya titik awal, lalu dikontekstualisasi dengan UU 10/2009, RIPPARDA, Renja Dispar, Renstra Kemenpar, dan IPKN, didukung literatur per mekanisme, lalu dievaluasi dengan enam kriteria pada empat tingkat.</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Delapan belas hubungan kausal dievaluasi. Yang penting: dasarnya dibedakan. Ada yang didukung literatur substantif, ada yang berupa identitas atau operasionalisasi model. Dukungan konseptual tidak dipakai sebagai dasar nilai parameter. Hubungan tenaga kerja ke pembangunan ODTW dibuang.</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Batas model menetapkan apa yang boleh dan tidak boleh ditafsirkan: 26 variabel endogen, 35 parameter eksogen, dan 15 aspek yang dikeluarkan, misalnya harga, promosi, musim, dan guncangan. Konsekuensinya dicatat agar hasil tidak dibaca di luar ranahnya.</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Jawaban Tujuan 1: 15 variabel kunci dari enam subsistem, 18 hubungan kausal, enam loop, dan batas model eksplisit. CLD ini menjadi masukan langsung Tujuan 2.</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Tujuan 2 adalah bagian terbesar: integrasi citra satelit, formulasi, parameterisasi, uji struktur, uji perilaku dan kalibrasi, sensitivitas, lalu simulasi skenario kebijakan sebagai pemakaian model.</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regresi dipakai mengisi tahun tanpa data BPS, disertai selang prediksi 95 persen. Nilai 2025 sebesar 201 unit menjadi stok awal, dan karena turun dari 218 nilainya diuji sensitivitas 189 sampai 218. Validasi spasial menunjukkan NTL tinggi di Malioboro dan Kotagede, rendah di TN Merapi.</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Deret Dynamic World turun 27 persen dari 2023 ke 2025, yang tidak mungkin secara fisik. Diagnosis menunjukkan luas mengikuti jumlah observasi per piksel, bukan tahun. Nilai mentah tetap dipakai karena tahun dasar 2025 sudah menjadi acuan parameter dan kalibrasi; koreksi hanya alat diagnostik.</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Simpulan bagian citra: dua variabel diperbarui dengan bukti kelayakan terukur. Pelajarannya kondisional: klasifikasi langsung seperti lahan lebih kuat daripada proksi regresi seperti ODTW.</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Persamaan subsistem lain. Perhatikan letak dua tuas: insentif pada investasi di jalur R2, konservasi pada konversi lahan pariwisata di jalur B2. Pembatas MIN dan MAX ditambahkan setelah uji kondisi ekstrem.</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Tiga puluh lima parameter dikelompokkan menurut sumber. Pengelompokan ini menentukan apa yang boleh dikalibrasi: data resmi, identitas stok-aliran, dan nilai referensi tidak dikalibrasi.</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Contoh penurunan. LPE diturunkan dari pertumbuhan 2024 ke 2025 dengan indeks daya tarik 2024 sesuai metode Euler. Sensitivitas konstruksi dari identitas stok-aliran, laju penutupan ODTW dari teori populasi stabil, laju konversi dari tren log-linear beserta selang kepercayaannya.</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Uji parsial mengganti masukan dari subsistem lain dengan data aktual. Hasilnya, akomodasi paling baik, semua MAPE di bawah 20 persen. Satu-satunya yang gagal uji tren adalah subsistem wisatawan: simulasi sekitar 6,4 persen per tahun, data sambungan sekitar 11,7 persen.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Tahap 3 bukan mencari nilai baru, tetapi mendiagnosis. Data hanya mengidentifikasi selisih bersih LPE dan LPD, terlihat dari punggung himpunan indiferen. Kesenjangan berasal dari lonjakan pemulihan 2022 sampai 2024, rezim di luar batas model.</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Kesimpulan bagian pengujian: model lolos uji struktur, memadai per subsistem, galat terlokalisasi dan terjelaskan, parameter terkonfirmasi kalibrasi. Karena itu model layak untuk membandingkan skenario, bukan untuk meramal angka absolut.</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Jawaban Tujuan 2: citra satelit terintegrasi, model 61 variabel terparameterisasi, valid secara struktur, dan sebagai dasar simulasi kebijakan menunjukkan tidak ada skenario unggul di semua dimensi dengan urutan yang kokoh.</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Tujuan 3: membangun aplikasi web yang mengimplementasikan model dan skenario sebagai alat bantu keputusan.</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Alasan aplikasi: hasil model biasanya statis dan butuh Vensim. Aplikasi menjaga model sebagai sumber logika, sementara antarmuka hanya lapisan interaksi. Kebutuhan pengguna dipetakan ke fitur.</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Sembilan fungsi utama diuji black-box dan semuanya Pass. Ini membuktikan fungsi berjalan sesuai spesifikasi, belum menilai kemudahan penggunaan.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Jawaban Tujuan 3: aplikasi web berjalan di peramban, empat halaman, 9 dari 9 fungsi Pass, dan SUS 88,50.</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Cadangan: data yang dilengkapi ekstrapolasi CAGR dan spesifikasi teknis Google Earth Engine, dari dokumentasi repository.</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Cadangan: KPI pelengkap per skenario, termasuk TPK yang tidak ada di Tabel 60 buku.</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Cadangan: horizon diperpanjang sampai 2150 menunjukkan pola puncak lalu turun ketika daya dukung lahan menipis, dan model tetap stabil.</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hasil utama formulasi Tujuan 2: CLD dioperasionalkan menjadi stock-flow diagram. Lima stok sebagai kotak, aliran sebagai katup, dan variabel bantu yang menghubungkannya. Tunjukkan letak dua tuas: insentif pada jalur investasi, konservasi pada konversi lahan pariwisata.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jpeg"/><Relationship Id="rId6" Type="http://schemas.openxmlformats.org/officeDocument/2006/relationships/image" Target="../media/image4.jpeg"/><Relationship Id="rId7"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15.png"/><Relationship Id="rId7"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17.png"/><Relationship Id="rId7" Type="http://schemas.openxmlformats.org/officeDocument/2006/relationships/image" Target="../media/image18.svg"/><Relationship Id="rId8"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21.png"/><Relationship Id="rId7" Type="http://schemas.openxmlformats.org/officeDocument/2006/relationships/image" Target="../media/image22.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image" Target="../media/image4.jpeg"/><Relationship Id="rId5" Type="http://schemas.openxmlformats.org/officeDocument/2006/relationships/image" Target="../media/image23.png"/><Relationship Id="rId6" Type="http://schemas.openxmlformats.org/officeDocument/2006/relationships/image" Target="../media/image24.svg"/><Relationship Id="rId7" Type="http://schemas.openxmlformats.org/officeDocument/2006/relationships/image" Target="../media/image25.png"/><Relationship Id="rId8" Type="http://schemas.openxmlformats.org/officeDocument/2006/relationships/image" Target="../media/image26.svg"/><Relationship Id="rId9" Type="http://schemas.openxmlformats.org/officeDocument/2006/relationships/image" Target="../media/image27.png"/><Relationship Id="rId10" Type="http://schemas.openxmlformats.org/officeDocument/2006/relationships/image" Target="../media/image28.svg"/><Relationship Id="rId11" Type="http://schemas.openxmlformats.org/officeDocument/2006/relationships/image" Target="../media/image29.png"/><Relationship Id="rId12" Type="http://schemas.openxmlformats.org/officeDocument/2006/relationships/image" Target="../media/image30.svg"/><Relationship Id="rId13" Type="http://schemas.openxmlformats.org/officeDocument/2006/relationships/image" Target="../media/image3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0.png"/><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33.png"/><Relationship Id="rId7" Type="http://schemas.openxmlformats.org/officeDocument/2006/relationships/image" Target="../media/image3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4.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4.jpe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40.png"/><Relationship Id="rId11" Type="http://schemas.openxmlformats.org/officeDocument/2006/relationships/image" Target="../media/image4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44.png"/><Relationship Id="rId7" Type="http://schemas.openxmlformats.org/officeDocument/2006/relationships/image" Target="../media/image8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4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notesSlide" Target="../notesSlides/notesSlide7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4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notesSlide" Target="../notesSlides/notesSlide7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4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notesSlide" Target="../notesSlides/notesSlide9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46.png"/><Relationship Id="rId7" Type="http://schemas.openxmlformats.org/officeDocument/2006/relationships/image" Target="../media/image47.sv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0.png"/><Relationship Id="rId7" Type="http://schemas.openxmlformats.org/officeDocument/2006/relationships/image" Target="../media/image51.sv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3.png"/><Relationship Id="rId7" Type="http://schemas.openxmlformats.org/officeDocument/2006/relationships/image" Target="../media/image54.png"/><Relationship Id="rId8" Type="http://schemas.openxmlformats.org/officeDocument/2006/relationships/image" Target="../media/image5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82.png"/><Relationship Id="rId7" Type="http://schemas.openxmlformats.org/officeDocument/2006/relationships/image" Target="../media/image83.png"/><Relationship Id="rId8" Type="http://schemas.openxmlformats.org/officeDocument/2006/relationships/notesSlide" Target="../notesSlides/notesSlide8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85.png"/><Relationship Id="rId7" Type="http://schemas.openxmlformats.org/officeDocument/2006/relationships/notesSlide" Target="../notesSlides/notesSlide8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42.png"/><Relationship Id="rId7" Type="http://schemas.openxmlformats.org/officeDocument/2006/relationships/image" Target="../media/image43.sv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9.png"/><Relationship Id="rId7" Type="http://schemas.openxmlformats.org/officeDocument/2006/relationships/image" Target="../media/image6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6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62.png"/><Relationship Id="rId7" Type="http://schemas.openxmlformats.org/officeDocument/2006/relationships/image" Target="../media/image63.sv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64.png"/><Relationship Id="rId7" Type="http://schemas.openxmlformats.org/officeDocument/2006/relationships/image" Target="../media/image6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68.png"/><Relationship Id="rId7" Type="http://schemas.openxmlformats.org/officeDocument/2006/relationships/image" Target="../media/image69.png"/><Relationship Id="rId8" Type="http://schemas.openxmlformats.org/officeDocument/2006/relationships/image" Target="../media/image64.png"/><Relationship Id="rId9" Type="http://schemas.openxmlformats.org/officeDocument/2006/relationships/image" Target="../media/image6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6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62.png"/><Relationship Id="rId7" Type="http://schemas.openxmlformats.org/officeDocument/2006/relationships/image" Target="../media/image63.sv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6.jpeg"/><Relationship Id="rId4" Type="http://schemas.openxmlformats.org/officeDocument/2006/relationships/image" Target="../media/image4.jpe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svg"/><Relationship Id="rId8" Type="http://schemas.openxmlformats.org/officeDocument/2006/relationships/image" Target="../media/image10.png"/><Relationship Id="rId9" Type="http://schemas.openxmlformats.org/officeDocument/2006/relationships/image" Target="../media/image11.svg"/><Relationship Id="rId10" Type="http://schemas.openxmlformats.org/officeDocument/2006/relationships/image" Target="../media/image12.png"/><Relationship Id="rId11" Type="http://schemas.openxmlformats.org/officeDocument/2006/relationships/image" Target="../media/image13.sv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67.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70.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71.png"/><Relationship Id="rId7" Type="http://schemas.openxmlformats.org/officeDocument/2006/relationships/image" Target="../media/image72.png"/><Relationship Id="rId8" Type="http://schemas.openxmlformats.org/officeDocument/2006/relationships/image" Target="../media/image73.png"/><Relationship Id="rId9" Type="http://schemas.openxmlformats.org/officeDocument/2006/relationships/image" Target="../media/image74.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image" Target="../media/image77.png"/><Relationship Id="rId9" Type="http://schemas.openxmlformats.org/officeDocument/2006/relationships/image" Target="../media/image78.png"/><Relationship Id="rId10" Type="http://schemas.openxmlformats.org/officeDocument/2006/relationships/image" Target="../media/image79.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7524" cy="10287000"/>
            <a:chOff x="0" y="0"/>
            <a:chExt cx="24383365" cy="13716000"/>
          </a:xfrm>
        </p:grpSpPr>
        <p:sp>
          <p:nvSpPr>
            <p:cNvPr name="Freeform 5" id="5"/>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B3A45">
                <a:alpha val="14118"/>
              </a:srgbClr>
            </a:solidFill>
          </p:spPr>
        </p:sp>
      </p:grpSp>
      <p:grpSp>
        <p:nvGrpSpPr>
          <p:cNvPr name="Group 6" id="6"/>
          <p:cNvGrpSpPr/>
          <p:nvPr/>
        </p:nvGrpSpPr>
        <p:grpSpPr>
          <a:xfrm rot="0">
            <a:off x="754380" y="438912"/>
            <a:ext cx="685800" cy="987552"/>
            <a:chOff x="0" y="0"/>
            <a:chExt cx="914400" cy="1316736"/>
          </a:xfrm>
        </p:grpSpPr>
        <p:sp>
          <p:nvSpPr>
            <p:cNvPr name="Freeform 7" id="7" descr="Ikon Tugu Yogyakarta"/>
            <p:cNvSpPr/>
            <p:nvPr/>
          </p:nvSpPr>
          <p:spPr>
            <a:xfrm flipH="false" flipV="false" rot="0">
              <a:off x="0" y="0"/>
              <a:ext cx="914400" cy="1316736"/>
            </a:xfrm>
            <a:custGeom>
              <a:avLst/>
              <a:gdLst/>
              <a:ahLst/>
              <a:cxnLst/>
              <a:rect r="r" b="b" t="t" l="l"/>
              <a:pathLst>
                <a:path h="1316736" w="914400">
                  <a:moveTo>
                    <a:pt x="0" y="0"/>
                  </a:moveTo>
                  <a:lnTo>
                    <a:pt x="914400" y="0"/>
                  </a:lnTo>
                  <a:lnTo>
                    <a:pt x="914400" y="1316736"/>
                  </a:lnTo>
                  <a:lnTo>
                    <a:pt x="0" y="1316736"/>
                  </a:lnTo>
                  <a:lnTo>
                    <a:pt x="0" y="0"/>
                  </a:lnTo>
                  <a:close/>
                </a:path>
              </a:pathLst>
            </a:custGeom>
            <a:blipFill>
              <a:blip r:embed="rId4"/>
              <a:stretch>
                <a:fillRect l="0" t="-347" r="0" b="-347"/>
              </a:stretch>
            </a:blipFill>
          </p:spPr>
        </p:sp>
      </p:grpSp>
      <p:grpSp>
        <p:nvGrpSpPr>
          <p:cNvPr name="Group 8" id="8"/>
          <p:cNvGrpSpPr/>
          <p:nvPr/>
        </p:nvGrpSpPr>
        <p:grpSpPr>
          <a:xfrm rot="0">
            <a:off x="1645920" y="712041"/>
            <a:ext cx="4114800" cy="453819"/>
            <a:chOff x="0" y="0"/>
            <a:chExt cx="5486400" cy="605092"/>
          </a:xfrm>
        </p:grpSpPr>
        <p:sp>
          <p:nvSpPr>
            <p:cNvPr name="Freeform 9" id="9"/>
            <p:cNvSpPr/>
            <p:nvPr/>
          </p:nvSpPr>
          <p:spPr>
            <a:xfrm flipH="false" flipV="false" rot="0">
              <a:off x="0" y="0"/>
              <a:ext cx="5486400" cy="605155"/>
            </a:xfrm>
            <a:custGeom>
              <a:avLst/>
              <a:gdLst/>
              <a:ahLst/>
              <a:cxnLst/>
              <a:rect r="r" b="b" t="t" l="l"/>
              <a:pathLst>
                <a:path h="605155" w="5486400">
                  <a:moveTo>
                    <a:pt x="0" y="0"/>
                  </a:moveTo>
                  <a:lnTo>
                    <a:pt x="5486400" y="0"/>
                  </a:lnTo>
                  <a:lnTo>
                    <a:pt x="5486400" y="605155"/>
                  </a:lnTo>
                  <a:lnTo>
                    <a:pt x="0" y="605155"/>
                  </a:lnTo>
                  <a:close/>
                </a:path>
              </a:pathLst>
            </a:custGeom>
            <a:blipFill>
              <a:blip r:embed="rId5">
                <a:alphaModFix amt="0"/>
              </a:blip>
              <a:stretch>
                <a:fillRect l="0" t="-126535" r="0" b="-126526"/>
              </a:stretch>
            </a:blipFill>
          </p:spPr>
        </p:sp>
      </p:grpSp>
      <p:grpSp>
        <p:nvGrpSpPr>
          <p:cNvPr name="Group 10" id="10"/>
          <p:cNvGrpSpPr/>
          <p:nvPr/>
        </p:nvGrpSpPr>
        <p:grpSpPr>
          <a:xfrm rot="0">
            <a:off x="1645920" y="669179"/>
            <a:ext cx="4114800" cy="496681"/>
            <a:chOff x="0" y="0"/>
            <a:chExt cx="5486400" cy="662242"/>
          </a:xfrm>
        </p:grpSpPr>
        <p:sp>
          <p:nvSpPr>
            <p:cNvPr name="Freeform 11" id="11"/>
            <p:cNvSpPr/>
            <p:nvPr/>
          </p:nvSpPr>
          <p:spPr>
            <a:xfrm flipH="false" flipV="false" rot="0">
              <a:off x="0" y="0"/>
              <a:ext cx="5486400" cy="662247"/>
            </a:xfrm>
            <a:custGeom>
              <a:avLst/>
              <a:gdLst/>
              <a:ahLst/>
              <a:cxnLst/>
              <a:rect r="r" b="b" t="t" l="l"/>
              <a:pathLst>
                <a:path h="662247" w="5486400">
                  <a:moveTo>
                    <a:pt x="0" y="0"/>
                  </a:moveTo>
                  <a:lnTo>
                    <a:pt x="5486400" y="0"/>
                  </a:lnTo>
                  <a:lnTo>
                    <a:pt x="5486400" y="662247"/>
                  </a:lnTo>
                  <a:lnTo>
                    <a:pt x="0" y="662247"/>
                  </a:lnTo>
                  <a:close/>
                </a:path>
              </a:pathLst>
            </a:custGeom>
            <a:blipFill>
              <a:blip r:embed="rId6">
                <a:alphaModFix amt="0"/>
              </a:blip>
              <a:stretch>
                <a:fillRect l="0" t="-111424" r="0" b="-111423"/>
              </a:stretch>
            </a:blipFill>
          </p:spPr>
        </p:sp>
        <p:sp>
          <p:nvSpPr>
            <p:cNvPr name="TextBox 12" id="12"/>
            <p:cNvSpPr txBox="true"/>
            <p:nvPr/>
          </p:nvSpPr>
          <p:spPr>
            <a:xfrm>
              <a:off x="0" y="-57150"/>
              <a:ext cx="5486400" cy="719392"/>
            </a:xfrm>
            <a:prstGeom prst="rect">
              <a:avLst/>
            </a:prstGeom>
          </p:spPr>
          <p:txBody>
            <a:bodyPr anchor="ctr" rtlCol="false" tIns="0" lIns="0" bIns="0" rIns="0"/>
            <a:lstStyle/>
            <a:p>
              <a:pPr algn="l">
                <a:lnSpc>
                  <a:spcPts val="2700"/>
                </a:lnSpc>
              </a:pPr>
              <a:r>
                <a:rPr lang="en-US" sz="2250" b="true">
                  <a:solidFill>
                    <a:srgbClr val="FFFFFF"/>
                  </a:solidFill>
                  <a:latin typeface="Calibri (MS) Bold"/>
                  <a:ea typeface="Calibri (MS) Bold"/>
                  <a:cs typeface="Calibri (MS) Bold"/>
                  <a:sym typeface="Calibri (MS) Bold"/>
                </a:rPr>
                <a:t>Sidang Skripsi</a:t>
              </a:r>
            </a:p>
          </p:txBody>
        </p:sp>
      </p:grpSp>
      <p:grpSp>
        <p:nvGrpSpPr>
          <p:cNvPr name="Group 13" id="13"/>
          <p:cNvGrpSpPr/>
          <p:nvPr/>
        </p:nvGrpSpPr>
        <p:grpSpPr>
          <a:xfrm rot="0">
            <a:off x="8462772" y="548640"/>
            <a:ext cx="1371600" cy="1371600"/>
            <a:chOff x="0" y="0"/>
            <a:chExt cx="1828800" cy="1828800"/>
          </a:xfrm>
        </p:grpSpPr>
        <p:sp>
          <p:nvSpPr>
            <p:cNvPr name="Freeform 14" id="14"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7"/>
              <a:stretch>
                <a:fillRect l="0" t="0" r="0" b="0"/>
              </a:stretch>
            </a:blipFill>
          </p:spPr>
        </p:sp>
      </p:grpSp>
      <p:grpSp>
        <p:nvGrpSpPr>
          <p:cNvPr name="Group 15" id="15"/>
          <p:cNvGrpSpPr/>
          <p:nvPr/>
        </p:nvGrpSpPr>
        <p:grpSpPr>
          <a:xfrm rot="0">
            <a:off x="822960" y="2221992"/>
            <a:ext cx="16637508" cy="822960"/>
            <a:chOff x="0" y="0"/>
            <a:chExt cx="22183344" cy="1097280"/>
          </a:xfrm>
        </p:grpSpPr>
        <p:sp>
          <p:nvSpPr>
            <p:cNvPr name="Freeform 16" id="16"/>
            <p:cNvSpPr/>
            <p:nvPr/>
          </p:nvSpPr>
          <p:spPr>
            <a:xfrm flipH="false" flipV="false" rot="0">
              <a:off x="0" y="0"/>
              <a:ext cx="22183344" cy="1097280"/>
            </a:xfrm>
            <a:custGeom>
              <a:avLst/>
              <a:gdLst/>
              <a:ahLst/>
              <a:cxnLst/>
              <a:rect r="r" b="b" t="t" l="l"/>
              <a:pathLst>
                <a:path h="1097280" w="22183344">
                  <a:moveTo>
                    <a:pt x="0" y="0"/>
                  </a:moveTo>
                  <a:lnTo>
                    <a:pt x="22183344" y="0"/>
                  </a:lnTo>
                  <a:lnTo>
                    <a:pt x="22183344" y="1097280"/>
                  </a:lnTo>
                  <a:lnTo>
                    <a:pt x="0" y="1097280"/>
                  </a:lnTo>
                  <a:close/>
                </a:path>
              </a:pathLst>
            </a:custGeom>
            <a:blipFill>
              <a:blip r:embed="rId5">
                <a:alphaModFix amt="0"/>
              </a:blip>
              <a:stretch>
                <a:fillRect l="0" t="-343648" r="0" b="-343649"/>
              </a:stretch>
            </a:blipFill>
          </p:spPr>
        </p:sp>
      </p:grpSp>
      <p:grpSp>
        <p:nvGrpSpPr>
          <p:cNvPr name="Group 17" id="17"/>
          <p:cNvGrpSpPr/>
          <p:nvPr/>
        </p:nvGrpSpPr>
        <p:grpSpPr>
          <a:xfrm rot="0">
            <a:off x="822960" y="2157698"/>
            <a:ext cx="16637508" cy="887254"/>
            <a:chOff x="0" y="0"/>
            <a:chExt cx="22183344" cy="1183005"/>
          </a:xfrm>
        </p:grpSpPr>
        <p:sp>
          <p:nvSpPr>
            <p:cNvPr name="Freeform 18" id="18"/>
            <p:cNvSpPr/>
            <p:nvPr/>
          </p:nvSpPr>
          <p:spPr>
            <a:xfrm flipH="false" flipV="false" rot="0">
              <a:off x="0" y="0"/>
              <a:ext cx="22183344" cy="1183005"/>
            </a:xfrm>
            <a:custGeom>
              <a:avLst/>
              <a:gdLst/>
              <a:ahLst/>
              <a:cxnLst/>
              <a:rect r="r" b="b" t="t" l="l"/>
              <a:pathLst>
                <a:path h="1183005" w="22183344">
                  <a:moveTo>
                    <a:pt x="0" y="0"/>
                  </a:moveTo>
                  <a:lnTo>
                    <a:pt x="22183344" y="0"/>
                  </a:lnTo>
                  <a:lnTo>
                    <a:pt x="22183344" y="1183005"/>
                  </a:lnTo>
                  <a:lnTo>
                    <a:pt x="0" y="1183005"/>
                  </a:lnTo>
                  <a:close/>
                </a:path>
              </a:pathLst>
            </a:custGeom>
            <a:blipFill>
              <a:blip r:embed="rId6">
                <a:alphaModFix amt="0"/>
              </a:blip>
              <a:stretch>
                <a:fillRect l="0" t="-315377" r="0" b="-315377"/>
              </a:stretch>
            </a:blipFill>
          </p:spPr>
        </p:sp>
        <p:sp>
          <p:nvSpPr>
            <p:cNvPr name="TextBox 19" id="19"/>
            <p:cNvSpPr txBox="true"/>
            <p:nvPr/>
          </p:nvSpPr>
          <p:spPr>
            <a:xfrm>
              <a:off x="0" y="-85725"/>
              <a:ext cx="22183344" cy="1268730"/>
            </a:xfrm>
            <a:prstGeom prst="rect">
              <a:avLst/>
            </a:prstGeom>
          </p:spPr>
          <p:txBody>
            <a:bodyPr anchor="ctr" rtlCol="false" tIns="0" lIns="0" bIns="0" rIns="0"/>
            <a:lstStyle/>
            <a:p>
              <a:pPr algn="ctr">
                <a:lnSpc>
                  <a:spcPts val="5758"/>
                </a:lnSpc>
              </a:pPr>
              <a:r>
                <a:rPr lang="en-US" b="true" sz="4800" i="true">
                  <a:solidFill>
                    <a:srgbClr val="FFD23B"/>
                  </a:solidFill>
                  <a:latin typeface="Calibri (MS) Bold Italics"/>
                  <a:ea typeface="Calibri (MS) Bold Italics"/>
                  <a:cs typeface="Calibri (MS) Bold Italics"/>
                  <a:sym typeface="Calibri (MS) Bold Italics"/>
                </a:rPr>
                <a:t>Perancangan Aplikasi</a:t>
              </a:r>
            </a:p>
          </p:txBody>
        </p:sp>
      </p:grpSp>
      <p:grpSp>
        <p:nvGrpSpPr>
          <p:cNvPr name="Group 20" id="20"/>
          <p:cNvGrpSpPr/>
          <p:nvPr/>
        </p:nvGrpSpPr>
        <p:grpSpPr>
          <a:xfrm rot="0">
            <a:off x="822960" y="3017520"/>
            <a:ext cx="16637508" cy="1097280"/>
            <a:chOff x="0" y="0"/>
            <a:chExt cx="22183344" cy="1463040"/>
          </a:xfrm>
        </p:grpSpPr>
        <p:sp>
          <p:nvSpPr>
            <p:cNvPr name="Freeform 21" id="21"/>
            <p:cNvSpPr/>
            <p:nvPr/>
          </p:nvSpPr>
          <p:spPr>
            <a:xfrm flipH="false" flipV="false" rot="0">
              <a:off x="0" y="0"/>
              <a:ext cx="22183344" cy="1463040"/>
            </a:xfrm>
            <a:custGeom>
              <a:avLst/>
              <a:gdLst/>
              <a:ahLst/>
              <a:cxnLst/>
              <a:rect r="r" b="b" t="t" l="l"/>
              <a:pathLst>
                <a:path h="1463040" w="22183344">
                  <a:moveTo>
                    <a:pt x="0" y="0"/>
                  </a:moveTo>
                  <a:lnTo>
                    <a:pt x="22183344" y="0"/>
                  </a:lnTo>
                  <a:lnTo>
                    <a:pt x="22183344" y="1463040"/>
                  </a:lnTo>
                  <a:lnTo>
                    <a:pt x="0" y="1463040"/>
                  </a:lnTo>
                  <a:close/>
                </a:path>
              </a:pathLst>
            </a:custGeom>
            <a:blipFill>
              <a:blip r:embed="rId5">
                <a:alphaModFix amt="0"/>
              </a:blip>
              <a:stretch>
                <a:fillRect l="0" t="-245236" r="0" b="-245236"/>
              </a:stretch>
            </a:blipFill>
          </p:spPr>
        </p:sp>
      </p:grpSp>
      <p:grpSp>
        <p:nvGrpSpPr>
          <p:cNvPr name="Group 22" id="22"/>
          <p:cNvGrpSpPr/>
          <p:nvPr/>
        </p:nvGrpSpPr>
        <p:grpSpPr>
          <a:xfrm rot="0">
            <a:off x="822960" y="2917508"/>
            <a:ext cx="16637508" cy="1197292"/>
            <a:chOff x="0" y="0"/>
            <a:chExt cx="22183344" cy="1596390"/>
          </a:xfrm>
        </p:grpSpPr>
        <p:sp>
          <p:nvSpPr>
            <p:cNvPr name="Freeform 23" id="23"/>
            <p:cNvSpPr/>
            <p:nvPr/>
          </p:nvSpPr>
          <p:spPr>
            <a:xfrm flipH="false" flipV="false" rot="0">
              <a:off x="0" y="0"/>
              <a:ext cx="22183344" cy="1596390"/>
            </a:xfrm>
            <a:custGeom>
              <a:avLst/>
              <a:gdLst/>
              <a:ahLst/>
              <a:cxnLst/>
              <a:rect r="r" b="b" t="t" l="l"/>
              <a:pathLst>
                <a:path h="1596390" w="22183344">
                  <a:moveTo>
                    <a:pt x="0" y="0"/>
                  </a:moveTo>
                  <a:lnTo>
                    <a:pt x="22183344" y="0"/>
                  </a:lnTo>
                  <a:lnTo>
                    <a:pt x="22183344" y="1596390"/>
                  </a:lnTo>
                  <a:lnTo>
                    <a:pt x="0" y="1596390"/>
                  </a:lnTo>
                  <a:close/>
                </a:path>
              </a:pathLst>
            </a:custGeom>
            <a:blipFill>
              <a:blip r:embed="rId6">
                <a:alphaModFix amt="0"/>
              </a:blip>
              <a:stretch>
                <a:fillRect l="0" t="-220762" r="0" b="-220762"/>
              </a:stretch>
            </a:blipFill>
          </p:spPr>
        </p:sp>
        <p:sp>
          <p:nvSpPr>
            <p:cNvPr name="TextBox 24" id="24"/>
            <p:cNvSpPr txBox="true"/>
            <p:nvPr/>
          </p:nvSpPr>
          <p:spPr>
            <a:xfrm>
              <a:off x="0" y="-133350"/>
              <a:ext cx="22183344" cy="1729740"/>
            </a:xfrm>
            <a:prstGeom prst="rect">
              <a:avLst/>
            </a:prstGeom>
          </p:spPr>
          <p:txBody>
            <a:bodyPr anchor="ctr" rtlCol="false" tIns="0" lIns="0" bIns="0" rIns="0"/>
            <a:lstStyle/>
            <a:p>
              <a:pPr algn="ctr">
                <a:lnSpc>
                  <a:spcPts val="7558"/>
                </a:lnSpc>
              </a:pPr>
              <a:r>
                <a:rPr lang="en-US" sz="6300" b="true">
                  <a:solidFill>
                    <a:srgbClr val="FFFFFF"/>
                  </a:solidFill>
                  <a:latin typeface="Calibri (MS) Bold"/>
                  <a:ea typeface="Calibri (MS) Bold"/>
                  <a:cs typeface="Calibri (MS) Bold"/>
                  <a:sym typeface="Calibri (MS) Bold"/>
                </a:rPr>
                <a:t>SIMULASI KEBIJAKAN PARIWISATA</a:t>
              </a:r>
            </a:p>
          </p:txBody>
        </p:sp>
      </p:grpSp>
      <p:grpSp>
        <p:nvGrpSpPr>
          <p:cNvPr name="Group 25" id="25"/>
          <p:cNvGrpSpPr/>
          <p:nvPr/>
        </p:nvGrpSpPr>
        <p:grpSpPr>
          <a:xfrm rot="0">
            <a:off x="822960" y="4142232"/>
            <a:ext cx="16637508" cy="685800"/>
            <a:chOff x="0" y="0"/>
            <a:chExt cx="22183344" cy="914400"/>
          </a:xfrm>
        </p:grpSpPr>
        <p:sp>
          <p:nvSpPr>
            <p:cNvPr name="Freeform 26" id="26"/>
            <p:cNvSpPr/>
            <p:nvPr/>
          </p:nvSpPr>
          <p:spPr>
            <a:xfrm flipH="false" flipV="false" rot="0">
              <a:off x="0" y="0"/>
              <a:ext cx="22183344" cy="914400"/>
            </a:xfrm>
            <a:custGeom>
              <a:avLst/>
              <a:gdLst/>
              <a:ahLst/>
              <a:cxnLst/>
              <a:rect r="r" b="b" t="t" l="l"/>
              <a:pathLst>
                <a:path h="914400" w="22183344">
                  <a:moveTo>
                    <a:pt x="0" y="0"/>
                  </a:moveTo>
                  <a:lnTo>
                    <a:pt x="22183344" y="0"/>
                  </a:lnTo>
                  <a:lnTo>
                    <a:pt x="22183344" y="914400"/>
                  </a:lnTo>
                  <a:lnTo>
                    <a:pt x="0" y="914400"/>
                  </a:lnTo>
                  <a:close/>
                </a:path>
              </a:pathLst>
            </a:custGeom>
            <a:blipFill>
              <a:blip r:embed="rId5">
                <a:alphaModFix amt="0"/>
              </a:blip>
              <a:stretch>
                <a:fillRect l="0" t="-422377" r="0" b="-422379"/>
              </a:stretch>
            </a:blipFill>
          </p:spPr>
        </p:sp>
      </p:grpSp>
      <p:grpSp>
        <p:nvGrpSpPr>
          <p:cNvPr name="Group 27" id="27"/>
          <p:cNvGrpSpPr/>
          <p:nvPr/>
        </p:nvGrpSpPr>
        <p:grpSpPr>
          <a:xfrm rot="0">
            <a:off x="822960" y="4092226"/>
            <a:ext cx="16637508" cy="735806"/>
            <a:chOff x="0" y="0"/>
            <a:chExt cx="22183344" cy="981075"/>
          </a:xfrm>
        </p:grpSpPr>
        <p:sp>
          <p:nvSpPr>
            <p:cNvPr name="Freeform 28" id="28"/>
            <p:cNvSpPr/>
            <p:nvPr/>
          </p:nvSpPr>
          <p:spPr>
            <a:xfrm flipH="false" flipV="false" rot="0">
              <a:off x="0" y="0"/>
              <a:ext cx="22183344" cy="981075"/>
            </a:xfrm>
            <a:custGeom>
              <a:avLst/>
              <a:gdLst/>
              <a:ahLst/>
              <a:cxnLst/>
              <a:rect r="r" b="b" t="t" l="l"/>
              <a:pathLst>
                <a:path h="981075" w="22183344">
                  <a:moveTo>
                    <a:pt x="0" y="0"/>
                  </a:moveTo>
                  <a:lnTo>
                    <a:pt x="22183344" y="0"/>
                  </a:lnTo>
                  <a:lnTo>
                    <a:pt x="22183344" y="981075"/>
                  </a:lnTo>
                  <a:lnTo>
                    <a:pt x="0" y="981075"/>
                  </a:lnTo>
                  <a:close/>
                </a:path>
              </a:pathLst>
            </a:custGeom>
            <a:blipFill>
              <a:blip r:embed="rId6">
                <a:alphaModFix amt="0"/>
              </a:blip>
              <a:stretch>
                <a:fillRect l="0" t="-390581" r="0" b="-390581"/>
              </a:stretch>
            </a:blipFill>
          </p:spPr>
        </p:sp>
        <p:sp>
          <p:nvSpPr>
            <p:cNvPr name="TextBox 29" id="29"/>
            <p:cNvSpPr txBox="true"/>
            <p:nvPr/>
          </p:nvSpPr>
          <p:spPr>
            <a:xfrm>
              <a:off x="0" y="-66675"/>
              <a:ext cx="22183344" cy="1047750"/>
            </a:xfrm>
            <a:prstGeom prst="rect">
              <a:avLst/>
            </a:prstGeom>
          </p:spPr>
          <p:txBody>
            <a:bodyPr anchor="ctr" rtlCol="false" tIns="0" lIns="0" bIns="0" rIns="0"/>
            <a:lstStyle/>
            <a:p>
              <a:pPr algn="ctr">
                <a:lnSpc>
                  <a:spcPts val="3960"/>
                </a:lnSpc>
              </a:pPr>
              <a:r>
                <a:rPr lang="en-US" sz="3300" b="true">
                  <a:solidFill>
                    <a:srgbClr val="FFD23B"/>
                  </a:solidFill>
                  <a:latin typeface="Calibri (MS) Bold"/>
                  <a:ea typeface="Calibri (MS) Bold"/>
                  <a:cs typeface="Calibri (MS) Bold"/>
                  <a:sym typeface="Calibri (MS) Bold"/>
                </a:rPr>
                <a:t>Menggunakan Sistem Dinamis dengan Integrasi Data Citra Satelit</a:t>
              </a:r>
            </a:p>
          </p:txBody>
        </p:sp>
      </p:grpSp>
      <p:grpSp>
        <p:nvGrpSpPr>
          <p:cNvPr name="Group 30" id="30"/>
          <p:cNvGrpSpPr/>
          <p:nvPr/>
        </p:nvGrpSpPr>
        <p:grpSpPr>
          <a:xfrm rot="0">
            <a:off x="822960" y="4869180"/>
            <a:ext cx="16637508" cy="548640"/>
            <a:chOff x="0" y="0"/>
            <a:chExt cx="22183344" cy="731520"/>
          </a:xfrm>
        </p:grpSpPr>
        <p:sp>
          <p:nvSpPr>
            <p:cNvPr name="Freeform 31" id="31"/>
            <p:cNvSpPr/>
            <p:nvPr/>
          </p:nvSpPr>
          <p:spPr>
            <a:xfrm flipH="false" flipV="false" rot="0">
              <a:off x="0" y="0"/>
              <a:ext cx="22183344" cy="731520"/>
            </a:xfrm>
            <a:custGeom>
              <a:avLst/>
              <a:gdLst/>
              <a:ahLst/>
              <a:cxnLst/>
              <a:rect r="r" b="b" t="t" l="l"/>
              <a:pathLst>
                <a:path h="731520" w="22183344">
                  <a:moveTo>
                    <a:pt x="0" y="0"/>
                  </a:moveTo>
                  <a:lnTo>
                    <a:pt x="22183344" y="0"/>
                  </a:lnTo>
                  <a:lnTo>
                    <a:pt x="22183344" y="731520"/>
                  </a:lnTo>
                  <a:lnTo>
                    <a:pt x="0" y="731520"/>
                  </a:lnTo>
                  <a:close/>
                </a:path>
              </a:pathLst>
            </a:custGeom>
            <a:blipFill>
              <a:blip r:embed="rId5">
                <a:alphaModFix amt="0"/>
              </a:blip>
              <a:stretch>
                <a:fillRect l="0" t="-540472" r="0" b="-540473"/>
              </a:stretch>
            </a:blipFill>
          </p:spPr>
        </p:sp>
      </p:grpSp>
      <p:grpSp>
        <p:nvGrpSpPr>
          <p:cNvPr name="Group 32" id="32"/>
          <p:cNvGrpSpPr/>
          <p:nvPr/>
        </p:nvGrpSpPr>
        <p:grpSpPr>
          <a:xfrm rot="0">
            <a:off x="822960" y="4840605"/>
            <a:ext cx="16637508" cy="577215"/>
            <a:chOff x="0" y="0"/>
            <a:chExt cx="22183344" cy="769620"/>
          </a:xfrm>
        </p:grpSpPr>
        <p:sp>
          <p:nvSpPr>
            <p:cNvPr name="Freeform 33" id="33"/>
            <p:cNvSpPr/>
            <p:nvPr/>
          </p:nvSpPr>
          <p:spPr>
            <a:xfrm flipH="false" flipV="false" rot="0">
              <a:off x="0" y="0"/>
              <a:ext cx="22183344" cy="769620"/>
            </a:xfrm>
            <a:custGeom>
              <a:avLst/>
              <a:gdLst/>
              <a:ahLst/>
              <a:cxnLst/>
              <a:rect r="r" b="b" t="t" l="l"/>
              <a:pathLst>
                <a:path h="769620" w="22183344">
                  <a:moveTo>
                    <a:pt x="0" y="0"/>
                  </a:moveTo>
                  <a:lnTo>
                    <a:pt x="22183344" y="0"/>
                  </a:lnTo>
                  <a:lnTo>
                    <a:pt x="22183344" y="769620"/>
                  </a:lnTo>
                  <a:lnTo>
                    <a:pt x="0" y="769620"/>
                  </a:lnTo>
                  <a:close/>
                </a:path>
              </a:pathLst>
            </a:custGeom>
            <a:blipFill>
              <a:blip r:embed="rId6">
                <a:alphaModFix amt="0"/>
              </a:blip>
              <a:stretch>
                <a:fillRect l="0" t="-511632" r="0" b="-511632"/>
              </a:stretch>
            </a:blipFill>
          </p:spPr>
        </p:sp>
        <p:sp>
          <p:nvSpPr>
            <p:cNvPr name="TextBox 34" id="34"/>
            <p:cNvSpPr txBox="true"/>
            <p:nvPr/>
          </p:nvSpPr>
          <p:spPr>
            <a:xfrm>
              <a:off x="0" y="-38100"/>
              <a:ext cx="22183344" cy="807720"/>
            </a:xfrm>
            <a:prstGeom prst="rect">
              <a:avLst/>
            </a:prstGeom>
          </p:spPr>
          <p:txBody>
            <a:bodyPr anchor="ctr" rtlCol="false" tIns="0" lIns="0" bIns="0" rIns="0"/>
            <a:lstStyle/>
            <a:p>
              <a:pPr algn="ctr">
                <a:lnSpc>
                  <a:spcPts val="2878"/>
                </a:lnSpc>
              </a:pPr>
              <a:r>
                <a:rPr lang="en-US" sz="2400">
                  <a:solidFill>
                    <a:srgbClr val="FFFFFF"/>
                  </a:solidFill>
                  <a:latin typeface="Calibri (MS)"/>
                  <a:ea typeface="Calibri (MS)"/>
                  <a:cs typeface="Calibri (MS)"/>
                  <a:sym typeface="Calibri (MS)"/>
                </a:rPr>
                <a:t>Studi Kasus: Provinsi Daerah Istimewa Yogyakarta</a:t>
              </a:r>
            </a:p>
          </p:txBody>
        </p:sp>
      </p:grpSp>
      <p:grpSp>
        <p:nvGrpSpPr>
          <p:cNvPr name="Group 35" id="35"/>
          <p:cNvGrpSpPr/>
          <p:nvPr/>
        </p:nvGrpSpPr>
        <p:grpSpPr>
          <a:xfrm rot="0">
            <a:off x="3017520" y="5966460"/>
            <a:ext cx="12248388" cy="2948940"/>
            <a:chOff x="0" y="0"/>
            <a:chExt cx="16331184" cy="3931920"/>
          </a:xfrm>
        </p:grpSpPr>
        <p:sp>
          <p:nvSpPr>
            <p:cNvPr name="Freeform 36" id="36"/>
            <p:cNvSpPr/>
            <p:nvPr/>
          </p:nvSpPr>
          <p:spPr>
            <a:xfrm flipH="false" flipV="false" rot="0">
              <a:off x="0" y="0"/>
              <a:ext cx="16331185" cy="3931920"/>
            </a:xfrm>
            <a:custGeom>
              <a:avLst/>
              <a:gdLst/>
              <a:ahLst/>
              <a:cxnLst/>
              <a:rect r="r" b="b" t="t" l="l"/>
              <a:pathLst>
                <a:path h="3931920" w="16331185">
                  <a:moveTo>
                    <a:pt x="0" y="146304"/>
                  </a:moveTo>
                  <a:cubicBezTo>
                    <a:pt x="0" y="65532"/>
                    <a:pt x="65532" y="0"/>
                    <a:pt x="146304" y="0"/>
                  </a:cubicBezTo>
                  <a:lnTo>
                    <a:pt x="16184880" y="0"/>
                  </a:lnTo>
                  <a:cubicBezTo>
                    <a:pt x="16265652" y="0"/>
                    <a:pt x="16331185" y="65532"/>
                    <a:pt x="16331185" y="146304"/>
                  </a:cubicBezTo>
                  <a:lnTo>
                    <a:pt x="16331185" y="3785616"/>
                  </a:lnTo>
                  <a:cubicBezTo>
                    <a:pt x="16331185" y="3866388"/>
                    <a:pt x="16265652" y="3931920"/>
                    <a:pt x="16184880" y="3931920"/>
                  </a:cubicBezTo>
                  <a:lnTo>
                    <a:pt x="146304" y="3931920"/>
                  </a:lnTo>
                  <a:cubicBezTo>
                    <a:pt x="65532" y="3931920"/>
                    <a:pt x="0" y="3866388"/>
                    <a:pt x="0" y="3785616"/>
                  </a:cubicBezTo>
                  <a:close/>
                </a:path>
              </a:pathLst>
            </a:custGeom>
            <a:solidFill>
              <a:srgbClr val="FFD23B"/>
            </a:solidFill>
          </p:spPr>
        </p:sp>
      </p:grpSp>
      <p:grpSp>
        <p:nvGrpSpPr>
          <p:cNvPr name="Group 37" id="37"/>
          <p:cNvGrpSpPr/>
          <p:nvPr/>
        </p:nvGrpSpPr>
        <p:grpSpPr>
          <a:xfrm rot="0">
            <a:off x="3566160" y="6281928"/>
            <a:ext cx="3566160" cy="493776"/>
            <a:chOff x="0" y="0"/>
            <a:chExt cx="4754880" cy="658368"/>
          </a:xfrm>
        </p:grpSpPr>
        <p:sp>
          <p:nvSpPr>
            <p:cNvPr name="Freeform 38" id="38"/>
            <p:cNvSpPr/>
            <p:nvPr/>
          </p:nvSpPr>
          <p:spPr>
            <a:xfrm flipH="false" flipV="false" rot="0">
              <a:off x="0" y="0"/>
              <a:ext cx="4754880" cy="658368"/>
            </a:xfrm>
            <a:custGeom>
              <a:avLst/>
              <a:gdLst/>
              <a:ahLst/>
              <a:cxnLst/>
              <a:rect r="r" b="b" t="t" l="l"/>
              <a:pathLst>
                <a:path h="658368" w="4754880">
                  <a:moveTo>
                    <a:pt x="0" y="0"/>
                  </a:moveTo>
                  <a:lnTo>
                    <a:pt x="4754880" y="0"/>
                  </a:lnTo>
                  <a:lnTo>
                    <a:pt x="4754880" y="658368"/>
                  </a:lnTo>
                  <a:lnTo>
                    <a:pt x="0" y="658368"/>
                  </a:lnTo>
                  <a:close/>
                </a:path>
              </a:pathLst>
            </a:custGeom>
            <a:blipFill>
              <a:blip r:embed="rId5">
                <a:alphaModFix amt="0"/>
              </a:blip>
              <a:stretch>
                <a:fillRect l="0" t="-90626" r="0" b="-90628"/>
              </a:stretch>
            </a:blipFill>
          </p:spPr>
        </p:sp>
      </p:grpSp>
      <p:grpSp>
        <p:nvGrpSpPr>
          <p:cNvPr name="Group 39" id="39"/>
          <p:cNvGrpSpPr/>
          <p:nvPr/>
        </p:nvGrpSpPr>
        <p:grpSpPr>
          <a:xfrm rot="0">
            <a:off x="3566160" y="6239066"/>
            <a:ext cx="3566160" cy="536638"/>
            <a:chOff x="0" y="0"/>
            <a:chExt cx="4754880" cy="715518"/>
          </a:xfrm>
        </p:grpSpPr>
        <p:sp>
          <p:nvSpPr>
            <p:cNvPr name="Freeform 40" id="40"/>
            <p:cNvSpPr/>
            <p:nvPr/>
          </p:nvSpPr>
          <p:spPr>
            <a:xfrm flipH="false" flipV="false" rot="0">
              <a:off x="0" y="0"/>
              <a:ext cx="4754880" cy="715518"/>
            </a:xfrm>
            <a:custGeom>
              <a:avLst/>
              <a:gdLst/>
              <a:ahLst/>
              <a:cxnLst/>
              <a:rect r="r" b="b" t="t" l="l"/>
              <a:pathLst>
                <a:path h="715518" w="4754880">
                  <a:moveTo>
                    <a:pt x="0" y="0"/>
                  </a:moveTo>
                  <a:lnTo>
                    <a:pt x="4754880" y="0"/>
                  </a:lnTo>
                  <a:lnTo>
                    <a:pt x="4754880" y="715518"/>
                  </a:lnTo>
                  <a:lnTo>
                    <a:pt x="0" y="715518"/>
                  </a:lnTo>
                  <a:close/>
                </a:path>
              </a:pathLst>
            </a:custGeom>
            <a:blipFill>
              <a:blip r:embed="rId6">
                <a:alphaModFix amt="0"/>
              </a:blip>
              <a:stretch>
                <a:fillRect l="0" t="-79485" r="0" b="-79485"/>
              </a:stretch>
            </a:blipFill>
          </p:spPr>
        </p:sp>
        <p:sp>
          <p:nvSpPr>
            <p:cNvPr name="TextBox 41" id="41"/>
            <p:cNvSpPr txBox="true"/>
            <p:nvPr/>
          </p:nvSpPr>
          <p:spPr>
            <a:xfrm>
              <a:off x="0" y="-57150"/>
              <a:ext cx="475488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Penyaji</a:t>
              </a:r>
            </a:p>
          </p:txBody>
        </p:sp>
      </p:grpSp>
      <p:grpSp>
        <p:nvGrpSpPr>
          <p:cNvPr name="Group 42" id="42"/>
          <p:cNvGrpSpPr/>
          <p:nvPr/>
        </p:nvGrpSpPr>
        <p:grpSpPr>
          <a:xfrm rot="0">
            <a:off x="7132320" y="6281928"/>
            <a:ext cx="274320" cy="493776"/>
            <a:chOff x="0" y="0"/>
            <a:chExt cx="365760" cy="658368"/>
          </a:xfrm>
        </p:grpSpPr>
        <p:sp>
          <p:nvSpPr>
            <p:cNvPr name="Freeform 43" id="43"/>
            <p:cNvSpPr/>
            <p:nvPr/>
          </p:nvSpPr>
          <p:spPr>
            <a:xfrm flipH="false" flipV="false" rot="0">
              <a:off x="0" y="0"/>
              <a:ext cx="365760" cy="658368"/>
            </a:xfrm>
            <a:custGeom>
              <a:avLst/>
              <a:gdLst/>
              <a:ahLst/>
              <a:cxnLst/>
              <a:rect r="r" b="b" t="t" l="l"/>
              <a:pathLst>
                <a:path h="658368" w="365760">
                  <a:moveTo>
                    <a:pt x="0" y="0"/>
                  </a:moveTo>
                  <a:lnTo>
                    <a:pt x="365760" y="0"/>
                  </a:lnTo>
                  <a:lnTo>
                    <a:pt x="365760" y="658368"/>
                  </a:lnTo>
                  <a:lnTo>
                    <a:pt x="0" y="658368"/>
                  </a:lnTo>
                  <a:close/>
                </a:path>
              </a:pathLst>
            </a:custGeom>
            <a:blipFill>
              <a:blip r:embed="rId5">
                <a:alphaModFix amt="0"/>
              </a:blip>
              <a:stretch>
                <a:fillRect l="-181107" t="0" r="-181107" b="0"/>
              </a:stretch>
            </a:blipFill>
          </p:spPr>
        </p:sp>
      </p:grpSp>
      <p:grpSp>
        <p:nvGrpSpPr>
          <p:cNvPr name="Group 44" id="44"/>
          <p:cNvGrpSpPr/>
          <p:nvPr/>
        </p:nvGrpSpPr>
        <p:grpSpPr>
          <a:xfrm rot="0">
            <a:off x="7132320" y="6239066"/>
            <a:ext cx="274320" cy="536638"/>
            <a:chOff x="0" y="0"/>
            <a:chExt cx="365760" cy="715518"/>
          </a:xfrm>
        </p:grpSpPr>
        <p:sp>
          <p:nvSpPr>
            <p:cNvPr name="Freeform 45" id="45"/>
            <p:cNvSpPr/>
            <p:nvPr/>
          </p:nvSpPr>
          <p:spPr>
            <a:xfrm flipH="false" flipV="false" rot="0">
              <a:off x="0" y="0"/>
              <a:ext cx="365760" cy="715518"/>
            </a:xfrm>
            <a:custGeom>
              <a:avLst/>
              <a:gdLst/>
              <a:ahLst/>
              <a:cxnLst/>
              <a:rect r="r" b="b" t="t" l="l"/>
              <a:pathLst>
                <a:path h="715518" w="365760">
                  <a:moveTo>
                    <a:pt x="0" y="0"/>
                  </a:moveTo>
                  <a:lnTo>
                    <a:pt x="365760" y="0"/>
                  </a:lnTo>
                  <a:lnTo>
                    <a:pt x="365760" y="715518"/>
                  </a:lnTo>
                  <a:lnTo>
                    <a:pt x="0" y="715518"/>
                  </a:lnTo>
                  <a:close/>
                </a:path>
              </a:pathLst>
            </a:custGeom>
            <a:blipFill>
              <a:blip r:embed="rId6">
                <a:alphaModFix amt="0"/>
              </a:blip>
              <a:stretch>
                <a:fillRect l="-200993" t="0" r="-200993" b="0"/>
              </a:stretch>
            </a:blipFill>
          </p:spPr>
        </p:sp>
        <p:sp>
          <p:nvSpPr>
            <p:cNvPr name="TextBox 46" id="46"/>
            <p:cNvSpPr txBox="true"/>
            <p:nvPr/>
          </p:nvSpPr>
          <p:spPr>
            <a:xfrm>
              <a:off x="0" y="-57150"/>
              <a:ext cx="36576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a:t>
              </a:r>
            </a:p>
          </p:txBody>
        </p:sp>
      </p:grpSp>
      <p:grpSp>
        <p:nvGrpSpPr>
          <p:cNvPr name="Group 47" id="47"/>
          <p:cNvGrpSpPr/>
          <p:nvPr/>
        </p:nvGrpSpPr>
        <p:grpSpPr>
          <a:xfrm rot="0">
            <a:off x="7543800" y="6281928"/>
            <a:ext cx="7406640" cy="493776"/>
            <a:chOff x="0" y="0"/>
            <a:chExt cx="9875520" cy="658368"/>
          </a:xfrm>
        </p:grpSpPr>
        <p:sp>
          <p:nvSpPr>
            <p:cNvPr name="Freeform 48" id="48"/>
            <p:cNvSpPr/>
            <p:nvPr/>
          </p:nvSpPr>
          <p:spPr>
            <a:xfrm flipH="false" flipV="false" rot="0">
              <a:off x="0" y="0"/>
              <a:ext cx="9875520" cy="658368"/>
            </a:xfrm>
            <a:custGeom>
              <a:avLst/>
              <a:gdLst/>
              <a:ahLst/>
              <a:cxnLst/>
              <a:rect r="r" b="b" t="t" l="l"/>
              <a:pathLst>
                <a:path h="658368" w="9875520">
                  <a:moveTo>
                    <a:pt x="0" y="0"/>
                  </a:moveTo>
                  <a:lnTo>
                    <a:pt x="9875520" y="0"/>
                  </a:lnTo>
                  <a:lnTo>
                    <a:pt x="9875520" y="658368"/>
                  </a:lnTo>
                  <a:lnTo>
                    <a:pt x="0" y="658368"/>
                  </a:lnTo>
                  <a:close/>
                </a:path>
              </a:pathLst>
            </a:custGeom>
            <a:blipFill>
              <a:blip r:embed="rId5">
                <a:alphaModFix amt="0"/>
              </a:blip>
              <a:stretch>
                <a:fillRect l="0" t="-242071" r="0" b="-242073"/>
              </a:stretch>
            </a:blipFill>
          </p:spPr>
        </p:sp>
      </p:grpSp>
      <p:grpSp>
        <p:nvGrpSpPr>
          <p:cNvPr name="Group 49" id="49"/>
          <p:cNvGrpSpPr/>
          <p:nvPr/>
        </p:nvGrpSpPr>
        <p:grpSpPr>
          <a:xfrm rot="0">
            <a:off x="7543800" y="6239066"/>
            <a:ext cx="7406640" cy="536638"/>
            <a:chOff x="0" y="0"/>
            <a:chExt cx="9875520" cy="715518"/>
          </a:xfrm>
        </p:grpSpPr>
        <p:sp>
          <p:nvSpPr>
            <p:cNvPr name="Freeform 50" id="50"/>
            <p:cNvSpPr/>
            <p:nvPr/>
          </p:nvSpPr>
          <p:spPr>
            <a:xfrm flipH="false" flipV="false" rot="0">
              <a:off x="0" y="0"/>
              <a:ext cx="9875520" cy="715518"/>
            </a:xfrm>
            <a:custGeom>
              <a:avLst/>
              <a:gdLst/>
              <a:ahLst/>
              <a:cxnLst/>
              <a:rect r="r" b="b" t="t" l="l"/>
              <a:pathLst>
                <a:path h="715518" w="9875520">
                  <a:moveTo>
                    <a:pt x="0" y="0"/>
                  </a:moveTo>
                  <a:lnTo>
                    <a:pt x="9875520" y="0"/>
                  </a:lnTo>
                  <a:lnTo>
                    <a:pt x="9875520" y="715518"/>
                  </a:lnTo>
                  <a:lnTo>
                    <a:pt x="0" y="715518"/>
                  </a:lnTo>
                  <a:close/>
                </a:path>
              </a:pathLst>
            </a:custGeom>
            <a:blipFill>
              <a:blip r:embed="rId6">
                <a:alphaModFix amt="0"/>
              </a:blip>
              <a:stretch>
                <a:fillRect l="0" t="-218930" r="0" b="-218930"/>
              </a:stretch>
            </a:blipFill>
          </p:spPr>
        </p:sp>
        <p:sp>
          <p:nvSpPr>
            <p:cNvPr name="TextBox 51" id="51"/>
            <p:cNvSpPr txBox="true"/>
            <p:nvPr/>
          </p:nvSpPr>
          <p:spPr>
            <a:xfrm>
              <a:off x="0" y="-57150"/>
              <a:ext cx="9875520" cy="772668"/>
            </a:xfrm>
            <a:prstGeom prst="rect">
              <a:avLst/>
            </a:prstGeom>
          </p:spPr>
          <p:txBody>
            <a:bodyPr anchor="ctr" rtlCol="false" tIns="0" lIns="0" bIns="0" rIns="0"/>
            <a:lstStyle/>
            <a:p>
              <a:pPr algn="l">
                <a:lnSpc>
                  <a:spcPts val="2700"/>
                </a:lnSpc>
              </a:pPr>
              <a:r>
                <a:rPr lang="en-US" sz="2250">
                  <a:solidFill>
                    <a:srgbClr val="14313B"/>
                  </a:solidFill>
                  <a:latin typeface="Calibri (MS)"/>
                  <a:ea typeface="Calibri (MS)"/>
                  <a:cs typeface="Calibri (MS)"/>
                  <a:sym typeface="Calibri (MS)"/>
                </a:rPr>
                <a:t>Kevin Atha Fathoni Ramadha (222212691, 4SI1)</a:t>
              </a:r>
            </a:p>
          </p:txBody>
        </p:sp>
      </p:grpSp>
      <p:grpSp>
        <p:nvGrpSpPr>
          <p:cNvPr name="Group 52" id="52"/>
          <p:cNvGrpSpPr/>
          <p:nvPr/>
        </p:nvGrpSpPr>
        <p:grpSpPr>
          <a:xfrm rot="0">
            <a:off x="3566160" y="6926580"/>
            <a:ext cx="3566160" cy="493776"/>
            <a:chOff x="0" y="0"/>
            <a:chExt cx="4754880" cy="658368"/>
          </a:xfrm>
        </p:grpSpPr>
        <p:sp>
          <p:nvSpPr>
            <p:cNvPr name="Freeform 53" id="53"/>
            <p:cNvSpPr/>
            <p:nvPr/>
          </p:nvSpPr>
          <p:spPr>
            <a:xfrm flipH="false" flipV="false" rot="0">
              <a:off x="0" y="0"/>
              <a:ext cx="4754880" cy="658368"/>
            </a:xfrm>
            <a:custGeom>
              <a:avLst/>
              <a:gdLst/>
              <a:ahLst/>
              <a:cxnLst/>
              <a:rect r="r" b="b" t="t" l="l"/>
              <a:pathLst>
                <a:path h="658368" w="4754880">
                  <a:moveTo>
                    <a:pt x="0" y="0"/>
                  </a:moveTo>
                  <a:lnTo>
                    <a:pt x="4754880" y="0"/>
                  </a:lnTo>
                  <a:lnTo>
                    <a:pt x="4754880" y="658368"/>
                  </a:lnTo>
                  <a:lnTo>
                    <a:pt x="0" y="658368"/>
                  </a:lnTo>
                  <a:close/>
                </a:path>
              </a:pathLst>
            </a:custGeom>
            <a:blipFill>
              <a:blip r:embed="rId5">
                <a:alphaModFix amt="0"/>
              </a:blip>
              <a:stretch>
                <a:fillRect l="0" t="-90626" r="0" b="-90628"/>
              </a:stretch>
            </a:blipFill>
          </p:spPr>
        </p:sp>
      </p:grpSp>
      <p:grpSp>
        <p:nvGrpSpPr>
          <p:cNvPr name="Group 54" id="54"/>
          <p:cNvGrpSpPr/>
          <p:nvPr/>
        </p:nvGrpSpPr>
        <p:grpSpPr>
          <a:xfrm rot="0">
            <a:off x="3566160" y="6883718"/>
            <a:ext cx="3566160" cy="536638"/>
            <a:chOff x="0" y="0"/>
            <a:chExt cx="4754880" cy="715518"/>
          </a:xfrm>
        </p:grpSpPr>
        <p:sp>
          <p:nvSpPr>
            <p:cNvPr name="Freeform 55" id="55"/>
            <p:cNvSpPr/>
            <p:nvPr/>
          </p:nvSpPr>
          <p:spPr>
            <a:xfrm flipH="false" flipV="false" rot="0">
              <a:off x="0" y="0"/>
              <a:ext cx="4754880" cy="715518"/>
            </a:xfrm>
            <a:custGeom>
              <a:avLst/>
              <a:gdLst/>
              <a:ahLst/>
              <a:cxnLst/>
              <a:rect r="r" b="b" t="t" l="l"/>
              <a:pathLst>
                <a:path h="715518" w="4754880">
                  <a:moveTo>
                    <a:pt x="0" y="0"/>
                  </a:moveTo>
                  <a:lnTo>
                    <a:pt x="4754880" y="0"/>
                  </a:lnTo>
                  <a:lnTo>
                    <a:pt x="4754880" y="715518"/>
                  </a:lnTo>
                  <a:lnTo>
                    <a:pt x="0" y="715518"/>
                  </a:lnTo>
                  <a:close/>
                </a:path>
              </a:pathLst>
            </a:custGeom>
            <a:blipFill>
              <a:blip r:embed="rId6">
                <a:alphaModFix amt="0"/>
              </a:blip>
              <a:stretch>
                <a:fillRect l="0" t="-79485" r="0" b="-79485"/>
              </a:stretch>
            </a:blipFill>
          </p:spPr>
        </p:sp>
        <p:sp>
          <p:nvSpPr>
            <p:cNvPr name="TextBox 56" id="56"/>
            <p:cNvSpPr txBox="true"/>
            <p:nvPr/>
          </p:nvSpPr>
          <p:spPr>
            <a:xfrm>
              <a:off x="0" y="-57150"/>
              <a:ext cx="475488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Dosen Pembimbing</a:t>
              </a:r>
            </a:p>
          </p:txBody>
        </p:sp>
      </p:grpSp>
      <p:grpSp>
        <p:nvGrpSpPr>
          <p:cNvPr name="Group 57" id="57"/>
          <p:cNvGrpSpPr/>
          <p:nvPr/>
        </p:nvGrpSpPr>
        <p:grpSpPr>
          <a:xfrm rot="0">
            <a:off x="7132320" y="6926580"/>
            <a:ext cx="274320" cy="493776"/>
            <a:chOff x="0" y="0"/>
            <a:chExt cx="365760" cy="658368"/>
          </a:xfrm>
        </p:grpSpPr>
        <p:sp>
          <p:nvSpPr>
            <p:cNvPr name="Freeform 58" id="58"/>
            <p:cNvSpPr/>
            <p:nvPr/>
          </p:nvSpPr>
          <p:spPr>
            <a:xfrm flipH="false" flipV="false" rot="0">
              <a:off x="0" y="0"/>
              <a:ext cx="365760" cy="658368"/>
            </a:xfrm>
            <a:custGeom>
              <a:avLst/>
              <a:gdLst/>
              <a:ahLst/>
              <a:cxnLst/>
              <a:rect r="r" b="b" t="t" l="l"/>
              <a:pathLst>
                <a:path h="658368" w="365760">
                  <a:moveTo>
                    <a:pt x="0" y="0"/>
                  </a:moveTo>
                  <a:lnTo>
                    <a:pt x="365760" y="0"/>
                  </a:lnTo>
                  <a:lnTo>
                    <a:pt x="365760" y="658368"/>
                  </a:lnTo>
                  <a:lnTo>
                    <a:pt x="0" y="658368"/>
                  </a:lnTo>
                  <a:close/>
                </a:path>
              </a:pathLst>
            </a:custGeom>
            <a:blipFill>
              <a:blip r:embed="rId5">
                <a:alphaModFix amt="0"/>
              </a:blip>
              <a:stretch>
                <a:fillRect l="-181107" t="0" r="-181107" b="0"/>
              </a:stretch>
            </a:blipFill>
          </p:spPr>
        </p:sp>
      </p:grpSp>
      <p:grpSp>
        <p:nvGrpSpPr>
          <p:cNvPr name="Group 59" id="59"/>
          <p:cNvGrpSpPr/>
          <p:nvPr/>
        </p:nvGrpSpPr>
        <p:grpSpPr>
          <a:xfrm rot="0">
            <a:off x="7132320" y="6883718"/>
            <a:ext cx="274320" cy="536638"/>
            <a:chOff x="0" y="0"/>
            <a:chExt cx="365760" cy="715518"/>
          </a:xfrm>
        </p:grpSpPr>
        <p:sp>
          <p:nvSpPr>
            <p:cNvPr name="Freeform 60" id="60"/>
            <p:cNvSpPr/>
            <p:nvPr/>
          </p:nvSpPr>
          <p:spPr>
            <a:xfrm flipH="false" flipV="false" rot="0">
              <a:off x="0" y="0"/>
              <a:ext cx="365760" cy="715518"/>
            </a:xfrm>
            <a:custGeom>
              <a:avLst/>
              <a:gdLst/>
              <a:ahLst/>
              <a:cxnLst/>
              <a:rect r="r" b="b" t="t" l="l"/>
              <a:pathLst>
                <a:path h="715518" w="365760">
                  <a:moveTo>
                    <a:pt x="0" y="0"/>
                  </a:moveTo>
                  <a:lnTo>
                    <a:pt x="365760" y="0"/>
                  </a:lnTo>
                  <a:lnTo>
                    <a:pt x="365760" y="715518"/>
                  </a:lnTo>
                  <a:lnTo>
                    <a:pt x="0" y="715518"/>
                  </a:lnTo>
                  <a:close/>
                </a:path>
              </a:pathLst>
            </a:custGeom>
            <a:blipFill>
              <a:blip r:embed="rId6">
                <a:alphaModFix amt="0"/>
              </a:blip>
              <a:stretch>
                <a:fillRect l="-200993" t="0" r="-200993" b="0"/>
              </a:stretch>
            </a:blipFill>
          </p:spPr>
        </p:sp>
        <p:sp>
          <p:nvSpPr>
            <p:cNvPr name="TextBox 61" id="61"/>
            <p:cNvSpPr txBox="true"/>
            <p:nvPr/>
          </p:nvSpPr>
          <p:spPr>
            <a:xfrm>
              <a:off x="0" y="-57150"/>
              <a:ext cx="36576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a:t>
              </a:r>
            </a:p>
          </p:txBody>
        </p:sp>
      </p:grpSp>
      <p:grpSp>
        <p:nvGrpSpPr>
          <p:cNvPr name="Group 62" id="62"/>
          <p:cNvGrpSpPr/>
          <p:nvPr/>
        </p:nvGrpSpPr>
        <p:grpSpPr>
          <a:xfrm rot="0">
            <a:off x="7543800" y="6926580"/>
            <a:ext cx="7406640" cy="493776"/>
            <a:chOff x="0" y="0"/>
            <a:chExt cx="9875520" cy="658368"/>
          </a:xfrm>
        </p:grpSpPr>
        <p:sp>
          <p:nvSpPr>
            <p:cNvPr name="Freeform 63" id="63"/>
            <p:cNvSpPr/>
            <p:nvPr/>
          </p:nvSpPr>
          <p:spPr>
            <a:xfrm flipH="false" flipV="false" rot="0">
              <a:off x="0" y="0"/>
              <a:ext cx="9875520" cy="658368"/>
            </a:xfrm>
            <a:custGeom>
              <a:avLst/>
              <a:gdLst/>
              <a:ahLst/>
              <a:cxnLst/>
              <a:rect r="r" b="b" t="t" l="l"/>
              <a:pathLst>
                <a:path h="658368" w="9875520">
                  <a:moveTo>
                    <a:pt x="0" y="0"/>
                  </a:moveTo>
                  <a:lnTo>
                    <a:pt x="9875520" y="0"/>
                  </a:lnTo>
                  <a:lnTo>
                    <a:pt x="9875520" y="658368"/>
                  </a:lnTo>
                  <a:lnTo>
                    <a:pt x="0" y="658368"/>
                  </a:lnTo>
                  <a:close/>
                </a:path>
              </a:pathLst>
            </a:custGeom>
            <a:blipFill>
              <a:blip r:embed="rId5">
                <a:alphaModFix amt="0"/>
              </a:blip>
              <a:stretch>
                <a:fillRect l="0" t="-242071" r="0" b="-242073"/>
              </a:stretch>
            </a:blipFill>
          </p:spPr>
        </p:sp>
      </p:grpSp>
      <p:grpSp>
        <p:nvGrpSpPr>
          <p:cNvPr name="Group 64" id="64"/>
          <p:cNvGrpSpPr/>
          <p:nvPr/>
        </p:nvGrpSpPr>
        <p:grpSpPr>
          <a:xfrm rot="0">
            <a:off x="7543800" y="6883718"/>
            <a:ext cx="7406640" cy="536638"/>
            <a:chOff x="0" y="0"/>
            <a:chExt cx="9875520" cy="715518"/>
          </a:xfrm>
        </p:grpSpPr>
        <p:sp>
          <p:nvSpPr>
            <p:cNvPr name="Freeform 65" id="65"/>
            <p:cNvSpPr/>
            <p:nvPr/>
          </p:nvSpPr>
          <p:spPr>
            <a:xfrm flipH="false" flipV="false" rot="0">
              <a:off x="0" y="0"/>
              <a:ext cx="9875520" cy="715518"/>
            </a:xfrm>
            <a:custGeom>
              <a:avLst/>
              <a:gdLst/>
              <a:ahLst/>
              <a:cxnLst/>
              <a:rect r="r" b="b" t="t" l="l"/>
              <a:pathLst>
                <a:path h="715518" w="9875520">
                  <a:moveTo>
                    <a:pt x="0" y="0"/>
                  </a:moveTo>
                  <a:lnTo>
                    <a:pt x="9875520" y="0"/>
                  </a:lnTo>
                  <a:lnTo>
                    <a:pt x="9875520" y="715518"/>
                  </a:lnTo>
                  <a:lnTo>
                    <a:pt x="0" y="715518"/>
                  </a:lnTo>
                  <a:close/>
                </a:path>
              </a:pathLst>
            </a:custGeom>
            <a:blipFill>
              <a:blip r:embed="rId6">
                <a:alphaModFix amt="0"/>
              </a:blip>
              <a:stretch>
                <a:fillRect l="0" t="-218930" r="0" b="-218930"/>
              </a:stretch>
            </a:blipFill>
          </p:spPr>
        </p:sp>
        <p:sp>
          <p:nvSpPr>
            <p:cNvPr name="TextBox 66" id="66"/>
            <p:cNvSpPr txBox="true"/>
            <p:nvPr/>
          </p:nvSpPr>
          <p:spPr>
            <a:xfrm>
              <a:off x="0" y="-57150"/>
              <a:ext cx="9875520" cy="772668"/>
            </a:xfrm>
            <a:prstGeom prst="rect">
              <a:avLst/>
            </a:prstGeom>
          </p:spPr>
          <p:txBody>
            <a:bodyPr anchor="ctr" rtlCol="false" tIns="0" lIns="0" bIns="0" rIns="0"/>
            <a:lstStyle/>
            <a:p>
              <a:pPr algn="l">
                <a:lnSpc>
                  <a:spcPts val="2700"/>
                </a:lnSpc>
              </a:pPr>
              <a:r>
                <a:rPr lang="en-US" sz="2250">
                  <a:solidFill>
                    <a:srgbClr val="14313B"/>
                  </a:solidFill>
                  <a:latin typeface="Calibri (MS)"/>
                  <a:ea typeface="Calibri (MS)"/>
                  <a:cs typeface="Calibri (MS)"/>
                  <a:sym typeface="Calibri (MS)"/>
                </a:rPr>
                <a:t>Dr. Eng. Arie Wahyu Wijayanto, S.S.T., M.T.</a:t>
              </a:r>
            </a:p>
          </p:txBody>
        </p:sp>
      </p:grpSp>
      <p:grpSp>
        <p:nvGrpSpPr>
          <p:cNvPr name="Group 67" id="67"/>
          <p:cNvGrpSpPr/>
          <p:nvPr/>
        </p:nvGrpSpPr>
        <p:grpSpPr>
          <a:xfrm rot="0">
            <a:off x="3566160" y="7571232"/>
            <a:ext cx="3566160" cy="493776"/>
            <a:chOff x="0" y="0"/>
            <a:chExt cx="4754880" cy="658368"/>
          </a:xfrm>
        </p:grpSpPr>
        <p:sp>
          <p:nvSpPr>
            <p:cNvPr name="Freeform 68" id="68"/>
            <p:cNvSpPr/>
            <p:nvPr/>
          </p:nvSpPr>
          <p:spPr>
            <a:xfrm flipH="false" flipV="false" rot="0">
              <a:off x="0" y="0"/>
              <a:ext cx="4754880" cy="658368"/>
            </a:xfrm>
            <a:custGeom>
              <a:avLst/>
              <a:gdLst/>
              <a:ahLst/>
              <a:cxnLst/>
              <a:rect r="r" b="b" t="t" l="l"/>
              <a:pathLst>
                <a:path h="658368" w="4754880">
                  <a:moveTo>
                    <a:pt x="0" y="0"/>
                  </a:moveTo>
                  <a:lnTo>
                    <a:pt x="4754880" y="0"/>
                  </a:lnTo>
                  <a:lnTo>
                    <a:pt x="4754880" y="658368"/>
                  </a:lnTo>
                  <a:lnTo>
                    <a:pt x="0" y="658368"/>
                  </a:lnTo>
                  <a:close/>
                </a:path>
              </a:pathLst>
            </a:custGeom>
            <a:blipFill>
              <a:blip r:embed="rId5">
                <a:alphaModFix amt="0"/>
              </a:blip>
              <a:stretch>
                <a:fillRect l="0" t="-90626" r="0" b="-90628"/>
              </a:stretch>
            </a:blipFill>
          </p:spPr>
        </p:sp>
      </p:grpSp>
      <p:grpSp>
        <p:nvGrpSpPr>
          <p:cNvPr name="Group 69" id="69"/>
          <p:cNvGrpSpPr/>
          <p:nvPr/>
        </p:nvGrpSpPr>
        <p:grpSpPr>
          <a:xfrm rot="0">
            <a:off x="3566160" y="7528370"/>
            <a:ext cx="3566160" cy="536638"/>
            <a:chOff x="0" y="0"/>
            <a:chExt cx="4754880" cy="715518"/>
          </a:xfrm>
        </p:grpSpPr>
        <p:sp>
          <p:nvSpPr>
            <p:cNvPr name="Freeform 70" id="70"/>
            <p:cNvSpPr/>
            <p:nvPr/>
          </p:nvSpPr>
          <p:spPr>
            <a:xfrm flipH="false" flipV="false" rot="0">
              <a:off x="0" y="0"/>
              <a:ext cx="4754880" cy="715518"/>
            </a:xfrm>
            <a:custGeom>
              <a:avLst/>
              <a:gdLst/>
              <a:ahLst/>
              <a:cxnLst/>
              <a:rect r="r" b="b" t="t" l="l"/>
              <a:pathLst>
                <a:path h="715518" w="4754880">
                  <a:moveTo>
                    <a:pt x="0" y="0"/>
                  </a:moveTo>
                  <a:lnTo>
                    <a:pt x="4754880" y="0"/>
                  </a:lnTo>
                  <a:lnTo>
                    <a:pt x="4754880" y="715518"/>
                  </a:lnTo>
                  <a:lnTo>
                    <a:pt x="0" y="715518"/>
                  </a:lnTo>
                  <a:close/>
                </a:path>
              </a:pathLst>
            </a:custGeom>
            <a:blipFill>
              <a:blip r:embed="rId6">
                <a:alphaModFix amt="0"/>
              </a:blip>
              <a:stretch>
                <a:fillRect l="0" t="-79485" r="0" b="-79485"/>
              </a:stretch>
            </a:blipFill>
          </p:spPr>
        </p:sp>
        <p:sp>
          <p:nvSpPr>
            <p:cNvPr name="TextBox 71" id="71"/>
            <p:cNvSpPr txBox="true"/>
            <p:nvPr/>
          </p:nvSpPr>
          <p:spPr>
            <a:xfrm>
              <a:off x="0" y="-57150"/>
              <a:ext cx="475488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Dosen Penguji 1</a:t>
              </a:r>
            </a:p>
          </p:txBody>
        </p:sp>
      </p:grpSp>
      <p:grpSp>
        <p:nvGrpSpPr>
          <p:cNvPr name="Group 72" id="72"/>
          <p:cNvGrpSpPr/>
          <p:nvPr/>
        </p:nvGrpSpPr>
        <p:grpSpPr>
          <a:xfrm rot="0">
            <a:off x="7132320" y="7571232"/>
            <a:ext cx="274320" cy="493776"/>
            <a:chOff x="0" y="0"/>
            <a:chExt cx="365760" cy="658368"/>
          </a:xfrm>
        </p:grpSpPr>
        <p:sp>
          <p:nvSpPr>
            <p:cNvPr name="Freeform 73" id="73"/>
            <p:cNvSpPr/>
            <p:nvPr/>
          </p:nvSpPr>
          <p:spPr>
            <a:xfrm flipH="false" flipV="false" rot="0">
              <a:off x="0" y="0"/>
              <a:ext cx="365760" cy="658368"/>
            </a:xfrm>
            <a:custGeom>
              <a:avLst/>
              <a:gdLst/>
              <a:ahLst/>
              <a:cxnLst/>
              <a:rect r="r" b="b" t="t" l="l"/>
              <a:pathLst>
                <a:path h="658368" w="365760">
                  <a:moveTo>
                    <a:pt x="0" y="0"/>
                  </a:moveTo>
                  <a:lnTo>
                    <a:pt x="365760" y="0"/>
                  </a:lnTo>
                  <a:lnTo>
                    <a:pt x="365760" y="658368"/>
                  </a:lnTo>
                  <a:lnTo>
                    <a:pt x="0" y="658368"/>
                  </a:lnTo>
                  <a:close/>
                </a:path>
              </a:pathLst>
            </a:custGeom>
            <a:blipFill>
              <a:blip r:embed="rId5">
                <a:alphaModFix amt="0"/>
              </a:blip>
              <a:stretch>
                <a:fillRect l="-181107" t="0" r="-181107" b="0"/>
              </a:stretch>
            </a:blipFill>
          </p:spPr>
        </p:sp>
      </p:grpSp>
      <p:grpSp>
        <p:nvGrpSpPr>
          <p:cNvPr name="Group 74" id="74"/>
          <p:cNvGrpSpPr/>
          <p:nvPr/>
        </p:nvGrpSpPr>
        <p:grpSpPr>
          <a:xfrm rot="0">
            <a:off x="7132320" y="7528370"/>
            <a:ext cx="274320" cy="536638"/>
            <a:chOff x="0" y="0"/>
            <a:chExt cx="365760" cy="715518"/>
          </a:xfrm>
        </p:grpSpPr>
        <p:sp>
          <p:nvSpPr>
            <p:cNvPr name="Freeform 75" id="75"/>
            <p:cNvSpPr/>
            <p:nvPr/>
          </p:nvSpPr>
          <p:spPr>
            <a:xfrm flipH="false" flipV="false" rot="0">
              <a:off x="0" y="0"/>
              <a:ext cx="365760" cy="715518"/>
            </a:xfrm>
            <a:custGeom>
              <a:avLst/>
              <a:gdLst/>
              <a:ahLst/>
              <a:cxnLst/>
              <a:rect r="r" b="b" t="t" l="l"/>
              <a:pathLst>
                <a:path h="715518" w="365760">
                  <a:moveTo>
                    <a:pt x="0" y="0"/>
                  </a:moveTo>
                  <a:lnTo>
                    <a:pt x="365760" y="0"/>
                  </a:lnTo>
                  <a:lnTo>
                    <a:pt x="365760" y="715518"/>
                  </a:lnTo>
                  <a:lnTo>
                    <a:pt x="0" y="715518"/>
                  </a:lnTo>
                  <a:close/>
                </a:path>
              </a:pathLst>
            </a:custGeom>
            <a:blipFill>
              <a:blip r:embed="rId6">
                <a:alphaModFix amt="0"/>
              </a:blip>
              <a:stretch>
                <a:fillRect l="-200993" t="0" r="-200993" b="0"/>
              </a:stretch>
            </a:blipFill>
          </p:spPr>
        </p:sp>
        <p:sp>
          <p:nvSpPr>
            <p:cNvPr name="TextBox 76" id="76"/>
            <p:cNvSpPr txBox="true"/>
            <p:nvPr/>
          </p:nvSpPr>
          <p:spPr>
            <a:xfrm>
              <a:off x="0" y="-57150"/>
              <a:ext cx="36576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a:t>
              </a:r>
            </a:p>
          </p:txBody>
        </p:sp>
      </p:grpSp>
      <p:grpSp>
        <p:nvGrpSpPr>
          <p:cNvPr name="Group 77" id="77"/>
          <p:cNvGrpSpPr/>
          <p:nvPr/>
        </p:nvGrpSpPr>
        <p:grpSpPr>
          <a:xfrm rot="0">
            <a:off x="7543800" y="7571232"/>
            <a:ext cx="7406640" cy="493776"/>
            <a:chOff x="0" y="0"/>
            <a:chExt cx="9875520" cy="658368"/>
          </a:xfrm>
        </p:grpSpPr>
        <p:sp>
          <p:nvSpPr>
            <p:cNvPr name="Freeform 78" id="78"/>
            <p:cNvSpPr/>
            <p:nvPr/>
          </p:nvSpPr>
          <p:spPr>
            <a:xfrm flipH="false" flipV="false" rot="0">
              <a:off x="0" y="0"/>
              <a:ext cx="9875520" cy="658368"/>
            </a:xfrm>
            <a:custGeom>
              <a:avLst/>
              <a:gdLst/>
              <a:ahLst/>
              <a:cxnLst/>
              <a:rect r="r" b="b" t="t" l="l"/>
              <a:pathLst>
                <a:path h="658368" w="9875520">
                  <a:moveTo>
                    <a:pt x="0" y="0"/>
                  </a:moveTo>
                  <a:lnTo>
                    <a:pt x="9875520" y="0"/>
                  </a:lnTo>
                  <a:lnTo>
                    <a:pt x="9875520" y="658368"/>
                  </a:lnTo>
                  <a:lnTo>
                    <a:pt x="0" y="658368"/>
                  </a:lnTo>
                  <a:close/>
                </a:path>
              </a:pathLst>
            </a:custGeom>
            <a:blipFill>
              <a:blip r:embed="rId5">
                <a:alphaModFix amt="0"/>
              </a:blip>
              <a:stretch>
                <a:fillRect l="0" t="-242071" r="0" b="-242073"/>
              </a:stretch>
            </a:blipFill>
          </p:spPr>
        </p:sp>
      </p:grpSp>
      <p:grpSp>
        <p:nvGrpSpPr>
          <p:cNvPr name="Group 79" id="79"/>
          <p:cNvGrpSpPr/>
          <p:nvPr/>
        </p:nvGrpSpPr>
        <p:grpSpPr>
          <a:xfrm rot="0">
            <a:off x="7543800" y="7528370"/>
            <a:ext cx="7406640" cy="536638"/>
            <a:chOff x="0" y="0"/>
            <a:chExt cx="9875520" cy="715518"/>
          </a:xfrm>
        </p:grpSpPr>
        <p:sp>
          <p:nvSpPr>
            <p:cNvPr name="Freeform 80" id="80"/>
            <p:cNvSpPr/>
            <p:nvPr/>
          </p:nvSpPr>
          <p:spPr>
            <a:xfrm flipH="false" flipV="false" rot="0">
              <a:off x="0" y="0"/>
              <a:ext cx="9875520" cy="715518"/>
            </a:xfrm>
            <a:custGeom>
              <a:avLst/>
              <a:gdLst/>
              <a:ahLst/>
              <a:cxnLst/>
              <a:rect r="r" b="b" t="t" l="l"/>
              <a:pathLst>
                <a:path h="715518" w="9875520">
                  <a:moveTo>
                    <a:pt x="0" y="0"/>
                  </a:moveTo>
                  <a:lnTo>
                    <a:pt x="9875520" y="0"/>
                  </a:lnTo>
                  <a:lnTo>
                    <a:pt x="9875520" y="715518"/>
                  </a:lnTo>
                  <a:lnTo>
                    <a:pt x="0" y="715518"/>
                  </a:lnTo>
                  <a:close/>
                </a:path>
              </a:pathLst>
            </a:custGeom>
            <a:blipFill>
              <a:blip r:embed="rId6">
                <a:alphaModFix amt="0"/>
              </a:blip>
              <a:stretch>
                <a:fillRect l="0" t="-218930" r="0" b="-218930"/>
              </a:stretch>
            </a:blipFill>
          </p:spPr>
        </p:sp>
        <p:sp>
          <p:nvSpPr>
            <p:cNvPr name="TextBox 81" id="81"/>
            <p:cNvSpPr txBox="true"/>
            <p:nvPr/>
          </p:nvSpPr>
          <p:spPr>
            <a:xfrm>
              <a:off x="0" y="-57150"/>
              <a:ext cx="9875520" cy="772668"/>
            </a:xfrm>
            <a:prstGeom prst="rect">
              <a:avLst/>
            </a:prstGeom>
          </p:spPr>
          <p:txBody>
            <a:bodyPr anchor="ctr" rtlCol="false" tIns="0" lIns="0" bIns="0" rIns="0"/>
            <a:lstStyle/>
            <a:p>
              <a:pPr algn="l">
                <a:lnSpc>
                  <a:spcPts val="2700"/>
                </a:lnSpc>
              </a:pPr>
              <a:r>
                <a:rPr lang="en-US" sz="2250">
                  <a:solidFill>
                    <a:srgbClr val="14313B"/>
                  </a:solidFill>
                  <a:latin typeface="Calibri (MS)"/>
                  <a:ea typeface="Calibri (MS)"/>
                  <a:cs typeface="Calibri (MS)"/>
                  <a:sym typeface="Calibri (MS)"/>
                </a:rPr>
                <a:t>Ricky Yordani, S.S.T., M.Stat.</a:t>
              </a:r>
            </a:p>
          </p:txBody>
        </p:sp>
      </p:grpSp>
      <p:grpSp>
        <p:nvGrpSpPr>
          <p:cNvPr name="Group 82" id="82"/>
          <p:cNvGrpSpPr/>
          <p:nvPr/>
        </p:nvGrpSpPr>
        <p:grpSpPr>
          <a:xfrm rot="0">
            <a:off x="3566160" y="8215884"/>
            <a:ext cx="3566160" cy="493776"/>
            <a:chOff x="0" y="0"/>
            <a:chExt cx="4754880" cy="658368"/>
          </a:xfrm>
        </p:grpSpPr>
        <p:sp>
          <p:nvSpPr>
            <p:cNvPr name="Freeform 83" id="83"/>
            <p:cNvSpPr/>
            <p:nvPr/>
          </p:nvSpPr>
          <p:spPr>
            <a:xfrm flipH="false" flipV="false" rot="0">
              <a:off x="0" y="0"/>
              <a:ext cx="4754880" cy="658368"/>
            </a:xfrm>
            <a:custGeom>
              <a:avLst/>
              <a:gdLst/>
              <a:ahLst/>
              <a:cxnLst/>
              <a:rect r="r" b="b" t="t" l="l"/>
              <a:pathLst>
                <a:path h="658368" w="4754880">
                  <a:moveTo>
                    <a:pt x="0" y="0"/>
                  </a:moveTo>
                  <a:lnTo>
                    <a:pt x="4754880" y="0"/>
                  </a:lnTo>
                  <a:lnTo>
                    <a:pt x="4754880" y="658368"/>
                  </a:lnTo>
                  <a:lnTo>
                    <a:pt x="0" y="658368"/>
                  </a:lnTo>
                  <a:close/>
                </a:path>
              </a:pathLst>
            </a:custGeom>
            <a:blipFill>
              <a:blip r:embed="rId5">
                <a:alphaModFix amt="0"/>
              </a:blip>
              <a:stretch>
                <a:fillRect l="0" t="-90626" r="0" b="-90628"/>
              </a:stretch>
            </a:blipFill>
          </p:spPr>
        </p:sp>
      </p:grpSp>
      <p:grpSp>
        <p:nvGrpSpPr>
          <p:cNvPr name="Group 84" id="84"/>
          <p:cNvGrpSpPr/>
          <p:nvPr/>
        </p:nvGrpSpPr>
        <p:grpSpPr>
          <a:xfrm rot="0">
            <a:off x="3566160" y="8173021"/>
            <a:ext cx="3566160" cy="536638"/>
            <a:chOff x="0" y="0"/>
            <a:chExt cx="4754880" cy="715518"/>
          </a:xfrm>
        </p:grpSpPr>
        <p:sp>
          <p:nvSpPr>
            <p:cNvPr name="Freeform 85" id="85"/>
            <p:cNvSpPr/>
            <p:nvPr/>
          </p:nvSpPr>
          <p:spPr>
            <a:xfrm flipH="false" flipV="false" rot="0">
              <a:off x="0" y="0"/>
              <a:ext cx="4754880" cy="715518"/>
            </a:xfrm>
            <a:custGeom>
              <a:avLst/>
              <a:gdLst/>
              <a:ahLst/>
              <a:cxnLst/>
              <a:rect r="r" b="b" t="t" l="l"/>
              <a:pathLst>
                <a:path h="715518" w="4754880">
                  <a:moveTo>
                    <a:pt x="0" y="0"/>
                  </a:moveTo>
                  <a:lnTo>
                    <a:pt x="4754880" y="0"/>
                  </a:lnTo>
                  <a:lnTo>
                    <a:pt x="4754880" y="715518"/>
                  </a:lnTo>
                  <a:lnTo>
                    <a:pt x="0" y="715518"/>
                  </a:lnTo>
                  <a:close/>
                </a:path>
              </a:pathLst>
            </a:custGeom>
            <a:blipFill>
              <a:blip r:embed="rId6">
                <a:alphaModFix amt="0"/>
              </a:blip>
              <a:stretch>
                <a:fillRect l="0" t="-79485" r="0" b="-79485"/>
              </a:stretch>
            </a:blipFill>
          </p:spPr>
        </p:sp>
        <p:sp>
          <p:nvSpPr>
            <p:cNvPr name="TextBox 86" id="86"/>
            <p:cNvSpPr txBox="true"/>
            <p:nvPr/>
          </p:nvSpPr>
          <p:spPr>
            <a:xfrm>
              <a:off x="0" y="-57150"/>
              <a:ext cx="475488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Dosen Penguji 2</a:t>
              </a:r>
            </a:p>
          </p:txBody>
        </p:sp>
      </p:grpSp>
      <p:grpSp>
        <p:nvGrpSpPr>
          <p:cNvPr name="Group 87" id="87"/>
          <p:cNvGrpSpPr/>
          <p:nvPr/>
        </p:nvGrpSpPr>
        <p:grpSpPr>
          <a:xfrm rot="0">
            <a:off x="7132320" y="8215884"/>
            <a:ext cx="274320" cy="493776"/>
            <a:chOff x="0" y="0"/>
            <a:chExt cx="365760" cy="658368"/>
          </a:xfrm>
        </p:grpSpPr>
        <p:sp>
          <p:nvSpPr>
            <p:cNvPr name="Freeform 88" id="88"/>
            <p:cNvSpPr/>
            <p:nvPr/>
          </p:nvSpPr>
          <p:spPr>
            <a:xfrm flipH="false" flipV="false" rot="0">
              <a:off x="0" y="0"/>
              <a:ext cx="365760" cy="658368"/>
            </a:xfrm>
            <a:custGeom>
              <a:avLst/>
              <a:gdLst/>
              <a:ahLst/>
              <a:cxnLst/>
              <a:rect r="r" b="b" t="t" l="l"/>
              <a:pathLst>
                <a:path h="658368" w="365760">
                  <a:moveTo>
                    <a:pt x="0" y="0"/>
                  </a:moveTo>
                  <a:lnTo>
                    <a:pt x="365760" y="0"/>
                  </a:lnTo>
                  <a:lnTo>
                    <a:pt x="365760" y="658368"/>
                  </a:lnTo>
                  <a:lnTo>
                    <a:pt x="0" y="658368"/>
                  </a:lnTo>
                  <a:close/>
                </a:path>
              </a:pathLst>
            </a:custGeom>
            <a:blipFill>
              <a:blip r:embed="rId5">
                <a:alphaModFix amt="0"/>
              </a:blip>
              <a:stretch>
                <a:fillRect l="-181107" t="0" r="-181107" b="0"/>
              </a:stretch>
            </a:blipFill>
          </p:spPr>
        </p:sp>
      </p:grpSp>
      <p:grpSp>
        <p:nvGrpSpPr>
          <p:cNvPr name="Group 89" id="89"/>
          <p:cNvGrpSpPr/>
          <p:nvPr/>
        </p:nvGrpSpPr>
        <p:grpSpPr>
          <a:xfrm rot="0">
            <a:off x="7132320" y="8173021"/>
            <a:ext cx="274320" cy="536638"/>
            <a:chOff x="0" y="0"/>
            <a:chExt cx="365760" cy="715518"/>
          </a:xfrm>
        </p:grpSpPr>
        <p:sp>
          <p:nvSpPr>
            <p:cNvPr name="Freeform 90" id="90"/>
            <p:cNvSpPr/>
            <p:nvPr/>
          </p:nvSpPr>
          <p:spPr>
            <a:xfrm flipH="false" flipV="false" rot="0">
              <a:off x="0" y="0"/>
              <a:ext cx="365760" cy="715518"/>
            </a:xfrm>
            <a:custGeom>
              <a:avLst/>
              <a:gdLst/>
              <a:ahLst/>
              <a:cxnLst/>
              <a:rect r="r" b="b" t="t" l="l"/>
              <a:pathLst>
                <a:path h="715518" w="365760">
                  <a:moveTo>
                    <a:pt x="0" y="0"/>
                  </a:moveTo>
                  <a:lnTo>
                    <a:pt x="365760" y="0"/>
                  </a:lnTo>
                  <a:lnTo>
                    <a:pt x="365760" y="715518"/>
                  </a:lnTo>
                  <a:lnTo>
                    <a:pt x="0" y="715518"/>
                  </a:lnTo>
                  <a:close/>
                </a:path>
              </a:pathLst>
            </a:custGeom>
            <a:blipFill>
              <a:blip r:embed="rId6">
                <a:alphaModFix amt="0"/>
              </a:blip>
              <a:stretch>
                <a:fillRect l="-200993" t="0" r="-200993" b="0"/>
              </a:stretch>
            </a:blipFill>
          </p:spPr>
        </p:sp>
        <p:sp>
          <p:nvSpPr>
            <p:cNvPr name="TextBox 91" id="91"/>
            <p:cNvSpPr txBox="true"/>
            <p:nvPr/>
          </p:nvSpPr>
          <p:spPr>
            <a:xfrm>
              <a:off x="0" y="-57150"/>
              <a:ext cx="36576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a:t>
              </a:r>
            </a:p>
          </p:txBody>
        </p:sp>
      </p:grpSp>
      <p:grpSp>
        <p:nvGrpSpPr>
          <p:cNvPr name="Group 92" id="92"/>
          <p:cNvGrpSpPr/>
          <p:nvPr/>
        </p:nvGrpSpPr>
        <p:grpSpPr>
          <a:xfrm rot="0">
            <a:off x="7543800" y="8215884"/>
            <a:ext cx="7406640" cy="493776"/>
            <a:chOff x="0" y="0"/>
            <a:chExt cx="9875520" cy="658368"/>
          </a:xfrm>
        </p:grpSpPr>
        <p:sp>
          <p:nvSpPr>
            <p:cNvPr name="Freeform 93" id="93"/>
            <p:cNvSpPr/>
            <p:nvPr/>
          </p:nvSpPr>
          <p:spPr>
            <a:xfrm flipH="false" flipV="false" rot="0">
              <a:off x="0" y="0"/>
              <a:ext cx="9875520" cy="658368"/>
            </a:xfrm>
            <a:custGeom>
              <a:avLst/>
              <a:gdLst/>
              <a:ahLst/>
              <a:cxnLst/>
              <a:rect r="r" b="b" t="t" l="l"/>
              <a:pathLst>
                <a:path h="658368" w="9875520">
                  <a:moveTo>
                    <a:pt x="0" y="0"/>
                  </a:moveTo>
                  <a:lnTo>
                    <a:pt x="9875520" y="0"/>
                  </a:lnTo>
                  <a:lnTo>
                    <a:pt x="9875520" y="658368"/>
                  </a:lnTo>
                  <a:lnTo>
                    <a:pt x="0" y="658368"/>
                  </a:lnTo>
                  <a:close/>
                </a:path>
              </a:pathLst>
            </a:custGeom>
            <a:blipFill>
              <a:blip r:embed="rId5">
                <a:alphaModFix amt="0"/>
              </a:blip>
              <a:stretch>
                <a:fillRect l="0" t="-242071" r="0" b="-242073"/>
              </a:stretch>
            </a:blipFill>
          </p:spPr>
        </p:sp>
      </p:grpSp>
      <p:grpSp>
        <p:nvGrpSpPr>
          <p:cNvPr name="Group 94" id="94"/>
          <p:cNvGrpSpPr/>
          <p:nvPr/>
        </p:nvGrpSpPr>
        <p:grpSpPr>
          <a:xfrm rot="0">
            <a:off x="7543800" y="8173021"/>
            <a:ext cx="7406640" cy="536638"/>
            <a:chOff x="0" y="0"/>
            <a:chExt cx="9875520" cy="715518"/>
          </a:xfrm>
        </p:grpSpPr>
        <p:sp>
          <p:nvSpPr>
            <p:cNvPr name="Freeform 95" id="95"/>
            <p:cNvSpPr/>
            <p:nvPr/>
          </p:nvSpPr>
          <p:spPr>
            <a:xfrm flipH="false" flipV="false" rot="0">
              <a:off x="0" y="0"/>
              <a:ext cx="9875520" cy="715518"/>
            </a:xfrm>
            <a:custGeom>
              <a:avLst/>
              <a:gdLst/>
              <a:ahLst/>
              <a:cxnLst/>
              <a:rect r="r" b="b" t="t" l="l"/>
              <a:pathLst>
                <a:path h="715518" w="9875520">
                  <a:moveTo>
                    <a:pt x="0" y="0"/>
                  </a:moveTo>
                  <a:lnTo>
                    <a:pt x="9875520" y="0"/>
                  </a:lnTo>
                  <a:lnTo>
                    <a:pt x="9875520" y="715518"/>
                  </a:lnTo>
                  <a:lnTo>
                    <a:pt x="0" y="715518"/>
                  </a:lnTo>
                  <a:close/>
                </a:path>
              </a:pathLst>
            </a:custGeom>
            <a:blipFill>
              <a:blip r:embed="rId6">
                <a:alphaModFix amt="0"/>
              </a:blip>
              <a:stretch>
                <a:fillRect l="0" t="-218930" r="0" b="-218930"/>
              </a:stretch>
            </a:blipFill>
          </p:spPr>
        </p:sp>
        <p:sp>
          <p:nvSpPr>
            <p:cNvPr name="TextBox 96" id="96"/>
            <p:cNvSpPr txBox="true"/>
            <p:nvPr/>
          </p:nvSpPr>
          <p:spPr>
            <a:xfrm>
              <a:off x="0" y="-57150"/>
              <a:ext cx="9875520" cy="772668"/>
            </a:xfrm>
            <a:prstGeom prst="rect">
              <a:avLst/>
            </a:prstGeom>
          </p:spPr>
          <p:txBody>
            <a:bodyPr anchor="ctr" rtlCol="false" tIns="0" lIns="0" bIns="0" rIns="0"/>
            <a:lstStyle/>
            <a:p>
              <a:pPr algn="l">
                <a:lnSpc>
                  <a:spcPts val="2700"/>
                </a:lnSpc>
              </a:pPr>
              <a:r>
                <a:rPr lang="en-US" sz="2250">
                  <a:solidFill>
                    <a:srgbClr val="14313B"/>
                  </a:solidFill>
                  <a:latin typeface="Calibri (MS)"/>
                  <a:ea typeface="Calibri (MS)"/>
                  <a:cs typeface="Calibri (MS)"/>
                  <a:sym typeface="Calibri (MS)"/>
                </a:rPr>
                <a:t>Ibnu Santoso, S.S.T., M.T.</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txBody>
            <a:bodyPr/>
            <a:p/>
          </p:txBody>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Alur paparan: tiga tujuan, tiga jawaban</a:t>
            </a:r>
          </a:p>
        </p:txBody>
      </p:sp>
      <p:grpSp>
        <p:nvGrpSpPr>
          <p:cNvPr name="Group 10" id="10"/>
          <p:cNvGrpSpPr/>
          <p:nvPr/>
        </p:nvGrpSpPr>
        <p:grpSpPr>
          <a:xfrm rot="0">
            <a:off x="822960" y="2743200"/>
            <a:ext cx="2537460" cy="4251960"/>
            <a:chOff x="0" y="0"/>
            <a:chExt cx="3383280" cy="5669280"/>
          </a:xfrm>
        </p:grpSpPr>
        <p:sp>
          <p:nvSpPr>
            <p:cNvPr name="Freeform 11" id="11"/>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txBody>
            <a:bodyPr/>
            <a:p/>
          </p:txBody>
        </p:sp>
      </p:grpSp>
      <p:grpSp>
        <p:nvGrpSpPr>
          <p:cNvPr name="Group 12" id="12"/>
          <p:cNvGrpSpPr/>
          <p:nvPr/>
        </p:nvGrpSpPr>
        <p:grpSpPr>
          <a:xfrm rot="0">
            <a:off x="1097280" y="3086100"/>
            <a:ext cx="822960" cy="822960"/>
            <a:chOff x="0" y="0"/>
            <a:chExt cx="1097280" cy="1097280"/>
          </a:xfrm>
        </p:grpSpPr>
        <p:sp>
          <p:nvSpPr>
            <p:cNvPr name="Freeform 13" id="13"/>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9C0D3"/>
            </a:solidFill>
          </p:spPr>
          <p:txBody>
            <a:bodyPr/>
            <a:p/>
          </p:txBody>
        </p:sp>
      </p:grpSp>
      <p:grpSp>
        <p:nvGrpSpPr>
          <p:cNvPr name="Group 14" id="14"/>
          <p:cNvGrpSpPr/>
          <p:nvPr/>
        </p:nvGrpSpPr>
        <p:grpSpPr>
          <a:xfrm rot="0">
            <a:off x="1097280" y="3086100"/>
            <a:ext cx="822960" cy="822960"/>
            <a:chOff x="0" y="0"/>
            <a:chExt cx="1097280" cy="1097280"/>
          </a:xfrm>
        </p:grpSpPr>
        <p:sp>
          <p:nvSpPr>
            <p:cNvPr name="Freeform 15" id="1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txBody>
            <a:bodyPr/>
            <a:p/>
          </p:txBody>
        </p:sp>
      </p:grpSp>
      <p:grpSp>
        <p:nvGrpSpPr>
          <p:cNvPr name="Group 16" id="16"/>
          <p:cNvGrpSpPr/>
          <p:nvPr/>
        </p:nvGrpSpPr>
        <p:grpSpPr>
          <a:xfrm rot="0">
            <a:off x="1097280" y="3057525"/>
            <a:ext cx="822960" cy="851535"/>
            <a:chOff x="0" y="0"/>
            <a:chExt cx="1097280" cy="1135380"/>
          </a:xfrm>
        </p:grpSpPr>
        <p:sp>
          <p:nvSpPr>
            <p:cNvPr name="Freeform 17" id="17"/>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758" t="0" r="-82758" b="0"/>
              </a:stretch>
            </a:blipFill>
          </p:spPr>
          <p:txBody>
            <a:bodyPr/>
            <a:p/>
          </p:txBody>
        </p:sp>
        <p:sp>
          <p:nvSpPr>
            <p:cNvPr name="TextBox 18" id="18"/>
            <p:cNvSpPr txBox="true"/>
            <p:nvPr/>
          </p:nvSpPr>
          <p:spPr>
            <a:xfrm>
              <a:off x="0" y="-38100"/>
              <a:ext cx="109728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sp>
        <p:nvSpPr>
          <p:cNvPr name="TextBox 19" id="19"/>
          <p:cNvSpPr txBox="true"/>
          <p:nvPr/>
        </p:nvSpPr>
        <p:spPr>
          <a:xfrm rot="0">
            <a:off x="1097280" y="4175760"/>
            <a:ext cx="2057400" cy="1104900"/>
          </a:xfrm>
          <a:prstGeom prst="rect">
            <a:avLst/>
          </a:prstGeom>
        </p:spPr>
        <p:txBody>
          <a:bodyPr anchor="t" rtlCol="false" tIns="0" lIns="0" bIns="0" rIns="0">
            <a:spAutoFit/>
          </a:bodyPr>
          <a:lstStyle/>
          <a:p>
            <a:pPr algn="l">
              <a:lnSpc>
                <a:spcPts val="2878"/>
              </a:lnSpc>
            </a:pPr>
            <a:r>
              <a:rPr lang="en-US" sz="1900" b="true">
                <a:solidFill>
                  <a:srgbClr val="0B5E6E"/>
                </a:solidFill>
                <a:latin typeface="Calibri (MS) Bold"/>
                <a:ea typeface="Calibri (MS) Bold"/>
                <a:cs typeface="Calibri (MS) Bold"/>
                <a:sym typeface="Calibri (MS) Bold"/>
              </a:rPr>
              <a:t>Pendahuluan</a:t>
            </a:r>
          </a:p>
        </p:txBody>
      </p:sp>
      <p:sp>
        <p:nvSpPr>
          <p:cNvPr name="TextBox 20" id="20"/>
          <p:cNvSpPr txBox="true"/>
          <p:nvPr/>
        </p:nvSpPr>
        <p:spPr>
          <a:xfrm rot="0">
            <a:off x="1097280" y="5273040"/>
            <a:ext cx="2057400" cy="14478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Masalah, celah penelitian, tujuan, ruang lingkup</a:t>
            </a:r>
          </a:p>
        </p:txBody>
      </p:sp>
      <p:grpSp>
        <p:nvGrpSpPr>
          <p:cNvPr name="Group 21" id="21"/>
          <p:cNvGrpSpPr/>
          <p:nvPr/>
        </p:nvGrpSpPr>
        <p:grpSpPr>
          <a:xfrm rot="0">
            <a:off x="3642970" y="2743200"/>
            <a:ext cx="2537460" cy="4251960"/>
            <a:chOff x="0" y="0"/>
            <a:chExt cx="3383280" cy="5669280"/>
          </a:xfrm>
        </p:grpSpPr>
        <p:sp>
          <p:nvSpPr>
            <p:cNvPr name="Freeform 22" id="22"/>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txBody>
            <a:bodyPr/>
            <a:p/>
          </p:txBody>
        </p:sp>
      </p:grpSp>
      <p:grpSp>
        <p:nvGrpSpPr>
          <p:cNvPr name="Group 23" id="23"/>
          <p:cNvGrpSpPr/>
          <p:nvPr/>
        </p:nvGrpSpPr>
        <p:grpSpPr>
          <a:xfrm rot="0">
            <a:off x="3917290" y="3086100"/>
            <a:ext cx="822960" cy="822960"/>
            <a:chOff x="0" y="0"/>
            <a:chExt cx="1097280" cy="1097280"/>
          </a:xfrm>
        </p:grpSpPr>
        <p:sp>
          <p:nvSpPr>
            <p:cNvPr name="Freeform 24" id="24"/>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9C0D3"/>
            </a:solidFill>
          </p:spPr>
          <p:txBody>
            <a:bodyPr/>
            <a:p/>
          </p:txBody>
        </p:sp>
      </p:grpSp>
      <p:grpSp>
        <p:nvGrpSpPr>
          <p:cNvPr name="Group 25" id="25"/>
          <p:cNvGrpSpPr/>
          <p:nvPr/>
        </p:nvGrpSpPr>
        <p:grpSpPr>
          <a:xfrm rot="0">
            <a:off x="3917290" y="3086100"/>
            <a:ext cx="822960" cy="822960"/>
            <a:chOff x="0" y="0"/>
            <a:chExt cx="1097280" cy="1097280"/>
          </a:xfrm>
        </p:grpSpPr>
        <p:sp>
          <p:nvSpPr>
            <p:cNvPr name="Freeform 26" id="26"/>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txBody>
            <a:bodyPr/>
            <a:p/>
          </p:txBody>
        </p:sp>
      </p:grpSp>
      <p:grpSp>
        <p:nvGrpSpPr>
          <p:cNvPr name="Group 27" id="27"/>
          <p:cNvGrpSpPr/>
          <p:nvPr/>
        </p:nvGrpSpPr>
        <p:grpSpPr>
          <a:xfrm rot="0">
            <a:off x="3917290" y="3057525"/>
            <a:ext cx="822960" cy="851535"/>
            <a:chOff x="0" y="0"/>
            <a:chExt cx="1097280" cy="1135380"/>
          </a:xfrm>
        </p:grpSpPr>
        <p:sp>
          <p:nvSpPr>
            <p:cNvPr name="Freeform 28" id="28"/>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758" t="0" r="-82758" b="0"/>
              </a:stretch>
            </a:blipFill>
          </p:spPr>
          <p:txBody>
            <a:bodyPr/>
            <a:p/>
          </p:txBody>
        </p:sp>
        <p:sp>
          <p:nvSpPr>
            <p:cNvPr name="TextBox 29" id="29"/>
            <p:cNvSpPr txBox="true"/>
            <p:nvPr/>
          </p:nvSpPr>
          <p:spPr>
            <a:xfrm>
              <a:off x="0" y="-38100"/>
              <a:ext cx="109728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sp>
        <p:nvSpPr>
          <p:cNvPr name="TextBox 30" id="30"/>
          <p:cNvSpPr txBox="true"/>
          <p:nvPr/>
        </p:nvSpPr>
        <p:spPr>
          <a:xfrm rot="0">
            <a:off x="3917290" y="4175760"/>
            <a:ext cx="2057400" cy="1104900"/>
          </a:xfrm>
          <a:prstGeom prst="rect">
            <a:avLst/>
          </a:prstGeom>
        </p:spPr>
        <p:txBody>
          <a:bodyPr anchor="t" rtlCol="false" tIns="0" lIns="0" bIns="0" rIns="0">
            <a:spAutoFit/>
          </a:bodyPr>
          <a:lstStyle/>
          <a:p>
            <a:pPr algn="l">
              <a:lnSpc>
                <a:spcPts val="2878"/>
              </a:lnSpc>
            </a:pPr>
            <a:r>
              <a:rPr lang="en-US" sz="1900" b="true">
                <a:solidFill>
                  <a:srgbClr val="0B5E6E"/>
                </a:solidFill>
                <a:latin typeface="Calibri (MS) Bold"/>
                <a:ea typeface="Calibri (MS) Bold"/>
                <a:cs typeface="Calibri (MS) Bold"/>
                <a:sym typeface="Calibri (MS) Bold"/>
              </a:rPr>
              <a:t>Metodologi</a:t>
            </a:r>
          </a:p>
        </p:txBody>
      </p:sp>
      <p:sp>
        <p:nvSpPr>
          <p:cNvPr name="TextBox 31" id="31"/>
          <p:cNvSpPr txBox="true"/>
          <p:nvPr/>
        </p:nvSpPr>
        <p:spPr>
          <a:xfrm rot="0">
            <a:off x="3917290" y="5273040"/>
            <a:ext cx="2057400" cy="14478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Data, enam tahap penelitian, preprocessing</a:t>
            </a:r>
          </a:p>
        </p:txBody>
      </p:sp>
      <p:grpSp>
        <p:nvGrpSpPr>
          <p:cNvPr name="Group 32" id="32"/>
          <p:cNvGrpSpPr/>
          <p:nvPr/>
        </p:nvGrpSpPr>
        <p:grpSpPr>
          <a:xfrm rot="0">
            <a:off x="6462979" y="2743200"/>
            <a:ext cx="2537460" cy="4251960"/>
            <a:chOff x="0" y="0"/>
            <a:chExt cx="3383280" cy="5669280"/>
          </a:xfrm>
        </p:grpSpPr>
        <p:sp>
          <p:nvSpPr>
            <p:cNvPr name="Freeform 33" id="33"/>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txBody>
            <a:bodyPr/>
            <a:p/>
          </p:txBody>
        </p:sp>
      </p:grpSp>
      <p:grpSp>
        <p:nvGrpSpPr>
          <p:cNvPr name="Group 34" id="34"/>
          <p:cNvGrpSpPr/>
          <p:nvPr/>
        </p:nvGrpSpPr>
        <p:grpSpPr>
          <a:xfrm rot="0">
            <a:off x="6737299" y="3086100"/>
            <a:ext cx="822960" cy="822960"/>
            <a:chOff x="0" y="0"/>
            <a:chExt cx="1097280" cy="1097280"/>
          </a:xfrm>
        </p:grpSpPr>
        <p:sp>
          <p:nvSpPr>
            <p:cNvPr name="Freeform 35" id="35"/>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9C0D3"/>
            </a:solidFill>
          </p:spPr>
          <p:txBody>
            <a:bodyPr/>
            <a:p/>
          </p:txBody>
        </p:sp>
      </p:grpSp>
      <p:grpSp>
        <p:nvGrpSpPr>
          <p:cNvPr name="Group 36" id="36"/>
          <p:cNvGrpSpPr/>
          <p:nvPr/>
        </p:nvGrpSpPr>
        <p:grpSpPr>
          <a:xfrm rot="0">
            <a:off x="6737299" y="3086100"/>
            <a:ext cx="822960" cy="822960"/>
            <a:chOff x="0" y="0"/>
            <a:chExt cx="1097280" cy="1097280"/>
          </a:xfrm>
        </p:grpSpPr>
        <p:sp>
          <p:nvSpPr>
            <p:cNvPr name="Freeform 37" id="37"/>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txBody>
            <a:bodyPr/>
            <a:p/>
          </p:txBody>
        </p:sp>
      </p:grpSp>
      <p:grpSp>
        <p:nvGrpSpPr>
          <p:cNvPr name="Group 38" id="38"/>
          <p:cNvGrpSpPr/>
          <p:nvPr/>
        </p:nvGrpSpPr>
        <p:grpSpPr>
          <a:xfrm rot="0">
            <a:off x="6737299" y="3057525"/>
            <a:ext cx="822960" cy="851535"/>
            <a:chOff x="0" y="0"/>
            <a:chExt cx="1097280" cy="1135380"/>
          </a:xfrm>
        </p:grpSpPr>
        <p:sp>
          <p:nvSpPr>
            <p:cNvPr name="Freeform 39" id="39"/>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758" t="0" r="-82758" b="0"/>
              </a:stretch>
            </a:blipFill>
          </p:spPr>
          <p:txBody>
            <a:bodyPr/>
            <a:p/>
          </p:txBody>
        </p:sp>
        <p:sp>
          <p:nvSpPr>
            <p:cNvPr name="TextBox 40" id="40"/>
            <p:cNvSpPr txBox="true"/>
            <p:nvPr/>
          </p:nvSpPr>
          <p:spPr>
            <a:xfrm>
              <a:off x="0" y="-38100"/>
              <a:ext cx="109728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sp>
        <p:nvSpPr>
          <p:cNvPr name="TextBox 41" id="41"/>
          <p:cNvSpPr txBox="true"/>
          <p:nvPr/>
        </p:nvSpPr>
        <p:spPr>
          <a:xfrm rot="0">
            <a:off x="6737299" y="4175760"/>
            <a:ext cx="2057400" cy="1104900"/>
          </a:xfrm>
          <a:prstGeom prst="rect">
            <a:avLst/>
          </a:prstGeom>
        </p:spPr>
        <p:txBody>
          <a:bodyPr anchor="t" rtlCol="false" tIns="0" lIns="0" bIns="0" rIns="0">
            <a:spAutoFit/>
          </a:bodyPr>
          <a:lstStyle/>
          <a:p>
            <a:pPr algn="l">
              <a:lnSpc>
                <a:spcPts val="2878"/>
              </a:lnSpc>
            </a:pPr>
            <a:r>
              <a:rPr lang="en-US" sz="1900" b="true">
                <a:solidFill>
                  <a:srgbClr val="0B5E6E"/>
                </a:solidFill>
                <a:latin typeface="Calibri (MS) Bold"/>
                <a:ea typeface="Calibri (MS) Bold"/>
                <a:cs typeface="Calibri (MS) Bold"/>
                <a:sym typeface="Calibri (MS) Bold"/>
              </a:rPr>
              <a:t>Tujuan 1</a:t>
            </a:r>
          </a:p>
        </p:txBody>
      </p:sp>
      <p:sp>
        <p:nvSpPr>
          <p:cNvPr name="TextBox 42" id="42"/>
          <p:cNvSpPr txBox="true"/>
          <p:nvPr/>
        </p:nvSpPr>
        <p:spPr>
          <a:xfrm rot="0">
            <a:off x="6737299" y="5273040"/>
            <a:ext cx="2057400" cy="14478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Variabel dan struktur Causal Loop Diagram</a:t>
            </a:r>
          </a:p>
        </p:txBody>
      </p:sp>
      <p:grpSp>
        <p:nvGrpSpPr>
          <p:cNvPr name="Group 43" id="43"/>
          <p:cNvGrpSpPr/>
          <p:nvPr/>
        </p:nvGrpSpPr>
        <p:grpSpPr>
          <a:xfrm rot="0">
            <a:off x="9282989" y="2743200"/>
            <a:ext cx="2537460" cy="4251960"/>
            <a:chOff x="0" y="0"/>
            <a:chExt cx="3383280" cy="5669280"/>
          </a:xfrm>
        </p:grpSpPr>
        <p:sp>
          <p:nvSpPr>
            <p:cNvPr name="Freeform 44" id="44"/>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txBody>
            <a:bodyPr/>
            <a:p/>
          </p:txBody>
        </p:sp>
      </p:grpSp>
      <p:grpSp>
        <p:nvGrpSpPr>
          <p:cNvPr name="Group 45" id="45"/>
          <p:cNvGrpSpPr/>
          <p:nvPr/>
        </p:nvGrpSpPr>
        <p:grpSpPr>
          <a:xfrm rot="0">
            <a:off x="9557309" y="3086100"/>
            <a:ext cx="822960" cy="822960"/>
            <a:chOff x="0" y="0"/>
            <a:chExt cx="1097280" cy="1097280"/>
          </a:xfrm>
        </p:grpSpPr>
        <p:sp>
          <p:nvSpPr>
            <p:cNvPr name="Freeform 46" id="46"/>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0B5E6E"/>
            </a:solidFill>
          </p:spPr>
          <p:txBody>
            <a:bodyPr/>
            <a:p/>
          </p:txBody>
        </p:sp>
      </p:grpSp>
      <p:grpSp>
        <p:nvGrpSpPr>
          <p:cNvPr name="Group 47" id="47"/>
          <p:cNvGrpSpPr/>
          <p:nvPr/>
        </p:nvGrpSpPr>
        <p:grpSpPr>
          <a:xfrm rot="0">
            <a:off x="9557309" y="3086100"/>
            <a:ext cx="822960" cy="822960"/>
            <a:chOff x="0" y="0"/>
            <a:chExt cx="1097280" cy="1097280"/>
          </a:xfrm>
        </p:grpSpPr>
        <p:sp>
          <p:nvSpPr>
            <p:cNvPr name="Freeform 48" id="48"/>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txBody>
            <a:bodyPr/>
            <a:p/>
          </p:txBody>
        </p:sp>
      </p:grpSp>
      <p:grpSp>
        <p:nvGrpSpPr>
          <p:cNvPr name="Group 49" id="49"/>
          <p:cNvGrpSpPr/>
          <p:nvPr/>
        </p:nvGrpSpPr>
        <p:grpSpPr>
          <a:xfrm rot="0">
            <a:off x="9557309" y="3057525"/>
            <a:ext cx="822960" cy="851535"/>
            <a:chOff x="0" y="0"/>
            <a:chExt cx="1097280" cy="1135380"/>
          </a:xfrm>
        </p:grpSpPr>
        <p:sp>
          <p:nvSpPr>
            <p:cNvPr name="Freeform 50" id="50"/>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758" t="0" r="-82758" b="0"/>
              </a:stretch>
            </a:blipFill>
          </p:spPr>
          <p:txBody>
            <a:bodyPr/>
            <a:p/>
          </p:txBody>
        </p:sp>
        <p:sp>
          <p:nvSpPr>
            <p:cNvPr name="TextBox 51" id="51"/>
            <p:cNvSpPr txBox="true"/>
            <p:nvPr/>
          </p:nvSpPr>
          <p:spPr>
            <a:xfrm>
              <a:off x="0" y="-38100"/>
              <a:ext cx="109728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4</a:t>
              </a:r>
            </a:p>
          </p:txBody>
        </p:sp>
      </p:grpSp>
      <p:sp>
        <p:nvSpPr>
          <p:cNvPr name="TextBox 52" id="52"/>
          <p:cNvSpPr txBox="true"/>
          <p:nvPr/>
        </p:nvSpPr>
        <p:spPr>
          <a:xfrm rot="0">
            <a:off x="9557309" y="4175760"/>
            <a:ext cx="2057400" cy="1104900"/>
          </a:xfrm>
          <a:prstGeom prst="rect">
            <a:avLst/>
          </a:prstGeom>
        </p:spPr>
        <p:txBody>
          <a:bodyPr anchor="t" rtlCol="false" tIns="0" lIns="0" bIns="0" rIns="0">
            <a:spAutoFit/>
          </a:bodyPr>
          <a:lstStyle/>
          <a:p>
            <a:pPr algn="l">
              <a:lnSpc>
                <a:spcPts val="2878"/>
              </a:lnSpc>
            </a:pPr>
            <a:r>
              <a:rPr lang="en-US" sz="1900" b="true">
                <a:solidFill>
                  <a:srgbClr val="0B5E6E"/>
                </a:solidFill>
                <a:latin typeface="Calibri (MS) Bold"/>
                <a:ea typeface="Calibri (MS) Bold"/>
                <a:cs typeface="Calibri (MS) Bold"/>
                <a:sym typeface="Calibri (MS) Bold"/>
              </a:rPr>
              <a:t>Tujuan 2</a:t>
            </a:r>
          </a:p>
        </p:txBody>
      </p:sp>
      <p:sp>
        <p:nvSpPr>
          <p:cNvPr name="TextBox 53" id="53"/>
          <p:cNvSpPr txBox="true"/>
          <p:nvPr/>
        </p:nvSpPr>
        <p:spPr>
          <a:xfrm rot="0">
            <a:off x="9557309" y="5273040"/>
            <a:ext cx="2057400" cy="14478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Citra satelit, model, validasi, skenario kebijakan</a:t>
            </a:r>
          </a:p>
        </p:txBody>
      </p:sp>
      <p:grpSp>
        <p:nvGrpSpPr>
          <p:cNvPr name="Group 54" id="54"/>
          <p:cNvGrpSpPr/>
          <p:nvPr/>
        </p:nvGrpSpPr>
        <p:grpSpPr>
          <a:xfrm rot="0">
            <a:off x="12102998" y="2743200"/>
            <a:ext cx="2537460" cy="4251960"/>
            <a:chOff x="0" y="0"/>
            <a:chExt cx="3383280" cy="5669280"/>
          </a:xfrm>
        </p:grpSpPr>
        <p:sp>
          <p:nvSpPr>
            <p:cNvPr name="Freeform 55" id="55"/>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txBody>
            <a:bodyPr/>
            <a:p/>
          </p:txBody>
        </p:sp>
      </p:grpSp>
      <p:grpSp>
        <p:nvGrpSpPr>
          <p:cNvPr name="Group 56" id="56"/>
          <p:cNvGrpSpPr/>
          <p:nvPr/>
        </p:nvGrpSpPr>
        <p:grpSpPr>
          <a:xfrm rot="0">
            <a:off x="12377318" y="3086100"/>
            <a:ext cx="822960" cy="822960"/>
            <a:chOff x="0" y="0"/>
            <a:chExt cx="1097280" cy="1097280"/>
          </a:xfrm>
        </p:grpSpPr>
        <p:sp>
          <p:nvSpPr>
            <p:cNvPr name="Freeform 57" id="57"/>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9C0D3"/>
            </a:solidFill>
          </p:spPr>
          <p:txBody>
            <a:bodyPr/>
            <a:p/>
          </p:txBody>
        </p:sp>
      </p:grpSp>
      <p:grpSp>
        <p:nvGrpSpPr>
          <p:cNvPr name="Group 58" id="58"/>
          <p:cNvGrpSpPr/>
          <p:nvPr/>
        </p:nvGrpSpPr>
        <p:grpSpPr>
          <a:xfrm rot="0">
            <a:off x="12377318" y="3086100"/>
            <a:ext cx="822960" cy="822960"/>
            <a:chOff x="0" y="0"/>
            <a:chExt cx="1097280" cy="1097280"/>
          </a:xfrm>
        </p:grpSpPr>
        <p:sp>
          <p:nvSpPr>
            <p:cNvPr name="Freeform 59" id="59"/>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txBody>
            <a:bodyPr/>
            <a:p/>
          </p:txBody>
        </p:sp>
      </p:grpSp>
      <p:grpSp>
        <p:nvGrpSpPr>
          <p:cNvPr name="Group 60" id="60"/>
          <p:cNvGrpSpPr/>
          <p:nvPr/>
        </p:nvGrpSpPr>
        <p:grpSpPr>
          <a:xfrm rot="0">
            <a:off x="12377318" y="3057525"/>
            <a:ext cx="822960" cy="851535"/>
            <a:chOff x="0" y="0"/>
            <a:chExt cx="1097280" cy="1135380"/>
          </a:xfrm>
        </p:grpSpPr>
        <p:sp>
          <p:nvSpPr>
            <p:cNvPr name="Freeform 61" id="61"/>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758" t="0" r="-82758" b="0"/>
              </a:stretch>
            </a:blipFill>
          </p:spPr>
          <p:txBody>
            <a:bodyPr/>
            <a:p/>
          </p:txBody>
        </p:sp>
        <p:sp>
          <p:nvSpPr>
            <p:cNvPr name="TextBox 62" id="62"/>
            <p:cNvSpPr txBox="true"/>
            <p:nvPr/>
          </p:nvSpPr>
          <p:spPr>
            <a:xfrm>
              <a:off x="0" y="-38100"/>
              <a:ext cx="109728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5</a:t>
              </a:r>
            </a:p>
          </p:txBody>
        </p:sp>
      </p:grpSp>
      <p:sp>
        <p:nvSpPr>
          <p:cNvPr name="TextBox 63" id="63"/>
          <p:cNvSpPr txBox="true"/>
          <p:nvPr/>
        </p:nvSpPr>
        <p:spPr>
          <a:xfrm rot="0">
            <a:off x="12377318" y="4175760"/>
            <a:ext cx="2057400" cy="1104900"/>
          </a:xfrm>
          <a:prstGeom prst="rect">
            <a:avLst/>
          </a:prstGeom>
        </p:spPr>
        <p:txBody>
          <a:bodyPr anchor="t" rtlCol="false" tIns="0" lIns="0" bIns="0" rIns="0">
            <a:spAutoFit/>
          </a:bodyPr>
          <a:lstStyle/>
          <a:p>
            <a:pPr algn="l">
              <a:lnSpc>
                <a:spcPts val="2878"/>
              </a:lnSpc>
            </a:pPr>
            <a:r>
              <a:rPr lang="en-US" sz="1900" b="true">
                <a:solidFill>
                  <a:srgbClr val="0B5E6E"/>
                </a:solidFill>
                <a:latin typeface="Calibri (MS) Bold"/>
                <a:ea typeface="Calibri (MS) Bold"/>
                <a:cs typeface="Calibri (MS) Bold"/>
                <a:sym typeface="Calibri (MS) Bold"/>
              </a:rPr>
              <a:t>Tujuan 3</a:t>
            </a:r>
          </a:p>
        </p:txBody>
      </p:sp>
      <p:sp>
        <p:nvSpPr>
          <p:cNvPr name="TextBox 64" id="64"/>
          <p:cNvSpPr txBox="true"/>
          <p:nvPr/>
        </p:nvSpPr>
        <p:spPr>
          <a:xfrm rot="0">
            <a:off x="12377318" y="5273040"/>
            <a:ext cx="2057400" cy="14478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Aplikasi web dan evaluasinya</a:t>
            </a:r>
          </a:p>
        </p:txBody>
      </p:sp>
      <p:grpSp>
        <p:nvGrpSpPr>
          <p:cNvPr name="Group 65" id="65"/>
          <p:cNvGrpSpPr/>
          <p:nvPr/>
        </p:nvGrpSpPr>
        <p:grpSpPr>
          <a:xfrm rot="0">
            <a:off x="14923008" y="2743200"/>
            <a:ext cx="2537460" cy="4251960"/>
            <a:chOff x="0" y="0"/>
            <a:chExt cx="3383280" cy="5669280"/>
          </a:xfrm>
        </p:grpSpPr>
        <p:sp>
          <p:nvSpPr>
            <p:cNvPr name="Freeform 66" id="66"/>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txBody>
            <a:bodyPr/>
            <a:p/>
          </p:txBody>
        </p:sp>
      </p:grpSp>
      <p:grpSp>
        <p:nvGrpSpPr>
          <p:cNvPr name="Group 67" id="67"/>
          <p:cNvGrpSpPr/>
          <p:nvPr/>
        </p:nvGrpSpPr>
        <p:grpSpPr>
          <a:xfrm rot="0">
            <a:off x="15197328" y="3086100"/>
            <a:ext cx="822960" cy="822960"/>
            <a:chOff x="0" y="0"/>
            <a:chExt cx="1097280" cy="1097280"/>
          </a:xfrm>
        </p:grpSpPr>
        <p:sp>
          <p:nvSpPr>
            <p:cNvPr name="Freeform 68" id="68"/>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9C0D3"/>
            </a:solidFill>
          </p:spPr>
          <p:txBody>
            <a:bodyPr/>
            <a:p/>
          </p:txBody>
        </p:sp>
      </p:grpSp>
      <p:grpSp>
        <p:nvGrpSpPr>
          <p:cNvPr name="Group 69" id="69"/>
          <p:cNvGrpSpPr/>
          <p:nvPr/>
        </p:nvGrpSpPr>
        <p:grpSpPr>
          <a:xfrm rot="0">
            <a:off x="15197328" y="3086100"/>
            <a:ext cx="822960" cy="822960"/>
            <a:chOff x="0" y="0"/>
            <a:chExt cx="1097280" cy="1097280"/>
          </a:xfrm>
        </p:grpSpPr>
        <p:sp>
          <p:nvSpPr>
            <p:cNvPr name="Freeform 70" id="70"/>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txBody>
            <a:bodyPr/>
            <a:p/>
          </p:txBody>
        </p:sp>
      </p:grpSp>
      <p:grpSp>
        <p:nvGrpSpPr>
          <p:cNvPr name="Group 71" id="71"/>
          <p:cNvGrpSpPr/>
          <p:nvPr/>
        </p:nvGrpSpPr>
        <p:grpSpPr>
          <a:xfrm rot="0">
            <a:off x="15197328" y="3057525"/>
            <a:ext cx="822960" cy="851535"/>
            <a:chOff x="0" y="0"/>
            <a:chExt cx="1097280" cy="1135380"/>
          </a:xfrm>
        </p:grpSpPr>
        <p:sp>
          <p:nvSpPr>
            <p:cNvPr name="Freeform 72" id="72"/>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758" t="0" r="-82758" b="0"/>
              </a:stretch>
            </a:blipFill>
          </p:spPr>
          <p:txBody>
            <a:bodyPr/>
            <a:p/>
          </p:txBody>
        </p:sp>
        <p:sp>
          <p:nvSpPr>
            <p:cNvPr name="TextBox 73" id="73"/>
            <p:cNvSpPr txBox="true"/>
            <p:nvPr/>
          </p:nvSpPr>
          <p:spPr>
            <a:xfrm>
              <a:off x="0" y="-38100"/>
              <a:ext cx="109728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6</a:t>
              </a:r>
            </a:p>
          </p:txBody>
        </p:sp>
      </p:grpSp>
      <p:sp>
        <p:nvSpPr>
          <p:cNvPr name="TextBox 74" id="74"/>
          <p:cNvSpPr txBox="true"/>
          <p:nvPr/>
        </p:nvSpPr>
        <p:spPr>
          <a:xfrm rot="0">
            <a:off x="15197328" y="4175760"/>
            <a:ext cx="2057400" cy="1104900"/>
          </a:xfrm>
          <a:prstGeom prst="rect">
            <a:avLst/>
          </a:prstGeom>
        </p:spPr>
        <p:txBody>
          <a:bodyPr anchor="t" rtlCol="false" tIns="0" lIns="0" bIns="0" rIns="0">
            <a:spAutoFit/>
          </a:bodyPr>
          <a:lstStyle/>
          <a:p>
            <a:pPr algn="l">
              <a:lnSpc>
                <a:spcPts val="2878"/>
              </a:lnSpc>
            </a:pPr>
            <a:r>
              <a:rPr lang="en-US" sz="1900" b="true">
                <a:solidFill>
                  <a:srgbClr val="0B5E6E"/>
                </a:solidFill>
                <a:latin typeface="Calibri (MS) Bold"/>
                <a:ea typeface="Calibri (MS) Bold"/>
                <a:cs typeface="Calibri (MS) Bold"/>
                <a:sym typeface="Calibri (MS) Bold"/>
              </a:rPr>
              <a:t>Penutup</a:t>
            </a:r>
          </a:p>
        </p:txBody>
      </p:sp>
      <p:sp>
        <p:nvSpPr>
          <p:cNvPr name="TextBox 75" id="75"/>
          <p:cNvSpPr txBox="true"/>
          <p:nvPr/>
        </p:nvSpPr>
        <p:spPr>
          <a:xfrm rot="0">
            <a:off x="15197328" y="5273040"/>
            <a:ext cx="2057400" cy="14478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Diskusi, keterbatasan, kesimpulan, saran</a:t>
            </a:r>
          </a:p>
        </p:txBody>
      </p:sp>
      <p:sp>
        <p:nvSpPr>
          <p:cNvPr name="TextBox 76" id="76"/>
          <p:cNvSpPr txBox="true"/>
          <p:nvPr/>
        </p:nvSpPr>
        <p:spPr>
          <a:xfrm rot="0">
            <a:off x="822960" y="7585710"/>
            <a:ext cx="16637508" cy="643890"/>
          </a:xfrm>
          <a:prstGeom prst="rect">
            <a:avLst/>
          </a:prstGeom>
        </p:spPr>
        <p:txBody>
          <a:bodyPr anchor="t" rtlCol="false" tIns="0" lIns="0" bIns="0" rIns="0">
            <a:spAutoFit/>
          </a:bodyPr>
          <a:lstStyle/>
          <a:p>
            <a:pPr algn="l">
              <a:lnSpc>
                <a:spcPts val="2340"/>
              </a:lnSpc>
            </a:pPr>
            <a:r>
              <a:rPr lang="en-US" sz="1950">
                <a:solidFill>
                  <a:srgbClr val="5E6E78"/>
                </a:solidFill>
                <a:latin typeface="Calibri (MS)"/>
                <a:ea typeface="Calibri (MS)"/>
                <a:cs typeface="Calibri (MS)"/>
                <a:sym typeface="Calibri (MS)"/>
              </a:rPr>
              <a:t>Pola setiap tujuan: metode → hasil → makna → ringkasan hasil tujuan.  Lampiran: parameter · persamaan · data historis · citra · uji struktur · uji perilaku · kalibrasi · sensitivitas · KPI</a:t>
            </a:r>
          </a:p>
        </p:txBody>
      </p:sp>
      <p:sp>
        <p:nvSpPr>
          <p:cNvPr name="TextBox 77" id="7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a:t>
            </a:r>
          </a:p>
        </p:txBody>
      </p:sp>
      <p:sp>
        <p:nvSpPr>
          <p:cNvPr id="78"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
        <p:nvSpPr>
          <p:cNvPr id="79" name="Oval 78"/>
          <p:cNvSpPr/>
          <p:nvPr/>
        </p:nvSpPr>
        <p:spPr>
          <a:xfrm>
            <a:off x="822960" y="854964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
        <p:nvSpPr>
          <p:cNvPr id="80" name="TextBox 79"/>
          <p:cNvSpPr txBox="1"/>
          <p:nvPr/>
        </p:nvSpPr>
        <p:spPr>
          <a:xfrm>
            <a:off x="1371600" y="8577072"/>
            <a:ext cx="5943600" cy="411480"/>
          </a:xfrm>
          <a:prstGeom prst="rect">
            <a:avLst/>
          </a:prstGeom>
          <a:noFill/>
        </p:spPr>
        <p:txBody>
          <a:bodyPr wrap="square" anchor="t" lIns="0" rIns="0" tIns="0" bIns="0">
            <a:spAutoFit/>
          </a:bodyPr>
          <a:lstStyle/>
          <a:p>
            <a:pPr algn="l">
              <a:spcAft>
                <a:spcPts val="400"/>
              </a:spcAft>
            </a:pPr>
            <a:r>
              <a:rPr sz="1720" b="0" i="0">
                <a:solidFill>
                  <a:srgbClr val="14313B"/>
                </a:solidFill>
                <a:latin typeface="Calibri (MS)"/>
              </a:rPr>
              <a:t>Wajib dijelaskan — inti argumen</a:t>
            </a:r>
          </a:p>
        </p:txBody>
      </p:sp>
      <p:sp>
        <p:nvSpPr>
          <p:cNvPr id="81" name="Oval 80"/>
          <p:cNvSpPr/>
          <p:nvPr/>
        </p:nvSpPr>
        <p:spPr>
          <a:xfrm>
            <a:off x="6583680" y="854964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
        <p:nvSpPr>
          <p:cNvPr id="82" name="TextBox 81"/>
          <p:cNvSpPr txBox="1"/>
          <p:nvPr/>
        </p:nvSpPr>
        <p:spPr>
          <a:xfrm>
            <a:off x="7132320" y="8577072"/>
            <a:ext cx="5943600" cy="411480"/>
          </a:xfrm>
          <a:prstGeom prst="rect">
            <a:avLst/>
          </a:prstGeom>
          <a:noFill/>
        </p:spPr>
        <p:txBody>
          <a:bodyPr wrap="square" anchor="t" lIns="0" rIns="0" tIns="0" bIns="0">
            <a:spAutoFit/>
          </a:bodyPr>
          <a:lstStyle/>
          <a:p>
            <a:pPr algn="l">
              <a:spcAft>
                <a:spcPts val="400"/>
              </a:spcAft>
            </a:pPr>
            <a:r>
              <a:rPr sz="1720" b="0" i="0">
                <a:solidFill>
                  <a:srgbClr val="14313B"/>
                </a:solidFill>
                <a:latin typeface="Calibri (MS)"/>
              </a:rPr>
              <a:t>Sebut singkat — cukup takeaway (15–30 detik)</a:t>
            </a:r>
          </a:p>
        </p:txBody>
      </p:sp>
      <p:sp>
        <p:nvSpPr>
          <p:cNvPr id="83" name="TextBox 82"/>
          <p:cNvSpPr txBox="1"/>
          <p:nvPr/>
        </p:nvSpPr>
        <p:spPr>
          <a:xfrm>
            <a:off x="12435840" y="8577072"/>
            <a:ext cx="5029200" cy="411480"/>
          </a:xfrm>
          <a:prstGeom prst="rect">
            <a:avLst/>
          </a:prstGeom>
          <a:noFill/>
        </p:spPr>
        <p:txBody>
          <a:bodyPr wrap="square" anchor="t" lIns="0" rIns="0" tIns="0" bIns="0">
            <a:spAutoFit/>
          </a:bodyPr>
          <a:lstStyle/>
          <a:p>
            <a:pPr algn="l">
              <a:spcAft>
                <a:spcPts val="400"/>
              </a:spcAft>
            </a:pPr>
            <a:r>
              <a:rPr sz="1490" b="0" i="1">
                <a:solidFill>
                  <a:srgbClr val="5E6E78"/>
                </a:solidFill>
                <a:latin typeface="Calibri (MS)"/>
              </a:rPr>
              <a:t>Penanda ada di pojok kanan bawah setiap slide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1.1 · Latar Belakang</a:t>
            </a:r>
          </a:p>
          <a:p>
            <a:pPr algn="l">
              <a:lnSpc>
                <a:spcPct val="100000"/>
              </a:lnSpc>
            </a:pPr>
            <a:r>
              <a:rPr lang="en-US" sz="3500" b="true">
                <a:solidFill>
                  <a:srgbClr val="0B5E6E"/>
                </a:solidFill>
                <a:latin typeface="Calibri (MS) Bold"/>
                <a:ea typeface="Calibri (MS) Bold"/>
                <a:cs typeface="Calibri (MS) Bold"/>
                <a:sym typeface="Calibri (MS) Bold"/>
              </a:rPr>
              <a:t>Pariwisata adalah sektor strategis yang terus tumbuh</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1884045"/>
            <a:ext cx="822960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Proyeksi CAGR nilai tambah bruto 5 tahun ke depan (%)</a:t>
            </a:r>
          </a:p>
        </p:txBody>
      </p:sp>
      <p:grpSp>
        <p:nvGrpSpPr>
          <p:cNvPr name="Group 53" id="53"/>
          <p:cNvGrpSpPr/>
          <p:nvPr/>
        </p:nvGrpSpPr>
        <p:grpSpPr>
          <a:xfrm rot="0">
            <a:off x="-60074" y="1576321"/>
            <a:ext cx="10596429" cy="7790183"/>
            <a:chOff x="0" y="0"/>
            <a:chExt cx="14128572" cy="10386911"/>
          </a:xfrm>
        </p:grpSpPr>
        <p:sp>
          <p:nvSpPr>
            <p:cNvPr name="Freeform 54" id="54"/>
            <p:cNvSpPr/>
            <p:nvPr/>
          </p:nvSpPr>
          <p:spPr>
            <a:xfrm flipH="false" flipV="false" rot="0">
              <a:off x="0" y="0"/>
              <a:ext cx="14128623" cy="10386949"/>
            </a:xfrm>
            <a:custGeom>
              <a:avLst/>
              <a:gdLst/>
              <a:ahLst/>
              <a:cxnLst/>
              <a:rect r="r" b="b" t="t" l="l"/>
              <a:pathLst>
                <a:path h="10386949" w="14128623">
                  <a:moveTo>
                    <a:pt x="0" y="0"/>
                  </a:moveTo>
                  <a:lnTo>
                    <a:pt x="14128623" y="0"/>
                  </a:lnTo>
                  <a:lnTo>
                    <a:pt x="14128623" y="10386949"/>
                  </a:lnTo>
                  <a:lnTo>
                    <a:pt x="0" y="10386949"/>
                  </a:lnTo>
                  <a:lnTo>
                    <a:pt x="0" y="0"/>
                  </a:lnTo>
                  <a:close/>
                </a:path>
              </a:pathLst>
            </a:custGeom>
            <a:blipFill>
              <a:blip r:embed="rId6"/>
              <a:stretch>
                <a:fillRect l="0" t="-30" r="0" b="-29"/>
              </a:stretch>
            </a:blipFill>
          </p:spPr>
        </p:sp>
      </p:grpSp>
      <p:sp>
        <p:nvSpPr>
          <p:cNvPr name="TextBox 55" id="55"/>
          <p:cNvSpPr txBox="true"/>
          <p:nvPr/>
        </p:nvSpPr>
        <p:spPr>
          <a:xfrm rot="0">
            <a:off x="822960" y="8671560"/>
            <a:ext cx="8229600" cy="449580"/>
          </a:xfrm>
          <a:prstGeom prst="rect">
            <a:avLst/>
          </a:prstGeom>
        </p:spPr>
        <p:txBody>
          <a:bodyPr anchor="t" rtlCol="false" tIns="0" lIns="0" bIns="0" rIns="0">
            <a:spAutoFit/>
          </a:bodyPr>
          <a:lstStyle/>
          <a:p>
            <a:pPr algn="l">
              <a:lnSpc>
                <a:spcPts val="1889"/>
              </a:lnSpc>
            </a:pPr>
            <a:r>
              <a:rPr lang="en-US" sz="1575">
                <a:solidFill>
                  <a:srgbClr val="5E6E78"/>
                </a:solidFill>
                <a:latin typeface="Calibri (MS)"/>
                <a:ea typeface="Calibri (MS)"/>
                <a:cs typeface="Calibri (MS)"/>
                <a:sym typeface="Calibri (MS)"/>
              </a:rPr>
              <a:t>Sumber: WTTC dalam Statista</a:t>
            </a:r>
          </a:p>
        </p:txBody>
      </p:sp>
      <p:grpSp>
        <p:nvGrpSpPr>
          <p:cNvPr name="Group 56" id="56"/>
          <p:cNvGrpSpPr/>
          <p:nvPr/>
        </p:nvGrpSpPr>
        <p:grpSpPr>
          <a:xfrm rot="0">
            <a:off x="9780365" y="2199132"/>
            <a:ext cx="3652771" cy="3011243"/>
            <a:chOff x="0" y="0"/>
            <a:chExt cx="4870361" cy="4014991"/>
          </a:xfrm>
        </p:grpSpPr>
        <p:sp>
          <p:nvSpPr>
            <p:cNvPr name="Freeform 57" id="57"/>
            <p:cNvSpPr/>
            <p:nvPr/>
          </p:nvSpPr>
          <p:spPr>
            <a:xfrm flipH="false" flipV="false" rot="0">
              <a:off x="0" y="0"/>
              <a:ext cx="4870450" cy="4015105"/>
            </a:xfrm>
            <a:custGeom>
              <a:avLst/>
              <a:gdLst/>
              <a:ahLst/>
              <a:cxnLst/>
              <a:rect r="r" b="b" t="t" l="l"/>
              <a:pathLst>
                <a:path h="4015105" w="4870450">
                  <a:moveTo>
                    <a:pt x="0" y="174625"/>
                  </a:moveTo>
                  <a:cubicBezTo>
                    <a:pt x="0" y="78232"/>
                    <a:pt x="78232" y="0"/>
                    <a:pt x="174625" y="0"/>
                  </a:cubicBezTo>
                  <a:lnTo>
                    <a:pt x="4695825" y="0"/>
                  </a:lnTo>
                  <a:cubicBezTo>
                    <a:pt x="4792218" y="0"/>
                    <a:pt x="4870450" y="78232"/>
                    <a:pt x="4870450" y="174625"/>
                  </a:cubicBezTo>
                  <a:lnTo>
                    <a:pt x="4870450" y="3840480"/>
                  </a:lnTo>
                  <a:cubicBezTo>
                    <a:pt x="4870450" y="3936873"/>
                    <a:pt x="4792218" y="4015105"/>
                    <a:pt x="4695825" y="4015105"/>
                  </a:cubicBezTo>
                  <a:lnTo>
                    <a:pt x="174625" y="4015105"/>
                  </a:lnTo>
                  <a:cubicBezTo>
                    <a:pt x="78232" y="4014978"/>
                    <a:pt x="0" y="3936746"/>
                    <a:pt x="0" y="3840480"/>
                  </a:cubicBezTo>
                  <a:close/>
                </a:path>
              </a:pathLst>
            </a:custGeom>
            <a:solidFill>
              <a:srgbClr val="EAF8FA"/>
            </a:solidFill>
          </p:spPr>
        </p:sp>
      </p:grpSp>
      <p:sp>
        <p:nvSpPr>
          <p:cNvPr name="TextBox 58" id="58"/>
          <p:cNvSpPr txBox="true"/>
          <p:nvPr/>
        </p:nvSpPr>
        <p:spPr>
          <a:xfrm rot="0">
            <a:off x="10042217" y="2388365"/>
            <a:ext cx="3142164" cy="360645"/>
          </a:xfrm>
          <a:prstGeom prst="rect">
            <a:avLst/>
          </a:prstGeom>
        </p:spPr>
        <p:txBody>
          <a:bodyPr anchor="t" rtlCol="false" tIns="0" lIns="0" bIns="0" rIns="0">
            <a:spAutoFit/>
          </a:bodyPr>
          <a:lstStyle/>
          <a:p>
            <a:pPr algn="l">
              <a:lnSpc>
                <a:spcPts val="1889"/>
              </a:lnSpc>
            </a:pPr>
            <a:r>
              <a:rPr lang="en-US" sz="1574" b="true">
                <a:solidFill>
                  <a:srgbClr val="5E6E78"/>
                </a:solidFill>
                <a:latin typeface="Calibri (MS) Bold"/>
                <a:ea typeface="Calibri (MS) Bold"/>
                <a:cs typeface="Calibri (MS) Bold"/>
                <a:sym typeface="Calibri (MS) Bold"/>
              </a:rPr>
              <a:t>DUNIA</a:t>
            </a:r>
          </a:p>
        </p:txBody>
      </p:sp>
      <p:grpSp>
        <p:nvGrpSpPr>
          <p:cNvPr name="Group 59" id="59"/>
          <p:cNvGrpSpPr/>
          <p:nvPr/>
        </p:nvGrpSpPr>
        <p:grpSpPr>
          <a:xfrm rot="0">
            <a:off x="10042217" y="2788291"/>
            <a:ext cx="3142164" cy="916467"/>
            <a:chOff x="0" y="0"/>
            <a:chExt cx="4189552" cy="1221956"/>
          </a:xfrm>
        </p:grpSpPr>
        <p:sp>
          <p:nvSpPr>
            <p:cNvPr name="Freeform 60" id="60"/>
            <p:cNvSpPr/>
            <p:nvPr/>
          </p:nvSpPr>
          <p:spPr>
            <a:xfrm flipH="false" flipV="false" rot="0">
              <a:off x="0" y="0"/>
              <a:ext cx="4189603" cy="1221994"/>
            </a:xfrm>
            <a:custGeom>
              <a:avLst/>
              <a:gdLst/>
              <a:ahLst/>
              <a:cxnLst/>
              <a:rect r="r" b="b" t="t" l="l"/>
              <a:pathLst>
                <a:path h="1221994" w="4189603">
                  <a:moveTo>
                    <a:pt x="0" y="0"/>
                  </a:moveTo>
                  <a:lnTo>
                    <a:pt x="4189603" y="0"/>
                  </a:lnTo>
                  <a:lnTo>
                    <a:pt x="4189603" y="1221994"/>
                  </a:lnTo>
                  <a:lnTo>
                    <a:pt x="0" y="1221994"/>
                  </a:lnTo>
                  <a:close/>
                </a:path>
              </a:pathLst>
            </a:custGeom>
            <a:blipFill>
              <a:blip r:embed="rId4">
                <a:alphaModFix amt="0"/>
              </a:blip>
              <a:stretch>
                <a:fillRect l="0" t="-16758" r="1" b="-16755"/>
              </a:stretch>
            </a:blipFill>
          </p:spPr>
        </p:sp>
      </p:grpSp>
      <p:grpSp>
        <p:nvGrpSpPr>
          <p:cNvPr name="Group 61" id="61"/>
          <p:cNvGrpSpPr/>
          <p:nvPr/>
        </p:nvGrpSpPr>
        <p:grpSpPr>
          <a:xfrm rot="0">
            <a:off x="10042217" y="2726922"/>
            <a:ext cx="3142164" cy="977836"/>
            <a:chOff x="0" y="0"/>
            <a:chExt cx="4189552" cy="1303782"/>
          </a:xfrm>
        </p:grpSpPr>
        <p:sp>
          <p:nvSpPr>
            <p:cNvPr name="Freeform 62" id="62"/>
            <p:cNvSpPr/>
            <p:nvPr/>
          </p:nvSpPr>
          <p:spPr>
            <a:xfrm flipH="false" flipV="false" rot="0">
              <a:off x="0" y="0"/>
              <a:ext cx="4189554" cy="1303780"/>
            </a:xfrm>
            <a:custGeom>
              <a:avLst/>
              <a:gdLst/>
              <a:ahLst/>
              <a:cxnLst/>
              <a:rect r="r" b="b" t="t" l="l"/>
              <a:pathLst>
                <a:path h="1303780" w="4189554">
                  <a:moveTo>
                    <a:pt x="0" y="0"/>
                  </a:moveTo>
                  <a:lnTo>
                    <a:pt x="4189554" y="0"/>
                  </a:lnTo>
                  <a:lnTo>
                    <a:pt x="4189554" y="1303780"/>
                  </a:lnTo>
                  <a:lnTo>
                    <a:pt x="0" y="1303780"/>
                  </a:lnTo>
                  <a:close/>
                </a:path>
              </a:pathLst>
            </a:custGeom>
            <a:blipFill>
              <a:blip r:embed="rId5">
                <a:alphaModFix amt="0"/>
              </a:blip>
              <a:stretch>
                <a:fillRect l="0" t="-12612" r="0" b="-12613"/>
              </a:stretch>
            </a:blipFill>
          </p:spPr>
        </p:sp>
        <p:sp>
          <p:nvSpPr>
            <p:cNvPr name="TextBox 63" id="63"/>
            <p:cNvSpPr txBox="true"/>
            <p:nvPr/>
          </p:nvSpPr>
          <p:spPr>
            <a:xfrm>
              <a:off x="0" y="-85725"/>
              <a:ext cx="4189552" cy="1389507"/>
            </a:xfrm>
            <a:prstGeom prst="rect">
              <a:avLst/>
            </a:prstGeom>
          </p:spPr>
          <p:txBody>
            <a:bodyPr anchor="ctr" rtlCol="false" tIns="0" lIns="0" bIns="0" rIns="0"/>
            <a:lstStyle/>
            <a:p>
              <a:pPr algn="l">
                <a:lnSpc>
                  <a:spcPts val="5398"/>
                </a:lnSpc>
              </a:pPr>
              <a:r>
                <a:rPr lang="en-US" sz="4499" b="true">
                  <a:solidFill>
                    <a:srgbClr val="0B5E6E"/>
                  </a:solidFill>
                  <a:latin typeface="Calibri (MS) Bold"/>
                  <a:ea typeface="Calibri (MS) Bold"/>
                  <a:cs typeface="Calibri (MS) Bold"/>
                  <a:sym typeface="Calibri (MS) Bold"/>
                </a:rPr>
                <a:t>1,53 miliar</a:t>
              </a:r>
            </a:p>
          </p:txBody>
        </p:sp>
      </p:grpSp>
      <p:sp>
        <p:nvSpPr>
          <p:cNvPr name="TextBox 64" id="64"/>
          <p:cNvSpPr txBox="true"/>
          <p:nvPr/>
        </p:nvSpPr>
        <p:spPr>
          <a:xfrm rot="0">
            <a:off x="10042217" y="3769004"/>
            <a:ext cx="3142164" cy="1310450"/>
          </a:xfrm>
          <a:prstGeom prst="rect">
            <a:avLst/>
          </a:prstGeom>
        </p:spPr>
        <p:txBody>
          <a:bodyPr anchor="t" rtlCol="false" tIns="0" lIns="0" bIns="0" rIns="0">
            <a:spAutoFit/>
          </a:bodyPr>
          <a:lstStyle/>
          <a:p>
            <a:pPr algn="l">
              <a:lnSpc>
                <a:spcPts val="2146"/>
              </a:lnSpc>
            </a:pPr>
            <a:r>
              <a:rPr lang="en-US" sz="1788">
                <a:solidFill>
                  <a:srgbClr val="14313B"/>
                </a:solidFill>
                <a:latin typeface="Calibri (MS)"/>
                <a:ea typeface="Calibri (MS)"/>
                <a:cs typeface="Calibri (MS)"/>
                <a:sym typeface="Calibri (MS)"/>
              </a:rPr>
              <a:t>wisatawan internasional pada 2025 (UN Tourism)</a:t>
            </a:r>
          </a:p>
        </p:txBody>
      </p:sp>
      <p:grpSp>
        <p:nvGrpSpPr>
          <p:cNvPr name="Group 65" id="65"/>
          <p:cNvGrpSpPr/>
          <p:nvPr/>
        </p:nvGrpSpPr>
        <p:grpSpPr>
          <a:xfrm rot="0">
            <a:off x="13694978" y="2199132"/>
            <a:ext cx="3652771" cy="3011243"/>
            <a:chOff x="0" y="0"/>
            <a:chExt cx="4870361" cy="4014991"/>
          </a:xfrm>
        </p:grpSpPr>
        <p:sp>
          <p:nvSpPr>
            <p:cNvPr name="Freeform 66" id="66"/>
            <p:cNvSpPr/>
            <p:nvPr/>
          </p:nvSpPr>
          <p:spPr>
            <a:xfrm flipH="false" flipV="false" rot="0">
              <a:off x="0" y="0"/>
              <a:ext cx="4870450" cy="4015105"/>
            </a:xfrm>
            <a:custGeom>
              <a:avLst/>
              <a:gdLst/>
              <a:ahLst/>
              <a:cxnLst/>
              <a:rect r="r" b="b" t="t" l="l"/>
              <a:pathLst>
                <a:path h="4015105" w="4870450">
                  <a:moveTo>
                    <a:pt x="0" y="174625"/>
                  </a:moveTo>
                  <a:cubicBezTo>
                    <a:pt x="0" y="78232"/>
                    <a:pt x="78232" y="0"/>
                    <a:pt x="174625" y="0"/>
                  </a:cubicBezTo>
                  <a:lnTo>
                    <a:pt x="4695825" y="0"/>
                  </a:lnTo>
                  <a:cubicBezTo>
                    <a:pt x="4792218" y="0"/>
                    <a:pt x="4870450" y="78232"/>
                    <a:pt x="4870450" y="174625"/>
                  </a:cubicBezTo>
                  <a:lnTo>
                    <a:pt x="4870450" y="3840480"/>
                  </a:lnTo>
                  <a:cubicBezTo>
                    <a:pt x="4870450" y="3936873"/>
                    <a:pt x="4792218" y="4015105"/>
                    <a:pt x="4695825" y="4015105"/>
                  </a:cubicBezTo>
                  <a:lnTo>
                    <a:pt x="174625" y="4015105"/>
                  </a:lnTo>
                  <a:cubicBezTo>
                    <a:pt x="78232" y="4014978"/>
                    <a:pt x="0" y="3936746"/>
                    <a:pt x="0" y="3840480"/>
                  </a:cubicBezTo>
                  <a:close/>
                </a:path>
              </a:pathLst>
            </a:custGeom>
            <a:solidFill>
              <a:srgbClr val="EAF8FA"/>
            </a:solidFill>
          </p:spPr>
        </p:sp>
      </p:grpSp>
      <p:sp>
        <p:nvSpPr>
          <p:cNvPr name="TextBox 67" id="67"/>
          <p:cNvSpPr txBox="true"/>
          <p:nvPr/>
        </p:nvSpPr>
        <p:spPr>
          <a:xfrm rot="0">
            <a:off x="13956830" y="2388365"/>
            <a:ext cx="3142164" cy="360645"/>
          </a:xfrm>
          <a:prstGeom prst="rect">
            <a:avLst/>
          </a:prstGeom>
        </p:spPr>
        <p:txBody>
          <a:bodyPr anchor="t" rtlCol="false" tIns="0" lIns="0" bIns="0" rIns="0">
            <a:spAutoFit/>
          </a:bodyPr>
          <a:lstStyle/>
          <a:p>
            <a:pPr algn="l">
              <a:lnSpc>
                <a:spcPts val="1889"/>
              </a:lnSpc>
            </a:pPr>
            <a:r>
              <a:rPr lang="en-US" sz="1574" b="true">
                <a:solidFill>
                  <a:srgbClr val="5E6E78"/>
                </a:solidFill>
                <a:latin typeface="Calibri (MS) Bold"/>
                <a:ea typeface="Calibri (MS) Bold"/>
                <a:cs typeface="Calibri (MS) Bold"/>
                <a:sym typeface="Calibri (MS) Bold"/>
              </a:rPr>
              <a:t>DUNIA</a:t>
            </a:r>
          </a:p>
        </p:txBody>
      </p:sp>
      <p:grpSp>
        <p:nvGrpSpPr>
          <p:cNvPr name="Group 68" id="68"/>
          <p:cNvGrpSpPr/>
          <p:nvPr/>
        </p:nvGrpSpPr>
        <p:grpSpPr>
          <a:xfrm rot="0">
            <a:off x="13956830" y="2788291"/>
            <a:ext cx="3142164" cy="916467"/>
            <a:chOff x="0" y="0"/>
            <a:chExt cx="4189552" cy="1221956"/>
          </a:xfrm>
        </p:grpSpPr>
        <p:sp>
          <p:nvSpPr>
            <p:cNvPr name="Freeform 69" id="69"/>
            <p:cNvSpPr/>
            <p:nvPr/>
          </p:nvSpPr>
          <p:spPr>
            <a:xfrm flipH="false" flipV="false" rot="0">
              <a:off x="0" y="0"/>
              <a:ext cx="4189603" cy="1221994"/>
            </a:xfrm>
            <a:custGeom>
              <a:avLst/>
              <a:gdLst/>
              <a:ahLst/>
              <a:cxnLst/>
              <a:rect r="r" b="b" t="t" l="l"/>
              <a:pathLst>
                <a:path h="1221994" w="4189603">
                  <a:moveTo>
                    <a:pt x="0" y="0"/>
                  </a:moveTo>
                  <a:lnTo>
                    <a:pt x="4189603" y="0"/>
                  </a:lnTo>
                  <a:lnTo>
                    <a:pt x="4189603" y="1221994"/>
                  </a:lnTo>
                  <a:lnTo>
                    <a:pt x="0" y="1221994"/>
                  </a:lnTo>
                  <a:close/>
                </a:path>
              </a:pathLst>
            </a:custGeom>
            <a:blipFill>
              <a:blip r:embed="rId4">
                <a:alphaModFix amt="0"/>
              </a:blip>
              <a:stretch>
                <a:fillRect l="0" t="-16758" r="1" b="-16755"/>
              </a:stretch>
            </a:blipFill>
          </p:spPr>
        </p:sp>
      </p:grpSp>
      <p:grpSp>
        <p:nvGrpSpPr>
          <p:cNvPr name="Group 70" id="70"/>
          <p:cNvGrpSpPr/>
          <p:nvPr/>
        </p:nvGrpSpPr>
        <p:grpSpPr>
          <a:xfrm rot="0">
            <a:off x="13956830" y="2726922"/>
            <a:ext cx="3142164" cy="977836"/>
            <a:chOff x="0" y="0"/>
            <a:chExt cx="4189552" cy="1303782"/>
          </a:xfrm>
        </p:grpSpPr>
        <p:sp>
          <p:nvSpPr>
            <p:cNvPr name="Freeform 71" id="71"/>
            <p:cNvSpPr/>
            <p:nvPr/>
          </p:nvSpPr>
          <p:spPr>
            <a:xfrm flipH="false" flipV="false" rot="0">
              <a:off x="0" y="0"/>
              <a:ext cx="4189554" cy="1303780"/>
            </a:xfrm>
            <a:custGeom>
              <a:avLst/>
              <a:gdLst/>
              <a:ahLst/>
              <a:cxnLst/>
              <a:rect r="r" b="b" t="t" l="l"/>
              <a:pathLst>
                <a:path h="1303780" w="4189554">
                  <a:moveTo>
                    <a:pt x="0" y="0"/>
                  </a:moveTo>
                  <a:lnTo>
                    <a:pt x="4189554" y="0"/>
                  </a:lnTo>
                  <a:lnTo>
                    <a:pt x="4189554" y="1303780"/>
                  </a:lnTo>
                  <a:lnTo>
                    <a:pt x="0" y="1303780"/>
                  </a:lnTo>
                  <a:close/>
                </a:path>
              </a:pathLst>
            </a:custGeom>
            <a:blipFill>
              <a:blip r:embed="rId5">
                <a:alphaModFix amt="0"/>
              </a:blip>
              <a:stretch>
                <a:fillRect l="0" t="-12612" r="0" b="-12613"/>
              </a:stretch>
            </a:blipFill>
          </p:spPr>
        </p:sp>
        <p:sp>
          <p:nvSpPr>
            <p:cNvPr name="TextBox 72" id="72"/>
            <p:cNvSpPr txBox="true"/>
            <p:nvPr/>
          </p:nvSpPr>
          <p:spPr>
            <a:xfrm>
              <a:off x="0" y="-85725"/>
              <a:ext cx="4189552" cy="1389507"/>
            </a:xfrm>
            <a:prstGeom prst="rect">
              <a:avLst/>
            </a:prstGeom>
          </p:spPr>
          <p:txBody>
            <a:bodyPr anchor="ctr" rtlCol="false" tIns="0" lIns="0" bIns="0" rIns="0"/>
            <a:lstStyle/>
            <a:p>
              <a:pPr algn="l">
                <a:lnSpc>
                  <a:spcPts val="5398"/>
                </a:lnSpc>
              </a:pPr>
              <a:r>
                <a:rPr lang="en-US" sz="4499" b="true">
                  <a:solidFill>
                    <a:srgbClr val="0B5E6E"/>
                  </a:solidFill>
                  <a:latin typeface="Calibri (MS) Bold"/>
                  <a:ea typeface="Calibri (MS) Bold"/>
                  <a:cs typeface="Calibri (MS) Bold"/>
                  <a:sym typeface="Calibri (MS) Bold"/>
                </a:rPr>
                <a:t>10%</a:t>
              </a:r>
            </a:p>
          </p:txBody>
        </p:sp>
      </p:grpSp>
      <p:sp>
        <p:nvSpPr>
          <p:cNvPr name="TextBox 73" id="73"/>
          <p:cNvSpPr txBox="true"/>
          <p:nvPr/>
        </p:nvSpPr>
        <p:spPr>
          <a:xfrm rot="0">
            <a:off x="13956830" y="3769004"/>
            <a:ext cx="3142164" cy="1310450"/>
          </a:xfrm>
          <a:prstGeom prst="rect">
            <a:avLst/>
          </a:prstGeom>
        </p:spPr>
        <p:txBody>
          <a:bodyPr anchor="t" rtlCol="false" tIns="0" lIns="0" bIns="0" rIns="0">
            <a:spAutoFit/>
          </a:bodyPr>
          <a:lstStyle/>
          <a:p>
            <a:pPr algn="l">
              <a:lnSpc>
                <a:spcPts val="2146"/>
              </a:lnSpc>
            </a:pPr>
            <a:r>
              <a:rPr lang="en-US" sz="1788">
                <a:solidFill>
                  <a:srgbClr val="14313B"/>
                </a:solidFill>
                <a:latin typeface="Calibri (MS)"/>
                <a:ea typeface="Calibri (MS)"/>
                <a:cs typeface="Calibri (MS)"/>
                <a:sym typeface="Calibri (MS)"/>
              </a:rPr>
              <a:t>kontribusi pariwisata terhadap PDB global 2024 (WTTC)</a:t>
            </a:r>
          </a:p>
        </p:txBody>
      </p:sp>
      <p:grpSp>
        <p:nvGrpSpPr>
          <p:cNvPr name="Group 74" id="74"/>
          <p:cNvGrpSpPr/>
          <p:nvPr/>
        </p:nvGrpSpPr>
        <p:grpSpPr>
          <a:xfrm rot="0">
            <a:off x="9780365" y="5472217"/>
            <a:ext cx="3652771" cy="3011243"/>
            <a:chOff x="0" y="0"/>
            <a:chExt cx="4870361" cy="4014991"/>
          </a:xfrm>
        </p:grpSpPr>
        <p:sp>
          <p:nvSpPr>
            <p:cNvPr name="Freeform 75" id="75"/>
            <p:cNvSpPr/>
            <p:nvPr/>
          </p:nvSpPr>
          <p:spPr>
            <a:xfrm flipH="false" flipV="false" rot="0">
              <a:off x="0" y="0"/>
              <a:ext cx="4870450" cy="4015105"/>
            </a:xfrm>
            <a:custGeom>
              <a:avLst/>
              <a:gdLst/>
              <a:ahLst/>
              <a:cxnLst/>
              <a:rect r="r" b="b" t="t" l="l"/>
              <a:pathLst>
                <a:path h="4015105" w="4870450">
                  <a:moveTo>
                    <a:pt x="0" y="174625"/>
                  </a:moveTo>
                  <a:cubicBezTo>
                    <a:pt x="0" y="78232"/>
                    <a:pt x="78232" y="0"/>
                    <a:pt x="174625" y="0"/>
                  </a:cubicBezTo>
                  <a:lnTo>
                    <a:pt x="4695825" y="0"/>
                  </a:lnTo>
                  <a:cubicBezTo>
                    <a:pt x="4792218" y="0"/>
                    <a:pt x="4870450" y="78232"/>
                    <a:pt x="4870450" y="174625"/>
                  </a:cubicBezTo>
                  <a:lnTo>
                    <a:pt x="4870450" y="3840480"/>
                  </a:lnTo>
                  <a:cubicBezTo>
                    <a:pt x="4870450" y="3936873"/>
                    <a:pt x="4792218" y="4015105"/>
                    <a:pt x="4695825" y="4015105"/>
                  </a:cubicBezTo>
                  <a:lnTo>
                    <a:pt x="174625" y="4015105"/>
                  </a:lnTo>
                  <a:cubicBezTo>
                    <a:pt x="78232" y="4014978"/>
                    <a:pt x="0" y="3936746"/>
                    <a:pt x="0" y="3840480"/>
                  </a:cubicBezTo>
                  <a:close/>
                </a:path>
              </a:pathLst>
            </a:custGeom>
            <a:solidFill>
              <a:srgbClr val="FFF1BF"/>
            </a:solidFill>
          </p:spPr>
        </p:sp>
      </p:grpSp>
      <p:sp>
        <p:nvSpPr>
          <p:cNvPr name="TextBox 76" id="76"/>
          <p:cNvSpPr txBox="true"/>
          <p:nvPr/>
        </p:nvSpPr>
        <p:spPr>
          <a:xfrm rot="0">
            <a:off x="10042217" y="5661450"/>
            <a:ext cx="3142164" cy="269729"/>
          </a:xfrm>
          <a:prstGeom prst="rect">
            <a:avLst/>
          </a:prstGeom>
        </p:spPr>
        <p:txBody>
          <a:bodyPr anchor="t" rtlCol="false" tIns="0" lIns="0" bIns="0" rIns="0">
            <a:spAutoFit/>
          </a:bodyPr>
          <a:lstStyle/>
          <a:p>
            <a:pPr algn="l">
              <a:lnSpc>
                <a:spcPts val="1889"/>
              </a:lnSpc>
            </a:pPr>
            <a:r>
              <a:rPr lang="en-US" sz="1574" b="true">
                <a:solidFill>
                  <a:srgbClr val="5E6E78"/>
                </a:solidFill>
                <a:latin typeface="Calibri (MS) Bold"/>
                <a:ea typeface="Calibri (MS) Bold"/>
                <a:cs typeface="Calibri (MS) Bold"/>
                <a:sym typeface="Calibri (MS) Bold"/>
              </a:rPr>
              <a:t>INDONESIA</a:t>
            </a:r>
          </a:p>
        </p:txBody>
      </p:sp>
      <p:grpSp>
        <p:nvGrpSpPr>
          <p:cNvPr name="Group 77" id="77"/>
          <p:cNvGrpSpPr/>
          <p:nvPr/>
        </p:nvGrpSpPr>
        <p:grpSpPr>
          <a:xfrm rot="0">
            <a:off x="10042217" y="6061377"/>
            <a:ext cx="3142164" cy="916467"/>
            <a:chOff x="0" y="0"/>
            <a:chExt cx="4189552" cy="1221956"/>
          </a:xfrm>
        </p:grpSpPr>
        <p:sp>
          <p:nvSpPr>
            <p:cNvPr name="Freeform 78" id="78"/>
            <p:cNvSpPr/>
            <p:nvPr/>
          </p:nvSpPr>
          <p:spPr>
            <a:xfrm flipH="false" flipV="false" rot="0">
              <a:off x="0" y="0"/>
              <a:ext cx="4189603" cy="1221994"/>
            </a:xfrm>
            <a:custGeom>
              <a:avLst/>
              <a:gdLst/>
              <a:ahLst/>
              <a:cxnLst/>
              <a:rect r="r" b="b" t="t" l="l"/>
              <a:pathLst>
                <a:path h="1221994" w="4189603">
                  <a:moveTo>
                    <a:pt x="0" y="0"/>
                  </a:moveTo>
                  <a:lnTo>
                    <a:pt x="4189603" y="0"/>
                  </a:lnTo>
                  <a:lnTo>
                    <a:pt x="4189603" y="1221994"/>
                  </a:lnTo>
                  <a:lnTo>
                    <a:pt x="0" y="1221994"/>
                  </a:lnTo>
                  <a:close/>
                </a:path>
              </a:pathLst>
            </a:custGeom>
            <a:blipFill>
              <a:blip r:embed="rId4">
                <a:alphaModFix amt="0"/>
              </a:blip>
              <a:stretch>
                <a:fillRect l="0" t="-16758" r="1" b="-16755"/>
              </a:stretch>
            </a:blipFill>
          </p:spPr>
        </p:sp>
      </p:grpSp>
      <p:grpSp>
        <p:nvGrpSpPr>
          <p:cNvPr name="Group 79" id="79"/>
          <p:cNvGrpSpPr/>
          <p:nvPr/>
        </p:nvGrpSpPr>
        <p:grpSpPr>
          <a:xfrm rot="0">
            <a:off x="10042217" y="6000007"/>
            <a:ext cx="3142164" cy="977836"/>
            <a:chOff x="0" y="0"/>
            <a:chExt cx="4189552" cy="1303782"/>
          </a:xfrm>
        </p:grpSpPr>
        <p:sp>
          <p:nvSpPr>
            <p:cNvPr name="Freeform 80" id="80"/>
            <p:cNvSpPr/>
            <p:nvPr/>
          </p:nvSpPr>
          <p:spPr>
            <a:xfrm flipH="false" flipV="false" rot="0">
              <a:off x="0" y="0"/>
              <a:ext cx="4189554" cy="1303780"/>
            </a:xfrm>
            <a:custGeom>
              <a:avLst/>
              <a:gdLst/>
              <a:ahLst/>
              <a:cxnLst/>
              <a:rect r="r" b="b" t="t" l="l"/>
              <a:pathLst>
                <a:path h="1303780" w="4189554">
                  <a:moveTo>
                    <a:pt x="0" y="0"/>
                  </a:moveTo>
                  <a:lnTo>
                    <a:pt x="4189554" y="0"/>
                  </a:lnTo>
                  <a:lnTo>
                    <a:pt x="4189554" y="1303780"/>
                  </a:lnTo>
                  <a:lnTo>
                    <a:pt x="0" y="1303780"/>
                  </a:lnTo>
                  <a:close/>
                </a:path>
              </a:pathLst>
            </a:custGeom>
            <a:blipFill>
              <a:blip r:embed="rId5">
                <a:alphaModFix amt="0"/>
              </a:blip>
              <a:stretch>
                <a:fillRect l="0" t="-12612" r="0" b="-12613"/>
              </a:stretch>
            </a:blipFill>
          </p:spPr>
        </p:sp>
        <p:sp>
          <p:nvSpPr>
            <p:cNvPr name="TextBox 81" id="81"/>
            <p:cNvSpPr txBox="true"/>
            <p:nvPr/>
          </p:nvSpPr>
          <p:spPr>
            <a:xfrm>
              <a:off x="0" y="-85725"/>
              <a:ext cx="4189552" cy="1389507"/>
            </a:xfrm>
            <a:prstGeom prst="rect">
              <a:avLst/>
            </a:prstGeom>
          </p:spPr>
          <p:txBody>
            <a:bodyPr anchor="ctr" rtlCol="false" tIns="0" lIns="0" bIns="0" rIns="0"/>
            <a:lstStyle/>
            <a:p>
              <a:pPr algn="l">
                <a:lnSpc>
                  <a:spcPts val="5398"/>
                </a:lnSpc>
              </a:pPr>
              <a:r>
                <a:rPr lang="en-US" sz="4499" b="true">
                  <a:solidFill>
                    <a:srgbClr val="0B5E6E"/>
                  </a:solidFill>
                  <a:latin typeface="Calibri (MS) Bold"/>
                  <a:ea typeface="Calibri (MS) Bold"/>
                  <a:cs typeface="Calibri (MS) Bold"/>
                  <a:sym typeface="Calibri (MS) Bold"/>
                </a:rPr>
                <a:t>2,2% → 4,9%</a:t>
              </a:r>
            </a:p>
          </p:txBody>
        </p:sp>
      </p:grpSp>
      <p:sp>
        <p:nvSpPr>
          <p:cNvPr name="TextBox 82" id="82"/>
          <p:cNvSpPr txBox="true"/>
          <p:nvPr/>
        </p:nvSpPr>
        <p:spPr>
          <a:xfrm rot="0">
            <a:off x="10042217" y="7042090"/>
            <a:ext cx="3142164" cy="612191"/>
          </a:xfrm>
          <a:prstGeom prst="rect">
            <a:avLst/>
          </a:prstGeom>
        </p:spPr>
        <p:txBody>
          <a:bodyPr anchor="t" rtlCol="false" tIns="0" lIns="0" bIns="0" rIns="0">
            <a:spAutoFit/>
          </a:bodyPr>
          <a:lstStyle/>
          <a:p>
            <a:pPr algn="l">
              <a:lnSpc>
                <a:spcPts val="2146"/>
              </a:lnSpc>
            </a:pPr>
            <a:r>
              <a:rPr lang="en-US" sz="1788">
                <a:solidFill>
                  <a:srgbClr val="14313B"/>
                </a:solidFill>
                <a:latin typeface="Calibri (MS)"/>
                <a:ea typeface="Calibri (MS)"/>
                <a:cs typeface="Calibri (MS)"/>
                <a:sym typeface="Calibri (MS)"/>
              </a:rPr>
              <a:t>kontribusi terhadap PDB, 2020 → 2025</a:t>
            </a:r>
          </a:p>
        </p:txBody>
      </p:sp>
      <p:grpSp>
        <p:nvGrpSpPr>
          <p:cNvPr name="Group 83" id="83"/>
          <p:cNvGrpSpPr/>
          <p:nvPr/>
        </p:nvGrpSpPr>
        <p:grpSpPr>
          <a:xfrm rot="0">
            <a:off x="13694978" y="5472217"/>
            <a:ext cx="3652771" cy="3011243"/>
            <a:chOff x="0" y="0"/>
            <a:chExt cx="4870361" cy="4014991"/>
          </a:xfrm>
        </p:grpSpPr>
        <p:sp>
          <p:nvSpPr>
            <p:cNvPr name="Freeform 84" id="84"/>
            <p:cNvSpPr/>
            <p:nvPr/>
          </p:nvSpPr>
          <p:spPr>
            <a:xfrm flipH="false" flipV="false" rot="0">
              <a:off x="0" y="0"/>
              <a:ext cx="4870450" cy="4015105"/>
            </a:xfrm>
            <a:custGeom>
              <a:avLst/>
              <a:gdLst/>
              <a:ahLst/>
              <a:cxnLst/>
              <a:rect r="r" b="b" t="t" l="l"/>
              <a:pathLst>
                <a:path h="4015105" w="4870450">
                  <a:moveTo>
                    <a:pt x="0" y="174625"/>
                  </a:moveTo>
                  <a:cubicBezTo>
                    <a:pt x="0" y="78232"/>
                    <a:pt x="78232" y="0"/>
                    <a:pt x="174625" y="0"/>
                  </a:cubicBezTo>
                  <a:lnTo>
                    <a:pt x="4695825" y="0"/>
                  </a:lnTo>
                  <a:cubicBezTo>
                    <a:pt x="4792218" y="0"/>
                    <a:pt x="4870450" y="78232"/>
                    <a:pt x="4870450" y="174625"/>
                  </a:cubicBezTo>
                  <a:lnTo>
                    <a:pt x="4870450" y="3840480"/>
                  </a:lnTo>
                  <a:cubicBezTo>
                    <a:pt x="4870450" y="3936873"/>
                    <a:pt x="4792218" y="4015105"/>
                    <a:pt x="4695825" y="4015105"/>
                  </a:cubicBezTo>
                  <a:lnTo>
                    <a:pt x="174625" y="4015105"/>
                  </a:lnTo>
                  <a:cubicBezTo>
                    <a:pt x="78232" y="4014978"/>
                    <a:pt x="0" y="3936746"/>
                    <a:pt x="0" y="3840480"/>
                  </a:cubicBezTo>
                  <a:close/>
                </a:path>
              </a:pathLst>
            </a:custGeom>
            <a:solidFill>
              <a:srgbClr val="FFF1BF"/>
            </a:solidFill>
          </p:spPr>
        </p:sp>
      </p:grpSp>
      <p:sp>
        <p:nvSpPr>
          <p:cNvPr name="TextBox 85" id="85"/>
          <p:cNvSpPr txBox="true"/>
          <p:nvPr/>
        </p:nvSpPr>
        <p:spPr>
          <a:xfrm rot="0">
            <a:off x="13956830" y="5661450"/>
            <a:ext cx="3142164" cy="360645"/>
          </a:xfrm>
          <a:prstGeom prst="rect">
            <a:avLst/>
          </a:prstGeom>
        </p:spPr>
        <p:txBody>
          <a:bodyPr anchor="t" rtlCol="false" tIns="0" lIns="0" bIns="0" rIns="0">
            <a:spAutoFit/>
          </a:bodyPr>
          <a:lstStyle/>
          <a:p>
            <a:pPr algn="l">
              <a:lnSpc>
                <a:spcPts val="1889"/>
              </a:lnSpc>
            </a:pPr>
            <a:r>
              <a:rPr lang="en-US" sz="1574" b="true">
                <a:solidFill>
                  <a:srgbClr val="5E6E78"/>
                </a:solidFill>
                <a:latin typeface="Calibri (MS) Bold"/>
                <a:ea typeface="Calibri (MS) Bold"/>
                <a:cs typeface="Calibri (MS) Bold"/>
                <a:sym typeface="Calibri (MS) Bold"/>
              </a:rPr>
              <a:t>INDONESIA</a:t>
            </a:r>
          </a:p>
        </p:txBody>
      </p:sp>
      <p:grpSp>
        <p:nvGrpSpPr>
          <p:cNvPr name="Group 86" id="86"/>
          <p:cNvGrpSpPr/>
          <p:nvPr/>
        </p:nvGrpSpPr>
        <p:grpSpPr>
          <a:xfrm rot="0">
            <a:off x="13956830" y="6061377"/>
            <a:ext cx="3142164" cy="916467"/>
            <a:chOff x="0" y="0"/>
            <a:chExt cx="4189552" cy="1221956"/>
          </a:xfrm>
        </p:grpSpPr>
        <p:sp>
          <p:nvSpPr>
            <p:cNvPr name="Freeform 87" id="87"/>
            <p:cNvSpPr/>
            <p:nvPr/>
          </p:nvSpPr>
          <p:spPr>
            <a:xfrm flipH="false" flipV="false" rot="0">
              <a:off x="0" y="0"/>
              <a:ext cx="4189603" cy="1221994"/>
            </a:xfrm>
            <a:custGeom>
              <a:avLst/>
              <a:gdLst/>
              <a:ahLst/>
              <a:cxnLst/>
              <a:rect r="r" b="b" t="t" l="l"/>
              <a:pathLst>
                <a:path h="1221994" w="4189603">
                  <a:moveTo>
                    <a:pt x="0" y="0"/>
                  </a:moveTo>
                  <a:lnTo>
                    <a:pt x="4189603" y="0"/>
                  </a:lnTo>
                  <a:lnTo>
                    <a:pt x="4189603" y="1221994"/>
                  </a:lnTo>
                  <a:lnTo>
                    <a:pt x="0" y="1221994"/>
                  </a:lnTo>
                  <a:close/>
                </a:path>
              </a:pathLst>
            </a:custGeom>
            <a:blipFill>
              <a:blip r:embed="rId4">
                <a:alphaModFix amt="0"/>
              </a:blip>
              <a:stretch>
                <a:fillRect l="0" t="-16758" r="1" b="-16755"/>
              </a:stretch>
            </a:blipFill>
          </p:spPr>
        </p:sp>
      </p:grpSp>
      <p:grpSp>
        <p:nvGrpSpPr>
          <p:cNvPr name="Group 88" id="88"/>
          <p:cNvGrpSpPr/>
          <p:nvPr/>
        </p:nvGrpSpPr>
        <p:grpSpPr>
          <a:xfrm rot="0">
            <a:off x="13956830" y="6000007"/>
            <a:ext cx="3142164" cy="977836"/>
            <a:chOff x="0" y="0"/>
            <a:chExt cx="4189552" cy="1303782"/>
          </a:xfrm>
        </p:grpSpPr>
        <p:sp>
          <p:nvSpPr>
            <p:cNvPr name="Freeform 89" id="89"/>
            <p:cNvSpPr/>
            <p:nvPr/>
          </p:nvSpPr>
          <p:spPr>
            <a:xfrm flipH="false" flipV="false" rot="0">
              <a:off x="0" y="0"/>
              <a:ext cx="4189554" cy="1303780"/>
            </a:xfrm>
            <a:custGeom>
              <a:avLst/>
              <a:gdLst/>
              <a:ahLst/>
              <a:cxnLst/>
              <a:rect r="r" b="b" t="t" l="l"/>
              <a:pathLst>
                <a:path h="1303780" w="4189554">
                  <a:moveTo>
                    <a:pt x="0" y="0"/>
                  </a:moveTo>
                  <a:lnTo>
                    <a:pt x="4189554" y="0"/>
                  </a:lnTo>
                  <a:lnTo>
                    <a:pt x="4189554" y="1303780"/>
                  </a:lnTo>
                  <a:lnTo>
                    <a:pt x="0" y="1303780"/>
                  </a:lnTo>
                  <a:close/>
                </a:path>
              </a:pathLst>
            </a:custGeom>
            <a:blipFill>
              <a:blip r:embed="rId5">
                <a:alphaModFix amt="0"/>
              </a:blip>
              <a:stretch>
                <a:fillRect l="0" t="-12612" r="0" b="-12613"/>
              </a:stretch>
            </a:blipFill>
          </p:spPr>
        </p:sp>
        <p:sp>
          <p:nvSpPr>
            <p:cNvPr name="TextBox 90" id="90"/>
            <p:cNvSpPr txBox="true"/>
            <p:nvPr/>
          </p:nvSpPr>
          <p:spPr>
            <a:xfrm>
              <a:off x="0" y="-85725"/>
              <a:ext cx="4189552" cy="1389507"/>
            </a:xfrm>
            <a:prstGeom prst="rect">
              <a:avLst/>
            </a:prstGeom>
          </p:spPr>
          <p:txBody>
            <a:bodyPr anchor="ctr" rtlCol="false" tIns="0" lIns="0" bIns="0" rIns="0"/>
            <a:lstStyle/>
            <a:p>
              <a:pPr algn="l">
                <a:lnSpc>
                  <a:spcPts val="5398"/>
                </a:lnSpc>
              </a:pPr>
              <a:r>
                <a:rPr lang="en-US" sz="4499" b="true">
                  <a:solidFill>
                    <a:srgbClr val="0B5E6E"/>
                  </a:solidFill>
                  <a:latin typeface="Calibri (MS) Bold"/>
                  <a:ea typeface="Calibri (MS) Bold"/>
                  <a:cs typeface="Calibri (MS) Bold"/>
                  <a:sym typeface="Calibri (MS) Bold"/>
                </a:rPr>
                <a:t>15,38 juta</a:t>
              </a:r>
            </a:p>
          </p:txBody>
        </p:sp>
      </p:grpSp>
      <p:sp>
        <p:nvSpPr>
          <p:cNvPr name="TextBox 91" id="91"/>
          <p:cNvSpPr txBox="true"/>
          <p:nvPr/>
        </p:nvSpPr>
        <p:spPr>
          <a:xfrm rot="0">
            <a:off x="13956830" y="7042090"/>
            <a:ext cx="3142164" cy="884949"/>
          </a:xfrm>
          <a:prstGeom prst="rect">
            <a:avLst/>
          </a:prstGeom>
        </p:spPr>
        <p:txBody>
          <a:bodyPr anchor="t" rtlCol="false" tIns="0" lIns="0" bIns="0" rIns="0">
            <a:spAutoFit/>
          </a:bodyPr>
          <a:lstStyle/>
          <a:p>
            <a:pPr algn="l">
              <a:lnSpc>
                <a:spcPts val="2146"/>
              </a:lnSpc>
            </a:pPr>
            <a:r>
              <a:rPr lang="en-US" sz="1788">
                <a:solidFill>
                  <a:srgbClr val="14313B"/>
                </a:solidFill>
                <a:latin typeface="Calibri (MS)"/>
                <a:ea typeface="Calibri (MS)"/>
                <a:cs typeface="Calibri (MS)"/>
                <a:sym typeface="Calibri (MS)"/>
              </a:rPr>
              <a:t>kunjungan wisman 2025, naik 10,8%, tertinggi dalam lima tahun terakhir</a:t>
            </a:r>
          </a:p>
        </p:txBody>
      </p:sp>
      <p:sp>
        <p:nvSpPr>
          <p:cNvPr name="TextBox 92" id="9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a:t>
            </a:r>
          </a:p>
        </p:txBody>
      </p:sp>
      <p:sp>
        <p:nvSpPr>
          <p:cNvPr id="93"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76200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1.1 · Latar Belakang</a:t>
            </a:r>
          </a:p>
          <a:p>
            <a:pPr algn="l">
              <a:lnSpc>
                <a:spcPct val="100000"/>
              </a:lnSpc>
            </a:pPr>
            <a:r>
              <a:rPr lang="en-US" sz="3500" b="true">
                <a:solidFill>
                  <a:srgbClr val="0B5E6E"/>
                </a:solidFill>
                <a:latin typeface="Calibri (MS) Bold"/>
                <a:ea typeface="Calibri (MS) Bold"/>
                <a:cs typeface="Calibri (MS) Bold"/>
                <a:sym typeface="Calibri (MS) Bold"/>
              </a:rPr>
              <a:t>Peran strategis pariwisata di Indonesia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1884045"/>
            <a:ext cx="8229600" cy="40957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Kontribusi pariwisata terhadap PDB Indonesia </a:t>
            </a:r>
          </a:p>
        </p:txBody>
      </p:sp>
      <p:sp>
        <p:nvSpPr>
          <p:cNvPr name="TextBox 53" id="53"/>
          <p:cNvSpPr txBox="true"/>
          <p:nvPr/>
        </p:nvSpPr>
        <p:spPr>
          <a:xfrm rot="0">
            <a:off x="822960" y="8671560"/>
            <a:ext cx="8229600" cy="276225"/>
          </a:xfrm>
          <a:prstGeom prst="rect">
            <a:avLst/>
          </a:prstGeom>
        </p:spPr>
        <p:txBody>
          <a:bodyPr anchor="t" rtlCol="false" tIns="0" lIns="0" bIns="0" rIns="0">
            <a:spAutoFit/>
          </a:bodyPr>
          <a:lstStyle/>
          <a:p>
            <a:pPr algn="l">
              <a:lnSpc>
                <a:spcPts val="1889"/>
              </a:lnSpc>
            </a:pPr>
            <a:r>
              <a:rPr lang="en-US" sz="1575">
                <a:solidFill>
                  <a:srgbClr val="5E6E78"/>
                </a:solidFill>
                <a:latin typeface="Calibri (MS)"/>
                <a:ea typeface="Calibri (MS)"/>
                <a:cs typeface="Calibri (MS)"/>
                <a:sym typeface="Calibri (MS)"/>
              </a:rPr>
              <a:t>Sumber: Kementerian Pariwisata, 2025.</a:t>
            </a:r>
          </a:p>
        </p:txBody>
      </p:sp>
      <p:sp>
        <p:nvSpPr>
          <p:cNvPr name="TextBox 54" id="54"/>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a:t>
            </a:r>
          </a:p>
        </p:txBody>
      </p:sp>
      <p:sp>
        <p:nvSpPr>
          <p:cNvPr name="TextBox 55" id="55"/>
          <p:cNvSpPr txBox="true"/>
          <p:nvPr/>
        </p:nvSpPr>
        <p:spPr>
          <a:xfrm rot="0">
            <a:off x="9354312" y="8671560"/>
            <a:ext cx="8229600" cy="276225"/>
          </a:xfrm>
          <a:prstGeom prst="rect">
            <a:avLst/>
          </a:prstGeom>
        </p:spPr>
        <p:txBody>
          <a:bodyPr anchor="t" rtlCol="false" tIns="0" lIns="0" bIns="0" rIns="0">
            <a:spAutoFit/>
          </a:bodyPr>
          <a:lstStyle/>
          <a:p>
            <a:pPr algn="l">
              <a:lnSpc>
                <a:spcPts val="1889"/>
              </a:lnSpc>
            </a:pPr>
            <a:r>
              <a:rPr lang="en-US" sz="1575">
                <a:solidFill>
                  <a:srgbClr val="5E6E78"/>
                </a:solidFill>
                <a:latin typeface="Calibri (MS)"/>
                <a:ea typeface="Calibri (MS)"/>
                <a:cs typeface="Calibri (MS)"/>
                <a:sym typeface="Calibri (MS)"/>
              </a:rPr>
              <a:t>Sumber: Badan Pusat Statistik </a:t>
            </a:r>
          </a:p>
        </p:txBody>
      </p:sp>
      <p:sp>
        <p:nvSpPr>
          <p:cNvPr name="TextBox 56" id="56"/>
          <p:cNvSpPr txBox="true"/>
          <p:nvPr/>
        </p:nvSpPr>
        <p:spPr>
          <a:xfrm rot="0">
            <a:off x="9354312" y="1884045"/>
            <a:ext cx="8229600" cy="40957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Jumlah kunjungan wisatawan mancanegara dan nusantara</a:t>
            </a:r>
          </a:p>
        </p:txBody>
      </p:sp>
      <p:pic>
        <p:nvPicPr>
          <p:cNvPr name="Picture 57" id="57"/>
          <p:cNvPicPr>
            <a:picLocks noChangeAspect="true"/>
          </p:cNvPicPr>
          <p:nvPr/>
        </p:nvPicPr>
        <p:blipFill>
          <a:blip r:embed="rId6"/>
          <a:stretch>
            <a:fillRect/>
          </a:stretch>
        </p:blipFill>
        <p:spPr>
          <a:xfrm rot="0">
            <a:off x="18288" y="1618488"/>
            <a:ext cx="9656064" cy="7735824"/>
          </a:xfrm>
          <a:prstGeom prst="rect">
            <a:avLst/>
          </a:prstGeom>
        </p:spPr>
      </p:pic>
      <p:pic>
        <p:nvPicPr>
          <p:cNvPr name="Picture 58" id="58"/>
          <p:cNvPicPr>
            <a:picLocks noChangeAspect="true"/>
          </p:cNvPicPr>
          <p:nvPr/>
        </p:nvPicPr>
        <p:blipFill>
          <a:blip r:embed="rId7"/>
          <a:stretch>
            <a:fillRect/>
          </a:stretch>
        </p:blipFill>
        <p:spPr>
          <a:xfrm rot="0">
            <a:off x="8009735" y="1722083"/>
            <a:ext cx="10369742" cy="7408544"/>
          </a:xfrm>
          <a:prstGeom prst="rect">
            <a:avLst/>
          </a:prstGeom>
        </p:spPr>
      </p:pic>
      <p:sp>
        <p:nvSpPr>
          <p:cNvPr id="59"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grpSp>
        <p:nvGrpSpPr>
          <p:cNvPr name="Group 9" id="9"/>
          <p:cNvGrpSpPr/>
          <p:nvPr/>
        </p:nvGrpSpPr>
        <p:grpSpPr>
          <a:xfrm rot="0">
            <a:off x="822960" y="274320"/>
            <a:ext cx="2040922" cy="411480"/>
            <a:chOff x="0" y="0"/>
            <a:chExt cx="2721229" cy="548640"/>
          </a:xfrm>
        </p:grpSpPr>
        <p:sp>
          <p:nvSpPr>
            <p:cNvPr name="Freeform 10" id="10"/>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1" id="11"/>
          <p:cNvGrpSpPr/>
          <p:nvPr/>
        </p:nvGrpSpPr>
        <p:grpSpPr>
          <a:xfrm rot="0">
            <a:off x="822960" y="274320"/>
            <a:ext cx="2040941" cy="411480"/>
            <a:chOff x="0" y="0"/>
            <a:chExt cx="2721254" cy="548640"/>
          </a:xfrm>
        </p:grpSpPr>
        <p:sp>
          <p:nvSpPr>
            <p:cNvPr name="Freeform 12" id="12"/>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3" id="13"/>
          <p:cNvGrpSpPr/>
          <p:nvPr/>
        </p:nvGrpSpPr>
        <p:grpSpPr>
          <a:xfrm rot="0">
            <a:off x="822960" y="260033"/>
            <a:ext cx="2040941" cy="425768"/>
            <a:chOff x="0" y="0"/>
            <a:chExt cx="2721254" cy="567690"/>
          </a:xfrm>
        </p:grpSpPr>
        <p:sp>
          <p:nvSpPr>
            <p:cNvPr name="Freeform 14" id="14"/>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5" id="15"/>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Pendahuluan</a:t>
              </a:r>
            </a:p>
          </p:txBody>
        </p:sp>
      </p:grpSp>
      <p:grpSp>
        <p:nvGrpSpPr>
          <p:cNvPr name="Group 16" id="16"/>
          <p:cNvGrpSpPr/>
          <p:nvPr/>
        </p:nvGrpSpPr>
        <p:grpSpPr>
          <a:xfrm rot="0">
            <a:off x="2973629" y="274320"/>
            <a:ext cx="2378392" cy="411480"/>
            <a:chOff x="0" y="0"/>
            <a:chExt cx="3171190" cy="548640"/>
          </a:xfrm>
        </p:grpSpPr>
        <p:sp>
          <p:nvSpPr>
            <p:cNvPr name="Freeform 17" id="17"/>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8" id="18"/>
          <p:cNvGrpSpPr/>
          <p:nvPr/>
        </p:nvGrpSpPr>
        <p:grpSpPr>
          <a:xfrm rot="0">
            <a:off x="2973629" y="274320"/>
            <a:ext cx="2378354" cy="411480"/>
            <a:chOff x="0" y="0"/>
            <a:chExt cx="3171139" cy="548640"/>
          </a:xfrm>
        </p:grpSpPr>
        <p:sp>
          <p:nvSpPr>
            <p:cNvPr name="Freeform 19" id="19"/>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0" id="20"/>
          <p:cNvGrpSpPr/>
          <p:nvPr/>
        </p:nvGrpSpPr>
        <p:grpSpPr>
          <a:xfrm rot="0">
            <a:off x="2973629" y="260033"/>
            <a:ext cx="2378354" cy="425768"/>
            <a:chOff x="0" y="0"/>
            <a:chExt cx="3171139" cy="567690"/>
          </a:xfrm>
        </p:grpSpPr>
        <p:sp>
          <p:nvSpPr>
            <p:cNvPr name="Freeform 21" id="21"/>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2" id="22"/>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3" id="23"/>
          <p:cNvGrpSpPr/>
          <p:nvPr/>
        </p:nvGrpSpPr>
        <p:grpSpPr>
          <a:xfrm rot="0">
            <a:off x="5461711" y="274320"/>
            <a:ext cx="1591056" cy="411480"/>
            <a:chOff x="0" y="0"/>
            <a:chExt cx="2121408" cy="548640"/>
          </a:xfrm>
        </p:grpSpPr>
        <p:sp>
          <p:nvSpPr>
            <p:cNvPr name="Freeform 24" id="24"/>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5" id="25"/>
          <p:cNvGrpSpPr/>
          <p:nvPr/>
        </p:nvGrpSpPr>
        <p:grpSpPr>
          <a:xfrm rot="0">
            <a:off x="5461711" y="274320"/>
            <a:ext cx="1591056" cy="411480"/>
            <a:chOff x="0" y="0"/>
            <a:chExt cx="2121408" cy="548640"/>
          </a:xfrm>
        </p:grpSpPr>
        <p:sp>
          <p:nvSpPr>
            <p:cNvPr name="Freeform 26" id="26"/>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7" id="27"/>
          <p:cNvGrpSpPr/>
          <p:nvPr/>
        </p:nvGrpSpPr>
        <p:grpSpPr>
          <a:xfrm rot="0">
            <a:off x="5461711" y="260033"/>
            <a:ext cx="1591056" cy="425768"/>
            <a:chOff x="0" y="0"/>
            <a:chExt cx="2121408" cy="567690"/>
          </a:xfrm>
        </p:grpSpPr>
        <p:sp>
          <p:nvSpPr>
            <p:cNvPr name="Freeform 28" id="28"/>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29" id="29"/>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0" id="30"/>
          <p:cNvGrpSpPr/>
          <p:nvPr/>
        </p:nvGrpSpPr>
        <p:grpSpPr>
          <a:xfrm rot="0">
            <a:off x="7162495" y="274320"/>
            <a:ext cx="2490788" cy="411480"/>
            <a:chOff x="0" y="0"/>
            <a:chExt cx="3321050" cy="548640"/>
          </a:xfrm>
        </p:grpSpPr>
        <p:sp>
          <p:nvSpPr>
            <p:cNvPr name="Freeform 31" id="31"/>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7162495" y="274320"/>
            <a:ext cx="2490826" cy="411480"/>
            <a:chOff x="0" y="0"/>
            <a:chExt cx="3321101" cy="548640"/>
          </a:xfrm>
        </p:grpSpPr>
        <p:sp>
          <p:nvSpPr>
            <p:cNvPr name="Freeform 33" id="33"/>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4" id="34"/>
          <p:cNvGrpSpPr/>
          <p:nvPr/>
        </p:nvGrpSpPr>
        <p:grpSpPr>
          <a:xfrm rot="0">
            <a:off x="7162495" y="260033"/>
            <a:ext cx="2490826" cy="425768"/>
            <a:chOff x="0" y="0"/>
            <a:chExt cx="3321101" cy="567690"/>
          </a:xfrm>
        </p:grpSpPr>
        <p:sp>
          <p:nvSpPr>
            <p:cNvPr name="Freeform 35" id="35"/>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6" id="36"/>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7" id="37"/>
          <p:cNvGrpSpPr/>
          <p:nvPr/>
        </p:nvGrpSpPr>
        <p:grpSpPr>
          <a:xfrm rot="0">
            <a:off x="9763049" y="274320"/>
            <a:ext cx="1366076" cy="411480"/>
            <a:chOff x="0" y="0"/>
            <a:chExt cx="1821434" cy="548640"/>
          </a:xfrm>
        </p:grpSpPr>
        <p:sp>
          <p:nvSpPr>
            <p:cNvPr name="Freeform 38" id="38"/>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9" id="39"/>
          <p:cNvGrpSpPr/>
          <p:nvPr/>
        </p:nvGrpSpPr>
        <p:grpSpPr>
          <a:xfrm rot="0">
            <a:off x="9763049" y="274320"/>
            <a:ext cx="1366114" cy="411480"/>
            <a:chOff x="0" y="0"/>
            <a:chExt cx="1821485" cy="548640"/>
          </a:xfrm>
        </p:grpSpPr>
        <p:sp>
          <p:nvSpPr>
            <p:cNvPr name="Freeform 40" id="40"/>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1" id="41"/>
          <p:cNvGrpSpPr/>
          <p:nvPr/>
        </p:nvGrpSpPr>
        <p:grpSpPr>
          <a:xfrm rot="0">
            <a:off x="9763049" y="260033"/>
            <a:ext cx="1366114" cy="425768"/>
            <a:chOff x="0" y="0"/>
            <a:chExt cx="1821485" cy="567690"/>
          </a:xfrm>
        </p:grpSpPr>
        <p:sp>
          <p:nvSpPr>
            <p:cNvPr name="Freeform 42" id="42"/>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3" id="43"/>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4" id="44"/>
          <p:cNvGrpSpPr/>
          <p:nvPr/>
        </p:nvGrpSpPr>
        <p:grpSpPr>
          <a:xfrm rot="0">
            <a:off x="11238890" y="274320"/>
            <a:ext cx="1253680" cy="411480"/>
            <a:chOff x="0" y="0"/>
            <a:chExt cx="1671574" cy="548640"/>
          </a:xfrm>
        </p:grpSpPr>
        <p:sp>
          <p:nvSpPr>
            <p:cNvPr name="Freeform 45" id="45"/>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6" id="46"/>
          <p:cNvGrpSpPr/>
          <p:nvPr/>
        </p:nvGrpSpPr>
        <p:grpSpPr>
          <a:xfrm rot="0">
            <a:off x="11238890" y="274320"/>
            <a:ext cx="1253642" cy="411480"/>
            <a:chOff x="0" y="0"/>
            <a:chExt cx="1671523" cy="548640"/>
          </a:xfrm>
        </p:grpSpPr>
        <p:sp>
          <p:nvSpPr>
            <p:cNvPr name="Freeform 47" id="47"/>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8" id="48"/>
          <p:cNvGrpSpPr/>
          <p:nvPr/>
        </p:nvGrpSpPr>
        <p:grpSpPr>
          <a:xfrm rot="0">
            <a:off x="11238890" y="260033"/>
            <a:ext cx="1253642" cy="425768"/>
            <a:chOff x="0" y="0"/>
            <a:chExt cx="1671523" cy="567690"/>
          </a:xfrm>
        </p:grpSpPr>
        <p:sp>
          <p:nvSpPr>
            <p:cNvPr name="Freeform 49" id="49"/>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0" id="50"/>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1" id="51"/>
          <p:cNvGrpSpPr/>
          <p:nvPr/>
        </p:nvGrpSpPr>
        <p:grpSpPr>
          <a:xfrm rot="0">
            <a:off x="822960" y="8042148"/>
            <a:ext cx="16642080" cy="1533935"/>
            <a:chOff x="0" y="0"/>
            <a:chExt cx="22189440" cy="2045246"/>
          </a:xfrm>
        </p:grpSpPr>
        <p:sp>
          <p:nvSpPr>
            <p:cNvPr name="Freeform 52" id="52"/>
            <p:cNvSpPr/>
            <p:nvPr/>
          </p:nvSpPr>
          <p:spPr>
            <a:xfrm flipH="false" flipV="false" rot="0">
              <a:off x="0" y="0"/>
              <a:ext cx="22189441" cy="2045208"/>
            </a:xfrm>
            <a:custGeom>
              <a:avLst/>
              <a:gdLst/>
              <a:ahLst/>
              <a:cxnLst/>
              <a:rect r="r" b="b" t="t" l="l"/>
              <a:pathLst>
                <a:path h="2045208" w="22189441">
                  <a:moveTo>
                    <a:pt x="0" y="163576"/>
                  </a:moveTo>
                  <a:cubicBezTo>
                    <a:pt x="0" y="73279"/>
                    <a:pt x="81915" y="0"/>
                    <a:pt x="182880" y="0"/>
                  </a:cubicBezTo>
                  <a:lnTo>
                    <a:pt x="22006561" y="0"/>
                  </a:lnTo>
                  <a:cubicBezTo>
                    <a:pt x="22107525" y="0"/>
                    <a:pt x="22189441" y="73279"/>
                    <a:pt x="22189441" y="163576"/>
                  </a:cubicBezTo>
                  <a:lnTo>
                    <a:pt x="22189441" y="1881632"/>
                  </a:lnTo>
                  <a:cubicBezTo>
                    <a:pt x="22189441" y="1971929"/>
                    <a:pt x="22107525" y="2045208"/>
                    <a:pt x="22006561" y="2045208"/>
                  </a:cubicBezTo>
                  <a:lnTo>
                    <a:pt x="182880" y="2045208"/>
                  </a:lnTo>
                  <a:cubicBezTo>
                    <a:pt x="81915" y="2045208"/>
                    <a:pt x="0" y="1971929"/>
                    <a:pt x="0" y="1881632"/>
                  </a:cubicBezTo>
                  <a:close/>
                </a:path>
              </a:pathLst>
            </a:custGeom>
            <a:solidFill>
              <a:srgbClr val="0B5E6E"/>
            </a:solidFill>
          </p:spPr>
        </p:sp>
      </p:grpSp>
      <p:grpSp>
        <p:nvGrpSpPr>
          <p:cNvPr name="Group 53" id="53"/>
          <p:cNvGrpSpPr/>
          <p:nvPr/>
        </p:nvGrpSpPr>
        <p:grpSpPr>
          <a:xfrm rot="0">
            <a:off x="1303153" y="8250765"/>
            <a:ext cx="15681693" cy="674932"/>
            <a:chOff x="0" y="0"/>
            <a:chExt cx="20908924" cy="899909"/>
          </a:xfrm>
        </p:grpSpPr>
        <p:sp>
          <p:nvSpPr>
            <p:cNvPr name="Freeform 54" id="54"/>
            <p:cNvSpPr/>
            <p:nvPr/>
          </p:nvSpPr>
          <p:spPr>
            <a:xfrm flipH="false" flipV="false" rot="0">
              <a:off x="0" y="0"/>
              <a:ext cx="20908899" cy="899922"/>
            </a:xfrm>
            <a:custGeom>
              <a:avLst/>
              <a:gdLst/>
              <a:ahLst/>
              <a:cxnLst/>
              <a:rect r="r" b="b" t="t" l="l"/>
              <a:pathLst>
                <a:path h="899922" w="20908899">
                  <a:moveTo>
                    <a:pt x="0" y="0"/>
                  </a:moveTo>
                  <a:lnTo>
                    <a:pt x="20908899" y="0"/>
                  </a:lnTo>
                  <a:lnTo>
                    <a:pt x="20908899" y="899922"/>
                  </a:lnTo>
                  <a:lnTo>
                    <a:pt x="0" y="899922"/>
                  </a:lnTo>
                  <a:close/>
                </a:path>
              </a:pathLst>
            </a:custGeom>
            <a:blipFill>
              <a:blip r:embed="rId4">
                <a:alphaModFix amt="0"/>
              </a:blip>
              <a:stretch>
                <a:fillRect l="0" t="-402404" r="0" b="-402401"/>
              </a:stretch>
            </a:blipFill>
          </p:spPr>
        </p:sp>
      </p:grpSp>
      <p:grpSp>
        <p:nvGrpSpPr>
          <p:cNvPr name="Group 55" id="55"/>
          <p:cNvGrpSpPr/>
          <p:nvPr/>
        </p:nvGrpSpPr>
        <p:grpSpPr>
          <a:xfrm rot="0">
            <a:off x="1303153" y="8215046"/>
            <a:ext cx="15681693" cy="710651"/>
            <a:chOff x="0" y="0"/>
            <a:chExt cx="20908924" cy="947534"/>
          </a:xfrm>
        </p:grpSpPr>
        <p:sp>
          <p:nvSpPr>
            <p:cNvPr name="Freeform 56" id="56"/>
            <p:cNvSpPr/>
            <p:nvPr/>
          </p:nvSpPr>
          <p:spPr>
            <a:xfrm flipH="false" flipV="false" rot="0">
              <a:off x="0" y="0"/>
              <a:ext cx="20908928" cy="947534"/>
            </a:xfrm>
            <a:custGeom>
              <a:avLst/>
              <a:gdLst/>
              <a:ahLst/>
              <a:cxnLst/>
              <a:rect r="r" b="b" t="t" l="l"/>
              <a:pathLst>
                <a:path h="947534" w="20908928">
                  <a:moveTo>
                    <a:pt x="0" y="0"/>
                  </a:moveTo>
                  <a:lnTo>
                    <a:pt x="20908928" y="0"/>
                  </a:lnTo>
                  <a:lnTo>
                    <a:pt x="20908928" y="947534"/>
                  </a:lnTo>
                  <a:lnTo>
                    <a:pt x="0" y="947534"/>
                  </a:lnTo>
                  <a:close/>
                </a:path>
              </a:pathLst>
            </a:custGeom>
            <a:blipFill>
              <a:blip r:embed="rId5">
                <a:alphaModFix amt="0"/>
              </a:blip>
              <a:stretch>
                <a:fillRect l="0" t="-379969" r="0" b="-379970"/>
              </a:stretch>
            </a:blipFill>
          </p:spPr>
        </p:sp>
        <p:sp>
          <p:nvSpPr>
            <p:cNvPr name="TextBox 57" id="57"/>
            <p:cNvSpPr txBox="true"/>
            <p:nvPr/>
          </p:nvSpPr>
          <p:spPr>
            <a:xfrm>
              <a:off x="0" y="-47625"/>
              <a:ext cx="20908924" cy="995159"/>
            </a:xfrm>
            <a:prstGeom prst="rect">
              <a:avLst/>
            </a:prstGeom>
          </p:spPr>
          <p:txBody>
            <a:bodyPr anchor="ctr" rtlCol="false" tIns="0" lIns="0" bIns="0" rIns="0"/>
            <a:lstStyle/>
            <a:p>
              <a:pPr algn="l">
                <a:lnSpc>
                  <a:spcPts val="3060"/>
                </a:lnSpc>
              </a:pPr>
              <a:r>
                <a:rPr lang="en-US" sz="2550" b="true">
                  <a:solidFill>
                    <a:srgbClr val="FFFFFF"/>
                  </a:solidFill>
                  <a:latin typeface="Calibri (MS) Bold"/>
                  <a:ea typeface="Calibri (MS) Bold"/>
                  <a:cs typeface="Calibri (MS) Bold"/>
                  <a:sym typeface="Calibri (MS) Bold"/>
                </a:rPr>
                <a:t>Borobudur–Yogyakarta–Prambanan ditetapkan sebagai Destinasi Pariwisata Prioritas (Perpres No. 88 Tahun 2024)</a:t>
              </a:r>
            </a:p>
          </p:txBody>
        </p:sp>
      </p:grpSp>
      <p:grpSp>
        <p:nvGrpSpPr>
          <p:cNvPr name="Group 58" id="58"/>
          <p:cNvGrpSpPr/>
          <p:nvPr/>
        </p:nvGrpSpPr>
        <p:grpSpPr>
          <a:xfrm rot="0">
            <a:off x="1303153" y="8962511"/>
            <a:ext cx="15681693" cy="429501"/>
            <a:chOff x="0" y="0"/>
            <a:chExt cx="20908924" cy="572668"/>
          </a:xfrm>
        </p:grpSpPr>
        <p:sp>
          <p:nvSpPr>
            <p:cNvPr name="Freeform 59" id="59"/>
            <p:cNvSpPr/>
            <p:nvPr/>
          </p:nvSpPr>
          <p:spPr>
            <a:xfrm flipH="false" flipV="false" rot="0">
              <a:off x="0" y="0"/>
              <a:ext cx="20908899" cy="572643"/>
            </a:xfrm>
            <a:custGeom>
              <a:avLst/>
              <a:gdLst/>
              <a:ahLst/>
              <a:cxnLst/>
              <a:rect r="r" b="b" t="t" l="l"/>
              <a:pathLst>
                <a:path h="572643" w="20908899">
                  <a:moveTo>
                    <a:pt x="0" y="0"/>
                  </a:moveTo>
                  <a:lnTo>
                    <a:pt x="20908899" y="0"/>
                  </a:lnTo>
                  <a:lnTo>
                    <a:pt x="20908899" y="572643"/>
                  </a:lnTo>
                  <a:lnTo>
                    <a:pt x="0" y="572643"/>
                  </a:lnTo>
                  <a:close/>
                </a:path>
              </a:pathLst>
            </a:custGeom>
            <a:blipFill>
              <a:blip r:embed="rId4">
                <a:alphaModFix amt="0"/>
              </a:blip>
              <a:stretch>
                <a:fillRect l="0" t="-660960" r="0" b="-660964"/>
              </a:stretch>
            </a:blipFill>
          </p:spPr>
        </p:sp>
      </p:grpSp>
      <p:grpSp>
        <p:nvGrpSpPr>
          <p:cNvPr name="Group 60" id="60"/>
          <p:cNvGrpSpPr/>
          <p:nvPr/>
        </p:nvGrpSpPr>
        <p:grpSpPr>
          <a:xfrm rot="0">
            <a:off x="1303153" y="8926792"/>
            <a:ext cx="15681693" cy="465220"/>
            <a:chOff x="0" y="0"/>
            <a:chExt cx="20908924" cy="620293"/>
          </a:xfrm>
        </p:grpSpPr>
        <p:sp>
          <p:nvSpPr>
            <p:cNvPr name="Freeform 61" id="61"/>
            <p:cNvSpPr/>
            <p:nvPr/>
          </p:nvSpPr>
          <p:spPr>
            <a:xfrm flipH="false" flipV="false" rot="0">
              <a:off x="0" y="0"/>
              <a:ext cx="20908928" cy="620294"/>
            </a:xfrm>
            <a:custGeom>
              <a:avLst/>
              <a:gdLst/>
              <a:ahLst/>
              <a:cxnLst/>
              <a:rect r="r" b="b" t="t" l="l"/>
              <a:pathLst>
                <a:path h="620294" w="20908928">
                  <a:moveTo>
                    <a:pt x="0" y="0"/>
                  </a:moveTo>
                  <a:lnTo>
                    <a:pt x="20908928" y="0"/>
                  </a:lnTo>
                  <a:lnTo>
                    <a:pt x="20908928" y="620294"/>
                  </a:lnTo>
                  <a:lnTo>
                    <a:pt x="0" y="620294"/>
                  </a:lnTo>
                  <a:close/>
                </a:path>
              </a:pathLst>
            </a:custGeom>
            <a:blipFill>
              <a:blip r:embed="rId5">
                <a:alphaModFix amt="0"/>
              </a:blip>
              <a:stretch>
                <a:fillRect l="0" t="-606803" r="0" b="-606803"/>
              </a:stretch>
            </a:blipFill>
          </p:spPr>
        </p:sp>
        <p:sp>
          <p:nvSpPr>
            <p:cNvPr name="TextBox 62" id="62"/>
            <p:cNvSpPr txBox="true"/>
            <p:nvPr/>
          </p:nvSpPr>
          <p:spPr>
            <a:xfrm>
              <a:off x="0" y="-47625"/>
              <a:ext cx="20908924" cy="667918"/>
            </a:xfrm>
            <a:prstGeom prst="rect">
              <a:avLst/>
            </a:prstGeom>
          </p:spPr>
          <p:txBody>
            <a:bodyPr anchor="ctr" rtlCol="false" tIns="0" lIns="0" bIns="0" rIns="0"/>
            <a:lstStyle/>
            <a:p>
              <a:pPr algn="l">
                <a:lnSpc>
                  <a:spcPts val="2340"/>
                </a:lnSpc>
              </a:pPr>
              <a:r>
                <a:rPr lang="en-US" sz="1950">
                  <a:solidFill>
                    <a:srgbClr val="6BE5EA"/>
                  </a:solidFill>
                  <a:latin typeface="Calibri (MS)"/>
                  <a:ea typeface="Calibri (MS)"/>
                  <a:cs typeface="Calibri (MS)"/>
                  <a:sym typeface="Calibri (MS)"/>
                </a:rPr>
                <a:t>Daya tarik yang kuat pada skala nasional tercermin dari dominasi kunjungan wisatawan dari luar provinsi.</a:t>
              </a:r>
            </a:p>
          </p:txBody>
        </p:sp>
      </p:grpSp>
      <p:sp>
        <p:nvSpPr>
          <p:cNvPr name="TextBox 63" id="63"/>
          <p:cNvSpPr txBox="true"/>
          <p:nvPr/>
        </p:nvSpPr>
        <p:spPr>
          <a:xfrm rot="0">
            <a:off x="822960" y="731520"/>
            <a:ext cx="16637508" cy="76200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1.1 · Latar Belakang</a:t>
            </a:r>
          </a:p>
          <a:p>
            <a:pPr algn="l">
              <a:lnSpc>
                <a:spcPct val="100000"/>
              </a:lnSpc>
            </a:pPr>
            <a:r>
              <a:rPr lang="en-US" sz="3500" b="true">
                <a:solidFill>
                  <a:srgbClr val="0B5E6E"/>
                </a:solidFill>
                <a:latin typeface="Calibri (MS) Bold"/>
                <a:ea typeface="Calibri (MS) Bold"/>
                <a:cs typeface="Calibri (MS) Bold"/>
                <a:sym typeface="Calibri (MS) Bold"/>
              </a:rPr>
              <a:t>DIY menjadi destinasi utama dengan posisi kebijakan yang kuat</a:t>
            </a:r>
          </a:p>
        </p:txBody>
      </p:sp>
      <p:sp>
        <p:nvSpPr>
          <p:cNvPr name="Freeform 64" id="64"/>
          <p:cNvSpPr/>
          <p:nvPr/>
        </p:nvSpPr>
        <p:spPr>
          <a:xfrm flipH="false" flipV="false" rot="0">
            <a:off x="9518161" y="1704565"/>
            <a:ext cx="3842499" cy="3021844"/>
          </a:xfrm>
          <a:custGeom>
            <a:avLst/>
            <a:gdLst/>
            <a:ahLst/>
            <a:cxnLst/>
            <a:rect r="r" b="b" t="t" l="l"/>
            <a:pathLst>
              <a:path h="3021844" w="3842499">
                <a:moveTo>
                  <a:pt x="0" y="0"/>
                </a:moveTo>
                <a:lnTo>
                  <a:pt x="3842499" y="0"/>
                </a:lnTo>
                <a:lnTo>
                  <a:pt x="3842499" y="3021845"/>
                </a:lnTo>
                <a:lnTo>
                  <a:pt x="0" y="30218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5" id="65"/>
          <p:cNvGrpSpPr/>
          <p:nvPr/>
        </p:nvGrpSpPr>
        <p:grpSpPr>
          <a:xfrm rot="0">
            <a:off x="9825304" y="2117550"/>
            <a:ext cx="3241434" cy="1190730"/>
            <a:chOff x="0" y="0"/>
            <a:chExt cx="4321912" cy="1587640"/>
          </a:xfrm>
        </p:grpSpPr>
        <p:sp>
          <p:nvSpPr>
            <p:cNvPr name="Freeform 66" id="66"/>
            <p:cNvSpPr/>
            <p:nvPr/>
          </p:nvSpPr>
          <p:spPr>
            <a:xfrm flipH="false" flipV="false" rot="0">
              <a:off x="0" y="0"/>
              <a:ext cx="4321937" cy="1587627"/>
            </a:xfrm>
            <a:custGeom>
              <a:avLst/>
              <a:gdLst/>
              <a:ahLst/>
              <a:cxnLst/>
              <a:rect r="r" b="b" t="t" l="l"/>
              <a:pathLst>
                <a:path h="1587627" w="4321937">
                  <a:moveTo>
                    <a:pt x="0" y="0"/>
                  </a:moveTo>
                  <a:lnTo>
                    <a:pt x="4321937" y="0"/>
                  </a:lnTo>
                  <a:lnTo>
                    <a:pt x="4321937" y="1587627"/>
                  </a:lnTo>
                  <a:lnTo>
                    <a:pt x="0" y="1587627"/>
                  </a:lnTo>
                  <a:close/>
                </a:path>
              </a:pathLst>
            </a:custGeom>
            <a:blipFill>
              <a:blip r:embed="rId4">
                <a:alphaModFix amt="0"/>
              </a:blip>
              <a:stretch>
                <a:fillRect l="0" t="-3006" r="0" b="-3006"/>
              </a:stretch>
            </a:blipFill>
          </p:spPr>
        </p:sp>
      </p:grpSp>
      <p:grpSp>
        <p:nvGrpSpPr>
          <p:cNvPr name="Group 67" id="67"/>
          <p:cNvGrpSpPr/>
          <p:nvPr/>
        </p:nvGrpSpPr>
        <p:grpSpPr>
          <a:xfrm rot="0">
            <a:off x="9825304" y="2055533"/>
            <a:ext cx="3241434" cy="1252747"/>
            <a:chOff x="0" y="0"/>
            <a:chExt cx="4321912" cy="1670329"/>
          </a:xfrm>
        </p:grpSpPr>
        <p:sp>
          <p:nvSpPr>
            <p:cNvPr name="Freeform 68" id="68"/>
            <p:cNvSpPr/>
            <p:nvPr/>
          </p:nvSpPr>
          <p:spPr>
            <a:xfrm flipH="false" flipV="false" rot="0">
              <a:off x="0" y="0"/>
              <a:ext cx="4321916" cy="1670332"/>
            </a:xfrm>
            <a:custGeom>
              <a:avLst/>
              <a:gdLst/>
              <a:ahLst/>
              <a:cxnLst/>
              <a:rect r="r" b="b" t="t" l="l"/>
              <a:pathLst>
                <a:path h="1670332" w="4321916">
                  <a:moveTo>
                    <a:pt x="0" y="0"/>
                  </a:moveTo>
                  <a:lnTo>
                    <a:pt x="4321916" y="0"/>
                  </a:lnTo>
                  <a:lnTo>
                    <a:pt x="4321916" y="1670332"/>
                  </a:lnTo>
                  <a:lnTo>
                    <a:pt x="0" y="1670332"/>
                  </a:lnTo>
                  <a:close/>
                </a:path>
              </a:pathLst>
            </a:custGeom>
            <a:blipFill>
              <a:blip r:embed="rId5">
                <a:alphaModFix amt="0"/>
              </a:blip>
              <a:stretch>
                <a:fillRect l="0" t="-416" r="0" b="-416"/>
              </a:stretch>
            </a:blipFill>
          </p:spPr>
        </p:sp>
        <p:sp>
          <p:nvSpPr>
            <p:cNvPr name="TextBox 69" id="69"/>
            <p:cNvSpPr txBox="true"/>
            <p:nvPr/>
          </p:nvSpPr>
          <p:spPr>
            <a:xfrm>
              <a:off x="0" y="-85725"/>
              <a:ext cx="4321912" cy="1756054"/>
            </a:xfrm>
            <a:prstGeom prst="rect">
              <a:avLst/>
            </a:prstGeom>
          </p:spPr>
          <p:txBody>
            <a:bodyPr anchor="ctr" rtlCol="false" tIns="0" lIns="0" bIns="0" rIns="0"/>
            <a:lstStyle/>
            <a:p>
              <a:pPr algn="l">
                <a:lnSpc>
                  <a:spcPts val="5398"/>
                </a:lnSpc>
              </a:pPr>
              <a:r>
                <a:rPr lang="en-US" sz="4499" b="true">
                  <a:solidFill>
                    <a:srgbClr val="0B5E6E"/>
                  </a:solidFill>
                  <a:latin typeface="Calibri (MS) Bold"/>
                  <a:ea typeface="Calibri (MS) Bold"/>
                  <a:cs typeface="Calibri (MS) Bold"/>
                  <a:sym typeface="Calibri (MS) Bold"/>
                </a:rPr>
                <a:t>&gt;40 juta</a:t>
              </a:r>
            </a:p>
          </p:txBody>
        </p:sp>
      </p:grpSp>
      <p:sp>
        <p:nvSpPr>
          <p:cNvPr name="TextBox 70" id="70"/>
          <p:cNvSpPr txBox="true"/>
          <p:nvPr/>
        </p:nvSpPr>
        <p:spPr>
          <a:xfrm rot="0">
            <a:off x="9825304" y="3440059"/>
            <a:ext cx="3241434" cy="976265"/>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perjalanan wisatawan nusantara ke DIY pada 2025, peringkat ke-7 nasional</a:t>
            </a:r>
          </a:p>
        </p:txBody>
      </p:sp>
      <p:sp>
        <p:nvSpPr>
          <p:cNvPr name="Freeform 71" id="71"/>
          <p:cNvSpPr/>
          <p:nvPr/>
        </p:nvSpPr>
        <p:spPr>
          <a:xfrm flipH="false" flipV="false" rot="0">
            <a:off x="9518161" y="4845977"/>
            <a:ext cx="3842499" cy="3021844"/>
          </a:xfrm>
          <a:custGeom>
            <a:avLst/>
            <a:gdLst/>
            <a:ahLst/>
            <a:cxnLst/>
            <a:rect r="r" b="b" t="t" l="l"/>
            <a:pathLst>
              <a:path h="3021844" w="3842499">
                <a:moveTo>
                  <a:pt x="0" y="0"/>
                </a:moveTo>
                <a:lnTo>
                  <a:pt x="3842499" y="0"/>
                </a:lnTo>
                <a:lnTo>
                  <a:pt x="3842499" y="3021844"/>
                </a:lnTo>
                <a:lnTo>
                  <a:pt x="0" y="30218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2" id="72"/>
          <p:cNvGrpSpPr/>
          <p:nvPr/>
        </p:nvGrpSpPr>
        <p:grpSpPr>
          <a:xfrm rot="0">
            <a:off x="9825304" y="5258972"/>
            <a:ext cx="3241434" cy="1190730"/>
            <a:chOff x="0" y="0"/>
            <a:chExt cx="4321912" cy="1587640"/>
          </a:xfrm>
        </p:grpSpPr>
        <p:sp>
          <p:nvSpPr>
            <p:cNvPr name="Freeform 73" id="73"/>
            <p:cNvSpPr/>
            <p:nvPr/>
          </p:nvSpPr>
          <p:spPr>
            <a:xfrm flipH="false" flipV="false" rot="0">
              <a:off x="0" y="0"/>
              <a:ext cx="4321937" cy="1587627"/>
            </a:xfrm>
            <a:custGeom>
              <a:avLst/>
              <a:gdLst/>
              <a:ahLst/>
              <a:cxnLst/>
              <a:rect r="r" b="b" t="t" l="l"/>
              <a:pathLst>
                <a:path h="1587627" w="4321937">
                  <a:moveTo>
                    <a:pt x="0" y="0"/>
                  </a:moveTo>
                  <a:lnTo>
                    <a:pt x="4321937" y="0"/>
                  </a:lnTo>
                  <a:lnTo>
                    <a:pt x="4321937" y="1587627"/>
                  </a:lnTo>
                  <a:lnTo>
                    <a:pt x="0" y="1587627"/>
                  </a:lnTo>
                  <a:close/>
                </a:path>
              </a:pathLst>
            </a:custGeom>
            <a:blipFill>
              <a:blip r:embed="rId4">
                <a:alphaModFix amt="0"/>
              </a:blip>
              <a:stretch>
                <a:fillRect l="0" t="-3006" r="0" b="-3006"/>
              </a:stretch>
            </a:blipFill>
          </p:spPr>
        </p:sp>
      </p:grpSp>
      <p:grpSp>
        <p:nvGrpSpPr>
          <p:cNvPr name="Group 74" id="74"/>
          <p:cNvGrpSpPr/>
          <p:nvPr/>
        </p:nvGrpSpPr>
        <p:grpSpPr>
          <a:xfrm rot="0">
            <a:off x="9825304" y="5190058"/>
            <a:ext cx="3241434" cy="1259643"/>
            <a:chOff x="0" y="0"/>
            <a:chExt cx="4321912" cy="1679524"/>
          </a:xfrm>
        </p:grpSpPr>
        <p:sp>
          <p:nvSpPr>
            <p:cNvPr name="Freeform 75" id="75"/>
            <p:cNvSpPr/>
            <p:nvPr/>
          </p:nvSpPr>
          <p:spPr>
            <a:xfrm flipH="false" flipV="false" rot="0">
              <a:off x="0" y="0"/>
              <a:ext cx="4321916" cy="1679519"/>
            </a:xfrm>
            <a:custGeom>
              <a:avLst/>
              <a:gdLst/>
              <a:ahLst/>
              <a:cxnLst/>
              <a:rect r="r" b="b" t="t" l="l"/>
              <a:pathLst>
                <a:path h="1679519" w="4321916">
                  <a:moveTo>
                    <a:pt x="0" y="0"/>
                  </a:moveTo>
                  <a:lnTo>
                    <a:pt x="4321916" y="0"/>
                  </a:lnTo>
                  <a:lnTo>
                    <a:pt x="4321916" y="1679519"/>
                  </a:lnTo>
                  <a:lnTo>
                    <a:pt x="0" y="1679519"/>
                  </a:lnTo>
                  <a:close/>
                </a:path>
              </a:pathLst>
            </a:custGeom>
            <a:blipFill>
              <a:blip r:embed="rId5">
                <a:alphaModFix amt="0"/>
              </a:blip>
              <a:stretch>
                <a:fillRect l="0" t="-140" r="0" b="-141"/>
              </a:stretch>
            </a:blipFill>
          </p:spPr>
        </p:sp>
        <p:sp>
          <p:nvSpPr>
            <p:cNvPr name="TextBox 76" id="76"/>
            <p:cNvSpPr txBox="true"/>
            <p:nvPr/>
          </p:nvSpPr>
          <p:spPr>
            <a:xfrm>
              <a:off x="0" y="-95250"/>
              <a:ext cx="4321912" cy="1774774"/>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59,69%</a:t>
              </a:r>
            </a:p>
          </p:txBody>
        </p:sp>
      </p:grpSp>
      <p:sp>
        <p:nvSpPr>
          <p:cNvPr name="TextBox 77" id="77"/>
          <p:cNvSpPr txBox="true"/>
          <p:nvPr/>
        </p:nvSpPr>
        <p:spPr>
          <a:xfrm rot="0">
            <a:off x="9816484" y="6429880"/>
            <a:ext cx="3241434" cy="1279455"/>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proporsi perjalanan antarprovinsi menuju DIY, urutan ke-2 setelah DKI Jakarta</a:t>
            </a:r>
          </a:p>
        </p:txBody>
      </p:sp>
      <p:sp>
        <p:nvSpPr>
          <p:cNvPr name="Freeform 78" id="78"/>
          <p:cNvSpPr/>
          <p:nvPr/>
        </p:nvSpPr>
        <p:spPr>
          <a:xfrm flipH="false" flipV="false" rot="0">
            <a:off x="13493734" y="4826927"/>
            <a:ext cx="3842499" cy="3021844"/>
          </a:xfrm>
          <a:custGeom>
            <a:avLst/>
            <a:gdLst/>
            <a:ahLst/>
            <a:cxnLst/>
            <a:rect r="r" b="b" t="t" l="l"/>
            <a:pathLst>
              <a:path h="3021844" w="3842499">
                <a:moveTo>
                  <a:pt x="0" y="0"/>
                </a:moveTo>
                <a:lnTo>
                  <a:pt x="3842499" y="0"/>
                </a:lnTo>
                <a:lnTo>
                  <a:pt x="3842499" y="3021844"/>
                </a:lnTo>
                <a:lnTo>
                  <a:pt x="0" y="30218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9" id="79"/>
          <p:cNvGrpSpPr/>
          <p:nvPr/>
        </p:nvGrpSpPr>
        <p:grpSpPr>
          <a:xfrm rot="0">
            <a:off x="13800877" y="5239922"/>
            <a:ext cx="3241434" cy="1190730"/>
            <a:chOff x="0" y="0"/>
            <a:chExt cx="4321912" cy="1587640"/>
          </a:xfrm>
        </p:grpSpPr>
        <p:sp>
          <p:nvSpPr>
            <p:cNvPr name="Freeform 80" id="80"/>
            <p:cNvSpPr/>
            <p:nvPr/>
          </p:nvSpPr>
          <p:spPr>
            <a:xfrm flipH="false" flipV="false" rot="0">
              <a:off x="0" y="0"/>
              <a:ext cx="4321937" cy="1587627"/>
            </a:xfrm>
            <a:custGeom>
              <a:avLst/>
              <a:gdLst/>
              <a:ahLst/>
              <a:cxnLst/>
              <a:rect r="r" b="b" t="t" l="l"/>
              <a:pathLst>
                <a:path h="1587627" w="4321937">
                  <a:moveTo>
                    <a:pt x="0" y="0"/>
                  </a:moveTo>
                  <a:lnTo>
                    <a:pt x="4321937" y="0"/>
                  </a:lnTo>
                  <a:lnTo>
                    <a:pt x="4321937" y="1587627"/>
                  </a:lnTo>
                  <a:lnTo>
                    <a:pt x="0" y="1587627"/>
                  </a:lnTo>
                  <a:close/>
                </a:path>
              </a:pathLst>
            </a:custGeom>
            <a:blipFill>
              <a:blip r:embed="rId4">
                <a:alphaModFix amt="0"/>
              </a:blip>
              <a:stretch>
                <a:fillRect l="0" t="-3006" r="0" b="-3006"/>
              </a:stretch>
            </a:blipFill>
          </p:spPr>
        </p:sp>
      </p:grpSp>
      <p:grpSp>
        <p:nvGrpSpPr>
          <p:cNvPr name="Group 81" id="81"/>
          <p:cNvGrpSpPr/>
          <p:nvPr/>
        </p:nvGrpSpPr>
        <p:grpSpPr>
          <a:xfrm rot="0">
            <a:off x="13800877" y="5177904"/>
            <a:ext cx="3241434" cy="1252747"/>
            <a:chOff x="0" y="0"/>
            <a:chExt cx="4321912" cy="1670329"/>
          </a:xfrm>
        </p:grpSpPr>
        <p:sp>
          <p:nvSpPr>
            <p:cNvPr name="Freeform 82" id="82"/>
            <p:cNvSpPr/>
            <p:nvPr/>
          </p:nvSpPr>
          <p:spPr>
            <a:xfrm flipH="false" flipV="false" rot="0">
              <a:off x="0" y="0"/>
              <a:ext cx="4321916" cy="1670332"/>
            </a:xfrm>
            <a:custGeom>
              <a:avLst/>
              <a:gdLst/>
              <a:ahLst/>
              <a:cxnLst/>
              <a:rect r="r" b="b" t="t" l="l"/>
              <a:pathLst>
                <a:path h="1670332" w="4321916">
                  <a:moveTo>
                    <a:pt x="0" y="0"/>
                  </a:moveTo>
                  <a:lnTo>
                    <a:pt x="4321916" y="0"/>
                  </a:lnTo>
                  <a:lnTo>
                    <a:pt x="4321916" y="1670332"/>
                  </a:lnTo>
                  <a:lnTo>
                    <a:pt x="0" y="1670332"/>
                  </a:lnTo>
                  <a:close/>
                </a:path>
              </a:pathLst>
            </a:custGeom>
            <a:blipFill>
              <a:blip r:embed="rId5">
                <a:alphaModFix amt="0"/>
              </a:blip>
              <a:stretch>
                <a:fillRect l="0" t="-416" r="0" b="-416"/>
              </a:stretch>
            </a:blipFill>
          </p:spPr>
        </p:sp>
        <p:sp>
          <p:nvSpPr>
            <p:cNvPr name="TextBox 83" id="83"/>
            <p:cNvSpPr txBox="true"/>
            <p:nvPr/>
          </p:nvSpPr>
          <p:spPr>
            <a:xfrm>
              <a:off x="0" y="-85725"/>
              <a:ext cx="4321912" cy="1756054"/>
            </a:xfrm>
            <a:prstGeom prst="rect">
              <a:avLst/>
            </a:prstGeom>
          </p:spPr>
          <p:txBody>
            <a:bodyPr anchor="ctr" rtlCol="false" tIns="0" lIns="0" bIns="0" rIns="0"/>
            <a:lstStyle/>
            <a:p>
              <a:pPr algn="l">
                <a:lnSpc>
                  <a:spcPts val="5398"/>
                </a:lnSpc>
              </a:pPr>
              <a:r>
                <a:rPr lang="en-US" sz="4499" b="true">
                  <a:solidFill>
                    <a:srgbClr val="0B5E6E"/>
                  </a:solidFill>
                  <a:latin typeface="Calibri (MS) Bold"/>
                  <a:ea typeface="Calibri (MS) Bold"/>
                  <a:cs typeface="Calibri (MS) Bold"/>
                  <a:sym typeface="Calibri (MS) Bold"/>
                </a:rPr>
                <a:t>Peringkat 1</a:t>
              </a:r>
            </a:p>
          </p:txBody>
        </p:sp>
      </p:grpSp>
      <p:sp>
        <p:nvSpPr>
          <p:cNvPr name="TextBox 84" id="84"/>
          <p:cNvSpPr txBox="true"/>
          <p:nvPr/>
        </p:nvSpPr>
        <p:spPr>
          <a:xfrm rot="0">
            <a:off x="13800877" y="6562430"/>
            <a:ext cx="3241434" cy="976265"/>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nasional pada sub-indeks Travel and Tourism Demand Drivers (IPKN 2024)</a:t>
            </a:r>
          </a:p>
        </p:txBody>
      </p:sp>
      <p:sp>
        <p:nvSpPr>
          <p:cNvPr name="Freeform 85" id="85"/>
          <p:cNvSpPr/>
          <p:nvPr/>
        </p:nvSpPr>
        <p:spPr>
          <a:xfrm flipH="false" flipV="false" rot="0">
            <a:off x="13493734" y="1704565"/>
            <a:ext cx="3842499" cy="3021844"/>
          </a:xfrm>
          <a:custGeom>
            <a:avLst/>
            <a:gdLst/>
            <a:ahLst/>
            <a:cxnLst/>
            <a:rect r="r" b="b" t="t" l="l"/>
            <a:pathLst>
              <a:path h="3021844" w="3842499">
                <a:moveTo>
                  <a:pt x="0" y="0"/>
                </a:moveTo>
                <a:lnTo>
                  <a:pt x="3842499" y="0"/>
                </a:lnTo>
                <a:lnTo>
                  <a:pt x="3842499" y="3021845"/>
                </a:lnTo>
                <a:lnTo>
                  <a:pt x="0" y="30218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6" id="86"/>
          <p:cNvGrpSpPr/>
          <p:nvPr/>
        </p:nvGrpSpPr>
        <p:grpSpPr>
          <a:xfrm rot="0">
            <a:off x="13800877" y="2117550"/>
            <a:ext cx="3241434" cy="1190730"/>
            <a:chOff x="0" y="0"/>
            <a:chExt cx="4321912" cy="1587640"/>
          </a:xfrm>
        </p:grpSpPr>
        <p:sp>
          <p:nvSpPr>
            <p:cNvPr name="Freeform 87" id="87"/>
            <p:cNvSpPr/>
            <p:nvPr/>
          </p:nvSpPr>
          <p:spPr>
            <a:xfrm flipH="false" flipV="false" rot="0">
              <a:off x="0" y="0"/>
              <a:ext cx="4321937" cy="1587627"/>
            </a:xfrm>
            <a:custGeom>
              <a:avLst/>
              <a:gdLst/>
              <a:ahLst/>
              <a:cxnLst/>
              <a:rect r="r" b="b" t="t" l="l"/>
              <a:pathLst>
                <a:path h="1587627" w="4321937">
                  <a:moveTo>
                    <a:pt x="0" y="0"/>
                  </a:moveTo>
                  <a:lnTo>
                    <a:pt x="4321937" y="0"/>
                  </a:lnTo>
                  <a:lnTo>
                    <a:pt x="4321937" y="1587627"/>
                  </a:lnTo>
                  <a:lnTo>
                    <a:pt x="0" y="1587627"/>
                  </a:lnTo>
                  <a:close/>
                </a:path>
              </a:pathLst>
            </a:custGeom>
            <a:blipFill>
              <a:blip r:embed="rId4">
                <a:alphaModFix amt="0"/>
              </a:blip>
              <a:stretch>
                <a:fillRect l="0" t="-3006" r="0" b="-3006"/>
              </a:stretch>
            </a:blipFill>
          </p:spPr>
        </p:sp>
      </p:grpSp>
      <p:grpSp>
        <p:nvGrpSpPr>
          <p:cNvPr name="Group 88" id="88"/>
          <p:cNvGrpSpPr/>
          <p:nvPr/>
        </p:nvGrpSpPr>
        <p:grpSpPr>
          <a:xfrm rot="0">
            <a:off x="13800877" y="2048647"/>
            <a:ext cx="3241434" cy="1259643"/>
            <a:chOff x="0" y="0"/>
            <a:chExt cx="4321912" cy="1679524"/>
          </a:xfrm>
        </p:grpSpPr>
        <p:sp>
          <p:nvSpPr>
            <p:cNvPr name="Freeform 89" id="89"/>
            <p:cNvSpPr/>
            <p:nvPr/>
          </p:nvSpPr>
          <p:spPr>
            <a:xfrm flipH="false" flipV="false" rot="0">
              <a:off x="0" y="0"/>
              <a:ext cx="4321916" cy="1679519"/>
            </a:xfrm>
            <a:custGeom>
              <a:avLst/>
              <a:gdLst/>
              <a:ahLst/>
              <a:cxnLst/>
              <a:rect r="r" b="b" t="t" l="l"/>
              <a:pathLst>
                <a:path h="1679519" w="4321916">
                  <a:moveTo>
                    <a:pt x="0" y="0"/>
                  </a:moveTo>
                  <a:lnTo>
                    <a:pt x="4321916" y="0"/>
                  </a:lnTo>
                  <a:lnTo>
                    <a:pt x="4321916" y="1679519"/>
                  </a:lnTo>
                  <a:lnTo>
                    <a:pt x="0" y="1679519"/>
                  </a:lnTo>
                  <a:close/>
                </a:path>
              </a:pathLst>
            </a:custGeom>
            <a:blipFill>
              <a:blip r:embed="rId5">
                <a:alphaModFix amt="0"/>
              </a:blip>
              <a:stretch>
                <a:fillRect l="0" t="-140" r="0" b="-141"/>
              </a:stretch>
            </a:blipFill>
          </p:spPr>
        </p:sp>
        <p:sp>
          <p:nvSpPr>
            <p:cNvPr name="TextBox 90" id="90"/>
            <p:cNvSpPr txBox="true"/>
            <p:nvPr/>
          </p:nvSpPr>
          <p:spPr>
            <a:xfrm>
              <a:off x="0" y="-95250"/>
              <a:ext cx="4321912" cy="1774774"/>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Prioritas #2</a:t>
              </a:r>
            </a:p>
          </p:txBody>
        </p:sp>
      </p:grpSp>
      <p:sp>
        <p:nvSpPr>
          <p:cNvPr name="TextBox 91" id="91"/>
          <p:cNvSpPr txBox="true"/>
          <p:nvPr/>
        </p:nvSpPr>
        <p:spPr>
          <a:xfrm rot="0">
            <a:off x="13800877" y="3440059"/>
            <a:ext cx="3241434" cy="976265"/>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sektor prioritas Pemda DIY setelah pendidikan (RPJMD 2012–2025)</a:t>
            </a:r>
          </a:p>
        </p:txBody>
      </p:sp>
      <p:sp>
        <p:nvSpPr>
          <p:cNvPr name="TextBox 92" id="9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a:t>
            </a:r>
          </a:p>
        </p:txBody>
      </p:sp>
      <p:grpSp>
        <p:nvGrpSpPr>
          <p:cNvPr name="Group 93" id="93"/>
          <p:cNvGrpSpPr/>
          <p:nvPr/>
        </p:nvGrpSpPr>
        <p:grpSpPr>
          <a:xfrm rot="0">
            <a:off x="822960" y="1711452"/>
            <a:ext cx="7584948" cy="6169628"/>
            <a:chOff x="0" y="0"/>
            <a:chExt cx="10113264" cy="8226171"/>
          </a:xfrm>
        </p:grpSpPr>
        <p:sp>
          <p:nvSpPr>
            <p:cNvPr name="Freeform 94" id="94"/>
            <p:cNvSpPr/>
            <p:nvPr/>
          </p:nvSpPr>
          <p:spPr>
            <a:xfrm flipH="false" flipV="false" rot="0">
              <a:off x="0" y="0"/>
              <a:ext cx="10113264" cy="8226171"/>
            </a:xfrm>
            <a:custGeom>
              <a:avLst/>
              <a:gdLst/>
              <a:ahLst/>
              <a:cxnLst/>
              <a:rect r="r" b="b" t="t" l="l"/>
              <a:pathLst>
                <a:path h="8226171" w="10113264">
                  <a:moveTo>
                    <a:pt x="0" y="0"/>
                  </a:moveTo>
                  <a:lnTo>
                    <a:pt x="10113264" y="0"/>
                  </a:lnTo>
                  <a:lnTo>
                    <a:pt x="10113264" y="8226171"/>
                  </a:lnTo>
                  <a:lnTo>
                    <a:pt x="0" y="8226171"/>
                  </a:lnTo>
                  <a:lnTo>
                    <a:pt x="0" y="0"/>
                  </a:lnTo>
                  <a:close/>
                </a:path>
              </a:pathLst>
            </a:custGeom>
            <a:blipFill>
              <a:blip r:embed="rId8"/>
              <a:stretch>
                <a:fillRect l="-4384" t="0" r="-4384" b="0"/>
              </a:stretch>
            </a:blipFill>
          </p:spPr>
        </p:sp>
      </p:grpSp>
      <p:sp>
        <p:nvSpPr>
          <p:cNvPr id="95"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7" id="7"/>
          <p:cNvSpPr txBox="true"/>
          <p:nvPr/>
        </p:nvSpPr>
        <p:spPr>
          <a:xfrm rot="0">
            <a:off x="822960" y="731520"/>
            <a:ext cx="16637508" cy="68580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1.1 · Latar Belakang — Permasalahan</a:t>
            </a:r>
          </a:p>
          <a:p>
            <a:pPr algn="l">
              <a:lnSpc>
                <a:spcPct val="100000"/>
              </a:lnSpc>
            </a:pPr>
            <a:r>
              <a:rPr lang="en-US" sz="3500" b="true">
                <a:solidFill>
                  <a:srgbClr val="0B5E6E"/>
                </a:solidFill>
                <a:latin typeface="Calibri (MS) Bold"/>
                <a:ea typeface="Calibri (MS) Bold"/>
                <a:cs typeface="Calibri (MS) Bold"/>
                <a:sym typeface="Calibri (MS) Bold"/>
              </a:rPr>
              <a:t>Pertumbuhan pesat menekan daya dukung destinasi</a:t>
            </a:r>
          </a:p>
        </p:txBody>
      </p:sp>
      <p:grpSp>
        <p:nvGrpSpPr>
          <p:cNvPr name="Group 8" id="8"/>
          <p:cNvGrpSpPr/>
          <p:nvPr/>
        </p:nvGrpSpPr>
        <p:grpSpPr>
          <a:xfrm rot="0">
            <a:off x="822960" y="274320"/>
            <a:ext cx="2040941" cy="411480"/>
            <a:chOff x="0" y="0"/>
            <a:chExt cx="2721254" cy="548640"/>
          </a:xfrm>
        </p:grpSpPr>
        <p:sp>
          <p:nvSpPr>
            <p:cNvPr name="Freeform 9" id="9"/>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0" id="10"/>
          <p:cNvGrpSpPr/>
          <p:nvPr/>
        </p:nvGrpSpPr>
        <p:grpSpPr>
          <a:xfrm rot="0">
            <a:off x="822960" y="274320"/>
            <a:ext cx="2040941" cy="411480"/>
            <a:chOff x="0" y="0"/>
            <a:chExt cx="2721254" cy="548640"/>
          </a:xfrm>
        </p:grpSpPr>
        <p:sp>
          <p:nvSpPr>
            <p:cNvPr name="Freeform 11" id="11"/>
            <p:cNvSpPr/>
            <p:nvPr/>
          </p:nvSpPr>
          <p:spPr>
            <a:xfrm flipH="false" flipV="false" rot="0">
              <a:off x="0" y="0"/>
              <a:ext cx="2721254" cy="548640"/>
            </a:xfrm>
            <a:custGeom>
              <a:avLst/>
              <a:gdLst/>
              <a:ahLst/>
              <a:cxnLst/>
              <a:rect r="r" b="b" t="t" l="l"/>
              <a:pathLst>
                <a:path h="548640" w="2721254">
                  <a:moveTo>
                    <a:pt x="0" y="0"/>
                  </a:moveTo>
                  <a:lnTo>
                    <a:pt x="2721254" y="0"/>
                  </a:lnTo>
                  <a:lnTo>
                    <a:pt x="2721254" y="548640"/>
                  </a:lnTo>
                  <a:lnTo>
                    <a:pt x="0" y="548640"/>
                  </a:lnTo>
                  <a:close/>
                </a:path>
              </a:pathLst>
            </a:custGeom>
            <a:blipFill>
              <a:blip r:embed="rId4">
                <a:alphaModFix amt="0"/>
              </a:blip>
              <a:stretch>
                <a:fillRect l="0" t="-46645" r="0" b="-46645"/>
              </a:stretch>
            </a:blipFill>
          </p:spPr>
          <p:txBody>
            <a:bodyPr/>
            <a:p/>
          </p:txBody>
        </p:sp>
        <p:sp>
          <p:nvSpPr>
            <p:cNvPr name="TextBox 12" id="12"/>
            <p:cNvSpPr txBox="true"/>
            <p:nvPr/>
          </p:nvSpPr>
          <p:spPr>
            <a:xfrm>
              <a:off x="0" y="-19050"/>
              <a:ext cx="2721254" cy="56769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Pendahuluan</a:t>
              </a:r>
            </a:p>
          </p:txBody>
        </p:sp>
      </p:grpSp>
      <p:grpSp>
        <p:nvGrpSpPr>
          <p:cNvPr name="Group 13" id="13"/>
          <p:cNvGrpSpPr/>
          <p:nvPr/>
        </p:nvGrpSpPr>
        <p:grpSpPr>
          <a:xfrm rot="0">
            <a:off x="2973629" y="274320"/>
            <a:ext cx="2378354" cy="411480"/>
            <a:chOff x="0" y="0"/>
            <a:chExt cx="3171139" cy="548640"/>
          </a:xfrm>
        </p:grpSpPr>
        <p:sp>
          <p:nvSpPr>
            <p:cNvPr name="Freeform 14" id="14"/>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5" id="15"/>
          <p:cNvGrpSpPr/>
          <p:nvPr/>
        </p:nvGrpSpPr>
        <p:grpSpPr>
          <a:xfrm rot="0">
            <a:off x="2973629" y="274320"/>
            <a:ext cx="2378354" cy="411480"/>
            <a:chOff x="0" y="0"/>
            <a:chExt cx="3171139" cy="548640"/>
          </a:xfrm>
        </p:grpSpPr>
        <p:sp>
          <p:nvSpPr>
            <p:cNvPr name="Freeform 16" id="16"/>
            <p:cNvSpPr/>
            <p:nvPr/>
          </p:nvSpPr>
          <p:spPr>
            <a:xfrm flipH="false" flipV="false" rot="0">
              <a:off x="0" y="0"/>
              <a:ext cx="3171140" cy="548640"/>
            </a:xfrm>
            <a:custGeom>
              <a:avLst/>
              <a:gdLst/>
              <a:ahLst/>
              <a:cxnLst/>
              <a:rect r="r" b="b" t="t" l="l"/>
              <a:pathLst>
                <a:path h="548640" w="3171140">
                  <a:moveTo>
                    <a:pt x="0" y="0"/>
                  </a:moveTo>
                  <a:lnTo>
                    <a:pt x="3171140" y="0"/>
                  </a:lnTo>
                  <a:lnTo>
                    <a:pt x="3171140" y="548640"/>
                  </a:lnTo>
                  <a:lnTo>
                    <a:pt x="0" y="548640"/>
                  </a:lnTo>
                  <a:close/>
                </a:path>
              </a:pathLst>
            </a:custGeom>
            <a:blipFill>
              <a:blip r:embed="rId4">
                <a:alphaModFix amt="0"/>
              </a:blip>
              <a:stretch>
                <a:fillRect l="0" t="-62623" r="0" b="-62623"/>
              </a:stretch>
            </a:blipFill>
          </p:spPr>
          <p:txBody>
            <a:bodyPr/>
            <a:p/>
          </p:txBody>
        </p:sp>
        <p:sp>
          <p:nvSpPr>
            <p:cNvPr name="TextBox 17" id="17"/>
            <p:cNvSpPr txBox="true"/>
            <p:nvPr/>
          </p:nvSpPr>
          <p:spPr>
            <a:xfrm>
              <a:off x="0" y="-19050"/>
              <a:ext cx="3171139"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18" id="18"/>
          <p:cNvGrpSpPr/>
          <p:nvPr/>
        </p:nvGrpSpPr>
        <p:grpSpPr>
          <a:xfrm rot="0">
            <a:off x="5461711" y="274320"/>
            <a:ext cx="1591056" cy="411480"/>
            <a:chOff x="0" y="0"/>
            <a:chExt cx="2121408" cy="548640"/>
          </a:xfrm>
        </p:grpSpPr>
        <p:sp>
          <p:nvSpPr>
            <p:cNvPr name="Freeform 19" id="19"/>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0" id="20"/>
          <p:cNvGrpSpPr/>
          <p:nvPr/>
        </p:nvGrpSpPr>
        <p:grpSpPr>
          <a:xfrm rot="0">
            <a:off x="5461711" y="274320"/>
            <a:ext cx="1591056" cy="411480"/>
            <a:chOff x="0" y="0"/>
            <a:chExt cx="2121408" cy="548640"/>
          </a:xfrm>
        </p:grpSpPr>
        <p:sp>
          <p:nvSpPr>
            <p:cNvPr name="Freeform 21" id="21"/>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342" r="0" b="-25342"/>
              </a:stretch>
            </a:blipFill>
          </p:spPr>
          <p:txBody>
            <a:bodyPr/>
            <a:p/>
          </p:txBody>
        </p:sp>
        <p:sp>
          <p:nvSpPr>
            <p:cNvPr name="TextBox 22" id="22"/>
            <p:cNvSpPr txBox="true"/>
            <p:nvPr/>
          </p:nvSpPr>
          <p:spPr>
            <a:xfrm>
              <a:off x="0" y="-19050"/>
              <a:ext cx="2121408"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23" id="23"/>
          <p:cNvGrpSpPr/>
          <p:nvPr/>
        </p:nvGrpSpPr>
        <p:grpSpPr>
          <a:xfrm rot="0">
            <a:off x="7162495" y="274320"/>
            <a:ext cx="2490826" cy="411480"/>
            <a:chOff x="0" y="0"/>
            <a:chExt cx="3321101" cy="548640"/>
          </a:xfrm>
        </p:grpSpPr>
        <p:sp>
          <p:nvSpPr>
            <p:cNvPr name="Freeform 24" id="24"/>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5" id="25"/>
          <p:cNvGrpSpPr/>
          <p:nvPr/>
        </p:nvGrpSpPr>
        <p:grpSpPr>
          <a:xfrm rot="0">
            <a:off x="7162495" y="274320"/>
            <a:ext cx="2490826" cy="411480"/>
            <a:chOff x="0" y="0"/>
            <a:chExt cx="3321101" cy="548640"/>
          </a:xfrm>
        </p:grpSpPr>
        <p:sp>
          <p:nvSpPr>
            <p:cNvPr name="Freeform 26" id="26"/>
            <p:cNvSpPr/>
            <p:nvPr/>
          </p:nvSpPr>
          <p:spPr>
            <a:xfrm flipH="false" flipV="false" rot="0">
              <a:off x="0" y="0"/>
              <a:ext cx="3321100" cy="548640"/>
            </a:xfrm>
            <a:custGeom>
              <a:avLst/>
              <a:gdLst/>
              <a:ahLst/>
              <a:cxnLst/>
              <a:rect r="r" b="b" t="t" l="l"/>
              <a:pathLst>
                <a:path h="548640" w="3321100">
                  <a:moveTo>
                    <a:pt x="0" y="0"/>
                  </a:moveTo>
                  <a:lnTo>
                    <a:pt x="3321100" y="0"/>
                  </a:lnTo>
                  <a:lnTo>
                    <a:pt x="3321100" y="548640"/>
                  </a:lnTo>
                  <a:lnTo>
                    <a:pt x="0" y="548640"/>
                  </a:lnTo>
                  <a:close/>
                </a:path>
              </a:pathLst>
            </a:custGeom>
            <a:blipFill>
              <a:blip r:embed="rId4">
                <a:alphaModFix amt="0"/>
              </a:blip>
              <a:stretch>
                <a:fillRect l="0" t="-67949" r="0" b="-67949"/>
              </a:stretch>
            </a:blipFill>
          </p:spPr>
          <p:txBody>
            <a:bodyPr/>
            <a:p/>
          </p:txBody>
        </p:sp>
        <p:sp>
          <p:nvSpPr>
            <p:cNvPr name="TextBox 27" id="27"/>
            <p:cNvSpPr txBox="true"/>
            <p:nvPr/>
          </p:nvSpPr>
          <p:spPr>
            <a:xfrm>
              <a:off x="0" y="-19050"/>
              <a:ext cx="3321101"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28" id="28"/>
          <p:cNvGrpSpPr/>
          <p:nvPr/>
        </p:nvGrpSpPr>
        <p:grpSpPr>
          <a:xfrm rot="0">
            <a:off x="9763049" y="274320"/>
            <a:ext cx="1366114" cy="411480"/>
            <a:chOff x="0" y="0"/>
            <a:chExt cx="1821485" cy="548640"/>
          </a:xfrm>
        </p:grpSpPr>
        <p:sp>
          <p:nvSpPr>
            <p:cNvPr name="Freeform 29" id="2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0" id="30"/>
          <p:cNvGrpSpPr/>
          <p:nvPr/>
        </p:nvGrpSpPr>
        <p:grpSpPr>
          <a:xfrm rot="0">
            <a:off x="9763049" y="274320"/>
            <a:ext cx="1366114" cy="411480"/>
            <a:chOff x="0" y="0"/>
            <a:chExt cx="1821485" cy="548640"/>
          </a:xfrm>
        </p:grpSpPr>
        <p:sp>
          <p:nvSpPr>
            <p:cNvPr name="Freeform 31" id="31"/>
            <p:cNvSpPr/>
            <p:nvPr/>
          </p:nvSpPr>
          <p:spPr>
            <a:xfrm flipH="false" flipV="false" rot="0">
              <a:off x="0" y="0"/>
              <a:ext cx="1821484" cy="548640"/>
            </a:xfrm>
            <a:custGeom>
              <a:avLst/>
              <a:gdLst/>
              <a:ahLst/>
              <a:cxnLst/>
              <a:rect r="r" b="b" t="t" l="l"/>
              <a:pathLst>
                <a:path h="548640" w="1821484">
                  <a:moveTo>
                    <a:pt x="0" y="0"/>
                  </a:moveTo>
                  <a:lnTo>
                    <a:pt x="1821484" y="0"/>
                  </a:lnTo>
                  <a:lnTo>
                    <a:pt x="1821484" y="548640"/>
                  </a:lnTo>
                  <a:lnTo>
                    <a:pt x="0" y="548640"/>
                  </a:lnTo>
                  <a:close/>
                </a:path>
              </a:pathLst>
            </a:custGeom>
            <a:blipFill>
              <a:blip r:embed="rId4">
                <a:alphaModFix amt="0"/>
              </a:blip>
              <a:stretch>
                <a:fillRect l="0" t="-14690" r="0" b="-14690"/>
              </a:stretch>
            </a:blipFill>
          </p:spPr>
          <p:txBody>
            <a:bodyPr/>
            <a:p/>
          </p:txBody>
        </p:sp>
        <p:sp>
          <p:nvSpPr>
            <p:cNvPr name="TextBox 32" id="32"/>
            <p:cNvSpPr txBox="true"/>
            <p:nvPr/>
          </p:nvSpPr>
          <p:spPr>
            <a:xfrm>
              <a:off x="0" y="-19050"/>
              <a:ext cx="1821485"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33" id="33"/>
          <p:cNvGrpSpPr/>
          <p:nvPr/>
        </p:nvGrpSpPr>
        <p:grpSpPr>
          <a:xfrm rot="0">
            <a:off x="11238890" y="274320"/>
            <a:ext cx="1253642" cy="411480"/>
            <a:chOff x="0" y="0"/>
            <a:chExt cx="1671523" cy="548640"/>
          </a:xfrm>
        </p:grpSpPr>
        <p:sp>
          <p:nvSpPr>
            <p:cNvPr name="Freeform 34" id="34"/>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5" id="35"/>
          <p:cNvGrpSpPr/>
          <p:nvPr/>
        </p:nvGrpSpPr>
        <p:grpSpPr>
          <a:xfrm rot="0">
            <a:off x="11238890" y="274320"/>
            <a:ext cx="1253642" cy="411480"/>
            <a:chOff x="0" y="0"/>
            <a:chExt cx="1671523" cy="548640"/>
          </a:xfrm>
        </p:grpSpPr>
        <p:sp>
          <p:nvSpPr>
            <p:cNvPr name="Freeform 36" id="36"/>
            <p:cNvSpPr/>
            <p:nvPr/>
          </p:nvSpPr>
          <p:spPr>
            <a:xfrm flipH="false" flipV="false" rot="0">
              <a:off x="0" y="0"/>
              <a:ext cx="1671524" cy="548640"/>
            </a:xfrm>
            <a:custGeom>
              <a:avLst/>
              <a:gdLst/>
              <a:ahLst/>
              <a:cxnLst/>
              <a:rect r="r" b="b" t="t" l="l"/>
              <a:pathLst>
                <a:path h="548640" w="1671524">
                  <a:moveTo>
                    <a:pt x="0" y="0"/>
                  </a:moveTo>
                  <a:lnTo>
                    <a:pt x="1671524" y="0"/>
                  </a:lnTo>
                  <a:lnTo>
                    <a:pt x="1671524" y="548640"/>
                  </a:lnTo>
                  <a:lnTo>
                    <a:pt x="0" y="548640"/>
                  </a:lnTo>
                  <a:close/>
                </a:path>
              </a:pathLst>
            </a:custGeom>
            <a:blipFill>
              <a:blip r:embed="rId4">
                <a:alphaModFix amt="0"/>
              </a:blip>
              <a:stretch>
                <a:fillRect l="0" t="-9364" r="0" b="-9364"/>
              </a:stretch>
            </a:blipFill>
          </p:spPr>
          <p:txBody>
            <a:bodyPr/>
            <a:p/>
          </p:txBody>
        </p:sp>
        <p:sp>
          <p:nvSpPr>
            <p:cNvPr name="TextBox 37" id="37"/>
            <p:cNvSpPr txBox="true"/>
            <p:nvPr/>
          </p:nvSpPr>
          <p:spPr>
            <a:xfrm>
              <a:off x="0" y="-19050"/>
              <a:ext cx="1671523"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38" id="38"/>
          <p:cNvGrpSpPr/>
          <p:nvPr/>
        </p:nvGrpSpPr>
        <p:grpSpPr>
          <a:xfrm rot="0">
            <a:off x="822960" y="2743200"/>
            <a:ext cx="2125980" cy="1645920"/>
            <a:chOff x="0" y="0"/>
            <a:chExt cx="2834640" cy="2194560"/>
          </a:xfrm>
        </p:grpSpPr>
        <p:sp>
          <p:nvSpPr>
            <p:cNvPr name="Freeform 39" id="39"/>
            <p:cNvSpPr/>
            <p:nvPr/>
          </p:nvSpPr>
          <p:spPr>
            <a:xfrm flipH="false" flipV="false" rot="0">
              <a:off x="0" y="0"/>
              <a:ext cx="2834640" cy="2194560"/>
            </a:xfrm>
            <a:custGeom>
              <a:avLst/>
              <a:gdLst/>
              <a:ahLst/>
              <a:cxnLst/>
              <a:rect r="r" b="b" t="t" l="l"/>
              <a:pathLst>
                <a:path h="2194560" w="2834640">
                  <a:moveTo>
                    <a:pt x="0" y="182880"/>
                  </a:moveTo>
                  <a:cubicBezTo>
                    <a:pt x="0" y="81915"/>
                    <a:pt x="81915" y="0"/>
                    <a:pt x="182880" y="0"/>
                  </a:cubicBezTo>
                  <a:lnTo>
                    <a:pt x="2651760" y="0"/>
                  </a:lnTo>
                  <a:cubicBezTo>
                    <a:pt x="2752725" y="0"/>
                    <a:pt x="2834640" y="81915"/>
                    <a:pt x="2834640" y="182880"/>
                  </a:cubicBezTo>
                  <a:lnTo>
                    <a:pt x="2834640" y="2011680"/>
                  </a:lnTo>
                  <a:cubicBezTo>
                    <a:pt x="2834640" y="2112645"/>
                    <a:pt x="2752725" y="2194560"/>
                    <a:pt x="2651760" y="2194560"/>
                  </a:cubicBezTo>
                  <a:lnTo>
                    <a:pt x="182880" y="2194560"/>
                  </a:lnTo>
                  <a:cubicBezTo>
                    <a:pt x="81915" y="2194560"/>
                    <a:pt x="0" y="2112645"/>
                    <a:pt x="0" y="2011680"/>
                  </a:cubicBezTo>
                  <a:close/>
                </a:path>
              </a:pathLst>
            </a:custGeom>
            <a:solidFill>
              <a:srgbClr val="EAF8FA"/>
            </a:solidFill>
          </p:spPr>
        </p:sp>
      </p:grpSp>
      <p:grpSp>
        <p:nvGrpSpPr>
          <p:cNvPr name="Group 40" id="40"/>
          <p:cNvGrpSpPr/>
          <p:nvPr/>
        </p:nvGrpSpPr>
        <p:grpSpPr>
          <a:xfrm rot="0">
            <a:off x="960120" y="2743200"/>
            <a:ext cx="1851660" cy="1645920"/>
            <a:chOff x="0" y="0"/>
            <a:chExt cx="2468880" cy="2194560"/>
          </a:xfrm>
        </p:grpSpPr>
        <p:sp>
          <p:nvSpPr>
            <p:cNvPr name="Freeform 41" id="41"/>
            <p:cNvSpPr/>
            <p:nvPr/>
          </p:nvSpPr>
          <p:spPr>
            <a:xfrm flipH="false" flipV="false" rot="0">
              <a:off x="0" y="0"/>
              <a:ext cx="2468880" cy="2194560"/>
            </a:xfrm>
            <a:custGeom>
              <a:avLst/>
              <a:gdLst/>
              <a:ahLst/>
              <a:cxnLst/>
              <a:rect r="r" b="b" t="t" l="l"/>
              <a:pathLst>
                <a:path h="2194560" w="2468880">
                  <a:moveTo>
                    <a:pt x="0" y="0"/>
                  </a:moveTo>
                  <a:lnTo>
                    <a:pt x="2468880" y="0"/>
                  </a:lnTo>
                  <a:lnTo>
                    <a:pt x="2468880" y="2194560"/>
                  </a:lnTo>
                  <a:lnTo>
                    <a:pt x="0" y="2194560"/>
                  </a:lnTo>
                  <a:close/>
                </a:path>
              </a:pathLst>
            </a:custGeom>
            <a:blipFill>
              <a:blip r:embed="rId4">
                <a:alphaModFix amt="0"/>
              </a:blip>
              <a:stretch>
                <a:fillRect l="-64047" t="0" r="-64047" b="0"/>
              </a:stretch>
            </a:blipFill>
          </p:spPr>
        </p:sp>
        <p:sp>
          <p:nvSpPr>
            <p:cNvPr name="TextBox 42" id="42"/>
            <p:cNvSpPr txBox="true"/>
            <p:nvPr/>
          </p:nvSpPr>
          <p:spPr>
            <a:xfrm>
              <a:off x="0" y="-47625"/>
              <a:ext cx="2468880" cy="2242185"/>
            </a:xfrm>
            <a:prstGeom prst="rect">
              <a:avLst/>
            </a:prstGeom>
          </p:spPr>
          <p:txBody>
            <a:bodyPr anchor="ctr" rtlCol="false" tIns="0" lIns="0" bIns="0" rIns="0"/>
            <a:lstStyle/>
            <a:p>
              <a:pPr algn="ctr">
                <a:lnSpc>
                  <a:spcPts val="2520"/>
                </a:lnSpc>
              </a:pPr>
              <a:r>
                <a:rPr lang="en-US" sz="2100" b="true">
                  <a:solidFill>
                    <a:srgbClr val="0B5E6E"/>
                  </a:solidFill>
                  <a:latin typeface="Calibri (MS) Bold"/>
                  <a:ea typeface="Calibri (MS) Bold"/>
                  <a:cs typeface="Calibri (MS) Bold"/>
                  <a:sym typeface="Calibri (MS) Bold"/>
                </a:rPr>
                <a:t>Permintaan wisatawan</a:t>
              </a:r>
            </a:p>
          </p:txBody>
        </p:sp>
      </p:grpSp>
      <p:grpSp>
        <p:nvGrpSpPr>
          <p:cNvPr name="Group 43" id="43"/>
          <p:cNvGrpSpPr/>
          <p:nvPr/>
        </p:nvGrpSpPr>
        <p:grpSpPr>
          <a:xfrm rot="0">
            <a:off x="3429000" y="2743200"/>
            <a:ext cx="2125980" cy="1645920"/>
            <a:chOff x="0" y="0"/>
            <a:chExt cx="2834640" cy="2194560"/>
          </a:xfrm>
        </p:grpSpPr>
        <p:sp>
          <p:nvSpPr>
            <p:cNvPr name="Freeform 44" id="44"/>
            <p:cNvSpPr/>
            <p:nvPr/>
          </p:nvSpPr>
          <p:spPr>
            <a:xfrm flipH="false" flipV="false" rot="0">
              <a:off x="0" y="0"/>
              <a:ext cx="2834640" cy="2194560"/>
            </a:xfrm>
            <a:custGeom>
              <a:avLst/>
              <a:gdLst/>
              <a:ahLst/>
              <a:cxnLst/>
              <a:rect r="r" b="b" t="t" l="l"/>
              <a:pathLst>
                <a:path h="2194560" w="2834640">
                  <a:moveTo>
                    <a:pt x="0" y="182880"/>
                  </a:moveTo>
                  <a:cubicBezTo>
                    <a:pt x="0" y="81915"/>
                    <a:pt x="81915" y="0"/>
                    <a:pt x="182880" y="0"/>
                  </a:cubicBezTo>
                  <a:lnTo>
                    <a:pt x="2651760" y="0"/>
                  </a:lnTo>
                  <a:cubicBezTo>
                    <a:pt x="2752725" y="0"/>
                    <a:pt x="2834640" y="81915"/>
                    <a:pt x="2834640" y="182880"/>
                  </a:cubicBezTo>
                  <a:lnTo>
                    <a:pt x="2834640" y="2011680"/>
                  </a:lnTo>
                  <a:cubicBezTo>
                    <a:pt x="2834640" y="2112645"/>
                    <a:pt x="2752725" y="2194560"/>
                    <a:pt x="2651760" y="2194560"/>
                  </a:cubicBezTo>
                  <a:lnTo>
                    <a:pt x="182880" y="2194560"/>
                  </a:lnTo>
                  <a:cubicBezTo>
                    <a:pt x="81915" y="2194560"/>
                    <a:pt x="0" y="2112645"/>
                    <a:pt x="0" y="2011680"/>
                  </a:cubicBezTo>
                  <a:close/>
                </a:path>
              </a:pathLst>
            </a:custGeom>
            <a:solidFill>
              <a:srgbClr val="EAF8FA"/>
            </a:solidFill>
          </p:spPr>
        </p:sp>
      </p:grpSp>
      <p:grpSp>
        <p:nvGrpSpPr>
          <p:cNvPr name="Group 45" id="45"/>
          <p:cNvGrpSpPr/>
          <p:nvPr/>
        </p:nvGrpSpPr>
        <p:grpSpPr>
          <a:xfrm rot="0">
            <a:off x="3566160" y="2743200"/>
            <a:ext cx="1851660" cy="1645920"/>
            <a:chOff x="0" y="0"/>
            <a:chExt cx="2468880" cy="2194560"/>
          </a:xfrm>
        </p:grpSpPr>
        <p:sp>
          <p:nvSpPr>
            <p:cNvPr name="Freeform 46" id="46"/>
            <p:cNvSpPr/>
            <p:nvPr/>
          </p:nvSpPr>
          <p:spPr>
            <a:xfrm flipH="false" flipV="false" rot="0">
              <a:off x="0" y="0"/>
              <a:ext cx="2468880" cy="2194560"/>
            </a:xfrm>
            <a:custGeom>
              <a:avLst/>
              <a:gdLst/>
              <a:ahLst/>
              <a:cxnLst/>
              <a:rect r="r" b="b" t="t" l="l"/>
              <a:pathLst>
                <a:path h="2194560" w="2468880">
                  <a:moveTo>
                    <a:pt x="0" y="0"/>
                  </a:moveTo>
                  <a:lnTo>
                    <a:pt x="2468880" y="0"/>
                  </a:lnTo>
                  <a:lnTo>
                    <a:pt x="2468880" y="2194560"/>
                  </a:lnTo>
                  <a:lnTo>
                    <a:pt x="0" y="2194560"/>
                  </a:lnTo>
                  <a:close/>
                </a:path>
              </a:pathLst>
            </a:custGeom>
            <a:blipFill>
              <a:blip r:embed="rId4">
                <a:alphaModFix amt="0"/>
              </a:blip>
              <a:stretch>
                <a:fillRect l="-64047" t="0" r="-64047" b="0"/>
              </a:stretch>
            </a:blipFill>
          </p:spPr>
        </p:sp>
        <p:sp>
          <p:nvSpPr>
            <p:cNvPr name="TextBox 47" id="47"/>
            <p:cNvSpPr txBox="true"/>
            <p:nvPr/>
          </p:nvSpPr>
          <p:spPr>
            <a:xfrm>
              <a:off x="0" y="-47625"/>
              <a:ext cx="2468880" cy="2242185"/>
            </a:xfrm>
            <a:prstGeom prst="rect">
              <a:avLst/>
            </a:prstGeom>
          </p:spPr>
          <p:txBody>
            <a:bodyPr anchor="ctr" rtlCol="false" tIns="0" lIns="0" bIns="0" rIns="0"/>
            <a:lstStyle/>
            <a:p>
              <a:pPr algn="ctr">
                <a:lnSpc>
                  <a:spcPts val="2520"/>
                </a:lnSpc>
              </a:pPr>
              <a:r>
                <a:rPr lang="en-US" sz="2100" b="true">
                  <a:solidFill>
                    <a:srgbClr val="0B5E6E"/>
                  </a:solidFill>
                  <a:latin typeface="Calibri (MS) Bold"/>
                  <a:ea typeface="Calibri (MS) Bold"/>
                  <a:cs typeface="Calibri (MS) Bold"/>
                  <a:sym typeface="Calibri (MS) Bold"/>
                </a:rPr>
                <a:t>Akomodasi &amp; objek daya tarik</a:t>
              </a:r>
            </a:p>
          </p:txBody>
        </p:sp>
      </p:grpSp>
      <p:grpSp>
        <p:nvGrpSpPr>
          <p:cNvPr name="Group 48" id="48"/>
          <p:cNvGrpSpPr/>
          <p:nvPr/>
        </p:nvGrpSpPr>
        <p:grpSpPr>
          <a:xfrm rot="0">
            <a:off x="6035040" y="2743200"/>
            <a:ext cx="2125980" cy="1645920"/>
            <a:chOff x="0" y="0"/>
            <a:chExt cx="2834640" cy="2194560"/>
          </a:xfrm>
        </p:grpSpPr>
        <p:sp>
          <p:nvSpPr>
            <p:cNvPr name="Freeform 49" id="49"/>
            <p:cNvSpPr/>
            <p:nvPr/>
          </p:nvSpPr>
          <p:spPr>
            <a:xfrm flipH="false" flipV="false" rot="0">
              <a:off x="0" y="0"/>
              <a:ext cx="2834640" cy="2194560"/>
            </a:xfrm>
            <a:custGeom>
              <a:avLst/>
              <a:gdLst/>
              <a:ahLst/>
              <a:cxnLst/>
              <a:rect r="r" b="b" t="t" l="l"/>
              <a:pathLst>
                <a:path h="2194560" w="2834640">
                  <a:moveTo>
                    <a:pt x="0" y="182880"/>
                  </a:moveTo>
                  <a:cubicBezTo>
                    <a:pt x="0" y="81915"/>
                    <a:pt x="81915" y="0"/>
                    <a:pt x="182880" y="0"/>
                  </a:cubicBezTo>
                  <a:lnTo>
                    <a:pt x="2651760" y="0"/>
                  </a:lnTo>
                  <a:cubicBezTo>
                    <a:pt x="2752725" y="0"/>
                    <a:pt x="2834640" y="81915"/>
                    <a:pt x="2834640" y="182880"/>
                  </a:cubicBezTo>
                  <a:lnTo>
                    <a:pt x="2834640" y="2011680"/>
                  </a:lnTo>
                  <a:cubicBezTo>
                    <a:pt x="2834640" y="2112645"/>
                    <a:pt x="2752725" y="2194560"/>
                    <a:pt x="2651760" y="2194560"/>
                  </a:cubicBezTo>
                  <a:lnTo>
                    <a:pt x="182880" y="2194560"/>
                  </a:lnTo>
                  <a:cubicBezTo>
                    <a:pt x="81915" y="2194560"/>
                    <a:pt x="0" y="2112645"/>
                    <a:pt x="0" y="2011680"/>
                  </a:cubicBezTo>
                  <a:close/>
                </a:path>
              </a:pathLst>
            </a:custGeom>
            <a:solidFill>
              <a:srgbClr val="EAF8FA"/>
            </a:solidFill>
          </p:spPr>
        </p:sp>
      </p:grpSp>
      <p:grpSp>
        <p:nvGrpSpPr>
          <p:cNvPr name="Group 50" id="50"/>
          <p:cNvGrpSpPr/>
          <p:nvPr/>
        </p:nvGrpSpPr>
        <p:grpSpPr>
          <a:xfrm rot="0">
            <a:off x="6172200" y="2743200"/>
            <a:ext cx="1851660" cy="1645920"/>
            <a:chOff x="0" y="0"/>
            <a:chExt cx="2468880" cy="2194560"/>
          </a:xfrm>
        </p:grpSpPr>
        <p:sp>
          <p:nvSpPr>
            <p:cNvPr name="Freeform 51" id="51"/>
            <p:cNvSpPr/>
            <p:nvPr/>
          </p:nvSpPr>
          <p:spPr>
            <a:xfrm flipH="false" flipV="false" rot="0">
              <a:off x="0" y="0"/>
              <a:ext cx="2468880" cy="2194560"/>
            </a:xfrm>
            <a:custGeom>
              <a:avLst/>
              <a:gdLst/>
              <a:ahLst/>
              <a:cxnLst/>
              <a:rect r="r" b="b" t="t" l="l"/>
              <a:pathLst>
                <a:path h="2194560" w="2468880">
                  <a:moveTo>
                    <a:pt x="0" y="0"/>
                  </a:moveTo>
                  <a:lnTo>
                    <a:pt x="2468880" y="0"/>
                  </a:lnTo>
                  <a:lnTo>
                    <a:pt x="2468880" y="2194560"/>
                  </a:lnTo>
                  <a:lnTo>
                    <a:pt x="0" y="2194560"/>
                  </a:lnTo>
                  <a:close/>
                </a:path>
              </a:pathLst>
            </a:custGeom>
            <a:blipFill>
              <a:blip r:embed="rId4">
                <a:alphaModFix amt="0"/>
              </a:blip>
              <a:stretch>
                <a:fillRect l="-64047" t="0" r="-64047" b="0"/>
              </a:stretch>
            </a:blipFill>
          </p:spPr>
        </p:sp>
        <p:sp>
          <p:nvSpPr>
            <p:cNvPr name="TextBox 52" id="52"/>
            <p:cNvSpPr txBox="true"/>
            <p:nvPr/>
          </p:nvSpPr>
          <p:spPr>
            <a:xfrm>
              <a:off x="0" y="-47625"/>
              <a:ext cx="2468880" cy="2242185"/>
            </a:xfrm>
            <a:prstGeom prst="rect">
              <a:avLst/>
            </a:prstGeom>
          </p:spPr>
          <p:txBody>
            <a:bodyPr anchor="ctr" rtlCol="false" tIns="0" lIns="0" bIns="0" rIns="0"/>
            <a:lstStyle/>
            <a:p>
              <a:pPr algn="ctr">
                <a:lnSpc>
                  <a:spcPts val="2520"/>
                </a:lnSpc>
              </a:pPr>
              <a:r>
                <a:rPr lang="en-US" sz="2100" b="true">
                  <a:solidFill>
                    <a:srgbClr val="0B5E6E"/>
                  </a:solidFill>
                  <a:latin typeface="Calibri (MS) Bold"/>
                  <a:ea typeface="Calibri (MS) Bold"/>
                  <a:cs typeface="Calibri (MS) Bold"/>
                  <a:sym typeface="Calibri (MS) Bold"/>
                </a:rPr>
                <a:t>Nilai tambah &amp; tenaga kerja</a:t>
              </a:r>
            </a:p>
          </p:txBody>
        </p:sp>
      </p:grpSp>
      <p:grpSp>
        <p:nvGrpSpPr>
          <p:cNvPr name="Group 53" id="53"/>
          <p:cNvGrpSpPr/>
          <p:nvPr/>
        </p:nvGrpSpPr>
        <p:grpSpPr>
          <a:xfrm rot="0">
            <a:off x="8641080" y="2743200"/>
            <a:ext cx="2125980" cy="1645920"/>
            <a:chOff x="0" y="0"/>
            <a:chExt cx="2834640" cy="2194560"/>
          </a:xfrm>
        </p:grpSpPr>
        <p:sp>
          <p:nvSpPr>
            <p:cNvPr name="Freeform 54" id="54"/>
            <p:cNvSpPr/>
            <p:nvPr/>
          </p:nvSpPr>
          <p:spPr>
            <a:xfrm flipH="false" flipV="false" rot="0">
              <a:off x="0" y="0"/>
              <a:ext cx="2834640" cy="2194560"/>
            </a:xfrm>
            <a:custGeom>
              <a:avLst/>
              <a:gdLst/>
              <a:ahLst/>
              <a:cxnLst/>
              <a:rect r="r" b="b" t="t" l="l"/>
              <a:pathLst>
                <a:path h="2194560" w="2834640">
                  <a:moveTo>
                    <a:pt x="0" y="182880"/>
                  </a:moveTo>
                  <a:cubicBezTo>
                    <a:pt x="0" y="81915"/>
                    <a:pt x="81915" y="0"/>
                    <a:pt x="182880" y="0"/>
                  </a:cubicBezTo>
                  <a:lnTo>
                    <a:pt x="2651760" y="0"/>
                  </a:lnTo>
                  <a:cubicBezTo>
                    <a:pt x="2752725" y="0"/>
                    <a:pt x="2834640" y="81915"/>
                    <a:pt x="2834640" y="182880"/>
                  </a:cubicBezTo>
                  <a:lnTo>
                    <a:pt x="2834640" y="2011680"/>
                  </a:lnTo>
                  <a:cubicBezTo>
                    <a:pt x="2834640" y="2112645"/>
                    <a:pt x="2752725" y="2194560"/>
                    <a:pt x="2651760" y="2194560"/>
                  </a:cubicBezTo>
                  <a:lnTo>
                    <a:pt x="182880" y="2194560"/>
                  </a:lnTo>
                  <a:cubicBezTo>
                    <a:pt x="81915" y="2194560"/>
                    <a:pt x="0" y="2112645"/>
                    <a:pt x="0" y="2011680"/>
                  </a:cubicBezTo>
                  <a:close/>
                </a:path>
              </a:pathLst>
            </a:custGeom>
            <a:solidFill>
              <a:srgbClr val="FFF1BF"/>
            </a:solidFill>
          </p:spPr>
        </p:sp>
      </p:grpSp>
      <p:grpSp>
        <p:nvGrpSpPr>
          <p:cNvPr name="Group 55" id="55"/>
          <p:cNvGrpSpPr/>
          <p:nvPr/>
        </p:nvGrpSpPr>
        <p:grpSpPr>
          <a:xfrm rot="0">
            <a:off x="8778240" y="2743200"/>
            <a:ext cx="1851660" cy="1645920"/>
            <a:chOff x="0" y="0"/>
            <a:chExt cx="2468880" cy="2194560"/>
          </a:xfrm>
        </p:grpSpPr>
        <p:sp>
          <p:nvSpPr>
            <p:cNvPr name="Freeform 56" id="56"/>
            <p:cNvSpPr/>
            <p:nvPr/>
          </p:nvSpPr>
          <p:spPr>
            <a:xfrm flipH="false" flipV="false" rot="0">
              <a:off x="0" y="0"/>
              <a:ext cx="2468880" cy="2194560"/>
            </a:xfrm>
            <a:custGeom>
              <a:avLst/>
              <a:gdLst/>
              <a:ahLst/>
              <a:cxnLst/>
              <a:rect r="r" b="b" t="t" l="l"/>
              <a:pathLst>
                <a:path h="2194560" w="2468880">
                  <a:moveTo>
                    <a:pt x="0" y="0"/>
                  </a:moveTo>
                  <a:lnTo>
                    <a:pt x="2468880" y="0"/>
                  </a:lnTo>
                  <a:lnTo>
                    <a:pt x="2468880" y="2194560"/>
                  </a:lnTo>
                  <a:lnTo>
                    <a:pt x="0" y="2194560"/>
                  </a:lnTo>
                  <a:close/>
                </a:path>
              </a:pathLst>
            </a:custGeom>
            <a:blipFill>
              <a:blip r:embed="rId4">
                <a:alphaModFix amt="0"/>
              </a:blip>
              <a:stretch>
                <a:fillRect l="-64047" t="0" r="-64047" b="0"/>
              </a:stretch>
            </a:blipFill>
          </p:spPr>
        </p:sp>
        <p:sp>
          <p:nvSpPr>
            <p:cNvPr name="TextBox 57" id="57"/>
            <p:cNvSpPr txBox="true"/>
            <p:nvPr/>
          </p:nvSpPr>
          <p:spPr>
            <a:xfrm>
              <a:off x="0" y="-47625"/>
              <a:ext cx="2468880" cy="2242185"/>
            </a:xfrm>
            <a:prstGeom prst="rect">
              <a:avLst/>
            </a:prstGeom>
          </p:spPr>
          <p:txBody>
            <a:bodyPr anchor="ctr" rtlCol="false" tIns="0" lIns="0" bIns="0" rIns="0"/>
            <a:lstStyle/>
            <a:p>
              <a:pPr algn="ctr">
                <a:lnSpc>
                  <a:spcPts val="2520"/>
                </a:lnSpc>
              </a:pPr>
              <a:r>
                <a:rPr lang="en-US" sz="2100" b="true">
                  <a:solidFill>
                    <a:srgbClr val="0B5E6E"/>
                  </a:solidFill>
                  <a:latin typeface="Calibri (MS) Bold"/>
                  <a:ea typeface="Calibri (MS) Bold"/>
                  <a:cs typeface="Calibri (MS) Bold"/>
                  <a:sym typeface="Calibri (MS) Bold"/>
                </a:rPr>
                <a:t>Tekanan tata ruang dan lahan</a:t>
              </a:r>
            </a:p>
          </p:txBody>
        </p:sp>
      </p:grpSp>
      <p:grpSp>
        <p:nvGrpSpPr>
          <p:cNvPr name="Group 58" id="58"/>
          <p:cNvGrpSpPr/>
          <p:nvPr/>
        </p:nvGrpSpPr>
        <p:grpSpPr>
          <a:xfrm rot="0">
            <a:off x="2331720" y="5650992"/>
            <a:ext cx="6583680" cy="1042416"/>
            <a:chOff x="0" y="0"/>
            <a:chExt cx="8778240" cy="1389888"/>
          </a:xfrm>
        </p:grpSpPr>
        <p:sp>
          <p:nvSpPr>
            <p:cNvPr name="Freeform 59" id="59"/>
            <p:cNvSpPr/>
            <p:nvPr/>
          </p:nvSpPr>
          <p:spPr>
            <a:xfrm flipH="false" flipV="false" rot="0">
              <a:off x="0" y="0"/>
              <a:ext cx="8778240" cy="1389888"/>
            </a:xfrm>
            <a:custGeom>
              <a:avLst/>
              <a:gdLst/>
              <a:ahLst/>
              <a:cxnLst/>
              <a:rect r="r" b="b" t="t" l="l"/>
              <a:pathLst>
                <a:path h="1389888" w="8778240">
                  <a:moveTo>
                    <a:pt x="0" y="182880"/>
                  </a:moveTo>
                  <a:cubicBezTo>
                    <a:pt x="0" y="81915"/>
                    <a:pt x="81915" y="0"/>
                    <a:pt x="182880" y="0"/>
                  </a:cubicBezTo>
                  <a:lnTo>
                    <a:pt x="8595360" y="0"/>
                  </a:lnTo>
                  <a:cubicBezTo>
                    <a:pt x="8696325" y="0"/>
                    <a:pt x="8778240" y="81915"/>
                    <a:pt x="8778240" y="182880"/>
                  </a:cubicBezTo>
                  <a:lnTo>
                    <a:pt x="8778240" y="1207008"/>
                  </a:lnTo>
                  <a:cubicBezTo>
                    <a:pt x="8778240" y="1307973"/>
                    <a:pt x="8696325" y="1389888"/>
                    <a:pt x="8595360" y="1389888"/>
                  </a:cubicBezTo>
                  <a:lnTo>
                    <a:pt x="182880" y="1389888"/>
                  </a:lnTo>
                  <a:cubicBezTo>
                    <a:pt x="81915" y="1389888"/>
                    <a:pt x="0" y="1307973"/>
                    <a:pt x="0" y="1207008"/>
                  </a:cubicBezTo>
                  <a:close/>
                </a:path>
              </a:pathLst>
            </a:custGeom>
            <a:solidFill>
              <a:srgbClr val="FFFFFF"/>
            </a:solidFill>
          </p:spPr>
        </p:sp>
      </p:grpSp>
      <p:grpSp>
        <p:nvGrpSpPr>
          <p:cNvPr name="Group 60" id="60"/>
          <p:cNvGrpSpPr/>
          <p:nvPr/>
        </p:nvGrpSpPr>
        <p:grpSpPr>
          <a:xfrm rot="0">
            <a:off x="2468880" y="5650992"/>
            <a:ext cx="6309360" cy="1042416"/>
            <a:chOff x="0" y="0"/>
            <a:chExt cx="8412480" cy="1389888"/>
          </a:xfrm>
        </p:grpSpPr>
        <p:sp>
          <p:nvSpPr>
            <p:cNvPr name="Freeform 61" id="61"/>
            <p:cNvSpPr/>
            <p:nvPr/>
          </p:nvSpPr>
          <p:spPr>
            <a:xfrm flipH="false" flipV="false" rot="0">
              <a:off x="0" y="0"/>
              <a:ext cx="8412480" cy="1389888"/>
            </a:xfrm>
            <a:custGeom>
              <a:avLst/>
              <a:gdLst/>
              <a:ahLst/>
              <a:cxnLst/>
              <a:rect r="r" b="b" t="t" l="l"/>
              <a:pathLst>
                <a:path h="1389888" w="8412480">
                  <a:moveTo>
                    <a:pt x="0" y="0"/>
                  </a:moveTo>
                  <a:lnTo>
                    <a:pt x="8412480" y="0"/>
                  </a:lnTo>
                  <a:lnTo>
                    <a:pt x="8412480" y="1389888"/>
                  </a:lnTo>
                  <a:lnTo>
                    <a:pt x="0" y="1389888"/>
                  </a:lnTo>
                  <a:close/>
                </a:path>
              </a:pathLst>
            </a:custGeom>
            <a:blipFill>
              <a:blip r:embed="rId4">
                <a:alphaModFix amt="0"/>
              </a:blip>
              <a:stretch>
                <a:fillRect l="0" t="-67935" r="0" b="-67935"/>
              </a:stretch>
            </a:blipFill>
          </p:spPr>
        </p:sp>
        <p:sp>
          <p:nvSpPr>
            <p:cNvPr name="TextBox 62" id="62"/>
            <p:cNvSpPr txBox="true"/>
            <p:nvPr/>
          </p:nvSpPr>
          <p:spPr>
            <a:xfrm>
              <a:off x="0" y="-47625"/>
              <a:ext cx="8412480" cy="1437513"/>
            </a:xfrm>
            <a:prstGeom prst="rect">
              <a:avLst/>
            </a:prstGeom>
          </p:spPr>
          <p:txBody>
            <a:bodyPr anchor="ctr" rtlCol="false" tIns="0" lIns="0" bIns="0" rIns="0"/>
            <a:lstStyle/>
            <a:p>
              <a:pPr algn="ctr">
                <a:lnSpc>
                  <a:spcPts val="2340"/>
                </a:lnSpc>
              </a:pPr>
              <a:r>
                <a:rPr lang="en-US" sz="1950" b="true">
                  <a:solidFill>
                    <a:srgbClr val="E4604F"/>
                  </a:solidFill>
                  <a:latin typeface="Calibri (MS) Bold"/>
                  <a:ea typeface="Calibri (MS) Bold"/>
                  <a:cs typeface="Calibri (MS) Bold"/>
                  <a:sym typeface="Calibri (MS) Bold"/>
                </a:rPr>
                <a:t>Kepadatan dan hilangnya daya dukung melemahkan daya tarik → menahan kunjungan</a:t>
              </a:r>
            </a:p>
          </p:txBody>
        </p:sp>
      </p:grpSp>
      <p:sp>
        <p:nvSpPr>
          <p:cNvPr name="TextBox 63" id="63"/>
          <p:cNvSpPr txBox="true"/>
          <p:nvPr/>
        </p:nvSpPr>
        <p:spPr>
          <a:xfrm rot="0">
            <a:off x="822960" y="7368540"/>
            <a:ext cx="9875520" cy="304800"/>
          </a:xfrm>
          <a:prstGeom prst="rect">
            <a:avLst/>
          </a:prstGeom>
        </p:spPr>
        <p:txBody>
          <a:bodyPr anchor="t" rtlCol="false" tIns="0" lIns="0" bIns="0" rIns="0">
            <a:spAutoFit/>
          </a:bodyPr>
          <a:lstStyle/>
          <a:p>
            <a:pPr algn="l">
              <a:lnSpc>
                <a:spcPts val="2160"/>
              </a:lnSpc>
            </a:pPr>
            <a:r>
              <a:rPr lang="en-US" sz="1800" i="true">
                <a:solidFill>
                  <a:srgbClr val="5E6E78"/>
                </a:solidFill>
                <a:latin typeface="Calibri (MS) Italics"/>
                <a:ea typeface="Calibri (MS) Italics"/>
                <a:cs typeface="Calibri (MS) Italics"/>
                <a:sym typeface="Calibri (MS) Italics"/>
              </a:rPr>
              <a:t>Interaksi bersifat non-linear dan berjeda waktu (Mai &amp; Smith, 2018)</a:t>
            </a:r>
          </a:p>
        </p:txBody>
      </p:sp>
      <p:sp>
        <p:nvSpPr>
          <p:cNvPr name="TextBox 64" id="64"/>
          <p:cNvSpPr txBox="true"/>
          <p:nvPr/>
        </p:nvSpPr>
        <p:spPr>
          <a:xfrm rot="0">
            <a:off x="11590020" y="2499360"/>
            <a:ext cx="5870448" cy="518160"/>
          </a:xfrm>
          <a:prstGeom prst="rect">
            <a:avLst/>
          </a:prstGeom>
        </p:spPr>
        <p:txBody>
          <a:bodyPr anchor="t" rtlCol="false" tIns="0" lIns="0" bIns="0" rIns="0">
            <a:spAutoFit/>
          </a:bodyPr>
          <a:lstStyle/>
          <a:p>
            <a:pPr algn="l">
              <a:lnSpc>
                <a:spcPts val="2879"/>
              </a:lnSpc>
            </a:pPr>
            <a:r>
              <a:rPr lang="en-US" sz="2400" b="true">
                <a:solidFill>
                  <a:srgbClr val="0B5E6E"/>
                </a:solidFill>
                <a:latin typeface="Calibri (MS) Bold"/>
                <a:ea typeface="Calibri (MS) Bold"/>
                <a:cs typeface="Calibri (MS) Bold"/>
                <a:sym typeface="Calibri (MS) Bold"/>
              </a:rPr>
              <a:t>Sistem kompleks</a:t>
            </a:r>
          </a:p>
        </p:txBody>
      </p:sp>
      <p:sp>
        <p:nvSpPr>
          <p:cNvPr name="TextBox 65" id="65"/>
          <p:cNvSpPr txBox="true"/>
          <p:nvPr/>
        </p:nvSpPr>
        <p:spPr>
          <a:xfrm rot="0">
            <a:off x="11590020" y="3038475"/>
            <a:ext cx="5870448" cy="676275"/>
          </a:xfrm>
          <a:prstGeom prst="rect">
            <a:avLst/>
          </a:prstGeom>
        </p:spPr>
        <p:txBody>
          <a:bodyPr anchor="t" rtlCol="false" tIns="0" lIns="0" bIns="0" rIns="0">
            <a:spAutoFit/>
          </a:bodyPr>
          <a:lstStyle/>
          <a:p>
            <a:pPr algn="l">
              <a:lnSpc>
                <a:spcPts val="2520"/>
              </a:lnSpc>
            </a:pPr>
            <a:r>
              <a:rPr lang="en-US" sz="2100">
                <a:solidFill>
                  <a:srgbClr val="14313B"/>
                </a:solidFill>
                <a:latin typeface="Calibri (MS)"/>
                <a:ea typeface="Calibri (MS)"/>
                <a:cs typeface="Calibri (MS)"/>
                <a:sym typeface="Calibri (MS)"/>
              </a:rPr>
              <a:t>Permintaan, akomodasi, ODTW, tenaga kerja, nilai tambah, dan lahan saling terkait.</a:t>
            </a:r>
          </a:p>
        </p:txBody>
      </p:sp>
      <p:sp>
        <p:nvSpPr>
          <p:cNvPr name="TextBox 66" id="66"/>
          <p:cNvSpPr txBox="true"/>
          <p:nvPr/>
        </p:nvSpPr>
        <p:spPr>
          <a:xfrm rot="0">
            <a:off x="11590020" y="4721352"/>
            <a:ext cx="5870448" cy="518160"/>
          </a:xfrm>
          <a:prstGeom prst="rect">
            <a:avLst/>
          </a:prstGeom>
        </p:spPr>
        <p:txBody>
          <a:bodyPr anchor="t" rtlCol="false" tIns="0" lIns="0" bIns="0" rIns="0">
            <a:spAutoFit/>
          </a:bodyPr>
          <a:lstStyle/>
          <a:p>
            <a:pPr algn="l">
              <a:lnSpc>
                <a:spcPts val="2879"/>
              </a:lnSpc>
            </a:pPr>
            <a:r>
              <a:rPr lang="en-US" sz="2400" b="true">
                <a:solidFill>
                  <a:srgbClr val="0B5E6E"/>
                </a:solidFill>
                <a:latin typeface="Calibri (MS) Bold"/>
                <a:ea typeface="Calibri (MS) Bold"/>
                <a:cs typeface="Calibri (MS) Bold"/>
                <a:sym typeface="Calibri (MS) Bold"/>
              </a:rPr>
              <a:t>Tekanan nyata</a:t>
            </a:r>
          </a:p>
        </p:txBody>
      </p:sp>
      <p:sp>
        <p:nvSpPr>
          <p:cNvPr name="TextBox 67" id="67"/>
          <p:cNvSpPr txBox="true"/>
          <p:nvPr/>
        </p:nvSpPr>
        <p:spPr>
          <a:xfrm rot="0">
            <a:off x="11590020" y="5260467"/>
            <a:ext cx="5870448" cy="676275"/>
          </a:xfrm>
          <a:prstGeom prst="rect">
            <a:avLst/>
          </a:prstGeom>
        </p:spPr>
        <p:txBody>
          <a:bodyPr anchor="t" rtlCol="false" tIns="0" lIns="0" bIns="0" rIns="0">
            <a:spAutoFit/>
          </a:bodyPr>
          <a:lstStyle/>
          <a:p>
            <a:pPr algn="l">
              <a:lnSpc>
                <a:spcPts val="2520"/>
              </a:lnSpc>
            </a:pPr>
            <a:r>
              <a:rPr lang="en-US" sz="2100">
                <a:solidFill>
                  <a:srgbClr val="14313B"/>
                </a:solidFill>
                <a:latin typeface="Calibri (MS)"/>
                <a:ea typeface="Calibri (MS)"/>
                <a:cs typeface="Calibri (MS)"/>
                <a:sym typeface="Calibri (MS)"/>
              </a:rPr>
              <a:t>Kepadatan kunjungan di koridor Malioboro dan konversi lahan terbangun di DIY.</a:t>
            </a:r>
          </a:p>
        </p:txBody>
      </p:sp>
      <p:sp>
        <p:nvSpPr>
          <p:cNvPr name="TextBox 68" id="68"/>
          <p:cNvSpPr txBox="true"/>
          <p:nvPr/>
        </p:nvSpPr>
        <p:spPr>
          <a:xfrm rot="0">
            <a:off x="11590020" y="6943344"/>
            <a:ext cx="5870448" cy="518160"/>
          </a:xfrm>
          <a:prstGeom prst="rect">
            <a:avLst/>
          </a:prstGeom>
        </p:spPr>
        <p:txBody>
          <a:bodyPr anchor="t" rtlCol="false" tIns="0" lIns="0" bIns="0" rIns="0">
            <a:spAutoFit/>
          </a:bodyPr>
          <a:lstStyle/>
          <a:p>
            <a:pPr algn="l">
              <a:lnSpc>
                <a:spcPts val="2879"/>
              </a:lnSpc>
            </a:pPr>
            <a:r>
              <a:rPr lang="en-US" sz="2400" b="true">
                <a:solidFill>
                  <a:srgbClr val="0B5E6E"/>
                </a:solidFill>
                <a:latin typeface="Calibri (MS) Bold"/>
                <a:ea typeface="Calibri (MS) Bold"/>
                <a:cs typeface="Calibri (MS) Bold"/>
                <a:sym typeface="Calibri (MS) Bold"/>
              </a:rPr>
              <a:t>Konsekuensi</a:t>
            </a:r>
          </a:p>
        </p:txBody>
      </p:sp>
      <p:sp>
        <p:nvSpPr>
          <p:cNvPr name="TextBox 69" id="69"/>
          <p:cNvSpPr txBox="true"/>
          <p:nvPr/>
        </p:nvSpPr>
        <p:spPr>
          <a:xfrm rot="0">
            <a:off x="11590020" y="7482459"/>
            <a:ext cx="5870448" cy="990600"/>
          </a:xfrm>
          <a:prstGeom prst="rect">
            <a:avLst/>
          </a:prstGeom>
        </p:spPr>
        <p:txBody>
          <a:bodyPr anchor="t" rtlCol="false" tIns="0" lIns="0" bIns="0" rIns="0">
            <a:spAutoFit/>
          </a:bodyPr>
          <a:lstStyle/>
          <a:p>
            <a:pPr algn="l">
              <a:lnSpc>
                <a:spcPts val="2520"/>
              </a:lnSpc>
            </a:pPr>
            <a:r>
              <a:rPr lang="en-US" sz="2100">
                <a:solidFill>
                  <a:srgbClr val="14313B"/>
                </a:solidFill>
                <a:latin typeface="Calibri (MS)"/>
                <a:ea typeface="Calibri (MS)"/>
                <a:cs typeface="Calibri (MS)"/>
                <a:sym typeface="Calibri (MS)"/>
              </a:rPr>
              <a:t>Analisis komponen terpisah tidak cukup: keterkaitanlah yang menentukan pertumbuhan berlanjut atau berbalik menekan destinasi.</a:t>
            </a:r>
          </a:p>
        </p:txBody>
      </p:sp>
      <p:sp>
        <p:nvSpPr>
          <p:cNvPr name="TextBox 70" id="70"/>
          <p:cNvSpPr txBox="true"/>
          <p:nvPr/>
        </p:nvSpPr>
        <p:spPr>
          <a:xfrm rot="0">
            <a:off x="16550640" y="9718548"/>
            <a:ext cx="818388" cy="2667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a:t>
            </a:r>
          </a:p>
        </p:txBody>
      </p:sp>
      <p:sp>
        <p:nvSpPr>
          <p:cNvPr name="Freeform 71" id="71"/>
          <p:cNvSpPr/>
          <p:nvPr/>
        </p:nvSpPr>
        <p:spPr>
          <a:xfrm>
            <a:off x="1885950" y="4389120"/>
            <a:ext cx="582930" cy="1783080"/>
          </a:xfrm>
          <a:custGeom>
            <a:avLst/>
            <a:gdLst/>
            <a:ahLst/>
            <a:cxnLst/>
            <a:rect r="r" b="b" t="t" l="l"/>
            <a:pathLst>
              <a:path h="1783080" w="582930">
                <a:moveTo>
                  <a:pt x="582930" y="1783080"/>
                </a:moveTo>
                <a:lnTo>
                  <a:pt x="228600" y="1783080"/>
                </a:lnTo>
                <a:cubicBezTo>
                  <a:pt x="102348" y="1783080"/>
                  <a:pt x="0" y="1680732"/>
                  <a:pt x="0" y="1554480"/>
                </a:cubicBezTo>
                <a:lnTo>
                  <a:pt x="0" y="0"/>
                </a:lnTo>
              </a:path>
            </a:pathLst>
          </a:custGeom>
          <a:ln cap="flat" w="38100">
            <a:solidFill>
              <a:srgbClr val="E4604F"/>
            </a:solidFill>
            <a:prstDash val="solid"/>
            <a:headEnd type="none" len="sm" w="sm"/>
            <a:tailEnd type="triangle" len="med" w="lg"/>
          </a:ln>
        </p:spPr>
      </p:sp>
      <p:sp>
        <p:nvSpPr>
          <p:cNvPr name="Freeform 72" id="72"/>
          <p:cNvSpPr/>
          <p:nvPr/>
        </p:nvSpPr>
        <p:spPr>
          <a:xfrm>
            <a:off x="8860150" y="4454001"/>
            <a:ext cx="992416" cy="1708064"/>
          </a:xfrm>
          <a:custGeom>
            <a:avLst/>
            <a:gdLst/>
            <a:ahLst/>
            <a:cxnLst/>
            <a:rect r="r" b="b" t="t" l="l"/>
            <a:pathLst>
              <a:path h="1708064" w="992416">
                <a:moveTo>
                  <a:pt x="0" y="1708063"/>
                </a:moveTo>
                <a:lnTo>
                  <a:pt x="763816" y="1708063"/>
                </a:lnTo>
                <a:cubicBezTo>
                  <a:pt x="890068" y="1708063"/>
                  <a:pt x="992416" y="1605716"/>
                  <a:pt x="992416" y="1479463"/>
                </a:cubicBezTo>
                <a:lnTo>
                  <a:pt x="992416" y="0"/>
                </a:lnTo>
              </a:path>
            </a:pathLst>
          </a:custGeom>
          <a:ln cap="flat" w="38100">
            <a:solidFill>
              <a:srgbClr val="E4604F"/>
            </a:solidFill>
            <a:prstDash val="solid"/>
            <a:headEnd type="none" len="sm" w="sm"/>
            <a:tailEnd type="triangle" len="med" w="lg"/>
          </a:ln>
        </p:spPr>
      </p:sp>
      <p:sp>
        <p:nvSpPr>
          <p:cNvPr name="Freeform 73" id="73"/>
          <p:cNvSpPr/>
          <p:nvPr/>
        </p:nvSpPr>
        <p:spPr>
          <a:xfrm>
            <a:off x="2973629" y="3622755"/>
            <a:ext cx="455371" cy="19794"/>
          </a:xfrm>
          <a:custGeom>
            <a:avLst/>
            <a:gdLst/>
            <a:ahLst/>
            <a:cxnLst/>
            <a:rect r="r" b="b" t="t" l="l"/>
            <a:pathLst>
              <a:path h="19794" w="455371">
                <a:moveTo>
                  <a:pt x="0" y="19794"/>
                </a:moveTo>
                <a:lnTo>
                  <a:pt x="217788" y="19794"/>
                </a:lnTo>
                <a:cubicBezTo>
                  <a:pt x="220413" y="19794"/>
                  <a:pt x="222931" y="18752"/>
                  <a:pt x="224787" y="16896"/>
                </a:cubicBezTo>
                <a:cubicBezTo>
                  <a:pt x="226643" y="15040"/>
                  <a:pt x="227685" y="12522"/>
                  <a:pt x="227685" y="9897"/>
                </a:cubicBezTo>
                <a:lnTo>
                  <a:pt x="227685" y="9897"/>
                </a:lnTo>
                <a:cubicBezTo>
                  <a:pt x="227685" y="7272"/>
                  <a:pt x="228728" y="4755"/>
                  <a:pt x="230584" y="2899"/>
                </a:cubicBezTo>
                <a:cubicBezTo>
                  <a:pt x="232440" y="1043"/>
                  <a:pt x="234958" y="0"/>
                  <a:pt x="237583" y="0"/>
                </a:cubicBezTo>
                <a:lnTo>
                  <a:pt x="455371" y="0"/>
                </a:lnTo>
              </a:path>
            </a:pathLst>
          </a:custGeom>
          <a:ln cap="flat" w="38100">
            <a:solidFill>
              <a:srgbClr val="39C0D3"/>
            </a:solidFill>
            <a:prstDash val="solid"/>
            <a:headEnd type="none" len="sm" w="sm"/>
            <a:tailEnd type="triangle" len="med" w="lg"/>
          </a:ln>
        </p:spPr>
      </p:sp>
      <p:sp>
        <p:nvSpPr>
          <p:cNvPr name="Freeform 74" id="74"/>
          <p:cNvSpPr/>
          <p:nvPr/>
        </p:nvSpPr>
        <p:spPr>
          <a:xfrm>
            <a:off x="5554980" y="3530119"/>
            <a:ext cx="480060" cy="103152"/>
          </a:xfrm>
          <a:custGeom>
            <a:avLst/>
            <a:gdLst/>
            <a:ahLst/>
            <a:cxnLst/>
            <a:rect r="r" b="b" t="t" l="l"/>
            <a:pathLst>
              <a:path h="103152" w="480060">
                <a:moveTo>
                  <a:pt x="0" y="0"/>
                </a:moveTo>
                <a:lnTo>
                  <a:pt x="188454" y="0"/>
                </a:lnTo>
                <a:cubicBezTo>
                  <a:pt x="202133" y="0"/>
                  <a:pt x="215251" y="5433"/>
                  <a:pt x="224924" y="15106"/>
                </a:cubicBezTo>
                <a:cubicBezTo>
                  <a:pt x="234596" y="24778"/>
                  <a:pt x="240030" y="37897"/>
                  <a:pt x="240030" y="51576"/>
                </a:cubicBezTo>
                <a:lnTo>
                  <a:pt x="240030" y="51576"/>
                </a:lnTo>
                <a:cubicBezTo>
                  <a:pt x="240030" y="80060"/>
                  <a:pt x="263121" y="103151"/>
                  <a:pt x="291606" y="103151"/>
                </a:cubicBezTo>
                <a:lnTo>
                  <a:pt x="480060" y="103151"/>
                </a:lnTo>
              </a:path>
            </a:pathLst>
          </a:custGeom>
          <a:ln cap="flat" w="38100">
            <a:solidFill>
              <a:srgbClr val="39C0D3"/>
            </a:solidFill>
            <a:prstDash val="solid"/>
            <a:headEnd type="none" len="sm" w="sm"/>
            <a:tailEnd type="triangle" len="med" w="lg"/>
          </a:ln>
        </p:spPr>
      </p:sp>
      <p:sp>
        <p:nvSpPr>
          <p:cNvPr name="Freeform 75" id="75"/>
          <p:cNvSpPr/>
          <p:nvPr/>
        </p:nvSpPr>
        <p:spPr>
          <a:xfrm>
            <a:off x="8161020" y="3597635"/>
            <a:ext cx="543199" cy="19794"/>
          </a:xfrm>
          <a:custGeom>
            <a:avLst/>
            <a:gdLst/>
            <a:ahLst/>
            <a:cxnLst/>
            <a:rect r="r" b="b" t="t" l="l"/>
            <a:pathLst>
              <a:path h="19794" w="543199">
                <a:moveTo>
                  <a:pt x="0" y="19795"/>
                </a:moveTo>
                <a:lnTo>
                  <a:pt x="261702" y="19795"/>
                </a:lnTo>
                <a:cubicBezTo>
                  <a:pt x="264327" y="19795"/>
                  <a:pt x="266845" y="18752"/>
                  <a:pt x="268700" y="16896"/>
                </a:cubicBezTo>
                <a:cubicBezTo>
                  <a:pt x="270557" y="15040"/>
                  <a:pt x="271599" y="12523"/>
                  <a:pt x="271599" y="9898"/>
                </a:cubicBezTo>
                <a:lnTo>
                  <a:pt x="271599" y="9898"/>
                </a:lnTo>
                <a:cubicBezTo>
                  <a:pt x="271599" y="7272"/>
                  <a:pt x="272642" y="4755"/>
                  <a:pt x="274498" y="2899"/>
                </a:cubicBezTo>
                <a:cubicBezTo>
                  <a:pt x="276354" y="1043"/>
                  <a:pt x="278872" y="0"/>
                  <a:pt x="281496" y="0"/>
                </a:cubicBezTo>
                <a:lnTo>
                  <a:pt x="543198" y="0"/>
                </a:lnTo>
              </a:path>
            </a:pathLst>
          </a:custGeom>
          <a:ln cap="flat" w="38100">
            <a:solidFill>
              <a:srgbClr val="39C0D3"/>
            </a:solidFill>
            <a:prstDash val="solid"/>
            <a:headEnd type="none" len="sm" w="sm"/>
            <a:tailEnd type="triangle" len="med" w="lg"/>
          </a:ln>
        </p:spPr>
      </p:sp>
      <p:sp>
        <p:nvSpPr>
          <p:cNvPr id="76"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1.1 · Latar Belakang — Pendekatan Sistem Dinamis</a:t>
            </a:r>
          </a:p>
          <a:p>
            <a:pPr algn="l">
              <a:lnSpc>
                <a:spcPct val="100000"/>
              </a:lnSpc>
            </a:pPr>
            <a:r>
              <a:rPr lang="en-US" sz="3500" b="true">
                <a:solidFill>
                  <a:srgbClr val="0B5E6E"/>
                </a:solidFill>
                <a:latin typeface="Calibri (MS) Bold"/>
                <a:ea typeface="Calibri (MS) Bold"/>
                <a:cs typeface="Calibri (MS) Bold"/>
                <a:sym typeface="Calibri (MS) Bold"/>
              </a:rPr>
              <a:t>Peramalan konvensional kurang memadai untuk perencanaan strategis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9258300" y="2468880"/>
            <a:ext cx="8202168" cy="6240780"/>
            <a:chOff x="0" y="0"/>
            <a:chExt cx="10936224" cy="8321040"/>
          </a:xfrm>
        </p:grpSpPr>
        <p:sp>
          <p:nvSpPr>
            <p:cNvPr name="Freeform 53" id="53"/>
            <p:cNvSpPr/>
            <p:nvPr/>
          </p:nvSpPr>
          <p:spPr>
            <a:xfrm flipH="false" flipV="false" rot="0">
              <a:off x="0" y="0"/>
              <a:ext cx="10936224" cy="8321040"/>
            </a:xfrm>
            <a:custGeom>
              <a:avLst/>
              <a:gdLst/>
              <a:ahLst/>
              <a:cxnLst/>
              <a:rect r="r" b="b" t="t" l="l"/>
              <a:pathLst>
                <a:path h="8321040" w="10936224">
                  <a:moveTo>
                    <a:pt x="0" y="182880"/>
                  </a:moveTo>
                  <a:cubicBezTo>
                    <a:pt x="0" y="81915"/>
                    <a:pt x="81915" y="0"/>
                    <a:pt x="182880" y="0"/>
                  </a:cubicBezTo>
                  <a:lnTo>
                    <a:pt x="10753344" y="0"/>
                  </a:lnTo>
                  <a:cubicBezTo>
                    <a:pt x="10854309" y="0"/>
                    <a:pt x="10936224" y="81915"/>
                    <a:pt x="10936224" y="182880"/>
                  </a:cubicBezTo>
                  <a:lnTo>
                    <a:pt x="10936224" y="8138160"/>
                  </a:lnTo>
                  <a:cubicBezTo>
                    <a:pt x="10936224" y="8239125"/>
                    <a:pt x="10854309" y="8321040"/>
                    <a:pt x="10753344" y="8321040"/>
                  </a:cubicBezTo>
                  <a:lnTo>
                    <a:pt x="182880" y="8321040"/>
                  </a:lnTo>
                  <a:cubicBezTo>
                    <a:pt x="81915" y="8321040"/>
                    <a:pt x="0" y="8239125"/>
                    <a:pt x="0" y="8138160"/>
                  </a:cubicBezTo>
                  <a:close/>
                </a:path>
              </a:pathLst>
            </a:custGeom>
            <a:solidFill>
              <a:srgbClr val="0B5E6E"/>
            </a:solidFill>
          </p:spPr>
        </p:sp>
      </p:grpSp>
      <p:sp>
        <p:nvSpPr>
          <p:cNvPr name="TextBox 54" id="54"/>
          <p:cNvSpPr txBox="true"/>
          <p:nvPr/>
        </p:nvSpPr>
        <p:spPr>
          <a:xfrm rot="0">
            <a:off x="9738360" y="2678430"/>
            <a:ext cx="7269480" cy="681990"/>
          </a:xfrm>
          <a:prstGeom prst="rect">
            <a:avLst/>
          </a:prstGeom>
        </p:spPr>
        <p:txBody>
          <a:bodyPr anchor="t" rtlCol="false" tIns="0" lIns="0" bIns="0" rIns="0">
            <a:spAutoFit/>
          </a:bodyPr>
          <a:lstStyle/>
          <a:p>
            <a:pPr algn="l">
              <a:lnSpc>
                <a:spcPts val="3600"/>
              </a:lnSpc>
            </a:pPr>
            <a:r>
              <a:rPr lang="en-US" sz="3000" b="true">
                <a:solidFill>
                  <a:srgbClr val="FFD23B"/>
                </a:solidFill>
                <a:latin typeface="Calibri (MS) Bold"/>
                <a:ea typeface="Calibri (MS) Bold"/>
                <a:cs typeface="Calibri (MS) Bold"/>
                <a:sym typeface="Calibri (MS) Bold"/>
              </a:rPr>
              <a:t>Sistem dinamis</a:t>
            </a:r>
          </a:p>
        </p:txBody>
      </p:sp>
      <p:sp>
        <p:nvSpPr>
          <p:cNvPr name="TextBox 55" id="55"/>
          <p:cNvSpPr txBox="true"/>
          <p:nvPr/>
        </p:nvSpPr>
        <p:spPr>
          <a:xfrm rot="0">
            <a:off x="9738360" y="3352800"/>
            <a:ext cx="7269480" cy="361950"/>
          </a:xfrm>
          <a:prstGeom prst="rect">
            <a:avLst/>
          </a:prstGeom>
        </p:spPr>
        <p:txBody>
          <a:bodyPr anchor="t" rtlCol="false" tIns="0" lIns="0" bIns="0" rIns="0">
            <a:spAutoFit/>
          </a:bodyPr>
          <a:lstStyle/>
          <a:p>
            <a:pPr algn="l">
              <a:lnSpc>
                <a:spcPts val="2250"/>
              </a:lnSpc>
            </a:pPr>
            <a:r>
              <a:rPr lang="en-US" sz="1875">
                <a:solidFill>
                  <a:srgbClr val="6BE5EA"/>
                </a:solidFill>
                <a:latin typeface="Calibri (MS)"/>
                <a:ea typeface="Calibri (MS)"/>
                <a:cs typeface="Calibri (MS)"/>
                <a:sym typeface="Calibri (MS)"/>
              </a:rPr>
              <a:t>stocks · flows · feedback loop · delays</a:t>
            </a:r>
          </a:p>
        </p:txBody>
      </p:sp>
      <p:sp>
        <p:nvSpPr>
          <p:cNvPr name="TextBox 56" id="56"/>
          <p:cNvSpPr txBox="true"/>
          <p:nvPr/>
        </p:nvSpPr>
        <p:spPr>
          <a:xfrm rot="0">
            <a:off x="9738360" y="4274820"/>
            <a:ext cx="7269480" cy="2171700"/>
          </a:xfrm>
          <a:prstGeom prst="rect">
            <a:avLst/>
          </a:prstGeom>
        </p:spPr>
        <p:txBody>
          <a:bodyPr anchor="t" rtlCol="false" tIns="0" lIns="0" bIns="0" rIns="0">
            <a:spAutoFit/>
          </a:bodyPr>
          <a:lstStyle/>
          <a:p>
            <a:pPr algn="l" marL="475059" indent="-158353" lvl="2">
              <a:lnSpc>
                <a:spcPts val="2700"/>
              </a:lnSpc>
              <a:buFont typeface="Arial"/>
              <a:buChar char="⚬"/>
            </a:pPr>
            <a:r>
              <a:rPr lang="en-US" sz="2250">
                <a:solidFill>
                  <a:srgbClr val="FFFFFF"/>
                </a:solidFill>
                <a:latin typeface="Calibri (MS)"/>
                <a:ea typeface="Calibri (MS)"/>
                <a:cs typeface="Calibri (MS)"/>
                <a:sym typeface="Calibri (MS)"/>
              </a:rPr>
              <a:t>Perilaku sistem ditentukan struktur internalnya</a:t>
            </a:r>
          </a:p>
          <a:p>
            <a:pPr algn="l" marL="475059" indent="-158353" lvl="2">
              <a:lnSpc>
                <a:spcPts val="2700"/>
              </a:lnSpc>
              <a:buFont typeface="Arial"/>
              <a:buChar char="⚬"/>
            </a:pPr>
            <a:r>
              <a:rPr lang="en-US" sz="2250">
                <a:solidFill>
                  <a:srgbClr val="FFFFFF"/>
                </a:solidFill>
                <a:latin typeface="Calibri (MS)"/>
                <a:ea typeface="Calibri (MS)"/>
                <a:cs typeface="Calibri (MS)"/>
                <a:sym typeface="Calibri (MS)"/>
              </a:rPr>
              <a:t>Kebijakan dapat diuji secara virtual sebelum diterapkan (Sterman, 2000)</a:t>
            </a:r>
          </a:p>
          <a:p>
            <a:pPr algn="l" marL="475059" indent="-158353" lvl="2">
              <a:lnSpc>
                <a:spcPts val="2700"/>
              </a:lnSpc>
              <a:buFont typeface="Arial"/>
              <a:buChar char="⚬"/>
            </a:pPr>
            <a:r>
              <a:rPr lang="en-US" sz="2250">
                <a:solidFill>
                  <a:srgbClr val="FFFFFF"/>
                </a:solidFill>
                <a:latin typeface="Calibri (MS)"/>
                <a:ea typeface="Calibri (MS)"/>
                <a:cs typeface="Calibri (MS)"/>
                <a:sym typeface="Calibri (MS)"/>
              </a:rPr>
              <a:t>Menganalisis dampak kebijakan jangka panjang</a:t>
            </a:r>
          </a:p>
          <a:p>
            <a:pPr algn="l" marL="475059" indent="-158353" lvl="2">
              <a:lnSpc>
                <a:spcPts val="2700"/>
              </a:lnSpc>
              <a:buFont typeface="Arial"/>
              <a:buChar char="⚬"/>
            </a:pPr>
            <a:r>
              <a:rPr lang="en-US" sz="2250">
                <a:solidFill>
                  <a:srgbClr val="FFFFFF"/>
                </a:solidFill>
                <a:latin typeface="Calibri (MS)"/>
                <a:ea typeface="Calibri (MS)"/>
                <a:cs typeface="Calibri (MS)"/>
                <a:sym typeface="Calibri (MS)"/>
              </a:rPr>
              <a:t>Telah terbukti di pariwisata: Cat Ba Island (limits to growth tanpa intervensi) , Labuan Bajo, Saba Budaya Baduy</a:t>
            </a:r>
          </a:p>
        </p:txBody>
      </p:sp>
      <p:sp>
        <p:nvSpPr>
          <p:cNvPr name="Freeform 57" id="57"/>
          <p:cNvSpPr/>
          <p:nvPr/>
        </p:nvSpPr>
        <p:spPr>
          <a:xfrm flipH="false" flipV="false" rot="0">
            <a:off x="8412766" y="4819174"/>
            <a:ext cx="1060133" cy="1060133"/>
          </a:xfrm>
          <a:custGeom>
            <a:avLst/>
            <a:gdLst/>
            <a:ahLst/>
            <a:cxnLst/>
            <a:rect r="r" b="b" t="t" l="l"/>
            <a:pathLst>
              <a:path h="1060133" w="1060133">
                <a:moveTo>
                  <a:pt x="0" y="0"/>
                </a:moveTo>
                <a:lnTo>
                  <a:pt x="1060132" y="0"/>
                </a:lnTo>
                <a:lnTo>
                  <a:pt x="1060132" y="1060132"/>
                </a:lnTo>
                <a:lnTo>
                  <a:pt x="0" y="10601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8" id="58"/>
          <p:cNvGrpSpPr/>
          <p:nvPr/>
        </p:nvGrpSpPr>
        <p:grpSpPr>
          <a:xfrm rot="0">
            <a:off x="8462772" y="4869180"/>
            <a:ext cx="960120" cy="960120"/>
            <a:chOff x="0" y="0"/>
            <a:chExt cx="1280160" cy="1280160"/>
          </a:xfrm>
        </p:grpSpPr>
        <p:sp>
          <p:nvSpPr>
            <p:cNvPr name="Freeform 59" id="59"/>
            <p:cNvSpPr/>
            <p:nvPr/>
          </p:nvSpPr>
          <p:spPr>
            <a:xfrm flipH="false" flipV="false" rot="0">
              <a:off x="0" y="0"/>
              <a:ext cx="1280160" cy="1280160"/>
            </a:xfrm>
            <a:custGeom>
              <a:avLst/>
              <a:gdLst/>
              <a:ahLst/>
              <a:cxnLst/>
              <a:rect r="r" b="b" t="t" l="l"/>
              <a:pathLst>
                <a:path h="1280160" w="1280160">
                  <a:moveTo>
                    <a:pt x="0" y="0"/>
                  </a:moveTo>
                  <a:lnTo>
                    <a:pt x="1280160" y="0"/>
                  </a:lnTo>
                  <a:lnTo>
                    <a:pt x="1280160" y="1280160"/>
                  </a:lnTo>
                  <a:lnTo>
                    <a:pt x="0" y="1280160"/>
                  </a:lnTo>
                  <a:close/>
                </a:path>
              </a:pathLst>
            </a:custGeom>
            <a:blipFill>
              <a:blip r:embed="rId4">
                <a:alphaModFix amt="0"/>
              </a:blip>
              <a:stretch>
                <a:fillRect l="-78392" t="0" r="-78392" b="0"/>
              </a:stretch>
            </a:blipFill>
          </p:spPr>
        </p:sp>
      </p:grpSp>
      <p:grpSp>
        <p:nvGrpSpPr>
          <p:cNvPr name="Group 60" id="60"/>
          <p:cNvGrpSpPr/>
          <p:nvPr/>
        </p:nvGrpSpPr>
        <p:grpSpPr>
          <a:xfrm rot="0">
            <a:off x="8462772" y="4819174"/>
            <a:ext cx="960120" cy="1010126"/>
            <a:chOff x="0" y="0"/>
            <a:chExt cx="1280160" cy="1346835"/>
          </a:xfrm>
        </p:grpSpPr>
        <p:sp>
          <p:nvSpPr>
            <p:cNvPr name="Freeform 61" id="61"/>
            <p:cNvSpPr/>
            <p:nvPr/>
          </p:nvSpPr>
          <p:spPr>
            <a:xfrm flipH="false" flipV="false" rot="0">
              <a:off x="0" y="0"/>
              <a:ext cx="1280160" cy="1346835"/>
            </a:xfrm>
            <a:custGeom>
              <a:avLst/>
              <a:gdLst/>
              <a:ahLst/>
              <a:cxnLst/>
              <a:rect r="r" b="b" t="t" l="l"/>
              <a:pathLst>
                <a:path h="1346835" w="1280160">
                  <a:moveTo>
                    <a:pt x="0" y="0"/>
                  </a:moveTo>
                  <a:lnTo>
                    <a:pt x="1280160" y="0"/>
                  </a:lnTo>
                  <a:lnTo>
                    <a:pt x="1280160" y="1346835"/>
                  </a:lnTo>
                  <a:lnTo>
                    <a:pt x="0" y="1346835"/>
                  </a:lnTo>
                  <a:close/>
                </a:path>
              </a:pathLst>
            </a:custGeom>
            <a:blipFill>
              <a:blip r:embed="rId5">
                <a:alphaModFix amt="0"/>
              </a:blip>
              <a:stretch>
                <a:fillRect l="-84986" t="0" r="-84986" b="0"/>
              </a:stretch>
            </a:blipFill>
          </p:spPr>
        </p:sp>
        <p:sp>
          <p:nvSpPr>
            <p:cNvPr name="TextBox 62" id="62"/>
            <p:cNvSpPr txBox="true"/>
            <p:nvPr/>
          </p:nvSpPr>
          <p:spPr>
            <a:xfrm>
              <a:off x="0" y="-66675"/>
              <a:ext cx="1280160" cy="1413510"/>
            </a:xfrm>
            <a:prstGeom prst="rect">
              <a:avLst/>
            </a:prstGeom>
          </p:spPr>
          <p:txBody>
            <a:bodyPr anchor="ctr" rtlCol="false" tIns="0" lIns="0" bIns="0" rIns="0"/>
            <a:lstStyle/>
            <a:p>
              <a:pPr algn="ctr">
                <a:lnSpc>
                  <a:spcPts val="3960"/>
                </a:lnSpc>
              </a:pPr>
              <a:r>
                <a:rPr lang="en-US" sz="3300" b="true">
                  <a:solidFill>
                    <a:srgbClr val="14313B"/>
                  </a:solidFill>
                  <a:latin typeface="Calibri (MS) Bold"/>
                  <a:ea typeface="Calibri (MS) Bold"/>
                  <a:cs typeface="Calibri (MS) Bold"/>
                  <a:sym typeface="Calibri (MS) Bold"/>
                </a:rPr>
                <a:t>→</a:t>
              </a:r>
            </a:p>
          </p:txBody>
        </p:sp>
      </p:grpSp>
      <p:sp>
        <p:nvSpPr>
          <p:cNvPr name="TextBox 63" id="63"/>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a:t>
            </a:r>
          </a:p>
        </p:txBody>
      </p:sp>
      <p:grpSp>
        <p:nvGrpSpPr>
          <p:cNvPr name="Group 64" id="64"/>
          <p:cNvGrpSpPr/>
          <p:nvPr/>
        </p:nvGrpSpPr>
        <p:grpSpPr>
          <a:xfrm rot="0">
            <a:off x="822960" y="2468880"/>
            <a:ext cx="7749540" cy="6240780"/>
            <a:chOff x="0" y="0"/>
            <a:chExt cx="10332720" cy="8321040"/>
          </a:xfrm>
        </p:grpSpPr>
        <p:sp>
          <p:nvSpPr>
            <p:cNvPr name="Freeform 65" id="65"/>
            <p:cNvSpPr/>
            <p:nvPr/>
          </p:nvSpPr>
          <p:spPr>
            <a:xfrm flipH="false" flipV="false" rot="0">
              <a:off x="0" y="0"/>
              <a:ext cx="10332720" cy="8321040"/>
            </a:xfrm>
            <a:custGeom>
              <a:avLst/>
              <a:gdLst/>
              <a:ahLst/>
              <a:cxnLst/>
              <a:rect r="r" b="b" t="t" l="l"/>
              <a:pathLst>
                <a:path h="8321040" w="10332720">
                  <a:moveTo>
                    <a:pt x="0" y="182880"/>
                  </a:moveTo>
                  <a:cubicBezTo>
                    <a:pt x="0" y="81915"/>
                    <a:pt x="81915" y="0"/>
                    <a:pt x="182880" y="0"/>
                  </a:cubicBezTo>
                  <a:lnTo>
                    <a:pt x="10149840" y="0"/>
                  </a:lnTo>
                  <a:cubicBezTo>
                    <a:pt x="10250805" y="0"/>
                    <a:pt x="10332720" y="81915"/>
                    <a:pt x="10332720" y="182880"/>
                  </a:cubicBezTo>
                  <a:lnTo>
                    <a:pt x="10332720" y="8138160"/>
                  </a:lnTo>
                  <a:cubicBezTo>
                    <a:pt x="10332720" y="8239125"/>
                    <a:pt x="10250805" y="8321040"/>
                    <a:pt x="10149840" y="8321040"/>
                  </a:cubicBezTo>
                  <a:lnTo>
                    <a:pt x="182880" y="8321040"/>
                  </a:lnTo>
                  <a:cubicBezTo>
                    <a:pt x="81915" y="8321040"/>
                    <a:pt x="0" y="8239125"/>
                    <a:pt x="0" y="8138160"/>
                  </a:cubicBezTo>
                  <a:close/>
                </a:path>
              </a:pathLst>
            </a:custGeom>
            <a:solidFill>
              <a:srgbClr val="EAF8FA"/>
            </a:solidFill>
          </p:spPr>
        </p:sp>
      </p:grpSp>
      <p:sp>
        <p:nvSpPr>
          <p:cNvPr name="TextBox 66" id="66"/>
          <p:cNvSpPr txBox="true"/>
          <p:nvPr/>
        </p:nvSpPr>
        <p:spPr>
          <a:xfrm rot="0">
            <a:off x="1303020" y="2695099"/>
            <a:ext cx="6858000" cy="665321"/>
          </a:xfrm>
          <a:prstGeom prst="rect">
            <a:avLst/>
          </a:prstGeom>
        </p:spPr>
        <p:txBody>
          <a:bodyPr anchor="t" rtlCol="false" tIns="0" lIns="0" bIns="0" rIns="0">
            <a:spAutoFit/>
          </a:bodyPr>
          <a:lstStyle/>
          <a:p>
            <a:pPr algn="l">
              <a:lnSpc>
                <a:spcPts val="3600"/>
              </a:lnSpc>
            </a:pPr>
            <a:r>
              <a:rPr lang="en-US" sz="3000" b="true">
                <a:solidFill>
                  <a:srgbClr val="0B5E6E"/>
                </a:solidFill>
                <a:latin typeface="Calibri (MS) Bold"/>
                <a:ea typeface="Calibri (MS) Bold"/>
                <a:cs typeface="Calibri (MS) Bold"/>
                <a:sym typeface="Calibri (MS) Bold"/>
              </a:rPr>
              <a:t>Peramalan konvensional</a:t>
            </a:r>
          </a:p>
        </p:txBody>
      </p:sp>
      <p:sp>
        <p:nvSpPr>
          <p:cNvPr name="TextBox 67" id="67"/>
          <p:cNvSpPr txBox="true"/>
          <p:nvPr/>
        </p:nvSpPr>
        <p:spPr>
          <a:xfrm rot="0">
            <a:off x="1303020" y="3362325"/>
            <a:ext cx="6858000" cy="352425"/>
          </a:xfrm>
          <a:prstGeom prst="rect">
            <a:avLst/>
          </a:prstGeom>
        </p:spPr>
        <p:txBody>
          <a:bodyPr anchor="t" rtlCol="false" tIns="0" lIns="0" bIns="0" rIns="0">
            <a:spAutoFit/>
          </a:bodyPr>
          <a:lstStyle/>
          <a:p>
            <a:pPr algn="l">
              <a:lnSpc>
                <a:spcPts val="2250"/>
              </a:lnSpc>
            </a:pPr>
            <a:r>
              <a:rPr lang="en-US" sz="1875">
                <a:solidFill>
                  <a:srgbClr val="5E6E78"/>
                </a:solidFill>
                <a:latin typeface="Calibri (MS)"/>
                <a:ea typeface="Calibri (MS)"/>
                <a:cs typeface="Calibri (MS)"/>
                <a:sym typeface="Calibri (MS)"/>
              </a:rPr>
              <a:t>ARIMA · exponential smoothing · VECM · regresi · machine learning</a:t>
            </a:r>
          </a:p>
        </p:txBody>
      </p:sp>
      <p:sp>
        <p:nvSpPr>
          <p:cNvPr name="TextBox 68" id="68"/>
          <p:cNvSpPr txBox="true"/>
          <p:nvPr/>
        </p:nvSpPr>
        <p:spPr>
          <a:xfrm rot="0">
            <a:off x="1303020" y="4289108"/>
            <a:ext cx="6789420" cy="2500312"/>
          </a:xfrm>
          <a:prstGeom prst="rect">
            <a:avLst/>
          </a:prstGeom>
        </p:spPr>
        <p:txBody>
          <a:bodyPr anchor="t" rtlCol="false" tIns="0" lIns="0" bIns="0" rIns="0">
            <a:spAutoFit/>
          </a:bodyPr>
          <a:lstStyle/>
          <a:p>
            <a:pPr algn="l" marL="475059" indent="-158353" lvl="2">
              <a:lnSpc>
                <a:spcPts val="2700"/>
              </a:lnSpc>
              <a:buFont typeface="Arial"/>
              <a:buChar char="⚬"/>
            </a:pPr>
            <a:r>
              <a:rPr lang="en-US" sz="2250">
                <a:solidFill>
                  <a:srgbClr val="14313B"/>
                </a:solidFill>
                <a:latin typeface="Calibri (MS)"/>
                <a:ea typeface="Calibri (MS)"/>
                <a:cs typeface="Calibri (MS)"/>
                <a:sym typeface="Calibri (MS)"/>
              </a:rPr>
              <a:t>Andal memproyeksikan satu atau beberapa variabel, tidak andal dalam perencanaan strategis jangka panjang yang dikendalikan oleh feedback loop (Umpan balik)</a:t>
            </a:r>
          </a:p>
          <a:p>
            <a:pPr algn="l" marL="475059" indent="-158353" lvl="2">
              <a:lnSpc>
                <a:spcPts val="2700"/>
              </a:lnSpc>
              <a:buFont typeface="Arial"/>
              <a:buChar char="⚬"/>
            </a:pPr>
            <a:r>
              <a:rPr lang="en-US" sz="2250">
                <a:solidFill>
                  <a:srgbClr val="14313B"/>
                </a:solidFill>
                <a:latin typeface="Calibri (MS)"/>
                <a:ea typeface="Calibri (MS)"/>
                <a:cs typeface="Calibri (MS)"/>
                <a:sym typeface="Calibri (MS)"/>
              </a:rPr>
              <a:t>Memperlakukan variabel secara parsial</a:t>
            </a:r>
          </a:p>
          <a:p>
            <a:pPr algn="l" marL="475059" indent="-158353" lvl="2">
              <a:lnSpc>
                <a:spcPts val="2700"/>
              </a:lnSpc>
              <a:buFont typeface="Arial"/>
              <a:buChar char="⚬"/>
            </a:pPr>
            <a:r>
              <a:rPr lang="en-US" sz="2250">
                <a:solidFill>
                  <a:srgbClr val="14313B"/>
                </a:solidFill>
                <a:latin typeface="Calibri (MS)"/>
                <a:ea typeface="Calibri (MS)"/>
                <a:cs typeface="Calibri (MS)"/>
                <a:sym typeface="Calibri (MS)"/>
              </a:rPr>
              <a:t>Tidak memodelkan feedback loop, akumulasi, dan keterkaitan permintaan–kapasitas–daya dukung</a:t>
            </a:r>
          </a:p>
        </p:txBody>
      </p:sp>
      <p:sp>
        <p:nvSpPr>
          <p:cNvPr name="TextBox 69" id="69"/>
          <p:cNvSpPr txBox="true"/>
          <p:nvPr/>
        </p:nvSpPr>
        <p:spPr>
          <a:xfrm rot="0">
            <a:off x="1028700" y="8333422"/>
            <a:ext cx="5547465" cy="271462"/>
          </a:xfrm>
          <a:prstGeom prst="rect">
            <a:avLst/>
          </a:prstGeom>
        </p:spPr>
        <p:txBody>
          <a:bodyPr anchor="t" rtlCol="false" tIns="0" lIns="0" bIns="0" rIns="0">
            <a:spAutoFit/>
          </a:bodyPr>
          <a:lstStyle/>
          <a:p>
            <a:pPr algn="l">
              <a:lnSpc>
                <a:spcPts val="1889"/>
              </a:lnSpc>
            </a:pPr>
            <a:r>
              <a:rPr lang="en-US" sz="1575">
                <a:solidFill>
                  <a:srgbClr val="8A99A1"/>
                </a:solidFill>
                <a:latin typeface="Calibri (MS)"/>
                <a:ea typeface="Calibri (MS)"/>
                <a:cs typeface="Calibri (MS)"/>
                <a:sym typeface="Calibri (MS)"/>
              </a:rPr>
              <a:t>(Luo dkk.,2023; Wang dkk.,2020) </a:t>
            </a:r>
          </a:p>
        </p:txBody>
      </p:sp>
      <p:sp>
        <p:nvSpPr>
          <p:cNvPr name="TextBox 70" id="70"/>
          <p:cNvSpPr txBox="true"/>
          <p:nvPr/>
        </p:nvSpPr>
        <p:spPr>
          <a:xfrm rot="0">
            <a:off x="9451467" y="8328660"/>
            <a:ext cx="5547465" cy="276225"/>
          </a:xfrm>
          <a:prstGeom prst="rect">
            <a:avLst/>
          </a:prstGeom>
        </p:spPr>
        <p:txBody>
          <a:bodyPr anchor="t" rtlCol="false" tIns="0" lIns="0" bIns="0" rIns="0">
            <a:spAutoFit/>
          </a:bodyPr>
          <a:lstStyle/>
          <a:p>
            <a:pPr algn="l">
              <a:lnSpc>
                <a:spcPts val="1889"/>
              </a:lnSpc>
            </a:pPr>
            <a:r>
              <a:rPr lang="en-US" sz="1575">
                <a:solidFill>
                  <a:srgbClr val="8A99A1"/>
                </a:solidFill>
                <a:latin typeface="Calibri (MS)"/>
                <a:ea typeface="Calibri (MS)"/>
                <a:cs typeface="Calibri (MS)"/>
                <a:sym typeface="Calibri (MS)"/>
              </a:rPr>
              <a:t>(Mai &amp; Smith, 2018; Fatina dkk., 2023; Yakti dkk., 2024) </a:t>
            </a:r>
          </a:p>
        </p:txBody>
      </p:sp>
      <p:sp>
        <p:nvSpPr>
          <p:cNvPr id="71"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7" id="7"/>
          <p:cNvSpPr txBox="true"/>
          <p:nvPr/>
        </p:nvSpPr>
        <p:spPr>
          <a:xfrm rot="0">
            <a:off x="822960" y="731520"/>
            <a:ext cx="16637508" cy="11734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1.1 · Latar Belakang — Celah Penelitian</a:t>
            </a:r>
          </a:p>
          <a:p>
            <a:pPr algn="l">
              <a:lnSpc>
                <a:spcPct val="100000"/>
              </a:lnSpc>
            </a:pPr>
            <a:r>
              <a:rPr lang="en-US" sz="3500" b="true">
                <a:solidFill>
                  <a:srgbClr val="0B5E6E"/>
                </a:solidFill>
                <a:latin typeface="Calibri (MS) Bold"/>
                <a:ea typeface="Calibri (MS) Bold"/>
                <a:cs typeface="Calibri (MS) Bold"/>
                <a:sym typeface="Calibri (MS) Bold"/>
              </a:rPr>
              <a:t>Setiap celah dijawab dengan keputusan desain yang spesifik</a:t>
            </a:r>
          </a:p>
        </p:txBody>
      </p:sp>
      <p:grpSp>
        <p:nvGrpSpPr>
          <p:cNvPr name="Group 8" id="8"/>
          <p:cNvGrpSpPr/>
          <p:nvPr/>
        </p:nvGrpSpPr>
        <p:grpSpPr>
          <a:xfrm rot="0">
            <a:off x="822960" y="274320"/>
            <a:ext cx="2040941" cy="411480"/>
            <a:chOff x="0" y="0"/>
            <a:chExt cx="2721254" cy="548640"/>
          </a:xfrm>
        </p:grpSpPr>
        <p:sp>
          <p:nvSpPr>
            <p:cNvPr name="Freeform 9" id="9"/>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0" id="10"/>
          <p:cNvGrpSpPr/>
          <p:nvPr/>
        </p:nvGrpSpPr>
        <p:grpSpPr>
          <a:xfrm rot="0">
            <a:off x="822960" y="274320"/>
            <a:ext cx="2040941" cy="411480"/>
            <a:chOff x="0" y="0"/>
            <a:chExt cx="2721254" cy="548640"/>
          </a:xfrm>
        </p:grpSpPr>
        <p:sp>
          <p:nvSpPr>
            <p:cNvPr name="Freeform 11" id="11"/>
            <p:cNvSpPr/>
            <p:nvPr/>
          </p:nvSpPr>
          <p:spPr>
            <a:xfrm flipH="false" flipV="false" rot="0">
              <a:off x="0" y="0"/>
              <a:ext cx="2721254" cy="548640"/>
            </a:xfrm>
            <a:custGeom>
              <a:avLst/>
              <a:gdLst/>
              <a:ahLst/>
              <a:cxnLst/>
              <a:rect r="r" b="b" t="t" l="l"/>
              <a:pathLst>
                <a:path h="548640" w="2721254">
                  <a:moveTo>
                    <a:pt x="0" y="0"/>
                  </a:moveTo>
                  <a:lnTo>
                    <a:pt x="2721254" y="0"/>
                  </a:lnTo>
                  <a:lnTo>
                    <a:pt x="2721254" y="548640"/>
                  </a:lnTo>
                  <a:lnTo>
                    <a:pt x="0" y="548640"/>
                  </a:lnTo>
                  <a:close/>
                </a:path>
              </a:pathLst>
            </a:custGeom>
            <a:blipFill>
              <a:blip r:embed="rId4">
                <a:alphaModFix amt="0"/>
              </a:blip>
              <a:stretch>
                <a:fillRect l="0" t="-46645" r="0" b="-46645"/>
              </a:stretch>
            </a:blipFill>
          </p:spPr>
          <p:txBody>
            <a:bodyPr/>
            <a:p/>
          </p:txBody>
        </p:sp>
        <p:sp>
          <p:nvSpPr>
            <p:cNvPr name="TextBox 12" id="12"/>
            <p:cNvSpPr txBox="true"/>
            <p:nvPr/>
          </p:nvSpPr>
          <p:spPr>
            <a:xfrm>
              <a:off x="0" y="-19050"/>
              <a:ext cx="2721254" cy="56769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Pendahuluan</a:t>
              </a:r>
            </a:p>
          </p:txBody>
        </p:sp>
      </p:grpSp>
      <p:grpSp>
        <p:nvGrpSpPr>
          <p:cNvPr name="Group 13" id="13"/>
          <p:cNvGrpSpPr/>
          <p:nvPr/>
        </p:nvGrpSpPr>
        <p:grpSpPr>
          <a:xfrm rot="0">
            <a:off x="2973629" y="274320"/>
            <a:ext cx="2378354" cy="411480"/>
            <a:chOff x="0" y="0"/>
            <a:chExt cx="3171139" cy="548640"/>
          </a:xfrm>
        </p:grpSpPr>
        <p:sp>
          <p:nvSpPr>
            <p:cNvPr name="Freeform 14" id="14"/>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5" id="15"/>
          <p:cNvGrpSpPr/>
          <p:nvPr/>
        </p:nvGrpSpPr>
        <p:grpSpPr>
          <a:xfrm rot="0">
            <a:off x="2973629" y="274320"/>
            <a:ext cx="2378354" cy="411480"/>
            <a:chOff x="0" y="0"/>
            <a:chExt cx="3171139" cy="548640"/>
          </a:xfrm>
        </p:grpSpPr>
        <p:sp>
          <p:nvSpPr>
            <p:cNvPr name="Freeform 16" id="16"/>
            <p:cNvSpPr/>
            <p:nvPr/>
          </p:nvSpPr>
          <p:spPr>
            <a:xfrm flipH="false" flipV="false" rot="0">
              <a:off x="0" y="0"/>
              <a:ext cx="3171140" cy="548640"/>
            </a:xfrm>
            <a:custGeom>
              <a:avLst/>
              <a:gdLst/>
              <a:ahLst/>
              <a:cxnLst/>
              <a:rect r="r" b="b" t="t" l="l"/>
              <a:pathLst>
                <a:path h="548640" w="3171140">
                  <a:moveTo>
                    <a:pt x="0" y="0"/>
                  </a:moveTo>
                  <a:lnTo>
                    <a:pt x="3171140" y="0"/>
                  </a:lnTo>
                  <a:lnTo>
                    <a:pt x="3171140" y="548640"/>
                  </a:lnTo>
                  <a:lnTo>
                    <a:pt x="0" y="548640"/>
                  </a:lnTo>
                  <a:close/>
                </a:path>
              </a:pathLst>
            </a:custGeom>
            <a:blipFill>
              <a:blip r:embed="rId4">
                <a:alphaModFix amt="0"/>
              </a:blip>
              <a:stretch>
                <a:fillRect l="0" t="-62623" r="0" b="-62623"/>
              </a:stretch>
            </a:blipFill>
          </p:spPr>
          <p:txBody>
            <a:bodyPr/>
            <a:p/>
          </p:txBody>
        </p:sp>
        <p:sp>
          <p:nvSpPr>
            <p:cNvPr name="TextBox 17" id="17"/>
            <p:cNvSpPr txBox="true"/>
            <p:nvPr/>
          </p:nvSpPr>
          <p:spPr>
            <a:xfrm>
              <a:off x="0" y="-19050"/>
              <a:ext cx="3171139"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18" id="18"/>
          <p:cNvGrpSpPr/>
          <p:nvPr/>
        </p:nvGrpSpPr>
        <p:grpSpPr>
          <a:xfrm rot="0">
            <a:off x="5461711" y="274320"/>
            <a:ext cx="1591056" cy="411480"/>
            <a:chOff x="0" y="0"/>
            <a:chExt cx="2121408" cy="548640"/>
          </a:xfrm>
        </p:grpSpPr>
        <p:sp>
          <p:nvSpPr>
            <p:cNvPr name="Freeform 19" id="19"/>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0" id="20"/>
          <p:cNvGrpSpPr/>
          <p:nvPr/>
        </p:nvGrpSpPr>
        <p:grpSpPr>
          <a:xfrm rot="0">
            <a:off x="5461711" y="274320"/>
            <a:ext cx="1591056" cy="411480"/>
            <a:chOff x="0" y="0"/>
            <a:chExt cx="2121408" cy="548640"/>
          </a:xfrm>
        </p:grpSpPr>
        <p:sp>
          <p:nvSpPr>
            <p:cNvPr name="Freeform 21" id="21"/>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342" r="0" b="-25342"/>
              </a:stretch>
            </a:blipFill>
          </p:spPr>
          <p:txBody>
            <a:bodyPr/>
            <a:p/>
          </p:txBody>
        </p:sp>
        <p:sp>
          <p:nvSpPr>
            <p:cNvPr name="TextBox 22" id="22"/>
            <p:cNvSpPr txBox="true"/>
            <p:nvPr/>
          </p:nvSpPr>
          <p:spPr>
            <a:xfrm>
              <a:off x="0" y="-19050"/>
              <a:ext cx="2121408"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23" id="23"/>
          <p:cNvGrpSpPr/>
          <p:nvPr/>
        </p:nvGrpSpPr>
        <p:grpSpPr>
          <a:xfrm rot="0">
            <a:off x="7162495" y="274320"/>
            <a:ext cx="2490826" cy="411480"/>
            <a:chOff x="0" y="0"/>
            <a:chExt cx="3321101" cy="548640"/>
          </a:xfrm>
        </p:grpSpPr>
        <p:sp>
          <p:nvSpPr>
            <p:cNvPr name="Freeform 24" id="24"/>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5" id="25"/>
          <p:cNvGrpSpPr/>
          <p:nvPr/>
        </p:nvGrpSpPr>
        <p:grpSpPr>
          <a:xfrm rot="0">
            <a:off x="7162495" y="274320"/>
            <a:ext cx="2490826" cy="411480"/>
            <a:chOff x="0" y="0"/>
            <a:chExt cx="3321101" cy="548640"/>
          </a:xfrm>
        </p:grpSpPr>
        <p:sp>
          <p:nvSpPr>
            <p:cNvPr name="Freeform 26" id="26"/>
            <p:cNvSpPr/>
            <p:nvPr/>
          </p:nvSpPr>
          <p:spPr>
            <a:xfrm flipH="false" flipV="false" rot="0">
              <a:off x="0" y="0"/>
              <a:ext cx="3321100" cy="548640"/>
            </a:xfrm>
            <a:custGeom>
              <a:avLst/>
              <a:gdLst/>
              <a:ahLst/>
              <a:cxnLst/>
              <a:rect r="r" b="b" t="t" l="l"/>
              <a:pathLst>
                <a:path h="548640" w="3321100">
                  <a:moveTo>
                    <a:pt x="0" y="0"/>
                  </a:moveTo>
                  <a:lnTo>
                    <a:pt x="3321100" y="0"/>
                  </a:lnTo>
                  <a:lnTo>
                    <a:pt x="3321100" y="548640"/>
                  </a:lnTo>
                  <a:lnTo>
                    <a:pt x="0" y="548640"/>
                  </a:lnTo>
                  <a:close/>
                </a:path>
              </a:pathLst>
            </a:custGeom>
            <a:blipFill>
              <a:blip r:embed="rId4">
                <a:alphaModFix amt="0"/>
              </a:blip>
              <a:stretch>
                <a:fillRect l="0" t="-67949" r="0" b="-67949"/>
              </a:stretch>
            </a:blipFill>
          </p:spPr>
          <p:txBody>
            <a:bodyPr/>
            <a:p/>
          </p:txBody>
        </p:sp>
        <p:sp>
          <p:nvSpPr>
            <p:cNvPr name="TextBox 27" id="27"/>
            <p:cNvSpPr txBox="true"/>
            <p:nvPr/>
          </p:nvSpPr>
          <p:spPr>
            <a:xfrm>
              <a:off x="0" y="-19050"/>
              <a:ext cx="3321101"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28" id="28"/>
          <p:cNvGrpSpPr/>
          <p:nvPr/>
        </p:nvGrpSpPr>
        <p:grpSpPr>
          <a:xfrm rot="0">
            <a:off x="9763049" y="274320"/>
            <a:ext cx="1366114" cy="411480"/>
            <a:chOff x="0" y="0"/>
            <a:chExt cx="1821485" cy="548640"/>
          </a:xfrm>
        </p:grpSpPr>
        <p:sp>
          <p:nvSpPr>
            <p:cNvPr name="Freeform 29" id="2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0" id="30"/>
          <p:cNvGrpSpPr/>
          <p:nvPr/>
        </p:nvGrpSpPr>
        <p:grpSpPr>
          <a:xfrm rot="0">
            <a:off x="9763049" y="274320"/>
            <a:ext cx="1366114" cy="411480"/>
            <a:chOff x="0" y="0"/>
            <a:chExt cx="1821485" cy="548640"/>
          </a:xfrm>
        </p:grpSpPr>
        <p:sp>
          <p:nvSpPr>
            <p:cNvPr name="Freeform 31" id="31"/>
            <p:cNvSpPr/>
            <p:nvPr/>
          </p:nvSpPr>
          <p:spPr>
            <a:xfrm flipH="false" flipV="false" rot="0">
              <a:off x="0" y="0"/>
              <a:ext cx="1821484" cy="548640"/>
            </a:xfrm>
            <a:custGeom>
              <a:avLst/>
              <a:gdLst/>
              <a:ahLst/>
              <a:cxnLst/>
              <a:rect r="r" b="b" t="t" l="l"/>
              <a:pathLst>
                <a:path h="548640" w="1821484">
                  <a:moveTo>
                    <a:pt x="0" y="0"/>
                  </a:moveTo>
                  <a:lnTo>
                    <a:pt x="1821484" y="0"/>
                  </a:lnTo>
                  <a:lnTo>
                    <a:pt x="1821484" y="548640"/>
                  </a:lnTo>
                  <a:lnTo>
                    <a:pt x="0" y="548640"/>
                  </a:lnTo>
                  <a:close/>
                </a:path>
              </a:pathLst>
            </a:custGeom>
            <a:blipFill>
              <a:blip r:embed="rId4">
                <a:alphaModFix amt="0"/>
              </a:blip>
              <a:stretch>
                <a:fillRect l="0" t="-14690" r="0" b="-14690"/>
              </a:stretch>
            </a:blipFill>
          </p:spPr>
          <p:txBody>
            <a:bodyPr/>
            <a:p/>
          </p:txBody>
        </p:sp>
        <p:sp>
          <p:nvSpPr>
            <p:cNvPr name="TextBox 32" id="32"/>
            <p:cNvSpPr txBox="true"/>
            <p:nvPr/>
          </p:nvSpPr>
          <p:spPr>
            <a:xfrm>
              <a:off x="0" y="-19050"/>
              <a:ext cx="1821485"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33" id="33"/>
          <p:cNvGrpSpPr/>
          <p:nvPr/>
        </p:nvGrpSpPr>
        <p:grpSpPr>
          <a:xfrm rot="0">
            <a:off x="11238890" y="274320"/>
            <a:ext cx="1253642" cy="411480"/>
            <a:chOff x="0" y="0"/>
            <a:chExt cx="1671523" cy="548640"/>
          </a:xfrm>
        </p:grpSpPr>
        <p:sp>
          <p:nvSpPr>
            <p:cNvPr name="Freeform 34" id="34"/>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5" id="35"/>
          <p:cNvGrpSpPr/>
          <p:nvPr/>
        </p:nvGrpSpPr>
        <p:grpSpPr>
          <a:xfrm rot="0">
            <a:off x="11238890" y="274320"/>
            <a:ext cx="1253642" cy="411480"/>
            <a:chOff x="0" y="0"/>
            <a:chExt cx="1671523" cy="548640"/>
          </a:xfrm>
        </p:grpSpPr>
        <p:sp>
          <p:nvSpPr>
            <p:cNvPr name="Freeform 36" id="36"/>
            <p:cNvSpPr/>
            <p:nvPr/>
          </p:nvSpPr>
          <p:spPr>
            <a:xfrm flipH="false" flipV="false" rot="0">
              <a:off x="0" y="0"/>
              <a:ext cx="1671524" cy="548640"/>
            </a:xfrm>
            <a:custGeom>
              <a:avLst/>
              <a:gdLst/>
              <a:ahLst/>
              <a:cxnLst/>
              <a:rect r="r" b="b" t="t" l="l"/>
              <a:pathLst>
                <a:path h="548640" w="1671524">
                  <a:moveTo>
                    <a:pt x="0" y="0"/>
                  </a:moveTo>
                  <a:lnTo>
                    <a:pt x="1671524" y="0"/>
                  </a:lnTo>
                  <a:lnTo>
                    <a:pt x="1671524" y="548640"/>
                  </a:lnTo>
                  <a:lnTo>
                    <a:pt x="0" y="548640"/>
                  </a:lnTo>
                  <a:close/>
                </a:path>
              </a:pathLst>
            </a:custGeom>
            <a:blipFill>
              <a:blip r:embed="rId4">
                <a:alphaModFix amt="0"/>
              </a:blip>
              <a:stretch>
                <a:fillRect l="0" t="-9364" r="0" b="-9364"/>
              </a:stretch>
            </a:blipFill>
          </p:spPr>
          <p:txBody>
            <a:bodyPr/>
            <a:p/>
          </p:txBody>
        </p:sp>
        <p:sp>
          <p:nvSpPr>
            <p:cNvPr name="TextBox 37" id="37"/>
            <p:cNvSpPr txBox="true"/>
            <p:nvPr/>
          </p:nvSpPr>
          <p:spPr>
            <a:xfrm>
              <a:off x="0" y="-19050"/>
              <a:ext cx="1671523"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38" id="38"/>
          <p:cNvGrpSpPr/>
          <p:nvPr/>
        </p:nvGrpSpPr>
        <p:grpSpPr>
          <a:xfrm rot="0">
            <a:off x="822960" y="2400300"/>
            <a:ext cx="7680960" cy="1510665"/>
            <a:chOff x="0" y="0"/>
            <a:chExt cx="10241280" cy="2014220"/>
          </a:xfrm>
        </p:grpSpPr>
        <p:sp>
          <p:nvSpPr>
            <p:cNvPr name="Freeform 39" id="39"/>
            <p:cNvSpPr/>
            <p:nvPr/>
          </p:nvSpPr>
          <p:spPr>
            <a:xfrm flipH="false" flipV="false" rot="0">
              <a:off x="0" y="0"/>
              <a:ext cx="10241280" cy="2014220"/>
            </a:xfrm>
            <a:custGeom>
              <a:avLst/>
              <a:gdLst/>
              <a:ahLst/>
              <a:cxnLst/>
              <a:rect r="r" b="b" t="t" l="l"/>
              <a:pathLst>
                <a:path h="2014220" w="10241280">
                  <a:moveTo>
                    <a:pt x="0" y="134281"/>
                  </a:moveTo>
                  <a:cubicBezTo>
                    <a:pt x="0" y="60147"/>
                    <a:pt x="81915" y="0"/>
                    <a:pt x="182880" y="0"/>
                  </a:cubicBezTo>
                  <a:lnTo>
                    <a:pt x="10058400" y="0"/>
                  </a:lnTo>
                  <a:cubicBezTo>
                    <a:pt x="10159365" y="0"/>
                    <a:pt x="10241280" y="60147"/>
                    <a:pt x="10241280" y="134281"/>
                  </a:cubicBezTo>
                  <a:lnTo>
                    <a:pt x="10241280" y="1879939"/>
                  </a:lnTo>
                  <a:cubicBezTo>
                    <a:pt x="10241280" y="1954073"/>
                    <a:pt x="10159365" y="2014220"/>
                    <a:pt x="10058400" y="2014220"/>
                  </a:cubicBezTo>
                  <a:lnTo>
                    <a:pt x="182880" y="2014220"/>
                  </a:lnTo>
                  <a:cubicBezTo>
                    <a:pt x="81915" y="2014220"/>
                    <a:pt x="0" y="1954073"/>
                    <a:pt x="0" y="1879939"/>
                  </a:cubicBezTo>
                  <a:close/>
                </a:path>
              </a:pathLst>
            </a:custGeom>
            <a:solidFill>
              <a:srgbClr val="FFF1BF"/>
            </a:solidFill>
          </p:spPr>
        </p:sp>
      </p:grpSp>
      <p:sp>
        <p:nvSpPr>
          <p:cNvPr name="TextBox 40" id="40"/>
          <p:cNvSpPr txBox="true"/>
          <p:nvPr/>
        </p:nvSpPr>
        <p:spPr>
          <a:xfrm rot="0">
            <a:off x="1165860" y="2586990"/>
            <a:ext cx="6995160" cy="36195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CELAH 1 · STRUKTUR DATA</a:t>
            </a:r>
          </a:p>
        </p:txBody>
      </p:sp>
      <p:sp>
        <p:nvSpPr>
          <p:cNvPr name="TextBox 41" id="41"/>
          <p:cNvSpPr txBox="true"/>
          <p:nvPr/>
        </p:nvSpPr>
        <p:spPr>
          <a:xfrm rot="0">
            <a:off x="1165860" y="2951988"/>
            <a:ext cx="6995160" cy="89535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Model SD pariwisata diadaptasi dari kerangka luar negeri. Banyak variabelnya (populasi, limbah, air tanah per sektor) tak punya padanan data tahunan provinsi di Indonesia.</a:t>
            </a:r>
          </a:p>
        </p:txBody>
      </p:sp>
      <p:grpSp>
        <p:nvGrpSpPr>
          <p:cNvPr name="Group 42" id="42"/>
          <p:cNvGrpSpPr/>
          <p:nvPr/>
        </p:nvGrpSpPr>
        <p:grpSpPr>
          <a:xfrm rot="0">
            <a:off x="9464040" y="2400300"/>
            <a:ext cx="7996428" cy="1510665"/>
            <a:chOff x="0" y="0"/>
            <a:chExt cx="10661904" cy="2014220"/>
          </a:xfrm>
        </p:grpSpPr>
        <p:sp>
          <p:nvSpPr>
            <p:cNvPr name="Freeform 43" id="43"/>
            <p:cNvSpPr/>
            <p:nvPr/>
          </p:nvSpPr>
          <p:spPr>
            <a:xfrm flipH="false" flipV="false" rot="0">
              <a:off x="0" y="0"/>
              <a:ext cx="10661904" cy="2014220"/>
            </a:xfrm>
            <a:custGeom>
              <a:avLst/>
              <a:gdLst/>
              <a:ahLst/>
              <a:cxnLst/>
              <a:rect r="r" b="b" t="t" l="l"/>
              <a:pathLst>
                <a:path h="2014220" w="10661904">
                  <a:moveTo>
                    <a:pt x="0" y="134281"/>
                  </a:moveTo>
                  <a:cubicBezTo>
                    <a:pt x="0" y="60147"/>
                    <a:pt x="81915" y="0"/>
                    <a:pt x="182880" y="0"/>
                  </a:cubicBezTo>
                  <a:lnTo>
                    <a:pt x="10479024" y="0"/>
                  </a:lnTo>
                  <a:cubicBezTo>
                    <a:pt x="10579989" y="0"/>
                    <a:pt x="10661904" y="60147"/>
                    <a:pt x="10661904" y="134281"/>
                  </a:cubicBezTo>
                  <a:lnTo>
                    <a:pt x="10661904" y="1879939"/>
                  </a:lnTo>
                  <a:cubicBezTo>
                    <a:pt x="10661904" y="1954073"/>
                    <a:pt x="10579989" y="2014220"/>
                    <a:pt x="10479024" y="2014220"/>
                  </a:cubicBezTo>
                  <a:lnTo>
                    <a:pt x="182880" y="2014220"/>
                  </a:lnTo>
                  <a:cubicBezTo>
                    <a:pt x="81915" y="2014220"/>
                    <a:pt x="0" y="1954073"/>
                    <a:pt x="0" y="1879939"/>
                  </a:cubicBezTo>
                  <a:close/>
                </a:path>
              </a:pathLst>
            </a:custGeom>
            <a:solidFill>
              <a:srgbClr val="EAF8FA"/>
            </a:solidFill>
          </p:spPr>
        </p:sp>
      </p:grpSp>
      <p:sp>
        <p:nvSpPr>
          <p:cNvPr name="TextBox 44" id="44"/>
          <p:cNvSpPr txBox="true"/>
          <p:nvPr/>
        </p:nvSpPr>
        <p:spPr>
          <a:xfrm rot="0">
            <a:off x="9806940" y="2586990"/>
            <a:ext cx="7269480" cy="361950"/>
          </a:xfrm>
          <a:prstGeom prst="rect">
            <a:avLst/>
          </a:prstGeom>
        </p:spPr>
        <p:txBody>
          <a:bodyPr anchor="t" rtlCol="false" tIns="0" lIns="0" bIns="0" rIns="0">
            <a:spAutoFit/>
          </a:bodyPr>
          <a:lstStyle/>
          <a:p>
            <a:pPr algn="l">
              <a:lnSpc>
                <a:spcPts val="1889"/>
              </a:lnSpc>
            </a:pPr>
            <a:r>
              <a:rPr lang="en-US" sz="1575" b="true">
                <a:solidFill>
                  <a:srgbClr val="0B5E6E"/>
                </a:solidFill>
                <a:latin typeface="Calibri (MS) Bold"/>
                <a:ea typeface="Calibri (MS) Bold"/>
                <a:cs typeface="Calibri (MS) Bold"/>
                <a:sym typeface="Calibri (MS) Bold"/>
              </a:rPr>
              <a:t>RESPONS PENELITIAN</a:t>
            </a:r>
          </a:p>
        </p:txBody>
      </p:sp>
      <p:sp>
        <p:nvSpPr>
          <p:cNvPr name="TextBox 45" id="45"/>
          <p:cNvSpPr txBox="true"/>
          <p:nvPr/>
        </p:nvSpPr>
        <p:spPr>
          <a:xfrm rot="0">
            <a:off x="9806940" y="2951988"/>
            <a:ext cx="7338060" cy="89535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Struktur model dirumuskan ulang: setiap variabel dipetakan ke UU No. 10/2009, KBLI 2020, indikator BPS, dan Tourism Satellite Account Indonesia.</a:t>
            </a:r>
          </a:p>
        </p:txBody>
      </p:sp>
      <p:grpSp>
        <p:nvGrpSpPr>
          <p:cNvPr name="Group 46" id="46"/>
          <p:cNvGrpSpPr/>
          <p:nvPr/>
        </p:nvGrpSpPr>
        <p:grpSpPr>
          <a:xfrm rot="0">
            <a:off x="822960" y="4177665"/>
            <a:ext cx="7680960" cy="1353804"/>
            <a:chOff x="0" y="0"/>
            <a:chExt cx="10241280" cy="1805072"/>
          </a:xfrm>
        </p:grpSpPr>
        <p:sp>
          <p:nvSpPr>
            <p:cNvPr name="Freeform 47" id="47"/>
            <p:cNvSpPr/>
            <p:nvPr/>
          </p:nvSpPr>
          <p:spPr>
            <a:xfrm flipH="false" flipV="false" rot="0">
              <a:off x="0" y="0"/>
              <a:ext cx="10241280" cy="1805072"/>
            </a:xfrm>
            <a:custGeom>
              <a:avLst/>
              <a:gdLst/>
              <a:ahLst/>
              <a:cxnLst/>
              <a:rect r="r" b="b" t="t" l="l"/>
              <a:pathLst>
                <a:path h="1805072" w="10241280">
                  <a:moveTo>
                    <a:pt x="0" y="120338"/>
                  </a:moveTo>
                  <a:cubicBezTo>
                    <a:pt x="0" y="53901"/>
                    <a:pt x="81915" y="0"/>
                    <a:pt x="182880" y="0"/>
                  </a:cubicBezTo>
                  <a:lnTo>
                    <a:pt x="10058400" y="0"/>
                  </a:lnTo>
                  <a:cubicBezTo>
                    <a:pt x="10159365" y="0"/>
                    <a:pt x="10241280" y="53901"/>
                    <a:pt x="10241280" y="120338"/>
                  </a:cubicBezTo>
                  <a:lnTo>
                    <a:pt x="10241280" y="1684734"/>
                  </a:lnTo>
                  <a:cubicBezTo>
                    <a:pt x="10241280" y="1751171"/>
                    <a:pt x="10159365" y="1805072"/>
                    <a:pt x="10058400" y="1805072"/>
                  </a:cubicBezTo>
                  <a:lnTo>
                    <a:pt x="182880" y="1805072"/>
                  </a:lnTo>
                  <a:cubicBezTo>
                    <a:pt x="81915" y="1805072"/>
                    <a:pt x="0" y="1751171"/>
                    <a:pt x="0" y="1684734"/>
                  </a:cubicBezTo>
                  <a:close/>
                </a:path>
              </a:pathLst>
            </a:custGeom>
            <a:solidFill>
              <a:srgbClr val="FFF1BF"/>
            </a:solidFill>
          </p:spPr>
        </p:sp>
      </p:grpSp>
      <p:sp>
        <p:nvSpPr>
          <p:cNvPr name="TextBox 48" id="48"/>
          <p:cNvSpPr txBox="true"/>
          <p:nvPr/>
        </p:nvSpPr>
        <p:spPr>
          <a:xfrm rot="0">
            <a:off x="1165860" y="4364355"/>
            <a:ext cx="6995160" cy="36195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CELAH 2 · KEMUTAKHIRAN DATA</a:t>
            </a:r>
          </a:p>
        </p:txBody>
      </p:sp>
      <p:sp>
        <p:nvSpPr>
          <p:cNvPr name="TextBox 49" id="49"/>
          <p:cNvSpPr txBox="true"/>
          <p:nvPr/>
        </p:nvSpPr>
        <p:spPr>
          <a:xfrm rot="0">
            <a:off x="1165860" y="4729353"/>
            <a:ext cx="699516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Statistik agregat terbit dengan jeda waktu, padahal perencanaan butuh kondisi terkini, Integrasi SD dan remote sensing masih jarang.</a:t>
            </a:r>
          </a:p>
        </p:txBody>
      </p:sp>
      <p:grpSp>
        <p:nvGrpSpPr>
          <p:cNvPr name="Group 50" id="50"/>
          <p:cNvGrpSpPr/>
          <p:nvPr/>
        </p:nvGrpSpPr>
        <p:grpSpPr>
          <a:xfrm rot="0">
            <a:off x="9464040" y="4177665"/>
            <a:ext cx="7996428" cy="1353804"/>
            <a:chOff x="0" y="0"/>
            <a:chExt cx="10661904" cy="1805072"/>
          </a:xfrm>
        </p:grpSpPr>
        <p:sp>
          <p:nvSpPr>
            <p:cNvPr name="Freeform 51" id="51"/>
            <p:cNvSpPr/>
            <p:nvPr/>
          </p:nvSpPr>
          <p:spPr>
            <a:xfrm flipH="false" flipV="false" rot="0">
              <a:off x="0" y="0"/>
              <a:ext cx="10661904" cy="1805072"/>
            </a:xfrm>
            <a:custGeom>
              <a:avLst/>
              <a:gdLst/>
              <a:ahLst/>
              <a:cxnLst/>
              <a:rect r="r" b="b" t="t" l="l"/>
              <a:pathLst>
                <a:path h="1805072" w="10661904">
                  <a:moveTo>
                    <a:pt x="0" y="120338"/>
                  </a:moveTo>
                  <a:cubicBezTo>
                    <a:pt x="0" y="53901"/>
                    <a:pt x="81915" y="0"/>
                    <a:pt x="182880" y="0"/>
                  </a:cubicBezTo>
                  <a:lnTo>
                    <a:pt x="10479024" y="0"/>
                  </a:lnTo>
                  <a:cubicBezTo>
                    <a:pt x="10579989" y="0"/>
                    <a:pt x="10661904" y="53901"/>
                    <a:pt x="10661904" y="120338"/>
                  </a:cubicBezTo>
                  <a:lnTo>
                    <a:pt x="10661904" y="1684734"/>
                  </a:lnTo>
                  <a:cubicBezTo>
                    <a:pt x="10661904" y="1751171"/>
                    <a:pt x="10579989" y="1805072"/>
                    <a:pt x="10479024" y="1805072"/>
                  </a:cubicBezTo>
                  <a:lnTo>
                    <a:pt x="182880" y="1805072"/>
                  </a:lnTo>
                  <a:cubicBezTo>
                    <a:pt x="81915" y="1805072"/>
                    <a:pt x="0" y="1751171"/>
                    <a:pt x="0" y="1684734"/>
                  </a:cubicBezTo>
                  <a:close/>
                </a:path>
              </a:pathLst>
            </a:custGeom>
            <a:solidFill>
              <a:srgbClr val="EAF8FA"/>
            </a:solidFill>
          </p:spPr>
        </p:sp>
      </p:grpSp>
      <p:sp>
        <p:nvSpPr>
          <p:cNvPr name="TextBox 52" id="52"/>
          <p:cNvSpPr txBox="true"/>
          <p:nvPr/>
        </p:nvSpPr>
        <p:spPr>
          <a:xfrm rot="0">
            <a:off x="9806940" y="4364355"/>
            <a:ext cx="7269480" cy="361950"/>
          </a:xfrm>
          <a:prstGeom prst="rect">
            <a:avLst/>
          </a:prstGeom>
        </p:spPr>
        <p:txBody>
          <a:bodyPr anchor="t" rtlCol="false" tIns="0" lIns="0" bIns="0" rIns="0">
            <a:spAutoFit/>
          </a:bodyPr>
          <a:lstStyle/>
          <a:p>
            <a:pPr algn="l">
              <a:lnSpc>
                <a:spcPts val="1889"/>
              </a:lnSpc>
            </a:pPr>
            <a:r>
              <a:rPr lang="en-US" sz="1575" b="true">
                <a:solidFill>
                  <a:srgbClr val="0B5E6E"/>
                </a:solidFill>
                <a:latin typeface="Calibri (MS) Bold"/>
                <a:ea typeface="Calibri (MS) Bold"/>
                <a:cs typeface="Calibri (MS) Bold"/>
                <a:sym typeface="Calibri (MS) Bold"/>
              </a:rPr>
              <a:t>RESPONS PENELITIAN</a:t>
            </a:r>
          </a:p>
        </p:txBody>
      </p:sp>
      <p:sp>
        <p:nvSpPr>
          <p:cNvPr name="TextBox 53" id="53"/>
          <p:cNvSpPr txBox="true"/>
          <p:nvPr/>
        </p:nvSpPr>
        <p:spPr>
          <a:xfrm rot="0">
            <a:off x="9806940" y="4729353"/>
            <a:ext cx="733806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Citra satelit dipakai sebagai estimator pemutakhir data (nowcasting) untuk variabel berdata resmi, bukan variabel endogen, bukan pengganti statistik.</a:t>
            </a:r>
          </a:p>
        </p:txBody>
      </p:sp>
      <p:grpSp>
        <p:nvGrpSpPr>
          <p:cNvPr name="Group 54" id="54"/>
          <p:cNvGrpSpPr/>
          <p:nvPr/>
        </p:nvGrpSpPr>
        <p:grpSpPr>
          <a:xfrm rot="0">
            <a:off x="822960" y="5798169"/>
            <a:ext cx="7680960" cy="1365990"/>
            <a:chOff x="0" y="0"/>
            <a:chExt cx="10241280" cy="1821320"/>
          </a:xfrm>
        </p:grpSpPr>
        <p:sp>
          <p:nvSpPr>
            <p:cNvPr name="Freeform 55" id="55"/>
            <p:cNvSpPr/>
            <p:nvPr/>
          </p:nvSpPr>
          <p:spPr>
            <a:xfrm flipH="false" flipV="false" rot="0">
              <a:off x="0" y="0"/>
              <a:ext cx="10241280" cy="1821320"/>
            </a:xfrm>
            <a:custGeom>
              <a:avLst/>
              <a:gdLst/>
              <a:ahLst/>
              <a:cxnLst/>
              <a:rect r="r" b="b" t="t" l="l"/>
              <a:pathLst>
                <a:path h="1821320" w="10241280">
                  <a:moveTo>
                    <a:pt x="0" y="121421"/>
                  </a:moveTo>
                  <a:cubicBezTo>
                    <a:pt x="0" y="54387"/>
                    <a:pt x="81915" y="0"/>
                    <a:pt x="182880" y="0"/>
                  </a:cubicBezTo>
                  <a:lnTo>
                    <a:pt x="10058400" y="0"/>
                  </a:lnTo>
                  <a:cubicBezTo>
                    <a:pt x="10159365" y="0"/>
                    <a:pt x="10241280" y="54387"/>
                    <a:pt x="10241280" y="121421"/>
                  </a:cubicBezTo>
                  <a:lnTo>
                    <a:pt x="10241280" y="1699898"/>
                  </a:lnTo>
                  <a:cubicBezTo>
                    <a:pt x="10241280" y="1766933"/>
                    <a:pt x="10159365" y="1821320"/>
                    <a:pt x="10058400" y="1821320"/>
                  </a:cubicBezTo>
                  <a:lnTo>
                    <a:pt x="182880" y="1821320"/>
                  </a:lnTo>
                  <a:cubicBezTo>
                    <a:pt x="81915" y="1821320"/>
                    <a:pt x="0" y="1766933"/>
                    <a:pt x="0" y="1699898"/>
                  </a:cubicBezTo>
                  <a:close/>
                </a:path>
              </a:pathLst>
            </a:custGeom>
            <a:solidFill>
              <a:srgbClr val="FFF1BF"/>
            </a:solidFill>
          </p:spPr>
        </p:sp>
      </p:grpSp>
      <p:sp>
        <p:nvSpPr>
          <p:cNvPr name="TextBox 56" id="56"/>
          <p:cNvSpPr txBox="true"/>
          <p:nvPr/>
        </p:nvSpPr>
        <p:spPr>
          <a:xfrm rot="0">
            <a:off x="1165860" y="5984859"/>
            <a:ext cx="6995160" cy="36195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CELAH 3 · PEMANFAATAN HASIL</a:t>
            </a:r>
          </a:p>
        </p:txBody>
      </p:sp>
      <p:sp>
        <p:nvSpPr>
          <p:cNvPr name="TextBox 57" id="57"/>
          <p:cNvSpPr txBox="true"/>
          <p:nvPr/>
        </p:nvSpPr>
        <p:spPr>
          <a:xfrm rot="0">
            <a:off x="1165860" y="6349857"/>
            <a:ext cx="699516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Hasil pemodelan sering terbatas pada grafik statis dan laporan tertulis yang kurang interaktif.</a:t>
            </a:r>
          </a:p>
        </p:txBody>
      </p:sp>
      <p:grpSp>
        <p:nvGrpSpPr>
          <p:cNvPr name="Group 58" id="58"/>
          <p:cNvGrpSpPr/>
          <p:nvPr/>
        </p:nvGrpSpPr>
        <p:grpSpPr>
          <a:xfrm rot="0">
            <a:off x="9464040" y="5798169"/>
            <a:ext cx="7996428" cy="1365990"/>
            <a:chOff x="0" y="0"/>
            <a:chExt cx="10661904" cy="1821320"/>
          </a:xfrm>
        </p:grpSpPr>
        <p:sp>
          <p:nvSpPr>
            <p:cNvPr name="Freeform 59" id="59"/>
            <p:cNvSpPr/>
            <p:nvPr/>
          </p:nvSpPr>
          <p:spPr>
            <a:xfrm flipH="false" flipV="false" rot="0">
              <a:off x="0" y="0"/>
              <a:ext cx="10661904" cy="1821320"/>
            </a:xfrm>
            <a:custGeom>
              <a:avLst/>
              <a:gdLst/>
              <a:ahLst/>
              <a:cxnLst/>
              <a:rect r="r" b="b" t="t" l="l"/>
              <a:pathLst>
                <a:path h="1821320" w="10661904">
                  <a:moveTo>
                    <a:pt x="0" y="121421"/>
                  </a:moveTo>
                  <a:cubicBezTo>
                    <a:pt x="0" y="54387"/>
                    <a:pt x="81915" y="0"/>
                    <a:pt x="182880" y="0"/>
                  </a:cubicBezTo>
                  <a:lnTo>
                    <a:pt x="10479024" y="0"/>
                  </a:lnTo>
                  <a:cubicBezTo>
                    <a:pt x="10579989" y="0"/>
                    <a:pt x="10661904" y="54387"/>
                    <a:pt x="10661904" y="121421"/>
                  </a:cubicBezTo>
                  <a:lnTo>
                    <a:pt x="10661904" y="1699898"/>
                  </a:lnTo>
                  <a:cubicBezTo>
                    <a:pt x="10661904" y="1766933"/>
                    <a:pt x="10579989" y="1821320"/>
                    <a:pt x="10479024" y="1821320"/>
                  </a:cubicBezTo>
                  <a:lnTo>
                    <a:pt x="182880" y="1821320"/>
                  </a:lnTo>
                  <a:cubicBezTo>
                    <a:pt x="81915" y="1821320"/>
                    <a:pt x="0" y="1766933"/>
                    <a:pt x="0" y="1699898"/>
                  </a:cubicBezTo>
                  <a:close/>
                </a:path>
              </a:pathLst>
            </a:custGeom>
            <a:solidFill>
              <a:srgbClr val="EAF8FA"/>
            </a:solidFill>
          </p:spPr>
        </p:sp>
      </p:grpSp>
      <p:sp>
        <p:nvSpPr>
          <p:cNvPr name="TextBox 60" id="60"/>
          <p:cNvSpPr txBox="true"/>
          <p:nvPr/>
        </p:nvSpPr>
        <p:spPr>
          <a:xfrm rot="0">
            <a:off x="9806940" y="5984859"/>
            <a:ext cx="7269480" cy="361950"/>
          </a:xfrm>
          <a:prstGeom prst="rect">
            <a:avLst/>
          </a:prstGeom>
        </p:spPr>
        <p:txBody>
          <a:bodyPr anchor="t" rtlCol="false" tIns="0" lIns="0" bIns="0" rIns="0">
            <a:spAutoFit/>
          </a:bodyPr>
          <a:lstStyle/>
          <a:p>
            <a:pPr algn="l">
              <a:lnSpc>
                <a:spcPts val="1889"/>
              </a:lnSpc>
            </a:pPr>
            <a:r>
              <a:rPr lang="en-US" sz="1575" b="true">
                <a:solidFill>
                  <a:srgbClr val="0B5E6E"/>
                </a:solidFill>
                <a:latin typeface="Calibri (MS) Bold"/>
                <a:ea typeface="Calibri (MS) Bold"/>
                <a:cs typeface="Calibri (MS) Bold"/>
                <a:sym typeface="Calibri (MS) Bold"/>
              </a:rPr>
              <a:t>RESPONS PENELITIAN</a:t>
            </a:r>
          </a:p>
        </p:txBody>
      </p:sp>
      <p:sp>
        <p:nvSpPr>
          <p:cNvPr name="TextBox 61" id="61"/>
          <p:cNvSpPr txBox="true"/>
          <p:nvPr/>
        </p:nvSpPr>
        <p:spPr>
          <a:xfrm rot="0">
            <a:off x="9806940" y="6349857"/>
            <a:ext cx="733806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Aplikasi web decision support tool yang dapat dipakai pemangku kepentingan tanpa keahlian pemodelan.</a:t>
            </a:r>
          </a:p>
        </p:txBody>
      </p:sp>
      <p:sp>
        <p:nvSpPr>
          <p:cNvPr name="TextBox 62" id="62"/>
          <p:cNvSpPr txBox="true"/>
          <p:nvPr/>
        </p:nvSpPr>
        <p:spPr>
          <a:xfrm rot="0">
            <a:off x="16550640" y="9718548"/>
            <a:ext cx="818388" cy="2667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a:t>
            </a:r>
          </a:p>
        </p:txBody>
      </p:sp>
      <p:sp>
        <p:nvSpPr>
          <p:cNvPr name="AutoShape 63" id="63"/>
          <p:cNvSpPr/>
          <p:nvPr/>
        </p:nvSpPr>
        <p:spPr>
          <a:xfrm>
            <a:off x="8503920" y="3155633"/>
            <a:ext cx="960120" cy="0"/>
          </a:xfrm>
          <a:prstGeom prst="line">
            <a:avLst/>
          </a:prstGeom>
          <a:ln cap="flat" w="38100">
            <a:solidFill>
              <a:srgbClr val="39C0D3"/>
            </a:solidFill>
            <a:prstDash val="solid"/>
            <a:headEnd type="none" len="sm" w="sm"/>
            <a:tailEnd type="triangle" len="med" w="lg"/>
          </a:ln>
        </p:spPr>
      </p:sp>
      <p:sp>
        <p:nvSpPr>
          <p:cNvPr name="AutoShape 64" id="64"/>
          <p:cNvSpPr/>
          <p:nvPr/>
        </p:nvSpPr>
        <p:spPr>
          <a:xfrm>
            <a:off x="8503920" y="4854567"/>
            <a:ext cx="960120" cy="0"/>
          </a:xfrm>
          <a:prstGeom prst="line">
            <a:avLst/>
          </a:prstGeom>
          <a:ln cap="flat" w="38100">
            <a:solidFill>
              <a:srgbClr val="39C0D3"/>
            </a:solidFill>
            <a:prstDash val="solid"/>
            <a:headEnd type="none" len="sm" w="sm"/>
            <a:tailEnd type="triangle" len="med" w="lg"/>
          </a:ln>
        </p:spPr>
      </p:sp>
      <p:sp>
        <p:nvSpPr>
          <p:cNvPr name="AutoShape 65" id="65"/>
          <p:cNvSpPr/>
          <p:nvPr/>
        </p:nvSpPr>
        <p:spPr>
          <a:xfrm>
            <a:off x="8503920" y="6481164"/>
            <a:ext cx="960120" cy="0"/>
          </a:xfrm>
          <a:prstGeom prst="line">
            <a:avLst/>
          </a:prstGeom>
          <a:ln cap="flat" w="38100">
            <a:solidFill>
              <a:srgbClr val="39C0D3"/>
            </a:solidFill>
            <a:prstDash val="solid"/>
            <a:headEnd type="none" len="sm" w="sm"/>
            <a:tailEnd type="triangle" len="med" w="lg"/>
          </a:ln>
        </p:spPr>
      </p:sp>
      <p:grpSp>
        <p:nvGrpSpPr>
          <p:cNvPr name="Group 66" id="66"/>
          <p:cNvGrpSpPr/>
          <p:nvPr/>
        </p:nvGrpSpPr>
        <p:grpSpPr>
          <a:xfrm rot="0">
            <a:off x="4733983" y="7858874"/>
            <a:ext cx="8820033" cy="1582509"/>
            <a:chOff x="0" y="0"/>
            <a:chExt cx="11760044" cy="2110012"/>
          </a:xfrm>
        </p:grpSpPr>
        <p:sp>
          <p:nvSpPr>
            <p:cNvPr name="Freeform 67" id="67"/>
            <p:cNvSpPr/>
            <p:nvPr/>
          </p:nvSpPr>
          <p:spPr>
            <a:xfrm flipH="false" flipV="false" rot="0">
              <a:off x="728290" y="69415"/>
              <a:ext cx="1258703" cy="1249263"/>
            </a:xfrm>
            <a:custGeom>
              <a:avLst/>
              <a:gdLst/>
              <a:ahLst/>
              <a:cxnLst/>
              <a:rect r="r" b="b" t="t" l="l"/>
              <a:pathLst>
                <a:path h="1249263" w="1258703">
                  <a:moveTo>
                    <a:pt x="0" y="0"/>
                  </a:moveTo>
                  <a:lnTo>
                    <a:pt x="1258703" y="0"/>
                  </a:lnTo>
                  <a:lnTo>
                    <a:pt x="1258703" y="1249263"/>
                  </a:lnTo>
                  <a:lnTo>
                    <a:pt x="0" y="12492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8" id="68"/>
            <p:cNvSpPr/>
            <p:nvPr/>
          </p:nvSpPr>
          <p:spPr>
            <a:xfrm flipH="false" flipV="false" rot="4345877">
              <a:off x="632350" y="810007"/>
              <a:ext cx="831086" cy="802690"/>
            </a:xfrm>
            <a:custGeom>
              <a:avLst/>
              <a:gdLst/>
              <a:ahLst/>
              <a:cxnLst/>
              <a:rect r="r" b="b" t="t" l="l"/>
              <a:pathLst>
                <a:path h="802690" w="831086">
                  <a:moveTo>
                    <a:pt x="0" y="0"/>
                  </a:moveTo>
                  <a:lnTo>
                    <a:pt x="831086" y="0"/>
                  </a:lnTo>
                  <a:lnTo>
                    <a:pt x="831086" y="802691"/>
                  </a:lnTo>
                  <a:lnTo>
                    <a:pt x="0" y="8026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9" id="69"/>
            <p:cNvSpPr txBox="true"/>
            <p:nvPr/>
          </p:nvSpPr>
          <p:spPr>
            <a:xfrm rot="0">
              <a:off x="0" y="1549956"/>
              <a:ext cx="2526830" cy="560056"/>
            </a:xfrm>
            <a:prstGeom prst="rect">
              <a:avLst/>
            </a:prstGeom>
          </p:spPr>
          <p:txBody>
            <a:bodyPr anchor="t" rtlCol="false" tIns="0" lIns="0" bIns="0" rIns="0">
              <a:spAutoFit/>
            </a:bodyPr>
            <a:lstStyle/>
            <a:p>
              <a:pPr algn="ctr">
                <a:lnSpc>
                  <a:spcPts val="1702"/>
                </a:lnSpc>
              </a:pPr>
              <a:r>
                <a:rPr lang="en-US" b="true" sz="1215">
                  <a:solidFill>
                    <a:srgbClr val="FF4954"/>
                  </a:solidFill>
                  <a:latin typeface="Montserrat Bold"/>
                  <a:ea typeface="Montserrat Bold"/>
                  <a:cs typeface="Montserrat Bold"/>
                  <a:sym typeface="Montserrat Bold"/>
                </a:rPr>
                <a:t>Kekurangan </a:t>
              </a:r>
            </a:p>
            <a:p>
              <a:pPr algn="ctr">
                <a:lnSpc>
                  <a:spcPts val="1702"/>
                </a:lnSpc>
                <a:spcBef>
                  <a:spcPct val="0"/>
                </a:spcBef>
              </a:pPr>
              <a:r>
                <a:rPr lang="en-US" b="true" sz="1215">
                  <a:solidFill>
                    <a:srgbClr val="FF4954"/>
                  </a:solidFill>
                  <a:latin typeface="Montserrat Bold"/>
                  <a:ea typeface="Montserrat Bold"/>
                  <a:cs typeface="Montserrat Bold"/>
                  <a:sym typeface="Montserrat Bold"/>
                </a:rPr>
                <a:t>Metode Konvensional</a:t>
              </a:r>
            </a:p>
          </p:txBody>
        </p:sp>
        <p:grpSp>
          <p:nvGrpSpPr>
            <p:cNvPr name="Group 70" id="70"/>
            <p:cNvGrpSpPr/>
            <p:nvPr/>
          </p:nvGrpSpPr>
          <p:grpSpPr>
            <a:xfrm rot="0">
              <a:off x="4081159" y="170751"/>
              <a:ext cx="1844355" cy="1837925"/>
              <a:chOff x="0" y="0"/>
              <a:chExt cx="812800" cy="809966"/>
            </a:xfrm>
          </p:grpSpPr>
          <p:sp>
            <p:nvSpPr>
              <p:cNvPr name="Freeform 71" id="71"/>
              <p:cNvSpPr/>
              <p:nvPr/>
            </p:nvSpPr>
            <p:spPr>
              <a:xfrm flipH="false" flipV="false" rot="0">
                <a:off x="0" y="0"/>
                <a:ext cx="812800" cy="809966"/>
              </a:xfrm>
              <a:custGeom>
                <a:avLst/>
                <a:gdLst/>
                <a:ahLst/>
                <a:cxnLst/>
                <a:rect r="r" b="b" t="t" l="l"/>
                <a:pathLst>
                  <a:path h="809966" w="812800">
                    <a:moveTo>
                      <a:pt x="406400" y="0"/>
                    </a:moveTo>
                    <a:cubicBezTo>
                      <a:pt x="181951" y="0"/>
                      <a:pt x="0" y="181317"/>
                      <a:pt x="0" y="404983"/>
                    </a:cubicBezTo>
                    <a:cubicBezTo>
                      <a:pt x="0" y="628649"/>
                      <a:pt x="181951" y="809966"/>
                      <a:pt x="406400" y="809966"/>
                    </a:cubicBezTo>
                    <a:cubicBezTo>
                      <a:pt x="630849" y="809966"/>
                      <a:pt x="812800" y="628649"/>
                      <a:pt x="812800" y="404983"/>
                    </a:cubicBezTo>
                    <a:cubicBezTo>
                      <a:pt x="812800" y="181317"/>
                      <a:pt x="630849" y="0"/>
                      <a:pt x="406400" y="0"/>
                    </a:cubicBezTo>
                    <a:close/>
                  </a:path>
                </a:pathLst>
              </a:custGeom>
              <a:solidFill>
                <a:srgbClr val="FFFBD7"/>
              </a:solidFill>
            </p:spPr>
          </p:sp>
          <p:sp>
            <p:nvSpPr>
              <p:cNvPr name="TextBox 72" id="72"/>
              <p:cNvSpPr txBox="true"/>
              <p:nvPr/>
            </p:nvSpPr>
            <p:spPr>
              <a:xfrm>
                <a:off x="76200" y="28309"/>
                <a:ext cx="660400" cy="705723"/>
              </a:xfrm>
              <a:prstGeom prst="rect">
                <a:avLst/>
              </a:prstGeom>
            </p:spPr>
            <p:txBody>
              <a:bodyPr anchor="ctr" rtlCol="false" tIns="54379" lIns="54379" bIns="54379" rIns="54379"/>
              <a:lstStyle/>
              <a:p>
                <a:pPr algn="ctr">
                  <a:lnSpc>
                    <a:spcPts val="3020"/>
                  </a:lnSpc>
                </a:pPr>
              </a:p>
            </p:txBody>
          </p:sp>
        </p:grpSp>
        <p:sp>
          <p:nvSpPr>
            <p:cNvPr name="Freeform 73" id="73"/>
            <p:cNvSpPr/>
            <p:nvPr/>
          </p:nvSpPr>
          <p:spPr>
            <a:xfrm flipH="false" flipV="false" rot="0">
              <a:off x="4626524" y="404725"/>
              <a:ext cx="753624" cy="753624"/>
            </a:xfrm>
            <a:custGeom>
              <a:avLst/>
              <a:gdLst/>
              <a:ahLst/>
              <a:cxnLst/>
              <a:rect r="r" b="b" t="t" l="l"/>
              <a:pathLst>
                <a:path h="753624" w="753624">
                  <a:moveTo>
                    <a:pt x="0" y="0"/>
                  </a:moveTo>
                  <a:lnTo>
                    <a:pt x="753624" y="0"/>
                  </a:lnTo>
                  <a:lnTo>
                    <a:pt x="753624" y="753624"/>
                  </a:lnTo>
                  <a:lnTo>
                    <a:pt x="0" y="75362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4" id="74"/>
            <p:cNvSpPr txBox="true"/>
            <p:nvPr/>
          </p:nvSpPr>
          <p:spPr>
            <a:xfrm rot="0">
              <a:off x="4373977" y="1200577"/>
              <a:ext cx="1258719" cy="574125"/>
            </a:xfrm>
            <a:prstGeom prst="rect">
              <a:avLst/>
            </a:prstGeom>
          </p:spPr>
          <p:txBody>
            <a:bodyPr anchor="t" rtlCol="false" tIns="0" lIns="0" bIns="0" rIns="0">
              <a:spAutoFit/>
            </a:bodyPr>
            <a:lstStyle/>
            <a:p>
              <a:pPr algn="ctr">
                <a:lnSpc>
                  <a:spcPts val="1785"/>
                </a:lnSpc>
                <a:spcBef>
                  <a:spcPct val="0"/>
                </a:spcBef>
              </a:pPr>
              <a:r>
                <a:rPr lang="en-US" b="true" sz="1275">
                  <a:solidFill>
                    <a:srgbClr val="3AC1D1"/>
                  </a:solidFill>
                  <a:latin typeface="Montserrat Bold"/>
                  <a:ea typeface="Montserrat Bold"/>
                  <a:cs typeface="Montserrat Bold"/>
                  <a:sym typeface="Montserrat Bold"/>
                </a:rPr>
                <a:t>Sistem</a:t>
              </a:r>
            </a:p>
            <a:p>
              <a:pPr algn="ctr">
                <a:lnSpc>
                  <a:spcPts val="1785"/>
                </a:lnSpc>
                <a:spcBef>
                  <a:spcPct val="0"/>
                </a:spcBef>
              </a:pPr>
              <a:r>
                <a:rPr lang="en-US" b="true" sz="1275">
                  <a:solidFill>
                    <a:srgbClr val="3AC1D1"/>
                  </a:solidFill>
                  <a:latin typeface="Montserrat Bold"/>
                  <a:ea typeface="Montserrat Bold"/>
                  <a:cs typeface="Montserrat Bold"/>
                  <a:sym typeface="Montserrat Bold"/>
                </a:rPr>
                <a:t>Dinamis</a:t>
              </a:r>
            </a:p>
          </p:txBody>
        </p:sp>
        <p:sp>
          <p:nvSpPr>
            <p:cNvPr name="AutoShape 75" id="75"/>
            <p:cNvSpPr/>
            <p:nvPr/>
          </p:nvSpPr>
          <p:spPr>
            <a:xfrm>
              <a:off x="2526830" y="1089714"/>
              <a:ext cx="1554329" cy="0"/>
            </a:xfrm>
            <a:prstGeom prst="line">
              <a:avLst/>
            </a:prstGeom>
            <a:ln cap="flat" w="39921">
              <a:solidFill>
                <a:srgbClr val="000000"/>
              </a:solidFill>
              <a:prstDash val="solid"/>
              <a:headEnd type="none" len="sm" w="sm"/>
              <a:tailEnd type="arrow" len="sm" w="med"/>
            </a:ln>
          </p:spPr>
        </p:sp>
        <p:sp>
          <p:nvSpPr>
            <p:cNvPr name="AutoShape 76" id="76"/>
            <p:cNvSpPr/>
            <p:nvPr/>
          </p:nvSpPr>
          <p:spPr>
            <a:xfrm flipV="true">
              <a:off x="5925513" y="1078503"/>
              <a:ext cx="1523414" cy="11211"/>
            </a:xfrm>
            <a:prstGeom prst="line">
              <a:avLst/>
            </a:prstGeom>
            <a:ln cap="flat" w="39921">
              <a:solidFill>
                <a:srgbClr val="000000"/>
              </a:solidFill>
              <a:prstDash val="solid"/>
              <a:headEnd type="none" len="sm" w="sm"/>
              <a:tailEnd type="arrow" len="sm" w="med"/>
            </a:ln>
          </p:spPr>
        </p:sp>
        <p:grpSp>
          <p:nvGrpSpPr>
            <p:cNvPr name="Group 77" id="77"/>
            <p:cNvGrpSpPr/>
            <p:nvPr/>
          </p:nvGrpSpPr>
          <p:grpSpPr>
            <a:xfrm rot="0">
              <a:off x="7448927" y="69415"/>
              <a:ext cx="2018175" cy="2018175"/>
              <a:chOff x="0" y="0"/>
              <a:chExt cx="812800" cy="812800"/>
            </a:xfrm>
          </p:grpSpPr>
          <p:sp>
            <p:nvSpPr>
              <p:cNvPr name="Freeform 78" id="7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AAE1"/>
              </a:solidFill>
            </p:spPr>
          </p:sp>
          <p:sp>
            <p:nvSpPr>
              <p:cNvPr name="TextBox 79" id="79"/>
              <p:cNvSpPr txBox="true"/>
              <p:nvPr/>
            </p:nvSpPr>
            <p:spPr>
              <a:xfrm>
                <a:off x="76200" y="28575"/>
                <a:ext cx="660400" cy="708025"/>
              </a:xfrm>
              <a:prstGeom prst="rect">
                <a:avLst/>
              </a:prstGeom>
            </p:spPr>
            <p:txBody>
              <a:bodyPr anchor="ctr" rtlCol="false" tIns="62588" lIns="62588" bIns="62588" rIns="62588"/>
              <a:lstStyle/>
              <a:p>
                <a:pPr algn="ctr">
                  <a:lnSpc>
                    <a:spcPts val="3020"/>
                  </a:lnSpc>
                </a:pPr>
              </a:p>
            </p:txBody>
          </p:sp>
        </p:grpSp>
        <p:sp>
          <p:nvSpPr>
            <p:cNvPr name="Freeform 80" id="80"/>
            <p:cNvSpPr/>
            <p:nvPr/>
          </p:nvSpPr>
          <p:spPr>
            <a:xfrm flipH="false" flipV="false" rot="0">
              <a:off x="8077866" y="476807"/>
              <a:ext cx="760297" cy="760297"/>
            </a:xfrm>
            <a:custGeom>
              <a:avLst/>
              <a:gdLst/>
              <a:ahLst/>
              <a:cxnLst/>
              <a:rect r="r" b="b" t="t" l="l"/>
              <a:pathLst>
                <a:path h="760297" w="760297">
                  <a:moveTo>
                    <a:pt x="0" y="0"/>
                  </a:moveTo>
                  <a:lnTo>
                    <a:pt x="760297" y="0"/>
                  </a:lnTo>
                  <a:lnTo>
                    <a:pt x="760297" y="760297"/>
                  </a:lnTo>
                  <a:lnTo>
                    <a:pt x="0" y="76029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81" id="81"/>
            <p:cNvSpPr txBox="true"/>
            <p:nvPr/>
          </p:nvSpPr>
          <p:spPr>
            <a:xfrm rot="0">
              <a:off x="7693108" y="1208529"/>
              <a:ext cx="1529813" cy="471670"/>
            </a:xfrm>
            <a:prstGeom prst="rect">
              <a:avLst/>
            </a:prstGeom>
          </p:spPr>
          <p:txBody>
            <a:bodyPr anchor="t" rtlCol="false" tIns="0" lIns="0" bIns="0" rIns="0">
              <a:spAutoFit/>
            </a:bodyPr>
            <a:lstStyle/>
            <a:p>
              <a:pPr algn="ctr">
                <a:lnSpc>
                  <a:spcPts val="1419"/>
                </a:lnSpc>
              </a:pPr>
              <a:r>
                <a:rPr lang="en-US" sz="1013" b="true">
                  <a:solidFill>
                    <a:srgbClr val="000000"/>
                  </a:solidFill>
                  <a:latin typeface="Montserrat Bold"/>
                  <a:ea typeface="Montserrat Bold"/>
                  <a:cs typeface="Montserrat Bold"/>
                  <a:sym typeface="Montserrat Bold"/>
                </a:rPr>
                <a:t>Integrasi </a:t>
              </a:r>
            </a:p>
            <a:p>
              <a:pPr algn="ctr">
                <a:lnSpc>
                  <a:spcPts val="1419"/>
                </a:lnSpc>
                <a:spcBef>
                  <a:spcPct val="0"/>
                </a:spcBef>
              </a:pPr>
              <a:r>
                <a:rPr lang="en-US" b="true" sz="1013">
                  <a:solidFill>
                    <a:srgbClr val="000000"/>
                  </a:solidFill>
                  <a:latin typeface="Montserrat Bold"/>
                  <a:ea typeface="Montserrat Bold"/>
                  <a:cs typeface="Montserrat Bold"/>
                  <a:sym typeface="Montserrat Bold"/>
                </a:rPr>
                <a:t>Data Citra Satelit</a:t>
              </a:r>
            </a:p>
          </p:txBody>
        </p:sp>
        <p:grpSp>
          <p:nvGrpSpPr>
            <p:cNvPr name="Group 82" id="82"/>
            <p:cNvGrpSpPr/>
            <p:nvPr/>
          </p:nvGrpSpPr>
          <p:grpSpPr>
            <a:xfrm rot="0">
              <a:off x="9650032" y="0"/>
              <a:ext cx="2110012" cy="2110012"/>
              <a:chOff x="0" y="0"/>
              <a:chExt cx="812800" cy="812800"/>
            </a:xfrm>
          </p:grpSpPr>
          <p:sp>
            <p:nvSpPr>
              <p:cNvPr name="Freeform 83" id="8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D5F5"/>
              </a:solidFill>
            </p:spPr>
          </p:sp>
          <p:sp>
            <p:nvSpPr>
              <p:cNvPr name="TextBox 84" id="84"/>
              <p:cNvSpPr txBox="true"/>
              <p:nvPr/>
            </p:nvSpPr>
            <p:spPr>
              <a:xfrm>
                <a:off x="76200" y="28575"/>
                <a:ext cx="660400" cy="708025"/>
              </a:xfrm>
              <a:prstGeom prst="rect">
                <a:avLst/>
              </a:prstGeom>
            </p:spPr>
            <p:txBody>
              <a:bodyPr anchor="ctr" rtlCol="false" tIns="63083" lIns="63083" bIns="63083" rIns="63083"/>
              <a:lstStyle/>
              <a:p>
                <a:pPr algn="ctr">
                  <a:lnSpc>
                    <a:spcPts val="3020"/>
                  </a:lnSpc>
                </a:pPr>
              </a:p>
            </p:txBody>
          </p:sp>
        </p:grpSp>
        <p:sp>
          <p:nvSpPr>
            <p:cNvPr name="Freeform 85" id="85"/>
            <p:cNvSpPr/>
            <p:nvPr/>
          </p:nvSpPr>
          <p:spPr>
            <a:xfrm flipH="false" flipV="false" rot="0">
              <a:off x="10127387" y="440528"/>
              <a:ext cx="1155302" cy="860700"/>
            </a:xfrm>
            <a:custGeom>
              <a:avLst/>
              <a:gdLst/>
              <a:ahLst/>
              <a:cxnLst/>
              <a:rect r="r" b="b" t="t" l="l"/>
              <a:pathLst>
                <a:path h="860700" w="1155302">
                  <a:moveTo>
                    <a:pt x="0" y="0"/>
                  </a:moveTo>
                  <a:lnTo>
                    <a:pt x="1155302" y="0"/>
                  </a:lnTo>
                  <a:lnTo>
                    <a:pt x="1155302" y="860700"/>
                  </a:lnTo>
                  <a:lnTo>
                    <a:pt x="0" y="860700"/>
                  </a:lnTo>
                  <a:lnTo>
                    <a:pt x="0" y="0"/>
                  </a:lnTo>
                  <a:close/>
                </a:path>
              </a:pathLst>
            </a:custGeom>
            <a:blipFill>
              <a:blip r:embed="rId13"/>
              <a:stretch>
                <a:fillRect l="0" t="0" r="0" b="0"/>
              </a:stretch>
            </a:blipFill>
          </p:spPr>
        </p:sp>
        <p:sp>
          <p:nvSpPr>
            <p:cNvPr name="TextBox 86" id="86"/>
            <p:cNvSpPr txBox="true"/>
            <p:nvPr/>
          </p:nvSpPr>
          <p:spPr>
            <a:xfrm rot="0">
              <a:off x="9862686" y="1291703"/>
              <a:ext cx="1684704" cy="377781"/>
            </a:xfrm>
            <a:prstGeom prst="rect">
              <a:avLst/>
            </a:prstGeom>
          </p:spPr>
          <p:txBody>
            <a:bodyPr anchor="t" rtlCol="false" tIns="0" lIns="0" bIns="0" rIns="0">
              <a:spAutoFit/>
            </a:bodyPr>
            <a:lstStyle/>
            <a:p>
              <a:pPr algn="ctr">
                <a:lnSpc>
                  <a:spcPts val="1171"/>
                </a:lnSpc>
              </a:pPr>
              <a:r>
                <a:rPr lang="en-US" sz="836" b="true">
                  <a:solidFill>
                    <a:srgbClr val="000000"/>
                  </a:solidFill>
                  <a:latin typeface="Montserrat Bold"/>
                  <a:ea typeface="Montserrat Bold"/>
                  <a:cs typeface="Montserrat Bold"/>
                  <a:sym typeface="Montserrat Bold"/>
                </a:rPr>
                <a:t>Decision-Support Tool </a:t>
              </a:r>
            </a:p>
            <a:p>
              <a:pPr algn="ctr">
                <a:lnSpc>
                  <a:spcPts val="1171"/>
                </a:lnSpc>
                <a:spcBef>
                  <a:spcPct val="0"/>
                </a:spcBef>
              </a:pPr>
              <a:r>
                <a:rPr lang="en-US" b="true" sz="836">
                  <a:solidFill>
                    <a:srgbClr val="000000"/>
                  </a:solidFill>
                  <a:latin typeface="Montserrat Bold"/>
                  <a:ea typeface="Montserrat Bold"/>
                  <a:cs typeface="Montserrat Bold"/>
                  <a:sym typeface="Montserrat Bold"/>
                </a:rPr>
                <a:t>Berbasis Web</a:t>
              </a:r>
            </a:p>
          </p:txBody>
        </p:sp>
      </p:grpSp>
      <p:sp>
        <p:nvSpPr>
          <p:cNvPr id="87"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7" id="7"/>
          <p:cNvSpPr txBox="true"/>
          <p:nvPr/>
        </p:nvSpPr>
        <p:spPr>
          <a:xfrm rot="0">
            <a:off x="822960" y="731520"/>
            <a:ext cx="16637508" cy="68580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1.2–1.3 · Identifikasi Masalah dan Tujuan Penelitian</a:t>
            </a:r>
          </a:p>
          <a:p>
            <a:pPr algn="l">
              <a:lnSpc>
                <a:spcPct val="100000"/>
              </a:lnSpc>
            </a:pPr>
            <a:r>
              <a:rPr lang="en-US" sz="3500" b="true">
                <a:solidFill>
                  <a:srgbClr val="0B5E6E"/>
                </a:solidFill>
                <a:latin typeface="Calibri (MS) Bold"/>
                <a:ea typeface="Calibri (MS) Bold"/>
                <a:cs typeface="Calibri (MS) Bold"/>
                <a:sym typeface="Calibri (MS) Bold"/>
              </a:rPr>
              <a:t>Tiga permasalahan dijawab oleh tiga tujuan penelitian</a:t>
            </a:r>
          </a:p>
        </p:txBody>
      </p:sp>
      <p:grpSp>
        <p:nvGrpSpPr>
          <p:cNvPr name="Group 8" id="8"/>
          <p:cNvGrpSpPr/>
          <p:nvPr/>
        </p:nvGrpSpPr>
        <p:grpSpPr>
          <a:xfrm rot="0">
            <a:off x="822960" y="274320"/>
            <a:ext cx="2040941" cy="411480"/>
            <a:chOff x="0" y="0"/>
            <a:chExt cx="2721254" cy="548640"/>
          </a:xfrm>
        </p:grpSpPr>
        <p:sp>
          <p:nvSpPr>
            <p:cNvPr name="Freeform 9" id="9"/>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0" id="10"/>
          <p:cNvGrpSpPr/>
          <p:nvPr/>
        </p:nvGrpSpPr>
        <p:grpSpPr>
          <a:xfrm rot="0">
            <a:off x="822960" y="274320"/>
            <a:ext cx="2040941" cy="411480"/>
            <a:chOff x="0" y="0"/>
            <a:chExt cx="2721254" cy="548640"/>
          </a:xfrm>
        </p:grpSpPr>
        <p:sp>
          <p:nvSpPr>
            <p:cNvPr name="Freeform 11" id="11"/>
            <p:cNvSpPr/>
            <p:nvPr/>
          </p:nvSpPr>
          <p:spPr>
            <a:xfrm flipH="false" flipV="false" rot="0">
              <a:off x="0" y="0"/>
              <a:ext cx="2721254" cy="548640"/>
            </a:xfrm>
            <a:custGeom>
              <a:avLst/>
              <a:gdLst/>
              <a:ahLst/>
              <a:cxnLst/>
              <a:rect r="r" b="b" t="t" l="l"/>
              <a:pathLst>
                <a:path h="548640" w="2721254">
                  <a:moveTo>
                    <a:pt x="0" y="0"/>
                  </a:moveTo>
                  <a:lnTo>
                    <a:pt x="2721254" y="0"/>
                  </a:lnTo>
                  <a:lnTo>
                    <a:pt x="2721254" y="548640"/>
                  </a:lnTo>
                  <a:lnTo>
                    <a:pt x="0" y="548640"/>
                  </a:lnTo>
                  <a:close/>
                </a:path>
              </a:pathLst>
            </a:custGeom>
            <a:blipFill>
              <a:blip r:embed="rId4">
                <a:alphaModFix amt="0"/>
              </a:blip>
              <a:stretch>
                <a:fillRect l="0" t="-46645" r="0" b="-46645"/>
              </a:stretch>
            </a:blipFill>
          </p:spPr>
          <p:txBody>
            <a:bodyPr/>
            <a:p/>
          </p:txBody>
        </p:sp>
        <p:sp>
          <p:nvSpPr>
            <p:cNvPr name="TextBox 12" id="12"/>
            <p:cNvSpPr txBox="true"/>
            <p:nvPr/>
          </p:nvSpPr>
          <p:spPr>
            <a:xfrm>
              <a:off x="0" y="-19050"/>
              <a:ext cx="2721254" cy="56769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Pendahuluan</a:t>
              </a:r>
            </a:p>
          </p:txBody>
        </p:sp>
      </p:grpSp>
      <p:grpSp>
        <p:nvGrpSpPr>
          <p:cNvPr name="Group 13" id="13"/>
          <p:cNvGrpSpPr/>
          <p:nvPr/>
        </p:nvGrpSpPr>
        <p:grpSpPr>
          <a:xfrm rot="0">
            <a:off x="2973629" y="274320"/>
            <a:ext cx="2378354" cy="411480"/>
            <a:chOff x="0" y="0"/>
            <a:chExt cx="3171139" cy="548640"/>
          </a:xfrm>
        </p:grpSpPr>
        <p:sp>
          <p:nvSpPr>
            <p:cNvPr name="Freeform 14" id="14"/>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5" id="15"/>
          <p:cNvGrpSpPr/>
          <p:nvPr/>
        </p:nvGrpSpPr>
        <p:grpSpPr>
          <a:xfrm rot="0">
            <a:off x="2973629" y="274320"/>
            <a:ext cx="2378354" cy="411480"/>
            <a:chOff x="0" y="0"/>
            <a:chExt cx="3171139" cy="548640"/>
          </a:xfrm>
        </p:grpSpPr>
        <p:sp>
          <p:nvSpPr>
            <p:cNvPr name="Freeform 16" id="16"/>
            <p:cNvSpPr/>
            <p:nvPr/>
          </p:nvSpPr>
          <p:spPr>
            <a:xfrm flipH="false" flipV="false" rot="0">
              <a:off x="0" y="0"/>
              <a:ext cx="3171140" cy="548640"/>
            </a:xfrm>
            <a:custGeom>
              <a:avLst/>
              <a:gdLst/>
              <a:ahLst/>
              <a:cxnLst/>
              <a:rect r="r" b="b" t="t" l="l"/>
              <a:pathLst>
                <a:path h="548640" w="3171140">
                  <a:moveTo>
                    <a:pt x="0" y="0"/>
                  </a:moveTo>
                  <a:lnTo>
                    <a:pt x="3171140" y="0"/>
                  </a:lnTo>
                  <a:lnTo>
                    <a:pt x="3171140" y="548640"/>
                  </a:lnTo>
                  <a:lnTo>
                    <a:pt x="0" y="548640"/>
                  </a:lnTo>
                  <a:close/>
                </a:path>
              </a:pathLst>
            </a:custGeom>
            <a:blipFill>
              <a:blip r:embed="rId4">
                <a:alphaModFix amt="0"/>
              </a:blip>
              <a:stretch>
                <a:fillRect l="0" t="-62623" r="0" b="-62623"/>
              </a:stretch>
            </a:blipFill>
          </p:spPr>
          <p:txBody>
            <a:bodyPr/>
            <a:p/>
          </p:txBody>
        </p:sp>
        <p:sp>
          <p:nvSpPr>
            <p:cNvPr name="TextBox 17" id="17"/>
            <p:cNvSpPr txBox="true"/>
            <p:nvPr/>
          </p:nvSpPr>
          <p:spPr>
            <a:xfrm>
              <a:off x="0" y="-19050"/>
              <a:ext cx="3171139"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18" id="18"/>
          <p:cNvGrpSpPr/>
          <p:nvPr/>
        </p:nvGrpSpPr>
        <p:grpSpPr>
          <a:xfrm rot="0">
            <a:off x="5461711" y="274320"/>
            <a:ext cx="1591056" cy="411480"/>
            <a:chOff x="0" y="0"/>
            <a:chExt cx="2121408" cy="548640"/>
          </a:xfrm>
        </p:grpSpPr>
        <p:sp>
          <p:nvSpPr>
            <p:cNvPr name="Freeform 19" id="19"/>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0" id="20"/>
          <p:cNvGrpSpPr/>
          <p:nvPr/>
        </p:nvGrpSpPr>
        <p:grpSpPr>
          <a:xfrm rot="0">
            <a:off x="5461711" y="274320"/>
            <a:ext cx="1591056" cy="411480"/>
            <a:chOff x="0" y="0"/>
            <a:chExt cx="2121408" cy="548640"/>
          </a:xfrm>
        </p:grpSpPr>
        <p:sp>
          <p:nvSpPr>
            <p:cNvPr name="Freeform 21" id="21"/>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342" r="0" b="-25342"/>
              </a:stretch>
            </a:blipFill>
          </p:spPr>
          <p:txBody>
            <a:bodyPr/>
            <a:p/>
          </p:txBody>
        </p:sp>
        <p:sp>
          <p:nvSpPr>
            <p:cNvPr name="TextBox 22" id="22"/>
            <p:cNvSpPr txBox="true"/>
            <p:nvPr/>
          </p:nvSpPr>
          <p:spPr>
            <a:xfrm>
              <a:off x="0" y="-19050"/>
              <a:ext cx="2121408"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23" id="23"/>
          <p:cNvGrpSpPr/>
          <p:nvPr/>
        </p:nvGrpSpPr>
        <p:grpSpPr>
          <a:xfrm rot="0">
            <a:off x="7162495" y="274320"/>
            <a:ext cx="2490826" cy="411480"/>
            <a:chOff x="0" y="0"/>
            <a:chExt cx="3321101" cy="548640"/>
          </a:xfrm>
        </p:grpSpPr>
        <p:sp>
          <p:nvSpPr>
            <p:cNvPr name="Freeform 24" id="24"/>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5" id="25"/>
          <p:cNvGrpSpPr/>
          <p:nvPr/>
        </p:nvGrpSpPr>
        <p:grpSpPr>
          <a:xfrm rot="0">
            <a:off x="7162495" y="274320"/>
            <a:ext cx="2490826" cy="411480"/>
            <a:chOff x="0" y="0"/>
            <a:chExt cx="3321101" cy="548640"/>
          </a:xfrm>
        </p:grpSpPr>
        <p:sp>
          <p:nvSpPr>
            <p:cNvPr name="Freeform 26" id="26"/>
            <p:cNvSpPr/>
            <p:nvPr/>
          </p:nvSpPr>
          <p:spPr>
            <a:xfrm flipH="false" flipV="false" rot="0">
              <a:off x="0" y="0"/>
              <a:ext cx="3321100" cy="548640"/>
            </a:xfrm>
            <a:custGeom>
              <a:avLst/>
              <a:gdLst/>
              <a:ahLst/>
              <a:cxnLst/>
              <a:rect r="r" b="b" t="t" l="l"/>
              <a:pathLst>
                <a:path h="548640" w="3321100">
                  <a:moveTo>
                    <a:pt x="0" y="0"/>
                  </a:moveTo>
                  <a:lnTo>
                    <a:pt x="3321100" y="0"/>
                  </a:lnTo>
                  <a:lnTo>
                    <a:pt x="3321100" y="548640"/>
                  </a:lnTo>
                  <a:lnTo>
                    <a:pt x="0" y="548640"/>
                  </a:lnTo>
                  <a:close/>
                </a:path>
              </a:pathLst>
            </a:custGeom>
            <a:blipFill>
              <a:blip r:embed="rId4">
                <a:alphaModFix amt="0"/>
              </a:blip>
              <a:stretch>
                <a:fillRect l="0" t="-67949" r="0" b="-67949"/>
              </a:stretch>
            </a:blipFill>
          </p:spPr>
          <p:txBody>
            <a:bodyPr/>
            <a:p/>
          </p:txBody>
        </p:sp>
        <p:sp>
          <p:nvSpPr>
            <p:cNvPr name="TextBox 27" id="27"/>
            <p:cNvSpPr txBox="true"/>
            <p:nvPr/>
          </p:nvSpPr>
          <p:spPr>
            <a:xfrm>
              <a:off x="0" y="-19050"/>
              <a:ext cx="3321101"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28" id="28"/>
          <p:cNvGrpSpPr/>
          <p:nvPr/>
        </p:nvGrpSpPr>
        <p:grpSpPr>
          <a:xfrm rot="0">
            <a:off x="9763049" y="274320"/>
            <a:ext cx="1366114" cy="411480"/>
            <a:chOff x="0" y="0"/>
            <a:chExt cx="1821485" cy="548640"/>
          </a:xfrm>
        </p:grpSpPr>
        <p:sp>
          <p:nvSpPr>
            <p:cNvPr name="Freeform 29" id="2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0" id="30"/>
          <p:cNvGrpSpPr/>
          <p:nvPr/>
        </p:nvGrpSpPr>
        <p:grpSpPr>
          <a:xfrm rot="0">
            <a:off x="9763049" y="274320"/>
            <a:ext cx="1366114" cy="411480"/>
            <a:chOff x="0" y="0"/>
            <a:chExt cx="1821485" cy="548640"/>
          </a:xfrm>
        </p:grpSpPr>
        <p:sp>
          <p:nvSpPr>
            <p:cNvPr name="Freeform 31" id="31"/>
            <p:cNvSpPr/>
            <p:nvPr/>
          </p:nvSpPr>
          <p:spPr>
            <a:xfrm flipH="false" flipV="false" rot="0">
              <a:off x="0" y="0"/>
              <a:ext cx="1821484" cy="548640"/>
            </a:xfrm>
            <a:custGeom>
              <a:avLst/>
              <a:gdLst/>
              <a:ahLst/>
              <a:cxnLst/>
              <a:rect r="r" b="b" t="t" l="l"/>
              <a:pathLst>
                <a:path h="548640" w="1821484">
                  <a:moveTo>
                    <a:pt x="0" y="0"/>
                  </a:moveTo>
                  <a:lnTo>
                    <a:pt x="1821484" y="0"/>
                  </a:lnTo>
                  <a:lnTo>
                    <a:pt x="1821484" y="548640"/>
                  </a:lnTo>
                  <a:lnTo>
                    <a:pt x="0" y="548640"/>
                  </a:lnTo>
                  <a:close/>
                </a:path>
              </a:pathLst>
            </a:custGeom>
            <a:blipFill>
              <a:blip r:embed="rId4">
                <a:alphaModFix amt="0"/>
              </a:blip>
              <a:stretch>
                <a:fillRect l="0" t="-14690" r="0" b="-14690"/>
              </a:stretch>
            </a:blipFill>
          </p:spPr>
          <p:txBody>
            <a:bodyPr/>
            <a:p/>
          </p:txBody>
        </p:sp>
        <p:sp>
          <p:nvSpPr>
            <p:cNvPr name="TextBox 32" id="32"/>
            <p:cNvSpPr txBox="true"/>
            <p:nvPr/>
          </p:nvSpPr>
          <p:spPr>
            <a:xfrm>
              <a:off x="0" y="-19050"/>
              <a:ext cx="1821485"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33" id="33"/>
          <p:cNvGrpSpPr/>
          <p:nvPr/>
        </p:nvGrpSpPr>
        <p:grpSpPr>
          <a:xfrm rot="0">
            <a:off x="11238890" y="274320"/>
            <a:ext cx="1253642" cy="411480"/>
            <a:chOff x="0" y="0"/>
            <a:chExt cx="1671523" cy="548640"/>
          </a:xfrm>
        </p:grpSpPr>
        <p:sp>
          <p:nvSpPr>
            <p:cNvPr name="Freeform 34" id="34"/>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5" id="35"/>
          <p:cNvGrpSpPr/>
          <p:nvPr/>
        </p:nvGrpSpPr>
        <p:grpSpPr>
          <a:xfrm rot="0">
            <a:off x="11238890" y="274320"/>
            <a:ext cx="1253642" cy="411480"/>
            <a:chOff x="0" y="0"/>
            <a:chExt cx="1671523" cy="548640"/>
          </a:xfrm>
        </p:grpSpPr>
        <p:sp>
          <p:nvSpPr>
            <p:cNvPr name="Freeform 36" id="36"/>
            <p:cNvSpPr/>
            <p:nvPr/>
          </p:nvSpPr>
          <p:spPr>
            <a:xfrm flipH="false" flipV="false" rot="0">
              <a:off x="0" y="0"/>
              <a:ext cx="1671524" cy="548640"/>
            </a:xfrm>
            <a:custGeom>
              <a:avLst/>
              <a:gdLst/>
              <a:ahLst/>
              <a:cxnLst/>
              <a:rect r="r" b="b" t="t" l="l"/>
              <a:pathLst>
                <a:path h="548640" w="1671524">
                  <a:moveTo>
                    <a:pt x="0" y="0"/>
                  </a:moveTo>
                  <a:lnTo>
                    <a:pt x="1671524" y="0"/>
                  </a:lnTo>
                  <a:lnTo>
                    <a:pt x="1671524" y="548640"/>
                  </a:lnTo>
                  <a:lnTo>
                    <a:pt x="0" y="548640"/>
                  </a:lnTo>
                  <a:close/>
                </a:path>
              </a:pathLst>
            </a:custGeom>
            <a:blipFill>
              <a:blip r:embed="rId4">
                <a:alphaModFix amt="0"/>
              </a:blip>
              <a:stretch>
                <a:fillRect l="0" t="-9364" r="0" b="-9364"/>
              </a:stretch>
            </a:blipFill>
          </p:spPr>
          <p:txBody>
            <a:bodyPr/>
            <a:p/>
          </p:txBody>
        </p:sp>
        <p:sp>
          <p:nvSpPr>
            <p:cNvPr name="TextBox 37" id="37"/>
            <p:cNvSpPr txBox="true"/>
            <p:nvPr/>
          </p:nvSpPr>
          <p:spPr>
            <a:xfrm>
              <a:off x="0" y="-19050"/>
              <a:ext cx="1671523"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38" id="38"/>
          <p:cNvGrpSpPr/>
          <p:nvPr/>
        </p:nvGrpSpPr>
        <p:grpSpPr>
          <a:xfrm rot="0">
            <a:off x="822960" y="2331720"/>
            <a:ext cx="16637508" cy="1234440"/>
            <a:chOff x="0" y="0"/>
            <a:chExt cx="22183344" cy="1645920"/>
          </a:xfrm>
        </p:grpSpPr>
        <p:sp>
          <p:nvSpPr>
            <p:cNvPr name="Freeform 39" id="39"/>
            <p:cNvSpPr/>
            <p:nvPr/>
          </p:nvSpPr>
          <p:spPr>
            <a:xfrm flipH="false" flipV="false" rot="0">
              <a:off x="0" y="0"/>
              <a:ext cx="22183344" cy="1645920"/>
            </a:xfrm>
            <a:custGeom>
              <a:avLst/>
              <a:gdLst/>
              <a:ahLst/>
              <a:cxnLst/>
              <a:rect r="r" b="b" t="t" l="l"/>
              <a:pathLst>
                <a:path h="1645920" w="22183344">
                  <a:moveTo>
                    <a:pt x="0" y="182880"/>
                  </a:moveTo>
                  <a:cubicBezTo>
                    <a:pt x="0" y="81915"/>
                    <a:pt x="81915" y="0"/>
                    <a:pt x="182880" y="0"/>
                  </a:cubicBezTo>
                  <a:lnTo>
                    <a:pt x="22000463" y="0"/>
                  </a:lnTo>
                  <a:cubicBezTo>
                    <a:pt x="22101428" y="0"/>
                    <a:pt x="22183344" y="81915"/>
                    <a:pt x="22183344" y="182880"/>
                  </a:cubicBezTo>
                  <a:lnTo>
                    <a:pt x="22183344" y="1463040"/>
                  </a:lnTo>
                  <a:cubicBezTo>
                    <a:pt x="22183344" y="1564005"/>
                    <a:pt x="22101428" y="1645920"/>
                    <a:pt x="22000463" y="1645920"/>
                  </a:cubicBezTo>
                  <a:lnTo>
                    <a:pt x="182880" y="1645920"/>
                  </a:lnTo>
                  <a:cubicBezTo>
                    <a:pt x="81915" y="1645920"/>
                    <a:pt x="0" y="1564005"/>
                    <a:pt x="0" y="1463040"/>
                  </a:cubicBezTo>
                  <a:close/>
                </a:path>
              </a:pathLst>
            </a:custGeom>
            <a:solidFill>
              <a:srgbClr val="0B5E6E"/>
            </a:solidFill>
          </p:spPr>
        </p:sp>
      </p:grpSp>
      <p:grpSp>
        <p:nvGrpSpPr>
          <p:cNvPr name="Group 40" id="40"/>
          <p:cNvGrpSpPr/>
          <p:nvPr/>
        </p:nvGrpSpPr>
        <p:grpSpPr>
          <a:xfrm rot="0">
            <a:off x="1234440" y="2331720"/>
            <a:ext cx="15814548" cy="1234440"/>
            <a:chOff x="0" y="0"/>
            <a:chExt cx="21086064" cy="1645920"/>
          </a:xfrm>
        </p:grpSpPr>
        <p:sp>
          <p:nvSpPr>
            <p:cNvPr name="Freeform 41" id="41"/>
            <p:cNvSpPr/>
            <p:nvPr/>
          </p:nvSpPr>
          <p:spPr>
            <a:xfrm flipH="false" flipV="false" rot="0">
              <a:off x="0" y="0"/>
              <a:ext cx="21086065" cy="1645920"/>
            </a:xfrm>
            <a:custGeom>
              <a:avLst/>
              <a:gdLst/>
              <a:ahLst/>
              <a:cxnLst/>
              <a:rect r="r" b="b" t="t" l="l"/>
              <a:pathLst>
                <a:path h="1645920" w="21086065">
                  <a:moveTo>
                    <a:pt x="0" y="0"/>
                  </a:moveTo>
                  <a:lnTo>
                    <a:pt x="21086065" y="0"/>
                  </a:lnTo>
                  <a:lnTo>
                    <a:pt x="21086065" y="1645920"/>
                  </a:lnTo>
                  <a:lnTo>
                    <a:pt x="0" y="1645920"/>
                  </a:lnTo>
                  <a:close/>
                </a:path>
              </a:pathLst>
            </a:custGeom>
            <a:blipFill>
              <a:blip r:embed="rId4">
                <a:alphaModFix amt="0"/>
              </a:blip>
              <a:stretch>
                <a:fillRect l="0" t="-199624" r="0" b="-199624"/>
              </a:stretch>
            </a:blipFill>
          </p:spPr>
        </p:sp>
        <p:sp>
          <p:nvSpPr>
            <p:cNvPr name="TextBox 42" id="42"/>
            <p:cNvSpPr txBox="true"/>
            <p:nvPr/>
          </p:nvSpPr>
          <p:spPr>
            <a:xfrm>
              <a:off x="0" y="-47625"/>
              <a:ext cx="21086064" cy="1693545"/>
            </a:xfrm>
            <a:prstGeom prst="rect">
              <a:avLst/>
            </a:prstGeom>
          </p:spPr>
          <p:txBody>
            <a:bodyPr anchor="ctr" rtlCol="false" tIns="0" lIns="0" bIns="0" rIns="0"/>
            <a:lstStyle/>
            <a:p>
              <a:pPr algn="l">
                <a:lnSpc>
                  <a:spcPts val="2610"/>
                </a:lnSpc>
              </a:pPr>
              <a:r>
                <a:rPr lang="en-US" sz="2175">
                  <a:solidFill>
                    <a:srgbClr val="FFFFFF"/>
                  </a:solidFill>
                  <a:latin typeface="Calibri (MS)"/>
                  <a:ea typeface="Calibri (MS)"/>
                  <a:cs typeface="Calibri (MS)"/>
                  <a:sym typeface="Calibri (MS)"/>
                </a:rPr>
                <a:t>Tujuan umum: mengembangkan dan memvalidasi model sistem dinamis pariwisata yang terintegrasi dengan data citra satelit untuk pemutakhiran data, guna mendukung simulasi kebijakan pariwisata di Provinsi DIY.</a:t>
              </a:r>
            </a:p>
          </p:txBody>
        </p:sp>
      </p:grpSp>
      <p:grpSp>
        <p:nvGrpSpPr>
          <p:cNvPr name="Group 43" id="43"/>
          <p:cNvGrpSpPr/>
          <p:nvPr/>
        </p:nvGrpSpPr>
        <p:grpSpPr>
          <a:xfrm rot="0">
            <a:off x="891540" y="4197096"/>
            <a:ext cx="685800" cy="685800"/>
            <a:chOff x="0" y="0"/>
            <a:chExt cx="914400" cy="914400"/>
          </a:xfrm>
        </p:grpSpPr>
        <p:sp>
          <p:nvSpPr>
            <p:cNvPr name="Freeform 44" id="4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45" id="45"/>
          <p:cNvGrpSpPr/>
          <p:nvPr/>
        </p:nvGrpSpPr>
        <p:grpSpPr>
          <a:xfrm rot="0">
            <a:off x="891540" y="4197096"/>
            <a:ext cx="685800" cy="685800"/>
            <a:chOff x="0" y="0"/>
            <a:chExt cx="914400" cy="914400"/>
          </a:xfrm>
        </p:grpSpPr>
        <p:sp>
          <p:nvSpPr>
            <p:cNvPr name="Freeform 46" id="4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03" t="0" r="-78303" b="0"/>
              </a:stretch>
            </a:blipFill>
          </p:spPr>
        </p:sp>
        <p:sp>
          <p:nvSpPr>
            <p:cNvPr name="TextBox 47" id="47"/>
            <p:cNvSpPr txBox="true"/>
            <p:nvPr/>
          </p:nvSpPr>
          <p:spPr>
            <a:xfrm>
              <a:off x="0" y="-38100"/>
              <a:ext cx="914400" cy="95250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1</a:t>
              </a:r>
            </a:p>
          </p:txBody>
        </p:sp>
      </p:grpSp>
      <p:grpSp>
        <p:nvGrpSpPr>
          <p:cNvPr name="Group 48" id="48"/>
          <p:cNvGrpSpPr/>
          <p:nvPr/>
        </p:nvGrpSpPr>
        <p:grpSpPr>
          <a:xfrm rot="0">
            <a:off x="1851660" y="3909060"/>
            <a:ext cx="7269480" cy="1234440"/>
            <a:chOff x="0" y="0"/>
            <a:chExt cx="9692640" cy="1645920"/>
          </a:xfrm>
        </p:grpSpPr>
        <p:sp>
          <p:nvSpPr>
            <p:cNvPr name="Freeform 49" id="49"/>
            <p:cNvSpPr/>
            <p:nvPr/>
          </p:nvSpPr>
          <p:spPr>
            <a:xfrm flipH="false" flipV="false" rot="0">
              <a:off x="0" y="0"/>
              <a:ext cx="9692640" cy="1645920"/>
            </a:xfrm>
            <a:custGeom>
              <a:avLst/>
              <a:gdLst/>
              <a:ahLst/>
              <a:cxnLst/>
              <a:rect r="r" b="b" t="t" l="l"/>
              <a:pathLst>
                <a:path h="1645920" w="9692640">
                  <a:moveTo>
                    <a:pt x="0" y="143123"/>
                  </a:moveTo>
                  <a:cubicBezTo>
                    <a:pt x="0" y="64107"/>
                    <a:pt x="81915" y="0"/>
                    <a:pt x="182880" y="0"/>
                  </a:cubicBezTo>
                  <a:lnTo>
                    <a:pt x="9509760" y="0"/>
                  </a:lnTo>
                  <a:cubicBezTo>
                    <a:pt x="9610725" y="0"/>
                    <a:pt x="9692640" y="64107"/>
                    <a:pt x="9692640" y="143123"/>
                  </a:cubicBezTo>
                  <a:lnTo>
                    <a:pt x="9692640" y="1502797"/>
                  </a:lnTo>
                  <a:cubicBezTo>
                    <a:pt x="9692640" y="1581813"/>
                    <a:pt x="9610725" y="1645920"/>
                    <a:pt x="9509760" y="1645920"/>
                  </a:cubicBezTo>
                  <a:lnTo>
                    <a:pt x="182880" y="1645920"/>
                  </a:lnTo>
                  <a:cubicBezTo>
                    <a:pt x="81915" y="1645920"/>
                    <a:pt x="0" y="1581813"/>
                    <a:pt x="0" y="1502797"/>
                  </a:cubicBezTo>
                  <a:close/>
                </a:path>
              </a:pathLst>
            </a:custGeom>
            <a:solidFill>
              <a:srgbClr val="F4D3CF"/>
            </a:solidFill>
          </p:spPr>
        </p:sp>
      </p:grpSp>
      <p:sp>
        <p:nvSpPr>
          <p:cNvPr name="TextBox 50" id="50"/>
          <p:cNvSpPr txBox="true"/>
          <p:nvPr/>
        </p:nvSpPr>
        <p:spPr>
          <a:xfrm rot="0">
            <a:off x="2125980" y="4008120"/>
            <a:ext cx="4114800" cy="3398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MASALAH 1</a:t>
            </a:r>
          </a:p>
        </p:txBody>
      </p:sp>
      <p:sp>
        <p:nvSpPr>
          <p:cNvPr name="TextBox 51" id="51"/>
          <p:cNvSpPr txBox="true"/>
          <p:nvPr/>
        </p:nvSpPr>
        <p:spPr>
          <a:xfrm rot="0">
            <a:off x="2125980" y="4323588"/>
            <a:ext cx="678942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Belum tersedia variabel penyusun CLD untuk model sistem dinamis kebijakan pariwisata DIY.</a:t>
            </a:r>
          </a:p>
        </p:txBody>
      </p:sp>
      <p:grpSp>
        <p:nvGrpSpPr>
          <p:cNvPr name="Group 52" id="52"/>
          <p:cNvGrpSpPr/>
          <p:nvPr/>
        </p:nvGrpSpPr>
        <p:grpSpPr>
          <a:xfrm rot="0">
            <a:off x="10012680" y="3909060"/>
            <a:ext cx="7447788" cy="1234440"/>
            <a:chOff x="0" y="0"/>
            <a:chExt cx="9930384" cy="1645920"/>
          </a:xfrm>
        </p:grpSpPr>
        <p:sp>
          <p:nvSpPr>
            <p:cNvPr name="Freeform 53" id="53"/>
            <p:cNvSpPr/>
            <p:nvPr/>
          </p:nvSpPr>
          <p:spPr>
            <a:xfrm flipH="false" flipV="false" rot="0">
              <a:off x="0" y="0"/>
              <a:ext cx="9930385" cy="1645920"/>
            </a:xfrm>
            <a:custGeom>
              <a:avLst/>
              <a:gdLst/>
              <a:ahLst/>
              <a:cxnLst/>
              <a:rect r="r" b="b" t="t" l="l"/>
              <a:pathLst>
                <a:path h="1645920" w="9930385">
                  <a:moveTo>
                    <a:pt x="0" y="143123"/>
                  </a:moveTo>
                  <a:cubicBezTo>
                    <a:pt x="0" y="64107"/>
                    <a:pt x="81915" y="0"/>
                    <a:pt x="182880" y="0"/>
                  </a:cubicBezTo>
                  <a:lnTo>
                    <a:pt x="9747504" y="0"/>
                  </a:lnTo>
                  <a:cubicBezTo>
                    <a:pt x="9848469" y="0"/>
                    <a:pt x="9930385" y="64107"/>
                    <a:pt x="9930385" y="143123"/>
                  </a:cubicBezTo>
                  <a:lnTo>
                    <a:pt x="9930385" y="1502797"/>
                  </a:lnTo>
                  <a:cubicBezTo>
                    <a:pt x="9930385" y="1581813"/>
                    <a:pt x="9848469" y="1645920"/>
                    <a:pt x="9747504" y="1645920"/>
                  </a:cubicBezTo>
                  <a:lnTo>
                    <a:pt x="182880" y="1645920"/>
                  </a:lnTo>
                  <a:cubicBezTo>
                    <a:pt x="81915" y="1645920"/>
                    <a:pt x="0" y="1581813"/>
                    <a:pt x="0" y="1502797"/>
                  </a:cubicBezTo>
                  <a:close/>
                </a:path>
              </a:pathLst>
            </a:custGeom>
            <a:solidFill>
              <a:srgbClr val="EAF8FA"/>
            </a:solidFill>
          </p:spPr>
        </p:sp>
      </p:grpSp>
      <p:sp>
        <p:nvSpPr>
          <p:cNvPr name="TextBox 54" id="54"/>
          <p:cNvSpPr txBox="true"/>
          <p:nvPr/>
        </p:nvSpPr>
        <p:spPr>
          <a:xfrm rot="0">
            <a:off x="10287000" y="4008120"/>
            <a:ext cx="4114800" cy="339852"/>
          </a:xfrm>
          <a:prstGeom prst="rect">
            <a:avLst/>
          </a:prstGeom>
        </p:spPr>
        <p:txBody>
          <a:bodyPr anchor="t" rtlCol="false" tIns="0" lIns="0" bIns="0" rIns="0">
            <a:spAutoFit/>
          </a:bodyPr>
          <a:lstStyle/>
          <a:p>
            <a:pPr algn="l">
              <a:lnSpc>
                <a:spcPts val="1800"/>
              </a:lnSpc>
            </a:pPr>
            <a:r>
              <a:rPr lang="en-US" sz="1500" b="true">
                <a:solidFill>
                  <a:srgbClr val="0B5E6E"/>
                </a:solidFill>
                <a:latin typeface="Calibri (MS) Bold"/>
                <a:ea typeface="Calibri (MS) Bold"/>
                <a:cs typeface="Calibri (MS) Bold"/>
                <a:sym typeface="Calibri (MS) Bold"/>
              </a:rPr>
              <a:t>TUJUAN 1</a:t>
            </a:r>
          </a:p>
        </p:txBody>
      </p:sp>
      <p:sp>
        <p:nvSpPr>
          <p:cNvPr name="TextBox 55" id="55"/>
          <p:cNvSpPr txBox="true"/>
          <p:nvPr/>
        </p:nvSpPr>
        <p:spPr>
          <a:xfrm rot="0">
            <a:off x="10287000" y="4323588"/>
            <a:ext cx="692658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Mengidentifikasi dan merumuskan variabel-variabel utama penyusun CLD.</a:t>
            </a:r>
          </a:p>
        </p:txBody>
      </p:sp>
      <p:grpSp>
        <p:nvGrpSpPr>
          <p:cNvPr name="Group 56" id="56"/>
          <p:cNvGrpSpPr/>
          <p:nvPr/>
        </p:nvGrpSpPr>
        <p:grpSpPr>
          <a:xfrm rot="0">
            <a:off x="891540" y="5634228"/>
            <a:ext cx="685800" cy="685800"/>
            <a:chOff x="0" y="0"/>
            <a:chExt cx="914400" cy="914400"/>
          </a:xfrm>
        </p:grpSpPr>
        <p:sp>
          <p:nvSpPr>
            <p:cNvPr name="Freeform 57" id="57"/>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58" id="58"/>
          <p:cNvGrpSpPr/>
          <p:nvPr/>
        </p:nvGrpSpPr>
        <p:grpSpPr>
          <a:xfrm rot="0">
            <a:off x="891540" y="5634228"/>
            <a:ext cx="685800" cy="685800"/>
            <a:chOff x="0" y="0"/>
            <a:chExt cx="914400" cy="914400"/>
          </a:xfrm>
        </p:grpSpPr>
        <p:sp>
          <p:nvSpPr>
            <p:cNvPr name="Freeform 59" id="59"/>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03" t="0" r="-78303" b="0"/>
              </a:stretch>
            </a:blipFill>
          </p:spPr>
        </p:sp>
        <p:sp>
          <p:nvSpPr>
            <p:cNvPr name="TextBox 60" id="60"/>
            <p:cNvSpPr txBox="true"/>
            <p:nvPr/>
          </p:nvSpPr>
          <p:spPr>
            <a:xfrm>
              <a:off x="0" y="-38100"/>
              <a:ext cx="914400" cy="95250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2</a:t>
              </a:r>
            </a:p>
          </p:txBody>
        </p:sp>
      </p:grpSp>
      <p:grpSp>
        <p:nvGrpSpPr>
          <p:cNvPr name="Group 61" id="61"/>
          <p:cNvGrpSpPr/>
          <p:nvPr/>
        </p:nvGrpSpPr>
        <p:grpSpPr>
          <a:xfrm rot="0">
            <a:off x="1851660" y="5295900"/>
            <a:ext cx="7269480" cy="1449705"/>
            <a:chOff x="0" y="0"/>
            <a:chExt cx="9692640" cy="1932940"/>
          </a:xfrm>
        </p:grpSpPr>
        <p:sp>
          <p:nvSpPr>
            <p:cNvPr name="Freeform 62" id="62"/>
            <p:cNvSpPr/>
            <p:nvPr/>
          </p:nvSpPr>
          <p:spPr>
            <a:xfrm flipH="false" flipV="false" rot="0">
              <a:off x="0" y="0"/>
              <a:ext cx="9692640" cy="1932940"/>
            </a:xfrm>
            <a:custGeom>
              <a:avLst/>
              <a:gdLst/>
              <a:ahLst/>
              <a:cxnLst/>
              <a:rect r="r" b="b" t="t" l="l"/>
              <a:pathLst>
                <a:path h="1932940" w="9692640">
                  <a:moveTo>
                    <a:pt x="0" y="168082"/>
                  </a:moveTo>
                  <a:cubicBezTo>
                    <a:pt x="0" y="75287"/>
                    <a:pt x="81915" y="0"/>
                    <a:pt x="182880" y="0"/>
                  </a:cubicBezTo>
                  <a:lnTo>
                    <a:pt x="9509760" y="0"/>
                  </a:lnTo>
                  <a:cubicBezTo>
                    <a:pt x="9610725" y="0"/>
                    <a:pt x="9692640" y="75287"/>
                    <a:pt x="9692640" y="168082"/>
                  </a:cubicBezTo>
                  <a:lnTo>
                    <a:pt x="9692640" y="1764858"/>
                  </a:lnTo>
                  <a:cubicBezTo>
                    <a:pt x="9692640" y="1857653"/>
                    <a:pt x="9610725" y="1932940"/>
                    <a:pt x="9509760" y="1932940"/>
                  </a:cubicBezTo>
                  <a:lnTo>
                    <a:pt x="182880" y="1932940"/>
                  </a:lnTo>
                  <a:cubicBezTo>
                    <a:pt x="81915" y="1932940"/>
                    <a:pt x="0" y="1857653"/>
                    <a:pt x="0" y="1764858"/>
                  </a:cubicBezTo>
                  <a:close/>
                </a:path>
              </a:pathLst>
            </a:custGeom>
            <a:solidFill>
              <a:srgbClr val="F4D3CF"/>
            </a:solidFill>
          </p:spPr>
        </p:sp>
      </p:grpSp>
      <p:sp>
        <p:nvSpPr>
          <p:cNvPr name="TextBox 63" id="63"/>
          <p:cNvSpPr txBox="true"/>
          <p:nvPr/>
        </p:nvSpPr>
        <p:spPr>
          <a:xfrm rot="0">
            <a:off x="2125980" y="5394960"/>
            <a:ext cx="4114800" cy="3398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MASALAH 2</a:t>
            </a:r>
          </a:p>
        </p:txBody>
      </p:sp>
      <p:sp>
        <p:nvSpPr>
          <p:cNvPr name="TextBox 64" id="64"/>
          <p:cNvSpPr txBox="true"/>
          <p:nvPr/>
        </p:nvSpPr>
        <p:spPr>
          <a:xfrm rot="0">
            <a:off x="2125980" y="5710428"/>
            <a:ext cx="678942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Belum tersedia model simulasi sistem dinamis yang menggunakan citra satelit dan statistik resmi untuk perumusan kebijakan.</a:t>
            </a:r>
          </a:p>
        </p:txBody>
      </p:sp>
      <p:grpSp>
        <p:nvGrpSpPr>
          <p:cNvPr name="Group 65" id="65"/>
          <p:cNvGrpSpPr/>
          <p:nvPr/>
        </p:nvGrpSpPr>
        <p:grpSpPr>
          <a:xfrm rot="0">
            <a:off x="10012680" y="5295900"/>
            <a:ext cx="7447788" cy="1449705"/>
            <a:chOff x="0" y="0"/>
            <a:chExt cx="9930384" cy="1932940"/>
          </a:xfrm>
        </p:grpSpPr>
        <p:sp>
          <p:nvSpPr>
            <p:cNvPr name="Freeform 66" id="66"/>
            <p:cNvSpPr/>
            <p:nvPr/>
          </p:nvSpPr>
          <p:spPr>
            <a:xfrm flipH="false" flipV="false" rot="0">
              <a:off x="0" y="0"/>
              <a:ext cx="9930385" cy="1932940"/>
            </a:xfrm>
            <a:custGeom>
              <a:avLst/>
              <a:gdLst/>
              <a:ahLst/>
              <a:cxnLst/>
              <a:rect r="r" b="b" t="t" l="l"/>
              <a:pathLst>
                <a:path h="1932940" w="9930385">
                  <a:moveTo>
                    <a:pt x="0" y="168082"/>
                  </a:moveTo>
                  <a:cubicBezTo>
                    <a:pt x="0" y="75287"/>
                    <a:pt x="81915" y="0"/>
                    <a:pt x="182880" y="0"/>
                  </a:cubicBezTo>
                  <a:lnTo>
                    <a:pt x="9747504" y="0"/>
                  </a:lnTo>
                  <a:cubicBezTo>
                    <a:pt x="9848469" y="0"/>
                    <a:pt x="9930385" y="75287"/>
                    <a:pt x="9930385" y="168082"/>
                  </a:cubicBezTo>
                  <a:lnTo>
                    <a:pt x="9930385" y="1764858"/>
                  </a:lnTo>
                  <a:cubicBezTo>
                    <a:pt x="9930385" y="1857653"/>
                    <a:pt x="9848469" y="1932940"/>
                    <a:pt x="9747504" y="1932940"/>
                  </a:cubicBezTo>
                  <a:lnTo>
                    <a:pt x="182880" y="1932940"/>
                  </a:lnTo>
                  <a:cubicBezTo>
                    <a:pt x="81915" y="1932940"/>
                    <a:pt x="0" y="1857653"/>
                    <a:pt x="0" y="1764858"/>
                  </a:cubicBezTo>
                  <a:close/>
                </a:path>
              </a:pathLst>
            </a:custGeom>
            <a:solidFill>
              <a:srgbClr val="EAF8FA"/>
            </a:solidFill>
          </p:spPr>
        </p:sp>
      </p:grpSp>
      <p:sp>
        <p:nvSpPr>
          <p:cNvPr name="TextBox 67" id="67"/>
          <p:cNvSpPr txBox="true"/>
          <p:nvPr/>
        </p:nvSpPr>
        <p:spPr>
          <a:xfrm rot="0">
            <a:off x="10287000" y="5394960"/>
            <a:ext cx="4114800" cy="339852"/>
          </a:xfrm>
          <a:prstGeom prst="rect">
            <a:avLst/>
          </a:prstGeom>
        </p:spPr>
        <p:txBody>
          <a:bodyPr anchor="t" rtlCol="false" tIns="0" lIns="0" bIns="0" rIns="0">
            <a:spAutoFit/>
          </a:bodyPr>
          <a:lstStyle/>
          <a:p>
            <a:pPr algn="l">
              <a:lnSpc>
                <a:spcPts val="1800"/>
              </a:lnSpc>
            </a:pPr>
            <a:r>
              <a:rPr lang="en-US" sz="1500" b="true">
                <a:solidFill>
                  <a:srgbClr val="0B5E6E"/>
                </a:solidFill>
                <a:latin typeface="Calibri (MS) Bold"/>
                <a:ea typeface="Calibri (MS) Bold"/>
                <a:cs typeface="Calibri (MS) Bold"/>
                <a:sym typeface="Calibri (MS) Bold"/>
              </a:rPr>
              <a:t>TUJUAN 2</a:t>
            </a:r>
          </a:p>
        </p:txBody>
      </p:sp>
      <p:sp>
        <p:nvSpPr>
          <p:cNvPr name="TextBox 68" id="68"/>
          <p:cNvSpPr txBox="true"/>
          <p:nvPr/>
        </p:nvSpPr>
        <p:spPr>
          <a:xfrm rot="0">
            <a:off x="10287000" y="5710428"/>
            <a:ext cx="6926580" cy="89535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Mengembangkan model SD yang memanfaatkan citra satelit untuk memutakhirkan variabel berjeda data, lalu menguji validitas struktur dan kesesuaiannya terhadap data historis.</a:t>
            </a:r>
          </a:p>
        </p:txBody>
      </p:sp>
      <p:grpSp>
        <p:nvGrpSpPr>
          <p:cNvPr name="Group 69" id="69"/>
          <p:cNvGrpSpPr/>
          <p:nvPr/>
        </p:nvGrpSpPr>
        <p:grpSpPr>
          <a:xfrm rot="0">
            <a:off x="891540" y="7138035"/>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71" id="71"/>
          <p:cNvGrpSpPr/>
          <p:nvPr/>
        </p:nvGrpSpPr>
        <p:grpSpPr>
          <a:xfrm rot="0">
            <a:off x="891540" y="7138035"/>
            <a:ext cx="685800" cy="685800"/>
            <a:chOff x="0" y="0"/>
            <a:chExt cx="914400" cy="914400"/>
          </a:xfrm>
        </p:grpSpPr>
        <p:sp>
          <p:nvSpPr>
            <p:cNvPr name="Freeform 72" id="72"/>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03" t="0" r="-78303" b="0"/>
              </a:stretch>
            </a:blipFill>
          </p:spPr>
        </p:sp>
        <p:sp>
          <p:nvSpPr>
            <p:cNvPr name="TextBox 73" id="73"/>
            <p:cNvSpPr txBox="true"/>
            <p:nvPr/>
          </p:nvSpPr>
          <p:spPr>
            <a:xfrm>
              <a:off x="0" y="-38100"/>
              <a:ext cx="914400" cy="95250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3</a:t>
              </a:r>
            </a:p>
          </p:txBody>
        </p:sp>
      </p:grpSp>
      <p:grpSp>
        <p:nvGrpSpPr>
          <p:cNvPr name="Group 74" id="74"/>
          <p:cNvGrpSpPr/>
          <p:nvPr/>
        </p:nvGrpSpPr>
        <p:grpSpPr>
          <a:xfrm rot="0">
            <a:off x="1851660" y="6898005"/>
            <a:ext cx="7269480" cy="1165860"/>
            <a:chOff x="0" y="0"/>
            <a:chExt cx="9692640" cy="1554480"/>
          </a:xfrm>
        </p:grpSpPr>
        <p:sp>
          <p:nvSpPr>
            <p:cNvPr name="Freeform 75" id="75"/>
            <p:cNvSpPr/>
            <p:nvPr/>
          </p:nvSpPr>
          <p:spPr>
            <a:xfrm flipH="false" flipV="false" rot="0">
              <a:off x="0" y="0"/>
              <a:ext cx="9692640" cy="1554480"/>
            </a:xfrm>
            <a:custGeom>
              <a:avLst/>
              <a:gdLst/>
              <a:ahLst/>
              <a:cxnLst/>
              <a:rect r="r" b="b" t="t" l="l"/>
              <a:pathLst>
                <a:path h="1554480" w="9692640">
                  <a:moveTo>
                    <a:pt x="0" y="135172"/>
                  </a:moveTo>
                  <a:cubicBezTo>
                    <a:pt x="0" y="60546"/>
                    <a:pt x="81915" y="0"/>
                    <a:pt x="182880" y="0"/>
                  </a:cubicBezTo>
                  <a:lnTo>
                    <a:pt x="9509760" y="0"/>
                  </a:lnTo>
                  <a:cubicBezTo>
                    <a:pt x="9610725" y="0"/>
                    <a:pt x="9692640" y="60546"/>
                    <a:pt x="9692640" y="135172"/>
                  </a:cubicBezTo>
                  <a:lnTo>
                    <a:pt x="9692640" y="1419308"/>
                  </a:lnTo>
                  <a:cubicBezTo>
                    <a:pt x="9692640" y="1493934"/>
                    <a:pt x="9610725" y="1554480"/>
                    <a:pt x="9509760" y="1554480"/>
                  </a:cubicBezTo>
                  <a:lnTo>
                    <a:pt x="182880" y="1554480"/>
                  </a:lnTo>
                  <a:cubicBezTo>
                    <a:pt x="81915" y="1554480"/>
                    <a:pt x="0" y="1493934"/>
                    <a:pt x="0" y="1419308"/>
                  </a:cubicBezTo>
                  <a:close/>
                </a:path>
              </a:pathLst>
            </a:custGeom>
            <a:solidFill>
              <a:srgbClr val="F4D3CF"/>
            </a:solidFill>
          </p:spPr>
        </p:sp>
      </p:grpSp>
      <p:sp>
        <p:nvSpPr>
          <p:cNvPr name="TextBox 76" id="76"/>
          <p:cNvSpPr txBox="true"/>
          <p:nvPr/>
        </p:nvSpPr>
        <p:spPr>
          <a:xfrm rot="0">
            <a:off x="2125980" y="6997065"/>
            <a:ext cx="4114800" cy="3398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MASALAH 3</a:t>
            </a:r>
          </a:p>
        </p:txBody>
      </p:sp>
      <p:sp>
        <p:nvSpPr>
          <p:cNvPr name="TextBox 77" id="77"/>
          <p:cNvSpPr txBox="true"/>
          <p:nvPr/>
        </p:nvSpPr>
        <p:spPr>
          <a:xfrm rot="0">
            <a:off x="2125980" y="7312533"/>
            <a:ext cx="678942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Belum ada aplikasi web yang mengimplementasikan hasil pemodelan dan simulasi skenario kebijakan di DIY.</a:t>
            </a:r>
          </a:p>
        </p:txBody>
      </p:sp>
      <p:grpSp>
        <p:nvGrpSpPr>
          <p:cNvPr name="Group 78" id="78"/>
          <p:cNvGrpSpPr/>
          <p:nvPr/>
        </p:nvGrpSpPr>
        <p:grpSpPr>
          <a:xfrm rot="0">
            <a:off x="10012680" y="6898005"/>
            <a:ext cx="7447788" cy="1165860"/>
            <a:chOff x="0" y="0"/>
            <a:chExt cx="9930384" cy="1554480"/>
          </a:xfrm>
        </p:grpSpPr>
        <p:sp>
          <p:nvSpPr>
            <p:cNvPr name="Freeform 79" id="79"/>
            <p:cNvSpPr/>
            <p:nvPr/>
          </p:nvSpPr>
          <p:spPr>
            <a:xfrm flipH="false" flipV="false" rot="0">
              <a:off x="0" y="0"/>
              <a:ext cx="9930385" cy="1554480"/>
            </a:xfrm>
            <a:custGeom>
              <a:avLst/>
              <a:gdLst/>
              <a:ahLst/>
              <a:cxnLst/>
              <a:rect r="r" b="b" t="t" l="l"/>
              <a:pathLst>
                <a:path h="1554480" w="9930385">
                  <a:moveTo>
                    <a:pt x="0" y="135172"/>
                  </a:moveTo>
                  <a:cubicBezTo>
                    <a:pt x="0" y="60546"/>
                    <a:pt x="81915" y="0"/>
                    <a:pt x="182880" y="0"/>
                  </a:cubicBezTo>
                  <a:lnTo>
                    <a:pt x="9747504" y="0"/>
                  </a:lnTo>
                  <a:cubicBezTo>
                    <a:pt x="9848469" y="0"/>
                    <a:pt x="9930385" y="60546"/>
                    <a:pt x="9930385" y="135172"/>
                  </a:cubicBezTo>
                  <a:lnTo>
                    <a:pt x="9930385" y="1419308"/>
                  </a:lnTo>
                  <a:cubicBezTo>
                    <a:pt x="9930385" y="1493934"/>
                    <a:pt x="9848469" y="1554480"/>
                    <a:pt x="9747504" y="1554480"/>
                  </a:cubicBezTo>
                  <a:lnTo>
                    <a:pt x="182880" y="1554480"/>
                  </a:lnTo>
                  <a:cubicBezTo>
                    <a:pt x="81915" y="1554480"/>
                    <a:pt x="0" y="1493934"/>
                    <a:pt x="0" y="1419308"/>
                  </a:cubicBezTo>
                  <a:close/>
                </a:path>
              </a:pathLst>
            </a:custGeom>
            <a:solidFill>
              <a:srgbClr val="EAF8FA"/>
            </a:solidFill>
          </p:spPr>
        </p:sp>
      </p:grpSp>
      <p:sp>
        <p:nvSpPr>
          <p:cNvPr name="TextBox 80" id="80"/>
          <p:cNvSpPr txBox="true"/>
          <p:nvPr/>
        </p:nvSpPr>
        <p:spPr>
          <a:xfrm rot="0">
            <a:off x="10287000" y="6997065"/>
            <a:ext cx="4114800" cy="339852"/>
          </a:xfrm>
          <a:prstGeom prst="rect">
            <a:avLst/>
          </a:prstGeom>
        </p:spPr>
        <p:txBody>
          <a:bodyPr anchor="t" rtlCol="false" tIns="0" lIns="0" bIns="0" rIns="0">
            <a:spAutoFit/>
          </a:bodyPr>
          <a:lstStyle/>
          <a:p>
            <a:pPr algn="l">
              <a:lnSpc>
                <a:spcPts val="1800"/>
              </a:lnSpc>
            </a:pPr>
            <a:r>
              <a:rPr lang="en-US" sz="1500" b="true">
                <a:solidFill>
                  <a:srgbClr val="0B5E6E"/>
                </a:solidFill>
                <a:latin typeface="Calibri (MS) Bold"/>
                <a:ea typeface="Calibri (MS) Bold"/>
                <a:cs typeface="Calibri (MS) Bold"/>
                <a:sym typeface="Calibri (MS) Bold"/>
              </a:rPr>
              <a:t>TUJUAN 3</a:t>
            </a:r>
          </a:p>
        </p:txBody>
      </p:sp>
      <p:sp>
        <p:nvSpPr>
          <p:cNvPr name="TextBox 81" id="81"/>
          <p:cNvSpPr txBox="true"/>
          <p:nvPr/>
        </p:nvSpPr>
        <p:spPr>
          <a:xfrm rot="0">
            <a:off x="10287000" y="7312533"/>
            <a:ext cx="692658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Membangun aplikasi berbasis web sebagai alat bantu analisis dan pengambilan keputusan.</a:t>
            </a:r>
          </a:p>
        </p:txBody>
      </p:sp>
      <p:sp>
        <p:nvSpPr>
          <p:cNvPr name="TextBox 82" id="82"/>
          <p:cNvSpPr txBox="true"/>
          <p:nvPr/>
        </p:nvSpPr>
        <p:spPr>
          <a:xfrm rot="0">
            <a:off x="16550640" y="9718548"/>
            <a:ext cx="818388" cy="2667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a:t>
            </a:r>
          </a:p>
        </p:txBody>
      </p:sp>
      <p:sp>
        <p:nvSpPr>
          <p:cNvPr name="AutoShape 83" id="83"/>
          <p:cNvSpPr/>
          <p:nvPr/>
        </p:nvSpPr>
        <p:spPr>
          <a:xfrm>
            <a:off x="9121140" y="4526280"/>
            <a:ext cx="891540" cy="0"/>
          </a:xfrm>
          <a:prstGeom prst="line">
            <a:avLst/>
          </a:prstGeom>
          <a:ln cap="flat" w="38100">
            <a:solidFill>
              <a:srgbClr val="39C0D3"/>
            </a:solidFill>
            <a:prstDash val="solid"/>
            <a:headEnd type="none" len="sm" w="sm"/>
            <a:tailEnd type="triangle" len="med" w="lg"/>
          </a:ln>
        </p:spPr>
      </p:sp>
      <p:sp>
        <p:nvSpPr>
          <p:cNvPr name="AutoShape 84" id="84"/>
          <p:cNvSpPr/>
          <p:nvPr/>
        </p:nvSpPr>
        <p:spPr>
          <a:xfrm>
            <a:off x="9121140" y="6020752"/>
            <a:ext cx="891540" cy="0"/>
          </a:xfrm>
          <a:prstGeom prst="line">
            <a:avLst/>
          </a:prstGeom>
          <a:ln cap="flat" w="38100">
            <a:solidFill>
              <a:srgbClr val="39C0D3"/>
            </a:solidFill>
            <a:prstDash val="solid"/>
            <a:headEnd type="none" len="sm" w="sm"/>
            <a:tailEnd type="triangle" len="med" w="lg"/>
          </a:ln>
        </p:spPr>
      </p:sp>
      <p:sp>
        <p:nvSpPr>
          <p:cNvPr name="AutoShape 85" id="85"/>
          <p:cNvSpPr/>
          <p:nvPr/>
        </p:nvSpPr>
        <p:spPr>
          <a:xfrm>
            <a:off x="9121140" y="7480935"/>
            <a:ext cx="891540" cy="0"/>
          </a:xfrm>
          <a:prstGeom prst="line">
            <a:avLst/>
          </a:prstGeom>
          <a:ln cap="flat" w="38100">
            <a:solidFill>
              <a:srgbClr val="39C0D3"/>
            </a:solidFill>
            <a:prstDash val="solid"/>
            <a:headEnd type="none" len="sm" w="sm"/>
            <a:tailEnd type="triangle" len="med" w="lg"/>
          </a:ln>
        </p:spPr>
      </p:sp>
      <p:sp>
        <p:nvSpPr>
          <p:cNvPr id="86"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1.2 · Batasan Masalah</a:t>
            </a:r>
          </a:p>
          <a:p>
            <a:pPr algn="l">
              <a:lnSpc>
                <a:spcPct val="100000"/>
              </a:lnSpc>
            </a:pPr>
            <a:r>
              <a:rPr lang="en-US" sz="3500" b="true">
                <a:solidFill>
                  <a:srgbClr val="0B5E6E"/>
                </a:solidFill>
                <a:latin typeface="Calibri (MS) Bold"/>
                <a:ea typeface="Calibri (MS) Bold"/>
                <a:cs typeface="Calibri (MS) Bold"/>
                <a:sym typeface="Calibri (MS) Bold"/>
              </a:rPr>
              <a:t>Ruang lingkup: model untuk membandingkan skenario, bukan meramal</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331720"/>
            <a:ext cx="16637508" cy="1261872"/>
            <a:chOff x="0" y="0"/>
            <a:chExt cx="22183344" cy="1682496"/>
          </a:xfrm>
        </p:grpSpPr>
        <p:sp>
          <p:nvSpPr>
            <p:cNvPr name="Freeform 53" id="53"/>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EAF8FA"/>
            </a:solidFill>
          </p:spPr>
        </p:sp>
      </p:grpSp>
      <p:grpSp>
        <p:nvGrpSpPr>
          <p:cNvPr name="Group 54" id="54"/>
          <p:cNvGrpSpPr/>
          <p:nvPr/>
        </p:nvGrpSpPr>
        <p:grpSpPr>
          <a:xfrm rot="0">
            <a:off x="1097280" y="2619756"/>
            <a:ext cx="685800" cy="685800"/>
            <a:chOff x="0" y="0"/>
            <a:chExt cx="914400" cy="914400"/>
          </a:xfrm>
        </p:grpSpPr>
        <p:sp>
          <p:nvSpPr>
            <p:cNvPr name="Freeform 55" id="55"/>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56" id="56"/>
          <p:cNvGrpSpPr/>
          <p:nvPr/>
        </p:nvGrpSpPr>
        <p:grpSpPr>
          <a:xfrm rot="0">
            <a:off x="1097280" y="2619756"/>
            <a:ext cx="685800" cy="685800"/>
            <a:chOff x="0" y="0"/>
            <a:chExt cx="914400" cy="914400"/>
          </a:xfrm>
        </p:grpSpPr>
        <p:sp>
          <p:nvSpPr>
            <p:cNvPr name="Freeform 57" id="57"/>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58" id="58"/>
          <p:cNvGrpSpPr/>
          <p:nvPr/>
        </p:nvGrpSpPr>
        <p:grpSpPr>
          <a:xfrm rot="0">
            <a:off x="1097280" y="2591181"/>
            <a:ext cx="685800" cy="714375"/>
            <a:chOff x="0" y="0"/>
            <a:chExt cx="914400" cy="952500"/>
          </a:xfrm>
        </p:grpSpPr>
        <p:sp>
          <p:nvSpPr>
            <p:cNvPr name="Freeform 59" id="59"/>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60" id="60"/>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grpSp>
        <p:nvGrpSpPr>
          <p:cNvPr name="Group 61" id="61"/>
          <p:cNvGrpSpPr/>
          <p:nvPr/>
        </p:nvGrpSpPr>
        <p:grpSpPr>
          <a:xfrm rot="0">
            <a:off x="2125980" y="2331720"/>
            <a:ext cx="3566160" cy="1261872"/>
            <a:chOff x="0" y="0"/>
            <a:chExt cx="4754880" cy="1682496"/>
          </a:xfrm>
        </p:grpSpPr>
        <p:sp>
          <p:nvSpPr>
            <p:cNvPr name="Freeform 62" id="62"/>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sp>
      </p:grpSp>
      <p:grpSp>
        <p:nvGrpSpPr>
          <p:cNvPr name="Group 63" id="63"/>
          <p:cNvGrpSpPr/>
          <p:nvPr/>
        </p:nvGrpSpPr>
        <p:grpSpPr>
          <a:xfrm rot="0">
            <a:off x="2125980" y="2288858"/>
            <a:ext cx="3566160" cy="1304734"/>
            <a:chOff x="0" y="0"/>
            <a:chExt cx="4754880" cy="1739646"/>
          </a:xfrm>
        </p:grpSpPr>
        <p:sp>
          <p:nvSpPr>
            <p:cNvPr name="Freeform 64" id="64"/>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57" r="0" b="-3257"/>
              </a:stretch>
            </a:blipFill>
          </p:spPr>
        </p:sp>
        <p:sp>
          <p:nvSpPr>
            <p:cNvPr name="TextBox 65" id="65"/>
            <p:cNvSpPr txBox="true"/>
            <p:nvPr/>
          </p:nvSpPr>
          <p:spPr>
            <a:xfrm>
              <a:off x="0" y="-57150"/>
              <a:ext cx="4754880" cy="179679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Wilayah &amp; periode</a:t>
              </a:r>
            </a:p>
          </p:txBody>
        </p:sp>
      </p:grpSp>
      <p:grpSp>
        <p:nvGrpSpPr>
          <p:cNvPr name="Group 66" id="66"/>
          <p:cNvGrpSpPr/>
          <p:nvPr/>
        </p:nvGrpSpPr>
        <p:grpSpPr>
          <a:xfrm rot="0">
            <a:off x="5760720" y="2331720"/>
            <a:ext cx="11452860" cy="1261872"/>
            <a:chOff x="0" y="0"/>
            <a:chExt cx="15270480" cy="1682496"/>
          </a:xfrm>
        </p:grpSpPr>
        <p:sp>
          <p:nvSpPr>
            <p:cNvPr name="Freeform 67" id="67"/>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sp>
      </p:grpSp>
      <p:grpSp>
        <p:nvGrpSpPr>
          <p:cNvPr name="Group 68" id="68"/>
          <p:cNvGrpSpPr/>
          <p:nvPr/>
        </p:nvGrpSpPr>
        <p:grpSpPr>
          <a:xfrm rot="0">
            <a:off x="5760720" y="2303145"/>
            <a:ext cx="11452860" cy="1290447"/>
            <a:chOff x="0" y="0"/>
            <a:chExt cx="15270480" cy="1720596"/>
          </a:xfrm>
        </p:grpSpPr>
        <p:sp>
          <p:nvSpPr>
            <p:cNvPr name="Freeform 69" id="69"/>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931" r="0" b="-122931"/>
              </a:stretch>
            </a:blipFill>
          </p:spPr>
        </p:sp>
        <p:sp>
          <p:nvSpPr>
            <p:cNvPr name="TextBox 70" id="70"/>
            <p:cNvSpPr txBox="true"/>
            <p:nvPr/>
          </p:nvSpPr>
          <p:spPr>
            <a:xfrm>
              <a:off x="0" y="-38100"/>
              <a:ext cx="15270480" cy="17586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Provinsi DIY · kalibrasi data historis 2015–2025 · tahun dasar 2025, simulasi sampai 2050</a:t>
              </a:r>
            </a:p>
          </p:txBody>
        </p:sp>
      </p:grpSp>
      <p:grpSp>
        <p:nvGrpSpPr>
          <p:cNvPr name="Group 71" id="71"/>
          <p:cNvGrpSpPr/>
          <p:nvPr/>
        </p:nvGrpSpPr>
        <p:grpSpPr>
          <a:xfrm rot="0">
            <a:off x="822960" y="3730752"/>
            <a:ext cx="16637508" cy="1261872"/>
            <a:chOff x="0" y="0"/>
            <a:chExt cx="22183344" cy="1682496"/>
          </a:xfrm>
        </p:grpSpPr>
        <p:sp>
          <p:nvSpPr>
            <p:cNvPr name="Freeform 72" id="72"/>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EAF8FA"/>
            </a:solidFill>
          </p:spPr>
        </p:sp>
      </p:grpSp>
      <p:grpSp>
        <p:nvGrpSpPr>
          <p:cNvPr name="Group 73" id="73"/>
          <p:cNvGrpSpPr/>
          <p:nvPr/>
        </p:nvGrpSpPr>
        <p:grpSpPr>
          <a:xfrm rot="0">
            <a:off x="1097280" y="4018788"/>
            <a:ext cx="685800" cy="685800"/>
            <a:chOff x="0" y="0"/>
            <a:chExt cx="914400" cy="914400"/>
          </a:xfrm>
        </p:grpSpPr>
        <p:sp>
          <p:nvSpPr>
            <p:cNvPr name="Freeform 74" id="7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75" id="75"/>
          <p:cNvGrpSpPr/>
          <p:nvPr/>
        </p:nvGrpSpPr>
        <p:grpSpPr>
          <a:xfrm rot="0">
            <a:off x="1097280" y="4018788"/>
            <a:ext cx="685800" cy="685800"/>
            <a:chOff x="0" y="0"/>
            <a:chExt cx="914400" cy="914400"/>
          </a:xfrm>
        </p:grpSpPr>
        <p:sp>
          <p:nvSpPr>
            <p:cNvPr name="Freeform 76" id="7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77" id="77"/>
          <p:cNvGrpSpPr/>
          <p:nvPr/>
        </p:nvGrpSpPr>
        <p:grpSpPr>
          <a:xfrm rot="0">
            <a:off x="1097280" y="3990213"/>
            <a:ext cx="685800" cy="714375"/>
            <a:chOff x="0" y="0"/>
            <a:chExt cx="914400" cy="952500"/>
          </a:xfrm>
        </p:grpSpPr>
        <p:sp>
          <p:nvSpPr>
            <p:cNvPr name="Freeform 78" id="78"/>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79" id="79"/>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grpSp>
        <p:nvGrpSpPr>
          <p:cNvPr name="Group 80" id="80"/>
          <p:cNvGrpSpPr/>
          <p:nvPr/>
        </p:nvGrpSpPr>
        <p:grpSpPr>
          <a:xfrm rot="0">
            <a:off x="2125980" y="3730752"/>
            <a:ext cx="3566160" cy="1261872"/>
            <a:chOff x="0" y="0"/>
            <a:chExt cx="4754880" cy="1682496"/>
          </a:xfrm>
        </p:grpSpPr>
        <p:sp>
          <p:nvSpPr>
            <p:cNvPr name="Freeform 81" id="81"/>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sp>
      </p:grpSp>
      <p:grpSp>
        <p:nvGrpSpPr>
          <p:cNvPr name="Group 82" id="82"/>
          <p:cNvGrpSpPr/>
          <p:nvPr/>
        </p:nvGrpSpPr>
        <p:grpSpPr>
          <a:xfrm rot="0">
            <a:off x="2125980" y="3687890"/>
            <a:ext cx="3566160" cy="1304734"/>
            <a:chOff x="0" y="0"/>
            <a:chExt cx="4754880" cy="1739646"/>
          </a:xfrm>
        </p:grpSpPr>
        <p:sp>
          <p:nvSpPr>
            <p:cNvPr name="Freeform 83" id="83"/>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57" r="0" b="-3257"/>
              </a:stretch>
            </a:blipFill>
          </p:spPr>
        </p:sp>
        <p:sp>
          <p:nvSpPr>
            <p:cNvPr name="TextBox 84" id="84"/>
            <p:cNvSpPr txBox="true"/>
            <p:nvPr/>
          </p:nvSpPr>
          <p:spPr>
            <a:xfrm>
              <a:off x="0" y="-57150"/>
              <a:ext cx="4754880" cy="179679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Struktur model</a:t>
              </a:r>
            </a:p>
          </p:txBody>
        </p:sp>
      </p:grpSp>
      <p:grpSp>
        <p:nvGrpSpPr>
          <p:cNvPr name="Group 85" id="85"/>
          <p:cNvGrpSpPr/>
          <p:nvPr/>
        </p:nvGrpSpPr>
        <p:grpSpPr>
          <a:xfrm rot="0">
            <a:off x="5760720" y="3730752"/>
            <a:ext cx="11452860" cy="1261872"/>
            <a:chOff x="0" y="0"/>
            <a:chExt cx="15270480" cy="1682496"/>
          </a:xfrm>
        </p:grpSpPr>
        <p:sp>
          <p:nvSpPr>
            <p:cNvPr name="Freeform 86" id="86"/>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sp>
      </p:grpSp>
      <p:grpSp>
        <p:nvGrpSpPr>
          <p:cNvPr name="Group 87" id="87"/>
          <p:cNvGrpSpPr/>
          <p:nvPr/>
        </p:nvGrpSpPr>
        <p:grpSpPr>
          <a:xfrm rot="0">
            <a:off x="5760720" y="3702177"/>
            <a:ext cx="11452860" cy="1290447"/>
            <a:chOff x="0" y="0"/>
            <a:chExt cx="15270480" cy="1720596"/>
          </a:xfrm>
        </p:grpSpPr>
        <p:sp>
          <p:nvSpPr>
            <p:cNvPr name="Freeform 88" id="88"/>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931" r="0" b="-122931"/>
              </a:stretch>
            </a:blipFill>
          </p:spPr>
        </p:sp>
        <p:sp>
          <p:nvSpPr>
            <p:cNvPr name="TextBox 89" id="89"/>
            <p:cNvSpPr txBox="true"/>
            <p:nvPr/>
          </p:nvSpPr>
          <p:spPr>
            <a:xfrm>
              <a:off x="0" y="-38100"/>
              <a:ext cx="15270480" cy="17586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Lima stok inti: wisatawan, hotel &amp; akomodasi, ODTW, tenaga kerja, lahan terbangun. Tanpa guncangan eksternal (pandemi, bencana, krisis), serta tanpa faktor harga, promosi, dan musim.</a:t>
              </a:r>
            </a:p>
          </p:txBody>
        </p:sp>
      </p:grpSp>
      <p:grpSp>
        <p:nvGrpSpPr>
          <p:cNvPr name="Group 90" id="90"/>
          <p:cNvGrpSpPr/>
          <p:nvPr/>
        </p:nvGrpSpPr>
        <p:grpSpPr>
          <a:xfrm rot="0">
            <a:off x="822960" y="5129784"/>
            <a:ext cx="16637508" cy="1261872"/>
            <a:chOff x="0" y="0"/>
            <a:chExt cx="22183344" cy="1682496"/>
          </a:xfrm>
        </p:grpSpPr>
        <p:sp>
          <p:nvSpPr>
            <p:cNvPr name="Freeform 91" id="91"/>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EAF8FA"/>
            </a:solidFill>
          </p:spPr>
        </p:sp>
      </p:grpSp>
      <p:grpSp>
        <p:nvGrpSpPr>
          <p:cNvPr name="Group 92" id="92"/>
          <p:cNvGrpSpPr/>
          <p:nvPr/>
        </p:nvGrpSpPr>
        <p:grpSpPr>
          <a:xfrm rot="0">
            <a:off x="1097280" y="5417820"/>
            <a:ext cx="685800" cy="685800"/>
            <a:chOff x="0" y="0"/>
            <a:chExt cx="914400" cy="914400"/>
          </a:xfrm>
        </p:grpSpPr>
        <p:sp>
          <p:nvSpPr>
            <p:cNvPr name="Freeform 93" id="9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94" id="94"/>
          <p:cNvGrpSpPr/>
          <p:nvPr/>
        </p:nvGrpSpPr>
        <p:grpSpPr>
          <a:xfrm rot="0">
            <a:off x="1097280" y="5417820"/>
            <a:ext cx="685800" cy="685800"/>
            <a:chOff x="0" y="0"/>
            <a:chExt cx="914400" cy="914400"/>
          </a:xfrm>
        </p:grpSpPr>
        <p:sp>
          <p:nvSpPr>
            <p:cNvPr name="Freeform 95" id="95"/>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96" id="96"/>
          <p:cNvGrpSpPr/>
          <p:nvPr/>
        </p:nvGrpSpPr>
        <p:grpSpPr>
          <a:xfrm rot="0">
            <a:off x="1097280" y="5389245"/>
            <a:ext cx="685800" cy="714375"/>
            <a:chOff x="0" y="0"/>
            <a:chExt cx="914400" cy="952500"/>
          </a:xfrm>
        </p:grpSpPr>
        <p:sp>
          <p:nvSpPr>
            <p:cNvPr name="Freeform 97" id="97"/>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98" id="98"/>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grpSp>
        <p:nvGrpSpPr>
          <p:cNvPr name="Group 99" id="99"/>
          <p:cNvGrpSpPr/>
          <p:nvPr/>
        </p:nvGrpSpPr>
        <p:grpSpPr>
          <a:xfrm rot="0">
            <a:off x="2125980" y="5129784"/>
            <a:ext cx="3566160" cy="1261872"/>
            <a:chOff x="0" y="0"/>
            <a:chExt cx="4754880" cy="1682496"/>
          </a:xfrm>
        </p:grpSpPr>
        <p:sp>
          <p:nvSpPr>
            <p:cNvPr name="Freeform 100" id="100"/>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sp>
      </p:grpSp>
      <p:grpSp>
        <p:nvGrpSpPr>
          <p:cNvPr name="Group 101" id="101"/>
          <p:cNvGrpSpPr/>
          <p:nvPr/>
        </p:nvGrpSpPr>
        <p:grpSpPr>
          <a:xfrm rot="0">
            <a:off x="2125980" y="5086921"/>
            <a:ext cx="3566160" cy="1304734"/>
            <a:chOff x="0" y="0"/>
            <a:chExt cx="4754880" cy="1739646"/>
          </a:xfrm>
        </p:grpSpPr>
        <p:sp>
          <p:nvSpPr>
            <p:cNvPr name="Freeform 102" id="102"/>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57" r="0" b="-3257"/>
              </a:stretch>
            </a:blipFill>
          </p:spPr>
        </p:sp>
        <p:sp>
          <p:nvSpPr>
            <p:cNvPr name="TextBox 103" id="103"/>
            <p:cNvSpPr txBox="true"/>
            <p:nvPr/>
          </p:nvSpPr>
          <p:spPr>
            <a:xfrm>
              <a:off x="0" y="-57150"/>
              <a:ext cx="4754880" cy="179679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Peran citra satelit</a:t>
              </a:r>
            </a:p>
          </p:txBody>
        </p:sp>
      </p:grpSp>
      <p:grpSp>
        <p:nvGrpSpPr>
          <p:cNvPr name="Group 104" id="104"/>
          <p:cNvGrpSpPr/>
          <p:nvPr/>
        </p:nvGrpSpPr>
        <p:grpSpPr>
          <a:xfrm rot="0">
            <a:off x="5760720" y="5129784"/>
            <a:ext cx="11452860" cy="1261872"/>
            <a:chOff x="0" y="0"/>
            <a:chExt cx="15270480" cy="1682496"/>
          </a:xfrm>
        </p:grpSpPr>
        <p:sp>
          <p:nvSpPr>
            <p:cNvPr name="Freeform 105" id="105"/>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sp>
      </p:grpSp>
      <p:grpSp>
        <p:nvGrpSpPr>
          <p:cNvPr name="Group 106" id="106"/>
          <p:cNvGrpSpPr/>
          <p:nvPr/>
        </p:nvGrpSpPr>
        <p:grpSpPr>
          <a:xfrm rot="0">
            <a:off x="5760720" y="5101209"/>
            <a:ext cx="11452860" cy="1290447"/>
            <a:chOff x="0" y="0"/>
            <a:chExt cx="15270480" cy="1720596"/>
          </a:xfrm>
        </p:grpSpPr>
        <p:sp>
          <p:nvSpPr>
            <p:cNvPr name="Freeform 107" id="107"/>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931" r="0" b="-122931"/>
              </a:stretch>
            </a:blipFill>
          </p:spPr>
        </p:sp>
        <p:sp>
          <p:nvSpPr>
            <p:cNvPr name="TextBox 108" id="108"/>
            <p:cNvSpPr txBox="true"/>
            <p:nvPr/>
          </p:nvSpPr>
          <p:spPr>
            <a:xfrm>
              <a:off x="0" y="-38100"/>
              <a:ext cx="15270480" cy="17586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Estimator pemutakhir untuk lahan terbangun dan jumlah ODTW, bukan variabel dalam struktur model</a:t>
              </a:r>
            </a:p>
          </p:txBody>
        </p:sp>
      </p:grpSp>
      <p:grpSp>
        <p:nvGrpSpPr>
          <p:cNvPr name="Group 109" id="109"/>
          <p:cNvGrpSpPr/>
          <p:nvPr/>
        </p:nvGrpSpPr>
        <p:grpSpPr>
          <a:xfrm rot="0">
            <a:off x="822960" y="6528816"/>
            <a:ext cx="16637508" cy="1261872"/>
            <a:chOff x="0" y="0"/>
            <a:chExt cx="22183344" cy="1682496"/>
          </a:xfrm>
        </p:grpSpPr>
        <p:sp>
          <p:nvSpPr>
            <p:cNvPr name="Freeform 110" id="110"/>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EAF8FA"/>
            </a:solidFill>
          </p:spPr>
        </p:sp>
      </p:grpSp>
      <p:grpSp>
        <p:nvGrpSpPr>
          <p:cNvPr name="Group 111" id="111"/>
          <p:cNvGrpSpPr/>
          <p:nvPr/>
        </p:nvGrpSpPr>
        <p:grpSpPr>
          <a:xfrm rot="0">
            <a:off x="1097280" y="6816852"/>
            <a:ext cx="685800" cy="685800"/>
            <a:chOff x="0" y="0"/>
            <a:chExt cx="914400" cy="914400"/>
          </a:xfrm>
        </p:grpSpPr>
        <p:sp>
          <p:nvSpPr>
            <p:cNvPr name="Freeform 112" id="11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113" id="113"/>
          <p:cNvGrpSpPr/>
          <p:nvPr/>
        </p:nvGrpSpPr>
        <p:grpSpPr>
          <a:xfrm rot="0">
            <a:off x="1097280" y="6816852"/>
            <a:ext cx="685800" cy="685800"/>
            <a:chOff x="0" y="0"/>
            <a:chExt cx="914400" cy="914400"/>
          </a:xfrm>
        </p:grpSpPr>
        <p:sp>
          <p:nvSpPr>
            <p:cNvPr name="Freeform 114" id="11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115" id="115"/>
          <p:cNvGrpSpPr/>
          <p:nvPr/>
        </p:nvGrpSpPr>
        <p:grpSpPr>
          <a:xfrm rot="0">
            <a:off x="1097280" y="6788277"/>
            <a:ext cx="685800" cy="714375"/>
            <a:chOff x="0" y="0"/>
            <a:chExt cx="914400" cy="952500"/>
          </a:xfrm>
        </p:grpSpPr>
        <p:sp>
          <p:nvSpPr>
            <p:cNvPr name="Freeform 116" id="116"/>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117" id="117"/>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4</a:t>
              </a:r>
            </a:p>
          </p:txBody>
        </p:sp>
      </p:grpSp>
      <p:grpSp>
        <p:nvGrpSpPr>
          <p:cNvPr name="Group 118" id="118"/>
          <p:cNvGrpSpPr/>
          <p:nvPr/>
        </p:nvGrpSpPr>
        <p:grpSpPr>
          <a:xfrm rot="0">
            <a:off x="2125980" y="6528816"/>
            <a:ext cx="3566160" cy="1261872"/>
            <a:chOff x="0" y="0"/>
            <a:chExt cx="4754880" cy="1682496"/>
          </a:xfrm>
        </p:grpSpPr>
        <p:sp>
          <p:nvSpPr>
            <p:cNvPr name="Freeform 119" id="119"/>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sp>
      </p:grpSp>
      <p:grpSp>
        <p:nvGrpSpPr>
          <p:cNvPr name="Group 120" id="120"/>
          <p:cNvGrpSpPr/>
          <p:nvPr/>
        </p:nvGrpSpPr>
        <p:grpSpPr>
          <a:xfrm rot="0">
            <a:off x="2125980" y="6485954"/>
            <a:ext cx="3566160" cy="1304734"/>
            <a:chOff x="0" y="0"/>
            <a:chExt cx="4754880" cy="1739646"/>
          </a:xfrm>
        </p:grpSpPr>
        <p:sp>
          <p:nvSpPr>
            <p:cNvPr name="Freeform 121" id="121"/>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57" r="0" b="-3257"/>
              </a:stretch>
            </a:blipFill>
          </p:spPr>
        </p:sp>
        <p:sp>
          <p:nvSpPr>
            <p:cNvPr name="TextBox 122" id="122"/>
            <p:cNvSpPr txBox="true"/>
            <p:nvPr/>
          </p:nvSpPr>
          <p:spPr>
            <a:xfrm>
              <a:off x="0" y="-57150"/>
              <a:ext cx="4754880" cy="179679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Skenario</a:t>
              </a:r>
            </a:p>
          </p:txBody>
        </p:sp>
      </p:grpSp>
      <p:grpSp>
        <p:nvGrpSpPr>
          <p:cNvPr name="Group 123" id="123"/>
          <p:cNvGrpSpPr/>
          <p:nvPr/>
        </p:nvGrpSpPr>
        <p:grpSpPr>
          <a:xfrm rot="0">
            <a:off x="5760720" y="6528816"/>
            <a:ext cx="11452860" cy="1261872"/>
            <a:chOff x="0" y="0"/>
            <a:chExt cx="15270480" cy="1682496"/>
          </a:xfrm>
        </p:grpSpPr>
        <p:sp>
          <p:nvSpPr>
            <p:cNvPr name="Freeform 124" id="124"/>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sp>
      </p:grpSp>
      <p:grpSp>
        <p:nvGrpSpPr>
          <p:cNvPr name="Group 125" id="125"/>
          <p:cNvGrpSpPr/>
          <p:nvPr/>
        </p:nvGrpSpPr>
        <p:grpSpPr>
          <a:xfrm rot="0">
            <a:off x="5760720" y="6500241"/>
            <a:ext cx="11452860" cy="1290447"/>
            <a:chOff x="0" y="0"/>
            <a:chExt cx="15270480" cy="1720596"/>
          </a:xfrm>
        </p:grpSpPr>
        <p:sp>
          <p:nvSpPr>
            <p:cNvPr name="Freeform 126" id="126"/>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931" r="0" b="-122931"/>
              </a:stretch>
            </a:blipFill>
          </p:spPr>
        </p:sp>
        <p:sp>
          <p:nvSpPr>
            <p:cNvPr name="TextBox 127" id="127"/>
            <p:cNvSpPr txBox="true"/>
            <p:nvPr/>
          </p:nvSpPr>
          <p:spPr>
            <a:xfrm>
              <a:off x="0" y="-38100"/>
              <a:ext cx="15270480" cy="17586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Dua tuas (insentif investasi, konservasi lahan) dengan tiga skenario yang disusun dari analisis sensitivitas dan dokumen kebijakan, tanpa lokakarya pemangku kepentingan</a:t>
              </a:r>
            </a:p>
          </p:txBody>
        </p:sp>
      </p:grpSp>
      <p:grpSp>
        <p:nvGrpSpPr>
          <p:cNvPr name="Group 128" id="128"/>
          <p:cNvGrpSpPr/>
          <p:nvPr/>
        </p:nvGrpSpPr>
        <p:grpSpPr>
          <a:xfrm rot="0">
            <a:off x="822960" y="7927848"/>
            <a:ext cx="16637508" cy="1261872"/>
            <a:chOff x="0" y="0"/>
            <a:chExt cx="22183344" cy="1682496"/>
          </a:xfrm>
        </p:grpSpPr>
        <p:sp>
          <p:nvSpPr>
            <p:cNvPr name="Freeform 129" id="129"/>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FFF1BF"/>
            </a:solidFill>
          </p:spPr>
        </p:sp>
      </p:grpSp>
      <p:grpSp>
        <p:nvGrpSpPr>
          <p:cNvPr name="Group 130" id="130"/>
          <p:cNvGrpSpPr/>
          <p:nvPr/>
        </p:nvGrpSpPr>
        <p:grpSpPr>
          <a:xfrm rot="0">
            <a:off x="1097280" y="8215884"/>
            <a:ext cx="685800" cy="685800"/>
            <a:chOff x="0" y="0"/>
            <a:chExt cx="914400" cy="914400"/>
          </a:xfrm>
        </p:grpSpPr>
        <p:sp>
          <p:nvSpPr>
            <p:cNvPr name="Freeform 131" id="131"/>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FFD23B"/>
            </a:solidFill>
          </p:spPr>
        </p:sp>
      </p:grpSp>
      <p:grpSp>
        <p:nvGrpSpPr>
          <p:cNvPr name="Group 132" id="132"/>
          <p:cNvGrpSpPr/>
          <p:nvPr/>
        </p:nvGrpSpPr>
        <p:grpSpPr>
          <a:xfrm rot="0">
            <a:off x="1097280" y="8215884"/>
            <a:ext cx="685800" cy="685800"/>
            <a:chOff x="0" y="0"/>
            <a:chExt cx="914400" cy="914400"/>
          </a:xfrm>
        </p:grpSpPr>
        <p:sp>
          <p:nvSpPr>
            <p:cNvPr name="Freeform 133" id="133"/>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134" id="134"/>
          <p:cNvGrpSpPr/>
          <p:nvPr/>
        </p:nvGrpSpPr>
        <p:grpSpPr>
          <a:xfrm rot="0">
            <a:off x="1097280" y="8187309"/>
            <a:ext cx="685800" cy="714375"/>
            <a:chOff x="0" y="0"/>
            <a:chExt cx="914400" cy="952500"/>
          </a:xfrm>
        </p:grpSpPr>
        <p:sp>
          <p:nvSpPr>
            <p:cNvPr name="Freeform 135" id="135"/>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136" id="136"/>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14313B"/>
                  </a:solidFill>
                  <a:latin typeface="Calibri (MS) Bold"/>
                  <a:ea typeface="Calibri (MS) Bold"/>
                  <a:cs typeface="Calibri (MS) Bold"/>
                  <a:sym typeface="Calibri (MS) Bold"/>
                </a:rPr>
                <a:t>5</a:t>
              </a:r>
            </a:p>
          </p:txBody>
        </p:sp>
      </p:grpSp>
      <p:grpSp>
        <p:nvGrpSpPr>
          <p:cNvPr name="Group 137" id="137"/>
          <p:cNvGrpSpPr/>
          <p:nvPr/>
        </p:nvGrpSpPr>
        <p:grpSpPr>
          <a:xfrm rot="0">
            <a:off x="2125980" y="7927848"/>
            <a:ext cx="3566160" cy="1261872"/>
            <a:chOff x="0" y="0"/>
            <a:chExt cx="4754880" cy="1682496"/>
          </a:xfrm>
        </p:grpSpPr>
        <p:sp>
          <p:nvSpPr>
            <p:cNvPr name="Freeform 138" id="138"/>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sp>
      </p:grpSp>
      <p:grpSp>
        <p:nvGrpSpPr>
          <p:cNvPr name="Group 139" id="139"/>
          <p:cNvGrpSpPr/>
          <p:nvPr/>
        </p:nvGrpSpPr>
        <p:grpSpPr>
          <a:xfrm rot="0">
            <a:off x="2125980" y="7884986"/>
            <a:ext cx="3566160" cy="1304734"/>
            <a:chOff x="0" y="0"/>
            <a:chExt cx="4754880" cy="1739646"/>
          </a:xfrm>
        </p:grpSpPr>
        <p:sp>
          <p:nvSpPr>
            <p:cNvPr name="Freeform 140" id="140"/>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57" r="0" b="-3257"/>
              </a:stretch>
            </a:blipFill>
          </p:spPr>
        </p:sp>
        <p:sp>
          <p:nvSpPr>
            <p:cNvPr name="TextBox 141" id="141"/>
            <p:cNvSpPr txBox="true"/>
            <p:nvPr/>
          </p:nvSpPr>
          <p:spPr>
            <a:xfrm>
              <a:off x="0" y="-57150"/>
              <a:ext cx="4754880" cy="179679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Interpretasi</a:t>
              </a:r>
            </a:p>
          </p:txBody>
        </p:sp>
      </p:grpSp>
      <p:grpSp>
        <p:nvGrpSpPr>
          <p:cNvPr name="Group 142" id="142"/>
          <p:cNvGrpSpPr/>
          <p:nvPr/>
        </p:nvGrpSpPr>
        <p:grpSpPr>
          <a:xfrm rot="0">
            <a:off x="5760720" y="7927848"/>
            <a:ext cx="11452860" cy="1261872"/>
            <a:chOff x="0" y="0"/>
            <a:chExt cx="15270480" cy="1682496"/>
          </a:xfrm>
        </p:grpSpPr>
        <p:sp>
          <p:nvSpPr>
            <p:cNvPr name="Freeform 143" id="143"/>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sp>
      </p:grpSp>
      <p:grpSp>
        <p:nvGrpSpPr>
          <p:cNvPr name="Group 144" id="144"/>
          <p:cNvGrpSpPr/>
          <p:nvPr/>
        </p:nvGrpSpPr>
        <p:grpSpPr>
          <a:xfrm rot="0">
            <a:off x="5760720" y="7899273"/>
            <a:ext cx="11452860" cy="1290447"/>
            <a:chOff x="0" y="0"/>
            <a:chExt cx="15270480" cy="1720596"/>
          </a:xfrm>
        </p:grpSpPr>
        <p:sp>
          <p:nvSpPr>
            <p:cNvPr name="Freeform 145" id="145"/>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931" r="0" b="-122931"/>
              </a:stretch>
            </a:blipFill>
          </p:spPr>
        </p:sp>
        <p:sp>
          <p:nvSpPr>
            <p:cNvPr name="TextBox 146" id="146"/>
            <p:cNvSpPr txBox="true"/>
            <p:nvPr/>
          </p:nvSpPr>
          <p:spPr>
            <a:xfrm>
              <a:off x="0" y="-38100"/>
              <a:ext cx="15270480" cy="17586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Membandingkan arah dan besaran relatif antarskenario, bukan menghasilkan ramalan angka absolut</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10</a:t>
            </a:r>
          </a:p>
        </p:txBody>
      </p:sp>
      <p:sp>
        <p:nvSpPr>
          <p:cNvPr id="148"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2.3 · Kontribusi Penelitian Terkait</a:t>
            </a:r>
          </a:p>
          <a:p>
            <a:pPr algn="l">
              <a:lnSpc>
                <a:spcPct val="100000"/>
              </a:lnSpc>
            </a:pPr>
            <a:r>
              <a:rPr lang="en-US" sz="3500" b="true">
                <a:solidFill>
                  <a:srgbClr val="0B5E6E"/>
                </a:solidFill>
                <a:latin typeface="Calibri (MS) Bold"/>
                <a:ea typeface="Calibri (MS) Bold"/>
                <a:cs typeface="Calibri (MS) Bold"/>
                <a:sym typeface="Calibri (MS) Bold"/>
              </a:rPr>
              <a:t>Dibanding 9 studi terdahulu, penelitian ini memadukan tiga unsur sekaligus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aphicFrame>
        <p:nvGraphicFramePr>
          <p:cNvPr name="Table 52" id="52"/>
          <p:cNvGraphicFramePr>
            <a:graphicFrameLocks noGrp="true"/>
          </p:cNvGraphicFramePr>
          <p:nvPr/>
        </p:nvGraphicFramePr>
        <p:xfrm>
          <a:off x="822960" y="2331720"/>
          <a:ext cx="10795000" cy="6286500"/>
        </p:xfrm>
        <a:graphic>
          <a:graphicData uri="http://schemas.openxmlformats.org/drawingml/2006/table">
            <a:tbl>
              <a:tblPr/>
              <a:tblGrid>
                <a:gridCol w="3188416"/>
                <a:gridCol w="3322107"/>
                <a:gridCol w="1383595"/>
                <a:gridCol w="1383595"/>
                <a:gridCol w="1517286"/>
              </a:tblGrid>
              <a:tr h="571500">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Penelitian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Wilayah studi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Data statistik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Citra satelit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Aplikasi web</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Mai &amp; Smith (2018)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Cat Ba Island, Vietnam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Fatina et al. (2023)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Labuan Bajo, Indonesia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Wang et al. (2020)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Kota besar Tiongkok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Luo et al. (2023)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Provinsi Hunan, Tiongkok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Veldhuis et al. (2023)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Belanda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Santoso et al. (2023)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Cibodas, Bandung Barat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Hell et al. (2021)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Lima destinasi Eropa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Gazoni (2021)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Generik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Gu et al. (2021)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Maldives</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b="true">
                          <a:solidFill>
                            <a:srgbClr val="14313B"/>
                          </a:solidFill>
                          <a:latin typeface="Calibri (MS) Bold"/>
                          <a:ea typeface="Calibri (MS) Bold"/>
                          <a:cs typeface="Calibri (MS) Bold"/>
                          <a:sym typeface="Calibri (MS) Bold"/>
                        </a:rPr>
                        <a:t>Penelitian ini (2026)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c>
                  <a:txBody>
                    <a:bodyPr anchor="t" rtlCol="false"/>
                    <a:lstStyle/>
                    <a:p>
                      <a:pPr algn="l">
                        <a:lnSpc>
                          <a:spcPts val="2070"/>
                        </a:lnSpc>
                        <a:defRPr/>
                      </a:pPr>
                      <a:r>
                        <a:rPr lang="en-US" sz="1725" b="true">
                          <a:solidFill>
                            <a:srgbClr val="14313B"/>
                          </a:solidFill>
                          <a:latin typeface="Calibri (MS) Bold"/>
                          <a:ea typeface="Calibri (MS) Bold"/>
                          <a:cs typeface="Calibri (MS) Bold"/>
                          <a:sym typeface="Calibri (MS) Bold"/>
                        </a:rPr>
                        <a:t>Provinsi DIY</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r>
            </a:tbl>
          </a:graphicData>
        </a:graphic>
      </p:graphicFrame>
      <p:grpSp>
        <p:nvGrpSpPr>
          <p:cNvPr name="Group 53" id="53"/>
          <p:cNvGrpSpPr/>
          <p:nvPr/>
        </p:nvGrpSpPr>
        <p:grpSpPr>
          <a:xfrm rot="0">
            <a:off x="12070080" y="2331720"/>
            <a:ext cx="5390388" cy="2125980"/>
            <a:chOff x="0" y="0"/>
            <a:chExt cx="7187184" cy="2834640"/>
          </a:xfrm>
        </p:grpSpPr>
        <p:sp>
          <p:nvSpPr>
            <p:cNvPr name="Freeform 54" id="54"/>
            <p:cNvSpPr/>
            <p:nvPr/>
          </p:nvSpPr>
          <p:spPr>
            <a:xfrm flipH="false" flipV="false" rot="0">
              <a:off x="0" y="0"/>
              <a:ext cx="7187185" cy="2834640"/>
            </a:xfrm>
            <a:custGeom>
              <a:avLst/>
              <a:gdLst/>
              <a:ahLst/>
              <a:cxnLst/>
              <a:rect r="r" b="b" t="t" l="l"/>
              <a:pathLst>
                <a:path h="2834640" w="7187185">
                  <a:moveTo>
                    <a:pt x="0" y="182880"/>
                  </a:moveTo>
                  <a:cubicBezTo>
                    <a:pt x="0" y="81915"/>
                    <a:pt x="81915" y="0"/>
                    <a:pt x="182880" y="0"/>
                  </a:cubicBezTo>
                  <a:lnTo>
                    <a:pt x="7004304" y="0"/>
                  </a:lnTo>
                  <a:cubicBezTo>
                    <a:pt x="7105269" y="0"/>
                    <a:pt x="7187185" y="81915"/>
                    <a:pt x="7187185" y="182880"/>
                  </a:cubicBezTo>
                  <a:lnTo>
                    <a:pt x="7187185" y="2651760"/>
                  </a:lnTo>
                  <a:cubicBezTo>
                    <a:pt x="7187185" y="2752725"/>
                    <a:pt x="7105269" y="2834640"/>
                    <a:pt x="7004304" y="2834640"/>
                  </a:cubicBezTo>
                  <a:lnTo>
                    <a:pt x="182880" y="2834640"/>
                  </a:lnTo>
                  <a:cubicBezTo>
                    <a:pt x="81915" y="2834640"/>
                    <a:pt x="0" y="2752725"/>
                    <a:pt x="0" y="2651760"/>
                  </a:cubicBezTo>
                  <a:close/>
                </a:path>
              </a:pathLst>
            </a:custGeom>
            <a:solidFill>
              <a:srgbClr val="EAF8FA"/>
            </a:solidFill>
          </p:spPr>
        </p:sp>
      </p:grpSp>
      <p:grpSp>
        <p:nvGrpSpPr>
          <p:cNvPr name="Group 55" id="55"/>
          <p:cNvGrpSpPr/>
          <p:nvPr/>
        </p:nvGrpSpPr>
        <p:grpSpPr>
          <a:xfrm rot="0">
            <a:off x="12316968" y="2578608"/>
            <a:ext cx="576072" cy="576072"/>
            <a:chOff x="0" y="0"/>
            <a:chExt cx="768096" cy="768096"/>
          </a:xfrm>
        </p:grpSpPr>
        <p:sp>
          <p:nvSpPr>
            <p:cNvPr name="Freeform 56" id="56"/>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39C0D3"/>
            </a:solidFill>
          </p:spPr>
        </p:sp>
      </p:grpSp>
      <p:grpSp>
        <p:nvGrpSpPr>
          <p:cNvPr name="Group 57" id="57"/>
          <p:cNvGrpSpPr/>
          <p:nvPr/>
        </p:nvGrpSpPr>
        <p:grpSpPr>
          <a:xfrm rot="0">
            <a:off x="12316968" y="2578608"/>
            <a:ext cx="576072" cy="576072"/>
            <a:chOff x="0" y="0"/>
            <a:chExt cx="768096" cy="768096"/>
          </a:xfrm>
        </p:grpSpPr>
        <p:sp>
          <p:nvSpPr>
            <p:cNvPr name="Freeform 58" id="58"/>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4">
                <a:alphaModFix amt="0"/>
              </a:blip>
              <a:stretch>
                <a:fillRect l="-78392" t="0" r="-78392" b="0"/>
              </a:stretch>
            </a:blipFill>
          </p:spPr>
        </p:sp>
      </p:grpSp>
      <p:grpSp>
        <p:nvGrpSpPr>
          <p:cNvPr name="Group 59" id="59"/>
          <p:cNvGrpSpPr/>
          <p:nvPr/>
        </p:nvGrpSpPr>
        <p:grpSpPr>
          <a:xfrm rot="0">
            <a:off x="12316968" y="2542889"/>
            <a:ext cx="576072" cy="611791"/>
            <a:chOff x="0" y="0"/>
            <a:chExt cx="768096" cy="815721"/>
          </a:xfrm>
        </p:grpSpPr>
        <p:sp>
          <p:nvSpPr>
            <p:cNvPr name="Freeform 60" id="60"/>
            <p:cNvSpPr/>
            <p:nvPr/>
          </p:nvSpPr>
          <p:spPr>
            <a:xfrm flipH="false" flipV="false" rot="0">
              <a:off x="0" y="0"/>
              <a:ext cx="768096" cy="815721"/>
            </a:xfrm>
            <a:custGeom>
              <a:avLst/>
              <a:gdLst/>
              <a:ahLst/>
              <a:cxnLst/>
              <a:rect r="r" b="b" t="t" l="l"/>
              <a:pathLst>
                <a:path h="815721" w="768096">
                  <a:moveTo>
                    <a:pt x="0" y="0"/>
                  </a:moveTo>
                  <a:lnTo>
                    <a:pt x="768096" y="0"/>
                  </a:lnTo>
                  <a:lnTo>
                    <a:pt x="768096" y="815721"/>
                  </a:lnTo>
                  <a:lnTo>
                    <a:pt x="0" y="815721"/>
                  </a:lnTo>
                  <a:close/>
                </a:path>
              </a:pathLst>
            </a:custGeom>
            <a:blipFill>
              <a:blip r:embed="rId5">
                <a:alphaModFix amt="0"/>
              </a:blip>
              <a:stretch>
                <a:fillRect l="-86258" t="0" r="-86258" b="0"/>
              </a:stretch>
            </a:blipFill>
          </p:spPr>
        </p:sp>
        <p:sp>
          <p:nvSpPr>
            <p:cNvPr name="TextBox 61" id="61"/>
            <p:cNvSpPr txBox="true"/>
            <p:nvPr/>
          </p:nvSpPr>
          <p:spPr>
            <a:xfrm>
              <a:off x="0" y="-47625"/>
              <a:ext cx="768096" cy="863346"/>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1</a:t>
              </a:r>
            </a:p>
          </p:txBody>
        </p:sp>
      </p:grpSp>
      <p:grpSp>
        <p:nvGrpSpPr>
          <p:cNvPr name="Group 62" id="62"/>
          <p:cNvGrpSpPr/>
          <p:nvPr/>
        </p:nvGrpSpPr>
        <p:grpSpPr>
          <a:xfrm rot="0">
            <a:off x="13098780" y="2537460"/>
            <a:ext cx="4114800" cy="1783080"/>
            <a:chOff x="0" y="0"/>
            <a:chExt cx="5486400" cy="2377440"/>
          </a:xfrm>
        </p:grpSpPr>
        <p:sp>
          <p:nvSpPr>
            <p:cNvPr name="Freeform 63" id="63"/>
            <p:cNvSpPr/>
            <p:nvPr/>
          </p:nvSpPr>
          <p:spPr>
            <a:xfrm flipH="false" flipV="false" rot="0">
              <a:off x="0" y="0"/>
              <a:ext cx="5486400" cy="2377440"/>
            </a:xfrm>
            <a:custGeom>
              <a:avLst/>
              <a:gdLst/>
              <a:ahLst/>
              <a:cxnLst/>
              <a:rect r="r" b="b" t="t" l="l"/>
              <a:pathLst>
                <a:path h="2377440" w="5486400">
                  <a:moveTo>
                    <a:pt x="0" y="0"/>
                  </a:moveTo>
                  <a:lnTo>
                    <a:pt x="5486400" y="0"/>
                  </a:lnTo>
                  <a:lnTo>
                    <a:pt x="5486400" y="2377440"/>
                  </a:lnTo>
                  <a:lnTo>
                    <a:pt x="0" y="2377440"/>
                  </a:lnTo>
                  <a:close/>
                </a:path>
              </a:pathLst>
            </a:custGeom>
            <a:blipFill>
              <a:blip r:embed="rId4">
                <a:alphaModFix amt="0"/>
              </a:blip>
              <a:stretch>
                <a:fillRect l="-5636" t="0" r="-5637" b="0"/>
              </a:stretch>
            </a:blipFill>
          </p:spPr>
        </p:sp>
      </p:grpSp>
      <p:grpSp>
        <p:nvGrpSpPr>
          <p:cNvPr name="Group 64" id="64"/>
          <p:cNvGrpSpPr/>
          <p:nvPr/>
        </p:nvGrpSpPr>
        <p:grpSpPr>
          <a:xfrm rot="0">
            <a:off x="13098780" y="2508885"/>
            <a:ext cx="4114800" cy="1811655"/>
            <a:chOff x="0" y="0"/>
            <a:chExt cx="5486400" cy="2415540"/>
          </a:xfrm>
        </p:grpSpPr>
        <p:sp>
          <p:nvSpPr>
            <p:cNvPr name="Freeform 65" id="65"/>
            <p:cNvSpPr/>
            <p:nvPr/>
          </p:nvSpPr>
          <p:spPr>
            <a:xfrm flipH="false" flipV="false" rot="0">
              <a:off x="0" y="0"/>
              <a:ext cx="5486400" cy="2415540"/>
            </a:xfrm>
            <a:custGeom>
              <a:avLst/>
              <a:gdLst/>
              <a:ahLst/>
              <a:cxnLst/>
              <a:rect r="r" b="b" t="t" l="l"/>
              <a:pathLst>
                <a:path h="2415540" w="5486400">
                  <a:moveTo>
                    <a:pt x="0" y="0"/>
                  </a:moveTo>
                  <a:lnTo>
                    <a:pt x="5486400" y="0"/>
                  </a:lnTo>
                  <a:lnTo>
                    <a:pt x="5486400" y="2415540"/>
                  </a:lnTo>
                  <a:lnTo>
                    <a:pt x="0" y="2415540"/>
                  </a:lnTo>
                  <a:close/>
                </a:path>
              </a:pathLst>
            </a:custGeom>
            <a:blipFill>
              <a:blip r:embed="rId5">
                <a:alphaModFix amt="0"/>
              </a:blip>
              <a:stretch>
                <a:fillRect l="-6489" t="0" r="-6489" b="0"/>
              </a:stretch>
            </a:blipFill>
          </p:spPr>
        </p:sp>
        <p:sp>
          <p:nvSpPr>
            <p:cNvPr name="TextBox 66" id="66"/>
            <p:cNvSpPr txBox="true"/>
            <p:nvPr/>
          </p:nvSpPr>
          <p:spPr>
            <a:xfrm>
              <a:off x="0" y="-38100"/>
              <a:ext cx="5486400" cy="245364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Integrasi sistem dinamis dengan data spasial multi-temporal, sehingga model responsif terhadap kondisi lingkungan aktual</a:t>
              </a:r>
            </a:p>
          </p:txBody>
        </p:sp>
      </p:grpSp>
      <p:grpSp>
        <p:nvGrpSpPr>
          <p:cNvPr name="Group 67" id="67"/>
          <p:cNvGrpSpPr/>
          <p:nvPr/>
        </p:nvGrpSpPr>
        <p:grpSpPr>
          <a:xfrm rot="0">
            <a:off x="12070080" y="4663440"/>
            <a:ext cx="5390388" cy="2125980"/>
            <a:chOff x="0" y="0"/>
            <a:chExt cx="7187184" cy="2834640"/>
          </a:xfrm>
        </p:grpSpPr>
        <p:sp>
          <p:nvSpPr>
            <p:cNvPr name="Freeform 68" id="68"/>
            <p:cNvSpPr/>
            <p:nvPr/>
          </p:nvSpPr>
          <p:spPr>
            <a:xfrm flipH="false" flipV="false" rot="0">
              <a:off x="0" y="0"/>
              <a:ext cx="7187185" cy="2834640"/>
            </a:xfrm>
            <a:custGeom>
              <a:avLst/>
              <a:gdLst/>
              <a:ahLst/>
              <a:cxnLst/>
              <a:rect r="r" b="b" t="t" l="l"/>
              <a:pathLst>
                <a:path h="2834640" w="7187185">
                  <a:moveTo>
                    <a:pt x="0" y="182880"/>
                  </a:moveTo>
                  <a:cubicBezTo>
                    <a:pt x="0" y="81915"/>
                    <a:pt x="81915" y="0"/>
                    <a:pt x="182880" y="0"/>
                  </a:cubicBezTo>
                  <a:lnTo>
                    <a:pt x="7004304" y="0"/>
                  </a:lnTo>
                  <a:cubicBezTo>
                    <a:pt x="7105269" y="0"/>
                    <a:pt x="7187185" y="81915"/>
                    <a:pt x="7187185" y="182880"/>
                  </a:cubicBezTo>
                  <a:lnTo>
                    <a:pt x="7187185" y="2651760"/>
                  </a:lnTo>
                  <a:cubicBezTo>
                    <a:pt x="7187185" y="2752725"/>
                    <a:pt x="7105269" y="2834640"/>
                    <a:pt x="7004304" y="2834640"/>
                  </a:cubicBezTo>
                  <a:lnTo>
                    <a:pt x="182880" y="2834640"/>
                  </a:lnTo>
                  <a:cubicBezTo>
                    <a:pt x="81915" y="2834640"/>
                    <a:pt x="0" y="2752725"/>
                    <a:pt x="0" y="2651760"/>
                  </a:cubicBezTo>
                  <a:close/>
                </a:path>
              </a:pathLst>
            </a:custGeom>
            <a:solidFill>
              <a:srgbClr val="EAF8FA"/>
            </a:solidFill>
          </p:spPr>
        </p:sp>
      </p:grpSp>
      <p:grpSp>
        <p:nvGrpSpPr>
          <p:cNvPr name="Group 69" id="69"/>
          <p:cNvGrpSpPr/>
          <p:nvPr/>
        </p:nvGrpSpPr>
        <p:grpSpPr>
          <a:xfrm rot="0">
            <a:off x="12316968" y="4910328"/>
            <a:ext cx="576072" cy="576072"/>
            <a:chOff x="0" y="0"/>
            <a:chExt cx="768096" cy="768096"/>
          </a:xfrm>
        </p:grpSpPr>
        <p:sp>
          <p:nvSpPr>
            <p:cNvPr name="Freeform 70" id="70"/>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39C0D3"/>
            </a:solidFill>
          </p:spPr>
        </p:sp>
      </p:grpSp>
      <p:grpSp>
        <p:nvGrpSpPr>
          <p:cNvPr name="Group 71" id="71"/>
          <p:cNvGrpSpPr/>
          <p:nvPr/>
        </p:nvGrpSpPr>
        <p:grpSpPr>
          <a:xfrm rot="0">
            <a:off x="12316968" y="4910328"/>
            <a:ext cx="576072" cy="576072"/>
            <a:chOff x="0" y="0"/>
            <a:chExt cx="768096" cy="768096"/>
          </a:xfrm>
        </p:grpSpPr>
        <p:sp>
          <p:nvSpPr>
            <p:cNvPr name="Freeform 72" id="72"/>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4">
                <a:alphaModFix amt="0"/>
              </a:blip>
              <a:stretch>
                <a:fillRect l="-78392" t="0" r="-78392" b="0"/>
              </a:stretch>
            </a:blipFill>
          </p:spPr>
        </p:sp>
      </p:grpSp>
      <p:grpSp>
        <p:nvGrpSpPr>
          <p:cNvPr name="Group 73" id="73"/>
          <p:cNvGrpSpPr/>
          <p:nvPr/>
        </p:nvGrpSpPr>
        <p:grpSpPr>
          <a:xfrm rot="0">
            <a:off x="12316968" y="4874609"/>
            <a:ext cx="576072" cy="611791"/>
            <a:chOff x="0" y="0"/>
            <a:chExt cx="768096" cy="815721"/>
          </a:xfrm>
        </p:grpSpPr>
        <p:sp>
          <p:nvSpPr>
            <p:cNvPr name="Freeform 74" id="74"/>
            <p:cNvSpPr/>
            <p:nvPr/>
          </p:nvSpPr>
          <p:spPr>
            <a:xfrm flipH="false" flipV="false" rot="0">
              <a:off x="0" y="0"/>
              <a:ext cx="768096" cy="815721"/>
            </a:xfrm>
            <a:custGeom>
              <a:avLst/>
              <a:gdLst/>
              <a:ahLst/>
              <a:cxnLst/>
              <a:rect r="r" b="b" t="t" l="l"/>
              <a:pathLst>
                <a:path h="815721" w="768096">
                  <a:moveTo>
                    <a:pt x="0" y="0"/>
                  </a:moveTo>
                  <a:lnTo>
                    <a:pt x="768096" y="0"/>
                  </a:lnTo>
                  <a:lnTo>
                    <a:pt x="768096" y="815721"/>
                  </a:lnTo>
                  <a:lnTo>
                    <a:pt x="0" y="815721"/>
                  </a:lnTo>
                  <a:close/>
                </a:path>
              </a:pathLst>
            </a:custGeom>
            <a:blipFill>
              <a:blip r:embed="rId5">
                <a:alphaModFix amt="0"/>
              </a:blip>
              <a:stretch>
                <a:fillRect l="-86258" t="0" r="-86258" b="0"/>
              </a:stretch>
            </a:blipFill>
          </p:spPr>
        </p:sp>
        <p:sp>
          <p:nvSpPr>
            <p:cNvPr name="TextBox 75" id="75"/>
            <p:cNvSpPr txBox="true"/>
            <p:nvPr/>
          </p:nvSpPr>
          <p:spPr>
            <a:xfrm>
              <a:off x="0" y="-47625"/>
              <a:ext cx="768096" cy="863346"/>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2</a:t>
              </a:r>
            </a:p>
          </p:txBody>
        </p:sp>
      </p:grpSp>
      <p:grpSp>
        <p:nvGrpSpPr>
          <p:cNvPr name="Group 76" id="76"/>
          <p:cNvGrpSpPr/>
          <p:nvPr/>
        </p:nvGrpSpPr>
        <p:grpSpPr>
          <a:xfrm rot="0">
            <a:off x="13098780" y="4869180"/>
            <a:ext cx="4114800" cy="1783080"/>
            <a:chOff x="0" y="0"/>
            <a:chExt cx="5486400" cy="2377440"/>
          </a:xfrm>
        </p:grpSpPr>
        <p:sp>
          <p:nvSpPr>
            <p:cNvPr name="Freeform 77" id="77"/>
            <p:cNvSpPr/>
            <p:nvPr/>
          </p:nvSpPr>
          <p:spPr>
            <a:xfrm flipH="false" flipV="false" rot="0">
              <a:off x="0" y="0"/>
              <a:ext cx="5486400" cy="2377440"/>
            </a:xfrm>
            <a:custGeom>
              <a:avLst/>
              <a:gdLst/>
              <a:ahLst/>
              <a:cxnLst/>
              <a:rect r="r" b="b" t="t" l="l"/>
              <a:pathLst>
                <a:path h="2377440" w="5486400">
                  <a:moveTo>
                    <a:pt x="0" y="0"/>
                  </a:moveTo>
                  <a:lnTo>
                    <a:pt x="5486400" y="0"/>
                  </a:lnTo>
                  <a:lnTo>
                    <a:pt x="5486400" y="2377440"/>
                  </a:lnTo>
                  <a:lnTo>
                    <a:pt x="0" y="2377440"/>
                  </a:lnTo>
                  <a:close/>
                </a:path>
              </a:pathLst>
            </a:custGeom>
            <a:blipFill>
              <a:blip r:embed="rId4">
                <a:alphaModFix amt="0"/>
              </a:blip>
              <a:stretch>
                <a:fillRect l="-5636" t="0" r="-5637" b="0"/>
              </a:stretch>
            </a:blipFill>
          </p:spPr>
        </p:sp>
      </p:grpSp>
      <p:grpSp>
        <p:nvGrpSpPr>
          <p:cNvPr name="Group 78" id="78"/>
          <p:cNvGrpSpPr/>
          <p:nvPr/>
        </p:nvGrpSpPr>
        <p:grpSpPr>
          <a:xfrm rot="0">
            <a:off x="13098780" y="4840605"/>
            <a:ext cx="4114800" cy="1811655"/>
            <a:chOff x="0" y="0"/>
            <a:chExt cx="5486400" cy="2415540"/>
          </a:xfrm>
        </p:grpSpPr>
        <p:sp>
          <p:nvSpPr>
            <p:cNvPr name="Freeform 79" id="79"/>
            <p:cNvSpPr/>
            <p:nvPr/>
          </p:nvSpPr>
          <p:spPr>
            <a:xfrm flipH="false" flipV="false" rot="0">
              <a:off x="0" y="0"/>
              <a:ext cx="5486400" cy="2415540"/>
            </a:xfrm>
            <a:custGeom>
              <a:avLst/>
              <a:gdLst/>
              <a:ahLst/>
              <a:cxnLst/>
              <a:rect r="r" b="b" t="t" l="l"/>
              <a:pathLst>
                <a:path h="2415540" w="5486400">
                  <a:moveTo>
                    <a:pt x="0" y="0"/>
                  </a:moveTo>
                  <a:lnTo>
                    <a:pt x="5486400" y="0"/>
                  </a:lnTo>
                  <a:lnTo>
                    <a:pt x="5486400" y="2415540"/>
                  </a:lnTo>
                  <a:lnTo>
                    <a:pt x="0" y="2415540"/>
                  </a:lnTo>
                  <a:close/>
                </a:path>
              </a:pathLst>
            </a:custGeom>
            <a:blipFill>
              <a:blip r:embed="rId5">
                <a:alphaModFix amt="0"/>
              </a:blip>
              <a:stretch>
                <a:fillRect l="-6489" t="0" r="-6489" b="0"/>
              </a:stretch>
            </a:blipFill>
          </p:spPr>
        </p:sp>
        <p:sp>
          <p:nvSpPr>
            <p:cNvPr name="TextBox 80" id="80"/>
            <p:cNvSpPr txBox="true"/>
            <p:nvPr/>
          </p:nvSpPr>
          <p:spPr>
            <a:xfrm>
              <a:off x="0" y="-38100"/>
              <a:ext cx="5486400" cy="245364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DIY: destinasi utama dengan sistem kompleks yang belum pernah dimodelkan dengan pendekatan terpadu ini</a:t>
              </a:r>
            </a:p>
          </p:txBody>
        </p:sp>
      </p:grpSp>
      <p:grpSp>
        <p:nvGrpSpPr>
          <p:cNvPr name="Group 81" id="81"/>
          <p:cNvGrpSpPr/>
          <p:nvPr/>
        </p:nvGrpSpPr>
        <p:grpSpPr>
          <a:xfrm rot="0">
            <a:off x="12070080" y="6995160"/>
            <a:ext cx="5390388" cy="2125980"/>
            <a:chOff x="0" y="0"/>
            <a:chExt cx="7187184" cy="2834640"/>
          </a:xfrm>
        </p:grpSpPr>
        <p:sp>
          <p:nvSpPr>
            <p:cNvPr name="Freeform 82" id="82"/>
            <p:cNvSpPr/>
            <p:nvPr/>
          </p:nvSpPr>
          <p:spPr>
            <a:xfrm flipH="false" flipV="false" rot="0">
              <a:off x="0" y="0"/>
              <a:ext cx="7187185" cy="2834640"/>
            </a:xfrm>
            <a:custGeom>
              <a:avLst/>
              <a:gdLst/>
              <a:ahLst/>
              <a:cxnLst/>
              <a:rect r="r" b="b" t="t" l="l"/>
              <a:pathLst>
                <a:path h="2834640" w="7187185">
                  <a:moveTo>
                    <a:pt x="0" y="182880"/>
                  </a:moveTo>
                  <a:cubicBezTo>
                    <a:pt x="0" y="81915"/>
                    <a:pt x="81915" y="0"/>
                    <a:pt x="182880" y="0"/>
                  </a:cubicBezTo>
                  <a:lnTo>
                    <a:pt x="7004304" y="0"/>
                  </a:lnTo>
                  <a:cubicBezTo>
                    <a:pt x="7105269" y="0"/>
                    <a:pt x="7187185" y="81915"/>
                    <a:pt x="7187185" y="182880"/>
                  </a:cubicBezTo>
                  <a:lnTo>
                    <a:pt x="7187185" y="2651760"/>
                  </a:lnTo>
                  <a:cubicBezTo>
                    <a:pt x="7187185" y="2752725"/>
                    <a:pt x="7105269" y="2834640"/>
                    <a:pt x="7004304" y="2834640"/>
                  </a:cubicBezTo>
                  <a:lnTo>
                    <a:pt x="182880" y="2834640"/>
                  </a:lnTo>
                  <a:cubicBezTo>
                    <a:pt x="81915" y="2834640"/>
                    <a:pt x="0" y="2752725"/>
                    <a:pt x="0" y="2651760"/>
                  </a:cubicBezTo>
                  <a:close/>
                </a:path>
              </a:pathLst>
            </a:custGeom>
            <a:solidFill>
              <a:srgbClr val="EAF8FA"/>
            </a:solidFill>
          </p:spPr>
        </p:sp>
      </p:grpSp>
      <p:grpSp>
        <p:nvGrpSpPr>
          <p:cNvPr name="Group 83" id="83"/>
          <p:cNvGrpSpPr/>
          <p:nvPr/>
        </p:nvGrpSpPr>
        <p:grpSpPr>
          <a:xfrm rot="0">
            <a:off x="12316968" y="7242048"/>
            <a:ext cx="576072" cy="576072"/>
            <a:chOff x="0" y="0"/>
            <a:chExt cx="768096" cy="768096"/>
          </a:xfrm>
        </p:grpSpPr>
        <p:sp>
          <p:nvSpPr>
            <p:cNvPr name="Freeform 84" id="84"/>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39C0D3"/>
            </a:solidFill>
          </p:spPr>
        </p:sp>
      </p:grpSp>
      <p:grpSp>
        <p:nvGrpSpPr>
          <p:cNvPr name="Group 85" id="85"/>
          <p:cNvGrpSpPr/>
          <p:nvPr/>
        </p:nvGrpSpPr>
        <p:grpSpPr>
          <a:xfrm rot="0">
            <a:off x="12316968" y="7242048"/>
            <a:ext cx="576072" cy="576072"/>
            <a:chOff x="0" y="0"/>
            <a:chExt cx="768096" cy="768096"/>
          </a:xfrm>
        </p:grpSpPr>
        <p:sp>
          <p:nvSpPr>
            <p:cNvPr name="Freeform 86" id="86"/>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4">
                <a:alphaModFix amt="0"/>
              </a:blip>
              <a:stretch>
                <a:fillRect l="-78392" t="0" r="-78392" b="0"/>
              </a:stretch>
            </a:blipFill>
          </p:spPr>
        </p:sp>
      </p:grpSp>
      <p:grpSp>
        <p:nvGrpSpPr>
          <p:cNvPr name="Group 87" id="87"/>
          <p:cNvGrpSpPr/>
          <p:nvPr/>
        </p:nvGrpSpPr>
        <p:grpSpPr>
          <a:xfrm rot="0">
            <a:off x="12316968" y="7206329"/>
            <a:ext cx="576072" cy="611791"/>
            <a:chOff x="0" y="0"/>
            <a:chExt cx="768096" cy="815721"/>
          </a:xfrm>
        </p:grpSpPr>
        <p:sp>
          <p:nvSpPr>
            <p:cNvPr name="Freeform 88" id="88"/>
            <p:cNvSpPr/>
            <p:nvPr/>
          </p:nvSpPr>
          <p:spPr>
            <a:xfrm flipH="false" flipV="false" rot="0">
              <a:off x="0" y="0"/>
              <a:ext cx="768096" cy="815721"/>
            </a:xfrm>
            <a:custGeom>
              <a:avLst/>
              <a:gdLst/>
              <a:ahLst/>
              <a:cxnLst/>
              <a:rect r="r" b="b" t="t" l="l"/>
              <a:pathLst>
                <a:path h="815721" w="768096">
                  <a:moveTo>
                    <a:pt x="0" y="0"/>
                  </a:moveTo>
                  <a:lnTo>
                    <a:pt x="768096" y="0"/>
                  </a:lnTo>
                  <a:lnTo>
                    <a:pt x="768096" y="815721"/>
                  </a:lnTo>
                  <a:lnTo>
                    <a:pt x="0" y="815721"/>
                  </a:lnTo>
                  <a:close/>
                </a:path>
              </a:pathLst>
            </a:custGeom>
            <a:blipFill>
              <a:blip r:embed="rId5">
                <a:alphaModFix amt="0"/>
              </a:blip>
              <a:stretch>
                <a:fillRect l="-86258" t="0" r="-86258" b="0"/>
              </a:stretch>
            </a:blipFill>
          </p:spPr>
        </p:sp>
        <p:sp>
          <p:nvSpPr>
            <p:cNvPr name="TextBox 89" id="89"/>
            <p:cNvSpPr txBox="true"/>
            <p:nvPr/>
          </p:nvSpPr>
          <p:spPr>
            <a:xfrm>
              <a:off x="0" y="-47625"/>
              <a:ext cx="768096" cy="863346"/>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3</a:t>
              </a:r>
            </a:p>
          </p:txBody>
        </p:sp>
      </p:grpSp>
      <p:grpSp>
        <p:nvGrpSpPr>
          <p:cNvPr name="Group 90" id="90"/>
          <p:cNvGrpSpPr/>
          <p:nvPr/>
        </p:nvGrpSpPr>
        <p:grpSpPr>
          <a:xfrm rot="0">
            <a:off x="13098780" y="7200900"/>
            <a:ext cx="4114800" cy="1783080"/>
            <a:chOff x="0" y="0"/>
            <a:chExt cx="5486400" cy="2377440"/>
          </a:xfrm>
        </p:grpSpPr>
        <p:sp>
          <p:nvSpPr>
            <p:cNvPr name="Freeform 91" id="91"/>
            <p:cNvSpPr/>
            <p:nvPr/>
          </p:nvSpPr>
          <p:spPr>
            <a:xfrm flipH="false" flipV="false" rot="0">
              <a:off x="0" y="0"/>
              <a:ext cx="5486400" cy="2377440"/>
            </a:xfrm>
            <a:custGeom>
              <a:avLst/>
              <a:gdLst/>
              <a:ahLst/>
              <a:cxnLst/>
              <a:rect r="r" b="b" t="t" l="l"/>
              <a:pathLst>
                <a:path h="2377440" w="5486400">
                  <a:moveTo>
                    <a:pt x="0" y="0"/>
                  </a:moveTo>
                  <a:lnTo>
                    <a:pt x="5486400" y="0"/>
                  </a:lnTo>
                  <a:lnTo>
                    <a:pt x="5486400" y="2377440"/>
                  </a:lnTo>
                  <a:lnTo>
                    <a:pt x="0" y="2377440"/>
                  </a:lnTo>
                  <a:close/>
                </a:path>
              </a:pathLst>
            </a:custGeom>
            <a:blipFill>
              <a:blip r:embed="rId4">
                <a:alphaModFix amt="0"/>
              </a:blip>
              <a:stretch>
                <a:fillRect l="-5636" t="0" r="-5637" b="0"/>
              </a:stretch>
            </a:blipFill>
          </p:spPr>
        </p:sp>
      </p:grpSp>
      <p:grpSp>
        <p:nvGrpSpPr>
          <p:cNvPr name="Group 92" id="92"/>
          <p:cNvGrpSpPr/>
          <p:nvPr/>
        </p:nvGrpSpPr>
        <p:grpSpPr>
          <a:xfrm rot="0">
            <a:off x="13098780" y="7172325"/>
            <a:ext cx="4114800" cy="1811655"/>
            <a:chOff x="0" y="0"/>
            <a:chExt cx="5486400" cy="2415540"/>
          </a:xfrm>
        </p:grpSpPr>
        <p:sp>
          <p:nvSpPr>
            <p:cNvPr name="Freeform 93" id="93"/>
            <p:cNvSpPr/>
            <p:nvPr/>
          </p:nvSpPr>
          <p:spPr>
            <a:xfrm flipH="false" flipV="false" rot="0">
              <a:off x="0" y="0"/>
              <a:ext cx="5486400" cy="2415540"/>
            </a:xfrm>
            <a:custGeom>
              <a:avLst/>
              <a:gdLst/>
              <a:ahLst/>
              <a:cxnLst/>
              <a:rect r="r" b="b" t="t" l="l"/>
              <a:pathLst>
                <a:path h="2415540" w="5486400">
                  <a:moveTo>
                    <a:pt x="0" y="0"/>
                  </a:moveTo>
                  <a:lnTo>
                    <a:pt x="5486400" y="0"/>
                  </a:lnTo>
                  <a:lnTo>
                    <a:pt x="5486400" y="2415540"/>
                  </a:lnTo>
                  <a:lnTo>
                    <a:pt x="0" y="2415540"/>
                  </a:lnTo>
                  <a:close/>
                </a:path>
              </a:pathLst>
            </a:custGeom>
            <a:blipFill>
              <a:blip r:embed="rId5">
                <a:alphaModFix amt="0"/>
              </a:blip>
              <a:stretch>
                <a:fillRect l="-6489" t="0" r="-6489" b="0"/>
              </a:stretch>
            </a:blipFill>
          </p:spPr>
        </p:sp>
        <p:sp>
          <p:nvSpPr>
            <p:cNvPr name="TextBox 94" id="94"/>
            <p:cNvSpPr txBox="true"/>
            <p:nvPr/>
          </p:nvSpPr>
          <p:spPr>
            <a:xfrm>
              <a:off x="0" y="-38100"/>
              <a:ext cx="5486400" cy="245364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Hasil simulasi tiga skenario diimplementasikan sebagai aplikasi web decision support tool</a:t>
              </a:r>
            </a:p>
          </p:txBody>
        </p:sp>
      </p:grpSp>
      <p:sp>
        <p:nvSpPr>
          <p:cNvPr name="TextBox 95" id="95"/>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11</a:t>
            </a:r>
          </a:p>
        </p:txBody>
      </p:sp>
      <p:sp>
        <p:nvSpPr>
          <p:cNvPr id="96"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grpSp>
        <p:nvGrpSpPr>
          <p:cNvPr name="Group 9" id="9"/>
          <p:cNvGrpSpPr/>
          <p:nvPr/>
        </p:nvGrpSpPr>
        <p:grpSpPr>
          <a:xfrm rot="0">
            <a:off x="822960" y="274320"/>
            <a:ext cx="2040922" cy="411480"/>
            <a:chOff x="0" y="0"/>
            <a:chExt cx="2721229" cy="548640"/>
          </a:xfrm>
        </p:grpSpPr>
        <p:sp>
          <p:nvSpPr>
            <p:cNvPr name="Freeform 10" id="10"/>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1" id="11"/>
          <p:cNvGrpSpPr/>
          <p:nvPr/>
        </p:nvGrpSpPr>
        <p:grpSpPr>
          <a:xfrm rot="0">
            <a:off x="822960" y="274320"/>
            <a:ext cx="2040941" cy="411480"/>
            <a:chOff x="0" y="0"/>
            <a:chExt cx="2721254" cy="548640"/>
          </a:xfrm>
        </p:grpSpPr>
        <p:sp>
          <p:nvSpPr>
            <p:cNvPr name="Freeform 12" id="12"/>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3" id="13"/>
          <p:cNvGrpSpPr/>
          <p:nvPr/>
        </p:nvGrpSpPr>
        <p:grpSpPr>
          <a:xfrm rot="0">
            <a:off x="822960" y="260033"/>
            <a:ext cx="2040941" cy="425768"/>
            <a:chOff x="0" y="0"/>
            <a:chExt cx="2721254" cy="567690"/>
          </a:xfrm>
        </p:grpSpPr>
        <p:sp>
          <p:nvSpPr>
            <p:cNvPr name="Freeform 14" id="14"/>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5" id="15"/>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Pendahuluan</a:t>
              </a:r>
            </a:p>
          </p:txBody>
        </p:sp>
      </p:grpSp>
      <p:grpSp>
        <p:nvGrpSpPr>
          <p:cNvPr name="Group 16" id="16"/>
          <p:cNvGrpSpPr/>
          <p:nvPr/>
        </p:nvGrpSpPr>
        <p:grpSpPr>
          <a:xfrm rot="0">
            <a:off x="2973629" y="274320"/>
            <a:ext cx="2378392" cy="411480"/>
            <a:chOff x="0" y="0"/>
            <a:chExt cx="3171190" cy="548640"/>
          </a:xfrm>
        </p:grpSpPr>
        <p:sp>
          <p:nvSpPr>
            <p:cNvPr name="Freeform 17" id="17"/>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8" id="18"/>
          <p:cNvGrpSpPr/>
          <p:nvPr/>
        </p:nvGrpSpPr>
        <p:grpSpPr>
          <a:xfrm rot="0">
            <a:off x="2973629" y="274320"/>
            <a:ext cx="2378354" cy="411480"/>
            <a:chOff x="0" y="0"/>
            <a:chExt cx="3171139" cy="548640"/>
          </a:xfrm>
        </p:grpSpPr>
        <p:sp>
          <p:nvSpPr>
            <p:cNvPr name="Freeform 19" id="19"/>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0" id="20"/>
          <p:cNvGrpSpPr/>
          <p:nvPr/>
        </p:nvGrpSpPr>
        <p:grpSpPr>
          <a:xfrm rot="0">
            <a:off x="2973629" y="260033"/>
            <a:ext cx="2378354" cy="425768"/>
            <a:chOff x="0" y="0"/>
            <a:chExt cx="3171139" cy="567690"/>
          </a:xfrm>
        </p:grpSpPr>
        <p:sp>
          <p:nvSpPr>
            <p:cNvPr name="Freeform 21" id="21"/>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2" id="22"/>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3" id="23"/>
          <p:cNvGrpSpPr/>
          <p:nvPr/>
        </p:nvGrpSpPr>
        <p:grpSpPr>
          <a:xfrm rot="0">
            <a:off x="5461711" y="274320"/>
            <a:ext cx="1591056" cy="411480"/>
            <a:chOff x="0" y="0"/>
            <a:chExt cx="2121408" cy="548640"/>
          </a:xfrm>
        </p:grpSpPr>
        <p:sp>
          <p:nvSpPr>
            <p:cNvPr name="Freeform 24" id="24"/>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5" id="25"/>
          <p:cNvGrpSpPr/>
          <p:nvPr/>
        </p:nvGrpSpPr>
        <p:grpSpPr>
          <a:xfrm rot="0">
            <a:off x="5461711" y="274320"/>
            <a:ext cx="1591056" cy="411480"/>
            <a:chOff x="0" y="0"/>
            <a:chExt cx="2121408" cy="548640"/>
          </a:xfrm>
        </p:grpSpPr>
        <p:sp>
          <p:nvSpPr>
            <p:cNvPr name="Freeform 26" id="26"/>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7" id="27"/>
          <p:cNvGrpSpPr/>
          <p:nvPr/>
        </p:nvGrpSpPr>
        <p:grpSpPr>
          <a:xfrm rot="0">
            <a:off x="5461711" y="260033"/>
            <a:ext cx="1591056" cy="425768"/>
            <a:chOff x="0" y="0"/>
            <a:chExt cx="2121408" cy="567690"/>
          </a:xfrm>
        </p:grpSpPr>
        <p:sp>
          <p:nvSpPr>
            <p:cNvPr name="Freeform 28" id="28"/>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29" id="29"/>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0" id="30"/>
          <p:cNvGrpSpPr/>
          <p:nvPr/>
        </p:nvGrpSpPr>
        <p:grpSpPr>
          <a:xfrm rot="0">
            <a:off x="7162495" y="274320"/>
            <a:ext cx="2490788" cy="411480"/>
            <a:chOff x="0" y="0"/>
            <a:chExt cx="3321050" cy="548640"/>
          </a:xfrm>
        </p:grpSpPr>
        <p:sp>
          <p:nvSpPr>
            <p:cNvPr name="Freeform 31" id="31"/>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7162495" y="274320"/>
            <a:ext cx="2490826" cy="411480"/>
            <a:chOff x="0" y="0"/>
            <a:chExt cx="3321101" cy="548640"/>
          </a:xfrm>
        </p:grpSpPr>
        <p:sp>
          <p:nvSpPr>
            <p:cNvPr name="Freeform 33" id="33"/>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4" id="34"/>
          <p:cNvGrpSpPr/>
          <p:nvPr/>
        </p:nvGrpSpPr>
        <p:grpSpPr>
          <a:xfrm rot="0">
            <a:off x="7162495" y="260033"/>
            <a:ext cx="2490826" cy="425768"/>
            <a:chOff x="0" y="0"/>
            <a:chExt cx="3321101" cy="567690"/>
          </a:xfrm>
        </p:grpSpPr>
        <p:sp>
          <p:nvSpPr>
            <p:cNvPr name="Freeform 35" id="35"/>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6" id="36"/>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7" id="37"/>
          <p:cNvGrpSpPr/>
          <p:nvPr/>
        </p:nvGrpSpPr>
        <p:grpSpPr>
          <a:xfrm rot="0">
            <a:off x="9763049" y="274320"/>
            <a:ext cx="1366076" cy="411480"/>
            <a:chOff x="0" y="0"/>
            <a:chExt cx="1821434" cy="548640"/>
          </a:xfrm>
        </p:grpSpPr>
        <p:sp>
          <p:nvSpPr>
            <p:cNvPr name="Freeform 38" id="38"/>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9" id="39"/>
          <p:cNvGrpSpPr/>
          <p:nvPr/>
        </p:nvGrpSpPr>
        <p:grpSpPr>
          <a:xfrm rot="0">
            <a:off x="9763049" y="274320"/>
            <a:ext cx="1366114" cy="411480"/>
            <a:chOff x="0" y="0"/>
            <a:chExt cx="1821485" cy="548640"/>
          </a:xfrm>
        </p:grpSpPr>
        <p:sp>
          <p:nvSpPr>
            <p:cNvPr name="Freeform 40" id="40"/>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1" id="41"/>
          <p:cNvGrpSpPr/>
          <p:nvPr/>
        </p:nvGrpSpPr>
        <p:grpSpPr>
          <a:xfrm rot="0">
            <a:off x="9763049" y="260033"/>
            <a:ext cx="1366114" cy="425768"/>
            <a:chOff x="0" y="0"/>
            <a:chExt cx="1821485" cy="567690"/>
          </a:xfrm>
        </p:grpSpPr>
        <p:sp>
          <p:nvSpPr>
            <p:cNvPr name="Freeform 42" id="42"/>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3" id="43"/>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4" id="44"/>
          <p:cNvGrpSpPr/>
          <p:nvPr/>
        </p:nvGrpSpPr>
        <p:grpSpPr>
          <a:xfrm rot="0">
            <a:off x="11238890" y="274320"/>
            <a:ext cx="1253680" cy="411480"/>
            <a:chOff x="0" y="0"/>
            <a:chExt cx="1671574" cy="548640"/>
          </a:xfrm>
        </p:grpSpPr>
        <p:sp>
          <p:nvSpPr>
            <p:cNvPr name="Freeform 45" id="45"/>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6" id="46"/>
          <p:cNvGrpSpPr/>
          <p:nvPr/>
        </p:nvGrpSpPr>
        <p:grpSpPr>
          <a:xfrm rot="0">
            <a:off x="11238890" y="274320"/>
            <a:ext cx="1253642" cy="411480"/>
            <a:chOff x="0" y="0"/>
            <a:chExt cx="1671523" cy="548640"/>
          </a:xfrm>
        </p:grpSpPr>
        <p:sp>
          <p:nvSpPr>
            <p:cNvPr name="Freeform 47" id="47"/>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8" id="48"/>
          <p:cNvGrpSpPr/>
          <p:nvPr/>
        </p:nvGrpSpPr>
        <p:grpSpPr>
          <a:xfrm rot="0">
            <a:off x="11238890" y="260033"/>
            <a:ext cx="1253642" cy="425768"/>
            <a:chOff x="0" y="0"/>
            <a:chExt cx="1671523" cy="567690"/>
          </a:xfrm>
        </p:grpSpPr>
        <p:sp>
          <p:nvSpPr>
            <p:cNvPr name="Freeform 49" id="49"/>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0" id="50"/>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1" id="51"/>
          <p:cNvGrpSpPr/>
          <p:nvPr/>
        </p:nvGrpSpPr>
        <p:grpSpPr>
          <a:xfrm rot="0">
            <a:off x="2694203" y="1536192"/>
            <a:ext cx="12899593" cy="8019821"/>
            <a:chOff x="0" y="0"/>
            <a:chExt cx="17199458" cy="10693095"/>
          </a:xfrm>
        </p:grpSpPr>
        <p:sp>
          <p:nvSpPr>
            <p:cNvPr name="Freeform 52" id="52"/>
            <p:cNvSpPr/>
            <p:nvPr/>
          </p:nvSpPr>
          <p:spPr>
            <a:xfrm flipH="false" flipV="false" rot="0">
              <a:off x="0" y="0"/>
              <a:ext cx="17199483" cy="10693146"/>
            </a:xfrm>
            <a:custGeom>
              <a:avLst/>
              <a:gdLst/>
              <a:ahLst/>
              <a:cxnLst/>
              <a:rect r="r" b="b" t="t" l="l"/>
              <a:pathLst>
                <a:path h="10693146" w="17199483">
                  <a:moveTo>
                    <a:pt x="0" y="0"/>
                  </a:moveTo>
                  <a:lnTo>
                    <a:pt x="17199483" y="0"/>
                  </a:lnTo>
                  <a:lnTo>
                    <a:pt x="17199483" y="10693146"/>
                  </a:lnTo>
                  <a:lnTo>
                    <a:pt x="0" y="10693146"/>
                  </a:lnTo>
                  <a:lnTo>
                    <a:pt x="0" y="0"/>
                  </a:lnTo>
                  <a:close/>
                </a:path>
              </a:pathLst>
            </a:custGeom>
            <a:blipFill>
              <a:blip r:embed="rId6"/>
              <a:stretch>
                <a:fillRect l="0" t="-11325" r="0" b="-11324"/>
              </a:stretch>
            </a:blipFill>
          </p:spPr>
        </p:sp>
      </p:grpSp>
      <p:sp>
        <p:nvSpPr>
          <p:cNvPr name="TextBox 53" id="53"/>
          <p:cNvSpPr txBox="true"/>
          <p:nvPr/>
        </p:nvSpPr>
        <p:spPr>
          <a:xfrm rot="0">
            <a:off x="825246" y="731520"/>
            <a:ext cx="16637508" cy="76200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3.3 · Kerangka Pikir Penelitian</a:t>
            </a:r>
          </a:p>
          <a:p>
            <a:pPr algn="l">
              <a:lnSpc>
                <a:spcPct val="100000"/>
              </a:lnSpc>
            </a:pPr>
            <a:r>
              <a:rPr lang="en-US" sz="3500" b="true">
                <a:solidFill>
                  <a:srgbClr val="0B5E6E"/>
                </a:solidFill>
                <a:latin typeface="Calibri (MS) Bold"/>
                <a:ea typeface="Calibri (MS) Bold"/>
                <a:cs typeface="Calibri (MS) Bold"/>
                <a:sym typeface="Calibri (MS) Bold"/>
              </a:rPr>
              <a:t>Kerangka pikir: dari masalah ke keluaran yang terukur</a:t>
            </a:r>
          </a:p>
        </p:txBody>
      </p:sp>
      <p:sp>
        <p:nvSpPr>
          <p:cNvPr name="TextBox 54" id="54"/>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12</a:t>
            </a:r>
          </a:p>
        </p:txBody>
      </p:sp>
      <p:sp>
        <p:nvSpPr>
          <p:cNvPr id="55"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76200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3.2 &amp; 3.4 · Lokasi Penelitian, Data dan Sumber Data</a:t>
            </a:r>
          </a:p>
          <a:p>
            <a:pPr algn="l">
              <a:lnSpc>
                <a:spcPct val="100000"/>
              </a:lnSpc>
            </a:pPr>
            <a:r>
              <a:rPr lang="en-US" sz="3500" b="true">
                <a:solidFill>
                  <a:srgbClr val="0B5E6E"/>
                </a:solidFill>
                <a:latin typeface="Calibri (MS) Bold"/>
                <a:ea typeface="Calibri (MS) Bold"/>
                <a:cs typeface="Calibri (MS) Bold"/>
                <a:sym typeface="Calibri (MS) Bold"/>
              </a:rPr>
              <a:t>Data resmi 2015–2025 menjadi fondasi model</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Freeform 52" id="52"/>
          <p:cNvSpPr/>
          <p:nvPr/>
        </p:nvSpPr>
        <p:spPr>
          <a:xfrm flipH="false" flipV="false" rot="0">
            <a:off x="806291" y="2315051"/>
            <a:ext cx="3983546" cy="2022158"/>
          </a:xfrm>
          <a:custGeom>
            <a:avLst/>
            <a:gdLst/>
            <a:ahLst/>
            <a:cxnLst/>
            <a:rect r="r" b="b" t="t" l="l"/>
            <a:pathLst>
              <a:path h="2022158" w="3983546">
                <a:moveTo>
                  <a:pt x="0" y="0"/>
                </a:moveTo>
                <a:lnTo>
                  <a:pt x="3983546" y="0"/>
                </a:lnTo>
                <a:lnTo>
                  <a:pt x="3983546"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3" id="53"/>
          <p:cNvGrpSpPr/>
          <p:nvPr/>
        </p:nvGrpSpPr>
        <p:grpSpPr>
          <a:xfrm rot="0">
            <a:off x="1097280" y="2523744"/>
            <a:ext cx="3401568" cy="822960"/>
            <a:chOff x="0" y="0"/>
            <a:chExt cx="4535424" cy="1097280"/>
          </a:xfrm>
        </p:grpSpPr>
        <p:sp>
          <p:nvSpPr>
            <p:cNvPr name="Freeform 54" id="54"/>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482" r="0" b="-30481"/>
              </a:stretch>
            </a:blipFill>
          </p:spPr>
        </p:sp>
      </p:grpSp>
      <p:grpSp>
        <p:nvGrpSpPr>
          <p:cNvPr name="Group 55" id="55"/>
          <p:cNvGrpSpPr/>
          <p:nvPr/>
        </p:nvGrpSpPr>
        <p:grpSpPr>
          <a:xfrm rot="0">
            <a:off x="1097280" y="2452306"/>
            <a:ext cx="3401568" cy="894398"/>
            <a:chOff x="0" y="0"/>
            <a:chExt cx="4535424" cy="1192530"/>
          </a:xfrm>
        </p:grpSpPr>
        <p:sp>
          <p:nvSpPr>
            <p:cNvPr name="Freeform 56" id="56"/>
            <p:cNvSpPr/>
            <p:nvPr/>
          </p:nvSpPr>
          <p:spPr>
            <a:xfrm flipH="false" flipV="false" rot="0">
              <a:off x="0" y="0"/>
              <a:ext cx="4535424" cy="1192530"/>
            </a:xfrm>
            <a:custGeom>
              <a:avLst/>
              <a:gdLst/>
              <a:ahLst/>
              <a:cxnLst/>
              <a:rect r="r" b="b" t="t" l="l"/>
              <a:pathLst>
                <a:path h="1192530" w="4535424">
                  <a:moveTo>
                    <a:pt x="0" y="0"/>
                  </a:moveTo>
                  <a:lnTo>
                    <a:pt x="4535424" y="0"/>
                  </a:lnTo>
                  <a:lnTo>
                    <a:pt x="4535424" y="1192530"/>
                  </a:lnTo>
                  <a:lnTo>
                    <a:pt x="0" y="1192530"/>
                  </a:lnTo>
                  <a:close/>
                </a:path>
              </a:pathLst>
            </a:custGeom>
            <a:blipFill>
              <a:blip r:embed="rId5">
                <a:alphaModFix amt="0"/>
              </a:blip>
              <a:stretch>
                <a:fillRect l="0" t="-24105" r="0" b="-24105"/>
              </a:stretch>
            </a:blipFill>
          </p:spPr>
        </p:sp>
        <p:sp>
          <p:nvSpPr>
            <p:cNvPr name="TextBox 57" id="57"/>
            <p:cNvSpPr txBox="true"/>
            <p:nvPr/>
          </p:nvSpPr>
          <p:spPr>
            <a:xfrm>
              <a:off x="0" y="-95250"/>
              <a:ext cx="4535424" cy="1287780"/>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2015–2025</a:t>
              </a:r>
            </a:p>
          </p:txBody>
        </p:sp>
      </p:grpSp>
      <p:sp>
        <p:nvSpPr>
          <p:cNvPr name="TextBox 58" id="58"/>
          <p:cNvSpPr txBox="true"/>
          <p:nvPr/>
        </p:nvSpPr>
        <p:spPr>
          <a:xfrm rot="0">
            <a:off x="1097280" y="3325368"/>
            <a:ext cx="3401568" cy="3429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periode data historis tahunan</a:t>
            </a:r>
          </a:p>
        </p:txBody>
      </p:sp>
      <p:sp>
        <p:nvSpPr>
          <p:cNvPr name="Freeform 59" id="59"/>
          <p:cNvSpPr/>
          <p:nvPr/>
        </p:nvSpPr>
        <p:spPr>
          <a:xfrm flipH="false" flipV="false" rot="0">
            <a:off x="5030819" y="2315051"/>
            <a:ext cx="3983546" cy="2022158"/>
          </a:xfrm>
          <a:custGeom>
            <a:avLst/>
            <a:gdLst/>
            <a:ahLst/>
            <a:cxnLst/>
            <a:rect r="r" b="b" t="t" l="l"/>
            <a:pathLst>
              <a:path h="2022158" w="3983546">
                <a:moveTo>
                  <a:pt x="0" y="0"/>
                </a:moveTo>
                <a:lnTo>
                  <a:pt x="3983546" y="0"/>
                </a:lnTo>
                <a:lnTo>
                  <a:pt x="3983546"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0" id="60"/>
          <p:cNvGrpSpPr/>
          <p:nvPr/>
        </p:nvGrpSpPr>
        <p:grpSpPr>
          <a:xfrm rot="0">
            <a:off x="5321808" y="2523744"/>
            <a:ext cx="3401568" cy="822960"/>
            <a:chOff x="0" y="0"/>
            <a:chExt cx="4535424" cy="1097280"/>
          </a:xfrm>
        </p:grpSpPr>
        <p:sp>
          <p:nvSpPr>
            <p:cNvPr name="Freeform 61" id="61"/>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482" r="0" b="-30481"/>
              </a:stretch>
            </a:blipFill>
          </p:spPr>
        </p:sp>
      </p:grpSp>
      <p:grpSp>
        <p:nvGrpSpPr>
          <p:cNvPr name="Group 62" id="62"/>
          <p:cNvGrpSpPr/>
          <p:nvPr/>
        </p:nvGrpSpPr>
        <p:grpSpPr>
          <a:xfrm rot="0">
            <a:off x="5321808" y="2452306"/>
            <a:ext cx="3401568" cy="894398"/>
            <a:chOff x="0" y="0"/>
            <a:chExt cx="4535424" cy="1192530"/>
          </a:xfrm>
        </p:grpSpPr>
        <p:sp>
          <p:nvSpPr>
            <p:cNvPr name="Freeform 63" id="63"/>
            <p:cNvSpPr/>
            <p:nvPr/>
          </p:nvSpPr>
          <p:spPr>
            <a:xfrm flipH="false" flipV="false" rot="0">
              <a:off x="0" y="0"/>
              <a:ext cx="4535424" cy="1192530"/>
            </a:xfrm>
            <a:custGeom>
              <a:avLst/>
              <a:gdLst/>
              <a:ahLst/>
              <a:cxnLst/>
              <a:rect r="r" b="b" t="t" l="l"/>
              <a:pathLst>
                <a:path h="1192530" w="4535424">
                  <a:moveTo>
                    <a:pt x="0" y="0"/>
                  </a:moveTo>
                  <a:lnTo>
                    <a:pt x="4535424" y="0"/>
                  </a:lnTo>
                  <a:lnTo>
                    <a:pt x="4535424" y="1192530"/>
                  </a:lnTo>
                  <a:lnTo>
                    <a:pt x="0" y="1192530"/>
                  </a:lnTo>
                  <a:close/>
                </a:path>
              </a:pathLst>
            </a:custGeom>
            <a:blipFill>
              <a:blip r:embed="rId5">
                <a:alphaModFix amt="0"/>
              </a:blip>
              <a:stretch>
                <a:fillRect l="0" t="-24105" r="0" b="-24105"/>
              </a:stretch>
            </a:blipFill>
          </p:spPr>
        </p:sp>
        <p:sp>
          <p:nvSpPr>
            <p:cNvPr name="TextBox 64" id="64"/>
            <p:cNvSpPr txBox="true"/>
            <p:nvPr/>
          </p:nvSpPr>
          <p:spPr>
            <a:xfrm>
              <a:off x="0" y="-95250"/>
              <a:ext cx="4535424" cy="1287780"/>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2025</a:t>
              </a:r>
            </a:p>
          </p:txBody>
        </p:sp>
      </p:grpSp>
      <p:sp>
        <p:nvSpPr>
          <p:cNvPr name="TextBox 65" id="65"/>
          <p:cNvSpPr txBox="true"/>
          <p:nvPr/>
        </p:nvSpPr>
        <p:spPr>
          <a:xfrm rot="0">
            <a:off x="5321808" y="3325368"/>
            <a:ext cx="3401568" cy="3429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tahun dasar model</a:t>
            </a:r>
          </a:p>
        </p:txBody>
      </p:sp>
      <p:sp>
        <p:nvSpPr>
          <p:cNvPr name="Freeform 66" id="66"/>
          <p:cNvSpPr/>
          <p:nvPr/>
        </p:nvSpPr>
        <p:spPr>
          <a:xfrm flipH="false" flipV="false" rot="0">
            <a:off x="9255347" y="2315051"/>
            <a:ext cx="3983546" cy="2022158"/>
          </a:xfrm>
          <a:custGeom>
            <a:avLst/>
            <a:gdLst/>
            <a:ahLst/>
            <a:cxnLst/>
            <a:rect r="r" b="b" t="t" l="l"/>
            <a:pathLst>
              <a:path h="2022158" w="3983546">
                <a:moveTo>
                  <a:pt x="0" y="0"/>
                </a:moveTo>
                <a:lnTo>
                  <a:pt x="3983546" y="0"/>
                </a:lnTo>
                <a:lnTo>
                  <a:pt x="3983546"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7" id="67"/>
          <p:cNvGrpSpPr/>
          <p:nvPr/>
        </p:nvGrpSpPr>
        <p:grpSpPr>
          <a:xfrm rot="0">
            <a:off x="9546336" y="2523744"/>
            <a:ext cx="3401568" cy="822960"/>
            <a:chOff x="0" y="0"/>
            <a:chExt cx="4535424" cy="1097280"/>
          </a:xfrm>
        </p:grpSpPr>
        <p:sp>
          <p:nvSpPr>
            <p:cNvPr name="Freeform 68" id="68"/>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482" r="0" b="-30481"/>
              </a:stretch>
            </a:blipFill>
          </p:spPr>
        </p:sp>
      </p:grpSp>
      <p:grpSp>
        <p:nvGrpSpPr>
          <p:cNvPr name="Group 69" id="69"/>
          <p:cNvGrpSpPr/>
          <p:nvPr/>
        </p:nvGrpSpPr>
        <p:grpSpPr>
          <a:xfrm rot="0">
            <a:off x="9546336" y="2452306"/>
            <a:ext cx="3401568" cy="894398"/>
            <a:chOff x="0" y="0"/>
            <a:chExt cx="4535424" cy="1192530"/>
          </a:xfrm>
        </p:grpSpPr>
        <p:sp>
          <p:nvSpPr>
            <p:cNvPr name="Freeform 70" id="70"/>
            <p:cNvSpPr/>
            <p:nvPr/>
          </p:nvSpPr>
          <p:spPr>
            <a:xfrm flipH="false" flipV="false" rot="0">
              <a:off x="0" y="0"/>
              <a:ext cx="4535424" cy="1192530"/>
            </a:xfrm>
            <a:custGeom>
              <a:avLst/>
              <a:gdLst/>
              <a:ahLst/>
              <a:cxnLst/>
              <a:rect r="r" b="b" t="t" l="l"/>
              <a:pathLst>
                <a:path h="1192530" w="4535424">
                  <a:moveTo>
                    <a:pt x="0" y="0"/>
                  </a:moveTo>
                  <a:lnTo>
                    <a:pt x="4535424" y="0"/>
                  </a:lnTo>
                  <a:lnTo>
                    <a:pt x="4535424" y="1192530"/>
                  </a:lnTo>
                  <a:lnTo>
                    <a:pt x="0" y="1192530"/>
                  </a:lnTo>
                  <a:close/>
                </a:path>
              </a:pathLst>
            </a:custGeom>
            <a:blipFill>
              <a:blip r:embed="rId5">
                <a:alphaModFix amt="0"/>
              </a:blip>
              <a:stretch>
                <a:fillRect l="0" t="-24105" r="0" b="-24105"/>
              </a:stretch>
            </a:blipFill>
          </p:spPr>
        </p:sp>
        <p:sp>
          <p:nvSpPr>
            <p:cNvPr name="TextBox 71" id="71"/>
            <p:cNvSpPr txBox="true"/>
            <p:nvPr/>
          </p:nvSpPr>
          <p:spPr>
            <a:xfrm>
              <a:off x="0" y="-95250"/>
              <a:ext cx="4535424" cy="1287780"/>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2050</a:t>
              </a:r>
            </a:p>
          </p:txBody>
        </p:sp>
      </p:grpSp>
      <p:sp>
        <p:nvSpPr>
          <p:cNvPr name="TextBox 72" id="72"/>
          <p:cNvSpPr txBox="true"/>
          <p:nvPr/>
        </p:nvSpPr>
        <p:spPr>
          <a:xfrm rot="0">
            <a:off x="9546336" y="3325368"/>
            <a:ext cx="3401568" cy="3429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horizon simulasi, time step 1 tahun</a:t>
            </a:r>
          </a:p>
        </p:txBody>
      </p:sp>
      <p:sp>
        <p:nvSpPr>
          <p:cNvPr name="Freeform 73" id="73"/>
          <p:cNvSpPr/>
          <p:nvPr/>
        </p:nvSpPr>
        <p:spPr>
          <a:xfrm flipH="false" flipV="false" rot="0">
            <a:off x="13479875" y="2315051"/>
            <a:ext cx="3983545" cy="2022158"/>
          </a:xfrm>
          <a:custGeom>
            <a:avLst/>
            <a:gdLst/>
            <a:ahLst/>
            <a:cxnLst/>
            <a:rect r="r" b="b" t="t" l="l"/>
            <a:pathLst>
              <a:path h="2022158" w="3983545">
                <a:moveTo>
                  <a:pt x="0" y="0"/>
                </a:moveTo>
                <a:lnTo>
                  <a:pt x="3983546" y="0"/>
                </a:lnTo>
                <a:lnTo>
                  <a:pt x="3983546"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4" id="74"/>
          <p:cNvGrpSpPr/>
          <p:nvPr/>
        </p:nvGrpSpPr>
        <p:grpSpPr>
          <a:xfrm rot="0">
            <a:off x="13770864" y="2523744"/>
            <a:ext cx="3401568" cy="822960"/>
            <a:chOff x="0" y="0"/>
            <a:chExt cx="4535424" cy="1097280"/>
          </a:xfrm>
        </p:grpSpPr>
        <p:sp>
          <p:nvSpPr>
            <p:cNvPr name="Freeform 75" id="75"/>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482" r="0" b="-30481"/>
              </a:stretch>
            </a:blipFill>
          </p:spPr>
        </p:sp>
      </p:grpSp>
      <p:grpSp>
        <p:nvGrpSpPr>
          <p:cNvPr name="Group 76" id="76"/>
          <p:cNvGrpSpPr/>
          <p:nvPr/>
        </p:nvGrpSpPr>
        <p:grpSpPr>
          <a:xfrm rot="0">
            <a:off x="13770864" y="2452306"/>
            <a:ext cx="3401568" cy="894398"/>
            <a:chOff x="0" y="0"/>
            <a:chExt cx="4535424" cy="1192530"/>
          </a:xfrm>
        </p:grpSpPr>
        <p:sp>
          <p:nvSpPr>
            <p:cNvPr name="Freeform 77" id="77"/>
            <p:cNvSpPr/>
            <p:nvPr/>
          </p:nvSpPr>
          <p:spPr>
            <a:xfrm flipH="false" flipV="false" rot="0">
              <a:off x="0" y="0"/>
              <a:ext cx="4535424" cy="1192530"/>
            </a:xfrm>
            <a:custGeom>
              <a:avLst/>
              <a:gdLst/>
              <a:ahLst/>
              <a:cxnLst/>
              <a:rect r="r" b="b" t="t" l="l"/>
              <a:pathLst>
                <a:path h="1192530" w="4535424">
                  <a:moveTo>
                    <a:pt x="0" y="0"/>
                  </a:moveTo>
                  <a:lnTo>
                    <a:pt x="4535424" y="0"/>
                  </a:lnTo>
                  <a:lnTo>
                    <a:pt x="4535424" y="1192530"/>
                  </a:lnTo>
                  <a:lnTo>
                    <a:pt x="0" y="1192530"/>
                  </a:lnTo>
                  <a:close/>
                </a:path>
              </a:pathLst>
            </a:custGeom>
            <a:blipFill>
              <a:blip r:embed="rId5">
                <a:alphaModFix amt="0"/>
              </a:blip>
              <a:stretch>
                <a:fillRect l="0" t="-24105" r="0" b="-24105"/>
              </a:stretch>
            </a:blipFill>
          </p:spPr>
        </p:sp>
        <p:sp>
          <p:nvSpPr>
            <p:cNvPr name="TextBox 78" id="78"/>
            <p:cNvSpPr txBox="true"/>
            <p:nvPr/>
          </p:nvSpPr>
          <p:spPr>
            <a:xfrm>
              <a:off x="0" y="-95250"/>
              <a:ext cx="4535424" cy="1287780"/>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317.036 ha</a:t>
              </a:r>
            </a:p>
          </p:txBody>
        </p:sp>
      </p:grpSp>
      <p:sp>
        <p:nvSpPr>
          <p:cNvPr name="TextBox 79" id="79"/>
          <p:cNvSpPr txBox="true"/>
          <p:nvPr/>
        </p:nvSpPr>
        <p:spPr>
          <a:xfrm rot="0">
            <a:off x="13770864" y="3325368"/>
            <a:ext cx="3401568" cy="3429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luas DIY: 5 kabupaten/kota</a:t>
            </a:r>
          </a:p>
        </p:txBody>
      </p:sp>
      <p:grpSp>
        <p:nvGrpSpPr>
          <p:cNvPr name="Group 80" id="80"/>
          <p:cNvGrpSpPr/>
          <p:nvPr/>
        </p:nvGrpSpPr>
        <p:grpSpPr>
          <a:xfrm rot="0">
            <a:off x="822960" y="4663440"/>
            <a:ext cx="5349240" cy="1714500"/>
            <a:chOff x="0" y="0"/>
            <a:chExt cx="7132320" cy="2286000"/>
          </a:xfrm>
        </p:grpSpPr>
        <p:sp>
          <p:nvSpPr>
            <p:cNvPr name="Freeform 81" id="81"/>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EAF8FA"/>
            </a:solidFill>
          </p:spPr>
        </p:sp>
      </p:grpSp>
      <p:sp>
        <p:nvSpPr>
          <p:cNvPr name="TextBox 82" id="82"/>
          <p:cNvSpPr txBox="true"/>
          <p:nvPr/>
        </p:nvSpPr>
        <p:spPr>
          <a:xfrm rot="0">
            <a:off x="1097280" y="4732782"/>
            <a:ext cx="4800600" cy="534162"/>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Permintaan wisatawan</a:t>
            </a:r>
          </a:p>
        </p:txBody>
      </p:sp>
      <p:sp>
        <p:nvSpPr>
          <p:cNvPr name="TextBox 83" id="83"/>
          <p:cNvSpPr txBox="true"/>
          <p:nvPr/>
        </p:nvSpPr>
        <p:spPr>
          <a:xfrm rot="0">
            <a:off x="1097280" y="5273040"/>
            <a:ext cx="4800600" cy="8763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jumlah wisatawan, total malam menginap, proporsi wisatawan menginap, rata-rata lama menginap, pengeluaran per kunjungan </a:t>
            </a:r>
          </a:p>
        </p:txBody>
      </p:sp>
      <p:grpSp>
        <p:nvGrpSpPr>
          <p:cNvPr name="Group 84" id="84"/>
          <p:cNvGrpSpPr/>
          <p:nvPr/>
        </p:nvGrpSpPr>
        <p:grpSpPr>
          <a:xfrm rot="0">
            <a:off x="6467094" y="4663440"/>
            <a:ext cx="5349240" cy="1714500"/>
            <a:chOff x="0" y="0"/>
            <a:chExt cx="7132320" cy="2286000"/>
          </a:xfrm>
        </p:grpSpPr>
        <p:sp>
          <p:nvSpPr>
            <p:cNvPr name="Freeform 85" id="85"/>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EAF8FA"/>
            </a:solidFill>
          </p:spPr>
        </p:sp>
      </p:grpSp>
      <p:sp>
        <p:nvSpPr>
          <p:cNvPr name="TextBox 86" id="86"/>
          <p:cNvSpPr txBox="true"/>
          <p:nvPr/>
        </p:nvSpPr>
        <p:spPr>
          <a:xfrm rot="0">
            <a:off x="6741414" y="4732782"/>
            <a:ext cx="4800600" cy="534162"/>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Akomodasi</a:t>
            </a:r>
          </a:p>
        </p:txBody>
      </p:sp>
      <p:sp>
        <p:nvSpPr>
          <p:cNvPr name="TextBox 87" id="87"/>
          <p:cNvSpPr txBox="true"/>
          <p:nvPr/>
        </p:nvSpPr>
        <p:spPr>
          <a:xfrm rot="0">
            <a:off x="6741414" y="5273040"/>
            <a:ext cx="4800600" cy="6096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jumlah hotel dan akomodasi lainnya, jumlah kamar tersedia, TPK, rata-rata tamu perkamar (TPG)</a:t>
            </a:r>
          </a:p>
        </p:txBody>
      </p:sp>
      <p:grpSp>
        <p:nvGrpSpPr>
          <p:cNvPr name="Group 88" id="88"/>
          <p:cNvGrpSpPr/>
          <p:nvPr/>
        </p:nvGrpSpPr>
        <p:grpSpPr>
          <a:xfrm rot="0">
            <a:off x="12111228" y="4663440"/>
            <a:ext cx="5349240" cy="1714500"/>
            <a:chOff x="0" y="0"/>
            <a:chExt cx="7132320" cy="2286000"/>
          </a:xfrm>
        </p:grpSpPr>
        <p:sp>
          <p:nvSpPr>
            <p:cNvPr name="Freeform 89" id="89"/>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FFF1BF"/>
            </a:solidFill>
          </p:spPr>
        </p:sp>
      </p:grpSp>
      <p:sp>
        <p:nvSpPr>
          <p:cNvPr name="TextBox 90" id="90"/>
          <p:cNvSpPr txBox="true"/>
          <p:nvPr/>
        </p:nvSpPr>
        <p:spPr>
          <a:xfrm rot="0">
            <a:off x="12385548" y="4732782"/>
            <a:ext cx="4800600" cy="534162"/>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Objek daya tarik wisata</a:t>
            </a:r>
          </a:p>
        </p:txBody>
      </p:sp>
      <p:sp>
        <p:nvSpPr>
          <p:cNvPr name="TextBox 91" id="91"/>
          <p:cNvSpPr txBox="true"/>
          <p:nvPr/>
        </p:nvSpPr>
        <p:spPr>
          <a:xfrm rot="0">
            <a:off x="12385548" y="5273040"/>
            <a:ext cx="4800600" cy="8763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jumlah objek daya tarik wisata (2018-2024 data statistik resmi negara dan 2015-2017 dan 2025 dengan estimasi menggunakan NTL) </a:t>
            </a:r>
          </a:p>
        </p:txBody>
      </p:sp>
      <p:grpSp>
        <p:nvGrpSpPr>
          <p:cNvPr name="Group 92" id="92"/>
          <p:cNvGrpSpPr/>
          <p:nvPr/>
        </p:nvGrpSpPr>
        <p:grpSpPr>
          <a:xfrm rot="0">
            <a:off x="822960" y="6583680"/>
            <a:ext cx="5349240" cy="1714500"/>
            <a:chOff x="0" y="0"/>
            <a:chExt cx="7132320" cy="2286000"/>
          </a:xfrm>
        </p:grpSpPr>
        <p:sp>
          <p:nvSpPr>
            <p:cNvPr name="Freeform 93" id="93"/>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EAF8FA"/>
            </a:solidFill>
          </p:spPr>
        </p:sp>
      </p:grpSp>
      <p:sp>
        <p:nvSpPr>
          <p:cNvPr name="TextBox 94" id="94"/>
          <p:cNvSpPr txBox="true"/>
          <p:nvPr/>
        </p:nvSpPr>
        <p:spPr>
          <a:xfrm rot="0">
            <a:off x="1097280" y="6653022"/>
            <a:ext cx="4800600" cy="534162"/>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Ketenagakerjaan</a:t>
            </a:r>
          </a:p>
        </p:txBody>
      </p:sp>
      <p:sp>
        <p:nvSpPr>
          <p:cNvPr name="TextBox 95" id="95"/>
          <p:cNvSpPr txBox="true"/>
          <p:nvPr/>
        </p:nvSpPr>
        <p:spPr>
          <a:xfrm rot="0">
            <a:off x="1097280" y="7193280"/>
            <a:ext cx="4800600" cy="3429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tenaga kerja pada KBLI pariwisata (I, dan R,S,T,U) </a:t>
            </a:r>
          </a:p>
        </p:txBody>
      </p:sp>
      <p:grpSp>
        <p:nvGrpSpPr>
          <p:cNvPr name="Group 96" id="96"/>
          <p:cNvGrpSpPr/>
          <p:nvPr/>
        </p:nvGrpSpPr>
        <p:grpSpPr>
          <a:xfrm rot="0">
            <a:off x="6467094" y="6583680"/>
            <a:ext cx="5349240" cy="1714500"/>
            <a:chOff x="0" y="0"/>
            <a:chExt cx="7132320" cy="2286000"/>
          </a:xfrm>
        </p:grpSpPr>
        <p:sp>
          <p:nvSpPr>
            <p:cNvPr name="Freeform 97" id="97"/>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EAF8FA"/>
            </a:solidFill>
          </p:spPr>
        </p:sp>
      </p:grpSp>
      <p:sp>
        <p:nvSpPr>
          <p:cNvPr name="TextBox 98" id="98"/>
          <p:cNvSpPr txBox="true"/>
          <p:nvPr/>
        </p:nvSpPr>
        <p:spPr>
          <a:xfrm rot="0">
            <a:off x="6741414" y="6653022"/>
            <a:ext cx="4800600" cy="534162"/>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Ekonomi sektor pariwisata</a:t>
            </a:r>
          </a:p>
        </p:txBody>
      </p:sp>
      <p:sp>
        <p:nvSpPr>
          <p:cNvPr name="TextBox 99" id="99"/>
          <p:cNvSpPr txBox="true"/>
          <p:nvPr/>
        </p:nvSpPr>
        <p:spPr>
          <a:xfrm rot="0">
            <a:off x="6741414" y="7193280"/>
            <a:ext cx="4800600" cy="6096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PDRB sektor pariwisata pada KBLI pariwisata (I, dan R,S,T,U), investasi (realisasi PMA dan PMDN)</a:t>
            </a:r>
          </a:p>
        </p:txBody>
      </p:sp>
      <p:grpSp>
        <p:nvGrpSpPr>
          <p:cNvPr name="Group 100" id="100"/>
          <p:cNvGrpSpPr/>
          <p:nvPr/>
        </p:nvGrpSpPr>
        <p:grpSpPr>
          <a:xfrm rot="0">
            <a:off x="12111228" y="6583680"/>
            <a:ext cx="5349240" cy="1714500"/>
            <a:chOff x="0" y="0"/>
            <a:chExt cx="7132320" cy="2286000"/>
          </a:xfrm>
        </p:grpSpPr>
        <p:sp>
          <p:nvSpPr>
            <p:cNvPr name="Freeform 101" id="101"/>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FFF1BF"/>
            </a:solidFill>
          </p:spPr>
        </p:sp>
      </p:grpSp>
      <p:sp>
        <p:nvSpPr>
          <p:cNvPr name="TextBox 102" id="102"/>
          <p:cNvSpPr txBox="true"/>
          <p:nvPr/>
        </p:nvSpPr>
        <p:spPr>
          <a:xfrm rot="0">
            <a:off x="12385548" y="6653022"/>
            <a:ext cx="4800600" cy="534162"/>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Lahan terbangun</a:t>
            </a:r>
          </a:p>
        </p:txBody>
      </p:sp>
      <p:sp>
        <p:nvSpPr>
          <p:cNvPr name="TextBox 103" id="103"/>
          <p:cNvSpPr txBox="true"/>
          <p:nvPr/>
        </p:nvSpPr>
        <p:spPr>
          <a:xfrm rot="0">
            <a:off x="12385548" y="7193280"/>
            <a:ext cx="4800600" cy="6096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luas lahan terbangun dari citra satelit (Dynamic World)</a:t>
            </a:r>
          </a:p>
        </p:txBody>
      </p:sp>
      <p:sp>
        <p:nvSpPr>
          <p:cNvPr name="TextBox 104" id="104"/>
          <p:cNvSpPr txBox="true"/>
          <p:nvPr/>
        </p:nvSpPr>
        <p:spPr>
          <a:xfrm rot="0">
            <a:off x="822960" y="8564880"/>
            <a:ext cx="16637508" cy="87630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Sumber: BPS (nasional dan DIY); Kementerian Investasi/BKPM; pengolahan citra melalui Google Earth Engine.</a:t>
            </a:r>
          </a:p>
          <a:p>
            <a:pPr algn="l">
              <a:lnSpc>
                <a:spcPts val="2160"/>
              </a:lnSpc>
            </a:pPr>
            <a:r>
              <a:rPr lang="en-US" sz="1800">
                <a:solidFill>
                  <a:srgbClr val="5E6E78"/>
                </a:solidFill>
                <a:latin typeface="Calibri (MS)"/>
                <a:ea typeface="Calibri (MS)"/>
                <a:cs typeface="Calibri (MS)"/>
                <a:sym typeface="Calibri (MS)"/>
              </a:rPr>
              <a:t>Note: </a:t>
            </a:r>
          </a:p>
          <a:p>
            <a:pPr algn="l">
              <a:lnSpc>
                <a:spcPts val="2160"/>
              </a:lnSpc>
            </a:pPr>
            <a:r>
              <a:rPr lang="en-US" sz="1800">
                <a:solidFill>
                  <a:srgbClr val="5E6E78"/>
                </a:solidFill>
                <a:latin typeface="Calibri (MS)"/>
                <a:ea typeface="Calibri (MS)"/>
                <a:cs typeface="Calibri (MS)"/>
                <a:sym typeface="Calibri (MS)"/>
              </a:rPr>
              <a:t>           Kuning = dilengkapi estimasi citra satelit.</a:t>
            </a:r>
          </a:p>
        </p:txBody>
      </p:sp>
      <p:sp>
        <p:nvSpPr>
          <p:cNvPr name="TextBox 105" id="105"/>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13</a:t>
            </a:r>
          </a:p>
        </p:txBody>
      </p:sp>
      <p:sp>
        <p:nvSpPr>
          <p:cNvPr id="106"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7" id="7"/>
          <p:cNvSpPr txBox="true"/>
          <p:nvPr/>
        </p:nvSpPr>
        <p:spPr>
          <a:xfrm rot="0">
            <a:off x="822960" y="731520"/>
            <a:ext cx="16637508" cy="68580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3.1 &amp; 3.7 · Tahapan Penelitian</a:t>
            </a:r>
          </a:p>
          <a:p>
            <a:pPr algn="l">
              <a:lnSpc>
                <a:spcPct val="100000"/>
              </a:lnSpc>
            </a:pPr>
            <a:r>
              <a:rPr lang="en-US" sz="3500" b="true">
                <a:solidFill>
                  <a:srgbClr val="0B5E6E"/>
                </a:solidFill>
                <a:latin typeface="Calibri (MS) Bold"/>
                <a:ea typeface="Calibri (MS) Bold"/>
                <a:cs typeface="Calibri (MS) Bold"/>
                <a:sym typeface="Calibri (MS) Bold"/>
              </a:rPr>
              <a:t>Enam tahap penelitian menjawab tiga tujuan</a:t>
            </a:r>
          </a:p>
        </p:txBody>
      </p:sp>
      <p:grpSp>
        <p:nvGrpSpPr>
          <p:cNvPr name="Group 8" id="8"/>
          <p:cNvGrpSpPr/>
          <p:nvPr/>
        </p:nvGrpSpPr>
        <p:grpSpPr>
          <a:xfrm rot="0">
            <a:off x="822960" y="274320"/>
            <a:ext cx="2040941" cy="411480"/>
            <a:chOff x="0" y="0"/>
            <a:chExt cx="2721254" cy="548640"/>
          </a:xfrm>
        </p:grpSpPr>
        <p:sp>
          <p:nvSpPr>
            <p:cNvPr name="Freeform 9" id="9"/>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0" id="10"/>
          <p:cNvGrpSpPr/>
          <p:nvPr/>
        </p:nvGrpSpPr>
        <p:grpSpPr>
          <a:xfrm rot="0">
            <a:off x="822960" y="274320"/>
            <a:ext cx="2040941" cy="411480"/>
            <a:chOff x="0" y="0"/>
            <a:chExt cx="2721254" cy="548640"/>
          </a:xfrm>
        </p:grpSpPr>
        <p:sp>
          <p:nvSpPr>
            <p:cNvPr name="Freeform 11" id="11"/>
            <p:cNvSpPr/>
            <p:nvPr/>
          </p:nvSpPr>
          <p:spPr>
            <a:xfrm flipH="false" flipV="false" rot="0">
              <a:off x="0" y="0"/>
              <a:ext cx="2721254" cy="548640"/>
            </a:xfrm>
            <a:custGeom>
              <a:avLst/>
              <a:gdLst/>
              <a:ahLst/>
              <a:cxnLst/>
              <a:rect r="r" b="b" t="t" l="l"/>
              <a:pathLst>
                <a:path h="548640" w="2721254">
                  <a:moveTo>
                    <a:pt x="0" y="0"/>
                  </a:moveTo>
                  <a:lnTo>
                    <a:pt x="2721254" y="0"/>
                  </a:lnTo>
                  <a:lnTo>
                    <a:pt x="2721254" y="548640"/>
                  </a:lnTo>
                  <a:lnTo>
                    <a:pt x="0" y="548640"/>
                  </a:lnTo>
                  <a:close/>
                </a:path>
              </a:pathLst>
            </a:custGeom>
            <a:blipFill>
              <a:blip r:embed="rId4">
                <a:alphaModFix amt="0"/>
              </a:blip>
              <a:stretch>
                <a:fillRect l="0" t="-46645" r="0" b="-46645"/>
              </a:stretch>
            </a:blipFill>
          </p:spPr>
          <p:txBody>
            <a:bodyPr/>
            <a:p/>
          </p:txBody>
        </p:sp>
        <p:sp>
          <p:nvSpPr>
            <p:cNvPr name="TextBox 12" id="12"/>
            <p:cNvSpPr txBox="true"/>
            <p:nvPr/>
          </p:nvSpPr>
          <p:spPr>
            <a:xfrm>
              <a:off x="0" y="-19050"/>
              <a:ext cx="2721254"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3" id="13"/>
          <p:cNvGrpSpPr/>
          <p:nvPr/>
        </p:nvGrpSpPr>
        <p:grpSpPr>
          <a:xfrm rot="0">
            <a:off x="2973629" y="274320"/>
            <a:ext cx="2378354" cy="411480"/>
            <a:chOff x="0" y="0"/>
            <a:chExt cx="3171139" cy="548640"/>
          </a:xfrm>
        </p:grpSpPr>
        <p:sp>
          <p:nvSpPr>
            <p:cNvPr name="Freeform 14" id="14"/>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5" id="15"/>
          <p:cNvGrpSpPr/>
          <p:nvPr/>
        </p:nvGrpSpPr>
        <p:grpSpPr>
          <a:xfrm rot="0">
            <a:off x="2973629" y="274320"/>
            <a:ext cx="2378354" cy="411480"/>
            <a:chOff x="0" y="0"/>
            <a:chExt cx="3171139" cy="548640"/>
          </a:xfrm>
        </p:grpSpPr>
        <p:sp>
          <p:nvSpPr>
            <p:cNvPr name="Freeform 16" id="16"/>
            <p:cNvSpPr/>
            <p:nvPr/>
          </p:nvSpPr>
          <p:spPr>
            <a:xfrm flipH="false" flipV="false" rot="0">
              <a:off x="0" y="0"/>
              <a:ext cx="3171140" cy="548640"/>
            </a:xfrm>
            <a:custGeom>
              <a:avLst/>
              <a:gdLst/>
              <a:ahLst/>
              <a:cxnLst/>
              <a:rect r="r" b="b" t="t" l="l"/>
              <a:pathLst>
                <a:path h="548640" w="3171140">
                  <a:moveTo>
                    <a:pt x="0" y="0"/>
                  </a:moveTo>
                  <a:lnTo>
                    <a:pt x="3171140" y="0"/>
                  </a:lnTo>
                  <a:lnTo>
                    <a:pt x="3171140" y="548640"/>
                  </a:lnTo>
                  <a:lnTo>
                    <a:pt x="0" y="548640"/>
                  </a:lnTo>
                  <a:close/>
                </a:path>
              </a:pathLst>
            </a:custGeom>
            <a:blipFill>
              <a:blip r:embed="rId4">
                <a:alphaModFix amt="0"/>
              </a:blip>
              <a:stretch>
                <a:fillRect l="0" t="-62623" r="0" b="-62623"/>
              </a:stretch>
            </a:blipFill>
          </p:spPr>
          <p:txBody>
            <a:bodyPr/>
            <a:p/>
          </p:txBody>
        </p:sp>
        <p:sp>
          <p:nvSpPr>
            <p:cNvPr name="TextBox 17" id="17"/>
            <p:cNvSpPr txBox="true"/>
            <p:nvPr/>
          </p:nvSpPr>
          <p:spPr>
            <a:xfrm>
              <a:off x="0" y="-19050"/>
              <a:ext cx="3171139" cy="56769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Metodologi</a:t>
              </a:r>
            </a:p>
          </p:txBody>
        </p:sp>
      </p:grpSp>
      <p:grpSp>
        <p:nvGrpSpPr>
          <p:cNvPr name="Group 18" id="18"/>
          <p:cNvGrpSpPr/>
          <p:nvPr/>
        </p:nvGrpSpPr>
        <p:grpSpPr>
          <a:xfrm rot="0">
            <a:off x="5461711" y="274320"/>
            <a:ext cx="1591056" cy="411480"/>
            <a:chOff x="0" y="0"/>
            <a:chExt cx="2121408" cy="548640"/>
          </a:xfrm>
        </p:grpSpPr>
        <p:sp>
          <p:nvSpPr>
            <p:cNvPr name="Freeform 19" id="19"/>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0" id="20"/>
          <p:cNvGrpSpPr/>
          <p:nvPr/>
        </p:nvGrpSpPr>
        <p:grpSpPr>
          <a:xfrm rot="0">
            <a:off x="5461711" y="274320"/>
            <a:ext cx="1591056" cy="411480"/>
            <a:chOff x="0" y="0"/>
            <a:chExt cx="2121408" cy="548640"/>
          </a:xfrm>
        </p:grpSpPr>
        <p:sp>
          <p:nvSpPr>
            <p:cNvPr name="Freeform 21" id="21"/>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342" r="0" b="-25342"/>
              </a:stretch>
            </a:blipFill>
          </p:spPr>
          <p:txBody>
            <a:bodyPr/>
            <a:p/>
          </p:txBody>
        </p:sp>
        <p:sp>
          <p:nvSpPr>
            <p:cNvPr name="TextBox 22" id="22"/>
            <p:cNvSpPr txBox="true"/>
            <p:nvPr/>
          </p:nvSpPr>
          <p:spPr>
            <a:xfrm>
              <a:off x="0" y="-19050"/>
              <a:ext cx="2121408"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23" id="23"/>
          <p:cNvGrpSpPr/>
          <p:nvPr/>
        </p:nvGrpSpPr>
        <p:grpSpPr>
          <a:xfrm rot="0">
            <a:off x="7162495" y="274320"/>
            <a:ext cx="2490826" cy="411480"/>
            <a:chOff x="0" y="0"/>
            <a:chExt cx="3321101" cy="548640"/>
          </a:xfrm>
        </p:grpSpPr>
        <p:sp>
          <p:nvSpPr>
            <p:cNvPr name="Freeform 24" id="24"/>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5" id="25"/>
          <p:cNvGrpSpPr/>
          <p:nvPr/>
        </p:nvGrpSpPr>
        <p:grpSpPr>
          <a:xfrm rot="0">
            <a:off x="7162495" y="274320"/>
            <a:ext cx="2490826" cy="411480"/>
            <a:chOff x="0" y="0"/>
            <a:chExt cx="3321101" cy="548640"/>
          </a:xfrm>
        </p:grpSpPr>
        <p:sp>
          <p:nvSpPr>
            <p:cNvPr name="Freeform 26" id="26"/>
            <p:cNvSpPr/>
            <p:nvPr/>
          </p:nvSpPr>
          <p:spPr>
            <a:xfrm flipH="false" flipV="false" rot="0">
              <a:off x="0" y="0"/>
              <a:ext cx="3321100" cy="548640"/>
            </a:xfrm>
            <a:custGeom>
              <a:avLst/>
              <a:gdLst/>
              <a:ahLst/>
              <a:cxnLst/>
              <a:rect r="r" b="b" t="t" l="l"/>
              <a:pathLst>
                <a:path h="548640" w="3321100">
                  <a:moveTo>
                    <a:pt x="0" y="0"/>
                  </a:moveTo>
                  <a:lnTo>
                    <a:pt x="3321100" y="0"/>
                  </a:lnTo>
                  <a:lnTo>
                    <a:pt x="3321100" y="548640"/>
                  </a:lnTo>
                  <a:lnTo>
                    <a:pt x="0" y="548640"/>
                  </a:lnTo>
                  <a:close/>
                </a:path>
              </a:pathLst>
            </a:custGeom>
            <a:blipFill>
              <a:blip r:embed="rId4">
                <a:alphaModFix amt="0"/>
              </a:blip>
              <a:stretch>
                <a:fillRect l="0" t="-67949" r="0" b="-67949"/>
              </a:stretch>
            </a:blipFill>
          </p:spPr>
          <p:txBody>
            <a:bodyPr/>
            <a:p/>
          </p:txBody>
        </p:sp>
        <p:sp>
          <p:nvSpPr>
            <p:cNvPr name="TextBox 27" id="27"/>
            <p:cNvSpPr txBox="true"/>
            <p:nvPr/>
          </p:nvSpPr>
          <p:spPr>
            <a:xfrm>
              <a:off x="0" y="-19050"/>
              <a:ext cx="3321101"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28" id="28"/>
          <p:cNvGrpSpPr/>
          <p:nvPr/>
        </p:nvGrpSpPr>
        <p:grpSpPr>
          <a:xfrm rot="0">
            <a:off x="9763049" y="274320"/>
            <a:ext cx="1366114" cy="411480"/>
            <a:chOff x="0" y="0"/>
            <a:chExt cx="1821485" cy="548640"/>
          </a:xfrm>
        </p:grpSpPr>
        <p:sp>
          <p:nvSpPr>
            <p:cNvPr name="Freeform 29" id="2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0" id="30"/>
          <p:cNvGrpSpPr/>
          <p:nvPr/>
        </p:nvGrpSpPr>
        <p:grpSpPr>
          <a:xfrm rot="0">
            <a:off x="9763049" y="274320"/>
            <a:ext cx="1366114" cy="411480"/>
            <a:chOff x="0" y="0"/>
            <a:chExt cx="1821485" cy="548640"/>
          </a:xfrm>
        </p:grpSpPr>
        <p:sp>
          <p:nvSpPr>
            <p:cNvPr name="Freeform 31" id="31"/>
            <p:cNvSpPr/>
            <p:nvPr/>
          </p:nvSpPr>
          <p:spPr>
            <a:xfrm flipH="false" flipV="false" rot="0">
              <a:off x="0" y="0"/>
              <a:ext cx="1821484" cy="548640"/>
            </a:xfrm>
            <a:custGeom>
              <a:avLst/>
              <a:gdLst/>
              <a:ahLst/>
              <a:cxnLst/>
              <a:rect r="r" b="b" t="t" l="l"/>
              <a:pathLst>
                <a:path h="548640" w="1821484">
                  <a:moveTo>
                    <a:pt x="0" y="0"/>
                  </a:moveTo>
                  <a:lnTo>
                    <a:pt x="1821484" y="0"/>
                  </a:lnTo>
                  <a:lnTo>
                    <a:pt x="1821484" y="548640"/>
                  </a:lnTo>
                  <a:lnTo>
                    <a:pt x="0" y="548640"/>
                  </a:lnTo>
                  <a:close/>
                </a:path>
              </a:pathLst>
            </a:custGeom>
            <a:blipFill>
              <a:blip r:embed="rId4">
                <a:alphaModFix amt="0"/>
              </a:blip>
              <a:stretch>
                <a:fillRect l="0" t="-14690" r="0" b="-14690"/>
              </a:stretch>
            </a:blipFill>
          </p:spPr>
          <p:txBody>
            <a:bodyPr/>
            <a:p/>
          </p:txBody>
        </p:sp>
        <p:sp>
          <p:nvSpPr>
            <p:cNvPr name="TextBox 32" id="32"/>
            <p:cNvSpPr txBox="true"/>
            <p:nvPr/>
          </p:nvSpPr>
          <p:spPr>
            <a:xfrm>
              <a:off x="0" y="-19050"/>
              <a:ext cx="1821485"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33" id="33"/>
          <p:cNvGrpSpPr/>
          <p:nvPr/>
        </p:nvGrpSpPr>
        <p:grpSpPr>
          <a:xfrm rot="0">
            <a:off x="11238890" y="274320"/>
            <a:ext cx="1253642" cy="411480"/>
            <a:chOff x="0" y="0"/>
            <a:chExt cx="1671523" cy="548640"/>
          </a:xfrm>
        </p:grpSpPr>
        <p:sp>
          <p:nvSpPr>
            <p:cNvPr name="Freeform 34" id="34"/>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5" id="35"/>
          <p:cNvGrpSpPr/>
          <p:nvPr/>
        </p:nvGrpSpPr>
        <p:grpSpPr>
          <a:xfrm rot="0">
            <a:off x="11238890" y="274320"/>
            <a:ext cx="1253642" cy="411480"/>
            <a:chOff x="0" y="0"/>
            <a:chExt cx="1671523" cy="548640"/>
          </a:xfrm>
        </p:grpSpPr>
        <p:sp>
          <p:nvSpPr>
            <p:cNvPr name="Freeform 36" id="36"/>
            <p:cNvSpPr/>
            <p:nvPr/>
          </p:nvSpPr>
          <p:spPr>
            <a:xfrm flipH="false" flipV="false" rot="0">
              <a:off x="0" y="0"/>
              <a:ext cx="1671524" cy="548640"/>
            </a:xfrm>
            <a:custGeom>
              <a:avLst/>
              <a:gdLst/>
              <a:ahLst/>
              <a:cxnLst/>
              <a:rect r="r" b="b" t="t" l="l"/>
              <a:pathLst>
                <a:path h="548640" w="1671524">
                  <a:moveTo>
                    <a:pt x="0" y="0"/>
                  </a:moveTo>
                  <a:lnTo>
                    <a:pt x="1671524" y="0"/>
                  </a:lnTo>
                  <a:lnTo>
                    <a:pt x="1671524" y="548640"/>
                  </a:lnTo>
                  <a:lnTo>
                    <a:pt x="0" y="548640"/>
                  </a:lnTo>
                  <a:close/>
                </a:path>
              </a:pathLst>
            </a:custGeom>
            <a:blipFill>
              <a:blip r:embed="rId4">
                <a:alphaModFix amt="0"/>
              </a:blip>
              <a:stretch>
                <a:fillRect l="0" t="-9364" r="0" b="-9364"/>
              </a:stretch>
            </a:blipFill>
          </p:spPr>
          <p:txBody>
            <a:bodyPr/>
            <a:p/>
          </p:txBody>
        </p:sp>
        <p:sp>
          <p:nvSpPr>
            <p:cNvPr name="TextBox 37" id="37"/>
            <p:cNvSpPr txBox="true"/>
            <p:nvPr/>
          </p:nvSpPr>
          <p:spPr>
            <a:xfrm>
              <a:off x="0" y="-19050"/>
              <a:ext cx="1671523"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38" id="38"/>
          <p:cNvGrpSpPr/>
          <p:nvPr/>
        </p:nvGrpSpPr>
        <p:grpSpPr>
          <a:xfrm rot="0">
            <a:off x="822960" y="2400300"/>
            <a:ext cx="2537460" cy="3360420"/>
            <a:chOff x="0" y="0"/>
            <a:chExt cx="3383280" cy="4480560"/>
          </a:xfrm>
        </p:grpSpPr>
        <p:sp>
          <p:nvSpPr>
            <p:cNvPr name="Freeform 39" id="39"/>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FFF1BF"/>
            </a:solidFill>
          </p:spPr>
        </p:sp>
      </p:grpSp>
      <p:grpSp>
        <p:nvGrpSpPr>
          <p:cNvPr name="Group 40" id="40"/>
          <p:cNvGrpSpPr/>
          <p:nvPr/>
        </p:nvGrpSpPr>
        <p:grpSpPr>
          <a:xfrm rot="0">
            <a:off x="1776222" y="2647188"/>
            <a:ext cx="630936" cy="630936"/>
            <a:chOff x="0" y="0"/>
            <a:chExt cx="841248" cy="841248"/>
          </a:xfrm>
        </p:grpSpPr>
        <p:grpSp>
          <p:nvGrpSpPr>
            <p:cNvPr name="Group 41" id="41"/>
            <p:cNvGrpSpPr/>
            <p:nvPr/>
          </p:nvGrpSpPr>
          <p:grpSpPr>
            <a:xfrm rot="0">
              <a:off x="0" y="0"/>
              <a:ext cx="841248" cy="841248"/>
              <a:chOff x="0" y="0"/>
              <a:chExt cx="841248" cy="841248"/>
            </a:xfrm>
          </p:grpSpPr>
          <p:sp>
            <p:nvSpPr>
              <p:cNvPr name="Freeform 42" id="42"/>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FFD23B"/>
              </a:solidFill>
            </p:spPr>
          </p:sp>
        </p:grpSp>
        <p:grpSp>
          <p:nvGrpSpPr>
            <p:cNvPr name="Group 43" id="43"/>
            <p:cNvGrpSpPr/>
            <p:nvPr/>
          </p:nvGrpSpPr>
          <p:grpSpPr>
            <a:xfrm rot="0">
              <a:off x="0" y="0"/>
              <a:ext cx="841248" cy="841248"/>
              <a:chOff x="0" y="0"/>
              <a:chExt cx="841248" cy="841248"/>
            </a:xfrm>
          </p:grpSpPr>
          <p:sp>
            <p:nvSpPr>
              <p:cNvPr name="Freeform 44" id="44"/>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03" t="0" r="-78303" b="0"/>
                </a:stretch>
              </a:blipFill>
            </p:spPr>
          </p:sp>
          <p:sp>
            <p:nvSpPr>
              <p:cNvPr name="TextBox 45" id="45"/>
              <p:cNvSpPr txBox="true"/>
              <p:nvPr/>
            </p:nvSpPr>
            <p:spPr>
              <a:xfrm>
                <a:off x="0" y="-57150"/>
                <a:ext cx="841248" cy="898398"/>
              </a:xfrm>
              <a:prstGeom prst="rect">
                <a:avLst/>
              </a:prstGeom>
            </p:spPr>
            <p:txBody>
              <a:bodyPr anchor="ctr" rtlCol="false" tIns="0" lIns="0" bIns="0" rIns="0"/>
              <a:lstStyle/>
              <a:p>
                <a:pPr algn="ctr">
                  <a:lnSpc>
                    <a:spcPts val="2700"/>
                  </a:lnSpc>
                </a:pPr>
                <a:r>
                  <a:rPr lang="en-US" sz="2250" b="true">
                    <a:solidFill>
                      <a:srgbClr val="14313B"/>
                    </a:solidFill>
                    <a:latin typeface="Calibri (MS) Bold"/>
                    <a:ea typeface="Calibri (MS) Bold"/>
                    <a:cs typeface="Calibri (MS) Bold"/>
                    <a:sym typeface="Calibri (MS) Bold"/>
                  </a:rPr>
                  <a:t>1</a:t>
                </a:r>
              </a:p>
            </p:txBody>
          </p:sp>
        </p:grpSp>
      </p:grpSp>
      <p:sp>
        <p:nvSpPr>
          <p:cNvPr name="TextBox 46" id="46"/>
          <p:cNvSpPr txBox="true"/>
          <p:nvPr/>
        </p:nvSpPr>
        <p:spPr>
          <a:xfrm rot="0">
            <a:off x="1069848" y="3390900"/>
            <a:ext cx="2057400" cy="6477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Pengumpulan &amp; preprocessing data</a:t>
            </a:r>
          </a:p>
        </p:txBody>
      </p:sp>
      <p:sp>
        <p:nvSpPr>
          <p:cNvPr name="TextBox 47" id="47"/>
          <p:cNvSpPr txBox="true"/>
          <p:nvPr/>
        </p:nvSpPr>
        <p:spPr>
          <a:xfrm rot="0">
            <a:off x="1069848" y="4693920"/>
            <a:ext cx="2057400" cy="55245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 Master Data 2015–2025</a:t>
            </a:r>
          </a:p>
        </p:txBody>
      </p:sp>
      <p:grpSp>
        <p:nvGrpSpPr>
          <p:cNvPr name="Group 48" id="48"/>
          <p:cNvGrpSpPr/>
          <p:nvPr/>
        </p:nvGrpSpPr>
        <p:grpSpPr>
          <a:xfrm rot="0">
            <a:off x="1405890" y="2194560"/>
            <a:ext cx="1371600" cy="411480"/>
            <a:chOff x="0" y="0"/>
            <a:chExt cx="1828800" cy="548640"/>
          </a:xfrm>
        </p:grpSpPr>
        <p:grpSp>
          <p:nvGrpSpPr>
            <p:cNvPr name="Group 49" id="49"/>
            <p:cNvGrpSpPr/>
            <p:nvPr/>
          </p:nvGrpSpPr>
          <p:grpSpPr>
            <a:xfrm rot="0">
              <a:off x="0" y="0"/>
              <a:ext cx="1828800" cy="548640"/>
              <a:chOff x="0" y="0"/>
              <a:chExt cx="1828800" cy="548640"/>
            </a:xfrm>
          </p:grpSpPr>
          <p:sp>
            <p:nvSpPr>
              <p:cNvPr name="Freeform 50" id="50"/>
              <p:cNvSpPr/>
              <p:nvPr/>
            </p:nvSpPr>
            <p:spPr>
              <a:xfrm flipH="false" flipV="false" rot="0">
                <a:off x="0" y="0"/>
                <a:ext cx="1828800" cy="548640"/>
              </a:xfrm>
              <a:custGeom>
                <a:avLst/>
                <a:gdLst/>
                <a:ahLst/>
                <a:cxnLst/>
                <a:rect r="r" b="b" t="t" l="l"/>
                <a:pathLst>
                  <a:path h="548640" w="1828800">
                    <a:moveTo>
                      <a:pt x="0" y="274320"/>
                    </a:moveTo>
                    <a:cubicBezTo>
                      <a:pt x="0" y="122809"/>
                      <a:pt x="122809" y="0"/>
                      <a:pt x="274320" y="0"/>
                    </a:cubicBezTo>
                    <a:lnTo>
                      <a:pt x="1554480" y="0"/>
                    </a:lnTo>
                    <a:cubicBezTo>
                      <a:pt x="1705991" y="0"/>
                      <a:pt x="1828800" y="122809"/>
                      <a:pt x="1828800" y="274320"/>
                    </a:cubicBezTo>
                    <a:cubicBezTo>
                      <a:pt x="1828800" y="425831"/>
                      <a:pt x="1705991" y="548640"/>
                      <a:pt x="1554480" y="548640"/>
                    </a:cubicBezTo>
                    <a:lnTo>
                      <a:pt x="274320" y="548640"/>
                    </a:lnTo>
                    <a:cubicBezTo>
                      <a:pt x="122809" y="548640"/>
                      <a:pt x="0" y="425831"/>
                      <a:pt x="0" y="274320"/>
                    </a:cubicBezTo>
                    <a:close/>
                  </a:path>
                </a:pathLst>
              </a:custGeom>
              <a:solidFill>
                <a:srgbClr val="FFD23B"/>
              </a:solidFill>
            </p:spPr>
          </p:sp>
        </p:grpSp>
        <p:grpSp>
          <p:nvGrpSpPr>
            <p:cNvPr name="Group 51" id="51"/>
            <p:cNvGrpSpPr/>
            <p:nvPr/>
          </p:nvGrpSpPr>
          <p:grpSpPr>
            <a:xfrm rot="0">
              <a:off x="236673" y="71002"/>
              <a:ext cx="1355454" cy="406636"/>
              <a:chOff x="0" y="0"/>
              <a:chExt cx="1828800" cy="548640"/>
            </a:xfrm>
          </p:grpSpPr>
          <p:sp>
            <p:nvSpPr>
              <p:cNvPr name="Freeform 52" id="52"/>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4">
                  <a:alphaModFix amt="0"/>
                </a:blip>
                <a:stretch>
                  <a:fillRect l="0" t="-14950" r="0" b="-14950"/>
                </a:stretch>
              </a:blipFill>
            </p:spPr>
          </p:sp>
          <p:sp>
            <p:nvSpPr>
              <p:cNvPr name="TextBox 53" id="53"/>
              <p:cNvSpPr txBox="true"/>
              <p:nvPr/>
            </p:nvSpPr>
            <p:spPr>
              <a:xfrm>
                <a:off x="0" y="-38100"/>
                <a:ext cx="1828800" cy="586740"/>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Perluasan</a:t>
                </a:r>
              </a:p>
            </p:txBody>
          </p:sp>
        </p:grpSp>
      </p:grpSp>
      <p:grpSp>
        <p:nvGrpSpPr>
          <p:cNvPr name="Group 54" id="54"/>
          <p:cNvGrpSpPr/>
          <p:nvPr/>
        </p:nvGrpSpPr>
        <p:grpSpPr>
          <a:xfrm rot="0">
            <a:off x="3642970" y="2400300"/>
            <a:ext cx="2537460" cy="3360420"/>
            <a:chOff x="0" y="0"/>
            <a:chExt cx="3383280" cy="4480560"/>
          </a:xfrm>
        </p:grpSpPr>
        <p:sp>
          <p:nvSpPr>
            <p:cNvPr name="Freeform 55" id="55"/>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EAF8FA"/>
            </a:solidFill>
          </p:spPr>
        </p:sp>
      </p:grpSp>
      <p:grpSp>
        <p:nvGrpSpPr>
          <p:cNvPr name="Group 56" id="56"/>
          <p:cNvGrpSpPr/>
          <p:nvPr/>
        </p:nvGrpSpPr>
        <p:grpSpPr>
          <a:xfrm rot="0">
            <a:off x="4596232" y="2647188"/>
            <a:ext cx="630936" cy="630936"/>
            <a:chOff x="0" y="0"/>
            <a:chExt cx="841248" cy="841248"/>
          </a:xfrm>
        </p:grpSpPr>
        <p:grpSp>
          <p:nvGrpSpPr>
            <p:cNvPr name="Group 57" id="57"/>
            <p:cNvGrpSpPr/>
            <p:nvPr/>
          </p:nvGrpSpPr>
          <p:grpSpPr>
            <a:xfrm rot="0">
              <a:off x="0" y="0"/>
              <a:ext cx="841248" cy="841248"/>
              <a:chOff x="0" y="0"/>
              <a:chExt cx="841248" cy="841248"/>
            </a:xfrm>
          </p:grpSpPr>
          <p:sp>
            <p:nvSpPr>
              <p:cNvPr name="Freeform 58" id="58"/>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9C0D3"/>
              </a:solidFill>
            </p:spPr>
          </p:sp>
        </p:grpSp>
        <p:grpSp>
          <p:nvGrpSpPr>
            <p:cNvPr name="Group 59" id="59"/>
            <p:cNvGrpSpPr/>
            <p:nvPr/>
          </p:nvGrpSpPr>
          <p:grpSpPr>
            <a:xfrm rot="0">
              <a:off x="0" y="0"/>
              <a:ext cx="841248" cy="841248"/>
              <a:chOff x="0" y="0"/>
              <a:chExt cx="841248" cy="841248"/>
            </a:xfrm>
          </p:grpSpPr>
          <p:sp>
            <p:nvSpPr>
              <p:cNvPr name="Freeform 60" id="60"/>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03" t="0" r="-78303" b="0"/>
                </a:stretch>
              </a:blipFill>
            </p:spPr>
          </p:sp>
          <p:sp>
            <p:nvSpPr>
              <p:cNvPr name="TextBox 61" id="61"/>
              <p:cNvSpPr txBox="true"/>
              <p:nvPr/>
            </p:nvSpPr>
            <p:spPr>
              <a:xfrm>
                <a:off x="0" y="-57150"/>
                <a:ext cx="841248" cy="898398"/>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2</a:t>
                </a:r>
              </a:p>
            </p:txBody>
          </p:sp>
        </p:grpSp>
      </p:grpSp>
      <p:sp>
        <p:nvSpPr>
          <p:cNvPr name="TextBox 62" id="62"/>
          <p:cNvSpPr txBox="true"/>
          <p:nvPr/>
        </p:nvSpPr>
        <p:spPr>
          <a:xfrm rot="0">
            <a:off x="3889858" y="3390900"/>
            <a:ext cx="2057400" cy="9525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Artikulasi masalah &amp; hipotesis dinamis</a:t>
            </a:r>
          </a:p>
        </p:txBody>
      </p:sp>
      <p:sp>
        <p:nvSpPr>
          <p:cNvPr name="TextBox 63" id="63"/>
          <p:cNvSpPr txBox="true"/>
          <p:nvPr/>
        </p:nvSpPr>
        <p:spPr>
          <a:xfrm rot="0">
            <a:off x="3889858" y="4693920"/>
            <a:ext cx="2057400" cy="295275"/>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CLD dengan 6 loop</a:t>
            </a:r>
          </a:p>
        </p:txBody>
      </p:sp>
      <p:grpSp>
        <p:nvGrpSpPr>
          <p:cNvPr name="Group 64" id="64"/>
          <p:cNvGrpSpPr/>
          <p:nvPr/>
        </p:nvGrpSpPr>
        <p:grpSpPr>
          <a:xfrm rot="0">
            <a:off x="6462979" y="2400300"/>
            <a:ext cx="2537460" cy="3360420"/>
            <a:chOff x="0" y="0"/>
            <a:chExt cx="3383280" cy="4480560"/>
          </a:xfrm>
        </p:grpSpPr>
        <p:sp>
          <p:nvSpPr>
            <p:cNvPr name="Freeform 65" id="65"/>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EAF8FA"/>
            </a:solidFill>
          </p:spPr>
        </p:sp>
      </p:grpSp>
      <p:grpSp>
        <p:nvGrpSpPr>
          <p:cNvPr name="Group 66" id="66"/>
          <p:cNvGrpSpPr/>
          <p:nvPr/>
        </p:nvGrpSpPr>
        <p:grpSpPr>
          <a:xfrm rot="0">
            <a:off x="7416241" y="2647188"/>
            <a:ext cx="630936" cy="630936"/>
            <a:chOff x="0" y="0"/>
            <a:chExt cx="841248" cy="841248"/>
          </a:xfrm>
        </p:grpSpPr>
        <p:grpSp>
          <p:nvGrpSpPr>
            <p:cNvPr name="Group 67" id="67"/>
            <p:cNvGrpSpPr/>
            <p:nvPr/>
          </p:nvGrpSpPr>
          <p:grpSpPr>
            <a:xfrm rot="0">
              <a:off x="0" y="0"/>
              <a:ext cx="841248" cy="841248"/>
              <a:chOff x="0" y="0"/>
              <a:chExt cx="841248" cy="841248"/>
            </a:xfrm>
          </p:grpSpPr>
          <p:sp>
            <p:nvSpPr>
              <p:cNvPr name="Freeform 68" id="68"/>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9C0D3"/>
              </a:solidFill>
            </p:spPr>
          </p:sp>
        </p:grpSp>
        <p:grpSp>
          <p:nvGrpSpPr>
            <p:cNvPr name="Group 69" id="69"/>
            <p:cNvGrpSpPr/>
            <p:nvPr/>
          </p:nvGrpSpPr>
          <p:grpSpPr>
            <a:xfrm rot="0">
              <a:off x="0" y="0"/>
              <a:ext cx="841248" cy="841248"/>
              <a:chOff x="0" y="0"/>
              <a:chExt cx="841248" cy="841248"/>
            </a:xfrm>
          </p:grpSpPr>
          <p:sp>
            <p:nvSpPr>
              <p:cNvPr name="Freeform 70" id="70"/>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03" t="0" r="-78303" b="0"/>
                </a:stretch>
              </a:blipFill>
            </p:spPr>
          </p:sp>
          <p:sp>
            <p:nvSpPr>
              <p:cNvPr name="TextBox 71" id="71"/>
              <p:cNvSpPr txBox="true"/>
              <p:nvPr/>
            </p:nvSpPr>
            <p:spPr>
              <a:xfrm>
                <a:off x="0" y="-57150"/>
                <a:ext cx="841248" cy="898398"/>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3</a:t>
                </a:r>
              </a:p>
            </p:txBody>
          </p:sp>
        </p:grpSp>
      </p:grpSp>
      <p:sp>
        <p:nvSpPr>
          <p:cNvPr name="TextBox 72" id="72"/>
          <p:cNvSpPr txBox="true"/>
          <p:nvPr/>
        </p:nvSpPr>
        <p:spPr>
          <a:xfrm rot="0">
            <a:off x="6709867" y="3390900"/>
            <a:ext cx="2057400" cy="6477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Formulasi model simulasi</a:t>
            </a:r>
          </a:p>
        </p:txBody>
      </p:sp>
      <p:sp>
        <p:nvSpPr>
          <p:cNvPr name="TextBox 73" id="73"/>
          <p:cNvSpPr txBox="true"/>
          <p:nvPr/>
        </p:nvSpPr>
        <p:spPr>
          <a:xfrm rot="0">
            <a:off x="6709867" y="4693920"/>
            <a:ext cx="2057400" cy="552450"/>
          </a:xfrm>
          <a:prstGeom prst="rect">
            <a:avLst/>
          </a:prstGeom>
        </p:spPr>
        <p:txBody>
          <a:bodyPr anchor="t" rtlCol="false" tIns="0" lIns="0" bIns="0" rIns="0">
            <a:spAutoFit/>
          </a:bodyPr>
          <a:lstStyle/>
          <a:p>
            <a:pPr algn="ctr">
              <a:lnSpc>
                <a:spcPts val="2070"/>
              </a:lnSpc>
            </a:pPr>
            <a:r>
              <a:rPr lang="en-US" sz="1725" i="true">
                <a:solidFill>
                  <a:srgbClr val="14313B"/>
                </a:solidFill>
                <a:latin typeface="Calibri (MS) Italics"/>
                <a:ea typeface="Calibri (MS) Italics"/>
                <a:cs typeface="Calibri (MS) Italics"/>
                <a:sym typeface="Calibri (MS) Italics"/>
              </a:rPr>
              <a:t>Stock and Flow Diagram</a:t>
            </a:r>
          </a:p>
        </p:txBody>
      </p:sp>
      <p:grpSp>
        <p:nvGrpSpPr>
          <p:cNvPr name="Group 74" id="74"/>
          <p:cNvGrpSpPr/>
          <p:nvPr/>
        </p:nvGrpSpPr>
        <p:grpSpPr>
          <a:xfrm rot="0">
            <a:off x="9282989" y="2400300"/>
            <a:ext cx="2537460" cy="3360420"/>
            <a:chOff x="0" y="0"/>
            <a:chExt cx="3383280" cy="4480560"/>
          </a:xfrm>
        </p:grpSpPr>
        <p:sp>
          <p:nvSpPr>
            <p:cNvPr name="Freeform 75" id="75"/>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EAF8FA"/>
            </a:solidFill>
          </p:spPr>
        </p:sp>
      </p:grpSp>
      <p:grpSp>
        <p:nvGrpSpPr>
          <p:cNvPr name="Group 76" id="76"/>
          <p:cNvGrpSpPr/>
          <p:nvPr/>
        </p:nvGrpSpPr>
        <p:grpSpPr>
          <a:xfrm rot="0">
            <a:off x="10122408" y="2647188"/>
            <a:ext cx="630936" cy="630936"/>
            <a:chOff x="0" y="0"/>
            <a:chExt cx="841248" cy="841248"/>
          </a:xfrm>
        </p:grpSpPr>
        <p:grpSp>
          <p:nvGrpSpPr>
            <p:cNvPr name="Group 77" id="77"/>
            <p:cNvGrpSpPr/>
            <p:nvPr/>
          </p:nvGrpSpPr>
          <p:grpSpPr>
            <a:xfrm rot="0">
              <a:off x="0" y="0"/>
              <a:ext cx="841248" cy="841248"/>
              <a:chOff x="0" y="0"/>
              <a:chExt cx="841248" cy="841248"/>
            </a:xfrm>
          </p:grpSpPr>
          <p:sp>
            <p:nvSpPr>
              <p:cNvPr name="Freeform 78" id="78"/>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9C0D3"/>
              </a:solidFill>
            </p:spPr>
          </p:sp>
        </p:grpSp>
        <p:grpSp>
          <p:nvGrpSpPr>
            <p:cNvPr name="Group 79" id="79"/>
            <p:cNvGrpSpPr/>
            <p:nvPr/>
          </p:nvGrpSpPr>
          <p:grpSpPr>
            <a:xfrm rot="0">
              <a:off x="0" y="0"/>
              <a:ext cx="841248" cy="841248"/>
              <a:chOff x="0" y="0"/>
              <a:chExt cx="841248" cy="841248"/>
            </a:xfrm>
          </p:grpSpPr>
          <p:sp>
            <p:nvSpPr>
              <p:cNvPr name="Freeform 80" id="80"/>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03" t="0" r="-78303" b="0"/>
                </a:stretch>
              </a:blipFill>
            </p:spPr>
          </p:sp>
          <p:sp>
            <p:nvSpPr>
              <p:cNvPr name="TextBox 81" id="81"/>
              <p:cNvSpPr txBox="true"/>
              <p:nvPr/>
            </p:nvSpPr>
            <p:spPr>
              <a:xfrm>
                <a:off x="0" y="-57150"/>
                <a:ext cx="841248" cy="898398"/>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4</a:t>
                </a:r>
              </a:p>
            </p:txBody>
          </p:sp>
        </p:grpSp>
      </p:grpSp>
      <p:sp>
        <p:nvSpPr>
          <p:cNvPr name="TextBox 82" id="82"/>
          <p:cNvSpPr txBox="true"/>
          <p:nvPr/>
        </p:nvSpPr>
        <p:spPr>
          <a:xfrm rot="0">
            <a:off x="9529877" y="3390900"/>
            <a:ext cx="2057400" cy="3429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Pengujian model</a:t>
            </a:r>
          </a:p>
        </p:txBody>
      </p:sp>
      <p:sp>
        <p:nvSpPr>
          <p:cNvPr name="TextBox 83" id="83"/>
          <p:cNvSpPr txBox="true"/>
          <p:nvPr/>
        </p:nvSpPr>
        <p:spPr>
          <a:xfrm rot="0">
            <a:off x="9529877" y="4693920"/>
            <a:ext cx="2057400" cy="55245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4 Tahap Pengujian Model</a:t>
            </a:r>
          </a:p>
        </p:txBody>
      </p:sp>
      <p:grpSp>
        <p:nvGrpSpPr>
          <p:cNvPr name="Group 84" id="84"/>
          <p:cNvGrpSpPr/>
          <p:nvPr/>
        </p:nvGrpSpPr>
        <p:grpSpPr>
          <a:xfrm rot="0">
            <a:off x="12102998" y="2400300"/>
            <a:ext cx="2537460" cy="3360420"/>
            <a:chOff x="0" y="0"/>
            <a:chExt cx="3383280" cy="4480560"/>
          </a:xfrm>
        </p:grpSpPr>
        <p:sp>
          <p:nvSpPr>
            <p:cNvPr name="Freeform 85" id="85"/>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EAF8FA"/>
            </a:solidFill>
          </p:spPr>
        </p:sp>
      </p:grpSp>
      <p:grpSp>
        <p:nvGrpSpPr>
          <p:cNvPr name="Group 86" id="86"/>
          <p:cNvGrpSpPr/>
          <p:nvPr/>
        </p:nvGrpSpPr>
        <p:grpSpPr>
          <a:xfrm rot="0">
            <a:off x="13056260" y="2647188"/>
            <a:ext cx="630936" cy="630936"/>
            <a:chOff x="0" y="0"/>
            <a:chExt cx="841248" cy="841248"/>
          </a:xfrm>
        </p:grpSpPr>
        <p:grpSp>
          <p:nvGrpSpPr>
            <p:cNvPr name="Group 87" id="87"/>
            <p:cNvGrpSpPr/>
            <p:nvPr/>
          </p:nvGrpSpPr>
          <p:grpSpPr>
            <a:xfrm rot="0">
              <a:off x="0" y="0"/>
              <a:ext cx="841248" cy="841248"/>
              <a:chOff x="0" y="0"/>
              <a:chExt cx="841248" cy="841248"/>
            </a:xfrm>
          </p:grpSpPr>
          <p:sp>
            <p:nvSpPr>
              <p:cNvPr name="Freeform 88" id="88"/>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9C0D3"/>
              </a:solidFill>
            </p:spPr>
          </p:sp>
        </p:grpSp>
        <p:grpSp>
          <p:nvGrpSpPr>
            <p:cNvPr name="Group 89" id="89"/>
            <p:cNvGrpSpPr/>
            <p:nvPr/>
          </p:nvGrpSpPr>
          <p:grpSpPr>
            <a:xfrm rot="0">
              <a:off x="0" y="0"/>
              <a:ext cx="841248" cy="841248"/>
              <a:chOff x="0" y="0"/>
              <a:chExt cx="841248" cy="841248"/>
            </a:xfrm>
          </p:grpSpPr>
          <p:sp>
            <p:nvSpPr>
              <p:cNvPr name="Freeform 90" id="90"/>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03" t="0" r="-78303" b="0"/>
                </a:stretch>
              </a:blipFill>
            </p:spPr>
          </p:sp>
          <p:sp>
            <p:nvSpPr>
              <p:cNvPr name="TextBox 91" id="91"/>
              <p:cNvSpPr txBox="true"/>
              <p:nvPr/>
            </p:nvSpPr>
            <p:spPr>
              <a:xfrm>
                <a:off x="0" y="-57150"/>
                <a:ext cx="841248" cy="898398"/>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5</a:t>
                </a:r>
              </a:p>
            </p:txBody>
          </p:sp>
        </p:grpSp>
      </p:grpSp>
      <p:sp>
        <p:nvSpPr>
          <p:cNvPr name="TextBox 92" id="92"/>
          <p:cNvSpPr txBox="true"/>
          <p:nvPr/>
        </p:nvSpPr>
        <p:spPr>
          <a:xfrm rot="0">
            <a:off x="12349886" y="3390900"/>
            <a:ext cx="2057400" cy="6477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Perancangan &amp; evaluasi skenario</a:t>
            </a:r>
          </a:p>
        </p:txBody>
      </p:sp>
      <p:sp>
        <p:nvSpPr>
          <p:cNvPr name="TextBox 93" id="93"/>
          <p:cNvSpPr txBox="true"/>
          <p:nvPr/>
        </p:nvSpPr>
        <p:spPr>
          <a:xfrm rot="0">
            <a:off x="12349886" y="4693920"/>
            <a:ext cx="2057400" cy="55245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3 skenario, 10 indikator</a:t>
            </a:r>
          </a:p>
        </p:txBody>
      </p:sp>
      <p:grpSp>
        <p:nvGrpSpPr>
          <p:cNvPr name="Group 94" id="94"/>
          <p:cNvGrpSpPr/>
          <p:nvPr/>
        </p:nvGrpSpPr>
        <p:grpSpPr>
          <a:xfrm rot="0">
            <a:off x="14923008" y="2400300"/>
            <a:ext cx="2537460" cy="3360420"/>
            <a:chOff x="0" y="0"/>
            <a:chExt cx="3383280" cy="4480560"/>
          </a:xfrm>
        </p:grpSpPr>
        <p:sp>
          <p:nvSpPr>
            <p:cNvPr name="Freeform 95" id="95"/>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FFF1BF"/>
            </a:solidFill>
          </p:spPr>
        </p:sp>
      </p:grpSp>
      <p:grpSp>
        <p:nvGrpSpPr>
          <p:cNvPr name="Group 96" id="96"/>
          <p:cNvGrpSpPr/>
          <p:nvPr/>
        </p:nvGrpSpPr>
        <p:grpSpPr>
          <a:xfrm rot="0">
            <a:off x="15876270" y="2647188"/>
            <a:ext cx="630936" cy="630936"/>
            <a:chOff x="0" y="0"/>
            <a:chExt cx="841248" cy="841248"/>
          </a:xfrm>
        </p:grpSpPr>
        <p:grpSp>
          <p:nvGrpSpPr>
            <p:cNvPr name="Group 97" id="97"/>
            <p:cNvGrpSpPr/>
            <p:nvPr/>
          </p:nvGrpSpPr>
          <p:grpSpPr>
            <a:xfrm rot="0">
              <a:off x="0" y="0"/>
              <a:ext cx="841248" cy="841248"/>
              <a:chOff x="0" y="0"/>
              <a:chExt cx="841248" cy="841248"/>
            </a:xfrm>
          </p:grpSpPr>
          <p:sp>
            <p:nvSpPr>
              <p:cNvPr name="Freeform 98" id="98"/>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FFD23B"/>
              </a:solidFill>
            </p:spPr>
          </p:sp>
        </p:grpSp>
        <p:grpSp>
          <p:nvGrpSpPr>
            <p:cNvPr name="Group 99" id="99"/>
            <p:cNvGrpSpPr/>
            <p:nvPr/>
          </p:nvGrpSpPr>
          <p:grpSpPr>
            <a:xfrm rot="0">
              <a:off x="0" y="0"/>
              <a:ext cx="841248" cy="841248"/>
              <a:chOff x="0" y="0"/>
              <a:chExt cx="841248" cy="841248"/>
            </a:xfrm>
          </p:grpSpPr>
          <p:sp>
            <p:nvSpPr>
              <p:cNvPr name="Freeform 100" id="100"/>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03" t="0" r="-78303" b="0"/>
                </a:stretch>
              </a:blipFill>
            </p:spPr>
          </p:sp>
          <p:sp>
            <p:nvSpPr>
              <p:cNvPr name="TextBox 101" id="101"/>
              <p:cNvSpPr txBox="true"/>
              <p:nvPr/>
            </p:nvSpPr>
            <p:spPr>
              <a:xfrm>
                <a:off x="0" y="-57150"/>
                <a:ext cx="841248" cy="898398"/>
              </a:xfrm>
              <a:prstGeom prst="rect">
                <a:avLst/>
              </a:prstGeom>
            </p:spPr>
            <p:txBody>
              <a:bodyPr anchor="ctr" rtlCol="false" tIns="0" lIns="0" bIns="0" rIns="0"/>
              <a:lstStyle/>
              <a:p>
                <a:pPr algn="ctr">
                  <a:lnSpc>
                    <a:spcPts val="2700"/>
                  </a:lnSpc>
                </a:pPr>
                <a:r>
                  <a:rPr lang="en-US" sz="2250" b="true">
                    <a:solidFill>
                      <a:srgbClr val="14313B"/>
                    </a:solidFill>
                    <a:latin typeface="Calibri (MS) Bold"/>
                    <a:ea typeface="Calibri (MS) Bold"/>
                    <a:cs typeface="Calibri (MS) Bold"/>
                    <a:sym typeface="Calibri (MS) Bold"/>
                  </a:rPr>
                  <a:t>6</a:t>
                </a:r>
              </a:p>
            </p:txBody>
          </p:sp>
        </p:grpSp>
      </p:grpSp>
      <p:sp>
        <p:nvSpPr>
          <p:cNvPr name="TextBox 102" id="102"/>
          <p:cNvSpPr txBox="true"/>
          <p:nvPr/>
        </p:nvSpPr>
        <p:spPr>
          <a:xfrm rot="0">
            <a:off x="15169896" y="3390900"/>
            <a:ext cx="2057400" cy="134112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Implementasi aplikasi web</a:t>
            </a:r>
          </a:p>
        </p:txBody>
      </p:sp>
      <p:sp>
        <p:nvSpPr>
          <p:cNvPr name="TextBox 103" id="103"/>
          <p:cNvSpPr txBox="true"/>
          <p:nvPr/>
        </p:nvSpPr>
        <p:spPr>
          <a:xfrm rot="0">
            <a:off x="15169896" y="4693920"/>
            <a:ext cx="2057400" cy="295275"/>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Decision support tool</a:t>
            </a:r>
          </a:p>
        </p:txBody>
      </p:sp>
      <p:sp>
        <p:nvSpPr>
          <p:cNvPr name="TextBox 104" id="104"/>
          <p:cNvSpPr txBox="true"/>
          <p:nvPr/>
        </p:nvSpPr>
        <p:spPr>
          <a:xfrm rot="0">
            <a:off x="822960" y="6124575"/>
            <a:ext cx="8229600" cy="36195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Isi 4 tahap pengujian</a:t>
            </a:r>
          </a:p>
        </p:txBody>
      </p:sp>
      <p:grpSp>
        <p:nvGrpSpPr>
          <p:cNvPr name="Group 105" id="105"/>
          <p:cNvGrpSpPr/>
          <p:nvPr/>
        </p:nvGrpSpPr>
        <p:grpSpPr>
          <a:xfrm rot="0">
            <a:off x="822960" y="6720840"/>
            <a:ext cx="3703320" cy="1097280"/>
            <a:chOff x="0" y="0"/>
            <a:chExt cx="4937760" cy="1463040"/>
          </a:xfrm>
        </p:grpSpPr>
        <p:sp>
          <p:nvSpPr>
            <p:cNvPr name="Freeform 106" id="106"/>
            <p:cNvSpPr/>
            <p:nvPr/>
          </p:nvSpPr>
          <p:spPr>
            <a:xfrm flipH="false" flipV="false" rot="0">
              <a:off x="0" y="0"/>
              <a:ext cx="4937760" cy="1463040"/>
            </a:xfrm>
            <a:custGeom>
              <a:avLst/>
              <a:gdLst/>
              <a:ahLst/>
              <a:cxnLst/>
              <a:rect r="r" b="b" t="t" l="l"/>
              <a:pathLst>
                <a:path h="1463040" w="4937760">
                  <a:moveTo>
                    <a:pt x="0" y="182880"/>
                  </a:moveTo>
                  <a:cubicBezTo>
                    <a:pt x="0" y="81915"/>
                    <a:pt x="81915" y="0"/>
                    <a:pt x="182880" y="0"/>
                  </a:cubicBezTo>
                  <a:lnTo>
                    <a:pt x="4754880" y="0"/>
                  </a:lnTo>
                  <a:cubicBezTo>
                    <a:pt x="4855845" y="0"/>
                    <a:pt x="4937760" y="81915"/>
                    <a:pt x="4937760" y="182880"/>
                  </a:cubicBezTo>
                  <a:lnTo>
                    <a:pt x="4937760" y="1280160"/>
                  </a:lnTo>
                  <a:cubicBezTo>
                    <a:pt x="4937760" y="1381125"/>
                    <a:pt x="4855845" y="1463040"/>
                    <a:pt x="4754880" y="1463040"/>
                  </a:cubicBezTo>
                  <a:lnTo>
                    <a:pt x="182880" y="1463040"/>
                  </a:lnTo>
                  <a:cubicBezTo>
                    <a:pt x="81915" y="1463040"/>
                    <a:pt x="0" y="1381125"/>
                    <a:pt x="0" y="1280160"/>
                  </a:cubicBezTo>
                  <a:close/>
                </a:path>
              </a:pathLst>
            </a:custGeom>
            <a:solidFill>
              <a:srgbClr val="0B5E6E"/>
            </a:solidFill>
          </p:spPr>
        </p:sp>
      </p:grpSp>
      <p:grpSp>
        <p:nvGrpSpPr>
          <p:cNvPr name="Group 107" id="107"/>
          <p:cNvGrpSpPr/>
          <p:nvPr/>
        </p:nvGrpSpPr>
        <p:grpSpPr>
          <a:xfrm rot="0">
            <a:off x="822960" y="6720840"/>
            <a:ext cx="3703320" cy="1097280"/>
            <a:chOff x="0" y="0"/>
            <a:chExt cx="4937760" cy="1463040"/>
          </a:xfrm>
        </p:grpSpPr>
        <p:sp>
          <p:nvSpPr>
            <p:cNvPr name="Freeform 108" id="108"/>
            <p:cNvSpPr/>
            <p:nvPr/>
          </p:nvSpPr>
          <p:spPr>
            <a:xfrm flipH="false" flipV="false" rot="0">
              <a:off x="0" y="0"/>
              <a:ext cx="4937760" cy="1463040"/>
            </a:xfrm>
            <a:custGeom>
              <a:avLst/>
              <a:gdLst/>
              <a:ahLst/>
              <a:cxnLst/>
              <a:rect r="r" b="b" t="t" l="l"/>
              <a:pathLst>
                <a:path h="1463040" w="4937760">
                  <a:moveTo>
                    <a:pt x="0" y="0"/>
                  </a:moveTo>
                  <a:lnTo>
                    <a:pt x="4937760" y="0"/>
                  </a:lnTo>
                  <a:lnTo>
                    <a:pt x="4937760" y="1463040"/>
                  </a:lnTo>
                  <a:lnTo>
                    <a:pt x="0" y="1463040"/>
                  </a:lnTo>
                  <a:close/>
                </a:path>
              </a:pathLst>
            </a:custGeom>
            <a:blipFill>
              <a:blip r:embed="rId4">
                <a:alphaModFix amt="0"/>
              </a:blip>
              <a:stretch>
                <a:fillRect l="0" t="-15762" r="0" b="-15761"/>
              </a:stretch>
            </a:blipFill>
          </p:spPr>
        </p:sp>
        <p:sp>
          <p:nvSpPr>
            <p:cNvPr name="TextBox 109" id="109"/>
            <p:cNvSpPr txBox="true"/>
            <p:nvPr/>
          </p:nvSpPr>
          <p:spPr>
            <a:xfrm>
              <a:off x="0" y="-57150"/>
              <a:ext cx="4937760" cy="152019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Uji struktur</a:t>
              </a:r>
            </a:p>
          </p:txBody>
        </p:sp>
      </p:grpSp>
      <p:grpSp>
        <p:nvGrpSpPr>
          <p:cNvPr name="Group 110" id="110"/>
          <p:cNvGrpSpPr/>
          <p:nvPr/>
        </p:nvGrpSpPr>
        <p:grpSpPr>
          <a:xfrm rot="0">
            <a:off x="5047488" y="6720840"/>
            <a:ext cx="3703320" cy="1097280"/>
            <a:chOff x="0" y="0"/>
            <a:chExt cx="4937760" cy="1463040"/>
          </a:xfrm>
        </p:grpSpPr>
        <p:sp>
          <p:nvSpPr>
            <p:cNvPr name="Freeform 111" id="111"/>
            <p:cNvSpPr/>
            <p:nvPr/>
          </p:nvSpPr>
          <p:spPr>
            <a:xfrm flipH="false" flipV="false" rot="0">
              <a:off x="0" y="0"/>
              <a:ext cx="4937760" cy="1463040"/>
            </a:xfrm>
            <a:custGeom>
              <a:avLst/>
              <a:gdLst/>
              <a:ahLst/>
              <a:cxnLst/>
              <a:rect r="r" b="b" t="t" l="l"/>
              <a:pathLst>
                <a:path h="1463040" w="4937760">
                  <a:moveTo>
                    <a:pt x="0" y="182880"/>
                  </a:moveTo>
                  <a:cubicBezTo>
                    <a:pt x="0" y="81915"/>
                    <a:pt x="81915" y="0"/>
                    <a:pt x="182880" y="0"/>
                  </a:cubicBezTo>
                  <a:lnTo>
                    <a:pt x="4754880" y="0"/>
                  </a:lnTo>
                  <a:cubicBezTo>
                    <a:pt x="4855845" y="0"/>
                    <a:pt x="4937760" y="81915"/>
                    <a:pt x="4937760" y="182880"/>
                  </a:cubicBezTo>
                  <a:lnTo>
                    <a:pt x="4937760" y="1280160"/>
                  </a:lnTo>
                  <a:cubicBezTo>
                    <a:pt x="4937760" y="1381125"/>
                    <a:pt x="4855845" y="1463040"/>
                    <a:pt x="4754880" y="1463040"/>
                  </a:cubicBezTo>
                  <a:lnTo>
                    <a:pt x="182880" y="1463040"/>
                  </a:lnTo>
                  <a:cubicBezTo>
                    <a:pt x="81915" y="1463040"/>
                    <a:pt x="0" y="1381125"/>
                    <a:pt x="0" y="1280160"/>
                  </a:cubicBezTo>
                  <a:close/>
                </a:path>
              </a:pathLst>
            </a:custGeom>
            <a:solidFill>
              <a:srgbClr val="0B5E6E"/>
            </a:solidFill>
          </p:spPr>
        </p:sp>
      </p:grpSp>
      <p:grpSp>
        <p:nvGrpSpPr>
          <p:cNvPr name="Group 112" id="112"/>
          <p:cNvGrpSpPr/>
          <p:nvPr/>
        </p:nvGrpSpPr>
        <p:grpSpPr>
          <a:xfrm rot="0">
            <a:off x="5047488" y="6720840"/>
            <a:ext cx="3703320" cy="1097280"/>
            <a:chOff x="0" y="0"/>
            <a:chExt cx="4937760" cy="1463040"/>
          </a:xfrm>
        </p:grpSpPr>
        <p:sp>
          <p:nvSpPr>
            <p:cNvPr name="Freeform 113" id="113"/>
            <p:cNvSpPr/>
            <p:nvPr/>
          </p:nvSpPr>
          <p:spPr>
            <a:xfrm flipH="false" flipV="false" rot="0">
              <a:off x="0" y="0"/>
              <a:ext cx="4937760" cy="1463040"/>
            </a:xfrm>
            <a:custGeom>
              <a:avLst/>
              <a:gdLst/>
              <a:ahLst/>
              <a:cxnLst/>
              <a:rect r="r" b="b" t="t" l="l"/>
              <a:pathLst>
                <a:path h="1463040" w="4937760">
                  <a:moveTo>
                    <a:pt x="0" y="0"/>
                  </a:moveTo>
                  <a:lnTo>
                    <a:pt x="4937760" y="0"/>
                  </a:lnTo>
                  <a:lnTo>
                    <a:pt x="4937760" y="1463040"/>
                  </a:lnTo>
                  <a:lnTo>
                    <a:pt x="0" y="1463040"/>
                  </a:lnTo>
                  <a:close/>
                </a:path>
              </a:pathLst>
            </a:custGeom>
            <a:blipFill>
              <a:blip r:embed="rId4">
                <a:alphaModFix amt="0"/>
              </a:blip>
              <a:stretch>
                <a:fillRect l="0" t="-15762" r="0" b="-15761"/>
              </a:stretch>
            </a:blipFill>
          </p:spPr>
        </p:sp>
        <p:sp>
          <p:nvSpPr>
            <p:cNvPr name="TextBox 114" id="114"/>
            <p:cNvSpPr txBox="true"/>
            <p:nvPr/>
          </p:nvSpPr>
          <p:spPr>
            <a:xfrm>
              <a:off x="0" y="-57150"/>
              <a:ext cx="4937760" cy="152019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Uji perilaku</a:t>
              </a:r>
            </a:p>
          </p:txBody>
        </p:sp>
      </p:grpSp>
      <p:grpSp>
        <p:nvGrpSpPr>
          <p:cNvPr name="Group 115" id="115"/>
          <p:cNvGrpSpPr/>
          <p:nvPr/>
        </p:nvGrpSpPr>
        <p:grpSpPr>
          <a:xfrm rot="0">
            <a:off x="9272016" y="6720840"/>
            <a:ext cx="3703320" cy="1097280"/>
            <a:chOff x="0" y="0"/>
            <a:chExt cx="4937760" cy="1463040"/>
          </a:xfrm>
        </p:grpSpPr>
        <p:sp>
          <p:nvSpPr>
            <p:cNvPr name="Freeform 116" id="116"/>
            <p:cNvSpPr/>
            <p:nvPr/>
          </p:nvSpPr>
          <p:spPr>
            <a:xfrm flipH="false" flipV="false" rot="0">
              <a:off x="0" y="0"/>
              <a:ext cx="4937760" cy="1463040"/>
            </a:xfrm>
            <a:custGeom>
              <a:avLst/>
              <a:gdLst/>
              <a:ahLst/>
              <a:cxnLst/>
              <a:rect r="r" b="b" t="t" l="l"/>
              <a:pathLst>
                <a:path h="1463040" w="4937760">
                  <a:moveTo>
                    <a:pt x="0" y="182880"/>
                  </a:moveTo>
                  <a:cubicBezTo>
                    <a:pt x="0" y="81915"/>
                    <a:pt x="81915" y="0"/>
                    <a:pt x="182880" y="0"/>
                  </a:cubicBezTo>
                  <a:lnTo>
                    <a:pt x="4754880" y="0"/>
                  </a:lnTo>
                  <a:cubicBezTo>
                    <a:pt x="4855845" y="0"/>
                    <a:pt x="4937760" y="81915"/>
                    <a:pt x="4937760" y="182880"/>
                  </a:cubicBezTo>
                  <a:lnTo>
                    <a:pt x="4937760" y="1280160"/>
                  </a:lnTo>
                  <a:cubicBezTo>
                    <a:pt x="4937760" y="1381125"/>
                    <a:pt x="4855845" y="1463040"/>
                    <a:pt x="4754880" y="1463040"/>
                  </a:cubicBezTo>
                  <a:lnTo>
                    <a:pt x="182880" y="1463040"/>
                  </a:lnTo>
                  <a:cubicBezTo>
                    <a:pt x="81915" y="1463040"/>
                    <a:pt x="0" y="1381125"/>
                    <a:pt x="0" y="1280160"/>
                  </a:cubicBezTo>
                  <a:close/>
                </a:path>
              </a:pathLst>
            </a:custGeom>
            <a:solidFill>
              <a:srgbClr val="FFF1BF"/>
            </a:solidFill>
          </p:spPr>
        </p:sp>
      </p:grpSp>
      <p:grpSp>
        <p:nvGrpSpPr>
          <p:cNvPr name="Group 117" id="117"/>
          <p:cNvGrpSpPr/>
          <p:nvPr/>
        </p:nvGrpSpPr>
        <p:grpSpPr>
          <a:xfrm rot="0">
            <a:off x="9272016" y="6720840"/>
            <a:ext cx="3703320" cy="1097280"/>
            <a:chOff x="0" y="0"/>
            <a:chExt cx="4937760" cy="1463040"/>
          </a:xfrm>
        </p:grpSpPr>
        <p:sp>
          <p:nvSpPr>
            <p:cNvPr name="Freeform 118" id="118"/>
            <p:cNvSpPr/>
            <p:nvPr/>
          </p:nvSpPr>
          <p:spPr>
            <a:xfrm flipH="false" flipV="false" rot="0">
              <a:off x="0" y="0"/>
              <a:ext cx="4937760" cy="1463040"/>
            </a:xfrm>
            <a:custGeom>
              <a:avLst/>
              <a:gdLst/>
              <a:ahLst/>
              <a:cxnLst/>
              <a:rect r="r" b="b" t="t" l="l"/>
              <a:pathLst>
                <a:path h="1463040" w="4937760">
                  <a:moveTo>
                    <a:pt x="0" y="0"/>
                  </a:moveTo>
                  <a:lnTo>
                    <a:pt x="4937760" y="0"/>
                  </a:lnTo>
                  <a:lnTo>
                    <a:pt x="4937760" y="1463040"/>
                  </a:lnTo>
                  <a:lnTo>
                    <a:pt x="0" y="1463040"/>
                  </a:lnTo>
                  <a:close/>
                </a:path>
              </a:pathLst>
            </a:custGeom>
            <a:blipFill>
              <a:blip r:embed="rId4">
                <a:alphaModFix amt="0"/>
              </a:blip>
              <a:stretch>
                <a:fillRect l="0" t="-15762" r="0" b="-15761"/>
              </a:stretch>
            </a:blipFill>
          </p:spPr>
        </p:sp>
        <p:sp>
          <p:nvSpPr>
            <p:cNvPr name="TextBox 119" id="119"/>
            <p:cNvSpPr txBox="true"/>
            <p:nvPr/>
          </p:nvSpPr>
          <p:spPr>
            <a:xfrm>
              <a:off x="0" y="-57150"/>
              <a:ext cx="4937760" cy="1520190"/>
            </a:xfrm>
            <a:prstGeom prst="rect">
              <a:avLst/>
            </a:prstGeom>
          </p:spPr>
          <p:txBody>
            <a:bodyPr anchor="ctr" rtlCol="false" tIns="0" lIns="0" bIns="0" rIns="0"/>
            <a:lstStyle/>
            <a:p>
              <a:pPr algn="ctr">
                <a:lnSpc>
                  <a:spcPts val="2700"/>
                </a:lnSpc>
              </a:pPr>
              <a:r>
                <a:rPr lang="en-US" sz="2250" b="true">
                  <a:solidFill>
                    <a:srgbClr val="14313B"/>
                  </a:solidFill>
                  <a:latin typeface="Calibri (MS) Bold"/>
                  <a:ea typeface="Calibri (MS) Bold"/>
                  <a:cs typeface="Calibri (MS) Bold"/>
                  <a:sym typeface="Calibri (MS) Bold"/>
                </a:rPr>
                <a:t>Kalibrasi</a:t>
              </a:r>
            </a:p>
          </p:txBody>
        </p:sp>
      </p:grpSp>
      <p:grpSp>
        <p:nvGrpSpPr>
          <p:cNvPr name="Group 120" id="120"/>
          <p:cNvGrpSpPr/>
          <p:nvPr/>
        </p:nvGrpSpPr>
        <p:grpSpPr>
          <a:xfrm rot="0">
            <a:off x="10437876" y="6560820"/>
            <a:ext cx="1371600" cy="384048"/>
            <a:chOff x="0" y="0"/>
            <a:chExt cx="1828800" cy="512064"/>
          </a:xfrm>
        </p:grpSpPr>
        <p:grpSp>
          <p:nvGrpSpPr>
            <p:cNvPr name="Group 121" id="121"/>
            <p:cNvGrpSpPr/>
            <p:nvPr/>
          </p:nvGrpSpPr>
          <p:grpSpPr>
            <a:xfrm rot="0">
              <a:off x="0" y="0"/>
              <a:ext cx="1828800" cy="512064"/>
              <a:chOff x="0" y="0"/>
              <a:chExt cx="1828800" cy="512064"/>
            </a:xfrm>
          </p:grpSpPr>
          <p:sp>
            <p:nvSpPr>
              <p:cNvPr name="Freeform 122" id="122"/>
              <p:cNvSpPr/>
              <p:nvPr/>
            </p:nvSpPr>
            <p:spPr>
              <a:xfrm flipH="false" flipV="false" rot="0">
                <a:off x="0" y="0"/>
                <a:ext cx="1828800" cy="512064"/>
              </a:xfrm>
              <a:custGeom>
                <a:avLst/>
                <a:gdLst/>
                <a:ahLst/>
                <a:cxnLst/>
                <a:rect r="r" b="b" t="t" l="l"/>
                <a:pathLst>
                  <a:path h="512064" w="1828800">
                    <a:moveTo>
                      <a:pt x="0" y="256032"/>
                    </a:moveTo>
                    <a:cubicBezTo>
                      <a:pt x="0" y="114681"/>
                      <a:pt x="114681" y="0"/>
                      <a:pt x="256032" y="0"/>
                    </a:cubicBezTo>
                    <a:lnTo>
                      <a:pt x="1572768" y="0"/>
                    </a:lnTo>
                    <a:cubicBezTo>
                      <a:pt x="1714119" y="0"/>
                      <a:pt x="1828800" y="114681"/>
                      <a:pt x="1828800" y="256032"/>
                    </a:cubicBezTo>
                    <a:cubicBezTo>
                      <a:pt x="1828800" y="397383"/>
                      <a:pt x="1714119" y="512064"/>
                      <a:pt x="1572768" y="512064"/>
                    </a:cubicBezTo>
                    <a:lnTo>
                      <a:pt x="256032" y="512064"/>
                    </a:lnTo>
                    <a:cubicBezTo>
                      <a:pt x="114681" y="512064"/>
                      <a:pt x="0" y="397383"/>
                      <a:pt x="0" y="256032"/>
                    </a:cubicBezTo>
                    <a:close/>
                  </a:path>
                </a:pathLst>
              </a:custGeom>
              <a:solidFill>
                <a:srgbClr val="FFD23B"/>
              </a:solidFill>
            </p:spPr>
          </p:sp>
        </p:grpSp>
        <p:grpSp>
          <p:nvGrpSpPr>
            <p:cNvPr name="Group 123" id="123"/>
            <p:cNvGrpSpPr/>
            <p:nvPr/>
          </p:nvGrpSpPr>
          <p:grpSpPr>
            <a:xfrm rot="0">
              <a:off x="0" y="0"/>
              <a:ext cx="1828800" cy="512064"/>
              <a:chOff x="0" y="0"/>
              <a:chExt cx="1828800" cy="512064"/>
            </a:xfrm>
          </p:grpSpPr>
          <p:sp>
            <p:nvSpPr>
              <p:cNvPr name="Freeform 124" id="124"/>
              <p:cNvSpPr/>
              <p:nvPr/>
            </p:nvSpPr>
            <p:spPr>
              <a:xfrm flipH="false" flipV="false" rot="0">
                <a:off x="0" y="0"/>
                <a:ext cx="1828800" cy="512064"/>
              </a:xfrm>
              <a:custGeom>
                <a:avLst/>
                <a:gdLst/>
                <a:ahLst/>
                <a:cxnLst/>
                <a:rect r="r" b="b" t="t" l="l"/>
                <a:pathLst>
                  <a:path h="512064" w="1828800">
                    <a:moveTo>
                      <a:pt x="0" y="0"/>
                    </a:moveTo>
                    <a:lnTo>
                      <a:pt x="1828800" y="0"/>
                    </a:lnTo>
                    <a:lnTo>
                      <a:pt x="1828800" y="512064"/>
                    </a:lnTo>
                    <a:lnTo>
                      <a:pt x="0" y="512064"/>
                    </a:lnTo>
                    <a:close/>
                  </a:path>
                </a:pathLst>
              </a:custGeom>
              <a:blipFill>
                <a:blip r:embed="rId4">
                  <a:alphaModFix amt="0"/>
                </a:blip>
                <a:stretch>
                  <a:fillRect l="0" t="-19589" r="0" b="-19589"/>
                </a:stretch>
              </a:blipFill>
            </p:spPr>
          </p:sp>
          <p:sp>
            <p:nvSpPr>
              <p:cNvPr name="TextBox 125" id="125"/>
              <p:cNvSpPr txBox="true"/>
              <p:nvPr/>
            </p:nvSpPr>
            <p:spPr>
              <a:xfrm>
                <a:off x="0" y="-38100"/>
                <a:ext cx="1828800" cy="550164"/>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Perluasan</a:t>
                </a:r>
              </a:p>
            </p:txBody>
          </p:sp>
        </p:grpSp>
      </p:grpSp>
      <p:grpSp>
        <p:nvGrpSpPr>
          <p:cNvPr name="Group 126" id="126"/>
          <p:cNvGrpSpPr/>
          <p:nvPr/>
        </p:nvGrpSpPr>
        <p:grpSpPr>
          <a:xfrm rot="0">
            <a:off x="13496544" y="6720840"/>
            <a:ext cx="3703320" cy="1097280"/>
            <a:chOff x="0" y="0"/>
            <a:chExt cx="4937760" cy="1463040"/>
          </a:xfrm>
        </p:grpSpPr>
        <p:sp>
          <p:nvSpPr>
            <p:cNvPr name="Freeform 127" id="127"/>
            <p:cNvSpPr/>
            <p:nvPr/>
          </p:nvSpPr>
          <p:spPr>
            <a:xfrm flipH="false" flipV="false" rot="0">
              <a:off x="0" y="0"/>
              <a:ext cx="4937760" cy="1463040"/>
            </a:xfrm>
            <a:custGeom>
              <a:avLst/>
              <a:gdLst/>
              <a:ahLst/>
              <a:cxnLst/>
              <a:rect r="r" b="b" t="t" l="l"/>
              <a:pathLst>
                <a:path h="1463040" w="4937760">
                  <a:moveTo>
                    <a:pt x="0" y="182880"/>
                  </a:moveTo>
                  <a:cubicBezTo>
                    <a:pt x="0" y="81915"/>
                    <a:pt x="81915" y="0"/>
                    <a:pt x="182880" y="0"/>
                  </a:cubicBezTo>
                  <a:lnTo>
                    <a:pt x="4754880" y="0"/>
                  </a:lnTo>
                  <a:cubicBezTo>
                    <a:pt x="4855845" y="0"/>
                    <a:pt x="4937760" y="81915"/>
                    <a:pt x="4937760" y="182880"/>
                  </a:cubicBezTo>
                  <a:lnTo>
                    <a:pt x="4937760" y="1280160"/>
                  </a:lnTo>
                  <a:cubicBezTo>
                    <a:pt x="4937760" y="1381125"/>
                    <a:pt x="4855845" y="1463040"/>
                    <a:pt x="4754880" y="1463040"/>
                  </a:cubicBezTo>
                  <a:lnTo>
                    <a:pt x="182880" y="1463040"/>
                  </a:lnTo>
                  <a:cubicBezTo>
                    <a:pt x="81915" y="1463040"/>
                    <a:pt x="0" y="1381125"/>
                    <a:pt x="0" y="1280160"/>
                  </a:cubicBezTo>
                  <a:close/>
                </a:path>
              </a:pathLst>
            </a:custGeom>
            <a:solidFill>
              <a:srgbClr val="0B5E6E"/>
            </a:solidFill>
          </p:spPr>
        </p:sp>
      </p:grpSp>
      <p:grpSp>
        <p:nvGrpSpPr>
          <p:cNvPr name="Group 128" id="128"/>
          <p:cNvGrpSpPr/>
          <p:nvPr/>
        </p:nvGrpSpPr>
        <p:grpSpPr>
          <a:xfrm rot="0">
            <a:off x="13496544" y="6720840"/>
            <a:ext cx="3703320" cy="1097280"/>
            <a:chOff x="0" y="0"/>
            <a:chExt cx="4937760" cy="1463040"/>
          </a:xfrm>
        </p:grpSpPr>
        <p:sp>
          <p:nvSpPr>
            <p:cNvPr name="Freeform 129" id="129"/>
            <p:cNvSpPr/>
            <p:nvPr/>
          </p:nvSpPr>
          <p:spPr>
            <a:xfrm flipH="false" flipV="false" rot="0">
              <a:off x="0" y="0"/>
              <a:ext cx="4937760" cy="1463040"/>
            </a:xfrm>
            <a:custGeom>
              <a:avLst/>
              <a:gdLst/>
              <a:ahLst/>
              <a:cxnLst/>
              <a:rect r="r" b="b" t="t" l="l"/>
              <a:pathLst>
                <a:path h="1463040" w="4937760">
                  <a:moveTo>
                    <a:pt x="0" y="0"/>
                  </a:moveTo>
                  <a:lnTo>
                    <a:pt x="4937760" y="0"/>
                  </a:lnTo>
                  <a:lnTo>
                    <a:pt x="4937760" y="1463040"/>
                  </a:lnTo>
                  <a:lnTo>
                    <a:pt x="0" y="1463040"/>
                  </a:lnTo>
                  <a:close/>
                </a:path>
              </a:pathLst>
            </a:custGeom>
            <a:blipFill>
              <a:blip r:embed="rId4">
                <a:alphaModFix amt="0"/>
              </a:blip>
              <a:stretch>
                <a:fillRect l="0" t="-15762" r="0" b="-15761"/>
              </a:stretch>
            </a:blipFill>
          </p:spPr>
        </p:sp>
        <p:sp>
          <p:nvSpPr>
            <p:cNvPr name="TextBox 130" id="130"/>
            <p:cNvSpPr txBox="true"/>
            <p:nvPr/>
          </p:nvSpPr>
          <p:spPr>
            <a:xfrm>
              <a:off x="0" y="-57150"/>
              <a:ext cx="4937760" cy="152019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Analisis sensitivitas</a:t>
              </a:r>
            </a:p>
          </p:txBody>
        </p:sp>
      </p:grpSp>
      <p:sp>
        <p:nvSpPr>
          <p:cNvPr name="TextBox 131" id="131"/>
          <p:cNvSpPr txBox="true"/>
          <p:nvPr/>
        </p:nvSpPr>
        <p:spPr>
          <a:xfrm rot="0">
            <a:off x="822960" y="8602980"/>
            <a:ext cx="16637508" cy="30480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Tahap 2 → Tujuan 1  ·  Tahap 1, 3, 4, 5 → Tujuan 2 (termasuk simulasi skenario)  ·  Tahap 6 → Tujuan 3.  Alat: GEE, Vensim PLE, Python (PySD), Excel/Sheets, SDEverywhere, Next.js</a:t>
            </a:r>
          </a:p>
        </p:txBody>
      </p:sp>
      <p:sp>
        <p:nvSpPr>
          <p:cNvPr name="TextBox 132" id="132"/>
          <p:cNvSpPr txBox="true"/>
          <p:nvPr/>
        </p:nvSpPr>
        <p:spPr>
          <a:xfrm rot="0">
            <a:off x="16550640" y="9718548"/>
            <a:ext cx="818388" cy="2667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14</a:t>
            </a:r>
          </a:p>
        </p:txBody>
      </p:sp>
      <p:sp>
        <p:nvSpPr>
          <p:cNvPr name="AutoShape 133" id="133"/>
          <p:cNvSpPr/>
          <p:nvPr/>
        </p:nvSpPr>
        <p:spPr>
          <a:xfrm>
            <a:off x="3360420" y="4080510"/>
            <a:ext cx="326005" cy="98495"/>
          </a:xfrm>
          <a:prstGeom prst="line">
            <a:avLst/>
          </a:prstGeom>
          <a:ln cap="flat" w="38100">
            <a:solidFill>
              <a:srgbClr val="39C0D3"/>
            </a:solidFill>
            <a:prstDash val="solid"/>
            <a:headEnd type="none" len="sm" w="sm"/>
            <a:tailEnd type="triangle" len="med" w="lg"/>
          </a:ln>
        </p:spPr>
        <p:txBody>
          <a:bodyPr/>
          <a:p/>
        </p:txBody>
      </p:sp>
      <p:grpSp>
        <p:nvGrpSpPr>
          <p:cNvPr name="Group 134" id="134"/>
          <p:cNvGrpSpPr/>
          <p:nvPr/>
        </p:nvGrpSpPr>
        <p:grpSpPr>
          <a:xfrm rot="0">
            <a:off x="15512796" y="2194560"/>
            <a:ext cx="1371600" cy="411480"/>
            <a:chOff x="0" y="0"/>
            <a:chExt cx="1828800" cy="548640"/>
          </a:xfrm>
        </p:grpSpPr>
        <p:grpSp>
          <p:nvGrpSpPr>
            <p:cNvPr name="Group 135" id="135"/>
            <p:cNvGrpSpPr/>
            <p:nvPr/>
          </p:nvGrpSpPr>
          <p:grpSpPr>
            <a:xfrm rot="0">
              <a:off x="0" y="0"/>
              <a:ext cx="1828800" cy="548640"/>
              <a:chOff x="0" y="0"/>
              <a:chExt cx="1828800" cy="548640"/>
            </a:xfrm>
          </p:grpSpPr>
          <p:sp>
            <p:nvSpPr>
              <p:cNvPr name="Freeform 136" id="136"/>
              <p:cNvSpPr/>
              <p:nvPr/>
            </p:nvSpPr>
            <p:spPr>
              <a:xfrm flipH="false" flipV="false" rot="0">
                <a:off x="0" y="0"/>
                <a:ext cx="1828800" cy="548640"/>
              </a:xfrm>
              <a:custGeom>
                <a:avLst/>
                <a:gdLst/>
                <a:ahLst/>
                <a:cxnLst/>
                <a:rect r="r" b="b" t="t" l="l"/>
                <a:pathLst>
                  <a:path h="548640" w="1828800">
                    <a:moveTo>
                      <a:pt x="0" y="274320"/>
                    </a:moveTo>
                    <a:cubicBezTo>
                      <a:pt x="0" y="122809"/>
                      <a:pt x="122809" y="0"/>
                      <a:pt x="274320" y="0"/>
                    </a:cubicBezTo>
                    <a:lnTo>
                      <a:pt x="1554480" y="0"/>
                    </a:lnTo>
                    <a:cubicBezTo>
                      <a:pt x="1705991" y="0"/>
                      <a:pt x="1828800" y="122809"/>
                      <a:pt x="1828800" y="274320"/>
                    </a:cubicBezTo>
                    <a:cubicBezTo>
                      <a:pt x="1828800" y="425831"/>
                      <a:pt x="1705991" y="548640"/>
                      <a:pt x="1554480" y="548640"/>
                    </a:cubicBezTo>
                    <a:lnTo>
                      <a:pt x="274320" y="548640"/>
                    </a:lnTo>
                    <a:cubicBezTo>
                      <a:pt x="122809" y="548640"/>
                      <a:pt x="0" y="425831"/>
                      <a:pt x="0" y="274320"/>
                    </a:cubicBezTo>
                    <a:close/>
                  </a:path>
                </a:pathLst>
              </a:custGeom>
              <a:solidFill>
                <a:srgbClr val="FFD23B"/>
              </a:solidFill>
            </p:spPr>
          </p:sp>
        </p:grpSp>
        <p:grpSp>
          <p:nvGrpSpPr>
            <p:cNvPr name="Group 137" id="137"/>
            <p:cNvGrpSpPr/>
            <p:nvPr/>
          </p:nvGrpSpPr>
          <p:grpSpPr>
            <a:xfrm rot="0">
              <a:off x="236673" y="71002"/>
              <a:ext cx="1355454" cy="406636"/>
              <a:chOff x="0" y="0"/>
              <a:chExt cx="1828800" cy="548640"/>
            </a:xfrm>
          </p:grpSpPr>
          <p:sp>
            <p:nvSpPr>
              <p:cNvPr name="Freeform 138" id="138"/>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4">
                  <a:alphaModFix amt="0"/>
                </a:blip>
                <a:stretch>
                  <a:fillRect l="0" t="-14950" r="0" b="-14950"/>
                </a:stretch>
              </a:blipFill>
            </p:spPr>
          </p:sp>
          <p:sp>
            <p:nvSpPr>
              <p:cNvPr name="TextBox 139" id="139"/>
              <p:cNvSpPr txBox="true"/>
              <p:nvPr/>
            </p:nvSpPr>
            <p:spPr>
              <a:xfrm>
                <a:off x="0" y="-38100"/>
                <a:ext cx="1828800" cy="586740"/>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Perluasan</a:t>
                </a:r>
              </a:p>
            </p:txBody>
          </p:sp>
        </p:grpSp>
      </p:grpSp>
      <p:sp>
        <p:nvSpPr>
          <p:cNvPr name="AutoShape 140" id="140"/>
          <p:cNvSpPr/>
          <p:nvPr/>
        </p:nvSpPr>
        <p:spPr>
          <a:xfrm>
            <a:off x="8750808" y="7269480"/>
            <a:ext cx="624913" cy="23811"/>
          </a:xfrm>
          <a:prstGeom prst="line">
            <a:avLst/>
          </a:prstGeom>
          <a:ln cap="flat" w="38100">
            <a:solidFill>
              <a:srgbClr val="39C0D3"/>
            </a:solidFill>
            <a:prstDash val="solid"/>
            <a:headEnd type="none" len="sm" w="sm"/>
            <a:tailEnd type="triangle" len="med" w="lg"/>
          </a:ln>
        </p:spPr>
        <p:txBody>
          <a:bodyPr/>
          <a:p/>
        </p:txBody>
      </p:sp>
      <p:sp>
        <p:nvSpPr>
          <p:cNvPr name="AutoShape 141" id="141"/>
          <p:cNvSpPr/>
          <p:nvPr/>
        </p:nvSpPr>
        <p:spPr>
          <a:xfrm>
            <a:off x="9000439" y="4080510"/>
            <a:ext cx="219975" cy="25909"/>
          </a:xfrm>
          <a:prstGeom prst="line">
            <a:avLst/>
          </a:prstGeom>
          <a:ln cap="flat" w="38100">
            <a:solidFill>
              <a:srgbClr val="39C0D3"/>
            </a:solidFill>
            <a:prstDash val="solid"/>
            <a:headEnd type="none" len="sm" w="sm"/>
            <a:tailEnd type="triangle" len="med" w="lg"/>
          </a:ln>
        </p:spPr>
        <p:txBody>
          <a:bodyPr/>
          <a:p/>
        </p:txBody>
      </p:sp>
      <p:sp>
        <p:nvSpPr>
          <p:cNvPr name="AutoShape 142" id="142"/>
          <p:cNvSpPr/>
          <p:nvPr/>
        </p:nvSpPr>
        <p:spPr>
          <a:xfrm>
            <a:off x="11820449" y="4080510"/>
            <a:ext cx="318026" cy="25909"/>
          </a:xfrm>
          <a:prstGeom prst="line">
            <a:avLst/>
          </a:prstGeom>
          <a:ln cap="flat" w="38100">
            <a:solidFill>
              <a:srgbClr val="39C0D3"/>
            </a:solidFill>
            <a:prstDash val="solid"/>
            <a:headEnd type="none" len="sm" w="sm"/>
            <a:tailEnd type="triangle" len="med" w="lg"/>
          </a:ln>
        </p:spPr>
        <p:txBody>
          <a:bodyPr/>
          <a:p/>
        </p:txBody>
      </p:sp>
      <p:sp>
        <p:nvSpPr>
          <p:cNvPr name="AutoShape 143" id="143"/>
          <p:cNvSpPr/>
          <p:nvPr/>
        </p:nvSpPr>
        <p:spPr>
          <a:xfrm flipV="true">
            <a:off x="14640458" y="4061271"/>
            <a:ext cx="311492" cy="19239"/>
          </a:xfrm>
          <a:prstGeom prst="line">
            <a:avLst/>
          </a:prstGeom>
          <a:ln cap="flat" w="38100">
            <a:solidFill>
              <a:srgbClr val="39C0D3"/>
            </a:solidFill>
            <a:prstDash val="solid"/>
            <a:headEnd type="none" len="sm" w="sm"/>
            <a:tailEnd type="triangle" len="med" w="lg"/>
          </a:ln>
        </p:spPr>
        <p:txBody>
          <a:bodyPr/>
          <a:p/>
        </p:txBody>
      </p:sp>
      <p:sp>
        <p:nvSpPr>
          <p:cNvPr name="AutoShape 144" id="144"/>
          <p:cNvSpPr/>
          <p:nvPr/>
        </p:nvSpPr>
        <p:spPr>
          <a:xfrm>
            <a:off x="4526280" y="7269480"/>
            <a:ext cx="521208" cy="0"/>
          </a:xfrm>
          <a:prstGeom prst="line">
            <a:avLst/>
          </a:prstGeom>
          <a:ln cap="flat" w="38100">
            <a:solidFill>
              <a:srgbClr val="39C0D3"/>
            </a:solidFill>
            <a:prstDash val="solid"/>
            <a:headEnd type="none" len="sm" w="sm"/>
            <a:tailEnd type="triangle" len="med" w="lg"/>
          </a:ln>
        </p:spPr>
        <p:txBody>
          <a:bodyPr/>
          <a:p/>
        </p:txBody>
      </p:sp>
      <p:sp>
        <p:nvSpPr>
          <p:cNvPr name="AutoShape 145" id="145"/>
          <p:cNvSpPr/>
          <p:nvPr/>
        </p:nvSpPr>
        <p:spPr>
          <a:xfrm flipV="true">
            <a:off x="12975336" y="7249641"/>
            <a:ext cx="521208" cy="19839"/>
          </a:xfrm>
          <a:prstGeom prst="line">
            <a:avLst/>
          </a:prstGeom>
          <a:ln cap="flat" w="38100">
            <a:solidFill>
              <a:srgbClr val="39C0D3"/>
            </a:solidFill>
            <a:prstDash val="solid"/>
            <a:headEnd type="none" len="sm" w="sm"/>
            <a:tailEnd type="triangle" len="med" w="lg"/>
          </a:ln>
        </p:spPr>
        <p:txBody>
          <a:bodyPr/>
          <a:p/>
        </p:txBody>
      </p:sp>
      <p:sp>
        <p:nvSpPr>
          <p:cNvPr id="146" name="Rounded Rectangle 145"/>
          <p:cNvSpPr/>
          <p:nvPr/>
        </p:nvSpPr>
        <p:spPr>
          <a:xfrm>
            <a:off x="1234440" y="5285232"/>
            <a:ext cx="1709928" cy="365760"/>
          </a:xfrm>
          <a:prstGeom prst="roundRect">
            <a:avLst>
              <a:gd name="adj" fmla="val 50000"/>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 Tujuan 2</a:t>
            </a:r>
          </a:p>
        </p:txBody>
      </p:sp>
      <p:sp>
        <p:nvSpPr>
          <p:cNvPr id="147" name="Rounded Rectangle 146"/>
          <p:cNvSpPr/>
          <p:nvPr/>
        </p:nvSpPr>
        <p:spPr>
          <a:xfrm>
            <a:off x="4050791" y="5285232"/>
            <a:ext cx="1709928" cy="365760"/>
          </a:xfrm>
          <a:prstGeom prst="roundRect">
            <a:avLst>
              <a:gd name="adj" fmla="val 50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 Tujuan 1</a:t>
            </a:r>
          </a:p>
        </p:txBody>
      </p:sp>
      <p:sp>
        <p:nvSpPr>
          <p:cNvPr id="148" name="Rounded Rectangle 147"/>
          <p:cNvSpPr/>
          <p:nvPr/>
        </p:nvSpPr>
        <p:spPr>
          <a:xfrm>
            <a:off x="6876288" y="5285232"/>
            <a:ext cx="1709928" cy="365760"/>
          </a:xfrm>
          <a:prstGeom prst="roundRect">
            <a:avLst>
              <a:gd name="adj" fmla="val 50000"/>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 Tujuan 2</a:t>
            </a:r>
          </a:p>
        </p:txBody>
      </p:sp>
      <p:sp>
        <p:nvSpPr>
          <p:cNvPr id="149" name="Rounded Rectangle 148"/>
          <p:cNvSpPr/>
          <p:nvPr/>
        </p:nvSpPr>
        <p:spPr>
          <a:xfrm>
            <a:off x="9692640" y="5285232"/>
            <a:ext cx="1709928" cy="365760"/>
          </a:xfrm>
          <a:prstGeom prst="roundRect">
            <a:avLst>
              <a:gd name="adj" fmla="val 50000"/>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 Tujuan 2</a:t>
            </a:r>
          </a:p>
        </p:txBody>
      </p:sp>
      <p:sp>
        <p:nvSpPr>
          <p:cNvPr id="150" name="Rounded Rectangle 149"/>
          <p:cNvSpPr/>
          <p:nvPr/>
        </p:nvSpPr>
        <p:spPr>
          <a:xfrm>
            <a:off x="12518136" y="5285232"/>
            <a:ext cx="1709928" cy="365760"/>
          </a:xfrm>
          <a:prstGeom prst="roundRect">
            <a:avLst>
              <a:gd name="adj" fmla="val 50000"/>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 Tujuan 2</a:t>
            </a:r>
          </a:p>
        </p:txBody>
      </p:sp>
      <p:sp>
        <p:nvSpPr>
          <p:cNvPr id="151" name="Rounded Rectangle 150"/>
          <p:cNvSpPr/>
          <p:nvPr/>
        </p:nvSpPr>
        <p:spPr>
          <a:xfrm>
            <a:off x="15334488" y="5285232"/>
            <a:ext cx="1709928" cy="365760"/>
          </a:xfrm>
          <a:prstGeom prst="roundRect">
            <a:avLst>
              <a:gd name="adj" fmla="val 50000"/>
            </a:avLst>
          </a:prstGeom>
          <a:solidFill>
            <a:srgbClr val="FFD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14313B"/>
                </a:solidFill>
                <a:latin typeface="Calibri (MS) Bold"/>
              </a:rPr>
              <a:t>→ Tujuan 3</a:t>
            </a:r>
          </a:p>
        </p:txBody>
      </p:sp>
      <p:sp>
        <p:nvSpPr>
          <p:cNvPr id="152"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grpSp>
        <p:nvGrpSpPr>
          <p:cNvPr name="Group 7" id="7"/>
          <p:cNvGrpSpPr/>
          <p:nvPr/>
        </p:nvGrpSpPr>
        <p:grpSpPr>
          <a:xfrm rot="0">
            <a:off x="822960" y="274320"/>
            <a:ext cx="2040941" cy="411480"/>
            <a:chOff x="0" y="0"/>
            <a:chExt cx="2721254" cy="548640"/>
          </a:xfrm>
        </p:grpSpPr>
        <p:sp>
          <p:nvSpPr>
            <p:cNvPr name="Freeform 8" id="8"/>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9" id="9"/>
          <p:cNvGrpSpPr/>
          <p:nvPr/>
        </p:nvGrpSpPr>
        <p:grpSpPr>
          <a:xfrm rot="0">
            <a:off x="822960" y="274320"/>
            <a:ext cx="2040941" cy="411480"/>
            <a:chOff x="0" y="0"/>
            <a:chExt cx="2721254" cy="548640"/>
          </a:xfrm>
        </p:grpSpPr>
        <p:sp>
          <p:nvSpPr>
            <p:cNvPr name="Freeform 10" id="10"/>
            <p:cNvSpPr/>
            <p:nvPr/>
          </p:nvSpPr>
          <p:spPr>
            <a:xfrm flipH="false" flipV="false" rot="0">
              <a:off x="0" y="0"/>
              <a:ext cx="2721254" cy="548640"/>
            </a:xfrm>
            <a:custGeom>
              <a:avLst/>
              <a:gdLst/>
              <a:ahLst/>
              <a:cxnLst/>
              <a:rect r="r" b="b" t="t" l="l"/>
              <a:pathLst>
                <a:path h="548640" w="2721254">
                  <a:moveTo>
                    <a:pt x="0" y="0"/>
                  </a:moveTo>
                  <a:lnTo>
                    <a:pt x="2721254" y="0"/>
                  </a:lnTo>
                  <a:lnTo>
                    <a:pt x="2721254" y="548640"/>
                  </a:lnTo>
                  <a:lnTo>
                    <a:pt x="0" y="548640"/>
                  </a:lnTo>
                  <a:close/>
                </a:path>
              </a:pathLst>
            </a:custGeom>
            <a:blipFill>
              <a:blip r:embed="rId4">
                <a:alphaModFix amt="0"/>
              </a:blip>
              <a:stretch>
                <a:fillRect l="0" t="-46645" r="0" b="-46645"/>
              </a:stretch>
            </a:blipFill>
          </p:spPr>
          <p:txBody>
            <a:bodyPr/>
            <a:p/>
          </p:txBody>
        </p:sp>
        <p:sp>
          <p:nvSpPr>
            <p:cNvPr name="TextBox 11" id="11"/>
            <p:cNvSpPr txBox="true"/>
            <p:nvPr/>
          </p:nvSpPr>
          <p:spPr>
            <a:xfrm>
              <a:off x="0" y="-19050"/>
              <a:ext cx="2721254"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2" id="12"/>
          <p:cNvGrpSpPr/>
          <p:nvPr/>
        </p:nvGrpSpPr>
        <p:grpSpPr>
          <a:xfrm rot="0">
            <a:off x="2973629" y="274320"/>
            <a:ext cx="2378354" cy="411480"/>
            <a:chOff x="0" y="0"/>
            <a:chExt cx="3171139" cy="548640"/>
          </a:xfrm>
        </p:grpSpPr>
        <p:sp>
          <p:nvSpPr>
            <p:cNvPr name="Freeform 13" id="13"/>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4" id="14"/>
          <p:cNvGrpSpPr/>
          <p:nvPr/>
        </p:nvGrpSpPr>
        <p:grpSpPr>
          <a:xfrm rot="0">
            <a:off x="2973629" y="274320"/>
            <a:ext cx="2378354" cy="411480"/>
            <a:chOff x="0" y="0"/>
            <a:chExt cx="3171139" cy="548640"/>
          </a:xfrm>
        </p:grpSpPr>
        <p:sp>
          <p:nvSpPr>
            <p:cNvPr name="Freeform 15" id="15"/>
            <p:cNvSpPr/>
            <p:nvPr/>
          </p:nvSpPr>
          <p:spPr>
            <a:xfrm flipH="false" flipV="false" rot="0">
              <a:off x="0" y="0"/>
              <a:ext cx="3171140" cy="548640"/>
            </a:xfrm>
            <a:custGeom>
              <a:avLst/>
              <a:gdLst/>
              <a:ahLst/>
              <a:cxnLst/>
              <a:rect r="r" b="b" t="t" l="l"/>
              <a:pathLst>
                <a:path h="548640" w="3171140">
                  <a:moveTo>
                    <a:pt x="0" y="0"/>
                  </a:moveTo>
                  <a:lnTo>
                    <a:pt x="3171140" y="0"/>
                  </a:lnTo>
                  <a:lnTo>
                    <a:pt x="3171140" y="548640"/>
                  </a:lnTo>
                  <a:lnTo>
                    <a:pt x="0" y="548640"/>
                  </a:lnTo>
                  <a:close/>
                </a:path>
              </a:pathLst>
            </a:custGeom>
            <a:blipFill>
              <a:blip r:embed="rId4">
                <a:alphaModFix amt="0"/>
              </a:blip>
              <a:stretch>
                <a:fillRect l="0" t="-62623" r="0" b="-62623"/>
              </a:stretch>
            </a:blipFill>
          </p:spPr>
          <p:txBody>
            <a:bodyPr/>
            <a:p/>
          </p:txBody>
        </p:sp>
        <p:sp>
          <p:nvSpPr>
            <p:cNvPr name="TextBox 16" id="16"/>
            <p:cNvSpPr txBox="true"/>
            <p:nvPr/>
          </p:nvSpPr>
          <p:spPr>
            <a:xfrm>
              <a:off x="0" y="-19050"/>
              <a:ext cx="3171139" cy="56769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Metodologi</a:t>
              </a:r>
            </a:p>
          </p:txBody>
        </p:sp>
      </p:grpSp>
      <p:grpSp>
        <p:nvGrpSpPr>
          <p:cNvPr name="Group 17" id="17"/>
          <p:cNvGrpSpPr/>
          <p:nvPr/>
        </p:nvGrpSpPr>
        <p:grpSpPr>
          <a:xfrm rot="0">
            <a:off x="5461711" y="274320"/>
            <a:ext cx="1591056" cy="411480"/>
            <a:chOff x="0" y="0"/>
            <a:chExt cx="2121408" cy="548640"/>
          </a:xfrm>
        </p:grpSpPr>
        <p:sp>
          <p:nvSpPr>
            <p:cNvPr name="Freeform 18" id="18"/>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5461711" y="274320"/>
            <a:ext cx="1591056" cy="411480"/>
            <a:chOff x="0" y="0"/>
            <a:chExt cx="2121408" cy="548640"/>
          </a:xfrm>
        </p:grpSpPr>
        <p:sp>
          <p:nvSpPr>
            <p:cNvPr name="Freeform 20" id="20"/>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342" r="0" b="-25342"/>
              </a:stretch>
            </a:blipFill>
          </p:spPr>
          <p:txBody>
            <a:bodyPr/>
            <a:p/>
          </p:txBody>
        </p:sp>
        <p:sp>
          <p:nvSpPr>
            <p:cNvPr name="TextBox 21" id="21"/>
            <p:cNvSpPr txBox="true"/>
            <p:nvPr/>
          </p:nvSpPr>
          <p:spPr>
            <a:xfrm>
              <a:off x="0" y="-19050"/>
              <a:ext cx="2121408"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22" id="22"/>
          <p:cNvGrpSpPr/>
          <p:nvPr/>
        </p:nvGrpSpPr>
        <p:grpSpPr>
          <a:xfrm rot="0">
            <a:off x="7162495" y="274320"/>
            <a:ext cx="2490826" cy="411480"/>
            <a:chOff x="0" y="0"/>
            <a:chExt cx="3321101" cy="548640"/>
          </a:xfrm>
        </p:grpSpPr>
        <p:sp>
          <p:nvSpPr>
            <p:cNvPr name="Freeform 23" id="23"/>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4" id="24"/>
          <p:cNvGrpSpPr/>
          <p:nvPr/>
        </p:nvGrpSpPr>
        <p:grpSpPr>
          <a:xfrm rot="0">
            <a:off x="7162495" y="274320"/>
            <a:ext cx="2490826" cy="411480"/>
            <a:chOff x="0" y="0"/>
            <a:chExt cx="3321101" cy="548640"/>
          </a:xfrm>
        </p:grpSpPr>
        <p:sp>
          <p:nvSpPr>
            <p:cNvPr name="Freeform 25" id="25"/>
            <p:cNvSpPr/>
            <p:nvPr/>
          </p:nvSpPr>
          <p:spPr>
            <a:xfrm flipH="false" flipV="false" rot="0">
              <a:off x="0" y="0"/>
              <a:ext cx="3321100" cy="548640"/>
            </a:xfrm>
            <a:custGeom>
              <a:avLst/>
              <a:gdLst/>
              <a:ahLst/>
              <a:cxnLst/>
              <a:rect r="r" b="b" t="t" l="l"/>
              <a:pathLst>
                <a:path h="548640" w="3321100">
                  <a:moveTo>
                    <a:pt x="0" y="0"/>
                  </a:moveTo>
                  <a:lnTo>
                    <a:pt x="3321100" y="0"/>
                  </a:lnTo>
                  <a:lnTo>
                    <a:pt x="3321100" y="548640"/>
                  </a:lnTo>
                  <a:lnTo>
                    <a:pt x="0" y="548640"/>
                  </a:lnTo>
                  <a:close/>
                </a:path>
              </a:pathLst>
            </a:custGeom>
            <a:blipFill>
              <a:blip r:embed="rId4">
                <a:alphaModFix amt="0"/>
              </a:blip>
              <a:stretch>
                <a:fillRect l="0" t="-67949" r="0" b="-67949"/>
              </a:stretch>
            </a:blipFill>
          </p:spPr>
          <p:txBody>
            <a:bodyPr/>
            <a:p/>
          </p:txBody>
        </p:sp>
        <p:sp>
          <p:nvSpPr>
            <p:cNvPr name="TextBox 26" id="26"/>
            <p:cNvSpPr txBox="true"/>
            <p:nvPr/>
          </p:nvSpPr>
          <p:spPr>
            <a:xfrm>
              <a:off x="0" y="-19050"/>
              <a:ext cx="3321101"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27" id="27"/>
          <p:cNvGrpSpPr/>
          <p:nvPr/>
        </p:nvGrpSpPr>
        <p:grpSpPr>
          <a:xfrm rot="0">
            <a:off x="9763049" y="274320"/>
            <a:ext cx="1366114" cy="411480"/>
            <a:chOff x="0" y="0"/>
            <a:chExt cx="1821485" cy="548640"/>
          </a:xfrm>
        </p:grpSpPr>
        <p:sp>
          <p:nvSpPr>
            <p:cNvPr name="Freeform 28" id="28"/>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9" id="29"/>
          <p:cNvGrpSpPr/>
          <p:nvPr/>
        </p:nvGrpSpPr>
        <p:grpSpPr>
          <a:xfrm rot="0">
            <a:off x="9763049" y="274320"/>
            <a:ext cx="1366114" cy="411480"/>
            <a:chOff x="0" y="0"/>
            <a:chExt cx="1821485" cy="548640"/>
          </a:xfrm>
        </p:grpSpPr>
        <p:sp>
          <p:nvSpPr>
            <p:cNvPr name="Freeform 30" id="30"/>
            <p:cNvSpPr/>
            <p:nvPr/>
          </p:nvSpPr>
          <p:spPr>
            <a:xfrm flipH="false" flipV="false" rot="0">
              <a:off x="0" y="0"/>
              <a:ext cx="1821484" cy="548640"/>
            </a:xfrm>
            <a:custGeom>
              <a:avLst/>
              <a:gdLst/>
              <a:ahLst/>
              <a:cxnLst/>
              <a:rect r="r" b="b" t="t" l="l"/>
              <a:pathLst>
                <a:path h="548640" w="1821484">
                  <a:moveTo>
                    <a:pt x="0" y="0"/>
                  </a:moveTo>
                  <a:lnTo>
                    <a:pt x="1821484" y="0"/>
                  </a:lnTo>
                  <a:lnTo>
                    <a:pt x="1821484" y="548640"/>
                  </a:lnTo>
                  <a:lnTo>
                    <a:pt x="0" y="548640"/>
                  </a:lnTo>
                  <a:close/>
                </a:path>
              </a:pathLst>
            </a:custGeom>
            <a:blipFill>
              <a:blip r:embed="rId4">
                <a:alphaModFix amt="0"/>
              </a:blip>
              <a:stretch>
                <a:fillRect l="0" t="-14690" r="0" b="-14690"/>
              </a:stretch>
            </a:blipFill>
          </p:spPr>
          <p:txBody>
            <a:bodyPr/>
            <a:p/>
          </p:txBody>
        </p:sp>
        <p:sp>
          <p:nvSpPr>
            <p:cNvPr name="TextBox 31" id="31"/>
            <p:cNvSpPr txBox="true"/>
            <p:nvPr/>
          </p:nvSpPr>
          <p:spPr>
            <a:xfrm>
              <a:off x="0" y="-19050"/>
              <a:ext cx="1821485"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32" id="32"/>
          <p:cNvGrpSpPr/>
          <p:nvPr/>
        </p:nvGrpSpPr>
        <p:grpSpPr>
          <a:xfrm rot="0">
            <a:off x="11238890" y="274320"/>
            <a:ext cx="1253642" cy="411480"/>
            <a:chOff x="0" y="0"/>
            <a:chExt cx="1671523" cy="548640"/>
          </a:xfrm>
        </p:grpSpPr>
        <p:sp>
          <p:nvSpPr>
            <p:cNvPr name="Freeform 33" id="33"/>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4" id="34"/>
          <p:cNvGrpSpPr/>
          <p:nvPr/>
        </p:nvGrpSpPr>
        <p:grpSpPr>
          <a:xfrm rot="0">
            <a:off x="11238890" y="274320"/>
            <a:ext cx="1253642" cy="411480"/>
            <a:chOff x="0" y="0"/>
            <a:chExt cx="1671523" cy="548640"/>
          </a:xfrm>
        </p:grpSpPr>
        <p:sp>
          <p:nvSpPr>
            <p:cNvPr name="Freeform 35" id="35"/>
            <p:cNvSpPr/>
            <p:nvPr/>
          </p:nvSpPr>
          <p:spPr>
            <a:xfrm flipH="false" flipV="false" rot="0">
              <a:off x="0" y="0"/>
              <a:ext cx="1671524" cy="548640"/>
            </a:xfrm>
            <a:custGeom>
              <a:avLst/>
              <a:gdLst/>
              <a:ahLst/>
              <a:cxnLst/>
              <a:rect r="r" b="b" t="t" l="l"/>
              <a:pathLst>
                <a:path h="548640" w="1671524">
                  <a:moveTo>
                    <a:pt x="0" y="0"/>
                  </a:moveTo>
                  <a:lnTo>
                    <a:pt x="1671524" y="0"/>
                  </a:lnTo>
                  <a:lnTo>
                    <a:pt x="1671524" y="548640"/>
                  </a:lnTo>
                  <a:lnTo>
                    <a:pt x="0" y="548640"/>
                  </a:lnTo>
                  <a:close/>
                </a:path>
              </a:pathLst>
            </a:custGeom>
            <a:blipFill>
              <a:blip r:embed="rId4">
                <a:alphaModFix amt="0"/>
              </a:blip>
              <a:stretch>
                <a:fillRect l="0" t="-9364" r="0" b="-9364"/>
              </a:stretch>
            </a:blipFill>
          </p:spPr>
          <p:txBody>
            <a:bodyPr/>
            <a:p/>
          </p:txBody>
        </p:sp>
        <p:sp>
          <p:nvSpPr>
            <p:cNvPr name="TextBox 36" id="36"/>
            <p:cNvSpPr txBox="true"/>
            <p:nvPr/>
          </p:nvSpPr>
          <p:spPr>
            <a:xfrm>
              <a:off x="0" y="-19050"/>
              <a:ext cx="1671523"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37" id="37"/>
          <p:cNvGrpSpPr/>
          <p:nvPr/>
        </p:nvGrpSpPr>
        <p:grpSpPr>
          <a:xfrm rot="0">
            <a:off x="5223322" y="2016371"/>
            <a:ext cx="3920678" cy="3527596"/>
            <a:chOff x="0" y="0"/>
            <a:chExt cx="5227570" cy="4703461"/>
          </a:xfrm>
        </p:grpSpPr>
        <p:grpSp>
          <p:nvGrpSpPr>
            <p:cNvPr name="Group 38" id="38"/>
            <p:cNvGrpSpPr/>
            <p:nvPr/>
          </p:nvGrpSpPr>
          <p:grpSpPr>
            <a:xfrm rot="0">
              <a:off x="0" y="0"/>
              <a:ext cx="5227570" cy="4703461"/>
              <a:chOff x="0" y="0"/>
              <a:chExt cx="1032607" cy="929079"/>
            </a:xfrm>
          </p:grpSpPr>
          <p:sp>
            <p:nvSpPr>
              <p:cNvPr name="Freeform 39" id="39"/>
              <p:cNvSpPr/>
              <p:nvPr/>
            </p:nvSpPr>
            <p:spPr>
              <a:xfrm flipH="false" flipV="false" rot="0">
                <a:off x="0" y="0"/>
                <a:ext cx="1032607" cy="929079"/>
              </a:xfrm>
              <a:custGeom>
                <a:avLst/>
                <a:gdLst/>
                <a:ahLst/>
                <a:cxnLst/>
                <a:rect r="r" b="b" t="t" l="l"/>
                <a:pathLst>
                  <a:path h="929079" w="1032607">
                    <a:moveTo>
                      <a:pt x="39493" y="0"/>
                    </a:moveTo>
                    <a:lnTo>
                      <a:pt x="993114" y="0"/>
                    </a:lnTo>
                    <a:cubicBezTo>
                      <a:pt x="1003588" y="0"/>
                      <a:pt x="1013633" y="4161"/>
                      <a:pt x="1021039" y="11567"/>
                    </a:cubicBezTo>
                    <a:cubicBezTo>
                      <a:pt x="1028446" y="18973"/>
                      <a:pt x="1032607" y="29019"/>
                      <a:pt x="1032607" y="39493"/>
                    </a:cubicBezTo>
                    <a:lnTo>
                      <a:pt x="1032607" y="889586"/>
                    </a:lnTo>
                    <a:cubicBezTo>
                      <a:pt x="1032607" y="900060"/>
                      <a:pt x="1028446" y="910105"/>
                      <a:pt x="1021039" y="917512"/>
                    </a:cubicBezTo>
                    <a:cubicBezTo>
                      <a:pt x="1013633" y="924918"/>
                      <a:pt x="1003588" y="929079"/>
                      <a:pt x="993114" y="929079"/>
                    </a:cubicBezTo>
                    <a:lnTo>
                      <a:pt x="39493" y="929079"/>
                    </a:lnTo>
                    <a:cubicBezTo>
                      <a:pt x="17682" y="929079"/>
                      <a:pt x="0" y="911397"/>
                      <a:pt x="0" y="889586"/>
                    </a:cubicBezTo>
                    <a:lnTo>
                      <a:pt x="0" y="39493"/>
                    </a:lnTo>
                    <a:cubicBezTo>
                      <a:pt x="0" y="17682"/>
                      <a:pt x="17682" y="0"/>
                      <a:pt x="39493" y="0"/>
                    </a:cubicBezTo>
                    <a:close/>
                  </a:path>
                </a:pathLst>
              </a:custGeom>
              <a:solidFill>
                <a:srgbClr val="FFFFFF"/>
              </a:solidFill>
              <a:ln w="19050" cap="sq">
                <a:solidFill>
                  <a:srgbClr val="CFE5E9"/>
                </a:solidFill>
                <a:prstDash val="solid"/>
                <a:miter/>
              </a:ln>
            </p:spPr>
          </p:sp>
          <p:sp>
            <p:nvSpPr>
              <p:cNvPr name="TextBox 40" id="40"/>
              <p:cNvSpPr txBox="true"/>
              <p:nvPr/>
            </p:nvSpPr>
            <p:spPr>
              <a:xfrm>
                <a:off x="0" y="-19050"/>
                <a:ext cx="1032607" cy="948129"/>
              </a:xfrm>
              <a:prstGeom prst="rect">
                <a:avLst/>
              </a:prstGeom>
            </p:spPr>
            <p:txBody>
              <a:bodyPr anchor="ctr" rtlCol="false" tIns="50800" lIns="50800" bIns="50800" rIns="50800"/>
              <a:lstStyle/>
              <a:p>
                <a:pPr algn="ctr">
                  <a:lnSpc>
                    <a:spcPts val="1889"/>
                  </a:lnSpc>
                </a:pPr>
              </a:p>
            </p:txBody>
          </p:sp>
        </p:grpSp>
        <p:sp>
          <p:nvSpPr>
            <p:cNvPr name="Freeform 41" id="41"/>
            <p:cNvSpPr/>
            <p:nvPr/>
          </p:nvSpPr>
          <p:spPr>
            <a:xfrm flipH="false" flipV="false" rot="0">
              <a:off x="798205" y="354729"/>
              <a:ext cx="3574718" cy="1370309"/>
            </a:xfrm>
            <a:custGeom>
              <a:avLst/>
              <a:gdLst/>
              <a:ahLst/>
              <a:cxnLst/>
              <a:rect r="r" b="b" t="t" l="l"/>
              <a:pathLst>
                <a:path h="1370309" w="3574718">
                  <a:moveTo>
                    <a:pt x="0" y="0"/>
                  </a:moveTo>
                  <a:lnTo>
                    <a:pt x="3574718" y="0"/>
                  </a:lnTo>
                  <a:lnTo>
                    <a:pt x="3574718" y="1370309"/>
                  </a:lnTo>
                  <a:lnTo>
                    <a:pt x="0" y="1370309"/>
                  </a:lnTo>
                  <a:lnTo>
                    <a:pt x="0" y="0"/>
                  </a:lnTo>
                  <a:close/>
                </a:path>
              </a:pathLst>
            </a:custGeom>
            <a:blipFill>
              <a:blip r:embed="rId5"/>
              <a:stretch>
                <a:fillRect l="0" t="0" r="0" b="0"/>
              </a:stretch>
            </a:blipFill>
          </p:spPr>
        </p:sp>
        <p:sp>
          <p:nvSpPr>
            <p:cNvPr name="TextBox 42" id="42"/>
            <p:cNvSpPr txBox="true"/>
            <p:nvPr/>
          </p:nvSpPr>
          <p:spPr>
            <a:xfrm rot="0">
              <a:off x="346073" y="3014435"/>
              <a:ext cx="4535424" cy="14605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Pembangunan model meliputi: </a:t>
              </a:r>
              <a:r>
                <a:rPr lang="en-US" sz="1800" i="true">
                  <a:solidFill>
                    <a:srgbClr val="14313B"/>
                  </a:solidFill>
                  <a:latin typeface="Calibri (MS) Italics"/>
                  <a:ea typeface="Calibri (MS) Italics"/>
                  <a:cs typeface="Calibri (MS) Italics"/>
                  <a:sym typeface="Calibri (MS) Italics"/>
                </a:rPr>
                <a:t>Causal Loop Diagram</a:t>
              </a:r>
              <a:r>
                <a:rPr lang="en-US" sz="1800">
                  <a:solidFill>
                    <a:srgbClr val="14313B"/>
                  </a:solidFill>
                  <a:latin typeface="Calibri (MS)"/>
                  <a:ea typeface="Calibri (MS)"/>
                  <a:cs typeface="Calibri (MS)"/>
                  <a:sym typeface="Calibri (MS)"/>
                </a:rPr>
                <a:t>, </a:t>
              </a:r>
              <a:r>
                <a:rPr lang="en-US" sz="1800" i="true">
                  <a:solidFill>
                    <a:srgbClr val="14313B"/>
                  </a:solidFill>
                  <a:latin typeface="Calibri (MS) Italics"/>
                  <a:ea typeface="Calibri (MS) Italics"/>
                  <a:cs typeface="Calibri (MS) Italics"/>
                  <a:sym typeface="Calibri (MS) Italics"/>
                </a:rPr>
                <a:t>Stock and flow diagram, </a:t>
              </a:r>
              <a:r>
                <a:rPr lang="en-US" sz="1800">
                  <a:solidFill>
                    <a:srgbClr val="14313B"/>
                  </a:solidFill>
                  <a:latin typeface="Calibri (MS)"/>
                  <a:ea typeface="Calibri (MS)"/>
                  <a:cs typeface="Calibri (MS)"/>
                  <a:sym typeface="Calibri (MS)"/>
                </a:rPr>
                <a:t> Simulasi model, serta pengujian model</a:t>
              </a:r>
            </a:p>
          </p:txBody>
        </p:sp>
        <p:grpSp>
          <p:nvGrpSpPr>
            <p:cNvPr name="Group 43" id="43"/>
            <p:cNvGrpSpPr/>
            <p:nvPr/>
          </p:nvGrpSpPr>
          <p:grpSpPr>
            <a:xfrm rot="0">
              <a:off x="317852" y="1955255"/>
              <a:ext cx="4535424" cy="1097280"/>
              <a:chOff x="0" y="0"/>
              <a:chExt cx="4535424" cy="1097280"/>
            </a:xfrm>
          </p:grpSpPr>
          <p:sp>
            <p:nvSpPr>
              <p:cNvPr name="Freeform 44" id="44"/>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538" r="0" b="-30538"/>
                </a:stretch>
              </a:blipFill>
            </p:spPr>
          </p:sp>
          <p:sp>
            <p:nvSpPr>
              <p:cNvPr name="TextBox 45" id="45"/>
              <p:cNvSpPr txBox="true"/>
              <p:nvPr/>
            </p:nvSpPr>
            <p:spPr>
              <a:xfrm>
                <a:off x="0" y="-66675"/>
                <a:ext cx="4535424" cy="1163955"/>
              </a:xfrm>
              <a:prstGeom prst="rect">
                <a:avLst/>
              </a:prstGeom>
            </p:spPr>
            <p:txBody>
              <a:bodyPr anchor="ctr" rtlCol="false" tIns="0" lIns="0" bIns="0" rIns="0"/>
              <a:lstStyle/>
              <a:p>
                <a:pPr algn="ctr">
                  <a:lnSpc>
                    <a:spcPts val="3720"/>
                  </a:lnSpc>
                </a:pPr>
                <a:r>
                  <a:rPr lang="en-US" sz="3100" b="true">
                    <a:solidFill>
                      <a:srgbClr val="0B5E6E"/>
                    </a:solidFill>
                    <a:latin typeface="Calibri (MS) Bold"/>
                    <a:ea typeface="Calibri (MS) Bold"/>
                    <a:cs typeface="Calibri (MS) Bold"/>
                    <a:sym typeface="Calibri (MS) Bold"/>
                  </a:rPr>
                  <a:t>Vensim PLE</a:t>
                </a:r>
              </a:p>
            </p:txBody>
          </p:sp>
        </p:grpSp>
      </p:grpSp>
      <p:grpSp>
        <p:nvGrpSpPr>
          <p:cNvPr name="Group 46" id="46"/>
          <p:cNvGrpSpPr/>
          <p:nvPr/>
        </p:nvGrpSpPr>
        <p:grpSpPr>
          <a:xfrm rot="0">
            <a:off x="14017178" y="2016371"/>
            <a:ext cx="3920678" cy="3527596"/>
            <a:chOff x="0" y="0"/>
            <a:chExt cx="5227570" cy="4703461"/>
          </a:xfrm>
        </p:grpSpPr>
        <p:grpSp>
          <p:nvGrpSpPr>
            <p:cNvPr name="Group 47" id="47"/>
            <p:cNvGrpSpPr/>
            <p:nvPr/>
          </p:nvGrpSpPr>
          <p:grpSpPr>
            <a:xfrm rot="0">
              <a:off x="0" y="0"/>
              <a:ext cx="5227570" cy="4703461"/>
              <a:chOff x="0" y="0"/>
              <a:chExt cx="1032607" cy="929079"/>
            </a:xfrm>
          </p:grpSpPr>
          <p:sp>
            <p:nvSpPr>
              <p:cNvPr name="Freeform 48" id="48"/>
              <p:cNvSpPr/>
              <p:nvPr/>
            </p:nvSpPr>
            <p:spPr>
              <a:xfrm flipH="false" flipV="false" rot="0">
                <a:off x="0" y="0"/>
                <a:ext cx="1032607" cy="929079"/>
              </a:xfrm>
              <a:custGeom>
                <a:avLst/>
                <a:gdLst/>
                <a:ahLst/>
                <a:cxnLst/>
                <a:rect r="r" b="b" t="t" l="l"/>
                <a:pathLst>
                  <a:path h="929079" w="1032607">
                    <a:moveTo>
                      <a:pt x="39493" y="0"/>
                    </a:moveTo>
                    <a:lnTo>
                      <a:pt x="993114" y="0"/>
                    </a:lnTo>
                    <a:cubicBezTo>
                      <a:pt x="1003588" y="0"/>
                      <a:pt x="1013633" y="4161"/>
                      <a:pt x="1021039" y="11567"/>
                    </a:cubicBezTo>
                    <a:cubicBezTo>
                      <a:pt x="1028446" y="18973"/>
                      <a:pt x="1032607" y="29019"/>
                      <a:pt x="1032607" y="39493"/>
                    </a:cubicBezTo>
                    <a:lnTo>
                      <a:pt x="1032607" y="889586"/>
                    </a:lnTo>
                    <a:cubicBezTo>
                      <a:pt x="1032607" y="900060"/>
                      <a:pt x="1028446" y="910105"/>
                      <a:pt x="1021039" y="917512"/>
                    </a:cubicBezTo>
                    <a:cubicBezTo>
                      <a:pt x="1013633" y="924918"/>
                      <a:pt x="1003588" y="929079"/>
                      <a:pt x="993114" y="929079"/>
                    </a:cubicBezTo>
                    <a:lnTo>
                      <a:pt x="39493" y="929079"/>
                    </a:lnTo>
                    <a:cubicBezTo>
                      <a:pt x="17682" y="929079"/>
                      <a:pt x="0" y="911397"/>
                      <a:pt x="0" y="889586"/>
                    </a:cubicBezTo>
                    <a:lnTo>
                      <a:pt x="0" y="39493"/>
                    </a:lnTo>
                    <a:cubicBezTo>
                      <a:pt x="0" y="17682"/>
                      <a:pt x="17682" y="0"/>
                      <a:pt x="39493" y="0"/>
                    </a:cubicBezTo>
                    <a:close/>
                  </a:path>
                </a:pathLst>
              </a:custGeom>
              <a:solidFill>
                <a:srgbClr val="FFFFFF"/>
              </a:solidFill>
              <a:ln w="19050" cap="sq">
                <a:solidFill>
                  <a:srgbClr val="CFE5E9"/>
                </a:solidFill>
                <a:prstDash val="solid"/>
                <a:miter/>
              </a:ln>
            </p:spPr>
          </p:sp>
          <p:sp>
            <p:nvSpPr>
              <p:cNvPr name="TextBox 49" id="49"/>
              <p:cNvSpPr txBox="true"/>
              <p:nvPr/>
            </p:nvSpPr>
            <p:spPr>
              <a:xfrm>
                <a:off x="0" y="-19050"/>
                <a:ext cx="1032607" cy="948129"/>
              </a:xfrm>
              <a:prstGeom prst="rect">
                <a:avLst/>
              </a:prstGeom>
            </p:spPr>
            <p:txBody>
              <a:bodyPr anchor="ctr" rtlCol="false" tIns="50800" lIns="50800" bIns="50800" rIns="50800"/>
              <a:lstStyle/>
              <a:p>
                <a:pPr algn="ctr">
                  <a:lnSpc>
                    <a:spcPts val="1889"/>
                  </a:lnSpc>
                </a:pPr>
              </a:p>
            </p:txBody>
          </p:sp>
        </p:grpSp>
        <p:sp>
          <p:nvSpPr>
            <p:cNvPr name="TextBox 50" id="50"/>
            <p:cNvSpPr txBox="true"/>
            <p:nvPr/>
          </p:nvSpPr>
          <p:spPr>
            <a:xfrm rot="0">
              <a:off x="346073" y="3014435"/>
              <a:ext cx="4535424" cy="14605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Dengan library PySD menjalankan model untuk pengujian berulang seperti kalibrasi, analisis sensitivitas, dan simulasi skenario</a:t>
              </a:r>
            </a:p>
          </p:txBody>
        </p:sp>
        <p:grpSp>
          <p:nvGrpSpPr>
            <p:cNvPr name="Group 51" id="51"/>
            <p:cNvGrpSpPr/>
            <p:nvPr/>
          </p:nvGrpSpPr>
          <p:grpSpPr>
            <a:xfrm rot="0">
              <a:off x="317852" y="1955255"/>
              <a:ext cx="4535424" cy="1097280"/>
              <a:chOff x="0" y="0"/>
              <a:chExt cx="4535424" cy="1097280"/>
            </a:xfrm>
          </p:grpSpPr>
          <p:sp>
            <p:nvSpPr>
              <p:cNvPr name="Freeform 52" id="52"/>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538" r="0" b="-30538"/>
                </a:stretch>
              </a:blipFill>
            </p:spPr>
          </p:sp>
          <p:sp>
            <p:nvSpPr>
              <p:cNvPr name="TextBox 53" id="53"/>
              <p:cNvSpPr txBox="true"/>
              <p:nvPr/>
            </p:nvSpPr>
            <p:spPr>
              <a:xfrm>
                <a:off x="0" y="-66675"/>
                <a:ext cx="4535424" cy="1163955"/>
              </a:xfrm>
              <a:prstGeom prst="rect">
                <a:avLst/>
              </a:prstGeom>
            </p:spPr>
            <p:txBody>
              <a:bodyPr anchor="ctr" rtlCol="false" tIns="0" lIns="0" bIns="0" rIns="0"/>
              <a:lstStyle/>
              <a:p>
                <a:pPr algn="ctr">
                  <a:lnSpc>
                    <a:spcPts val="3720"/>
                  </a:lnSpc>
                </a:pPr>
                <a:r>
                  <a:rPr lang="en-US" sz="3100" b="true">
                    <a:solidFill>
                      <a:srgbClr val="0B5E6E"/>
                    </a:solidFill>
                    <a:latin typeface="Calibri (MS) Bold"/>
                    <a:ea typeface="Calibri (MS) Bold"/>
                    <a:cs typeface="Calibri (MS) Bold"/>
                    <a:sym typeface="Calibri (MS) Bold"/>
                  </a:rPr>
                  <a:t>Python</a:t>
                </a:r>
              </a:p>
            </p:txBody>
          </p:sp>
        </p:grpSp>
        <p:sp>
          <p:nvSpPr>
            <p:cNvPr name="Freeform 54" id="54"/>
            <p:cNvSpPr/>
            <p:nvPr/>
          </p:nvSpPr>
          <p:spPr>
            <a:xfrm flipH="false" flipV="false" rot="0">
              <a:off x="1825488" y="378662"/>
              <a:ext cx="1576594" cy="1576594"/>
            </a:xfrm>
            <a:custGeom>
              <a:avLst/>
              <a:gdLst/>
              <a:ahLst/>
              <a:cxnLst/>
              <a:rect r="r" b="b" t="t" l="l"/>
              <a:pathLst>
                <a:path h="1576594" w="1576594">
                  <a:moveTo>
                    <a:pt x="0" y="0"/>
                  </a:moveTo>
                  <a:lnTo>
                    <a:pt x="1576594" y="0"/>
                  </a:lnTo>
                  <a:lnTo>
                    <a:pt x="1576594" y="1576593"/>
                  </a:lnTo>
                  <a:lnTo>
                    <a:pt x="0" y="1576593"/>
                  </a:lnTo>
                  <a:lnTo>
                    <a:pt x="0" y="0"/>
                  </a:lnTo>
                  <a:close/>
                </a:path>
              </a:pathLst>
            </a:custGeom>
            <a:blipFill>
              <a:blip r:embed="rId6"/>
              <a:stretch>
                <a:fillRect l="0" t="0" r="0" b="0"/>
              </a:stretch>
            </a:blipFill>
          </p:spPr>
        </p:sp>
      </p:grpSp>
      <p:grpSp>
        <p:nvGrpSpPr>
          <p:cNvPr name="Group 55" id="55"/>
          <p:cNvGrpSpPr/>
          <p:nvPr/>
        </p:nvGrpSpPr>
        <p:grpSpPr>
          <a:xfrm rot="0">
            <a:off x="9620250" y="2016371"/>
            <a:ext cx="3920678" cy="3527596"/>
            <a:chOff x="0" y="0"/>
            <a:chExt cx="5227570" cy="4703461"/>
          </a:xfrm>
        </p:grpSpPr>
        <p:grpSp>
          <p:nvGrpSpPr>
            <p:cNvPr name="Group 56" id="56"/>
            <p:cNvGrpSpPr/>
            <p:nvPr/>
          </p:nvGrpSpPr>
          <p:grpSpPr>
            <a:xfrm rot="0">
              <a:off x="0" y="0"/>
              <a:ext cx="5227570" cy="4703461"/>
              <a:chOff x="0" y="0"/>
              <a:chExt cx="1032607" cy="929079"/>
            </a:xfrm>
          </p:grpSpPr>
          <p:sp>
            <p:nvSpPr>
              <p:cNvPr name="Freeform 57" id="57"/>
              <p:cNvSpPr/>
              <p:nvPr/>
            </p:nvSpPr>
            <p:spPr>
              <a:xfrm flipH="false" flipV="false" rot="0">
                <a:off x="0" y="0"/>
                <a:ext cx="1032607" cy="929079"/>
              </a:xfrm>
              <a:custGeom>
                <a:avLst/>
                <a:gdLst/>
                <a:ahLst/>
                <a:cxnLst/>
                <a:rect r="r" b="b" t="t" l="l"/>
                <a:pathLst>
                  <a:path h="929079" w="1032607">
                    <a:moveTo>
                      <a:pt x="31084" y="0"/>
                    </a:moveTo>
                    <a:lnTo>
                      <a:pt x="1001523" y="0"/>
                    </a:lnTo>
                    <a:cubicBezTo>
                      <a:pt x="1018690" y="0"/>
                      <a:pt x="1032607" y="13917"/>
                      <a:pt x="1032607" y="31084"/>
                    </a:cubicBezTo>
                    <a:lnTo>
                      <a:pt x="1032607" y="897995"/>
                    </a:lnTo>
                    <a:cubicBezTo>
                      <a:pt x="1032607" y="906239"/>
                      <a:pt x="1029332" y="914145"/>
                      <a:pt x="1023502" y="919975"/>
                    </a:cubicBezTo>
                    <a:cubicBezTo>
                      <a:pt x="1017673" y="925804"/>
                      <a:pt x="1009767" y="929079"/>
                      <a:pt x="1001523" y="929079"/>
                    </a:cubicBezTo>
                    <a:lnTo>
                      <a:pt x="31084" y="929079"/>
                    </a:lnTo>
                    <a:cubicBezTo>
                      <a:pt x="13917" y="929079"/>
                      <a:pt x="0" y="915162"/>
                      <a:pt x="0" y="897995"/>
                    </a:cubicBezTo>
                    <a:lnTo>
                      <a:pt x="0" y="31084"/>
                    </a:lnTo>
                    <a:cubicBezTo>
                      <a:pt x="0" y="13917"/>
                      <a:pt x="13917" y="0"/>
                      <a:pt x="31084" y="0"/>
                    </a:cubicBezTo>
                    <a:close/>
                  </a:path>
                </a:pathLst>
              </a:custGeom>
              <a:solidFill>
                <a:srgbClr val="FFFFFF"/>
              </a:solidFill>
              <a:ln w="19050" cap="sq">
                <a:solidFill>
                  <a:srgbClr val="CFE5E9"/>
                </a:solidFill>
                <a:prstDash val="solid"/>
                <a:miter/>
              </a:ln>
            </p:spPr>
          </p:sp>
          <p:sp>
            <p:nvSpPr>
              <p:cNvPr name="TextBox 58" id="58"/>
              <p:cNvSpPr txBox="true"/>
              <p:nvPr/>
            </p:nvSpPr>
            <p:spPr>
              <a:xfrm>
                <a:off x="0" y="-19050"/>
                <a:ext cx="1032607" cy="948129"/>
              </a:xfrm>
              <a:prstGeom prst="rect">
                <a:avLst/>
              </a:prstGeom>
            </p:spPr>
            <p:txBody>
              <a:bodyPr anchor="ctr" rtlCol="false" tIns="64543" lIns="64543" bIns="64543" rIns="64543"/>
              <a:lstStyle/>
              <a:p>
                <a:pPr algn="ctr">
                  <a:lnSpc>
                    <a:spcPts val="1889"/>
                  </a:lnSpc>
                </a:pPr>
              </a:p>
            </p:txBody>
          </p:sp>
        </p:grpSp>
        <p:sp>
          <p:nvSpPr>
            <p:cNvPr name="TextBox 59" id="59"/>
            <p:cNvSpPr txBox="true"/>
            <p:nvPr/>
          </p:nvSpPr>
          <p:spPr>
            <a:xfrm rot="0">
              <a:off x="346073" y="3014435"/>
              <a:ext cx="4535424" cy="11049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Penyusunan basis data, penurunan oarameter, dan perhitungan statistik.</a:t>
              </a:r>
            </a:p>
          </p:txBody>
        </p:sp>
        <p:grpSp>
          <p:nvGrpSpPr>
            <p:cNvPr name="Group 60" id="60"/>
            <p:cNvGrpSpPr/>
            <p:nvPr/>
          </p:nvGrpSpPr>
          <p:grpSpPr>
            <a:xfrm rot="0">
              <a:off x="317852" y="1904162"/>
              <a:ext cx="4563645" cy="1199467"/>
              <a:chOff x="0" y="0"/>
              <a:chExt cx="4563645" cy="1199467"/>
            </a:xfrm>
          </p:grpSpPr>
          <p:sp>
            <p:nvSpPr>
              <p:cNvPr name="Freeform 61" id="61"/>
              <p:cNvSpPr/>
              <p:nvPr/>
            </p:nvSpPr>
            <p:spPr>
              <a:xfrm flipH="false" flipV="false" rot="0">
                <a:off x="0" y="0"/>
                <a:ext cx="4563645" cy="1199467"/>
              </a:xfrm>
              <a:custGeom>
                <a:avLst/>
                <a:gdLst/>
                <a:ahLst/>
                <a:cxnLst/>
                <a:rect r="r" b="b" t="t" l="l"/>
                <a:pathLst>
                  <a:path h="1199467" w="4563645">
                    <a:moveTo>
                      <a:pt x="0" y="0"/>
                    </a:moveTo>
                    <a:lnTo>
                      <a:pt x="4563645" y="0"/>
                    </a:lnTo>
                    <a:lnTo>
                      <a:pt x="4563645" y="1199467"/>
                    </a:lnTo>
                    <a:lnTo>
                      <a:pt x="0" y="1199467"/>
                    </a:lnTo>
                    <a:close/>
                  </a:path>
                </a:pathLst>
              </a:custGeom>
              <a:blipFill>
                <a:blip r:embed="rId4">
                  <a:alphaModFix amt="0"/>
                </a:blip>
                <a:stretch>
                  <a:fillRect l="0" t="-27936" r="618" b="-19417"/>
                </a:stretch>
              </a:blipFill>
            </p:spPr>
          </p:sp>
          <p:sp>
            <p:nvSpPr>
              <p:cNvPr name="TextBox 62" id="62"/>
              <p:cNvSpPr txBox="true"/>
              <p:nvPr/>
            </p:nvSpPr>
            <p:spPr>
              <a:xfrm>
                <a:off x="0" y="-57150"/>
                <a:ext cx="4563645" cy="1256617"/>
              </a:xfrm>
              <a:prstGeom prst="rect">
                <a:avLst/>
              </a:prstGeom>
            </p:spPr>
            <p:txBody>
              <a:bodyPr anchor="ctr" rtlCol="false" tIns="0" lIns="0" bIns="0" rIns="0"/>
              <a:lstStyle/>
              <a:p>
                <a:pPr algn="ctr">
                  <a:lnSpc>
                    <a:spcPts val="3120"/>
                  </a:lnSpc>
                </a:pPr>
                <a:r>
                  <a:rPr lang="en-US" sz="2600" b="true">
                    <a:solidFill>
                      <a:srgbClr val="0B5E6E"/>
                    </a:solidFill>
                    <a:latin typeface="Calibri (MS) Bold"/>
                    <a:ea typeface="Calibri (MS) Bold"/>
                    <a:cs typeface="Calibri (MS) Bold"/>
                    <a:sym typeface="Calibri (MS) Bold"/>
                  </a:rPr>
                  <a:t>Microsoft Excel, Gsheet</a:t>
                </a:r>
              </a:p>
            </p:txBody>
          </p:sp>
        </p:grpSp>
        <p:sp>
          <p:nvSpPr>
            <p:cNvPr name="Freeform 63" id="63"/>
            <p:cNvSpPr/>
            <p:nvPr/>
          </p:nvSpPr>
          <p:spPr>
            <a:xfrm flipH="false" flipV="false" rot="0">
              <a:off x="1467177" y="467562"/>
              <a:ext cx="1180406" cy="1284216"/>
            </a:xfrm>
            <a:custGeom>
              <a:avLst/>
              <a:gdLst/>
              <a:ahLst/>
              <a:cxnLst/>
              <a:rect r="r" b="b" t="t" l="l"/>
              <a:pathLst>
                <a:path h="1284216" w="1180406">
                  <a:moveTo>
                    <a:pt x="0" y="0"/>
                  </a:moveTo>
                  <a:lnTo>
                    <a:pt x="1180406" y="0"/>
                  </a:lnTo>
                  <a:lnTo>
                    <a:pt x="1180406" y="1284216"/>
                  </a:lnTo>
                  <a:lnTo>
                    <a:pt x="0" y="1284216"/>
                  </a:lnTo>
                  <a:lnTo>
                    <a:pt x="0" y="0"/>
                  </a:lnTo>
                  <a:close/>
                </a:path>
              </a:pathLst>
            </a:custGeom>
            <a:blipFill>
              <a:blip r:embed="rId7"/>
              <a:stretch>
                <a:fillRect l="-2719" t="0" r="-2719" b="0"/>
              </a:stretch>
            </a:blipFill>
          </p:spPr>
        </p:sp>
        <p:sp>
          <p:nvSpPr>
            <p:cNvPr name="Freeform 64" id="64"/>
            <p:cNvSpPr/>
            <p:nvPr/>
          </p:nvSpPr>
          <p:spPr>
            <a:xfrm flipH="false" flipV="false" rot="0">
              <a:off x="2724972" y="467562"/>
              <a:ext cx="978979" cy="1284216"/>
            </a:xfrm>
            <a:custGeom>
              <a:avLst/>
              <a:gdLst/>
              <a:ahLst/>
              <a:cxnLst/>
              <a:rect r="r" b="b" t="t" l="l"/>
              <a:pathLst>
                <a:path h="1284216" w="978979">
                  <a:moveTo>
                    <a:pt x="0" y="0"/>
                  </a:moveTo>
                  <a:lnTo>
                    <a:pt x="978979" y="0"/>
                  </a:lnTo>
                  <a:lnTo>
                    <a:pt x="978979" y="1284216"/>
                  </a:lnTo>
                  <a:lnTo>
                    <a:pt x="0" y="1284216"/>
                  </a:lnTo>
                  <a:lnTo>
                    <a:pt x="0" y="0"/>
                  </a:lnTo>
                  <a:close/>
                </a:path>
              </a:pathLst>
            </a:custGeom>
            <a:blipFill>
              <a:blip r:embed="rId8"/>
              <a:stretch>
                <a:fillRect l="-61433" t="0" r="-61341" b="0"/>
              </a:stretch>
            </a:blipFill>
          </p:spPr>
        </p:sp>
      </p:grpSp>
      <p:grpSp>
        <p:nvGrpSpPr>
          <p:cNvPr name="Group 65" id="65"/>
          <p:cNvGrpSpPr/>
          <p:nvPr/>
        </p:nvGrpSpPr>
        <p:grpSpPr>
          <a:xfrm rot="0">
            <a:off x="5223322" y="5886510"/>
            <a:ext cx="3920678" cy="3527596"/>
            <a:chOff x="0" y="0"/>
            <a:chExt cx="5227570" cy="4703461"/>
          </a:xfrm>
        </p:grpSpPr>
        <p:grpSp>
          <p:nvGrpSpPr>
            <p:cNvPr name="Group 66" id="66"/>
            <p:cNvGrpSpPr/>
            <p:nvPr/>
          </p:nvGrpSpPr>
          <p:grpSpPr>
            <a:xfrm rot="0">
              <a:off x="0" y="0"/>
              <a:ext cx="5227570" cy="4703461"/>
              <a:chOff x="0" y="0"/>
              <a:chExt cx="1032607" cy="929079"/>
            </a:xfrm>
          </p:grpSpPr>
          <p:sp>
            <p:nvSpPr>
              <p:cNvPr name="Freeform 67" id="67"/>
              <p:cNvSpPr/>
              <p:nvPr/>
            </p:nvSpPr>
            <p:spPr>
              <a:xfrm flipH="false" flipV="false" rot="0">
                <a:off x="0" y="0"/>
                <a:ext cx="1032607" cy="929079"/>
              </a:xfrm>
              <a:custGeom>
                <a:avLst/>
                <a:gdLst/>
                <a:ahLst/>
                <a:cxnLst/>
                <a:rect r="r" b="b" t="t" l="l"/>
                <a:pathLst>
                  <a:path h="929079" w="1032607">
                    <a:moveTo>
                      <a:pt x="39493" y="0"/>
                    </a:moveTo>
                    <a:lnTo>
                      <a:pt x="993114" y="0"/>
                    </a:lnTo>
                    <a:cubicBezTo>
                      <a:pt x="1003588" y="0"/>
                      <a:pt x="1013633" y="4161"/>
                      <a:pt x="1021039" y="11567"/>
                    </a:cubicBezTo>
                    <a:cubicBezTo>
                      <a:pt x="1028446" y="18973"/>
                      <a:pt x="1032607" y="29019"/>
                      <a:pt x="1032607" y="39493"/>
                    </a:cubicBezTo>
                    <a:lnTo>
                      <a:pt x="1032607" y="889586"/>
                    </a:lnTo>
                    <a:cubicBezTo>
                      <a:pt x="1032607" y="900060"/>
                      <a:pt x="1028446" y="910105"/>
                      <a:pt x="1021039" y="917512"/>
                    </a:cubicBezTo>
                    <a:cubicBezTo>
                      <a:pt x="1013633" y="924918"/>
                      <a:pt x="1003588" y="929079"/>
                      <a:pt x="993114" y="929079"/>
                    </a:cubicBezTo>
                    <a:lnTo>
                      <a:pt x="39493" y="929079"/>
                    </a:lnTo>
                    <a:cubicBezTo>
                      <a:pt x="17682" y="929079"/>
                      <a:pt x="0" y="911397"/>
                      <a:pt x="0" y="889586"/>
                    </a:cubicBezTo>
                    <a:lnTo>
                      <a:pt x="0" y="39493"/>
                    </a:lnTo>
                    <a:cubicBezTo>
                      <a:pt x="0" y="17682"/>
                      <a:pt x="17682" y="0"/>
                      <a:pt x="39493" y="0"/>
                    </a:cubicBezTo>
                    <a:close/>
                  </a:path>
                </a:pathLst>
              </a:custGeom>
              <a:solidFill>
                <a:srgbClr val="FFFFFF"/>
              </a:solidFill>
              <a:ln w="19050" cap="sq">
                <a:solidFill>
                  <a:srgbClr val="CFE5E9"/>
                </a:solidFill>
                <a:prstDash val="solid"/>
                <a:miter/>
              </a:ln>
            </p:spPr>
          </p:sp>
          <p:sp>
            <p:nvSpPr>
              <p:cNvPr name="TextBox 68" id="68"/>
              <p:cNvSpPr txBox="true"/>
              <p:nvPr/>
            </p:nvSpPr>
            <p:spPr>
              <a:xfrm>
                <a:off x="0" y="-19050"/>
                <a:ext cx="1032607" cy="948129"/>
              </a:xfrm>
              <a:prstGeom prst="rect">
                <a:avLst/>
              </a:prstGeom>
            </p:spPr>
            <p:txBody>
              <a:bodyPr anchor="ctr" rtlCol="false" tIns="50800" lIns="50800" bIns="50800" rIns="50800"/>
              <a:lstStyle/>
              <a:p>
                <a:pPr algn="ctr">
                  <a:lnSpc>
                    <a:spcPts val="1889"/>
                  </a:lnSpc>
                </a:pPr>
              </a:p>
            </p:txBody>
          </p:sp>
        </p:grpSp>
        <p:grpSp>
          <p:nvGrpSpPr>
            <p:cNvPr name="Group 69" id="69"/>
            <p:cNvGrpSpPr/>
            <p:nvPr/>
          </p:nvGrpSpPr>
          <p:grpSpPr>
            <a:xfrm rot="0">
              <a:off x="317852" y="1955255"/>
              <a:ext cx="4535424" cy="1097280"/>
              <a:chOff x="0" y="0"/>
              <a:chExt cx="4535424" cy="1097280"/>
            </a:xfrm>
          </p:grpSpPr>
          <p:sp>
            <p:nvSpPr>
              <p:cNvPr name="Freeform 70" id="70"/>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538" r="0" b="-30538"/>
                </a:stretch>
              </a:blipFill>
            </p:spPr>
          </p:sp>
          <p:sp>
            <p:nvSpPr>
              <p:cNvPr name="TextBox 71" id="71"/>
              <p:cNvSpPr txBox="true"/>
              <p:nvPr/>
            </p:nvSpPr>
            <p:spPr>
              <a:xfrm>
                <a:off x="0" y="-66675"/>
                <a:ext cx="4535424" cy="1163955"/>
              </a:xfrm>
              <a:prstGeom prst="rect">
                <a:avLst/>
              </a:prstGeom>
            </p:spPr>
            <p:txBody>
              <a:bodyPr anchor="ctr" rtlCol="false" tIns="0" lIns="0" bIns="0" rIns="0"/>
              <a:lstStyle/>
              <a:p>
                <a:pPr algn="ctr">
                  <a:lnSpc>
                    <a:spcPts val="3720"/>
                  </a:lnSpc>
                </a:pPr>
                <a:r>
                  <a:rPr lang="en-US" sz="3100" b="true">
                    <a:solidFill>
                      <a:srgbClr val="0B5E6E"/>
                    </a:solidFill>
                    <a:latin typeface="Calibri (MS) Bold"/>
                    <a:ea typeface="Calibri (MS) Bold"/>
                    <a:cs typeface="Calibri (MS) Bold"/>
                    <a:sym typeface="Calibri (MS) Bold"/>
                  </a:rPr>
                  <a:t>SDEverywhere</a:t>
                </a:r>
              </a:p>
            </p:txBody>
          </p:sp>
        </p:grpSp>
        <p:sp>
          <p:nvSpPr>
            <p:cNvPr name="Freeform 72" id="72"/>
            <p:cNvSpPr/>
            <p:nvPr/>
          </p:nvSpPr>
          <p:spPr>
            <a:xfrm flipH="false" flipV="false" rot="0">
              <a:off x="1738170" y="204025"/>
              <a:ext cx="1751231" cy="1751231"/>
            </a:xfrm>
            <a:custGeom>
              <a:avLst/>
              <a:gdLst/>
              <a:ahLst/>
              <a:cxnLst/>
              <a:rect r="r" b="b" t="t" l="l"/>
              <a:pathLst>
                <a:path h="1751231" w="1751231">
                  <a:moveTo>
                    <a:pt x="0" y="0"/>
                  </a:moveTo>
                  <a:lnTo>
                    <a:pt x="1751231" y="0"/>
                  </a:lnTo>
                  <a:lnTo>
                    <a:pt x="1751231" y="1751230"/>
                  </a:lnTo>
                  <a:lnTo>
                    <a:pt x="0" y="1751230"/>
                  </a:lnTo>
                  <a:lnTo>
                    <a:pt x="0" y="0"/>
                  </a:lnTo>
                  <a:close/>
                </a:path>
              </a:pathLst>
            </a:custGeom>
            <a:blipFill>
              <a:blip r:embed="rId9"/>
              <a:stretch>
                <a:fillRect l="0" t="0" r="0" b="0"/>
              </a:stretch>
            </a:blipFill>
          </p:spPr>
        </p:sp>
        <p:sp>
          <p:nvSpPr>
            <p:cNvPr name="TextBox 73" id="73"/>
            <p:cNvSpPr txBox="true"/>
            <p:nvPr/>
          </p:nvSpPr>
          <p:spPr>
            <a:xfrm rot="0">
              <a:off x="346073" y="3014435"/>
              <a:ext cx="4535424" cy="14605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konversi model yang sudah dibuat di Vensim menjadi kode yang dapat dijalankan pada aplikasi berbasis web </a:t>
              </a:r>
            </a:p>
          </p:txBody>
        </p:sp>
      </p:grpSp>
      <p:sp>
        <p:nvSpPr>
          <p:cNvPr name="TextBox 74" id="74"/>
          <p:cNvSpPr txBox="true"/>
          <p:nvPr/>
        </p:nvSpPr>
        <p:spPr>
          <a:xfrm rot="0">
            <a:off x="822960" y="731520"/>
            <a:ext cx="16637508" cy="68580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3.6 · Alat dan Perangkat Lunak</a:t>
            </a:r>
          </a:p>
          <a:p>
            <a:pPr algn="l">
              <a:lnSpc>
                <a:spcPct val="100000"/>
              </a:lnSpc>
            </a:pPr>
            <a:r>
              <a:rPr lang="en-US" sz="3500" b="true">
                <a:solidFill>
                  <a:srgbClr val="0B5E6E"/>
                </a:solidFill>
                <a:latin typeface="Calibri (MS) Bold"/>
                <a:ea typeface="Calibri (MS) Bold"/>
                <a:cs typeface="Calibri (MS) Bold"/>
                <a:sym typeface="Calibri (MS) Bold"/>
              </a:rPr>
              <a:t>Alat dan Perangkat yang digunakan</a:t>
            </a:r>
          </a:p>
        </p:txBody>
      </p:sp>
      <p:sp>
        <p:nvSpPr>
          <p:cNvPr name="TextBox 75" id="75"/>
          <p:cNvSpPr txBox="true"/>
          <p:nvPr/>
        </p:nvSpPr>
        <p:spPr>
          <a:xfrm rot="0">
            <a:off x="16550640" y="9718548"/>
            <a:ext cx="818388" cy="2667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15</a:t>
            </a:r>
          </a:p>
        </p:txBody>
      </p:sp>
      <p:grpSp>
        <p:nvGrpSpPr>
          <p:cNvPr name="Group 76" id="76"/>
          <p:cNvGrpSpPr/>
          <p:nvPr/>
        </p:nvGrpSpPr>
        <p:grpSpPr>
          <a:xfrm rot="0">
            <a:off x="822960" y="2016371"/>
            <a:ext cx="3920678" cy="3527596"/>
            <a:chOff x="0" y="0"/>
            <a:chExt cx="5227570" cy="4703461"/>
          </a:xfrm>
        </p:grpSpPr>
        <p:grpSp>
          <p:nvGrpSpPr>
            <p:cNvPr name="Group 77" id="77"/>
            <p:cNvGrpSpPr/>
            <p:nvPr/>
          </p:nvGrpSpPr>
          <p:grpSpPr>
            <a:xfrm rot="0">
              <a:off x="0" y="0"/>
              <a:ext cx="5227570" cy="4703461"/>
              <a:chOff x="0" y="0"/>
              <a:chExt cx="1032607" cy="929079"/>
            </a:xfrm>
          </p:grpSpPr>
          <p:sp>
            <p:nvSpPr>
              <p:cNvPr name="Freeform 78" id="78"/>
              <p:cNvSpPr/>
              <p:nvPr/>
            </p:nvSpPr>
            <p:spPr>
              <a:xfrm flipH="false" flipV="false" rot="0">
                <a:off x="0" y="0"/>
                <a:ext cx="1032607" cy="929079"/>
              </a:xfrm>
              <a:custGeom>
                <a:avLst/>
                <a:gdLst/>
                <a:ahLst/>
                <a:cxnLst/>
                <a:rect r="r" b="b" t="t" l="l"/>
                <a:pathLst>
                  <a:path h="929079" w="1032607">
                    <a:moveTo>
                      <a:pt x="39493" y="0"/>
                    </a:moveTo>
                    <a:lnTo>
                      <a:pt x="993114" y="0"/>
                    </a:lnTo>
                    <a:cubicBezTo>
                      <a:pt x="1003588" y="0"/>
                      <a:pt x="1013633" y="4161"/>
                      <a:pt x="1021039" y="11567"/>
                    </a:cubicBezTo>
                    <a:cubicBezTo>
                      <a:pt x="1028446" y="18973"/>
                      <a:pt x="1032607" y="29019"/>
                      <a:pt x="1032607" y="39493"/>
                    </a:cubicBezTo>
                    <a:lnTo>
                      <a:pt x="1032607" y="889586"/>
                    </a:lnTo>
                    <a:cubicBezTo>
                      <a:pt x="1032607" y="900060"/>
                      <a:pt x="1028446" y="910105"/>
                      <a:pt x="1021039" y="917512"/>
                    </a:cubicBezTo>
                    <a:cubicBezTo>
                      <a:pt x="1013633" y="924918"/>
                      <a:pt x="1003588" y="929079"/>
                      <a:pt x="993114" y="929079"/>
                    </a:cubicBezTo>
                    <a:lnTo>
                      <a:pt x="39493" y="929079"/>
                    </a:lnTo>
                    <a:cubicBezTo>
                      <a:pt x="17682" y="929079"/>
                      <a:pt x="0" y="911397"/>
                      <a:pt x="0" y="889586"/>
                    </a:cubicBezTo>
                    <a:lnTo>
                      <a:pt x="0" y="39493"/>
                    </a:lnTo>
                    <a:cubicBezTo>
                      <a:pt x="0" y="17682"/>
                      <a:pt x="17682" y="0"/>
                      <a:pt x="39493" y="0"/>
                    </a:cubicBezTo>
                    <a:close/>
                  </a:path>
                </a:pathLst>
              </a:custGeom>
              <a:solidFill>
                <a:srgbClr val="FFFFFF"/>
              </a:solidFill>
              <a:ln w="19050" cap="sq">
                <a:solidFill>
                  <a:srgbClr val="CFE5E9"/>
                </a:solidFill>
                <a:prstDash val="solid"/>
                <a:miter/>
              </a:ln>
            </p:spPr>
          </p:sp>
          <p:sp>
            <p:nvSpPr>
              <p:cNvPr name="TextBox 79" id="79"/>
              <p:cNvSpPr txBox="true"/>
              <p:nvPr/>
            </p:nvSpPr>
            <p:spPr>
              <a:xfrm>
                <a:off x="0" y="-19050"/>
                <a:ext cx="1032607" cy="948129"/>
              </a:xfrm>
              <a:prstGeom prst="rect">
                <a:avLst/>
              </a:prstGeom>
            </p:spPr>
            <p:txBody>
              <a:bodyPr anchor="ctr" rtlCol="false" tIns="50800" lIns="50800" bIns="50800" rIns="50800"/>
              <a:lstStyle/>
              <a:p>
                <a:pPr algn="ctr">
                  <a:lnSpc>
                    <a:spcPts val="1889"/>
                  </a:lnSpc>
                </a:pPr>
              </a:p>
            </p:txBody>
          </p:sp>
        </p:grpSp>
        <p:sp>
          <p:nvSpPr>
            <p:cNvPr name="Freeform 80" id="80"/>
            <p:cNvSpPr/>
            <p:nvPr/>
          </p:nvSpPr>
          <p:spPr>
            <a:xfrm flipH="false" flipV="false" rot="0">
              <a:off x="1860320" y="325559"/>
              <a:ext cx="1506931" cy="1428649"/>
            </a:xfrm>
            <a:custGeom>
              <a:avLst/>
              <a:gdLst/>
              <a:ahLst/>
              <a:cxnLst/>
              <a:rect r="r" b="b" t="t" l="l"/>
              <a:pathLst>
                <a:path h="1428649" w="1506931">
                  <a:moveTo>
                    <a:pt x="0" y="0"/>
                  </a:moveTo>
                  <a:lnTo>
                    <a:pt x="1506931" y="0"/>
                  </a:lnTo>
                  <a:lnTo>
                    <a:pt x="1506931" y="1428649"/>
                  </a:lnTo>
                  <a:lnTo>
                    <a:pt x="0" y="1428649"/>
                  </a:lnTo>
                  <a:lnTo>
                    <a:pt x="0" y="0"/>
                  </a:lnTo>
                  <a:close/>
                </a:path>
              </a:pathLst>
            </a:custGeom>
            <a:blipFill>
              <a:blip r:embed="rId10"/>
              <a:stretch>
                <a:fillRect l="0" t="0" r="0" b="0"/>
              </a:stretch>
            </a:blipFill>
          </p:spPr>
        </p:sp>
        <p:grpSp>
          <p:nvGrpSpPr>
            <p:cNvPr name="Group 81" id="81"/>
            <p:cNvGrpSpPr/>
            <p:nvPr/>
          </p:nvGrpSpPr>
          <p:grpSpPr>
            <a:xfrm rot="0">
              <a:off x="346073" y="1955255"/>
              <a:ext cx="4535424" cy="1097280"/>
              <a:chOff x="0" y="0"/>
              <a:chExt cx="4535424" cy="1097280"/>
            </a:xfrm>
          </p:grpSpPr>
          <p:sp>
            <p:nvSpPr>
              <p:cNvPr name="Freeform 82" id="82"/>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538" r="0" b="-30538"/>
                </a:stretch>
              </a:blipFill>
            </p:spPr>
          </p:sp>
          <p:sp>
            <p:nvSpPr>
              <p:cNvPr name="TextBox 83" id="83"/>
              <p:cNvSpPr txBox="true"/>
              <p:nvPr/>
            </p:nvSpPr>
            <p:spPr>
              <a:xfrm>
                <a:off x="0" y="-66675"/>
                <a:ext cx="4535424" cy="1163955"/>
              </a:xfrm>
              <a:prstGeom prst="rect">
                <a:avLst/>
              </a:prstGeom>
            </p:spPr>
            <p:txBody>
              <a:bodyPr anchor="ctr" rtlCol="false" tIns="0" lIns="0" bIns="0" rIns="0"/>
              <a:lstStyle/>
              <a:p>
                <a:pPr algn="l">
                  <a:lnSpc>
                    <a:spcPts val="3720"/>
                  </a:lnSpc>
                </a:pPr>
                <a:r>
                  <a:rPr lang="en-US" sz="3100" b="true">
                    <a:solidFill>
                      <a:srgbClr val="0B5E6E"/>
                    </a:solidFill>
                    <a:latin typeface="Calibri (MS) Bold"/>
                    <a:ea typeface="Calibri (MS) Bold"/>
                    <a:cs typeface="Calibri (MS) Bold"/>
                    <a:sym typeface="Calibri (MS) Bold"/>
                  </a:rPr>
                  <a:t>Google Earth Engine</a:t>
                </a:r>
              </a:p>
            </p:txBody>
          </p:sp>
        </p:grpSp>
        <p:sp>
          <p:nvSpPr>
            <p:cNvPr name="TextBox 84" id="84"/>
            <p:cNvSpPr txBox="true"/>
            <p:nvPr/>
          </p:nvSpPr>
          <p:spPr>
            <a:xfrm rot="0">
              <a:off x="274320" y="3014435"/>
              <a:ext cx="4535424" cy="7493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Ekstraksi dan pengolahan data citra satelit (Dynamic world dan NTL)</a:t>
              </a:r>
            </a:p>
          </p:txBody>
        </p:sp>
      </p:grpSp>
      <p:grpSp>
        <p:nvGrpSpPr>
          <p:cNvPr name="Group 85" id="85"/>
          <p:cNvGrpSpPr/>
          <p:nvPr/>
        </p:nvGrpSpPr>
        <p:grpSpPr>
          <a:xfrm rot="0">
            <a:off x="9653321" y="5886510"/>
            <a:ext cx="3920678" cy="3527596"/>
            <a:chOff x="0" y="0"/>
            <a:chExt cx="5227570" cy="4703461"/>
          </a:xfrm>
        </p:grpSpPr>
        <p:grpSp>
          <p:nvGrpSpPr>
            <p:cNvPr name="Group 86" id="86"/>
            <p:cNvGrpSpPr/>
            <p:nvPr/>
          </p:nvGrpSpPr>
          <p:grpSpPr>
            <a:xfrm rot="0">
              <a:off x="0" y="0"/>
              <a:ext cx="5227570" cy="4703461"/>
              <a:chOff x="0" y="0"/>
              <a:chExt cx="1032607" cy="929079"/>
            </a:xfrm>
          </p:grpSpPr>
          <p:sp>
            <p:nvSpPr>
              <p:cNvPr name="Freeform 87" id="87"/>
              <p:cNvSpPr/>
              <p:nvPr/>
            </p:nvSpPr>
            <p:spPr>
              <a:xfrm flipH="false" flipV="false" rot="0">
                <a:off x="0" y="0"/>
                <a:ext cx="1032607" cy="929079"/>
              </a:xfrm>
              <a:custGeom>
                <a:avLst/>
                <a:gdLst/>
                <a:ahLst/>
                <a:cxnLst/>
                <a:rect r="r" b="b" t="t" l="l"/>
                <a:pathLst>
                  <a:path h="929079" w="1032607">
                    <a:moveTo>
                      <a:pt x="32109" y="0"/>
                    </a:moveTo>
                    <a:lnTo>
                      <a:pt x="1000498" y="0"/>
                    </a:lnTo>
                    <a:cubicBezTo>
                      <a:pt x="1009013" y="0"/>
                      <a:pt x="1017180" y="3383"/>
                      <a:pt x="1023202" y="9405"/>
                    </a:cubicBezTo>
                    <a:cubicBezTo>
                      <a:pt x="1029224" y="15426"/>
                      <a:pt x="1032607" y="23593"/>
                      <a:pt x="1032607" y="32109"/>
                    </a:cubicBezTo>
                    <a:lnTo>
                      <a:pt x="1032607" y="896970"/>
                    </a:lnTo>
                    <a:cubicBezTo>
                      <a:pt x="1032607" y="905486"/>
                      <a:pt x="1029224" y="913653"/>
                      <a:pt x="1023202" y="919674"/>
                    </a:cubicBezTo>
                    <a:cubicBezTo>
                      <a:pt x="1017180" y="925696"/>
                      <a:pt x="1009013" y="929079"/>
                      <a:pt x="1000498" y="929079"/>
                    </a:cubicBezTo>
                    <a:lnTo>
                      <a:pt x="32109" y="929079"/>
                    </a:lnTo>
                    <a:cubicBezTo>
                      <a:pt x="23593" y="929079"/>
                      <a:pt x="15426" y="925696"/>
                      <a:pt x="9405" y="919674"/>
                    </a:cubicBezTo>
                    <a:cubicBezTo>
                      <a:pt x="3383" y="913653"/>
                      <a:pt x="0" y="905486"/>
                      <a:pt x="0" y="896970"/>
                    </a:cubicBezTo>
                    <a:lnTo>
                      <a:pt x="0" y="32109"/>
                    </a:lnTo>
                    <a:cubicBezTo>
                      <a:pt x="0" y="23593"/>
                      <a:pt x="3383" y="15426"/>
                      <a:pt x="9405" y="9405"/>
                    </a:cubicBezTo>
                    <a:cubicBezTo>
                      <a:pt x="15426" y="3383"/>
                      <a:pt x="23593" y="0"/>
                      <a:pt x="32109" y="0"/>
                    </a:cubicBezTo>
                    <a:close/>
                  </a:path>
                </a:pathLst>
              </a:custGeom>
              <a:solidFill>
                <a:srgbClr val="FFFFFF"/>
              </a:solidFill>
              <a:ln w="19050" cap="sq">
                <a:solidFill>
                  <a:srgbClr val="CFE5E9"/>
                </a:solidFill>
                <a:prstDash val="solid"/>
                <a:miter/>
              </a:ln>
            </p:spPr>
          </p:sp>
          <p:sp>
            <p:nvSpPr>
              <p:cNvPr name="TextBox 88" id="88"/>
              <p:cNvSpPr txBox="true"/>
              <p:nvPr/>
            </p:nvSpPr>
            <p:spPr>
              <a:xfrm>
                <a:off x="0" y="-19050"/>
                <a:ext cx="1032607" cy="948129"/>
              </a:xfrm>
              <a:prstGeom prst="rect">
                <a:avLst/>
              </a:prstGeom>
            </p:spPr>
            <p:txBody>
              <a:bodyPr anchor="ctr" rtlCol="false" tIns="62482" lIns="62482" bIns="62482" rIns="62482"/>
              <a:lstStyle/>
              <a:p>
                <a:pPr algn="ctr">
                  <a:lnSpc>
                    <a:spcPts val="1889"/>
                  </a:lnSpc>
                </a:pPr>
              </a:p>
            </p:txBody>
          </p:sp>
        </p:grpSp>
        <p:grpSp>
          <p:nvGrpSpPr>
            <p:cNvPr name="Group 89" id="89"/>
            <p:cNvGrpSpPr/>
            <p:nvPr/>
          </p:nvGrpSpPr>
          <p:grpSpPr>
            <a:xfrm rot="0">
              <a:off x="346073" y="1701455"/>
              <a:ext cx="4535424" cy="1269680"/>
              <a:chOff x="0" y="0"/>
              <a:chExt cx="4535424" cy="1269680"/>
            </a:xfrm>
          </p:grpSpPr>
          <p:sp>
            <p:nvSpPr>
              <p:cNvPr name="Freeform 90" id="90"/>
              <p:cNvSpPr/>
              <p:nvPr/>
            </p:nvSpPr>
            <p:spPr>
              <a:xfrm flipH="false" flipV="false" rot="0">
                <a:off x="0" y="0"/>
                <a:ext cx="4535424" cy="1269681"/>
              </a:xfrm>
              <a:custGeom>
                <a:avLst/>
                <a:gdLst/>
                <a:ahLst/>
                <a:cxnLst/>
                <a:rect r="r" b="b" t="t" l="l"/>
                <a:pathLst>
                  <a:path h="1269681" w="4535424">
                    <a:moveTo>
                      <a:pt x="0" y="0"/>
                    </a:moveTo>
                    <a:lnTo>
                      <a:pt x="4535424" y="0"/>
                    </a:lnTo>
                    <a:lnTo>
                      <a:pt x="4535424" y="1269681"/>
                    </a:lnTo>
                    <a:lnTo>
                      <a:pt x="0" y="1269681"/>
                    </a:lnTo>
                    <a:close/>
                  </a:path>
                </a:pathLst>
              </a:custGeom>
              <a:blipFill>
                <a:blip r:embed="rId4">
                  <a:alphaModFix amt="0"/>
                </a:blip>
                <a:stretch>
                  <a:fillRect l="0" t="-26391" r="0" b="-12813"/>
                </a:stretch>
              </a:blipFill>
            </p:spPr>
          </p:sp>
          <p:sp>
            <p:nvSpPr>
              <p:cNvPr name="TextBox 91" id="91"/>
              <p:cNvSpPr txBox="true"/>
              <p:nvPr/>
            </p:nvSpPr>
            <p:spPr>
              <a:xfrm>
                <a:off x="0" y="-57150"/>
                <a:ext cx="4535424" cy="1326830"/>
              </a:xfrm>
              <a:prstGeom prst="rect">
                <a:avLst/>
              </a:prstGeom>
            </p:spPr>
            <p:txBody>
              <a:bodyPr anchor="ctr" rtlCol="false" tIns="0" lIns="0" bIns="0" rIns="0"/>
              <a:lstStyle/>
              <a:p>
                <a:pPr algn="ctr">
                  <a:lnSpc>
                    <a:spcPts val="3240"/>
                  </a:lnSpc>
                </a:pPr>
                <a:r>
                  <a:rPr lang="en-US" sz="2700" b="true">
                    <a:solidFill>
                      <a:srgbClr val="0B5E6E"/>
                    </a:solidFill>
                    <a:latin typeface="Calibri (MS) Bold"/>
                    <a:ea typeface="Calibri (MS) Bold"/>
                    <a:cs typeface="Calibri (MS) Bold"/>
                    <a:sym typeface="Calibri (MS) Bold"/>
                  </a:rPr>
                  <a:t>Next js, TypeScript, Tailwind CSS</a:t>
                </a:r>
              </a:p>
            </p:txBody>
          </p:sp>
        </p:grpSp>
        <p:sp>
          <p:nvSpPr>
            <p:cNvPr name="TextBox 92" id="92"/>
            <p:cNvSpPr txBox="true"/>
            <p:nvPr/>
          </p:nvSpPr>
          <p:spPr>
            <a:xfrm rot="0">
              <a:off x="346073" y="3014435"/>
              <a:ext cx="4535424" cy="7493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Pengembangan antarmuka aplikasi web interaktif</a:t>
              </a:r>
            </a:p>
          </p:txBody>
        </p:sp>
        <p:sp>
          <p:nvSpPr>
            <p:cNvPr name="Freeform 93" id="93"/>
            <p:cNvSpPr/>
            <p:nvPr/>
          </p:nvSpPr>
          <p:spPr>
            <a:xfrm flipH="false" flipV="false" rot="0">
              <a:off x="2821433" y="726246"/>
              <a:ext cx="940764" cy="975209"/>
            </a:xfrm>
            <a:custGeom>
              <a:avLst/>
              <a:gdLst/>
              <a:ahLst/>
              <a:cxnLst/>
              <a:rect r="r" b="b" t="t" l="l"/>
              <a:pathLst>
                <a:path h="975209" w="940764">
                  <a:moveTo>
                    <a:pt x="0" y="0"/>
                  </a:moveTo>
                  <a:lnTo>
                    <a:pt x="940764" y="0"/>
                  </a:lnTo>
                  <a:lnTo>
                    <a:pt x="940764" y="975209"/>
                  </a:lnTo>
                  <a:lnTo>
                    <a:pt x="0" y="975209"/>
                  </a:lnTo>
                  <a:lnTo>
                    <a:pt x="0" y="0"/>
                  </a:lnTo>
                  <a:close/>
                </a:path>
              </a:pathLst>
            </a:custGeom>
            <a:blipFill>
              <a:blip r:embed="rId11"/>
              <a:stretch>
                <a:fillRect l="-296464" t="-106623" r="-59521" b="-40210"/>
              </a:stretch>
            </a:blipFill>
          </p:spPr>
        </p:sp>
        <p:sp>
          <p:nvSpPr>
            <p:cNvPr name="Freeform 94" id="94"/>
            <p:cNvSpPr/>
            <p:nvPr/>
          </p:nvSpPr>
          <p:spPr>
            <a:xfrm flipH="false" flipV="false" rot="0">
              <a:off x="1615812" y="322118"/>
              <a:ext cx="1799097" cy="404128"/>
            </a:xfrm>
            <a:custGeom>
              <a:avLst/>
              <a:gdLst/>
              <a:ahLst/>
              <a:cxnLst/>
              <a:rect r="r" b="b" t="t" l="l"/>
              <a:pathLst>
                <a:path h="404128" w="1799097">
                  <a:moveTo>
                    <a:pt x="0" y="0"/>
                  </a:moveTo>
                  <a:lnTo>
                    <a:pt x="1799097" y="0"/>
                  </a:lnTo>
                  <a:lnTo>
                    <a:pt x="1799097" y="404128"/>
                  </a:lnTo>
                  <a:lnTo>
                    <a:pt x="0" y="404128"/>
                  </a:lnTo>
                  <a:lnTo>
                    <a:pt x="0" y="0"/>
                  </a:lnTo>
                  <a:close/>
                </a:path>
              </a:pathLst>
            </a:custGeom>
            <a:blipFill>
              <a:blip r:embed="rId11"/>
              <a:stretch>
                <a:fillRect l="-127665" t="-125258" r="-10773" b="-370381"/>
              </a:stretch>
            </a:blipFill>
          </p:spPr>
        </p:sp>
        <p:sp>
          <p:nvSpPr>
            <p:cNvPr name="Freeform 95" id="95"/>
            <p:cNvSpPr/>
            <p:nvPr/>
          </p:nvSpPr>
          <p:spPr>
            <a:xfrm flipH="false" flipV="false" rot="0">
              <a:off x="1465374" y="881059"/>
              <a:ext cx="1317416" cy="665583"/>
            </a:xfrm>
            <a:custGeom>
              <a:avLst/>
              <a:gdLst/>
              <a:ahLst/>
              <a:cxnLst/>
              <a:rect r="r" b="b" t="t" l="l"/>
              <a:pathLst>
                <a:path h="665583" w="1317416">
                  <a:moveTo>
                    <a:pt x="0" y="0"/>
                  </a:moveTo>
                  <a:lnTo>
                    <a:pt x="1317416" y="0"/>
                  </a:lnTo>
                  <a:lnTo>
                    <a:pt x="1317416" y="665583"/>
                  </a:lnTo>
                  <a:lnTo>
                    <a:pt x="0" y="665583"/>
                  </a:lnTo>
                  <a:lnTo>
                    <a:pt x="0" y="0"/>
                  </a:lnTo>
                  <a:close/>
                </a:path>
              </a:pathLst>
            </a:custGeom>
            <a:blipFill>
              <a:blip r:embed="rId11"/>
              <a:stretch>
                <a:fillRect l="-11106" t="-72899" r="-113616" b="-76697"/>
              </a:stretch>
            </a:blipFill>
          </p:spPr>
        </p:sp>
      </p:grpSp>
      <p:sp>
        <p:nvSpPr>
          <p:cNvPr id="96"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3.7.1 · Pengumpulan dan Preprocessing Data</a:t>
            </a:r>
          </a:p>
          <a:p>
            <a:pPr algn="l">
              <a:lnSpc>
                <a:spcPct val="100000"/>
              </a:lnSpc>
            </a:pPr>
            <a:r>
              <a:rPr lang="en-US" sz="3500" b="true">
                <a:solidFill>
                  <a:srgbClr val="0B5E6E"/>
                </a:solidFill>
                <a:latin typeface="Calibri (MS) Bold"/>
                <a:ea typeface="Calibri (MS) Bold"/>
                <a:cs typeface="Calibri (MS) Bold"/>
                <a:sym typeface="Calibri (MS) Bold"/>
              </a:rPr>
              <a:t>Empat ketidakteraturan data ditangani sebelum pemodelan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16</a:t>
            </a:r>
          </a:p>
        </p:txBody>
      </p:sp>
      <p:sp>
        <p:nvSpPr>
          <p:cNvPr id="148" name="Rounded Rectangle 147"/>
          <p:cNvSpPr/>
          <p:nvPr/>
        </p:nvSpPr>
        <p:spPr>
          <a:xfrm>
            <a:off x="822960" y="2331720"/>
            <a:ext cx="4005072" cy="57607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49" name="Oval 148"/>
          <p:cNvSpPr/>
          <p:nvPr/>
        </p:nvSpPr>
        <p:spPr>
          <a:xfrm>
            <a:off x="1051560" y="256032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1</a:t>
            </a:r>
          </a:p>
        </p:txBody>
      </p:sp>
      <p:sp>
        <p:nvSpPr>
          <p:cNvPr id="150" name="TextBox 149"/>
          <p:cNvSpPr txBox="1"/>
          <p:nvPr/>
        </p:nvSpPr>
        <p:spPr>
          <a:xfrm>
            <a:off x="1737360" y="2560320"/>
            <a:ext cx="2926080" cy="82296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Patahan metode wisnus 2018→2019</a:t>
            </a:r>
          </a:p>
        </p:txBody>
      </p:sp>
      <p:sp>
        <p:nvSpPr>
          <p:cNvPr id="151" name="TextBox 150"/>
          <p:cNvSpPr txBox="1"/>
          <p:nvPr/>
        </p:nvSpPr>
        <p:spPr>
          <a:xfrm>
            <a:off x="1097280" y="3657600"/>
            <a:ext cx="3474720" cy="365760"/>
          </a:xfrm>
          <a:prstGeom prst="rect">
            <a:avLst/>
          </a:prstGeom>
          <a:noFill/>
        </p:spPr>
        <p:txBody>
          <a:bodyPr wrap="square" anchor="t" lIns="0" rIns="0" tIns="0" bIns="0">
            <a:spAutoFit/>
          </a:bodyPr>
          <a:lstStyle/>
          <a:p>
            <a:pPr algn="l">
              <a:spcAft>
                <a:spcPts val="400"/>
              </a:spcAft>
            </a:pPr>
            <a:r>
              <a:rPr sz="1490" b="1" i="0">
                <a:solidFill>
                  <a:srgbClr val="E4604F"/>
                </a:solidFill>
                <a:latin typeface="Calibri (MS) Bold"/>
              </a:rPr>
              <a:t>Masalah</a:t>
            </a:r>
          </a:p>
        </p:txBody>
      </p:sp>
      <p:sp>
        <p:nvSpPr>
          <p:cNvPr id="152" name="TextBox 151"/>
          <p:cNvSpPr txBox="1"/>
          <p:nvPr/>
        </p:nvSpPr>
        <p:spPr>
          <a:xfrm>
            <a:off x="1097280" y="4023360"/>
            <a:ext cx="3474720" cy="1463040"/>
          </a:xfrm>
          <a:prstGeom prst="rect">
            <a:avLst/>
          </a:prstGeom>
          <a:noFill/>
        </p:spPr>
        <p:txBody>
          <a:bodyPr wrap="square" anchor="t" lIns="0" rIns="0" tIns="0" bIns="0">
            <a:spAutoFit/>
          </a:bodyPr>
          <a:lstStyle/>
          <a:p>
            <a:pPr algn="l">
              <a:spcAft>
                <a:spcPts val="400"/>
              </a:spcAft>
            </a:pPr>
            <a:r>
              <a:rPr sz="1720" b="0" i="0">
                <a:solidFill>
                  <a:srgbClr val="14313B"/>
                </a:solidFill>
                <a:latin typeface="Calibri (MS)"/>
              </a:rPr>
              <a:t>Lonjakan 8,0 → 20,5 juta (×2,57) tanpa perubahan lapangan sepadan.</a:t>
            </a:r>
          </a:p>
        </p:txBody>
      </p:sp>
      <p:sp>
        <p:nvSpPr>
          <p:cNvPr id="153" name="Rounded Rectangle 152"/>
          <p:cNvSpPr/>
          <p:nvPr/>
        </p:nvSpPr>
        <p:spPr>
          <a:xfrm>
            <a:off x="1051560" y="5715000"/>
            <a:ext cx="3547872" cy="219456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90" b="1" i="0">
                <a:solidFill>
                  <a:srgbClr val="0B5E6E"/>
                </a:solidFill>
                <a:latin typeface="Calibri (MS) Bold"/>
              </a:rPr>
              <a:t>Perlakuan</a:t>
            </a:r>
          </a:p>
          <a:p>
            <a:pPr algn="l">
              <a:spcAft>
                <a:spcPts val="300"/>
              </a:spcAft>
            </a:pPr>
            <a:r>
              <a:rPr sz="1720" b="0" i="0">
                <a:solidFill>
                  <a:srgbClr val="14313B"/>
                </a:solidFill>
                <a:latin typeface="Calibri (MS)"/>
              </a:rPr>
              <a:t>Seri 2015–2018 disambung (faktor 2,2997) hanya untuk uji P5; tidak dipakai menurunkan parameter.</a:t>
            </a:r>
          </a:p>
        </p:txBody>
      </p:sp>
      <p:sp>
        <p:nvSpPr>
          <p:cNvPr id="154" name="Rounded Rectangle 153"/>
          <p:cNvSpPr/>
          <p:nvPr/>
        </p:nvSpPr>
        <p:spPr>
          <a:xfrm>
            <a:off x="5047488" y="2331720"/>
            <a:ext cx="4005072" cy="57607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5" name="Oval 154"/>
          <p:cNvSpPr/>
          <p:nvPr/>
        </p:nvSpPr>
        <p:spPr>
          <a:xfrm>
            <a:off x="5276088" y="256032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2</a:t>
            </a:r>
          </a:p>
        </p:txBody>
      </p:sp>
      <p:sp>
        <p:nvSpPr>
          <p:cNvPr id="156" name="TextBox 155"/>
          <p:cNvSpPr txBox="1"/>
          <p:nvPr/>
        </p:nvSpPr>
        <p:spPr>
          <a:xfrm>
            <a:off x="5961888" y="2560320"/>
            <a:ext cx="2926080" cy="82296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Lahan terbangun 2015 kosong</a:t>
            </a:r>
          </a:p>
        </p:txBody>
      </p:sp>
      <p:sp>
        <p:nvSpPr>
          <p:cNvPr id="157" name="TextBox 156"/>
          <p:cNvSpPr txBox="1"/>
          <p:nvPr/>
        </p:nvSpPr>
        <p:spPr>
          <a:xfrm>
            <a:off x="5321808" y="3657600"/>
            <a:ext cx="3474720" cy="365760"/>
          </a:xfrm>
          <a:prstGeom prst="rect">
            <a:avLst/>
          </a:prstGeom>
          <a:noFill/>
        </p:spPr>
        <p:txBody>
          <a:bodyPr wrap="square" anchor="t" lIns="0" rIns="0" tIns="0" bIns="0">
            <a:spAutoFit/>
          </a:bodyPr>
          <a:lstStyle/>
          <a:p>
            <a:pPr algn="l">
              <a:spcAft>
                <a:spcPts val="400"/>
              </a:spcAft>
            </a:pPr>
            <a:r>
              <a:rPr sz="1490" b="1" i="0">
                <a:solidFill>
                  <a:srgbClr val="E4604F"/>
                </a:solidFill>
                <a:latin typeface="Calibri (MS) Bold"/>
              </a:rPr>
              <a:t>Masalah</a:t>
            </a:r>
          </a:p>
        </p:txBody>
      </p:sp>
      <p:sp>
        <p:nvSpPr>
          <p:cNvPr id="158" name="TextBox 157"/>
          <p:cNvSpPr txBox="1"/>
          <p:nvPr/>
        </p:nvSpPr>
        <p:spPr>
          <a:xfrm>
            <a:off x="5321808" y="4023360"/>
            <a:ext cx="3474720" cy="1463040"/>
          </a:xfrm>
          <a:prstGeom prst="rect">
            <a:avLst/>
          </a:prstGeom>
          <a:noFill/>
        </p:spPr>
        <p:txBody>
          <a:bodyPr wrap="square" anchor="t" lIns="0" rIns="0" tIns="0" bIns="0">
            <a:spAutoFit/>
          </a:bodyPr>
          <a:lstStyle/>
          <a:p>
            <a:pPr algn="l">
              <a:spcAft>
                <a:spcPts val="400"/>
              </a:spcAft>
            </a:pPr>
            <a:r>
              <a:rPr sz="1720" b="0" i="0">
                <a:solidFill>
                  <a:srgbClr val="14313B"/>
                </a:solidFill>
                <a:latin typeface="Calibri (MS)"/>
              </a:rPr>
              <a:t>Dynamic World baru tersedia sejak 2016.</a:t>
            </a:r>
          </a:p>
        </p:txBody>
      </p:sp>
      <p:sp>
        <p:nvSpPr>
          <p:cNvPr id="159" name="Rounded Rectangle 158"/>
          <p:cNvSpPr/>
          <p:nvPr/>
        </p:nvSpPr>
        <p:spPr>
          <a:xfrm>
            <a:off x="5276088" y="5715000"/>
            <a:ext cx="3547872" cy="219456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90" b="1" i="0">
                <a:solidFill>
                  <a:srgbClr val="0B5E6E"/>
                </a:solidFill>
                <a:latin typeface="Calibri (MS) Bold"/>
              </a:rPr>
              <a:t>Perlakuan</a:t>
            </a:r>
          </a:p>
          <a:p>
            <a:pPr algn="l">
              <a:spcAft>
                <a:spcPts val="300"/>
              </a:spcAft>
            </a:pPr>
            <a:r>
              <a:rPr sz="1720" b="0" i="0">
                <a:solidFill>
                  <a:srgbClr val="14313B"/>
                </a:solidFill>
                <a:latin typeface="Calibri (MS)"/>
              </a:rPr>
              <a:t>Ekstrapolasi mundur tren log-linear 2016–2025; ditandai dan tidak dipakai menurunkan parameter.</a:t>
            </a:r>
          </a:p>
        </p:txBody>
      </p:sp>
      <p:sp>
        <p:nvSpPr>
          <p:cNvPr id="160" name="Rounded Rectangle 159"/>
          <p:cNvSpPr/>
          <p:nvPr/>
        </p:nvSpPr>
        <p:spPr>
          <a:xfrm>
            <a:off x="9272016" y="2331720"/>
            <a:ext cx="4005072" cy="57607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61" name="Oval 160"/>
          <p:cNvSpPr/>
          <p:nvPr/>
        </p:nvSpPr>
        <p:spPr>
          <a:xfrm>
            <a:off x="9500616" y="256032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3</a:t>
            </a:r>
          </a:p>
        </p:txBody>
      </p:sp>
      <p:sp>
        <p:nvSpPr>
          <p:cNvPr id="162" name="TextBox 161"/>
          <p:cNvSpPr txBox="1"/>
          <p:nvPr/>
        </p:nvSpPr>
        <p:spPr>
          <a:xfrm>
            <a:off x="10186416" y="2560320"/>
            <a:ext cx="2926080" cy="82296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Lonjakan akomodasi 2018</a:t>
            </a:r>
          </a:p>
        </p:txBody>
      </p:sp>
      <p:sp>
        <p:nvSpPr>
          <p:cNvPr id="163" name="TextBox 162"/>
          <p:cNvSpPr txBox="1"/>
          <p:nvPr/>
        </p:nvSpPr>
        <p:spPr>
          <a:xfrm>
            <a:off x="9546336" y="3657600"/>
            <a:ext cx="3474720" cy="365760"/>
          </a:xfrm>
          <a:prstGeom prst="rect">
            <a:avLst/>
          </a:prstGeom>
          <a:noFill/>
        </p:spPr>
        <p:txBody>
          <a:bodyPr wrap="square" anchor="t" lIns="0" rIns="0" tIns="0" bIns="0">
            <a:spAutoFit/>
          </a:bodyPr>
          <a:lstStyle/>
          <a:p>
            <a:pPr algn="l">
              <a:spcAft>
                <a:spcPts val="400"/>
              </a:spcAft>
            </a:pPr>
            <a:r>
              <a:rPr sz="1490" b="1" i="0">
                <a:solidFill>
                  <a:srgbClr val="E4604F"/>
                </a:solidFill>
                <a:latin typeface="Calibri (MS) Bold"/>
              </a:rPr>
              <a:t>Masalah</a:t>
            </a:r>
          </a:p>
        </p:txBody>
      </p:sp>
      <p:sp>
        <p:nvSpPr>
          <p:cNvPr id="164" name="TextBox 163"/>
          <p:cNvSpPr txBox="1"/>
          <p:nvPr/>
        </p:nvSpPr>
        <p:spPr>
          <a:xfrm>
            <a:off x="9546336" y="4023360"/>
            <a:ext cx="3474720" cy="1463040"/>
          </a:xfrm>
          <a:prstGeom prst="rect">
            <a:avLst/>
          </a:prstGeom>
          <a:noFill/>
        </p:spPr>
        <p:txBody>
          <a:bodyPr wrap="square" anchor="t" lIns="0" rIns="0" tIns="0" bIns="0">
            <a:spAutoFit/>
          </a:bodyPr>
          <a:lstStyle/>
          <a:p>
            <a:pPr algn="l">
              <a:spcAft>
                <a:spcPts val="400"/>
              </a:spcAft>
            </a:pPr>
            <a:r>
              <a:rPr sz="1720" b="0" i="0">
                <a:solidFill>
                  <a:srgbClr val="14313B"/>
                </a:solidFill>
                <a:latin typeface="Calibri (MS)"/>
              </a:rPr>
              <a:t>+438 unit, hampir seluruhnya non-bintang; diduga perluasan cakupan pendataan.</a:t>
            </a:r>
          </a:p>
        </p:txBody>
      </p:sp>
      <p:sp>
        <p:nvSpPr>
          <p:cNvPr id="165" name="Rounded Rectangle 164"/>
          <p:cNvSpPr/>
          <p:nvPr/>
        </p:nvSpPr>
        <p:spPr>
          <a:xfrm>
            <a:off x="9500616" y="5715000"/>
            <a:ext cx="3547872" cy="219456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90" b="1" i="0">
                <a:solidFill>
                  <a:srgbClr val="0B5E6E"/>
                </a:solidFill>
                <a:latin typeface="Calibri (MS) Bold"/>
              </a:rPr>
              <a:t>Perlakuan</a:t>
            </a:r>
          </a:p>
          <a:p>
            <a:pPr algn="l">
              <a:spcAft>
                <a:spcPts val="300"/>
              </a:spcAft>
            </a:pPr>
            <a:r>
              <a:rPr sz="1720" b="0" i="0">
                <a:solidFill>
                  <a:srgbClr val="14313B"/>
                </a:solidFill>
                <a:latin typeface="Calibri (MS)"/>
              </a:rPr>
              <a:t>Dipertahankan apa adanya (tidak ada dasar koreksi); dicatat dan diperiksa pada kalibrasi Tahap 1.</a:t>
            </a:r>
          </a:p>
        </p:txBody>
      </p:sp>
      <p:sp>
        <p:nvSpPr>
          <p:cNvPr id="166" name="Rounded Rectangle 165"/>
          <p:cNvSpPr/>
          <p:nvPr/>
        </p:nvSpPr>
        <p:spPr>
          <a:xfrm>
            <a:off x="13496544" y="2331720"/>
            <a:ext cx="4005072" cy="57607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67" name="Oval 166"/>
          <p:cNvSpPr/>
          <p:nvPr/>
        </p:nvSpPr>
        <p:spPr>
          <a:xfrm>
            <a:off x="13725144" y="256032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4</a:t>
            </a:r>
          </a:p>
        </p:txBody>
      </p:sp>
      <p:sp>
        <p:nvSpPr>
          <p:cNvPr id="168" name="TextBox 167"/>
          <p:cNvSpPr txBox="1"/>
          <p:nvPr/>
        </p:nvSpPr>
        <p:spPr>
          <a:xfrm>
            <a:off x="14410944" y="2560320"/>
            <a:ext cx="2926080" cy="82296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Pandemi 2020–2021</a:t>
            </a:r>
          </a:p>
        </p:txBody>
      </p:sp>
      <p:sp>
        <p:nvSpPr>
          <p:cNvPr id="169" name="TextBox 168"/>
          <p:cNvSpPr txBox="1"/>
          <p:nvPr/>
        </p:nvSpPr>
        <p:spPr>
          <a:xfrm>
            <a:off x="13770864" y="3657600"/>
            <a:ext cx="3474720" cy="365760"/>
          </a:xfrm>
          <a:prstGeom prst="rect">
            <a:avLst/>
          </a:prstGeom>
          <a:noFill/>
        </p:spPr>
        <p:txBody>
          <a:bodyPr wrap="square" anchor="t" lIns="0" rIns="0" tIns="0" bIns="0">
            <a:spAutoFit/>
          </a:bodyPr>
          <a:lstStyle/>
          <a:p>
            <a:pPr algn="l">
              <a:spcAft>
                <a:spcPts val="400"/>
              </a:spcAft>
            </a:pPr>
            <a:r>
              <a:rPr sz="1490" b="1" i="0">
                <a:solidFill>
                  <a:srgbClr val="E4604F"/>
                </a:solidFill>
                <a:latin typeface="Calibri (MS) Bold"/>
              </a:rPr>
              <a:t>Masalah</a:t>
            </a:r>
          </a:p>
        </p:txBody>
      </p:sp>
      <p:sp>
        <p:nvSpPr>
          <p:cNvPr id="170" name="TextBox 169"/>
          <p:cNvSpPr txBox="1"/>
          <p:nvPr/>
        </p:nvSpPr>
        <p:spPr>
          <a:xfrm>
            <a:off x="13770864" y="4023360"/>
            <a:ext cx="3474720" cy="1463040"/>
          </a:xfrm>
          <a:prstGeom prst="rect">
            <a:avLst/>
          </a:prstGeom>
          <a:noFill/>
        </p:spPr>
        <p:txBody>
          <a:bodyPr wrap="square" anchor="t" lIns="0" rIns="0" tIns="0" bIns="0">
            <a:spAutoFit/>
          </a:bodyPr>
          <a:lstStyle/>
          <a:p>
            <a:pPr algn="l">
              <a:spcAft>
                <a:spcPts val="400"/>
              </a:spcAft>
            </a:pPr>
            <a:r>
              <a:rPr sz="1720" b="0" i="0">
                <a:solidFill>
                  <a:srgbClr val="14313B"/>
                </a:solidFill>
                <a:latin typeface="Calibri (MS)"/>
              </a:rPr>
              <a:t>Guncangan eksogen yang tidak dimodelkan.</a:t>
            </a:r>
          </a:p>
        </p:txBody>
      </p:sp>
      <p:sp>
        <p:nvSpPr>
          <p:cNvPr id="171" name="Rounded Rectangle 170"/>
          <p:cNvSpPr/>
          <p:nvPr/>
        </p:nvSpPr>
        <p:spPr>
          <a:xfrm>
            <a:off x="13725144" y="5715000"/>
            <a:ext cx="3547872" cy="219456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90" b="1" i="0">
                <a:solidFill>
                  <a:srgbClr val="0B5E6E"/>
                </a:solidFill>
                <a:latin typeface="Calibri (MS) Bold"/>
              </a:rPr>
              <a:t>Perlakuan</a:t>
            </a:r>
          </a:p>
          <a:p>
            <a:pPr algn="l">
              <a:spcAft>
                <a:spcPts val="300"/>
              </a:spcAft>
            </a:pPr>
            <a:r>
              <a:rPr sz="1720" b="0" i="0">
                <a:solidFill>
                  <a:srgbClr val="14313B"/>
                </a:solidFill>
                <a:latin typeface="Calibri (MS)"/>
              </a:rPr>
              <a:t>Tetap disimulasikan; statistik uji dilaporkan dua versi (dengan dan tanpa 2020–2021).</a:t>
            </a:r>
          </a:p>
        </p:txBody>
      </p:sp>
      <p:sp>
        <p:nvSpPr>
          <p:cNvPr id="172" name="Rounded Rectangle 171"/>
          <p:cNvSpPr/>
          <p:nvPr/>
        </p:nvSpPr>
        <p:spPr>
          <a:xfrm>
            <a:off x="822960" y="8458200"/>
            <a:ext cx="16642080" cy="86868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Perlakuan ditetapkan sebelum model dijalankan, sehingga tidak disesuaikan dengan hasil simulasi.</a:t>
            </a:r>
          </a:p>
        </p:txBody>
      </p:sp>
      <p:sp>
        <p:nvSpPr>
          <p:cNvPr id="173" name="TextBox 172"/>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3.7.1, 4.5.1, 4.6.2. Nilai TK 2015–2016 dan pengeluaran 2015–2017 diisi ekstrapolasi CAGR (dokumentasi repository; Lampiran 5).</a:t>
            </a:r>
          </a:p>
        </p:txBody>
      </p:sp>
      <p:sp>
        <p:nvSpPr>
          <p:cNvPr id="174"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B5E6E"/>
        </a:solidFill>
      </p:bgPr>
    </p:bg>
    <p:spTree>
      <p:nvGrpSpPr>
        <p:cNvPr id="1" name=""/>
        <p:cNvGrpSpPr/>
        <p:nvPr/>
      </p:nvGrpSpPr>
      <p:grpSpPr>
        <a:xfrm>
          <a:off x="0" y="0"/>
          <a:ext cx="0" cy="0"/>
          <a:chOff x="0" y="0"/>
          <a:chExt cx="0" cy="0"/>
        </a:xfrm>
      </p:grpSpPr>
      <p:grpSp>
        <p:nvGrpSpPr>
          <p:cNvPr name="Group 2" id="2"/>
          <p:cNvGrpSpPr/>
          <p:nvPr/>
        </p:nvGrpSpPr>
        <p:grpSpPr>
          <a:xfrm rot="0">
            <a:off x="8462772" y="1645920"/>
            <a:ext cx="1371600" cy="1371600"/>
            <a:chOff x="0" y="0"/>
            <a:chExt cx="1828800" cy="1828800"/>
          </a:xfrm>
        </p:grpSpPr>
        <p:sp>
          <p:nvSpPr>
            <p:cNvPr name="Freeform 3" id="3"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3497580"/>
            <a:ext cx="16637508" cy="1371600"/>
            <a:chOff x="0" y="0"/>
            <a:chExt cx="22183344" cy="1828800"/>
          </a:xfrm>
        </p:grpSpPr>
        <p:sp>
          <p:nvSpPr>
            <p:cNvPr name="Freeform 5" id="5"/>
            <p:cNvSpPr/>
            <p:nvPr/>
          </p:nvSpPr>
          <p:spPr>
            <a:xfrm flipH="false" flipV="false" rot="0">
              <a:off x="0" y="0"/>
              <a:ext cx="22183344" cy="1828800"/>
            </a:xfrm>
            <a:custGeom>
              <a:avLst/>
              <a:gdLst/>
              <a:ahLst/>
              <a:cxnLst/>
              <a:rect r="r" b="b" t="t" l="l"/>
              <a:pathLst>
                <a:path h="1828800" w="22183344">
                  <a:moveTo>
                    <a:pt x="0" y="0"/>
                  </a:moveTo>
                  <a:lnTo>
                    <a:pt x="22183344" y="0"/>
                  </a:lnTo>
                  <a:lnTo>
                    <a:pt x="22183344" y="1828800"/>
                  </a:lnTo>
                  <a:lnTo>
                    <a:pt x="0" y="1828800"/>
                  </a:lnTo>
                  <a:close/>
                </a:path>
              </a:pathLst>
            </a:custGeom>
            <a:blipFill>
              <a:blip r:embed="rId4">
                <a:alphaModFix amt="0"/>
              </a:blip>
              <a:stretch>
                <a:fillRect l="0" t="-186188" r="0" b="-186189"/>
              </a:stretch>
            </a:blipFill>
          </p:spPr>
          <p:txBody>
            <a:bodyPr/>
            <a:p/>
          </p:txBody>
        </p:sp>
      </p:grpSp>
      <p:grpSp>
        <p:nvGrpSpPr>
          <p:cNvPr name="Group 6" id="6"/>
          <p:cNvGrpSpPr/>
          <p:nvPr/>
        </p:nvGrpSpPr>
        <p:grpSpPr>
          <a:xfrm rot="0">
            <a:off x="822960" y="3376136"/>
            <a:ext cx="16637508" cy="1493044"/>
            <a:chOff x="0" y="0"/>
            <a:chExt cx="22183344" cy="1990725"/>
          </a:xfrm>
        </p:grpSpPr>
        <p:sp>
          <p:nvSpPr>
            <p:cNvPr name="Freeform 7" id="7"/>
            <p:cNvSpPr/>
            <p:nvPr/>
          </p:nvSpPr>
          <p:spPr>
            <a:xfrm flipH="false" flipV="false" rot="0">
              <a:off x="0" y="0"/>
              <a:ext cx="22183344" cy="1990725"/>
            </a:xfrm>
            <a:custGeom>
              <a:avLst/>
              <a:gdLst/>
              <a:ahLst/>
              <a:cxnLst/>
              <a:rect r="r" b="b" t="t" l="l"/>
              <a:pathLst>
                <a:path h="1990725" w="22183344">
                  <a:moveTo>
                    <a:pt x="0" y="0"/>
                  </a:moveTo>
                  <a:lnTo>
                    <a:pt x="22183344" y="0"/>
                  </a:lnTo>
                  <a:lnTo>
                    <a:pt x="22183344" y="1990725"/>
                  </a:lnTo>
                  <a:lnTo>
                    <a:pt x="0" y="1990725"/>
                  </a:lnTo>
                  <a:close/>
                </a:path>
              </a:pathLst>
            </a:custGeom>
            <a:blipFill>
              <a:blip r:embed="rId5">
                <a:alphaModFix amt="0"/>
              </a:blip>
              <a:stretch>
                <a:fillRect l="0" t="-167128" r="0" b="-167128"/>
              </a:stretch>
            </a:blipFill>
          </p:spPr>
          <p:txBody>
            <a:bodyPr/>
            <a:p/>
          </p:txBody>
        </p:sp>
        <p:sp>
          <p:nvSpPr>
            <p:cNvPr name="TextBox 8" id="8"/>
            <p:cNvSpPr txBox="true"/>
            <p:nvPr/>
          </p:nvSpPr>
          <p:spPr>
            <a:xfrm>
              <a:off x="0" y="-161925"/>
              <a:ext cx="22183344" cy="2152650"/>
            </a:xfrm>
            <a:prstGeom prst="rect">
              <a:avLst/>
            </a:prstGeom>
          </p:spPr>
          <p:txBody>
            <a:bodyPr anchor="ctr" rtlCol="false" tIns="0" lIns="0" bIns="0" rIns="0"/>
            <a:lstStyle/>
            <a:p>
              <a:pPr algn="ctr">
                <a:lnSpc>
                  <a:spcPts val="9360"/>
                </a:lnSpc>
              </a:pPr>
              <a:r>
                <a:rPr lang="en-US" sz="7800" b="true">
                  <a:solidFill>
                    <a:srgbClr val="FFD23B"/>
                  </a:solidFill>
                  <a:latin typeface="Calibri (MS) Bold"/>
                  <a:ea typeface="Calibri (MS) Bold"/>
                  <a:cs typeface="Calibri (MS) Bold"/>
                  <a:sym typeface="Calibri (MS) Bold"/>
                </a:rPr>
                <a:t>Tujuan 1</a:t>
              </a:r>
            </a:p>
          </p:txBody>
        </p:sp>
      </p:grpSp>
      <p:sp>
        <p:nvSpPr>
          <p:cNvPr name="TextBox 9" id="9"/>
          <p:cNvSpPr txBox="true"/>
          <p:nvPr/>
        </p:nvSpPr>
        <p:spPr>
          <a:xfrm rot="0">
            <a:off x="2057400" y="4979670"/>
            <a:ext cx="14168628" cy="1192530"/>
          </a:xfrm>
          <a:prstGeom prst="rect">
            <a:avLst/>
          </a:prstGeom>
        </p:spPr>
        <p:txBody>
          <a:bodyPr anchor="t" rtlCol="false" tIns="0" lIns="0" bIns="0" rIns="0">
            <a:spAutoFit/>
          </a:bodyPr>
          <a:lstStyle/>
          <a:p>
            <a:pPr algn="ctr">
              <a:lnSpc>
                <a:spcPts val="3060"/>
              </a:lnSpc>
            </a:pPr>
            <a:r>
              <a:rPr lang="en-US" sz="2400">
                <a:solidFill>
                  <a:srgbClr val="FFFFFF"/>
                </a:solidFill>
                <a:latin typeface="Calibri (MS)"/>
                <a:ea typeface="Calibri (MS)"/>
                <a:cs typeface="Calibri (MS)"/>
                <a:sym typeface="Calibri (MS)"/>
              </a:rPr>
              <a:t>Mengidentifikasi dan merumuskan variabel-variabel utama penyusun CLD dalam model sistem dinamis kebijakan pariwisata di Provinsi DIY.</a:t>
            </a:r>
          </a:p>
        </p:txBody>
      </p:sp>
      <p:sp>
        <p:nvSpPr>
          <p:cNvPr name="TextBox 10" id="10"/>
          <p:cNvSpPr txBox="true"/>
          <p:nvPr/>
        </p:nvSpPr>
        <p:spPr>
          <a:xfrm rot="0">
            <a:off x="822960" y="6332220"/>
            <a:ext cx="16637508" cy="662940"/>
          </a:xfrm>
          <a:prstGeom prst="rect">
            <a:avLst/>
          </a:prstGeom>
        </p:spPr>
        <p:txBody>
          <a:bodyPr anchor="t" rtlCol="false" tIns="0" lIns="0" bIns="0" rIns="0">
            <a:spAutoFit/>
          </a:bodyPr>
          <a:lstStyle/>
          <a:p>
            <a:pPr algn="ctr">
              <a:lnSpc>
                <a:spcPts val="2700"/>
              </a:lnSpc>
            </a:pPr>
            <a:r>
              <a:rPr lang="en-US" sz="1800" b="true">
                <a:solidFill>
                  <a:srgbClr val="FFFFFF"/>
                </a:solidFill>
                <a:latin typeface="Calibri (MS) Bold"/>
                <a:ea typeface="Calibri (MS) Bold"/>
                <a:cs typeface="Calibri (MS) Bold"/>
                <a:sym typeface="Calibri (MS) Bold"/>
              </a:rPr>
              <a:t>Metode identifikasi  →  Evaluasi kandidat  →  Hubungan kausal  →  CLD  →  Batas model</a:t>
            </a:r>
          </a:p>
        </p:txBody>
      </p:sp>
      <p:grpSp>
        <p:nvGrpSpPr>
          <p:cNvPr name="Group 11" id="11"/>
          <p:cNvGrpSpPr/>
          <p:nvPr/>
        </p:nvGrpSpPr>
        <p:grpSpPr>
          <a:xfrm rot="0">
            <a:off x="6035040" y="7543800"/>
            <a:ext cx="6213348" cy="685800"/>
            <a:chOff x="0" y="0"/>
            <a:chExt cx="8284464" cy="914400"/>
          </a:xfrm>
        </p:grpSpPr>
        <p:sp>
          <p:nvSpPr>
            <p:cNvPr name="Freeform 12" id="12"/>
            <p:cNvSpPr/>
            <p:nvPr/>
          </p:nvSpPr>
          <p:spPr>
            <a:xfrm flipH="false" flipV="false" rot="0">
              <a:off x="0" y="0"/>
              <a:ext cx="8284464" cy="914400"/>
            </a:xfrm>
            <a:custGeom>
              <a:avLst/>
              <a:gdLst/>
              <a:ahLst/>
              <a:cxnLst/>
              <a:rect r="r" b="b" t="t" l="l"/>
              <a:pathLst>
                <a:path h="914400" w="8284464">
                  <a:moveTo>
                    <a:pt x="0" y="457200"/>
                  </a:moveTo>
                  <a:cubicBezTo>
                    <a:pt x="0" y="204724"/>
                    <a:pt x="204724" y="0"/>
                    <a:pt x="457200" y="0"/>
                  </a:cubicBezTo>
                  <a:lnTo>
                    <a:pt x="7827264" y="0"/>
                  </a:lnTo>
                  <a:cubicBezTo>
                    <a:pt x="8079740" y="0"/>
                    <a:pt x="8284464" y="204724"/>
                    <a:pt x="8284464" y="457200"/>
                  </a:cubicBezTo>
                  <a:cubicBezTo>
                    <a:pt x="8284464" y="709676"/>
                    <a:pt x="8079740" y="914400"/>
                    <a:pt x="7827264" y="914400"/>
                  </a:cubicBezTo>
                  <a:lnTo>
                    <a:pt x="457200" y="914400"/>
                  </a:lnTo>
                  <a:cubicBezTo>
                    <a:pt x="204724" y="914400"/>
                    <a:pt x="0" y="709676"/>
                    <a:pt x="0" y="457200"/>
                  </a:cubicBezTo>
                  <a:close/>
                </a:path>
              </a:pathLst>
            </a:custGeom>
            <a:solidFill>
              <a:srgbClr val="39C0D3"/>
            </a:solidFill>
          </p:spPr>
          <p:txBody>
            <a:bodyPr/>
            <a:p/>
          </p:txBody>
        </p:sp>
      </p:grpSp>
      <p:grpSp>
        <p:nvGrpSpPr>
          <p:cNvPr name="Group 13" id="13"/>
          <p:cNvGrpSpPr/>
          <p:nvPr/>
        </p:nvGrpSpPr>
        <p:grpSpPr>
          <a:xfrm rot="0">
            <a:off x="6035040" y="7543800"/>
            <a:ext cx="6213348" cy="685800"/>
            <a:chOff x="0" y="0"/>
            <a:chExt cx="8284464" cy="914400"/>
          </a:xfrm>
        </p:grpSpPr>
        <p:sp>
          <p:nvSpPr>
            <p:cNvPr name="Freeform 14" id="14"/>
            <p:cNvSpPr/>
            <p:nvPr/>
          </p:nvSpPr>
          <p:spPr>
            <a:xfrm flipH="false" flipV="false" rot="0">
              <a:off x="0" y="0"/>
              <a:ext cx="8284464" cy="914400"/>
            </a:xfrm>
            <a:custGeom>
              <a:avLst/>
              <a:gdLst/>
              <a:ahLst/>
              <a:cxnLst/>
              <a:rect r="r" b="b" t="t" l="l"/>
              <a:pathLst>
                <a:path h="914400" w="8284464">
                  <a:moveTo>
                    <a:pt x="0" y="0"/>
                  </a:moveTo>
                  <a:lnTo>
                    <a:pt x="8284464" y="0"/>
                  </a:lnTo>
                  <a:lnTo>
                    <a:pt x="8284464" y="914400"/>
                  </a:lnTo>
                  <a:lnTo>
                    <a:pt x="0" y="914400"/>
                  </a:lnTo>
                  <a:close/>
                </a:path>
              </a:pathLst>
            </a:custGeom>
            <a:blipFill>
              <a:blip r:embed="rId4">
                <a:alphaModFix amt="0"/>
              </a:blip>
              <a:stretch>
                <a:fillRect l="0" t="-126411" r="0" b="-126412"/>
              </a:stretch>
            </a:blipFill>
          </p:spPr>
          <p:txBody>
            <a:bodyPr/>
            <a:p/>
          </p:txBody>
        </p:sp>
      </p:grpSp>
      <p:grpSp>
        <p:nvGrpSpPr>
          <p:cNvPr name="Group 15" id="15"/>
          <p:cNvGrpSpPr/>
          <p:nvPr/>
        </p:nvGrpSpPr>
        <p:grpSpPr>
          <a:xfrm rot="0">
            <a:off x="6035040" y="7508081"/>
            <a:ext cx="6213348" cy="721519"/>
            <a:chOff x="0" y="0"/>
            <a:chExt cx="8284464" cy="962025"/>
          </a:xfrm>
        </p:grpSpPr>
        <p:sp>
          <p:nvSpPr>
            <p:cNvPr name="Freeform 16" id="16"/>
            <p:cNvSpPr/>
            <p:nvPr/>
          </p:nvSpPr>
          <p:spPr>
            <a:xfrm flipH="false" flipV="false" rot="0">
              <a:off x="0" y="0"/>
              <a:ext cx="8284464" cy="962025"/>
            </a:xfrm>
            <a:custGeom>
              <a:avLst/>
              <a:gdLst/>
              <a:ahLst/>
              <a:cxnLst/>
              <a:rect r="r" b="b" t="t" l="l"/>
              <a:pathLst>
                <a:path h="962025" w="8284464">
                  <a:moveTo>
                    <a:pt x="0" y="0"/>
                  </a:moveTo>
                  <a:lnTo>
                    <a:pt x="8284464" y="0"/>
                  </a:lnTo>
                  <a:lnTo>
                    <a:pt x="8284464" y="962025"/>
                  </a:lnTo>
                  <a:lnTo>
                    <a:pt x="0" y="962025"/>
                  </a:lnTo>
                  <a:close/>
                </a:path>
              </a:pathLst>
            </a:custGeom>
            <a:blipFill>
              <a:blip r:embed="rId5">
                <a:alphaModFix amt="0"/>
              </a:blip>
              <a:stretch>
                <a:fillRect l="0" t="-117795" r="0" b="-117795"/>
              </a:stretch>
            </a:blipFill>
          </p:spPr>
          <p:txBody>
            <a:bodyPr/>
            <a:p/>
          </p:txBody>
        </p:sp>
        <p:sp>
          <p:nvSpPr>
            <p:cNvPr name="TextBox 17" id="17"/>
            <p:cNvSpPr txBox="true"/>
            <p:nvPr/>
          </p:nvSpPr>
          <p:spPr>
            <a:xfrm>
              <a:off x="0" y="-47625"/>
              <a:ext cx="8284464" cy="100965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Ringkasan hasil: slide 23</a:t>
              </a:r>
            </a:p>
          </p:txBody>
        </p:sp>
      </p:grpSp>
      <p:sp>
        <p:nvSpPr>
          <p:cNvPr id="18" name="Penanda prioritas S"/>
          <p:cNvSpPr/>
          <p:nvPr/>
        </p:nvSpPr>
        <p:spPr>
          <a:xfrm>
            <a:off x="16962120" y="955548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3.7.2 · Identifikasi dan Perumusan Variabel CLD</a:t>
            </a:r>
          </a:p>
          <a:p>
            <a:pPr algn="l">
              <a:lnSpc>
                <a:spcPct val="100000"/>
              </a:lnSpc>
            </a:pPr>
            <a:r>
              <a:rPr lang="en-US" sz="3500" b="true">
                <a:solidFill>
                  <a:srgbClr val="0B5E6E"/>
                </a:solidFill>
                <a:latin typeface="Calibri (MS) Bold"/>
                <a:ea typeface="Calibri (MS) Bold"/>
                <a:cs typeface="Calibri (MS) Bold"/>
                <a:sym typeface="Calibri (MS) Bold"/>
              </a:rPr>
              <a:t>Metode: kandidat variabel disusun dari rujukan, dikontekstualisasi, lalu dievaluasi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18</a:t>
            </a:r>
          </a:p>
        </p:txBody>
      </p:sp>
      <p:sp>
        <p:nvSpPr>
          <p:cNvPr id="148" name="Rounded Rectangle 147"/>
          <p:cNvSpPr/>
          <p:nvPr/>
        </p:nvSpPr>
        <p:spPr>
          <a:xfrm>
            <a:off x="822960" y="2331720"/>
            <a:ext cx="3749039"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49" name="Oval 148"/>
          <p:cNvSpPr/>
          <p:nvPr/>
        </p:nvSpPr>
        <p:spPr>
          <a:xfrm>
            <a:off x="1051560" y="251460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1</a:t>
            </a:r>
          </a:p>
        </p:txBody>
      </p:sp>
      <p:sp>
        <p:nvSpPr>
          <p:cNvPr id="150" name="TextBox 149"/>
          <p:cNvSpPr txBox="1"/>
          <p:nvPr/>
        </p:nvSpPr>
        <p:spPr>
          <a:xfrm>
            <a:off x="1737360" y="2560320"/>
            <a:ext cx="2697480" cy="54864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Model rujukan</a:t>
            </a:r>
          </a:p>
        </p:txBody>
      </p:sp>
      <p:sp>
        <p:nvSpPr>
          <p:cNvPr id="151" name="TextBox 150"/>
          <p:cNvSpPr txBox="1"/>
          <p:nvPr/>
        </p:nvSpPr>
        <p:spPr>
          <a:xfrm>
            <a:off x="1097280" y="3291840"/>
            <a:ext cx="3291840" cy="1737360"/>
          </a:xfrm>
          <a:prstGeom prst="rect">
            <a:avLst/>
          </a:prstGeom>
          <a:noFill/>
        </p:spPr>
        <p:txBody>
          <a:bodyPr wrap="square" anchor="t" lIns="0" rIns="0" tIns="0" bIns="0">
            <a:spAutoFit/>
          </a:bodyPr>
          <a:lstStyle/>
          <a:p>
            <a:pPr algn="l">
              <a:spcAft>
                <a:spcPts val="400"/>
              </a:spcAft>
            </a:pPr>
            <a:r>
              <a:rPr sz="1670" b="0" i="0">
                <a:solidFill>
                  <a:srgbClr val="14313B"/>
                </a:solidFill>
                <a:latin typeface="Calibri (MS)"/>
              </a:rPr>
              <a:t>Mai &amp; Smith (2018), Cat Ba Island: titik awal mengenali komponen dan feedback loop.</a:t>
            </a:r>
          </a:p>
        </p:txBody>
      </p:sp>
      <p:sp>
        <p:nvSpPr>
          <p:cNvPr id="152" name="Right Arrow 151"/>
          <p:cNvSpPr/>
          <p:nvPr/>
        </p:nvSpPr>
        <p:spPr>
          <a:xfrm>
            <a:off x="4617720" y="3566160"/>
            <a:ext cx="365760" cy="320040"/>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ounded Rectangle 152"/>
          <p:cNvSpPr/>
          <p:nvPr/>
        </p:nvSpPr>
        <p:spPr>
          <a:xfrm>
            <a:off x="5047488" y="2331720"/>
            <a:ext cx="3749039"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4" name="Oval 153"/>
          <p:cNvSpPr/>
          <p:nvPr/>
        </p:nvSpPr>
        <p:spPr>
          <a:xfrm>
            <a:off x="5276088" y="251460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2</a:t>
            </a:r>
          </a:p>
        </p:txBody>
      </p:sp>
      <p:sp>
        <p:nvSpPr>
          <p:cNvPr id="155" name="TextBox 154"/>
          <p:cNvSpPr txBox="1"/>
          <p:nvPr/>
        </p:nvSpPr>
        <p:spPr>
          <a:xfrm>
            <a:off x="5961888" y="2560320"/>
            <a:ext cx="2697480" cy="54864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Kontekstualisasi DIY</a:t>
            </a:r>
          </a:p>
        </p:txBody>
      </p:sp>
      <p:sp>
        <p:nvSpPr>
          <p:cNvPr id="156" name="TextBox 155"/>
          <p:cNvSpPr txBox="1"/>
          <p:nvPr/>
        </p:nvSpPr>
        <p:spPr>
          <a:xfrm>
            <a:off x="5321808" y="3291840"/>
            <a:ext cx="3291840" cy="1737360"/>
          </a:xfrm>
          <a:prstGeom prst="rect">
            <a:avLst/>
          </a:prstGeom>
          <a:noFill/>
        </p:spPr>
        <p:txBody>
          <a:bodyPr wrap="square" anchor="t" lIns="0" rIns="0" tIns="0" bIns="0">
            <a:spAutoFit/>
          </a:bodyPr>
          <a:lstStyle/>
          <a:p>
            <a:pPr algn="l">
              <a:spcAft>
                <a:spcPts val="400"/>
              </a:spcAft>
            </a:pPr>
            <a:r>
              <a:rPr sz="1670" b="0" i="0">
                <a:solidFill>
                  <a:srgbClr val="14313B"/>
                </a:solidFill>
                <a:latin typeface="Calibri (MS)"/>
              </a:rPr>
              <a:t>UU 10/2009, RIPPARDA DIY, Renja Dispar DIY 2025, Renstra Kemenpar 2025–2029, IPKN 2024.</a:t>
            </a:r>
          </a:p>
        </p:txBody>
      </p:sp>
      <p:sp>
        <p:nvSpPr>
          <p:cNvPr id="157" name="Right Arrow 156"/>
          <p:cNvSpPr/>
          <p:nvPr/>
        </p:nvSpPr>
        <p:spPr>
          <a:xfrm>
            <a:off x="8842248" y="3566160"/>
            <a:ext cx="365760" cy="320040"/>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ounded Rectangle 157"/>
          <p:cNvSpPr/>
          <p:nvPr/>
        </p:nvSpPr>
        <p:spPr>
          <a:xfrm>
            <a:off x="9272016" y="2331720"/>
            <a:ext cx="3749039"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9" name="Oval 158"/>
          <p:cNvSpPr/>
          <p:nvPr/>
        </p:nvSpPr>
        <p:spPr>
          <a:xfrm>
            <a:off x="9500616" y="251460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3</a:t>
            </a:r>
          </a:p>
        </p:txBody>
      </p:sp>
      <p:sp>
        <p:nvSpPr>
          <p:cNvPr id="160" name="TextBox 159"/>
          <p:cNvSpPr txBox="1"/>
          <p:nvPr/>
        </p:nvSpPr>
        <p:spPr>
          <a:xfrm>
            <a:off x="10186416" y="2560320"/>
            <a:ext cx="2697480" cy="54864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Literatur substantif</a:t>
            </a:r>
          </a:p>
        </p:txBody>
      </p:sp>
      <p:sp>
        <p:nvSpPr>
          <p:cNvPr id="161" name="TextBox 160"/>
          <p:cNvSpPr txBox="1"/>
          <p:nvPr/>
        </p:nvSpPr>
        <p:spPr>
          <a:xfrm>
            <a:off x="9546336" y="3291840"/>
            <a:ext cx="3291840" cy="1737360"/>
          </a:xfrm>
          <a:prstGeom prst="rect">
            <a:avLst/>
          </a:prstGeom>
          <a:noFill/>
        </p:spPr>
        <p:txBody>
          <a:bodyPr wrap="square" anchor="t" lIns="0" rIns="0" tIns="0" bIns="0">
            <a:spAutoFit/>
          </a:bodyPr>
          <a:lstStyle/>
          <a:p>
            <a:pPr algn="l">
              <a:spcAft>
                <a:spcPts val="400"/>
              </a:spcAft>
            </a:pPr>
            <a:r>
              <a:rPr sz="1670" b="0" i="0">
                <a:solidFill>
                  <a:srgbClr val="14313B"/>
                </a:solidFill>
                <a:latin typeface="Calibri (MS)"/>
              </a:rPr>
              <a:t>Dukungan mekanisme per hubungan: daya tarik, ekonomi, akomodasi, TK, kepadatan, daya dukung.</a:t>
            </a:r>
          </a:p>
        </p:txBody>
      </p:sp>
      <p:sp>
        <p:nvSpPr>
          <p:cNvPr id="162" name="Right Arrow 161"/>
          <p:cNvSpPr/>
          <p:nvPr/>
        </p:nvSpPr>
        <p:spPr>
          <a:xfrm>
            <a:off x="13066776" y="3566160"/>
            <a:ext cx="365760" cy="320040"/>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ounded Rectangle 162"/>
          <p:cNvSpPr/>
          <p:nvPr/>
        </p:nvSpPr>
        <p:spPr>
          <a:xfrm>
            <a:off x="13496544" y="2331720"/>
            <a:ext cx="3749039"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64" name="Oval 163"/>
          <p:cNvSpPr/>
          <p:nvPr/>
        </p:nvSpPr>
        <p:spPr>
          <a:xfrm>
            <a:off x="13725144" y="251460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4</a:t>
            </a:r>
          </a:p>
        </p:txBody>
      </p:sp>
      <p:sp>
        <p:nvSpPr>
          <p:cNvPr id="165" name="TextBox 164"/>
          <p:cNvSpPr txBox="1"/>
          <p:nvPr/>
        </p:nvSpPr>
        <p:spPr>
          <a:xfrm>
            <a:off x="14410944" y="2560320"/>
            <a:ext cx="2697480" cy="54864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Evaluasi struktur</a:t>
            </a:r>
          </a:p>
        </p:txBody>
      </p:sp>
      <p:sp>
        <p:nvSpPr>
          <p:cNvPr id="166" name="TextBox 165"/>
          <p:cNvSpPr txBox="1"/>
          <p:nvPr/>
        </p:nvSpPr>
        <p:spPr>
          <a:xfrm>
            <a:off x="13770864" y="3291840"/>
            <a:ext cx="3291840" cy="1737360"/>
          </a:xfrm>
          <a:prstGeom prst="rect">
            <a:avLst/>
          </a:prstGeom>
          <a:noFill/>
        </p:spPr>
        <p:txBody>
          <a:bodyPr wrap="square" anchor="t" lIns="0" rIns="0" tIns="0" bIns="0">
            <a:spAutoFit/>
          </a:bodyPr>
          <a:lstStyle/>
          <a:p>
            <a:pPr algn="l">
              <a:spcAft>
                <a:spcPts val="400"/>
              </a:spcAft>
            </a:pPr>
            <a:r>
              <a:rPr sz="1670" b="0" i="0">
                <a:solidFill>
                  <a:srgbClr val="14313B"/>
                </a:solidFill>
                <a:latin typeface="Calibri (MS)"/>
              </a:rPr>
              <a:t>Empat tingkat: variabel, hubungan kausal, feedback loop, batas model.</a:t>
            </a:r>
          </a:p>
        </p:txBody>
      </p:sp>
      <p:graphicFrame>
        <p:nvGraphicFramePr>
          <p:cNvPr id="167" name="Table 166"/>
          <p:cNvGraphicFramePr>
            <a:graphicFrameLocks noGrp="1"/>
          </p:cNvGraphicFramePr>
          <p:nvPr/>
        </p:nvGraphicFramePr>
        <p:xfrm>
          <a:off x="822960" y="5349240"/>
          <a:ext cx="16642079" cy="2816352"/>
        </p:xfrm>
        <a:graphic>
          <a:graphicData uri="http://schemas.openxmlformats.org/drawingml/2006/table">
            <a:tbl>
              <a:tblPr firstRow="1" bandRow="1">
                <a:tableStyleId>{5C22544A-7EE6-4342-B048-85BDC9FD1C3A}</a:tableStyleId>
              </a:tblPr>
              <a:tblGrid>
                <a:gridCol w="2333950"/>
                <a:gridCol w="2333950"/>
                <a:gridCol w="8726944"/>
                <a:gridCol w="3247235"/>
              </a:tblGrid>
              <a:tr h="402336">
                <a:tc>
                  <a:txBody>
                    <a:bodyPr wrap="square"/>
                    <a:lstStyle/>
                    <a:p>
                      <a:r>
                        <a:rPr sz="1490" b="1" i="0">
                          <a:solidFill>
                            <a:srgbClr val="FFFFFF"/>
                          </a:solidFill>
                          <a:latin typeface="Calibri (MS) Bold"/>
                        </a:rPr>
                        <a:t>Tingkat</a:t>
                      </a:r>
                    </a:p>
                  </a:txBody>
                  <a:tcPr marL="73152" marR="73152" marT="36576" marB="36576" anchor="ctr">
                    <a:solidFill>
                      <a:srgbClr val="0B5E6E"/>
                    </a:solidFill>
                  </a:tcPr>
                </a:tc>
                <a:tc>
                  <a:txBody>
                    <a:bodyPr wrap="square"/>
                    <a:lstStyle/>
                    <a:p>
                      <a:r>
                        <a:rPr sz="1490" b="1" i="0">
                          <a:solidFill>
                            <a:srgbClr val="FFFFFF"/>
                          </a:solidFill>
                          <a:latin typeface="Calibri (MS) Bold"/>
                        </a:rPr>
                        <a:t>Aspek</a:t>
                      </a:r>
                    </a:p>
                  </a:txBody>
                  <a:tcPr marL="73152" marR="73152" marT="36576" marB="36576" anchor="ctr">
                    <a:solidFill>
                      <a:srgbClr val="0B5E6E"/>
                    </a:solidFill>
                  </a:tcPr>
                </a:tc>
                <a:tc>
                  <a:txBody>
                    <a:bodyPr wrap="square"/>
                    <a:lstStyle/>
                    <a:p>
                      <a:r>
                        <a:rPr sz="1490" b="1" i="0">
                          <a:solidFill>
                            <a:srgbClr val="FFFFFF"/>
                          </a:solidFill>
                          <a:latin typeface="Calibri (MS) Bold"/>
                        </a:rPr>
                        <a:t>Pertanyaan evaluasi</a:t>
                      </a:r>
                    </a:p>
                  </a:txBody>
                  <a:tcPr marL="73152" marR="73152" marT="36576" marB="36576" anchor="ctr">
                    <a:solidFill>
                      <a:srgbClr val="0B5E6E"/>
                    </a:solidFill>
                  </a:tcPr>
                </a:tc>
                <a:tc>
                  <a:txBody>
                    <a:bodyPr wrap="square"/>
                    <a:lstStyle/>
                    <a:p>
                      <a:r>
                        <a:rPr sz="1490" b="1" i="0">
                          <a:solidFill>
                            <a:srgbClr val="FFFFFF"/>
                          </a:solidFill>
                          <a:latin typeface="Calibri (MS) Bold"/>
                        </a:rPr>
                        <a:t>Dasar</a:t>
                      </a:r>
                    </a:p>
                  </a:txBody>
                  <a:tcPr marL="73152" marR="73152" marT="36576" marB="36576" anchor="ctr">
                    <a:solidFill>
                      <a:srgbClr val="0B5E6E"/>
                    </a:solidFill>
                  </a:tcPr>
                </a:tc>
              </a:tr>
              <a:tr h="402336">
                <a:tc>
                  <a:txBody>
                    <a:bodyPr wrap="square"/>
                    <a:lstStyle/>
                    <a:p>
                      <a:r>
                        <a:rPr sz="1490" b="0" i="0">
                          <a:solidFill>
                            <a:srgbClr val="14313B"/>
                          </a:solidFill>
                          <a:latin typeface="Calibri (MS)"/>
                        </a:rPr>
                        <a:t>Variabel</a:t>
                      </a:r>
                    </a:p>
                  </a:txBody>
                  <a:tcPr marL="73152" marR="73152" marT="36576" marB="36576" anchor="ctr">
                    <a:solidFill>
                      <a:srgbClr val="FFFFFF"/>
                    </a:solidFill>
                  </a:tcPr>
                </a:tc>
                <a:tc>
                  <a:txBody>
                    <a:bodyPr wrap="square"/>
                    <a:lstStyle/>
                    <a:p>
                      <a:r>
                        <a:rPr sz="1490" b="0" i="0">
                          <a:solidFill>
                            <a:srgbClr val="14313B"/>
                          </a:solidFill>
                          <a:latin typeface="Calibri (MS)"/>
                        </a:rPr>
                        <a:t>Relevansi &amp; definisi</a:t>
                      </a:r>
                    </a:p>
                  </a:txBody>
                  <a:tcPr marL="73152" marR="73152" marT="36576" marB="36576" anchor="ctr">
                    <a:solidFill>
                      <a:srgbClr val="FFFFFF"/>
                    </a:solidFill>
                  </a:tcPr>
                </a:tc>
                <a:tc>
                  <a:txBody>
                    <a:bodyPr wrap="square"/>
                    <a:lstStyle/>
                    <a:p>
                      <a:r>
                        <a:rPr sz="1490" b="0" i="0">
                          <a:solidFill>
                            <a:srgbClr val="14313B"/>
                          </a:solidFill>
                          <a:latin typeface="Calibri (MS)"/>
                        </a:rPr>
                        <a:t>Relevan terhadap masalah dan punya definisi operasional jelas?</a:t>
                      </a:r>
                    </a:p>
                  </a:txBody>
                  <a:tcPr marL="73152" marR="73152" marT="36576" marB="36576" anchor="ctr">
                    <a:solidFill>
                      <a:srgbClr val="FFFFFF"/>
                    </a:solidFill>
                  </a:tcPr>
                </a:tc>
                <a:tc>
                  <a:txBody>
                    <a:bodyPr wrap="square"/>
                    <a:lstStyle/>
                    <a:p>
                      <a:r>
                        <a:rPr sz="1490" b="0" i="0">
                          <a:solidFill>
                            <a:srgbClr val="14313B"/>
                          </a:solidFill>
                          <a:latin typeface="Calibri (MS)"/>
                        </a:rPr>
                        <a:t>Sterman (2000)</a:t>
                      </a:r>
                    </a:p>
                  </a:txBody>
                  <a:tcPr marL="73152" marR="73152" marT="36576" marB="36576" anchor="ctr">
                    <a:solidFill>
                      <a:srgbClr val="FFFFFF"/>
                    </a:solidFill>
                  </a:tcPr>
                </a:tc>
              </a:tr>
              <a:tr h="402336">
                <a:tc>
                  <a:txBody>
                    <a:bodyPr wrap="square"/>
                    <a:lstStyle/>
                    <a:p>
                      <a:r>
                        <a:rPr sz="1490" b="0" i="0">
                          <a:solidFill>
                            <a:srgbClr val="14313B"/>
                          </a:solidFill>
                          <a:latin typeface="Calibri (MS)"/>
                        </a:rPr>
                        <a:t>Hubungan kausal</a:t>
                      </a:r>
                    </a:p>
                  </a:txBody>
                  <a:tcPr marL="73152" marR="73152" marT="36576" marB="36576" anchor="ctr">
                    <a:solidFill>
                      <a:srgbClr val="EAF8FA"/>
                    </a:solidFill>
                  </a:tcPr>
                </a:tc>
                <a:tc>
                  <a:txBody>
                    <a:bodyPr wrap="square"/>
                    <a:lstStyle/>
                    <a:p>
                      <a:r>
                        <a:rPr sz="1490" b="0" i="0">
                          <a:solidFill>
                            <a:srgbClr val="14313B"/>
                          </a:solidFill>
                          <a:latin typeface="Calibri (MS)"/>
                        </a:rPr>
                        <a:t>Mekanisme</a:t>
                      </a:r>
                    </a:p>
                  </a:txBody>
                  <a:tcPr marL="73152" marR="73152" marT="36576" marB="36576" anchor="ctr">
                    <a:solidFill>
                      <a:srgbClr val="EAF8FA"/>
                    </a:solidFill>
                  </a:tcPr>
                </a:tc>
                <a:tc>
                  <a:txBody>
                    <a:bodyPr wrap="square"/>
                    <a:lstStyle/>
                    <a:p>
                      <a:r>
                        <a:rPr sz="1490" b="0" i="0">
                          <a:solidFill>
                            <a:srgbClr val="14313B"/>
                          </a:solidFill>
                          <a:latin typeface="Calibri (MS)"/>
                        </a:rPr>
                        <a:t>Ada mekanisme yang menjelaskan perubahan variabel akibat?</a:t>
                      </a:r>
                    </a:p>
                  </a:txBody>
                  <a:tcPr marL="73152" marR="73152" marT="36576" marB="36576" anchor="ctr">
                    <a:solidFill>
                      <a:srgbClr val="EAF8FA"/>
                    </a:solidFill>
                  </a:tcPr>
                </a:tc>
                <a:tc>
                  <a:txBody>
                    <a:bodyPr wrap="square"/>
                    <a:lstStyle/>
                    <a:p>
                      <a:r>
                        <a:rPr sz="1490" b="0" i="0">
                          <a:solidFill>
                            <a:srgbClr val="14313B"/>
                          </a:solidFill>
                          <a:latin typeface="Calibri (MS)"/>
                        </a:rPr>
                        <a:t>Sterman (2000); Barlas (1996)</a:t>
                      </a:r>
                    </a:p>
                  </a:txBody>
                  <a:tcPr marL="73152" marR="73152" marT="36576" marB="36576" anchor="ctr">
                    <a:solidFill>
                      <a:srgbClr val="EAF8FA"/>
                    </a:solidFill>
                  </a:tcPr>
                </a:tc>
              </a:tr>
              <a:tr h="402336">
                <a:tc>
                  <a:txBody>
                    <a:bodyPr wrap="square"/>
                    <a:lstStyle/>
                    <a:p>
                      <a:r>
                        <a:rPr sz="1490" b="0" i="0">
                          <a:solidFill>
                            <a:srgbClr val="14313B"/>
                          </a:solidFill>
                          <a:latin typeface="Calibri (MS)"/>
                        </a:rPr>
                        <a:t>Hubungan kausal</a:t>
                      </a:r>
                    </a:p>
                  </a:txBody>
                  <a:tcPr marL="73152" marR="73152" marT="36576" marB="36576" anchor="ctr">
                    <a:solidFill>
                      <a:srgbClr val="FFFFFF"/>
                    </a:solidFill>
                  </a:tcPr>
                </a:tc>
                <a:tc>
                  <a:txBody>
                    <a:bodyPr wrap="square"/>
                    <a:lstStyle/>
                    <a:p>
                      <a:r>
                        <a:rPr sz="1490" b="0" i="0">
                          <a:solidFill>
                            <a:srgbClr val="14313B"/>
                          </a:solidFill>
                          <a:latin typeface="Calibri (MS)"/>
                        </a:rPr>
                        <a:t>Polaritas</a:t>
                      </a:r>
                    </a:p>
                  </a:txBody>
                  <a:tcPr marL="73152" marR="73152" marT="36576" marB="36576" anchor="ctr">
                    <a:solidFill>
                      <a:srgbClr val="FFFFFF"/>
                    </a:solidFill>
                  </a:tcPr>
                </a:tc>
                <a:tc>
                  <a:txBody>
                    <a:bodyPr wrap="square"/>
                    <a:lstStyle/>
                    <a:p>
                      <a:r>
                        <a:rPr sz="1490" b="0" i="0">
                          <a:solidFill>
                            <a:srgbClr val="14313B"/>
                          </a:solidFill>
                          <a:latin typeface="Calibri (MS)"/>
                        </a:rPr>
                        <a:t>Tanda (+/−) konsisten dengan arah pengaruh ceteris paribus?</a:t>
                      </a:r>
                    </a:p>
                  </a:txBody>
                  <a:tcPr marL="73152" marR="73152" marT="36576" marB="36576" anchor="ctr">
                    <a:solidFill>
                      <a:srgbClr val="FFFFFF"/>
                    </a:solidFill>
                  </a:tcPr>
                </a:tc>
                <a:tc>
                  <a:txBody>
                    <a:bodyPr wrap="square"/>
                    <a:lstStyle/>
                    <a:p>
                      <a:r>
                        <a:rPr sz="1490" b="0" i="0">
                          <a:solidFill>
                            <a:srgbClr val="14313B"/>
                          </a:solidFill>
                          <a:latin typeface="Calibri (MS)"/>
                        </a:rPr>
                        <a:t>Richardson (1997)</a:t>
                      </a:r>
                    </a:p>
                  </a:txBody>
                  <a:tcPr marL="73152" marR="73152" marT="36576" marB="36576" anchor="ctr">
                    <a:solidFill>
                      <a:srgbClr val="FFFFFF"/>
                    </a:solidFill>
                  </a:tcPr>
                </a:tc>
              </a:tr>
              <a:tr h="402336">
                <a:tc>
                  <a:txBody>
                    <a:bodyPr wrap="square"/>
                    <a:lstStyle/>
                    <a:p>
                      <a:r>
                        <a:rPr sz="1490" b="0" i="0">
                          <a:solidFill>
                            <a:srgbClr val="14313B"/>
                          </a:solidFill>
                          <a:latin typeface="Calibri (MS)"/>
                        </a:rPr>
                        <a:t>Hubungan kausal</a:t>
                      </a:r>
                    </a:p>
                  </a:txBody>
                  <a:tcPr marL="73152" marR="73152" marT="36576" marB="36576" anchor="ctr">
                    <a:solidFill>
                      <a:srgbClr val="EAF8FA"/>
                    </a:solidFill>
                  </a:tcPr>
                </a:tc>
                <a:tc>
                  <a:txBody>
                    <a:bodyPr wrap="square"/>
                    <a:lstStyle/>
                    <a:p>
                      <a:r>
                        <a:rPr sz="1490" b="0" i="0">
                          <a:solidFill>
                            <a:srgbClr val="14313B"/>
                          </a:solidFill>
                          <a:latin typeface="Calibri (MS)"/>
                        </a:rPr>
                        <a:t>Dukungan sumber</a:t>
                      </a:r>
                    </a:p>
                  </a:txBody>
                  <a:tcPr marL="73152" marR="73152" marT="36576" marB="36576" anchor="ctr">
                    <a:solidFill>
                      <a:srgbClr val="EAF8FA"/>
                    </a:solidFill>
                  </a:tcPr>
                </a:tc>
                <a:tc>
                  <a:txBody>
                    <a:bodyPr wrap="square"/>
                    <a:lstStyle/>
                    <a:p>
                      <a:r>
                        <a:rPr sz="1490" b="0" i="0">
                          <a:solidFill>
                            <a:srgbClr val="14313B"/>
                          </a:solidFill>
                          <a:latin typeface="Calibri (MS)"/>
                        </a:rPr>
                        <a:t>Didukung teori, bukti empiris, atau identitas model yang jelas?</a:t>
                      </a:r>
                    </a:p>
                  </a:txBody>
                  <a:tcPr marL="73152" marR="73152" marT="36576" marB="36576" anchor="ctr">
                    <a:solidFill>
                      <a:srgbClr val="EAF8FA"/>
                    </a:solidFill>
                  </a:tcPr>
                </a:tc>
                <a:tc>
                  <a:txBody>
                    <a:bodyPr wrap="square"/>
                    <a:lstStyle/>
                    <a:p>
                      <a:r>
                        <a:rPr sz="1490" b="0" i="0">
                          <a:solidFill>
                            <a:srgbClr val="14313B"/>
                          </a:solidFill>
                          <a:latin typeface="Calibri (MS)"/>
                        </a:rPr>
                        <a:t>Barlas (1996)</a:t>
                      </a:r>
                    </a:p>
                  </a:txBody>
                  <a:tcPr marL="73152" marR="73152" marT="36576" marB="36576" anchor="ctr">
                    <a:solidFill>
                      <a:srgbClr val="EAF8FA"/>
                    </a:solidFill>
                  </a:tcPr>
                </a:tc>
              </a:tr>
              <a:tr h="402336">
                <a:tc>
                  <a:txBody>
                    <a:bodyPr wrap="square"/>
                    <a:lstStyle/>
                    <a:p>
                      <a:r>
                        <a:rPr sz="1490" b="0" i="0">
                          <a:solidFill>
                            <a:srgbClr val="14313B"/>
                          </a:solidFill>
                          <a:latin typeface="Calibri (MS)"/>
                        </a:rPr>
                        <a:t>Feedback loop</a:t>
                      </a:r>
                    </a:p>
                  </a:txBody>
                  <a:tcPr marL="73152" marR="73152" marT="36576" marB="36576" anchor="ctr">
                    <a:solidFill>
                      <a:srgbClr val="FFFFFF"/>
                    </a:solidFill>
                  </a:tcPr>
                </a:tc>
                <a:tc>
                  <a:txBody>
                    <a:bodyPr wrap="square"/>
                    <a:lstStyle/>
                    <a:p>
                      <a:r>
                        <a:rPr sz="1490" b="0" i="0">
                          <a:solidFill>
                            <a:srgbClr val="14313B"/>
                          </a:solidFill>
                          <a:latin typeface="Calibri (MS)"/>
                        </a:rPr>
                        <a:t>Konsistensi</a:t>
                      </a:r>
                    </a:p>
                  </a:txBody>
                  <a:tcPr marL="73152" marR="73152" marT="36576" marB="36576" anchor="ctr">
                    <a:solidFill>
                      <a:srgbClr val="FFFFFF"/>
                    </a:solidFill>
                  </a:tcPr>
                </a:tc>
                <a:tc>
                  <a:txBody>
                    <a:bodyPr wrap="square"/>
                    <a:lstStyle/>
                    <a:p>
                      <a:r>
                        <a:rPr sz="1490" b="0" i="0">
                          <a:solidFill>
                            <a:srgbClr val="14313B"/>
                          </a:solidFill>
                          <a:latin typeface="Calibri (MS)"/>
                        </a:rPr>
                        <a:t>Rangkaian menghasilkan mekanisme reinforcing/balancing yang logis?</a:t>
                      </a:r>
                    </a:p>
                  </a:txBody>
                  <a:tcPr marL="73152" marR="73152" marT="36576" marB="36576" anchor="ctr">
                    <a:solidFill>
                      <a:srgbClr val="FFFFFF"/>
                    </a:solidFill>
                  </a:tcPr>
                </a:tc>
                <a:tc>
                  <a:txBody>
                    <a:bodyPr wrap="square"/>
                    <a:lstStyle/>
                    <a:p>
                      <a:r>
                        <a:rPr sz="1490" b="0" i="0">
                          <a:solidFill>
                            <a:srgbClr val="14313B"/>
                          </a:solidFill>
                          <a:latin typeface="Calibri (MS)"/>
                        </a:rPr>
                        <a:t>Sterman (2000)</a:t>
                      </a:r>
                    </a:p>
                  </a:txBody>
                  <a:tcPr marL="73152" marR="73152" marT="36576" marB="36576" anchor="ctr">
                    <a:solidFill>
                      <a:srgbClr val="FFFFFF"/>
                    </a:solidFill>
                  </a:tcPr>
                </a:tc>
              </a:tr>
              <a:tr h="402336">
                <a:tc>
                  <a:txBody>
                    <a:bodyPr wrap="square"/>
                    <a:lstStyle/>
                    <a:p>
                      <a:r>
                        <a:rPr sz="1490" b="0" i="0">
                          <a:solidFill>
                            <a:srgbClr val="14313B"/>
                          </a:solidFill>
                          <a:latin typeface="Calibri (MS)"/>
                        </a:rPr>
                        <a:t>Batas model</a:t>
                      </a:r>
                    </a:p>
                  </a:txBody>
                  <a:tcPr marL="73152" marR="73152" marT="36576" marB="36576" anchor="ctr">
                    <a:solidFill>
                      <a:srgbClr val="EAF8FA"/>
                    </a:solidFill>
                  </a:tcPr>
                </a:tc>
                <a:tc>
                  <a:txBody>
                    <a:bodyPr wrap="square"/>
                    <a:lstStyle/>
                    <a:p>
                      <a:r>
                        <a:rPr sz="1490" b="0" i="0">
                          <a:solidFill>
                            <a:srgbClr val="14313B"/>
                          </a:solidFill>
                          <a:latin typeface="Calibri (MS)"/>
                        </a:rPr>
                        <a:t>Kecukupan</a:t>
                      </a:r>
                    </a:p>
                  </a:txBody>
                  <a:tcPr marL="73152" marR="73152" marT="36576" marB="36576" anchor="ctr">
                    <a:solidFill>
                      <a:srgbClr val="EAF8FA"/>
                    </a:solidFill>
                  </a:tcPr>
                </a:tc>
                <a:tc>
                  <a:txBody>
                    <a:bodyPr wrap="square"/>
                    <a:lstStyle/>
                    <a:p>
                      <a:r>
                        <a:rPr sz="1490" b="0" i="0">
                          <a:solidFill>
                            <a:srgbClr val="14313B"/>
                          </a:solidFill>
                          <a:latin typeface="Calibri (MS)"/>
                        </a:rPr>
                        <a:t>Cukup menjelaskan masalah tanpa aspek yang tidak diperlukan?</a:t>
                      </a:r>
                    </a:p>
                  </a:txBody>
                  <a:tcPr marL="73152" marR="73152" marT="36576" marB="36576" anchor="ctr">
                    <a:solidFill>
                      <a:srgbClr val="EAF8FA"/>
                    </a:solidFill>
                  </a:tcPr>
                </a:tc>
                <a:tc>
                  <a:txBody>
                    <a:bodyPr wrap="square"/>
                    <a:lstStyle/>
                    <a:p>
                      <a:r>
                        <a:rPr sz="1490" b="0" i="0">
                          <a:solidFill>
                            <a:srgbClr val="14313B"/>
                          </a:solidFill>
                          <a:latin typeface="Calibri (MS)"/>
                        </a:rPr>
                        <a:t>Mai &amp; Smith (2018)</a:t>
                      </a:r>
                    </a:p>
                  </a:txBody>
                  <a:tcPr marL="73152" marR="73152" marT="36576" marB="36576" anchor="ctr">
                    <a:solidFill>
                      <a:srgbClr val="EAF8FA"/>
                    </a:solidFill>
                  </a:tcPr>
                </a:tc>
              </a:tr>
            </a:tbl>
          </a:graphicData>
        </a:graphic>
      </p:graphicFrame>
      <p:sp>
        <p:nvSpPr>
          <p:cNvPr id="168" name="Rounded Rectangle 167"/>
          <p:cNvSpPr/>
          <p:nvPr/>
        </p:nvSpPr>
        <p:spPr>
          <a:xfrm>
            <a:off x="822960" y="836676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CLD adalah hasil adaptasi + kontekstualisasi + evaluasi, bukan salinan model rujukan; ketersediaan data dipertimbangkan saat operasionalisasi.</a:t>
            </a:r>
          </a:p>
        </p:txBody>
      </p:sp>
      <p:sp>
        <p:nvSpPr>
          <p:cNvPr id="169" name="TextBox 168"/>
          <p:cNvSpPr txBox="1"/>
          <p:nvPr/>
        </p:nvSpPr>
        <p:spPr>
          <a:xfrm>
            <a:off x="822960" y="9217152"/>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3.7.2.1–3.7.2.2, Tabel 10–11.</a:t>
            </a:r>
          </a:p>
        </p:txBody>
      </p:sp>
      <p:sp>
        <p:nvSpPr>
          <p:cNvPr id="170"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4.1.1 · Hasil Identifikasi dan Evaluasi Variabel CLD</a:t>
            </a:r>
          </a:p>
          <a:p>
            <a:pPr algn="l">
              <a:lnSpc>
                <a:spcPct val="100000"/>
              </a:lnSpc>
            </a:pPr>
            <a:r>
              <a:rPr lang="en-US" sz="3500" b="true">
                <a:solidFill>
                  <a:srgbClr val="0B5E6E"/>
                </a:solidFill>
                <a:latin typeface="Calibri (MS) Bold"/>
                <a:ea typeface="Calibri (MS) Bold"/>
                <a:cs typeface="Calibri (MS) Bold"/>
                <a:sym typeface="Calibri (MS) Bold"/>
              </a:rPr>
              <a:t>CLD disusun lewat adaptasi dan evaluasi, bukan replikasi model rujukan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19</a:t>
            </a:r>
          </a:p>
        </p:txBody>
      </p:sp>
      <p:sp>
        <p:nvSpPr>
          <p:cNvPr name="TextBox 53" id="53"/>
          <p:cNvSpPr txBox="true"/>
          <p:nvPr/>
        </p:nvSpPr>
        <p:spPr>
          <a:xfrm rot="0">
            <a:off x="822960" y="2228850"/>
            <a:ext cx="10149840" cy="514350"/>
          </a:xfrm>
          <a:prstGeom prst="rect">
            <a:avLst/>
          </a:prstGeom>
        </p:spPr>
        <p:txBody>
          <a:bodyPr anchor="t" rtlCol="false" tIns="0" lIns="0" bIns="0" rIns="0">
            <a:spAutoFit/>
          </a:bodyPr>
          <a:lstStyle/>
          <a:p>
            <a:pPr algn="l">
              <a:lnSpc>
                <a:spcPts val="2688"/>
              </a:lnSpc>
            </a:pPr>
            <a:r>
              <a:rPr lang="en-US" sz="2000" b="true">
                <a:solidFill>
                  <a:srgbClr val="0B5E6E"/>
                </a:solidFill>
                <a:latin typeface="Calibri (MS) Bold"/>
                <a:ea typeface="Calibri (MS) Bold"/>
                <a:cs typeface="Calibri (MS) Bold"/>
                <a:sym typeface="Calibri (MS) Bold"/>
              </a:rPr>
              <a:t>Hasil evaluasi kandidat variabel penyusun CLD</a:t>
            </a:r>
          </a:p>
        </p:txBody>
      </p:sp>
      <p:graphicFrame>
        <p:nvGraphicFramePr>
          <p:cNvPr name="Table 54" id="54"/>
          <p:cNvGraphicFramePr>
            <a:graphicFrameLocks noGrp="true"/>
          </p:cNvGraphicFramePr>
          <p:nvPr/>
        </p:nvGraphicFramePr>
        <p:xfrm>
          <a:off x="822960" y="2880360"/>
          <a:ext cx="10134600" cy="4838700"/>
        </p:xfrm>
        <a:graphic>
          <a:graphicData uri="http://schemas.openxmlformats.org/drawingml/2006/table">
            <a:tbl>
              <a:tblPr/>
              <a:tblGrid>
                <a:gridCol w="2465173"/>
                <a:gridCol w="5569465"/>
                <a:gridCol w="2099962"/>
              </a:tblGrid>
              <a:tr h="489807">
                <a:tc>
                  <a:txBody>
                    <a:bodyPr anchor="t" rtlCol="false"/>
                    <a:lstStyle/>
                    <a:p>
                      <a:pPr algn="l">
                        <a:lnSpc>
                          <a:spcPts val="1680"/>
                        </a:lnSpc>
                        <a:defRPr/>
                      </a:pPr>
                      <a:r>
                        <a:rPr lang="en-US" sz="1400" b="true">
                          <a:solidFill>
                            <a:srgbClr val="FFFFFF"/>
                          </a:solidFill>
                          <a:latin typeface="Calibri (MS) Bold"/>
                          <a:ea typeface="Calibri (MS) Bold"/>
                          <a:cs typeface="Calibri (MS) Bold"/>
                          <a:sym typeface="Calibri (MS) Bold"/>
                        </a:rPr>
                        <a:t>Subsistem</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680"/>
                        </a:lnSpc>
                        <a:defRPr/>
                      </a:pPr>
                      <a:r>
                        <a:rPr lang="en-US" sz="1400" b="true">
                          <a:solidFill>
                            <a:srgbClr val="FFFFFF"/>
                          </a:solidFill>
                          <a:latin typeface="Calibri (MS) Bold"/>
                          <a:ea typeface="Calibri (MS) Bold"/>
                          <a:cs typeface="Calibri (MS) Bold"/>
                          <a:sym typeface="Calibri (MS) Bold"/>
                        </a:rPr>
                        <a:t>Kandidat variabel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680"/>
                        </a:lnSpc>
                        <a:defRPr/>
                      </a:pPr>
                      <a:r>
                        <a:rPr lang="en-US" sz="1400" b="true">
                          <a:solidFill>
                            <a:srgbClr val="FFFFFF"/>
                          </a:solidFill>
                          <a:latin typeface="Calibri (MS) Bold"/>
                          <a:ea typeface="Calibri (MS) Bold"/>
                          <a:cs typeface="Calibri (MS) Bold"/>
                          <a:sym typeface="Calibri (MS) Bold"/>
                        </a:rPr>
                        <a:t>Status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72481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Permintaan &amp; daya tarik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Jumlah Wisatawan, Laju Kedatangan, Daya Tarik Destinasi, Kepadatan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81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Atraksi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Jumlah ODTW</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81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Ekonomi &amp; investasi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Pengeluaran Wisatawan, PDRB Sektor Pariwisata, Investasi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81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Akomodasi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Jumlah Hotel &amp; Akomodasi, Rasio Permintaan thd Kapasitas Kamar, Laju Konstruksi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81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Lahan &amp; daya dukung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Rasio Daya Dukung 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81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Tenaga kerja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Tenaga Kerja Pariwisata, Selisih TK Dibutuhkan, Laju Penyerapan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 peran direvisi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r>
            </a:tbl>
          </a:graphicData>
        </a:graphic>
      </p:graphicFrame>
      <p:sp>
        <p:nvSpPr>
          <p:cNvPr name="TextBox 55" id="55"/>
          <p:cNvSpPr txBox="true"/>
          <p:nvPr/>
        </p:nvSpPr>
        <p:spPr>
          <a:xfrm rot="0">
            <a:off x="822960" y="7953375"/>
            <a:ext cx="10149840" cy="870585"/>
          </a:xfrm>
          <a:prstGeom prst="rect">
            <a:avLst/>
          </a:prstGeom>
        </p:spPr>
        <p:txBody>
          <a:bodyPr anchor="t" rtlCol="false" tIns="0" lIns="0" bIns="0" rIns="0">
            <a:spAutoFit/>
          </a:bodyPr>
          <a:lstStyle/>
          <a:p>
            <a:pPr algn="l">
              <a:lnSpc>
                <a:spcPts val="1881"/>
              </a:lnSpc>
            </a:pPr>
            <a:r>
              <a:rPr lang="en-US" sz="1400">
                <a:solidFill>
                  <a:srgbClr val="5E6E78"/>
                </a:solidFill>
                <a:latin typeface="Calibri (MS)"/>
                <a:ea typeface="Calibri (MS)"/>
                <a:cs typeface="Calibri (MS)"/>
                <a:sym typeface="Calibri (MS)"/>
              </a:rPr>
              <a:t>Dasar evaluasi: regulasi dan dokumen perencanaan (RIPPARDA DIY 2012; Renja Dinas Pariwisata DIY 2025), indikator resmi, karakteristik empiris DIY, dan literatur.</a:t>
            </a:r>
          </a:p>
        </p:txBody>
      </p:sp>
      <p:grpSp>
        <p:nvGrpSpPr>
          <p:cNvPr name="Group 56" id="56"/>
          <p:cNvGrpSpPr/>
          <p:nvPr/>
        </p:nvGrpSpPr>
        <p:grpSpPr>
          <a:xfrm rot="0">
            <a:off x="11384280" y="2395728"/>
            <a:ext cx="6071616" cy="1828800"/>
            <a:chOff x="0" y="0"/>
            <a:chExt cx="8095488" cy="2438400"/>
          </a:xfrm>
        </p:grpSpPr>
        <p:sp>
          <p:nvSpPr>
            <p:cNvPr name="Freeform 57" id="57"/>
            <p:cNvSpPr/>
            <p:nvPr/>
          </p:nvSpPr>
          <p:spPr>
            <a:xfrm flipH="false" flipV="false" rot="0">
              <a:off x="0" y="0"/>
              <a:ext cx="8095488" cy="2438400"/>
            </a:xfrm>
            <a:custGeom>
              <a:avLst/>
              <a:gdLst/>
              <a:ahLst/>
              <a:cxnLst/>
              <a:rect r="r" b="b" t="t" l="l"/>
              <a:pathLst>
                <a:path h="2438400" w="8095488">
                  <a:moveTo>
                    <a:pt x="0" y="170688"/>
                  </a:moveTo>
                  <a:cubicBezTo>
                    <a:pt x="0" y="76454"/>
                    <a:pt x="76454" y="0"/>
                    <a:pt x="170688" y="0"/>
                  </a:cubicBezTo>
                  <a:lnTo>
                    <a:pt x="7924800" y="0"/>
                  </a:lnTo>
                  <a:cubicBezTo>
                    <a:pt x="8019034" y="0"/>
                    <a:pt x="8095488" y="76454"/>
                    <a:pt x="8095488" y="170688"/>
                  </a:cubicBezTo>
                  <a:lnTo>
                    <a:pt x="8095488" y="2267712"/>
                  </a:lnTo>
                  <a:cubicBezTo>
                    <a:pt x="8095488" y="2361946"/>
                    <a:pt x="8019034" y="2438400"/>
                    <a:pt x="7924800" y="2438400"/>
                  </a:cubicBezTo>
                  <a:lnTo>
                    <a:pt x="170688" y="2438400"/>
                  </a:lnTo>
                  <a:cubicBezTo>
                    <a:pt x="76454" y="2438400"/>
                    <a:pt x="0" y="2361946"/>
                    <a:pt x="0" y="2267712"/>
                  </a:cubicBezTo>
                  <a:close/>
                </a:path>
              </a:pathLst>
            </a:custGeom>
            <a:solidFill>
              <a:srgbClr val="EAF8FA"/>
            </a:solidFill>
          </p:spPr>
        </p:sp>
      </p:grpSp>
      <p:sp>
        <p:nvSpPr>
          <p:cNvPr name="TextBox 58" id="58"/>
          <p:cNvSpPr txBox="true"/>
          <p:nvPr/>
        </p:nvSpPr>
        <p:spPr>
          <a:xfrm rot="0">
            <a:off x="11658600" y="2417445"/>
            <a:ext cx="5522976" cy="874395"/>
          </a:xfrm>
          <a:prstGeom prst="rect">
            <a:avLst/>
          </a:prstGeom>
        </p:spPr>
        <p:txBody>
          <a:bodyPr anchor="t" rtlCol="false" tIns="0" lIns="0" bIns="0" rIns="0">
            <a:spAutoFit/>
          </a:bodyPr>
          <a:lstStyle/>
          <a:p>
            <a:pPr algn="l">
              <a:lnSpc>
                <a:spcPts val="5375"/>
              </a:lnSpc>
            </a:pPr>
            <a:r>
              <a:rPr lang="en-US" sz="3999" b="true">
                <a:solidFill>
                  <a:srgbClr val="0B5E6E"/>
                </a:solidFill>
                <a:latin typeface="Calibri (MS) Bold"/>
                <a:ea typeface="Calibri (MS) Bold"/>
                <a:cs typeface="Calibri (MS) Bold"/>
                <a:sym typeface="Calibri (MS) Bold"/>
              </a:rPr>
              <a:t>15</a:t>
            </a:r>
          </a:p>
        </p:txBody>
      </p:sp>
      <p:sp>
        <p:nvSpPr>
          <p:cNvPr name="TextBox 59" id="59"/>
          <p:cNvSpPr txBox="true"/>
          <p:nvPr/>
        </p:nvSpPr>
        <p:spPr>
          <a:xfrm rot="0">
            <a:off x="11658600" y="3147698"/>
            <a:ext cx="5522976" cy="962025"/>
          </a:xfrm>
          <a:prstGeom prst="rect">
            <a:avLst/>
          </a:prstGeom>
        </p:spPr>
        <p:txBody>
          <a:bodyPr anchor="t" rtlCol="false" tIns="0" lIns="0" bIns="0" rIns="0">
            <a:spAutoFit/>
          </a:bodyPr>
          <a:lstStyle/>
          <a:p>
            <a:pPr algn="l">
              <a:lnSpc>
                <a:spcPts val="2150"/>
              </a:lnSpc>
            </a:pPr>
            <a:r>
              <a:rPr lang="en-US" sz="1599">
                <a:solidFill>
                  <a:srgbClr val="5E6E78"/>
                </a:solidFill>
                <a:latin typeface="Calibri (MS)"/>
                <a:ea typeface="Calibri (MS)"/>
                <a:cs typeface="Calibri (MS)"/>
                <a:sym typeface="Calibri (MS)"/>
              </a:rPr>
              <a:t>kandidat variabel dari 6 subsistem dievaluasi — seluruhnya dipertahankan</a:t>
            </a:r>
          </a:p>
        </p:txBody>
      </p:sp>
      <p:grpSp>
        <p:nvGrpSpPr>
          <p:cNvPr name="Group 60" id="60"/>
          <p:cNvGrpSpPr/>
          <p:nvPr/>
        </p:nvGrpSpPr>
        <p:grpSpPr>
          <a:xfrm rot="0">
            <a:off x="11384280" y="4379976"/>
            <a:ext cx="6071616" cy="1828800"/>
            <a:chOff x="0" y="0"/>
            <a:chExt cx="8095488" cy="2438400"/>
          </a:xfrm>
        </p:grpSpPr>
        <p:sp>
          <p:nvSpPr>
            <p:cNvPr name="Freeform 61" id="61"/>
            <p:cNvSpPr/>
            <p:nvPr/>
          </p:nvSpPr>
          <p:spPr>
            <a:xfrm flipH="false" flipV="false" rot="0">
              <a:off x="0" y="0"/>
              <a:ext cx="8095488" cy="2438400"/>
            </a:xfrm>
            <a:custGeom>
              <a:avLst/>
              <a:gdLst/>
              <a:ahLst/>
              <a:cxnLst/>
              <a:rect r="r" b="b" t="t" l="l"/>
              <a:pathLst>
                <a:path h="2438400" w="8095488">
                  <a:moveTo>
                    <a:pt x="0" y="170688"/>
                  </a:moveTo>
                  <a:cubicBezTo>
                    <a:pt x="0" y="76454"/>
                    <a:pt x="76454" y="0"/>
                    <a:pt x="170688" y="0"/>
                  </a:cubicBezTo>
                  <a:lnTo>
                    <a:pt x="7924800" y="0"/>
                  </a:lnTo>
                  <a:cubicBezTo>
                    <a:pt x="8019034" y="0"/>
                    <a:pt x="8095488" y="76454"/>
                    <a:pt x="8095488" y="170688"/>
                  </a:cubicBezTo>
                  <a:lnTo>
                    <a:pt x="8095488" y="2267712"/>
                  </a:lnTo>
                  <a:cubicBezTo>
                    <a:pt x="8095488" y="2361946"/>
                    <a:pt x="8019034" y="2438400"/>
                    <a:pt x="7924800" y="2438400"/>
                  </a:cubicBezTo>
                  <a:lnTo>
                    <a:pt x="170688" y="2438400"/>
                  </a:lnTo>
                  <a:cubicBezTo>
                    <a:pt x="76454" y="2438400"/>
                    <a:pt x="0" y="2361946"/>
                    <a:pt x="0" y="2267712"/>
                  </a:cubicBezTo>
                  <a:close/>
                </a:path>
              </a:pathLst>
            </a:custGeom>
            <a:solidFill>
              <a:srgbClr val="EAF8FA"/>
            </a:solidFill>
          </p:spPr>
        </p:sp>
      </p:grpSp>
      <p:sp>
        <p:nvSpPr>
          <p:cNvPr name="TextBox 62" id="62"/>
          <p:cNvSpPr txBox="true"/>
          <p:nvPr/>
        </p:nvSpPr>
        <p:spPr>
          <a:xfrm rot="0">
            <a:off x="11658600" y="4401693"/>
            <a:ext cx="5522976" cy="874395"/>
          </a:xfrm>
          <a:prstGeom prst="rect">
            <a:avLst/>
          </a:prstGeom>
        </p:spPr>
        <p:txBody>
          <a:bodyPr anchor="t" rtlCol="false" tIns="0" lIns="0" bIns="0" rIns="0">
            <a:spAutoFit/>
          </a:bodyPr>
          <a:lstStyle/>
          <a:p>
            <a:pPr algn="l">
              <a:lnSpc>
                <a:spcPts val="5375"/>
              </a:lnSpc>
            </a:pPr>
            <a:r>
              <a:rPr lang="en-US" sz="3999" b="true">
                <a:solidFill>
                  <a:srgbClr val="0B5E6E"/>
                </a:solidFill>
                <a:latin typeface="Calibri (MS) Bold"/>
                <a:ea typeface="Calibri (MS) Bold"/>
                <a:cs typeface="Calibri (MS) Bold"/>
                <a:sym typeface="Calibri (MS) Bold"/>
              </a:rPr>
              <a:t>18</a:t>
            </a:r>
          </a:p>
        </p:txBody>
      </p:sp>
      <p:sp>
        <p:nvSpPr>
          <p:cNvPr name="TextBox 63" id="63"/>
          <p:cNvSpPr txBox="true"/>
          <p:nvPr/>
        </p:nvSpPr>
        <p:spPr>
          <a:xfrm rot="0">
            <a:off x="11658600" y="5131946"/>
            <a:ext cx="5522976" cy="962025"/>
          </a:xfrm>
          <a:prstGeom prst="rect">
            <a:avLst/>
          </a:prstGeom>
        </p:spPr>
        <p:txBody>
          <a:bodyPr anchor="t" rtlCol="false" tIns="0" lIns="0" bIns="0" rIns="0">
            <a:spAutoFit/>
          </a:bodyPr>
          <a:lstStyle/>
          <a:p>
            <a:pPr algn="l">
              <a:lnSpc>
                <a:spcPts val="2150"/>
              </a:lnSpc>
            </a:pPr>
            <a:r>
              <a:rPr lang="en-US" sz="1599">
                <a:solidFill>
                  <a:srgbClr val="5E6E78"/>
                </a:solidFill>
                <a:latin typeface="Calibri (MS)"/>
                <a:ea typeface="Calibri (MS)"/>
                <a:cs typeface="Calibri (MS)"/>
                <a:sym typeface="Calibri (MS)"/>
              </a:rPr>
              <a:t>hubungan kausal dievaluasi: arah, mekanisme, dan jenis dukungan (literatur substantif vs identitas/operasionalisasi)</a:t>
            </a:r>
          </a:p>
        </p:txBody>
      </p:sp>
      <p:grpSp>
        <p:nvGrpSpPr>
          <p:cNvPr name="Group 64" id="64"/>
          <p:cNvGrpSpPr/>
          <p:nvPr/>
        </p:nvGrpSpPr>
        <p:grpSpPr>
          <a:xfrm rot="0">
            <a:off x="11384280" y="6364224"/>
            <a:ext cx="6071616" cy="1828800"/>
            <a:chOff x="0" y="0"/>
            <a:chExt cx="8095488" cy="2438400"/>
          </a:xfrm>
        </p:grpSpPr>
        <p:sp>
          <p:nvSpPr>
            <p:cNvPr name="Freeform 65" id="65"/>
            <p:cNvSpPr/>
            <p:nvPr/>
          </p:nvSpPr>
          <p:spPr>
            <a:xfrm flipH="false" flipV="false" rot="0">
              <a:off x="0" y="0"/>
              <a:ext cx="8095488" cy="2438400"/>
            </a:xfrm>
            <a:custGeom>
              <a:avLst/>
              <a:gdLst/>
              <a:ahLst/>
              <a:cxnLst/>
              <a:rect r="r" b="b" t="t" l="l"/>
              <a:pathLst>
                <a:path h="2438400" w="8095488">
                  <a:moveTo>
                    <a:pt x="0" y="170688"/>
                  </a:moveTo>
                  <a:cubicBezTo>
                    <a:pt x="0" y="76454"/>
                    <a:pt x="76454" y="0"/>
                    <a:pt x="170688" y="0"/>
                  </a:cubicBezTo>
                  <a:lnTo>
                    <a:pt x="7924800" y="0"/>
                  </a:lnTo>
                  <a:cubicBezTo>
                    <a:pt x="8019034" y="0"/>
                    <a:pt x="8095488" y="76454"/>
                    <a:pt x="8095488" y="170688"/>
                  </a:cubicBezTo>
                  <a:lnTo>
                    <a:pt x="8095488" y="2267712"/>
                  </a:lnTo>
                  <a:cubicBezTo>
                    <a:pt x="8095488" y="2361946"/>
                    <a:pt x="8019034" y="2438400"/>
                    <a:pt x="7924800" y="2438400"/>
                  </a:cubicBezTo>
                  <a:lnTo>
                    <a:pt x="170688" y="2438400"/>
                  </a:lnTo>
                  <a:cubicBezTo>
                    <a:pt x="76454" y="2438400"/>
                    <a:pt x="0" y="2361946"/>
                    <a:pt x="0" y="2267712"/>
                  </a:cubicBezTo>
                  <a:close/>
                </a:path>
              </a:pathLst>
            </a:custGeom>
            <a:solidFill>
              <a:srgbClr val="FFF1BF"/>
            </a:solidFill>
          </p:spPr>
        </p:sp>
      </p:grpSp>
      <p:sp>
        <p:nvSpPr>
          <p:cNvPr name="TextBox 66" id="66"/>
          <p:cNvSpPr txBox="true"/>
          <p:nvPr/>
        </p:nvSpPr>
        <p:spPr>
          <a:xfrm rot="0">
            <a:off x="11658600" y="6385941"/>
            <a:ext cx="5522976" cy="874395"/>
          </a:xfrm>
          <a:prstGeom prst="rect">
            <a:avLst/>
          </a:prstGeom>
        </p:spPr>
        <p:txBody>
          <a:bodyPr anchor="t" rtlCol="false" tIns="0" lIns="0" bIns="0" rIns="0">
            <a:spAutoFit/>
          </a:bodyPr>
          <a:lstStyle/>
          <a:p>
            <a:pPr algn="l">
              <a:lnSpc>
                <a:spcPts val="5375"/>
              </a:lnSpc>
            </a:pPr>
            <a:r>
              <a:rPr lang="en-US" sz="3999" b="true">
                <a:solidFill>
                  <a:srgbClr val="0B5E6E"/>
                </a:solidFill>
                <a:latin typeface="Calibri (MS) Bold"/>
                <a:ea typeface="Calibri (MS) Bold"/>
                <a:cs typeface="Calibri (MS) Bold"/>
                <a:sym typeface="Calibri (MS) Bold"/>
              </a:rPr>
              <a:t>1</a:t>
            </a:r>
          </a:p>
        </p:txBody>
      </p:sp>
      <p:sp>
        <p:nvSpPr>
          <p:cNvPr name="TextBox 67" id="67"/>
          <p:cNvSpPr txBox="true"/>
          <p:nvPr/>
        </p:nvSpPr>
        <p:spPr>
          <a:xfrm rot="0">
            <a:off x="11658600" y="7116194"/>
            <a:ext cx="5522976" cy="962025"/>
          </a:xfrm>
          <a:prstGeom prst="rect">
            <a:avLst/>
          </a:prstGeom>
        </p:spPr>
        <p:txBody>
          <a:bodyPr anchor="t" rtlCol="false" tIns="0" lIns="0" bIns="0" rIns="0">
            <a:spAutoFit/>
          </a:bodyPr>
          <a:lstStyle/>
          <a:p>
            <a:pPr algn="l">
              <a:lnSpc>
                <a:spcPts val="2150"/>
              </a:lnSpc>
            </a:pPr>
            <a:r>
              <a:rPr lang="en-US" sz="1599">
                <a:solidFill>
                  <a:srgbClr val="5E6E78"/>
                </a:solidFill>
                <a:latin typeface="Calibri (MS)"/>
                <a:ea typeface="Calibri (MS)"/>
                <a:cs typeface="Calibri (MS)"/>
                <a:sym typeface="Calibri (MS)"/>
              </a:rPr>
              <a:t>hubungan dibuang: Tenaga Kerja Pariwisata → pembangunan ODTW (tanpa dasar kausal memadai)</a:t>
            </a:r>
          </a:p>
        </p:txBody>
      </p:sp>
      <p:grpSp>
        <p:nvGrpSpPr>
          <p:cNvPr name="Group 68" id="68"/>
          <p:cNvGrpSpPr/>
          <p:nvPr/>
        </p:nvGrpSpPr>
        <p:grpSpPr>
          <a:xfrm rot="0">
            <a:off x="11384280" y="8348472"/>
            <a:ext cx="6071616" cy="886968"/>
            <a:chOff x="0" y="0"/>
            <a:chExt cx="8095488" cy="1182624"/>
          </a:xfrm>
        </p:grpSpPr>
        <p:sp>
          <p:nvSpPr>
            <p:cNvPr name="Freeform 69" id="69"/>
            <p:cNvSpPr/>
            <p:nvPr/>
          </p:nvSpPr>
          <p:spPr>
            <a:xfrm flipH="false" flipV="false" rot="0">
              <a:off x="0" y="0"/>
              <a:ext cx="8095488" cy="1182624"/>
            </a:xfrm>
            <a:custGeom>
              <a:avLst/>
              <a:gdLst/>
              <a:ahLst/>
              <a:cxnLst/>
              <a:rect r="r" b="b" t="t" l="l"/>
              <a:pathLst>
                <a:path h="1182624" w="8095488">
                  <a:moveTo>
                    <a:pt x="0" y="170688"/>
                  </a:moveTo>
                  <a:cubicBezTo>
                    <a:pt x="0" y="76454"/>
                    <a:pt x="76454" y="0"/>
                    <a:pt x="170688" y="0"/>
                  </a:cubicBezTo>
                  <a:lnTo>
                    <a:pt x="7924800" y="0"/>
                  </a:lnTo>
                  <a:cubicBezTo>
                    <a:pt x="8019034" y="0"/>
                    <a:pt x="8095488" y="76454"/>
                    <a:pt x="8095488" y="170688"/>
                  </a:cubicBezTo>
                  <a:lnTo>
                    <a:pt x="8095488" y="1011936"/>
                  </a:lnTo>
                  <a:cubicBezTo>
                    <a:pt x="8095488" y="1106170"/>
                    <a:pt x="8019034" y="1182624"/>
                    <a:pt x="7924800" y="1182624"/>
                  </a:cubicBezTo>
                  <a:lnTo>
                    <a:pt x="170688" y="1182624"/>
                  </a:lnTo>
                  <a:cubicBezTo>
                    <a:pt x="76454" y="1182624"/>
                    <a:pt x="0" y="1106170"/>
                    <a:pt x="0" y="1011936"/>
                  </a:cubicBezTo>
                  <a:close/>
                </a:path>
              </a:pathLst>
            </a:custGeom>
            <a:solidFill>
              <a:srgbClr val="0B5E6E"/>
            </a:solidFill>
          </p:spPr>
        </p:sp>
      </p:grpSp>
      <p:grpSp>
        <p:nvGrpSpPr>
          <p:cNvPr name="Group 70" id="70"/>
          <p:cNvGrpSpPr/>
          <p:nvPr/>
        </p:nvGrpSpPr>
        <p:grpSpPr>
          <a:xfrm rot="0">
            <a:off x="11658600" y="8348472"/>
            <a:ext cx="5577840" cy="886968"/>
            <a:chOff x="0" y="0"/>
            <a:chExt cx="7437120" cy="1182624"/>
          </a:xfrm>
        </p:grpSpPr>
        <p:sp>
          <p:nvSpPr>
            <p:cNvPr name="Freeform 71" id="71"/>
            <p:cNvSpPr/>
            <p:nvPr/>
          </p:nvSpPr>
          <p:spPr>
            <a:xfrm flipH="false" flipV="false" rot="0">
              <a:off x="0" y="0"/>
              <a:ext cx="7437120" cy="1182624"/>
            </a:xfrm>
            <a:custGeom>
              <a:avLst/>
              <a:gdLst/>
              <a:ahLst/>
              <a:cxnLst/>
              <a:rect r="r" b="b" t="t" l="l"/>
              <a:pathLst>
                <a:path h="1182624" w="7437120">
                  <a:moveTo>
                    <a:pt x="0" y="0"/>
                  </a:moveTo>
                  <a:lnTo>
                    <a:pt x="7437120" y="0"/>
                  </a:lnTo>
                  <a:lnTo>
                    <a:pt x="7437120" y="1182624"/>
                  </a:lnTo>
                  <a:lnTo>
                    <a:pt x="0" y="1182624"/>
                  </a:lnTo>
                  <a:close/>
                </a:path>
              </a:pathLst>
            </a:custGeom>
            <a:blipFill>
              <a:blip r:embed="rId5">
                <a:alphaModFix amt="0"/>
              </a:blip>
              <a:stretch>
                <a:fillRect l="0" t="-72534" r="0" b="-72534"/>
              </a:stretch>
            </a:blipFill>
          </p:spPr>
        </p:sp>
        <p:sp>
          <p:nvSpPr>
            <p:cNvPr name="TextBox 72" id="72"/>
            <p:cNvSpPr txBox="true"/>
            <p:nvPr/>
          </p:nvSpPr>
          <p:spPr>
            <a:xfrm>
              <a:off x="0" y="-47625"/>
              <a:ext cx="7437120" cy="1230249"/>
            </a:xfrm>
            <a:prstGeom prst="rect">
              <a:avLst/>
            </a:prstGeom>
          </p:spPr>
          <p:txBody>
            <a:bodyPr anchor="ctr" rtlCol="false" tIns="0" lIns="0" bIns="0" rIns="0"/>
            <a:lstStyle/>
            <a:p>
              <a:pPr algn="l">
                <a:lnSpc>
                  <a:spcPts val="1881"/>
                </a:lnSpc>
              </a:pPr>
              <a:r>
                <a:rPr lang="en-US" sz="1400">
                  <a:solidFill>
                    <a:srgbClr val="FFFFFF"/>
                  </a:solidFill>
                  <a:latin typeface="Calibri (MS)"/>
                  <a:ea typeface="Calibri (MS)"/>
                  <a:cs typeface="Calibri (MS)"/>
                  <a:sym typeface="Calibri (MS)"/>
                </a:rPr>
                <a:t>Populasi, limbah, dan air (model rujukan) sejak awal di luar batas — bukan kandidat yang ditolak</a:t>
              </a:r>
            </a:p>
          </p:txBody>
        </p:sp>
      </p:grpSp>
      <p:sp>
        <p:nvSpPr>
          <p:cNvPr id="73"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4.1.3 · Perumusan dan Evaluasi Hubungan Kausal</a:t>
            </a:r>
          </a:p>
          <a:p>
            <a:pPr algn="l">
              <a:lnSpc>
                <a:spcPct val="100000"/>
              </a:lnSpc>
            </a:pPr>
            <a:r>
              <a:rPr lang="en-US" sz="3500" b="true">
                <a:solidFill>
                  <a:srgbClr val="0B5E6E"/>
                </a:solidFill>
                <a:latin typeface="Calibri (MS) Bold"/>
                <a:ea typeface="Calibri (MS) Bold"/>
                <a:cs typeface="Calibri (MS) Bold"/>
                <a:sym typeface="Calibri (MS) Bold"/>
              </a:rPr>
              <a:t>Hasil: 18 hubungan kausal dengan dasar yang dibedakan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20</a:t>
            </a:r>
          </a:p>
        </p:txBody>
      </p:sp>
      <p:graphicFrame>
        <p:nvGraphicFramePr>
          <p:cNvPr id="148" name="Table 147"/>
          <p:cNvGraphicFramePr>
            <a:graphicFrameLocks noGrp="1"/>
          </p:cNvGraphicFramePr>
          <p:nvPr/>
        </p:nvGraphicFramePr>
        <p:xfrm>
          <a:off x="822960" y="2286000"/>
          <a:ext cx="8229598" cy="5669280"/>
        </p:xfrm>
        <a:graphic>
          <a:graphicData uri="http://schemas.openxmlformats.org/drawingml/2006/table">
            <a:tbl>
              <a:tblPr firstRow="1" bandRow="1">
                <a:tableStyleId>{5C22544A-7EE6-4342-B048-85BDC9FD1C3A}</a:tableStyleId>
              </a:tblPr>
              <a:tblGrid>
                <a:gridCol w="1138136"/>
                <a:gridCol w="3764604"/>
                <a:gridCol w="525293"/>
                <a:gridCol w="2801565"/>
              </a:tblGrid>
              <a:tr h="566928">
                <a:tc>
                  <a:txBody>
                    <a:bodyPr wrap="square"/>
                    <a:lstStyle/>
                    <a:p>
                      <a:r>
                        <a:rPr sz="1380" b="1" i="0">
                          <a:solidFill>
                            <a:srgbClr val="FFFFFF"/>
                          </a:solidFill>
                          <a:latin typeface="Calibri (MS) Bold"/>
                        </a:rPr>
                        <a:t>Loop</a:t>
                      </a:r>
                    </a:p>
                  </a:txBody>
                  <a:tcPr marL="73152" marR="73152" marT="36576" marB="36576" anchor="ctr">
                    <a:solidFill>
                      <a:srgbClr val="0B5E6E"/>
                    </a:solidFill>
                  </a:tcPr>
                </a:tc>
                <a:tc>
                  <a:txBody>
                    <a:bodyPr wrap="square"/>
                    <a:lstStyle/>
                    <a:p>
                      <a:r>
                        <a:rPr sz="1380" b="1" i="0">
                          <a:solidFill>
                            <a:srgbClr val="FFFFFF"/>
                          </a:solidFill>
                          <a:latin typeface="Calibri (MS) Bold"/>
                        </a:rPr>
                        <a:t>Hubungan kausal</a:t>
                      </a:r>
                    </a:p>
                  </a:txBody>
                  <a:tcPr marL="73152" marR="73152" marT="36576" marB="36576" anchor="ctr">
                    <a:solidFill>
                      <a:srgbClr val="0B5E6E"/>
                    </a:solidFill>
                  </a:tcPr>
                </a:tc>
                <a:tc>
                  <a:txBody>
                    <a:bodyPr wrap="square"/>
                    <a:lstStyle/>
                    <a:p>
                      <a:r>
                        <a:rPr sz="1380" b="1" i="0">
                          <a:solidFill>
                            <a:srgbClr val="FFFFFF"/>
                          </a:solidFill>
                          <a:latin typeface="Calibri (MS) Bold"/>
                        </a:rPr>
                        <a:t>Pol.</a:t>
                      </a:r>
                    </a:p>
                  </a:txBody>
                  <a:tcPr marL="73152" marR="73152" marT="36576" marB="36576" anchor="ctr">
                    <a:solidFill>
                      <a:srgbClr val="0B5E6E"/>
                    </a:solidFill>
                  </a:tcPr>
                </a:tc>
                <a:tc>
                  <a:txBody>
                    <a:bodyPr wrap="square"/>
                    <a:lstStyle/>
                    <a:p>
                      <a:r>
                        <a:rPr sz="1380" b="1" i="0">
                          <a:solidFill>
                            <a:srgbClr val="FFFFFF"/>
                          </a:solidFill>
                          <a:latin typeface="Calibri (MS) Bold"/>
                        </a:rPr>
                        <a:t>Jenis dasar</a:t>
                      </a:r>
                    </a:p>
                  </a:txBody>
                  <a:tcPr marL="73152" marR="73152" marT="36576" marB="36576" anchor="ctr">
                    <a:solidFill>
                      <a:srgbClr val="0B5E6E"/>
                    </a:solidFill>
                  </a:tcPr>
                </a:tc>
              </a:tr>
              <a:tr h="566928">
                <a:tc>
                  <a:txBody>
                    <a:bodyPr wrap="square"/>
                    <a:lstStyle/>
                    <a:p>
                      <a:r>
                        <a:rPr sz="1380" b="0" i="0">
                          <a:solidFill>
                            <a:srgbClr val="14313B"/>
                          </a:solidFill>
                          <a:latin typeface="Calibri (MS)"/>
                        </a:rPr>
                        <a:t>R1</a:t>
                      </a:r>
                    </a:p>
                  </a:txBody>
                  <a:tcPr marL="73152" marR="73152" marT="36576" marB="36576" anchor="ctr">
                    <a:solidFill>
                      <a:srgbClr val="FFFFFF"/>
                    </a:solidFill>
                  </a:tcPr>
                </a:tc>
                <a:tc>
                  <a:txBody>
                    <a:bodyPr wrap="square"/>
                    <a:lstStyle/>
                    <a:p>
                      <a:r>
                        <a:rPr sz="1380" b="0" i="0">
                          <a:solidFill>
                            <a:srgbClr val="14313B"/>
                          </a:solidFill>
                          <a:latin typeface="Calibri (MS)"/>
                        </a:rPr>
                        <a:t>Jumlah Wisatawan → Laju Kedatangan</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Struktur pertumbuhan (Sterman; Mai &amp; Smith)</a:t>
                      </a:r>
                    </a:p>
                  </a:txBody>
                  <a:tcPr marL="73152" marR="73152" marT="36576" marB="36576" anchor="ctr">
                    <a:solidFill>
                      <a:srgbClr val="FFFFFF"/>
                    </a:solidFill>
                  </a:tcPr>
                </a:tc>
              </a:tr>
              <a:tr h="566928">
                <a:tc>
                  <a:txBody>
                    <a:bodyPr wrap="square"/>
                    <a:lstStyle/>
                    <a:p>
                      <a:r>
                        <a:rPr sz="1380" b="0" i="0">
                          <a:solidFill>
                            <a:srgbClr val="14313B"/>
                          </a:solidFill>
                          <a:latin typeface="Calibri (MS)"/>
                        </a:rPr>
                        <a:t>R1,R2,B1,B2</a:t>
                      </a:r>
                    </a:p>
                  </a:txBody>
                  <a:tcPr marL="73152" marR="73152" marT="36576" marB="36576" anchor="ctr">
                    <a:solidFill>
                      <a:srgbClr val="EAF8FA"/>
                    </a:solidFill>
                  </a:tcPr>
                </a:tc>
                <a:tc>
                  <a:txBody>
                    <a:bodyPr wrap="square"/>
                    <a:lstStyle/>
                    <a:p>
                      <a:r>
                        <a:rPr sz="1380" b="0" i="0">
                          <a:solidFill>
                            <a:srgbClr val="14313B"/>
                          </a:solidFill>
                          <a:latin typeface="Calibri (MS)"/>
                        </a:rPr>
                        <a:t>Daya Tarik Destinasi → Laju Kedatangan</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Literatur (Hu &amp; Ritchie; Leiper)</a:t>
                      </a:r>
                    </a:p>
                  </a:txBody>
                  <a:tcPr marL="73152" marR="73152" marT="36576" marB="36576" anchor="ctr">
                    <a:solidFill>
                      <a:srgbClr val="EAF8FA"/>
                    </a:solidFill>
                  </a:tcPr>
                </a:tc>
              </a:tr>
              <a:tr h="566928">
                <a:tc>
                  <a:txBody>
                    <a:bodyPr wrap="square"/>
                    <a:lstStyle/>
                    <a:p>
                      <a:r>
                        <a:rPr sz="1380" b="0" i="0">
                          <a:solidFill>
                            <a:srgbClr val="14313B"/>
                          </a:solidFill>
                          <a:latin typeface="Calibri (MS)"/>
                        </a:rPr>
                        <a:t>R2</a:t>
                      </a:r>
                    </a:p>
                  </a:txBody>
                  <a:tcPr marL="73152" marR="73152" marT="36576" marB="36576" anchor="ctr">
                    <a:solidFill>
                      <a:srgbClr val="FFFFFF"/>
                    </a:solidFill>
                  </a:tcPr>
                </a:tc>
                <a:tc>
                  <a:txBody>
                    <a:bodyPr wrap="square"/>
                    <a:lstStyle/>
                    <a:p>
                      <a:r>
                        <a:rPr sz="1380" b="0" i="0">
                          <a:solidFill>
                            <a:srgbClr val="14313B"/>
                          </a:solidFill>
                          <a:latin typeface="Calibri (MS)"/>
                        </a:rPr>
                        <a:t>Jumlah Wisatawan → Pengeluaran Wisatawan</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Identitas agregasi</a:t>
                      </a:r>
                    </a:p>
                  </a:txBody>
                  <a:tcPr marL="73152" marR="73152" marT="36576" marB="36576" anchor="ctr">
                    <a:solidFill>
                      <a:srgbClr val="FFFFFF"/>
                    </a:solidFill>
                  </a:tcPr>
                </a:tc>
              </a:tr>
              <a:tr h="566928">
                <a:tc>
                  <a:txBody>
                    <a:bodyPr wrap="square"/>
                    <a:lstStyle/>
                    <a:p>
                      <a:r>
                        <a:rPr sz="1380" b="0" i="0">
                          <a:solidFill>
                            <a:srgbClr val="14313B"/>
                          </a:solidFill>
                          <a:latin typeface="Calibri (MS)"/>
                        </a:rPr>
                        <a:t>R2</a:t>
                      </a:r>
                    </a:p>
                  </a:txBody>
                  <a:tcPr marL="73152" marR="73152" marT="36576" marB="36576" anchor="ctr">
                    <a:solidFill>
                      <a:srgbClr val="EAF8FA"/>
                    </a:solidFill>
                  </a:tcPr>
                </a:tc>
                <a:tc>
                  <a:txBody>
                    <a:bodyPr wrap="square"/>
                    <a:lstStyle/>
                    <a:p>
                      <a:r>
                        <a:rPr sz="1380" b="0" i="0">
                          <a:solidFill>
                            <a:srgbClr val="14313B"/>
                          </a:solidFill>
                          <a:latin typeface="Calibri (MS)"/>
                        </a:rPr>
                        <a:t>Pengeluaran → PDRB Sektor Pariwisata</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Literatur TSA (Frechtling; Munjal)</a:t>
                      </a:r>
                    </a:p>
                  </a:txBody>
                  <a:tcPr marL="73152" marR="73152" marT="36576" marB="36576" anchor="ctr">
                    <a:solidFill>
                      <a:srgbClr val="EAF8FA"/>
                    </a:solidFill>
                  </a:tcPr>
                </a:tc>
              </a:tr>
              <a:tr h="566928">
                <a:tc>
                  <a:txBody>
                    <a:bodyPr wrap="square"/>
                    <a:lstStyle/>
                    <a:p>
                      <a:r>
                        <a:rPr sz="1380" b="0" i="0">
                          <a:solidFill>
                            <a:srgbClr val="14313B"/>
                          </a:solidFill>
                          <a:latin typeface="Calibri (MS)"/>
                        </a:rPr>
                        <a:t>R2</a:t>
                      </a:r>
                    </a:p>
                  </a:txBody>
                  <a:tcPr marL="73152" marR="73152" marT="36576" marB="36576" anchor="ctr">
                    <a:solidFill>
                      <a:srgbClr val="FFFFFF"/>
                    </a:solidFill>
                  </a:tcPr>
                </a:tc>
                <a:tc>
                  <a:txBody>
                    <a:bodyPr wrap="square"/>
                    <a:lstStyle/>
                    <a:p>
                      <a:r>
                        <a:rPr sz="1380" b="0" i="0">
                          <a:solidFill>
                            <a:srgbClr val="14313B"/>
                          </a:solidFill>
                          <a:latin typeface="Calibri (MS)"/>
                        </a:rPr>
                        <a:t>PDRB → Investasi Sektor Pariwisata</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Formulasi berbasis data</a:t>
                      </a:r>
                    </a:p>
                  </a:txBody>
                  <a:tcPr marL="73152" marR="73152" marT="36576" marB="36576" anchor="ctr">
                    <a:solidFill>
                      <a:srgbClr val="FFFFFF"/>
                    </a:solidFill>
                  </a:tcPr>
                </a:tc>
              </a:tr>
              <a:tr h="566928">
                <a:tc>
                  <a:txBody>
                    <a:bodyPr wrap="square"/>
                    <a:lstStyle/>
                    <a:p>
                      <a:r>
                        <a:rPr sz="1380" b="0" i="0">
                          <a:solidFill>
                            <a:srgbClr val="14313B"/>
                          </a:solidFill>
                          <a:latin typeface="Calibri (MS)"/>
                        </a:rPr>
                        <a:t>R2</a:t>
                      </a:r>
                    </a:p>
                  </a:txBody>
                  <a:tcPr marL="73152" marR="73152" marT="36576" marB="36576" anchor="ctr">
                    <a:solidFill>
                      <a:srgbClr val="EAF8FA"/>
                    </a:solidFill>
                  </a:tcPr>
                </a:tc>
                <a:tc>
                  <a:txBody>
                    <a:bodyPr wrap="square"/>
                    <a:lstStyle/>
                    <a:p>
                      <a:r>
                        <a:rPr sz="1380" b="0" i="0">
                          <a:solidFill>
                            <a:srgbClr val="14313B"/>
                          </a:solidFill>
                          <a:latin typeface="Calibri (MS)"/>
                        </a:rPr>
                        <a:t>Investasi → Laju Pembangunan ODTW</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Identitas stok-aliran; Fatina dkk.</a:t>
                      </a:r>
                    </a:p>
                  </a:txBody>
                  <a:tcPr marL="73152" marR="73152" marT="36576" marB="36576" anchor="ctr">
                    <a:solidFill>
                      <a:srgbClr val="EAF8FA"/>
                    </a:solidFill>
                  </a:tcPr>
                </a:tc>
              </a:tr>
              <a:tr h="566928">
                <a:tc>
                  <a:txBody>
                    <a:bodyPr wrap="square"/>
                    <a:lstStyle/>
                    <a:p>
                      <a:r>
                        <a:rPr sz="1380" b="0" i="0">
                          <a:solidFill>
                            <a:srgbClr val="14313B"/>
                          </a:solidFill>
                          <a:latin typeface="Calibri (MS)"/>
                        </a:rPr>
                        <a:t>R2</a:t>
                      </a:r>
                    </a:p>
                  </a:txBody>
                  <a:tcPr marL="73152" marR="73152" marT="36576" marB="36576" anchor="ctr">
                    <a:solidFill>
                      <a:srgbClr val="FFFFFF"/>
                    </a:solidFill>
                  </a:tcPr>
                </a:tc>
                <a:tc>
                  <a:txBody>
                    <a:bodyPr wrap="square"/>
                    <a:lstStyle/>
                    <a:p>
                      <a:r>
                        <a:rPr sz="1380" b="0" i="0">
                          <a:solidFill>
                            <a:srgbClr val="14313B"/>
                          </a:solidFill>
                          <a:latin typeface="Calibri (MS)"/>
                        </a:rPr>
                        <a:t>Jumlah ODTW → Daya Tarik</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Literatur (Leiper; Hu &amp; Ritchie)</a:t>
                      </a:r>
                    </a:p>
                  </a:txBody>
                  <a:tcPr marL="73152" marR="73152" marT="36576" marB="36576" anchor="ctr">
                    <a:solidFill>
                      <a:srgbClr val="FFFFFF"/>
                    </a:solidFill>
                  </a:tcPr>
                </a:tc>
              </a:tr>
              <a:tr h="566928">
                <a:tc>
                  <a:txBody>
                    <a:bodyPr wrap="square"/>
                    <a:lstStyle/>
                    <a:p>
                      <a:r>
                        <a:rPr sz="1380" b="0" i="0">
                          <a:solidFill>
                            <a:srgbClr val="14313B"/>
                          </a:solidFill>
                          <a:latin typeface="Calibri (MS)"/>
                        </a:rPr>
                        <a:t>B1</a:t>
                      </a:r>
                    </a:p>
                  </a:txBody>
                  <a:tcPr marL="73152" marR="73152" marT="36576" marB="36576" anchor="ctr">
                    <a:solidFill>
                      <a:srgbClr val="EAF8FA"/>
                    </a:solidFill>
                  </a:tcPr>
                </a:tc>
                <a:tc>
                  <a:txBody>
                    <a:bodyPr wrap="square"/>
                    <a:lstStyle/>
                    <a:p>
                      <a:r>
                        <a:rPr sz="1380" b="0" i="0">
                          <a:solidFill>
                            <a:srgbClr val="14313B"/>
                          </a:solidFill>
                          <a:latin typeface="Calibri (MS)"/>
                        </a:rPr>
                        <a:t>Jumlah Wisatawan → Kepadatan</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Identitas model</a:t>
                      </a:r>
                    </a:p>
                  </a:txBody>
                  <a:tcPr marL="73152" marR="73152" marT="36576" marB="36576" anchor="ctr">
                    <a:solidFill>
                      <a:srgbClr val="EAF8FA"/>
                    </a:solidFill>
                  </a:tcPr>
                </a:tc>
              </a:tr>
              <a:tr h="566928">
                <a:tc>
                  <a:txBody>
                    <a:bodyPr wrap="square"/>
                    <a:lstStyle/>
                    <a:p>
                      <a:r>
                        <a:rPr sz="1380" b="0" i="0">
                          <a:solidFill>
                            <a:srgbClr val="14313B"/>
                          </a:solidFill>
                          <a:latin typeface="Calibri (MS)"/>
                        </a:rPr>
                        <a:t>B1</a:t>
                      </a:r>
                    </a:p>
                  </a:txBody>
                  <a:tcPr marL="73152" marR="73152" marT="36576" marB="36576" anchor="ctr">
                    <a:solidFill>
                      <a:srgbClr val="FFFFFF"/>
                    </a:solidFill>
                  </a:tcPr>
                </a:tc>
                <a:tc>
                  <a:txBody>
                    <a:bodyPr wrap="square"/>
                    <a:lstStyle/>
                    <a:p>
                      <a:r>
                        <a:rPr sz="1380" b="0" i="0">
                          <a:solidFill>
                            <a:srgbClr val="14313B"/>
                          </a:solidFill>
                          <a:latin typeface="Calibri (MS)"/>
                        </a:rPr>
                        <a:t>Kepadatan → Daya Tarik</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Literatur (Saveriades; Mai &amp; Smith)</a:t>
                      </a:r>
                    </a:p>
                  </a:txBody>
                  <a:tcPr marL="73152" marR="73152" marT="36576" marB="36576" anchor="ctr">
                    <a:solidFill>
                      <a:srgbClr val="FFFFFF"/>
                    </a:solidFill>
                  </a:tcPr>
                </a:tc>
              </a:tr>
            </a:tbl>
          </a:graphicData>
        </a:graphic>
      </p:graphicFrame>
      <p:graphicFrame>
        <p:nvGraphicFramePr>
          <p:cNvPr id="149" name="Table 148"/>
          <p:cNvGraphicFramePr>
            <a:graphicFrameLocks noGrp="1"/>
          </p:cNvGraphicFramePr>
          <p:nvPr/>
        </p:nvGraphicFramePr>
        <p:xfrm>
          <a:off x="9235440" y="2286000"/>
          <a:ext cx="8229597" cy="5669280"/>
        </p:xfrm>
        <a:graphic>
          <a:graphicData uri="http://schemas.openxmlformats.org/drawingml/2006/table">
            <a:tbl>
              <a:tblPr firstRow="1" bandRow="1">
                <a:tableStyleId>{5C22544A-7EE6-4342-B048-85BDC9FD1C3A}</a:tableStyleId>
              </a:tblPr>
              <a:tblGrid>
                <a:gridCol w="700391"/>
                <a:gridCol w="4202348"/>
                <a:gridCol w="525293"/>
                <a:gridCol w="2801565"/>
              </a:tblGrid>
              <a:tr h="566928">
                <a:tc>
                  <a:txBody>
                    <a:bodyPr wrap="square"/>
                    <a:lstStyle/>
                    <a:p>
                      <a:r>
                        <a:rPr sz="1380" b="1" i="0">
                          <a:solidFill>
                            <a:srgbClr val="FFFFFF"/>
                          </a:solidFill>
                          <a:latin typeface="Calibri (MS) Bold"/>
                        </a:rPr>
                        <a:t>Loop</a:t>
                      </a:r>
                    </a:p>
                  </a:txBody>
                  <a:tcPr marL="73152" marR="73152" marT="36576" marB="36576" anchor="ctr">
                    <a:solidFill>
                      <a:srgbClr val="0B5E6E"/>
                    </a:solidFill>
                  </a:tcPr>
                </a:tc>
                <a:tc>
                  <a:txBody>
                    <a:bodyPr wrap="square"/>
                    <a:lstStyle/>
                    <a:p>
                      <a:r>
                        <a:rPr sz="1380" b="1" i="0">
                          <a:solidFill>
                            <a:srgbClr val="FFFFFF"/>
                          </a:solidFill>
                          <a:latin typeface="Calibri (MS) Bold"/>
                        </a:rPr>
                        <a:t>Hubungan kausal</a:t>
                      </a:r>
                    </a:p>
                  </a:txBody>
                  <a:tcPr marL="73152" marR="73152" marT="36576" marB="36576" anchor="ctr">
                    <a:solidFill>
                      <a:srgbClr val="0B5E6E"/>
                    </a:solidFill>
                  </a:tcPr>
                </a:tc>
                <a:tc>
                  <a:txBody>
                    <a:bodyPr wrap="square"/>
                    <a:lstStyle/>
                    <a:p>
                      <a:r>
                        <a:rPr sz="1380" b="1" i="0">
                          <a:solidFill>
                            <a:srgbClr val="FFFFFF"/>
                          </a:solidFill>
                          <a:latin typeface="Calibri (MS) Bold"/>
                        </a:rPr>
                        <a:t>Pol.</a:t>
                      </a:r>
                    </a:p>
                  </a:txBody>
                  <a:tcPr marL="73152" marR="73152" marT="36576" marB="36576" anchor="ctr">
                    <a:solidFill>
                      <a:srgbClr val="0B5E6E"/>
                    </a:solidFill>
                  </a:tcPr>
                </a:tc>
                <a:tc>
                  <a:txBody>
                    <a:bodyPr wrap="square"/>
                    <a:lstStyle/>
                    <a:p>
                      <a:r>
                        <a:rPr sz="1380" b="1" i="0">
                          <a:solidFill>
                            <a:srgbClr val="FFFFFF"/>
                          </a:solidFill>
                          <a:latin typeface="Calibri (MS) Bold"/>
                        </a:rPr>
                        <a:t>Jenis dasar</a:t>
                      </a:r>
                    </a:p>
                  </a:txBody>
                  <a:tcPr marL="73152" marR="73152" marT="36576" marB="36576" anchor="ctr">
                    <a:solidFill>
                      <a:srgbClr val="0B5E6E"/>
                    </a:solidFill>
                  </a:tcPr>
                </a:tc>
              </a:tr>
              <a:tr h="566928">
                <a:tc>
                  <a:txBody>
                    <a:bodyPr wrap="square"/>
                    <a:lstStyle/>
                    <a:p>
                      <a:r>
                        <a:rPr sz="1380" b="0" i="0">
                          <a:solidFill>
                            <a:srgbClr val="14313B"/>
                          </a:solidFill>
                          <a:latin typeface="Calibri (MS)"/>
                        </a:rPr>
                        <a:t>B2</a:t>
                      </a:r>
                    </a:p>
                  </a:txBody>
                  <a:tcPr marL="73152" marR="73152" marT="36576" marB="36576" anchor="ctr">
                    <a:solidFill>
                      <a:srgbClr val="FFFFFF"/>
                    </a:solidFill>
                  </a:tcPr>
                </a:tc>
                <a:tc>
                  <a:txBody>
                    <a:bodyPr wrap="square"/>
                    <a:lstStyle/>
                    <a:p>
                      <a:r>
                        <a:rPr sz="1380" b="0" i="0">
                          <a:solidFill>
                            <a:srgbClr val="14313B"/>
                          </a:solidFill>
                          <a:latin typeface="Calibri (MS)"/>
                        </a:rPr>
                        <a:t>Konstruksi hotel &amp; pembangunan ODTW → Konversi lahan pariwisata</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Formulasi model</a:t>
                      </a:r>
                    </a:p>
                  </a:txBody>
                  <a:tcPr marL="73152" marR="73152" marT="36576" marB="36576" anchor="ctr">
                    <a:solidFill>
                      <a:srgbClr val="FFFFFF"/>
                    </a:solidFill>
                  </a:tcPr>
                </a:tc>
              </a:tr>
              <a:tr h="566928">
                <a:tc>
                  <a:txBody>
                    <a:bodyPr wrap="square"/>
                    <a:lstStyle/>
                    <a:p>
                      <a:r>
                        <a:rPr sz="1380" b="0" i="0">
                          <a:solidFill>
                            <a:srgbClr val="14313B"/>
                          </a:solidFill>
                          <a:latin typeface="Calibri (MS)"/>
                        </a:rPr>
                        <a:t>B2</a:t>
                      </a:r>
                    </a:p>
                  </a:txBody>
                  <a:tcPr marL="73152" marR="73152" marT="36576" marB="36576" anchor="ctr">
                    <a:solidFill>
                      <a:srgbClr val="EAF8FA"/>
                    </a:solidFill>
                  </a:tcPr>
                </a:tc>
                <a:tc>
                  <a:txBody>
                    <a:bodyPr wrap="square"/>
                    <a:lstStyle/>
                    <a:p>
                      <a:r>
                        <a:rPr sz="1380" b="0" i="0">
                          <a:solidFill>
                            <a:srgbClr val="14313B"/>
                          </a:solidFill>
                          <a:latin typeface="Calibri (MS)"/>
                        </a:rPr>
                        <a:t>Konversi lahan pariwisata → Lahan Terbangun</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Identitas stok-aliran</a:t>
                      </a:r>
                    </a:p>
                  </a:txBody>
                  <a:tcPr marL="73152" marR="73152" marT="36576" marB="36576" anchor="ctr">
                    <a:solidFill>
                      <a:srgbClr val="EAF8FA"/>
                    </a:solidFill>
                  </a:tcPr>
                </a:tc>
              </a:tr>
              <a:tr h="566928">
                <a:tc>
                  <a:txBody>
                    <a:bodyPr wrap="square"/>
                    <a:lstStyle/>
                    <a:p>
                      <a:r>
                        <a:rPr sz="1380" b="0" i="0">
                          <a:solidFill>
                            <a:srgbClr val="14313B"/>
                          </a:solidFill>
                          <a:latin typeface="Calibri (MS)"/>
                        </a:rPr>
                        <a:t>B2</a:t>
                      </a:r>
                    </a:p>
                  </a:txBody>
                  <a:tcPr marL="73152" marR="73152" marT="36576" marB="36576" anchor="ctr">
                    <a:solidFill>
                      <a:srgbClr val="FFFFFF"/>
                    </a:solidFill>
                  </a:tcPr>
                </a:tc>
                <a:tc>
                  <a:txBody>
                    <a:bodyPr wrap="square"/>
                    <a:lstStyle/>
                    <a:p>
                      <a:r>
                        <a:rPr sz="1380" b="0" i="0">
                          <a:solidFill>
                            <a:srgbClr val="14313B"/>
                          </a:solidFill>
                          <a:latin typeface="Calibri (MS)"/>
                        </a:rPr>
                        <a:t>Lahan Terbangun → Rasio Daya Dukung Lahan</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Identitas model</a:t>
                      </a:r>
                    </a:p>
                  </a:txBody>
                  <a:tcPr marL="73152" marR="73152" marT="36576" marB="36576" anchor="ctr">
                    <a:solidFill>
                      <a:srgbClr val="FFFFFF"/>
                    </a:solidFill>
                  </a:tcPr>
                </a:tc>
              </a:tr>
              <a:tr h="566928">
                <a:tc>
                  <a:txBody>
                    <a:bodyPr wrap="square"/>
                    <a:lstStyle/>
                    <a:p>
                      <a:r>
                        <a:rPr sz="1380" b="0" i="0">
                          <a:solidFill>
                            <a:srgbClr val="14313B"/>
                          </a:solidFill>
                          <a:latin typeface="Calibri (MS)"/>
                        </a:rPr>
                        <a:t>B2</a:t>
                      </a:r>
                    </a:p>
                  </a:txBody>
                  <a:tcPr marL="73152" marR="73152" marT="36576" marB="36576" anchor="ctr">
                    <a:solidFill>
                      <a:srgbClr val="EAF8FA"/>
                    </a:solidFill>
                  </a:tcPr>
                </a:tc>
                <a:tc>
                  <a:txBody>
                    <a:bodyPr wrap="square"/>
                    <a:lstStyle/>
                    <a:p>
                      <a:r>
                        <a:rPr sz="1380" b="0" i="0">
                          <a:solidFill>
                            <a:srgbClr val="14313B"/>
                          </a:solidFill>
                          <a:latin typeface="Calibri (MS)"/>
                        </a:rPr>
                        <a:t>Rasio Daya Dukung Lahan → Daya Tarik</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Literatur + operasionalisasi</a:t>
                      </a:r>
                    </a:p>
                  </a:txBody>
                  <a:tcPr marL="73152" marR="73152" marT="36576" marB="36576" anchor="ctr">
                    <a:solidFill>
                      <a:srgbClr val="EAF8FA"/>
                    </a:solidFill>
                  </a:tcPr>
                </a:tc>
              </a:tr>
              <a:tr h="566928">
                <a:tc>
                  <a:txBody>
                    <a:bodyPr wrap="square"/>
                    <a:lstStyle/>
                    <a:p>
                      <a:r>
                        <a:rPr sz="1380" b="0" i="0">
                          <a:solidFill>
                            <a:srgbClr val="14313B"/>
                          </a:solidFill>
                          <a:latin typeface="Calibri (MS)"/>
                        </a:rPr>
                        <a:t>B3</a:t>
                      </a:r>
                    </a:p>
                  </a:txBody>
                  <a:tcPr marL="73152" marR="73152" marT="36576" marB="36576" anchor="ctr">
                    <a:solidFill>
                      <a:srgbClr val="FFFFFF"/>
                    </a:solidFill>
                  </a:tcPr>
                </a:tc>
                <a:tc>
                  <a:txBody>
                    <a:bodyPr wrap="square"/>
                    <a:lstStyle/>
                    <a:p>
                      <a:r>
                        <a:rPr sz="1380" b="0" i="0">
                          <a:solidFill>
                            <a:srgbClr val="14313B"/>
                          </a:solidFill>
                          <a:latin typeface="Calibri (MS)"/>
                        </a:rPr>
                        <a:t>Jumlah Hotel → Rasio Permintaan thd Kapasitas Kamar</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Identitas kapasitas</a:t>
                      </a:r>
                    </a:p>
                  </a:txBody>
                  <a:tcPr marL="73152" marR="73152" marT="36576" marB="36576" anchor="ctr">
                    <a:solidFill>
                      <a:srgbClr val="FFFFFF"/>
                    </a:solidFill>
                  </a:tcPr>
                </a:tc>
              </a:tr>
              <a:tr h="566928">
                <a:tc>
                  <a:txBody>
                    <a:bodyPr wrap="square"/>
                    <a:lstStyle/>
                    <a:p>
                      <a:r>
                        <a:rPr sz="1380" b="0" i="0">
                          <a:solidFill>
                            <a:srgbClr val="14313B"/>
                          </a:solidFill>
                          <a:latin typeface="Calibri (MS)"/>
                        </a:rPr>
                        <a:t>B3</a:t>
                      </a:r>
                    </a:p>
                  </a:txBody>
                  <a:tcPr marL="73152" marR="73152" marT="36576" marB="36576" anchor="ctr">
                    <a:solidFill>
                      <a:srgbClr val="EAF8FA"/>
                    </a:solidFill>
                  </a:tcPr>
                </a:tc>
                <a:tc>
                  <a:txBody>
                    <a:bodyPr wrap="square"/>
                    <a:lstStyle/>
                    <a:p>
                      <a:r>
                        <a:rPr sz="1380" b="0" i="0">
                          <a:solidFill>
                            <a:srgbClr val="14313B"/>
                          </a:solidFill>
                          <a:latin typeface="Calibri (MS)"/>
                        </a:rPr>
                        <a:t>Rasio Permintaan → Laju Konstruksi Hotel</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Literatur (Wheaton &amp; Rossoff)</a:t>
                      </a:r>
                    </a:p>
                  </a:txBody>
                  <a:tcPr marL="73152" marR="73152" marT="36576" marB="36576" anchor="ctr">
                    <a:solidFill>
                      <a:srgbClr val="EAF8FA"/>
                    </a:solidFill>
                  </a:tcPr>
                </a:tc>
              </a:tr>
              <a:tr h="566928">
                <a:tc>
                  <a:txBody>
                    <a:bodyPr wrap="square"/>
                    <a:lstStyle/>
                    <a:p>
                      <a:r>
                        <a:rPr sz="1380" b="0" i="0">
                          <a:solidFill>
                            <a:srgbClr val="14313B"/>
                          </a:solidFill>
                          <a:latin typeface="Calibri (MS)"/>
                        </a:rPr>
                        <a:t>B4</a:t>
                      </a:r>
                    </a:p>
                  </a:txBody>
                  <a:tcPr marL="73152" marR="73152" marT="36576" marB="36576" anchor="ctr">
                    <a:solidFill>
                      <a:srgbClr val="FFFFFF"/>
                    </a:solidFill>
                  </a:tcPr>
                </a:tc>
                <a:tc>
                  <a:txBody>
                    <a:bodyPr wrap="square"/>
                    <a:lstStyle/>
                    <a:p>
                      <a:r>
                        <a:rPr sz="1380" b="0" i="0">
                          <a:solidFill>
                            <a:srgbClr val="14313B"/>
                          </a:solidFill>
                          <a:latin typeface="Calibri (MS)"/>
                        </a:rPr>
                        <a:t>PDRB → Tenaga Kerja Dibutuhkan</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Literatur (Munjal; Sánchez López)</a:t>
                      </a:r>
                    </a:p>
                  </a:txBody>
                  <a:tcPr marL="73152" marR="73152" marT="36576" marB="36576" anchor="ctr">
                    <a:solidFill>
                      <a:srgbClr val="FFFFFF"/>
                    </a:solidFill>
                  </a:tcPr>
                </a:tc>
              </a:tr>
              <a:tr h="566928">
                <a:tc>
                  <a:txBody>
                    <a:bodyPr wrap="square"/>
                    <a:lstStyle/>
                    <a:p>
                      <a:r>
                        <a:rPr sz="1380" b="0" i="0">
                          <a:solidFill>
                            <a:srgbClr val="14313B"/>
                          </a:solidFill>
                          <a:latin typeface="Calibri (MS)"/>
                        </a:rPr>
                        <a:t>B4</a:t>
                      </a:r>
                    </a:p>
                  </a:txBody>
                  <a:tcPr marL="73152" marR="73152" marT="36576" marB="36576" anchor="ctr">
                    <a:solidFill>
                      <a:srgbClr val="EAF8FA"/>
                    </a:solidFill>
                  </a:tcPr>
                </a:tc>
                <a:tc>
                  <a:txBody>
                    <a:bodyPr wrap="square"/>
                    <a:lstStyle/>
                    <a:p>
                      <a:r>
                        <a:rPr sz="1380" b="0" i="0">
                          <a:solidFill>
                            <a:srgbClr val="14313B"/>
                          </a:solidFill>
                          <a:latin typeface="Calibri (MS)"/>
                        </a:rPr>
                        <a:t>Tenaga Kerja Pariwisata → Selisih TK Dibutuhkan</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Identitas penyesuaian</a:t>
                      </a:r>
                    </a:p>
                  </a:txBody>
                  <a:tcPr marL="73152" marR="73152" marT="36576" marB="36576" anchor="ctr">
                    <a:solidFill>
                      <a:srgbClr val="EAF8FA"/>
                    </a:solidFill>
                  </a:tcPr>
                </a:tc>
              </a:tr>
              <a:tr h="566928">
                <a:tc>
                  <a:txBody>
                    <a:bodyPr wrap="square"/>
                    <a:lstStyle/>
                    <a:p>
                      <a:r>
                        <a:rPr sz="1380" b="0" i="0">
                          <a:solidFill>
                            <a:srgbClr val="14313B"/>
                          </a:solidFill>
                          <a:latin typeface="Calibri (MS)"/>
                        </a:rPr>
                        <a:t>B4</a:t>
                      </a:r>
                    </a:p>
                  </a:txBody>
                  <a:tcPr marL="73152" marR="73152" marT="36576" marB="36576" anchor="ctr">
                    <a:solidFill>
                      <a:srgbClr val="FFFFFF"/>
                    </a:solidFill>
                  </a:tcPr>
                </a:tc>
                <a:tc>
                  <a:txBody>
                    <a:bodyPr wrap="square"/>
                    <a:lstStyle/>
                    <a:p>
                      <a:r>
                        <a:rPr sz="1380" b="0" i="0">
                          <a:solidFill>
                            <a:srgbClr val="14313B"/>
                          </a:solidFill>
                          <a:latin typeface="Calibri (MS)"/>
                        </a:rPr>
                        <a:t>Selisih TK Dibutuhkan → Laju Penyerapan TK</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Struktur goal-seeking</a:t>
                      </a:r>
                    </a:p>
                  </a:txBody>
                  <a:tcPr marL="73152" marR="73152" marT="36576" marB="36576" anchor="ctr">
                    <a:solidFill>
                      <a:srgbClr val="FFFFFF"/>
                    </a:solidFill>
                  </a:tcPr>
                </a:tc>
              </a:tr>
            </a:tbl>
          </a:graphicData>
        </a:graphic>
      </p:graphicFrame>
      <p:sp>
        <p:nvSpPr>
          <p:cNvPr id="150" name="Rounded Rectangle 149"/>
          <p:cNvSpPr/>
          <p:nvPr/>
        </p:nvSpPr>
        <p:spPr>
          <a:xfrm>
            <a:off x="822960" y="8183879"/>
            <a:ext cx="1664208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Setiap panah terlacak ke mekanisme dan sumber; dukungan konseptual tidak dipakai sebagai dasar nilai parameter. Hubungan TK → pembangunan ODTW tidak dipertahankan.</a:t>
            </a:r>
          </a:p>
        </p:txBody>
      </p:sp>
      <p:sp>
        <p:nvSpPr>
          <p:cNvPr id="151" name="TextBox 150"/>
          <p:cNvSpPr txBox="1"/>
          <p:nvPr/>
        </p:nvSpPr>
        <p:spPr>
          <a:xfrm>
            <a:off x="822960" y="9217152"/>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4.1.3, Tabel 25 (versi lengkap dengan mekanisme di buku).</a:t>
            </a:r>
          </a:p>
        </p:txBody>
      </p:sp>
      <p:sp>
        <p:nvSpPr>
          <p:cNvPr id="152"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4.1.3 · Causal Loop Diagram dan Struktur Feedback Loop</a:t>
            </a:r>
          </a:p>
          <a:p>
            <a:pPr algn="l">
              <a:lnSpc>
                <a:spcPct val="100000"/>
              </a:lnSpc>
            </a:pPr>
            <a:r>
              <a:rPr lang="en-US" sz="3500" b="true">
                <a:solidFill>
                  <a:srgbClr val="0B5E6E"/>
                </a:solidFill>
                <a:latin typeface="Calibri (MS) Bold"/>
                <a:ea typeface="Calibri (MS) Bold"/>
                <a:cs typeface="Calibri (MS) Bold"/>
                <a:sym typeface="Calibri (MS) Bold"/>
              </a:rPr>
              <a:t>Hasil: CLD final dengan dua loop penguat dan empat loop penyeimbang</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39" id="139"/>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21</a:t>
            </a:r>
          </a:p>
        </p:txBody>
      </p:sp>
      <p:pic>
        <p:nvPicPr>
          <p:cNvPr id="140" name="Picture 139" descr="image11.png"/>
          <p:cNvPicPr>
            <a:picLocks noChangeAspect="1"/>
          </p:cNvPicPr>
          <p:nvPr/>
        </p:nvPicPr>
        <p:blipFill>
          <a:blip r:embed="rId7"/>
          <a:stretch>
            <a:fillRect/>
          </a:stretch>
        </p:blipFill>
        <p:spPr>
          <a:xfrm>
            <a:off x="822959" y="2663462"/>
            <a:ext cx="6949440" cy="5142954"/>
          </a:xfrm>
          <a:prstGeom prst="rect">
            <a:avLst/>
          </a:prstGeom>
        </p:spPr>
      </p:pic>
      <p:graphicFrame>
        <p:nvGraphicFramePr>
          <p:cNvPr id="141" name="Table 140"/>
          <p:cNvGraphicFramePr>
            <a:graphicFrameLocks noGrp="1"/>
          </p:cNvGraphicFramePr>
          <p:nvPr/>
        </p:nvGraphicFramePr>
        <p:xfrm>
          <a:off x="8046720" y="2240280"/>
          <a:ext cx="9418320" cy="5952744"/>
        </p:xfrm>
        <a:graphic>
          <a:graphicData uri="http://schemas.openxmlformats.org/drawingml/2006/table">
            <a:tbl>
              <a:tblPr firstRow="1" bandRow="1">
                <a:tableStyleId>{5C22544A-7EE6-4342-B048-85BDC9FD1C3A}</a:tableStyleId>
              </a:tblPr>
              <a:tblGrid>
                <a:gridCol w="822960"/>
                <a:gridCol w="1554480"/>
                <a:gridCol w="4206240"/>
                <a:gridCol w="2834640"/>
              </a:tblGrid>
              <a:tr h="850392">
                <a:tc>
                  <a:txBody>
                    <a:bodyPr wrap="square"/>
                    <a:lstStyle/>
                    <a:p>
                      <a:r>
                        <a:rPr sz="1490" b="1" i="0">
                          <a:solidFill>
                            <a:srgbClr val="FFFFFF"/>
                          </a:solidFill>
                          <a:latin typeface="Calibri (MS) Bold"/>
                        </a:rPr>
                        <a:t>Loop</a:t>
                      </a:r>
                    </a:p>
                  </a:txBody>
                  <a:tcPr marL="73152" marR="73152" marT="36576" marB="36576" anchor="ctr">
                    <a:solidFill>
                      <a:srgbClr val="0B5E6E"/>
                    </a:solidFill>
                  </a:tcPr>
                </a:tc>
                <a:tc>
                  <a:txBody>
                    <a:bodyPr wrap="square"/>
                    <a:lstStyle/>
                    <a:p>
                      <a:r>
                        <a:rPr sz="1490" b="1" i="0">
                          <a:solidFill>
                            <a:srgbClr val="FFFFFF"/>
                          </a:solidFill>
                          <a:latin typeface="Calibri (MS) Bold"/>
                        </a:rPr>
                        <a:t>Jenis</a:t>
                      </a:r>
                    </a:p>
                  </a:txBody>
                  <a:tcPr marL="73152" marR="73152" marT="36576" marB="36576" anchor="ctr">
                    <a:solidFill>
                      <a:srgbClr val="0B5E6E"/>
                    </a:solidFill>
                  </a:tcPr>
                </a:tc>
                <a:tc>
                  <a:txBody>
                    <a:bodyPr wrap="square"/>
                    <a:lstStyle/>
                    <a:p>
                      <a:r>
                        <a:rPr sz="1490" b="1" i="0">
                          <a:solidFill>
                            <a:srgbClr val="FFFFFF"/>
                          </a:solidFill>
                          <a:latin typeface="Calibri (MS) Bold"/>
                        </a:rPr>
                        <a:t>Rantai kausal ringkas</a:t>
                      </a:r>
                    </a:p>
                  </a:txBody>
                  <a:tcPr marL="73152" marR="73152" marT="36576" marB="36576" anchor="ctr">
                    <a:solidFill>
                      <a:srgbClr val="0B5E6E"/>
                    </a:solidFill>
                  </a:tcPr>
                </a:tc>
                <a:tc>
                  <a:txBody>
                    <a:bodyPr wrap="square"/>
                    <a:lstStyle/>
                    <a:p>
                      <a:r>
                        <a:rPr sz="1490" b="1" i="0">
                          <a:solidFill>
                            <a:srgbClr val="FFFFFF"/>
                          </a:solidFill>
                          <a:latin typeface="Calibri (MS) Bold"/>
                        </a:rPr>
                        <a:t>Peran dalam model</a:t>
                      </a:r>
                    </a:p>
                  </a:txBody>
                  <a:tcPr marL="73152" marR="73152" marT="36576" marB="36576" anchor="ctr">
                    <a:solidFill>
                      <a:srgbClr val="0B5E6E"/>
                    </a:solidFill>
                  </a:tcPr>
                </a:tc>
              </a:tr>
              <a:tr h="850392">
                <a:tc>
                  <a:txBody>
                    <a:bodyPr wrap="square"/>
                    <a:lstStyle/>
                    <a:p>
                      <a:r>
                        <a:rPr sz="1490" b="1" i="0">
                          <a:solidFill>
                            <a:srgbClr val="14313B"/>
                          </a:solidFill>
                          <a:latin typeface="Calibri (MS) Bold"/>
                        </a:rPr>
                        <a:t>R1</a:t>
                      </a:r>
                    </a:p>
                  </a:txBody>
                  <a:tcPr marL="73152" marR="73152" marT="36576" marB="36576" anchor="ctr">
                    <a:solidFill>
                      <a:srgbClr val="BDEFF3"/>
                    </a:solidFill>
                  </a:tcPr>
                </a:tc>
                <a:tc>
                  <a:txBody>
                    <a:bodyPr wrap="square"/>
                    <a:lstStyle/>
                    <a:p>
                      <a:r>
                        <a:rPr sz="1490" b="0" i="0">
                          <a:solidFill>
                            <a:srgbClr val="14313B"/>
                          </a:solidFill>
                          <a:latin typeface="Calibri (MS)"/>
                        </a:rPr>
                        <a:t>Penguat</a:t>
                      </a:r>
                    </a:p>
                  </a:txBody>
                  <a:tcPr marL="73152" marR="73152" marT="36576" marB="36576" anchor="ctr">
                    <a:solidFill>
                      <a:srgbClr val="BDEFF3"/>
                    </a:solidFill>
                  </a:tcPr>
                </a:tc>
                <a:tc>
                  <a:txBody>
                    <a:bodyPr wrap="square"/>
                    <a:lstStyle/>
                    <a:p>
                      <a:r>
                        <a:rPr sz="1490" b="0" i="0">
                          <a:solidFill>
                            <a:srgbClr val="14313B"/>
                          </a:solidFill>
                          <a:latin typeface="Calibri (MS)"/>
                        </a:rPr>
                        <a:t>Wisatawan (+) → Laju Kedatangan (+) → Wisatawan</a:t>
                      </a:r>
                    </a:p>
                  </a:txBody>
                  <a:tcPr marL="73152" marR="73152" marT="36576" marB="36576" anchor="ctr">
                    <a:solidFill>
                      <a:srgbClr val="FFFFFF"/>
                    </a:solidFill>
                  </a:tcPr>
                </a:tc>
                <a:tc>
                  <a:txBody>
                    <a:bodyPr wrap="square"/>
                    <a:lstStyle/>
                    <a:p>
                      <a:r>
                        <a:rPr sz="1490" b="0" i="0">
                          <a:solidFill>
                            <a:srgbClr val="14313B"/>
                          </a:solidFill>
                          <a:latin typeface="Calibri (MS)"/>
                        </a:rPr>
                        <a:t>Pertumbuhan kunjungan bersifat akumulatif</a:t>
                      </a:r>
                    </a:p>
                  </a:txBody>
                  <a:tcPr marL="73152" marR="73152" marT="36576" marB="36576" anchor="ctr">
                    <a:solidFill>
                      <a:srgbClr val="FFFFFF"/>
                    </a:solidFill>
                  </a:tcPr>
                </a:tc>
              </a:tr>
              <a:tr h="850392">
                <a:tc>
                  <a:txBody>
                    <a:bodyPr wrap="square"/>
                    <a:lstStyle/>
                    <a:p>
                      <a:r>
                        <a:rPr sz="1490" b="1" i="0">
                          <a:solidFill>
                            <a:srgbClr val="14313B"/>
                          </a:solidFill>
                          <a:latin typeface="Calibri (MS) Bold"/>
                        </a:rPr>
                        <a:t>R2</a:t>
                      </a:r>
                    </a:p>
                  </a:txBody>
                  <a:tcPr marL="73152" marR="73152" marT="36576" marB="36576" anchor="ctr">
                    <a:solidFill>
                      <a:srgbClr val="BDEFF3"/>
                    </a:solidFill>
                  </a:tcPr>
                </a:tc>
                <a:tc>
                  <a:txBody>
                    <a:bodyPr wrap="square"/>
                    <a:lstStyle/>
                    <a:p>
                      <a:r>
                        <a:rPr sz="1490" b="0" i="0">
                          <a:solidFill>
                            <a:srgbClr val="14313B"/>
                          </a:solidFill>
                          <a:latin typeface="Calibri (MS)"/>
                        </a:rPr>
                        <a:t>Penguat</a:t>
                      </a:r>
                    </a:p>
                  </a:txBody>
                  <a:tcPr marL="73152" marR="73152" marT="36576" marB="36576" anchor="ctr">
                    <a:solidFill>
                      <a:srgbClr val="BDEFF3"/>
                    </a:solidFill>
                  </a:tcPr>
                </a:tc>
                <a:tc>
                  <a:txBody>
                    <a:bodyPr wrap="square"/>
                    <a:lstStyle/>
                    <a:p>
                      <a:r>
                        <a:rPr sz="1490" b="0" i="0">
                          <a:solidFill>
                            <a:srgbClr val="14313B"/>
                          </a:solidFill>
                          <a:latin typeface="Calibri (MS)"/>
                        </a:rPr>
                        <a:t>Wisatawan → Pengeluaran → PDRB → Investasi → Pembangunan ODTW → ODTW → Daya Tarik → Kedatangan</a:t>
                      </a:r>
                    </a:p>
                  </a:txBody>
                  <a:tcPr marL="73152" marR="73152" marT="36576" marB="36576" anchor="ctr">
                    <a:solidFill>
                      <a:srgbClr val="EAF8FA"/>
                    </a:solidFill>
                  </a:tcPr>
                </a:tc>
                <a:tc>
                  <a:txBody>
                    <a:bodyPr wrap="square"/>
                    <a:lstStyle/>
                    <a:p>
                      <a:r>
                        <a:rPr sz="1490" b="0" i="0">
                          <a:solidFill>
                            <a:srgbClr val="14313B"/>
                          </a:solidFill>
                          <a:latin typeface="Calibri (MS)"/>
                        </a:rPr>
                        <a:t>Jalur ekonomi–atraksi; tempat tuas Insentif Kebijakan bekerja</a:t>
                      </a:r>
                    </a:p>
                  </a:txBody>
                  <a:tcPr marL="73152" marR="73152" marT="36576" marB="36576" anchor="ctr">
                    <a:solidFill>
                      <a:srgbClr val="EAF8FA"/>
                    </a:solidFill>
                  </a:tcPr>
                </a:tc>
              </a:tr>
              <a:tr h="850392">
                <a:tc>
                  <a:txBody>
                    <a:bodyPr wrap="square"/>
                    <a:lstStyle/>
                    <a:p>
                      <a:r>
                        <a:rPr sz="1490" b="1" i="0">
                          <a:solidFill>
                            <a:srgbClr val="14313B"/>
                          </a:solidFill>
                          <a:latin typeface="Calibri (MS) Bold"/>
                        </a:rPr>
                        <a:t>B1</a:t>
                      </a:r>
                    </a:p>
                  </a:txBody>
                  <a:tcPr marL="73152" marR="73152" marT="36576" marB="36576" anchor="ctr">
                    <a:solidFill>
                      <a:srgbClr val="FFF1BF"/>
                    </a:solidFill>
                  </a:tcPr>
                </a:tc>
                <a:tc>
                  <a:txBody>
                    <a:bodyPr wrap="square"/>
                    <a:lstStyle/>
                    <a:p>
                      <a:r>
                        <a:rPr sz="1490" b="0" i="0">
                          <a:solidFill>
                            <a:srgbClr val="14313B"/>
                          </a:solidFill>
                          <a:latin typeface="Calibri (MS)"/>
                        </a:rPr>
                        <a:t>Penyeimbang</a:t>
                      </a:r>
                    </a:p>
                  </a:txBody>
                  <a:tcPr marL="73152" marR="73152" marT="36576" marB="36576" anchor="ctr">
                    <a:solidFill>
                      <a:srgbClr val="FFF1BF"/>
                    </a:solidFill>
                  </a:tcPr>
                </a:tc>
                <a:tc>
                  <a:txBody>
                    <a:bodyPr wrap="square"/>
                    <a:lstStyle/>
                    <a:p>
                      <a:r>
                        <a:rPr sz="1490" b="0" i="0">
                          <a:solidFill>
                            <a:srgbClr val="14313B"/>
                          </a:solidFill>
                          <a:latin typeface="Calibri (MS)"/>
                        </a:rPr>
                        <a:t>Wisatawan (+) → Kepadatan (−) → Daya Tarik → Kedatangan</a:t>
                      </a:r>
                    </a:p>
                  </a:txBody>
                  <a:tcPr marL="73152" marR="73152" marT="36576" marB="36576" anchor="ctr">
                    <a:solidFill>
                      <a:srgbClr val="FFFFFF"/>
                    </a:solidFill>
                  </a:tcPr>
                </a:tc>
                <a:tc>
                  <a:txBody>
                    <a:bodyPr wrap="square"/>
                    <a:lstStyle/>
                    <a:p>
                      <a:r>
                        <a:rPr sz="1490" b="0" i="0">
                          <a:solidFill>
                            <a:srgbClr val="14313B"/>
                          </a:solidFill>
                          <a:latin typeface="Calibri (MS)"/>
                        </a:rPr>
                        <a:t>Rem kepadatan (crowding)</a:t>
                      </a:r>
                    </a:p>
                  </a:txBody>
                  <a:tcPr marL="73152" marR="73152" marT="36576" marB="36576" anchor="ctr">
                    <a:solidFill>
                      <a:srgbClr val="FFFFFF"/>
                    </a:solidFill>
                  </a:tcPr>
                </a:tc>
              </a:tr>
              <a:tr h="850392">
                <a:tc>
                  <a:txBody>
                    <a:bodyPr wrap="square"/>
                    <a:lstStyle/>
                    <a:p>
                      <a:r>
                        <a:rPr sz="1490" b="1" i="0">
                          <a:solidFill>
                            <a:srgbClr val="14313B"/>
                          </a:solidFill>
                          <a:latin typeface="Calibri (MS) Bold"/>
                        </a:rPr>
                        <a:t>B2</a:t>
                      </a:r>
                    </a:p>
                  </a:txBody>
                  <a:tcPr marL="73152" marR="73152" marT="36576" marB="36576" anchor="ctr">
                    <a:solidFill>
                      <a:srgbClr val="FFF1BF"/>
                    </a:solidFill>
                  </a:tcPr>
                </a:tc>
                <a:tc>
                  <a:txBody>
                    <a:bodyPr wrap="square"/>
                    <a:lstStyle/>
                    <a:p>
                      <a:r>
                        <a:rPr sz="1490" b="0" i="0">
                          <a:solidFill>
                            <a:srgbClr val="14313B"/>
                          </a:solidFill>
                          <a:latin typeface="Calibri (MS)"/>
                        </a:rPr>
                        <a:t>Penyeimbang</a:t>
                      </a:r>
                    </a:p>
                  </a:txBody>
                  <a:tcPr marL="73152" marR="73152" marT="36576" marB="36576" anchor="ctr">
                    <a:solidFill>
                      <a:srgbClr val="FFF1BF"/>
                    </a:solidFill>
                  </a:tcPr>
                </a:tc>
                <a:tc>
                  <a:txBody>
                    <a:bodyPr wrap="square"/>
                    <a:lstStyle/>
                    <a:p>
                      <a:r>
                        <a:rPr sz="1490" b="0" i="0">
                          <a:solidFill>
                            <a:srgbClr val="14313B"/>
                          </a:solidFill>
                          <a:latin typeface="Calibri (MS)"/>
                        </a:rPr>
                        <a:t>Konstruksi hotel &amp; ODTW (+) → Konversi lahan → Lahan Terbangun (−) → RDDL (+) → Daya Tarik</a:t>
                      </a:r>
                    </a:p>
                  </a:txBody>
                  <a:tcPr marL="73152" marR="73152" marT="36576" marB="36576" anchor="ctr">
                    <a:solidFill>
                      <a:srgbClr val="EAF8FA"/>
                    </a:solidFill>
                  </a:tcPr>
                </a:tc>
                <a:tc>
                  <a:txBody>
                    <a:bodyPr wrap="square"/>
                    <a:lstStyle/>
                    <a:p>
                      <a:r>
                        <a:rPr sz="1490" b="0" i="0">
                          <a:solidFill>
                            <a:srgbClr val="14313B"/>
                          </a:solidFill>
                          <a:latin typeface="Calibri (MS)"/>
                        </a:rPr>
                        <a:t>Rem daya dukung lahan; tempat tuas Konservasi Lahan bekerja</a:t>
                      </a:r>
                    </a:p>
                  </a:txBody>
                  <a:tcPr marL="73152" marR="73152" marT="36576" marB="36576" anchor="ctr">
                    <a:solidFill>
                      <a:srgbClr val="EAF8FA"/>
                    </a:solidFill>
                  </a:tcPr>
                </a:tc>
              </a:tr>
              <a:tr h="850392">
                <a:tc>
                  <a:txBody>
                    <a:bodyPr wrap="square"/>
                    <a:lstStyle/>
                    <a:p>
                      <a:r>
                        <a:rPr sz="1490" b="1" i="0">
                          <a:solidFill>
                            <a:srgbClr val="14313B"/>
                          </a:solidFill>
                          <a:latin typeface="Calibri (MS) Bold"/>
                        </a:rPr>
                        <a:t>B3</a:t>
                      </a:r>
                    </a:p>
                  </a:txBody>
                  <a:tcPr marL="73152" marR="73152" marT="36576" marB="36576" anchor="ctr">
                    <a:solidFill>
                      <a:srgbClr val="FFF1BF"/>
                    </a:solidFill>
                  </a:tcPr>
                </a:tc>
                <a:tc>
                  <a:txBody>
                    <a:bodyPr wrap="square"/>
                    <a:lstStyle/>
                    <a:p>
                      <a:r>
                        <a:rPr sz="1490" b="0" i="0">
                          <a:solidFill>
                            <a:srgbClr val="14313B"/>
                          </a:solidFill>
                          <a:latin typeface="Calibri (MS)"/>
                        </a:rPr>
                        <a:t>Penyeimbang</a:t>
                      </a:r>
                    </a:p>
                  </a:txBody>
                  <a:tcPr marL="73152" marR="73152" marT="36576" marB="36576" anchor="ctr">
                    <a:solidFill>
                      <a:srgbClr val="FFF1BF"/>
                    </a:solidFill>
                  </a:tcPr>
                </a:tc>
                <a:tc>
                  <a:txBody>
                    <a:bodyPr wrap="square"/>
                    <a:lstStyle/>
                    <a:p>
                      <a:r>
                        <a:rPr sz="1490" b="0" i="0">
                          <a:solidFill>
                            <a:srgbClr val="14313B"/>
                          </a:solidFill>
                          <a:latin typeface="Calibri (MS)"/>
                        </a:rPr>
                        <a:t>Hotel (−) → Rasio Permintaan thd Kapasitas Kamar (+) → Laju Konstruksi → Hotel</a:t>
                      </a:r>
                    </a:p>
                  </a:txBody>
                  <a:tcPr marL="73152" marR="73152" marT="36576" marB="36576" anchor="ctr">
                    <a:solidFill>
                      <a:srgbClr val="FFFFFF"/>
                    </a:solidFill>
                  </a:tcPr>
                </a:tc>
                <a:tc>
                  <a:txBody>
                    <a:bodyPr wrap="square"/>
                    <a:lstStyle/>
                    <a:p>
                      <a:r>
                        <a:rPr sz="1490" b="0" i="0">
                          <a:solidFill>
                            <a:srgbClr val="14313B"/>
                          </a:solidFill>
                          <a:latin typeface="Calibri (MS)"/>
                        </a:rPr>
                        <a:t>Penyesuaian kapasitas akomodasi</a:t>
                      </a:r>
                    </a:p>
                  </a:txBody>
                  <a:tcPr marL="73152" marR="73152" marT="36576" marB="36576" anchor="ctr">
                    <a:solidFill>
                      <a:srgbClr val="FFFFFF"/>
                    </a:solidFill>
                  </a:tcPr>
                </a:tc>
              </a:tr>
              <a:tr h="850392">
                <a:tc>
                  <a:txBody>
                    <a:bodyPr wrap="square"/>
                    <a:lstStyle/>
                    <a:p>
                      <a:r>
                        <a:rPr sz="1490" b="1" i="0">
                          <a:solidFill>
                            <a:srgbClr val="14313B"/>
                          </a:solidFill>
                          <a:latin typeface="Calibri (MS) Bold"/>
                        </a:rPr>
                        <a:t>B4</a:t>
                      </a:r>
                    </a:p>
                  </a:txBody>
                  <a:tcPr marL="73152" marR="73152" marT="36576" marB="36576" anchor="ctr">
                    <a:solidFill>
                      <a:srgbClr val="FFF1BF"/>
                    </a:solidFill>
                  </a:tcPr>
                </a:tc>
                <a:tc>
                  <a:txBody>
                    <a:bodyPr wrap="square"/>
                    <a:lstStyle/>
                    <a:p>
                      <a:r>
                        <a:rPr sz="1490" b="0" i="0">
                          <a:solidFill>
                            <a:srgbClr val="14313B"/>
                          </a:solidFill>
                          <a:latin typeface="Calibri (MS)"/>
                        </a:rPr>
                        <a:t>Penyeimbang</a:t>
                      </a:r>
                    </a:p>
                  </a:txBody>
                  <a:tcPr marL="73152" marR="73152" marT="36576" marB="36576" anchor="ctr">
                    <a:solidFill>
                      <a:srgbClr val="FFF1BF"/>
                    </a:solidFill>
                  </a:tcPr>
                </a:tc>
                <a:tc>
                  <a:txBody>
                    <a:bodyPr wrap="square"/>
                    <a:lstStyle/>
                    <a:p>
                      <a:r>
                        <a:rPr sz="1490" b="0" i="0">
                          <a:solidFill>
                            <a:srgbClr val="14313B"/>
                          </a:solidFill>
                          <a:latin typeface="Calibri (MS)"/>
                        </a:rPr>
                        <a:t>TK Pariwisata (−) → Selisih TK Dibutuhkan (+) → Laju Penyerapan → TK</a:t>
                      </a:r>
                    </a:p>
                  </a:txBody>
                  <a:tcPr marL="73152" marR="73152" marT="36576" marB="36576" anchor="ctr">
                    <a:solidFill>
                      <a:srgbClr val="EAF8FA"/>
                    </a:solidFill>
                  </a:tcPr>
                </a:tc>
                <a:tc>
                  <a:txBody>
                    <a:bodyPr wrap="square"/>
                    <a:lstStyle/>
                    <a:p>
                      <a:r>
                        <a:rPr sz="1490" b="0" i="0">
                          <a:solidFill>
                            <a:srgbClr val="14313B"/>
                          </a:solidFill>
                          <a:latin typeface="Calibri (MS)"/>
                        </a:rPr>
                        <a:t>Goal-seeking tenaga kerja; loop lokal</a:t>
                      </a:r>
                    </a:p>
                  </a:txBody>
                  <a:tcPr marL="73152" marR="73152" marT="36576" marB="36576" anchor="ctr">
                    <a:solidFill>
                      <a:srgbClr val="EAF8FA"/>
                    </a:solidFill>
                  </a:tcPr>
                </a:tc>
              </a:tr>
            </a:tbl>
          </a:graphicData>
        </a:graphic>
      </p:graphicFrame>
      <p:sp>
        <p:nvSpPr>
          <p:cNvPr id="142" name="Rounded Rectangle 141"/>
          <p:cNvSpPr/>
          <p:nvPr/>
        </p:nvSpPr>
        <p:spPr>
          <a:xfrm>
            <a:off x="822960" y="8366760"/>
            <a:ext cx="16642080" cy="82296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Pertumbuhan didorong R1–R2 dan ditahan B1–B2; dua tuas kebijakan menempel pada R2 (insentif) dan B2 (konservasi). Hubungan TK → pembangunan ODTW tidak dipertahankan.</a:t>
            </a:r>
          </a:p>
        </p:txBody>
      </p:sp>
      <p:sp>
        <p:nvSpPr>
          <p:cNvPr id="143" name="TextBox 142"/>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4.1.3, Tabel 26, Gambar CLD.</a:t>
            </a:r>
          </a:p>
        </p:txBody>
      </p:sp>
      <p:sp>
        <p:nvSpPr>
          <p:cNvPr id="144"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4.1.2 · Penetapan Batas Model</a:t>
            </a:r>
          </a:p>
          <a:p>
            <a:pPr algn="l">
              <a:lnSpc>
                <a:spcPct val="100000"/>
              </a:lnSpc>
            </a:pPr>
            <a:r>
              <a:rPr lang="en-US" sz="3500" b="true">
                <a:solidFill>
                  <a:srgbClr val="0B5E6E"/>
                </a:solidFill>
                <a:latin typeface="Calibri (MS) Bold"/>
                <a:ea typeface="Calibri (MS) Bold"/>
                <a:cs typeface="Calibri (MS) Bold"/>
                <a:sym typeface="Calibri (MS) Bold"/>
              </a:rPr>
              <a:t>Hasil: batas model menetapkan ranah tafsir hasil</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22</a:t>
            </a:r>
          </a:p>
        </p:txBody>
      </p:sp>
      <p:sp>
        <p:nvSpPr>
          <p:cNvPr id="148" name="Rounded Rectangle 147"/>
          <p:cNvSpPr/>
          <p:nvPr/>
        </p:nvSpPr>
        <p:spPr>
          <a:xfrm>
            <a:off x="822960" y="2286000"/>
            <a:ext cx="5394960" cy="6400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2070" b="1" i="0">
                <a:solidFill>
                  <a:srgbClr val="FFFFFF"/>
                </a:solidFill>
                <a:latin typeface="Calibri (MS) Bold"/>
              </a:rPr>
              <a:t>Endogen · 26 variabel</a:t>
            </a:r>
          </a:p>
        </p:txBody>
      </p:sp>
      <p:sp>
        <p:nvSpPr>
          <p:cNvPr id="149" name="Rounded Rectangle 148"/>
          <p:cNvSpPr/>
          <p:nvPr/>
        </p:nvSpPr>
        <p:spPr>
          <a:xfrm>
            <a:off x="822960" y="3017520"/>
            <a:ext cx="5394960" cy="44805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670" b="0" i="0">
                <a:solidFill>
                  <a:srgbClr val="14313B"/>
                </a:solidFill>
                <a:latin typeface="Calibri (MS)"/>
              </a:rPr>
              <a:t>• Wisatawan, kedatangan, penurunan</a:t>
            </a:r>
          </a:p>
          <a:p>
            <a:pPr algn="l">
              <a:spcAft>
                <a:spcPts val="300"/>
              </a:spcAft>
            </a:pPr>
            <a:r>
              <a:rPr sz="1670" b="0" i="0">
                <a:solidFill>
                  <a:srgbClr val="14313B"/>
                </a:solidFill>
                <a:latin typeface="Calibri (MS)"/>
              </a:rPr>
              <a:t>• Akomodasi, konstruksi, demolisi</a:t>
            </a:r>
          </a:p>
          <a:p>
            <a:pPr algn="l">
              <a:spcAft>
                <a:spcPts val="300"/>
              </a:spcAft>
            </a:pPr>
            <a:r>
              <a:rPr sz="1670" b="0" i="0">
                <a:solidFill>
                  <a:srgbClr val="14313B"/>
                </a:solidFill>
                <a:latin typeface="Calibri (MS)"/>
              </a:rPr>
              <a:t>• ODTW, pembangunan, penutupan</a:t>
            </a:r>
          </a:p>
          <a:p>
            <a:pPr algn="l">
              <a:spcAft>
                <a:spcPts val="300"/>
              </a:spcAft>
            </a:pPr>
            <a:r>
              <a:rPr sz="1670" b="0" i="0">
                <a:solidFill>
                  <a:srgbClr val="14313B"/>
                </a:solidFill>
                <a:latin typeface="Calibri (MS)"/>
              </a:rPr>
              <a:t>• PDRB, pengeluaran, investasi</a:t>
            </a:r>
          </a:p>
          <a:p>
            <a:pPr algn="l">
              <a:spcAft>
                <a:spcPts val="300"/>
              </a:spcAft>
            </a:pPr>
            <a:r>
              <a:rPr sz="1670" b="0" i="0">
                <a:solidFill>
                  <a:srgbClr val="14313B"/>
                </a:solidFill>
                <a:latin typeface="Calibri (MS)"/>
              </a:rPr>
              <a:t>• TK, penyerapan, keluar</a:t>
            </a:r>
          </a:p>
          <a:p>
            <a:pPr algn="l">
              <a:spcAft>
                <a:spcPts val="300"/>
              </a:spcAft>
            </a:pPr>
            <a:r>
              <a:rPr sz="1670" b="0" i="0">
                <a:solidFill>
                  <a:srgbClr val="14313B"/>
                </a:solidFill>
                <a:latin typeface="Calibri (MS)"/>
              </a:rPr>
              <a:t>• Lahan terbangun &amp; konversinya</a:t>
            </a:r>
          </a:p>
          <a:p>
            <a:pPr algn="l">
              <a:spcAft>
                <a:spcPts val="300"/>
              </a:spcAft>
            </a:pPr>
            <a:r>
              <a:rPr sz="1670" b="0" i="0">
                <a:solidFill>
                  <a:srgbClr val="14313B"/>
                </a:solidFill>
                <a:latin typeface="Calibri (MS)"/>
              </a:rPr>
              <a:t>• Daya tarik, kepadatan, daya dukung</a:t>
            </a:r>
          </a:p>
          <a:p>
            <a:pPr algn="l">
              <a:spcAft>
                <a:spcPts val="300"/>
              </a:spcAft>
            </a:pPr>
            <a:r>
              <a:rPr sz="1670" b="0" i="0">
                <a:solidFill>
                  <a:srgbClr val="14313B"/>
                </a:solidFill>
                <a:latin typeface="Calibri (MS)"/>
              </a:rPr>
              <a:t>• Okupansi &amp; tekanan permintaan kamar</a:t>
            </a:r>
          </a:p>
        </p:txBody>
      </p:sp>
      <p:sp>
        <p:nvSpPr>
          <p:cNvPr id="150" name="Rounded Rectangle 149"/>
          <p:cNvSpPr/>
          <p:nvPr/>
        </p:nvSpPr>
        <p:spPr>
          <a:xfrm>
            <a:off x="6446520" y="2286000"/>
            <a:ext cx="5394960" cy="640080"/>
          </a:xfrm>
          <a:prstGeom prst="roundRect">
            <a:avLst>
              <a:gd name="adj" fmla="val 8000"/>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2070" b="1" i="0">
                <a:solidFill>
                  <a:srgbClr val="FFFFFF"/>
                </a:solidFill>
                <a:latin typeface="Calibri (MS) Bold"/>
              </a:rPr>
              <a:t>Eksogen · 35 parameter</a:t>
            </a:r>
          </a:p>
        </p:txBody>
      </p:sp>
      <p:sp>
        <p:nvSpPr>
          <p:cNvPr id="151" name="Rounded Rectangle 150"/>
          <p:cNvSpPr/>
          <p:nvPr/>
        </p:nvSpPr>
        <p:spPr>
          <a:xfrm>
            <a:off x="6446520" y="3017520"/>
            <a:ext cx="5394960" cy="44805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670" b="0" i="0">
                <a:solidFill>
                  <a:srgbClr val="14313B"/>
                </a:solidFill>
                <a:latin typeface="Calibri (MS)"/>
              </a:rPr>
              <a:t>• Pendorong permintaan eksternal (LPE, LPD)</a:t>
            </a:r>
          </a:p>
          <a:p>
            <a:pPr algn="l">
              <a:spcAft>
                <a:spcPts val="300"/>
              </a:spcAft>
            </a:pPr>
            <a:r>
              <a:rPr sz="1670" b="0" i="0">
                <a:solidFill>
                  <a:srgbClr val="14313B"/>
                </a:solidFill>
                <a:latin typeface="Calibri (MS)"/>
              </a:rPr>
              <a:t>• Perilaku &amp; karakteristik wisatawan</a:t>
            </a:r>
          </a:p>
          <a:p>
            <a:pPr algn="l">
              <a:spcAft>
                <a:spcPts val="300"/>
              </a:spcAft>
            </a:pPr>
            <a:r>
              <a:rPr sz="1670" b="0" i="0">
                <a:solidFill>
                  <a:srgbClr val="14313B"/>
                </a:solidFill>
                <a:latin typeface="Calibri (MS)"/>
              </a:rPr>
              <a:t>• Karakteristik struktural akomodasi</a:t>
            </a:r>
          </a:p>
          <a:p>
            <a:pPr algn="l">
              <a:spcAft>
                <a:spcPts val="300"/>
              </a:spcAft>
            </a:pPr>
            <a:r>
              <a:rPr sz="1670" b="0" i="0">
                <a:solidFill>
                  <a:srgbClr val="14313B"/>
                </a:solidFill>
                <a:latin typeface="Calibri (MS)"/>
              </a:rPr>
              <a:t>• Koefisien hasil derivasi data historis</a:t>
            </a:r>
          </a:p>
          <a:p>
            <a:pPr algn="l">
              <a:spcAft>
                <a:spcPts val="300"/>
              </a:spcAft>
            </a:pPr>
            <a:r>
              <a:rPr sz="1670" b="0" i="0">
                <a:solidFill>
                  <a:srgbClr val="14313B"/>
                </a:solidFill>
                <a:latin typeface="Calibri (MS)"/>
              </a:rPr>
              <a:t>• Koefisien &amp; batas kebutuhan lahan</a:t>
            </a:r>
          </a:p>
          <a:p>
            <a:pPr algn="l">
              <a:spcAft>
                <a:spcPts val="300"/>
              </a:spcAft>
            </a:pPr>
            <a:r>
              <a:rPr sz="1670" b="0" i="0">
                <a:solidFill>
                  <a:srgbClr val="14313B"/>
                </a:solidFill>
                <a:latin typeface="Calibri (MS)"/>
              </a:rPr>
              <a:t>• Parameter &amp; nilai referensi daya tarik</a:t>
            </a:r>
          </a:p>
          <a:p>
            <a:pPr algn="l">
              <a:spcAft>
                <a:spcPts val="300"/>
              </a:spcAft>
            </a:pPr>
            <a:r>
              <a:rPr sz="1670" b="0" i="0">
                <a:solidFill>
                  <a:srgbClr val="14313B"/>
                </a:solidFill>
                <a:latin typeface="Calibri (MS)"/>
              </a:rPr>
              <a:t>• Pembangunan ODTW non-investasi</a:t>
            </a:r>
          </a:p>
          <a:p>
            <a:pPr algn="l">
              <a:spcAft>
                <a:spcPts val="300"/>
              </a:spcAft>
            </a:pPr>
            <a:r>
              <a:rPr sz="1670" b="0" i="0">
                <a:solidFill>
                  <a:srgbClr val="14313B"/>
                </a:solidFill>
                <a:latin typeface="Calibri (MS)"/>
              </a:rPr>
              <a:t>• Dua tuas kebijakan</a:t>
            </a:r>
          </a:p>
        </p:txBody>
      </p:sp>
      <p:sp>
        <p:nvSpPr>
          <p:cNvPr id="152" name="Rounded Rectangle 151"/>
          <p:cNvSpPr/>
          <p:nvPr/>
        </p:nvSpPr>
        <p:spPr>
          <a:xfrm>
            <a:off x="12070080" y="2286000"/>
            <a:ext cx="5394960" cy="640080"/>
          </a:xfrm>
          <a:prstGeom prst="roundRect">
            <a:avLst>
              <a:gd name="adj" fmla="val 8000"/>
            </a:avLst>
          </a:prstGeom>
          <a:solidFill>
            <a:srgbClr val="FFD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2070" b="1" i="0">
                <a:solidFill>
                  <a:srgbClr val="14313B"/>
                </a:solidFill>
                <a:latin typeface="Calibri (MS) Bold"/>
              </a:rPr>
              <a:t>Dikeluarkan · 15 aspek</a:t>
            </a:r>
          </a:p>
        </p:txBody>
      </p:sp>
      <p:sp>
        <p:nvSpPr>
          <p:cNvPr id="153" name="Rounded Rectangle 152"/>
          <p:cNvSpPr/>
          <p:nvPr/>
        </p:nvSpPr>
        <p:spPr>
          <a:xfrm>
            <a:off x="12070080" y="3017520"/>
            <a:ext cx="5394960" cy="44805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670" b="0" i="0">
                <a:solidFill>
                  <a:srgbClr val="14313B"/>
                </a:solidFill>
                <a:latin typeface="Calibri (MS)"/>
              </a:rPr>
              <a:t>• Pemisahan wisman–wisnus; harga</a:t>
            </a:r>
          </a:p>
          <a:p>
            <a:pPr algn="l">
              <a:spcAft>
                <a:spcPts val="300"/>
              </a:spcAft>
            </a:pPr>
            <a:r>
              <a:rPr sz="1670" b="0" i="0">
                <a:solidFill>
                  <a:srgbClr val="14313B"/>
                </a:solidFill>
                <a:latin typeface="Calibri (MS)"/>
              </a:rPr>
              <a:t>• Aksesibilitas; promosi &amp; citra</a:t>
            </a:r>
          </a:p>
          <a:p>
            <a:pPr algn="l">
              <a:spcAft>
                <a:spcPts val="300"/>
              </a:spcAft>
            </a:pPr>
            <a:r>
              <a:rPr sz="1670" b="0" i="0">
                <a:solidFill>
                  <a:srgbClr val="14313B"/>
                </a:solidFill>
                <a:latin typeface="Calibri (MS)"/>
              </a:rPr>
              <a:t>• Kualitas SDM; musim/bulanan</a:t>
            </a:r>
          </a:p>
          <a:p>
            <a:pPr algn="l">
              <a:spcAft>
                <a:spcPts val="300"/>
              </a:spcAft>
            </a:pPr>
            <a:r>
              <a:rPr sz="1670" b="0" i="0">
                <a:solidFill>
                  <a:srgbClr val="14313B"/>
                </a:solidFill>
                <a:latin typeface="Calibri (MS)"/>
              </a:rPr>
              <a:t>• Guncangan (pandemi, erupsi, gempa)</a:t>
            </a:r>
          </a:p>
          <a:p>
            <a:pPr algn="l">
              <a:spcAft>
                <a:spcPts val="300"/>
              </a:spcAft>
            </a:pPr>
            <a:r>
              <a:rPr sz="1670" b="0" i="0">
                <a:solidFill>
                  <a:srgbClr val="14313B"/>
                </a:solidFill>
                <a:latin typeface="Calibri (MS)"/>
              </a:rPr>
              <a:t>• Persaingan antardestinasi; zonasi RTRW</a:t>
            </a:r>
          </a:p>
          <a:p>
            <a:pPr algn="l">
              <a:spcAft>
                <a:spcPts val="300"/>
              </a:spcAft>
            </a:pPr>
            <a:r>
              <a:rPr sz="1670" b="0" i="0">
                <a:solidFill>
                  <a:srgbClr val="14313B"/>
                </a:solidFill>
                <a:latin typeface="Calibri (MS)"/>
              </a:rPr>
              <a:t>• Dampak lingkungan non-lahan; sosial budaya</a:t>
            </a:r>
          </a:p>
          <a:p>
            <a:pPr algn="l">
              <a:spcAft>
                <a:spcPts val="300"/>
              </a:spcAft>
            </a:pPr>
            <a:r>
              <a:rPr sz="1670" b="0" i="0">
                <a:solidFill>
                  <a:srgbClr val="14313B"/>
                </a:solidFill>
                <a:latin typeface="Calibri (MS)"/>
              </a:rPr>
              <a:t>• Distribusi manfaat; investasi APBN/APBD</a:t>
            </a:r>
          </a:p>
          <a:p>
            <a:pPr algn="l">
              <a:spcAft>
                <a:spcPts val="300"/>
              </a:spcAft>
            </a:pPr>
            <a:r>
              <a:rPr sz="1670" b="0" i="0">
                <a:solidFill>
                  <a:srgbClr val="14313B"/>
                </a:solidFill>
                <a:latin typeface="Calibri (MS)"/>
              </a:rPr>
              <a:t>• Perpindahan TK antarsektor; harga lahan</a:t>
            </a:r>
          </a:p>
        </p:txBody>
      </p:sp>
      <p:sp>
        <p:nvSpPr>
          <p:cNvPr id="154" name="Rounded Rectangle 153"/>
          <p:cNvSpPr/>
          <p:nvPr/>
        </p:nvSpPr>
        <p:spPr>
          <a:xfrm>
            <a:off x="822960" y="7635240"/>
            <a:ext cx="16642080" cy="68580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610" b="1" i="0">
                <a:solidFill>
                  <a:srgbClr val="E4604F"/>
                </a:solidFill>
                <a:latin typeface="Calibri (MS) Bold"/>
              </a:rPr>
              <a:t>Konsekuensi utama:  </a:t>
            </a:r>
            <a:r>
              <a:rPr sz="1610" b="0" i="0">
                <a:solidFill>
                  <a:srgbClr val="14313B"/>
                </a:solidFill>
                <a:latin typeface="Calibri (MS)"/>
              </a:rPr>
              <a:t>mekanisme penyeimbang lewat harga tidak tercakup; promosi &amp; aksesibilitas tersirat di LPE; lintasan tanpa guncangan; daya dukung lahan cenderung longgar (luas administratif).</a:t>
            </a:r>
          </a:p>
        </p:txBody>
      </p:sp>
      <p:sp>
        <p:nvSpPr>
          <p:cNvPr id="155" name="Rounded Rectangle 154"/>
          <p:cNvSpPr/>
          <p:nvPr/>
        </p:nvSpPr>
        <p:spPr>
          <a:xfrm>
            <a:off x="822960" y="8430768"/>
            <a:ext cx="16642080" cy="7315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Hasil model tidak boleh ditafsirkan pada ranah harga, promosi, musim, maupun guncangan eksternal.</a:t>
            </a:r>
          </a:p>
        </p:txBody>
      </p:sp>
      <p:sp>
        <p:nvSpPr>
          <p:cNvPr id="156" name="TextBox 155"/>
          <p:cNvSpPr txBox="1"/>
          <p:nvPr/>
        </p:nvSpPr>
        <p:spPr>
          <a:xfrm>
            <a:off x="822960" y="9217152"/>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3.7.4 (uji kecukupan batas), 4.1.2, Tabel 13–15; rincian di Lampiran 9.</a:t>
            </a:r>
          </a:p>
        </p:txBody>
      </p:sp>
      <p:sp>
        <p:nvSpPr>
          <p:cNvPr id="157"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Ringkasan Hasil Tujuan 1</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23</a:t>
            </a:r>
          </a:p>
        </p:txBody>
      </p:sp>
      <p:sp>
        <p:nvSpPr>
          <p:cNvPr id="148" name="Rounded Rectangle 147"/>
          <p:cNvSpPr/>
          <p:nvPr/>
        </p:nvSpPr>
        <p:spPr>
          <a:xfrm>
            <a:off x="822960" y="2286000"/>
            <a:ext cx="16642080" cy="77724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2070" b="1" i="0">
                <a:solidFill>
                  <a:srgbClr val="FFFFFF"/>
                </a:solidFill>
                <a:latin typeface="Calibri (MS) Bold"/>
              </a:rPr>
              <a:t>Apa hasil yang diperoleh untuk Tujuan 1?</a:t>
            </a:r>
          </a:p>
        </p:txBody>
      </p:sp>
      <p:sp>
        <p:nvSpPr>
          <p:cNvPr id="149" name="Rounded Rectangle 148"/>
          <p:cNvSpPr/>
          <p:nvPr/>
        </p:nvSpPr>
        <p:spPr>
          <a:xfrm>
            <a:off x="822960" y="329184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0" name="Oval 149"/>
          <p:cNvSpPr/>
          <p:nvPr/>
        </p:nvSpPr>
        <p:spPr>
          <a:xfrm>
            <a:off x="1051560" y="357759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1</a:t>
            </a:r>
          </a:p>
        </p:txBody>
      </p:sp>
      <p:sp>
        <p:nvSpPr>
          <p:cNvPr id="151" name="TextBox 150"/>
          <p:cNvSpPr txBox="1"/>
          <p:nvPr/>
        </p:nvSpPr>
        <p:spPr>
          <a:xfrm>
            <a:off x="1828800" y="338328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15 variabel kunci</a:t>
            </a:r>
          </a:p>
        </p:txBody>
      </p:sp>
      <p:sp>
        <p:nvSpPr>
          <p:cNvPr id="152" name="TextBox 151"/>
          <p:cNvSpPr txBox="1"/>
          <p:nvPr/>
        </p:nvSpPr>
        <p:spPr>
          <a:xfrm>
            <a:off x="6126480" y="338328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Teridentifikasi dari 6 subsistem (permintaan &amp; daya tarik, atraksi, ekonomi &amp; investasi, akomodasi, lahan, tenaga kerja); seluruhnya terpetakan ke statistik resmi.</a:t>
            </a:r>
          </a:p>
        </p:txBody>
      </p:sp>
      <p:sp>
        <p:nvSpPr>
          <p:cNvPr id="153" name="Rounded Rectangle 152"/>
          <p:cNvSpPr/>
          <p:nvPr/>
        </p:nvSpPr>
        <p:spPr>
          <a:xfrm>
            <a:off x="822960" y="459486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4" name="Oval 153"/>
          <p:cNvSpPr/>
          <p:nvPr/>
        </p:nvSpPr>
        <p:spPr>
          <a:xfrm>
            <a:off x="1051560" y="488061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2</a:t>
            </a:r>
          </a:p>
        </p:txBody>
      </p:sp>
      <p:sp>
        <p:nvSpPr>
          <p:cNvPr id="155" name="TextBox 154"/>
          <p:cNvSpPr txBox="1"/>
          <p:nvPr/>
        </p:nvSpPr>
        <p:spPr>
          <a:xfrm>
            <a:off x="1828800" y="468630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18 hubungan kausal</a:t>
            </a:r>
          </a:p>
        </p:txBody>
      </p:sp>
      <p:sp>
        <p:nvSpPr>
          <p:cNvPr id="156" name="TextBox 155"/>
          <p:cNvSpPr txBox="1"/>
          <p:nvPr/>
        </p:nvSpPr>
        <p:spPr>
          <a:xfrm>
            <a:off x="6126480" y="468630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Dievaluasi arah, mekanisme, dan jenis dukungannya; 1 hubungan (TK → pembangunan ODTW) tidak dipertahankan.</a:t>
            </a:r>
          </a:p>
        </p:txBody>
      </p:sp>
      <p:sp>
        <p:nvSpPr>
          <p:cNvPr id="157" name="Rounded Rectangle 156"/>
          <p:cNvSpPr/>
          <p:nvPr/>
        </p:nvSpPr>
        <p:spPr>
          <a:xfrm>
            <a:off x="822960" y="589788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8" name="Oval 157"/>
          <p:cNvSpPr/>
          <p:nvPr/>
        </p:nvSpPr>
        <p:spPr>
          <a:xfrm>
            <a:off x="1051560" y="618363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3</a:t>
            </a:r>
          </a:p>
        </p:txBody>
      </p:sp>
      <p:sp>
        <p:nvSpPr>
          <p:cNvPr id="159" name="TextBox 158"/>
          <p:cNvSpPr txBox="1"/>
          <p:nvPr/>
        </p:nvSpPr>
        <p:spPr>
          <a:xfrm>
            <a:off x="1828800" y="598932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6 feedback loop</a:t>
            </a:r>
          </a:p>
        </p:txBody>
      </p:sp>
      <p:sp>
        <p:nvSpPr>
          <p:cNvPr id="160" name="TextBox 159"/>
          <p:cNvSpPr txBox="1"/>
          <p:nvPr/>
        </p:nvSpPr>
        <p:spPr>
          <a:xfrm>
            <a:off x="6126480" y="598932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R1 pertumbuhan, R2 ekonomi–atraksi, B1 kepadatan, B2 daya dukung lahan, B3 okupansi, B4 penyesuaian TK — hipotesis dinamis penelitian.</a:t>
            </a:r>
          </a:p>
        </p:txBody>
      </p:sp>
      <p:sp>
        <p:nvSpPr>
          <p:cNvPr id="161" name="Rounded Rectangle 160"/>
          <p:cNvSpPr/>
          <p:nvPr/>
        </p:nvSpPr>
        <p:spPr>
          <a:xfrm>
            <a:off x="822960" y="720090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62" name="Oval 161"/>
          <p:cNvSpPr/>
          <p:nvPr/>
        </p:nvSpPr>
        <p:spPr>
          <a:xfrm>
            <a:off x="1051560" y="748665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4</a:t>
            </a:r>
          </a:p>
        </p:txBody>
      </p:sp>
      <p:sp>
        <p:nvSpPr>
          <p:cNvPr id="163" name="TextBox 162"/>
          <p:cNvSpPr txBox="1"/>
          <p:nvPr/>
        </p:nvSpPr>
        <p:spPr>
          <a:xfrm>
            <a:off x="1828800" y="729234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Batas model eksplisit</a:t>
            </a:r>
          </a:p>
        </p:txBody>
      </p:sp>
      <p:sp>
        <p:nvSpPr>
          <p:cNvPr id="164" name="TextBox 163"/>
          <p:cNvSpPr txBox="1"/>
          <p:nvPr/>
        </p:nvSpPr>
        <p:spPr>
          <a:xfrm>
            <a:off x="6126480" y="729234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26 endogen, 35 eksogen, 15 aspek dikeluarkan beserta konsekuensinya terhadap tafsir hasil.</a:t>
            </a:r>
          </a:p>
        </p:txBody>
      </p:sp>
      <p:sp>
        <p:nvSpPr>
          <p:cNvPr id="165" name="Rounded Rectangle 164"/>
          <p:cNvSpPr/>
          <p:nvPr/>
        </p:nvSpPr>
        <p:spPr>
          <a:xfrm>
            <a:off x="822960" y="8503920"/>
            <a:ext cx="16642080" cy="7315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CLD final menjadi masukan langsung Tujuan 2: dioperasionalkan menjadi SFD 61 variabel (5 stock, 10 flow, 11 auxiliary, 35 parameter).</a:t>
            </a:r>
          </a:p>
        </p:txBody>
      </p:sp>
      <p:sp>
        <p:nvSpPr>
          <p:cNvPr id="166"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B5E6E"/>
        </a:solidFill>
      </p:bgPr>
    </p:bg>
    <p:spTree>
      <p:nvGrpSpPr>
        <p:cNvPr id="1" name=""/>
        <p:cNvGrpSpPr/>
        <p:nvPr/>
      </p:nvGrpSpPr>
      <p:grpSpPr>
        <a:xfrm>
          <a:off x="0" y="0"/>
          <a:ext cx="0" cy="0"/>
          <a:chOff x="0" y="0"/>
          <a:chExt cx="0" cy="0"/>
        </a:xfrm>
      </p:grpSpPr>
      <p:grpSp>
        <p:nvGrpSpPr>
          <p:cNvPr name="Group 2" id="2"/>
          <p:cNvGrpSpPr/>
          <p:nvPr/>
        </p:nvGrpSpPr>
        <p:grpSpPr>
          <a:xfrm rot="0">
            <a:off x="8462772" y="1645920"/>
            <a:ext cx="1371600" cy="1371600"/>
            <a:chOff x="0" y="0"/>
            <a:chExt cx="1828800" cy="1828800"/>
          </a:xfrm>
        </p:grpSpPr>
        <p:sp>
          <p:nvSpPr>
            <p:cNvPr name="Freeform 3" id="3"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3497580"/>
            <a:ext cx="16637508" cy="1371600"/>
            <a:chOff x="0" y="0"/>
            <a:chExt cx="22183344" cy="1828800"/>
          </a:xfrm>
        </p:grpSpPr>
        <p:sp>
          <p:nvSpPr>
            <p:cNvPr name="Freeform 5" id="5"/>
            <p:cNvSpPr/>
            <p:nvPr/>
          </p:nvSpPr>
          <p:spPr>
            <a:xfrm flipH="false" flipV="false" rot="0">
              <a:off x="0" y="0"/>
              <a:ext cx="22183344" cy="1828800"/>
            </a:xfrm>
            <a:custGeom>
              <a:avLst/>
              <a:gdLst/>
              <a:ahLst/>
              <a:cxnLst/>
              <a:rect r="r" b="b" t="t" l="l"/>
              <a:pathLst>
                <a:path h="1828800" w="22183344">
                  <a:moveTo>
                    <a:pt x="0" y="0"/>
                  </a:moveTo>
                  <a:lnTo>
                    <a:pt x="22183344" y="0"/>
                  </a:lnTo>
                  <a:lnTo>
                    <a:pt x="22183344" y="1828800"/>
                  </a:lnTo>
                  <a:lnTo>
                    <a:pt x="0" y="1828800"/>
                  </a:lnTo>
                  <a:close/>
                </a:path>
              </a:pathLst>
            </a:custGeom>
            <a:blipFill>
              <a:blip r:embed="rId4">
                <a:alphaModFix amt="0"/>
              </a:blip>
              <a:stretch>
                <a:fillRect l="0" t="-186188" r="0" b="-186189"/>
              </a:stretch>
            </a:blipFill>
          </p:spPr>
          <p:txBody>
            <a:bodyPr/>
            <a:p/>
          </p:txBody>
        </p:sp>
      </p:grpSp>
      <p:grpSp>
        <p:nvGrpSpPr>
          <p:cNvPr name="Group 6" id="6"/>
          <p:cNvGrpSpPr/>
          <p:nvPr/>
        </p:nvGrpSpPr>
        <p:grpSpPr>
          <a:xfrm rot="0">
            <a:off x="822960" y="3376136"/>
            <a:ext cx="16637508" cy="1493044"/>
            <a:chOff x="0" y="0"/>
            <a:chExt cx="22183344" cy="1990725"/>
          </a:xfrm>
        </p:grpSpPr>
        <p:sp>
          <p:nvSpPr>
            <p:cNvPr name="Freeform 7" id="7"/>
            <p:cNvSpPr/>
            <p:nvPr/>
          </p:nvSpPr>
          <p:spPr>
            <a:xfrm flipH="false" flipV="false" rot="0">
              <a:off x="0" y="0"/>
              <a:ext cx="22183344" cy="1990725"/>
            </a:xfrm>
            <a:custGeom>
              <a:avLst/>
              <a:gdLst/>
              <a:ahLst/>
              <a:cxnLst/>
              <a:rect r="r" b="b" t="t" l="l"/>
              <a:pathLst>
                <a:path h="1990725" w="22183344">
                  <a:moveTo>
                    <a:pt x="0" y="0"/>
                  </a:moveTo>
                  <a:lnTo>
                    <a:pt x="22183344" y="0"/>
                  </a:lnTo>
                  <a:lnTo>
                    <a:pt x="22183344" y="1990725"/>
                  </a:lnTo>
                  <a:lnTo>
                    <a:pt x="0" y="1990725"/>
                  </a:lnTo>
                  <a:close/>
                </a:path>
              </a:pathLst>
            </a:custGeom>
            <a:blipFill>
              <a:blip r:embed="rId5">
                <a:alphaModFix amt="0"/>
              </a:blip>
              <a:stretch>
                <a:fillRect l="0" t="-167128" r="0" b="-167128"/>
              </a:stretch>
            </a:blipFill>
          </p:spPr>
          <p:txBody>
            <a:bodyPr/>
            <a:p/>
          </p:txBody>
        </p:sp>
        <p:sp>
          <p:nvSpPr>
            <p:cNvPr name="TextBox 8" id="8"/>
            <p:cNvSpPr txBox="true"/>
            <p:nvPr/>
          </p:nvSpPr>
          <p:spPr>
            <a:xfrm>
              <a:off x="0" y="-161925"/>
              <a:ext cx="22183344" cy="2152650"/>
            </a:xfrm>
            <a:prstGeom prst="rect">
              <a:avLst/>
            </a:prstGeom>
          </p:spPr>
          <p:txBody>
            <a:bodyPr anchor="ctr" rtlCol="false" tIns="0" lIns="0" bIns="0" rIns="0"/>
            <a:lstStyle/>
            <a:p>
              <a:pPr algn="ctr">
                <a:lnSpc>
                  <a:spcPts val="9360"/>
                </a:lnSpc>
              </a:pPr>
              <a:r>
                <a:rPr lang="en-US" sz="7800" b="true">
                  <a:solidFill>
                    <a:srgbClr val="FFD23B"/>
                  </a:solidFill>
                  <a:latin typeface="Calibri (MS) Bold"/>
                  <a:ea typeface="Calibri (MS) Bold"/>
                  <a:cs typeface="Calibri (MS) Bold"/>
                  <a:sym typeface="Calibri (MS) Bold"/>
                </a:rPr>
                <a:t>Tujuan 2</a:t>
              </a:r>
            </a:p>
          </p:txBody>
        </p:sp>
      </p:grpSp>
      <p:sp>
        <p:nvSpPr>
          <p:cNvPr name="TextBox 9" id="9"/>
          <p:cNvSpPr txBox="true"/>
          <p:nvPr/>
        </p:nvSpPr>
        <p:spPr>
          <a:xfrm rot="0">
            <a:off x="2057400" y="4979670"/>
            <a:ext cx="14168628" cy="1192530"/>
          </a:xfrm>
          <a:prstGeom prst="rect">
            <a:avLst/>
          </a:prstGeom>
        </p:spPr>
        <p:txBody>
          <a:bodyPr anchor="t" rtlCol="false" tIns="0" lIns="0" bIns="0" rIns="0">
            <a:spAutoFit/>
          </a:bodyPr>
          <a:lstStyle/>
          <a:p>
            <a:pPr algn="ctr">
              <a:lnSpc>
                <a:spcPts val="3060"/>
              </a:lnSpc>
            </a:pPr>
            <a:r>
              <a:rPr lang="en-US" sz="2100">
                <a:solidFill>
                  <a:srgbClr val="FFFFFF"/>
                </a:solidFill>
                <a:latin typeface="Calibri (MS)"/>
                <a:ea typeface="Calibri (MS)"/>
                <a:cs typeface="Calibri (MS)"/>
                <a:sym typeface="Calibri (MS)"/>
              </a:rPr>
              <a:t>Mengembangkan model sistem dinamis yang komprehensif dan memanfaatkan data citra satelit untuk memutakhirkan variabel yang mengalami jeda data, serta menguji validitas strukturnya dan kesesuaiannya terhadap data historis sebagai dasar simulasi kebijakan pariwisata.</a:t>
            </a:r>
          </a:p>
        </p:txBody>
      </p:sp>
      <p:sp>
        <p:nvSpPr>
          <p:cNvPr name="TextBox 10" id="10"/>
          <p:cNvSpPr txBox="true"/>
          <p:nvPr/>
        </p:nvSpPr>
        <p:spPr>
          <a:xfrm rot="0">
            <a:off x="822960" y="6812280"/>
            <a:ext cx="16637508" cy="662940"/>
          </a:xfrm>
          <a:prstGeom prst="rect">
            <a:avLst/>
          </a:prstGeom>
        </p:spPr>
        <p:txBody>
          <a:bodyPr anchor="t" rtlCol="false" tIns="0" lIns="0" bIns="0" rIns="0">
            <a:spAutoFit/>
          </a:bodyPr>
          <a:lstStyle/>
          <a:p>
            <a:pPr algn="ctr">
              <a:lnSpc>
                <a:spcPts val="2700"/>
              </a:lnSpc>
            </a:pPr>
            <a:r>
              <a:rPr lang="en-US" sz="1800" b="true">
                <a:solidFill>
                  <a:srgbClr val="FFFFFF"/>
                </a:solidFill>
                <a:latin typeface="Calibri (MS) Bold"/>
                <a:ea typeface="Calibri (MS) Bold"/>
                <a:cs typeface="Calibri (MS) Bold"/>
                <a:sym typeface="Calibri (MS) Bold"/>
              </a:rPr>
              <a:t>2A Citra satelit  →  2B Formulasi  →  2C Parameter  →  2D Uji struktur  →  2E Uji perilaku &amp; kalibrasi  →  2F Sensitivitas  →  2G Skenario</a:t>
            </a:r>
          </a:p>
        </p:txBody>
      </p:sp>
      <p:grpSp>
        <p:nvGrpSpPr>
          <p:cNvPr name="Group 11" id="11"/>
          <p:cNvGrpSpPr/>
          <p:nvPr/>
        </p:nvGrpSpPr>
        <p:grpSpPr>
          <a:xfrm rot="0">
            <a:off x="6035040" y="8001000"/>
            <a:ext cx="6213348" cy="685800"/>
            <a:chOff x="0" y="0"/>
            <a:chExt cx="8284464" cy="914400"/>
          </a:xfrm>
        </p:grpSpPr>
        <p:sp>
          <p:nvSpPr>
            <p:cNvPr name="Freeform 12" id="12"/>
            <p:cNvSpPr/>
            <p:nvPr/>
          </p:nvSpPr>
          <p:spPr>
            <a:xfrm flipH="false" flipV="false" rot="0">
              <a:off x="0" y="0"/>
              <a:ext cx="8284464" cy="914400"/>
            </a:xfrm>
            <a:custGeom>
              <a:avLst/>
              <a:gdLst/>
              <a:ahLst/>
              <a:cxnLst/>
              <a:rect r="r" b="b" t="t" l="l"/>
              <a:pathLst>
                <a:path h="914400" w="8284464">
                  <a:moveTo>
                    <a:pt x="0" y="457200"/>
                  </a:moveTo>
                  <a:cubicBezTo>
                    <a:pt x="0" y="204724"/>
                    <a:pt x="204724" y="0"/>
                    <a:pt x="457200" y="0"/>
                  </a:cubicBezTo>
                  <a:lnTo>
                    <a:pt x="7827264" y="0"/>
                  </a:lnTo>
                  <a:cubicBezTo>
                    <a:pt x="8079740" y="0"/>
                    <a:pt x="8284464" y="204724"/>
                    <a:pt x="8284464" y="457200"/>
                  </a:cubicBezTo>
                  <a:cubicBezTo>
                    <a:pt x="8284464" y="709676"/>
                    <a:pt x="8079740" y="914400"/>
                    <a:pt x="7827264" y="914400"/>
                  </a:cubicBezTo>
                  <a:lnTo>
                    <a:pt x="457200" y="914400"/>
                  </a:lnTo>
                  <a:cubicBezTo>
                    <a:pt x="204724" y="914400"/>
                    <a:pt x="0" y="709676"/>
                    <a:pt x="0" y="457200"/>
                  </a:cubicBezTo>
                  <a:close/>
                </a:path>
              </a:pathLst>
            </a:custGeom>
            <a:solidFill>
              <a:srgbClr val="39C0D3"/>
            </a:solidFill>
          </p:spPr>
          <p:txBody>
            <a:bodyPr/>
            <a:p/>
          </p:txBody>
        </p:sp>
      </p:grpSp>
      <p:grpSp>
        <p:nvGrpSpPr>
          <p:cNvPr name="Group 13" id="13"/>
          <p:cNvGrpSpPr/>
          <p:nvPr/>
        </p:nvGrpSpPr>
        <p:grpSpPr>
          <a:xfrm rot="0">
            <a:off x="6035040" y="8001000"/>
            <a:ext cx="6213348" cy="685800"/>
            <a:chOff x="0" y="0"/>
            <a:chExt cx="8284464" cy="914400"/>
          </a:xfrm>
        </p:grpSpPr>
        <p:sp>
          <p:nvSpPr>
            <p:cNvPr name="Freeform 14" id="14"/>
            <p:cNvSpPr/>
            <p:nvPr/>
          </p:nvSpPr>
          <p:spPr>
            <a:xfrm flipH="false" flipV="false" rot="0">
              <a:off x="0" y="0"/>
              <a:ext cx="8284464" cy="914400"/>
            </a:xfrm>
            <a:custGeom>
              <a:avLst/>
              <a:gdLst/>
              <a:ahLst/>
              <a:cxnLst/>
              <a:rect r="r" b="b" t="t" l="l"/>
              <a:pathLst>
                <a:path h="914400" w="8284464">
                  <a:moveTo>
                    <a:pt x="0" y="0"/>
                  </a:moveTo>
                  <a:lnTo>
                    <a:pt x="8284464" y="0"/>
                  </a:lnTo>
                  <a:lnTo>
                    <a:pt x="8284464" y="914400"/>
                  </a:lnTo>
                  <a:lnTo>
                    <a:pt x="0" y="914400"/>
                  </a:lnTo>
                  <a:close/>
                </a:path>
              </a:pathLst>
            </a:custGeom>
            <a:blipFill>
              <a:blip r:embed="rId4">
                <a:alphaModFix amt="0"/>
              </a:blip>
              <a:stretch>
                <a:fillRect l="0" t="-126411" r="0" b="-126412"/>
              </a:stretch>
            </a:blipFill>
          </p:spPr>
          <p:txBody>
            <a:bodyPr/>
            <a:p/>
          </p:txBody>
        </p:sp>
      </p:grpSp>
      <p:grpSp>
        <p:nvGrpSpPr>
          <p:cNvPr name="Group 15" id="15"/>
          <p:cNvGrpSpPr/>
          <p:nvPr/>
        </p:nvGrpSpPr>
        <p:grpSpPr>
          <a:xfrm rot="0">
            <a:off x="6035040" y="8001000"/>
            <a:ext cx="6213348" cy="721519"/>
            <a:chOff x="0" y="0"/>
            <a:chExt cx="8284464" cy="962025"/>
          </a:xfrm>
        </p:grpSpPr>
        <p:sp>
          <p:nvSpPr>
            <p:cNvPr name="Freeform 16" id="16"/>
            <p:cNvSpPr/>
            <p:nvPr/>
          </p:nvSpPr>
          <p:spPr>
            <a:xfrm flipH="false" flipV="false" rot="0">
              <a:off x="0" y="0"/>
              <a:ext cx="8284464" cy="962025"/>
            </a:xfrm>
            <a:custGeom>
              <a:avLst/>
              <a:gdLst/>
              <a:ahLst/>
              <a:cxnLst/>
              <a:rect r="r" b="b" t="t" l="l"/>
              <a:pathLst>
                <a:path h="962025" w="8284464">
                  <a:moveTo>
                    <a:pt x="0" y="0"/>
                  </a:moveTo>
                  <a:lnTo>
                    <a:pt x="8284464" y="0"/>
                  </a:lnTo>
                  <a:lnTo>
                    <a:pt x="8284464" y="962025"/>
                  </a:lnTo>
                  <a:lnTo>
                    <a:pt x="0" y="962025"/>
                  </a:lnTo>
                  <a:close/>
                </a:path>
              </a:pathLst>
            </a:custGeom>
            <a:blipFill>
              <a:blip r:embed="rId5">
                <a:alphaModFix amt="0"/>
              </a:blip>
              <a:stretch>
                <a:fillRect l="0" t="-117795" r="0" b="-117795"/>
              </a:stretch>
            </a:blipFill>
          </p:spPr>
          <p:txBody>
            <a:bodyPr/>
            <a:p/>
          </p:txBody>
        </p:sp>
        <p:sp>
          <p:nvSpPr>
            <p:cNvPr name="TextBox 17" id="17"/>
            <p:cNvSpPr txBox="true"/>
            <p:nvPr/>
          </p:nvSpPr>
          <p:spPr>
            <a:xfrm>
              <a:off x="0" y="-47625"/>
              <a:ext cx="8284464" cy="100965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Ringkasan hasil: slide 63</a:t>
              </a:r>
            </a:p>
          </p:txBody>
        </p:sp>
      </p:grpSp>
      <p:sp>
        <p:nvSpPr>
          <p:cNvPr id="18" name="Penanda prioritas S"/>
          <p:cNvSpPr/>
          <p:nvPr/>
        </p:nvSpPr>
        <p:spPr>
          <a:xfrm>
            <a:off x="16962120" y="955548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76200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3.5 &amp; 4.2 · Integrasi Data Citra Satelit</a:t>
            </a:r>
          </a:p>
          <a:p>
            <a:pPr algn="l">
              <a:lnSpc>
                <a:spcPct val="100000"/>
              </a:lnSpc>
            </a:pPr>
            <a:r>
              <a:rPr lang="en-US" sz="3500" b="true">
                <a:solidFill>
                  <a:srgbClr val="0B5E6E"/>
                </a:solidFill>
                <a:latin typeface="Calibri (MS) Bold"/>
                <a:ea typeface="Calibri (MS) Bold"/>
                <a:cs typeface="Calibri (MS) Bold"/>
                <a:sym typeface="Calibri (MS) Bold"/>
              </a:rPr>
              <a:t>Citra satelit menjadi estimator pemutakhir data, bukan pengganti statistik</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400300"/>
            <a:ext cx="5074920" cy="2400300"/>
            <a:chOff x="0" y="0"/>
            <a:chExt cx="6766560" cy="3200400"/>
          </a:xfrm>
        </p:grpSpPr>
        <p:sp>
          <p:nvSpPr>
            <p:cNvPr name="Freeform 53" id="53"/>
            <p:cNvSpPr/>
            <p:nvPr/>
          </p:nvSpPr>
          <p:spPr>
            <a:xfrm flipH="false" flipV="false" rot="0">
              <a:off x="0" y="0"/>
              <a:ext cx="6766560" cy="3200400"/>
            </a:xfrm>
            <a:custGeom>
              <a:avLst/>
              <a:gdLst/>
              <a:ahLst/>
              <a:cxnLst/>
              <a:rect r="r" b="b" t="t" l="l"/>
              <a:pathLst>
                <a:path h="3200400" w="6766560">
                  <a:moveTo>
                    <a:pt x="0" y="182880"/>
                  </a:moveTo>
                  <a:cubicBezTo>
                    <a:pt x="0" y="81915"/>
                    <a:pt x="81915" y="0"/>
                    <a:pt x="182880" y="0"/>
                  </a:cubicBezTo>
                  <a:lnTo>
                    <a:pt x="6583680" y="0"/>
                  </a:lnTo>
                  <a:cubicBezTo>
                    <a:pt x="6684645" y="0"/>
                    <a:pt x="6766560" y="81915"/>
                    <a:pt x="6766560" y="182880"/>
                  </a:cubicBezTo>
                  <a:lnTo>
                    <a:pt x="6766560" y="3017520"/>
                  </a:lnTo>
                  <a:cubicBezTo>
                    <a:pt x="6766560" y="3118485"/>
                    <a:pt x="6684645" y="3200400"/>
                    <a:pt x="6583680" y="3200400"/>
                  </a:cubicBezTo>
                  <a:lnTo>
                    <a:pt x="182880" y="3200400"/>
                  </a:lnTo>
                  <a:cubicBezTo>
                    <a:pt x="81915" y="3200400"/>
                    <a:pt x="0" y="3118485"/>
                    <a:pt x="0" y="3017520"/>
                  </a:cubicBezTo>
                  <a:close/>
                </a:path>
              </a:pathLst>
            </a:custGeom>
            <a:solidFill>
              <a:srgbClr val="EAF8FA"/>
            </a:solidFill>
          </p:spPr>
        </p:sp>
      </p:grpSp>
      <p:sp>
        <p:nvSpPr>
          <p:cNvPr name="TextBox 54" id="54"/>
          <p:cNvSpPr txBox="true"/>
          <p:nvPr/>
        </p:nvSpPr>
        <p:spPr>
          <a:xfrm rot="0">
            <a:off x="1097280" y="2488692"/>
            <a:ext cx="4114800" cy="3779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DATA CITRA</a:t>
            </a:r>
          </a:p>
        </p:txBody>
      </p:sp>
      <p:sp>
        <p:nvSpPr>
          <p:cNvPr name="TextBox 55" id="55"/>
          <p:cNvSpPr txBox="true"/>
          <p:nvPr/>
        </p:nvSpPr>
        <p:spPr>
          <a:xfrm rot="0">
            <a:off x="1097280" y="2845308"/>
            <a:ext cx="4526280" cy="55626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VIIRS Day/Night Band</a:t>
            </a:r>
          </a:p>
        </p:txBody>
      </p:sp>
      <p:sp>
        <p:nvSpPr>
          <p:cNvPr name="TextBox 56" id="56"/>
          <p:cNvSpPr txBox="true"/>
          <p:nvPr/>
        </p:nvSpPr>
        <p:spPr>
          <a:xfrm rot="0">
            <a:off x="1097280" y="3421380"/>
            <a:ext cx="4526280" cy="6477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intensitas cahaya malam (NTL), diolah di Google Earth Engine</a:t>
            </a:r>
          </a:p>
        </p:txBody>
      </p:sp>
      <p:sp>
        <p:nvSpPr>
          <p:cNvPr name="AutoShape 57" id="57"/>
          <p:cNvSpPr/>
          <p:nvPr/>
        </p:nvSpPr>
        <p:spPr>
          <a:xfrm rot="175740">
            <a:off x="5926922" y="3569779"/>
            <a:ext cx="559137" cy="0"/>
          </a:xfrm>
          <a:prstGeom prst="line">
            <a:avLst/>
          </a:prstGeom>
          <a:ln cap="rnd" w="19050">
            <a:solidFill>
              <a:srgbClr val="39C0D3"/>
            </a:solidFill>
            <a:prstDash val="solid"/>
            <a:headEnd type="none" len="sm" w="sm"/>
            <a:tailEnd type="triangle" len="med" w="lg"/>
          </a:ln>
        </p:spPr>
      </p:sp>
      <p:grpSp>
        <p:nvGrpSpPr>
          <p:cNvPr name="Group 58" id="58"/>
          <p:cNvGrpSpPr/>
          <p:nvPr/>
        </p:nvGrpSpPr>
        <p:grpSpPr>
          <a:xfrm rot="0">
            <a:off x="6515100" y="2400300"/>
            <a:ext cx="5623560" cy="2400300"/>
            <a:chOff x="0" y="0"/>
            <a:chExt cx="7498080" cy="3200400"/>
          </a:xfrm>
        </p:grpSpPr>
        <p:sp>
          <p:nvSpPr>
            <p:cNvPr name="Freeform 59" id="59"/>
            <p:cNvSpPr/>
            <p:nvPr/>
          </p:nvSpPr>
          <p:spPr>
            <a:xfrm flipH="false" flipV="false" rot="0">
              <a:off x="0" y="0"/>
              <a:ext cx="7498080" cy="3200400"/>
            </a:xfrm>
            <a:custGeom>
              <a:avLst/>
              <a:gdLst/>
              <a:ahLst/>
              <a:cxnLst/>
              <a:rect r="r" b="b" t="t" l="l"/>
              <a:pathLst>
                <a:path h="3200400" w="7498080">
                  <a:moveTo>
                    <a:pt x="0" y="182880"/>
                  </a:moveTo>
                  <a:cubicBezTo>
                    <a:pt x="0" y="81915"/>
                    <a:pt x="81915" y="0"/>
                    <a:pt x="182880" y="0"/>
                  </a:cubicBezTo>
                  <a:lnTo>
                    <a:pt x="7315200" y="0"/>
                  </a:lnTo>
                  <a:cubicBezTo>
                    <a:pt x="7416165" y="0"/>
                    <a:pt x="7498080" y="81915"/>
                    <a:pt x="7498080" y="182880"/>
                  </a:cubicBezTo>
                  <a:lnTo>
                    <a:pt x="7498080" y="3017520"/>
                  </a:lnTo>
                  <a:cubicBezTo>
                    <a:pt x="7498080" y="3118485"/>
                    <a:pt x="7416165" y="3200400"/>
                    <a:pt x="7315200" y="3200400"/>
                  </a:cubicBezTo>
                  <a:lnTo>
                    <a:pt x="182880" y="3200400"/>
                  </a:lnTo>
                  <a:cubicBezTo>
                    <a:pt x="81915" y="3200400"/>
                    <a:pt x="0" y="3118485"/>
                    <a:pt x="0" y="3017520"/>
                  </a:cubicBezTo>
                  <a:close/>
                </a:path>
              </a:pathLst>
            </a:custGeom>
            <a:solidFill>
              <a:srgbClr val="EAF8FA"/>
            </a:solidFill>
          </p:spPr>
        </p:sp>
      </p:grpSp>
      <p:sp>
        <p:nvSpPr>
          <p:cNvPr name="TextBox 60" id="60"/>
          <p:cNvSpPr txBox="true"/>
          <p:nvPr/>
        </p:nvSpPr>
        <p:spPr>
          <a:xfrm rot="0">
            <a:off x="6789420" y="2488692"/>
            <a:ext cx="4114800" cy="3779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METODE</a:t>
            </a:r>
          </a:p>
        </p:txBody>
      </p:sp>
      <p:sp>
        <p:nvSpPr>
          <p:cNvPr name="TextBox 61" id="61"/>
          <p:cNvSpPr txBox="true"/>
          <p:nvPr/>
        </p:nvSpPr>
        <p:spPr>
          <a:xfrm rot="0">
            <a:off x="6789420" y="2845308"/>
            <a:ext cx="5074920" cy="55626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Regresi linear sederhana</a:t>
            </a:r>
          </a:p>
        </p:txBody>
      </p:sp>
      <p:sp>
        <p:nvSpPr>
          <p:cNvPr name="TextBox 62" id="62"/>
          <p:cNvSpPr txBox="true"/>
          <p:nvPr/>
        </p:nvSpPr>
        <p:spPr>
          <a:xfrm rot="0">
            <a:off x="6789420" y="3421380"/>
            <a:ext cx="5074920" cy="6477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ODTW = 121,61 + 34,59 × NTL, dilatih pada data BPS 2018–2024</a:t>
            </a:r>
          </a:p>
        </p:txBody>
      </p:sp>
      <p:sp>
        <p:nvSpPr>
          <p:cNvPr name="AutoShape 63" id="63"/>
          <p:cNvSpPr/>
          <p:nvPr/>
        </p:nvSpPr>
        <p:spPr>
          <a:xfrm rot="175740">
            <a:off x="12167702" y="3569779"/>
            <a:ext cx="559137" cy="0"/>
          </a:xfrm>
          <a:prstGeom prst="line">
            <a:avLst/>
          </a:prstGeom>
          <a:ln cap="rnd" w="19050">
            <a:solidFill>
              <a:srgbClr val="39C0D3"/>
            </a:solidFill>
            <a:prstDash val="solid"/>
            <a:headEnd type="none" len="sm" w="sm"/>
            <a:tailEnd type="triangle" len="med" w="lg"/>
          </a:ln>
        </p:spPr>
      </p:sp>
      <p:grpSp>
        <p:nvGrpSpPr>
          <p:cNvPr name="Group 64" id="64"/>
          <p:cNvGrpSpPr/>
          <p:nvPr/>
        </p:nvGrpSpPr>
        <p:grpSpPr>
          <a:xfrm rot="0">
            <a:off x="12755880" y="2400300"/>
            <a:ext cx="4704588" cy="2400300"/>
            <a:chOff x="0" y="0"/>
            <a:chExt cx="6272784" cy="3200400"/>
          </a:xfrm>
        </p:grpSpPr>
        <p:sp>
          <p:nvSpPr>
            <p:cNvPr name="Freeform 65" id="65"/>
            <p:cNvSpPr/>
            <p:nvPr/>
          </p:nvSpPr>
          <p:spPr>
            <a:xfrm flipH="false" flipV="false" rot="0">
              <a:off x="0" y="0"/>
              <a:ext cx="6272784" cy="3200400"/>
            </a:xfrm>
            <a:custGeom>
              <a:avLst/>
              <a:gdLst/>
              <a:ahLst/>
              <a:cxnLst/>
              <a:rect r="r" b="b" t="t" l="l"/>
              <a:pathLst>
                <a:path h="3200400" w="6272784">
                  <a:moveTo>
                    <a:pt x="0" y="182880"/>
                  </a:moveTo>
                  <a:cubicBezTo>
                    <a:pt x="0" y="81915"/>
                    <a:pt x="81915" y="0"/>
                    <a:pt x="182880" y="0"/>
                  </a:cubicBezTo>
                  <a:lnTo>
                    <a:pt x="6089904" y="0"/>
                  </a:lnTo>
                  <a:cubicBezTo>
                    <a:pt x="6190869" y="0"/>
                    <a:pt x="6272784" y="81915"/>
                    <a:pt x="6272784" y="182880"/>
                  </a:cubicBezTo>
                  <a:lnTo>
                    <a:pt x="6272784" y="3017520"/>
                  </a:lnTo>
                  <a:cubicBezTo>
                    <a:pt x="6272784" y="3118485"/>
                    <a:pt x="6190869" y="3200400"/>
                    <a:pt x="6089904" y="3200400"/>
                  </a:cubicBezTo>
                  <a:lnTo>
                    <a:pt x="182880" y="3200400"/>
                  </a:lnTo>
                  <a:cubicBezTo>
                    <a:pt x="81915" y="3200400"/>
                    <a:pt x="0" y="3118485"/>
                    <a:pt x="0" y="3017520"/>
                  </a:cubicBezTo>
                  <a:close/>
                </a:path>
              </a:pathLst>
            </a:custGeom>
            <a:solidFill>
              <a:srgbClr val="FFF1BF"/>
            </a:solidFill>
          </p:spPr>
        </p:sp>
      </p:grpSp>
      <p:sp>
        <p:nvSpPr>
          <p:cNvPr name="TextBox 66" id="66"/>
          <p:cNvSpPr txBox="true"/>
          <p:nvPr/>
        </p:nvSpPr>
        <p:spPr>
          <a:xfrm rot="0">
            <a:off x="13030200" y="2488692"/>
            <a:ext cx="4114800" cy="3779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MENGISI VARIABEL MODEL</a:t>
            </a:r>
          </a:p>
        </p:txBody>
      </p:sp>
      <p:sp>
        <p:nvSpPr>
          <p:cNvPr name="TextBox 67" id="67"/>
          <p:cNvSpPr txBox="true"/>
          <p:nvPr/>
        </p:nvSpPr>
        <p:spPr>
          <a:xfrm rot="0">
            <a:off x="13030200" y="2845308"/>
            <a:ext cx="4183380" cy="9677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Jumlah ODTW 2015–2017 dan 2025</a:t>
            </a:r>
          </a:p>
        </p:txBody>
      </p:sp>
      <p:sp>
        <p:nvSpPr>
          <p:cNvPr name="TextBox 68" id="68"/>
          <p:cNvSpPr txBox="true"/>
          <p:nvPr/>
        </p:nvSpPr>
        <p:spPr>
          <a:xfrm rot="0">
            <a:off x="13030200" y="3764280"/>
            <a:ext cx="4183380" cy="9677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stok awal ODTW 2025 = 201 unit</a:t>
            </a:r>
          </a:p>
        </p:txBody>
      </p:sp>
      <p:grpSp>
        <p:nvGrpSpPr>
          <p:cNvPr name="Group 69" id="69"/>
          <p:cNvGrpSpPr/>
          <p:nvPr/>
        </p:nvGrpSpPr>
        <p:grpSpPr>
          <a:xfrm rot="0">
            <a:off x="822960" y="5074920"/>
            <a:ext cx="5074920" cy="2400300"/>
            <a:chOff x="0" y="0"/>
            <a:chExt cx="6766560" cy="3200400"/>
          </a:xfrm>
        </p:grpSpPr>
        <p:sp>
          <p:nvSpPr>
            <p:cNvPr name="Freeform 70" id="70"/>
            <p:cNvSpPr/>
            <p:nvPr/>
          </p:nvSpPr>
          <p:spPr>
            <a:xfrm flipH="false" flipV="false" rot="0">
              <a:off x="0" y="0"/>
              <a:ext cx="6766560" cy="3200400"/>
            </a:xfrm>
            <a:custGeom>
              <a:avLst/>
              <a:gdLst/>
              <a:ahLst/>
              <a:cxnLst/>
              <a:rect r="r" b="b" t="t" l="l"/>
              <a:pathLst>
                <a:path h="3200400" w="6766560">
                  <a:moveTo>
                    <a:pt x="0" y="182880"/>
                  </a:moveTo>
                  <a:cubicBezTo>
                    <a:pt x="0" y="81915"/>
                    <a:pt x="81915" y="0"/>
                    <a:pt x="182880" y="0"/>
                  </a:cubicBezTo>
                  <a:lnTo>
                    <a:pt x="6583680" y="0"/>
                  </a:lnTo>
                  <a:cubicBezTo>
                    <a:pt x="6684645" y="0"/>
                    <a:pt x="6766560" y="81915"/>
                    <a:pt x="6766560" y="182880"/>
                  </a:cubicBezTo>
                  <a:lnTo>
                    <a:pt x="6766560" y="3017520"/>
                  </a:lnTo>
                  <a:cubicBezTo>
                    <a:pt x="6766560" y="3118485"/>
                    <a:pt x="6684645" y="3200400"/>
                    <a:pt x="6583680" y="3200400"/>
                  </a:cubicBezTo>
                  <a:lnTo>
                    <a:pt x="182880" y="3200400"/>
                  </a:lnTo>
                  <a:cubicBezTo>
                    <a:pt x="81915" y="3200400"/>
                    <a:pt x="0" y="3118485"/>
                    <a:pt x="0" y="3017520"/>
                  </a:cubicBezTo>
                  <a:close/>
                </a:path>
              </a:pathLst>
            </a:custGeom>
            <a:solidFill>
              <a:srgbClr val="EAF8FA"/>
            </a:solidFill>
          </p:spPr>
        </p:sp>
      </p:grpSp>
      <p:sp>
        <p:nvSpPr>
          <p:cNvPr name="TextBox 71" id="71"/>
          <p:cNvSpPr txBox="true"/>
          <p:nvPr/>
        </p:nvSpPr>
        <p:spPr>
          <a:xfrm rot="0">
            <a:off x="1097280" y="5163312"/>
            <a:ext cx="4114800" cy="3779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DATA CITRA</a:t>
            </a:r>
          </a:p>
        </p:txBody>
      </p:sp>
      <p:sp>
        <p:nvSpPr>
          <p:cNvPr name="TextBox 72" id="72"/>
          <p:cNvSpPr txBox="true"/>
          <p:nvPr/>
        </p:nvSpPr>
        <p:spPr>
          <a:xfrm rot="0">
            <a:off x="1097280" y="5519928"/>
            <a:ext cx="4526280" cy="55626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Dynamic World (Sentinel-2)</a:t>
            </a:r>
          </a:p>
        </p:txBody>
      </p:sp>
      <p:sp>
        <p:nvSpPr>
          <p:cNvPr name="TextBox 73" id="73"/>
          <p:cNvSpPr txBox="true"/>
          <p:nvPr/>
        </p:nvSpPr>
        <p:spPr>
          <a:xfrm rot="0">
            <a:off x="1097280" y="6096000"/>
            <a:ext cx="4526280" cy="13106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kelas “built” pada batas administratif DIY</a:t>
            </a:r>
          </a:p>
        </p:txBody>
      </p:sp>
      <p:sp>
        <p:nvSpPr>
          <p:cNvPr name="AutoShape 74" id="74"/>
          <p:cNvSpPr/>
          <p:nvPr/>
        </p:nvSpPr>
        <p:spPr>
          <a:xfrm rot="175740">
            <a:off x="5926922" y="6244400"/>
            <a:ext cx="559137" cy="0"/>
          </a:xfrm>
          <a:prstGeom prst="line">
            <a:avLst/>
          </a:prstGeom>
          <a:ln cap="rnd" w="19050">
            <a:solidFill>
              <a:srgbClr val="39C0D3"/>
            </a:solidFill>
            <a:prstDash val="solid"/>
            <a:headEnd type="none" len="sm" w="sm"/>
            <a:tailEnd type="triangle" len="med" w="lg"/>
          </a:ln>
        </p:spPr>
      </p:sp>
      <p:grpSp>
        <p:nvGrpSpPr>
          <p:cNvPr name="Group 75" id="75"/>
          <p:cNvGrpSpPr/>
          <p:nvPr/>
        </p:nvGrpSpPr>
        <p:grpSpPr>
          <a:xfrm rot="0">
            <a:off x="6515100" y="5074920"/>
            <a:ext cx="5623560" cy="2400300"/>
            <a:chOff x="0" y="0"/>
            <a:chExt cx="7498080" cy="3200400"/>
          </a:xfrm>
        </p:grpSpPr>
        <p:sp>
          <p:nvSpPr>
            <p:cNvPr name="Freeform 76" id="76"/>
            <p:cNvSpPr/>
            <p:nvPr/>
          </p:nvSpPr>
          <p:spPr>
            <a:xfrm flipH="false" flipV="false" rot="0">
              <a:off x="0" y="0"/>
              <a:ext cx="7498080" cy="3200400"/>
            </a:xfrm>
            <a:custGeom>
              <a:avLst/>
              <a:gdLst/>
              <a:ahLst/>
              <a:cxnLst/>
              <a:rect r="r" b="b" t="t" l="l"/>
              <a:pathLst>
                <a:path h="3200400" w="7498080">
                  <a:moveTo>
                    <a:pt x="0" y="182880"/>
                  </a:moveTo>
                  <a:cubicBezTo>
                    <a:pt x="0" y="81915"/>
                    <a:pt x="81915" y="0"/>
                    <a:pt x="182880" y="0"/>
                  </a:cubicBezTo>
                  <a:lnTo>
                    <a:pt x="7315200" y="0"/>
                  </a:lnTo>
                  <a:cubicBezTo>
                    <a:pt x="7416165" y="0"/>
                    <a:pt x="7498080" y="81915"/>
                    <a:pt x="7498080" y="182880"/>
                  </a:cubicBezTo>
                  <a:lnTo>
                    <a:pt x="7498080" y="3017520"/>
                  </a:lnTo>
                  <a:cubicBezTo>
                    <a:pt x="7498080" y="3118485"/>
                    <a:pt x="7416165" y="3200400"/>
                    <a:pt x="7315200" y="3200400"/>
                  </a:cubicBezTo>
                  <a:lnTo>
                    <a:pt x="182880" y="3200400"/>
                  </a:lnTo>
                  <a:cubicBezTo>
                    <a:pt x="81915" y="3200400"/>
                    <a:pt x="0" y="3118485"/>
                    <a:pt x="0" y="3017520"/>
                  </a:cubicBezTo>
                  <a:close/>
                </a:path>
              </a:pathLst>
            </a:custGeom>
            <a:solidFill>
              <a:srgbClr val="EAF8FA"/>
            </a:solidFill>
          </p:spPr>
        </p:sp>
      </p:grpSp>
      <p:sp>
        <p:nvSpPr>
          <p:cNvPr name="TextBox 77" id="77"/>
          <p:cNvSpPr txBox="true"/>
          <p:nvPr/>
        </p:nvSpPr>
        <p:spPr>
          <a:xfrm rot="0">
            <a:off x="6789420" y="5163312"/>
            <a:ext cx="4114800" cy="3779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METODE</a:t>
            </a:r>
          </a:p>
        </p:txBody>
      </p:sp>
      <p:sp>
        <p:nvSpPr>
          <p:cNvPr name="TextBox 78" id="78"/>
          <p:cNvSpPr txBox="true"/>
          <p:nvPr/>
        </p:nvSpPr>
        <p:spPr>
          <a:xfrm rot="0">
            <a:off x="6798945" y="5519928"/>
            <a:ext cx="5074920" cy="55626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Klasifikasi langsung</a:t>
            </a:r>
          </a:p>
        </p:txBody>
      </p:sp>
      <p:sp>
        <p:nvSpPr>
          <p:cNvPr name="TextBox 79" id="79"/>
          <p:cNvSpPr txBox="true"/>
          <p:nvPr/>
        </p:nvSpPr>
        <p:spPr>
          <a:xfrm rot="0">
            <a:off x="6789420" y="6096000"/>
            <a:ext cx="5074920" cy="13106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luas lahan terbangun 2016–2025; 2015 ekstrapolasi log-linear (tidak dipakai menurunkan parameter)</a:t>
            </a:r>
          </a:p>
        </p:txBody>
      </p:sp>
      <p:sp>
        <p:nvSpPr>
          <p:cNvPr name="AutoShape 80" id="80"/>
          <p:cNvSpPr/>
          <p:nvPr/>
        </p:nvSpPr>
        <p:spPr>
          <a:xfrm rot="175740">
            <a:off x="12167702" y="6244400"/>
            <a:ext cx="559137" cy="0"/>
          </a:xfrm>
          <a:prstGeom prst="line">
            <a:avLst/>
          </a:prstGeom>
          <a:ln cap="rnd" w="19050">
            <a:solidFill>
              <a:srgbClr val="39C0D3"/>
            </a:solidFill>
            <a:prstDash val="solid"/>
            <a:headEnd type="none" len="sm" w="sm"/>
            <a:tailEnd type="triangle" len="med" w="lg"/>
          </a:ln>
        </p:spPr>
      </p:sp>
      <p:grpSp>
        <p:nvGrpSpPr>
          <p:cNvPr name="Group 81" id="81"/>
          <p:cNvGrpSpPr/>
          <p:nvPr/>
        </p:nvGrpSpPr>
        <p:grpSpPr>
          <a:xfrm rot="0">
            <a:off x="12755880" y="5074920"/>
            <a:ext cx="4704588" cy="2400300"/>
            <a:chOff x="0" y="0"/>
            <a:chExt cx="6272784" cy="3200400"/>
          </a:xfrm>
        </p:grpSpPr>
        <p:sp>
          <p:nvSpPr>
            <p:cNvPr name="Freeform 82" id="82"/>
            <p:cNvSpPr/>
            <p:nvPr/>
          </p:nvSpPr>
          <p:spPr>
            <a:xfrm flipH="false" flipV="false" rot="0">
              <a:off x="0" y="0"/>
              <a:ext cx="6272784" cy="3200400"/>
            </a:xfrm>
            <a:custGeom>
              <a:avLst/>
              <a:gdLst/>
              <a:ahLst/>
              <a:cxnLst/>
              <a:rect r="r" b="b" t="t" l="l"/>
              <a:pathLst>
                <a:path h="3200400" w="6272784">
                  <a:moveTo>
                    <a:pt x="0" y="182880"/>
                  </a:moveTo>
                  <a:cubicBezTo>
                    <a:pt x="0" y="81915"/>
                    <a:pt x="81915" y="0"/>
                    <a:pt x="182880" y="0"/>
                  </a:cubicBezTo>
                  <a:lnTo>
                    <a:pt x="6089904" y="0"/>
                  </a:lnTo>
                  <a:cubicBezTo>
                    <a:pt x="6190869" y="0"/>
                    <a:pt x="6272784" y="81915"/>
                    <a:pt x="6272784" y="182880"/>
                  </a:cubicBezTo>
                  <a:lnTo>
                    <a:pt x="6272784" y="3017520"/>
                  </a:lnTo>
                  <a:cubicBezTo>
                    <a:pt x="6272784" y="3118485"/>
                    <a:pt x="6190869" y="3200400"/>
                    <a:pt x="6089904" y="3200400"/>
                  </a:cubicBezTo>
                  <a:lnTo>
                    <a:pt x="182880" y="3200400"/>
                  </a:lnTo>
                  <a:cubicBezTo>
                    <a:pt x="81915" y="3200400"/>
                    <a:pt x="0" y="3118485"/>
                    <a:pt x="0" y="3017520"/>
                  </a:cubicBezTo>
                  <a:close/>
                </a:path>
              </a:pathLst>
            </a:custGeom>
            <a:solidFill>
              <a:srgbClr val="FFF1BF"/>
            </a:solidFill>
          </p:spPr>
        </p:sp>
      </p:grpSp>
      <p:sp>
        <p:nvSpPr>
          <p:cNvPr name="TextBox 83" id="83"/>
          <p:cNvSpPr txBox="true"/>
          <p:nvPr/>
        </p:nvSpPr>
        <p:spPr>
          <a:xfrm rot="0">
            <a:off x="13030200" y="5163312"/>
            <a:ext cx="4114800" cy="3779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MENGISI VARIABEL MODEL</a:t>
            </a:r>
          </a:p>
        </p:txBody>
      </p:sp>
      <p:sp>
        <p:nvSpPr>
          <p:cNvPr name="TextBox 84" id="84"/>
          <p:cNvSpPr txBox="true"/>
          <p:nvPr/>
        </p:nvSpPr>
        <p:spPr>
          <a:xfrm rot="0">
            <a:off x="13030200" y="5519928"/>
            <a:ext cx="4183380" cy="9677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Luas lahan terbangun</a:t>
            </a:r>
          </a:p>
        </p:txBody>
      </p:sp>
      <p:sp>
        <p:nvSpPr>
          <p:cNvPr name="TextBox 85" id="85"/>
          <p:cNvSpPr txBox="true"/>
          <p:nvPr/>
        </p:nvSpPr>
        <p:spPr>
          <a:xfrm rot="0">
            <a:off x="13030200" y="6438900"/>
            <a:ext cx="4183380" cy="9677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stok awal lahan terbangun 2025 = 55.029,54 ha</a:t>
            </a:r>
          </a:p>
        </p:txBody>
      </p:sp>
      <p:grpSp>
        <p:nvGrpSpPr>
          <p:cNvPr name="Group 86" id="86"/>
          <p:cNvGrpSpPr/>
          <p:nvPr/>
        </p:nvGrpSpPr>
        <p:grpSpPr>
          <a:xfrm rot="0">
            <a:off x="822960" y="7886700"/>
            <a:ext cx="16637508" cy="1303020"/>
            <a:chOff x="0" y="0"/>
            <a:chExt cx="22183344" cy="1737360"/>
          </a:xfrm>
        </p:grpSpPr>
        <p:sp>
          <p:nvSpPr>
            <p:cNvPr name="Freeform 87" id="87"/>
            <p:cNvSpPr/>
            <p:nvPr/>
          </p:nvSpPr>
          <p:spPr>
            <a:xfrm flipH="false" flipV="false" rot="0">
              <a:off x="0" y="0"/>
              <a:ext cx="22183344" cy="1737360"/>
            </a:xfrm>
            <a:custGeom>
              <a:avLst/>
              <a:gdLst/>
              <a:ahLst/>
              <a:cxnLst/>
              <a:rect r="r" b="b" t="t" l="l"/>
              <a:pathLst>
                <a:path h="1737360" w="22183344">
                  <a:moveTo>
                    <a:pt x="0" y="182880"/>
                  </a:moveTo>
                  <a:cubicBezTo>
                    <a:pt x="0" y="81915"/>
                    <a:pt x="81915" y="0"/>
                    <a:pt x="182880" y="0"/>
                  </a:cubicBezTo>
                  <a:lnTo>
                    <a:pt x="22000463" y="0"/>
                  </a:lnTo>
                  <a:cubicBezTo>
                    <a:pt x="22101428" y="0"/>
                    <a:pt x="22183344" y="81915"/>
                    <a:pt x="22183344" y="182880"/>
                  </a:cubicBezTo>
                  <a:lnTo>
                    <a:pt x="22183344" y="1554480"/>
                  </a:lnTo>
                  <a:cubicBezTo>
                    <a:pt x="22183344" y="1655445"/>
                    <a:pt x="22101428" y="1737360"/>
                    <a:pt x="22000463" y="1737360"/>
                  </a:cubicBezTo>
                  <a:lnTo>
                    <a:pt x="182880" y="1737360"/>
                  </a:lnTo>
                  <a:cubicBezTo>
                    <a:pt x="81915" y="1737360"/>
                    <a:pt x="0" y="1655445"/>
                    <a:pt x="0" y="1554480"/>
                  </a:cubicBezTo>
                  <a:close/>
                </a:path>
              </a:pathLst>
            </a:custGeom>
            <a:solidFill>
              <a:srgbClr val="0B5E6E"/>
            </a:solidFill>
          </p:spPr>
        </p:sp>
      </p:grpSp>
      <p:grpSp>
        <p:nvGrpSpPr>
          <p:cNvPr name="Group 88" id="88"/>
          <p:cNvGrpSpPr/>
          <p:nvPr/>
        </p:nvGrpSpPr>
        <p:grpSpPr>
          <a:xfrm rot="0">
            <a:off x="1234440" y="7886700"/>
            <a:ext cx="10149840" cy="1303020"/>
            <a:chOff x="0" y="0"/>
            <a:chExt cx="13533120" cy="1737360"/>
          </a:xfrm>
        </p:grpSpPr>
        <p:sp>
          <p:nvSpPr>
            <p:cNvPr name="Freeform 89" id="89"/>
            <p:cNvSpPr/>
            <p:nvPr/>
          </p:nvSpPr>
          <p:spPr>
            <a:xfrm flipH="false" flipV="false" rot="0">
              <a:off x="0" y="0"/>
              <a:ext cx="13533120" cy="1737360"/>
            </a:xfrm>
            <a:custGeom>
              <a:avLst/>
              <a:gdLst/>
              <a:ahLst/>
              <a:cxnLst/>
              <a:rect r="r" b="b" t="t" l="l"/>
              <a:pathLst>
                <a:path h="1737360" w="13533120">
                  <a:moveTo>
                    <a:pt x="0" y="0"/>
                  </a:moveTo>
                  <a:lnTo>
                    <a:pt x="13533120" y="0"/>
                  </a:lnTo>
                  <a:lnTo>
                    <a:pt x="13533120" y="1737360"/>
                  </a:lnTo>
                  <a:lnTo>
                    <a:pt x="0" y="1737360"/>
                  </a:lnTo>
                  <a:close/>
                </a:path>
              </a:pathLst>
            </a:custGeom>
            <a:blipFill>
              <a:blip r:embed="rId4">
                <a:alphaModFix amt="0"/>
              </a:blip>
              <a:stretch>
                <a:fillRect l="0" t="-101672" r="0" b="-101672"/>
              </a:stretch>
            </a:blipFill>
          </p:spPr>
        </p:sp>
      </p:grpSp>
      <p:grpSp>
        <p:nvGrpSpPr>
          <p:cNvPr name="Group 90" id="90"/>
          <p:cNvGrpSpPr/>
          <p:nvPr/>
        </p:nvGrpSpPr>
        <p:grpSpPr>
          <a:xfrm rot="0">
            <a:off x="1234440" y="7850981"/>
            <a:ext cx="10149840" cy="1338739"/>
            <a:chOff x="0" y="0"/>
            <a:chExt cx="13533120" cy="1784985"/>
          </a:xfrm>
        </p:grpSpPr>
        <p:sp>
          <p:nvSpPr>
            <p:cNvPr name="Freeform 91" id="91"/>
            <p:cNvSpPr/>
            <p:nvPr/>
          </p:nvSpPr>
          <p:spPr>
            <a:xfrm flipH="false" flipV="false" rot="0">
              <a:off x="0" y="0"/>
              <a:ext cx="13533120" cy="1784985"/>
            </a:xfrm>
            <a:custGeom>
              <a:avLst/>
              <a:gdLst/>
              <a:ahLst/>
              <a:cxnLst/>
              <a:rect r="r" b="b" t="t" l="l"/>
              <a:pathLst>
                <a:path h="1784985" w="13533120">
                  <a:moveTo>
                    <a:pt x="0" y="0"/>
                  </a:moveTo>
                  <a:lnTo>
                    <a:pt x="13533120" y="0"/>
                  </a:lnTo>
                  <a:lnTo>
                    <a:pt x="13533120" y="1784985"/>
                  </a:lnTo>
                  <a:lnTo>
                    <a:pt x="0" y="1784985"/>
                  </a:lnTo>
                  <a:close/>
                </a:path>
              </a:pathLst>
            </a:custGeom>
            <a:blipFill>
              <a:blip r:embed="rId5">
                <a:alphaModFix amt="0"/>
              </a:blip>
              <a:stretch>
                <a:fillRect l="0" t="-97728" r="0" b="-97728"/>
              </a:stretch>
            </a:blipFill>
          </p:spPr>
        </p:sp>
        <p:sp>
          <p:nvSpPr>
            <p:cNvPr name="TextBox 92" id="92"/>
            <p:cNvSpPr txBox="true"/>
            <p:nvPr/>
          </p:nvSpPr>
          <p:spPr>
            <a:xfrm>
              <a:off x="0" y="-47625"/>
              <a:ext cx="13533120" cy="1832610"/>
            </a:xfrm>
            <a:prstGeom prst="rect">
              <a:avLst/>
            </a:prstGeom>
          </p:spPr>
          <p:txBody>
            <a:bodyPr anchor="ctr" rtlCol="false" tIns="0" lIns="0" bIns="0" rIns="0"/>
            <a:lstStyle/>
            <a:p>
              <a:pPr algn="l">
                <a:lnSpc>
                  <a:spcPts val="2610"/>
                </a:lnSpc>
              </a:pPr>
              <a:r>
                <a:rPr lang="en-US" sz="2175" b="true">
                  <a:solidFill>
                    <a:srgbClr val="FFFFFF"/>
                  </a:solidFill>
                  <a:latin typeface="Calibri (MS) Bold"/>
                  <a:ea typeface="Calibri (MS) Bold"/>
                  <a:cs typeface="Calibri (MS) Bold"/>
                  <a:sym typeface="Calibri (MS) Bold"/>
                </a:rPr>
                <a:t>Prinsip: citra memperbarui variabel yang sudah punya data resmi — tidak membentuk struktur model dan tidak menggantikan statistik resmi.</a:t>
              </a:r>
            </a:p>
          </p:txBody>
        </p:sp>
      </p:grpSp>
      <p:grpSp>
        <p:nvGrpSpPr>
          <p:cNvPr name="Group 93" id="93"/>
          <p:cNvGrpSpPr/>
          <p:nvPr/>
        </p:nvGrpSpPr>
        <p:grpSpPr>
          <a:xfrm rot="0">
            <a:off x="11795760" y="7886700"/>
            <a:ext cx="5623560" cy="1303020"/>
            <a:chOff x="0" y="0"/>
            <a:chExt cx="7498080" cy="1737360"/>
          </a:xfrm>
        </p:grpSpPr>
        <p:sp>
          <p:nvSpPr>
            <p:cNvPr name="Freeform 94" id="94"/>
            <p:cNvSpPr/>
            <p:nvPr/>
          </p:nvSpPr>
          <p:spPr>
            <a:xfrm flipH="false" flipV="false" rot="0">
              <a:off x="0" y="0"/>
              <a:ext cx="7498080" cy="1737360"/>
            </a:xfrm>
            <a:custGeom>
              <a:avLst/>
              <a:gdLst/>
              <a:ahLst/>
              <a:cxnLst/>
              <a:rect r="r" b="b" t="t" l="l"/>
              <a:pathLst>
                <a:path h="1737360" w="7498080">
                  <a:moveTo>
                    <a:pt x="0" y="0"/>
                  </a:moveTo>
                  <a:lnTo>
                    <a:pt x="7498080" y="0"/>
                  </a:lnTo>
                  <a:lnTo>
                    <a:pt x="7498080" y="1737360"/>
                  </a:lnTo>
                  <a:lnTo>
                    <a:pt x="0" y="1737360"/>
                  </a:lnTo>
                  <a:close/>
                </a:path>
              </a:pathLst>
            </a:custGeom>
            <a:blipFill>
              <a:blip r:embed="rId4">
                <a:alphaModFix amt="0"/>
              </a:blip>
              <a:stretch>
                <a:fillRect l="0" t="-34035" r="0" b="-34034"/>
              </a:stretch>
            </a:blipFill>
          </p:spPr>
        </p:sp>
      </p:grpSp>
      <p:grpSp>
        <p:nvGrpSpPr>
          <p:cNvPr name="Group 95" id="95"/>
          <p:cNvGrpSpPr/>
          <p:nvPr/>
        </p:nvGrpSpPr>
        <p:grpSpPr>
          <a:xfrm rot="0">
            <a:off x="11795760" y="7858125"/>
            <a:ext cx="5623560" cy="1331595"/>
            <a:chOff x="0" y="0"/>
            <a:chExt cx="7498080" cy="1775460"/>
          </a:xfrm>
        </p:grpSpPr>
        <p:sp>
          <p:nvSpPr>
            <p:cNvPr name="Freeform 96" id="96"/>
            <p:cNvSpPr/>
            <p:nvPr/>
          </p:nvSpPr>
          <p:spPr>
            <a:xfrm flipH="false" flipV="false" rot="0">
              <a:off x="0" y="0"/>
              <a:ext cx="7498080" cy="1775460"/>
            </a:xfrm>
            <a:custGeom>
              <a:avLst/>
              <a:gdLst/>
              <a:ahLst/>
              <a:cxnLst/>
              <a:rect r="r" b="b" t="t" l="l"/>
              <a:pathLst>
                <a:path h="1775460" w="7498080">
                  <a:moveTo>
                    <a:pt x="0" y="0"/>
                  </a:moveTo>
                  <a:lnTo>
                    <a:pt x="7498080" y="0"/>
                  </a:lnTo>
                  <a:lnTo>
                    <a:pt x="7498080" y="1775460"/>
                  </a:lnTo>
                  <a:lnTo>
                    <a:pt x="0" y="1775460"/>
                  </a:lnTo>
                  <a:close/>
                </a:path>
              </a:pathLst>
            </a:custGeom>
            <a:blipFill>
              <a:blip r:embed="rId5">
                <a:alphaModFix amt="0"/>
              </a:blip>
              <a:stretch>
                <a:fillRect l="0" t="-32288" r="0" b="-32288"/>
              </a:stretch>
            </a:blipFill>
          </p:spPr>
        </p:sp>
        <p:sp>
          <p:nvSpPr>
            <p:cNvPr name="TextBox 97" id="97"/>
            <p:cNvSpPr txBox="true"/>
            <p:nvPr/>
          </p:nvSpPr>
          <p:spPr>
            <a:xfrm>
              <a:off x="0" y="-38100"/>
              <a:ext cx="7498080" cy="1813560"/>
            </a:xfrm>
            <a:prstGeom prst="rect">
              <a:avLst/>
            </a:prstGeom>
          </p:spPr>
          <p:txBody>
            <a:bodyPr anchor="ctr" rtlCol="false" tIns="0" lIns="0" bIns="0" rIns="0"/>
            <a:lstStyle/>
            <a:p>
              <a:pPr algn="l">
                <a:lnSpc>
                  <a:spcPts val="2160"/>
                </a:lnSpc>
              </a:pPr>
              <a:r>
                <a:rPr lang="en-US" sz="1800">
                  <a:solidFill>
                    <a:srgbClr val="6BE5EA"/>
                  </a:solidFill>
                  <a:latin typeface="Calibri (MS)"/>
                  <a:ea typeface="Calibri (MS)"/>
                  <a:cs typeface="Calibri (MS)"/>
                  <a:sym typeface="Calibri (MS)"/>
                </a:rPr>
                <a:t>Kelayakan NTL: R² selisih tahunan ≥ 0,30 dan RMSE relatif LOOCV ≤ 10%.  Dynamic World: uji akurasi pada 200 titik sampel.</a:t>
              </a:r>
            </a:p>
          </p:txBody>
        </p:sp>
      </p:grpSp>
      <p:sp>
        <p:nvSpPr>
          <p:cNvPr name="TextBox 98" id="9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25</a:t>
            </a:r>
          </a:p>
        </p:txBody>
      </p:sp>
      <p:sp>
        <p:nvSpPr>
          <p:cNvPr id="99" name="TextBox 9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sp>
        <p:nvSpPr>
          <p:cNvPr id="100"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76200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3.5.1 · Estimasi Jumlah ODTW dengan Night-Time Light</a:t>
            </a:r>
          </a:p>
          <a:p>
            <a:pPr algn="l">
              <a:lnSpc>
                <a:spcPct val="100000"/>
              </a:lnSpc>
            </a:pPr>
            <a:r>
              <a:rPr lang="en-US" sz="3500" b="true">
                <a:solidFill>
                  <a:srgbClr val="0B5E6E"/>
                </a:solidFill>
                <a:latin typeface="Calibri (MS) Bold"/>
                <a:ea typeface="Calibri (MS) Bold"/>
                <a:cs typeface="Calibri (MS) Bold"/>
                <a:sym typeface="Calibri (MS) Bold"/>
              </a:rPr>
              <a:t>Estimasi ODTW: dari citra VIIRS hingga regresi dan selang prediksi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26</a:t>
            </a:r>
          </a:p>
        </p:txBody>
      </p:sp>
      <p:grpSp>
        <p:nvGrpSpPr>
          <p:cNvPr name="Group 53" id="53"/>
          <p:cNvGrpSpPr/>
          <p:nvPr/>
        </p:nvGrpSpPr>
        <p:grpSpPr>
          <a:xfrm rot="0">
            <a:off x="813435" y="2230755"/>
            <a:ext cx="4042410" cy="3434334"/>
            <a:chOff x="0" y="0"/>
            <a:chExt cx="5389880" cy="4579112"/>
          </a:xfrm>
        </p:grpSpPr>
        <p:sp>
          <p:nvSpPr>
            <p:cNvPr name="Freeform 54" id="54"/>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55" id="55"/>
          <p:cNvGrpSpPr/>
          <p:nvPr/>
        </p:nvGrpSpPr>
        <p:grpSpPr>
          <a:xfrm rot="0">
            <a:off x="1051560" y="2468880"/>
            <a:ext cx="530352" cy="530352"/>
            <a:chOff x="0" y="0"/>
            <a:chExt cx="707136" cy="707136"/>
          </a:xfrm>
        </p:grpSpPr>
        <p:sp>
          <p:nvSpPr>
            <p:cNvPr name="Freeform 56" id="56"/>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57" id="57"/>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1</a:t>
              </a:r>
            </a:p>
          </p:txBody>
        </p:sp>
      </p:grpSp>
      <p:sp>
        <p:nvSpPr>
          <p:cNvPr name="TextBox 58" id="58"/>
          <p:cNvSpPr txBox="true"/>
          <p:nvPr/>
        </p:nvSpPr>
        <p:spPr>
          <a:xfrm rot="0">
            <a:off x="1719072" y="2430018"/>
            <a:ext cx="297180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Definisi wilayah kajian</a:t>
            </a:r>
          </a:p>
        </p:txBody>
      </p:sp>
      <p:sp>
        <p:nvSpPr>
          <p:cNvPr name="TextBox 59" id="59"/>
          <p:cNvSpPr txBox="true"/>
          <p:nvPr/>
        </p:nvSpPr>
        <p:spPr>
          <a:xfrm rot="0">
            <a:off x="1051560" y="3088767"/>
            <a:ext cx="3566160" cy="9217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Batas administratif Provinsi DIY (5 kabupaten/kota, 317.036 ha) didefinisikan di Google Earth Engine.</a:t>
            </a:r>
          </a:p>
        </p:txBody>
      </p:sp>
      <p:grpSp>
        <p:nvGrpSpPr>
          <p:cNvPr name="Group 60" id="60"/>
          <p:cNvGrpSpPr/>
          <p:nvPr/>
        </p:nvGrpSpPr>
        <p:grpSpPr>
          <a:xfrm rot="0">
            <a:off x="5019675" y="2230755"/>
            <a:ext cx="4042410" cy="3434334"/>
            <a:chOff x="0" y="0"/>
            <a:chExt cx="5389880" cy="4579112"/>
          </a:xfrm>
        </p:grpSpPr>
        <p:sp>
          <p:nvSpPr>
            <p:cNvPr name="Freeform 61" id="61"/>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62" id="62"/>
          <p:cNvGrpSpPr/>
          <p:nvPr/>
        </p:nvGrpSpPr>
        <p:grpSpPr>
          <a:xfrm rot="0">
            <a:off x="5257800" y="2468880"/>
            <a:ext cx="530352" cy="530352"/>
            <a:chOff x="0" y="0"/>
            <a:chExt cx="707136" cy="707136"/>
          </a:xfrm>
        </p:grpSpPr>
        <p:sp>
          <p:nvSpPr>
            <p:cNvPr name="Freeform 63" id="6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64" id="64"/>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2</a:t>
              </a:r>
            </a:p>
          </p:txBody>
        </p:sp>
      </p:grpSp>
      <p:sp>
        <p:nvSpPr>
          <p:cNvPr name="TextBox 65" id="65"/>
          <p:cNvSpPr txBox="true"/>
          <p:nvPr/>
        </p:nvSpPr>
        <p:spPr>
          <a:xfrm rot="0">
            <a:off x="5925312" y="2430018"/>
            <a:ext cx="297180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Pemanggilan koleksi citra</a:t>
            </a:r>
          </a:p>
        </p:txBody>
      </p:sp>
      <p:sp>
        <p:nvSpPr>
          <p:cNvPr name="TextBox 66" id="66"/>
          <p:cNvSpPr txBox="true"/>
          <p:nvPr/>
        </p:nvSpPr>
        <p:spPr>
          <a:xfrm rot="0">
            <a:off x="5257800" y="3088767"/>
            <a:ext cx="3566160" cy="9217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VIIRS Day/Night Band (NOAA): komposit radiansi bulanan 2015–2025, satuan nW/cm²/sr.</a:t>
            </a:r>
          </a:p>
        </p:txBody>
      </p:sp>
      <p:grpSp>
        <p:nvGrpSpPr>
          <p:cNvPr name="Group 67" id="67"/>
          <p:cNvGrpSpPr/>
          <p:nvPr/>
        </p:nvGrpSpPr>
        <p:grpSpPr>
          <a:xfrm rot="0">
            <a:off x="9225915" y="2230755"/>
            <a:ext cx="4042410" cy="3434334"/>
            <a:chOff x="0" y="0"/>
            <a:chExt cx="5389880" cy="4579112"/>
          </a:xfrm>
        </p:grpSpPr>
        <p:sp>
          <p:nvSpPr>
            <p:cNvPr name="Freeform 68" id="68"/>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69" id="69"/>
          <p:cNvGrpSpPr/>
          <p:nvPr/>
        </p:nvGrpSpPr>
        <p:grpSpPr>
          <a:xfrm rot="0">
            <a:off x="9464040" y="2468880"/>
            <a:ext cx="530352" cy="530352"/>
            <a:chOff x="0" y="0"/>
            <a:chExt cx="707136" cy="707136"/>
          </a:xfrm>
        </p:grpSpPr>
        <p:sp>
          <p:nvSpPr>
            <p:cNvPr name="Freeform 70" id="70"/>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71" id="71"/>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3</a:t>
              </a:r>
            </a:p>
          </p:txBody>
        </p:sp>
      </p:grpSp>
      <p:sp>
        <p:nvSpPr>
          <p:cNvPr name="TextBox 72" id="72"/>
          <p:cNvSpPr txBox="true"/>
          <p:nvPr/>
        </p:nvSpPr>
        <p:spPr>
          <a:xfrm rot="0">
            <a:off x="10131552" y="2430018"/>
            <a:ext cx="297180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Agregasi temporal</a:t>
            </a:r>
          </a:p>
        </p:txBody>
      </p:sp>
      <p:sp>
        <p:nvSpPr>
          <p:cNvPr name="TextBox 73" id="73"/>
          <p:cNvSpPr txBox="true"/>
          <p:nvPr/>
        </p:nvSpPr>
        <p:spPr>
          <a:xfrm rot="0">
            <a:off x="9464040" y="3088767"/>
            <a:ext cx="3566160" cy="6486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Radiansi bulanan dirata-ratakan menjadi komposit tahunan.</a:t>
            </a:r>
          </a:p>
        </p:txBody>
      </p:sp>
      <p:grpSp>
        <p:nvGrpSpPr>
          <p:cNvPr name="Group 74" id="74"/>
          <p:cNvGrpSpPr/>
          <p:nvPr/>
        </p:nvGrpSpPr>
        <p:grpSpPr>
          <a:xfrm rot="0">
            <a:off x="9400032" y="3810610"/>
            <a:ext cx="3694176" cy="571805"/>
            <a:chOff x="0" y="0"/>
            <a:chExt cx="4925568" cy="762406"/>
          </a:xfrm>
        </p:grpSpPr>
        <p:sp>
          <p:nvSpPr>
            <p:cNvPr name="Freeform 75" id="75"/>
            <p:cNvSpPr/>
            <p:nvPr/>
          </p:nvSpPr>
          <p:spPr>
            <a:xfrm flipH="false" flipV="false" rot="0">
              <a:off x="0" y="0"/>
              <a:ext cx="4925568" cy="762381"/>
            </a:xfrm>
            <a:custGeom>
              <a:avLst/>
              <a:gdLst/>
              <a:ahLst/>
              <a:cxnLst/>
              <a:rect r="r" b="b" t="t" l="l"/>
              <a:pathLst>
                <a:path h="762381" w="4925568">
                  <a:moveTo>
                    <a:pt x="0" y="97536"/>
                  </a:moveTo>
                  <a:cubicBezTo>
                    <a:pt x="0" y="43688"/>
                    <a:pt x="43688" y="0"/>
                    <a:pt x="97536" y="0"/>
                  </a:cubicBezTo>
                  <a:lnTo>
                    <a:pt x="4828032" y="0"/>
                  </a:lnTo>
                  <a:cubicBezTo>
                    <a:pt x="4881880" y="0"/>
                    <a:pt x="4925568" y="43688"/>
                    <a:pt x="4925568" y="97536"/>
                  </a:cubicBezTo>
                  <a:lnTo>
                    <a:pt x="4925568" y="664845"/>
                  </a:lnTo>
                  <a:cubicBezTo>
                    <a:pt x="4925568" y="718693"/>
                    <a:pt x="4881880" y="762381"/>
                    <a:pt x="4828032" y="762381"/>
                  </a:cubicBezTo>
                  <a:lnTo>
                    <a:pt x="97536" y="762381"/>
                  </a:lnTo>
                  <a:cubicBezTo>
                    <a:pt x="43688" y="762381"/>
                    <a:pt x="0" y="718693"/>
                    <a:pt x="0" y="664845"/>
                  </a:cubicBezTo>
                  <a:close/>
                </a:path>
              </a:pathLst>
            </a:custGeom>
            <a:solidFill>
              <a:srgbClr val="FFF1BF"/>
            </a:solidFill>
          </p:spPr>
        </p:sp>
      </p:grpSp>
      <p:sp>
        <p:nvSpPr>
          <p:cNvPr name="TextBox 76" id="76"/>
          <p:cNvSpPr txBox="true"/>
          <p:nvPr/>
        </p:nvSpPr>
        <p:spPr>
          <a:xfrm rot="0">
            <a:off x="9537192" y="3882619"/>
            <a:ext cx="3291840" cy="417500"/>
          </a:xfrm>
          <a:prstGeom prst="rect">
            <a:avLst/>
          </a:prstGeom>
        </p:spPr>
        <p:txBody>
          <a:bodyPr anchor="t" rtlCol="false" tIns="0" lIns="0" bIns="0" rIns="0">
            <a:spAutoFit/>
          </a:bodyPr>
          <a:lstStyle/>
          <a:p>
            <a:pPr algn="l">
              <a:lnSpc>
                <a:spcPts val="2486"/>
              </a:lnSpc>
            </a:pPr>
            <a:r>
              <a:rPr lang="en-US" sz="1850" i="true">
                <a:solidFill>
                  <a:srgbClr val="14313B"/>
                </a:solidFill>
                <a:latin typeface="Cambria Italics"/>
                <a:ea typeface="Cambria Italics"/>
                <a:cs typeface="Cambria Italics"/>
                <a:sym typeface="Cambria Italics"/>
              </a:rPr>
              <a:t>NTLₜ = (1/n) · Σᵢ₌₁ⁿ Rᵢ,ₜ</a:t>
            </a:r>
          </a:p>
        </p:txBody>
      </p:sp>
      <p:sp>
        <p:nvSpPr>
          <p:cNvPr name="TextBox 77" id="77"/>
          <p:cNvSpPr txBox="true"/>
          <p:nvPr/>
        </p:nvSpPr>
        <p:spPr>
          <a:xfrm rot="0">
            <a:off x="9464040" y="4416704"/>
            <a:ext cx="3566160" cy="607009"/>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Rᵢ,ₜ radiansi bulan ke-i tahun t; n bulan tersedia</a:t>
            </a:r>
          </a:p>
        </p:txBody>
      </p:sp>
      <p:grpSp>
        <p:nvGrpSpPr>
          <p:cNvPr name="Group 78" id="78"/>
          <p:cNvGrpSpPr/>
          <p:nvPr/>
        </p:nvGrpSpPr>
        <p:grpSpPr>
          <a:xfrm rot="0">
            <a:off x="13432155" y="2230755"/>
            <a:ext cx="4042410" cy="3434334"/>
            <a:chOff x="0" y="0"/>
            <a:chExt cx="5389880" cy="4579112"/>
          </a:xfrm>
        </p:grpSpPr>
        <p:sp>
          <p:nvSpPr>
            <p:cNvPr name="Freeform 79" id="79"/>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80" id="80"/>
          <p:cNvGrpSpPr/>
          <p:nvPr/>
        </p:nvGrpSpPr>
        <p:grpSpPr>
          <a:xfrm rot="0">
            <a:off x="13670280" y="2468880"/>
            <a:ext cx="530352" cy="530352"/>
            <a:chOff x="0" y="0"/>
            <a:chExt cx="707136" cy="707136"/>
          </a:xfrm>
        </p:grpSpPr>
        <p:sp>
          <p:nvSpPr>
            <p:cNvPr name="Freeform 81" id="81"/>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82" id="82"/>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4</a:t>
              </a:r>
            </a:p>
          </p:txBody>
        </p:sp>
      </p:grpSp>
      <p:sp>
        <p:nvSpPr>
          <p:cNvPr name="TextBox 83" id="83"/>
          <p:cNvSpPr txBox="true"/>
          <p:nvPr/>
        </p:nvSpPr>
        <p:spPr>
          <a:xfrm rot="0">
            <a:off x="14337792" y="2430018"/>
            <a:ext cx="297180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Agregasi spasial</a:t>
            </a:r>
          </a:p>
        </p:txBody>
      </p:sp>
      <p:sp>
        <p:nvSpPr>
          <p:cNvPr name="TextBox 84" id="84"/>
          <p:cNvSpPr txBox="true"/>
          <p:nvPr/>
        </p:nvSpPr>
        <p:spPr>
          <a:xfrm rot="0">
            <a:off x="13670280" y="3088767"/>
            <a:ext cx="3566160" cy="9217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Rata-rata zonal seluruh piksel dalam batas DIY → satu nilai NTL per tahun.</a:t>
            </a:r>
          </a:p>
        </p:txBody>
      </p:sp>
      <p:grpSp>
        <p:nvGrpSpPr>
          <p:cNvPr name="Group 85" id="85"/>
          <p:cNvGrpSpPr/>
          <p:nvPr/>
        </p:nvGrpSpPr>
        <p:grpSpPr>
          <a:xfrm rot="0">
            <a:off x="13606272" y="4083710"/>
            <a:ext cx="3694176" cy="571805"/>
            <a:chOff x="0" y="0"/>
            <a:chExt cx="4925568" cy="762406"/>
          </a:xfrm>
        </p:grpSpPr>
        <p:sp>
          <p:nvSpPr>
            <p:cNvPr name="Freeform 86" id="86"/>
            <p:cNvSpPr/>
            <p:nvPr/>
          </p:nvSpPr>
          <p:spPr>
            <a:xfrm flipH="false" flipV="false" rot="0">
              <a:off x="0" y="0"/>
              <a:ext cx="4925568" cy="762381"/>
            </a:xfrm>
            <a:custGeom>
              <a:avLst/>
              <a:gdLst/>
              <a:ahLst/>
              <a:cxnLst/>
              <a:rect r="r" b="b" t="t" l="l"/>
              <a:pathLst>
                <a:path h="762381" w="4925568">
                  <a:moveTo>
                    <a:pt x="0" y="97536"/>
                  </a:moveTo>
                  <a:cubicBezTo>
                    <a:pt x="0" y="43688"/>
                    <a:pt x="43688" y="0"/>
                    <a:pt x="97536" y="0"/>
                  </a:cubicBezTo>
                  <a:lnTo>
                    <a:pt x="4828032" y="0"/>
                  </a:lnTo>
                  <a:cubicBezTo>
                    <a:pt x="4881880" y="0"/>
                    <a:pt x="4925568" y="43688"/>
                    <a:pt x="4925568" y="97536"/>
                  </a:cubicBezTo>
                  <a:lnTo>
                    <a:pt x="4925568" y="664845"/>
                  </a:lnTo>
                  <a:cubicBezTo>
                    <a:pt x="4925568" y="718693"/>
                    <a:pt x="4881880" y="762381"/>
                    <a:pt x="4828032" y="762381"/>
                  </a:cubicBezTo>
                  <a:lnTo>
                    <a:pt x="97536" y="762381"/>
                  </a:lnTo>
                  <a:cubicBezTo>
                    <a:pt x="43688" y="762381"/>
                    <a:pt x="0" y="718693"/>
                    <a:pt x="0" y="664845"/>
                  </a:cubicBezTo>
                  <a:close/>
                </a:path>
              </a:pathLst>
            </a:custGeom>
            <a:solidFill>
              <a:srgbClr val="FFF1BF"/>
            </a:solidFill>
          </p:spPr>
        </p:sp>
      </p:grpSp>
      <p:sp>
        <p:nvSpPr>
          <p:cNvPr name="TextBox 87" id="87"/>
          <p:cNvSpPr txBox="true"/>
          <p:nvPr/>
        </p:nvSpPr>
        <p:spPr>
          <a:xfrm rot="0">
            <a:off x="13743432" y="4155719"/>
            <a:ext cx="3291840" cy="417500"/>
          </a:xfrm>
          <a:prstGeom prst="rect">
            <a:avLst/>
          </a:prstGeom>
        </p:spPr>
        <p:txBody>
          <a:bodyPr anchor="t" rtlCol="false" tIns="0" lIns="0" bIns="0" rIns="0">
            <a:spAutoFit/>
          </a:bodyPr>
          <a:lstStyle/>
          <a:p>
            <a:pPr algn="l">
              <a:lnSpc>
                <a:spcPts val="2486"/>
              </a:lnSpc>
            </a:pPr>
            <a:r>
              <a:rPr lang="en-US" sz="1850" i="true">
                <a:solidFill>
                  <a:srgbClr val="14313B"/>
                </a:solidFill>
                <a:latin typeface="Cambria Italics"/>
                <a:ea typeface="Cambria Italics"/>
                <a:cs typeface="Cambria Italics"/>
                <a:sym typeface="Cambria Italics"/>
              </a:rPr>
              <a:t>NTL̄ₜ = (1/N) · Σₚ Rₚ,ₜ</a:t>
            </a:r>
          </a:p>
        </p:txBody>
      </p:sp>
      <p:sp>
        <p:nvSpPr>
          <p:cNvPr name="TextBox 88" id="88"/>
          <p:cNvSpPr txBox="true"/>
          <p:nvPr/>
        </p:nvSpPr>
        <p:spPr>
          <a:xfrm rot="0">
            <a:off x="13670280" y="4689805"/>
            <a:ext cx="3566160" cy="3595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N = jumlah piksel dalam batas DIY</a:t>
            </a:r>
          </a:p>
        </p:txBody>
      </p:sp>
      <p:grpSp>
        <p:nvGrpSpPr>
          <p:cNvPr name="Group 89" id="89"/>
          <p:cNvGrpSpPr/>
          <p:nvPr/>
        </p:nvGrpSpPr>
        <p:grpSpPr>
          <a:xfrm rot="0">
            <a:off x="813435" y="5828919"/>
            <a:ext cx="5444490" cy="3434334"/>
            <a:chOff x="0" y="0"/>
            <a:chExt cx="7259320" cy="4579112"/>
          </a:xfrm>
        </p:grpSpPr>
        <p:sp>
          <p:nvSpPr>
            <p:cNvPr name="Freeform 90" id="90"/>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91" id="91"/>
          <p:cNvGrpSpPr/>
          <p:nvPr/>
        </p:nvGrpSpPr>
        <p:grpSpPr>
          <a:xfrm rot="0">
            <a:off x="1051560" y="6067044"/>
            <a:ext cx="530352" cy="530352"/>
            <a:chOff x="0" y="0"/>
            <a:chExt cx="707136" cy="707136"/>
          </a:xfrm>
        </p:grpSpPr>
        <p:sp>
          <p:nvSpPr>
            <p:cNvPr name="Freeform 92" id="92"/>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93" id="93"/>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5</a:t>
              </a:r>
            </a:p>
          </p:txBody>
        </p:sp>
      </p:grpSp>
      <p:sp>
        <p:nvSpPr>
          <p:cNvPr name="TextBox 94" id="94"/>
          <p:cNvSpPr txBox="true"/>
          <p:nvPr/>
        </p:nvSpPr>
        <p:spPr>
          <a:xfrm rot="0">
            <a:off x="1719072" y="6028182"/>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Regresi linear sederhana (OLS)</a:t>
            </a:r>
          </a:p>
        </p:txBody>
      </p:sp>
      <p:sp>
        <p:nvSpPr>
          <p:cNvPr name="TextBox 95" id="95"/>
          <p:cNvSpPr txBox="true"/>
          <p:nvPr/>
        </p:nvSpPr>
        <p:spPr>
          <a:xfrm rot="0">
            <a:off x="1051560" y="6686931"/>
            <a:ext cx="4968240" cy="6486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NTL tahunan dipasangkan dengan ODTW BPS pada tahun yang datanya tersedia (2018–2024, n = 7).</a:t>
            </a:r>
          </a:p>
        </p:txBody>
      </p:sp>
      <p:grpSp>
        <p:nvGrpSpPr>
          <p:cNvPr name="Group 96" id="96"/>
          <p:cNvGrpSpPr/>
          <p:nvPr/>
        </p:nvGrpSpPr>
        <p:grpSpPr>
          <a:xfrm rot="0">
            <a:off x="987552" y="7408774"/>
            <a:ext cx="5096256" cy="942442"/>
            <a:chOff x="0" y="0"/>
            <a:chExt cx="6795008" cy="1256589"/>
          </a:xfrm>
        </p:grpSpPr>
        <p:sp>
          <p:nvSpPr>
            <p:cNvPr name="Freeform 97" id="97"/>
            <p:cNvSpPr/>
            <p:nvPr/>
          </p:nvSpPr>
          <p:spPr>
            <a:xfrm flipH="false" flipV="false" rot="0">
              <a:off x="0" y="0"/>
              <a:ext cx="6795008" cy="1256538"/>
            </a:xfrm>
            <a:custGeom>
              <a:avLst/>
              <a:gdLst/>
              <a:ahLst/>
              <a:cxnLst/>
              <a:rect r="r" b="b" t="t" l="l"/>
              <a:pathLst>
                <a:path h="1256538" w="6795008">
                  <a:moveTo>
                    <a:pt x="0" y="97536"/>
                  </a:moveTo>
                  <a:cubicBezTo>
                    <a:pt x="0" y="43688"/>
                    <a:pt x="43688" y="0"/>
                    <a:pt x="97536" y="0"/>
                  </a:cubicBezTo>
                  <a:lnTo>
                    <a:pt x="6697472" y="0"/>
                  </a:lnTo>
                  <a:cubicBezTo>
                    <a:pt x="6751320" y="0"/>
                    <a:pt x="6795008" y="43688"/>
                    <a:pt x="6795008" y="97536"/>
                  </a:cubicBezTo>
                  <a:lnTo>
                    <a:pt x="6795008" y="1159002"/>
                  </a:lnTo>
                  <a:cubicBezTo>
                    <a:pt x="6795008" y="1212850"/>
                    <a:pt x="6751320" y="1256538"/>
                    <a:pt x="6697472" y="1256538"/>
                  </a:cubicBezTo>
                  <a:lnTo>
                    <a:pt x="97536" y="1256538"/>
                  </a:lnTo>
                  <a:cubicBezTo>
                    <a:pt x="43688" y="1256538"/>
                    <a:pt x="0" y="1212977"/>
                    <a:pt x="0" y="1159002"/>
                  </a:cubicBezTo>
                  <a:close/>
                </a:path>
              </a:pathLst>
            </a:custGeom>
            <a:solidFill>
              <a:srgbClr val="FFF1BF"/>
            </a:solidFill>
          </p:spPr>
        </p:sp>
      </p:grpSp>
      <p:sp>
        <p:nvSpPr>
          <p:cNvPr name="TextBox 98" id="98"/>
          <p:cNvSpPr txBox="true"/>
          <p:nvPr/>
        </p:nvSpPr>
        <p:spPr>
          <a:xfrm rot="0">
            <a:off x="1124712" y="7480783"/>
            <a:ext cx="4693920" cy="788137"/>
          </a:xfrm>
          <a:prstGeom prst="rect">
            <a:avLst/>
          </a:prstGeom>
        </p:spPr>
        <p:txBody>
          <a:bodyPr anchor="t" rtlCol="false" tIns="0" lIns="0" bIns="0" rIns="0">
            <a:spAutoFit/>
          </a:bodyPr>
          <a:lstStyle/>
          <a:p>
            <a:pPr algn="l">
              <a:lnSpc>
                <a:spcPts val="2486"/>
              </a:lnSpc>
            </a:pPr>
            <a:r>
              <a:rPr lang="en-US" sz="1850" i="true">
                <a:solidFill>
                  <a:srgbClr val="14313B"/>
                </a:solidFill>
                <a:latin typeface="Cambria Italics"/>
                <a:ea typeface="Cambria Italics"/>
                <a:cs typeface="Cambria Italics"/>
                <a:sym typeface="Cambria Italics"/>
              </a:rPr>
              <a:t>ODTWₜ = a + b · NTLₜ</a:t>
            </a:r>
          </a:p>
          <a:p>
            <a:pPr algn="l">
              <a:lnSpc>
                <a:spcPts val="2486"/>
              </a:lnSpc>
            </a:pPr>
            <a:r>
              <a:rPr lang="en-US" sz="1850" i="true">
                <a:solidFill>
                  <a:srgbClr val="14313B"/>
                </a:solidFill>
                <a:latin typeface="Cambria Italics"/>
                <a:ea typeface="Cambria Italics"/>
                <a:cs typeface="Cambria Italics"/>
                <a:sym typeface="Cambria Italics"/>
              </a:rPr>
              <a:t>ODTW = 121,61 + 34,59 · NTL</a:t>
            </a:r>
          </a:p>
        </p:txBody>
      </p:sp>
      <p:sp>
        <p:nvSpPr>
          <p:cNvPr name="TextBox 99" id="99"/>
          <p:cNvSpPr txBox="true"/>
          <p:nvPr/>
        </p:nvSpPr>
        <p:spPr>
          <a:xfrm rot="0">
            <a:off x="1051560" y="8385505"/>
            <a:ext cx="4968240" cy="3595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a intersep, b kemiringan</a:t>
            </a:r>
          </a:p>
        </p:txBody>
      </p:sp>
      <p:grpSp>
        <p:nvGrpSpPr>
          <p:cNvPr name="Group 100" id="100"/>
          <p:cNvGrpSpPr/>
          <p:nvPr/>
        </p:nvGrpSpPr>
        <p:grpSpPr>
          <a:xfrm rot="0">
            <a:off x="6421755" y="5828919"/>
            <a:ext cx="5444490" cy="3434334"/>
            <a:chOff x="0" y="0"/>
            <a:chExt cx="7259320" cy="4579112"/>
          </a:xfrm>
        </p:grpSpPr>
        <p:sp>
          <p:nvSpPr>
            <p:cNvPr name="Freeform 101" id="101"/>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102" id="102"/>
          <p:cNvGrpSpPr/>
          <p:nvPr/>
        </p:nvGrpSpPr>
        <p:grpSpPr>
          <a:xfrm rot="0">
            <a:off x="6659880" y="6067044"/>
            <a:ext cx="530352" cy="530352"/>
            <a:chOff x="0" y="0"/>
            <a:chExt cx="707136" cy="707136"/>
          </a:xfrm>
        </p:grpSpPr>
        <p:sp>
          <p:nvSpPr>
            <p:cNvPr name="Freeform 103" id="10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104" id="104"/>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6</a:t>
              </a:r>
            </a:p>
          </p:txBody>
        </p:sp>
      </p:grpSp>
      <p:sp>
        <p:nvSpPr>
          <p:cNvPr name="TextBox 105" id="105"/>
          <p:cNvSpPr txBox="true"/>
          <p:nvPr/>
        </p:nvSpPr>
        <p:spPr>
          <a:xfrm rot="0">
            <a:off x="7327392" y="6028182"/>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Uji kelayakan estimator</a:t>
            </a:r>
          </a:p>
        </p:txBody>
      </p:sp>
      <p:sp>
        <p:nvSpPr>
          <p:cNvPr name="TextBox 106" id="106"/>
          <p:cNvSpPr txBox="true"/>
          <p:nvPr/>
        </p:nvSpPr>
        <p:spPr>
          <a:xfrm rot="0">
            <a:off x="6659880" y="6686931"/>
            <a:ext cx="4968240" cy="9217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Korelasi pada level dan selisih tahunan (menghindari regresi lancung akibat tren bersama), lalu LOOCV.</a:t>
            </a:r>
          </a:p>
        </p:txBody>
      </p:sp>
      <p:grpSp>
        <p:nvGrpSpPr>
          <p:cNvPr name="Group 107" id="107"/>
          <p:cNvGrpSpPr/>
          <p:nvPr/>
        </p:nvGrpSpPr>
        <p:grpSpPr>
          <a:xfrm rot="0">
            <a:off x="6595872" y="7681874"/>
            <a:ext cx="5096256" cy="942442"/>
            <a:chOff x="0" y="0"/>
            <a:chExt cx="6795008" cy="1256589"/>
          </a:xfrm>
        </p:grpSpPr>
        <p:sp>
          <p:nvSpPr>
            <p:cNvPr name="Freeform 108" id="108"/>
            <p:cNvSpPr/>
            <p:nvPr/>
          </p:nvSpPr>
          <p:spPr>
            <a:xfrm flipH="false" flipV="false" rot="0">
              <a:off x="0" y="0"/>
              <a:ext cx="6795008" cy="1256538"/>
            </a:xfrm>
            <a:custGeom>
              <a:avLst/>
              <a:gdLst/>
              <a:ahLst/>
              <a:cxnLst/>
              <a:rect r="r" b="b" t="t" l="l"/>
              <a:pathLst>
                <a:path h="1256538" w="6795008">
                  <a:moveTo>
                    <a:pt x="0" y="97536"/>
                  </a:moveTo>
                  <a:cubicBezTo>
                    <a:pt x="0" y="43688"/>
                    <a:pt x="43688" y="0"/>
                    <a:pt x="97536" y="0"/>
                  </a:cubicBezTo>
                  <a:lnTo>
                    <a:pt x="6697472" y="0"/>
                  </a:lnTo>
                  <a:cubicBezTo>
                    <a:pt x="6751320" y="0"/>
                    <a:pt x="6795008" y="43688"/>
                    <a:pt x="6795008" y="97536"/>
                  </a:cubicBezTo>
                  <a:lnTo>
                    <a:pt x="6795008" y="1159002"/>
                  </a:lnTo>
                  <a:cubicBezTo>
                    <a:pt x="6795008" y="1212850"/>
                    <a:pt x="6751320" y="1256538"/>
                    <a:pt x="6697472" y="1256538"/>
                  </a:cubicBezTo>
                  <a:lnTo>
                    <a:pt x="97536" y="1256538"/>
                  </a:lnTo>
                  <a:cubicBezTo>
                    <a:pt x="43688" y="1256538"/>
                    <a:pt x="0" y="1212977"/>
                    <a:pt x="0" y="1159002"/>
                  </a:cubicBezTo>
                  <a:close/>
                </a:path>
              </a:pathLst>
            </a:custGeom>
            <a:solidFill>
              <a:srgbClr val="FFF1BF"/>
            </a:solidFill>
          </p:spPr>
        </p:sp>
      </p:grpSp>
      <p:sp>
        <p:nvSpPr>
          <p:cNvPr name="TextBox 109" id="109"/>
          <p:cNvSpPr txBox="true"/>
          <p:nvPr/>
        </p:nvSpPr>
        <p:spPr>
          <a:xfrm rot="0">
            <a:off x="6733032" y="7753883"/>
            <a:ext cx="4693920" cy="788137"/>
          </a:xfrm>
          <a:prstGeom prst="rect">
            <a:avLst/>
          </a:prstGeom>
        </p:spPr>
        <p:txBody>
          <a:bodyPr anchor="t" rtlCol="false" tIns="0" lIns="0" bIns="0" rIns="0">
            <a:spAutoFit/>
          </a:bodyPr>
          <a:lstStyle/>
          <a:p>
            <a:pPr algn="l">
              <a:lnSpc>
                <a:spcPts val="2486"/>
              </a:lnSpc>
            </a:pPr>
            <a:r>
              <a:rPr lang="en-US" sz="1850" i="true">
                <a:solidFill>
                  <a:srgbClr val="14313B"/>
                </a:solidFill>
                <a:latin typeface="Cambria Italics"/>
                <a:ea typeface="Cambria Italics"/>
                <a:cs typeface="Cambria Italics"/>
                <a:sym typeface="Cambria Italics"/>
              </a:rPr>
              <a:t>R²(ΔNTL, ΔODTW) ≥ 0,30</a:t>
            </a:r>
          </a:p>
          <a:p>
            <a:pPr algn="l">
              <a:lnSpc>
                <a:spcPts val="2486"/>
              </a:lnSpc>
            </a:pPr>
            <a:r>
              <a:rPr lang="en-US" sz="1850" i="true">
                <a:solidFill>
                  <a:srgbClr val="14313B"/>
                </a:solidFill>
                <a:latin typeface="Cambria Italics"/>
                <a:ea typeface="Cambria Italics"/>
                <a:cs typeface="Cambria Italics"/>
                <a:sym typeface="Cambria Italics"/>
              </a:rPr>
              <a:t>RMSE relatif LOOCV ≤ 10%</a:t>
            </a:r>
          </a:p>
        </p:txBody>
      </p:sp>
      <p:sp>
        <p:nvSpPr>
          <p:cNvPr name="TextBox 110" id="110"/>
          <p:cNvSpPr txBox="true"/>
          <p:nvPr/>
        </p:nvSpPr>
        <p:spPr>
          <a:xfrm rot="0">
            <a:off x="6659880" y="8658606"/>
            <a:ext cx="4968240" cy="3595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Hasil: R² selisih 0,405 · RMSE relatif 5,99% → layak</a:t>
            </a:r>
          </a:p>
        </p:txBody>
      </p:sp>
      <p:grpSp>
        <p:nvGrpSpPr>
          <p:cNvPr name="Group 111" id="111"/>
          <p:cNvGrpSpPr/>
          <p:nvPr/>
        </p:nvGrpSpPr>
        <p:grpSpPr>
          <a:xfrm rot="0">
            <a:off x="12030075" y="5828919"/>
            <a:ext cx="5444490" cy="3434334"/>
            <a:chOff x="0" y="0"/>
            <a:chExt cx="7259320" cy="4579112"/>
          </a:xfrm>
        </p:grpSpPr>
        <p:sp>
          <p:nvSpPr>
            <p:cNvPr name="Freeform 112" id="112"/>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113" id="113"/>
          <p:cNvGrpSpPr/>
          <p:nvPr/>
        </p:nvGrpSpPr>
        <p:grpSpPr>
          <a:xfrm rot="0">
            <a:off x="12268200" y="6067044"/>
            <a:ext cx="530352" cy="530352"/>
            <a:chOff x="0" y="0"/>
            <a:chExt cx="707136" cy="707136"/>
          </a:xfrm>
        </p:grpSpPr>
        <p:sp>
          <p:nvSpPr>
            <p:cNvPr name="Freeform 114" id="114"/>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115" id="115"/>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7</a:t>
              </a:r>
            </a:p>
          </p:txBody>
        </p:sp>
      </p:grpSp>
      <p:sp>
        <p:nvSpPr>
          <p:cNvPr name="TextBox 116" id="116"/>
          <p:cNvSpPr txBox="true"/>
          <p:nvPr/>
        </p:nvSpPr>
        <p:spPr>
          <a:xfrm rot="0">
            <a:off x="12935712" y="6028182"/>
            <a:ext cx="4373880" cy="743560"/>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Estimasi tahun kosong + selang prediksi</a:t>
            </a:r>
          </a:p>
        </p:txBody>
      </p:sp>
      <p:sp>
        <p:nvSpPr>
          <p:cNvPr name="TextBox 117" id="117"/>
          <p:cNvSpPr txBox="true"/>
          <p:nvPr/>
        </p:nvSpPr>
        <p:spPr>
          <a:xfrm rot="0">
            <a:off x="12268200" y="6824701"/>
            <a:ext cx="4968240" cy="6486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Model final dilatih ulang pada ketujuh titik, lalu mengisi 2015–2017 dan 2025.</a:t>
            </a:r>
          </a:p>
        </p:txBody>
      </p:sp>
      <p:grpSp>
        <p:nvGrpSpPr>
          <p:cNvPr name="Group 118" id="118"/>
          <p:cNvGrpSpPr/>
          <p:nvPr/>
        </p:nvGrpSpPr>
        <p:grpSpPr>
          <a:xfrm rot="0">
            <a:off x="12204192" y="7546543"/>
            <a:ext cx="5096256" cy="887578"/>
            <a:chOff x="0" y="0"/>
            <a:chExt cx="6795008" cy="1183437"/>
          </a:xfrm>
        </p:grpSpPr>
        <p:sp>
          <p:nvSpPr>
            <p:cNvPr name="Freeform 119" id="119"/>
            <p:cNvSpPr/>
            <p:nvPr/>
          </p:nvSpPr>
          <p:spPr>
            <a:xfrm flipH="false" flipV="false" rot="0">
              <a:off x="0" y="0"/>
              <a:ext cx="6795008" cy="1183386"/>
            </a:xfrm>
            <a:custGeom>
              <a:avLst/>
              <a:gdLst/>
              <a:ahLst/>
              <a:cxnLst/>
              <a:rect r="r" b="b" t="t" l="l"/>
              <a:pathLst>
                <a:path h="1183386" w="6795008">
                  <a:moveTo>
                    <a:pt x="0" y="97536"/>
                  </a:moveTo>
                  <a:cubicBezTo>
                    <a:pt x="0" y="43688"/>
                    <a:pt x="43688" y="0"/>
                    <a:pt x="97536" y="0"/>
                  </a:cubicBezTo>
                  <a:lnTo>
                    <a:pt x="6697472" y="0"/>
                  </a:lnTo>
                  <a:cubicBezTo>
                    <a:pt x="6751320" y="0"/>
                    <a:pt x="6795008" y="43688"/>
                    <a:pt x="6795008" y="97536"/>
                  </a:cubicBezTo>
                  <a:lnTo>
                    <a:pt x="6795008" y="1085850"/>
                  </a:lnTo>
                  <a:cubicBezTo>
                    <a:pt x="6795008" y="1139698"/>
                    <a:pt x="6751320" y="1183386"/>
                    <a:pt x="6697472" y="1183386"/>
                  </a:cubicBezTo>
                  <a:lnTo>
                    <a:pt x="97536" y="1183386"/>
                  </a:lnTo>
                  <a:cubicBezTo>
                    <a:pt x="43688" y="1183386"/>
                    <a:pt x="0" y="1139825"/>
                    <a:pt x="0" y="1085850"/>
                  </a:cubicBezTo>
                  <a:close/>
                </a:path>
              </a:pathLst>
            </a:custGeom>
            <a:solidFill>
              <a:srgbClr val="FFF1BF"/>
            </a:solidFill>
          </p:spPr>
        </p:sp>
      </p:grpSp>
      <p:sp>
        <p:nvSpPr>
          <p:cNvPr name="TextBox 120" id="120"/>
          <p:cNvSpPr txBox="true"/>
          <p:nvPr/>
        </p:nvSpPr>
        <p:spPr>
          <a:xfrm rot="0">
            <a:off x="12341352" y="7618552"/>
            <a:ext cx="4693920" cy="733273"/>
          </a:xfrm>
          <a:prstGeom prst="rect">
            <a:avLst/>
          </a:prstGeom>
        </p:spPr>
        <p:txBody>
          <a:bodyPr anchor="t" rtlCol="false" tIns="0" lIns="0" bIns="0" rIns="0">
            <a:spAutoFit/>
          </a:bodyPr>
          <a:lstStyle/>
          <a:p>
            <a:pPr algn="l">
              <a:lnSpc>
                <a:spcPts val="2486"/>
              </a:lnSpc>
            </a:pPr>
            <a:r>
              <a:rPr lang="en-US" sz="1850" i="true">
                <a:solidFill>
                  <a:srgbClr val="14313B"/>
                </a:solidFill>
                <a:latin typeface="Cambria Italics"/>
                <a:ea typeface="Cambria Italics"/>
                <a:cs typeface="Cambria Italics"/>
                <a:sym typeface="Cambria Italics"/>
              </a:rPr>
              <a:t>ŷ₀ ± t₀,₉₇₅; ₙ₋₂ · s · √[1 + 1/n + (x₀ − x̄)² / Sₓₓ]</a:t>
            </a:r>
          </a:p>
        </p:txBody>
      </p:sp>
      <p:sp>
        <p:nvSpPr>
          <p:cNvPr name="TextBox 121" id="121"/>
          <p:cNvSpPr txBox="true"/>
          <p:nvPr/>
        </p:nvSpPr>
        <p:spPr>
          <a:xfrm rot="0">
            <a:off x="12268200" y="8468411"/>
            <a:ext cx="4968240" cy="3595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2025: 200,7 (176,7–224,8) → stok awal ODTW 201 unit</a:t>
            </a:r>
          </a:p>
        </p:txBody>
      </p:sp>
      <p:sp>
        <p:nvSpPr>
          <p:cNvPr id="122" name="TextBox 121"/>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sp>
        <p:nvSpPr>
          <p:cNvPr id="123"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76200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3.5 · Validasi dan Evaluasi Kelayakan Estimator</a:t>
            </a:r>
          </a:p>
          <a:p>
            <a:pPr algn="l">
              <a:lnSpc>
                <a:spcPct val="100000"/>
              </a:lnSpc>
            </a:pPr>
            <a:r>
              <a:rPr lang="en-US" sz="3500" b="true">
                <a:solidFill>
                  <a:srgbClr val="0B5E6E"/>
                </a:solidFill>
                <a:latin typeface="Calibri (MS) Bold"/>
                <a:ea typeface="Calibri (MS) Bold"/>
                <a:cs typeface="Calibri (MS) Bold"/>
                <a:sym typeface="Calibri (MS) Bold"/>
              </a:rPr>
              <a:t>Metrik evaluasi kelayakan data citra: NTL dan Dynamic World</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27</a:t>
            </a:r>
          </a:p>
        </p:txBody>
      </p:sp>
      <p:grpSp>
        <p:nvGrpSpPr>
          <p:cNvPr name="Group 53" id="53"/>
          <p:cNvGrpSpPr/>
          <p:nvPr/>
        </p:nvGrpSpPr>
        <p:grpSpPr>
          <a:xfrm rot="0">
            <a:off x="822960" y="2240280"/>
            <a:ext cx="8183880" cy="566928"/>
            <a:chOff x="0" y="0"/>
            <a:chExt cx="10911840" cy="755904"/>
          </a:xfrm>
        </p:grpSpPr>
        <p:sp>
          <p:nvSpPr>
            <p:cNvPr name="Freeform 54" id="54"/>
            <p:cNvSpPr/>
            <p:nvPr/>
          </p:nvSpPr>
          <p:spPr>
            <a:xfrm flipH="false" flipV="false" rot="0">
              <a:off x="0" y="0"/>
              <a:ext cx="10911840" cy="755904"/>
            </a:xfrm>
            <a:custGeom>
              <a:avLst/>
              <a:gdLst/>
              <a:ahLst/>
              <a:cxnLst/>
              <a:rect r="r" b="b" t="t" l="l"/>
              <a:pathLst>
                <a:path h="755904" w="10911840">
                  <a:moveTo>
                    <a:pt x="0" y="121920"/>
                  </a:moveTo>
                  <a:cubicBezTo>
                    <a:pt x="0" y="54610"/>
                    <a:pt x="54610" y="0"/>
                    <a:pt x="121920" y="0"/>
                  </a:cubicBezTo>
                  <a:lnTo>
                    <a:pt x="10789920" y="0"/>
                  </a:lnTo>
                  <a:cubicBezTo>
                    <a:pt x="10857230" y="0"/>
                    <a:pt x="10911840" y="54610"/>
                    <a:pt x="10911840" y="121920"/>
                  </a:cubicBezTo>
                  <a:lnTo>
                    <a:pt x="10911840" y="633984"/>
                  </a:lnTo>
                  <a:cubicBezTo>
                    <a:pt x="10911840" y="701294"/>
                    <a:pt x="10857230" y="755904"/>
                    <a:pt x="10789920" y="755904"/>
                  </a:cubicBezTo>
                  <a:lnTo>
                    <a:pt x="121920" y="755904"/>
                  </a:lnTo>
                  <a:cubicBezTo>
                    <a:pt x="54610" y="755904"/>
                    <a:pt x="0" y="701294"/>
                    <a:pt x="0" y="633984"/>
                  </a:cubicBezTo>
                  <a:close/>
                </a:path>
              </a:pathLst>
            </a:custGeom>
            <a:solidFill>
              <a:srgbClr val="0B5E6E"/>
            </a:solidFill>
          </p:spPr>
        </p:sp>
      </p:grpSp>
      <p:grpSp>
        <p:nvGrpSpPr>
          <p:cNvPr name="Group 55" id="55"/>
          <p:cNvGrpSpPr/>
          <p:nvPr/>
        </p:nvGrpSpPr>
        <p:grpSpPr>
          <a:xfrm rot="0">
            <a:off x="822960" y="2240280"/>
            <a:ext cx="8183880" cy="566928"/>
            <a:chOff x="0" y="0"/>
            <a:chExt cx="10911840" cy="755904"/>
          </a:xfrm>
        </p:grpSpPr>
        <p:sp>
          <p:nvSpPr>
            <p:cNvPr name="Freeform 56" id="56"/>
            <p:cNvSpPr/>
            <p:nvPr/>
          </p:nvSpPr>
          <p:spPr>
            <a:xfrm flipH="false" flipV="false" rot="0">
              <a:off x="0" y="0"/>
              <a:ext cx="10911839" cy="755904"/>
            </a:xfrm>
            <a:custGeom>
              <a:avLst/>
              <a:gdLst/>
              <a:ahLst/>
              <a:cxnLst/>
              <a:rect r="r" b="b" t="t" l="l"/>
              <a:pathLst>
                <a:path h="755904" w="10911839">
                  <a:moveTo>
                    <a:pt x="0" y="0"/>
                  </a:moveTo>
                  <a:lnTo>
                    <a:pt x="10911839" y="0"/>
                  </a:lnTo>
                  <a:lnTo>
                    <a:pt x="10911839" y="755904"/>
                  </a:lnTo>
                  <a:lnTo>
                    <a:pt x="0" y="755904"/>
                  </a:lnTo>
                  <a:close/>
                </a:path>
              </a:pathLst>
            </a:custGeom>
            <a:blipFill>
              <a:blip r:embed="rId5">
                <a:alphaModFix amt="0"/>
              </a:blip>
              <a:stretch>
                <a:fillRect l="0" t="-231275" r="0" b="-231275"/>
              </a:stretch>
            </a:blipFill>
          </p:spPr>
        </p:sp>
        <p:sp>
          <p:nvSpPr>
            <p:cNvPr name="TextBox 57" id="57"/>
            <p:cNvSpPr txBox="true"/>
            <p:nvPr/>
          </p:nvSpPr>
          <p:spPr>
            <a:xfrm>
              <a:off x="0" y="-66675"/>
              <a:ext cx="10911840" cy="822579"/>
            </a:xfrm>
            <a:prstGeom prst="rect">
              <a:avLst/>
            </a:prstGeom>
          </p:spPr>
          <p:txBody>
            <a:bodyPr anchor="ctr" rtlCol="false" tIns="0" lIns="0" bIns="0" rIns="0"/>
            <a:lstStyle/>
            <a:p>
              <a:pPr algn="ctr">
                <a:lnSpc>
                  <a:spcPts val="2419"/>
                </a:lnSpc>
              </a:pPr>
              <a:r>
                <a:rPr lang="en-US" sz="1800" b="true">
                  <a:solidFill>
                    <a:srgbClr val="FFFFFF"/>
                  </a:solidFill>
                  <a:latin typeface="Calibri (MS) Bold"/>
                  <a:ea typeface="Calibri (MS) Bold"/>
                  <a:cs typeface="Calibri (MS) Bold"/>
                  <a:sym typeface="Calibri (MS) Bold"/>
                </a:rPr>
                <a:t>NTL VIIRS → estimasi jumlah ODTW</a:t>
              </a:r>
            </a:p>
          </p:txBody>
        </p:sp>
      </p:grpSp>
      <p:grpSp>
        <p:nvGrpSpPr>
          <p:cNvPr name="Group 58" id="58"/>
          <p:cNvGrpSpPr/>
          <p:nvPr/>
        </p:nvGrpSpPr>
        <p:grpSpPr>
          <a:xfrm rot="0">
            <a:off x="822960" y="2926080"/>
            <a:ext cx="8183880" cy="1485900"/>
            <a:chOff x="0" y="0"/>
            <a:chExt cx="10911840" cy="1981200"/>
          </a:xfrm>
        </p:grpSpPr>
        <p:sp>
          <p:nvSpPr>
            <p:cNvPr name="Freeform 59" id="59"/>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60" id="60"/>
          <p:cNvSpPr txBox="true"/>
          <p:nvPr/>
        </p:nvSpPr>
        <p:spPr>
          <a:xfrm rot="0">
            <a:off x="1051560" y="2997708"/>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Korelasi Pearson (level dan selisih tahunan)</a:t>
            </a:r>
          </a:p>
        </p:txBody>
      </p:sp>
      <p:sp>
        <p:nvSpPr>
          <p:cNvPr name="TextBox 61" id="61"/>
          <p:cNvSpPr txBox="true"/>
          <p:nvPr/>
        </p:nvSpPr>
        <p:spPr>
          <a:xfrm rot="0">
            <a:off x="1051560" y="3390900"/>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r = Σ(xᵢ − x̄)(yᵢ − ȳ) / √[Σ(xᵢ − x̄)² · Σ(yᵢ − ȳ)²]</a:t>
            </a:r>
          </a:p>
        </p:txBody>
      </p:sp>
      <p:sp>
        <p:nvSpPr>
          <p:cNvPr name="TextBox 62" id="62"/>
          <p:cNvSpPr txBox="true"/>
          <p:nvPr/>
        </p:nvSpPr>
        <p:spPr>
          <a:xfrm rot="0">
            <a:off x="1051560" y="3729228"/>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Δxₜ = xₜ − xₜ₋₁ ;  layak bila R²(selisih) ≥ 0,30</a:t>
            </a:r>
          </a:p>
        </p:txBody>
      </p:sp>
      <p:sp>
        <p:nvSpPr>
          <p:cNvPr name="TextBox 63" id="63"/>
          <p:cNvSpPr txBox="true"/>
          <p:nvPr/>
        </p:nvSpPr>
        <p:spPr>
          <a:xfrm rot="0">
            <a:off x="1051560" y="4076319"/>
            <a:ext cx="7726680" cy="324383"/>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Hasil: R² selisih 0,405 (level 0,785 — sebagian dibentuk tren waktu bersama)</a:t>
            </a:r>
          </a:p>
        </p:txBody>
      </p:sp>
      <p:grpSp>
        <p:nvGrpSpPr>
          <p:cNvPr name="Group 64" id="64"/>
          <p:cNvGrpSpPr/>
          <p:nvPr/>
        </p:nvGrpSpPr>
        <p:grpSpPr>
          <a:xfrm rot="0">
            <a:off x="822960" y="4539996"/>
            <a:ext cx="8183880" cy="1485900"/>
            <a:chOff x="0" y="0"/>
            <a:chExt cx="10911840" cy="1981200"/>
          </a:xfrm>
        </p:grpSpPr>
        <p:sp>
          <p:nvSpPr>
            <p:cNvPr name="Freeform 65" id="65"/>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66" id="66"/>
          <p:cNvSpPr txBox="true"/>
          <p:nvPr/>
        </p:nvSpPr>
        <p:spPr>
          <a:xfrm rot="0">
            <a:off x="1051560" y="4611624"/>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Leave-one-out cross-validation (k = 7 iterasi)</a:t>
            </a:r>
          </a:p>
        </p:txBody>
      </p:sp>
      <p:sp>
        <p:nvSpPr>
          <p:cNvPr name="TextBox 67" id="67"/>
          <p:cNvSpPr txBox="true"/>
          <p:nvPr/>
        </p:nvSpPr>
        <p:spPr>
          <a:xfrm rot="0">
            <a:off x="1051560" y="5004816"/>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RMSE = √[(1/k) · Σᵢ (ŷ₋ᵢ − yᵢ)²]</a:t>
            </a:r>
          </a:p>
        </p:txBody>
      </p:sp>
      <p:sp>
        <p:nvSpPr>
          <p:cNvPr name="TextBox 68" id="68"/>
          <p:cNvSpPr txBox="true"/>
          <p:nvPr/>
        </p:nvSpPr>
        <p:spPr>
          <a:xfrm rot="0">
            <a:off x="1051560" y="5343144"/>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RMSE relatif = RMSE / ȳ × 100% ≤ 10%</a:t>
            </a:r>
          </a:p>
        </p:txBody>
      </p:sp>
      <p:sp>
        <p:nvSpPr>
          <p:cNvPr name="TextBox 69" id="69"/>
          <p:cNvSpPr txBox="true"/>
          <p:nvPr/>
        </p:nvSpPr>
        <p:spPr>
          <a:xfrm rot="0">
            <a:off x="1051560" y="5690235"/>
            <a:ext cx="7726680" cy="324383"/>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ŷ₋ᵢ prediksi tahun i dari model tanpa tahun i. Hasil: 5,99% → layak</a:t>
            </a:r>
          </a:p>
        </p:txBody>
      </p:sp>
      <p:grpSp>
        <p:nvGrpSpPr>
          <p:cNvPr name="Group 70" id="70"/>
          <p:cNvGrpSpPr/>
          <p:nvPr/>
        </p:nvGrpSpPr>
        <p:grpSpPr>
          <a:xfrm rot="0">
            <a:off x="822960" y="6153912"/>
            <a:ext cx="8183880" cy="1485900"/>
            <a:chOff x="0" y="0"/>
            <a:chExt cx="10911840" cy="1981200"/>
          </a:xfrm>
        </p:grpSpPr>
        <p:sp>
          <p:nvSpPr>
            <p:cNvPr name="Freeform 71" id="71"/>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72" id="72"/>
          <p:cNvSpPr txBox="true"/>
          <p:nvPr/>
        </p:nvSpPr>
        <p:spPr>
          <a:xfrm rot="0">
            <a:off x="1051560" y="6225540"/>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Selang prediksi 95% pada tahun estimasi</a:t>
            </a:r>
          </a:p>
        </p:txBody>
      </p:sp>
      <p:sp>
        <p:nvSpPr>
          <p:cNvPr name="TextBox 73" id="73"/>
          <p:cNvSpPr txBox="true"/>
          <p:nvPr/>
        </p:nvSpPr>
        <p:spPr>
          <a:xfrm rot="0">
            <a:off x="1051560" y="6618732"/>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ŷ₀ ± t₀,₉₇₅; ₙ₋₂ · s · √[1 + 1/n + (x₀ − x̄)² / Sₓₓ]</a:t>
            </a:r>
          </a:p>
        </p:txBody>
      </p:sp>
      <p:sp>
        <p:nvSpPr>
          <p:cNvPr name="TextBox 74" id="74"/>
          <p:cNvSpPr txBox="true"/>
          <p:nvPr/>
        </p:nvSpPr>
        <p:spPr>
          <a:xfrm rot="0">
            <a:off x="1051560" y="6965823"/>
            <a:ext cx="7726680" cy="546278"/>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s galat baku sisaan; Sₓₓ jumlah kuadrat simpangan NTL. 2016 terlebar (≈ 58 unit) karena di luar rentang latih</a:t>
            </a:r>
          </a:p>
        </p:txBody>
      </p:sp>
      <p:grpSp>
        <p:nvGrpSpPr>
          <p:cNvPr name="Group 75" id="75"/>
          <p:cNvGrpSpPr/>
          <p:nvPr/>
        </p:nvGrpSpPr>
        <p:grpSpPr>
          <a:xfrm rot="0">
            <a:off x="822960" y="7767828"/>
            <a:ext cx="8183880" cy="1485900"/>
            <a:chOff x="0" y="0"/>
            <a:chExt cx="10911840" cy="1981200"/>
          </a:xfrm>
        </p:grpSpPr>
        <p:sp>
          <p:nvSpPr>
            <p:cNvPr name="Freeform 76" id="76"/>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77" id="77"/>
          <p:cNvSpPr txBox="true"/>
          <p:nvPr/>
        </p:nvSpPr>
        <p:spPr>
          <a:xfrm rot="0">
            <a:off x="1051560" y="7839456"/>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Validasi temporal dan spasial</a:t>
            </a:r>
          </a:p>
        </p:txBody>
      </p:sp>
      <p:sp>
        <p:nvSpPr>
          <p:cNvPr name="TextBox 78" id="78"/>
          <p:cNvSpPr txBox="true"/>
          <p:nvPr/>
        </p:nvSpPr>
        <p:spPr>
          <a:xfrm rot="0">
            <a:off x="1051560" y="8241411"/>
            <a:ext cx="7726680" cy="546278"/>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Seri NTL vs ODTW BPS disandingkan (searah 2018–2024); NTL titik sampel dibandingkan basemap: Malioboro–Keraton 37,376 · Kotagede 12,631 · TN Merapi 0,959</a:t>
            </a:r>
          </a:p>
        </p:txBody>
      </p:sp>
      <p:grpSp>
        <p:nvGrpSpPr>
          <p:cNvPr name="Group 79" id="79"/>
          <p:cNvGrpSpPr/>
          <p:nvPr/>
        </p:nvGrpSpPr>
        <p:grpSpPr>
          <a:xfrm rot="0">
            <a:off x="9281160" y="2240280"/>
            <a:ext cx="8183880" cy="566928"/>
            <a:chOff x="0" y="0"/>
            <a:chExt cx="10911840" cy="755904"/>
          </a:xfrm>
        </p:grpSpPr>
        <p:sp>
          <p:nvSpPr>
            <p:cNvPr name="Freeform 80" id="80"/>
            <p:cNvSpPr/>
            <p:nvPr/>
          </p:nvSpPr>
          <p:spPr>
            <a:xfrm flipH="false" flipV="false" rot="0">
              <a:off x="0" y="0"/>
              <a:ext cx="10911840" cy="755904"/>
            </a:xfrm>
            <a:custGeom>
              <a:avLst/>
              <a:gdLst/>
              <a:ahLst/>
              <a:cxnLst/>
              <a:rect r="r" b="b" t="t" l="l"/>
              <a:pathLst>
                <a:path h="755904" w="10911840">
                  <a:moveTo>
                    <a:pt x="0" y="121920"/>
                  </a:moveTo>
                  <a:cubicBezTo>
                    <a:pt x="0" y="54610"/>
                    <a:pt x="54610" y="0"/>
                    <a:pt x="121920" y="0"/>
                  </a:cubicBezTo>
                  <a:lnTo>
                    <a:pt x="10789920" y="0"/>
                  </a:lnTo>
                  <a:cubicBezTo>
                    <a:pt x="10857230" y="0"/>
                    <a:pt x="10911840" y="54610"/>
                    <a:pt x="10911840" y="121920"/>
                  </a:cubicBezTo>
                  <a:lnTo>
                    <a:pt x="10911840" y="633984"/>
                  </a:lnTo>
                  <a:cubicBezTo>
                    <a:pt x="10911840" y="701294"/>
                    <a:pt x="10857230" y="755904"/>
                    <a:pt x="10789920" y="755904"/>
                  </a:cubicBezTo>
                  <a:lnTo>
                    <a:pt x="121920" y="755904"/>
                  </a:lnTo>
                  <a:cubicBezTo>
                    <a:pt x="54610" y="755904"/>
                    <a:pt x="0" y="701294"/>
                    <a:pt x="0" y="633984"/>
                  </a:cubicBezTo>
                  <a:close/>
                </a:path>
              </a:pathLst>
            </a:custGeom>
            <a:solidFill>
              <a:srgbClr val="39C0D3"/>
            </a:solidFill>
          </p:spPr>
        </p:sp>
      </p:grpSp>
      <p:grpSp>
        <p:nvGrpSpPr>
          <p:cNvPr name="Group 81" id="81"/>
          <p:cNvGrpSpPr/>
          <p:nvPr/>
        </p:nvGrpSpPr>
        <p:grpSpPr>
          <a:xfrm rot="0">
            <a:off x="9281160" y="2240280"/>
            <a:ext cx="8183880" cy="566928"/>
            <a:chOff x="0" y="0"/>
            <a:chExt cx="10911840" cy="755904"/>
          </a:xfrm>
        </p:grpSpPr>
        <p:sp>
          <p:nvSpPr>
            <p:cNvPr name="Freeform 82" id="82"/>
            <p:cNvSpPr/>
            <p:nvPr/>
          </p:nvSpPr>
          <p:spPr>
            <a:xfrm flipH="false" flipV="false" rot="0">
              <a:off x="0" y="0"/>
              <a:ext cx="10911839" cy="755904"/>
            </a:xfrm>
            <a:custGeom>
              <a:avLst/>
              <a:gdLst/>
              <a:ahLst/>
              <a:cxnLst/>
              <a:rect r="r" b="b" t="t" l="l"/>
              <a:pathLst>
                <a:path h="755904" w="10911839">
                  <a:moveTo>
                    <a:pt x="0" y="0"/>
                  </a:moveTo>
                  <a:lnTo>
                    <a:pt x="10911839" y="0"/>
                  </a:lnTo>
                  <a:lnTo>
                    <a:pt x="10911839" y="755904"/>
                  </a:lnTo>
                  <a:lnTo>
                    <a:pt x="0" y="755904"/>
                  </a:lnTo>
                  <a:close/>
                </a:path>
              </a:pathLst>
            </a:custGeom>
            <a:blipFill>
              <a:blip r:embed="rId5">
                <a:alphaModFix amt="0"/>
              </a:blip>
              <a:stretch>
                <a:fillRect l="0" t="-231275" r="0" b="-231275"/>
              </a:stretch>
            </a:blipFill>
          </p:spPr>
        </p:sp>
        <p:sp>
          <p:nvSpPr>
            <p:cNvPr name="TextBox 83" id="83"/>
            <p:cNvSpPr txBox="true"/>
            <p:nvPr/>
          </p:nvSpPr>
          <p:spPr>
            <a:xfrm>
              <a:off x="0" y="-66675"/>
              <a:ext cx="10911840" cy="822579"/>
            </a:xfrm>
            <a:prstGeom prst="rect">
              <a:avLst/>
            </a:prstGeom>
          </p:spPr>
          <p:txBody>
            <a:bodyPr anchor="ctr" rtlCol="false" tIns="0" lIns="0" bIns="0" rIns="0"/>
            <a:lstStyle/>
            <a:p>
              <a:pPr algn="ctr">
                <a:lnSpc>
                  <a:spcPts val="2419"/>
                </a:lnSpc>
              </a:pPr>
              <a:r>
                <a:rPr lang="en-US" sz="1800" b="true">
                  <a:solidFill>
                    <a:srgbClr val="FFFFFF"/>
                  </a:solidFill>
                  <a:latin typeface="Calibri (MS) Bold"/>
                  <a:ea typeface="Calibri (MS) Bold"/>
                  <a:cs typeface="Calibri (MS) Bold"/>
                  <a:sym typeface="Calibri (MS) Bold"/>
                </a:rPr>
                <a:t>Dynamic World → luas lahan terbangun</a:t>
              </a:r>
            </a:p>
          </p:txBody>
        </p:sp>
      </p:grpSp>
      <p:grpSp>
        <p:nvGrpSpPr>
          <p:cNvPr name="Group 84" id="84"/>
          <p:cNvGrpSpPr/>
          <p:nvPr/>
        </p:nvGrpSpPr>
        <p:grpSpPr>
          <a:xfrm rot="0">
            <a:off x="9281160" y="2926080"/>
            <a:ext cx="8183880" cy="1485900"/>
            <a:chOff x="0" y="0"/>
            <a:chExt cx="10911840" cy="1981200"/>
          </a:xfrm>
        </p:grpSpPr>
        <p:sp>
          <p:nvSpPr>
            <p:cNvPr name="Freeform 85" id="85"/>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86" id="86"/>
          <p:cNvSpPr txBox="true"/>
          <p:nvPr/>
        </p:nvSpPr>
        <p:spPr>
          <a:xfrm rot="0">
            <a:off x="9509760" y="2997708"/>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Akurasi keseluruhan dan per kelas (n = 200 titik)</a:t>
            </a:r>
          </a:p>
        </p:txBody>
      </p:sp>
      <p:sp>
        <p:nvSpPr>
          <p:cNvPr name="TextBox 87" id="87"/>
          <p:cNvSpPr txBox="true"/>
          <p:nvPr/>
        </p:nvSpPr>
        <p:spPr>
          <a:xfrm rot="0">
            <a:off x="9509760" y="3390900"/>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OA = (n₁₁ + n₀₀) / n</a:t>
            </a:r>
          </a:p>
        </p:txBody>
      </p:sp>
      <p:sp>
        <p:nvSpPr>
          <p:cNvPr name="TextBox 88" id="88"/>
          <p:cNvSpPr txBox="true"/>
          <p:nvPr/>
        </p:nvSpPr>
        <p:spPr>
          <a:xfrm rot="0">
            <a:off x="9509760" y="3729228"/>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UA = n₁₁ / (n₁₁ + n₁₀) ;  PA = n₁₁ / (n₁₁ + n₀₁)</a:t>
            </a:r>
          </a:p>
        </p:txBody>
      </p:sp>
      <p:sp>
        <p:nvSpPr>
          <p:cNvPr name="TextBox 89" id="89"/>
          <p:cNvSpPr txBox="true"/>
          <p:nvPr/>
        </p:nvSpPr>
        <p:spPr>
          <a:xfrm rot="0">
            <a:off x="9509760" y="4076319"/>
            <a:ext cx="7726680" cy="324383"/>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n₁₁, n₀₀ benar; n₁₀ komisi; n₀₁ omisi. Hasil: OA 80,50% · UA 66,00% · PA 73,58%</a:t>
            </a:r>
          </a:p>
        </p:txBody>
      </p:sp>
      <p:grpSp>
        <p:nvGrpSpPr>
          <p:cNvPr name="Group 90" id="90"/>
          <p:cNvGrpSpPr/>
          <p:nvPr/>
        </p:nvGrpSpPr>
        <p:grpSpPr>
          <a:xfrm rot="0">
            <a:off x="9281160" y="4539996"/>
            <a:ext cx="8183880" cy="1485900"/>
            <a:chOff x="0" y="0"/>
            <a:chExt cx="10911840" cy="1981200"/>
          </a:xfrm>
        </p:grpSpPr>
        <p:sp>
          <p:nvSpPr>
            <p:cNvPr name="Freeform 91" id="91"/>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92" id="92"/>
          <p:cNvSpPr txBox="true"/>
          <p:nvPr/>
        </p:nvSpPr>
        <p:spPr>
          <a:xfrm rot="0">
            <a:off x="9509760" y="4611624"/>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F1-score dan koefisien Kappa</a:t>
            </a:r>
          </a:p>
        </p:txBody>
      </p:sp>
      <p:sp>
        <p:nvSpPr>
          <p:cNvPr name="TextBox 93" id="93"/>
          <p:cNvSpPr txBox="true"/>
          <p:nvPr/>
        </p:nvSpPr>
        <p:spPr>
          <a:xfrm rot="0">
            <a:off x="9509760" y="5004816"/>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F1 = 2 · UA · PA / (UA + PA)</a:t>
            </a:r>
          </a:p>
        </p:txBody>
      </p:sp>
      <p:sp>
        <p:nvSpPr>
          <p:cNvPr name="TextBox 94" id="94"/>
          <p:cNvSpPr txBox="true"/>
          <p:nvPr/>
        </p:nvSpPr>
        <p:spPr>
          <a:xfrm rot="0">
            <a:off x="9509760" y="5343144"/>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κ = (pₒ − pₑ) / (1 − pₑ)</a:t>
            </a:r>
          </a:p>
        </p:txBody>
      </p:sp>
      <p:sp>
        <p:nvSpPr>
          <p:cNvPr name="TextBox 95" id="95"/>
          <p:cNvSpPr txBox="true"/>
          <p:nvPr/>
        </p:nvSpPr>
        <p:spPr>
          <a:xfrm rot="0">
            <a:off x="9509760" y="5690235"/>
            <a:ext cx="7726680" cy="324383"/>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pₒ kesepakatan teramati, pₑ kesepakatan karena kebetulan. Hasil: F1 77,19% · κ 0,61</a:t>
            </a:r>
          </a:p>
        </p:txBody>
      </p:sp>
      <p:grpSp>
        <p:nvGrpSpPr>
          <p:cNvPr name="Group 96" id="96"/>
          <p:cNvGrpSpPr/>
          <p:nvPr/>
        </p:nvGrpSpPr>
        <p:grpSpPr>
          <a:xfrm rot="0">
            <a:off x="9281160" y="6153912"/>
            <a:ext cx="8183880" cy="1485900"/>
            <a:chOff x="0" y="0"/>
            <a:chExt cx="10911840" cy="1981200"/>
          </a:xfrm>
        </p:grpSpPr>
        <p:sp>
          <p:nvSpPr>
            <p:cNvPr name="Freeform 97" id="97"/>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98" id="98"/>
          <p:cNvSpPr txBox="true"/>
          <p:nvPr/>
        </p:nvSpPr>
        <p:spPr>
          <a:xfrm rot="0">
            <a:off x="9509760" y="6225540"/>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Akurasi terbobot luas (Olofsson dkk., 2014)</a:t>
            </a:r>
          </a:p>
        </p:txBody>
      </p:sp>
      <p:sp>
        <p:nvSpPr>
          <p:cNvPr name="TextBox 99" id="99"/>
          <p:cNvSpPr txBox="true"/>
          <p:nvPr/>
        </p:nvSpPr>
        <p:spPr>
          <a:xfrm rot="0">
            <a:off x="9509760" y="6618732"/>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ÔA = Σᵢ Wᵢ · (nᵢᵢ / nᵢ.) ;  Wᵢ = Aᵢ / A_total</a:t>
            </a:r>
          </a:p>
        </p:txBody>
      </p:sp>
      <p:sp>
        <p:nvSpPr>
          <p:cNvPr name="TextBox 100" id="100"/>
          <p:cNvSpPr txBox="true"/>
          <p:nvPr/>
        </p:nvSpPr>
        <p:spPr>
          <a:xfrm rot="0">
            <a:off x="9509760" y="6965823"/>
            <a:ext cx="7726680" cy="324383"/>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Sampel 100/100 tidak proporsional luas kelas → versi tak bias. Hasil: 89,95%</a:t>
            </a:r>
          </a:p>
        </p:txBody>
      </p:sp>
      <p:grpSp>
        <p:nvGrpSpPr>
          <p:cNvPr name="Group 101" id="101"/>
          <p:cNvGrpSpPr/>
          <p:nvPr/>
        </p:nvGrpSpPr>
        <p:grpSpPr>
          <a:xfrm rot="0">
            <a:off x="9281160" y="7767828"/>
            <a:ext cx="8183880" cy="1485900"/>
            <a:chOff x="0" y="0"/>
            <a:chExt cx="10911840" cy="1981200"/>
          </a:xfrm>
        </p:grpSpPr>
        <p:sp>
          <p:nvSpPr>
            <p:cNvPr name="Freeform 102" id="102"/>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103" id="103"/>
          <p:cNvSpPr txBox="true"/>
          <p:nvPr/>
        </p:nvSpPr>
        <p:spPr>
          <a:xfrm rot="0">
            <a:off x="9509760" y="7839456"/>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Diagnosis ketidakstabilan temporal (gaya ANCOVA)</a:t>
            </a:r>
          </a:p>
        </p:txBody>
      </p:sp>
      <p:sp>
        <p:nvSpPr>
          <p:cNvPr name="TextBox 104" id="104"/>
          <p:cNvSpPr txBox="true"/>
          <p:nvPr/>
        </p:nvSpPr>
        <p:spPr>
          <a:xfrm rot="0">
            <a:off x="9509760" y="8232648"/>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Luasₜ = a + b · Obsₜ</a:t>
            </a:r>
          </a:p>
        </p:txBody>
      </p:sp>
      <p:sp>
        <p:nvSpPr>
          <p:cNvPr name="TextBox 105" id="105"/>
          <p:cNvSpPr txBox="true"/>
          <p:nvPr/>
        </p:nvSpPr>
        <p:spPr>
          <a:xfrm rot="0">
            <a:off x="9509760" y="8570976"/>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Luas_terkoreksi,ₜ = Luasₜ − b · (Obsₜ − Obs_acuan)</a:t>
            </a:r>
          </a:p>
        </p:txBody>
      </p:sp>
      <p:sp>
        <p:nvSpPr>
          <p:cNvPr name="TextBox 106" id="106"/>
          <p:cNvSpPr txBox="true"/>
          <p:nvPr/>
        </p:nvSpPr>
        <p:spPr>
          <a:xfrm rot="0">
            <a:off x="9509760" y="8918067"/>
            <a:ext cx="7726680" cy="324383"/>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Sah bila Obs tidak berkorelasi dengan tahun; hanya diagnostik, nilai mentah tetap dipakai</a:t>
            </a:r>
          </a:p>
        </p:txBody>
      </p:sp>
      <p:sp>
        <p:nvSpPr>
          <p:cNvPr id="107" name="TextBox 106"/>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sp>
        <p:nvSpPr>
          <p:cNvPr id="108"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4.2.1 · Estimasi Jumlah ODTW</a:t>
            </a:r>
          </a:p>
          <a:p>
            <a:pPr algn="l">
              <a:lnSpc>
                <a:spcPct val="100000"/>
              </a:lnSpc>
            </a:pPr>
            <a:r>
              <a:rPr lang="en-US" sz="3500" b="true">
                <a:solidFill>
                  <a:srgbClr val="0B5E6E"/>
                </a:solidFill>
                <a:latin typeface="Calibri (MS) Bold"/>
                <a:ea typeface="Calibri (MS) Bold"/>
                <a:cs typeface="Calibri (MS) Bold"/>
                <a:sym typeface="Calibri (MS) Bold"/>
              </a:rPr>
              <a:t>Cahaya malam (NTL) layak mengestimasi jumlah ODTW</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39353" y="2331720"/>
            <a:ext cx="9431274" cy="5897880"/>
            <a:chOff x="0" y="0"/>
            <a:chExt cx="12575032" cy="7863840"/>
          </a:xfrm>
        </p:grpSpPr>
        <p:sp>
          <p:nvSpPr>
            <p:cNvPr name="Freeform 53" id="53" descr="Perbandingan tren NTL dan jumlah ODTW DIY 2015-2025"/>
            <p:cNvSpPr/>
            <p:nvPr/>
          </p:nvSpPr>
          <p:spPr>
            <a:xfrm flipH="false" flipV="false" rot="0">
              <a:off x="0" y="0"/>
              <a:ext cx="12575032" cy="7863840"/>
            </a:xfrm>
            <a:custGeom>
              <a:avLst/>
              <a:gdLst/>
              <a:ahLst/>
              <a:cxnLst/>
              <a:rect r="r" b="b" t="t" l="l"/>
              <a:pathLst>
                <a:path h="7863840" w="12575032">
                  <a:moveTo>
                    <a:pt x="0" y="0"/>
                  </a:moveTo>
                  <a:lnTo>
                    <a:pt x="12575032" y="0"/>
                  </a:lnTo>
                  <a:lnTo>
                    <a:pt x="12575032" y="7863840"/>
                  </a:lnTo>
                  <a:lnTo>
                    <a:pt x="0" y="7863840"/>
                  </a:lnTo>
                  <a:lnTo>
                    <a:pt x="0" y="0"/>
                  </a:lnTo>
                  <a:close/>
                </a:path>
              </a:pathLst>
            </a:custGeom>
            <a:blipFill>
              <a:blip r:embed="rId6"/>
              <a:stretch>
                <a:fillRect l="0" t="0" r="0" b="0"/>
              </a:stretch>
            </a:blipFill>
          </p:spPr>
        </p:sp>
      </p:grpSp>
      <p:sp>
        <p:nvSpPr>
          <p:cNvPr name="TextBox 54" id="54"/>
          <p:cNvSpPr txBox="true"/>
          <p:nvPr/>
        </p:nvSpPr>
        <p:spPr>
          <a:xfrm rot="0">
            <a:off x="822960" y="8221980"/>
            <a:ext cx="9464040" cy="4876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Tren NTL dan jumlah ODTW DIY, 2015–2025 (segitiga = estimasi dari NTL)</a:t>
            </a:r>
          </a:p>
        </p:txBody>
      </p:sp>
      <p:grpSp>
        <p:nvGrpSpPr>
          <p:cNvPr name="Group 55" id="55"/>
          <p:cNvGrpSpPr/>
          <p:nvPr/>
        </p:nvGrpSpPr>
        <p:grpSpPr>
          <a:xfrm rot="0">
            <a:off x="10698480" y="2331720"/>
            <a:ext cx="3291840" cy="2057400"/>
            <a:chOff x="0" y="0"/>
            <a:chExt cx="4389120" cy="2743200"/>
          </a:xfrm>
        </p:grpSpPr>
        <p:sp>
          <p:nvSpPr>
            <p:cNvPr name="Freeform 56" id="56"/>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57" id="57"/>
          <p:cNvGrpSpPr/>
          <p:nvPr/>
        </p:nvGrpSpPr>
        <p:grpSpPr>
          <a:xfrm rot="0">
            <a:off x="10904220" y="2468880"/>
            <a:ext cx="2880360" cy="685800"/>
            <a:chOff x="0" y="0"/>
            <a:chExt cx="3840480" cy="914400"/>
          </a:xfrm>
        </p:grpSpPr>
        <p:sp>
          <p:nvSpPr>
            <p:cNvPr name="Freeform 58" id="58"/>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59" id="59"/>
          <p:cNvGrpSpPr/>
          <p:nvPr/>
        </p:nvGrpSpPr>
        <p:grpSpPr>
          <a:xfrm rot="0">
            <a:off x="10904220" y="2418874"/>
            <a:ext cx="2880360" cy="735806"/>
            <a:chOff x="0" y="0"/>
            <a:chExt cx="3840480" cy="981075"/>
          </a:xfrm>
        </p:grpSpPr>
        <p:sp>
          <p:nvSpPr>
            <p:cNvPr name="Freeform 60" id="60"/>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61" id="61"/>
            <p:cNvSpPr txBox="true"/>
            <p:nvPr/>
          </p:nvSpPr>
          <p:spPr>
            <a:xfrm>
              <a:off x="0" y="-66675"/>
              <a:ext cx="384048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0,405</a:t>
              </a:r>
            </a:p>
          </p:txBody>
        </p:sp>
      </p:grpSp>
      <p:sp>
        <p:nvSpPr>
          <p:cNvPr name="TextBox 62" id="62"/>
          <p:cNvSpPr txBox="true"/>
          <p:nvPr/>
        </p:nvSpPr>
        <p:spPr>
          <a:xfrm rot="0">
            <a:off x="10904220" y="3124962"/>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R² selisih tahunan (≥ 0,30 → layak). R² level 0,785 dipengaruhi tren bersama</a:t>
            </a:r>
          </a:p>
        </p:txBody>
      </p:sp>
      <p:grpSp>
        <p:nvGrpSpPr>
          <p:cNvPr name="Group 63" id="63"/>
          <p:cNvGrpSpPr/>
          <p:nvPr/>
        </p:nvGrpSpPr>
        <p:grpSpPr>
          <a:xfrm rot="0">
            <a:off x="14127480" y="2331720"/>
            <a:ext cx="3291840" cy="2057400"/>
            <a:chOff x="0" y="0"/>
            <a:chExt cx="4389120" cy="2743200"/>
          </a:xfrm>
        </p:grpSpPr>
        <p:sp>
          <p:nvSpPr>
            <p:cNvPr name="Freeform 64" id="64"/>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65" id="65"/>
          <p:cNvGrpSpPr/>
          <p:nvPr/>
        </p:nvGrpSpPr>
        <p:grpSpPr>
          <a:xfrm rot="0">
            <a:off x="14333220" y="2468880"/>
            <a:ext cx="2880360" cy="685800"/>
            <a:chOff x="0" y="0"/>
            <a:chExt cx="3840480" cy="914400"/>
          </a:xfrm>
        </p:grpSpPr>
        <p:sp>
          <p:nvSpPr>
            <p:cNvPr name="Freeform 66" id="66"/>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67" id="67"/>
          <p:cNvGrpSpPr/>
          <p:nvPr/>
        </p:nvGrpSpPr>
        <p:grpSpPr>
          <a:xfrm rot="0">
            <a:off x="14333220" y="2418874"/>
            <a:ext cx="2880360" cy="735806"/>
            <a:chOff x="0" y="0"/>
            <a:chExt cx="3840480" cy="981075"/>
          </a:xfrm>
        </p:grpSpPr>
        <p:sp>
          <p:nvSpPr>
            <p:cNvPr name="Freeform 68" id="68"/>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69" id="69"/>
            <p:cNvSpPr txBox="true"/>
            <p:nvPr/>
          </p:nvSpPr>
          <p:spPr>
            <a:xfrm>
              <a:off x="0" y="-66675"/>
              <a:ext cx="384048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5,99%</a:t>
              </a:r>
            </a:p>
          </p:txBody>
        </p:sp>
      </p:grpSp>
      <p:sp>
        <p:nvSpPr>
          <p:cNvPr name="TextBox 70" id="70"/>
          <p:cNvSpPr txBox="true"/>
          <p:nvPr/>
        </p:nvSpPr>
        <p:spPr>
          <a:xfrm rot="0">
            <a:off x="14333220" y="3124962"/>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RMSE relatif LOOCV (≤ 10% → layak)</a:t>
            </a:r>
          </a:p>
        </p:txBody>
      </p:sp>
      <p:grpSp>
        <p:nvGrpSpPr>
          <p:cNvPr name="Group 71" id="71"/>
          <p:cNvGrpSpPr/>
          <p:nvPr/>
        </p:nvGrpSpPr>
        <p:grpSpPr>
          <a:xfrm rot="0">
            <a:off x="10698480" y="4553712"/>
            <a:ext cx="3291840" cy="2057400"/>
            <a:chOff x="0" y="0"/>
            <a:chExt cx="4389120" cy="2743200"/>
          </a:xfrm>
        </p:grpSpPr>
        <p:sp>
          <p:nvSpPr>
            <p:cNvPr name="Freeform 72" id="72"/>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73" id="73"/>
          <p:cNvGrpSpPr/>
          <p:nvPr/>
        </p:nvGrpSpPr>
        <p:grpSpPr>
          <a:xfrm rot="0">
            <a:off x="10904220" y="4690872"/>
            <a:ext cx="2880360" cy="685800"/>
            <a:chOff x="0" y="0"/>
            <a:chExt cx="3840480" cy="914400"/>
          </a:xfrm>
        </p:grpSpPr>
        <p:sp>
          <p:nvSpPr>
            <p:cNvPr name="Freeform 74" id="74"/>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75" id="75"/>
          <p:cNvGrpSpPr/>
          <p:nvPr/>
        </p:nvGrpSpPr>
        <p:grpSpPr>
          <a:xfrm rot="0">
            <a:off x="10904220" y="4640866"/>
            <a:ext cx="2880360" cy="735806"/>
            <a:chOff x="0" y="0"/>
            <a:chExt cx="3840480" cy="981075"/>
          </a:xfrm>
        </p:grpSpPr>
        <p:sp>
          <p:nvSpPr>
            <p:cNvPr name="Freeform 76" id="76"/>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77" id="77"/>
            <p:cNvSpPr txBox="true"/>
            <p:nvPr/>
          </p:nvSpPr>
          <p:spPr>
            <a:xfrm>
              <a:off x="0" y="-66675"/>
              <a:ext cx="384048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201 unit</a:t>
              </a:r>
            </a:p>
          </p:txBody>
        </p:sp>
      </p:grpSp>
      <p:sp>
        <p:nvSpPr>
          <p:cNvPr name="TextBox 78" id="78"/>
          <p:cNvSpPr txBox="true"/>
          <p:nvPr/>
        </p:nvSpPr>
        <p:spPr>
          <a:xfrm rot="0">
            <a:off x="10904220" y="5346954"/>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estimasi ODTW 2025; selang prediksi 95%: 176,7–224,8</a:t>
            </a:r>
          </a:p>
        </p:txBody>
      </p:sp>
      <p:grpSp>
        <p:nvGrpSpPr>
          <p:cNvPr name="Group 79" id="79"/>
          <p:cNvGrpSpPr/>
          <p:nvPr/>
        </p:nvGrpSpPr>
        <p:grpSpPr>
          <a:xfrm rot="0">
            <a:off x="14127480" y="4553712"/>
            <a:ext cx="3291840" cy="2057400"/>
            <a:chOff x="0" y="0"/>
            <a:chExt cx="4389120" cy="2743200"/>
          </a:xfrm>
        </p:grpSpPr>
        <p:sp>
          <p:nvSpPr>
            <p:cNvPr name="Freeform 80" id="80"/>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81" id="81"/>
          <p:cNvGrpSpPr/>
          <p:nvPr/>
        </p:nvGrpSpPr>
        <p:grpSpPr>
          <a:xfrm rot="0">
            <a:off x="14333220" y="4690872"/>
            <a:ext cx="2880360" cy="685800"/>
            <a:chOff x="0" y="0"/>
            <a:chExt cx="3840480" cy="914400"/>
          </a:xfrm>
        </p:grpSpPr>
        <p:sp>
          <p:nvSpPr>
            <p:cNvPr name="Freeform 82" id="82"/>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83" id="83"/>
          <p:cNvGrpSpPr/>
          <p:nvPr/>
        </p:nvGrpSpPr>
        <p:grpSpPr>
          <a:xfrm rot="0">
            <a:off x="14333220" y="4640866"/>
            <a:ext cx="2880360" cy="735806"/>
            <a:chOff x="0" y="0"/>
            <a:chExt cx="3840480" cy="981075"/>
          </a:xfrm>
        </p:grpSpPr>
        <p:sp>
          <p:nvSpPr>
            <p:cNvPr name="Freeform 84" id="84"/>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85" id="85"/>
            <p:cNvSpPr txBox="true"/>
            <p:nvPr/>
          </p:nvSpPr>
          <p:spPr>
            <a:xfrm>
              <a:off x="0" y="-66675"/>
              <a:ext cx="384048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37,4 vs 0,96</a:t>
              </a:r>
            </a:p>
          </p:txBody>
        </p:sp>
      </p:grpSp>
      <p:sp>
        <p:nvSpPr>
          <p:cNvPr name="TextBox 86" id="86"/>
          <p:cNvSpPr txBox="true"/>
          <p:nvPr/>
        </p:nvSpPr>
        <p:spPr>
          <a:xfrm rot="0">
            <a:off x="14333220" y="5346954"/>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NTL Malioboro–Keraton vs TN Gunung Merapi (validasi spasial)</a:t>
            </a:r>
          </a:p>
        </p:txBody>
      </p:sp>
      <p:sp>
        <p:nvSpPr>
          <p:cNvPr name="TextBox 87" id="87"/>
          <p:cNvSpPr txBox="true"/>
          <p:nvPr/>
        </p:nvSpPr>
        <p:spPr>
          <a:xfrm rot="0">
            <a:off x="10698480" y="6850380"/>
            <a:ext cx="6761988" cy="2407920"/>
          </a:xfrm>
          <a:prstGeom prst="rect">
            <a:avLst/>
          </a:prstGeom>
        </p:spPr>
        <p:txBody>
          <a:bodyPr anchor="t" rtlCol="false" tIns="0" lIns="0" bIns="0" rIns="0">
            <a:spAutoFit/>
          </a:bodyPr>
          <a:lstStyle/>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Selisih arah NTL–ODTW terbesar pada 2021–2022 dan 2023–2024, bertepatan dengan galat LOOCV terbesar</a:t>
            </a:r>
          </a:p>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Estimasi 2025 turun dari 218 (2024) → sensitivitas diuji pada 189–218 unit</a:t>
            </a:r>
          </a:p>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Kurang tajam membedakan industri tahap awal dan wisata skala kecil (Sentolo 1,16 vs Pantai Baron 1,69)</a:t>
            </a:r>
          </a:p>
        </p:txBody>
      </p:sp>
      <p:sp>
        <p:nvSpPr>
          <p:cNvPr name="TextBox 88" id="8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28</a:t>
            </a:r>
          </a:p>
        </p:txBody>
      </p:sp>
      <p:sp>
        <p:nvSpPr>
          <p:cNvPr id="89" name="TextBox 8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sp>
        <p:nvSpPr>
          <p:cNvPr id="90"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4.2.1 · Estimasi ODTW — Validasi Temporal dan Spasial</a:t>
            </a:r>
          </a:p>
          <a:p>
            <a:pPr algn="l">
              <a:lnSpc>
                <a:spcPct val="100000"/>
              </a:lnSpc>
            </a:pPr>
            <a:r>
              <a:rPr lang="en-US" sz="3500" b="true">
                <a:solidFill>
                  <a:srgbClr val="0B5E6E"/>
                </a:solidFill>
                <a:latin typeface="Calibri (MS) Bold"/>
                <a:ea typeface="Calibri (MS) Bold"/>
                <a:cs typeface="Calibri (MS) Bold"/>
                <a:sym typeface="Calibri (MS) Bold"/>
              </a:rPr>
              <a:t>NTL mengisi ODTW 2015–2017 dan 2025; validasi spasial konsisten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29</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sp>
        <p:nvSpPr>
          <p:cNvPr id="149" name="TextBox 148"/>
          <p:cNvSpPr txBox="1"/>
          <p:nvPr/>
        </p:nvSpPr>
        <p:spPr>
          <a:xfrm>
            <a:off x="822960" y="2240280"/>
            <a:ext cx="7315200" cy="457200"/>
          </a:xfrm>
          <a:prstGeom prst="rect">
            <a:avLst/>
          </a:prstGeom>
          <a:noFill/>
        </p:spPr>
        <p:txBody>
          <a:bodyPr wrap="square" anchor="t" lIns="0" rIns="0" tIns="0" bIns="0">
            <a:spAutoFit/>
          </a:bodyPr>
          <a:lstStyle/>
          <a:p>
            <a:pPr algn="l">
              <a:spcAft>
                <a:spcPts val="400"/>
              </a:spcAft>
            </a:pPr>
            <a:r>
              <a:rPr sz="1839" b="1" i="0">
                <a:solidFill>
                  <a:srgbClr val="0B5E6E"/>
                </a:solidFill>
                <a:latin typeface="Calibri (MS) Bold"/>
              </a:rPr>
              <a:t>Estimasi pada tahun tanpa data BPS</a:t>
            </a:r>
          </a:p>
        </p:txBody>
      </p:sp>
      <p:graphicFrame>
        <p:nvGraphicFramePr>
          <p:cNvPr id="150" name="Table 149"/>
          <p:cNvGraphicFramePr>
            <a:graphicFrameLocks noGrp="1"/>
          </p:cNvGraphicFramePr>
          <p:nvPr/>
        </p:nvGraphicFramePr>
        <p:xfrm>
          <a:off x="822960" y="2743200"/>
          <a:ext cx="7315199" cy="2286000"/>
        </p:xfrm>
        <a:graphic>
          <a:graphicData uri="http://schemas.openxmlformats.org/drawingml/2006/table">
            <a:tbl>
              <a:tblPr firstRow="1" bandRow="1">
                <a:tableStyleId>{5C22544A-7EE6-4342-B048-85BDC9FD1C3A}</a:tableStyleId>
              </a:tblPr>
              <a:tblGrid>
                <a:gridCol w="1320800"/>
                <a:gridCol w="1320800"/>
                <a:gridCol w="1625600"/>
                <a:gridCol w="3047999"/>
              </a:tblGrid>
              <a:tr h="457200">
                <a:tc>
                  <a:txBody>
                    <a:bodyPr wrap="square"/>
                    <a:lstStyle/>
                    <a:p>
                      <a:r>
                        <a:rPr sz="1610" b="1" i="0">
                          <a:solidFill>
                            <a:srgbClr val="FFFFFF"/>
                          </a:solidFill>
                          <a:latin typeface="Calibri (MS) Bold"/>
                        </a:rPr>
                        <a:t>Tahun</a:t>
                      </a:r>
                    </a:p>
                  </a:txBody>
                  <a:tcPr marL="73152" marR="73152" marT="36576" marB="36576" anchor="ctr">
                    <a:solidFill>
                      <a:srgbClr val="0B5E6E"/>
                    </a:solidFill>
                  </a:tcPr>
                </a:tc>
                <a:tc>
                  <a:txBody>
                    <a:bodyPr wrap="square"/>
                    <a:lstStyle/>
                    <a:p>
                      <a:r>
                        <a:rPr sz="1610" b="1" i="0">
                          <a:solidFill>
                            <a:srgbClr val="FFFFFF"/>
                          </a:solidFill>
                          <a:latin typeface="Calibri (MS) Bold"/>
                        </a:rPr>
                        <a:t>NTL</a:t>
                      </a:r>
                    </a:p>
                  </a:txBody>
                  <a:tcPr marL="73152" marR="73152" marT="36576" marB="36576" anchor="ctr">
                    <a:solidFill>
                      <a:srgbClr val="0B5E6E"/>
                    </a:solidFill>
                  </a:tcPr>
                </a:tc>
                <a:tc>
                  <a:txBody>
                    <a:bodyPr wrap="square"/>
                    <a:lstStyle/>
                    <a:p>
                      <a:r>
                        <a:rPr sz="1610" b="1" i="0">
                          <a:solidFill>
                            <a:srgbClr val="FFFFFF"/>
                          </a:solidFill>
                          <a:latin typeface="Calibri (MS) Bold"/>
                        </a:rPr>
                        <a:t>Estimasi</a:t>
                      </a:r>
                    </a:p>
                  </a:txBody>
                  <a:tcPr marL="73152" marR="73152" marT="36576" marB="36576" anchor="ctr">
                    <a:solidFill>
                      <a:srgbClr val="0B5E6E"/>
                    </a:solidFill>
                  </a:tcPr>
                </a:tc>
                <a:tc>
                  <a:txBody>
                    <a:bodyPr wrap="square"/>
                    <a:lstStyle/>
                    <a:p>
                      <a:r>
                        <a:rPr sz="1610" b="1" i="0">
                          <a:solidFill>
                            <a:srgbClr val="FFFFFF"/>
                          </a:solidFill>
                          <a:latin typeface="Calibri (MS) Bold"/>
                        </a:rPr>
                        <a:t>Selang prediksi 95%</a:t>
                      </a:r>
                    </a:p>
                  </a:txBody>
                  <a:tcPr marL="73152" marR="73152" marT="36576" marB="36576" anchor="ctr">
                    <a:solidFill>
                      <a:srgbClr val="0B5E6E"/>
                    </a:solidFill>
                  </a:tcPr>
                </a:tc>
              </a:tr>
              <a:tr h="457200">
                <a:tc>
                  <a:txBody>
                    <a:bodyPr wrap="square"/>
                    <a:lstStyle/>
                    <a:p>
                      <a:r>
                        <a:rPr sz="1610" b="0" i="0">
                          <a:solidFill>
                            <a:srgbClr val="14313B"/>
                          </a:solidFill>
                          <a:latin typeface="Calibri (MS)"/>
                        </a:rPr>
                        <a:t>2015</a:t>
                      </a:r>
                    </a:p>
                  </a:txBody>
                  <a:tcPr marL="73152" marR="73152" marT="36576" marB="36576" anchor="ctr">
                    <a:solidFill>
                      <a:srgbClr val="FFFFFF"/>
                    </a:solidFill>
                  </a:tcPr>
                </a:tc>
                <a:tc>
                  <a:txBody>
                    <a:bodyPr wrap="square"/>
                    <a:lstStyle/>
                    <a:p>
                      <a:r>
                        <a:rPr sz="1610" b="0" i="0">
                          <a:solidFill>
                            <a:srgbClr val="14313B"/>
                          </a:solidFill>
                          <a:latin typeface="Calibri (MS)"/>
                        </a:rPr>
                        <a:t>1,262</a:t>
                      </a:r>
                    </a:p>
                  </a:txBody>
                  <a:tcPr marL="73152" marR="73152" marT="36576" marB="36576" anchor="ctr">
                    <a:solidFill>
                      <a:srgbClr val="FFFFFF"/>
                    </a:solidFill>
                  </a:tcPr>
                </a:tc>
                <a:tc>
                  <a:txBody>
                    <a:bodyPr wrap="square"/>
                    <a:lstStyle/>
                    <a:p>
                      <a:r>
                        <a:rPr sz="1610" b="0" i="0">
                          <a:solidFill>
                            <a:srgbClr val="14313B"/>
                          </a:solidFill>
                          <a:latin typeface="Calibri (MS)"/>
                        </a:rPr>
                        <a:t>165,2</a:t>
                      </a:r>
                    </a:p>
                  </a:txBody>
                  <a:tcPr marL="73152" marR="73152" marT="36576" marB="36576" anchor="ctr">
                    <a:solidFill>
                      <a:srgbClr val="FFFFFF"/>
                    </a:solidFill>
                  </a:tcPr>
                </a:tc>
                <a:tc>
                  <a:txBody>
                    <a:bodyPr wrap="square"/>
                    <a:lstStyle/>
                    <a:p>
                      <a:r>
                        <a:rPr sz="1610" b="0" i="0">
                          <a:solidFill>
                            <a:srgbClr val="14313B"/>
                          </a:solidFill>
                          <a:latin typeface="Calibri (MS)"/>
                        </a:rPr>
                        <a:t>138,5 – 191,9</a:t>
                      </a:r>
                    </a:p>
                  </a:txBody>
                  <a:tcPr marL="73152" marR="73152" marT="36576" marB="36576" anchor="ctr">
                    <a:solidFill>
                      <a:srgbClr val="FFFFFF"/>
                    </a:solidFill>
                  </a:tcPr>
                </a:tc>
              </a:tr>
              <a:tr h="457200">
                <a:tc>
                  <a:txBody>
                    <a:bodyPr wrap="square"/>
                    <a:lstStyle/>
                    <a:p>
                      <a:r>
                        <a:rPr sz="1610" b="0" i="0">
                          <a:solidFill>
                            <a:srgbClr val="14313B"/>
                          </a:solidFill>
                          <a:latin typeface="Calibri (MS)"/>
                        </a:rPr>
                        <a:t>2016</a:t>
                      </a:r>
                    </a:p>
                  </a:txBody>
                  <a:tcPr marL="73152" marR="73152" marT="36576" marB="36576" anchor="ctr">
                    <a:solidFill>
                      <a:srgbClr val="EAF8FA"/>
                    </a:solidFill>
                  </a:tcPr>
                </a:tc>
                <a:tc>
                  <a:txBody>
                    <a:bodyPr wrap="square"/>
                    <a:lstStyle/>
                    <a:p>
                      <a:r>
                        <a:rPr sz="1610" b="0" i="0">
                          <a:solidFill>
                            <a:srgbClr val="14313B"/>
                          </a:solidFill>
                          <a:latin typeface="Calibri (MS)"/>
                        </a:rPr>
                        <a:t>1,054</a:t>
                      </a:r>
                    </a:p>
                  </a:txBody>
                  <a:tcPr marL="73152" marR="73152" marT="36576" marB="36576" anchor="ctr">
                    <a:solidFill>
                      <a:srgbClr val="EAF8FA"/>
                    </a:solidFill>
                  </a:tcPr>
                </a:tc>
                <a:tc>
                  <a:txBody>
                    <a:bodyPr wrap="square"/>
                    <a:lstStyle/>
                    <a:p>
                      <a:r>
                        <a:rPr sz="1610" b="0" i="0">
                          <a:solidFill>
                            <a:srgbClr val="14313B"/>
                          </a:solidFill>
                          <a:latin typeface="Calibri (MS)"/>
                        </a:rPr>
                        <a:t>158,1</a:t>
                      </a:r>
                    </a:p>
                  </a:txBody>
                  <a:tcPr marL="73152" marR="73152" marT="36576" marB="36576" anchor="ctr">
                    <a:solidFill>
                      <a:srgbClr val="EAF8FA"/>
                    </a:solidFill>
                  </a:tcPr>
                </a:tc>
                <a:tc>
                  <a:txBody>
                    <a:bodyPr wrap="square"/>
                    <a:lstStyle/>
                    <a:p>
                      <a:r>
                        <a:rPr sz="1610" b="0" i="0">
                          <a:solidFill>
                            <a:srgbClr val="14313B"/>
                          </a:solidFill>
                          <a:latin typeface="Calibri (MS)"/>
                        </a:rPr>
                        <a:t>128,9 – 187,3</a:t>
                      </a:r>
                    </a:p>
                  </a:txBody>
                  <a:tcPr marL="73152" marR="73152" marT="36576" marB="36576" anchor="ctr">
                    <a:solidFill>
                      <a:srgbClr val="EAF8FA"/>
                    </a:solidFill>
                  </a:tcPr>
                </a:tc>
              </a:tr>
              <a:tr h="457200">
                <a:tc>
                  <a:txBody>
                    <a:bodyPr wrap="square"/>
                    <a:lstStyle/>
                    <a:p>
                      <a:r>
                        <a:rPr sz="1610" b="0" i="0">
                          <a:solidFill>
                            <a:srgbClr val="14313B"/>
                          </a:solidFill>
                          <a:latin typeface="Calibri (MS)"/>
                        </a:rPr>
                        <a:t>2017</a:t>
                      </a:r>
                    </a:p>
                  </a:txBody>
                  <a:tcPr marL="73152" marR="73152" marT="36576" marB="36576" anchor="ctr">
                    <a:solidFill>
                      <a:srgbClr val="FFFFFF"/>
                    </a:solidFill>
                  </a:tcPr>
                </a:tc>
                <a:tc>
                  <a:txBody>
                    <a:bodyPr wrap="square"/>
                    <a:lstStyle/>
                    <a:p>
                      <a:r>
                        <a:rPr sz="1610" b="0" i="0">
                          <a:solidFill>
                            <a:srgbClr val="14313B"/>
                          </a:solidFill>
                          <a:latin typeface="Calibri (MS)"/>
                        </a:rPr>
                        <a:t>1,438</a:t>
                      </a:r>
                    </a:p>
                  </a:txBody>
                  <a:tcPr marL="73152" marR="73152" marT="36576" marB="36576" anchor="ctr">
                    <a:solidFill>
                      <a:srgbClr val="FFFFFF"/>
                    </a:solidFill>
                  </a:tcPr>
                </a:tc>
                <a:tc>
                  <a:txBody>
                    <a:bodyPr wrap="square"/>
                    <a:lstStyle/>
                    <a:p>
                      <a:r>
                        <a:rPr sz="1610" b="0" i="0">
                          <a:solidFill>
                            <a:srgbClr val="14313B"/>
                          </a:solidFill>
                          <a:latin typeface="Calibri (MS)"/>
                        </a:rPr>
                        <a:t>171,4</a:t>
                      </a:r>
                    </a:p>
                  </a:txBody>
                  <a:tcPr marL="73152" marR="73152" marT="36576" marB="36576" anchor="ctr">
                    <a:solidFill>
                      <a:srgbClr val="FFFFFF"/>
                    </a:solidFill>
                  </a:tcPr>
                </a:tc>
                <a:tc>
                  <a:txBody>
                    <a:bodyPr wrap="square"/>
                    <a:lstStyle/>
                    <a:p>
                      <a:r>
                        <a:rPr sz="1610" b="0" i="0">
                          <a:solidFill>
                            <a:srgbClr val="14313B"/>
                          </a:solidFill>
                          <a:latin typeface="Calibri (MS)"/>
                        </a:rPr>
                        <a:t>146,4 – 196,3</a:t>
                      </a:r>
                    </a:p>
                  </a:txBody>
                  <a:tcPr marL="73152" marR="73152" marT="36576" marB="36576" anchor="ctr">
                    <a:solidFill>
                      <a:srgbClr val="FFFFFF"/>
                    </a:solidFill>
                  </a:tcPr>
                </a:tc>
              </a:tr>
              <a:tr h="457200">
                <a:tc>
                  <a:txBody>
                    <a:bodyPr wrap="square"/>
                    <a:lstStyle/>
                    <a:p>
                      <a:r>
                        <a:rPr sz="1610" b="0" i="0">
                          <a:solidFill>
                            <a:srgbClr val="14313B"/>
                          </a:solidFill>
                          <a:latin typeface="Calibri (MS)"/>
                        </a:rPr>
                        <a:t>2025</a:t>
                      </a:r>
                    </a:p>
                  </a:txBody>
                  <a:tcPr marL="73152" marR="73152" marT="36576" marB="36576" anchor="ctr">
                    <a:solidFill>
                      <a:srgbClr val="EAF8FA"/>
                    </a:solidFill>
                  </a:tcPr>
                </a:tc>
                <a:tc>
                  <a:txBody>
                    <a:bodyPr wrap="square"/>
                    <a:lstStyle/>
                    <a:p>
                      <a:r>
                        <a:rPr sz="1610" b="0" i="0">
                          <a:solidFill>
                            <a:srgbClr val="14313B"/>
                          </a:solidFill>
                          <a:latin typeface="Calibri (MS)"/>
                        </a:rPr>
                        <a:t>2,288</a:t>
                      </a:r>
                    </a:p>
                  </a:txBody>
                  <a:tcPr marL="73152" marR="73152" marT="36576" marB="36576" anchor="ctr">
                    <a:solidFill>
                      <a:srgbClr val="EAF8FA"/>
                    </a:solidFill>
                  </a:tcPr>
                </a:tc>
                <a:tc>
                  <a:txBody>
                    <a:bodyPr wrap="square"/>
                    <a:lstStyle/>
                    <a:p>
                      <a:r>
                        <a:rPr sz="1610" b="0" i="0">
                          <a:solidFill>
                            <a:srgbClr val="14313B"/>
                          </a:solidFill>
                          <a:latin typeface="Calibri (MS)"/>
                        </a:rPr>
                        <a:t>200,7</a:t>
                      </a:r>
                    </a:p>
                  </a:txBody>
                  <a:tcPr marL="73152" marR="73152" marT="36576" marB="36576" anchor="ctr">
                    <a:solidFill>
                      <a:srgbClr val="FFF1BF"/>
                    </a:solidFill>
                  </a:tcPr>
                </a:tc>
                <a:tc>
                  <a:txBody>
                    <a:bodyPr wrap="square"/>
                    <a:lstStyle/>
                    <a:p>
                      <a:r>
                        <a:rPr sz="1610" b="0" i="0">
                          <a:solidFill>
                            <a:srgbClr val="14313B"/>
                          </a:solidFill>
                          <a:latin typeface="Calibri (MS)"/>
                        </a:rPr>
                        <a:t>176,7 – 224,8</a:t>
                      </a:r>
                    </a:p>
                  </a:txBody>
                  <a:tcPr marL="73152" marR="73152" marT="36576" marB="36576" anchor="ctr">
                    <a:solidFill>
                      <a:srgbClr val="EAF8FA"/>
                    </a:solidFill>
                  </a:tcPr>
                </a:tc>
              </a:tr>
            </a:tbl>
          </a:graphicData>
        </a:graphic>
      </p:graphicFrame>
      <p:sp>
        <p:nvSpPr>
          <p:cNvPr id="151" name="Rounded Rectangle 150"/>
          <p:cNvSpPr/>
          <p:nvPr/>
        </p:nvSpPr>
        <p:spPr>
          <a:xfrm>
            <a:off x="822960" y="5212080"/>
            <a:ext cx="7315200" cy="30632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670" b="1" i="0">
                <a:solidFill>
                  <a:srgbClr val="0B5E6E"/>
                </a:solidFill>
                <a:latin typeface="Calibri (MS) Bold"/>
              </a:rPr>
              <a:t>• 2025 = 201 unit </a:t>
            </a:r>
            <a:r>
              <a:rPr sz="1670" b="0" i="0">
                <a:solidFill>
                  <a:srgbClr val="14313B"/>
                </a:solidFill>
                <a:latin typeface="Calibri (MS)"/>
              </a:rPr>
              <a:t>→ stok awal &amp; ODTW Referensi; turun dari 218 (2024) sehingga diuji sensitivitas 189–218.</a:t>
            </a:r>
          </a:p>
          <a:p>
            <a:pPr algn="l">
              <a:spcAft>
                <a:spcPts val="300"/>
              </a:spcAft>
            </a:pPr>
            <a:r>
              <a:rPr sz="1670" b="1" i="0">
                <a:solidFill>
                  <a:srgbClr val="0B5E6E"/>
                </a:solidFill>
                <a:latin typeface="Calibri (MS) Bold"/>
              </a:rPr>
              <a:t>• 2016 selang terlebar (≈58 unit) </a:t>
            </a:r>
            <a:r>
              <a:rPr sz="1670" b="0" i="0">
                <a:solidFill>
                  <a:srgbClr val="14313B"/>
                </a:solidFill>
                <a:latin typeface="Calibri (MS)"/>
              </a:rPr>
              <a:t>karena NTL 1,054 di luar rentang data latih 1,483–2,512.</a:t>
            </a:r>
          </a:p>
          <a:p>
            <a:pPr algn="l">
              <a:spcAft>
                <a:spcPts val="300"/>
              </a:spcAft>
            </a:pPr>
            <a:r>
              <a:rPr sz="1670" b="1" i="0">
                <a:solidFill>
                  <a:srgbClr val="0B5E6E"/>
                </a:solidFill>
                <a:latin typeface="Calibri (MS) Bold"/>
              </a:rPr>
              <a:t>• Validasi spasial (NTL 2025, buffer 300 m): </a:t>
            </a:r>
            <a:r>
              <a:rPr sz="1670" b="0" i="0">
                <a:solidFill>
                  <a:srgbClr val="14313B"/>
                </a:solidFill>
                <a:latin typeface="Calibri (MS)"/>
              </a:rPr>
              <a:t>Malioboro–Keraton 37,376 · Kotagede 12,631 · Pantai Baron 1,692 · Sentolo 1,161 · TN Merapi 0,959.</a:t>
            </a:r>
          </a:p>
        </p:txBody>
      </p:sp>
      <p:pic>
        <p:nvPicPr>
          <p:cNvPr id="152" name="Picture 151" descr="image14.png"/>
          <p:cNvPicPr>
            <a:picLocks noChangeAspect="1"/>
          </p:cNvPicPr>
          <p:nvPr/>
        </p:nvPicPr>
        <p:blipFill>
          <a:blip r:embed="rId2"/>
          <a:stretch>
            <a:fillRect/>
          </a:stretch>
        </p:blipFill>
        <p:spPr>
          <a:xfrm>
            <a:off x="9029700" y="2240280"/>
            <a:ext cx="7909560" cy="6035040"/>
          </a:xfrm>
          <a:prstGeom prst="rect">
            <a:avLst/>
          </a:prstGeom>
        </p:spPr>
      </p:pic>
      <p:sp>
        <p:nvSpPr>
          <p:cNvPr id="153" name="Rounded Rectangle 152"/>
          <p:cNvSpPr/>
          <p:nvPr/>
        </p:nvSpPr>
        <p:spPr>
          <a:xfrm>
            <a:off x="822960" y="841248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NTL peka membedakan kawasan padat/aktif dari kawasan minim aktivitas, tetapi kurang tajam untuk aktivitas skala kecil (Sentolo vs Pantai Baron).</a:t>
            </a:r>
          </a:p>
        </p:txBody>
      </p:sp>
      <p:sp>
        <p:nvSpPr>
          <p:cNvPr id="154" name="TextBox 153"/>
          <p:cNvSpPr txBox="1"/>
          <p:nvPr/>
        </p:nvSpPr>
        <p:spPr>
          <a:xfrm>
            <a:off x="822960" y="923544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4.2.1, Tabel 30, Gambar 12; repository GEE.rtf (buffer 300 m, skala 500 m).</a:t>
            </a:r>
          </a:p>
        </p:txBody>
      </p:sp>
      <p:sp>
        <p:nvSpPr>
          <p:cNvPr id="155"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4.2.2 · Estimasi Lahan Terbangun — Uji Akurasi</a:t>
            </a:r>
          </a:p>
          <a:p>
            <a:pPr algn="l">
              <a:lnSpc>
                <a:spcPct val="100000"/>
              </a:lnSpc>
            </a:pPr>
            <a:r>
              <a:rPr lang="en-US" sz="3500" b="true">
                <a:solidFill>
                  <a:srgbClr val="0B5E6E"/>
                </a:solidFill>
                <a:latin typeface="Calibri (MS) Bold"/>
                <a:ea typeface="Calibri (MS) Bold"/>
                <a:cs typeface="Calibri (MS) Bold"/>
                <a:sym typeface="Calibri (MS) Bold"/>
              </a:rPr>
              <a:t>Dynamic World akurat, tetapi deret waktu lahan terbangun berderau</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39353" y="2331720"/>
            <a:ext cx="9431274" cy="5897880"/>
            <a:chOff x="0" y="0"/>
            <a:chExt cx="12575032" cy="7863840"/>
          </a:xfrm>
        </p:grpSpPr>
        <p:sp>
          <p:nvSpPr>
            <p:cNvPr name="Freeform 53" id="53" descr="Perbandingan lahan terbangun Dynamic World dengan data BPS dan DLHK"/>
            <p:cNvSpPr/>
            <p:nvPr/>
          </p:nvSpPr>
          <p:spPr>
            <a:xfrm flipH="false" flipV="false" rot="0">
              <a:off x="0" y="0"/>
              <a:ext cx="12575032" cy="7863840"/>
            </a:xfrm>
            <a:custGeom>
              <a:avLst/>
              <a:gdLst/>
              <a:ahLst/>
              <a:cxnLst/>
              <a:rect r="r" b="b" t="t" l="l"/>
              <a:pathLst>
                <a:path h="7863840" w="12575032">
                  <a:moveTo>
                    <a:pt x="0" y="0"/>
                  </a:moveTo>
                  <a:lnTo>
                    <a:pt x="12575032" y="0"/>
                  </a:lnTo>
                  <a:lnTo>
                    <a:pt x="12575032" y="7863840"/>
                  </a:lnTo>
                  <a:lnTo>
                    <a:pt x="0" y="7863840"/>
                  </a:lnTo>
                  <a:lnTo>
                    <a:pt x="0" y="0"/>
                  </a:lnTo>
                  <a:close/>
                </a:path>
              </a:pathLst>
            </a:custGeom>
            <a:blipFill>
              <a:blip r:embed="rId6"/>
              <a:stretch>
                <a:fillRect l="0" t="0" r="0" b="0"/>
              </a:stretch>
            </a:blipFill>
          </p:spPr>
        </p:sp>
      </p:grpSp>
      <p:sp>
        <p:nvSpPr>
          <p:cNvPr name="TextBox 54" id="54"/>
          <p:cNvSpPr txBox="true"/>
          <p:nvPr/>
        </p:nvSpPr>
        <p:spPr>
          <a:xfrm rot="0">
            <a:off x="822960" y="8221980"/>
            <a:ext cx="9464040" cy="4876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Lahan terbangun: Dynamic World vs data resmi BPS dan DLHK DIY, 2015–2019</a:t>
            </a:r>
          </a:p>
        </p:txBody>
      </p:sp>
      <p:grpSp>
        <p:nvGrpSpPr>
          <p:cNvPr name="Group 55" id="55"/>
          <p:cNvGrpSpPr/>
          <p:nvPr/>
        </p:nvGrpSpPr>
        <p:grpSpPr>
          <a:xfrm rot="0">
            <a:off x="10698480" y="2331720"/>
            <a:ext cx="3291840" cy="2057400"/>
            <a:chOff x="0" y="0"/>
            <a:chExt cx="4389120" cy="2743200"/>
          </a:xfrm>
        </p:grpSpPr>
        <p:sp>
          <p:nvSpPr>
            <p:cNvPr name="Freeform 56" id="56"/>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57" id="57"/>
          <p:cNvGrpSpPr/>
          <p:nvPr/>
        </p:nvGrpSpPr>
        <p:grpSpPr>
          <a:xfrm rot="0">
            <a:off x="10904220" y="2468880"/>
            <a:ext cx="2880360" cy="685800"/>
            <a:chOff x="0" y="0"/>
            <a:chExt cx="3840480" cy="914400"/>
          </a:xfrm>
        </p:grpSpPr>
        <p:sp>
          <p:nvSpPr>
            <p:cNvPr name="Freeform 58" id="58"/>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59" id="59"/>
          <p:cNvGrpSpPr/>
          <p:nvPr/>
        </p:nvGrpSpPr>
        <p:grpSpPr>
          <a:xfrm rot="0">
            <a:off x="10904220" y="2418874"/>
            <a:ext cx="2880360" cy="735806"/>
            <a:chOff x="0" y="0"/>
            <a:chExt cx="3840480" cy="981075"/>
          </a:xfrm>
        </p:grpSpPr>
        <p:sp>
          <p:nvSpPr>
            <p:cNvPr name="Freeform 60" id="60"/>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61" id="61"/>
            <p:cNvSpPr txBox="true"/>
            <p:nvPr/>
          </p:nvSpPr>
          <p:spPr>
            <a:xfrm>
              <a:off x="0" y="-66675"/>
              <a:ext cx="3840480" cy="1047750"/>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89,95%</a:t>
              </a:r>
            </a:p>
          </p:txBody>
        </p:sp>
      </p:grpSp>
      <p:sp>
        <p:nvSpPr>
          <p:cNvPr name="TextBox 62" id="62"/>
          <p:cNvSpPr txBox="true"/>
          <p:nvPr/>
        </p:nvSpPr>
        <p:spPr>
          <a:xfrm rot="0">
            <a:off x="10904220" y="3124962"/>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akurasi keseluruhan terbobot luas (tak terbobot 80,50%)</a:t>
            </a:r>
          </a:p>
        </p:txBody>
      </p:sp>
      <p:grpSp>
        <p:nvGrpSpPr>
          <p:cNvPr name="Group 63" id="63"/>
          <p:cNvGrpSpPr/>
          <p:nvPr/>
        </p:nvGrpSpPr>
        <p:grpSpPr>
          <a:xfrm rot="0">
            <a:off x="14127480" y="2331720"/>
            <a:ext cx="3291840" cy="2057400"/>
            <a:chOff x="0" y="0"/>
            <a:chExt cx="4389120" cy="2743200"/>
          </a:xfrm>
        </p:grpSpPr>
        <p:sp>
          <p:nvSpPr>
            <p:cNvPr name="Freeform 64" id="64"/>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65" id="65"/>
          <p:cNvGrpSpPr/>
          <p:nvPr/>
        </p:nvGrpSpPr>
        <p:grpSpPr>
          <a:xfrm rot="0">
            <a:off x="14333220" y="2468880"/>
            <a:ext cx="2880360" cy="685800"/>
            <a:chOff x="0" y="0"/>
            <a:chExt cx="3840480" cy="914400"/>
          </a:xfrm>
        </p:grpSpPr>
        <p:sp>
          <p:nvSpPr>
            <p:cNvPr name="Freeform 66" id="66"/>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67" id="67"/>
          <p:cNvGrpSpPr/>
          <p:nvPr/>
        </p:nvGrpSpPr>
        <p:grpSpPr>
          <a:xfrm rot="0">
            <a:off x="14333220" y="2418874"/>
            <a:ext cx="2880360" cy="735806"/>
            <a:chOff x="0" y="0"/>
            <a:chExt cx="3840480" cy="981075"/>
          </a:xfrm>
        </p:grpSpPr>
        <p:sp>
          <p:nvSpPr>
            <p:cNvPr name="Freeform 68" id="68"/>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69" id="69"/>
            <p:cNvSpPr txBox="true"/>
            <p:nvPr/>
          </p:nvSpPr>
          <p:spPr>
            <a:xfrm>
              <a:off x="0" y="-66675"/>
              <a:ext cx="3840480" cy="1047750"/>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0,61</a:t>
              </a:r>
            </a:p>
          </p:txBody>
        </p:sp>
      </p:grpSp>
      <p:sp>
        <p:nvSpPr>
          <p:cNvPr name="TextBox 70" id="70"/>
          <p:cNvSpPr txBox="true"/>
          <p:nvPr/>
        </p:nvSpPr>
        <p:spPr>
          <a:xfrm rot="0">
            <a:off x="14333220" y="3124962"/>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koefisien Kappa — kesepakatan kuat (Landis &amp; Koch)</a:t>
            </a:r>
          </a:p>
        </p:txBody>
      </p:sp>
      <p:grpSp>
        <p:nvGrpSpPr>
          <p:cNvPr name="Group 71" id="71"/>
          <p:cNvGrpSpPr/>
          <p:nvPr/>
        </p:nvGrpSpPr>
        <p:grpSpPr>
          <a:xfrm rot="0">
            <a:off x="10698480" y="4553712"/>
            <a:ext cx="3291840" cy="2057400"/>
            <a:chOff x="0" y="0"/>
            <a:chExt cx="4389120" cy="2743200"/>
          </a:xfrm>
        </p:grpSpPr>
        <p:sp>
          <p:nvSpPr>
            <p:cNvPr name="Freeform 72" id="72"/>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73" id="73"/>
          <p:cNvGrpSpPr/>
          <p:nvPr/>
        </p:nvGrpSpPr>
        <p:grpSpPr>
          <a:xfrm rot="0">
            <a:off x="10904220" y="4690872"/>
            <a:ext cx="2880360" cy="685800"/>
            <a:chOff x="0" y="0"/>
            <a:chExt cx="3840480" cy="914400"/>
          </a:xfrm>
        </p:grpSpPr>
        <p:sp>
          <p:nvSpPr>
            <p:cNvPr name="Freeform 74" id="74"/>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75" id="75"/>
          <p:cNvGrpSpPr/>
          <p:nvPr/>
        </p:nvGrpSpPr>
        <p:grpSpPr>
          <a:xfrm rot="0">
            <a:off x="10904220" y="4640866"/>
            <a:ext cx="2880360" cy="735806"/>
            <a:chOff x="0" y="0"/>
            <a:chExt cx="3840480" cy="981075"/>
          </a:xfrm>
        </p:grpSpPr>
        <p:sp>
          <p:nvSpPr>
            <p:cNvPr name="Freeform 76" id="76"/>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77" id="77"/>
            <p:cNvSpPr txBox="true"/>
            <p:nvPr/>
          </p:nvSpPr>
          <p:spPr>
            <a:xfrm>
              <a:off x="0" y="-66675"/>
              <a:ext cx="3840480" cy="1047750"/>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66,00%</a:t>
              </a:r>
            </a:p>
          </p:txBody>
        </p:sp>
      </p:grpSp>
      <p:sp>
        <p:nvSpPr>
          <p:cNvPr name="TextBox 78" id="78"/>
          <p:cNvSpPr txBox="true"/>
          <p:nvPr/>
        </p:nvSpPr>
        <p:spPr>
          <a:xfrm rot="0">
            <a:off x="10904220" y="5346954"/>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user's accuracy kelas terbangun: komisi dominan (34 dari 100 titik)</a:t>
            </a:r>
          </a:p>
        </p:txBody>
      </p:sp>
      <p:grpSp>
        <p:nvGrpSpPr>
          <p:cNvPr name="Group 79" id="79"/>
          <p:cNvGrpSpPr/>
          <p:nvPr/>
        </p:nvGrpSpPr>
        <p:grpSpPr>
          <a:xfrm rot="0">
            <a:off x="14127480" y="4553712"/>
            <a:ext cx="3291840" cy="2057400"/>
            <a:chOff x="0" y="0"/>
            <a:chExt cx="4389120" cy="2743200"/>
          </a:xfrm>
        </p:grpSpPr>
        <p:sp>
          <p:nvSpPr>
            <p:cNvPr name="Freeform 80" id="80"/>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FFF1BF"/>
            </a:solidFill>
          </p:spPr>
        </p:sp>
      </p:grpSp>
      <p:grpSp>
        <p:nvGrpSpPr>
          <p:cNvPr name="Group 81" id="81"/>
          <p:cNvGrpSpPr/>
          <p:nvPr/>
        </p:nvGrpSpPr>
        <p:grpSpPr>
          <a:xfrm rot="0">
            <a:off x="14333220" y="4690872"/>
            <a:ext cx="2880360" cy="685800"/>
            <a:chOff x="0" y="0"/>
            <a:chExt cx="3840480" cy="914400"/>
          </a:xfrm>
        </p:grpSpPr>
        <p:sp>
          <p:nvSpPr>
            <p:cNvPr name="Freeform 82" id="82"/>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83" id="83"/>
          <p:cNvGrpSpPr/>
          <p:nvPr/>
        </p:nvGrpSpPr>
        <p:grpSpPr>
          <a:xfrm rot="0">
            <a:off x="14333220" y="4640866"/>
            <a:ext cx="2880360" cy="735806"/>
            <a:chOff x="0" y="0"/>
            <a:chExt cx="3840480" cy="981075"/>
          </a:xfrm>
        </p:grpSpPr>
        <p:sp>
          <p:nvSpPr>
            <p:cNvPr name="Freeform 84" id="84"/>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85" id="85"/>
            <p:cNvSpPr txBox="true"/>
            <p:nvPr/>
          </p:nvSpPr>
          <p:spPr>
            <a:xfrm>
              <a:off x="0" y="-66675"/>
              <a:ext cx="3840480" cy="1047750"/>
            </a:xfrm>
            <a:prstGeom prst="rect">
              <a:avLst/>
            </a:prstGeom>
          </p:spPr>
          <p:txBody>
            <a:bodyPr anchor="ctr" rtlCol="false" tIns="0" lIns="0" bIns="0" rIns="0"/>
            <a:lstStyle/>
            <a:p>
              <a:pPr algn="l">
                <a:lnSpc>
                  <a:spcPts val="4320"/>
                </a:lnSpc>
              </a:pPr>
              <a:r>
                <a:rPr lang="en-US" sz="3600" b="true">
                  <a:solidFill>
                    <a:srgbClr val="E4604F"/>
                  </a:solidFill>
                  <a:latin typeface="Calibri (MS) Bold"/>
                  <a:ea typeface="Calibri (MS) Bold"/>
                  <a:cs typeface="Calibri (MS) Bold"/>
                  <a:sym typeface="Calibri (MS) Bold"/>
                </a:rPr>
                <a:t>−27%</a:t>
              </a:r>
            </a:p>
          </p:txBody>
        </p:sp>
      </p:grpSp>
      <p:sp>
        <p:nvSpPr>
          <p:cNvPr name="TextBox 86" id="86"/>
          <p:cNvSpPr txBox="true"/>
          <p:nvPr/>
        </p:nvSpPr>
        <p:spPr>
          <a:xfrm rot="0">
            <a:off x="14333220" y="5346954"/>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lahan terbangun 2023→2025 (75.624 → 55.030 ha): artefak, bukan perubahan fisik</a:t>
            </a:r>
          </a:p>
        </p:txBody>
      </p:sp>
      <p:sp>
        <p:nvSpPr>
          <p:cNvPr name="TextBox 87" id="87"/>
          <p:cNvSpPr txBox="true"/>
          <p:nvPr/>
        </p:nvSpPr>
        <p:spPr>
          <a:xfrm rot="0">
            <a:off x="10698480" y="6850380"/>
            <a:ext cx="6761988" cy="2407920"/>
          </a:xfrm>
          <a:prstGeom prst="rect">
            <a:avLst/>
          </a:prstGeom>
        </p:spPr>
        <p:txBody>
          <a:bodyPr anchor="t" rtlCol="false" tIns="0" lIns="0" bIns="0" rIns="0">
            <a:spAutoFit/>
          </a:bodyPr>
          <a:lstStyle/>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Kesalahan terkonsentrasi pada piksel campuran di tepi objek (probabilitas ≈ 0,5)</a:t>
            </a:r>
          </a:p>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BPS dan DLHK lebih inkonsisten dan tidak sejalan → Dynamic World tetap dipilih</a:t>
            </a:r>
          </a:p>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Nilai mentah tetap dipakai (tahun dasar 2025 jadi acuan seluruh parameter dan kalibrasi); koreksi hanya diagnostik</a:t>
            </a:r>
          </a:p>
        </p:txBody>
      </p:sp>
      <p:sp>
        <p:nvSpPr>
          <p:cNvPr name="TextBox 88" id="8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30</a:t>
            </a:r>
          </a:p>
        </p:txBody>
      </p:sp>
      <p:sp>
        <p:nvSpPr>
          <p:cNvPr id="89" name="TextBox 8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sp>
        <p:nvSpPr>
          <p:cNvPr id="90"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4.2.2 · Diagnosis Ketidakstabilan Temporal</a:t>
            </a:r>
          </a:p>
          <a:p>
            <a:pPr algn="l">
              <a:lnSpc>
                <a:spcPct val="100000"/>
              </a:lnSpc>
            </a:pPr>
            <a:r>
              <a:rPr lang="en-US" sz="3500" b="true">
                <a:solidFill>
                  <a:srgbClr val="0B5E6E"/>
                </a:solidFill>
                <a:latin typeface="Calibri (MS) Bold"/>
                <a:ea typeface="Calibri (MS) Bold"/>
                <a:cs typeface="Calibri (MS) Bold"/>
                <a:sym typeface="Calibri (MS) Bold"/>
              </a:rPr>
              <a:t>Deret Dynamic World berderau karena intensitas observasi, bukan perubahan lahan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31</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graphicFrame>
        <p:nvGraphicFramePr>
          <p:cNvPr id="149" name="Chart 148"/>
          <p:cNvGraphicFramePr>
            <a:graphicFrameLocks noGrp="1"/>
          </p:cNvGraphicFramePr>
          <p:nvPr/>
        </p:nvGraphicFramePr>
        <p:xfrm>
          <a:off x="822960" y="2697480"/>
          <a:ext cx="8778240" cy="5120640"/>
        </p:xfrm>
        <a:graphic>
          <a:graphicData uri="http://schemas.openxmlformats.org/drawingml/2006/chart">
            <c:chart xmlns:c="http://schemas.openxmlformats.org/drawingml/2006/chart" r:id="rId2"/>
          </a:graphicData>
        </a:graphic>
      </p:graphicFrame>
      <p:sp>
        <p:nvSpPr>
          <p:cNvPr id="150" name="TextBox 149"/>
          <p:cNvSpPr txBox="1"/>
          <p:nvPr/>
        </p:nvSpPr>
        <p:spPr>
          <a:xfrm>
            <a:off x="822960" y="2240280"/>
            <a:ext cx="8778240" cy="457200"/>
          </a:xfrm>
          <a:prstGeom prst="rect">
            <a:avLst/>
          </a:prstGeom>
          <a:noFill/>
        </p:spPr>
        <p:txBody>
          <a:bodyPr wrap="square" anchor="t" lIns="0" rIns="0" tIns="0" bIns="0">
            <a:spAutoFit/>
          </a:bodyPr>
          <a:lstStyle/>
          <a:p>
            <a:pPr algn="l">
              <a:spcAft>
                <a:spcPts val="400"/>
              </a:spcAft>
            </a:pPr>
            <a:r>
              <a:rPr sz="1720" b="1" i="0">
                <a:solidFill>
                  <a:srgbClr val="0B5E6E"/>
                </a:solidFill>
                <a:latin typeface="Calibri (MS) Bold"/>
              </a:rPr>
              <a:t>Luas lahan terbangun (ha) · label sumbu: tahun dan observasi per piksel</a:t>
            </a:r>
          </a:p>
        </p:txBody>
      </p:sp>
      <p:sp>
        <p:nvSpPr>
          <p:cNvPr id="151" name="Rounded Rectangle 150"/>
          <p:cNvSpPr/>
          <p:nvPr/>
        </p:nvSpPr>
        <p:spPr>
          <a:xfrm>
            <a:off x="9875520" y="2240280"/>
            <a:ext cx="7589520" cy="18288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300" b="1" i="0">
                <a:solidFill>
                  <a:srgbClr val="E4604F"/>
                </a:solidFill>
                <a:latin typeface="Calibri (MS) Bold"/>
              </a:rPr>
              <a:t>−27% dalam dua tahun</a:t>
            </a:r>
          </a:p>
          <a:p>
            <a:pPr algn="l">
              <a:spcAft>
                <a:spcPts val="300"/>
              </a:spcAft>
            </a:pPr>
            <a:r>
              <a:rPr sz="1610" b="0" i="0">
                <a:solidFill>
                  <a:srgbClr val="14313B"/>
                </a:solidFill>
                <a:latin typeface="Calibri (MS)"/>
              </a:rPr>
              <a:t>75.624 ha (2023) → 55.030 ha (2025): tidak mungkin secara fisik → artefak klasifikasi. Tahun dengan observasi tinggi (2019, 2023) juga tahun dengan luas tinggi.</a:t>
            </a:r>
          </a:p>
        </p:txBody>
      </p:sp>
      <p:sp>
        <p:nvSpPr>
          <p:cNvPr id="152" name="Rounded Rectangle 151"/>
          <p:cNvSpPr/>
          <p:nvPr/>
        </p:nvSpPr>
        <p:spPr>
          <a:xfrm>
            <a:off x="9875520" y="4206240"/>
            <a:ext cx="7589520" cy="20574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839" b="1" i="0">
                <a:solidFill>
                  <a:srgbClr val="0B5E6E"/>
                </a:solidFill>
                <a:latin typeface="Calibri (MS) Bold"/>
              </a:rPr>
              <a:t>Diagnosis gaya ANCOVA</a:t>
            </a:r>
          </a:p>
          <a:p>
            <a:pPr algn="l">
              <a:spcAft>
                <a:spcPts val="300"/>
              </a:spcAft>
            </a:pPr>
            <a:r>
              <a:rPr sz="1610" b="0" i="1">
                <a:solidFill>
                  <a:srgbClr val="14313B"/>
                </a:solidFill>
                <a:latin typeface="Calibri (MS)"/>
              </a:rPr>
              <a:t>Luasₜ = a + b·Obsₜ;  Luas_terkoreksi = Luasₜ − b(Obsₜ − Obs_acuan)</a:t>
            </a:r>
          </a:p>
          <a:p>
            <a:pPr algn="l">
              <a:spcAft>
                <a:spcPts val="300"/>
              </a:spcAft>
            </a:pPr>
            <a:r>
              <a:rPr sz="1550" b="0" i="0">
                <a:solidFill>
                  <a:srgbClr val="14313B"/>
                </a:solidFill>
                <a:latin typeface="Calibri (MS)"/>
              </a:rPr>
              <a:t>Syarat: Obs tidak berkorelasi dengan tahun (r = 0,174; p = 0,631) → terpenuhi. Luas vs Obs: r = 0,788 (p = 0,0067). Sesudah koreksi r ≈ 0; SD perubahan tahunan 12,3% → 6,6%.</a:t>
            </a:r>
          </a:p>
        </p:txBody>
      </p:sp>
      <p:sp>
        <p:nvSpPr>
          <p:cNvPr id="153" name="Rounded Rectangle 152"/>
          <p:cNvSpPr/>
          <p:nvPr/>
        </p:nvSpPr>
        <p:spPr>
          <a:xfrm>
            <a:off x="9875520" y="6400800"/>
            <a:ext cx="7589520" cy="14173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839" b="1" i="0">
                <a:solidFill>
                  <a:srgbClr val="0B5E6E"/>
                </a:solidFill>
                <a:latin typeface="Calibri (MS) Bold"/>
              </a:rPr>
              <a:t>Validasi temporal (2015–2019)</a:t>
            </a:r>
          </a:p>
          <a:p>
            <a:pPr algn="l">
              <a:spcAft>
                <a:spcPts val="300"/>
              </a:spcAft>
            </a:pPr>
            <a:r>
              <a:rPr sz="1550" b="0" i="0">
                <a:solidFill>
                  <a:srgbClr val="14313B"/>
                </a:solidFill>
                <a:latin typeface="Calibri (MS)"/>
              </a:rPr>
              <a:t>BPS naik 40,2% lalu turun 38,8%; DLHK turun 12,9%; DW naik konsisten ±12–13%/tahun → DW tetap dipilih.</a:t>
            </a:r>
          </a:p>
        </p:txBody>
      </p:sp>
      <p:sp>
        <p:nvSpPr>
          <p:cNvPr id="154" name="Rounded Rectangle 153"/>
          <p:cNvSpPr/>
          <p:nvPr/>
        </p:nvSpPr>
        <p:spPr>
          <a:xfrm>
            <a:off x="822960" y="8001000"/>
            <a:ext cx="1664208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Nilai mentah tetap dipakai (tahun dasar 2025 menjadi acuan seluruh parameter dan kalibrasi); koreksi hanya alat diagnostik. Derau ini dibawa sebagai keterbatasan ke kalibrasi lahan.</a:t>
            </a:r>
          </a:p>
        </p:txBody>
      </p:sp>
      <p:sp>
        <p:nvSpPr>
          <p:cNvPr id="155" name="TextBox 154"/>
          <p:cNvSpPr txBox="1"/>
          <p:nvPr/>
        </p:nvSpPr>
        <p:spPr>
          <a:xfrm>
            <a:off x="822960" y="918972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3.5.2, 4.2.2, Gambar 13. Statistik korelasi dari notebook repository "Data Citra untuk Lahan Terbangun" (dihitung pada luas probabilitas lunak).</a:t>
            </a:r>
          </a:p>
        </p:txBody>
      </p:sp>
      <p:sp>
        <p:nvSpPr>
          <p:cNvPr id="156"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4.2 · Simpulan Integrasi Data Citra Satelit</a:t>
            </a:r>
          </a:p>
          <a:p>
            <a:pPr algn="l">
              <a:lnSpc>
                <a:spcPct val="100000"/>
              </a:lnSpc>
            </a:pPr>
            <a:r>
              <a:rPr lang="en-US" sz="3500" b="true">
                <a:solidFill>
                  <a:srgbClr val="0B5E6E"/>
                </a:solidFill>
                <a:latin typeface="Calibri (MS) Bold"/>
                <a:ea typeface="Calibri (MS) Bold"/>
                <a:cs typeface="Calibri (MS) Bold"/>
                <a:sym typeface="Calibri (MS) Bold"/>
              </a:rPr>
              <a:t>Simpulan integrasi citra: dua variabel diperbarui, nilainya kondisional</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32</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graphicFrame>
        <p:nvGraphicFramePr>
          <p:cNvPr id="149" name="Table 148"/>
          <p:cNvGraphicFramePr>
            <a:graphicFrameLocks noGrp="1"/>
          </p:cNvGraphicFramePr>
          <p:nvPr/>
        </p:nvGraphicFramePr>
        <p:xfrm>
          <a:off x="822960" y="2331720"/>
          <a:ext cx="16642080" cy="3154680"/>
        </p:xfrm>
        <a:graphic>
          <a:graphicData uri="http://schemas.openxmlformats.org/drawingml/2006/table">
            <a:tbl>
              <a:tblPr firstRow="1" bandRow="1">
                <a:tableStyleId>{5C22544A-7EE6-4342-B048-85BDC9FD1C3A}</a:tableStyleId>
              </a:tblPr>
              <a:tblGrid>
                <a:gridCol w="1828800"/>
                <a:gridCol w="2560320"/>
                <a:gridCol w="2743200"/>
                <a:gridCol w="3108960"/>
                <a:gridCol w="3291840"/>
                <a:gridCol w="3108960"/>
              </a:tblGrid>
              <a:tr h="1051560">
                <a:tc>
                  <a:txBody>
                    <a:bodyPr wrap="square"/>
                    <a:lstStyle/>
                    <a:p>
                      <a:r>
                        <a:rPr sz="1550" b="1" i="0">
                          <a:solidFill>
                            <a:srgbClr val="FFFFFF"/>
                          </a:solidFill>
                          <a:latin typeface="Calibri (MS) Bold"/>
                        </a:rPr>
                        <a:t>Variabel</a:t>
                      </a:r>
                    </a:p>
                  </a:txBody>
                  <a:tcPr marL="73152" marR="73152" marT="36576" marB="36576" anchor="ctr">
                    <a:solidFill>
                      <a:srgbClr val="0B5E6E"/>
                    </a:solidFill>
                  </a:tcPr>
                </a:tc>
                <a:tc>
                  <a:txBody>
                    <a:bodyPr wrap="square"/>
                    <a:lstStyle/>
                    <a:p>
                      <a:r>
                        <a:rPr sz="1550" b="1" i="0">
                          <a:solidFill>
                            <a:srgbClr val="FFFFFF"/>
                          </a:solidFill>
                          <a:latin typeface="Calibri (MS) Bold"/>
                        </a:rPr>
                        <a:t>Citra &amp; platform</a:t>
                      </a:r>
                    </a:p>
                  </a:txBody>
                  <a:tcPr marL="73152" marR="73152" marT="36576" marB="36576" anchor="ctr">
                    <a:solidFill>
                      <a:srgbClr val="0B5E6E"/>
                    </a:solidFill>
                  </a:tcPr>
                </a:tc>
                <a:tc>
                  <a:txBody>
                    <a:bodyPr wrap="square"/>
                    <a:lstStyle/>
                    <a:p>
                      <a:r>
                        <a:rPr sz="1550" b="1" i="0">
                          <a:solidFill>
                            <a:srgbClr val="FFFFFF"/>
                          </a:solidFill>
                          <a:latin typeface="Calibri (MS) Bold"/>
                        </a:rPr>
                        <a:t>Metode</a:t>
                      </a:r>
                    </a:p>
                  </a:txBody>
                  <a:tcPr marL="73152" marR="73152" marT="36576" marB="36576" anchor="ctr">
                    <a:solidFill>
                      <a:srgbClr val="0B5E6E"/>
                    </a:solidFill>
                  </a:tcPr>
                </a:tc>
                <a:tc>
                  <a:txBody>
                    <a:bodyPr wrap="square"/>
                    <a:lstStyle/>
                    <a:p>
                      <a:r>
                        <a:rPr sz="1550" b="1" i="0">
                          <a:solidFill>
                            <a:srgbClr val="FFFFFF"/>
                          </a:solidFill>
                          <a:latin typeface="Calibri (MS) Bold"/>
                        </a:rPr>
                        <a:t>Bukti kelayakan</a:t>
                      </a:r>
                    </a:p>
                  </a:txBody>
                  <a:tcPr marL="73152" marR="73152" marT="36576" marB="36576" anchor="ctr">
                    <a:solidFill>
                      <a:srgbClr val="0B5E6E"/>
                    </a:solidFill>
                  </a:tcPr>
                </a:tc>
                <a:tc>
                  <a:txBody>
                    <a:bodyPr wrap="square"/>
                    <a:lstStyle/>
                    <a:p>
                      <a:r>
                        <a:rPr sz="1550" b="1" i="0">
                          <a:solidFill>
                            <a:srgbClr val="FFFFFF"/>
                          </a:solidFill>
                          <a:latin typeface="Calibri (MS) Bold"/>
                        </a:rPr>
                        <a:t>Masuk ke model</a:t>
                      </a:r>
                    </a:p>
                  </a:txBody>
                  <a:tcPr marL="73152" marR="73152" marT="36576" marB="36576" anchor="ctr">
                    <a:solidFill>
                      <a:srgbClr val="0B5E6E"/>
                    </a:solidFill>
                  </a:tcPr>
                </a:tc>
                <a:tc>
                  <a:txBody>
                    <a:bodyPr wrap="square"/>
                    <a:lstStyle/>
                    <a:p>
                      <a:r>
                        <a:rPr sz="1550" b="1" i="0">
                          <a:solidFill>
                            <a:srgbClr val="FFFFFF"/>
                          </a:solidFill>
                          <a:latin typeface="Calibri (MS) Bold"/>
                        </a:rPr>
                        <a:t>Keterbatasan</a:t>
                      </a:r>
                    </a:p>
                  </a:txBody>
                  <a:tcPr marL="73152" marR="73152" marT="36576" marB="36576" anchor="ctr">
                    <a:solidFill>
                      <a:srgbClr val="0B5E6E"/>
                    </a:solidFill>
                  </a:tcPr>
                </a:tc>
              </a:tr>
              <a:tr h="1051560">
                <a:tc>
                  <a:txBody>
                    <a:bodyPr wrap="square"/>
                    <a:lstStyle/>
                    <a:p>
                      <a:r>
                        <a:rPr sz="1550" b="0" i="0">
                          <a:solidFill>
                            <a:srgbClr val="14313B"/>
                          </a:solidFill>
                          <a:latin typeface="Calibri (MS)"/>
                        </a:rPr>
                        <a:t>Jumlah ODTW</a:t>
                      </a:r>
                    </a:p>
                  </a:txBody>
                  <a:tcPr marL="73152" marR="73152" marT="36576" marB="36576" anchor="ctr">
                    <a:solidFill>
                      <a:srgbClr val="FFFFFF"/>
                    </a:solidFill>
                  </a:tcPr>
                </a:tc>
                <a:tc>
                  <a:txBody>
                    <a:bodyPr wrap="square"/>
                    <a:lstStyle/>
                    <a:p>
                      <a:r>
                        <a:rPr sz="1550" b="0" i="0">
                          <a:solidFill>
                            <a:srgbClr val="14313B"/>
                          </a:solidFill>
                          <a:latin typeface="Calibri (MS)"/>
                        </a:rPr>
                        <a:t>VIIRS DNB (NOAA), GEE, 500 m</a:t>
                      </a:r>
                    </a:p>
                  </a:txBody>
                  <a:tcPr marL="73152" marR="73152" marT="36576" marB="36576" anchor="ctr">
                    <a:solidFill>
                      <a:srgbClr val="FFFFFF"/>
                    </a:solidFill>
                  </a:tcPr>
                </a:tc>
                <a:tc>
                  <a:txBody>
                    <a:bodyPr wrap="square"/>
                    <a:lstStyle/>
                    <a:p>
                      <a:r>
                        <a:rPr sz="1550" b="0" i="0">
                          <a:solidFill>
                            <a:srgbClr val="14313B"/>
                          </a:solidFill>
                          <a:latin typeface="Calibri (MS)"/>
                        </a:rPr>
                        <a:t>Regresi ODTW = 121,61 + 34,59·NTL</a:t>
                      </a:r>
                    </a:p>
                  </a:txBody>
                  <a:tcPr marL="73152" marR="73152" marT="36576" marB="36576" anchor="ctr">
                    <a:solidFill>
                      <a:srgbClr val="FFFFFF"/>
                    </a:solidFill>
                  </a:tcPr>
                </a:tc>
                <a:tc>
                  <a:txBody>
                    <a:bodyPr wrap="square"/>
                    <a:lstStyle/>
                    <a:p>
                      <a:r>
                        <a:rPr sz="1550" b="0" i="0">
                          <a:solidFill>
                            <a:srgbClr val="14313B"/>
                          </a:solidFill>
                          <a:latin typeface="Calibri (MS)"/>
                        </a:rPr>
                        <a:t>R² selisih 0,405 (≥ 0,30); RMSE LOOCV 5,99% (≤ 10%)</a:t>
                      </a:r>
                    </a:p>
                  </a:txBody>
                  <a:tcPr marL="73152" marR="73152" marT="36576" marB="36576" anchor="ctr">
                    <a:solidFill>
                      <a:srgbClr val="FFFFFF"/>
                    </a:solidFill>
                  </a:tcPr>
                </a:tc>
                <a:tc>
                  <a:txBody>
                    <a:bodyPr wrap="square"/>
                    <a:lstStyle/>
                    <a:p>
                      <a:r>
                        <a:rPr sz="1550" b="0" i="0">
                          <a:solidFill>
                            <a:srgbClr val="14313B"/>
                          </a:solidFill>
                          <a:latin typeface="Calibri (MS)"/>
                        </a:rPr>
                        <a:t>2015–2017: 165/158/171; 2025: 201 (stok awal &amp; referensi)</a:t>
                      </a:r>
                    </a:p>
                  </a:txBody>
                  <a:tcPr marL="73152" marR="73152" marT="36576" marB="36576" anchor="ctr">
                    <a:solidFill>
                      <a:srgbClr val="FFFFFF"/>
                    </a:solidFill>
                  </a:tcPr>
                </a:tc>
                <a:tc>
                  <a:txBody>
                    <a:bodyPr wrap="square"/>
                    <a:lstStyle/>
                    <a:p>
                      <a:r>
                        <a:rPr sz="1550" b="0" i="0">
                          <a:solidFill>
                            <a:srgbClr val="14313B"/>
                          </a:solidFill>
                          <a:latin typeface="Calibri (MS)"/>
                        </a:rPr>
                        <a:t>Proksi tidak langsung; n = 7; selang prediksi lebar</a:t>
                      </a:r>
                    </a:p>
                  </a:txBody>
                  <a:tcPr marL="73152" marR="73152" marT="36576" marB="36576" anchor="ctr">
                    <a:solidFill>
                      <a:srgbClr val="FFFFFF"/>
                    </a:solidFill>
                  </a:tcPr>
                </a:tc>
              </a:tr>
              <a:tr h="1051560">
                <a:tc>
                  <a:txBody>
                    <a:bodyPr wrap="square"/>
                    <a:lstStyle/>
                    <a:p>
                      <a:r>
                        <a:rPr sz="1550" b="0" i="0">
                          <a:solidFill>
                            <a:srgbClr val="14313B"/>
                          </a:solidFill>
                          <a:latin typeface="Calibri (MS)"/>
                        </a:rPr>
                        <a:t>Lahan terbangun</a:t>
                      </a:r>
                    </a:p>
                  </a:txBody>
                  <a:tcPr marL="73152" marR="73152" marT="36576" marB="36576" anchor="ctr">
                    <a:solidFill>
                      <a:srgbClr val="EAF8FA"/>
                    </a:solidFill>
                  </a:tcPr>
                </a:tc>
                <a:tc>
                  <a:txBody>
                    <a:bodyPr wrap="square"/>
                    <a:lstStyle/>
                    <a:p>
                      <a:r>
                        <a:rPr sz="1550" b="0" i="0">
                          <a:solidFill>
                            <a:srgbClr val="14313B"/>
                          </a:solidFill>
                          <a:latin typeface="Calibri (MS)"/>
                        </a:rPr>
                        <a:t>Dynamic World (Sentinel-2), GEE, 10 m</a:t>
                      </a:r>
                    </a:p>
                  </a:txBody>
                  <a:tcPr marL="73152" marR="73152" marT="36576" marB="36576" anchor="ctr">
                    <a:solidFill>
                      <a:srgbClr val="EAF8FA"/>
                    </a:solidFill>
                  </a:tcPr>
                </a:tc>
                <a:tc>
                  <a:txBody>
                    <a:bodyPr wrap="square"/>
                    <a:lstStyle/>
                    <a:p>
                      <a:r>
                        <a:rPr sz="1550" b="0" i="0">
                          <a:solidFill>
                            <a:srgbClr val="14313B"/>
                          </a:solidFill>
                          <a:latin typeface="Calibri (MS)"/>
                        </a:rPr>
                        <a:t>Klasifikasi langsung kelas built (prob ≥ 0,5)</a:t>
                      </a:r>
                    </a:p>
                  </a:txBody>
                  <a:tcPr marL="73152" marR="73152" marT="36576" marB="36576" anchor="ctr">
                    <a:solidFill>
                      <a:srgbClr val="EAF8FA"/>
                    </a:solidFill>
                  </a:tcPr>
                </a:tc>
                <a:tc>
                  <a:txBody>
                    <a:bodyPr wrap="square"/>
                    <a:lstStyle/>
                    <a:p>
                      <a:r>
                        <a:rPr sz="1550" b="0" i="0">
                          <a:solidFill>
                            <a:srgbClr val="14313B"/>
                          </a:solidFill>
                          <a:latin typeface="Calibri (MS)"/>
                        </a:rPr>
                        <a:t>OA terbobot 89,95%; Kappa 0,61; 200 titik</a:t>
                      </a:r>
                    </a:p>
                  </a:txBody>
                  <a:tcPr marL="73152" marR="73152" marT="36576" marB="36576" anchor="ctr">
                    <a:solidFill>
                      <a:srgbClr val="EAF8FA"/>
                    </a:solidFill>
                  </a:tcPr>
                </a:tc>
                <a:tc>
                  <a:txBody>
                    <a:bodyPr wrap="square"/>
                    <a:lstStyle/>
                    <a:p>
                      <a:r>
                        <a:rPr sz="1550" b="0" i="0">
                          <a:solidFill>
                            <a:srgbClr val="14313B"/>
                          </a:solidFill>
                          <a:latin typeface="Calibri (MS)"/>
                        </a:rPr>
                        <a:t>2016–2025; stok awal 55.029,54 ha; laju konversi dasar</a:t>
                      </a:r>
                    </a:p>
                  </a:txBody>
                  <a:tcPr marL="73152" marR="73152" marT="36576" marB="36576" anchor="ctr">
                    <a:solidFill>
                      <a:srgbClr val="EAF8FA"/>
                    </a:solidFill>
                  </a:tcPr>
                </a:tc>
                <a:tc>
                  <a:txBody>
                    <a:bodyPr wrap="square"/>
                    <a:lstStyle/>
                    <a:p>
                      <a:r>
                        <a:rPr sz="1550" b="0" i="0">
                          <a:solidFill>
                            <a:srgbClr val="14313B"/>
                          </a:solidFill>
                          <a:latin typeface="Calibri (MS)"/>
                        </a:rPr>
                        <a:t>Derau temporal (−27% 2023→2025); komisi dominan</a:t>
                      </a:r>
                    </a:p>
                  </a:txBody>
                  <a:tcPr marL="73152" marR="73152" marT="36576" marB="36576" anchor="ctr">
                    <a:solidFill>
                      <a:srgbClr val="EAF8FA"/>
                    </a:solidFill>
                  </a:tcPr>
                </a:tc>
              </a:tr>
            </a:tbl>
          </a:graphicData>
        </a:graphic>
      </p:graphicFrame>
      <p:sp>
        <p:nvSpPr>
          <p:cNvPr id="150" name="Rounded Rectangle 149"/>
          <p:cNvSpPr/>
          <p:nvPr/>
        </p:nvSpPr>
        <p:spPr>
          <a:xfrm>
            <a:off x="822960" y="5669280"/>
            <a:ext cx="8138160" cy="25603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950" b="1" i="0">
                <a:solidFill>
                  <a:srgbClr val="0B5E6E"/>
                </a:solidFill>
                <a:latin typeface="Calibri (MS) Bold"/>
              </a:rPr>
              <a:t>Prinsip yang dipegang</a:t>
            </a:r>
          </a:p>
          <a:p>
            <a:pPr algn="l">
              <a:spcAft>
                <a:spcPts val="300"/>
              </a:spcAft>
            </a:pPr>
            <a:r>
              <a:rPr sz="1950" b="0" i="0">
                <a:solidFill>
                  <a:srgbClr val="14313B"/>
                </a:solidFill>
                <a:latin typeface="Calibri (MS)"/>
              </a:rPr>
              <a:t>Citra memperbarui variabel yang sudah punya data resmi; tidak menjadi variabel endogen dan tidak menggantikan statistik resmi. Statistik resmi tetap acuan utama.</a:t>
            </a:r>
          </a:p>
        </p:txBody>
      </p:sp>
      <p:sp>
        <p:nvSpPr>
          <p:cNvPr id="151" name="Rounded Rectangle 150"/>
          <p:cNvSpPr/>
          <p:nvPr/>
        </p:nvSpPr>
        <p:spPr>
          <a:xfrm>
            <a:off x="9326880" y="5669280"/>
            <a:ext cx="8138160" cy="25603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950" b="1" i="0">
                <a:solidFill>
                  <a:srgbClr val="0B5E6E"/>
                </a:solidFill>
                <a:latin typeface="Calibri (MS) Bold"/>
              </a:rPr>
              <a:t>Pelajaran metodologis</a:t>
            </a:r>
          </a:p>
          <a:p>
            <a:pPr algn="l">
              <a:spcAft>
                <a:spcPts val="300"/>
              </a:spcAft>
            </a:pPr>
            <a:r>
              <a:rPr sz="1950" b="0" i="0">
                <a:solidFill>
                  <a:srgbClr val="14313B"/>
                </a:solidFill>
                <a:latin typeface="Calibri (MS)"/>
              </a:rPr>
              <a:t>Nilai citra kondisional: variabel yang dapat diklasifikasi langsung (lahan) lebih kuat daripada variabel yang memerlukan regresi proksi (ODTW).</a:t>
            </a:r>
          </a:p>
        </p:txBody>
      </p:sp>
      <p:sp>
        <p:nvSpPr>
          <p:cNvPr id="152" name="Rounded Rectangle 151"/>
          <p:cNvSpPr/>
          <p:nvPr/>
        </p:nvSpPr>
        <p:spPr>
          <a:xfrm>
            <a:off x="822960" y="841248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Unsur "memanfaatkan citra satelit untuk memutakhirkan variabel berjeda data" pada Tujuan 2 terpenuhi, dengan kelayakan yang terukur.</a:t>
            </a:r>
          </a:p>
        </p:txBody>
      </p:sp>
      <p:sp>
        <p:nvSpPr>
          <p:cNvPr id="153" name="TextBox 152"/>
          <p:cNvSpPr txBox="1"/>
          <p:nvPr/>
        </p:nvSpPr>
        <p:spPr>
          <a:xfrm>
            <a:off x="822960" y="923544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4.2, 4.10.2, Tabel 29–31.</a:t>
            </a:r>
          </a:p>
        </p:txBody>
      </p:sp>
      <p:sp>
        <p:nvSpPr>
          <p:cNvPr id="154"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4.1.4 · Konversi ke Stock-Flow Diagram</a:t>
            </a:r>
          </a:p>
          <a:p>
            <a:pPr algn="l">
              <a:lnSpc>
                <a:spcPct val="100000"/>
              </a:lnSpc>
            </a:pPr>
            <a:r>
              <a:rPr lang="en-US" sz="3500" b="true">
                <a:solidFill>
                  <a:srgbClr val="0B5E6E"/>
                </a:solidFill>
                <a:latin typeface="Calibri (MS) Bold"/>
                <a:ea typeface="Calibri (MS) Bold"/>
                <a:cs typeface="Calibri (MS) Bold"/>
                <a:sym typeface="Calibri (MS) Bold"/>
              </a:rPr>
              <a:t>Model akhir memuat 61 variabel dengan lima stok inti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633358"/>
            <a:ext cx="11109960" cy="5568886"/>
            <a:chOff x="0" y="0"/>
            <a:chExt cx="14813280" cy="7425182"/>
          </a:xfrm>
        </p:grpSpPr>
        <p:sp>
          <p:nvSpPr>
            <p:cNvPr name="Freeform 53" id="53" descr="Stock-flow diagram pariwisata DIY"/>
            <p:cNvSpPr/>
            <p:nvPr/>
          </p:nvSpPr>
          <p:spPr>
            <a:xfrm flipH="false" flipV="false" rot="0">
              <a:off x="0" y="0"/>
              <a:ext cx="14813280" cy="7425182"/>
            </a:xfrm>
            <a:custGeom>
              <a:avLst/>
              <a:gdLst/>
              <a:ahLst/>
              <a:cxnLst/>
              <a:rect r="r" b="b" t="t" l="l"/>
              <a:pathLst>
                <a:path h="7425182" w="14813280">
                  <a:moveTo>
                    <a:pt x="0" y="0"/>
                  </a:moveTo>
                  <a:lnTo>
                    <a:pt x="14813280" y="0"/>
                  </a:lnTo>
                  <a:lnTo>
                    <a:pt x="14813280" y="7425182"/>
                  </a:lnTo>
                  <a:lnTo>
                    <a:pt x="0" y="7425182"/>
                  </a:lnTo>
                  <a:lnTo>
                    <a:pt x="0" y="0"/>
                  </a:lnTo>
                  <a:close/>
                </a:path>
              </a:pathLst>
            </a:custGeom>
            <a:blipFill>
              <a:blip r:embed="rId6"/>
              <a:stretch>
                <a:fillRect l="-88" t="0" r="-88" b="0"/>
              </a:stretch>
            </a:blipFill>
          </p:spPr>
        </p:sp>
      </p:grpSp>
      <p:sp>
        <p:nvSpPr>
          <p:cNvPr name="TextBox 54" id="54"/>
          <p:cNvSpPr txBox="true"/>
          <p:nvPr/>
        </p:nvSpPr>
        <p:spPr>
          <a:xfrm rot="0">
            <a:off x="822960" y="8290560"/>
            <a:ext cx="11109960" cy="4876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Stock-flow diagram (SFD) pariwisata DIY · 26 variabel endogen, 35 eksogen</a:t>
            </a:r>
          </a:p>
        </p:txBody>
      </p:sp>
      <p:grpSp>
        <p:nvGrpSpPr>
          <p:cNvPr name="Group 55" id="55"/>
          <p:cNvGrpSpPr/>
          <p:nvPr/>
        </p:nvGrpSpPr>
        <p:grpSpPr>
          <a:xfrm rot="0">
            <a:off x="12344400" y="2331720"/>
            <a:ext cx="2468880" cy="1440180"/>
            <a:chOff x="0" y="0"/>
            <a:chExt cx="3291840" cy="1920240"/>
          </a:xfrm>
        </p:grpSpPr>
        <p:sp>
          <p:nvSpPr>
            <p:cNvPr name="Freeform 56" id="56"/>
            <p:cNvSpPr/>
            <p:nvPr/>
          </p:nvSpPr>
          <p:spPr>
            <a:xfrm flipH="false" flipV="false" rot="0">
              <a:off x="0" y="0"/>
              <a:ext cx="3291840" cy="1920240"/>
            </a:xfrm>
            <a:custGeom>
              <a:avLst/>
              <a:gdLst/>
              <a:ahLst/>
              <a:cxnLst/>
              <a:rect r="r" b="b" t="t" l="l"/>
              <a:pathLst>
                <a:path h="1920240" w="3291840">
                  <a:moveTo>
                    <a:pt x="0" y="182880"/>
                  </a:moveTo>
                  <a:cubicBezTo>
                    <a:pt x="0" y="81915"/>
                    <a:pt x="81915" y="0"/>
                    <a:pt x="182880" y="0"/>
                  </a:cubicBezTo>
                  <a:lnTo>
                    <a:pt x="3108960" y="0"/>
                  </a:lnTo>
                  <a:cubicBezTo>
                    <a:pt x="3209925" y="0"/>
                    <a:pt x="3291840" y="81915"/>
                    <a:pt x="3291840" y="182880"/>
                  </a:cubicBezTo>
                  <a:lnTo>
                    <a:pt x="3291840" y="1737360"/>
                  </a:lnTo>
                  <a:cubicBezTo>
                    <a:pt x="3291840" y="1838325"/>
                    <a:pt x="3209925" y="1920240"/>
                    <a:pt x="3108960" y="1920240"/>
                  </a:cubicBezTo>
                  <a:lnTo>
                    <a:pt x="182880" y="1920240"/>
                  </a:lnTo>
                  <a:cubicBezTo>
                    <a:pt x="81915" y="1920240"/>
                    <a:pt x="0" y="1838325"/>
                    <a:pt x="0" y="1737360"/>
                  </a:cubicBezTo>
                  <a:close/>
                </a:path>
              </a:pathLst>
            </a:custGeom>
            <a:solidFill>
              <a:srgbClr val="EAF8FA"/>
            </a:solidFill>
          </p:spPr>
        </p:sp>
      </p:grpSp>
      <p:grpSp>
        <p:nvGrpSpPr>
          <p:cNvPr name="Group 57" id="57"/>
          <p:cNvGrpSpPr/>
          <p:nvPr/>
        </p:nvGrpSpPr>
        <p:grpSpPr>
          <a:xfrm rot="0">
            <a:off x="12344400" y="2441448"/>
            <a:ext cx="2468880" cy="754380"/>
            <a:chOff x="0" y="0"/>
            <a:chExt cx="3291840" cy="1005840"/>
          </a:xfrm>
        </p:grpSpPr>
        <p:sp>
          <p:nvSpPr>
            <p:cNvPr name="Freeform 58" id="58"/>
            <p:cNvSpPr/>
            <p:nvPr/>
          </p:nvSpPr>
          <p:spPr>
            <a:xfrm flipH="false" flipV="false" rot="0">
              <a:off x="0" y="0"/>
              <a:ext cx="3291840" cy="1005840"/>
            </a:xfrm>
            <a:custGeom>
              <a:avLst/>
              <a:gdLst/>
              <a:ahLst/>
              <a:cxnLst/>
              <a:rect r="r" b="b" t="t" l="l"/>
              <a:pathLst>
                <a:path h="1005840" w="3291840">
                  <a:moveTo>
                    <a:pt x="0" y="0"/>
                  </a:moveTo>
                  <a:lnTo>
                    <a:pt x="3291840" y="0"/>
                  </a:lnTo>
                  <a:lnTo>
                    <a:pt x="3291840" y="1005840"/>
                  </a:lnTo>
                  <a:lnTo>
                    <a:pt x="0" y="1005840"/>
                  </a:lnTo>
                  <a:close/>
                </a:path>
              </a:pathLst>
            </a:custGeom>
            <a:blipFill>
              <a:blip r:embed="rId4">
                <a:alphaModFix amt="0"/>
              </a:blip>
              <a:stretch>
                <a:fillRect l="0" t="-13724" r="0" b="-13724"/>
              </a:stretch>
            </a:blipFill>
          </p:spPr>
        </p:sp>
      </p:grpSp>
      <p:grpSp>
        <p:nvGrpSpPr>
          <p:cNvPr name="Group 59" id="59"/>
          <p:cNvGrpSpPr/>
          <p:nvPr/>
        </p:nvGrpSpPr>
        <p:grpSpPr>
          <a:xfrm rot="0">
            <a:off x="12344400" y="2370010"/>
            <a:ext cx="2468880" cy="825818"/>
            <a:chOff x="0" y="0"/>
            <a:chExt cx="3291840" cy="1101090"/>
          </a:xfrm>
        </p:grpSpPr>
        <p:sp>
          <p:nvSpPr>
            <p:cNvPr name="Freeform 60" id="60"/>
            <p:cNvSpPr/>
            <p:nvPr/>
          </p:nvSpPr>
          <p:spPr>
            <a:xfrm flipH="false" flipV="false" rot="0">
              <a:off x="0" y="0"/>
              <a:ext cx="3291840" cy="1101090"/>
            </a:xfrm>
            <a:custGeom>
              <a:avLst/>
              <a:gdLst/>
              <a:ahLst/>
              <a:cxnLst/>
              <a:rect r="r" b="b" t="t" l="l"/>
              <a:pathLst>
                <a:path h="1101090" w="3291840">
                  <a:moveTo>
                    <a:pt x="0" y="0"/>
                  </a:moveTo>
                  <a:lnTo>
                    <a:pt x="3291840" y="0"/>
                  </a:lnTo>
                  <a:lnTo>
                    <a:pt x="3291840" y="1101090"/>
                  </a:lnTo>
                  <a:lnTo>
                    <a:pt x="0" y="1101090"/>
                  </a:lnTo>
                  <a:close/>
                </a:path>
              </a:pathLst>
            </a:custGeom>
            <a:blipFill>
              <a:blip r:embed="rId5">
                <a:alphaModFix amt="0"/>
              </a:blip>
              <a:stretch>
                <a:fillRect l="0" t="-8252" r="0" b="-8252"/>
              </a:stretch>
            </a:blipFill>
          </p:spPr>
        </p:sp>
        <p:sp>
          <p:nvSpPr>
            <p:cNvPr name="TextBox 61" id="61"/>
            <p:cNvSpPr txBox="true"/>
            <p:nvPr/>
          </p:nvSpPr>
          <p:spPr>
            <a:xfrm>
              <a:off x="0" y="-95250"/>
              <a:ext cx="3291840" cy="119634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5</a:t>
              </a:r>
            </a:p>
          </p:txBody>
        </p:sp>
      </p:grpSp>
      <p:sp>
        <p:nvSpPr>
          <p:cNvPr name="TextBox 62" id="62"/>
          <p:cNvSpPr txBox="true"/>
          <p:nvPr/>
        </p:nvSpPr>
        <p:spPr>
          <a:xfrm rot="0">
            <a:off x="12344400" y="3105912"/>
            <a:ext cx="2468880" cy="487680"/>
          </a:xfrm>
          <a:prstGeom prst="rect">
            <a:avLst/>
          </a:prstGeom>
        </p:spPr>
        <p:txBody>
          <a:bodyPr anchor="t" rtlCol="false" tIns="0" lIns="0" bIns="0" rIns="0">
            <a:spAutoFit/>
          </a:bodyPr>
          <a:lstStyle/>
          <a:p>
            <a:pPr algn="ctr">
              <a:lnSpc>
                <a:spcPts val="2250"/>
              </a:lnSpc>
            </a:pPr>
            <a:r>
              <a:rPr lang="en-US" sz="1875">
                <a:solidFill>
                  <a:srgbClr val="14313B"/>
                </a:solidFill>
                <a:latin typeface="Calibri (MS)"/>
                <a:ea typeface="Calibri (MS)"/>
                <a:cs typeface="Calibri (MS)"/>
                <a:sym typeface="Calibri (MS)"/>
              </a:rPr>
              <a:t>stock</a:t>
            </a:r>
          </a:p>
        </p:txBody>
      </p:sp>
      <p:grpSp>
        <p:nvGrpSpPr>
          <p:cNvPr name="Group 63" id="63"/>
          <p:cNvGrpSpPr/>
          <p:nvPr/>
        </p:nvGrpSpPr>
        <p:grpSpPr>
          <a:xfrm rot="0">
            <a:off x="14977872" y="2331720"/>
            <a:ext cx="2468880" cy="1440180"/>
            <a:chOff x="0" y="0"/>
            <a:chExt cx="3291840" cy="1920240"/>
          </a:xfrm>
        </p:grpSpPr>
        <p:sp>
          <p:nvSpPr>
            <p:cNvPr name="Freeform 64" id="64"/>
            <p:cNvSpPr/>
            <p:nvPr/>
          </p:nvSpPr>
          <p:spPr>
            <a:xfrm flipH="false" flipV="false" rot="0">
              <a:off x="0" y="0"/>
              <a:ext cx="3291840" cy="1920240"/>
            </a:xfrm>
            <a:custGeom>
              <a:avLst/>
              <a:gdLst/>
              <a:ahLst/>
              <a:cxnLst/>
              <a:rect r="r" b="b" t="t" l="l"/>
              <a:pathLst>
                <a:path h="1920240" w="3291840">
                  <a:moveTo>
                    <a:pt x="0" y="182880"/>
                  </a:moveTo>
                  <a:cubicBezTo>
                    <a:pt x="0" y="81915"/>
                    <a:pt x="81915" y="0"/>
                    <a:pt x="182880" y="0"/>
                  </a:cubicBezTo>
                  <a:lnTo>
                    <a:pt x="3108960" y="0"/>
                  </a:lnTo>
                  <a:cubicBezTo>
                    <a:pt x="3209925" y="0"/>
                    <a:pt x="3291840" y="81915"/>
                    <a:pt x="3291840" y="182880"/>
                  </a:cubicBezTo>
                  <a:lnTo>
                    <a:pt x="3291840" y="1737360"/>
                  </a:lnTo>
                  <a:cubicBezTo>
                    <a:pt x="3291840" y="1838325"/>
                    <a:pt x="3209925" y="1920240"/>
                    <a:pt x="3108960" y="1920240"/>
                  </a:cubicBezTo>
                  <a:lnTo>
                    <a:pt x="182880" y="1920240"/>
                  </a:lnTo>
                  <a:cubicBezTo>
                    <a:pt x="81915" y="1920240"/>
                    <a:pt x="0" y="1838325"/>
                    <a:pt x="0" y="1737360"/>
                  </a:cubicBezTo>
                  <a:close/>
                </a:path>
              </a:pathLst>
            </a:custGeom>
            <a:solidFill>
              <a:srgbClr val="EAF8FA"/>
            </a:solidFill>
          </p:spPr>
        </p:sp>
      </p:grpSp>
      <p:grpSp>
        <p:nvGrpSpPr>
          <p:cNvPr name="Group 65" id="65"/>
          <p:cNvGrpSpPr/>
          <p:nvPr/>
        </p:nvGrpSpPr>
        <p:grpSpPr>
          <a:xfrm rot="0">
            <a:off x="14977872" y="2441448"/>
            <a:ext cx="2468880" cy="754380"/>
            <a:chOff x="0" y="0"/>
            <a:chExt cx="3291840" cy="1005840"/>
          </a:xfrm>
        </p:grpSpPr>
        <p:sp>
          <p:nvSpPr>
            <p:cNvPr name="Freeform 66" id="66"/>
            <p:cNvSpPr/>
            <p:nvPr/>
          </p:nvSpPr>
          <p:spPr>
            <a:xfrm flipH="false" flipV="false" rot="0">
              <a:off x="0" y="0"/>
              <a:ext cx="3291840" cy="1005840"/>
            </a:xfrm>
            <a:custGeom>
              <a:avLst/>
              <a:gdLst/>
              <a:ahLst/>
              <a:cxnLst/>
              <a:rect r="r" b="b" t="t" l="l"/>
              <a:pathLst>
                <a:path h="1005840" w="3291840">
                  <a:moveTo>
                    <a:pt x="0" y="0"/>
                  </a:moveTo>
                  <a:lnTo>
                    <a:pt x="3291840" y="0"/>
                  </a:lnTo>
                  <a:lnTo>
                    <a:pt x="3291840" y="1005840"/>
                  </a:lnTo>
                  <a:lnTo>
                    <a:pt x="0" y="1005840"/>
                  </a:lnTo>
                  <a:close/>
                </a:path>
              </a:pathLst>
            </a:custGeom>
            <a:blipFill>
              <a:blip r:embed="rId4">
                <a:alphaModFix amt="0"/>
              </a:blip>
              <a:stretch>
                <a:fillRect l="0" t="-13724" r="0" b="-13724"/>
              </a:stretch>
            </a:blipFill>
          </p:spPr>
        </p:sp>
      </p:grpSp>
      <p:grpSp>
        <p:nvGrpSpPr>
          <p:cNvPr name="Group 67" id="67"/>
          <p:cNvGrpSpPr/>
          <p:nvPr/>
        </p:nvGrpSpPr>
        <p:grpSpPr>
          <a:xfrm rot="0">
            <a:off x="14977872" y="2370010"/>
            <a:ext cx="2468880" cy="825818"/>
            <a:chOff x="0" y="0"/>
            <a:chExt cx="3291840" cy="1101090"/>
          </a:xfrm>
        </p:grpSpPr>
        <p:sp>
          <p:nvSpPr>
            <p:cNvPr name="Freeform 68" id="68"/>
            <p:cNvSpPr/>
            <p:nvPr/>
          </p:nvSpPr>
          <p:spPr>
            <a:xfrm flipH="false" flipV="false" rot="0">
              <a:off x="0" y="0"/>
              <a:ext cx="3291840" cy="1101090"/>
            </a:xfrm>
            <a:custGeom>
              <a:avLst/>
              <a:gdLst/>
              <a:ahLst/>
              <a:cxnLst/>
              <a:rect r="r" b="b" t="t" l="l"/>
              <a:pathLst>
                <a:path h="1101090" w="3291840">
                  <a:moveTo>
                    <a:pt x="0" y="0"/>
                  </a:moveTo>
                  <a:lnTo>
                    <a:pt x="3291840" y="0"/>
                  </a:lnTo>
                  <a:lnTo>
                    <a:pt x="3291840" y="1101090"/>
                  </a:lnTo>
                  <a:lnTo>
                    <a:pt x="0" y="1101090"/>
                  </a:lnTo>
                  <a:close/>
                </a:path>
              </a:pathLst>
            </a:custGeom>
            <a:blipFill>
              <a:blip r:embed="rId5">
                <a:alphaModFix amt="0"/>
              </a:blip>
              <a:stretch>
                <a:fillRect l="0" t="-8252" r="0" b="-8252"/>
              </a:stretch>
            </a:blipFill>
          </p:spPr>
        </p:sp>
        <p:sp>
          <p:nvSpPr>
            <p:cNvPr name="TextBox 69" id="69"/>
            <p:cNvSpPr txBox="true"/>
            <p:nvPr/>
          </p:nvSpPr>
          <p:spPr>
            <a:xfrm>
              <a:off x="0" y="-95250"/>
              <a:ext cx="3291840" cy="119634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10</a:t>
              </a:r>
            </a:p>
          </p:txBody>
        </p:sp>
      </p:grpSp>
      <p:sp>
        <p:nvSpPr>
          <p:cNvPr name="TextBox 70" id="70"/>
          <p:cNvSpPr txBox="true"/>
          <p:nvPr/>
        </p:nvSpPr>
        <p:spPr>
          <a:xfrm rot="0">
            <a:off x="14977872" y="3105912"/>
            <a:ext cx="2468880" cy="487680"/>
          </a:xfrm>
          <a:prstGeom prst="rect">
            <a:avLst/>
          </a:prstGeom>
        </p:spPr>
        <p:txBody>
          <a:bodyPr anchor="t" rtlCol="false" tIns="0" lIns="0" bIns="0" rIns="0">
            <a:spAutoFit/>
          </a:bodyPr>
          <a:lstStyle/>
          <a:p>
            <a:pPr algn="ctr">
              <a:lnSpc>
                <a:spcPts val="2250"/>
              </a:lnSpc>
            </a:pPr>
            <a:r>
              <a:rPr lang="en-US" sz="1875">
                <a:solidFill>
                  <a:srgbClr val="14313B"/>
                </a:solidFill>
                <a:latin typeface="Calibri (MS)"/>
                <a:ea typeface="Calibri (MS)"/>
                <a:cs typeface="Calibri (MS)"/>
                <a:sym typeface="Calibri (MS)"/>
              </a:rPr>
              <a:t>flow</a:t>
            </a:r>
          </a:p>
        </p:txBody>
      </p:sp>
      <p:grpSp>
        <p:nvGrpSpPr>
          <p:cNvPr name="Group 71" id="71"/>
          <p:cNvGrpSpPr/>
          <p:nvPr/>
        </p:nvGrpSpPr>
        <p:grpSpPr>
          <a:xfrm rot="0">
            <a:off x="12344400" y="3977640"/>
            <a:ext cx="2468880" cy="1440180"/>
            <a:chOff x="0" y="0"/>
            <a:chExt cx="3291840" cy="1920240"/>
          </a:xfrm>
        </p:grpSpPr>
        <p:sp>
          <p:nvSpPr>
            <p:cNvPr name="Freeform 72" id="72"/>
            <p:cNvSpPr/>
            <p:nvPr/>
          </p:nvSpPr>
          <p:spPr>
            <a:xfrm flipH="false" flipV="false" rot="0">
              <a:off x="0" y="0"/>
              <a:ext cx="3291840" cy="1920240"/>
            </a:xfrm>
            <a:custGeom>
              <a:avLst/>
              <a:gdLst/>
              <a:ahLst/>
              <a:cxnLst/>
              <a:rect r="r" b="b" t="t" l="l"/>
              <a:pathLst>
                <a:path h="1920240" w="3291840">
                  <a:moveTo>
                    <a:pt x="0" y="182880"/>
                  </a:moveTo>
                  <a:cubicBezTo>
                    <a:pt x="0" y="81915"/>
                    <a:pt x="81915" y="0"/>
                    <a:pt x="182880" y="0"/>
                  </a:cubicBezTo>
                  <a:lnTo>
                    <a:pt x="3108960" y="0"/>
                  </a:lnTo>
                  <a:cubicBezTo>
                    <a:pt x="3209925" y="0"/>
                    <a:pt x="3291840" y="81915"/>
                    <a:pt x="3291840" y="182880"/>
                  </a:cubicBezTo>
                  <a:lnTo>
                    <a:pt x="3291840" y="1737360"/>
                  </a:lnTo>
                  <a:cubicBezTo>
                    <a:pt x="3291840" y="1838325"/>
                    <a:pt x="3209925" y="1920240"/>
                    <a:pt x="3108960" y="1920240"/>
                  </a:cubicBezTo>
                  <a:lnTo>
                    <a:pt x="182880" y="1920240"/>
                  </a:lnTo>
                  <a:cubicBezTo>
                    <a:pt x="81915" y="1920240"/>
                    <a:pt x="0" y="1838325"/>
                    <a:pt x="0" y="1737360"/>
                  </a:cubicBezTo>
                  <a:close/>
                </a:path>
              </a:pathLst>
            </a:custGeom>
            <a:solidFill>
              <a:srgbClr val="EAF8FA"/>
            </a:solidFill>
          </p:spPr>
        </p:sp>
      </p:grpSp>
      <p:grpSp>
        <p:nvGrpSpPr>
          <p:cNvPr name="Group 73" id="73"/>
          <p:cNvGrpSpPr/>
          <p:nvPr/>
        </p:nvGrpSpPr>
        <p:grpSpPr>
          <a:xfrm rot="0">
            <a:off x="12344400" y="4087368"/>
            <a:ext cx="2468880" cy="754380"/>
            <a:chOff x="0" y="0"/>
            <a:chExt cx="3291840" cy="1005840"/>
          </a:xfrm>
        </p:grpSpPr>
        <p:sp>
          <p:nvSpPr>
            <p:cNvPr name="Freeform 74" id="74"/>
            <p:cNvSpPr/>
            <p:nvPr/>
          </p:nvSpPr>
          <p:spPr>
            <a:xfrm flipH="false" flipV="false" rot="0">
              <a:off x="0" y="0"/>
              <a:ext cx="3291840" cy="1005840"/>
            </a:xfrm>
            <a:custGeom>
              <a:avLst/>
              <a:gdLst/>
              <a:ahLst/>
              <a:cxnLst/>
              <a:rect r="r" b="b" t="t" l="l"/>
              <a:pathLst>
                <a:path h="1005840" w="3291840">
                  <a:moveTo>
                    <a:pt x="0" y="0"/>
                  </a:moveTo>
                  <a:lnTo>
                    <a:pt x="3291840" y="0"/>
                  </a:lnTo>
                  <a:lnTo>
                    <a:pt x="3291840" y="1005840"/>
                  </a:lnTo>
                  <a:lnTo>
                    <a:pt x="0" y="1005840"/>
                  </a:lnTo>
                  <a:close/>
                </a:path>
              </a:pathLst>
            </a:custGeom>
            <a:blipFill>
              <a:blip r:embed="rId4">
                <a:alphaModFix amt="0"/>
              </a:blip>
              <a:stretch>
                <a:fillRect l="0" t="-13724" r="0" b="-13724"/>
              </a:stretch>
            </a:blipFill>
          </p:spPr>
        </p:sp>
      </p:grpSp>
      <p:grpSp>
        <p:nvGrpSpPr>
          <p:cNvPr name="Group 75" id="75"/>
          <p:cNvGrpSpPr/>
          <p:nvPr/>
        </p:nvGrpSpPr>
        <p:grpSpPr>
          <a:xfrm rot="0">
            <a:off x="12344400" y="4015931"/>
            <a:ext cx="2468880" cy="825818"/>
            <a:chOff x="0" y="0"/>
            <a:chExt cx="3291840" cy="1101090"/>
          </a:xfrm>
        </p:grpSpPr>
        <p:sp>
          <p:nvSpPr>
            <p:cNvPr name="Freeform 76" id="76"/>
            <p:cNvSpPr/>
            <p:nvPr/>
          </p:nvSpPr>
          <p:spPr>
            <a:xfrm flipH="false" flipV="false" rot="0">
              <a:off x="0" y="0"/>
              <a:ext cx="3291840" cy="1101090"/>
            </a:xfrm>
            <a:custGeom>
              <a:avLst/>
              <a:gdLst/>
              <a:ahLst/>
              <a:cxnLst/>
              <a:rect r="r" b="b" t="t" l="l"/>
              <a:pathLst>
                <a:path h="1101090" w="3291840">
                  <a:moveTo>
                    <a:pt x="0" y="0"/>
                  </a:moveTo>
                  <a:lnTo>
                    <a:pt x="3291840" y="0"/>
                  </a:lnTo>
                  <a:lnTo>
                    <a:pt x="3291840" y="1101090"/>
                  </a:lnTo>
                  <a:lnTo>
                    <a:pt x="0" y="1101090"/>
                  </a:lnTo>
                  <a:close/>
                </a:path>
              </a:pathLst>
            </a:custGeom>
            <a:blipFill>
              <a:blip r:embed="rId5">
                <a:alphaModFix amt="0"/>
              </a:blip>
              <a:stretch>
                <a:fillRect l="0" t="-8252" r="0" b="-8252"/>
              </a:stretch>
            </a:blipFill>
          </p:spPr>
        </p:sp>
        <p:sp>
          <p:nvSpPr>
            <p:cNvPr name="TextBox 77" id="77"/>
            <p:cNvSpPr txBox="true"/>
            <p:nvPr/>
          </p:nvSpPr>
          <p:spPr>
            <a:xfrm>
              <a:off x="0" y="-95250"/>
              <a:ext cx="3291840" cy="119634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11</a:t>
              </a:r>
            </a:p>
          </p:txBody>
        </p:sp>
      </p:grpSp>
      <p:sp>
        <p:nvSpPr>
          <p:cNvPr name="TextBox 78" id="78"/>
          <p:cNvSpPr txBox="true"/>
          <p:nvPr/>
        </p:nvSpPr>
        <p:spPr>
          <a:xfrm rot="0">
            <a:off x="12344400" y="4751832"/>
            <a:ext cx="2468880" cy="487680"/>
          </a:xfrm>
          <a:prstGeom prst="rect">
            <a:avLst/>
          </a:prstGeom>
        </p:spPr>
        <p:txBody>
          <a:bodyPr anchor="t" rtlCol="false" tIns="0" lIns="0" bIns="0" rIns="0">
            <a:spAutoFit/>
          </a:bodyPr>
          <a:lstStyle/>
          <a:p>
            <a:pPr algn="ctr">
              <a:lnSpc>
                <a:spcPts val="2250"/>
              </a:lnSpc>
            </a:pPr>
            <a:r>
              <a:rPr lang="en-US" sz="1875">
                <a:solidFill>
                  <a:srgbClr val="14313B"/>
                </a:solidFill>
                <a:latin typeface="Calibri (MS)"/>
                <a:ea typeface="Calibri (MS)"/>
                <a:cs typeface="Calibri (MS)"/>
                <a:sym typeface="Calibri (MS)"/>
              </a:rPr>
              <a:t>auxiliary</a:t>
            </a:r>
          </a:p>
        </p:txBody>
      </p:sp>
      <p:grpSp>
        <p:nvGrpSpPr>
          <p:cNvPr name="Group 79" id="79"/>
          <p:cNvGrpSpPr/>
          <p:nvPr/>
        </p:nvGrpSpPr>
        <p:grpSpPr>
          <a:xfrm rot="0">
            <a:off x="14977872" y="3977640"/>
            <a:ext cx="2468880" cy="1440180"/>
            <a:chOff x="0" y="0"/>
            <a:chExt cx="3291840" cy="1920240"/>
          </a:xfrm>
        </p:grpSpPr>
        <p:sp>
          <p:nvSpPr>
            <p:cNvPr name="Freeform 80" id="80"/>
            <p:cNvSpPr/>
            <p:nvPr/>
          </p:nvSpPr>
          <p:spPr>
            <a:xfrm flipH="false" flipV="false" rot="0">
              <a:off x="0" y="0"/>
              <a:ext cx="3291840" cy="1920240"/>
            </a:xfrm>
            <a:custGeom>
              <a:avLst/>
              <a:gdLst/>
              <a:ahLst/>
              <a:cxnLst/>
              <a:rect r="r" b="b" t="t" l="l"/>
              <a:pathLst>
                <a:path h="1920240" w="3291840">
                  <a:moveTo>
                    <a:pt x="0" y="182880"/>
                  </a:moveTo>
                  <a:cubicBezTo>
                    <a:pt x="0" y="81915"/>
                    <a:pt x="81915" y="0"/>
                    <a:pt x="182880" y="0"/>
                  </a:cubicBezTo>
                  <a:lnTo>
                    <a:pt x="3108960" y="0"/>
                  </a:lnTo>
                  <a:cubicBezTo>
                    <a:pt x="3209925" y="0"/>
                    <a:pt x="3291840" y="81915"/>
                    <a:pt x="3291840" y="182880"/>
                  </a:cubicBezTo>
                  <a:lnTo>
                    <a:pt x="3291840" y="1737360"/>
                  </a:lnTo>
                  <a:cubicBezTo>
                    <a:pt x="3291840" y="1838325"/>
                    <a:pt x="3209925" y="1920240"/>
                    <a:pt x="3108960" y="1920240"/>
                  </a:cubicBezTo>
                  <a:lnTo>
                    <a:pt x="182880" y="1920240"/>
                  </a:lnTo>
                  <a:cubicBezTo>
                    <a:pt x="81915" y="1920240"/>
                    <a:pt x="0" y="1838325"/>
                    <a:pt x="0" y="1737360"/>
                  </a:cubicBezTo>
                  <a:close/>
                </a:path>
              </a:pathLst>
            </a:custGeom>
            <a:solidFill>
              <a:srgbClr val="EAF8FA"/>
            </a:solidFill>
          </p:spPr>
        </p:sp>
      </p:grpSp>
      <p:grpSp>
        <p:nvGrpSpPr>
          <p:cNvPr name="Group 81" id="81"/>
          <p:cNvGrpSpPr/>
          <p:nvPr/>
        </p:nvGrpSpPr>
        <p:grpSpPr>
          <a:xfrm rot="0">
            <a:off x="14977872" y="4087368"/>
            <a:ext cx="2468880" cy="754380"/>
            <a:chOff x="0" y="0"/>
            <a:chExt cx="3291840" cy="1005840"/>
          </a:xfrm>
        </p:grpSpPr>
        <p:sp>
          <p:nvSpPr>
            <p:cNvPr name="Freeform 82" id="82"/>
            <p:cNvSpPr/>
            <p:nvPr/>
          </p:nvSpPr>
          <p:spPr>
            <a:xfrm flipH="false" flipV="false" rot="0">
              <a:off x="0" y="0"/>
              <a:ext cx="3291840" cy="1005840"/>
            </a:xfrm>
            <a:custGeom>
              <a:avLst/>
              <a:gdLst/>
              <a:ahLst/>
              <a:cxnLst/>
              <a:rect r="r" b="b" t="t" l="l"/>
              <a:pathLst>
                <a:path h="1005840" w="3291840">
                  <a:moveTo>
                    <a:pt x="0" y="0"/>
                  </a:moveTo>
                  <a:lnTo>
                    <a:pt x="3291840" y="0"/>
                  </a:lnTo>
                  <a:lnTo>
                    <a:pt x="3291840" y="1005840"/>
                  </a:lnTo>
                  <a:lnTo>
                    <a:pt x="0" y="1005840"/>
                  </a:lnTo>
                  <a:close/>
                </a:path>
              </a:pathLst>
            </a:custGeom>
            <a:blipFill>
              <a:blip r:embed="rId4">
                <a:alphaModFix amt="0"/>
              </a:blip>
              <a:stretch>
                <a:fillRect l="0" t="-13724" r="0" b="-13724"/>
              </a:stretch>
            </a:blipFill>
          </p:spPr>
        </p:sp>
      </p:grpSp>
      <p:grpSp>
        <p:nvGrpSpPr>
          <p:cNvPr name="Group 83" id="83"/>
          <p:cNvGrpSpPr/>
          <p:nvPr/>
        </p:nvGrpSpPr>
        <p:grpSpPr>
          <a:xfrm rot="0">
            <a:off x="14977872" y="4015931"/>
            <a:ext cx="2468880" cy="825818"/>
            <a:chOff x="0" y="0"/>
            <a:chExt cx="3291840" cy="1101090"/>
          </a:xfrm>
        </p:grpSpPr>
        <p:sp>
          <p:nvSpPr>
            <p:cNvPr name="Freeform 84" id="84"/>
            <p:cNvSpPr/>
            <p:nvPr/>
          </p:nvSpPr>
          <p:spPr>
            <a:xfrm flipH="false" flipV="false" rot="0">
              <a:off x="0" y="0"/>
              <a:ext cx="3291840" cy="1101090"/>
            </a:xfrm>
            <a:custGeom>
              <a:avLst/>
              <a:gdLst/>
              <a:ahLst/>
              <a:cxnLst/>
              <a:rect r="r" b="b" t="t" l="l"/>
              <a:pathLst>
                <a:path h="1101090" w="3291840">
                  <a:moveTo>
                    <a:pt x="0" y="0"/>
                  </a:moveTo>
                  <a:lnTo>
                    <a:pt x="3291840" y="0"/>
                  </a:lnTo>
                  <a:lnTo>
                    <a:pt x="3291840" y="1101090"/>
                  </a:lnTo>
                  <a:lnTo>
                    <a:pt x="0" y="1101090"/>
                  </a:lnTo>
                  <a:close/>
                </a:path>
              </a:pathLst>
            </a:custGeom>
            <a:blipFill>
              <a:blip r:embed="rId5">
                <a:alphaModFix amt="0"/>
              </a:blip>
              <a:stretch>
                <a:fillRect l="0" t="-8252" r="0" b="-8252"/>
              </a:stretch>
            </a:blipFill>
          </p:spPr>
        </p:sp>
        <p:sp>
          <p:nvSpPr>
            <p:cNvPr name="TextBox 85" id="85"/>
            <p:cNvSpPr txBox="true"/>
            <p:nvPr/>
          </p:nvSpPr>
          <p:spPr>
            <a:xfrm>
              <a:off x="0" y="-95250"/>
              <a:ext cx="3291840" cy="119634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35</a:t>
              </a:r>
            </a:p>
          </p:txBody>
        </p:sp>
      </p:grpSp>
      <p:sp>
        <p:nvSpPr>
          <p:cNvPr name="TextBox 86" id="86"/>
          <p:cNvSpPr txBox="true"/>
          <p:nvPr/>
        </p:nvSpPr>
        <p:spPr>
          <a:xfrm rot="0">
            <a:off x="14977872" y="4751832"/>
            <a:ext cx="2468880" cy="487680"/>
          </a:xfrm>
          <a:prstGeom prst="rect">
            <a:avLst/>
          </a:prstGeom>
        </p:spPr>
        <p:txBody>
          <a:bodyPr anchor="t" rtlCol="false" tIns="0" lIns="0" bIns="0" rIns="0">
            <a:spAutoFit/>
          </a:bodyPr>
          <a:lstStyle/>
          <a:p>
            <a:pPr algn="ctr">
              <a:lnSpc>
                <a:spcPts val="2250"/>
              </a:lnSpc>
            </a:pPr>
            <a:r>
              <a:rPr lang="en-US" sz="1875">
                <a:solidFill>
                  <a:srgbClr val="14313B"/>
                </a:solidFill>
                <a:latin typeface="Calibri (MS)"/>
                <a:ea typeface="Calibri (MS)"/>
                <a:cs typeface="Calibri (MS)"/>
                <a:sym typeface="Calibri (MS)"/>
              </a:rPr>
              <a:t>parameter</a:t>
            </a:r>
          </a:p>
        </p:txBody>
      </p:sp>
      <p:graphicFrame>
        <p:nvGraphicFramePr>
          <p:cNvPr name="Table 87" id="87"/>
          <p:cNvGraphicFramePr>
            <a:graphicFrameLocks noGrp="true"/>
          </p:cNvGraphicFramePr>
          <p:nvPr/>
        </p:nvGraphicFramePr>
        <p:xfrm>
          <a:off x="12344400" y="5760720"/>
          <a:ext cx="5092700" cy="3200400"/>
        </p:xfrm>
        <a:graphic>
          <a:graphicData uri="http://schemas.openxmlformats.org/drawingml/2006/table">
            <a:tbl>
              <a:tblPr/>
              <a:tblGrid>
                <a:gridCol w="2660272"/>
                <a:gridCol w="2432428"/>
              </a:tblGrid>
              <a:tr h="533400">
                <a:tc>
                  <a:txBody>
                    <a:bodyPr anchor="t" rtlCol="false"/>
                    <a:lstStyle/>
                    <a:p>
                      <a:pPr algn="l">
                        <a:lnSpc>
                          <a:spcPts val="2070"/>
                        </a:lnSpc>
                        <a:defRPr/>
                      </a:pPr>
                      <a:r>
                        <a:rPr lang="en-US" sz="1725" b="true">
                          <a:solidFill>
                            <a:srgbClr val="FFFFFF"/>
                          </a:solidFill>
                          <a:latin typeface="Calibri (MS) Bold"/>
                          <a:ea typeface="Calibri (MS) Bold"/>
                          <a:cs typeface="Calibri (MS) Bold"/>
                          <a:sym typeface="Calibri (MS) Bold"/>
                        </a:rPr>
                        <a:t>Stok (nilai awal 2025)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1679"/>
                        </a:lnSpc>
                        <a:defRPr/>
                      </a:pP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Jumlah wisatawan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40.695.654 kunjungan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Hotel dan akomodasi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2.291 unit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Objek daya tarik 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201 unit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Tenaga kerja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364.994 jiwa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55.029,54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88" id="8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33</a:t>
            </a:r>
          </a:p>
        </p:txBody>
      </p:sp>
      <p:sp>
        <p:nvSpPr>
          <p:cNvPr id="89" name="TextBox 8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2B · Formulasi model</a:t>
            </a:r>
          </a:p>
        </p:txBody>
      </p:sp>
      <p:sp>
        <p:nvSpPr>
          <p:cNvPr id="90"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4.1.4 · Stock-Flow Diagram</a:t>
            </a:r>
          </a:p>
          <a:p>
            <a:pPr algn="l">
              <a:lnSpc>
                <a:spcPct val="100000"/>
              </a:lnSpc>
            </a:pPr>
            <a:r>
              <a:rPr lang="en-US" sz="3500" b="true">
                <a:solidFill>
                  <a:srgbClr val="0B5E6E"/>
                </a:solidFill>
                <a:latin typeface="Calibri (MS) Bold"/>
                <a:ea typeface="Calibri (MS) Bold"/>
                <a:cs typeface="Calibri (MS) Bold"/>
                <a:sym typeface="Calibri (MS) Bold"/>
              </a:rPr>
              <a:t>Hasil: stock-flow diagram pariwisata DIY</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34</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2B · Formulasi model</a:t>
            </a:r>
          </a:p>
        </p:txBody>
      </p:sp>
      <p:pic>
        <p:nvPicPr>
          <p:cNvPr id="149" name="Picture 148" descr="image12.png"/>
          <p:cNvPicPr>
            <a:picLocks noChangeAspect="1"/>
          </p:cNvPicPr>
          <p:nvPr/>
        </p:nvPicPr>
        <p:blipFill>
          <a:blip r:embed="rId2"/>
          <a:stretch>
            <a:fillRect/>
          </a:stretch>
        </p:blipFill>
        <p:spPr>
          <a:xfrm>
            <a:off x="964519" y="2194560"/>
            <a:ext cx="12152720" cy="6080760"/>
          </a:xfrm>
          <a:prstGeom prst="rect">
            <a:avLst/>
          </a:prstGeom>
        </p:spPr>
      </p:pic>
      <p:sp>
        <p:nvSpPr>
          <p:cNvPr id="150" name="Rounded Rectangle 149"/>
          <p:cNvSpPr/>
          <p:nvPr/>
        </p:nvSpPr>
        <p:spPr>
          <a:xfrm>
            <a:off x="13487400" y="2194560"/>
            <a:ext cx="3977639" cy="2743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839" b="1" i="0">
                <a:solidFill>
                  <a:srgbClr val="0B5E6E"/>
                </a:solidFill>
                <a:latin typeface="Calibri (MS) Bold"/>
              </a:rPr>
              <a:t>5 stock (kotak)</a:t>
            </a:r>
          </a:p>
          <a:p>
            <a:pPr algn="l">
              <a:spcAft>
                <a:spcPts val="300"/>
              </a:spcAft>
            </a:pPr>
            <a:r>
              <a:rPr sz="1550" b="0" i="0">
                <a:solidFill>
                  <a:srgbClr val="14313B"/>
                </a:solidFill>
                <a:latin typeface="Calibri (MS)"/>
              </a:rPr>
              <a:t>Jumlah Wisatawan · Hotel &amp; Akomodasi · ODTW · Tenaga Kerja · Lahan Terbangun</a:t>
            </a:r>
          </a:p>
        </p:txBody>
      </p:sp>
      <p:sp>
        <p:nvSpPr>
          <p:cNvPr id="151" name="Rounded Rectangle 150"/>
          <p:cNvSpPr/>
          <p:nvPr/>
        </p:nvSpPr>
        <p:spPr>
          <a:xfrm>
            <a:off x="13487400" y="5074920"/>
            <a:ext cx="3977639" cy="1600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720" b="1" i="0">
                <a:solidFill>
                  <a:srgbClr val="0B5E6E"/>
                </a:solidFill>
                <a:latin typeface="Calibri (MS) Bold"/>
              </a:rPr>
              <a:t>10 flow · 11 auxiliary · 35 parameter</a:t>
            </a:r>
          </a:p>
          <a:p>
            <a:pPr algn="l">
              <a:spcAft>
                <a:spcPts val="300"/>
              </a:spcAft>
            </a:pPr>
            <a:r>
              <a:rPr sz="1550" b="0" i="0">
                <a:solidFill>
                  <a:srgbClr val="14313B"/>
                </a:solidFill>
                <a:latin typeface="Calibri (MS)"/>
              </a:rPr>
              <a:t>26 endogen + 35 eksogen = 61 variabel</a:t>
            </a:r>
          </a:p>
        </p:txBody>
      </p:sp>
      <p:sp>
        <p:nvSpPr>
          <p:cNvPr id="152" name="Rounded Rectangle 151"/>
          <p:cNvSpPr/>
          <p:nvPr/>
        </p:nvSpPr>
        <p:spPr>
          <a:xfrm>
            <a:off x="13487400" y="6812280"/>
            <a:ext cx="3977639" cy="14630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720" b="1" i="0">
                <a:solidFill>
                  <a:srgbClr val="0B5E6E"/>
                </a:solidFill>
                <a:latin typeface="Calibri (MS) Bold"/>
              </a:rPr>
              <a:t>Dua tuas kebijakan</a:t>
            </a:r>
          </a:p>
          <a:p>
            <a:pPr algn="l">
              <a:spcAft>
                <a:spcPts val="300"/>
              </a:spcAft>
            </a:pPr>
            <a:r>
              <a:rPr sz="1550" b="0" i="0">
                <a:solidFill>
                  <a:srgbClr val="14313B"/>
                </a:solidFill>
                <a:latin typeface="Calibri (MS)"/>
              </a:rPr>
              <a:t>Insentif → investasi (R2); Konservasi → konversi lahan pariwisata (B2)</a:t>
            </a:r>
          </a:p>
        </p:txBody>
      </p:sp>
      <p:sp>
        <p:nvSpPr>
          <p:cNvPr id="153" name="Rounded Rectangle 152"/>
          <p:cNvSpPr/>
          <p:nvPr/>
        </p:nvSpPr>
        <p:spPr>
          <a:xfrm>
            <a:off x="822960" y="841248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SFD adalah operasionalisasi CLD menjadi model kuantitatif yang disimulasikan 2025–2050 (Δt 1 tahun, Euler). Persamaan lengkap di Lampiran 15.</a:t>
            </a:r>
          </a:p>
        </p:txBody>
      </p:sp>
      <p:sp>
        <p:nvSpPr>
          <p:cNvPr id="154" name="TextBox 153"/>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4.1.4, Gambar 10; model Vensim final.</a:t>
            </a:r>
          </a:p>
        </p:txBody>
      </p:sp>
      <p:sp>
        <p:nvSpPr>
          <p:cNvPr id="155"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4.3.1 · Persamaan Stock — Subsistem Wisatawan</a:t>
            </a:r>
          </a:p>
          <a:p>
            <a:pPr algn="l">
              <a:lnSpc>
                <a:spcPct val="100000"/>
              </a:lnSpc>
            </a:pPr>
            <a:r>
              <a:rPr lang="en-US" sz="3500" b="true">
                <a:solidFill>
                  <a:srgbClr val="0B5E6E"/>
                </a:solidFill>
                <a:latin typeface="Calibri (MS) Bold"/>
                <a:ea typeface="Calibri (MS) Bold"/>
                <a:cs typeface="Calibri (MS) Bold"/>
                <a:sym typeface="Calibri (MS) Bold"/>
              </a:rPr>
              <a:t>Daya Tarik Destinasi menghubungkan seluruh loop utama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Freeform 52" id="52"/>
          <p:cNvSpPr/>
          <p:nvPr/>
        </p:nvSpPr>
        <p:spPr>
          <a:xfrm flipH="false" flipV="false" rot="0">
            <a:off x="806291" y="2383631"/>
            <a:ext cx="10320338" cy="2022158"/>
          </a:xfrm>
          <a:custGeom>
            <a:avLst/>
            <a:gdLst/>
            <a:ahLst/>
            <a:cxnLst/>
            <a:rect r="r" b="b" t="t" l="l"/>
            <a:pathLst>
              <a:path h="2022158" w="10320338">
                <a:moveTo>
                  <a:pt x="0" y="0"/>
                </a:moveTo>
                <a:lnTo>
                  <a:pt x="10320338" y="0"/>
                </a:lnTo>
                <a:lnTo>
                  <a:pt x="10320338"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3" id="53"/>
          <p:cNvSpPr txBox="true"/>
          <p:nvPr/>
        </p:nvSpPr>
        <p:spPr>
          <a:xfrm rot="0">
            <a:off x="1234440" y="2576322"/>
            <a:ext cx="9464040" cy="400050"/>
          </a:xfrm>
          <a:prstGeom prst="rect">
            <a:avLst/>
          </a:prstGeom>
        </p:spPr>
        <p:txBody>
          <a:bodyPr anchor="t" rtlCol="false" tIns="0" lIns="0" bIns="0" rIns="0">
            <a:spAutoFit/>
          </a:bodyPr>
          <a:lstStyle/>
          <a:p>
            <a:pPr algn="l">
              <a:lnSpc>
                <a:spcPts val="1980"/>
              </a:lnSpc>
            </a:pPr>
            <a:r>
              <a:rPr lang="en-US" sz="1650" b="true">
                <a:solidFill>
                  <a:srgbClr val="5E6E78"/>
                </a:solidFill>
                <a:latin typeface="Calibri (MS) Bold"/>
                <a:ea typeface="Calibri (MS) Bold"/>
                <a:cs typeface="Calibri (MS) Bold"/>
                <a:sym typeface="Calibri (MS) Bold"/>
              </a:rPr>
              <a:t>LAJU KEDATANGAN WISATAWAN</a:t>
            </a:r>
          </a:p>
        </p:txBody>
      </p:sp>
      <p:grpSp>
        <p:nvGrpSpPr>
          <p:cNvPr name="Group 54" id="54"/>
          <p:cNvGrpSpPr/>
          <p:nvPr/>
        </p:nvGrpSpPr>
        <p:grpSpPr>
          <a:xfrm rot="0">
            <a:off x="1234440" y="3086100"/>
            <a:ext cx="9464040" cy="1165860"/>
            <a:chOff x="0" y="0"/>
            <a:chExt cx="12618720" cy="1554480"/>
          </a:xfrm>
        </p:grpSpPr>
        <p:sp>
          <p:nvSpPr>
            <p:cNvPr name="Freeform 55" id="55"/>
            <p:cNvSpPr/>
            <p:nvPr/>
          </p:nvSpPr>
          <p:spPr>
            <a:xfrm flipH="false" flipV="false" rot="0">
              <a:off x="0" y="0"/>
              <a:ext cx="12618720" cy="1554480"/>
            </a:xfrm>
            <a:custGeom>
              <a:avLst/>
              <a:gdLst/>
              <a:ahLst/>
              <a:cxnLst/>
              <a:rect r="r" b="b" t="t" l="l"/>
              <a:pathLst>
                <a:path h="1554480" w="12618720">
                  <a:moveTo>
                    <a:pt x="0" y="0"/>
                  </a:moveTo>
                  <a:lnTo>
                    <a:pt x="12618720" y="0"/>
                  </a:lnTo>
                  <a:lnTo>
                    <a:pt x="12618720" y="1554480"/>
                  </a:lnTo>
                  <a:lnTo>
                    <a:pt x="0" y="1554480"/>
                  </a:lnTo>
                  <a:close/>
                </a:path>
              </a:pathLst>
            </a:custGeom>
            <a:blipFill>
              <a:blip r:embed="rId4">
                <a:alphaModFix amt="0"/>
              </a:blip>
              <a:stretch>
                <a:fillRect l="0" t="-108062" r="0" b="-108062"/>
              </a:stretch>
            </a:blipFill>
          </p:spPr>
        </p:sp>
      </p:grpSp>
      <p:grpSp>
        <p:nvGrpSpPr>
          <p:cNvPr name="Group 56" id="56"/>
          <p:cNvGrpSpPr/>
          <p:nvPr/>
        </p:nvGrpSpPr>
        <p:grpSpPr>
          <a:xfrm rot="0">
            <a:off x="1234440" y="3043238"/>
            <a:ext cx="9464040" cy="1208723"/>
            <a:chOff x="0" y="0"/>
            <a:chExt cx="12618720" cy="1611630"/>
          </a:xfrm>
        </p:grpSpPr>
        <p:sp>
          <p:nvSpPr>
            <p:cNvPr name="Freeform 57" id="57"/>
            <p:cNvSpPr/>
            <p:nvPr/>
          </p:nvSpPr>
          <p:spPr>
            <a:xfrm flipH="false" flipV="false" rot="0">
              <a:off x="0" y="0"/>
              <a:ext cx="12618720" cy="1611630"/>
            </a:xfrm>
            <a:custGeom>
              <a:avLst/>
              <a:gdLst/>
              <a:ahLst/>
              <a:cxnLst/>
              <a:rect r="r" b="b" t="t" l="l"/>
              <a:pathLst>
                <a:path h="1611630" w="12618720">
                  <a:moveTo>
                    <a:pt x="0" y="0"/>
                  </a:moveTo>
                  <a:lnTo>
                    <a:pt x="12618720" y="0"/>
                  </a:lnTo>
                  <a:lnTo>
                    <a:pt x="12618720" y="1611630"/>
                  </a:lnTo>
                  <a:lnTo>
                    <a:pt x="0" y="1611630"/>
                  </a:lnTo>
                  <a:close/>
                </a:path>
              </a:pathLst>
            </a:custGeom>
            <a:blipFill>
              <a:blip r:embed="rId5">
                <a:alphaModFix amt="0"/>
              </a:blip>
              <a:stretch>
                <a:fillRect l="0" t="-102563" r="0" b="-102563"/>
              </a:stretch>
            </a:blipFill>
          </p:spPr>
        </p:sp>
        <p:sp>
          <p:nvSpPr>
            <p:cNvPr name="TextBox 58" id="58"/>
            <p:cNvSpPr txBox="true"/>
            <p:nvPr/>
          </p:nvSpPr>
          <p:spPr>
            <a:xfrm>
              <a:off x="0" y="-57150"/>
              <a:ext cx="12618720" cy="1668780"/>
            </a:xfrm>
            <a:prstGeom prst="rect">
              <a:avLst/>
            </a:prstGeom>
          </p:spPr>
          <p:txBody>
            <a:bodyPr anchor="ctr" rtlCol="false" tIns="0" lIns="0" bIns="0" rIns="0"/>
            <a:lstStyle/>
            <a:p>
              <a:pPr algn="l">
                <a:lnSpc>
                  <a:spcPts val="3419"/>
                </a:lnSpc>
              </a:pPr>
              <a:r>
                <a:rPr lang="en-US" sz="2850" b="true">
                  <a:solidFill>
                    <a:srgbClr val="0B5E6E"/>
                  </a:solidFill>
                  <a:latin typeface="Calibri (MS) Bold"/>
                  <a:ea typeface="Calibri (MS) Bold"/>
                  <a:cs typeface="Calibri (MS) Bold"/>
                  <a:sym typeface="Calibri (MS) Bold"/>
                </a:rPr>
                <a:t>Jumlah Wisatawan × Laju Pertumbuhan Eksternal × Daya Tarik</a:t>
              </a:r>
            </a:p>
          </p:txBody>
        </p:sp>
      </p:grpSp>
      <p:sp>
        <p:nvSpPr>
          <p:cNvPr name="Freeform 59" id="59"/>
          <p:cNvSpPr/>
          <p:nvPr/>
        </p:nvSpPr>
        <p:spPr>
          <a:xfrm flipH="false" flipV="false" rot="0">
            <a:off x="806291" y="4578191"/>
            <a:ext cx="10320338" cy="2022158"/>
          </a:xfrm>
          <a:custGeom>
            <a:avLst/>
            <a:gdLst/>
            <a:ahLst/>
            <a:cxnLst/>
            <a:rect r="r" b="b" t="t" l="l"/>
            <a:pathLst>
              <a:path h="2022158" w="10320338">
                <a:moveTo>
                  <a:pt x="0" y="0"/>
                </a:moveTo>
                <a:lnTo>
                  <a:pt x="10320338" y="0"/>
                </a:lnTo>
                <a:lnTo>
                  <a:pt x="10320338"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0" id="60"/>
          <p:cNvSpPr txBox="true"/>
          <p:nvPr/>
        </p:nvSpPr>
        <p:spPr>
          <a:xfrm rot="0">
            <a:off x="1234440" y="4770882"/>
            <a:ext cx="9464040" cy="400050"/>
          </a:xfrm>
          <a:prstGeom prst="rect">
            <a:avLst/>
          </a:prstGeom>
        </p:spPr>
        <p:txBody>
          <a:bodyPr anchor="t" rtlCol="false" tIns="0" lIns="0" bIns="0" rIns="0">
            <a:spAutoFit/>
          </a:bodyPr>
          <a:lstStyle/>
          <a:p>
            <a:pPr algn="l">
              <a:lnSpc>
                <a:spcPts val="1980"/>
              </a:lnSpc>
            </a:pPr>
            <a:r>
              <a:rPr lang="en-US" sz="1650" b="true">
                <a:solidFill>
                  <a:srgbClr val="5E6E78"/>
                </a:solidFill>
                <a:latin typeface="Calibri (MS) Bold"/>
                <a:ea typeface="Calibri (MS) Bold"/>
                <a:cs typeface="Calibri (MS) Bold"/>
                <a:sym typeface="Calibri (MS) Bold"/>
              </a:rPr>
              <a:t>LAJU PENURUNAN WISATAWAN</a:t>
            </a:r>
          </a:p>
        </p:txBody>
      </p:sp>
      <p:grpSp>
        <p:nvGrpSpPr>
          <p:cNvPr name="Group 61" id="61"/>
          <p:cNvGrpSpPr/>
          <p:nvPr/>
        </p:nvGrpSpPr>
        <p:grpSpPr>
          <a:xfrm rot="0">
            <a:off x="1234440" y="5280660"/>
            <a:ext cx="9464040" cy="1165860"/>
            <a:chOff x="0" y="0"/>
            <a:chExt cx="12618720" cy="1554480"/>
          </a:xfrm>
        </p:grpSpPr>
        <p:sp>
          <p:nvSpPr>
            <p:cNvPr name="Freeform 62" id="62"/>
            <p:cNvSpPr/>
            <p:nvPr/>
          </p:nvSpPr>
          <p:spPr>
            <a:xfrm flipH="false" flipV="false" rot="0">
              <a:off x="0" y="0"/>
              <a:ext cx="12618720" cy="1554480"/>
            </a:xfrm>
            <a:custGeom>
              <a:avLst/>
              <a:gdLst/>
              <a:ahLst/>
              <a:cxnLst/>
              <a:rect r="r" b="b" t="t" l="l"/>
              <a:pathLst>
                <a:path h="1554480" w="12618720">
                  <a:moveTo>
                    <a:pt x="0" y="0"/>
                  </a:moveTo>
                  <a:lnTo>
                    <a:pt x="12618720" y="0"/>
                  </a:lnTo>
                  <a:lnTo>
                    <a:pt x="12618720" y="1554480"/>
                  </a:lnTo>
                  <a:lnTo>
                    <a:pt x="0" y="1554480"/>
                  </a:lnTo>
                  <a:close/>
                </a:path>
              </a:pathLst>
            </a:custGeom>
            <a:blipFill>
              <a:blip r:embed="rId4">
                <a:alphaModFix amt="0"/>
              </a:blip>
              <a:stretch>
                <a:fillRect l="0" t="-108062" r="0" b="-108062"/>
              </a:stretch>
            </a:blipFill>
          </p:spPr>
        </p:sp>
      </p:grpSp>
      <p:grpSp>
        <p:nvGrpSpPr>
          <p:cNvPr name="Group 63" id="63"/>
          <p:cNvGrpSpPr/>
          <p:nvPr/>
        </p:nvGrpSpPr>
        <p:grpSpPr>
          <a:xfrm rot="0">
            <a:off x="1234440" y="5237797"/>
            <a:ext cx="9464040" cy="1208723"/>
            <a:chOff x="0" y="0"/>
            <a:chExt cx="12618720" cy="1611630"/>
          </a:xfrm>
        </p:grpSpPr>
        <p:sp>
          <p:nvSpPr>
            <p:cNvPr name="Freeform 64" id="64"/>
            <p:cNvSpPr/>
            <p:nvPr/>
          </p:nvSpPr>
          <p:spPr>
            <a:xfrm flipH="false" flipV="false" rot="0">
              <a:off x="0" y="0"/>
              <a:ext cx="12618720" cy="1611630"/>
            </a:xfrm>
            <a:custGeom>
              <a:avLst/>
              <a:gdLst/>
              <a:ahLst/>
              <a:cxnLst/>
              <a:rect r="r" b="b" t="t" l="l"/>
              <a:pathLst>
                <a:path h="1611630" w="12618720">
                  <a:moveTo>
                    <a:pt x="0" y="0"/>
                  </a:moveTo>
                  <a:lnTo>
                    <a:pt x="12618720" y="0"/>
                  </a:lnTo>
                  <a:lnTo>
                    <a:pt x="12618720" y="1611630"/>
                  </a:lnTo>
                  <a:lnTo>
                    <a:pt x="0" y="1611630"/>
                  </a:lnTo>
                  <a:close/>
                </a:path>
              </a:pathLst>
            </a:custGeom>
            <a:blipFill>
              <a:blip r:embed="rId5">
                <a:alphaModFix amt="0"/>
              </a:blip>
              <a:stretch>
                <a:fillRect l="0" t="-102563" r="0" b="-102563"/>
              </a:stretch>
            </a:blipFill>
          </p:spPr>
        </p:sp>
        <p:sp>
          <p:nvSpPr>
            <p:cNvPr name="TextBox 65" id="65"/>
            <p:cNvSpPr txBox="true"/>
            <p:nvPr/>
          </p:nvSpPr>
          <p:spPr>
            <a:xfrm>
              <a:off x="0" y="-57150"/>
              <a:ext cx="12618720" cy="1668780"/>
            </a:xfrm>
            <a:prstGeom prst="rect">
              <a:avLst/>
            </a:prstGeom>
          </p:spPr>
          <p:txBody>
            <a:bodyPr anchor="ctr" rtlCol="false" tIns="0" lIns="0" bIns="0" rIns="0"/>
            <a:lstStyle/>
            <a:p>
              <a:pPr algn="l">
                <a:lnSpc>
                  <a:spcPts val="3419"/>
                </a:lnSpc>
              </a:pPr>
              <a:r>
                <a:rPr lang="en-US" sz="2850" b="true">
                  <a:solidFill>
                    <a:srgbClr val="0B5E6E"/>
                  </a:solidFill>
                  <a:latin typeface="Calibri (MS) Bold"/>
                  <a:ea typeface="Calibri (MS) Bold"/>
                  <a:cs typeface="Calibri (MS) Bold"/>
                  <a:sym typeface="Calibri (MS) Bold"/>
                </a:rPr>
                <a:t>Jumlah Wisatawan × Laju Penurunan Dasar</a:t>
              </a:r>
            </a:p>
          </p:txBody>
        </p:sp>
      </p:grpSp>
      <p:sp>
        <p:nvSpPr>
          <p:cNvPr name="Freeform 66" id="66"/>
          <p:cNvSpPr/>
          <p:nvPr/>
        </p:nvSpPr>
        <p:spPr>
          <a:xfrm flipH="false" flipV="false" rot="0">
            <a:off x="806291" y="6772751"/>
            <a:ext cx="10320338" cy="2022158"/>
          </a:xfrm>
          <a:custGeom>
            <a:avLst/>
            <a:gdLst/>
            <a:ahLst/>
            <a:cxnLst/>
            <a:rect r="r" b="b" t="t" l="l"/>
            <a:pathLst>
              <a:path h="2022158" w="10320338">
                <a:moveTo>
                  <a:pt x="0" y="0"/>
                </a:moveTo>
                <a:lnTo>
                  <a:pt x="10320338" y="0"/>
                </a:lnTo>
                <a:lnTo>
                  <a:pt x="10320338"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7" id="67"/>
          <p:cNvSpPr txBox="true"/>
          <p:nvPr/>
        </p:nvSpPr>
        <p:spPr>
          <a:xfrm rot="0">
            <a:off x="1234440" y="6965442"/>
            <a:ext cx="9464040" cy="400050"/>
          </a:xfrm>
          <a:prstGeom prst="rect">
            <a:avLst/>
          </a:prstGeom>
        </p:spPr>
        <p:txBody>
          <a:bodyPr anchor="t" rtlCol="false" tIns="0" lIns="0" bIns="0" rIns="0">
            <a:spAutoFit/>
          </a:bodyPr>
          <a:lstStyle/>
          <a:p>
            <a:pPr algn="l">
              <a:lnSpc>
                <a:spcPts val="1980"/>
              </a:lnSpc>
            </a:pPr>
            <a:r>
              <a:rPr lang="en-US" sz="1650" b="true">
                <a:solidFill>
                  <a:srgbClr val="5E6E78"/>
                </a:solidFill>
                <a:latin typeface="Calibri (MS) Bold"/>
                <a:ea typeface="Calibri (MS) Bold"/>
                <a:cs typeface="Calibri (MS) Bold"/>
                <a:sym typeface="Calibri (MS) Bold"/>
              </a:rPr>
              <a:t>DAYA TARIK DESTINASI (indeks, 2025 = 1)</a:t>
            </a:r>
          </a:p>
        </p:txBody>
      </p:sp>
      <p:grpSp>
        <p:nvGrpSpPr>
          <p:cNvPr name="Group 68" id="68"/>
          <p:cNvGrpSpPr/>
          <p:nvPr/>
        </p:nvGrpSpPr>
        <p:grpSpPr>
          <a:xfrm rot="0">
            <a:off x="1234440" y="7475220"/>
            <a:ext cx="9464040" cy="1165860"/>
            <a:chOff x="0" y="0"/>
            <a:chExt cx="12618720" cy="1554480"/>
          </a:xfrm>
        </p:grpSpPr>
        <p:sp>
          <p:nvSpPr>
            <p:cNvPr name="Freeform 69" id="69"/>
            <p:cNvSpPr/>
            <p:nvPr/>
          </p:nvSpPr>
          <p:spPr>
            <a:xfrm flipH="false" flipV="false" rot="0">
              <a:off x="0" y="0"/>
              <a:ext cx="12618720" cy="1554480"/>
            </a:xfrm>
            <a:custGeom>
              <a:avLst/>
              <a:gdLst/>
              <a:ahLst/>
              <a:cxnLst/>
              <a:rect r="r" b="b" t="t" l="l"/>
              <a:pathLst>
                <a:path h="1554480" w="12618720">
                  <a:moveTo>
                    <a:pt x="0" y="0"/>
                  </a:moveTo>
                  <a:lnTo>
                    <a:pt x="12618720" y="0"/>
                  </a:lnTo>
                  <a:lnTo>
                    <a:pt x="12618720" y="1554480"/>
                  </a:lnTo>
                  <a:lnTo>
                    <a:pt x="0" y="1554480"/>
                  </a:lnTo>
                  <a:close/>
                </a:path>
              </a:pathLst>
            </a:custGeom>
            <a:blipFill>
              <a:blip r:embed="rId4">
                <a:alphaModFix amt="0"/>
              </a:blip>
              <a:stretch>
                <a:fillRect l="0" t="-108062" r="0" b="-108062"/>
              </a:stretch>
            </a:blipFill>
          </p:spPr>
        </p:sp>
      </p:grpSp>
      <p:grpSp>
        <p:nvGrpSpPr>
          <p:cNvPr name="Group 70" id="70"/>
          <p:cNvGrpSpPr/>
          <p:nvPr/>
        </p:nvGrpSpPr>
        <p:grpSpPr>
          <a:xfrm rot="0">
            <a:off x="1234440" y="7446645"/>
            <a:ext cx="9464040" cy="1194435"/>
            <a:chOff x="0" y="0"/>
            <a:chExt cx="12618720" cy="1592580"/>
          </a:xfrm>
        </p:grpSpPr>
        <p:sp>
          <p:nvSpPr>
            <p:cNvPr name="Freeform 71" id="71"/>
            <p:cNvSpPr/>
            <p:nvPr/>
          </p:nvSpPr>
          <p:spPr>
            <a:xfrm flipH="false" flipV="false" rot="0">
              <a:off x="0" y="0"/>
              <a:ext cx="12618720" cy="1592580"/>
            </a:xfrm>
            <a:custGeom>
              <a:avLst/>
              <a:gdLst/>
              <a:ahLst/>
              <a:cxnLst/>
              <a:rect r="r" b="b" t="t" l="l"/>
              <a:pathLst>
                <a:path h="1592580" w="12618720">
                  <a:moveTo>
                    <a:pt x="0" y="0"/>
                  </a:moveTo>
                  <a:lnTo>
                    <a:pt x="12618720" y="0"/>
                  </a:lnTo>
                  <a:lnTo>
                    <a:pt x="12618720" y="1592580"/>
                  </a:lnTo>
                  <a:lnTo>
                    <a:pt x="0" y="1592580"/>
                  </a:lnTo>
                  <a:close/>
                </a:path>
              </a:pathLst>
            </a:custGeom>
            <a:blipFill>
              <a:blip r:embed="rId5">
                <a:alphaModFix amt="0"/>
              </a:blip>
              <a:stretch>
                <a:fillRect l="0" t="-104388" r="0" b="-104388"/>
              </a:stretch>
            </a:blipFill>
          </p:spPr>
        </p:sp>
        <p:sp>
          <p:nvSpPr>
            <p:cNvPr name="TextBox 72" id="72"/>
            <p:cNvSpPr txBox="true"/>
            <p:nvPr/>
          </p:nvSpPr>
          <p:spPr>
            <a:xfrm>
              <a:off x="0" y="-38100"/>
              <a:ext cx="12618720" cy="163068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0,40 × komponen ODTW + 0,35 × komponen kepadatan + 0,25 × komponen daya dukung lahan</a:t>
              </a:r>
            </a:p>
          </p:txBody>
        </p:sp>
      </p:grpSp>
      <p:grpSp>
        <p:nvGrpSpPr>
          <p:cNvPr name="Group 73" id="73"/>
          <p:cNvGrpSpPr/>
          <p:nvPr/>
        </p:nvGrpSpPr>
        <p:grpSpPr>
          <a:xfrm rot="0">
            <a:off x="11521440" y="2400300"/>
            <a:ext cx="5939028" cy="6377940"/>
            <a:chOff x="0" y="0"/>
            <a:chExt cx="7918704" cy="8503920"/>
          </a:xfrm>
        </p:grpSpPr>
        <p:sp>
          <p:nvSpPr>
            <p:cNvPr name="Freeform 74" id="74"/>
            <p:cNvSpPr/>
            <p:nvPr/>
          </p:nvSpPr>
          <p:spPr>
            <a:xfrm flipH="false" flipV="false" rot="0">
              <a:off x="0" y="0"/>
              <a:ext cx="7918704" cy="8503920"/>
            </a:xfrm>
            <a:custGeom>
              <a:avLst/>
              <a:gdLst/>
              <a:ahLst/>
              <a:cxnLst/>
              <a:rect r="r" b="b" t="t" l="l"/>
              <a:pathLst>
                <a:path h="8503920" w="7918704">
                  <a:moveTo>
                    <a:pt x="0" y="182880"/>
                  </a:moveTo>
                  <a:cubicBezTo>
                    <a:pt x="0" y="81915"/>
                    <a:pt x="81915" y="0"/>
                    <a:pt x="182880" y="0"/>
                  </a:cubicBezTo>
                  <a:lnTo>
                    <a:pt x="7735824" y="0"/>
                  </a:lnTo>
                  <a:cubicBezTo>
                    <a:pt x="7836789" y="0"/>
                    <a:pt x="7918704" y="81915"/>
                    <a:pt x="7918704" y="182880"/>
                  </a:cubicBezTo>
                  <a:lnTo>
                    <a:pt x="7918704" y="8321040"/>
                  </a:lnTo>
                  <a:cubicBezTo>
                    <a:pt x="7918704" y="8422005"/>
                    <a:pt x="7836789" y="8503920"/>
                    <a:pt x="7735824" y="8503920"/>
                  </a:cubicBezTo>
                  <a:lnTo>
                    <a:pt x="182880" y="8503920"/>
                  </a:lnTo>
                  <a:cubicBezTo>
                    <a:pt x="81915" y="8503920"/>
                    <a:pt x="0" y="8422005"/>
                    <a:pt x="0" y="8321040"/>
                  </a:cubicBezTo>
                  <a:close/>
                </a:path>
              </a:pathLst>
            </a:custGeom>
            <a:solidFill>
              <a:srgbClr val="EAF8FA"/>
            </a:solidFill>
          </p:spPr>
        </p:sp>
      </p:grpSp>
      <p:sp>
        <p:nvSpPr>
          <p:cNvPr name="TextBox 75" id="75"/>
          <p:cNvSpPr txBox="true"/>
          <p:nvPr/>
        </p:nvSpPr>
        <p:spPr>
          <a:xfrm rot="0">
            <a:off x="11932920" y="2560320"/>
            <a:ext cx="5212080" cy="59436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Nilai parameter kunci</a:t>
            </a:r>
          </a:p>
        </p:txBody>
      </p:sp>
      <p:grpSp>
        <p:nvGrpSpPr>
          <p:cNvPr name="Group 76" id="76"/>
          <p:cNvGrpSpPr/>
          <p:nvPr/>
        </p:nvGrpSpPr>
        <p:grpSpPr>
          <a:xfrm rot="0">
            <a:off x="11932920" y="3429000"/>
            <a:ext cx="5212080" cy="617220"/>
            <a:chOff x="0" y="0"/>
            <a:chExt cx="6949440" cy="822960"/>
          </a:xfrm>
        </p:grpSpPr>
        <p:sp>
          <p:nvSpPr>
            <p:cNvPr name="Freeform 77" id="77"/>
            <p:cNvSpPr/>
            <p:nvPr/>
          </p:nvSpPr>
          <p:spPr>
            <a:xfrm flipH="false" flipV="false" rot="0">
              <a:off x="0" y="0"/>
              <a:ext cx="6949440" cy="822960"/>
            </a:xfrm>
            <a:custGeom>
              <a:avLst/>
              <a:gdLst/>
              <a:ahLst/>
              <a:cxnLst/>
              <a:rect r="r" b="b" t="t" l="l"/>
              <a:pathLst>
                <a:path h="822960" w="6949440">
                  <a:moveTo>
                    <a:pt x="0" y="0"/>
                  </a:moveTo>
                  <a:lnTo>
                    <a:pt x="6949440" y="0"/>
                  </a:lnTo>
                  <a:lnTo>
                    <a:pt x="6949440" y="822960"/>
                  </a:lnTo>
                  <a:lnTo>
                    <a:pt x="0" y="822960"/>
                  </a:lnTo>
                  <a:close/>
                </a:path>
              </a:pathLst>
            </a:custGeom>
            <a:blipFill>
              <a:blip r:embed="rId4">
                <a:alphaModFix amt="0"/>
              </a:blip>
              <a:stretch>
                <a:fillRect l="0" t="-114425" r="0" b="-114425"/>
              </a:stretch>
            </a:blipFill>
          </p:spPr>
        </p:sp>
      </p:grpSp>
      <p:grpSp>
        <p:nvGrpSpPr>
          <p:cNvPr name="Group 78" id="78"/>
          <p:cNvGrpSpPr/>
          <p:nvPr/>
        </p:nvGrpSpPr>
        <p:grpSpPr>
          <a:xfrm rot="0">
            <a:off x="11932920" y="3378994"/>
            <a:ext cx="5212080" cy="667226"/>
            <a:chOff x="0" y="0"/>
            <a:chExt cx="6949440" cy="889635"/>
          </a:xfrm>
        </p:grpSpPr>
        <p:sp>
          <p:nvSpPr>
            <p:cNvPr name="Freeform 79" id="79"/>
            <p:cNvSpPr/>
            <p:nvPr/>
          </p:nvSpPr>
          <p:spPr>
            <a:xfrm flipH="false" flipV="false" rot="0">
              <a:off x="0" y="0"/>
              <a:ext cx="6949440" cy="889635"/>
            </a:xfrm>
            <a:custGeom>
              <a:avLst/>
              <a:gdLst/>
              <a:ahLst/>
              <a:cxnLst/>
              <a:rect r="r" b="b" t="t" l="l"/>
              <a:pathLst>
                <a:path h="889635" w="6949440">
                  <a:moveTo>
                    <a:pt x="0" y="0"/>
                  </a:moveTo>
                  <a:lnTo>
                    <a:pt x="6949440" y="0"/>
                  </a:lnTo>
                  <a:lnTo>
                    <a:pt x="6949440" y="889635"/>
                  </a:lnTo>
                  <a:lnTo>
                    <a:pt x="0" y="889635"/>
                  </a:lnTo>
                  <a:close/>
                </a:path>
              </a:pathLst>
            </a:custGeom>
            <a:blipFill>
              <a:blip r:embed="rId5">
                <a:alphaModFix amt="0"/>
              </a:blip>
              <a:stretch>
                <a:fillRect l="0" t="-102208" r="0" b="-102208"/>
              </a:stretch>
            </a:blipFill>
          </p:spPr>
        </p:sp>
        <p:sp>
          <p:nvSpPr>
            <p:cNvPr name="TextBox 80" id="80"/>
            <p:cNvSpPr txBox="true"/>
            <p:nvPr/>
          </p:nvSpPr>
          <p:spPr>
            <a:xfrm>
              <a:off x="0" y="-66675"/>
              <a:ext cx="6949440" cy="956310"/>
            </a:xfrm>
            <a:prstGeom prst="rect">
              <a:avLst/>
            </a:prstGeom>
          </p:spPr>
          <p:txBody>
            <a:bodyPr anchor="ctr" rtlCol="false" tIns="0" lIns="0" bIns="0" rIns="0"/>
            <a:lstStyle/>
            <a:p>
              <a:pPr algn="l">
                <a:lnSpc>
                  <a:spcPts val="3778"/>
                </a:lnSpc>
              </a:pPr>
              <a:r>
                <a:rPr lang="en-US" sz="3150" b="true">
                  <a:solidFill>
                    <a:srgbClr val="0B5E6E"/>
                  </a:solidFill>
                  <a:latin typeface="Calibri (MS) Bold"/>
                  <a:ea typeface="Calibri (MS) Bold"/>
                  <a:cs typeface="Calibri (MS) Bold"/>
                  <a:sym typeface="Calibri (MS) Bold"/>
                </a:rPr>
                <a:t>0,27726 /th</a:t>
              </a:r>
            </a:p>
          </p:txBody>
        </p:sp>
      </p:grpSp>
      <p:sp>
        <p:nvSpPr>
          <p:cNvPr name="TextBox 81" id="81"/>
          <p:cNvSpPr txBox="true"/>
          <p:nvPr/>
        </p:nvSpPr>
        <p:spPr>
          <a:xfrm rot="0">
            <a:off x="11932920" y="4038600"/>
            <a:ext cx="5212080" cy="103632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Laju Pertumbuhan Eksternal (turunan data)</a:t>
            </a:r>
          </a:p>
        </p:txBody>
      </p:sp>
      <p:grpSp>
        <p:nvGrpSpPr>
          <p:cNvPr name="Group 82" id="82"/>
          <p:cNvGrpSpPr/>
          <p:nvPr/>
        </p:nvGrpSpPr>
        <p:grpSpPr>
          <a:xfrm rot="0">
            <a:off x="11932920" y="5212080"/>
            <a:ext cx="5212080" cy="617220"/>
            <a:chOff x="0" y="0"/>
            <a:chExt cx="6949440" cy="822960"/>
          </a:xfrm>
        </p:grpSpPr>
        <p:sp>
          <p:nvSpPr>
            <p:cNvPr name="Freeform 83" id="83"/>
            <p:cNvSpPr/>
            <p:nvPr/>
          </p:nvSpPr>
          <p:spPr>
            <a:xfrm flipH="false" flipV="false" rot="0">
              <a:off x="0" y="0"/>
              <a:ext cx="6949440" cy="822960"/>
            </a:xfrm>
            <a:custGeom>
              <a:avLst/>
              <a:gdLst/>
              <a:ahLst/>
              <a:cxnLst/>
              <a:rect r="r" b="b" t="t" l="l"/>
              <a:pathLst>
                <a:path h="822960" w="6949440">
                  <a:moveTo>
                    <a:pt x="0" y="0"/>
                  </a:moveTo>
                  <a:lnTo>
                    <a:pt x="6949440" y="0"/>
                  </a:lnTo>
                  <a:lnTo>
                    <a:pt x="6949440" y="822960"/>
                  </a:lnTo>
                  <a:lnTo>
                    <a:pt x="0" y="822960"/>
                  </a:lnTo>
                  <a:close/>
                </a:path>
              </a:pathLst>
            </a:custGeom>
            <a:blipFill>
              <a:blip r:embed="rId4">
                <a:alphaModFix amt="0"/>
              </a:blip>
              <a:stretch>
                <a:fillRect l="0" t="-114425" r="0" b="-114425"/>
              </a:stretch>
            </a:blipFill>
          </p:spPr>
        </p:sp>
      </p:grpSp>
      <p:grpSp>
        <p:nvGrpSpPr>
          <p:cNvPr name="Group 84" id="84"/>
          <p:cNvGrpSpPr/>
          <p:nvPr/>
        </p:nvGrpSpPr>
        <p:grpSpPr>
          <a:xfrm rot="0">
            <a:off x="11932920" y="5162074"/>
            <a:ext cx="5212080" cy="667226"/>
            <a:chOff x="0" y="0"/>
            <a:chExt cx="6949440" cy="889635"/>
          </a:xfrm>
        </p:grpSpPr>
        <p:sp>
          <p:nvSpPr>
            <p:cNvPr name="Freeform 85" id="85"/>
            <p:cNvSpPr/>
            <p:nvPr/>
          </p:nvSpPr>
          <p:spPr>
            <a:xfrm flipH="false" flipV="false" rot="0">
              <a:off x="0" y="0"/>
              <a:ext cx="6949440" cy="889635"/>
            </a:xfrm>
            <a:custGeom>
              <a:avLst/>
              <a:gdLst/>
              <a:ahLst/>
              <a:cxnLst/>
              <a:rect r="r" b="b" t="t" l="l"/>
              <a:pathLst>
                <a:path h="889635" w="6949440">
                  <a:moveTo>
                    <a:pt x="0" y="0"/>
                  </a:moveTo>
                  <a:lnTo>
                    <a:pt x="6949440" y="0"/>
                  </a:lnTo>
                  <a:lnTo>
                    <a:pt x="6949440" y="889635"/>
                  </a:lnTo>
                  <a:lnTo>
                    <a:pt x="0" y="889635"/>
                  </a:lnTo>
                  <a:close/>
                </a:path>
              </a:pathLst>
            </a:custGeom>
            <a:blipFill>
              <a:blip r:embed="rId5">
                <a:alphaModFix amt="0"/>
              </a:blip>
              <a:stretch>
                <a:fillRect l="0" t="-102208" r="0" b="-102208"/>
              </a:stretch>
            </a:blipFill>
          </p:spPr>
        </p:sp>
        <p:sp>
          <p:nvSpPr>
            <p:cNvPr name="TextBox 86" id="86"/>
            <p:cNvSpPr txBox="true"/>
            <p:nvPr/>
          </p:nvSpPr>
          <p:spPr>
            <a:xfrm>
              <a:off x="0" y="-66675"/>
              <a:ext cx="6949440" cy="956310"/>
            </a:xfrm>
            <a:prstGeom prst="rect">
              <a:avLst/>
            </a:prstGeom>
          </p:spPr>
          <p:txBody>
            <a:bodyPr anchor="ctr" rtlCol="false" tIns="0" lIns="0" bIns="0" rIns="0"/>
            <a:lstStyle/>
            <a:p>
              <a:pPr algn="l">
                <a:lnSpc>
                  <a:spcPts val="3778"/>
                </a:lnSpc>
              </a:pPr>
              <a:r>
                <a:rPr lang="en-US" sz="3150" b="true">
                  <a:solidFill>
                    <a:srgbClr val="0B5E6E"/>
                  </a:solidFill>
                  <a:latin typeface="Calibri (MS) Bold"/>
                  <a:ea typeface="Calibri (MS) Bold"/>
                  <a:cs typeface="Calibri (MS) Bold"/>
                  <a:sym typeface="Calibri (MS) Bold"/>
                </a:rPr>
                <a:t>0,207945 /th</a:t>
              </a:r>
            </a:p>
          </p:txBody>
        </p:sp>
      </p:grpSp>
      <p:sp>
        <p:nvSpPr>
          <p:cNvPr name="TextBox 87" id="87"/>
          <p:cNvSpPr txBox="true"/>
          <p:nvPr/>
        </p:nvSpPr>
        <p:spPr>
          <a:xfrm rot="0">
            <a:off x="11932920" y="5821680"/>
            <a:ext cx="5212080" cy="103632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Laju Penurunan Dasar = 0,75 × LPE (rasio: asumsi struktural)</a:t>
            </a:r>
          </a:p>
        </p:txBody>
      </p:sp>
      <p:grpSp>
        <p:nvGrpSpPr>
          <p:cNvPr name="Group 88" id="88"/>
          <p:cNvGrpSpPr/>
          <p:nvPr/>
        </p:nvGrpSpPr>
        <p:grpSpPr>
          <a:xfrm rot="0">
            <a:off x="11932920" y="6995160"/>
            <a:ext cx="5212080" cy="617220"/>
            <a:chOff x="0" y="0"/>
            <a:chExt cx="6949440" cy="822960"/>
          </a:xfrm>
        </p:grpSpPr>
        <p:sp>
          <p:nvSpPr>
            <p:cNvPr name="Freeform 89" id="89"/>
            <p:cNvSpPr/>
            <p:nvPr/>
          </p:nvSpPr>
          <p:spPr>
            <a:xfrm flipH="false" flipV="false" rot="0">
              <a:off x="0" y="0"/>
              <a:ext cx="6949440" cy="822960"/>
            </a:xfrm>
            <a:custGeom>
              <a:avLst/>
              <a:gdLst/>
              <a:ahLst/>
              <a:cxnLst/>
              <a:rect r="r" b="b" t="t" l="l"/>
              <a:pathLst>
                <a:path h="822960" w="6949440">
                  <a:moveTo>
                    <a:pt x="0" y="0"/>
                  </a:moveTo>
                  <a:lnTo>
                    <a:pt x="6949440" y="0"/>
                  </a:lnTo>
                  <a:lnTo>
                    <a:pt x="6949440" y="822960"/>
                  </a:lnTo>
                  <a:lnTo>
                    <a:pt x="0" y="822960"/>
                  </a:lnTo>
                  <a:close/>
                </a:path>
              </a:pathLst>
            </a:custGeom>
            <a:blipFill>
              <a:blip r:embed="rId4">
                <a:alphaModFix amt="0"/>
              </a:blip>
              <a:stretch>
                <a:fillRect l="0" t="-114425" r="0" b="-114425"/>
              </a:stretch>
            </a:blipFill>
          </p:spPr>
        </p:sp>
      </p:grpSp>
      <p:grpSp>
        <p:nvGrpSpPr>
          <p:cNvPr name="Group 90" id="90"/>
          <p:cNvGrpSpPr/>
          <p:nvPr/>
        </p:nvGrpSpPr>
        <p:grpSpPr>
          <a:xfrm rot="0">
            <a:off x="11932920" y="6945154"/>
            <a:ext cx="5212080" cy="667226"/>
            <a:chOff x="0" y="0"/>
            <a:chExt cx="6949440" cy="889635"/>
          </a:xfrm>
        </p:grpSpPr>
        <p:sp>
          <p:nvSpPr>
            <p:cNvPr name="Freeform 91" id="91"/>
            <p:cNvSpPr/>
            <p:nvPr/>
          </p:nvSpPr>
          <p:spPr>
            <a:xfrm flipH="false" flipV="false" rot="0">
              <a:off x="0" y="0"/>
              <a:ext cx="6949440" cy="889635"/>
            </a:xfrm>
            <a:custGeom>
              <a:avLst/>
              <a:gdLst/>
              <a:ahLst/>
              <a:cxnLst/>
              <a:rect r="r" b="b" t="t" l="l"/>
              <a:pathLst>
                <a:path h="889635" w="6949440">
                  <a:moveTo>
                    <a:pt x="0" y="0"/>
                  </a:moveTo>
                  <a:lnTo>
                    <a:pt x="6949440" y="0"/>
                  </a:lnTo>
                  <a:lnTo>
                    <a:pt x="6949440" y="889635"/>
                  </a:lnTo>
                  <a:lnTo>
                    <a:pt x="0" y="889635"/>
                  </a:lnTo>
                  <a:close/>
                </a:path>
              </a:pathLst>
            </a:custGeom>
            <a:blipFill>
              <a:blip r:embed="rId5">
                <a:alphaModFix amt="0"/>
              </a:blip>
              <a:stretch>
                <a:fillRect l="0" t="-102208" r="0" b="-102208"/>
              </a:stretch>
            </a:blipFill>
          </p:spPr>
        </p:sp>
        <p:sp>
          <p:nvSpPr>
            <p:cNvPr name="TextBox 92" id="92"/>
            <p:cNvSpPr txBox="true"/>
            <p:nvPr/>
          </p:nvSpPr>
          <p:spPr>
            <a:xfrm>
              <a:off x="0" y="-66675"/>
              <a:ext cx="6949440" cy="956310"/>
            </a:xfrm>
            <a:prstGeom prst="rect">
              <a:avLst/>
            </a:prstGeom>
          </p:spPr>
          <p:txBody>
            <a:bodyPr anchor="ctr" rtlCol="false" tIns="0" lIns="0" bIns="0" rIns="0"/>
            <a:lstStyle/>
            <a:p>
              <a:pPr algn="l">
                <a:lnSpc>
                  <a:spcPts val="3778"/>
                </a:lnSpc>
              </a:pPr>
              <a:r>
                <a:rPr lang="en-US" sz="3150" b="true">
                  <a:solidFill>
                    <a:srgbClr val="0B5E6E"/>
                  </a:solidFill>
                  <a:latin typeface="Calibri (MS) Bold"/>
                  <a:ea typeface="Calibri (MS) Bold"/>
                  <a:cs typeface="Calibri (MS) Bold"/>
                  <a:sym typeface="Calibri (MS) Bold"/>
                </a:rPr>
                <a:t>0,40 · 0,35 · 0,25</a:t>
              </a:r>
            </a:p>
          </p:txBody>
        </p:sp>
      </p:grpSp>
      <p:sp>
        <p:nvSpPr>
          <p:cNvPr name="TextBox 93" id="93"/>
          <p:cNvSpPr txBox="true"/>
          <p:nvPr/>
        </p:nvSpPr>
        <p:spPr>
          <a:xfrm rot="0">
            <a:off x="11932920" y="7604760"/>
            <a:ext cx="5212080" cy="103632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Bobot ODTW · kepadatan · daya dukung lahan (asumsi peneliti)</a:t>
            </a:r>
          </a:p>
        </p:txBody>
      </p:sp>
      <p:sp>
        <p:nvSpPr>
          <p:cNvPr name="TextBox 94" id="94"/>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35</a:t>
            </a:r>
          </a:p>
        </p:txBody>
      </p:sp>
      <p:sp>
        <p:nvSpPr>
          <p:cNvPr id="95" name="TextBox 94"/>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2B · Formulasi model</a:t>
            </a:r>
          </a:p>
        </p:txBody>
      </p:sp>
      <p:sp>
        <p:nvSpPr>
          <p:cNvPr id="96"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4.3.1 · Persamaan Stock — Subsistem Lainnya</a:t>
            </a:r>
          </a:p>
          <a:p>
            <a:pPr algn="l">
              <a:lnSpc>
                <a:spcPct val="100000"/>
              </a:lnSpc>
            </a:pPr>
            <a:r>
              <a:rPr lang="en-US" sz="3500" b="true">
                <a:solidFill>
                  <a:srgbClr val="0B5E6E"/>
                </a:solidFill>
                <a:latin typeface="Calibri (MS) Bold"/>
                <a:ea typeface="Calibri (MS) Bold"/>
                <a:cs typeface="Calibri (MS) Bold"/>
                <a:sym typeface="Calibri (MS) Bold"/>
              </a:rPr>
              <a:t>Persamaan akomodasi, ODTW, tenaga kerja, lahan, dan letak tuas kebijakan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36</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2B · Formulasi model</a:t>
            </a:r>
          </a:p>
        </p:txBody>
      </p:sp>
      <p:sp>
        <p:nvSpPr>
          <p:cNvPr id="149" name="Rounded Rectangle 148"/>
          <p:cNvSpPr/>
          <p:nvPr/>
        </p:nvSpPr>
        <p:spPr>
          <a:xfrm>
            <a:off x="822960" y="22860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Akomodasi (B3)</a:t>
            </a:r>
          </a:p>
          <a:p>
            <a:pPr algn="l">
              <a:spcAft>
                <a:spcPts val="300"/>
              </a:spcAft>
            </a:pPr>
            <a:r>
              <a:rPr sz="1839" b="0" i="0">
                <a:solidFill>
                  <a:srgbClr val="14313B"/>
                </a:solidFill>
                <a:latin typeface="Calibri (MS)"/>
              </a:rPr>
              <a:t>• Konstruksi = Investasi × 2,31385 × MAX(0; Rasio Permintaan − 0,275)</a:t>
            </a:r>
          </a:p>
          <a:p>
            <a:pPr algn="l">
              <a:spcAft>
                <a:spcPts val="300"/>
              </a:spcAft>
            </a:pPr>
            <a:r>
              <a:rPr sz="1839" b="0" i="0">
                <a:solidFill>
                  <a:srgbClr val="14313B"/>
                </a:solidFill>
                <a:latin typeface="Calibri (MS)"/>
              </a:rPr>
              <a:t>• Rasio Permintaan = (Total Malam ÷ TPG) ÷ (Hotel × 21,4168 × 329,03)</a:t>
            </a:r>
          </a:p>
          <a:p>
            <a:pPr algn="l">
              <a:spcAft>
                <a:spcPts val="300"/>
              </a:spcAft>
            </a:pPr>
            <a:r>
              <a:rPr sz="1839" b="0" i="0">
                <a:solidFill>
                  <a:srgbClr val="14313B"/>
                </a:solidFill>
                <a:latin typeface="Calibri (MS)"/>
              </a:rPr>
              <a:t>• TPK = MIN(1; Rasio Permintaan) · Demolisi = Hotel × 0,05</a:t>
            </a:r>
          </a:p>
        </p:txBody>
      </p:sp>
      <p:sp>
        <p:nvSpPr>
          <p:cNvPr id="150" name="Rounded Rectangle 149"/>
          <p:cNvSpPr/>
          <p:nvPr/>
        </p:nvSpPr>
        <p:spPr>
          <a:xfrm>
            <a:off x="9235440" y="22860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ODTW (R2)</a:t>
            </a:r>
          </a:p>
          <a:p>
            <a:pPr algn="l">
              <a:spcAft>
                <a:spcPts val="300"/>
              </a:spcAft>
            </a:pPr>
            <a:r>
              <a:rPr sz="1839" b="0" i="0">
                <a:solidFill>
                  <a:srgbClr val="14313B"/>
                </a:solidFill>
                <a:latin typeface="Calibri (MS)"/>
              </a:rPr>
              <a:t>• Pembangunan ODTW = Investasi × 0,01052 + 5,427</a:t>
            </a:r>
          </a:p>
          <a:p>
            <a:pPr algn="l">
              <a:spcAft>
                <a:spcPts val="300"/>
              </a:spcAft>
            </a:pPr>
            <a:r>
              <a:rPr sz="1839" b="0" i="0">
                <a:solidFill>
                  <a:srgbClr val="14313B"/>
                </a:solidFill>
                <a:latin typeface="Calibri (MS)"/>
              </a:rPr>
              <a:t>• Penutupan ODTW = ODTW × 0,04993</a:t>
            </a:r>
          </a:p>
          <a:p>
            <a:pPr algn="l">
              <a:spcAft>
                <a:spcPts val="300"/>
              </a:spcAft>
            </a:pPr>
            <a:r>
              <a:rPr sz="1839" b="0" i="0">
                <a:solidFill>
                  <a:srgbClr val="14313B"/>
                </a:solidFill>
                <a:latin typeface="Calibri (MS)"/>
              </a:rPr>
              <a:t>• Investasi = PDRB × 0,0488 × (1 + Insentif Kebijakan)</a:t>
            </a:r>
          </a:p>
        </p:txBody>
      </p:sp>
      <p:sp>
        <p:nvSpPr>
          <p:cNvPr id="151" name="Rounded Rectangle 150"/>
          <p:cNvSpPr/>
          <p:nvPr/>
        </p:nvSpPr>
        <p:spPr>
          <a:xfrm>
            <a:off x="822960" y="52578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Tenaga kerja (B4)</a:t>
            </a:r>
          </a:p>
          <a:p>
            <a:pPr algn="l">
              <a:spcAft>
                <a:spcPts val="300"/>
              </a:spcAft>
            </a:pPr>
            <a:r>
              <a:rPr sz="1839" b="0" i="0">
                <a:solidFill>
                  <a:srgbClr val="14313B"/>
                </a:solidFill>
                <a:latin typeface="Calibri (MS)"/>
              </a:rPr>
              <a:t>• TK Dibutuhkan = PDRB × Intensitas TK</a:t>
            </a:r>
          </a:p>
          <a:p>
            <a:pPr algn="l">
              <a:spcAft>
                <a:spcPts val="300"/>
              </a:spcAft>
            </a:pPr>
            <a:r>
              <a:rPr sz="1839" b="0" i="0">
                <a:solidFill>
                  <a:srgbClr val="14313B"/>
                </a:solidFill>
                <a:latin typeface="Calibri (MS)"/>
              </a:rPr>
              <a:t>• Intensitas TK = 21,5366 × e^(−0,0110(t − 2025))</a:t>
            </a:r>
          </a:p>
          <a:p>
            <a:pPr algn="l">
              <a:spcAft>
                <a:spcPts val="300"/>
              </a:spcAft>
            </a:pPr>
            <a:r>
              <a:rPr sz="1839" b="0" i="0">
                <a:solidFill>
                  <a:srgbClr val="14313B"/>
                </a:solidFill>
                <a:latin typeface="Calibri (MS)"/>
              </a:rPr>
              <a:t>• Penyerapan = MAX(0; Keluar + (TK Dibutuhkan − TK) ÷ 1)</a:t>
            </a:r>
          </a:p>
        </p:txBody>
      </p:sp>
      <p:sp>
        <p:nvSpPr>
          <p:cNvPr id="152" name="Rounded Rectangle 151"/>
          <p:cNvSpPr/>
          <p:nvPr/>
        </p:nvSpPr>
        <p:spPr>
          <a:xfrm>
            <a:off x="9235440" y="52578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Lahan (B2)</a:t>
            </a:r>
          </a:p>
          <a:p>
            <a:pPr algn="l">
              <a:spcAft>
                <a:spcPts val="300"/>
              </a:spcAft>
            </a:pPr>
            <a:r>
              <a:rPr sz="1839" b="0" i="0">
                <a:solidFill>
                  <a:srgbClr val="14313B"/>
                </a:solidFill>
                <a:latin typeface="Calibri (MS)"/>
              </a:rPr>
              <a:t>• Konversi non-pariwisata = 0,0436052 × Lahan × RDDL</a:t>
            </a:r>
          </a:p>
          <a:p>
            <a:pPr algn="l">
              <a:spcAft>
                <a:spcPts val="300"/>
              </a:spcAft>
            </a:pPr>
            <a:r>
              <a:rPr sz="1839" b="0" i="0">
                <a:solidFill>
                  <a:srgbClr val="14313B"/>
                </a:solidFill>
                <a:latin typeface="Calibri (MS)"/>
              </a:rPr>
              <a:t>• Konversi pariwisata = (Konstruksi × 0,1 + Pemb. ODTW × 0,5) × (1 − Konservasi Lahan) × RDDL ÷ 0,826425</a:t>
            </a:r>
          </a:p>
          <a:p>
            <a:pPr algn="l">
              <a:spcAft>
                <a:spcPts val="300"/>
              </a:spcAft>
            </a:pPr>
            <a:r>
              <a:rPr sz="1839" b="0" i="0">
                <a:solidFill>
                  <a:srgbClr val="14313B"/>
                </a:solidFill>
                <a:latin typeface="Calibri (MS)"/>
              </a:rPr>
              <a:t>• RDDL = MAX(0; 1 − Lahan ÷ 317.036)</a:t>
            </a:r>
          </a:p>
        </p:txBody>
      </p:sp>
      <p:sp>
        <p:nvSpPr>
          <p:cNvPr id="153" name="Rounded Rectangle 152"/>
          <p:cNvSpPr/>
          <p:nvPr/>
        </p:nvSpPr>
        <p:spPr>
          <a:xfrm>
            <a:off x="822960" y="8366760"/>
            <a:ext cx="16642080" cy="86868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Dua tuas menempel di dua jalur: Insentif Kebijakan pada investasi (R2), Kebijakan Konservasi Lahan pada konversi lahan pariwisata (B2). Pembatas MIN/MAX hasil perbaikan uji kondisi ekstrem.</a:t>
            </a:r>
          </a:p>
        </p:txBody>
      </p:sp>
      <p:sp>
        <p:nvSpPr>
          <p:cNvPr id="154" name="TextBox 153"/>
          <p:cNvSpPr txBox="1"/>
          <p:nvPr/>
        </p:nvSpPr>
        <p:spPr>
          <a:xfrm>
            <a:off x="822960" y="9262872"/>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4.3.1, Lampiran 6; model Vensim final (repository [04] Simulasi Skenario).</a:t>
            </a:r>
          </a:p>
        </p:txBody>
      </p:sp>
      <p:sp>
        <p:nvSpPr>
          <p:cNvPr id="155"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3.4.2 &amp; 4.3.2 · Penetapan Parameter</a:t>
            </a:r>
          </a:p>
          <a:p>
            <a:pPr algn="l">
              <a:lnSpc>
                <a:spcPct val="100000"/>
              </a:lnSpc>
            </a:pPr>
            <a:r>
              <a:rPr lang="en-US" sz="3500" b="true">
                <a:solidFill>
                  <a:srgbClr val="0B5E6E"/>
                </a:solidFill>
                <a:latin typeface="Calibri (MS) Bold"/>
                <a:ea typeface="Calibri (MS) Bold"/>
                <a:cs typeface="Calibri (MS) Bold"/>
                <a:sym typeface="Calibri (MS) Bold"/>
              </a:rPr>
              <a:t>35 parameter dari lima kategori sumber; hanya yang tidak pasti boleh dikalibrasi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37</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2C · Parameterisasi</a:t>
            </a:r>
          </a:p>
        </p:txBody>
      </p:sp>
      <p:sp>
        <p:nvSpPr>
          <p:cNvPr id="149" name="Rounded Rectangle 148"/>
          <p:cNvSpPr/>
          <p:nvPr/>
        </p:nvSpPr>
        <p:spPr>
          <a:xfrm>
            <a:off x="822960" y="2286000"/>
            <a:ext cx="3154680" cy="13258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3910" b="1" i="0">
                <a:solidFill>
                  <a:srgbClr val="FFFFFF"/>
                </a:solidFill>
                <a:latin typeface="Calibri (MS) Bold"/>
              </a:rPr>
              <a:t>11</a:t>
            </a:r>
          </a:p>
          <a:p>
            <a:pPr algn="ctr">
              <a:spcAft>
                <a:spcPts val="300"/>
              </a:spcAft>
            </a:pPr>
            <a:r>
              <a:rPr sz="1720" b="1" i="0">
                <a:solidFill>
                  <a:srgbClr val="FFFFFF"/>
                </a:solidFill>
                <a:latin typeface="Calibri (MS) Bold"/>
              </a:rPr>
              <a:t>Data statistik resmi</a:t>
            </a:r>
          </a:p>
        </p:txBody>
      </p:sp>
      <p:sp>
        <p:nvSpPr>
          <p:cNvPr id="150" name="Rounded Rectangle 149"/>
          <p:cNvSpPr/>
          <p:nvPr/>
        </p:nvSpPr>
        <p:spPr>
          <a:xfrm>
            <a:off x="822960" y="3703320"/>
            <a:ext cx="3154680" cy="30175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0" i="0">
                <a:solidFill>
                  <a:srgbClr val="14313B"/>
                </a:solidFill>
                <a:latin typeface="Calibri (MS)"/>
              </a:rPr>
              <a:t>• Pengeluaran/kunjungan 0,00272</a:t>
            </a:r>
          </a:p>
          <a:p>
            <a:pPr algn="l">
              <a:spcAft>
                <a:spcPts val="300"/>
              </a:spcAft>
            </a:pPr>
            <a:r>
              <a:rPr sz="1550" b="0" i="0">
                <a:solidFill>
                  <a:srgbClr val="14313B"/>
                </a:solidFill>
                <a:latin typeface="Calibri (MS)"/>
              </a:rPr>
              <a:t>• Rasio nilai tambah 0,1531</a:t>
            </a:r>
          </a:p>
          <a:p>
            <a:pPr algn="l">
              <a:spcAft>
                <a:spcPts val="300"/>
              </a:spcAft>
            </a:pPr>
            <a:r>
              <a:rPr sz="1550" b="0" i="0">
                <a:solidFill>
                  <a:srgbClr val="14313B"/>
                </a:solidFill>
                <a:latin typeface="Calibri (MS)"/>
              </a:rPr>
              <a:t>• Rasio investasi/PDRB 0,0488</a:t>
            </a:r>
          </a:p>
          <a:p>
            <a:pPr algn="l">
              <a:spcAft>
                <a:spcPts val="300"/>
              </a:spcAft>
            </a:pPr>
            <a:r>
              <a:rPr sz="1550" b="0" i="0">
                <a:solidFill>
                  <a:srgbClr val="14313B"/>
                </a:solidFill>
                <a:latin typeface="Calibri (MS)"/>
              </a:rPr>
              <a:t>• Malam tersedia/kamar 329,03</a:t>
            </a:r>
          </a:p>
        </p:txBody>
      </p:sp>
      <p:sp>
        <p:nvSpPr>
          <p:cNvPr id="151" name="Rounded Rectangle 150"/>
          <p:cNvSpPr/>
          <p:nvPr/>
        </p:nvSpPr>
        <p:spPr>
          <a:xfrm>
            <a:off x="822960" y="6812280"/>
            <a:ext cx="3154680" cy="109728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40" b="1" i="0">
                <a:solidFill>
                  <a:srgbClr val="0B5E6E"/>
                </a:solidFill>
                <a:latin typeface="Calibri (MS) Bold"/>
              </a:rPr>
              <a:t>Kalibrasi?</a:t>
            </a:r>
          </a:p>
          <a:p>
            <a:pPr algn="l">
              <a:spcAft>
                <a:spcPts val="300"/>
              </a:spcAft>
            </a:pPr>
            <a:r>
              <a:rPr sz="1490" b="0" i="0">
                <a:solidFill>
                  <a:srgbClr val="14313B"/>
                </a:solidFill>
                <a:latin typeface="Calibri (MS)"/>
              </a:rPr>
              <a:t>Tidak dikalibrasi</a:t>
            </a:r>
          </a:p>
        </p:txBody>
      </p:sp>
      <p:sp>
        <p:nvSpPr>
          <p:cNvPr id="152" name="Rounded Rectangle 151"/>
          <p:cNvSpPr/>
          <p:nvPr/>
        </p:nvSpPr>
        <p:spPr>
          <a:xfrm>
            <a:off x="4187952" y="2286000"/>
            <a:ext cx="3154680" cy="1325880"/>
          </a:xfrm>
          <a:prstGeom prst="roundRect">
            <a:avLst>
              <a:gd name="adj" fmla="val 8000"/>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3910" b="1" i="0">
                <a:solidFill>
                  <a:srgbClr val="FFFFFF"/>
                </a:solidFill>
                <a:latin typeface="Calibri (MS) Bold"/>
              </a:rPr>
              <a:t>8</a:t>
            </a:r>
          </a:p>
          <a:p>
            <a:pPr algn="ctr">
              <a:spcAft>
                <a:spcPts val="300"/>
              </a:spcAft>
            </a:pPr>
            <a:r>
              <a:rPr sz="1720" b="1" i="0">
                <a:solidFill>
                  <a:srgbClr val="FFFFFF"/>
                </a:solidFill>
                <a:latin typeface="Calibri (MS) Bold"/>
              </a:rPr>
              <a:t>Identitas stok-aliran</a:t>
            </a:r>
          </a:p>
        </p:txBody>
      </p:sp>
      <p:sp>
        <p:nvSpPr>
          <p:cNvPr id="153" name="Rounded Rectangle 152"/>
          <p:cNvSpPr/>
          <p:nvPr/>
        </p:nvSpPr>
        <p:spPr>
          <a:xfrm>
            <a:off x="4187952" y="3703320"/>
            <a:ext cx="3154680" cy="30175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0" i="0">
                <a:solidFill>
                  <a:srgbClr val="14313B"/>
                </a:solidFill>
                <a:latin typeface="Calibri (MS)"/>
              </a:rPr>
              <a:t>• LPE 0,27726 · LPD 0,207945</a:t>
            </a:r>
          </a:p>
          <a:p>
            <a:pPr algn="l">
              <a:spcAft>
                <a:spcPts val="300"/>
              </a:spcAft>
            </a:pPr>
            <a:r>
              <a:rPr sz="1550" b="0" i="0">
                <a:solidFill>
                  <a:srgbClr val="14313B"/>
                </a:solidFill>
                <a:latin typeface="Calibri (MS)"/>
              </a:rPr>
              <a:t>• TPK ambang 0,275</a:t>
            </a:r>
          </a:p>
          <a:p>
            <a:pPr algn="l">
              <a:spcAft>
                <a:spcPts val="300"/>
              </a:spcAft>
            </a:pPr>
            <a:r>
              <a:rPr sz="1550" b="0" i="0">
                <a:solidFill>
                  <a:srgbClr val="14313B"/>
                </a:solidFill>
                <a:latin typeface="Calibri (MS)"/>
              </a:rPr>
              <a:t>• Sens. konstruksi 2,31385</a:t>
            </a:r>
          </a:p>
          <a:p>
            <a:pPr algn="l">
              <a:spcAft>
                <a:spcPts val="300"/>
              </a:spcAft>
            </a:pPr>
            <a:r>
              <a:rPr sz="1550" b="0" i="0">
                <a:solidFill>
                  <a:srgbClr val="14313B"/>
                </a:solidFill>
                <a:latin typeface="Calibri (MS)"/>
              </a:rPr>
              <a:t>• Laju konversi dasar 0,0436</a:t>
            </a:r>
          </a:p>
        </p:txBody>
      </p:sp>
      <p:sp>
        <p:nvSpPr>
          <p:cNvPr id="154" name="Rounded Rectangle 153"/>
          <p:cNvSpPr/>
          <p:nvPr/>
        </p:nvSpPr>
        <p:spPr>
          <a:xfrm>
            <a:off x="4187952" y="6812280"/>
            <a:ext cx="3154680" cy="109728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40" b="1" i="0">
                <a:solidFill>
                  <a:srgbClr val="0B5E6E"/>
                </a:solidFill>
                <a:latin typeface="Calibri (MS) Bold"/>
              </a:rPr>
              <a:t>Kalibrasi?</a:t>
            </a:r>
          </a:p>
          <a:p>
            <a:pPr algn="l">
              <a:spcAft>
                <a:spcPts val="300"/>
              </a:spcAft>
            </a:pPr>
            <a:r>
              <a:rPr sz="1490" b="0" i="0">
                <a:solidFill>
                  <a:srgbClr val="14313B"/>
                </a:solidFill>
                <a:latin typeface="Calibri (MS)"/>
              </a:rPr>
              <a:t>Tidak (kecuali yang tidak pasti: ambang, konversi)</a:t>
            </a:r>
          </a:p>
        </p:txBody>
      </p:sp>
      <p:sp>
        <p:nvSpPr>
          <p:cNvPr id="155" name="Rounded Rectangle 154"/>
          <p:cNvSpPr/>
          <p:nvPr/>
        </p:nvSpPr>
        <p:spPr>
          <a:xfrm>
            <a:off x="7552944" y="2286000"/>
            <a:ext cx="3154680" cy="1325880"/>
          </a:xfrm>
          <a:prstGeom prst="roundRect">
            <a:avLst>
              <a:gd name="adj" fmla="val 8000"/>
            </a:avLst>
          </a:prstGeom>
          <a:solidFill>
            <a:srgbClr val="3AC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3910" b="1" i="0">
                <a:solidFill>
                  <a:srgbClr val="FFFFFF"/>
                </a:solidFill>
                <a:latin typeface="Calibri (MS) Bold"/>
              </a:rPr>
              <a:t>2</a:t>
            </a:r>
          </a:p>
          <a:p>
            <a:pPr algn="ctr">
              <a:spcAft>
                <a:spcPts val="300"/>
              </a:spcAft>
            </a:pPr>
            <a:r>
              <a:rPr sz="1720" b="1" i="0">
                <a:solidFill>
                  <a:srgbClr val="FFFFFF"/>
                </a:solidFill>
                <a:latin typeface="Calibri (MS) Bold"/>
              </a:rPr>
              <a:t>Ketentuan regulasi</a:t>
            </a:r>
          </a:p>
        </p:txBody>
      </p:sp>
      <p:sp>
        <p:nvSpPr>
          <p:cNvPr id="156" name="Rounded Rectangle 155"/>
          <p:cNvSpPr/>
          <p:nvPr/>
        </p:nvSpPr>
        <p:spPr>
          <a:xfrm>
            <a:off x="7552944" y="3703320"/>
            <a:ext cx="3154680" cy="30175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0" i="0">
                <a:solidFill>
                  <a:srgbClr val="14313B"/>
                </a:solidFill>
                <a:latin typeface="Calibri (MS)"/>
              </a:rPr>
              <a:t>• Laju demolisi 0,05 (UU PPh)</a:t>
            </a:r>
          </a:p>
          <a:p>
            <a:pPr algn="l">
              <a:spcAft>
                <a:spcPts val="300"/>
              </a:spcAft>
            </a:pPr>
            <a:r>
              <a:rPr sz="1550" b="0" i="0">
                <a:solidFill>
                  <a:srgbClr val="14313B"/>
                </a:solidFill>
                <a:latin typeface="Calibri (MS)"/>
              </a:rPr>
              <a:t>• Laju keluar TK 0,03 (PP 45/2015)</a:t>
            </a:r>
          </a:p>
        </p:txBody>
      </p:sp>
      <p:sp>
        <p:nvSpPr>
          <p:cNvPr id="157" name="Rounded Rectangle 156"/>
          <p:cNvSpPr/>
          <p:nvPr/>
        </p:nvSpPr>
        <p:spPr>
          <a:xfrm>
            <a:off x="7552944" y="6812280"/>
            <a:ext cx="3154680" cy="109728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40" b="1" i="0">
                <a:solidFill>
                  <a:srgbClr val="0B5E6E"/>
                </a:solidFill>
                <a:latin typeface="Calibri (MS) Bold"/>
              </a:rPr>
              <a:t>Kalibrasi?</a:t>
            </a:r>
          </a:p>
          <a:p>
            <a:pPr algn="l">
              <a:spcAft>
                <a:spcPts val="300"/>
              </a:spcAft>
            </a:pPr>
            <a:r>
              <a:rPr sz="1490" b="0" i="0">
                <a:solidFill>
                  <a:srgbClr val="14313B"/>
                </a:solidFill>
                <a:latin typeface="Calibri (MS)"/>
              </a:rPr>
              <a:t>Boleh (proksi)</a:t>
            </a:r>
          </a:p>
        </p:txBody>
      </p:sp>
      <p:sp>
        <p:nvSpPr>
          <p:cNvPr id="158" name="Rounded Rectangle 157"/>
          <p:cNvSpPr/>
          <p:nvPr/>
        </p:nvSpPr>
        <p:spPr>
          <a:xfrm>
            <a:off x="10917936" y="2286000"/>
            <a:ext cx="3154680" cy="1325880"/>
          </a:xfrm>
          <a:prstGeom prst="roundRect">
            <a:avLst>
              <a:gd name="adj" fmla="val 8000"/>
            </a:avLst>
          </a:prstGeom>
          <a:solidFill>
            <a:srgbClr val="FFD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3910" b="1" i="0">
                <a:solidFill>
                  <a:srgbClr val="14313B"/>
                </a:solidFill>
                <a:latin typeface="Calibri (MS) Bold"/>
              </a:rPr>
              <a:t>8</a:t>
            </a:r>
          </a:p>
          <a:p>
            <a:pPr algn="ctr">
              <a:spcAft>
                <a:spcPts val="300"/>
              </a:spcAft>
            </a:pPr>
            <a:r>
              <a:rPr sz="1720" b="1" i="0">
                <a:solidFill>
                  <a:srgbClr val="14313B"/>
                </a:solidFill>
                <a:latin typeface="Calibri (MS) Bold"/>
              </a:rPr>
              <a:t>Asumsi pemodelan</a:t>
            </a:r>
          </a:p>
        </p:txBody>
      </p:sp>
      <p:sp>
        <p:nvSpPr>
          <p:cNvPr id="159" name="Rounded Rectangle 158"/>
          <p:cNvSpPr/>
          <p:nvPr/>
        </p:nvSpPr>
        <p:spPr>
          <a:xfrm>
            <a:off x="10917936" y="3703320"/>
            <a:ext cx="3154680" cy="30175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0" i="0">
                <a:solidFill>
                  <a:srgbClr val="14313B"/>
                </a:solidFill>
                <a:latin typeface="Calibri (MS)"/>
              </a:rPr>
              <a:t>• Bobot 0,40 / 0,35 / 0,25</a:t>
            </a:r>
          </a:p>
          <a:p>
            <a:pPr algn="l">
              <a:spcAft>
                <a:spcPts val="300"/>
              </a:spcAft>
            </a:pPr>
            <a:r>
              <a:rPr sz="1550" b="0" i="0">
                <a:solidFill>
                  <a:srgbClr val="14313B"/>
                </a:solidFill>
                <a:latin typeface="Calibri (MS)"/>
              </a:rPr>
              <a:t>• Elastisitas 0,3 · batas 1,5</a:t>
            </a:r>
          </a:p>
          <a:p>
            <a:pPr algn="l">
              <a:spcAft>
                <a:spcPts val="300"/>
              </a:spcAft>
            </a:pPr>
            <a:r>
              <a:rPr sz="1550" b="0" i="0">
                <a:solidFill>
                  <a:srgbClr val="14313B"/>
                </a:solidFill>
                <a:latin typeface="Calibri (MS)"/>
              </a:rPr>
              <a:t>• Lahan/hotel 0,1 · /ODTW 0,5</a:t>
            </a:r>
          </a:p>
          <a:p>
            <a:pPr algn="l">
              <a:spcAft>
                <a:spcPts val="300"/>
              </a:spcAft>
            </a:pPr>
            <a:r>
              <a:rPr sz="1550" b="0" i="0">
                <a:solidFill>
                  <a:srgbClr val="14313B"/>
                </a:solidFill>
                <a:latin typeface="Calibri (MS)"/>
              </a:rPr>
              <a:t>• Waktu penyesuaian TK 1</a:t>
            </a:r>
          </a:p>
        </p:txBody>
      </p:sp>
      <p:sp>
        <p:nvSpPr>
          <p:cNvPr id="160" name="Rounded Rectangle 159"/>
          <p:cNvSpPr/>
          <p:nvPr/>
        </p:nvSpPr>
        <p:spPr>
          <a:xfrm>
            <a:off x="10917936" y="6812280"/>
            <a:ext cx="3154680" cy="109728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40" b="1" i="0">
                <a:solidFill>
                  <a:srgbClr val="0B5E6E"/>
                </a:solidFill>
                <a:latin typeface="Calibri (MS) Bold"/>
              </a:rPr>
              <a:t>Kalibrasi?</a:t>
            </a:r>
          </a:p>
          <a:p>
            <a:pPr algn="l">
              <a:spcAft>
                <a:spcPts val="300"/>
              </a:spcAft>
            </a:pPr>
            <a:r>
              <a:rPr sz="1490" b="0" i="0">
                <a:solidFill>
                  <a:srgbClr val="14313B"/>
                </a:solidFill>
                <a:latin typeface="Calibri (MS)"/>
              </a:rPr>
              <a:t>Diuji sensitivitas</a:t>
            </a:r>
          </a:p>
        </p:txBody>
      </p:sp>
      <p:sp>
        <p:nvSpPr>
          <p:cNvPr id="161" name="Rounded Rectangle 160"/>
          <p:cNvSpPr/>
          <p:nvPr/>
        </p:nvSpPr>
        <p:spPr>
          <a:xfrm>
            <a:off x="14282928" y="2286000"/>
            <a:ext cx="3154680" cy="1325880"/>
          </a:xfrm>
          <a:prstGeom prst="roundRect">
            <a:avLst>
              <a:gd name="adj" fmla="val 8000"/>
            </a:avLst>
          </a:prstGeom>
          <a:solidFill>
            <a:srgbClr val="8A9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3910" b="1" i="0">
                <a:solidFill>
                  <a:srgbClr val="FFFFFF"/>
                </a:solidFill>
                <a:latin typeface="Calibri (MS) Bold"/>
              </a:rPr>
              <a:t>6</a:t>
            </a:r>
          </a:p>
          <a:p>
            <a:pPr algn="ctr">
              <a:spcAft>
                <a:spcPts val="300"/>
              </a:spcAft>
            </a:pPr>
            <a:r>
              <a:rPr sz="1720" b="1" i="0">
                <a:solidFill>
                  <a:srgbClr val="FFFFFF"/>
                </a:solidFill>
                <a:latin typeface="Calibri (MS) Bold"/>
              </a:rPr>
              <a:t>Normalisasi &amp; tuas</a:t>
            </a:r>
          </a:p>
        </p:txBody>
      </p:sp>
      <p:sp>
        <p:nvSpPr>
          <p:cNvPr id="162" name="Rounded Rectangle 161"/>
          <p:cNvSpPr/>
          <p:nvPr/>
        </p:nvSpPr>
        <p:spPr>
          <a:xfrm>
            <a:off x="14282928" y="3703320"/>
            <a:ext cx="3154680" cy="30175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0" i="0">
                <a:solidFill>
                  <a:srgbClr val="14313B"/>
                </a:solidFill>
                <a:latin typeface="Calibri (MS)"/>
              </a:rPr>
              <a:t>• ODTW ref 201</a:t>
            </a:r>
          </a:p>
          <a:p>
            <a:pPr algn="l">
              <a:spcAft>
                <a:spcPts val="300"/>
              </a:spcAft>
            </a:pPr>
            <a:r>
              <a:rPr sz="1550" b="0" i="0">
                <a:solidFill>
                  <a:srgbClr val="14313B"/>
                </a:solidFill>
                <a:latin typeface="Calibri (MS)"/>
              </a:rPr>
              <a:t>• Kepadatan ref 128,363</a:t>
            </a:r>
          </a:p>
          <a:p>
            <a:pPr algn="l">
              <a:spcAft>
                <a:spcPts val="300"/>
              </a:spcAft>
            </a:pPr>
            <a:r>
              <a:rPr sz="1550" b="0" i="0">
                <a:solidFill>
                  <a:srgbClr val="14313B"/>
                </a:solidFill>
                <a:latin typeface="Calibri (MS)"/>
              </a:rPr>
              <a:t>• RDDL ref 0,826425</a:t>
            </a:r>
          </a:p>
          <a:p>
            <a:pPr algn="l">
              <a:spcAft>
                <a:spcPts val="300"/>
              </a:spcAft>
            </a:pPr>
            <a:r>
              <a:rPr sz="1550" b="0" i="0">
                <a:solidFill>
                  <a:srgbClr val="14313B"/>
                </a:solidFill>
                <a:latin typeface="Calibri (MS)"/>
              </a:rPr>
              <a:t>• Insentif &amp; Konservasi = 0</a:t>
            </a:r>
          </a:p>
        </p:txBody>
      </p:sp>
      <p:sp>
        <p:nvSpPr>
          <p:cNvPr id="163" name="Rounded Rectangle 162"/>
          <p:cNvSpPr/>
          <p:nvPr/>
        </p:nvSpPr>
        <p:spPr>
          <a:xfrm>
            <a:off x="14282928" y="6812280"/>
            <a:ext cx="3154680" cy="109728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40" b="1" i="0">
                <a:solidFill>
                  <a:srgbClr val="0B5E6E"/>
                </a:solidFill>
                <a:latin typeface="Calibri (MS) Bold"/>
              </a:rPr>
              <a:t>Kalibrasi?</a:t>
            </a:r>
          </a:p>
          <a:p>
            <a:pPr algn="l">
              <a:spcAft>
                <a:spcPts val="300"/>
              </a:spcAft>
            </a:pPr>
            <a:r>
              <a:rPr sz="1490" b="0" i="0">
                <a:solidFill>
                  <a:srgbClr val="14313B"/>
                </a:solidFill>
                <a:latin typeface="Calibri (MS)"/>
              </a:rPr>
              <a:t>Tidak dikalibrasi</a:t>
            </a:r>
          </a:p>
        </p:txBody>
      </p:sp>
      <p:sp>
        <p:nvSpPr>
          <p:cNvPr id="164" name="Rounded Rectangle 163"/>
          <p:cNvSpPr/>
          <p:nvPr/>
        </p:nvSpPr>
        <p:spPr>
          <a:xfrm>
            <a:off x="822960" y="8092440"/>
            <a:ext cx="1664208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Status sumber ditetapkan sejak awal dan menentukan parameter mana yang boleh diubah; ketidakpastian dibawa sebagai rentang ke kalibrasi dan sensitivitas.</a:t>
            </a:r>
          </a:p>
        </p:txBody>
      </p:sp>
      <p:sp>
        <p:nvSpPr>
          <p:cNvPr id="165" name="TextBox 164"/>
          <p:cNvSpPr txBox="1"/>
          <p:nvPr/>
        </p:nvSpPr>
        <p:spPr>
          <a:xfrm>
            <a:off x="822960" y="918972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3.4.2, 3.7.3, Tabel 12, 33–37; daftar lengkap di Lampiran 2.</a:t>
            </a:r>
          </a:p>
        </p:txBody>
      </p:sp>
      <p:sp>
        <p:nvSpPr>
          <p:cNvPr id="166"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4.3.2 · Penurunan Nilai Parameter</a:t>
            </a:r>
          </a:p>
          <a:p>
            <a:pPr algn="l">
              <a:lnSpc>
                <a:spcPct val="100000"/>
              </a:lnSpc>
            </a:pPr>
            <a:r>
              <a:rPr lang="en-US" sz="3500" b="true">
                <a:solidFill>
                  <a:srgbClr val="0B5E6E"/>
                </a:solidFill>
                <a:latin typeface="Calibri (MS) Bold"/>
                <a:ea typeface="Calibri (MS) Bold"/>
                <a:cs typeface="Calibri (MS) Bold"/>
                <a:sym typeface="Calibri (MS) Bold"/>
              </a:rPr>
              <a:t>Contoh penurunan parameter: dari data dan identitas stok-aliran, bukan ditebak</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38</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2C · Parameterisasi</a:t>
            </a:r>
          </a:p>
        </p:txBody>
      </p:sp>
      <p:sp>
        <p:nvSpPr>
          <p:cNvPr id="149" name="Rounded Rectangle 148"/>
          <p:cNvSpPr/>
          <p:nvPr/>
        </p:nvSpPr>
        <p:spPr>
          <a:xfrm>
            <a:off x="822960" y="22860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Laju Pertumbuhan Eksternal &amp; Penurunan Dasar</a:t>
            </a:r>
          </a:p>
          <a:p>
            <a:pPr algn="l">
              <a:spcAft>
                <a:spcPts val="300"/>
              </a:spcAft>
            </a:pPr>
            <a:r>
              <a:rPr sz="1839" b="0" i="0">
                <a:solidFill>
                  <a:srgbClr val="14313B"/>
                </a:solidFill>
                <a:latin typeface="Calibri (MS)"/>
              </a:rPr>
              <a:t>LPE = g(2024→2025) ÷ (Daya Tarik 2024 − 0,75)</a:t>
            </a:r>
          </a:p>
          <a:p>
            <a:pPr algn="l">
              <a:spcAft>
                <a:spcPts val="300"/>
              </a:spcAft>
            </a:pPr>
            <a:r>
              <a:rPr sz="1839" b="0" i="0">
                <a:solidFill>
                  <a:srgbClr val="14313B"/>
                </a:solidFill>
                <a:latin typeface="Calibri (MS)"/>
              </a:rPr>
              <a:t>= 0,06716 ÷ (0,99223 − 0,75) = 0,27726</a:t>
            </a:r>
          </a:p>
          <a:p>
            <a:pPr algn="l">
              <a:spcAft>
                <a:spcPts val="300"/>
              </a:spcAft>
            </a:pPr>
            <a:r>
              <a:rPr sz="1839" b="0" i="0">
                <a:solidFill>
                  <a:srgbClr val="14313B"/>
                </a:solidFill>
                <a:latin typeface="Calibri (MS)"/>
              </a:rPr>
              <a:t>LPD = 0,75 × LPE = 0,207945</a:t>
            </a:r>
          </a:p>
          <a:p>
            <a:pPr algn="l">
              <a:spcAft>
                <a:spcPts val="300"/>
              </a:spcAft>
            </a:pPr>
            <a:r>
              <a:rPr sz="1839" b="0" i="0">
                <a:solidFill>
                  <a:srgbClr val="14313B"/>
                </a:solidFill>
                <a:latin typeface="Calibri (MS)"/>
              </a:rPr>
              <a:t>Euler: perubahan 2024→2025 ditentukan Daya Tarik 2024</a:t>
            </a:r>
          </a:p>
        </p:txBody>
      </p:sp>
      <p:sp>
        <p:nvSpPr>
          <p:cNvPr id="150" name="Rounded Rectangle 149"/>
          <p:cNvSpPr/>
          <p:nvPr/>
        </p:nvSpPr>
        <p:spPr>
          <a:xfrm>
            <a:off x="9235440" y="22860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Sensitivitas konstruksi terhadap TPK</a:t>
            </a:r>
          </a:p>
          <a:p>
            <a:pPr algn="l">
              <a:spcAft>
                <a:spcPts val="300"/>
              </a:spcAft>
            </a:pPr>
            <a:r>
              <a:rPr sz="1839" b="0" i="0">
                <a:solidFill>
                  <a:srgbClr val="14313B"/>
                </a:solidFill>
                <a:latin typeface="Calibri (MS)"/>
              </a:rPr>
              <a:t>Konstruksi tersirat = ΔHotel + 0,05 × Hotel(t−1)</a:t>
            </a:r>
          </a:p>
          <a:p>
            <a:pPr algn="l">
              <a:spcAft>
                <a:spcPts val="300"/>
              </a:spcAft>
            </a:pPr>
            <a:r>
              <a:rPr sz="1839" b="0" i="0">
                <a:solidFill>
                  <a:srgbClr val="14313B"/>
                </a:solidFill>
                <a:latin typeface="Calibri (MS)"/>
              </a:rPr>
              <a:t>Σ 2016–2025 = 1.126 + 806,5 = 1.932,5 unit</a:t>
            </a:r>
          </a:p>
          <a:p>
            <a:pPr algn="l">
              <a:spcAft>
                <a:spcPts val="300"/>
              </a:spcAft>
            </a:pPr>
            <a:r>
              <a:rPr sz="1839" b="0" i="0">
                <a:solidFill>
                  <a:srgbClr val="14313B"/>
                </a:solidFill>
                <a:latin typeface="Calibri (MS)"/>
              </a:rPr>
              <a:t>Σ Investasi × MAX(0; TPK − 0,275) = 835,19</a:t>
            </a:r>
          </a:p>
          <a:p>
            <a:pPr algn="l">
              <a:spcAft>
                <a:spcPts val="300"/>
              </a:spcAft>
            </a:pPr>
            <a:r>
              <a:rPr sz="1839" b="0" i="0">
                <a:solidFill>
                  <a:srgbClr val="14313B"/>
                </a:solidFill>
                <a:latin typeface="Calibri (MS)"/>
              </a:rPr>
              <a:t>S = 1.932,5 ÷ 835,19 = 2,31385</a:t>
            </a:r>
          </a:p>
        </p:txBody>
      </p:sp>
      <p:sp>
        <p:nvSpPr>
          <p:cNvPr id="151" name="Rounded Rectangle 150"/>
          <p:cNvSpPr/>
          <p:nvPr/>
        </p:nvSpPr>
        <p:spPr>
          <a:xfrm>
            <a:off x="822960" y="52578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Laju penutupan ODTW (populasi stabil)</a:t>
            </a:r>
          </a:p>
          <a:p>
            <a:pPr algn="l">
              <a:spcAft>
                <a:spcPts val="300"/>
              </a:spcAft>
            </a:pPr>
            <a:r>
              <a:rPr sz="1839" b="0" i="0">
                <a:solidFill>
                  <a:srgbClr val="14313B"/>
                </a:solidFill>
                <a:latin typeface="Calibri (MS)"/>
              </a:rPr>
              <a:t>Porsi umur &gt; T = e^(−(d+g)T); T = 5, 10, 20 tahun</a:t>
            </a:r>
          </a:p>
          <a:p>
            <a:pPr algn="l">
              <a:spcAft>
                <a:spcPts val="300"/>
              </a:spcAft>
            </a:pPr>
            <a:r>
              <a:rPr sz="1839" b="0" i="0">
                <a:solidFill>
                  <a:srgbClr val="14313B"/>
                </a:solidFill>
                <a:latin typeface="Calibri (MS)"/>
              </a:rPr>
              <a:t>(d+g) = 0,0617; 0,0785; 0,0694 → rata-rata 0,0699</a:t>
            </a:r>
          </a:p>
          <a:p>
            <a:pPr algn="l">
              <a:spcAft>
                <a:spcPts val="300"/>
              </a:spcAft>
            </a:pPr>
            <a:r>
              <a:rPr sz="1839" b="0" i="0">
                <a:solidFill>
                  <a:srgbClr val="14313B"/>
                </a:solidFill>
                <a:latin typeface="Calibri (MS)"/>
              </a:rPr>
              <a:t>g ODTW 2015–2025 = 0,0199</a:t>
            </a:r>
          </a:p>
          <a:p>
            <a:pPr algn="l">
              <a:spcAft>
                <a:spcPts val="300"/>
              </a:spcAft>
            </a:pPr>
            <a:r>
              <a:rPr sz="1839" b="0" i="0">
                <a:solidFill>
                  <a:srgbClr val="14313B"/>
                </a:solidFill>
                <a:latin typeface="Calibri (MS)"/>
              </a:rPr>
              <a:t>d = 0,0699 − 0,0199 = 0,04993</a:t>
            </a:r>
          </a:p>
        </p:txBody>
      </p:sp>
      <p:sp>
        <p:nvSpPr>
          <p:cNvPr id="152" name="Rounded Rectangle 151"/>
          <p:cNvSpPr/>
          <p:nvPr/>
        </p:nvSpPr>
        <p:spPr>
          <a:xfrm>
            <a:off x="9235440" y="52578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Laju konversi dasar (logistik)</a:t>
            </a:r>
          </a:p>
          <a:p>
            <a:pPr algn="l">
              <a:spcAft>
                <a:spcPts val="300"/>
              </a:spcAft>
            </a:pPr>
            <a:r>
              <a:rPr sz="1839" b="0" i="0">
                <a:solidFill>
                  <a:srgbClr val="14313B"/>
                </a:solidFill>
                <a:latin typeface="Calibri (MS)"/>
              </a:rPr>
              <a:t>ln Lahanₜ = a + βt (DW 2016–2025): β = 0,0348</a:t>
            </a:r>
          </a:p>
          <a:p>
            <a:pPr algn="l">
              <a:spcAft>
                <a:spcPts val="300"/>
              </a:spcAft>
            </a:pPr>
            <a:r>
              <a:rPr sz="1839" b="0" i="0">
                <a:solidFill>
                  <a:srgbClr val="14313B"/>
                </a:solidFill>
                <a:latin typeface="Calibri (MS)"/>
              </a:rPr>
              <a:t>k = (e^β − 1) ÷ rata-rata RDDL = (e^0,0348 − 1) ÷ 0,8121</a:t>
            </a:r>
          </a:p>
          <a:p>
            <a:pPr algn="l">
              <a:spcAft>
                <a:spcPts val="300"/>
              </a:spcAft>
            </a:pPr>
            <a:r>
              <a:rPr sz="1839" b="0" i="0">
                <a:solidFill>
                  <a:srgbClr val="14313B"/>
                </a:solidFill>
                <a:latin typeface="Calibri (MS)"/>
              </a:rPr>
              <a:t>k = 0,0436052</a:t>
            </a:r>
          </a:p>
          <a:p>
            <a:pPr algn="l">
              <a:spcAft>
                <a:spcPts val="300"/>
              </a:spcAft>
            </a:pPr>
            <a:r>
              <a:rPr sz="1839" b="0" i="0">
                <a:solidFill>
                  <a:srgbClr val="14313B"/>
                </a:solidFill>
                <a:latin typeface="Calibri (MS)"/>
              </a:rPr>
              <a:t>CI 95%: 0,0034118 – 0,0851069 (rentang kalibrasi)</a:t>
            </a:r>
          </a:p>
        </p:txBody>
      </p:sp>
      <p:sp>
        <p:nvSpPr>
          <p:cNvPr id="153" name="Rounded Rectangle 152"/>
          <p:cNvSpPr/>
          <p:nvPr/>
        </p:nvSpPr>
        <p:spPr>
          <a:xfrm>
            <a:off x="822960" y="8366760"/>
            <a:ext cx="16642080" cy="86868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LPE diperoleh dari koreksi Tahap 0 (sebelumnya 0,26864 karena mengasumsikan Daya Tarik 2024 = 1); rasio 0,75 adalah asumsi struktural yang diuji pada sensitivitas.</a:t>
            </a:r>
          </a:p>
        </p:txBody>
      </p:sp>
      <p:sp>
        <p:nvSpPr>
          <p:cNvPr id="154" name="TextBox 153"/>
          <p:cNvSpPr txBox="1"/>
          <p:nvPr/>
        </p:nvSpPr>
        <p:spPr>
          <a:xfrm>
            <a:off x="822960" y="9262872"/>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3.4.2.2, 4.3.2.2, 4.6.1; repository Parameter Hotel, Parameter ODTW, Tahap 0 - Kalibrasi.</a:t>
            </a:r>
          </a:p>
        </p:txBody>
      </p:sp>
      <p:sp>
        <p:nvSpPr>
          <p:cNvPr id="155"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4.3.2.4 · Parameter Asumsi Pemodelan</a:t>
            </a:r>
          </a:p>
          <a:p>
            <a:pPr algn="l">
              <a:lnSpc>
                <a:spcPct val="100000"/>
              </a:lnSpc>
            </a:pPr>
            <a:r>
              <a:rPr lang="en-US" sz="3500" b="true">
                <a:solidFill>
                  <a:srgbClr val="0B5E6E"/>
                </a:solidFill>
                <a:latin typeface="Calibri (MS) Bold"/>
                <a:ea typeface="Calibri (MS) Bold"/>
                <a:cs typeface="Calibri (MS) Bold"/>
                <a:sym typeface="Calibri (MS) Bold"/>
              </a:rPr>
              <a:t>Asumsi peneliti dinyatakan terbuka beserta dasar dan pengujiannya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aphicFrame>
        <p:nvGraphicFramePr>
          <p:cNvPr name="Table 52" id="52"/>
          <p:cNvGraphicFramePr>
            <a:graphicFrameLocks noGrp="true"/>
          </p:cNvGraphicFramePr>
          <p:nvPr/>
        </p:nvGraphicFramePr>
        <p:xfrm>
          <a:off x="822960" y="2331720"/>
          <a:ext cx="16586200" cy="6832600"/>
        </p:xfrm>
        <a:graphic>
          <a:graphicData uri="http://schemas.openxmlformats.org/drawingml/2006/table">
            <a:tbl>
              <a:tblPr/>
              <a:tblGrid>
                <a:gridCol w="3967431"/>
                <a:gridCol w="2750776"/>
                <a:gridCol w="5251678"/>
                <a:gridCol w="4616314"/>
              </a:tblGrid>
              <a:tr h="630100">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Asumsi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Nilai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Dasar penetapan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Diuji melalui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1188551">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Rasio laju penurunan / laju pertumbuhan (LPD/LPE)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0,75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Asumsi struktural; data hanya mengidentifikasi selisih bersih LPE dan LPD</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Sensitivitas (rentang 0,60–0,90) dan kalibrasi diagnostik Tahap 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318423">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Bobot daya tarik (ODTW / kepadatan / daya dukung lahan)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0,40 / 0,35 / 0,25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Asumsi peneliti, tanpa panel ahli, survei, atau AHP; syarat kestabilan terpenuhi (0,35 &gt; 0,25)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Sensitivitas ±10% (dinormalkan ulang) dan 2 kombinasi alternatif pada rentang penuh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318423">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Laju demolisi dasar</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0,05 (umur ± 20 tahun)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Triangulasi Permen PU 45/PRT/M/2007, UU 36/2008 Pasal 11(6), dan proksi laju penutupan ODTW</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Kalibrasi Tahap 1 (0,02–0,08): tidak ada perbaikan yang bertahan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318423">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Nilai tuas kebijakan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Insentif 0,1 dan 0,3; konservasi 1,0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Ketetapan peneliti (tidak ada dokumen kebijakan yang memuat angka); dasar peraturan Perda 1/2012 dan 6/2021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Kekokohan peringkat skenario pada 7 kondisi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058678">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Ambang indeks kepadatan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Dua kali kepadatan tahun dasar; tidak ada dasar empiris baku untuk DIY</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Dibaca sebagai sinyal deskriptif, bukan pelanggaran standar</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53" id="53"/>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39</a:t>
            </a:r>
          </a:p>
        </p:txBody>
      </p:sp>
      <p:sp>
        <p:nvSpPr>
          <p:cNvPr id="54" name="TextBox 53"/>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2C · Parameterisasi</a:t>
            </a:r>
          </a:p>
        </p:txBody>
      </p:sp>
      <p:sp>
        <p:nvSpPr>
          <p:cNvPr id="55"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76200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3.7.4 · Rancangan Uji Struktur</a:t>
            </a:r>
          </a:p>
          <a:p>
            <a:pPr algn="l">
              <a:lnSpc>
                <a:spcPct val="100000"/>
              </a:lnSpc>
            </a:pPr>
            <a:r>
              <a:rPr lang="en-US" sz="3500" b="true">
                <a:solidFill>
                  <a:srgbClr val="0B5E6E"/>
                </a:solidFill>
                <a:latin typeface="Calibri (MS) Bold"/>
                <a:ea typeface="Calibri (MS) Bold"/>
                <a:cs typeface="Calibri (MS) Bold"/>
                <a:sym typeface="Calibri (MS) Bold"/>
              </a:rPr>
              <a:t>Uji struktur: memastikan struktur logis sebelum dibandingkan dengan data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40</a:t>
            </a:r>
          </a:p>
        </p:txBody>
      </p:sp>
      <p:grpSp>
        <p:nvGrpSpPr>
          <p:cNvPr name="Group 53" id="53"/>
          <p:cNvGrpSpPr/>
          <p:nvPr/>
        </p:nvGrpSpPr>
        <p:grpSpPr>
          <a:xfrm rot="0">
            <a:off x="813435" y="2230755"/>
            <a:ext cx="4042410" cy="3434334"/>
            <a:chOff x="0" y="0"/>
            <a:chExt cx="5389880" cy="4579112"/>
          </a:xfrm>
        </p:grpSpPr>
        <p:sp>
          <p:nvSpPr>
            <p:cNvPr name="Freeform 54" id="54"/>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55" id="55"/>
          <p:cNvGrpSpPr/>
          <p:nvPr/>
        </p:nvGrpSpPr>
        <p:grpSpPr>
          <a:xfrm rot="0">
            <a:off x="1051560" y="2468880"/>
            <a:ext cx="530352" cy="530352"/>
            <a:chOff x="0" y="0"/>
            <a:chExt cx="707136" cy="707136"/>
          </a:xfrm>
        </p:grpSpPr>
        <p:sp>
          <p:nvSpPr>
            <p:cNvPr name="Freeform 56" id="56"/>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57" id="57"/>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1</a:t>
              </a:r>
            </a:p>
          </p:txBody>
        </p:sp>
      </p:grpSp>
      <p:sp>
        <p:nvSpPr>
          <p:cNvPr name="TextBox 58" id="58"/>
          <p:cNvSpPr txBox="true"/>
          <p:nvPr/>
        </p:nvSpPr>
        <p:spPr>
          <a:xfrm rot="0">
            <a:off x="1719072" y="2420493"/>
            <a:ext cx="2971800" cy="736016"/>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Kesesuaian struktur dan parameter</a:t>
            </a:r>
          </a:p>
        </p:txBody>
      </p:sp>
      <p:sp>
        <p:nvSpPr>
          <p:cNvPr name="TextBox 59" id="59"/>
          <p:cNvSpPr txBox="true"/>
          <p:nvPr/>
        </p:nvSpPr>
        <p:spPr>
          <a:xfrm rot="0">
            <a:off x="1051560" y="3218993"/>
            <a:ext cx="3566160" cy="1680362"/>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Setiap hubungan kausal ditelusuri terhadap kriteria evaluasi CLD; setiap parameter harus jelas masuk salah satu kategori sumber (data resmi, identitas stok-aliran, regulasi, asumsi, normalisasi/tuas).</a:t>
            </a:r>
          </a:p>
        </p:txBody>
      </p:sp>
      <p:grpSp>
        <p:nvGrpSpPr>
          <p:cNvPr name="Group 60" id="60"/>
          <p:cNvGrpSpPr/>
          <p:nvPr/>
        </p:nvGrpSpPr>
        <p:grpSpPr>
          <a:xfrm rot="0">
            <a:off x="5019675" y="2230755"/>
            <a:ext cx="4042410" cy="3434334"/>
            <a:chOff x="0" y="0"/>
            <a:chExt cx="5389880" cy="4579112"/>
          </a:xfrm>
        </p:grpSpPr>
        <p:sp>
          <p:nvSpPr>
            <p:cNvPr name="Freeform 61" id="61"/>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62" id="62"/>
          <p:cNvGrpSpPr/>
          <p:nvPr/>
        </p:nvGrpSpPr>
        <p:grpSpPr>
          <a:xfrm rot="0">
            <a:off x="5257800" y="2468880"/>
            <a:ext cx="530352" cy="530352"/>
            <a:chOff x="0" y="0"/>
            <a:chExt cx="707136" cy="707136"/>
          </a:xfrm>
        </p:grpSpPr>
        <p:sp>
          <p:nvSpPr>
            <p:cNvPr name="Freeform 63" id="6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64" id="64"/>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2</a:t>
              </a:r>
            </a:p>
          </p:txBody>
        </p:sp>
      </p:grpSp>
      <p:sp>
        <p:nvSpPr>
          <p:cNvPr name="TextBox 65" id="65"/>
          <p:cNvSpPr txBox="true"/>
          <p:nvPr/>
        </p:nvSpPr>
        <p:spPr>
          <a:xfrm rot="0">
            <a:off x="5925312" y="2420493"/>
            <a:ext cx="2971800" cy="428777"/>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Konsistensi dimensi</a:t>
            </a:r>
          </a:p>
        </p:txBody>
      </p:sp>
      <p:sp>
        <p:nvSpPr>
          <p:cNvPr name="TextBox 66" id="66"/>
          <p:cNvSpPr txBox="true"/>
          <p:nvPr/>
        </p:nvSpPr>
        <p:spPr>
          <a:xfrm rot="0">
            <a:off x="5257800" y="3098292"/>
            <a:ext cx="3566160" cy="622097"/>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Units Check dan Check Model pada Vensim untuk setiap persamaan.</a:t>
            </a:r>
          </a:p>
        </p:txBody>
      </p:sp>
      <p:sp>
        <p:nvSpPr>
          <p:cNvPr name="TextBox 67" id="67"/>
          <p:cNvSpPr txBox="true"/>
          <p:nvPr/>
        </p:nvSpPr>
        <p:spPr>
          <a:xfrm rot="0">
            <a:off x="5257800" y="3745916"/>
            <a:ext cx="3566160" cy="580415"/>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Kriteria: tidak ada ketidaksesuaian satuan</a:t>
            </a:r>
          </a:p>
        </p:txBody>
      </p:sp>
      <p:grpSp>
        <p:nvGrpSpPr>
          <p:cNvPr name="Group 68" id="68"/>
          <p:cNvGrpSpPr/>
          <p:nvPr/>
        </p:nvGrpSpPr>
        <p:grpSpPr>
          <a:xfrm rot="0">
            <a:off x="9225915" y="2230755"/>
            <a:ext cx="4042410" cy="3434334"/>
            <a:chOff x="0" y="0"/>
            <a:chExt cx="5389880" cy="4579112"/>
          </a:xfrm>
        </p:grpSpPr>
        <p:sp>
          <p:nvSpPr>
            <p:cNvPr name="Freeform 69" id="69"/>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70" id="70"/>
          <p:cNvGrpSpPr/>
          <p:nvPr/>
        </p:nvGrpSpPr>
        <p:grpSpPr>
          <a:xfrm rot="0">
            <a:off x="9464040" y="2468880"/>
            <a:ext cx="530352" cy="530352"/>
            <a:chOff x="0" y="0"/>
            <a:chExt cx="707136" cy="707136"/>
          </a:xfrm>
        </p:grpSpPr>
        <p:sp>
          <p:nvSpPr>
            <p:cNvPr name="Freeform 71" id="71"/>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72" id="72"/>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3</a:t>
              </a:r>
            </a:p>
          </p:txBody>
        </p:sp>
      </p:grpSp>
      <p:sp>
        <p:nvSpPr>
          <p:cNvPr name="TextBox 73" id="73"/>
          <p:cNvSpPr txBox="true"/>
          <p:nvPr/>
        </p:nvSpPr>
        <p:spPr>
          <a:xfrm rot="0">
            <a:off x="10131552" y="2420493"/>
            <a:ext cx="2971800" cy="428777"/>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Kecukupan batas model</a:t>
            </a:r>
          </a:p>
        </p:txBody>
      </p:sp>
      <p:sp>
        <p:nvSpPr>
          <p:cNvPr name="TextBox 74" id="74"/>
          <p:cNvSpPr txBox="true"/>
          <p:nvPr/>
        </p:nvSpPr>
        <p:spPr>
          <a:xfrm rot="0">
            <a:off x="9464040" y="3098292"/>
            <a:ext cx="3566160" cy="1415796"/>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Model boundary chart (Sterman, 2000): 26 variabel endogen, 35 eksogen, dan aspek yang dikeluarkan beserta konsekuensinya → menetapkan ranah tafsir hasil.</a:t>
            </a:r>
          </a:p>
        </p:txBody>
      </p:sp>
      <p:grpSp>
        <p:nvGrpSpPr>
          <p:cNvPr name="Group 75" id="75"/>
          <p:cNvGrpSpPr/>
          <p:nvPr/>
        </p:nvGrpSpPr>
        <p:grpSpPr>
          <a:xfrm rot="0">
            <a:off x="13432155" y="2230755"/>
            <a:ext cx="4042410" cy="3434334"/>
            <a:chOff x="0" y="0"/>
            <a:chExt cx="5389880" cy="4579112"/>
          </a:xfrm>
        </p:grpSpPr>
        <p:sp>
          <p:nvSpPr>
            <p:cNvPr name="Freeform 76" id="76"/>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77" id="77"/>
          <p:cNvGrpSpPr/>
          <p:nvPr/>
        </p:nvGrpSpPr>
        <p:grpSpPr>
          <a:xfrm rot="0">
            <a:off x="13670280" y="2468880"/>
            <a:ext cx="530352" cy="530352"/>
            <a:chOff x="0" y="0"/>
            <a:chExt cx="707136" cy="707136"/>
          </a:xfrm>
        </p:grpSpPr>
        <p:sp>
          <p:nvSpPr>
            <p:cNvPr name="Freeform 78" id="78"/>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79" id="79"/>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4</a:t>
              </a:r>
            </a:p>
          </p:txBody>
        </p:sp>
      </p:grpSp>
      <p:sp>
        <p:nvSpPr>
          <p:cNvPr name="TextBox 80" id="80"/>
          <p:cNvSpPr txBox="true"/>
          <p:nvPr/>
        </p:nvSpPr>
        <p:spPr>
          <a:xfrm rot="0">
            <a:off x="14337792" y="2420493"/>
            <a:ext cx="2971800" cy="428777"/>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Kekekalan materi</a:t>
            </a:r>
          </a:p>
        </p:txBody>
      </p:sp>
      <p:sp>
        <p:nvSpPr>
          <p:cNvPr name="TextBox 81" id="81"/>
          <p:cNvSpPr txBox="true"/>
          <p:nvPr/>
        </p:nvSpPr>
        <p:spPr>
          <a:xfrm rot="0">
            <a:off x="13670280" y="3098292"/>
            <a:ext cx="3566160" cy="886663"/>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Stok tahun berikutnya dibandingkan dengan identitas Euler pada 5 stok, 2025–2049.</a:t>
            </a:r>
          </a:p>
        </p:txBody>
      </p:sp>
      <p:grpSp>
        <p:nvGrpSpPr>
          <p:cNvPr name="Group 82" id="82"/>
          <p:cNvGrpSpPr/>
          <p:nvPr/>
        </p:nvGrpSpPr>
        <p:grpSpPr>
          <a:xfrm rot="0">
            <a:off x="13606272" y="4058107"/>
            <a:ext cx="3694176" cy="819302"/>
            <a:chOff x="0" y="0"/>
            <a:chExt cx="4925568" cy="1092403"/>
          </a:xfrm>
        </p:grpSpPr>
        <p:sp>
          <p:nvSpPr>
            <p:cNvPr name="Freeform 83" id="83"/>
            <p:cNvSpPr/>
            <p:nvPr/>
          </p:nvSpPr>
          <p:spPr>
            <a:xfrm flipH="false" flipV="false" rot="0">
              <a:off x="0" y="0"/>
              <a:ext cx="4925568" cy="1092454"/>
            </a:xfrm>
            <a:custGeom>
              <a:avLst/>
              <a:gdLst/>
              <a:ahLst/>
              <a:cxnLst/>
              <a:rect r="r" b="b" t="t" l="l"/>
              <a:pathLst>
                <a:path h="1092454" w="4925568">
                  <a:moveTo>
                    <a:pt x="0" y="97536"/>
                  </a:moveTo>
                  <a:cubicBezTo>
                    <a:pt x="0" y="43688"/>
                    <a:pt x="43688" y="0"/>
                    <a:pt x="97536" y="0"/>
                  </a:cubicBezTo>
                  <a:lnTo>
                    <a:pt x="4828032" y="0"/>
                  </a:lnTo>
                  <a:cubicBezTo>
                    <a:pt x="4881880" y="0"/>
                    <a:pt x="4925568" y="43688"/>
                    <a:pt x="4925568" y="97536"/>
                  </a:cubicBezTo>
                  <a:lnTo>
                    <a:pt x="4925568" y="994918"/>
                  </a:lnTo>
                  <a:cubicBezTo>
                    <a:pt x="4925568" y="1048766"/>
                    <a:pt x="4881880" y="1092454"/>
                    <a:pt x="4828032" y="1092454"/>
                  </a:cubicBezTo>
                  <a:lnTo>
                    <a:pt x="97536" y="1092454"/>
                  </a:lnTo>
                  <a:cubicBezTo>
                    <a:pt x="43688" y="1092454"/>
                    <a:pt x="0" y="1048766"/>
                    <a:pt x="0" y="994918"/>
                  </a:cubicBezTo>
                  <a:close/>
                </a:path>
              </a:pathLst>
            </a:custGeom>
            <a:solidFill>
              <a:srgbClr val="FFF1BF"/>
            </a:solidFill>
          </p:spPr>
        </p:sp>
      </p:grpSp>
      <p:sp>
        <p:nvSpPr>
          <p:cNvPr name="TextBox 84" id="84"/>
          <p:cNvSpPr txBox="true"/>
          <p:nvPr/>
        </p:nvSpPr>
        <p:spPr>
          <a:xfrm rot="0">
            <a:off x="13743432" y="4120591"/>
            <a:ext cx="3291840" cy="67452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Sₖ(t+1) = Sₖ(t) + ΣInflowₖ(t) − ΣOutflowₖ(t)</a:t>
            </a:r>
          </a:p>
        </p:txBody>
      </p:sp>
      <p:sp>
        <p:nvSpPr>
          <p:cNvPr name="TextBox 85" id="85"/>
          <p:cNvSpPr txBox="true"/>
          <p:nvPr/>
        </p:nvSpPr>
        <p:spPr>
          <a:xfrm rot="0">
            <a:off x="13670280" y="4921225"/>
            <a:ext cx="3566160" cy="580415"/>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Kekal bila maks|selisih| / rata-rata stok &lt; 10⁻⁹</a:t>
            </a:r>
          </a:p>
        </p:txBody>
      </p:sp>
      <p:grpSp>
        <p:nvGrpSpPr>
          <p:cNvPr name="Group 86" id="86"/>
          <p:cNvGrpSpPr/>
          <p:nvPr/>
        </p:nvGrpSpPr>
        <p:grpSpPr>
          <a:xfrm rot="0">
            <a:off x="813435" y="5828919"/>
            <a:ext cx="5444490" cy="3434334"/>
            <a:chOff x="0" y="0"/>
            <a:chExt cx="7259320" cy="4579112"/>
          </a:xfrm>
        </p:grpSpPr>
        <p:sp>
          <p:nvSpPr>
            <p:cNvPr name="Freeform 87" id="87"/>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88" id="88"/>
          <p:cNvGrpSpPr/>
          <p:nvPr/>
        </p:nvGrpSpPr>
        <p:grpSpPr>
          <a:xfrm rot="0">
            <a:off x="1051560" y="6067044"/>
            <a:ext cx="530352" cy="530352"/>
            <a:chOff x="0" y="0"/>
            <a:chExt cx="707136" cy="707136"/>
          </a:xfrm>
        </p:grpSpPr>
        <p:sp>
          <p:nvSpPr>
            <p:cNvPr name="Freeform 89" id="89"/>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90" id="90"/>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5</a:t>
              </a:r>
            </a:p>
          </p:txBody>
        </p:sp>
      </p:grpSp>
      <p:sp>
        <p:nvSpPr>
          <p:cNvPr name="TextBox 91" id="91"/>
          <p:cNvSpPr txBox="true"/>
          <p:nvPr/>
        </p:nvSpPr>
        <p:spPr>
          <a:xfrm rot="0">
            <a:off x="1719072" y="6018657"/>
            <a:ext cx="4373880" cy="428777"/>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Loop umpan balik (loop knockout)</a:t>
            </a:r>
          </a:p>
        </p:txBody>
      </p:sp>
      <p:sp>
        <p:nvSpPr>
          <p:cNvPr name="TextBox 92" id="92"/>
          <p:cNvSpPr txBox="true"/>
          <p:nvPr/>
        </p:nvSpPr>
        <p:spPr>
          <a:xfrm rot="0">
            <a:off x="1051560" y="6696456"/>
            <a:ext cx="4968240" cy="886663"/>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Satu loop dilumpuhkan per kali dengan menahan variabel penutupnya pada nilai tahun dasar (6 kasus: B1, B2, R2, okupansi, goal-seeking TK, semua rem).</a:t>
            </a:r>
          </a:p>
        </p:txBody>
      </p:sp>
      <p:grpSp>
        <p:nvGrpSpPr>
          <p:cNvPr name="Group 93" id="93"/>
          <p:cNvGrpSpPr/>
          <p:nvPr/>
        </p:nvGrpSpPr>
        <p:grpSpPr>
          <a:xfrm rot="0">
            <a:off x="987552" y="7656271"/>
            <a:ext cx="5096256" cy="819302"/>
            <a:chOff x="0" y="0"/>
            <a:chExt cx="6795008" cy="1092403"/>
          </a:xfrm>
        </p:grpSpPr>
        <p:sp>
          <p:nvSpPr>
            <p:cNvPr name="Freeform 94" id="94"/>
            <p:cNvSpPr/>
            <p:nvPr/>
          </p:nvSpPr>
          <p:spPr>
            <a:xfrm flipH="false" flipV="false" rot="0">
              <a:off x="0" y="0"/>
              <a:ext cx="6795008" cy="1092454"/>
            </a:xfrm>
            <a:custGeom>
              <a:avLst/>
              <a:gdLst/>
              <a:ahLst/>
              <a:cxnLst/>
              <a:rect r="r" b="b" t="t" l="l"/>
              <a:pathLst>
                <a:path h="1092454" w="6795008">
                  <a:moveTo>
                    <a:pt x="0" y="97536"/>
                  </a:moveTo>
                  <a:cubicBezTo>
                    <a:pt x="0" y="43688"/>
                    <a:pt x="43688" y="0"/>
                    <a:pt x="97536" y="0"/>
                  </a:cubicBezTo>
                  <a:lnTo>
                    <a:pt x="6697472" y="0"/>
                  </a:lnTo>
                  <a:cubicBezTo>
                    <a:pt x="6751320" y="0"/>
                    <a:pt x="6795008" y="43688"/>
                    <a:pt x="6795008" y="97536"/>
                  </a:cubicBezTo>
                  <a:lnTo>
                    <a:pt x="6795008" y="994918"/>
                  </a:lnTo>
                  <a:cubicBezTo>
                    <a:pt x="6795008" y="1048766"/>
                    <a:pt x="6751320" y="1092454"/>
                    <a:pt x="6697472" y="1092454"/>
                  </a:cubicBezTo>
                  <a:lnTo>
                    <a:pt x="97536" y="1092454"/>
                  </a:lnTo>
                  <a:cubicBezTo>
                    <a:pt x="43688" y="1092454"/>
                    <a:pt x="0" y="1048766"/>
                    <a:pt x="0" y="994918"/>
                  </a:cubicBezTo>
                  <a:close/>
                </a:path>
              </a:pathLst>
            </a:custGeom>
            <a:solidFill>
              <a:srgbClr val="FFF1BF"/>
            </a:solidFill>
          </p:spPr>
        </p:sp>
      </p:grpSp>
      <p:sp>
        <p:nvSpPr>
          <p:cNvPr name="TextBox 95" id="95"/>
          <p:cNvSpPr txBox="true"/>
          <p:nvPr/>
        </p:nvSpPr>
        <p:spPr>
          <a:xfrm rot="0">
            <a:off x="1124712" y="7718755"/>
            <a:ext cx="4693920" cy="67452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Selisih % = (X_lumpuh,2050 − X_BASE,2050) / X_BASE,2050 × 100%</a:t>
            </a:r>
          </a:p>
        </p:txBody>
      </p:sp>
      <p:sp>
        <p:nvSpPr>
          <p:cNvPr name="TextBox 96" id="96"/>
          <p:cNvSpPr txBox="true"/>
          <p:nvPr/>
        </p:nvSpPr>
        <p:spPr>
          <a:xfrm rot="0">
            <a:off x="1051560" y="8519389"/>
            <a:ext cx="4968240" cy="341452"/>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Kriteria: arah perubahan sesuai polaritas loop</a:t>
            </a:r>
          </a:p>
        </p:txBody>
      </p:sp>
      <p:grpSp>
        <p:nvGrpSpPr>
          <p:cNvPr name="Group 97" id="97"/>
          <p:cNvGrpSpPr/>
          <p:nvPr/>
        </p:nvGrpSpPr>
        <p:grpSpPr>
          <a:xfrm rot="0">
            <a:off x="6421755" y="5828919"/>
            <a:ext cx="5444490" cy="3434334"/>
            <a:chOff x="0" y="0"/>
            <a:chExt cx="7259320" cy="4579112"/>
          </a:xfrm>
        </p:grpSpPr>
        <p:sp>
          <p:nvSpPr>
            <p:cNvPr name="Freeform 98" id="98"/>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99" id="99"/>
          <p:cNvGrpSpPr/>
          <p:nvPr/>
        </p:nvGrpSpPr>
        <p:grpSpPr>
          <a:xfrm rot="0">
            <a:off x="6659880" y="6067044"/>
            <a:ext cx="530352" cy="530352"/>
            <a:chOff x="0" y="0"/>
            <a:chExt cx="707136" cy="707136"/>
          </a:xfrm>
        </p:grpSpPr>
        <p:sp>
          <p:nvSpPr>
            <p:cNvPr name="Freeform 100" id="100"/>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101" id="101"/>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6</a:t>
              </a:r>
            </a:p>
          </p:txBody>
        </p:sp>
      </p:grpSp>
      <p:sp>
        <p:nvSpPr>
          <p:cNvPr name="TextBox 102" id="102"/>
          <p:cNvSpPr txBox="true"/>
          <p:nvPr/>
        </p:nvSpPr>
        <p:spPr>
          <a:xfrm rot="0">
            <a:off x="7327392" y="6018657"/>
            <a:ext cx="4373880" cy="428777"/>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Kondisi ekstrem (17 uji)</a:t>
            </a:r>
          </a:p>
        </p:txBody>
      </p:sp>
      <p:sp>
        <p:nvSpPr>
          <p:cNvPr name="TextBox 103" id="103"/>
          <p:cNvSpPr txBox="true"/>
          <p:nvPr/>
        </p:nvSpPr>
        <p:spPr>
          <a:xfrm rot="0">
            <a:off x="6659880" y="6696456"/>
            <a:ext cx="4968240" cy="1415796"/>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Parameter diset nol atau beberapa kali lipat; hipotesis perilaku ditulis sebelum simulasi. Enam aturan fisik: stok ≥ 0 · TPK ≤ 1 · RDDL ≥ 0 · lahan ≤ luas wilayah · 0 ≤ daya tarik ≤ 3 · wisatawan akhir ≤ 5× simulasi dasar.</a:t>
            </a:r>
          </a:p>
        </p:txBody>
      </p:sp>
      <p:sp>
        <p:nvSpPr>
          <p:cNvPr name="TextBox 104" id="104"/>
          <p:cNvSpPr txBox="true"/>
          <p:nvPr/>
        </p:nvSpPr>
        <p:spPr>
          <a:xfrm rot="0">
            <a:off x="6659880" y="8137779"/>
            <a:ext cx="4968240" cy="341452"/>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Status: lolos · lolos dengan catatan · gagal</a:t>
            </a:r>
          </a:p>
        </p:txBody>
      </p:sp>
      <p:grpSp>
        <p:nvGrpSpPr>
          <p:cNvPr name="Group 105" id="105"/>
          <p:cNvGrpSpPr/>
          <p:nvPr/>
        </p:nvGrpSpPr>
        <p:grpSpPr>
          <a:xfrm rot="0">
            <a:off x="12030075" y="5828919"/>
            <a:ext cx="5444490" cy="3434334"/>
            <a:chOff x="0" y="0"/>
            <a:chExt cx="7259320" cy="4579112"/>
          </a:xfrm>
        </p:grpSpPr>
        <p:sp>
          <p:nvSpPr>
            <p:cNvPr name="Freeform 106" id="106"/>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107" id="107"/>
          <p:cNvGrpSpPr/>
          <p:nvPr/>
        </p:nvGrpSpPr>
        <p:grpSpPr>
          <a:xfrm rot="0">
            <a:off x="12268200" y="6067044"/>
            <a:ext cx="530352" cy="530352"/>
            <a:chOff x="0" y="0"/>
            <a:chExt cx="707136" cy="707136"/>
          </a:xfrm>
        </p:grpSpPr>
        <p:sp>
          <p:nvSpPr>
            <p:cNvPr name="Freeform 108" id="108"/>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109" id="109"/>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7</a:t>
              </a:r>
            </a:p>
          </p:txBody>
        </p:sp>
      </p:grpSp>
      <p:sp>
        <p:nvSpPr>
          <p:cNvPr name="TextBox 110" id="110"/>
          <p:cNvSpPr txBox="true"/>
          <p:nvPr/>
        </p:nvSpPr>
        <p:spPr>
          <a:xfrm rot="0">
            <a:off x="12935712" y="6018657"/>
            <a:ext cx="4373880" cy="428777"/>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Galat integrasi</a:t>
            </a:r>
          </a:p>
        </p:txBody>
      </p:sp>
      <p:sp>
        <p:nvSpPr>
          <p:cNvPr name="TextBox 111" id="111"/>
          <p:cNvSpPr txBox="true"/>
          <p:nvPr/>
        </p:nvSpPr>
        <p:spPr>
          <a:xfrm rot="0">
            <a:off x="12268200" y="6696456"/>
            <a:ext cx="4968240" cy="886663"/>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Simulasi diulang pada langkah waktu lebih kecil (Δt = 1; 0,5; 0,25; 0,125) untuk memastikan perilaku berasal dari struktur, bukan langkah waktu.</a:t>
            </a:r>
          </a:p>
        </p:txBody>
      </p:sp>
      <p:grpSp>
        <p:nvGrpSpPr>
          <p:cNvPr name="Group 112" id="112"/>
          <p:cNvGrpSpPr/>
          <p:nvPr/>
        </p:nvGrpSpPr>
        <p:grpSpPr>
          <a:xfrm rot="0">
            <a:off x="12204192" y="7656271"/>
            <a:ext cx="5096256" cy="1155802"/>
            <a:chOff x="0" y="0"/>
            <a:chExt cx="6795008" cy="1541069"/>
          </a:xfrm>
        </p:grpSpPr>
        <p:sp>
          <p:nvSpPr>
            <p:cNvPr name="Freeform 113" id="113"/>
            <p:cNvSpPr/>
            <p:nvPr/>
          </p:nvSpPr>
          <p:spPr>
            <a:xfrm flipH="false" flipV="false" rot="0">
              <a:off x="0" y="0"/>
              <a:ext cx="6795008" cy="1541018"/>
            </a:xfrm>
            <a:custGeom>
              <a:avLst/>
              <a:gdLst/>
              <a:ahLst/>
              <a:cxnLst/>
              <a:rect r="r" b="b" t="t" l="l"/>
              <a:pathLst>
                <a:path h="1541018" w="6795008">
                  <a:moveTo>
                    <a:pt x="0" y="97536"/>
                  </a:moveTo>
                  <a:cubicBezTo>
                    <a:pt x="0" y="43688"/>
                    <a:pt x="43688" y="0"/>
                    <a:pt x="97536" y="0"/>
                  </a:cubicBezTo>
                  <a:lnTo>
                    <a:pt x="6697472" y="0"/>
                  </a:lnTo>
                  <a:cubicBezTo>
                    <a:pt x="6751320" y="0"/>
                    <a:pt x="6795008" y="43688"/>
                    <a:pt x="6795008" y="97536"/>
                  </a:cubicBezTo>
                  <a:lnTo>
                    <a:pt x="6795008" y="1443482"/>
                  </a:lnTo>
                  <a:cubicBezTo>
                    <a:pt x="6795008" y="1497330"/>
                    <a:pt x="6751320" y="1541018"/>
                    <a:pt x="6697472" y="1541018"/>
                  </a:cubicBezTo>
                  <a:lnTo>
                    <a:pt x="97536" y="1541018"/>
                  </a:lnTo>
                  <a:cubicBezTo>
                    <a:pt x="43688" y="1541018"/>
                    <a:pt x="0" y="1497330"/>
                    <a:pt x="0" y="1443482"/>
                  </a:cubicBezTo>
                  <a:close/>
                </a:path>
              </a:pathLst>
            </a:custGeom>
            <a:solidFill>
              <a:srgbClr val="FFF1BF"/>
            </a:solidFill>
          </p:spPr>
        </p:sp>
      </p:grpSp>
      <p:sp>
        <p:nvSpPr>
          <p:cNvPr name="TextBox 114" id="114"/>
          <p:cNvSpPr txBox="true"/>
          <p:nvPr/>
        </p:nvSpPr>
        <p:spPr>
          <a:xfrm rot="0">
            <a:off x="12341352" y="7718755"/>
            <a:ext cx="4693920" cy="101102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Sₖ(t+Δt) = Sₖ(t) + Δt · [ΣInflowₖ − ΣOutflowₖ]</a:t>
            </a:r>
          </a:p>
          <a:p>
            <a:pPr algn="l">
              <a:lnSpc>
                <a:spcPts val="2217"/>
              </a:lnSpc>
            </a:pPr>
            <a:r>
              <a:rPr lang="en-US" sz="1650" i="true">
                <a:solidFill>
                  <a:srgbClr val="14313B"/>
                </a:solidFill>
                <a:latin typeface="Cambria Italics"/>
                <a:ea typeface="Cambria Italics"/>
                <a:cs typeface="Cambria Italics"/>
                <a:sym typeface="Cambria Italics"/>
              </a:rPr>
              <a:t>Selisih % = (X_Δt − X_Δt=1) / X_Δt=1 × 100%</a:t>
            </a:r>
          </a:p>
        </p:txBody>
      </p:sp>
      <p:sp>
        <p:nvSpPr>
          <p:cNvPr id="115" name="TextBox 114"/>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2D · Uji struktur</a:t>
            </a:r>
          </a:p>
        </p:txBody>
      </p:sp>
      <p:sp>
        <p:nvSpPr>
          <p:cNvPr id="116"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4.4.1–4.4.3 · Konsistensi Dimensi, Batas Model, Kekekalan Materi</a:t>
            </a:r>
          </a:p>
          <a:p>
            <a:pPr algn="l">
              <a:lnSpc>
                <a:spcPct val="100000"/>
              </a:lnSpc>
            </a:pPr>
            <a:r>
              <a:rPr lang="en-US" sz="3500" b="true">
                <a:solidFill>
                  <a:srgbClr val="0B5E6E"/>
                </a:solidFill>
                <a:latin typeface="Calibri (MS) Bold"/>
                <a:ea typeface="Calibri (MS) Bold"/>
                <a:cs typeface="Calibri (MS) Bold"/>
                <a:sym typeface="Calibri (MS) Bold"/>
              </a:rPr>
              <a:t>Struktur model lolos seluruh uji verifikasi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Freeform 52" id="52"/>
          <p:cNvSpPr/>
          <p:nvPr/>
        </p:nvSpPr>
        <p:spPr>
          <a:xfrm flipH="false" flipV="false" rot="0">
            <a:off x="806291" y="2315051"/>
            <a:ext cx="8194357" cy="2845117"/>
          </a:xfrm>
          <a:custGeom>
            <a:avLst/>
            <a:gdLst/>
            <a:ahLst/>
            <a:cxnLst/>
            <a:rect r="r" b="b" t="t" l="l"/>
            <a:pathLst>
              <a:path h="2845117" w="8194357">
                <a:moveTo>
                  <a:pt x="0" y="0"/>
                </a:moveTo>
                <a:lnTo>
                  <a:pt x="8194358" y="0"/>
                </a:lnTo>
                <a:lnTo>
                  <a:pt x="8194358" y="2845118"/>
                </a:lnTo>
                <a:lnTo>
                  <a:pt x="0" y="28451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3" id="53"/>
          <p:cNvGrpSpPr/>
          <p:nvPr/>
        </p:nvGrpSpPr>
        <p:grpSpPr>
          <a:xfrm rot="0">
            <a:off x="1165860" y="2743200"/>
            <a:ext cx="2674620" cy="1097280"/>
            <a:chOff x="0" y="0"/>
            <a:chExt cx="3566160" cy="1463040"/>
          </a:xfrm>
        </p:grpSpPr>
        <p:sp>
          <p:nvSpPr>
            <p:cNvPr name="Freeform 54" id="54"/>
            <p:cNvSpPr/>
            <p:nvPr/>
          </p:nvSpPr>
          <p:spPr>
            <a:xfrm flipH="false" flipV="false" rot="0">
              <a:off x="0" y="0"/>
              <a:ext cx="3566160" cy="1463040"/>
            </a:xfrm>
            <a:custGeom>
              <a:avLst/>
              <a:gdLst/>
              <a:ahLst/>
              <a:cxnLst/>
              <a:rect r="r" b="b" t="t" l="l"/>
              <a:pathLst>
                <a:path h="1463040" w="3566160">
                  <a:moveTo>
                    <a:pt x="0" y="0"/>
                  </a:moveTo>
                  <a:lnTo>
                    <a:pt x="3566160" y="0"/>
                  </a:lnTo>
                  <a:lnTo>
                    <a:pt x="3566160" y="1463040"/>
                  </a:lnTo>
                  <a:lnTo>
                    <a:pt x="0" y="1463040"/>
                  </a:lnTo>
                  <a:close/>
                </a:path>
              </a:pathLst>
            </a:custGeom>
            <a:blipFill>
              <a:blip r:embed="rId4">
                <a:alphaModFix amt="0"/>
              </a:blip>
              <a:stretch>
                <a:fillRect l="-2674" t="0" r="-2673" b="0"/>
              </a:stretch>
            </a:blipFill>
          </p:spPr>
        </p:sp>
      </p:grpSp>
      <p:grpSp>
        <p:nvGrpSpPr>
          <p:cNvPr name="Group 55" id="55"/>
          <p:cNvGrpSpPr/>
          <p:nvPr/>
        </p:nvGrpSpPr>
        <p:grpSpPr>
          <a:xfrm rot="0">
            <a:off x="1165860" y="2678906"/>
            <a:ext cx="2674620" cy="1161574"/>
            <a:chOff x="0" y="0"/>
            <a:chExt cx="3566160" cy="1548765"/>
          </a:xfrm>
        </p:grpSpPr>
        <p:sp>
          <p:nvSpPr>
            <p:cNvPr name="Freeform 56" id="56"/>
            <p:cNvSpPr/>
            <p:nvPr/>
          </p:nvSpPr>
          <p:spPr>
            <a:xfrm flipH="false" flipV="false" rot="0">
              <a:off x="0" y="0"/>
              <a:ext cx="3566160" cy="1548765"/>
            </a:xfrm>
            <a:custGeom>
              <a:avLst/>
              <a:gdLst/>
              <a:ahLst/>
              <a:cxnLst/>
              <a:rect r="r" b="b" t="t" l="l"/>
              <a:pathLst>
                <a:path h="1548765" w="3566160">
                  <a:moveTo>
                    <a:pt x="0" y="0"/>
                  </a:moveTo>
                  <a:lnTo>
                    <a:pt x="3566160" y="0"/>
                  </a:lnTo>
                  <a:lnTo>
                    <a:pt x="3566160" y="1548765"/>
                  </a:lnTo>
                  <a:lnTo>
                    <a:pt x="0" y="1548765"/>
                  </a:lnTo>
                  <a:close/>
                </a:path>
              </a:pathLst>
            </a:custGeom>
            <a:blipFill>
              <a:blip r:embed="rId5">
                <a:alphaModFix amt="0"/>
              </a:blip>
              <a:stretch>
                <a:fillRect l="-5721" t="0" r="-5721" b="0"/>
              </a:stretch>
            </a:blipFill>
          </p:spPr>
        </p:sp>
        <p:sp>
          <p:nvSpPr>
            <p:cNvPr name="TextBox 57" id="57"/>
            <p:cNvSpPr txBox="true"/>
            <p:nvPr/>
          </p:nvSpPr>
          <p:spPr>
            <a:xfrm>
              <a:off x="0" y="-85725"/>
              <a:ext cx="3566160" cy="1634490"/>
            </a:xfrm>
            <a:prstGeom prst="rect">
              <a:avLst/>
            </a:prstGeom>
          </p:spPr>
          <p:txBody>
            <a:bodyPr anchor="ctr" rtlCol="false" tIns="0" lIns="0" bIns="0" rIns="0"/>
            <a:lstStyle/>
            <a:p>
              <a:pPr algn="l">
                <a:lnSpc>
                  <a:spcPts val="5758"/>
                </a:lnSpc>
              </a:pPr>
              <a:r>
                <a:rPr lang="en-US" sz="4800" b="true">
                  <a:solidFill>
                    <a:srgbClr val="0B5E6E"/>
                  </a:solidFill>
                  <a:latin typeface="Calibri (MS) Bold"/>
                  <a:ea typeface="Calibri (MS) Bold"/>
                  <a:cs typeface="Calibri (MS) Bold"/>
                  <a:sym typeface="Calibri (MS) Bold"/>
                </a:rPr>
                <a:t>0</a:t>
              </a:r>
            </a:p>
          </p:txBody>
        </p:sp>
      </p:grpSp>
      <p:sp>
        <p:nvSpPr>
          <p:cNvPr name="TextBox 58" id="58"/>
          <p:cNvSpPr txBox="true"/>
          <p:nvPr/>
        </p:nvSpPr>
        <p:spPr>
          <a:xfrm rot="0">
            <a:off x="1165860" y="3764280"/>
            <a:ext cx="2674620" cy="89916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ketidaksesuaian satuan</a:t>
            </a:r>
          </a:p>
        </p:txBody>
      </p:sp>
      <p:sp>
        <p:nvSpPr>
          <p:cNvPr name="TextBox 59" id="59"/>
          <p:cNvSpPr txBox="true"/>
          <p:nvPr/>
        </p:nvSpPr>
        <p:spPr>
          <a:xfrm rot="0">
            <a:off x="4046220" y="2557272"/>
            <a:ext cx="46634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Konsistensi dimensi</a:t>
            </a:r>
          </a:p>
        </p:txBody>
      </p:sp>
      <p:sp>
        <p:nvSpPr>
          <p:cNvPr name="TextBox 60" id="60"/>
          <p:cNvSpPr txBox="true"/>
          <p:nvPr/>
        </p:nvSpPr>
        <p:spPr>
          <a:xfrm rot="0">
            <a:off x="4046220" y="3215640"/>
            <a:ext cx="4663440" cy="18592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Vensim Units Check dan Check Model pada seluruh persamaan</a:t>
            </a:r>
          </a:p>
        </p:txBody>
      </p:sp>
      <p:sp>
        <p:nvSpPr>
          <p:cNvPr name="Freeform 61" id="61"/>
          <p:cNvSpPr/>
          <p:nvPr/>
        </p:nvSpPr>
        <p:spPr>
          <a:xfrm flipH="false" flipV="false" rot="0">
            <a:off x="9282779" y="2315051"/>
            <a:ext cx="8194357" cy="2845117"/>
          </a:xfrm>
          <a:custGeom>
            <a:avLst/>
            <a:gdLst/>
            <a:ahLst/>
            <a:cxnLst/>
            <a:rect r="r" b="b" t="t" l="l"/>
            <a:pathLst>
              <a:path h="2845117" w="8194357">
                <a:moveTo>
                  <a:pt x="0" y="0"/>
                </a:moveTo>
                <a:lnTo>
                  <a:pt x="8194358" y="0"/>
                </a:lnTo>
                <a:lnTo>
                  <a:pt x="8194358" y="2845118"/>
                </a:lnTo>
                <a:lnTo>
                  <a:pt x="0" y="28451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2" id="62"/>
          <p:cNvGrpSpPr/>
          <p:nvPr/>
        </p:nvGrpSpPr>
        <p:grpSpPr>
          <a:xfrm rot="0">
            <a:off x="9642348" y="2743200"/>
            <a:ext cx="2674620" cy="1097280"/>
            <a:chOff x="0" y="0"/>
            <a:chExt cx="3566160" cy="1463040"/>
          </a:xfrm>
        </p:grpSpPr>
        <p:sp>
          <p:nvSpPr>
            <p:cNvPr name="Freeform 63" id="63"/>
            <p:cNvSpPr/>
            <p:nvPr/>
          </p:nvSpPr>
          <p:spPr>
            <a:xfrm flipH="false" flipV="false" rot="0">
              <a:off x="0" y="0"/>
              <a:ext cx="3566160" cy="1463040"/>
            </a:xfrm>
            <a:custGeom>
              <a:avLst/>
              <a:gdLst/>
              <a:ahLst/>
              <a:cxnLst/>
              <a:rect r="r" b="b" t="t" l="l"/>
              <a:pathLst>
                <a:path h="1463040" w="3566160">
                  <a:moveTo>
                    <a:pt x="0" y="0"/>
                  </a:moveTo>
                  <a:lnTo>
                    <a:pt x="3566160" y="0"/>
                  </a:lnTo>
                  <a:lnTo>
                    <a:pt x="3566160" y="1463040"/>
                  </a:lnTo>
                  <a:lnTo>
                    <a:pt x="0" y="1463040"/>
                  </a:lnTo>
                  <a:close/>
                </a:path>
              </a:pathLst>
            </a:custGeom>
            <a:blipFill>
              <a:blip r:embed="rId4">
                <a:alphaModFix amt="0"/>
              </a:blip>
              <a:stretch>
                <a:fillRect l="-2674" t="0" r="-2673" b="0"/>
              </a:stretch>
            </a:blipFill>
          </p:spPr>
        </p:sp>
      </p:grpSp>
      <p:grpSp>
        <p:nvGrpSpPr>
          <p:cNvPr name="Group 64" id="64"/>
          <p:cNvGrpSpPr/>
          <p:nvPr/>
        </p:nvGrpSpPr>
        <p:grpSpPr>
          <a:xfrm rot="0">
            <a:off x="9642348" y="2678906"/>
            <a:ext cx="2674620" cy="1161574"/>
            <a:chOff x="0" y="0"/>
            <a:chExt cx="3566160" cy="1548765"/>
          </a:xfrm>
        </p:grpSpPr>
        <p:sp>
          <p:nvSpPr>
            <p:cNvPr name="Freeform 65" id="65"/>
            <p:cNvSpPr/>
            <p:nvPr/>
          </p:nvSpPr>
          <p:spPr>
            <a:xfrm flipH="false" flipV="false" rot="0">
              <a:off x="0" y="0"/>
              <a:ext cx="3566160" cy="1548765"/>
            </a:xfrm>
            <a:custGeom>
              <a:avLst/>
              <a:gdLst/>
              <a:ahLst/>
              <a:cxnLst/>
              <a:rect r="r" b="b" t="t" l="l"/>
              <a:pathLst>
                <a:path h="1548765" w="3566160">
                  <a:moveTo>
                    <a:pt x="0" y="0"/>
                  </a:moveTo>
                  <a:lnTo>
                    <a:pt x="3566160" y="0"/>
                  </a:lnTo>
                  <a:lnTo>
                    <a:pt x="3566160" y="1548765"/>
                  </a:lnTo>
                  <a:lnTo>
                    <a:pt x="0" y="1548765"/>
                  </a:lnTo>
                  <a:close/>
                </a:path>
              </a:pathLst>
            </a:custGeom>
            <a:blipFill>
              <a:blip r:embed="rId5">
                <a:alphaModFix amt="0"/>
              </a:blip>
              <a:stretch>
                <a:fillRect l="-5721" t="0" r="-5721" b="0"/>
              </a:stretch>
            </a:blipFill>
          </p:spPr>
        </p:sp>
        <p:sp>
          <p:nvSpPr>
            <p:cNvPr name="TextBox 66" id="66"/>
            <p:cNvSpPr txBox="true"/>
            <p:nvPr/>
          </p:nvSpPr>
          <p:spPr>
            <a:xfrm>
              <a:off x="0" y="-85725"/>
              <a:ext cx="3566160" cy="1634490"/>
            </a:xfrm>
            <a:prstGeom prst="rect">
              <a:avLst/>
            </a:prstGeom>
          </p:spPr>
          <p:txBody>
            <a:bodyPr anchor="ctr" rtlCol="false" tIns="0" lIns="0" bIns="0" rIns="0"/>
            <a:lstStyle/>
            <a:p>
              <a:pPr algn="l">
                <a:lnSpc>
                  <a:spcPts val="5758"/>
                </a:lnSpc>
              </a:pPr>
              <a:r>
                <a:rPr lang="en-US" sz="4800" b="true">
                  <a:solidFill>
                    <a:srgbClr val="0B5E6E"/>
                  </a:solidFill>
                  <a:latin typeface="Calibri (MS) Bold"/>
                  <a:ea typeface="Calibri (MS) Bold"/>
                  <a:cs typeface="Calibri (MS) Bold"/>
                  <a:sym typeface="Calibri (MS) Bold"/>
                </a:rPr>
                <a:t>0</a:t>
              </a:r>
            </a:p>
          </p:txBody>
        </p:sp>
      </p:grpSp>
      <p:sp>
        <p:nvSpPr>
          <p:cNvPr name="TextBox 67" id="67"/>
          <p:cNvSpPr txBox="true"/>
          <p:nvPr/>
        </p:nvSpPr>
        <p:spPr>
          <a:xfrm rot="0">
            <a:off x="9642348" y="3764280"/>
            <a:ext cx="2674620" cy="89916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selisih stok</a:t>
            </a:r>
          </a:p>
        </p:txBody>
      </p:sp>
      <p:sp>
        <p:nvSpPr>
          <p:cNvPr name="TextBox 68" id="68"/>
          <p:cNvSpPr txBox="true"/>
          <p:nvPr/>
        </p:nvSpPr>
        <p:spPr>
          <a:xfrm rot="0">
            <a:off x="12522708" y="2557272"/>
            <a:ext cx="46634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Kekekalan materi</a:t>
            </a:r>
          </a:p>
        </p:txBody>
      </p:sp>
      <p:sp>
        <p:nvSpPr>
          <p:cNvPr name="TextBox 69" id="69"/>
          <p:cNvSpPr txBox="true"/>
          <p:nvPr/>
        </p:nvSpPr>
        <p:spPr>
          <a:xfrm rot="0">
            <a:off x="12522708" y="3215640"/>
            <a:ext cx="4663440" cy="18592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Stok berikutnya = stok + inflow − outflow, pada 5 stok, 2025–2049</a:t>
            </a:r>
          </a:p>
        </p:txBody>
      </p:sp>
      <p:sp>
        <p:nvSpPr>
          <p:cNvPr name="Freeform 70" id="70"/>
          <p:cNvSpPr/>
          <p:nvPr/>
        </p:nvSpPr>
        <p:spPr>
          <a:xfrm flipH="false" flipV="false" rot="0">
            <a:off x="806291" y="5332571"/>
            <a:ext cx="8194357" cy="2845117"/>
          </a:xfrm>
          <a:custGeom>
            <a:avLst/>
            <a:gdLst/>
            <a:ahLst/>
            <a:cxnLst/>
            <a:rect r="r" b="b" t="t" l="l"/>
            <a:pathLst>
              <a:path h="2845117" w="8194357">
                <a:moveTo>
                  <a:pt x="0" y="0"/>
                </a:moveTo>
                <a:lnTo>
                  <a:pt x="8194358" y="0"/>
                </a:lnTo>
                <a:lnTo>
                  <a:pt x="8194358" y="2845118"/>
                </a:lnTo>
                <a:lnTo>
                  <a:pt x="0" y="28451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1" id="71"/>
          <p:cNvGrpSpPr/>
          <p:nvPr/>
        </p:nvGrpSpPr>
        <p:grpSpPr>
          <a:xfrm rot="0">
            <a:off x="1165860" y="5760720"/>
            <a:ext cx="2674620" cy="1097280"/>
            <a:chOff x="0" y="0"/>
            <a:chExt cx="3566160" cy="1463040"/>
          </a:xfrm>
        </p:grpSpPr>
        <p:sp>
          <p:nvSpPr>
            <p:cNvPr name="Freeform 72" id="72"/>
            <p:cNvSpPr/>
            <p:nvPr/>
          </p:nvSpPr>
          <p:spPr>
            <a:xfrm flipH="false" flipV="false" rot="0">
              <a:off x="0" y="0"/>
              <a:ext cx="3566160" cy="1463040"/>
            </a:xfrm>
            <a:custGeom>
              <a:avLst/>
              <a:gdLst/>
              <a:ahLst/>
              <a:cxnLst/>
              <a:rect r="r" b="b" t="t" l="l"/>
              <a:pathLst>
                <a:path h="1463040" w="3566160">
                  <a:moveTo>
                    <a:pt x="0" y="0"/>
                  </a:moveTo>
                  <a:lnTo>
                    <a:pt x="3566160" y="0"/>
                  </a:lnTo>
                  <a:lnTo>
                    <a:pt x="3566160" y="1463040"/>
                  </a:lnTo>
                  <a:lnTo>
                    <a:pt x="0" y="1463040"/>
                  </a:lnTo>
                  <a:close/>
                </a:path>
              </a:pathLst>
            </a:custGeom>
            <a:blipFill>
              <a:blip r:embed="rId4">
                <a:alphaModFix amt="0"/>
              </a:blip>
              <a:stretch>
                <a:fillRect l="-2674" t="0" r="-2673" b="0"/>
              </a:stretch>
            </a:blipFill>
          </p:spPr>
        </p:sp>
      </p:grpSp>
      <p:grpSp>
        <p:nvGrpSpPr>
          <p:cNvPr name="Group 73" id="73"/>
          <p:cNvGrpSpPr/>
          <p:nvPr/>
        </p:nvGrpSpPr>
        <p:grpSpPr>
          <a:xfrm rot="0">
            <a:off x="1165860" y="5696426"/>
            <a:ext cx="2674620" cy="1161574"/>
            <a:chOff x="0" y="0"/>
            <a:chExt cx="3566160" cy="1548765"/>
          </a:xfrm>
        </p:grpSpPr>
        <p:sp>
          <p:nvSpPr>
            <p:cNvPr name="Freeform 74" id="74"/>
            <p:cNvSpPr/>
            <p:nvPr/>
          </p:nvSpPr>
          <p:spPr>
            <a:xfrm flipH="false" flipV="false" rot="0">
              <a:off x="0" y="0"/>
              <a:ext cx="3566160" cy="1548765"/>
            </a:xfrm>
            <a:custGeom>
              <a:avLst/>
              <a:gdLst/>
              <a:ahLst/>
              <a:cxnLst/>
              <a:rect r="r" b="b" t="t" l="l"/>
              <a:pathLst>
                <a:path h="1548765" w="3566160">
                  <a:moveTo>
                    <a:pt x="0" y="0"/>
                  </a:moveTo>
                  <a:lnTo>
                    <a:pt x="3566160" y="0"/>
                  </a:lnTo>
                  <a:lnTo>
                    <a:pt x="3566160" y="1548765"/>
                  </a:lnTo>
                  <a:lnTo>
                    <a:pt x="0" y="1548765"/>
                  </a:lnTo>
                  <a:close/>
                </a:path>
              </a:pathLst>
            </a:custGeom>
            <a:blipFill>
              <a:blip r:embed="rId5">
                <a:alphaModFix amt="0"/>
              </a:blip>
              <a:stretch>
                <a:fillRect l="-5721" t="0" r="-5721" b="0"/>
              </a:stretch>
            </a:blipFill>
          </p:spPr>
        </p:sp>
        <p:sp>
          <p:nvSpPr>
            <p:cNvPr name="TextBox 75" id="75"/>
            <p:cNvSpPr txBox="true"/>
            <p:nvPr/>
          </p:nvSpPr>
          <p:spPr>
            <a:xfrm>
              <a:off x="0" y="-85725"/>
              <a:ext cx="3566160" cy="1634490"/>
            </a:xfrm>
            <a:prstGeom prst="rect">
              <a:avLst/>
            </a:prstGeom>
          </p:spPr>
          <p:txBody>
            <a:bodyPr anchor="ctr" rtlCol="false" tIns="0" lIns="0" bIns="0" rIns="0"/>
            <a:lstStyle/>
            <a:p>
              <a:pPr algn="l">
                <a:lnSpc>
                  <a:spcPts val="5758"/>
                </a:lnSpc>
              </a:pPr>
              <a:r>
                <a:rPr lang="en-US" sz="4800" b="true">
                  <a:solidFill>
                    <a:srgbClr val="0B5E6E"/>
                  </a:solidFill>
                  <a:latin typeface="Calibri (MS) Bold"/>
                  <a:ea typeface="Calibri (MS) Bold"/>
                  <a:cs typeface="Calibri (MS) Bold"/>
                  <a:sym typeface="Calibri (MS) Bold"/>
                </a:rPr>
                <a:t>6 / 6</a:t>
              </a:r>
            </a:p>
          </p:txBody>
        </p:sp>
      </p:grpSp>
      <p:sp>
        <p:nvSpPr>
          <p:cNvPr name="TextBox 76" id="76"/>
          <p:cNvSpPr txBox="true"/>
          <p:nvPr/>
        </p:nvSpPr>
        <p:spPr>
          <a:xfrm rot="0">
            <a:off x="1165860" y="6781800"/>
            <a:ext cx="2674620" cy="89916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loop berfungsi</a:t>
            </a:r>
          </a:p>
        </p:txBody>
      </p:sp>
      <p:sp>
        <p:nvSpPr>
          <p:cNvPr name="TextBox 77" id="77"/>
          <p:cNvSpPr txBox="true"/>
          <p:nvPr/>
        </p:nvSpPr>
        <p:spPr>
          <a:xfrm rot="0">
            <a:off x="4046220" y="5574792"/>
            <a:ext cx="46634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Uji loop umpan balik</a:t>
            </a:r>
          </a:p>
        </p:txBody>
      </p:sp>
      <p:sp>
        <p:nvSpPr>
          <p:cNvPr name="TextBox 78" id="78"/>
          <p:cNvSpPr txBox="true"/>
          <p:nvPr/>
        </p:nvSpPr>
        <p:spPr>
          <a:xfrm rot="0">
            <a:off x="4046220" y="6233160"/>
            <a:ext cx="4663440" cy="18592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Setiap loop penyeimbang yang dilumpuhkan justru mempercepat pertumbuhan</a:t>
            </a:r>
          </a:p>
        </p:txBody>
      </p:sp>
      <p:sp>
        <p:nvSpPr>
          <p:cNvPr name="Freeform 79" id="79"/>
          <p:cNvSpPr/>
          <p:nvPr/>
        </p:nvSpPr>
        <p:spPr>
          <a:xfrm flipH="false" flipV="false" rot="0">
            <a:off x="9282779" y="5332571"/>
            <a:ext cx="8194357" cy="2845117"/>
          </a:xfrm>
          <a:custGeom>
            <a:avLst/>
            <a:gdLst/>
            <a:ahLst/>
            <a:cxnLst/>
            <a:rect r="r" b="b" t="t" l="l"/>
            <a:pathLst>
              <a:path h="2845117" w="8194357">
                <a:moveTo>
                  <a:pt x="0" y="0"/>
                </a:moveTo>
                <a:lnTo>
                  <a:pt x="8194358" y="0"/>
                </a:lnTo>
                <a:lnTo>
                  <a:pt x="8194358" y="2845118"/>
                </a:lnTo>
                <a:lnTo>
                  <a:pt x="0" y="28451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0" id="80"/>
          <p:cNvGrpSpPr/>
          <p:nvPr/>
        </p:nvGrpSpPr>
        <p:grpSpPr>
          <a:xfrm rot="0">
            <a:off x="9642348" y="5760720"/>
            <a:ext cx="2674620" cy="1097280"/>
            <a:chOff x="0" y="0"/>
            <a:chExt cx="3566160" cy="1463040"/>
          </a:xfrm>
        </p:grpSpPr>
        <p:sp>
          <p:nvSpPr>
            <p:cNvPr name="Freeform 81" id="81"/>
            <p:cNvSpPr/>
            <p:nvPr/>
          </p:nvSpPr>
          <p:spPr>
            <a:xfrm flipH="false" flipV="false" rot="0">
              <a:off x="0" y="0"/>
              <a:ext cx="3566160" cy="1463040"/>
            </a:xfrm>
            <a:custGeom>
              <a:avLst/>
              <a:gdLst/>
              <a:ahLst/>
              <a:cxnLst/>
              <a:rect r="r" b="b" t="t" l="l"/>
              <a:pathLst>
                <a:path h="1463040" w="3566160">
                  <a:moveTo>
                    <a:pt x="0" y="0"/>
                  </a:moveTo>
                  <a:lnTo>
                    <a:pt x="3566160" y="0"/>
                  </a:lnTo>
                  <a:lnTo>
                    <a:pt x="3566160" y="1463040"/>
                  </a:lnTo>
                  <a:lnTo>
                    <a:pt x="0" y="1463040"/>
                  </a:lnTo>
                  <a:close/>
                </a:path>
              </a:pathLst>
            </a:custGeom>
            <a:blipFill>
              <a:blip r:embed="rId4">
                <a:alphaModFix amt="0"/>
              </a:blip>
              <a:stretch>
                <a:fillRect l="-2674" t="0" r="-2673" b="0"/>
              </a:stretch>
            </a:blipFill>
          </p:spPr>
        </p:sp>
      </p:grpSp>
      <p:grpSp>
        <p:nvGrpSpPr>
          <p:cNvPr name="Group 82" id="82"/>
          <p:cNvGrpSpPr/>
          <p:nvPr/>
        </p:nvGrpSpPr>
        <p:grpSpPr>
          <a:xfrm rot="0">
            <a:off x="9642348" y="5696426"/>
            <a:ext cx="2674620" cy="1161574"/>
            <a:chOff x="0" y="0"/>
            <a:chExt cx="3566160" cy="1548765"/>
          </a:xfrm>
        </p:grpSpPr>
        <p:sp>
          <p:nvSpPr>
            <p:cNvPr name="Freeform 83" id="83"/>
            <p:cNvSpPr/>
            <p:nvPr/>
          </p:nvSpPr>
          <p:spPr>
            <a:xfrm flipH="false" flipV="false" rot="0">
              <a:off x="0" y="0"/>
              <a:ext cx="3566160" cy="1548765"/>
            </a:xfrm>
            <a:custGeom>
              <a:avLst/>
              <a:gdLst/>
              <a:ahLst/>
              <a:cxnLst/>
              <a:rect r="r" b="b" t="t" l="l"/>
              <a:pathLst>
                <a:path h="1548765" w="3566160">
                  <a:moveTo>
                    <a:pt x="0" y="0"/>
                  </a:moveTo>
                  <a:lnTo>
                    <a:pt x="3566160" y="0"/>
                  </a:lnTo>
                  <a:lnTo>
                    <a:pt x="3566160" y="1548765"/>
                  </a:lnTo>
                  <a:lnTo>
                    <a:pt x="0" y="1548765"/>
                  </a:lnTo>
                  <a:close/>
                </a:path>
              </a:pathLst>
            </a:custGeom>
            <a:blipFill>
              <a:blip r:embed="rId5">
                <a:alphaModFix amt="0"/>
              </a:blip>
              <a:stretch>
                <a:fillRect l="-5721" t="0" r="-5721" b="0"/>
              </a:stretch>
            </a:blipFill>
          </p:spPr>
        </p:sp>
        <p:sp>
          <p:nvSpPr>
            <p:cNvPr name="TextBox 84" id="84"/>
            <p:cNvSpPr txBox="true"/>
            <p:nvPr/>
          </p:nvSpPr>
          <p:spPr>
            <a:xfrm>
              <a:off x="0" y="-85725"/>
              <a:ext cx="3566160" cy="1634490"/>
            </a:xfrm>
            <a:prstGeom prst="rect">
              <a:avLst/>
            </a:prstGeom>
          </p:spPr>
          <p:txBody>
            <a:bodyPr anchor="ctr" rtlCol="false" tIns="0" lIns="0" bIns="0" rIns="0"/>
            <a:lstStyle/>
            <a:p>
              <a:pPr algn="l">
                <a:lnSpc>
                  <a:spcPts val="5758"/>
                </a:lnSpc>
              </a:pPr>
              <a:r>
                <a:rPr lang="en-US" sz="4800" b="true">
                  <a:solidFill>
                    <a:srgbClr val="0B5E6E"/>
                  </a:solidFill>
                  <a:latin typeface="Calibri (MS) Bold"/>
                  <a:ea typeface="Calibri (MS) Bold"/>
                  <a:cs typeface="Calibri (MS) Bold"/>
                  <a:sym typeface="Calibri (MS) Bold"/>
                </a:rPr>
                <a:t>0 gagal</a:t>
              </a:r>
            </a:p>
          </p:txBody>
        </p:sp>
      </p:grpSp>
      <p:sp>
        <p:nvSpPr>
          <p:cNvPr name="TextBox 85" id="85"/>
          <p:cNvSpPr txBox="true"/>
          <p:nvPr/>
        </p:nvSpPr>
        <p:spPr>
          <a:xfrm rot="0">
            <a:off x="9642348" y="6781800"/>
            <a:ext cx="2674620" cy="89916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dari 17 uji</a:t>
            </a:r>
          </a:p>
        </p:txBody>
      </p:sp>
      <p:sp>
        <p:nvSpPr>
          <p:cNvPr name="TextBox 86" id="86"/>
          <p:cNvSpPr txBox="true"/>
          <p:nvPr/>
        </p:nvSpPr>
        <p:spPr>
          <a:xfrm rot="0">
            <a:off x="12522708" y="5574792"/>
            <a:ext cx="46634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Uji kondisi ekstrem</a:t>
            </a:r>
          </a:p>
        </p:txBody>
      </p:sp>
      <p:sp>
        <p:nvSpPr>
          <p:cNvPr name="TextBox 87" id="87"/>
          <p:cNvSpPr txBox="true"/>
          <p:nvPr/>
        </p:nvSpPr>
        <p:spPr>
          <a:xfrm rot="0">
            <a:off x="12522708" y="6233160"/>
            <a:ext cx="4663440" cy="18592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15 lolos, 2 lolos dengan catatan; 4 titik struktur diperbaiki (TPK &gt; 1, RDDL negatif, 2 komponen daya tarik tanpa batas)</a:t>
            </a:r>
          </a:p>
        </p:txBody>
      </p:sp>
      <p:grpSp>
        <p:nvGrpSpPr>
          <p:cNvPr name="Group 88" id="88"/>
          <p:cNvGrpSpPr/>
          <p:nvPr/>
        </p:nvGrpSpPr>
        <p:grpSpPr>
          <a:xfrm rot="0">
            <a:off x="822960" y="8435340"/>
            <a:ext cx="16637508" cy="822960"/>
            <a:chOff x="0" y="0"/>
            <a:chExt cx="22183344" cy="1097280"/>
          </a:xfrm>
        </p:grpSpPr>
        <p:sp>
          <p:nvSpPr>
            <p:cNvPr name="Freeform 89" id="89"/>
            <p:cNvSpPr/>
            <p:nvPr/>
          </p:nvSpPr>
          <p:spPr>
            <a:xfrm flipH="false" flipV="false" rot="0">
              <a:off x="0" y="0"/>
              <a:ext cx="22183344" cy="1097280"/>
            </a:xfrm>
            <a:custGeom>
              <a:avLst/>
              <a:gdLst/>
              <a:ahLst/>
              <a:cxnLst/>
              <a:rect r="r" b="b" t="t" l="l"/>
              <a:pathLst>
                <a:path h="1097280" w="22183344">
                  <a:moveTo>
                    <a:pt x="0" y="182880"/>
                  </a:moveTo>
                  <a:cubicBezTo>
                    <a:pt x="0" y="81915"/>
                    <a:pt x="81915" y="0"/>
                    <a:pt x="182880" y="0"/>
                  </a:cubicBezTo>
                  <a:lnTo>
                    <a:pt x="22000463" y="0"/>
                  </a:lnTo>
                  <a:cubicBezTo>
                    <a:pt x="22101428" y="0"/>
                    <a:pt x="22183344" y="81915"/>
                    <a:pt x="22183344" y="182880"/>
                  </a:cubicBezTo>
                  <a:lnTo>
                    <a:pt x="22183344" y="914400"/>
                  </a:lnTo>
                  <a:cubicBezTo>
                    <a:pt x="22183344" y="1015365"/>
                    <a:pt x="22101428" y="1097280"/>
                    <a:pt x="22000463" y="1097280"/>
                  </a:cubicBezTo>
                  <a:lnTo>
                    <a:pt x="182880" y="1097280"/>
                  </a:lnTo>
                  <a:cubicBezTo>
                    <a:pt x="81915" y="1097280"/>
                    <a:pt x="0" y="1015365"/>
                    <a:pt x="0" y="914400"/>
                  </a:cubicBezTo>
                  <a:close/>
                </a:path>
              </a:pathLst>
            </a:custGeom>
            <a:solidFill>
              <a:srgbClr val="FFF1BF"/>
            </a:solidFill>
          </p:spPr>
        </p:sp>
      </p:grpSp>
      <p:grpSp>
        <p:nvGrpSpPr>
          <p:cNvPr name="Group 90" id="90"/>
          <p:cNvGrpSpPr/>
          <p:nvPr/>
        </p:nvGrpSpPr>
        <p:grpSpPr>
          <a:xfrm rot="0">
            <a:off x="1234440" y="8435340"/>
            <a:ext cx="15814548" cy="822960"/>
            <a:chOff x="0" y="0"/>
            <a:chExt cx="21086064" cy="1097280"/>
          </a:xfrm>
        </p:grpSpPr>
        <p:sp>
          <p:nvSpPr>
            <p:cNvPr name="Freeform 91" id="91"/>
            <p:cNvSpPr/>
            <p:nvPr/>
          </p:nvSpPr>
          <p:spPr>
            <a:xfrm flipH="false" flipV="false" rot="0">
              <a:off x="0" y="0"/>
              <a:ext cx="21086063" cy="1097280"/>
            </a:xfrm>
            <a:custGeom>
              <a:avLst/>
              <a:gdLst/>
              <a:ahLst/>
              <a:cxnLst/>
              <a:rect r="r" b="b" t="t" l="l"/>
              <a:pathLst>
                <a:path h="1097280" w="21086063">
                  <a:moveTo>
                    <a:pt x="0" y="0"/>
                  </a:moveTo>
                  <a:lnTo>
                    <a:pt x="21086063" y="0"/>
                  </a:lnTo>
                  <a:lnTo>
                    <a:pt x="21086063" y="1097280"/>
                  </a:lnTo>
                  <a:lnTo>
                    <a:pt x="0" y="1097280"/>
                  </a:lnTo>
                  <a:close/>
                </a:path>
              </a:pathLst>
            </a:custGeom>
            <a:blipFill>
              <a:blip r:embed="rId4">
                <a:alphaModFix amt="0"/>
              </a:blip>
              <a:stretch>
                <a:fillRect l="0" t="-324177" r="0" b="-324177"/>
              </a:stretch>
            </a:blipFill>
          </p:spPr>
        </p:sp>
      </p:grpSp>
      <p:grpSp>
        <p:nvGrpSpPr>
          <p:cNvPr name="Group 92" id="92"/>
          <p:cNvGrpSpPr/>
          <p:nvPr/>
        </p:nvGrpSpPr>
        <p:grpSpPr>
          <a:xfrm rot="0">
            <a:off x="1234440" y="8406765"/>
            <a:ext cx="15814548" cy="851535"/>
            <a:chOff x="0" y="0"/>
            <a:chExt cx="21086064" cy="1135380"/>
          </a:xfrm>
        </p:grpSpPr>
        <p:sp>
          <p:nvSpPr>
            <p:cNvPr name="Freeform 93" id="93"/>
            <p:cNvSpPr/>
            <p:nvPr/>
          </p:nvSpPr>
          <p:spPr>
            <a:xfrm flipH="false" flipV="false" rot="0">
              <a:off x="0" y="0"/>
              <a:ext cx="21086065" cy="1135380"/>
            </a:xfrm>
            <a:custGeom>
              <a:avLst/>
              <a:gdLst/>
              <a:ahLst/>
              <a:cxnLst/>
              <a:rect r="r" b="b" t="t" l="l"/>
              <a:pathLst>
                <a:path h="1135380" w="21086065">
                  <a:moveTo>
                    <a:pt x="0" y="0"/>
                  </a:moveTo>
                  <a:lnTo>
                    <a:pt x="21086065" y="0"/>
                  </a:lnTo>
                  <a:lnTo>
                    <a:pt x="21086065" y="1135380"/>
                  </a:lnTo>
                  <a:lnTo>
                    <a:pt x="0" y="1135380"/>
                  </a:lnTo>
                  <a:close/>
                </a:path>
              </a:pathLst>
            </a:custGeom>
            <a:blipFill>
              <a:blip r:embed="rId5">
                <a:alphaModFix amt="0"/>
              </a:blip>
              <a:stretch>
                <a:fillRect l="0" t="-311872" r="0" b="-311872"/>
              </a:stretch>
            </a:blipFill>
          </p:spPr>
        </p:sp>
        <p:sp>
          <p:nvSpPr>
            <p:cNvPr name="TextBox 94" id="94"/>
            <p:cNvSpPr txBox="true"/>
            <p:nvPr/>
          </p:nvSpPr>
          <p:spPr>
            <a:xfrm>
              <a:off x="0" y="-38100"/>
              <a:ext cx="21086064" cy="117348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Batas model: 61 variabel = 26 endogen + 35 eksogen. Guncangan eksternal, harga, promosi, musim, dan dampak lingkungan dikeluarkan.</a:t>
              </a:r>
            </a:p>
          </p:txBody>
        </p:sp>
      </p:grpSp>
      <p:sp>
        <p:nvSpPr>
          <p:cNvPr name="TextBox 95" id="95"/>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41</a:t>
            </a:r>
          </a:p>
        </p:txBody>
      </p:sp>
      <p:sp>
        <p:nvSpPr>
          <p:cNvPr id="96" name="TextBox 95"/>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2D · Uji struktur</a:t>
            </a:r>
          </a:p>
        </p:txBody>
      </p:sp>
      <p:sp>
        <p:nvSpPr>
          <p:cNvPr id="97"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4.4.4 · Uji Loop Umpan Balik</a:t>
            </a:r>
          </a:p>
          <a:p>
            <a:pPr algn="l">
              <a:lnSpc>
                <a:spcPct val="100000"/>
              </a:lnSpc>
            </a:pPr>
            <a:r>
              <a:rPr lang="en-US" sz="3500" b="true">
                <a:solidFill>
                  <a:srgbClr val="0B5E6E"/>
                </a:solidFill>
                <a:latin typeface="Calibri (MS) Bold"/>
                <a:ea typeface="Calibri (MS) Bold"/>
                <a:cs typeface="Calibri (MS) Bold"/>
                <a:sym typeface="Calibri (MS) Bold"/>
              </a:rPr>
              <a:t>Rem kepadatan (B1) adalah mekanisme penyeimbang terkuat</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2236470"/>
            <a:ext cx="1014984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Jumlah wisatawan 2050 (juta kunjungan) saat satu loop dilumpuhkan</a:t>
            </a:r>
          </a:p>
        </p:txBody>
      </p:sp>
      <p:grpSp>
        <p:nvGrpSpPr>
          <p:cNvPr name="Group 53" id="53"/>
          <p:cNvGrpSpPr/>
          <p:nvPr/>
        </p:nvGrpSpPr>
        <p:grpSpPr>
          <a:xfrm rot="0">
            <a:off x="11384280" y="2400300"/>
            <a:ext cx="6076188" cy="2125980"/>
            <a:chOff x="0" y="0"/>
            <a:chExt cx="8101584" cy="2834640"/>
          </a:xfrm>
        </p:grpSpPr>
        <p:sp>
          <p:nvSpPr>
            <p:cNvPr name="Freeform 54" id="54"/>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sp>
      </p:grpSp>
      <p:grpSp>
        <p:nvGrpSpPr>
          <p:cNvPr name="Group 55" id="55"/>
          <p:cNvGrpSpPr/>
          <p:nvPr/>
        </p:nvGrpSpPr>
        <p:grpSpPr>
          <a:xfrm rot="0">
            <a:off x="11727180" y="2564892"/>
            <a:ext cx="5486400" cy="685800"/>
            <a:chOff x="0" y="0"/>
            <a:chExt cx="7315200" cy="914400"/>
          </a:xfrm>
        </p:grpSpPr>
        <p:sp>
          <p:nvSpPr>
            <p:cNvPr name="Freeform 56" id="56"/>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sp>
      </p:grpSp>
      <p:grpSp>
        <p:nvGrpSpPr>
          <p:cNvPr name="Group 57" id="57"/>
          <p:cNvGrpSpPr/>
          <p:nvPr/>
        </p:nvGrpSpPr>
        <p:grpSpPr>
          <a:xfrm rot="0">
            <a:off x="11727180" y="2514886"/>
            <a:ext cx="5486400" cy="735806"/>
            <a:chOff x="0" y="0"/>
            <a:chExt cx="7315200" cy="981075"/>
          </a:xfrm>
        </p:grpSpPr>
        <p:sp>
          <p:nvSpPr>
            <p:cNvPr name="Freeform 58" id="58"/>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286" r="0" b="-95286"/>
              </a:stretch>
            </a:blipFill>
          </p:spPr>
        </p:sp>
        <p:sp>
          <p:nvSpPr>
            <p:cNvPr name="TextBox 59" id="59"/>
            <p:cNvSpPr txBox="true"/>
            <p:nvPr/>
          </p:nvSpPr>
          <p:spPr>
            <a:xfrm>
              <a:off x="0" y="-66675"/>
              <a:ext cx="731520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+160,2%</a:t>
              </a:r>
            </a:p>
          </p:txBody>
        </p:sp>
      </p:grpSp>
      <p:sp>
        <p:nvSpPr>
          <p:cNvPr name="TextBox 60" id="60"/>
          <p:cNvSpPr txBox="true"/>
          <p:nvPr/>
        </p:nvSpPr>
        <p:spPr>
          <a:xfrm rot="0">
            <a:off x="11727180" y="3215640"/>
            <a:ext cx="5486400" cy="12420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wisatawan 2050 saat B1 dimatikan; 5 dari 6 variabel berubah &gt; 1%</a:t>
            </a:r>
          </a:p>
        </p:txBody>
      </p:sp>
      <p:grpSp>
        <p:nvGrpSpPr>
          <p:cNvPr name="Group 61" id="61"/>
          <p:cNvGrpSpPr/>
          <p:nvPr/>
        </p:nvGrpSpPr>
        <p:grpSpPr>
          <a:xfrm rot="0">
            <a:off x="11384280" y="4732020"/>
            <a:ext cx="6076188" cy="2125980"/>
            <a:chOff x="0" y="0"/>
            <a:chExt cx="8101584" cy="2834640"/>
          </a:xfrm>
        </p:grpSpPr>
        <p:sp>
          <p:nvSpPr>
            <p:cNvPr name="Freeform 62" id="62"/>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sp>
      </p:grpSp>
      <p:grpSp>
        <p:nvGrpSpPr>
          <p:cNvPr name="Group 63" id="63"/>
          <p:cNvGrpSpPr/>
          <p:nvPr/>
        </p:nvGrpSpPr>
        <p:grpSpPr>
          <a:xfrm rot="0">
            <a:off x="11727180" y="4896612"/>
            <a:ext cx="5486400" cy="685800"/>
            <a:chOff x="0" y="0"/>
            <a:chExt cx="7315200" cy="914400"/>
          </a:xfrm>
        </p:grpSpPr>
        <p:sp>
          <p:nvSpPr>
            <p:cNvPr name="Freeform 64" id="64"/>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sp>
      </p:grpSp>
      <p:grpSp>
        <p:nvGrpSpPr>
          <p:cNvPr name="Group 65" id="65"/>
          <p:cNvGrpSpPr/>
          <p:nvPr/>
        </p:nvGrpSpPr>
        <p:grpSpPr>
          <a:xfrm rot="0">
            <a:off x="11727180" y="4846606"/>
            <a:ext cx="5486400" cy="735806"/>
            <a:chOff x="0" y="0"/>
            <a:chExt cx="7315200" cy="981075"/>
          </a:xfrm>
        </p:grpSpPr>
        <p:sp>
          <p:nvSpPr>
            <p:cNvPr name="Freeform 66" id="66"/>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286" r="0" b="-95286"/>
              </a:stretch>
            </a:blipFill>
          </p:spPr>
        </p:sp>
        <p:sp>
          <p:nvSpPr>
            <p:cNvPr name="TextBox 67" id="67"/>
            <p:cNvSpPr txBox="true"/>
            <p:nvPr/>
          </p:nvSpPr>
          <p:spPr>
            <a:xfrm>
              <a:off x="0" y="-66675"/>
              <a:ext cx="731520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Tidak aditif</a:t>
              </a:r>
            </a:p>
          </p:txBody>
        </p:sp>
      </p:grpSp>
      <p:sp>
        <p:nvSpPr>
          <p:cNvPr name="TextBox 68" id="68"/>
          <p:cNvSpPr txBox="true"/>
          <p:nvPr/>
        </p:nvSpPr>
        <p:spPr>
          <a:xfrm rot="0">
            <a:off x="11727180" y="5547360"/>
            <a:ext cx="5486400" cy="12420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B1 saja dimatikan (250,3 juta) &gt; semua rem dimatikan (217,4 juta), karena R2 tetap menguatkan daya tarik (1,0696)</a:t>
            </a:r>
          </a:p>
        </p:txBody>
      </p:sp>
      <p:grpSp>
        <p:nvGrpSpPr>
          <p:cNvPr name="Group 69" id="69"/>
          <p:cNvGrpSpPr/>
          <p:nvPr/>
        </p:nvGrpSpPr>
        <p:grpSpPr>
          <a:xfrm rot="0">
            <a:off x="11384280" y="7063740"/>
            <a:ext cx="6076188" cy="2125980"/>
            <a:chOff x="0" y="0"/>
            <a:chExt cx="8101584" cy="2834640"/>
          </a:xfrm>
        </p:grpSpPr>
        <p:sp>
          <p:nvSpPr>
            <p:cNvPr name="Freeform 70" id="70"/>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sp>
      </p:grpSp>
      <p:grpSp>
        <p:nvGrpSpPr>
          <p:cNvPr name="Group 71" id="71"/>
          <p:cNvGrpSpPr/>
          <p:nvPr/>
        </p:nvGrpSpPr>
        <p:grpSpPr>
          <a:xfrm rot="0">
            <a:off x="11727180" y="7228332"/>
            <a:ext cx="5486400" cy="685800"/>
            <a:chOff x="0" y="0"/>
            <a:chExt cx="7315200" cy="914400"/>
          </a:xfrm>
        </p:grpSpPr>
        <p:sp>
          <p:nvSpPr>
            <p:cNvPr name="Freeform 72" id="72"/>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sp>
      </p:grpSp>
      <p:grpSp>
        <p:nvGrpSpPr>
          <p:cNvPr name="Group 73" id="73"/>
          <p:cNvGrpSpPr/>
          <p:nvPr/>
        </p:nvGrpSpPr>
        <p:grpSpPr>
          <a:xfrm rot="0">
            <a:off x="11727180" y="7178326"/>
            <a:ext cx="5486400" cy="735806"/>
            <a:chOff x="0" y="0"/>
            <a:chExt cx="7315200" cy="981075"/>
          </a:xfrm>
        </p:grpSpPr>
        <p:sp>
          <p:nvSpPr>
            <p:cNvPr name="Freeform 74" id="74"/>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286" r="0" b="-95286"/>
              </a:stretch>
            </a:blipFill>
          </p:spPr>
        </p:sp>
        <p:sp>
          <p:nvSpPr>
            <p:cNvPr name="TextBox 75" id="75"/>
            <p:cNvSpPr txBox="true"/>
            <p:nvPr/>
          </p:nvSpPr>
          <p:spPr>
            <a:xfrm>
              <a:off x="0" y="-66675"/>
              <a:ext cx="731520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Loop lokal</a:t>
              </a:r>
            </a:p>
          </p:txBody>
        </p:sp>
      </p:grpSp>
      <p:sp>
        <p:nvSpPr>
          <p:cNvPr name="TextBox 76" id="76"/>
          <p:cNvSpPr txBox="true"/>
          <p:nvPr/>
        </p:nvSpPr>
        <p:spPr>
          <a:xfrm rot="0">
            <a:off x="11727180" y="7879080"/>
            <a:ext cx="5486400" cy="12420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Okupansi hanya memengaruhi hotel (5.404 → 4.867); goal-seeking hanya tenaga kerja</a:t>
            </a:r>
          </a:p>
        </p:txBody>
      </p:sp>
      <p:sp>
        <p:nvSpPr>
          <p:cNvPr name="TextBox 77" id="7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42</a:t>
            </a:r>
          </a:p>
        </p:txBody>
      </p:sp>
      <p:pic>
        <p:nvPicPr>
          <p:cNvPr name="Picture 78" id="78"/>
          <p:cNvPicPr>
            <a:picLocks noChangeAspect="true"/>
          </p:cNvPicPr>
          <p:nvPr/>
        </p:nvPicPr>
        <p:blipFill>
          <a:blip r:embed="rId6"/>
          <a:stretch>
            <a:fillRect/>
          </a:stretch>
        </p:blipFill>
        <p:spPr>
          <a:xfrm rot="0">
            <a:off x="-192024" y="1865376"/>
            <a:ext cx="12179808" cy="8339328"/>
          </a:xfrm>
          <a:prstGeom prst="rect">
            <a:avLst/>
          </a:prstGeom>
        </p:spPr>
      </p:pic>
      <p:sp>
        <p:nvSpPr>
          <p:cNvPr id="79" name="TextBox 7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2D · Uji struktur</a:t>
            </a:r>
          </a:p>
        </p:txBody>
      </p:sp>
      <p:sp>
        <p:nvSpPr>
          <p:cNvPr id="80"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4.4.5–4.4.6 · Uji Kondisi Ekstrem dan Galat Integrasi</a:t>
            </a:r>
          </a:p>
          <a:p>
            <a:pPr algn="l">
              <a:lnSpc>
                <a:spcPct val="100000"/>
              </a:lnSpc>
            </a:pPr>
            <a:r>
              <a:rPr lang="en-US" sz="3500" b="true">
                <a:solidFill>
                  <a:srgbClr val="0B5E6E"/>
                </a:solidFill>
                <a:latin typeface="Calibri (MS) Bold"/>
                <a:ea typeface="Calibri (MS) Bold"/>
                <a:cs typeface="Calibri (MS) Bold"/>
                <a:sym typeface="Calibri (MS) Bold"/>
              </a:rPr>
              <a:t>Pada kondisi ekstrem, pembatas struktur bekerja sebagai batas keras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43</a:t>
            </a:r>
          </a:p>
        </p:txBody>
      </p:sp>
      <p:grpSp>
        <p:nvGrpSpPr>
          <p:cNvPr name="Group 53" id="53"/>
          <p:cNvGrpSpPr/>
          <p:nvPr/>
        </p:nvGrpSpPr>
        <p:grpSpPr>
          <a:xfrm rot="0">
            <a:off x="822960" y="2289743"/>
            <a:ext cx="8183880" cy="2827153"/>
            <a:chOff x="0" y="0"/>
            <a:chExt cx="10911840" cy="3769538"/>
          </a:xfrm>
        </p:grpSpPr>
        <p:sp>
          <p:nvSpPr>
            <p:cNvPr name="Freeform 54" id="54" descr="E04.png"/>
            <p:cNvSpPr/>
            <p:nvPr/>
          </p:nvSpPr>
          <p:spPr>
            <a:xfrm flipH="false" flipV="false" rot="0">
              <a:off x="0" y="0"/>
              <a:ext cx="10911840" cy="3769487"/>
            </a:xfrm>
            <a:custGeom>
              <a:avLst/>
              <a:gdLst/>
              <a:ahLst/>
              <a:cxnLst/>
              <a:rect r="r" b="b" t="t" l="l"/>
              <a:pathLst>
                <a:path h="3769487" w="10911840">
                  <a:moveTo>
                    <a:pt x="0" y="0"/>
                  </a:moveTo>
                  <a:lnTo>
                    <a:pt x="10911840" y="0"/>
                  </a:lnTo>
                  <a:lnTo>
                    <a:pt x="10911840" y="3769487"/>
                  </a:lnTo>
                  <a:lnTo>
                    <a:pt x="0" y="3769487"/>
                  </a:lnTo>
                  <a:lnTo>
                    <a:pt x="0" y="0"/>
                  </a:lnTo>
                  <a:close/>
                </a:path>
              </a:pathLst>
            </a:custGeom>
            <a:blipFill>
              <a:blip r:embed="rId6"/>
              <a:stretch>
                <a:fillRect l="0" t="0" r="0" b="-1"/>
              </a:stretch>
            </a:blipFill>
          </p:spPr>
        </p:sp>
      </p:grpSp>
      <p:grpSp>
        <p:nvGrpSpPr>
          <p:cNvPr name="Group 55" id="55"/>
          <p:cNvGrpSpPr/>
          <p:nvPr/>
        </p:nvGrpSpPr>
        <p:grpSpPr>
          <a:xfrm rot="0">
            <a:off x="9281160" y="2289743"/>
            <a:ext cx="8183880" cy="2827153"/>
            <a:chOff x="0" y="0"/>
            <a:chExt cx="10911840" cy="3769538"/>
          </a:xfrm>
        </p:grpSpPr>
        <p:sp>
          <p:nvSpPr>
            <p:cNvPr name="Freeform 56" id="56" descr="E09.png"/>
            <p:cNvSpPr/>
            <p:nvPr/>
          </p:nvSpPr>
          <p:spPr>
            <a:xfrm flipH="false" flipV="false" rot="0">
              <a:off x="0" y="0"/>
              <a:ext cx="10911840" cy="3769487"/>
            </a:xfrm>
            <a:custGeom>
              <a:avLst/>
              <a:gdLst/>
              <a:ahLst/>
              <a:cxnLst/>
              <a:rect r="r" b="b" t="t" l="l"/>
              <a:pathLst>
                <a:path h="3769487" w="10911840">
                  <a:moveTo>
                    <a:pt x="0" y="0"/>
                  </a:moveTo>
                  <a:lnTo>
                    <a:pt x="10911840" y="0"/>
                  </a:lnTo>
                  <a:lnTo>
                    <a:pt x="10911840" y="3769487"/>
                  </a:lnTo>
                  <a:lnTo>
                    <a:pt x="0" y="3769487"/>
                  </a:lnTo>
                  <a:lnTo>
                    <a:pt x="0" y="0"/>
                  </a:lnTo>
                  <a:close/>
                </a:path>
              </a:pathLst>
            </a:custGeom>
            <a:blipFill>
              <a:blip r:embed="rId7"/>
              <a:stretch>
                <a:fillRect l="0" t="0" r="0" b="-1"/>
              </a:stretch>
            </a:blipFill>
          </p:spPr>
        </p:sp>
      </p:grpSp>
      <p:sp>
        <p:nvSpPr>
          <p:cNvPr name="TextBox 57" id="57"/>
          <p:cNvSpPr txBox="true"/>
          <p:nvPr/>
        </p:nvSpPr>
        <p:spPr>
          <a:xfrm rot="0">
            <a:off x="822960" y="5136642"/>
            <a:ext cx="8183880" cy="60579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E04 </a:t>
            </a:r>
            <a:r>
              <a:rPr lang="en-US" sz="1500">
                <a:solidFill>
                  <a:srgbClr val="14313B"/>
                </a:solidFill>
                <a:latin typeface="Calibri (MS)"/>
                <a:ea typeface="Calibri (MS)"/>
                <a:cs typeface="Calibri (MS)"/>
                <a:sym typeface="Calibri (MS)"/>
              </a:rPr>
              <a:t>· rasio investasi/PDRB = 0 → konstruksi berhenti; TPK naik lalu mendatar tepat di 1,000</a:t>
            </a:r>
          </a:p>
        </p:txBody>
      </p:sp>
      <p:sp>
        <p:nvSpPr>
          <p:cNvPr name="TextBox 58" id="58"/>
          <p:cNvSpPr txBox="true"/>
          <p:nvPr/>
        </p:nvSpPr>
        <p:spPr>
          <a:xfrm rot="0">
            <a:off x="9281160" y="5136642"/>
            <a:ext cx="8183880" cy="60579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E09 </a:t>
            </a:r>
            <a:r>
              <a:rPr lang="en-US" sz="1500">
                <a:solidFill>
                  <a:srgbClr val="14313B"/>
                </a:solidFill>
                <a:latin typeface="Calibri (MS)"/>
                <a:ea typeface="Calibri (MS)"/>
                <a:cs typeface="Calibri (MS)"/>
                <a:sym typeface="Calibri (MS)"/>
              </a:rPr>
              <a:t>· laju konversi dasar ×10 → RDDL turun tepat ke 0; lahan berhenti di luas wilayah</a:t>
            </a:r>
          </a:p>
        </p:txBody>
      </p:sp>
      <p:grpSp>
        <p:nvGrpSpPr>
          <p:cNvPr name="Group 59" id="59"/>
          <p:cNvGrpSpPr/>
          <p:nvPr/>
        </p:nvGrpSpPr>
        <p:grpSpPr>
          <a:xfrm rot="0">
            <a:off x="822960" y="5979262"/>
            <a:ext cx="5669280" cy="3174797"/>
            <a:chOff x="0" y="0"/>
            <a:chExt cx="7559040" cy="4233062"/>
          </a:xfrm>
        </p:grpSpPr>
        <p:sp>
          <p:nvSpPr>
            <p:cNvPr name="Freeform 60" id="60" descr="E15_diagnostik_TIME_STEP.png"/>
            <p:cNvSpPr/>
            <p:nvPr/>
          </p:nvSpPr>
          <p:spPr>
            <a:xfrm flipH="false" flipV="false" rot="0">
              <a:off x="0" y="0"/>
              <a:ext cx="7559040" cy="4233037"/>
            </a:xfrm>
            <a:custGeom>
              <a:avLst/>
              <a:gdLst/>
              <a:ahLst/>
              <a:cxnLst/>
              <a:rect r="r" b="b" t="t" l="l"/>
              <a:pathLst>
                <a:path h="4233037" w="7559040">
                  <a:moveTo>
                    <a:pt x="0" y="0"/>
                  </a:moveTo>
                  <a:lnTo>
                    <a:pt x="7559040" y="0"/>
                  </a:lnTo>
                  <a:lnTo>
                    <a:pt x="7559040" y="4233037"/>
                  </a:lnTo>
                  <a:lnTo>
                    <a:pt x="0" y="4233037"/>
                  </a:lnTo>
                  <a:lnTo>
                    <a:pt x="0" y="0"/>
                  </a:lnTo>
                  <a:close/>
                </a:path>
              </a:pathLst>
            </a:custGeom>
            <a:blipFill>
              <a:blip r:embed="rId8"/>
              <a:stretch>
                <a:fillRect l="0" t="0" r="0" b="0"/>
              </a:stretch>
            </a:blipFill>
          </p:spPr>
        </p:sp>
      </p:grpSp>
      <p:grpSp>
        <p:nvGrpSpPr>
          <p:cNvPr name="Group 61" id="61"/>
          <p:cNvGrpSpPr/>
          <p:nvPr/>
        </p:nvGrpSpPr>
        <p:grpSpPr>
          <a:xfrm rot="0">
            <a:off x="6812280" y="5943600"/>
            <a:ext cx="5166360" cy="2103120"/>
            <a:chOff x="0" y="0"/>
            <a:chExt cx="6888480" cy="2804160"/>
          </a:xfrm>
        </p:grpSpPr>
        <p:sp>
          <p:nvSpPr>
            <p:cNvPr name="Freeform 62" id="62"/>
            <p:cNvSpPr/>
            <p:nvPr/>
          </p:nvSpPr>
          <p:spPr>
            <a:xfrm flipH="false" flipV="false" rot="0">
              <a:off x="0" y="0"/>
              <a:ext cx="6888480" cy="2804160"/>
            </a:xfrm>
            <a:custGeom>
              <a:avLst/>
              <a:gdLst/>
              <a:ahLst/>
              <a:cxnLst/>
              <a:rect r="r" b="b" t="t" l="l"/>
              <a:pathLst>
                <a:path h="2804160" w="6888480">
                  <a:moveTo>
                    <a:pt x="0" y="170688"/>
                  </a:moveTo>
                  <a:cubicBezTo>
                    <a:pt x="0" y="76454"/>
                    <a:pt x="76454" y="0"/>
                    <a:pt x="170688" y="0"/>
                  </a:cubicBezTo>
                  <a:lnTo>
                    <a:pt x="6717792" y="0"/>
                  </a:lnTo>
                  <a:cubicBezTo>
                    <a:pt x="6812026" y="0"/>
                    <a:pt x="6888480" y="76454"/>
                    <a:pt x="6888480" y="170688"/>
                  </a:cubicBezTo>
                  <a:lnTo>
                    <a:pt x="6888480" y="2633472"/>
                  </a:lnTo>
                  <a:cubicBezTo>
                    <a:pt x="6888480" y="2727706"/>
                    <a:pt x="6812026" y="2804160"/>
                    <a:pt x="6717792" y="2804160"/>
                  </a:cubicBezTo>
                  <a:lnTo>
                    <a:pt x="170688" y="2804160"/>
                  </a:lnTo>
                  <a:cubicBezTo>
                    <a:pt x="76454" y="2804160"/>
                    <a:pt x="0" y="2727706"/>
                    <a:pt x="0" y="2633472"/>
                  </a:cubicBezTo>
                  <a:close/>
                </a:path>
              </a:pathLst>
            </a:custGeom>
            <a:solidFill>
              <a:srgbClr val="EAF8FA"/>
            </a:solidFill>
          </p:spPr>
        </p:sp>
      </p:grpSp>
      <p:sp>
        <p:nvSpPr>
          <p:cNvPr name="TextBox 63" id="63"/>
          <p:cNvSpPr txBox="true"/>
          <p:nvPr/>
        </p:nvSpPr>
        <p:spPr>
          <a:xfrm rot="0">
            <a:off x="7086600" y="5993892"/>
            <a:ext cx="4617720" cy="845820"/>
          </a:xfrm>
          <a:prstGeom prst="rect">
            <a:avLst/>
          </a:prstGeom>
        </p:spPr>
        <p:txBody>
          <a:bodyPr anchor="t" rtlCol="false" tIns="0" lIns="0" bIns="0" rIns="0">
            <a:spAutoFit/>
          </a:bodyPr>
          <a:lstStyle/>
          <a:p>
            <a:pPr algn="l">
              <a:lnSpc>
                <a:spcPts val="4569"/>
              </a:lnSpc>
            </a:pPr>
            <a:r>
              <a:rPr lang="en-US" sz="3399" b="true">
                <a:solidFill>
                  <a:srgbClr val="0B5E6E"/>
                </a:solidFill>
                <a:latin typeface="Calibri (MS) Bold"/>
                <a:ea typeface="Calibri (MS) Bold"/>
                <a:cs typeface="Calibri (MS) Bold"/>
                <a:sym typeface="Calibri (MS) Bold"/>
              </a:rPr>
              <a:t>0 gagal</a:t>
            </a:r>
          </a:p>
        </p:txBody>
      </p:sp>
      <p:sp>
        <p:nvSpPr>
          <p:cNvPr name="TextBox 64" id="64"/>
          <p:cNvSpPr txBox="true"/>
          <p:nvPr/>
        </p:nvSpPr>
        <p:spPr>
          <a:xfrm rot="0">
            <a:off x="7086600" y="6590795"/>
            <a:ext cx="4617720" cy="1245870"/>
          </a:xfrm>
          <a:prstGeom prst="rect">
            <a:avLst/>
          </a:prstGeom>
        </p:spPr>
        <p:txBody>
          <a:bodyPr anchor="t" rtlCol="false" tIns="0" lIns="0" bIns="0" rIns="0">
            <a:spAutoFit/>
          </a:bodyPr>
          <a:lstStyle/>
          <a:p>
            <a:pPr algn="l">
              <a:lnSpc>
                <a:spcPts val="2016"/>
              </a:lnSpc>
            </a:pPr>
            <a:r>
              <a:rPr lang="en-US" sz="1500">
                <a:solidFill>
                  <a:srgbClr val="5E6E78"/>
                </a:solidFill>
                <a:latin typeface="Calibri (MS)"/>
                <a:ea typeface="Calibri (MS)"/>
                <a:cs typeface="Calibri (MS)"/>
                <a:sym typeface="Calibri (MS)"/>
              </a:rPr>
              <a:t>dari 17 uji: 15 lolos, 2 lolos dengan catatan (E02, E15); seluruh hipotesis perilaku terkonfirmasi</a:t>
            </a:r>
          </a:p>
        </p:txBody>
      </p:sp>
      <p:grpSp>
        <p:nvGrpSpPr>
          <p:cNvPr name="Group 65" id="65"/>
          <p:cNvGrpSpPr/>
          <p:nvPr/>
        </p:nvGrpSpPr>
        <p:grpSpPr>
          <a:xfrm rot="0">
            <a:off x="12298680" y="5943600"/>
            <a:ext cx="5166360" cy="2103120"/>
            <a:chOff x="0" y="0"/>
            <a:chExt cx="6888480" cy="2804160"/>
          </a:xfrm>
        </p:grpSpPr>
        <p:sp>
          <p:nvSpPr>
            <p:cNvPr name="Freeform 66" id="66"/>
            <p:cNvSpPr/>
            <p:nvPr/>
          </p:nvSpPr>
          <p:spPr>
            <a:xfrm flipH="false" flipV="false" rot="0">
              <a:off x="0" y="0"/>
              <a:ext cx="6888480" cy="2804160"/>
            </a:xfrm>
            <a:custGeom>
              <a:avLst/>
              <a:gdLst/>
              <a:ahLst/>
              <a:cxnLst/>
              <a:rect r="r" b="b" t="t" l="l"/>
              <a:pathLst>
                <a:path h="2804160" w="6888480">
                  <a:moveTo>
                    <a:pt x="0" y="170688"/>
                  </a:moveTo>
                  <a:cubicBezTo>
                    <a:pt x="0" y="76454"/>
                    <a:pt x="76454" y="0"/>
                    <a:pt x="170688" y="0"/>
                  </a:cubicBezTo>
                  <a:lnTo>
                    <a:pt x="6717792" y="0"/>
                  </a:lnTo>
                  <a:cubicBezTo>
                    <a:pt x="6812026" y="0"/>
                    <a:pt x="6888480" y="76454"/>
                    <a:pt x="6888480" y="170688"/>
                  </a:cubicBezTo>
                  <a:lnTo>
                    <a:pt x="6888480" y="2633472"/>
                  </a:lnTo>
                  <a:cubicBezTo>
                    <a:pt x="6888480" y="2727706"/>
                    <a:pt x="6812026" y="2804160"/>
                    <a:pt x="6717792" y="2804160"/>
                  </a:cubicBezTo>
                  <a:lnTo>
                    <a:pt x="170688" y="2804160"/>
                  </a:lnTo>
                  <a:cubicBezTo>
                    <a:pt x="76454" y="2804160"/>
                    <a:pt x="0" y="2727706"/>
                    <a:pt x="0" y="2633472"/>
                  </a:cubicBezTo>
                  <a:close/>
                </a:path>
              </a:pathLst>
            </a:custGeom>
            <a:solidFill>
              <a:srgbClr val="EAF8FA"/>
            </a:solidFill>
          </p:spPr>
        </p:sp>
      </p:grpSp>
      <p:sp>
        <p:nvSpPr>
          <p:cNvPr name="TextBox 67" id="67"/>
          <p:cNvSpPr txBox="true"/>
          <p:nvPr/>
        </p:nvSpPr>
        <p:spPr>
          <a:xfrm rot="0">
            <a:off x="12554712" y="6094552"/>
            <a:ext cx="4654296" cy="615315"/>
          </a:xfrm>
          <a:prstGeom prst="rect">
            <a:avLst/>
          </a:prstGeom>
        </p:spPr>
        <p:txBody>
          <a:bodyPr anchor="t" rtlCol="false" tIns="0" lIns="0" bIns="0" rIns="0">
            <a:spAutoFit/>
          </a:bodyPr>
          <a:lstStyle/>
          <a:p>
            <a:pPr algn="l">
              <a:lnSpc>
                <a:spcPts val="2553"/>
              </a:lnSpc>
            </a:pPr>
            <a:r>
              <a:rPr lang="en-US" sz="1899" b="true">
                <a:solidFill>
                  <a:srgbClr val="0B5E6E"/>
                </a:solidFill>
                <a:latin typeface="Calibri (MS) Bold"/>
                <a:ea typeface="Calibri (MS) Bold"/>
                <a:cs typeface="Calibri (MS) Bold"/>
                <a:sym typeface="Calibri (MS) Bold"/>
              </a:rPr>
              <a:t>Uji galat integrasi (E15)</a:t>
            </a:r>
          </a:p>
        </p:txBody>
      </p:sp>
      <p:sp>
        <p:nvSpPr>
          <p:cNvPr name="TextBox 68" id="68"/>
          <p:cNvSpPr txBox="true"/>
          <p:nvPr/>
        </p:nvSpPr>
        <p:spPr>
          <a:xfrm rot="0">
            <a:off x="12554712" y="6680530"/>
            <a:ext cx="4654296" cy="1212571"/>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Lahan melewati luas wilayah 57,70 ha (0,018%) pada dt = 1; 0,01 ha pada dt 0,5; tidak melanggar pada dt 0,25 → galat numerik, bukan struktur.</a:t>
            </a:r>
          </a:p>
        </p:txBody>
      </p:sp>
      <p:grpSp>
        <p:nvGrpSpPr>
          <p:cNvPr name="Group 69" id="69"/>
          <p:cNvGrpSpPr/>
          <p:nvPr/>
        </p:nvGrpSpPr>
        <p:grpSpPr>
          <a:xfrm rot="0">
            <a:off x="6812280" y="8247888"/>
            <a:ext cx="10652760" cy="960120"/>
            <a:chOff x="0" y="0"/>
            <a:chExt cx="14203680" cy="1280160"/>
          </a:xfrm>
        </p:grpSpPr>
        <p:sp>
          <p:nvSpPr>
            <p:cNvPr name="Freeform 70" id="70"/>
            <p:cNvSpPr/>
            <p:nvPr/>
          </p:nvSpPr>
          <p:spPr>
            <a:xfrm flipH="false" flipV="false" rot="0">
              <a:off x="0" y="0"/>
              <a:ext cx="14203680" cy="1280160"/>
            </a:xfrm>
            <a:custGeom>
              <a:avLst/>
              <a:gdLst/>
              <a:ahLst/>
              <a:cxnLst/>
              <a:rect r="r" b="b" t="t" l="l"/>
              <a:pathLst>
                <a:path h="1280160" w="14203680">
                  <a:moveTo>
                    <a:pt x="0" y="170688"/>
                  </a:moveTo>
                  <a:cubicBezTo>
                    <a:pt x="0" y="76454"/>
                    <a:pt x="76454" y="0"/>
                    <a:pt x="170688" y="0"/>
                  </a:cubicBezTo>
                  <a:lnTo>
                    <a:pt x="14032992" y="0"/>
                  </a:lnTo>
                  <a:cubicBezTo>
                    <a:pt x="14127226" y="0"/>
                    <a:pt x="14203680" y="76454"/>
                    <a:pt x="14203680" y="170688"/>
                  </a:cubicBezTo>
                  <a:lnTo>
                    <a:pt x="14203680" y="1109472"/>
                  </a:lnTo>
                  <a:cubicBezTo>
                    <a:pt x="14203680" y="1203706"/>
                    <a:pt x="14127226" y="1280160"/>
                    <a:pt x="14032992" y="1280160"/>
                  </a:cubicBezTo>
                  <a:lnTo>
                    <a:pt x="170688" y="1280160"/>
                  </a:lnTo>
                  <a:cubicBezTo>
                    <a:pt x="76454" y="1280160"/>
                    <a:pt x="0" y="1203706"/>
                    <a:pt x="0" y="1109472"/>
                  </a:cubicBezTo>
                  <a:close/>
                </a:path>
              </a:pathLst>
            </a:custGeom>
            <a:solidFill>
              <a:srgbClr val="FFF1BF"/>
            </a:solidFill>
          </p:spPr>
        </p:sp>
      </p:grpSp>
      <p:grpSp>
        <p:nvGrpSpPr>
          <p:cNvPr name="Group 71" id="71"/>
          <p:cNvGrpSpPr/>
          <p:nvPr/>
        </p:nvGrpSpPr>
        <p:grpSpPr>
          <a:xfrm rot="0">
            <a:off x="7086600" y="8247888"/>
            <a:ext cx="10149840" cy="960120"/>
            <a:chOff x="0" y="0"/>
            <a:chExt cx="13533120" cy="1280160"/>
          </a:xfrm>
        </p:grpSpPr>
        <p:sp>
          <p:nvSpPr>
            <p:cNvPr name="Freeform 72" id="72"/>
            <p:cNvSpPr/>
            <p:nvPr/>
          </p:nvSpPr>
          <p:spPr>
            <a:xfrm flipH="false" flipV="false" rot="0">
              <a:off x="0" y="0"/>
              <a:ext cx="13533120" cy="1280160"/>
            </a:xfrm>
            <a:custGeom>
              <a:avLst/>
              <a:gdLst/>
              <a:ahLst/>
              <a:cxnLst/>
              <a:rect r="r" b="b" t="t" l="l"/>
              <a:pathLst>
                <a:path h="1280160" w="13533120">
                  <a:moveTo>
                    <a:pt x="0" y="0"/>
                  </a:moveTo>
                  <a:lnTo>
                    <a:pt x="13533120" y="0"/>
                  </a:lnTo>
                  <a:lnTo>
                    <a:pt x="13533120" y="1280160"/>
                  </a:lnTo>
                  <a:lnTo>
                    <a:pt x="0" y="1280160"/>
                  </a:lnTo>
                  <a:close/>
                </a:path>
              </a:pathLst>
            </a:custGeom>
            <a:blipFill>
              <a:blip r:embed="rId5">
                <a:alphaModFix amt="0"/>
              </a:blip>
              <a:stretch>
                <a:fillRect l="0" t="-155984" r="0" b="-155984"/>
              </a:stretch>
            </a:blipFill>
          </p:spPr>
        </p:sp>
        <p:sp>
          <p:nvSpPr>
            <p:cNvPr name="TextBox 73" id="73"/>
            <p:cNvSpPr txBox="true"/>
            <p:nvPr/>
          </p:nvSpPr>
          <p:spPr>
            <a:xfrm>
              <a:off x="0" y="-57150"/>
              <a:ext cx="13533120" cy="1337310"/>
            </a:xfrm>
            <a:prstGeom prst="rect">
              <a:avLst/>
            </a:prstGeom>
          </p:spPr>
          <p:txBody>
            <a:bodyPr anchor="ctr" rtlCol="false" tIns="0" lIns="0" bIns="0" rIns="0"/>
            <a:lstStyle/>
            <a:p>
              <a:pPr algn="l">
                <a:lnSpc>
                  <a:spcPts val="1948"/>
                </a:lnSpc>
              </a:pPr>
              <a:r>
                <a:rPr lang="en-US" sz="1449">
                  <a:solidFill>
                    <a:srgbClr val="14313B"/>
                  </a:solidFill>
                  <a:latin typeface="Calibri (MS)"/>
                  <a:ea typeface="Calibri (MS)"/>
                  <a:cs typeface="Calibri (MS)"/>
                  <a:sym typeface="Calibri (MS)"/>
                </a:rPr>
                <a:t>Batas keberlakuan: LPE ≤ ±0,336 (≈1,25× nilai dasar). Simulasi dasar dt 1 vs 0,5 berselisih −0,27% s.d. +0,34% → langkah waktu tahunan memadai.</a:t>
              </a:r>
            </a:p>
          </p:txBody>
        </p:sp>
      </p:grpSp>
      <p:sp>
        <p:nvSpPr>
          <p:cNvPr id="74" name="TextBox 73"/>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2D · Uji struktur</a:t>
            </a:r>
          </a:p>
        </p:txBody>
      </p:sp>
      <p:sp>
        <p:nvSpPr>
          <p:cNvPr id="75"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76200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3.7.4 · Rancangan Uji Perilaku</a:t>
            </a:r>
          </a:p>
          <a:p>
            <a:pPr algn="l">
              <a:lnSpc>
                <a:spcPct val="100000"/>
              </a:lnSpc>
            </a:pPr>
            <a:r>
              <a:rPr lang="en-US" sz="3500" b="true">
                <a:solidFill>
                  <a:srgbClr val="0B5E6E"/>
                </a:solidFill>
                <a:latin typeface="Calibri (MS) Bold"/>
                <a:ea typeface="Calibri (MS) Bold"/>
                <a:cs typeface="Calibri (MS) Bold"/>
                <a:sym typeface="Calibri (MS) Bold"/>
              </a:rPr>
              <a:t>Uji perilaku: pola simulasi dibandingkan data, mengikuti urutan Barlas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44</a:t>
            </a:r>
          </a:p>
        </p:txBody>
      </p:sp>
      <p:grpSp>
        <p:nvGrpSpPr>
          <p:cNvPr name="Group 53" id="53"/>
          <p:cNvGrpSpPr/>
          <p:nvPr/>
        </p:nvGrpSpPr>
        <p:grpSpPr>
          <a:xfrm rot="0">
            <a:off x="813435" y="2230755"/>
            <a:ext cx="5779770" cy="2350770"/>
            <a:chOff x="0" y="0"/>
            <a:chExt cx="7706360" cy="3134360"/>
          </a:xfrm>
        </p:grpSpPr>
        <p:sp>
          <p:nvSpPr>
            <p:cNvPr name="Freeform 54" id="54"/>
            <p:cNvSpPr/>
            <p:nvPr/>
          </p:nvSpPr>
          <p:spPr>
            <a:xfrm flipH="false" flipV="false" rot="0">
              <a:off x="0" y="0"/>
              <a:ext cx="7706360" cy="3134360"/>
            </a:xfrm>
            <a:custGeom>
              <a:avLst/>
              <a:gdLst/>
              <a:ahLst/>
              <a:cxnLst/>
              <a:rect r="r" b="b" t="t" l="l"/>
              <a:pathLst>
                <a:path h="3134360" w="7706360">
                  <a:moveTo>
                    <a:pt x="0" y="172085"/>
                  </a:moveTo>
                  <a:cubicBezTo>
                    <a:pt x="0" y="77089"/>
                    <a:pt x="77089" y="0"/>
                    <a:pt x="172085" y="0"/>
                  </a:cubicBezTo>
                  <a:lnTo>
                    <a:pt x="7534275" y="0"/>
                  </a:lnTo>
                  <a:cubicBezTo>
                    <a:pt x="7629272" y="0"/>
                    <a:pt x="7706360" y="77089"/>
                    <a:pt x="7706360" y="172085"/>
                  </a:cubicBezTo>
                  <a:lnTo>
                    <a:pt x="7706360" y="2962275"/>
                  </a:lnTo>
                  <a:cubicBezTo>
                    <a:pt x="7706360" y="3057271"/>
                    <a:pt x="7629272" y="3134360"/>
                    <a:pt x="7534275" y="3134360"/>
                  </a:cubicBezTo>
                  <a:lnTo>
                    <a:pt x="172085" y="3134360"/>
                  </a:lnTo>
                  <a:cubicBezTo>
                    <a:pt x="77089" y="3134360"/>
                    <a:pt x="0" y="3057271"/>
                    <a:pt x="0" y="2962275"/>
                  </a:cubicBezTo>
                  <a:close/>
                </a:path>
              </a:pathLst>
            </a:custGeom>
            <a:solidFill>
              <a:srgbClr val="FFFFFF"/>
            </a:solidFill>
            <a:ln w="19050" cap="sq">
              <a:solidFill>
                <a:srgbClr val="CFE5E9"/>
              </a:solidFill>
              <a:prstDash val="solid"/>
              <a:miter/>
            </a:ln>
          </p:spPr>
        </p:sp>
      </p:grpSp>
      <p:grpSp>
        <p:nvGrpSpPr>
          <p:cNvPr name="Group 55" id="55"/>
          <p:cNvGrpSpPr/>
          <p:nvPr/>
        </p:nvGrpSpPr>
        <p:grpSpPr>
          <a:xfrm rot="0">
            <a:off x="1051560" y="2468880"/>
            <a:ext cx="530352" cy="530352"/>
            <a:chOff x="0" y="0"/>
            <a:chExt cx="707136" cy="707136"/>
          </a:xfrm>
        </p:grpSpPr>
        <p:sp>
          <p:nvSpPr>
            <p:cNvPr name="Freeform 56" id="56"/>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57" id="57"/>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P</a:t>
              </a:r>
            </a:p>
          </p:txBody>
        </p:sp>
      </p:grpSp>
      <p:sp>
        <p:nvSpPr>
          <p:cNvPr name="TextBox 58" id="58"/>
          <p:cNvSpPr txBox="true"/>
          <p:nvPr/>
        </p:nvSpPr>
        <p:spPr>
          <a:xfrm rot="0">
            <a:off x="1719072" y="2430018"/>
            <a:ext cx="4709160" cy="402184"/>
          </a:xfrm>
          <a:prstGeom prst="rect">
            <a:avLst/>
          </a:prstGeom>
        </p:spPr>
        <p:txBody>
          <a:bodyPr anchor="t" rtlCol="false" tIns="0" lIns="0" bIns="0" rIns="0">
            <a:spAutoFit/>
          </a:bodyPr>
          <a:lstStyle/>
          <a:p>
            <a:pPr algn="l">
              <a:lnSpc>
                <a:spcPts val="2284"/>
              </a:lnSpc>
            </a:pPr>
            <a:r>
              <a:rPr lang="en-US" sz="1700" b="true">
                <a:solidFill>
                  <a:srgbClr val="0B5E6E"/>
                </a:solidFill>
                <a:latin typeface="Calibri (MS) Bold"/>
                <a:ea typeface="Calibri (MS) Bold"/>
                <a:cs typeface="Calibri (MS) Bold"/>
                <a:sym typeface="Calibri (MS) Bold"/>
              </a:rPr>
              <a:t>Uji parsial (P1–P5) · 2016–2025</a:t>
            </a:r>
          </a:p>
        </p:txBody>
      </p:sp>
      <p:sp>
        <p:nvSpPr>
          <p:cNvPr name="TextBox 59" id="59"/>
          <p:cNvSpPr txBox="true"/>
          <p:nvPr/>
        </p:nvSpPr>
        <p:spPr>
          <a:xfrm rot="0">
            <a:off x="1051560" y="3079242"/>
            <a:ext cx="5303520" cy="1102004"/>
          </a:xfrm>
          <a:prstGeom prst="rect">
            <a:avLst/>
          </a:prstGeom>
        </p:spPr>
        <p:txBody>
          <a:bodyPr anchor="t" rtlCol="false" tIns="0" lIns="0" bIns="0" rIns="0">
            <a:spAutoFit/>
          </a:bodyPr>
          <a:lstStyle/>
          <a:p>
            <a:pPr algn="l">
              <a:lnSpc>
                <a:spcPts val="1948"/>
              </a:lnSpc>
            </a:pPr>
            <a:r>
              <a:rPr lang="en-US" sz="1449">
                <a:solidFill>
                  <a:srgbClr val="14313B"/>
                </a:solidFill>
                <a:latin typeface="Calibri (MS)"/>
                <a:ea typeface="Calibri (MS)"/>
                <a:cs typeface="Calibri (MS)"/>
                <a:sym typeface="Calibri (MS)"/>
              </a:rPr>
              <a:t>P1 akomodasi &amp; TPK · P2 ODTW · P3 tenaga kerja · P4 lahan · P5 wisatawan. Variabel dari luar subsistem diganti data aktual (partial-model testing; Homer, 2012). Angka utama: tanpa 2020–2021.</a:t>
            </a:r>
          </a:p>
        </p:txBody>
      </p:sp>
      <p:grpSp>
        <p:nvGrpSpPr>
          <p:cNvPr name="Group 60" id="60"/>
          <p:cNvGrpSpPr/>
          <p:nvPr/>
        </p:nvGrpSpPr>
        <p:grpSpPr>
          <a:xfrm rot="0">
            <a:off x="813435" y="4699635"/>
            <a:ext cx="5779770" cy="1847850"/>
            <a:chOff x="0" y="0"/>
            <a:chExt cx="7706360" cy="2463800"/>
          </a:xfrm>
        </p:grpSpPr>
        <p:sp>
          <p:nvSpPr>
            <p:cNvPr name="Freeform 61" id="61"/>
            <p:cNvSpPr/>
            <p:nvPr/>
          </p:nvSpPr>
          <p:spPr>
            <a:xfrm flipH="false" flipV="false" rot="0">
              <a:off x="0" y="0"/>
              <a:ext cx="7706360" cy="2463800"/>
            </a:xfrm>
            <a:custGeom>
              <a:avLst/>
              <a:gdLst/>
              <a:ahLst/>
              <a:cxnLst/>
              <a:rect r="r" b="b" t="t" l="l"/>
              <a:pathLst>
                <a:path h="2463800" w="7706360">
                  <a:moveTo>
                    <a:pt x="0" y="172466"/>
                  </a:moveTo>
                  <a:cubicBezTo>
                    <a:pt x="0" y="77216"/>
                    <a:pt x="77216" y="0"/>
                    <a:pt x="172466" y="0"/>
                  </a:cubicBezTo>
                  <a:lnTo>
                    <a:pt x="7533894" y="0"/>
                  </a:lnTo>
                  <a:cubicBezTo>
                    <a:pt x="7629144" y="0"/>
                    <a:pt x="7706360" y="77216"/>
                    <a:pt x="7706360" y="172466"/>
                  </a:cubicBezTo>
                  <a:lnTo>
                    <a:pt x="7706360" y="2291334"/>
                  </a:lnTo>
                  <a:cubicBezTo>
                    <a:pt x="7706360" y="2386584"/>
                    <a:pt x="7629144" y="2463800"/>
                    <a:pt x="7533894" y="2463800"/>
                  </a:cubicBezTo>
                  <a:lnTo>
                    <a:pt x="172466" y="2463800"/>
                  </a:lnTo>
                  <a:cubicBezTo>
                    <a:pt x="77216" y="2463800"/>
                    <a:pt x="0" y="2386584"/>
                    <a:pt x="0" y="2291334"/>
                  </a:cubicBezTo>
                  <a:close/>
                </a:path>
              </a:pathLst>
            </a:custGeom>
            <a:solidFill>
              <a:srgbClr val="FFFFFF"/>
            </a:solidFill>
            <a:ln w="19050" cap="sq">
              <a:solidFill>
                <a:srgbClr val="CFE5E9"/>
              </a:solidFill>
              <a:prstDash val="solid"/>
              <a:miter/>
            </a:ln>
          </p:spPr>
        </p:sp>
      </p:grpSp>
      <p:grpSp>
        <p:nvGrpSpPr>
          <p:cNvPr name="Group 62" id="62"/>
          <p:cNvGrpSpPr/>
          <p:nvPr/>
        </p:nvGrpSpPr>
        <p:grpSpPr>
          <a:xfrm rot="0">
            <a:off x="1051560" y="4937760"/>
            <a:ext cx="530352" cy="530352"/>
            <a:chOff x="0" y="0"/>
            <a:chExt cx="707136" cy="707136"/>
          </a:xfrm>
        </p:grpSpPr>
        <p:sp>
          <p:nvSpPr>
            <p:cNvPr name="Freeform 63" id="6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64" id="64"/>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B</a:t>
              </a:r>
            </a:p>
          </p:txBody>
        </p:sp>
      </p:grpSp>
      <p:sp>
        <p:nvSpPr>
          <p:cNvPr name="TextBox 65" id="65"/>
          <p:cNvSpPr txBox="true"/>
          <p:nvPr/>
        </p:nvSpPr>
        <p:spPr>
          <a:xfrm rot="0">
            <a:off x="1719072" y="4898898"/>
            <a:ext cx="4709160" cy="402184"/>
          </a:xfrm>
          <a:prstGeom prst="rect">
            <a:avLst/>
          </a:prstGeom>
        </p:spPr>
        <p:txBody>
          <a:bodyPr anchor="t" rtlCol="false" tIns="0" lIns="0" bIns="0" rIns="0">
            <a:spAutoFit/>
          </a:bodyPr>
          <a:lstStyle/>
          <a:p>
            <a:pPr algn="l">
              <a:lnSpc>
                <a:spcPts val="2284"/>
              </a:lnSpc>
            </a:pPr>
            <a:r>
              <a:rPr lang="en-US" sz="1700" b="true">
                <a:solidFill>
                  <a:srgbClr val="0B5E6E"/>
                </a:solidFill>
                <a:latin typeface="Calibri (MS) Bold"/>
                <a:ea typeface="Calibri (MS) Bold"/>
                <a:cs typeface="Calibri (MS) Bold"/>
                <a:sym typeface="Calibri (MS) Bold"/>
              </a:rPr>
              <a:t>Uji penuh · 2019–2025</a:t>
            </a:r>
          </a:p>
        </p:txBody>
      </p:sp>
      <p:sp>
        <p:nvSpPr>
          <p:cNvPr name="TextBox 66" id="66"/>
          <p:cNvSpPr txBox="true"/>
          <p:nvPr/>
        </p:nvSpPr>
        <p:spPr>
          <a:xfrm rot="0">
            <a:off x="1051560" y="5548122"/>
            <a:ext cx="5303520" cy="854507"/>
          </a:xfrm>
          <a:prstGeom prst="rect">
            <a:avLst/>
          </a:prstGeom>
        </p:spPr>
        <p:txBody>
          <a:bodyPr anchor="t" rtlCol="false" tIns="0" lIns="0" bIns="0" rIns="0">
            <a:spAutoFit/>
          </a:bodyPr>
          <a:lstStyle/>
          <a:p>
            <a:pPr algn="l">
              <a:lnSpc>
                <a:spcPts val="1948"/>
              </a:lnSpc>
            </a:pPr>
            <a:r>
              <a:rPr lang="en-US" sz="1449">
                <a:solidFill>
                  <a:srgbClr val="14313B"/>
                </a:solidFill>
                <a:latin typeface="Calibri (MS)"/>
                <a:ea typeface="Calibri (MS)"/>
                <a:cs typeface="Calibri (MS)"/>
                <a:sym typeface="Calibri (MS)"/>
              </a:rPr>
              <a:t>Tanpa penggantian; seluruh umpan balik aktif; 9 variabel dinilai. Angka utama: dengan 2020–2021 (jendela hanya 7 tahun).</a:t>
            </a:r>
          </a:p>
        </p:txBody>
      </p:sp>
      <p:grpSp>
        <p:nvGrpSpPr>
          <p:cNvPr name="Group 67" id="67"/>
          <p:cNvGrpSpPr/>
          <p:nvPr/>
        </p:nvGrpSpPr>
        <p:grpSpPr>
          <a:xfrm rot="0">
            <a:off x="813435" y="6665595"/>
            <a:ext cx="5779770" cy="2597658"/>
            <a:chOff x="0" y="0"/>
            <a:chExt cx="7706360" cy="3463544"/>
          </a:xfrm>
        </p:grpSpPr>
        <p:sp>
          <p:nvSpPr>
            <p:cNvPr name="Freeform 68" id="68"/>
            <p:cNvSpPr/>
            <p:nvPr/>
          </p:nvSpPr>
          <p:spPr>
            <a:xfrm flipH="false" flipV="false" rot="0">
              <a:off x="0" y="0"/>
              <a:ext cx="7706360" cy="3463544"/>
            </a:xfrm>
            <a:custGeom>
              <a:avLst/>
              <a:gdLst/>
              <a:ahLst/>
              <a:cxnLst/>
              <a:rect r="r" b="b" t="t" l="l"/>
              <a:pathLst>
                <a:path h="3463544" w="7706360">
                  <a:moveTo>
                    <a:pt x="0" y="171958"/>
                  </a:moveTo>
                  <a:cubicBezTo>
                    <a:pt x="0" y="76962"/>
                    <a:pt x="76962" y="0"/>
                    <a:pt x="171958" y="0"/>
                  </a:cubicBezTo>
                  <a:lnTo>
                    <a:pt x="7534402" y="0"/>
                  </a:lnTo>
                  <a:cubicBezTo>
                    <a:pt x="7629398" y="0"/>
                    <a:pt x="7706360" y="76962"/>
                    <a:pt x="7706360" y="171958"/>
                  </a:cubicBezTo>
                  <a:lnTo>
                    <a:pt x="7706360" y="3291586"/>
                  </a:lnTo>
                  <a:cubicBezTo>
                    <a:pt x="7706360" y="3386582"/>
                    <a:pt x="7629398" y="3463544"/>
                    <a:pt x="7534402" y="3463544"/>
                  </a:cubicBezTo>
                  <a:lnTo>
                    <a:pt x="171958" y="3463544"/>
                  </a:lnTo>
                  <a:cubicBezTo>
                    <a:pt x="76962" y="3463544"/>
                    <a:pt x="0" y="3386582"/>
                    <a:pt x="0" y="3291586"/>
                  </a:cubicBezTo>
                  <a:close/>
                </a:path>
              </a:pathLst>
            </a:custGeom>
            <a:solidFill>
              <a:srgbClr val="FFFFFF"/>
            </a:solidFill>
            <a:ln w="19050" cap="sq">
              <a:solidFill>
                <a:srgbClr val="CFE5E9"/>
              </a:solidFill>
              <a:prstDash val="solid"/>
              <a:miter/>
            </a:ln>
          </p:spPr>
        </p:sp>
      </p:grpSp>
      <p:grpSp>
        <p:nvGrpSpPr>
          <p:cNvPr name="Group 69" id="69"/>
          <p:cNvGrpSpPr/>
          <p:nvPr/>
        </p:nvGrpSpPr>
        <p:grpSpPr>
          <a:xfrm rot="0">
            <a:off x="1051560" y="6903720"/>
            <a:ext cx="530352" cy="530352"/>
            <a:chOff x="0" y="0"/>
            <a:chExt cx="707136" cy="707136"/>
          </a:xfrm>
        </p:grpSpPr>
        <p:sp>
          <p:nvSpPr>
            <p:cNvPr name="Freeform 70" id="70"/>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71" id="71"/>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S</a:t>
              </a:r>
            </a:p>
          </p:txBody>
        </p:sp>
      </p:grpSp>
      <p:sp>
        <p:nvSpPr>
          <p:cNvPr name="TextBox 72" id="72"/>
          <p:cNvSpPr txBox="true"/>
          <p:nvPr/>
        </p:nvSpPr>
        <p:spPr>
          <a:xfrm rot="0">
            <a:off x="1719072" y="6864858"/>
            <a:ext cx="4709160" cy="402184"/>
          </a:xfrm>
          <a:prstGeom prst="rect">
            <a:avLst/>
          </a:prstGeom>
        </p:spPr>
        <p:txBody>
          <a:bodyPr anchor="t" rtlCol="false" tIns="0" lIns="0" bIns="0" rIns="0">
            <a:spAutoFit/>
          </a:bodyPr>
          <a:lstStyle/>
          <a:p>
            <a:pPr algn="l">
              <a:lnSpc>
                <a:spcPts val="2284"/>
              </a:lnSpc>
            </a:pPr>
            <a:r>
              <a:rPr lang="en-US" sz="1700" b="true">
                <a:solidFill>
                  <a:srgbClr val="0B5E6E"/>
                </a:solidFill>
                <a:latin typeface="Calibri (MS) Bold"/>
                <a:ea typeface="Calibri (MS) Bold"/>
                <a:cs typeface="Calibri (MS) Bold"/>
                <a:sym typeface="Calibri (MS) Bold"/>
              </a:rPr>
              <a:t>Penyambungan wisnus (untuk P5)</a:t>
            </a:r>
          </a:p>
        </p:txBody>
      </p:sp>
      <p:grpSp>
        <p:nvGrpSpPr>
          <p:cNvPr name="Group 73" id="73"/>
          <p:cNvGrpSpPr/>
          <p:nvPr/>
        </p:nvGrpSpPr>
        <p:grpSpPr>
          <a:xfrm rot="0">
            <a:off x="987552" y="7571232"/>
            <a:ext cx="5431536" cy="1159459"/>
            <a:chOff x="0" y="0"/>
            <a:chExt cx="7242048" cy="1545946"/>
          </a:xfrm>
        </p:grpSpPr>
        <p:sp>
          <p:nvSpPr>
            <p:cNvPr name="Freeform 74" id="74"/>
            <p:cNvSpPr/>
            <p:nvPr/>
          </p:nvSpPr>
          <p:spPr>
            <a:xfrm flipH="false" flipV="false" rot="0">
              <a:off x="0" y="0"/>
              <a:ext cx="7242048" cy="1545971"/>
            </a:xfrm>
            <a:custGeom>
              <a:avLst/>
              <a:gdLst/>
              <a:ahLst/>
              <a:cxnLst/>
              <a:rect r="r" b="b" t="t" l="l"/>
              <a:pathLst>
                <a:path h="1545971" w="7242048">
                  <a:moveTo>
                    <a:pt x="0" y="97536"/>
                  </a:moveTo>
                  <a:cubicBezTo>
                    <a:pt x="0" y="43688"/>
                    <a:pt x="43688" y="0"/>
                    <a:pt x="97536" y="0"/>
                  </a:cubicBezTo>
                  <a:lnTo>
                    <a:pt x="7144512" y="0"/>
                  </a:lnTo>
                  <a:cubicBezTo>
                    <a:pt x="7198360" y="0"/>
                    <a:pt x="7242048" y="43688"/>
                    <a:pt x="7242048" y="97536"/>
                  </a:cubicBezTo>
                  <a:lnTo>
                    <a:pt x="7242048" y="1448435"/>
                  </a:lnTo>
                  <a:cubicBezTo>
                    <a:pt x="7242048" y="1502283"/>
                    <a:pt x="7198360" y="1545971"/>
                    <a:pt x="7144512" y="1545971"/>
                  </a:cubicBezTo>
                  <a:lnTo>
                    <a:pt x="97536" y="1545971"/>
                  </a:lnTo>
                  <a:cubicBezTo>
                    <a:pt x="43688" y="1545971"/>
                    <a:pt x="0" y="1502283"/>
                    <a:pt x="0" y="1448435"/>
                  </a:cubicBezTo>
                  <a:close/>
                </a:path>
              </a:pathLst>
            </a:custGeom>
            <a:solidFill>
              <a:srgbClr val="FFF1BF"/>
            </a:solidFill>
          </p:spPr>
        </p:sp>
      </p:grpSp>
      <p:sp>
        <p:nvSpPr>
          <p:cNvPr name="TextBox 75" id="75"/>
          <p:cNvSpPr txBox="true"/>
          <p:nvPr/>
        </p:nvSpPr>
        <p:spPr>
          <a:xfrm rot="0">
            <a:off x="1124712" y="7643241"/>
            <a:ext cx="5029200" cy="1005154"/>
          </a:xfrm>
          <a:prstGeom prst="rect">
            <a:avLst/>
          </a:prstGeom>
        </p:spPr>
        <p:txBody>
          <a:bodyPr anchor="t" rtlCol="false" tIns="0" lIns="0" bIns="0" rIns="0">
            <a:spAutoFit/>
          </a:bodyPr>
          <a:lstStyle/>
          <a:p>
            <a:pPr algn="l">
              <a:lnSpc>
                <a:spcPts val="2083"/>
              </a:lnSpc>
            </a:pPr>
            <a:r>
              <a:rPr lang="en-US" sz="1550" i="true">
                <a:solidFill>
                  <a:srgbClr val="14313B"/>
                </a:solidFill>
                <a:latin typeface="Cambria Italics"/>
                <a:ea typeface="Cambria Italics"/>
                <a:cs typeface="Cambria Italics"/>
                <a:sym typeface="Cambria Italics"/>
              </a:rPr>
              <a:t>g_pra = (W₂₀₁₈ / W₂₀₁₅)^(1/3) − 1</a:t>
            </a:r>
          </a:p>
          <a:p>
            <a:pPr algn="l">
              <a:lnSpc>
                <a:spcPts val="2083"/>
              </a:lnSpc>
            </a:pPr>
            <a:r>
              <a:rPr lang="en-US" sz="1550" i="true">
                <a:solidFill>
                  <a:srgbClr val="14313B"/>
                </a:solidFill>
                <a:latin typeface="Cambria Italics"/>
                <a:ea typeface="Cambria Italics"/>
                <a:cs typeface="Cambria Italics"/>
                <a:sym typeface="Cambria Italics"/>
              </a:rPr>
              <a:t>g_pasca = (W₂₀₂₅ / W₂₀₂₁)^(1/4) − 1</a:t>
            </a:r>
          </a:p>
          <a:p>
            <a:pPr algn="l">
              <a:lnSpc>
                <a:spcPts val="2083"/>
              </a:lnSpc>
            </a:pPr>
            <a:r>
              <a:rPr lang="en-US" sz="1550" i="true">
                <a:solidFill>
                  <a:srgbClr val="14313B"/>
                </a:solidFill>
                <a:latin typeface="Cambria Italics"/>
                <a:ea typeface="Cambria Italics"/>
                <a:cs typeface="Cambria Italics"/>
                <a:sym typeface="Cambria Italics"/>
              </a:rPr>
              <a:t>Faktor = (W₂₀₁₉ / W₂₀₁₈) / (1 + ḡ)</a:t>
            </a:r>
          </a:p>
        </p:txBody>
      </p:sp>
      <p:sp>
        <p:nvSpPr>
          <p:cNvPr name="TextBox 76" id="76"/>
          <p:cNvSpPr txBox="true"/>
          <p:nvPr/>
        </p:nvSpPr>
        <p:spPr>
          <a:xfrm rot="0">
            <a:off x="1051560" y="8774506"/>
            <a:ext cx="5303520" cy="341452"/>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ḡ = rata-rata g_pra dan g_pasca → faktor 2,2997</a:t>
            </a:r>
          </a:p>
        </p:txBody>
      </p:sp>
      <p:graphicFrame>
        <p:nvGraphicFramePr>
          <p:cNvPr name="Table 77" id="77"/>
          <p:cNvGraphicFramePr>
            <a:graphicFrameLocks noGrp="true"/>
          </p:cNvGraphicFramePr>
          <p:nvPr/>
        </p:nvGraphicFramePr>
        <p:xfrm>
          <a:off x="6812280" y="2240280"/>
          <a:ext cx="10629900" cy="6413500"/>
        </p:xfrm>
        <a:graphic>
          <a:graphicData uri="http://schemas.openxmlformats.org/drawingml/2006/table">
            <a:tbl>
              <a:tblPr/>
              <a:tblGrid>
                <a:gridCol w="2189851"/>
                <a:gridCol w="4744676"/>
                <a:gridCol w="3695373"/>
              </a:tblGrid>
              <a:tr h="537194">
                <a:tc>
                  <a:txBody>
                    <a:bodyPr anchor="t" rtlCol="false"/>
                    <a:lstStyle/>
                    <a:p>
                      <a:pPr algn="l">
                        <a:lnSpc>
                          <a:spcPts val="1739"/>
                        </a:lnSpc>
                        <a:defRPr/>
                      </a:pPr>
                      <a:r>
                        <a:rPr lang="en-US" sz="1449" b="true">
                          <a:solidFill>
                            <a:srgbClr val="FFFFFF"/>
                          </a:solidFill>
                          <a:latin typeface="Calibri (MS) Bold"/>
                          <a:ea typeface="Calibri (MS) Bold"/>
                          <a:cs typeface="Calibri (MS) Bold"/>
                          <a:sym typeface="Calibri (MS) Bold"/>
                        </a:rPr>
                        <a:t>Metrik (urutan penilaian)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739"/>
                        </a:lnSpc>
                        <a:defRPr/>
                      </a:pPr>
                      <a:r>
                        <a:rPr lang="en-US" sz="1449" b="true">
                          <a:solidFill>
                            <a:srgbClr val="FFFFFF"/>
                          </a:solidFill>
                          <a:latin typeface="Calibri (MS) Bold"/>
                          <a:ea typeface="Calibri (MS) Bold"/>
                          <a:cs typeface="Calibri (MS) Bold"/>
                          <a:sym typeface="Calibri (MS) Bold"/>
                        </a:rPr>
                        <a:t>Rumus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739"/>
                        </a:lnSpc>
                        <a:defRPr/>
                      </a:pPr>
                      <a:r>
                        <a:rPr lang="en-US" sz="1449" b="true">
                          <a:solidFill>
                            <a:srgbClr val="FFFFFF"/>
                          </a:solidFill>
                          <a:latin typeface="Calibri (MS) Bold"/>
                          <a:ea typeface="Calibri (MS) Bold"/>
                          <a:cs typeface="Calibri (MS) Bold"/>
                          <a:sym typeface="Calibri (MS) Bold"/>
                        </a:rPr>
                        <a:t>Kriteria / pedoman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97938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1 · Uji tren (saringan awal)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t = |bₛ − bₐ| / √(Var(bₛ) + Var(bₐ)) ;  db = 2n − 4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α = 0,05 → sama · berbeda nyata · berlawanan arah. Bila berbeda, E1–E2 tidak ditafsirkan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938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2 · E1 galat rata-rata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E1 = |S̄ − Ā| / Ā</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Pedoman empiris &lt; 0,05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938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3 · E2 galat variasi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E2 = |σₛ − σₐ| / σₐ</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Pedoman empiris &lt; 0,30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938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4 · Discrepancy coefficient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DC = SD(e) / (SD(A) + SD(S)) ;  eᵢ = Aᵢ − Sᵢ</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0,4–0,7 = rata-rata sampai baik (ringkasan, bukan uji)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938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MAPE (pelengkap)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MAPE = (100% / n) · Σ |Sᵢ − Aᵢ| / Aᵢ</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&lt; 10% sangat baik · 10–20% baik · 20–50% layak · &gt; 50% buruk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938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Dekomposisi galat (Sterman, 1984)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MSE = (1/n) Σ(Sᵢ − Aᵢ)²</a:t>
                      </a:r>
                      <a:endParaRPr lang="en-US" sz="1100"/>
                    </a:p>
                    <a:p>
                      <a:pPr algn="l">
                        <a:lnSpc>
                          <a:spcPts val="1680"/>
                        </a:lnSpc>
                      </a:pPr>
                      <a:r>
                        <a:rPr lang="en-US" sz="1400" i="true">
                          <a:solidFill>
                            <a:srgbClr val="14313B"/>
                          </a:solidFill>
                          <a:latin typeface="Cambria Italics"/>
                          <a:ea typeface="Cambria Italics"/>
                          <a:cs typeface="Cambria Italics"/>
                          <a:sym typeface="Cambria Italics"/>
                        </a:rPr>
                        <a:t>U1 = (S̄ − Ā)²/MSE ;  U2 = (σₛ − σₐ)²/MSE</a:t>
                      </a:r>
                    </a:p>
                    <a:p>
                      <a:pPr algn="l">
                        <a:lnSpc>
                          <a:spcPts val="1680"/>
                        </a:lnSpc>
                      </a:pPr>
                      <a:r>
                        <a:rPr lang="en-US" sz="1400" i="true">
                          <a:solidFill>
                            <a:srgbClr val="14313B"/>
                          </a:solidFill>
                          <a:latin typeface="Cambria Italics"/>
                          <a:ea typeface="Cambria Italics"/>
                          <a:cs typeface="Cambria Italics"/>
                          <a:sym typeface="Cambria Italics"/>
                        </a:rPr>
                        <a:t>U3 = 2(1 − r)σₛσₐ/MSE ;  U1 + U2 + U3 = 1</a:t>
                      </a:r>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Tanpa ambang: U1/U2 dominan → galat sistematis (dasar kalibrasi); U3 dominan → derau</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
        <p:nvSpPr>
          <p:cNvPr id="78" name="TextBox 7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sp>
        <p:nvSpPr>
          <p:cNvPr id="79"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4.5.1 · Rancangan Uji Perilaku — Penyambungan Data</a:t>
            </a:r>
          </a:p>
          <a:p>
            <a:pPr algn="l">
              <a:lnSpc>
                <a:spcPct val="100000"/>
              </a:lnSpc>
            </a:pPr>
            <a:r>
              <a:rPr lang="en-US" sz="3500" b="true">
                <a:solidFill>
                  <a:srgbClr val="0B5E6E"/>
                </a:solidFill>
                <a:latin typeface="Calibri (MS) Bold"/>
                <a:ea typeface="Calibri (MS) Bold"/>
                <a:cs typeface="Calibri (MS) Bold"/>
                <a:sym typeface="Calibri (MS) Bold"/>
              </a:rPr>
              <a:t>Patahan data wisnus 2018→2019 disambung dengan faktor 2,2997</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2236470"/>
            <a:ext cx="960120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Jumlah wisatawan DIY: data mentah vs tersambung (juta kunjungan)</a:t>
            </a:r>
          </a:p>
        </p:txBody>
      </p:sp>
      <p:grpSp>
        <p:nvGrpSpPr>
          <p:cNvPr name="Group 53" id="53"/>
          <p:cNvGrpSpPr/>
          <p:nvPr/>
        </p:nvGrpSpPr>
        <p:grpSpPr>
          <a:xfrm rot="0">
            <a:off x="11109960" y="2400300"/>
            <a:ext cx="6350508" cy="2125980"/>
            <a:chOff x="0" y="0"/>
            <a:chExt cx="8467344" cy="2834640"/>
          </a:xfrm>
        </p:grpSpPr>
        <p:sp>
          <p:nvSpPr>
            <p:cNvPr name="Freeform 54" id="54"/>
            <p:cNvSpPr/>
            <p:nvPr/>
          </p:nvSpPr>
          <p:spPr>
            <a:xfrm flipH="false" flipV="false" rot="0">
              <a:off x="0" y="0"/>
              <a:ext cx="8467344" cy="2834640"/>
            </a:xfrm>
            <a:custGeom>
              <a:avLst/>
              <a:gdLst/>
              <a:ahLst/>
              <a:cxnLst/>
              <a:rect r="r" b="b" t="t" l="l"/>
              <a:pathLst>
                <a:path h="2834640" w="8467344">
                  <a:moveTo>
                    <a:pt x="0" y="182880"/>
                  </a:moveTo>
                  <a:cubicBezTo>
                    <a:pt x="0" y="81915"/>
                    <a:pt x="81915" y="0"/>
                    <a:pt x="182880" y="0"/>
                  </a:cubicBezTo>
                  <a:lnTo>
                    <a:pt x="8284464" y="0"/>
                  </a:lnTo>
                  <a:cubicBezTo>
                    <a:pt x="8385429" y="0"/>
                    <a:pt x="8467344" y="81915"/>
                    <a:pt x="8467344" y="182880"/>
                  </a:cubicBezTo>
                  <a:lnTo>
                    <a:pt x="8467344" y="2651760"/>
                  </a:lnTo>
                  <a:cubicBezTo>
                    <a:pt x="8467344" y="2752725"/>
                    <a:pt x="8385429" y="2834640"/>
                    <a:pt x="8284464" y="2834640"/>
                  </a:cubicBezTo>
                  <a:lnTo>
                    <a:pt x="182880" y="2834640"/>
                  </a:lnTo>
                  <a:cubicBezTo>
                    <a:pt x="81915" y="2834640"/>
                    <a:pt x="0" y="2752725"/>
                    <a:pt x="0" y="2651760"/>
                  </a:cubicBezTo>
                  <a:close/>
                </a:path>
              </a:pathLst>
            </a:custGeom>
            <a:solidFill>
              <a:srgbClr val="EAF8FA"/>
            </a:solidFill>
          </p:spPr>
        </p:sp>
      </p:grpSp>
      <p:grpSp>
        <p:nvGrpSpPr>
          <p:cNvPr name="Group 55" id="55"/>
          <p:cNvGrpSpPr/>
          <p:nvPr/>
        </p:nvGrpSpPr>
        <p:grpSpPr>
          <a:xfrm rot="0">
            <a:off x="11452860" y="2564892"/>
            <a:ext cx="5623560" cy="754380"/>
            <a:chOff x="0" y="0"/>
            <a:chExt cx="7498080" cy="1005840"/>
          </a:xfrm>
        </p:grpSpPr>
        <p:sp>
          <p:nvSpPr>
            <p:cNvPr name="Freeform 56" id="56"/>
            <p:cNvSpPr/>
            <p:nvPr/>
          </p:nvSpPr>
          <p:spPr>
            <a:xfrm flipH="false" flipV="false" rot="0">
              <a:off x="0" y="0"/>
              <a:ext cx="7498080" cy="1005840"/>
            </a:xfrm>
            <a:custGeom>
              <a:avLst/>
              <a:gdLst/>
              <a:ahLst/>
              <a:cxnLst/>
              <a:rect r="r" b="b" t="t" l="l"/>
              <a:pathLst>
                <a:path h="1005840" w="7498080">
                  <a:moveTo>
                    <a:pt x="0" y="0"/>
                  </a:moveTo>
                  <a:lnTo>
                    <a:pt x="7498080" y="0"/>
                  </a:lnTo>
                  <a:lnTo>
                    <a:pt x="7498080" y="1005840"/>
                  </a:lnTo>
                  <a:lnTo>
                    <a:pt x="0" y="1005840"/>
                  </a:lnTo>
                  <a:close/>
                </a:path>
              </a:pathLst>
            </a:custGeom>
            <a:blipFill>
              <a:blip r:embed="rId4">
                <a:alphaModFix amt="0"/>
              </a:blip>
              <a:stretch>
                <a:fillRect l="0" t="-95151" r="0" b="-95150"/>
              </a:stretch>
            </a:blipFill>
          </p:spPr>
        </p:sp>
      </p:grpSp>
      <p:grpSp>
        <p:nvGrpSpPr>
          <p:cNvPr name="Group 57" id="57"/>
          <p:cNvGrpSpPr/>
          <p:nvPr/>
        </p:nvGrpSpPr>
        <p:grpSpPr>
          <a:xfrm rot="0">
            <a:off x="11452860" y="2507742"/>
            <a:ext cx="5623560" cy="811530"/>
            <a:chOff x="0" y="0"/>
            <a:chExt cx="7498080" cy="1082040"/>
          </a:xfrm>
        </p:grpSpPr>
        <p:sp>
          <p:nvSpPr>
            <p:cNvPr name="Freeform 58" id="58"/>
            <p:cNvSpPr/>
            <p:nvPr/>
          </p:nvSpPr>
          <p:spPr>
            <a:xfrm flipH="false" flipV="false" rot="0">
              <a:off x="0" y="0"/>
              <a:ext cx="7498080" cy="1082040"/>
            </a:xfrm>
            <a:custGeom>
              <a:avLst/>
              <a:gdLst/>
              <a:ahLst/>
              <a:cxnLst/>
              <a:rect r="r" b="b" t="t" l="l"/>
              <a:pathLst>
                <a:path h="1082040" w="7498080">
                  <a:moveTo>
                    <a:pt x="0" y="0"/>
                  </a:moveTo>
                  <a:lnTo>
                    <a:pt x="7498080" y="0"/>
                  </a:lnTo>
                  <a:lnTo>
                    <a:pt x="7498080" y="1082040"/>
                  </a:lnTo>
                  <a:lnTo>
                    <a:pt x="0" y="1082040"/>
                  </a:lnTo>
                  <a:close/>
                </a:path>
              </a:pathLst>
            </a:custGeom>
            <a:blipFill>
              <a:blip r:embed="rId5">
                <a:alphaModFix amt="0"/>
              </a:blip>
              <a:stretch>
                <a:fillRect l="0" t="-85023" r="0" b="-85023"/>
              </a:stretch>
            </a:blipFill>
          </p:spPr>
        </p:sp>
        <p:sp>
          <p:nvSpPr>
            <p:cNvPr name="TextBox 59" id="59"/>
            <p:cNvSpPr txBox="true"/>
            <p:nvPr/>
          </p:nvSpPr>
          <p:spPr>
            <a:xfrm>
              <a:off x="0" y="-76200"/>
              <a:ext cx="7498080" cy="1158240"/>
            </a:xfrm>
            <a:prstGeom prst="rect">
              <a:avLst/>
            </a:prstGeom>
          </p:spPr>
          <p:txBody>
            <a:bodyPr anchor="ctr" rtlCol="false" tIns="0" lIns="0" bIns="0" rIns="0"/>
            <a:lstStyle/>
            <a:p>
              <a:pPr algn="l">
                <a:lnSpc>
                  <a:spcPts val="4680"/>
                </a:lnSpc>
              </a:pPr>
              <a:r>
                <a:rPr lang="en-US" sz="3900" b="true">
                  <a:solidFill>
                    <a:srgbClr val="0B5E6E"/>
                  </a:solidFill>
                  <a:latin typeface="Calibri (MS) Bold"/>
                  <a:ea typeface="Calibri (MS) Bold"/>
                  <a:cs typeface="Calibri (MS) Bold"/>
                  <a:sym typeface="Calibri (MS) Bold"/>
                </a:rPr>
                <a:t>2,57×</a:t>
              </a:r>
            </a:p>
          </p:txBody>
        </p:sp>
      </p:grpSp>
      <p:sp>
        <p:nvSpPr>
          <p:cNvPr name="TextBox 60" id="60"/>
          <p:cNvSpPr txBox="true"/>
          <p:nvPr/>
        </p:nvSpPr>
        <p:spPr>
          <a:xfrm rot="0">
            <a:off x="11452860" y="3311652"/>
            <a:ext cx="5623560" cy="11734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lonjakan 2018→2019 (8,0 → 20,5 juta) akibat patahan metode pencacahan</a:t>
            </a:r>
          </a:p>
        </p:txBody>
      </p:sp>
      <p:grpSp>
        <p:nvGrpSpPr>
          <p:cNvPr name="Group 61" id="61"/>
          <p:cNvGrpSpPr/>
          <p:nvPr/>
        </p:nvGrpSpPr>
        <p:grpSpPr>
          <a:xfrm rot="0">
            <a:off x="11109960" y="4732020"/>
            <a:ext cx="6350508" cy="2125980"/>
            <a:chOff x="0" y="0"/>
            <a:chExt cx="8467344" cy="2834640"/>
          </a:xfrm>
        </p:grpSpPr>
        <p:sp>
          <p:nvSpPr>
            <p:cNvPr name="Freeform 62" id="62"/>
            <p:cNvSpPr/>
            <p:nvPr/>
          </p:nvSpPr>
          <p:spPr>
            <a:xfrm flipH="false" flipV="false" rot="0">
              <a:off x="0" y="0"/>
              <a:ext cx="8467344" cy="2834640"/>
            </a:xfrm>
            <a:custGeom>
              <a:avLst/>
              <a:gdLst/>
              <a:ahLst/>
              <a:cxnLst/>
              <a:rect r="r" b="b" t="t" l="l"/>
              <a:pathLst>
                <a:path h="2834640" w="8467344">
                  <a:moveTo>
                    <a:pt x="0" y="182880"/>
                  </a:moveTo>
                  <a:cubicBezTo>
                    <a:pt x="0" y="81915"/>
                    <a:pt x="81915" y="0"/>
                    <a:pt x="182880" y="0"/>
                  </a:cubicBezTo>
                  <a:lnTo>
                    <a:pt x="8284464" y="0"/>
                  </a:lnTo>
                  <a:cubicBezTo>
                    <a:pt x="8385429" y="0"/>
                    <a:pt x="8467344" y="81915"/>
                    <a:pt x="8467344" y="182880"/>
                  </a:cubicBezTo>
                  <a:lnTo>
                    <a:pt x="8467344" y="2651760"/>
                  </a:lnTo>
                  <a:cubicBezTo>
                    <a:pt x="8467344" y="2752725"/>
                    <a:pt x="8385429" y="2834640"/>
                    <a:pt x="8284464" y="2834640"/>
                  </a:cubicBezTo>
                  <a:lnTo>
                    <a:pt x="182880" y="2834640"/>
                  </a:lnTo>
                  <a:cubicBezTo>
                    <a:pt x="81915" y="2834640"/>
                    <a:pt x="0" y="2752725"/>
                    <a:pt x="0" y="2651760"/>
                  </a:cubicBezTo>
                  <a:close/>
                </a:path>
              </a:pathLst>
            </a:custGeom>
            <a:solidFill>
              <a:srgbClr val="FFF1BF"/>
            </a:solidFill>
          </p:spPr>
        </p:sp>
      </p:grpSp>
      <p:grpSp>
        <p:nvGrpSpPr>
          <p:cNvPr name="Group 63" id="63"/>
          <p:cNvGrpSpPr/>
          <p:nvPr/>
        </p:nvGrpSpPr>
        <p:grpSpPr>
          <a:xfrm rot="0">
            <a:off x="11452860" y="4896612"/>
            <a:ext cx="5623560" cy="754380"/>
            <a:chOff x="0" y="0"/>
            <a:chExt cx="7498080" cy="1005840"/>
          </a:xfrm>
        </p:grpSpPr>
        <p:sp>
          <p:nvSpPr>
            <p:cNvPr name="Freeform 64" id="64"/>
            <p:cNvSpPr/>
            <p:nvPr/>
          </p:nvSpPr>
          <p:spPr>
            <a:xfrm flipH="false" flipV="false" rot="0">
              <a:off x="0" y="0"/>
              <a:ext cx="7498080" cy="1005840"/>
            </a:xfrm>
            <a:custGeom>
              <a:avLst/>
              <a:gdLst/>
              <a:ahLst/>
              <a:cxnLst/>
              <a:rect r="r" b="b" t="t" l="l"/>
              <a:pathLst>
                <a:path h="1005840" w="7498080">
                  <a:moveTo>
                    <a:pt x="0" y="0"/>
                  </a:moveTo>
                  <a:lnTo>
                    <a:pt x="7498080" y="0"/>
                  </a:lnTo>
                  <a:lnTo>
                    <a:pt x="7498080" y="1005840"/>
                  </a:lnTo>
                  <a:lnTo>
                    <a:pt x="0" y="1005840"/>
                  </a:lnTo>
                  <a:close/>
                </a:path>
              </a:pathLst>
            </a:custGeom>
            <a:blipFill>
              <a:blip r:embed="rId4">
                <a:alphaModFix amt="0"/>
              </a:blip>
              <a:stretch>
                <a:fillRect l="0" t="-95151" r="0" b="-95150"/>
              </a:stretch>
            </a:blipFill>
          </p:spPr>
        </p:sp>
      </p:grpSp>
      <p:grpSp>
        <p:nvGrpSpPr>
          <p:cNvPr name="Group 65" id="65"/>
          <p:cNvGrpSpPr/>
          <p:nvPr/>
        </p:nvGrpSpPr>
        <p:grpSpPr>
          <a:xfrm rot="0">
            <a:off x="11452860" y="4839462"/>
            <a:ext cx="5623560" cy="811530"/>
            <a:chOff x="0" y="0"/>
            <a:chExt cx="7498080" cy="1082040"/>
          </a:xfrm>
        </p:grpSpPr>
        <p:sp>
          <p:nvSpPr>
            <p:cNvPr name="Freeform 66" id="66"/>
            <p:cNvSpPr/>
            <p:nvPr/>
          </p:nvSpPr>
          <p:spPr>
            <a:xfrm flipH="false" flipV="false" rot="0">
              <a:off x="0" y="0"/>
              <a:ext cx="7498080" cy="1082040"/>
            </a:xfrm>
            <a:custGeom>
              <a:avLst/>
              <a:gdLst/>
              <a:ahLst/>
              <a:cxnLst/>
              <a:rect r="r" b="b" t="t" l="l"/>
              <a:pathLst>
                <a:path h="1082040" w="7498080">
                  <a:moveTo>
                    <a:pt x="0" y="0"/>
                  </a:moveTo>
                  <a:lnTo>
                    <a:pt x="7498080" y="0"/>
                  </a:lnTo>
                  <a:lnTo>
                    <a:pt x="7498080" y="1082040"/>
                  </a:lnTo>
                  <a:lnTo>
                    <a:pt x="0" y="1082040"/>
                  </a:lnTo>
                  <a:close/>
                </a:path>
              </a:pathLst>
            </a:custGeom>
            <a:blipFill>
              <a:blip r:embed="rId5">
                <a:alphaModFix amt="0"/>
              </a:blip>
              <a:stretch>
                <a:fillRect l="0" t="-85023" r="0" b="-85023"/>
              </a:stretch>
            </a:blipFill>
          </p:spPr>
        </p:sp>
        <p:sp>
          <p:nvSpPr>
            <p:cNvPr name="TextBox 67" id="67"/>
            <p:cNvSpPr txBox="true"/>
            <p:nvPr/>
          </p:nvSpPr>
          <p:spPr>
            <a:xfrm>
              <a:off x="0" y="-76200"/>
              <a:ext cx="7498080" cy="1158240"/>
            </a:xfrm>
            <a:prstGeom prst="rect">
              <a:avLst/>
            </a:prstGeom>
          </p:spPr>
          <p:txBody>
            <a:bodyPr anchor="ctr" rtlCol="false" tIns="0" lIns="0" bIns="0" rIns="0"/>
            <a:lstStyle/>
            <a:p>
              <a:pPr algn="l">
                <a:lnSpc>
                  <a:spcPts val="4680"/>
                </a:lnSpc>
              </a:pPr>
              <a:r>
                <a:rPr lang="en-US" sz="3900" b="true">
                  <a:solidFill>
                    <a:srgbClr val="0B5E6E"/>
                  </a:solidFill>
                  <a:latin typeface="Calibri (MS) Bold"/>
                  <a:ea typeface="Calibri (MS) Bold"/>
                  <a:cs typeface="Calibri (MS) Bold"/>
                  <a:sym typeface="Calibri (MS) Bold"/>
                </a:rPr>
                <a:t>2,2997</a:t>
              </a:r>
            </a:p>
          </p:txBody>
        </p:sp>
      </p:grpSp>
      <p:sp>
        <p:nvSpPr>
          <p:cNvPr name="TextBox 68" id="68"/>
          <p:cNvSpPr txBox="true"/>
          <p:nvPr/>
        </p:nvSpPr>
        <p:spPr>
          <a:xfrm rot="0">
            <a:off x="11452860" y="5643372"/>
            <a:ext cx="5623560" cy="11734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faktor penyambungan (rentang 2,22–2,38), diuji ulang pada kalibrasi diagnostik</a:t>
            </a:r>
          </a:p>
        </p:txBody>
      </p:sp>
      <p:grpSp>
        <p:nvGrpSpPr>
          <p:cNvPr name="Group 69" id="69"/>
          <p:cNvGrpSpPr/>
          <p:nvPr/>
        </p:nvGrpSpPr>
        <p:grpSpPr>
          <a:xfrm rot="0">
            <a:off x="11109960" y="7063740"/>
            <a:ext cx="6350508" cy="2125980"/>
            <a:chOff x="0" y="0"/>
            <a:chExt cx="8467344" cy="2834640"/>
          </a:xfrm>
        </p:grpSpPr>
        <p:sp>
          <p:nvSpPr>
            <p:cNvPr name="Freeform 70" id="70"/>
            <p:cNvSpPr/>
            <p:nvPr/>
          </p:nvSpPr>
          <p:spPr>
            <a:xfrm flipH="false" flipV="false" rot="0">
              <a:off x="0" y="0"/>
              <a:ext cx="8467344" cy="2834640"/>
            </a:xfrm>
            <a:custGeom>
              <a:avLst/>
              <a:gdLst/>
              <a:ahLst/>
              <a:cxnLst/>
              <a:rect r="r" b="b" t="t" l="l"/>
              <a:pathLst>
                <a:path h="2834640" w="8467344">
                  <a:moveTo>
                    <a:pt x="0" y="182880"/>
                  </a:moveTo>
                  <a:cubicBezTo>
                    <a:pt x="0" y="81915"/>
                    <a:pt x="81915" y="0"/>
                    <a:pt x="182880" y="0"/>
                  </a:cubicBezTo>
                  <a:lnTo>
                    <a:pt x="8284464" y="0"/>
                  </a:lnTo>
                  <a:cubicBezTo>
                    <a:pt x="8385429" y="0"/>
                    <a:pt x="8467344" y="81915"/>
                    <a:pt x="8467344" y="182880"/>
                  </a:cubicBezTo>
                  <a:lnTo>
                    <a:pt x="8467344" y="2651760"/>
                  </a:lnTo>
                  <a:cubicBezTo>
                    <a:pt x="8467344" y="2752725"/>
                    <a:pt x="8385429" y="2834640"/>
                    <a:pt x="8284464" y="2834640"/>
                  </a:cubicBezTo>
                  <a:lnTo>
                    <a:pt x="182880" y="2834640"/>
                  </a:lnTo>
                  <a:cubicBezTo>
                    <a:pt x="81915" y="2834640"/>
                    <a:pt x="0" y="2752725"/>
                    <a:pt x="0" y="2651760"/>
                  </a:cubicBezTo>
                  <a:close/>
                </a:path>
              </a:pathLst>
            </a:custGeom>
            <a:solidFill>
              <a:srgbClr val="EAF8FA"/>
            </a:solidFill>
          </p:spPr>
        </p:sp>
      </p:grpSp>
      <p:grpSp>
        <p:nvGrpSpPr>
          <p:cNvPr name="Group 71" id="71"/>
          <p:cNvGrpSpPr/>
          <p:nvPr/>
        </p:nvGrpSpPr>
        <p:grpSpPr>
          <a:xfrm rot="0">
            <a:off x="11452860" y="7228332"/>
            <a:ext cx="5623560" cy="754380"/>
            <a:chOff x="0" y="0"/>
            <a:chExt cx="7498080" cy="1005840"/>
          </a:xfrm>
        </p:grpSpPr>
        <p:sp>
          <p:nvSpPr>
            <p:cNvPr name="Freeform 72" id="72"/>
            <p:cNvSpPr/>
            <p:nvPr/>
          </p:nvSpPr>
          <p:spPr>
            <a:xfrm flipH="false" flipV="false" rot="0">
              <a:off x="0" y="0"/>
              <a:ext cx="7498080" cy="1005840"/>
            </a:xfrm>
            <a:custGeom>
              <a:avLst/>
              <a:gdLst/>
              <a:ahLst/>
              <a:cxnLst/>
              <a:rect r="r" b="b" t="t" l="l"/>
              <a:pathLst>
                <a:path h="1005840" w="7498080">
                  <a:moveTo>
                    <a:pt x="0" y="0"/>
                  </a:moveTo>
                  <a:lnTo>
                    <a:pt x="7498080" y="0"/>
                  </a:lnTo>
                  <a:lnTo>
                    <a:pt x="7498080" y="1005840"/>
                  </a:lnTo>
                  <a:lnTo>
                    <a:pt x="0" y="1005840"/>
                  </a:lnTo>
                  <a:close/>
                </a:path>
              </a:pathLst>
            </a:custGeom>
            <a:blipFill>
              <a:blip r:embed="rId4">
                <a:alphaModFix amt="0"/>
              </a:blip>
              <a:stretch>
                <a:fillRect l="0" t="-95151" r="0" b="-95150"/>
              </a:stretch>
            </a:blipFill>
          </p:spPr>
        </p:sp>
      </p:grpSp>
      <p:grpSp>
        <p:nvGrpSpPr>
          <p:cNvPr name="Group 73" id="73"/>
          <p:cNvGrpSpPr/>
          <p:nvPr/>
        </p:nvGrpSpPr>
        <p:grpSpPr>
          <a:xfrm rot="0">
            <a:off x="11452860" y="7171182"/>
            <a:ext cx="5623560" cy="811530"/>
            <a:chOff x="0" y="0"/>
            <a:chExt cx="7498080" cy="1082040"/>
          </a:xfrm>
        </p:grpSpPr>
        <p:sp>
          <p:nvSpPr>
            <p:cNvPr name="Freeform 74" id="74"/>
            <p:cNvSpPr/>
            <p:nvPr/>
          </p:nvSpPr>
          <p:spPr>
            <a:xfrm flipH="false" flipV="false" rot="0">
              <a:off x="0" y="0"/>
              <a:ext cx="7498080" cy="1082040"/>
            </a:xfrm>
            <a:custGeom>
              <a:avLst/>
              <a:gdLst/>
              <a:ahLst/>
              <a:cxnLst/>
              <a:rect r="r" b="b" t="t" l="l"/>
              <a:pathLst>
                <a:path h="1082040" w="7498080">
                  <a:moveTo>
                    <a:pt x="0" y="0"/>
                  </a:moveTo>
                  <a:lnTo>
                    <a:pt x="7498080" y="0"/>
                  </a:lnTo>
                  <a:lnTo>
                    <a:pt x="7498080" y="1082040"/>
                  </a:lnTo>
                  <a:lnTo>
                    <a:pt x="0" y="1082040"/>
                  </a:lnTo>
                  <a:close/>
                </a:path>
              </a:pathLst>
            </a:custGeom>
            <a:blipFill>
              <a:blip r:embed="rId5">
                <a:alphaModFix amt="0"/>
              </a:blip>
              <a:stretch>
                <a:fillRect l="0" t="-85023" r="0" b="-85023"/>
              </a:stretch>
            </a:blipFill>
          </p:spPr>
        </p:sp>
        <p:sp>
          <p:nvSpPr>
            <p:cNvPr name="TextBox 75" id="75"/>
            <p:cNvSpPr txBox="true"/>
            <p:nvPr/>
          </p:nvSpPr>
          <p:spPr>
            <a:xfrm>
              <a:off x="0" y="-76200"/>
              <a:ext cx="7498080" cy="1158240"/>
            </a:xfrm>
            <a:prstGeom prst="rect">
              <a:avLst/>
            </a:prstGeom>
          </p:spPr>
          <p:txBody>
            <a:bodyPr anchor="ctr" rtlCol="false" tIns="0" lIns="0" bIns="0" rIns="0"/>
            <a:lstStyle/>
            <a:p>
              <a:pPr algn="l">
                <a:lnSpc>
                  <a:spcPts val="4680"/>
                </a:lnSpc>
              </a:pPr>
              <a:r>
                <a:rPr lang="en-US" sz="3900" b="true">
                  <a:solidFill>
                    <a:srgbClr val="0B5E6E"/>
                  </a:solidFill>
                  <a:latin typeface="Calibri (MS) Bold"/>
                  <a:ea typeface="Calibri (MS) Bold"/>
                  <a:cs typeface="Calibri (MS) Bold"/>
                  <a:sym typeface="Calibri (MS) Bold"/>
                </a:rPr>
                <a:t>2019–2025</a:t>
              </a:r>
            </a:p>
          </p:txBody>
        </p:sp>
      </p:grpSp>
      <p:sp>
        <p:nvSpPr>
          <p:cNvPr name="TextBox 76" id="76"/>
          <p:cNvSpPr txBox="true"/>
          <p:nvPr/>
        </p:nvSpPr>
        <p:spPr>
          <a:xfrm rot="0">
            <a:off x="11452860" y="7975092"/>
            <a:ext cx="5623560" cy="11734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periode uji penuh (tanpa sambungan); uji P5 memakai seri tersambung sejak 2016</a:t>
            </a:r>
          </a:p>
        </p:txBody>
      </p:sp>
      <p:sp>
        <p:nvSpPr>
          <p:cNvPr name="TextBox 77" id="7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45</a:t>
            </a:r>
          </a:p>
        </p:txBody>
      </p:sp>
      <p:pic>
        <p:nvPicPr>
          <p:cNvPr name="Picture 78" id="78"/>
          <p:cNvPicPr>
            <a:picLocks noChangeAspect="true"/>
          </p:cNvPicPr>
          <p:nvPr/>
        </p:nvPicPr>
        <p:blipFill>
          <a:blip r:embed="rId6"/>
          <a:stretch>
            <a:fillRect/>
          </a:stretch>
        </p:blipFill>
        <p:spPr>
          <a:xfrm rot="0">
            <a:off x="-173736" y="1883664"/>
            <a:ext cx="11960352" cy="8302752"/>
          </a:xfrm>
          <a:prstGeom prst="rect">
            <a:avLst/>
          </a:prstGeom>
        </p:spPr>
      </p:pic>
      <p:sp>
        <p:nvSpPr>
          <p:cNvPr id="79" name="TextBox 7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sp>
        <p:nvSpPr>
          <p:cNvPr id="80"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4.5.2 · Hasil Uji Parsial</a:t>
            </a:r>
          </a:p>
          <a:p>
            <a:pPr algn="l">
              <a:lnSpc>
                <a:spcPct val="100000"/>
              </a:lnSpc>
            </a:pPr>
            <a:r>
              <a:rPr lang="en-US" sz="3500" b="true">
                <a:solidFill>
                  <a:srgbClr val="0B5E6E"/>
                </a:solidFill>
                <a:latin typeface="Calibri (MS) Bold"/>
                <a:ea typeface="Calibri (MS) Bold"/>
                <a:cs typeface="Calibri (MS) Bold"/>
                <a:sym typeface="Calibri (MS) Bold"/>
              </a:rPr>
              <a:t>Hasil uji parsial: struktur subsistem memadai, wisatawan gagal uji tren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46</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graphicFrame>
        <p:nvGraphicFramePr>
          <p:cNvPr id="149" name="Table 148"/>
          <p:cNvGraphicFramePr>
            <a:graphicFrameLocks noGrp="1"/>
          </p:cNvGraphicFramePr>
          <p:nvPr/>
        </p:nvGraphicFramePr>
        <p:xfrm>
          <a:off x="822960" y="2286000"/>
          <a:ext cx="8778233" cy="4526280"/>
        </p:xfrm>
        <a:graphic>
          <a:graphicData uri="http://schemas.openxmlformats.org/drawingml/2006/table">
            <a:tbl>
              <a:tblPr firstRow="1" bandRow="1">
                <a:tableStyleId>{5C22544A-7EE6-4342-B048-85BDC9FD1C3A}</a:tableStyleId>
              </a:tblPr>
              <a:tblGrid>
                <a:gridCol w="2560319"/>
                <a:gridCol w="1463039"/>
                <a:gridCol w="822959"/>
                <a:gridCol w="822959"/>
                <a:gridCol w="914399"/>
                <a:gridCol w="914399"/>
                <a:gridCol w="1280159"/>
              </a:tblGrid>
              <a:tr h="502920">
                <a:tc>
                  <a:txBody>
                    <a:bodyPr wrap="square"/>
                    <a:lstStyle/>
                    <a:p>
                      <a:r>
                        <a:rPr sz="1440" b="1" i="0">
                          <a:solidFill>
                            <a:srgbClr val="FFFFFF"/>
                          </a:solidFill>
                          <a:latin typeface="Calibri (MS) Bold"/>
                        </a:rPr>
                        <a:t>Uji · variabel</a:t>
                      </a:r>
                    </a:p>
                  </a:txBody>
                  <a:tcPr marL="73152" marR="73152" marT="36576" marB="36576" anchor="ctr">
                    <a:solidFill>
                      <a:srgbClr val="0B5E6E"/>
                    </a:solidFill>
                  </a:tcPr>
                </a:tc>
                <a:tc>
                  <a:txBody>
                    <a:bodyPr wrap="square"/>
                    <a:lstStyle/>
                    <a:p>
                      <a:r>
                        <a:rPr sz="1440" b="1" i="0">
                          <a:solidFill>
                            <a:srgbClr val="FFFFFF"/>
                          </a:solidFill>
                          <a:latin typeface="Calibri (MS) Bold"/>
                        </a:rPr>
                        <a:t>Tren</a:t>
                      </a:r>
                    </a:p>
                  </a:txBody>
                  <a:tcPr marL="73152" marR="73152" marT="36576" marB="36576" anchor="ctr">
                    <a:solidFill>
                      <a:srgbClr val="0B5E6E"/>
                    </a:solidFill>
                  </a:tcPr>
                </a:tc>
                <a:tc>
                  <a:txBody>
                    <a:bodyPr wrap="square"/>
                    <a:lstStyle/>
                    <a:p>
                      <a:r>
                        <a:rPr sz="1440" b="1" i="0">
                          <a:solidFill>
                            <a:srgbClr val="FFFFFF"/>
                          </a:solidFill>
                          <a:latin typeface="Calibri (MS) Bold"/>
                        </a:rPr>
                        <a:t>E1</a:t>
                      </a:r>
                    </a:p>
                  </a:txBody>
                  <a:tcPr marL="73152" marR="73152" marT="36576" marB="36576" anchor="ctr">
                    <a:solidFill>
                      <a:srgbClr val="0B5E6E"/>
                    </a:solidFill>
                  </a:tcPr>
                </a:tc>
                <a:tc>
                  <a:txBody>
                    <a:bodyPr wrap="square"/>
                    <a:lstStyle/>
                    <a:p>
                      <a:r>
                        <a:rPr sz="1440" b="1" i="0">
                          <a:solidFill>
                            <a:srgbClr val="FFFFFF"/>
                          </a:solidFill>
                          <a:latin typeface="Calibri (MS) Bold"/>
                        </a:rPr>
                        <a:t>E2</a:t>
                      </a:r>
                    </a:p>
                  </a:txBody>
                  <a:tcPr marL="73152" marR="73152" marT="36576" marB="36576" anchor="ctr">
                    <a:solidFill>
                      <a:srgbClr val="0B5E6E"/>
                    </a:solidFill>
                  </a:tcPr>
                </a:tc>
                <a:tc>
                  <a:txBody>
                    <a:bodyPr wrap="square"/>
                    <a:lstStyle/>
                    <a:p>
                      <a:r>
                        <a:rPr sz="1440" b="1" i="0">
                          <a:solidFill>
                            <a:srgbClr val="FFFFFF"/>
                          </a:solidFill>
                          <a:latin typeface="Calibri (MS) Bold"/>
                        </a:rPr>
                        <a:t>DC</a:t>
                      </a:r>
                    </a:p>
                  </a:txBody>
                  <a:tcPr marL="73152" marR="73152" marT="36576" marB="36576" anchor="ctr">
                    <a:solidFill>
                      <a:srgbClr val="0B5E6E"/>
                    </a:solidFill>
                  </a:tcPr>
                </a:tc>
                <a:tc>
                  <a:txBody>
                    <a:bodyPr wrap="square"/>
                    <a:lstStyle/>
                    <a:p>
                      <a:r>
                        <a:rPr sz="1440" b="1" i="0">
                          <a:solidFill>
                            <a:srgbClr val="FFFFFF"/>
                          </a:solidFill>
                          <a:latin typeface="Calibri (MS) Bold"/>
                        </a:rPr>
                        <a:t>MAPE</a:t>
                      </a:r>
                    </a:p>
                  </a:txBody>
                  <a:tcPr marL="73152" marR="73152" marT="36576" marB="36576" anchor="ctr">
                    <a:solidFill>
                      <a:srgbClr val="0B5E6E"/>
                    </a:solidFill>
                  </a:tcPr>
                </a:tc>
                <a:tc>
                  <a:txBody>
                    <a:bodyPr wrap="square"/>
                    <a:lstStyle/>
                    <a:p>
                      <a:r>
                        <a:rPr sz="1440" b="1" i="0">
                          <a:solidFill>
                            <a:srgbClr val="FFFFFF"/>
                          </a:solidFill>
                          <a:latin typeface="Calibri (MS) Bold"/>
                        </a:rPr>
                        <a:t>Dominan</a:t>
                      </a:r>
                    </a:p>
                  </a:txBody>
                  <a:tcPr marL="73152" marR="73152" marT="36576" marB="36576" anchor="ctr">
                    <a:solidFill>
                      <a:srgbClr val="0B5E6E"/>
                    </a:solidFill>
                  </a:tcPr>
                </a:tc>
              </a:tr>
              <a:tr h="502920">
                <a:tc>
                  <a:txBody>
                    <a:bodyPr wrap="square"/>
                    <a:lstStyle/>
                    <a:p>
                      <a:r>
                        <a:rPr sz="1440" b="0" i="0">
                          <a:solidFill>
                            <a:srgbClr val="14313B"/>
                          </a:solidFill>
                          <a:latin typeface="Calibri (MS)"/>
                        </a:rPr>
                        <a:t>P1 · Jumlah hotel</a:t>
                      </a:r>
                    </a:p>
                  </a:txBody>
                  <a:tcPr marL="73152" marR="73152" marT="36576" marB="36576" anchor="ctr">
                    <a:solidFill>
                      <a:srgbClr val="FFFFFF"/>
                    </a:solidFill>
                  </a:tcPr>
                </a:tc>
                <a:tc>
                  <a:txBody>
                    <a:bodyPr wrap="square"/>
                    <a:lstStyle/>
                    <a:p>
                      <a:r>
                        <a:rPr sz="1440" b="0" i="0">
                          <a:solidFill>
                            <a:srgbClr val="14313B"/>
                          </a:solidFill>
                          <a:latin typeface="Calibri (MS)"/>
                        </a:rPr>
                        <a:t>Sama</a:t>
                      </a:r>
                    </a:p>
                  </a:txBody>
                  <a:tcPr marL="73152" marR="73152" marT="36576" marB="36576" anchor="ctr">
                    <a:solidFill>
                      <a:srgbClr val="FFFFFF"/>
                    </a:solidFill>
                  </a:tcPr>
                </a:tc>
                <a:tc>
                  <a:txBody>
                    <a:bodyPr wrap="square"/>
                    <a:lstStyle/>
                    <a:p>
                      <a:r>
                        <a:rPr sz="1440" b="0" i="0">
                          <a:solidFill>
                            <a:srgbClr val="14313B"/>
                          </a:solidFill>
                          <a:latin typeface="Calibri (MS)"/>
                        </a:rPr>
                        <a:t>0,0402</a:t>
                      </a:r>
                    </a:p>
                  </a:txBody>
                  <a:tcPr marL="73152" marR="73152" marT="36576" marB="36576" anchor="ctr">
                    <a:solidFill>
                      <a:srgbClr val="FFFFFF"/>
                    </a:solidFill>
                  </a:tcPr>
                </a:tc>
                <a:tc>
                  <a:txBody>
                    <a:bodyPr wrap="square"/>
                    <a:lstStyle/>
                    <a:p>
                      <a:r>
                        <a:rPr sz="1440" b="0" i="0">
                          <a:solidFill>
                            <a:srgbClr val="14313B"/>
                          </a:solidFill>
                          <a:latin typeface="Calibri (MS)"/>
                        </a:rPr>
                        <a:t>0,0773</a:t>
                      </a:r>
                    </a:p>
                  </a:txBody>
                  <a:tcPr marL="73152" marR="73152" marT="36576" marB="36576" anchor="ctr">
                    <a:solidFill>
                      <a:srgbClr val="FFFFFF"/>
                    </a:solidFill>
                  </a:tcPr>
                </a:tc>
                <a:tc>
                  <a:txBody>
                    <a:bodyPr wrap="square"/>
                    <a:lstStyle/>
                    <a:p>
                      <a:r>
                        <a:rPr sz="1440" b="0" i="0">
                          <a:solidFill>
                            <a:srgbClr val="14313B"/>
                          </a:solidFill>
                          <a:latin typeface="Calibri (MS)"/>
                        </a:rPr>
                        <a:t>0,2011</a:t>
                      </a:r>
                    </a:p>
                  </a:txBody>
                  <a:tcPr marL="73152" marR="73152" marT="36576" marB="36576" anchor="ctr">
                    <a:solidFill>
                      <a:srgbClr val="FFF1BF"/>
                    </a:solidFill>
                  </a:tcPr>
                </a:tc>
                <a:tc>
                  <a:txBody>
                    <a:bodyPr wrap="square"/>
                    <a:lstStyle/>
                    <a:p>
                      <a:r>
                        <a:rPr sz="1440" b="0" i="0">
                          <a:solidFill>
                            <a:srgbClr val="14313B"/>
                          </a:solidFill>
                          <a:latin typeface="Calibri (MS)"/>
                        </a:rPr>
                        <a:t>6,05%</a:t>
                      </a:r>
                    </a:p>
                  </a:txBody>
                  <a:tcPr marL="73152" marR="73152" marT="36576" marB="36576" anchor="ctr">
                    <a:solidFill>
                      <a:srgbClr val="FFFFFF"/>
                    </a:solidFill>
                  </a:tcPr>
                </a:tc>
                <a:tc>
                  <a:txBody>
                    <a:bodyPr wrap="square"/>
                    <a:lstStyle/>
                    <a:p>
                      <a:r>
                        <a:rPr sz="1440" b="0" i="0">
                          <a:solidFill>
                            <a:srgbClr val="14313B"/>
                          </a:solidFill>
                          <a:latin typeface="Calibri (MS)"/>
                        </a:rPr>
                        <a:t>U3</a:t>
                      </a:r>
                    </a:p>
                  </a:txBody>
                  <a:tcPr marL="73152" marR="73152" marT="36576" marB="36576" anchor="ctr">
                    <a:solidFill>
                      <a:srgbClr val="FFFFFF"/>
                    </a:solidFill>
                  </a:tcPr>
                </a:tc>
              </a:tr>
              <a:tr h="502920">
                <a:tc>
                  <a:txBody>
                    <a:bodyPr wrap="square"/>
                    <a:lstStyle/>
                    <a:p>
                      <a:r>
                        <a:rPr sz="1440" b="0" i="0">
                          <a:solidFill>
                            <a:srgbClr val="14313B"/>
                          </a:solidFill>
                          <a:latin typeface="Calibri (MS)"/>
                        </a:rPr>
                        <a:t>P1b · Jumlah hotel</a:t>
                      </a:r>
                    </a:p>
                  </a:txBody>
                  <a:tcPr marL="73152" marR="73152" marT="36576" marB="36576" anchor="ctr">
                    <a:solidFill>
                      <a:srgbClr val="EAF8FA"/>
                    </a:solidFill>
                  </a:tcPr>
                </a:tc>
                <a:tc>
                  <a:txBody>
                    <a:bodyPr wrap="square"/>
                    <a:lstStyle/>
                    <a:p>
                      <a:r>
                        <a:rPr sz="1440" b="0" i="0">
                          <a:solidFill>
                            <a:srgbClr val="14313B"/>
                          </a:solidFill>
                          <a:latin typeface="Calibri (MS)"/>
                        </a:rPr>
                        <a:t>Sama</a:t>
                      </a:r>
                    </a:p>
                  </a:txBody>
                  <a:tcPr marL="73152" marR="73152" marT="36576" marB="36576" anchor="ctr">
                    <a:solidFill>
                      <a:srgbClr val="EAF8FA"/>
                    </a:solidFill>
                  </a:tcPr>
                </a:tc>
                <a:tc>
                  <a:txBody>
                    <a:bodyPr wrap="square"/>
                    <a:lstStyle/>
                    <a:p>
                      <a:r>
                        <a:rPr sz="1440" b="0" i="0">
                          <a:solidFill>
                            <a:srgbClr val="14313B"/>
                          </a:solidFill>
                          <a:latin typeface="Calibri (MS)"/>
                        </a:rPr>
                        <a:t>0,0182</a:t>
                      </a:r>
                    </a:p>
                  </a:txBody>
                  <a:tcPr marL="73152" marR="73152" marT="36576" marB="36576" anchor="ctr">
                    <a:solidFill>
                      <a:srgbClr val="EAF8FA"/>
                    </a:solidFill>
                  </a:tcPr>
                </a:tc>
                <a:tc>
                  <a:txBody>
                    <a:bodyPr wrap="square"/>
                    <a:lstStyle/>
                    <a:p>
                      <a:r>
                        <a:rPr sz="1440" b="0" i="0">
                          <a:solidFill>
                            <a:srgbClr val="14313B"/>
                          </a:solidFill>
                          <a:latin typeface="Calibri (MS)"/>
                        </a:rPr>
                        <a:t>0,1223</a:t>
                      </a:r>
                    </a:p>
                  </a:txBody>
                  <a:tcPr marL="73152" marR="73152" marT="36576" marB="36576" anchor="ctr">
                    <a:solidFill>
                      <a:srgbClr val="EAF8FA"/>
                    </a:solidFill>
                  </a:tcPr>
                </a:tc>
                <a:tc>
                  <a:txBody>
                    <a:bodyPr wrap="square"/>
                    <a:lstStyle/>
                    <a:p>
                      <a:r>
                        <a:rPr sz="1440" b="0" i="0">
                          <a:solidFill>
                            <a:srgbClr val="14313B"/>
                          </a:solidFill>
                          <a:latin typeface="Calibri (MS)"/>
                        </a:rPr>
                        <a:t>0,2319</a:t>
                      </a:r>
                    </a:p>
                  </a:txBody>
                  <a:tcPr marL="73152" marR="73152" marT="36576" marB="36576" anchor="ctr">
                    <a:solidFill>
                      <a:srgbClr val="EAF8FA"/>
                    </a:solidFill>
                  </a:tcPr>
                </a:tc>
                <a:tc>
                  <a:txBody>
                    <a:bodyPr wrap="square"/>
                    <a:lstStyle/>
                    <a:p>
                      <a:r>
                        <a:rPr sz="1440" b="0" i="0">
                          <a:solidFill>
                            <a:srgbClr val="14313B"/>
                          </a:solidFill>
                          <a:latin typeface="Calibri (MS)"/>
                        </a:rPr>
                        <a:t>7,86%</a:t>
                      </a:r>
                    </a:p>
                  </a:txBody>
                  <a:tcPr marL="73152" marR="73152" marT="36576" marB="36576" anchor="ctr">
                    <a:solidFill>
                      <a:srgbClr val="EAF8FA"/>
                    </a:solidFill>
                  </a:tcPr>
                </a:tc>
                <a:tc>
                  <a:txBody>
                    <a:bodyPr wrap="square"/>
                    <a:lstStyle/>
                    <a:p>
                      <a:r>
                        <a:rPr sz="1440" b="0" i="0">
                          <a:solidFill>
                            <a:srgbClr val="14313B"/>
                          </a:solidFill>
                          <a:latin typeface="Calibri (MS)"/>
                        </a:rPr>
                        <a:t>U3</a:t>
                      </a:r>
                    </a:p>
                  </a:txBody>
                  <a:tcPr marL="73152" marR="73152" marT="36576" marB="36576" anchor="ctr">
                    <a:solidFill>
                      <a:srgbClr val="EAF8FA"/>
                    </a:solidFill>
                  </a:tcPr>
                </a:tc>
              </a:tr>
              <a:tr h="502920">
                <a:tc>
                  <a:txBody>
                    <a:bodyPr wrap="square"/>
                    <a:lstStyle/>
                    <a:p>
                      <a:r>
                        <a:rPr sz="1440" b="0" i="0">
                          <a:solidFill>
                            <a:srgbClr val="14313B"/>
                          </a:solidFill>
                          <a:latin typeface="Calibri (MS)"/>
                        </a:rPr>
                        <a:t>P1 · TPK</a:t>
                      </a:r>
                    </a:p>
                  </a:txBody>
                  <a:tcPr marL="73152" marR="73152" marT="36576" marB="36576" anchor="ctr">
                    <a:solidFill>
                      <a:srgbClr val="FFFFFF"/>
                    </a:solidFill>
                  </a:tcPr>
                </a:tc>
                <a:tc>
                  <a:txBody>
                    <a:bodyPr wrap="square"/>
                    <a:lstStyle/>
                    <a:p>
                      <a:r>
                        <a:rPr sz="1440" b="0" i="0">
                          <a:solidFill>
                            <a:srgbClr val="14313B"/>
                          </a:solidFill>
                          <a:latin typeface="Calibri (MS)"/>
                        </a:rPr>
                        <a:t>Sama</a:t>
                      </a:r>
                    </a:p>
                  </a:txBody>
                  <a:tcPr marL="73152" marR="73152" marT="36576" marB="36576" anchor="ctr">
                    <a:solidFill>
                      <a:srgbClr val="FFFFFF"/>
                    </a:solidFill>
                  </a:tcPr>
                </a:tc>
                <a:tc>
                  <a:txBody>
                    <a:bodyPr wrap="square"/>
                    <a:lstStyle/>
                    <a:p>
                      <a:r>
                        <a:rPr sz="1440" b="0" i="0">
                          <a:solidFill>
                            <a:srgbClr val="14313B"/>
                          </a:solidFill>
                          <a:latin typeface="Calibri (MS)"/>
                        </a:rPr>
                        <a:t>0,0643</a:t>
                      </a:r>
                    </a:p>
                  </a:txBody>
                  <a:tcPr marL="73152" marR="73152" marT="36576" marB="36576" anchor="ctr">
                    <a:solidFill>
                      <a:srgbClr val="FFFFFF"/>
                    </a:solidFill>
                  </a:tcPr>
                </a:tc>
                <a:tc>
                  <a:txBody>
                    <a:bodyPr wrap="square"/>
                    <a:lstStyle/>
                    <a:p>
                      <a:r>
                        <a:rPr sz="1440" b="0" i="0">
                          <a:solidFill>
                            <a:srgbClr val="14313B"/>
                          </a:solidFill>
                          <a:latin typeface="Calibri (MS)"/>
                        </a:rPr>
                        <a:t>2,5684</a:t>
                      </a:r>
                    </a:p>
                  </a:txBody>
                  <a:tcPr marL="73152" marR="73152" marT="36576" marB="36576" anchor="ctr">
                    <a:solidFill>
                      <a:srgbClr val="FFFFFF"/>
                    </a:solidFill>
                  </a:tcPr>
                </a:tc>
                <a:tc>
                  <a:txBody>
                    <a:bodyPr wrap="square"/>
                    <a:lstStyle/>
                    <a:p>
                      <a:r>
                        <a:rPr sz="1440" b="0" i="0">
                          <a:solidFill>
                            <a:srgbClr val="14313B"/>
                          </a:solidFill>
                          <a:latin typeface="Calibri (MS)"/>
                        </a:rPr>
                        <a:t>0,6692</a:t>
                      </a:r>
                    </a:p>
                  </a:txBody>
                  <a:tcPr marL="73152" marR="73152" marT="36576" marB="36576" anchor="ctr">
                    <a:solidFill>
                      <a:srgbClr val="FFFFFF"/>
                    </a:solidFill>
                  </a:tcPr>
                </a:tc>
                <a:tc>
                  <a:txBody>
                    <a:bodyPr wrap="square"/>
                    <a:lstStyle/>
                    <a:p>
                      <a:r>
                        <a:rPr sz="1440" b="0" i="0">
                          <a:solidFill>
                            <a:srgbClr val="14313B"/>
                          </a:solidFill>
                          <a:latin typeface="Calibri (MS)"/>
                        </a:rPr>
                        <a:t>17,37%</a:t>
                      </a:r>
                    </a:p>
                  </a:txBody>
                  <a:tcPr marL="73152" marR="73152" marT="36576" marB="36576" anchor="ctr">
                    <a:solidFill>
                      <a:srgbClr val="FFFFFF"/>
                    </a:solidFill>
                  </a:tcPr>
                </a:tc>
                <a:tc>
                  <a:txBody>
                    <a:bodyPr wrap="square"/>
                    <a:lstStyle/>
                    <a:p>
                      <a:r>
                        <a:rPr sz="1440" b="0" i="0">
                          <a:solidFill>
                            <a:srgbClr val="14313B"/>
                          </a:solidFill>
                          <a:latin typeface="Calibri (MS)"/>
                        </a:rPr>
                        <a:t>U2</a:t>
                      </a:r>
                    </a:p>
                  </a:txBody>
                  <a:tcPr marL="73152" marR="73152" marT="36576" marB="36576" anchor="ctr">
                    <a:solidFill>
                      <a:srgbClr val="FFFFFF"/>
                    </a:solidFill>
                  </a:tcPr>
                </a:tc>
              </a:tr>
              <a:tr h="502920">
                <a:tc>
                  <a:txBody>
                    <a:bodyPr wrap="square"/>
                    <a:lstStyle/>
                    <a:p>
                      <a:r>
                        <a:rPr sz="1440" b="0" i="0">
                          <a:solidFill>
                            <a:srgbClr val="14313B"/>
                          </a:solidFill>
                          <a:latin typeface="Calibri (MS)"/>
                        </a:rPr>
                        <a:t>P1b · TPK</a:t>
                      </a:r>
                    </a:p>
                  </a:txBody>
                  <a:tcPr marL="73152" marR="73152" marT="36576" marB="36576" anchor="ctr">
                    <a:solidFill>
                      <a:srgbClr val="EAF8FA"/>
                    </a:solidFill>
                  </a:tcPr>
                </a:tc>
                <a:tc>
                  <a:txBody>
                    <a:bodyPr wrap="square"/>
                    <a:lstStyle/>
                    <a:p>
                      <a:r>
                        <a:rPr sz="1440" b="0" i="0">
                          <a:solidFill>
                            <a:srgbClr val="14313B"/>
                          </a:solidFill>
                          <a:latin typeface="Calibri (MS)"/>
                        </a:rPr>
                        <a:t>Sama</a:t>
                      </a:r>
                    </a:p>
                  </a:txBody>
                  <a:tcPr marL="73152" marR="73152" marT="36576" marB="36576" anchor="ctr">
                    <a:solidFill>
                      <a:srgbClr val="EAF8FA"/>
                    </a:solidFill>
                  </a:tcPr>
                </a:tc>
                <a:tc>
                  <a:txBody>
                    <a:bodyPr wrap="square"/>
                    <a:lstStyle/>
                    <a:p>
                      <a:r>
                        <a:rPr sz="1440" b="0" i="0">
                          <a:solidFill>
                            <a:srgbClr val="14313B"/>
                          </a:solidFill>
                          <a:latin typeface="Calibri (MS)"/>
                        </a:rPr>
                        <a:t>0,0610</a:t>
                      </a:r>
                    </a:p>
                  </a:txBody>
                  <a:tcPr marL="73152" marR="73152" marT="36576" marB="36576" anchor="ctr">
                    <a:solidFill>
                      <a:srgbClr val="EAF8FA"/>
                    </a:solidFill>
                  </a:tcPr>
                </a:tc>
                <a:tc>
                  <a:txBody>
                    <a:bodyPr wrap="square"/>
                    <a:lstStyle/>
                    <a:p>
                      <a:r>
                        <a:rPr sz="1440" b="0" i="0">
                          <a:solidFill>
                            <a:srgbClr val="14313B"/>
                          </a:solidFill>
                          <a:latin typeface="Calibri (MS)"/>
                        </a:rPr>
                        <a:t>2,9435</a:t>
                      </a:r>
                    </a:p>
                  </a:txBody>
                  <a:tcPr marL="73152" marR="73152" marT="36576" marB="36576" anchor="ctr">
                    <a:solidFill>
                      <a:srgbClr val="EAF8FA"/>
                    </a:solidFill>
                  </a:tcPr>
                </a:tc>
                <a:tc>
                  <a:txBody>
                    <a:bodyPr wrap="square"/>
                    <a:lstStyle/>
                    <a:p>
                      <a:r>
                        <a:rPr sz="1440" b="0" i="0">
                          <a:solidFill>
                            <a:srgbClr val="14313B"/>
                          </a:solidFill>
                          <a:latin typeface="Calibri (MS)"/>
                        </a:rPr>
                        <a:t>0,7053</a:t>
                      </a:r>
                    </a:p>
                  </a:txBody>
                  <a:tcPr marL="73152" marR="73152" marT="36576" marB="36576" anchor="ctr">
                    <a:solidFill>
                      <a:srgbClr val="EAF8FA"/>
                    </a:solidFill>
                  </a:tcPr>
                </a:tc>
                <a:tc>
                  <a:txBody>
                    <a:bodyPr wrap="square"/>
                    <a:lstStyle/>
                    <a:p>
                      <a:r>
                        <a:rPr sz="1440" b="0" i="0">
                          <a:solidFill>
                            <a:srgbClr val="14313B"/>
                          </a:solidFill>
                          <a:latin typeface="Calibri (MS)"/>
                        </a:rPr>
                        <a:t>19,56%</a:t>
                      </a:r>
                    </a:p>
                  </a:txBody>
                  <a:tcPr marL="73152" marR="73152" marT="36576" marB="36576" anchor="ctr">
                    <a:solidFill>
                      <a:srgbClr val="EAF8FA"/>
                    </a:solidFill>
                  </a:tcPr>
                </a:tc>
                <a:tc>
                  <a:txBody>
                    <a:bodyPr wrap="square"/>
                    <a:lstStyle/>
                    <a:p>
                      <a:r>
                        <a:rPr sz="1440" b="0" i="0">
                          <a:solidFill>
                            <a:srgbClr val="14313B"/>
                          </a:solidFill>
                          <a:latin typeface="Calibri (MS)"/>
                        </a:rPr>
                        <a:t>U2</a:t>
                      </a:r>
                    </a:p>
                  </a:txBody>
                  <a:tcPr marL="73152" marR="73152" marT="36576" marB="36576" anchor="ctr">
                    <a:solidFill>
                      <a:srgbClr val="EAF8FA"/>
                    </a:solidFill>
                  </a:tcPr>
                </a:tc>
              </a:tr>
              <a:tr h="502920">
                <a:tc>
                  <a:txBody>
                    <a:bodyPr wrap="square"/>
                    <a:lstStyle/>
                    <a:p>
                      <a:r>
                        <a:rPr sz="1440" b="0" i="0">
                          <a:solidFill>
                            <a:srgbClr val="14313B"/>
                          </a:solidFill>
                          <a:latin typeface="Calibri (MS)"/>
                        </a:rPr>
                        <a:t>P2 · Jumlah ODTW</a:t>
                      </a:r>
                    </a:p>
                  </a:txBody>
                  <a:tcPr marL="73152" marR="73152" marT="36576" marB="36576" anchor="ctr">
                    <a:solidFill>
                      <a:srgbClr val="FFFFFF"/>
                    </a:solidFill>
                  </a:tcPr>
                </a:tc>
                <a:tc>
                  <a:txBody>
                    <a:bodyPr wrap="square"/>
                    <a:lstStyle/>
                    <a:p>
                      <a:r>
                        <a:rPr sz="1440" b="0" i="0">
                          <a:solidFill>
                            <a:srgbClr val="14313B"/>
                          </a:solidFill>
                          <a:latin typeface="Calibri (MS)"/>
                        </a:rPr>
                        <a:t>Sama</a:t>
                      </a:r>
                    </a:p>
                  </a:txBody>
                  <a:tcPr marL="73152" marR="73152" marT="36576" marB="36576" anchor="ctr">
                    <a:solidFill>
                      <a:srgbClr val="FFFFFF"/>
                    </a:solidFill>
                  </a:tcPr>
                </a:tc>
                <a:tc>
                  <a:txBody>
                    <a:bodyPr wrap="square"/>
                    <a:lstStyle/>
                    <a:p>
                      <a:r>
                        <a:rPr sz="1440" b="0" i="0">
                          <a:solidFill>
                            <a:srgbClr val="14313B"/>
                          </a:solidFill>
                          <a:latin typeface="Calibri (MS)"/>
                        </a:rPr>
                        <a:t>0,0880</a:t>
                      </a:r>
                    </a:p>
                  </a:txBody>
                  <a:tcPr marL="73152" marR="73152" marT="36576" marB="36576" anchor="ctr">
                    <a:solidFill>
                      <a:srgbClr val="FFFFFF"/>
                    </a:solidFill>
                  </a:tcPr>
                </a:tc>
                <a:tc>
                  <a:txBody>
                    <a:bodyPr wrap="square"/>
                    <a:lstStyle/>
                    <a:p>
                      <a:r>
                        <a:rPr sz="1440" b="0" i="0">
                          <a:solidFill>
                            <a:srgbClr val="14313B"/>
                          </a:solidFill>
                          <a:latin typeface="Calibri (MS)"/>
                        </a:rPr>
                        <a:t>0,3303</a:t>
                      </a:r>
                    </a:p>
                  </a:txBody>
                  <a:tcPr marL="73152" marR="73152" marT="36576" marB="36576" anchor="ctr">
                    <a:solidFill>
                      <a:srgbClr val="FFFFFF"/>
                    </a:solidFill>
                  </a:tcPr>
                </a:tc>
                <a:tc>
                  <a:txBody>
                    <a:bodyPr wrap="square"/>
                    <a:lstStyle/>
                    <a:p>
                      <a:r>
                        <a:rPr sz="1440" b="0" i="0">
                          <a:solidFill>
                            <a:srgbClr val="14313B"/>
                          </a:solidFill>
                          <a:latin typeface="Calibri (MS)"/>
                        </a:rPr>
                        <a:t>0,3367</a:t>
                      </a:r>
                    </a:p>
                  </a:txBody>
                  <a:tcPr marL="73152" marR="73152" marT="36576" marB="36576" anchor="ctr">
                    <a:solidFill>
                      <a:srgbClr val="FFFFFF"/>
                    </a:solidFill>
                  </a:tcPr>
                </a:tc>
                <a:tc>
                  <a:txBody>
                    <a:bodyPr wrap="square"/>
                    <a:lstStyle/>
                    <a:p>
                      <a:r>
                        <a:rPr sz="1440" b="0" i="0">
                          <a:solidFill>
                            <a:srgbClr val="14313B"/>
                          </a:solidFill>
                          <a:latin typeface="Calibri (MS)"/>
                        </a:rPr>
                        <a:t>8,48%</a:t>
                      </a:r>
                    </a:p>
                  </a:txBody>
                  <a:tcPr marL="73152" marR="73152" marT="36576" marB="36576" anchor="ctr">
                    <a:solidFill>
                      <a:srgbClr val="FFFFFF"/>
                    </a:solidFill>
                  </a:tcPr>
                </a:tc>
                <a:tc>
                  <a:txBody>
                    <a:bodyPr wrap="square"/>
                    <a:lstStyle/>
                    <a:p>
                      <a:r>
                        <a:rPr sz="1440" b="0" i="0">
                          <a:solidFill>
                            <a:srgbClr val="14313B"/>
                          </a:solidFill>
                          <a:latin typeface="Calibri (MS)"/>
                        </a:rPr>
                        <a:t>U1</a:t>
                      </a:r>
                    </a:p>
                  </a:txBody>
                  <a:tcPr marL="73152" marR="73152" marT="36576" marB="36576" anchor="ctr">
                    <a:solidFill>
                      <a:srgbClr val="FFFFFF"/>
                    </a:solidFill>
                  </a:tcPr>
                </a:tc>
              </a:tr>
              <a:tr h="502920">
                <a:tc>
                  <a:txBody>
                    <a:bodyPr wrap="square"/>
                    <a:lstStyle/>
                    <a:p>
                      <a:r>
                        <a:rPr sz="1440" b="0" i="0">
                          <a:solidFill>
                            <a:srgbClr val="14313B"/>
                          </a:solidFill>
                          <a:latin typeface="Calibri (MS)"/>
                        </a:rPr>
                        <a:t>P3 · Tenaga kerja</a:t>
                      </a:r>
                    </a:p>
                  </a:txBody>
                  <a:tcPr marL="73152" marR="73152" marT="36576" marB="36576" anchor="ctr">
                    <a:solidFill>
                      <a:srgbClr val="EAF8FA"/>
                    </a:solidFill>
                  </a:tcPr>
                </a:tc>
                <a:tc>
                  <a:txBody>
                    <a:bodyPr wrap="square"/>
                    <a:lstStyle/>
                    <a:p>
                      <a:r>
                        <a:rPr sz="1440" b="0" i="0">
                          <a:solidFill>
                            <a:srgbClr val="14313B"/>
                          </a:solidFill>
                          <a:latin typeface="Calibri (MS)"/>
                        </a:rPr>
                        <a:t>Sama</a:t>
                      </a:r>
                    </a:p>
                  </a:txBody>
                  <a:tcPr marL="73152" marR="73152" marT="36576" marB="36576" anchor="ctr">
                    <a:solidFill>
                      <a:srgbClr val="EAF8FA"/>
                    </a:solidFill>
                  </a:tcPr>
                </a:tc>
                <a:tc>
                  <a:txBody>
                    <a:bodyPr wrap="square"/>
                    <a:lstStyle/>
                    <a:p>
                      <a:r>
                        <a:rPr sz="1440" b="0" i="0">
                          <a:solidFill>
                            <a:srgbClr val="14313B"/>
                          </a:solidFill>
                          <a:latin typeface="Calibri (MS)"/>
                        </a:rPr>
                        <a:t>0,1370</a:t>
                      </a:r>
                    </a:p>
                  </a:txBody>
                  <a:tcPr marL="73152" marR="73152" marT="36576" marB="36576" anchor="ctr">
                    <a:solidFill>
                      <a:srgbClr val="EAF8FA"/>
                    </a:solidFill>
                  </a:tcPr>
                </a:tc>
                <a:tc>
                  <a:txBody>
                    <a:bodyPr wrap="square"/>
                    <a:lstStyle/>
                    <a:p>
                      <a:r>
                        <a:rPr sz="1440" b="0" i="0">
                          <a:solidFill>
                            <a:srgbClr val="14313B"/>
                          </a:solidFill>
                          <a:latin typeface="Calibri (MS)"/>
                        </a:rPr>
                        <a:t>0,3027</a:t>
                      </a:r>
                    </a:p>
                  </a:txBody>
                  <a:tcPr marL="73152" marR="73152" marT="36576" marB="36576" anchor="ctr">
                    <a:solidFill>
                      <a:srgbClr val="EAF8FA"/>
                    </a:solidFill>
                  </a:tcPr>
                </a:tc>
                <a:tc>
                  <a:txBody>
                    <a:bodyPr wrap="square"/>
                    <a:lstStyle/>
                    <a:p>
                      <a:r>
                        <a:rPr sz="1440" b="0" i="0">
                          <a:solidFill>
                            <a:srgbClr val="14313B"/>
                          </a:solidFill>
                          <a:latin typeface="Calibri (MS)"/>
                        </a:rPr>
                        <a:t>0,4945</a:t>
                      </a:r>
                    </a:p>
                  </a:txBody>
                  <a:tcPr marL="73152" marR="73152" marT="36576" marB="36576" anchor="ctr">
                    <a:solidFill>
                      <a:srgbClr val="EAF8FA"/>
                    </a:solidFill>
                  </a:tcPr>
                </a:tc>
                <a:tc>
                  <a:txBody>
                    <a:bodyPr wrap="square"/>
                    <a:lstStyle/>
                    <a:p>
                      <a:r>
                        <a:rPr sz="1440" b="0" i="0">
                          <a:solidFill>
                            <a:srgbClr val="14313B"/>
                          </a:solidFill>
                          <a:latin typeface="Calibri (MS)"/>
                        </a:rPr>
                        <a:t>12,88%</a:t>
                      </a:r>
                    </a:p>
                  </a:txBody>
                  <a:tcPr marL="73152" marR="73152" marT="36576" marB="36576" anchor="ctr">
                    <a:solidFill>
                      <a:srgbClr val="EAF8FA"/>
                    </a:solidFill>
                  </a:tcPr>
                </a:tc>
                <a:tc>
                  <a:txBody>
                    <a:bodyPr wrap="square"/>
                    <a:lstStyle/>
                    <a:p>
                      <a:r>
                        <a:rPr sz="1440" b="0" i="0">
                          <a:solidFill>
                            <a:srgbClr val="14313B"/>
                          </a:solidFill>
                          <a:latin typeface="Calibri (MS)"/>
                        </a:rPr>
                        <a:t>U1</a:t>
                      </a:r>
                    </a:p>
                  </a:txBody>
                  <a:tcPr marL="73152" marR="73152" marT="36576" marB="36576" anchor="ctr">
                    <a:solidFill>
                      <a:srgbClr val="EAF8FA"/>
                    </a:solidFill>
                  </a:tcPr>
                </a:tc>
              </a:tr>
              <a:tr h="502920">
                <a:tc>
                  <a:txBody>
                    <a:bodyPr wrap="square"/>
                    <a:lstStyle/>
                    <a:p>
                      <a:r>
                        <a:rPr sz="1440" b="0" i="0">
                          <a:solidFill>
                            <a:srgbClr val="14313B"/>
                          </a:solidFill>
                          <a:latin typeface="Calibri (MS)"/>
                        </a:rPr>
                        <a:t>P4 · Lahan terbangun</a:t>
                      </a:r>
                    </a:p>
                  </a:txBody>
                  <a:tcPr marL="73152" marR="73152" marT="36576" marB="36576" anchor="ctr">
                    <a:solidFill>
                      <a:srgbClr val="FFFFFF"/>
                    </a:solidFill>
                  </a:tcPr>
                </a:tc>
                <a:tc>
                  <a:txBody>
                    <a:bodyPr wrap="square"/>
                    <a:lstStyle/>
                    <a:p>
                      <a:r>
                        <a:rPr sz="1440" b="0" i="0">
                          <a:solidFill>
                            <a:srgbClr val="14313B"/>
                          </a:solidFill>
                          <a:latin typeface="Calibri (MS)"/>
                        </a:rPr>
                        <a:t>Sama</a:t>
                      </a:r>
                    </a:p>
                  </a:txBody>
                  <a:tcPr marL="73152" marR="73152" marT="36576" marB="36576" anchor="ctr">
                    <a:solidFill>
                      <a:srgbClr val="FFFFFF"/>
                    </a:solidFill>
                  </a:tcPr>
                </a:tc>
                <a:tc>
                  <a:txBody>
                    <a:bodyPr wrap="square"/>
                    <a:lstStyle/>
                    <a:p>
                      <a:r>
                        <a:rPr sz="1440" b="0" i="0">
                          <a:solidFill>
                            <a:srgbClr val="14313B"/>
                          </a:solidFill>
                          <a:latin typeface="Calibri (MS)"/>
                        </a:rPr>
                        <a:t>0,1125</a:t>
                      </a:r>
                    </a:p>
                  </a:txBody>
                  <a:tcPr marL="73152" marR="73152" marT="36576" marB="36576" anchor="ctr">
                    <a:solidFill>
                      <a:srgbClr val="FFFFFF"/>
                    </a:solidFill>
                  </a:tcPr>
                </a:tc>
                <a:tc>
                  <a:txBody>
                    <a:bodyPr wrap="square"/>
                    <a:lstStyle/>
                    <a:p>
                      <a:r>
                        <a:rPr sz="1440" b="0" i="0">
                          <a:solidFill>
                            <a:srgbClr val="14313B"/>
                          </a:solidFill>
                          <a:latin typeface="Calibri (MS)"/>
                        </a:rPr>
                        <a:t>0,3918</a:t>
                      </a:r>
                    </a:p>
                  </a:txBody>
                  <a:tcPr marL="73152" marR="73152" marT="36576" marB="36576" anchor="ctr">
                    <a:solidFill>
                      <a:srgbClr val="FFFFFF"/>
                    </a:solidFill>
                  </a:tcPr>
                </a:tc>
                <a:tc>
                  <a:txBody>
                    <a:bodyPr wrap="square"/>
                    <a:lstStyle/>
                    <a:p>
                      <a:r>
                        <a:rPr sz="1440" b="0" i="0">
                          <a:solidFill>
                            <a:srgbClr val="14313B"/>
                          </a:solidFill>
                          <a:latin typeface="Calibri (MS)"/>
                        </a:rPr>
                        <a:t>0,4813</a:t>
                      </a:r>
                    </a:p>
                  </a:txBody>
                  <a:tcPr marL="73152" marR="73152" marT="36576" marB="36576" anchor="ctr">
                    <a:solidFill>
                      <a:srgbClr val="FFFFFF"/>
                    </a:solidFill>
                  </a:tcPr>
                </a:tc>
                <a:tc>
                  <a:txBody>
                    <a:bodyPr wrap="square"/>
                    <a:lstStyle/>
                    <a:p>
                      <a:r>
                        <a:rPr sz="1440" b="0" i="0">
                          <a:solidFill>
                            <a:srgbClr val="14313B"/>
                          </a:solidFill>
                          <a:latin typeface="Calibri (MS)"/>
                        </a:rPr>
                        <a:t>12,94%</a:t>
                      </a:r>
                    </a:p>
                  </a:txBody>
                  <a:tcPr marL="73152" marR="73152" marT="36576" marB="36576" anchor="ctr">
                    <a:solidFill>
                      <a:srgbClr val="FFFFFF"/>
                    </a:solidFill>
                  </a:tcPr>
                </a:tc>
                <a:tc>
                  <a:txBody>
                    <a:bodyPr wrap="square"/>
                    <a:lstStyle/>
                    <a:p>
                      <a:r>
                        <a:rPr sz="1440" b="0" i="0">
                          <a:solidFill>
                            <a:srgbClr val="14313B"/>
                          </a:solidFill>
                          <a:latin typeface="Calibri (MS)"/>
                        </a:rPr>
                        <a:t>U1, U3</a:t>
                      </a:r>
                    </a:p>
                  </a:txBody>
                  <a:tcPr marL="73152" marR="73152" marT="36576" marB="36576" anchor="ctr">
                    <a:solidFill>
                      <a:srgbClr val="FFFFFF"/>
                    </a:solidFill>
                  </a:tcPr>
                </a:tc>
              </a:tr>
              <a:tr h="502920">
                <a:tc>
                  <a:txBody>
                    <a:bodyPr wrap="square"/>
                    <a:lstStyle/>
                    <a:p>
                      <a:r>
                        <a:rPr sz="1440" b="0" i="0">
                          <a:solidFill>
                            <a:srgbClr val="14313B"/>
                          </a:solidFill>
                          <a:latin typeface="Calibri (MS)"/>
                        </a:rPr>
                        <a:t>P5 · Jumlah wisatawan</a:t>
                      </a:r>
                    </a:p>
                  </a:txBody>
                  <a:tcPr marL="73152" marR="73152" marT="36576" marB="36576" anchor="ctr">
                    <a:solidFill>
                      <a:srgbClr val="EAF8FA"/>
                    </a:solidFill>
                  </a:tcPr>
                </a:tc>
                <a:tc>
                  <a:txBody>
                    <a:bodyPr wrap="square"/>
                    <a:lstStyle/>
                    <a:p>
                      <a:r>
                        <a:rPr sz="1440" b="0" i="0">
                          <a:solidFill>
                            <a:srgbClr val="14313B"/>
                          </a:solidFill>
                          <a:latin typeface="Calibri (MS)"/>
                        </a:rPr>
                        <a:t>Berbeda nyata</a:t>
                      </a:r>
                    </a:p>
                  </a:txBody>
                  <a:tcPr marL="73152" marR="73152" marT="36576" marB="36576" anchor="ctr">
                    <a:solidFill>
                      <a:srgbClr val="F4D3CF"/>
                    </a:solidFill>
                  </a:tcPr>
                </a:tc>
                <a:tc>
                  <a:txBody>
                    <a:bodyPr wrap="square"/>
                    <a:lstStyle/>
                    <a:p>
                      <a:r>
                        <a:rPr sz="1440" b="0" i="0">
                          <a:solidFill>
                            <a:srgbClr val="14313B"/>
                          </a:solidFill>
                          <a:latin typeface="Calibri (MS)"/>
                        </a:rPr>
                        <a:t>—</a:t>
                      </a:r>
                    </a:p>
                  </a:txBody>
                  <a:tcPr marL="73152" marR="73152" marT="36576" marB="36576" anchor="ctr">
                    <a:solidFill>
                      <a:srgbClr val="EAF8FA"/>
                    </a:solidFill>
                  </a:tcPr>
                </a:tc>
                <a:tc>
                  <a:txBody>
                    <a:bodyPr wrap="square"/>
                    <a:lstStyle/>
                    <a:p>
                      <a:r>
                        <a:rPr sz="1440" b="0" i="0">
                          <a:solidFill>
                            <a:srgbClr val="14313B"/>
                          </a:solidFill>
                          <a:latin typeface="Calibri (MS)"/>
                        </a:rPr>
                        <a:t>—</a:t>
                      </a:r>
                    </a:p>
                  </a:txBody>
                  <a:tcPr marL="73152" marR="73152" marT="36576" marB="36576" anchor="ctr">
                    <a:solidFill>
                      <a:srgbClr val="EAF8FA"/>
                    </a:solidFill>
                  </a:tcPr>
                </a:tc>
                <a:tc>
                  <a:txBody>
                    <a:bodyPr wrap="square"/>
                    <a:lstStyle/>
                    <a:p>
                      <a:r>
                        <a:rPr sz="1440" b="0" i="0">
                          <a:solidFill>
                            <a:srgbClr val="14313B"/>
                          </a:solidFill>
                          <a:latin typeface="Calibri (MS)"/>
                        </a:rPr>
                        <a:t>0,4057*</a:t>
                      </a:r>
                    </a:p>
                  </a:txBody>
                  <a:tcPr marL="73152" marR="73152" marT="36576" marB="36576" anchor="ctr">
                    <a:solidFill>
                      <a:srgbClr val="EAF8FA"/>
                    </a:solidFill>
                  </a:tcPr>
                </a:tc>
                <a:tc>
                  <a:txBody>
                    <a:bodyPr wrap="square"/>
                    <a:lstStyle/>
                    <a:p>
                      <a:r>
                        <a:rPr sz="1440" b="0" i="0">
                          <a:solidFill>
                            <a:srgbClr val="14313B"/>
                          </a:solidFill>
                          <a:latin typeface="Calibri (MS)"/>
                        </a:rPr>
                        <a:t>—</a:t>
                      </a:r>
                    </a:p>
                  </a:txBody>
                  <a:tcPr marL="73152" marR="73152" marT="36576" marB="36576" anchor="ctr">
                    <a:solidFill>
                      <a:srgbClr val="EAF8FA"/>
                    </a:solidFill>
                  </a:tcPr>
                </a:tc>
                <a:tc>
                  <a:txBody>
                    <a:bodyPr wrap="square"/>
                    <a:lstStyle/>
                    <a:p>
                      <a:r>
                        <a:rPr sz="1440" b="0" i="0">
                          <a:solidFill>
                            <a:srgbClr val="14313B"/>
                          </a:solidFill>
                          <a:latin typeface="Calibri (MS)"/>
                        </a:rPr>
                        <a:t>U1+U2 ≈ 0,96</a:t>
                      </a:r>
                    </a:p>
                  </a:txBody>
                  <a:tcPr marL="73152" marR="73152" marT="36576" marB="36576" anchor="ctr">
                    <a:solidFill>
                      <a:srgbClr val="EAF8FA"/>
                    </a:solidFill>
                  </a:tcPr>
                </a:tc>
              </a:tr>
            </a:tbl>
          </a:graphicData>
        </a:graphic>
      </p:graphicFrame>
      <p:sp>
        <p:nvSpPr>
          <p:cNvPr id="150" name="TextBox 149"/>
          <p:cNvSpPr txBox="1"/>
          <p:nvPr/>
        </p:nvSpPr>
        <p:spPr>
          <a:xfrm>
            <a:off x="822960" y="6903720"/>
            <a:ext cx="8778240" cy="1005840"/>
          </a:xfrm>
          <a:prstGeom prst="rect">
            <a:avLst/>
          </a:prstGeom>
          <a:noFill/>
        </p:spPr>
        <p:txBody>
          <a:bodyPr wrap="square" anchor="t" lIns="0" rIns="0" tIns="0" bIns="0">
            <a:spAutoFit/>
          </a:bodyPr>
          <a:lstStyle/>
          <a:p>
            <a:pPr algn="l">
              <a:spcAft>
                <a:spcPts val="400"/>
              </a:spcAft>
            </a:pPr>
            <a:r>
              <a:rPr sz="1320" b="0" i="1">
                <a:solidFill>
                  <a:srgbClr val="5E6E78"/>
                </a:solidFill>
                <a:latin typeface="Calibri (MS)"/>
              </a:rPr>
              <a:t>Versi tanpa 2020–2021 (2016–2025). "Sama" = tren tidak berbeda nyata. E1/E2 P5 tidak ditafsirkan karena tren berbeda (Barlas, 1989). *DC P5 dari notebook repository (tidak ditabelkan di buku).</a:t>
            </a:r>
          </a:p>
        </p:txBody>
      </p:sp>
      <p:pic>
        <p:nvPicPr>
          <p:cNvPr id="151" name="Picture 150" descr="image28.png"/>
          <p:cNvPicPr>
            <a:picLocks noChangeAspect="1"/>
          </p:cNvPicPr>
          <p:nvPr/>
        </p:nvPicPr>
        <p:blipFill>
          <a:blip r:embed="rId2"/>
          <a:stretch>
            <a:fillRect/>
          </a:stretch>
        </p:blipFill>
        <p:spPr>
          <a:xfrm>
            <a:off x="9875520" y="2264546"/>
            <a:ext cx="3749039" cy="2191746"/>
          </a:xfrm>
          <a:prstGeom prst="rect">
            <a:avLst/>
          </a:prstGeom>
        </p:spPr>
      </p:pic>
      <p:pic>
        <p:nvPicPr>
          <p:cNvPr id="152" name="Picture 151" descr="image34.png"/>
          <p:cNvPicPr>
            <a:picLocks noChangeAspect="1"/>
          </p:cNvPicPr>
          <p:nvPr/>
        </p:nvPicPr>
        <p:blipFill>
          <a:blip r:embed="rId6"/>
          <a:stretch>
            <a:fillRect/>
          </a:stretch>
        </p:blipFill>
        <p:spPr>
          <a:xfrm>
            <a:off x="13716000" y="2264546"/>
            <a:ext cx="3749039" cy="2191746"/>
          </a:xfrm>
          <a:prstGeom prst="rect">
            <a:avLst/>
          </a:prstGeom>
        </p:spPr>
      </p:pic>
      <p:pic>
        <p:nvPicPr>
          <p:cNvPr id="153" name="Picture 152" descr="image35.png"/>
          <p:cNvPicPr>
            <a:picLocks noChangeAspect="1"/>
          </p:cNvPicPr>
          <p:nvPr/>
        </p:nvPicPr>
        <p:blipFill>
          <a:blip r:embed="rId7"/>
          <a:stretch>
            <a:fillRect/>
          </a:stretch>
        </p:blipFill>
        <p:spPr>
          <a:xfrm>
            <a:off x="9875520" y="4641986"/>
            <a:ext cx="3749039" cy="2191746"/>
          </a:xfrm>
          <a:prstGeom prst="rect">
            <a:avLst/>
          </a:prstGeom>
        </p:spPr>
      </p:pic>
      <p:sp>
        <p:nvSpPr>
          <p:cNvPr id="154" name="Rounded Rectangle 153"/>
          <p:cNvSpPr/>
          <p:nvPr/>
        </p:nvSpPr>
        <p:spPr>
          <a:xfrm>
            <a:off x="13716000" y="4617720"/>
            <a:ext cx="3749039" cy="22402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720" b="1" i="0">
                <a:solidFill>
                  <a:srgbClr val="E4604F"/>
                </a:solidFill>
                <a:latin typeface="Calibri (MS) Bold"/>
              </a:rPr>
              <a:t>Wisatawan (P5)</a:t>
            </a:r>
          </a:p>
          <a:p>
            <a:pPr algn="l">
              <a:spcAft>
                <a:spcPts val="300"/>
              </a:spcAft>
            </a:pPr>
            <a:r>
              <a:rPr sz="1550" b="0" i="0">
                <a:solidFill>
                  <a:srgbClr val="14313B"/>
                </a:solidFill>
                <a:latin typeface="Calibri (MS)"/>
              </a:rPr>
              <a:t>Simulasi ±6,4%/th vs data sambungan ±11,7%/th; galat sistematis.</a:t>
            </a:r>
          </a:p>
        </p:txBody>
      </p:sp>
      <p:sp>
        <p:nvSpPr>
          <p:cNvPr id="155" name="TextBox 154"/>
          <p:cNvSpPr txBox="1"/>
          <p:nvPr/>
        </p:nvSpPr>
        <p:spPr>
          <a:xfrm>
            <a:off x="9875520" y="6903720"/>
            <a:ext cx="7589520" cy="365760"/>
          </a:xfrm>
          <a:prstGeom prst="rect">
            <a:avLst/>
          </a:prstGeom>
          <a:noFill/>
        </p:spPr>
        <p:txBody>
          <a:bodyPr wrap="square" anchor="t" lIns="0" rIns="0" tIns="0" bIns="0">
            <a:spAutoFit/>
          </a:bodyPr>
          <a:lstStyle/>
          <a:p>
            <a:pPr algn="l">
              <a:spcAft>
                <a:spcPts val="400"/>
              </a:spcAft>
            </a:pPr>
            <a:r>
              <a:rPr sz="1320" b="0" i="1">
                <a:solidFill>
                  <a:srgbClr val="5E6E78"/>
                </a:solidFill>
                <a:latin typeface="Calibri (MS)"/>
              </a:rPr>
              <a:t>Kiri atas: P1 hotel · kanan atas: P4 lahan · kiri bawah: P5 wisatawan</a:t>
            </a:r>
          </a:p>
        </p:txBody>
      </p:sp>
      <p:sp>
        <p:nvSpPr>
          <p:cNvPr id="156" name="Rounded Rectangle 155"/>
          <p:cNvSpPr/>
          <p:nvPr/>
        </p:nvSpPr>
        <p:spPr>
          <a:xfrm>
            <a:off x="822960" y="8001000"/>
            <a:ext cx="1664208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Ketika masukan dari subsistem lain diganti data aktual, tiap subsistem mereproduksi pola historisnya (MAPE seluruhnya &lt; 20%); masalah terlokalisasi pada subsistem wisatawan.</a:t>
            </a:r>
          </a:p>
        </p:txBody>
      </p:sp>
      <p:sp>
        <p:nvSpPr>
          <p:cNvPr id="157" name="TextBox 156"/>
          <p:cNvSpPr txBox="1"/>
          <p:nvPr/>
        </p:nvSpPr>
        <p:spPr>
          <a:xfrm>
            <a:off x="822960" y="918972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4.5.2, Tabel 46, Gambar 25, 31, 32; repository uji_perilaku_baseline_v2.ipynb.</a:t>
            </a:r>
          </a:p>
        </p:txBody>
      </p:sp>
      <p:sp>
        <p:nvSpPr>
          <p:cNvPr id="158"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4.5.3 · Hasil Uji Penuh</a:t>
            </a:r>
          </a:p>
          <a:p>
            <a:pPr algn="l">
              <a:lnSpc>
                <a:spcPct val="100000"/>
              </a:lnSpc>
            </a:pPr>
            <a:r>
              <a:rPr lang="en-US" sz="3500" b="true">
                <a:solidFill>
                  <a:srgbClr val="0B5E6E"/>
                </a:solidFill>
                <a:latin typeface="Calibri (MS) Bold"/>
                <a:ea typeface="Calibri (MS) Bold"/>
                <a:cs typeface="Calibri (MS) Bold"/>
                <a:sym typeface="Calibri (MS) Bold"/>
              </a:rPr>
              <a:t>Perilaku model baik per subsistem, melemah saat seluruh umpan balik aktif</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2236470"/>
            <a:ext cx="1014984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Discrepancy Coefficient (DC): uji parsial vs uji penuh (0 = sempurna)</a:t>
            </a:r>
          </a:p>
        </p:txBody>
      </p:sp>
      <p:sp>
        <p:nvSpPr>
          <p:cNvPr name="TextBox 53" id="53"/>
          <p:cNvSpPr txBox="true"/>
          <p:nvPr/>
        </p:nvSpPr>
        <p:spPr>
          <a:xfrm rot="0">
            <a:off x="822960" y="8633460"/>
            <a:ext cx="10149840" cy="62484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DC 0,4–0,7 = rata-rata sampai baik (Barlas, 1989). Wisatawan gagal uji tren (uji P5 dan uji penuh).</a:t>
            </a:r>
          </a:p>
        </p:txBody>
      </p:sp>
      <p:graphicFrame>
        <p:nvGraphicFramePr>
          <p:cNvPr name="Table 54" id="54"/>
          <p:cNvGraphicFramePr>
            <a:graphicFrameLocks noGrp="true"/>
          </p:cNvGraphicFramePr>
          <p:nvPr/>
        </p:nvGraphicFramePr>
        <p:xfrm>
          <a:off x="11384280" y="2400300"/>
          <a:ext cx="6045200" cy="4737100"/>
        </p:xfrm>
        <a:graphic>
          <a:graphicData uri="http://schemas.openxmlformats.org/drawingml/2006/table">
            <a:tbl>
              <a:tblPr/>
              <a:tblGrid>
                <a:gridCol w="2196384"/>
                <a:gridCol w="3848816"/>
              </a:tblGrid>
              <a:tr h="560850">
                <a:tc>
                  <a:txBody>
                    <a:bodyPr anchor="t" rtlCol="false"/>
                    <a:lstStyle/>
                    <a:p>
                      <a:pPr algn="l">
                        <a:lnSpc>
                          <a:spcPts val="2070"/>
                        </a:lnSpc>
                        <a:defRPr/>
                      </a:pPr>
                      <a:r>
                        <a:rPr lang="en-US" sz="1725" b="true">
                          <a:solidFill>
                            <a:srgbClr val="FFFFFF"/>
                          </a:solidFill>
                          <a:latin typeface="Calibri (MS) Bold"/>
                          <a:ea typeface="Calibri (MS) Bold"/>
                          <a:cs typeface="Calibri (MS) Bold"/>
                          <a:sym typeface="Calibri (MS) Bold"/>
                        </a:rPr>
                        <a:t>Kategori MAPE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070"/>
                        </a:lnSpc>
                        <a:defRPr/>
                      </a:pPr>
                      <a:r>
                        <a:rPr lang="en-US" sz="1725" b="true">
                          <a:solidFill>
                            <a:srgbClr val="FFFFFF"/>
                          </a:solidFill>
                          <a:latin typeface="Calibri (MS) Bold"/>
                          <a:ea typeface="Calibri (MS) Bold"/>
                          <a:cs typeface="Calibri (MS) Bold"/>
                          <a:sym typeface="Calibri (MS) Bold"/>
                        </a:rPr>
                        <a:t>Variabel (uji penuh)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689707">
                <a:tc>
                  <a:txBody>
                    <a:bodyPr anchor="t" rtlCol="false"/>
                    <a:lstStyle/>
                    <a:p>
                      <a:pPr algn="l">
                        <a:lnSpc>
                          <a:spcPts val="2070"/>
                        </a:lnSpc>
                        <a:defRPr/>
                      </a:pPr>
                      <a:r>
                        <a:rPr lang="en-US" sz="1725" b="true">
                          <a:solidFill>
                            <a:srgbClr val="0B5E6E"/>
                          </a:solidFill>
                          <a:latin typeface="Calibri (MS) Bold"/>
                          <a:ea typeface="Calibri (MS) Bold"/>
                          <a:cs typeface="Calibri (MS) Bold"/>
                          <a:sym typeface="Calibri (MS) Bold"/>
                        </a:rPr>
                        <a:t>Sangat baik (&lt; 10%)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ODTW 5,68%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527275">
                <a:tc>
                  <a:txBody>
                    <a:bodyPr anchor="t" rtlCol="false"/>
                    <a:lstStyle/>
                    <a:p>
                      <a:pPr algn="l">
                        <a:lnSpc>
                          <a:spcPts val="2070"/>
                        </a:lnSpc>
                        <a:defRPr/>
                      </a:pPr>
                      <a:r>
                        <a:rPr lang="en-US" sz="1725" b="true">
                          <a:solidFill>
                            <a:srgbClr val="0B5E6E"/>
                          </a:solidFill>
                          <a:latin typeface="Calibri (MS) Bold"/>
                          <a:ea typeface="Calibri (MS) Bold"/>
                          <a:cs typeface="Calibri (MS) Bold"/>
                          <a:sym typeface="Calibri (MS) Bold"/>
                        </a:rPr>
                        <a:t>Baik (10–20%)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Wisatawan 12,06% · Hotel 13,16% · Tenaga kerja 12,39% · Lahan 13,43% · TPK 18,98%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269562">
                <a:tc>
                  <a:txBody>
                    <a:bodyPr anchor="t" rtlCol="false"/>
                    <a:lstStyle/>
                    <a:p>
                      <a:pPr algn="l">
                        <a:lnSpc>
                          <a:spcPts val="2070"/>
                        </a:lnSpc>
                        <a:defRPr/>
                      </a:pPr>
                      <a:r>
                        <a:rPr lang="en-US" sz="1725" b="true">
                          <a:solidFill>
                            <a:srgbClr val="0B5E6E"/>
                          </a:solidFill>
                          <a:latin typeface="Calibri (MS) Bold"/>
                          <a:ea typeface="Calibri (MS) Bold"/>
                          <a:cs typeface="Calibri (MS) Bold"/>
                          <a:sym typeface="Calibri (MS) Bold"/>
                        </a:rPr>
                        <a:t>Layak (20–50%)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PDRB 25,06% · Total malam menginap 29,52% · Investasi 33,54%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9707">
                <a:tc>
                  <a:txBody>
                    <a:bodyPr anchor="t" rtlCol="false"/>
                    <a:lstStyle/>
                    <a:p>
                      <a:pPr algn="l">
                        <a:lnSpc>
                          <a:spcPts val="2070"/>
                        </a:lnSpc>
                        <a:defRPr/>
                      </a:pPr>
                      <a:r>
                        <a:rPr lang="en-US" sz="1725" b="true">
                          <a:solidFill>
                            <a:srgbClr val="E4604F"/>
                          </a:solidFill>
                          <a:latin typeface="Calibri (MS) Bold"/>
                          <a:ea typeface="Calibri (MS) Bold"/>
                          <a:cs typeface="Calibri (MS) Bold"/>
                          <a:sym typeface="Calibri (MS) Bold"/>
                        </a:rPr>
                        <a:t>Buruk (&gt; 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Tidak ada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55" id="55"/>
          <p:cNvGrpSpPr/>
          <p:nvPr/>
        </p:nvGrpSpPr>
        <p:grpSpPr>
          <a:xfrm rot="0">
            <a:off x="11384280" y="7406640"/>
            <a:ext cx="6076188" cy="1851660"/>
            <a:chOff x="0" y="0"/>
            <a:chExt cx="8101584" cy="2468880"/>
          </a:xfrm>
        </p:grpSpPr>
        <p:sp>
          <p:nvSpPr>
            <p:cNvPr name="Freeform 56" id="56"/>
            <p:cNvSpPr/>
            <p:nvPr/>
          </p:nvSpPr>
          <p:spPr>
            <a:xfrm flipH="false" flipV="false" rot="0">
              <a:off x="0" y="0"/>
              <a:ext cx="8101585" cy="2468880"/>
            </a:xfrm>
            <a:custGeom>
              <a:avLst/>
              <a:gdLst/>
              <a:ahLst/>
              <a:cxnLst/>
              <a:rect r="r" b="b" t="t" l="l"/>
              <a:pathLst>
                <a:path h="2468880" w="8101585">
                  <a:moveTo>
                    <a:pt x="0" y="182880"/>
                  </a:moveTo>
                  <a:cubicBezTo>
                    <a:pt x="0" y="81915"/>
                    <a:pt x="81915" y="0"/>
                    <a:pt x="182880" y="0"/>
                  </a:cubicBezTo>
                  <a:lnTo>
                    <a:pt x="7918704" y="0"/>
                  </a:lnTo>
                  <a:cubicBezTo>
                    <a:pt x="8019669" y="0"/>
                    <a:pt x="8101585" y="81915"/>
                    <a:pt x="8101585" y="182880"/>
                  </a:cubicBezTo>
                  <a:lnTo>
                    <a:pt x="8101585" y="2286000"/>
                  </a:lnTo>
                  <a:cubicBezTo>
                    <a:pt x="8101585" y="2386965"/>
                    <a:pt x="8019669" y="2468880"/>
                    <a:pt x="7918704" y="2468880"/>
                  </a:cubicBezTo>
                  <a:lnTo>
                    <a:pt x="182880" y="2468880"/>
                  </a:lnTo>
                  <a:cubicBezTo>
                    <a:pt x="81915" y="2468880"/>
                    <a:pt x="0" y="2386965"/>
                    <a:pt x="0" y="2286000"/>
                  </a:cubicBezTo>
                  <a:close/>
                </a:path>
              </a:pathLst>
            </a:custGeom>
            <a:solidFill>
              <a:srgbClr val="FFF1BF"/>
            </a:solidFill>
          </p:spPr>
        </p:sp>
      </p:grpSp>
      <p:grpSp>
        <p:nvGrpSpPr>
          <p:cNvPr name="Group 57" id="57"/>
          <p:cNvGrpSpPr/>
          <p:nvPr/>
        </p:nvGrpSpPr>
        <p:grpSpPr>
          <a:xfrm rot="0">
            <a:off x="11658600" y="7406640"/>
            <a:ext cx="5554980" cy="1851660"/>
            <a:chOff x="0" y="0"/>
            <a:chExt cx="7406640" cy="2468880"/>
          </a:xfrm>
        </p:grpSpPr>
        <p:sp>
          <p:nvSpPr>
            <p:cNvPr name="Freeform 58" id="58"/>
            <p:cNvSpPr/>
            <p:nvPr/>
          </p:nvSpPr>
          <p:spPr>
            <a:xfrm flipH="false" flipV="false" rot="0">
              <a:off x="0" y="0"/>
              <a:ext cx="7406640" cy="2468880"/>
            </a:xfrm>
            <a:custGeom>
              <a:avLst/>
              <a:gdLst/>
              <a:ahLst/>
              <a:cxnLst/>
              <a:rect r="r" b="b" t="t" l="l"/>
              <a:pathLst>
                <a:path h="2468880" w="7406640">
                  <a:moveTo>
                    <a:pt x="0" y="0"/>
                  </a:moveTo>
                  <a:lnTo>
                    <a:pt x="7406640" y="0"/>
                  </a:lnTo>
                  <a:lnTo>
                    <a:pt x="7406640" y="2468880"/>
                  </a:lnTo>
                  <a:lnTo>
                    <a:pt x="0" y="2468880"/>
                  </a:lnTo>
                  <a:close/>
                </a:path>
              </a:pathLst>
            </a:custGeom>
            <a:blipFill>
              <a:blip r:embed="rId4">
                <a:alphaModFix amt="0"/>
              </a:blip>
              <a:stretch>
                <a:fillRect l="0" t="-8414" r="0" b="-8414"/>
              </a:stretch>
            </a:blipFill>
          </p:spPr>
        </p:sp>
      </p:grpSp>
      <p:grpSp>
        <p:nvGrpSpPr>
          <p:cNvPr name="Group 59" id="59"/>
          <p:cNvGrpSpPr/>
          <p:nvPr/>
        </p:nvGrpSpPr>
        <p:grpSpPr>
          <a:xfrm rot="0">
            <a:off x="11658600" y="7378065"/>
            <a:ext cx="5554980" cy="1880235"/>
            <a:chOff x="0" y="0"/>
            <a:chExt cx="7406640" cy="2506980"/>
          </a:xfrm>
        </p:grpSpPr>
        <p:sp>
          <p:nvSpPr>
            <p:cNvPr name="Freeform 60" id="60"/>
            <p:cNvSpPr/>
            <p:nvPr/>
          </p:nvSpPr>
          <p:spPr>
            <a:xfrm flipH="false" flipV="false" rot="0">
              <a:off x="0" y="0"/>
              <a:ext cx="7406640" cy="2506980"/>
            </a:xfrm>
            <a:custGeom>
              <a:avLst/>
              <a:gdLst/>
              <a:ahLst/>
              <a:cxnLst/>
              <a:rect r="r" b="b" t="t" l="l"/>
              <a:pathLst>
                <a:path h="2506980" w="7406640">
                  <a:moveTo>
                    <a:pt x="0" y="0"/>
                  </a:moveTo>
                  <a:lnTo>
                    <a:pt x="7406640" y="0"/>
                  </a:lnTo>
                  <a:lnTo>
                    <a:pt x="7406640" y="2506980"/>
                  </a:lnTo>
                  <a:lnTo>
                    <a:pt x="0" y="2506980"/>
                  </a:lnTo>
                  <a:close/>
                </a:path>
              </a:pathLst>
            </a:custGeom>
            <a:blipFill>
              <a:blip r:embed="rId5">
                <a:alphaModFix amt="0"/>
              </a:blip>
              <a:stretch>
                <a:fillRect l="0" t="-7566" r="0" b="-7566"/>
              </a:stretch>
            </a:blipFill>
          </p:spPr>
        </p:sp>
        <p:sp>
          <p:nvSpPr>
            <p:cNvPr name="TextBox 61" id="61"/>
            <p:cNvSpPr txBox="true"/>
            <p:nvPr/>
          </p:nvSpPr>
          <p:spPr>
            <a:xfrm>
              <a:off x="0" y="-38100"/>
              <a:ext cx="7406640" cy="2545080"/>
            </a:xfrm>
            <a:prstGeom prst="rect">
              <a:avLst/>
            </a:prstGeom>
          </p:spPr>
          <p:txBody>
            <a:bodyPr anchor="ctr" rtlCol="false" tIns="0" lIns="0" bIns="0" rIns="0"/>
            <a:lstStyle/>
            <a:p>
              <a:pPr algn="l">
                <a:lnSpc>
                  <a:spcPts val="2160"/>
                </a:lnSpc>
              </a:pPr>
              <a:r>
                <a:rPr lang="en-US" sz="1800">
                  <a:solidFill>
                    <a:srgbClr val="14313B"/>
                  </a:solidFill>
                  <a:latin typeface="Calibri (MS)"/>
                  <a:ea typeface="Calibri (MS)"/>
                  <a:cs typeface="Calibri (MS)"/>
                  <a:sym typeface="Calibri (MS)"/>
                </a:rPr>
                <a:t>Kesesuaian pola (DC) lebih lemah daripada besaran galat (MAPE): galat menumpuk dari satu sumber bersama, bukan tersebar di banyak subsistem.</a:t>
              </a:r>
            </a:p>
          </p:txBody>
        </p:sp>
      </p:grpSp>
      <p:sp>
        <p:nvSpPr>
          <p:cNvPr name="TextBox 62" id="6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47</a:t>
            </a:r>
          </a:p>
        </p:txBody>
      </p:sp>
      <p:pic>
        <p:nvPicPr>
          <p:cNvPr name="Picture 63" id="63"/>
          <p:cNvPicPr>
            <a:picLocks noChangeAspect="true"/>
          </p:cNvPicPr>
          <p:nvPr/>
        </p:nvPicPr>
        <p:blipFill>
          <a:blip r:embed="rId6"/>
          <a:stretch>
            <a:fillRect/>
          </a:stretch>
        </p:blipFill>
        <p:spPr>
          <a:xfrm rot="0">
            <a:off x="-582894" y="1945112"/>
            <a:ext cx="12631150" cy="7444624"/>
          </a:xfrm>
          <a:prstGeom prst="rect">
            <a:avLst/>
          </a:prstGeom>
        </p:spPr>
      </p:pic>
      <p:sp>
        <p:nvSpPr>
          <p:cNvPr id="64" name="TextBox 63"/>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sp>
        <p:nvSpPr>
          <p:cNvPr id="65"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4.5.3 · Hasil Uji Penuh — Sumber Galat</a:t>
            </a:r>
          </a:p>
          <a:p>
            <a:pPr algn="l">
              <a:lnSpc>
                <a:spcPct val="100000"/>
              </a:lnSpc>
            </a:pPr>
            <a:r>
              <a:rPr lang="en-US" sz="3500" b="true">
                <a:solidFill>
                  <a:srgbClr val="0B5E6E"/>
                </a:solidFill>
                <a:latin typeface="Calibri (MS) Bold"/>
                <a:ea typeface="Calibri (MS) Bold"/>
                <a:cs typeface="Calibri (MS) Bold"/>
                <a:sym typeface="Calibri (MS) Bold"/>
              </a:rPr>
              <a:t>Akar galat tunggal: pertumbuhan wisatawan merambat ke variabel hilir</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537460"/>
            <a:ext cx="2468880" cy="2057400"/>
            <a:chOff x="0" y="0"/>
            <a:chExt cx="3291840" cy="2743200"/>
          </a:xfrm>
        </p:grpSpPr>
        <p:sp>
          <p:nvSpPr>
            <p:cNvPr name="Freeform 53" id="53"/>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4604F"/>
            </a:solidFill>
          </p:spPr>
        </p:sp>
      </p:grpSp>
      <p:grpSp>
        <p:nvGrpSpPr>
          <p:cNvPr name="Group 54" id="54"/>
          <p:cNvGrpSpPr/>
          <p:nvPr/>
        </p:nvGrpSpPr>
        <p:grpSpPr>
          <a:xfrm rot="0">
            <a:off x="960120" y="2537460"/>
            <a:ext cx="2194560" cy="2057400"/>
            <a:chOff x="0" y="0"/>
            <a:chExt cx="2926080" cy="2743200"/>
          </a:xfrm>
        </p:grpSpPr>
        <p:sp>
          <p:nvSpPr>
            <p:cNvPr name="Freeform 55" id="55"/>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sp>
      </p:grpSp>
      <p:grpSp>
        <p:nvGrpSpPr>
          <p:cNvPr name="Group 56" id="56"/>
          <p:cNvGrpSpPr/>
          <p:nvPr/>
        </p:nvGrpSpPr>
        <p:grpSpPr>
          <a:xfrm rot="0">
            <a:off x="960120" y="2501741"/>
            <a:ext cx="2194560" cy="2093119"/>
            <a:chOff x="0" y="0"/>
            <a:chExt cx="2926080" cy="2790825"/>
          </a:xfrm>
        </p:grpSpPr>
        <p:sp>
          <p:nvSpPr>
            <p:cNvPr name="Freeform 57" id="57"/>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372" t="0" r="-72372" b="0"/>
              </a:stretch>
            </a:blipFill>
          </p:spPr>
        </p:sp>
        <p:sp>
          <p:nvSpPr>
            <p:cNvPr name="TextBox 58" id="58"/>
            <p:cNvSpPr txBox="true"/>
            <p:nvPr/>
          </p:nvSpPr>
          <p:spPr>
            <a:xfrm>
              <a:off x="0" y="-47625"/>
              <a:ext cx="2926080" cy="2838450"/>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Jumlah wisatawan</a:t>
              </a:r>
            </a:p>
            <a:p>
              <a:pPr algn="ctr">
                <a:lnSpc>
                  <a:spcPts val="2340"/>
                </a:lnSpc>
              </a:pPr>
              <a:r>
                <a:rPr lang="en-US" sz="1950" b="true">
                  <a:solidFill>
                    <a:srgbClr val="FFFFFF"/>
                  </a:solidFill>
                  <a:latin typeface="Calibri (MS) Bold"/>
                  <a:ea typeface="Calibri (MS) Bold"/>
                  <a:cs typeface="Calibri (MS) Bold"/>
                  <a:sym typeface="Calibri (MS) Bold"/>
                </a:rPr>
                <a:t>(tren berbeda nyata)</a:t>
              </a:r>
            </a:p>
          </p:txBody>
        </p:sp>
      </p:grpSp>
      <p:sp>
        <p:nvSpPr>
          <p:cNvPr name="AutoShape 59" id="59"/>
          <p:cNvSpPr/>
          <p:nvPr/>
        </p:nvSpPr>
        <p:spPr>
          <a:xfrm rot="248399">
            <a:off x="3279105" y="3542347"/>
            <a:ext cx="395811" cy="0"/>
          </a:xfrm>
          <a:prstGeom prst="line">
            <a:avLst/>
          </a:prstGeom>
          <a:ln cap="rnd" w="19050">
            <a:solidFill>
              <a:srgbClr val="39C0D3"/>
            </a:solidFill>
            <a:prstDash val="solid"/>
            <a:headEnd type="none" len="sm" w="sm"/>
            <a:tailEnd type="triangle" len="med" w="lg"/>
          </a:ln>
        </p:spPr>
      </p:sp>
      <p:grpSp>
        <p:nvGrpSpPr>
          <p:cNvPr name="Group 60" id="60"/>
          <p:cNvGrpSpPr/>
          <p:nvPr/>
        </p:nvGrpSpPr>
        <p:grpSpPr>
          <a:xfrm rot="0">
            <a:off x="3656686" y="2537460"/>
            <a:ext cx="2468880" cy="2057400"/>
            <a:chOff x="0" y="0"/>
            <a:chExt cx="3291840" cy="2743200"/>
          </a:xfrm>
        </p:grpSpPr>
        <p:sp>
          <p:nvSpPr>
            <p:cNvPr name="Freeform 61" id="61"/>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sp>
      </p:grpSp>
      <p:grpSp>
        <p:nvGrpSpPr>
          <p:cNvPr name="Group 62" id="62"/>
          <p:cNvGrpSpPr/>
          <p:nvPr/>
        </p:nvGrpSpPr>
        <p:grpSpPr>
          <a:xfrm rot="0">
            <a:off x="3793846" y="2537460"/>
            <a:ext cx="2194560" cy="2057400"/>
            <a:chOff x="0" y="0"/>
            <a:chExt cx="2926080" cy="2743200"/>
          </a:xfrm>
        </p:grpSpPr>
        <p:sp>
          <p:nvSpPr>
            <p:cNvPr name="Freeform 63" id="63"/>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sp>
      </p:grpSp>
      <p:grpSp>
        <p:nvGrpSpPr>
          <p:cNvPr name="Group 64" id="64"/>
          <p:cNvGrpSpPr/>
          <p:nvPr/>
        </p:nvGrpSpPr>
        <p:grpSpPr>
          <a:xfrm rot="0">
            <a:off x="3793846" y="2501741"/>
            <a:ext cx="2194560" cy="2093119"/>
            <a:chOff x="0" y="0"/>
            <a:chExt cx="2926080" cy="2790825"/>
          </a:xfrm>
        </p:grpSpPr>
        <p:sp>
          <p:nvSpPr>
            <p:cNvPr name="Freeform 65" id="65"/>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372" t="0" r="-72372" b="0"/>
              </a:stretch>
            </a:blipFill>
          </p:spPr>
        </p:sp>
        <p:sp>
          <p:nvSpPr>
            <p:cNvPr name="TextBox 66" id="66"/>
            <p:cNvSpPr txBox="true"/>
            <p:nvPr/>
          </p:nvSpPr>
          <p:spPr>
            <a:xfrm>
              <a:off x="0" y="-47625"/>
              <a:ext cx="2926080" cy="2838450"/>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Pengeluaran wisatawan</a:t>
              </a:r>
            </a:p>
          </p:txBody>
        </p:sp>
      </p:grpSp>
      <p:sp>
        <p:nvSpPr>
          <p:cNvPr name="AutoShape 67" id="67"/>
          <p:cNvSpPr/>
          <p:nvPr/>
        </p:nvSpPr>
        <p:spPr>
          <a:xfrm rot="248399">
            <a:off x="6112831" y="3542347"/>
            <a:ext cx="395811" cy="0"/>
          </a:xfrm>
          <a:prstGeom prst="line">
            <a:avLst/>
          </a:prstGeom>
          <a:ln cap="rnd" w="19050">
            <a:solidFill>
              <a:srgbClr val="39C0D3"/>
            </a:solidFill>
            <a:prstDash val="solid"/>
            <a:headEnd type="none" len="sm" w="sm"/>
            <a:tailEnd type="triangle" len="med" w="lg"/>
          </a:ln>
        </p:spPr>
      </p:sp>
      <p:grpSp>
        <p:nvGrpSpPr>
          <p:cNvPr name="Group 68" id="68"/>
          <p:cNvGrpSpPr/>
          <p:nvPr/>
        </p:nvGrpSpPr>
        <p:grpSpPr>
          <a:xfrm rot="0">
            <a:off x="6490411" y="2537460"/>
            <a:ext cx="2468880" cy="2057400"/>
            <a:chOff x="0" y="0"/>
            <a:chExt cx="3291840" cy="2743200"/>
          </a:xfrm>
        </p:grpSpPr>
        <p:sp>
          <p:nvSpPr>
            <p:cNvPr name="Freeform 69" id="69"/>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sp>
      </p:grpSp>
      <p:grpSp>
        <p:nvGrpSpPr>
          <p:cNvPr name="Group 70" id="70"/>
          <p:cNvGrpSpPr/>
          <p:nvPr/>
        </p:nvGrpSpPr>
        <p:grpSpPr>
          <a:xfrm rot="0">
            <a:off x="6627571" y="2537460"/>
            <a:ext cx="2194560" cy="2057400"/>
            <a:chOff x="0" y="0"/>
            <a:chExt cx="2926080" cy="2743200"/>
          </a:xfrm>
        </p:grpSpPr>
        <p:sp>
          <p:nvSpPr>
            <p:cNvPr name="Freeform 71" id="71"/>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sp>
      </p:grpSp>
      <p:grpSp>
        <p:nvGrpSpPr>
          <p:cNvPr name="Group 72" id="72"/>
          <p:cNvGrpSpPr/>
          <p:nvPr/>
        </p:nvGrpSpPr>
        <p:grpSpPr>
          <a:xfrm rot="0">
            <a:off x="6627571" y="2501741"/>
            <a:ext cx="2194560" cy="2093119"/>
            <a:chOff x="0" y="0"/>
            <a:chExt cx="2926080" cy="2790825"/>
          </a:xfrm>
        </p:grpSpPr>
        <p:sp>
          <p:nvSpPr>
            <p:cNvPr name="Freeform 73" id="73"/>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372" t="0" r="-72372" b="0"/>
              </a:stretch>
            </a:blipFill>
          </p:spPr>
        </p:sp>
        <p:sp>
          <p:nvSpPr>
            <p:cNvPr name="TextBox 74" id="74"/>
            <p:cNvSpPr txBox="true"/>
            <p:nvPr/>
          </p:nvSpPr>
          <p:spPr>
            <a:xfrm>
              <a:off x="0" y="-47625"/>
              <a:ext cx="2926080" cy="2838450"/>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PDRB sektor pariwisata</a:t>
              </a:r>
            </a:p>
          </p:txBody>
        </p:sp>
      </p:grpSp>
      <p:sp>
        <p:nvSpPr>
          <p:cNvPr name="AutoShape 75" id="75"/>
          <p:cNvSpPr/>
          <p:nvPr/>
        </p:nvSpPr>
        <p:spPr>
          <a:xfrm rot="248399">
            <a:off x="8946556" y="3542347"/>
            <a:ext cx="395811" cy="0"/>
          </a:xfrm>
          <a:prstGeom prst="line">
            <a:avLst/>
          </a:prstGeom>
          <a:ln cap="rnd" w="19050">
            <a:solidFill>
              <a:srgbClr val="39C0D3"/>
            </a:solidFill>
            <a:prstDash val="solid"/>
            <a:headEnd type="none" len="sm" w="sm"/>
            <a:tailEnd type="triangle" len="med" w="lg"/>
          </a:ln>
        </p:spPr>
      </p:sp>
      <p:grpSp>
        <p:nvGrpSpPr>
          <p:cNvPr name="Group 76" id="76"/>
          <p:cNvGrpSpPr/>
          <p:nvPr/>
        </p:nvGrpSpPr>
        <p:grpSpPr>
          <a:xfrm rot="0">
            <a:off x="9324137" y="2537460"/>
            <a:ext cx="2468880" cy="2057400"/>
            <a:chOff x="0" y="0"/>
            <a:chExt cx="3291840" cy="2743200"/>
          </a:xfrm>
        </p:grpSpPr>
        <p:sp>
          <p:nvSpPr>
            <p:cNvPr name="Freeform 77" id="77"/>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sp>
      </p:grpSp>
      <p:grpSp>
        <p:nvGrpSpPr>
          <p:cNvPr name="Group 78" id="78"/>
          <p:cNvGrpSpPr/>
          <p:nvPr/>
        </p:nvGrpSpPr>
        <p:grpSpPr>
          <a:xfrm rot="0">
            <a:off x="9461297" y="2537460"/>
            <a:ext cx="2194560" cy="2057400"/>
            <a:chOff x="0" y="0"/>
            <a:chExt cx="2926080" cy="2743200"/>
          </a:xfrm>
        </p:grpSpPr>
        <p:sp>
          <p:nvSpPr>
            <p:cNvPr name="Freeform 79" id="79"/>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sp>
      </p:grpSp>
      <p:grpSp>
        <p:nvGrpSpPr>
          <p:cNvPr name="Group 80" id="80"/>
          <p:cNvGrpSpPr/>
          <p:nvPr/>
        </p:nvGrpSpPr>
        <p:grpSpPr>
          <a:xfrm rot="0">
            <a:off x="9461297" y="2501741"/>
            <a:ext cx="2194560" cy="2093119"/>
            <a:chOff x="0" y="0"/>
            <a:chExt cx="2926080" cy="2790825"/>
          </a:xfrm>
        </p:grpSpPr>
        <p:sp>
          <p:nvSpPr>
            <p:cNvPr name="Freeform 81" id="81"/>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372" t="0" r="-72372" b="0"/>
              </a:stretch>
            </a:blipFill>
          </p:spPr>
        </p:sp>
        <p:sp>
          <p:nvSpPr>
            <p:cNvPr name="TextBox 82" id="82"/>
            <p:cNvSpPr txBox="true"/>
            <p:nvPr/>
          </p:nvSpPr>
          <p:spPr>
            <a:xfrm>
              <a:off x="0" y="-47625"/>
              <a:ext cx="2926080" cy="2838450"/>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Investasi sektor pariwisata</a:t>
              </a:r>
            </a:p>
          </p:txBody>
        </p:sp>
      </p:grpSp>
      <p:sp>
        <p:nvSpPr>
          <p:cNvPr name="AutoShape 83" id="83"/>
          <p:cNvSpPr/>
          <p:nvPr/>
        </p:nvSpPr>
        <p:spPr>
          <a:xfrm rot="248399">
            <a:off x="11780282" y="3542347"/>
            <a:ext cx="395811" cy="0"/>
          </a:xfrm>
          <a:prstGeom prst="line">
            <a:avLst/>
          </a:prstGeom>
          <a:ln cap="rnd" w="19050">
            <a:solidFill>
              <a:srgbClr val="39C0D3"/>
            </a:solidFill>
            <a:prstDash val="solid"/>
            <a:headEnd type="none" len="sm" w="sm"/>
            <a:tailEnd type="triangle" len="med" w="lg"/>
          </a:ln>
        </p:spPr>
      </p:sp>
      <p:grpSp>
        <p:nvGrpSpPr>
          <p:cNvPr name="Group 84" id="84"/>
          <p:cNvGrpSpPr/>
          <p:nvPr/>
        </p:nvGrpSpPr>
        <p:grpSpPr>
          <a:xfrm rot="0">
            <a:off x="12157862" y="2537460"/>
            <a:ext cx="2468880" cy="2057400"/>
            <a:chOff x="0" y="0"/>
            <a:chExt cx="3291840" cy="2743200"/>
          </a:xfrm>
        </p:grpSpPr>
        <p:sp>
          <p:nvSpPr>
            <p:cNvPr name="Freeform 85" id="85"/>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sp>
      </p:grpSp>
      <p:grpSp>
        <p:nvGrpSpPr>
          <p:cNvPr name="Group 86" id="86"/>
          <p:cNvGrpSpPr/>
          <p:nvPr/>
        </p:nvGrpSpPr>
        <p:grpSpPr>
          <a:xfrm rot="0">
            <a:off x="12295022" y="2537460"/>
            <a:ext cx="2194560" cy="2057400"/>
            <a:chOff x="0" y="0"/>
            <a:chExt cx="2926080" cy="2743200"/>
          </a:xfrm>
        </p:grpSpPr>
        <p:sp>
          <p:nvSpPr>
            <p:cNvPr name="Freeform 87" id="87"/>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sp>
      </p:grpSp>
      <p:grpSp>
        <p:nvGrpSpPr>
          <p:cNvPr name="Group 88" id="88"/>
          <p:cNvGrpSpPr/>
          <p:nvPr/>
        </p:nvGrpSpPr>
        <p:grpSpPr>
          <a:xfrm rot="0">
            <a:off x="12295022" y="2501741"/>
            <a:ext cx="2194560" cy="2093119"/>
            <a:chOff x="0" y="0"/>
            <a:chExt cx="2926080" cy="2790825"/>
          </a:xfrm>
        </p:grpSpPr>
        <p:sp>
          <p:nvSpPr>
            <p:cNvPr name="Freeform 89" id="89"/>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372" t="0" r="-72372" b="0"/>
              </a:stretch>
            </a:blipFill>
          </p:spPr>
        </p:sp>
        <p:sp>
          <p:nvSpPr>
            <p:cNvPr name="TextBox 90" id="90"/>
            <p:cNvSpPr txBox="true"/>
            <p:nvPr/>
          </p:nvSpPr>
          <p:spPr>
            <a:xfrm>
              <a:off x="0" y="-47625"/>
              <a:ext cx="2926080" cy="2838450"/>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Konstruksi hotel dan pembangunan ODTW</a:t>
              </a:r>
            </a:p>
          </p:txBody>
        </p:sp>
      </p:grpSp>
      <p:sp>
        <p:nvSpPr>
          <p:cNvPr name="AutoShape 91" id="91"/>
          <p:cNvSpPr/>
          <p:nvPr/>
        </p:nvSpPr>
        <p:spPr>
          <a:xfrm rot="248399">
            <a:off x="14614007" y="3542347"/>
            <a:ext cx="395811" cy="0"/>
          </a:xfrm>
          <a:prstGeom prst="line">
            <a:avLst/>
          </a:prstGeom>
          <a:ln cap="rnd" w="19050">
            <a:solidFill>
              <a:srgbClr val="39C0D3"/>
            </a:solidFill>
            <a:prstDash val="solid"/>
            <a:headEnd type="none" len="sm" w="sm"/>
            <a:tailEnd type="triangle" len="med" w="lg"/>
          </a:ln>
        </p:spPr>
      </p:sp>
      <p:grpSp>
        <p:nvGrpSpPr>
          <p:cNvPr name="Group 92" id="92"/>
          <p:cNvGrpSpPr/>
          <p:nvPr/>
        </p:nvGrpSpPr>
        <p:grpSpPr>
          <a:xfrm rot="0">
            <a:off x="14991588" y="2537460"/>
            <a:ext cx="2468880" cy="2057400"/>
            <a:chOff x="0" y="0"/>
            <a:chExt cx="3291840" cy="2743200"/>
          </a:xfrm>
        </p:grpSpPr>
        <p:sp>
          <p:nvSpPr>
            <p:cNvPr name="Freeform 93" id="93"/>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sp>
      </p:grpSp>
      <p:grpSp>
        <p:nvGrpSpPr>
          <p:cNvPr name="Group 94" id="94"/>
          <p:cNvGrpSpPr/>
          <p:nvPr/>
        </p:nvGrpSpPr>
        <p:grpSpPr>
          <a:xfrm rot="0">
            <a:off x="15128748" y="2537460"/>
            <a:ext cx="2194560" cy="2057400"/>
            <a:chOff x="0" y="0"/>
            <a:chExt cx="2926080" cy="2743200"/>
          </a:xfrm>
        </p:grpSpPr>
        <p:sp>
          <p:nvSpPr>
            <p:cNvPr name="Freeform 95" id="95"/>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sp>
      </p:grpSp>
      <p:grpSp>
        <p:nvGrpSpPr>
          <p:cNvPr name="Group 96" id="96"/>
          <p:cNvGrpSpPr/>
          <p:nvPr/>
        </p:nvGrpSpPr>
        <p:grpSpPr>
          <a:xfrm rot="0">
            <a:off x="15128748" y="2501741"/>
            <a:ext cx="2194560" cy="2093119"/>
            <a:chOff x="0" y="0"/>
            <a:chExt cx="2926080" cy="2790825"/>
          </a:xfrm>
        </p:grpSpPr>
        <p:sp>
          <p:nvSpPr>
            <p:cNvPr name="Freeform 97" id="97"/>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372" t="0" r="-72372" b="0"/>
              </a:stretch>
            </a:blipFill>
          </p:spPr>
        </p:sp>
        <p:sp>
          <p:nvSpPr>
            <p:cNvPr name="TextBox 98" id="98"/>
            <p:cNvSpPr txBox="true"/>
            <p:nvPr/>
          </p:nvSpPr>
          <p:spPr>
            <a:xfrm>
              <a:off x="0" y="-47625"/>
              <a:ext cx="2926080" cy="2838450"/>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Tenaga kerja dan lahan terbangun</a:t>
              </a:r>
            </a:p>
          </p:txBody>
        </p:sp>
      </p:grpSp>
      <p:sp>
        <p:nvSpPr>
          <p:cNvPr name="TextBox 99" id="99"/>
          <p:cNvSpPr txBox="true"/>
          <p:nvPr/>
        </p:nvSpPr>
        <p:spPr>
          <a:xfrm rot="0">
            <a:off x="822960" y="4724400"/>
            <a:ext cx="16637508" cy="487680"/>
          </a:xfrm>
          <a:prstGeom prst="rect">
            <a:avLst/>
          </a:prstGeom>
        </p:spPr>
        <p:txBody>
          <a:bodyPr anchor="t" rtlCol="false" tIns="0" lIns="0" bIns="0" rIns="0">
            <a:spAutoFit/>
          </a:bodyPr>
          <a:lstStyle/>
          <a:p>
            <a:pPr algn="ctr">
              <a:lnSpc>
                <a:spcPts val="2160"/>
              </a:lnSpc>
            </a:pPr>
            <a:r>
              <a:rPr lang="en-US" sz="1800" i="true">
                <a:solidFill>
                  <a:srgbClr val="5E6E78"/>
                </a:solidFill>
                <a:latin typeface="Calibri (MS) Italics"/>
                <a:ea typeface="Calibri (MS) Italics"/>
                <a:cs typeface="Calibri (MS) Italics"/>
                <a:sym typeface="Calibri (MS) Italics"/>
              </a:rPr>
              <a:t>Galat merambat ke hilir melalui jalur ekonomi</a:t>
            </a:r>
          </a:p>
        </p:txBody>
      </p:sp>
      <p:grpSp>
        <p:nvGrpSpPr>
          <p:cNvPr name="Group 100" id="100"/>
          <p:cNvGrpSpPr/>
          <p:nvPr/>
        </p:nvGrpSpPr>
        <p:grpSpPr>
          <a:xfrm rot="0">
            <a:off x="822960" y="5486400"/>
            <a:ext cx="8161020" cy="3566160"/>
            <a:chOff x="0" y="0"/>
            <a:chExt cx="10881360" cy="4754880"/>
          </a:xfrm>
        </p:grpSpPr>
        <p:sp>
          <p:nvSpPr>
            <p:cNvPr name="Freeform 101" id="101"/>
            <p:cNvSpPr/>
            <p:nvPr/>
          </p:nvSpPr>
          <p:spPr>
            <a:xfrm flipH="false" flipV="false" rot="0">
              <a:off x="0" y="0"/>
              <a:ext cx="10881360" cy="4754880"/>
            </a:xfrm>
            <a:custGeom>
              <a:avLst/>
              <a:gdLst/>
              <a:ahLst/>
              <a:cxnLst/>
              <a:rect r="r" b="b" t="t" l="l"/>
              <a:pathLst>
                <a:path h="4754880" w="10881360">
                  <a:moveTo>
                    <a:pt x="0" y="182880"/>
                  </a:moveTo>
                  <a:cubicBezTo>
                    <a:pt x="0" y="81915"/>
                    <a:pt x="81915" y="0"/>
                    <a:pt x="182880" y="0"/>
                  </a:cubicBezTo>
                  <a:lnTo>
                    <a:pt x="10698480" y="0"/>
                  </a:lnTo>
                  <a:cubicBezTo>
                    <a:pt x="10799445" y="0"/>
                    <a:pt x="10881360" y="81915"/>
                    <a:pt x="10881360" y="182880"/>
                  </a:cubicBezTo>
                  <a:lnTo>
                    <a:pt x="10881360" y="4572000"/>
                  </a:lnTo>
                  <a:cubicBezTo>
                    <a:pt x="10881360" y="4672965"/>
                    <a:pt x="10799445" y="4754880"/>
                    <a:pt x="10698480" y="4754880"/>
                  </a:cubicBezTo>
                  <a:lnTo>
                    <a:pt x="182880" y="4754880"/>
                  </a:lnTo>
                  <a:cubicBezTo>
                    <a:pt x="81915" y="4754880"/>
                    <a:pt x="0" y="4672965"/>
                    <a:pt x="0" y="4572000"/>
                  </a:cubicBezTo>
                  <a:close/>
                </a:path>
              </a:pathLst>
            </a:custGeom>
            <a:solidFill>
              <a:srgbClr val="EAF8FA"/>
            </a:solidFill>
          </p:spPr>
        </p:sp>
      </p:grpSp>
      <p:sp>
        <p:nvSpPr>
          <p:cNvPr name="TextBox 102" id="102"/>
          <p:cNvSpPr txBox="true"/>
          <p:nvPr/>
        </p:nvSpPr>
        <p:spPr>
          <a:xfrm rot="0">
            <a:off x="1234440" y="5684520"/>
            <a:ext cx="74066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Bukti satu sumber bersama</a:t>
            </a:r>
          </a:p>
        </p:txBody>
      </p:sp>
      <p:sp>
        <p:nvSpPr>
          <p:cNvPr name="TextBox 103" id="103"/>
          <p:cNvSpPr txBox="true"/>
          <p:nvPr/>
        </p:nvSpPr>
        <p:spPr>
          <a:xfrm rot="0">
            <a:off x="1234440" y="6370320"/>
            <a:ext cx="7406640" cy="2545080"/>
          </a:xfrm>
          <a:prstGeom prst="rect">
            <a:avLst/>
          </a:prstGeom>
        </p:spPr>
        <p:txBody>
          <a:bodyPr anchor="t" rtlCol="false" tIns="0" lIns="0" bIns="0" rIns="0">
            <a:spAutoFit/>
          </a:bodyPr>
          <a:lstStyle/>
          <a:p>
            <a:pPr algn="l" marL="427553" indent="-142518" lvl="2">
              <a:lnSpc>
                <a:spcPts val="2430"/>
              </a:lnSpc>
              <a:buFont typeface="Arial"/>
              <a:buChar char="⚬"/>
            </a:pPr>
            <a:r>
              <a:rPr lang="en-US" sz="2025">
                <a:solidFill>
                  <a:srgbClr val="14313B"/>
                </a:solidFill>
                <a:latin typeface="Calibri (MS)"/>
                <a:ea typeface="Calibri (MS)"/>
                <a:cs typeface="Calibri (MS)"/>
                <a:sym typeface="Calibri (MS)"/>
              </a:rPr>
              <a:t>Komponen galat U1 (bias level) dominan pada 6 dari 9 variabel</a:t>
            </a:r>
          </a:p>
          <a:p>
            <a:pPr algn="l" marL="427553" indent="-142518" lvl="2">
              <a:lnSpc>
                <a:spcPts val="2430"/>
              </a:lnSpc>
              <a:buFont typeface="Arial"/>
              <a:buChar char="⚬"/>
            </a:pPr>
            <a:r>
              <a:rPr lang="en-US" sz="2025">
                <a:solidFill>
                  <a:srgbClr val="14313B"/>
                </a:solidFill>
                <a:latin typeface="Calibri (MS)"/>
                <a:ea typeface="Calibri (MS)"/>
                <a:cs typeface="Calibri (MS)"/>
                <a:sym typeface="Calibri (MS)"/>
              </a:rPr>
              <a:t>Hotel dan ODTW baik pada uji parsial (DC 0,20 dan 0,34) tetapi tinggi pada uji penuh</a:t>
            </a:r>
          </a:p>
          <a:p>
            <a:pPr algn="l" marL="427553" indent="-142518" lvl="2">
              <a:lnSpc>
                <a:spcPts val="2430"/>
              </a:lnSpc>
              <a:buFont typeface="Arial"/>
              <a:buChar char="⚬"/>
            </a:pPr>
            <a:r>
              <a:rPr lang="en-US" sz="2025">
                <a:solidFill>
                  <a:srgbClr val="14313B"/>
                </a:solidFill>
                <a:latin typeface="Calibri (MS)"/>
                <a:ea typeface="Calibri (MS)"/>
                <a:cs typeface="Calibri (MS)"/>
                <a:sym typeface="Calibri (MS)"/>
              </a:rPr>
              <a:t>Uji P5 dan uji penuh saling menguatkan: akar masalah pada satu titik</a:t>
            </a:r>
          </a:p>
        </p:txBody>
      </p:sp>
      <p:grpSp>
        <p:nvGrpSpPr>
          <p:cNvPr name="Group 104" id="104"/>
          <p:cNvGrpSpPr/>
          <p:nvPr/>
        </p:nvGrpSpPr>
        <p:grpSpPr>
          <a:xfrm rot="0">
            <a:off x="9299448" y="5486400"/>
            <a:ext cx="8161020" cy="3566160"/>
            <a:chOff x="0" y="0"/>
            <a:chExt cx="10881360" cy="4754880"/>
          </a:xfrm>
        </p:grpSpPr>
        <p:sp>
          <p:nvSpPr>
            <p:cNvPr name="Freeform 105" id="105"/>
            <p:cNvSpPr/>
            <p:nvPr/>
          </p:nvSpPr>
          <p:spPr>
            <a:xfrm flipH="false" flipV="false" rot="0">
              <a:off x="0" y="0"/>
              <a:ext cx="10881360" cy="4754880"/>
            </a:xfrm>
            <a:custGeom>
              <a:avLst/>
              <a:gdLst/>
              <a:ahLst/>
              <a:cxnLst/>
              <a:rect r="r" b="b" t="t" l="l"/>
              <a:pathLst>
                <a:path h="4754880" w="10881360">
                  <a:moveTo>
                    <a:pt x="0" y="182880"/>
                  </a:moveTo>
                  <a:cubicBezTo>
                    <a:pt x="0" y="81915"/>
                    <a:pt x="81915" y="0"/>
                    <a:pt x="182880" y="0"/>
                  </a:cubicBezTo>
                  <a:lnTo>
                    <a:pt x="10698480" y="0"/>
                  </a:lnTo>
                  <a:cubicBezTo>
                    <a:pt x="10799445" y="0"/>
                    <a:pt x="10881360" y="81915"/>
                    <a:pt x="10881360" y="182880"/>
                  </a:cubicBezTo>
                  <a:lnTo>
                    <a:pt x="10881360" y="4572000"/>
                  </a:lnTo>
                  <a:cubicBezTo>
                    <a:pt x="10881360" y="4672965"/>
                    <a:pt x="10799445" y="4754880"/>
                    <a:pt x="10698480" y="4754880"/>
                  </a:cubicBezTo>
                  <a:lnTo>
                    <a:pt x="182880" y="4754880"/>
                  </a:lnTo>
                  <a:cubicBezTo>
                    <a:pt x="81915" y="4754880"/>
                    <a:pt x="0" y="4672965"/>
                    <a:pt x="0" y="4572000"/>
                  </a:cubicBezTo>
                  <a:close/>
                </a:path>
              </a:pathLst>
            </a:custGeom>
            <a:solidFill>
              <a:srgbClr val="FFF1BF"/>
            </a:solidFill>
          </p:spPr>
        </p:sp>
      </p:grpSp>
      <p:sp>
        <p:nvSpPr>
          <p:cNvPr name="TextBox 106" id="106"/>
          <p:cNvSpPr txBox="true"/>
          <p:nvPr/>
        </p:nvSpPr>
        <p:spPr>
          <a:xfrm rot="0">
            <a:off x="9710928" y="5684520"/>
            <a:ext cx="74066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Penyebab di luar nilai parameter</a:t>
            </a:r>
          </a:p>
        </p:txBody>
      </p:sp>
      <p:sp>
        <p:nvSpPr>
          <p:cNvPr name="TextBox 107" id="107"/>
          <p:cNvSpPr txBox="true"/>
          <p:nvPr/>
        </p:nvSpPr>
        <p:spPr>
          <a:xfrm rot="0">
            <a:off x="9710928" y="6370320"/>
            <a:ext cx="7406640" cy="2545080"/>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Kesenjangan tren berasal dari rezim pemulihan pascapandemi 2022–2024 yang berada di luar batas model (kenaikan wisnus nasional 2024: 21,61%) — bukan dari kekeliruan nilai parameter struktural subsistem wisatawan.</a:t>
            </a:r>
          </a:p>
        </p:txBody>
      </p:sp>
      <p:sp>
        <p:nvSpPr>
          <p:cNvPr name="TextBox 108" id="10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48</a:t>
            </a:r>
          </a:p>
        </p:txBody>
      </p:sp>
      <p:sp>
        <p:nvSpPr>
          <p:cNvPr id="109" name="TextBox 10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sp>
        <p:nvSpPr>
          <p:cNvPr id="110"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76200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3.7.4 · Protokol Kalibrasi</a:t>
            </a:r>
          </a:p>
          <a:p>
            <a:pPr algn="l">
              <a:lnSpc>
                <a:spcPct val="100000"/>
              </a:lnSpc>
            </a:pPr>
            <a:r>
              <a:rPr lang="en-US" sz="3500" b="true">
                <a:solidFill>
                  <a:srgbClr val="0B5E6E"/>
                </a:solidFill>
                <a:latin typeface="Calibri (MS) Bold"/>
                <a:ea typeface="Calibri (MS) Bold"/>
                <a:cs typeface="Calibri (MS) Bold"/>
                <a:sym typeface="Calibri (MS) Bold"/>
              </a:rPr>
              <a:t>Kalibrasi: protokol dan aturan keputusan ditetapkan sebelum pencarian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49</a:t>
            </a:r>
          </a:p>
        </p:txBody>
      </p:sp>
      <p:grpSp>
        <p:nvGrpSpPr>
          <p:cNvPr name="Group 53" id="53"/>
          <p:cNvGrpSpPr/>
          <p:nvPr/>
        </p:nvGrpSpPr>
        <p:grpSpPr>
          <a:xfrm rot="0">
            <a:off x="822960" y="2240280"/>
            <a:ext cx="8229600" cy="1024128"/>
            <a:chOff x="0" y="0"/>
            <a:chExt cx="10972800" cy="1365504"/>
          </a:xfrm>
        </p:grpSpPr>
        <p:sp>
          <p:nvSpPr>
            <p:cNvPr name="Freeform 54" id="54"/>
            <p:cNvSpPr/>
            <p:nvPr/>
          </p:nvSpPr>
          <p:spPr>
            <a:xfrm flipH="false" flipV="false" rot="0">
              <a:off x="0" y="0"/>
              <a:ext cx="10972800" cy="1365504"/>
            </a:xfrm>
            <a:custGeom>
              <a:avLst/>
              <a:gdLst/>
              <a:ahLst/>
              <a:cxnLst/>
              <a:rect r="r" b="b" t="t" l="l"/>
              <a:pathLst>
                <a:path h="1365504" w="10972800">
                  <a:moveTo>
                    <a:pt x="0" y="121920"/>
                  </a:moveTo>
                  <a:cubicBezTo>
                    <a:pt x="0" y="54610"/>
                    <a:pt x="54610" y="0"/>
                    <a:pt x="121920" y="0"/>
                  </a:cubicBezTo>
                  <a:lnTo>
                    <a:pt x="10850880" y="0"/>
                  </a:lnTo>
                  <a:cubicBezTo>
                    <a:pt x="10918190" y="0"/>
                    <a:pt x="10972800" y="54610"/>
                    <a:pt x="10972800" y="121920"/>
                  </a:cubicBezTo>
                  <a:lnTo>
                    <a:pt x="10972800" y="1243584"/>
                  </a:lnTo>
                  <a:cubicBezTo>
                    <a:pt x="10972800" y="1310894"/>
                    <a:pt x="10918190" y="1365504"/>
                    <a:pt x="10850880" y="1365504"/>
                  </a:cubicBezTo>
                  <a:lnTo>
                    <a:pt x="121920" y="1365504"/>
                  </a:lnTo>
                  <a:cubicBezTo>
                    <a:pt x="54610" y="1365504"/>
                    <a:pt x="0" y="1310894"/>
                    <a:pt x="0" y="1243584"/>
                  </a:cubicBezTo>
                  <a:close/>
                </a:path>
              </a:pathLst>
            </a:custGeom>
            <a:solidFill>
              <a:srgbClr val="EAF8FA"/>
            </a:solidFill>
          </p:spPr>
        </p:sp>
      </p:grpSp>
      <p:grpSp>
        <p:nvGrpSpPr>
          <p:cNvPr name="Group 55" id="55"/>
          <p:cNvGrpSpPr/>
          <p:nvPr/>
        </p:nvGrpSpPr>
        <p:grpSpPr>
          <a:xfrm rot="0">
            <a:off x="1005840" y="2404872"/>
            <a:ext cx="457200" cy="457200"/>
            <a:chOff x="0" y="0"/>
            <a:chExt cx="609600" cy="609600"/>
          </a:xfrm>
        </p:grpSpPr>
        <p:sp>
          <p:nvSpPr>
            <p:cNvPr name="Freeform 56" id="56"/>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sp>
        <p:sp>
          <p:nvSpPr>
            <p:cNvPr name="TextBox 57" id="57"/>
            <p:cNvSpPr txBox="true"/>
            <p:nvPr/>
          </p:nvSpPr>
          <p:spPr>
            <a:xfrm>
              <a:off x="0" y="-28575"/>
              <a:ext cx="609600" cy="638175"/>
            </a:xfrm>
            <a:prstGeom prst="rect">
              <a:avLst/>
            </a:prstGeom>
          </p:spPr>
          <p:txBody>
            <a:bodyPr anchor="ctr" rtlCol="false" tIns="50800" lIns="50800" bIns="50800" rIns="50800"/>
            <a:lstStyle/>
            <a:p>
              <a:pPr algn="ctr">
                <a:lnSpc>
                  <a:spcPts val="1680"/>
                </a:lnSpc>
              </a:pPr>
              <a:r>
                <a:rPr lang="en-US" sz="1400" b="true">
                  <a:solidFill>
                    <a:srgbClr val="FFFFFF"/>
                  </a:solidFill>
                  <a:latin typeface="Calibri (MS) Bold"/>
                  <a:ea typeface="Calibri (MS) Bold"/>
                  <a:cs typeface="Calibri (MS) Bold"/>
                  <a:sym typeface="Calibri (MS) Bold"/>
                </a:rPr>
                <a:t>1</a:t>
              </a:r>
            </a:p>
          </p:txBody>
        </p:sp>
      </p:grpSp>
      <p:sp>
        <p:nvSpPr>
          <p:cNvPr name="TextBox 58" id="58"/>
          <p:cNvSpPr txBox="true"/>
          <p:nvPr/>
        </p:nvSpPr>
        <p:spPr>
          <a:xfrm rot="0">
            <a:off x="1600200" y="2311146"/>
            <a:ext cx="7269480" cy="4229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Parameter dibatasi</a:t>
            </a:r>
          </a:p>
        </p:txBody>
      </p:sp>
      <p:sp>
        <p:nvSpPr>
          <p:cNvPr name="TextBox 59" id="59"/>
          <p:cNvSpPr txBox="true"/>
          <p:nvPr/>
        </p:nvSpPr>
        <p:spPr>
          <a:xfrm rot="0">
            <a:off x="1600200" y="2649855"/>
            <a:ext cx="7269480" cy="504825"/>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Hanya parameter tidak pasti (asumsi/estimasi). Data resmi, identitas stok-aliran, dan nilai referensi tidak dikalibrasi.</a:t>
            </a:r>
          </a:p>
        </p:txBody>
      </p:sp>
      <p:grpSp>
        <p:nvGrpSpPr>
          <p:cNvPr name="Group 60" id="60"/>
          <p:cNvGrpSpPr/>
          <p:nvPr/>
        </p:nvGrpSpPr>
        <p:grpSpPr>
          <a:xfrm rot="0">
            <a:off x="822960" y="3374136"/>
            <a:ext cx="8229600" cy="1298448"/>
            <a:chOff x="0" y="0"/>
            <a:chExt cx="10972800" cy="1731264"/>
          </a:xfrm>
        </p:grpSpPr>
        <p:sp>
          <p:nvSpPr>
            <p:cNvPr name="Freeform 61" id="61"/>
            <p:cNvSpPr/>
            <p:nvPr/>
          </p:nvSpPr>
          <p:spPr>
            <a:xfrm flipH="false" flipV="false" rot="0">
              <a:off x="0" y="0"/>
              <a:ext cx="10972800" cy="1731264"/>
            </a:xfrm>
            <a:custGeom>
              <a:avLst/>
              <a:gdLst/>
              <a:ahLst/>
              <a:cxnLst/>
              <a:rect r="r" b="b" t="t" l="l"/>
              <a:pathLst>
                <a:path h="1731264" w="10972800">
                  <a:moveTo>
                    <a:pt x="0" y="121920"/>
                  </a:moveTo>
                  <a:cubicBezTo>
                    <a:pt x="0" y="54610"/>
                    <a:pt x="54610" y="0"/>
                    <a:pt x="121920" y="0"/>
                  </a:cubicBezTo>
                  <a:lnTo>
                    <a:pt x="10850880" y="0"/>
                  </a:lnTo>
                  <a:cubicBezTo>
                    <a:pt x="10918190" y="0"/>
                    <a:pt x="10972800" y="54610"/>
                    <a:pt x="10972800" y="121920"/>
                  </a:cubicBezTo>
                  <a:lnTo>
                    <a:pt x="10972800" y="1609344"/>
                  </a:lnTo>
                  <a:cubicBezTo>
                    <a:pt x="10972800" y="1676654"/>
                    <a:pt x="10918190" y="1731264"/>
                    <a:pt x="10850880" y="1731264"/>
                  </a:cubicBezTo>
                  <a:lnTo>
                    <a:pt x="121920" y="1731264"/>
                  </a:lnTo>
                  <a:cubicBezTo>
                    <a:pt x="54610" y="1731264"/>
                    <a:pt x="0" y="1676654"/>
                    <a:pt x="0" y="1609344"/>
                  </a:cubicBezTo>
                  <a:close/>
                </a:path>
              </a:pathLst>
            </a:custGeom>
            <a:solidFill>
              <a:srgbClr val="EAF8FA"/>
            </a:solidFill>
          </p:spPr>
        </p:sp>
      </p:grpSp>
      <p:grpSp>
        <p:nvGrpSpPr>
          <p:cNvPr name="Group 62" id="62"/>
          <p:cNvGrpSpPr/>
          <p:nvPr/>
        </p:nvGrpSpPr>
        <p:grpSpPr>
          <a:xfrm rot="0">
            <a:off x="1005840" y="3538728"/>
            <a:ext cx="457200" cy="457200"/>
            <a:chOff x="0" y="0"/>
            <a:chExt cx="609600" cy="609600"/>
          </a:xfrm>
        </p:grpSpPr>
        <p:sp>
          <p:nvSpPr>
            <p:cNvPr name="Freeform 63" id="63"/>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sp>
        <p:sp>
          <p:nvSpPr>
            <p:cNvPr name="TextBox 64" id="64"/>
            <p:cNvSpPr txBox="true"/>
            <p:nvPr/>
          </p:nvSpPr>
          <p:spPr>
            <a:xfrm>
              <a:off x="0" y="-28575"/>
              <a:ext cx="609600" cy="638175"/>
            </a:xfrm>
            <a:prstGeom prst="rect">
              <a:avLst/>
            </a:prstGeom>
          </p:spPr>
          <p:txBody>
            <a:bodyPr anchor="ctr" rtlCol="false" tIns="50800" lIns="50800" bIns="50800" rIns="50800"/>
            <a:lstStyle/>
            <a:p>
              <a:pPr algn="ctr">
                <a:lnSpc>
                  <a:spcPts val="1680"/>
                </a:lnSpc>
              </a:pPr>
              <a:r>
                <a:rPr lang="en-US" sz="1400" b="true">
                  <a:solidFill>
                    <a:srgbClr val="FFFFFF"/>
                  </a:solidFill>
                  <a:latin typeface="Calibri (MS) Bold"/>
                  <a:ea typeface="Calibri (MS) Bold"/>
                  <a:cs typeface="Calibri (MS) Bold"/>
                  <a:sym typeface="Calibri (MS) Bold"/>
                </a:rPr>
                <a:t>2</a:t>
              </a:r>
            </a:p>
          </p:txBody>
        </p:sp>
      </p:grpSp>
      <p:sp>
        <p:nvSpPr>
          <p:cNvPr name="TextBox 65" id="65"/>
          <p:cNvSpPr txBox="true"/>
          <p:nvPr/>
        </p:nvSpPr>
        <p:spPr>
          <a:xfrm rot="0">
            <a:off x="1600200" y="3445002"/>
            <a:ext cx="7269480" cy="4229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Rentang berdasar</a:t>
            </a:r>
          </a:p>
        </p:txBody>
      </p:sp>
      <p:sp>
        <p:nvSpPr>
          <p:cNvPr name="TextBox 66" id="66"/>
          <p:cNvSpPr txBox="true"/>
          <p:nvPr/>
        </p:nvSpPr>
        <p:spPr>
          <a:xfrm rot="0">
            <a:off x="1600200" y="3783711"/>
            <a:ext cx="7269480" cy="504825"/>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Triangulasi rujukan, atau selang kepercayaan 95% tren log-linear:</a:t>
            </a:r>
          </a:p>
        </p:txBody>
      </p:sp>
      <p:sp>
        <p:nvSpPr>
          <p:cNvPr name="TextBox 67" id="67"/>
          <p:cNvSpPr txBox="true"/>
          <p:nvPr/>
        </p:nvSpPr>
        <p:spPr>
          <a:xfrm rot="0">
            <a:off x="1600200" y="4259961"/>
            <a:ext cx="7269480" cy="376047"/>
          </a:xfrm>
          <a:prstGeom prst="rect">
            <a:avLst/>
          </a:prstGeom>
        </p:spPr>
        <p:txBody>
          <a:bodyPr anchor="t" rtlCol="false" tIns="0" lIns="0" bIns="0" rIns="0">
            <a:spAutoFit/>
          </a:bodyPr>
          <a:lstStyle/>
          <a:p>
            <a:pPr algn="l">
              <a:lnSpc>
                <a:spcPts val="2150"/>
              </a:lnSpc>
            </a:pPr>
            <a:r>
              <a:rPr lang="en-US" sz="1599" i="true">
                <a:solidFill>
                  <a:srgbClr val="14313B"/>
                </a:solidFill>
                <a:latin typeface="Cambria Italics"/>
                <a:ea typeface="Cambria Italics"/>
                <a:cs typeface="Cambria Italics"/>
                <a:sym typeface="Cambria Italics"/>
              </a:rPr>
              <a:t>k = (e^β₁ − 1) / R̄ ;  [k_L, k_U] = (e^(β₁ ∓ t*·se(β₁)) − 1) / R̄</a:t>
            </a:r>
          </a:p>
        </p:txBody>
      </p:sp>
      <p:grpSp>
        <p:nvGrpSpPr>
          <p:cNvPr name="Group 68" id="68"/>
          <p:cNvGrpSpPr/>
          <p:nvPr/>
        </p:nvGrpSpPr>
        <p:grpSpPr>
          <a:xfrm rot="0">
            <a:off x="822960" y="4782312"/>
            <a:ext cx="8229600" cy="1024128"/>
            <a:chOff x="0" y="0"/>
            <a:chExt cx="10972800" cy="1365504"/>
          </a:xfrm>
        </p:grpSpPr>
        <p:sp>
          <p:nvSpPr>
            <p:cNvPr name="Freeform 69" id="69"/>
            <p:cNvSpPr/>
            <p:nvPr/>
          </p:nvSpPr>
          <p:spPr>
            <a:xfrm flipH="false" flipV="false" rot="0">
              <a:off x="0" y="0"/>
              <a:ext cx="10972800" cy="1365504"/>
            </a:xfrm>
            <a:custGeom>
              <a:avLst/>
              <a:gdLst/>
              <a:ahLst/>
              <a:cxnLst/>
              <a:rect r="r" b="b" t="t" l="l"/>
              <a:pathLst>
                <a:path h="1365504" w="10972800">
                  <a:moveTo>
                    <a:pt x="0" y="121920"/>
                  </a:moveTo>
                  <a:cubicBezTo>
                    <a:pt x="0" y="54610"/>
                    <a:pt x="54610" y="0"/>
                    <a:pt x="121920" y="0"/>
                  </a:cubicBezTo>
                  <a:lnTo>
                    <a:pt x="10850880" y="0"/>
                  </a:lnTo>
                  <a:cubicBezTo>
                    <a:pt x="10918190" y="0"/>
                    <a:pt x="10972800" y="54610"/>
                    <a:pt x="10972800" y="121920"/>
                  </a:cubicBezTo>
                  <a:lnTo>
                    <a:pt x="10972800" y="1243584"/>
                  </a:lnTo>
                  <a:cubicBezTo>
                    <a:pt x="10972800" y="1310894"/>
                    <a:pt x="10918190" y="1365504"/>
                    <a:pt x="10850880" y="1365504"/>
                  </a:cubicBezTo>
                  <a:lnTo>
                    <a:pt x="121920" y="1365504"/>
                  </a:lnTo>
                  <a:cubicBezTo>
                    <a:pt x="54610" y="1365504"/>
                    <a:pt x="0" y="1310894"/>
                    <a:pt x="0" y="1243584"/>
                  </a:cubicBezTo>
                  <a:close/>
                </a:path>
              </a:pathLst>
            </a:custGeom>
            <a:solidFill>
              <a:srgbClr val="EAF8FA"/>
            </a:solidFill>
          </p:spPr>
        </p:sp>
      </p:grpSp>
      <p:grpSp>
        <p:nvGrpSpPr>
          <p:cNvPr name="Group 70" id="70"/>
          <p:cNvGrpSpPr/>
          <p:nvPr/>
        </p:nvGrpSpPr>
        <p:grpSpPr>
          <a:xfrm rot="0">
            <a:off x="1005840" y="4946904"/>
            <a:ext cx="457200" cy="457200"/>
            <a:chOff x="0" y="0"/>
            <a:chExt cx="609600" cy="609600"/>
          </a:xfrm>
        </p:grpSpPr>
        <p:sp>
          <p:nvSpPr>
            <p:cNvPr name="Freeform 71" id="71"/>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sp>
        <p:sp>
          <p:nvSpPr>
            <p:cNvPr name="TextBox 72" id="72"/>
            <p:cNvSpPr txBox="true"/>
            <p:nvPr/>
          </p:nvSpPr>
          <p:spPr>
            <a:xfrm>
              <a:off x="0" y="-28575"/>
              <a:ext cx="609600" cy="638175"/>
            </a:xfrm>
            <a:prstGeom prst="rect">
              <a:avLst/>
            </a:prstGeom>
          </p:spPr>
          <p:txBody>
            <a:bodyPr anchor="ctr" rtlCol="false" tIns="50800" lIns="50800" bIns="50800" rIns="50800"/>
            <a:lstStyle/>
            <a:p>
              <a:pPr algn="ctr">
                <a:lnSpc>
                  <a:spcPts val="1680"/>
                </a:lnSpc>
              </a:pPr>
              <a:r>
                <a:rPr lang="en-US" sz="1400" b="true">
                  <a:solidFill>
                    <a:srgbClr val="FFFFFF"/>
                  </a:solidFill>
                  <a:latin typeface="Calibri (MS) Bold"/>
                  <a:ea typeface="Calibri (MS) Bold"/>
                  <a:cs typeface="Calibri (MS) Bold"/>
                  <a:sym typeface="Calibri (MS) Bold"/>
                </a:rPr>
                <a:t>3</a:t>
              </a:r>
            </a:p>
          </p:txBody>
        </p:sp>
      </p:grpSp>
      <p:sp>
        <p:nvSpPr>
          <p:cNvPr name="TextBox 73" id="73"/>
          <p:cNvSpPr txBox="true"/>
          <p:nvPr/>
        </p:nvSpPr>
        <p:spPr>
          <a:xfrm rot="0">
            <a:off x="1600200" y="4853178"/>
            <a:ext cx="7269480" cy="4229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Parameter berpasangan dihitung ulang</a:t>
            </a:r>
          </a:p>
        </p:txBody>
      </p:sp>
      <p:sp>
        <p:nvSpPr>
          <p:cNvPr name="TextBox 74" id="74"/>
          <p:cNvSpPr txBox="true"/>
          <p:nvPr/>
        </p:nvSpPr>
        <p:spPr>
          <a:xfrm rot="0">
            <a:off x="1600200" y="5191887"/>
            <a:ext cx="7269480" cy="504825"/>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Pada setiap titik pencarian mengikuti identitas stok-aliran agar konsisten dengan data historis.</a:t>
            </a:r>
          </a:p>
        </p:txBody>
      </p:sp>
      <p:grpSp>
        <p:nvGrpSpPr>
          <p:cNvPr name="Group 75" id="75"/>
          <p:cNvGrpSpPr/>
          <p:nvPr/>
        </p:nvGrpSpPr>
        <p:grpSpPr>
          <a:xfrm rot="0">
            <a:off x="822960" y="5916168"/>
            <a:ext cx="8229600" cy="1298448"/>
            <a:chOff x="0" y="0"/>
            <a:chExt cx="10972800" cy="1731264"/>
          </a:xfrm>
        </p:grpSpPr>
        <p:sp>
          <p:nvSpPr>
            <p:cNvPr name="Freeform 76" id="76"/>
            <p:cNvSpPr/>
            <p:nvPr/>
          </p:nvSpPr>
          <p:spPr>
            <a:xfrm flipH="false" flipV="false" rot="0">
              <a:off x="0" y="0"/>
              <a:ext cx="10972800" cy="1731264"/>
            </a:xfrm>
            <a:custGeom>
              <a:avLst/>
              <a:gdLst/>
              <a:ahLst/>
              <a:cxnLst/>
              <a:rect r="r" b="b" t="t" l="l"/>
              <a:pathLst>
                <a:path h="1731264" w="10972800">
                  <a:moveTo>
                    <a:pt x="0" y="121920"/>
                  </a:moveTo>
                  <a:cubicBezTo>
                    <a:pt x="0" y="54610"/>
                    <a:pt x="54610" y="0"/>
                    <a:pt x="121920" y="0"/>
                  </a:cubicBezTo>
                  <a:lnTo>
                    <a:pt x="10850880" y="0"/>
                  </a:lnTo>
                  <a:cubicBezTo>
                    <a:pt x="10918190" y="0"/>
                    <a:pt x="10972800" y="54610"/>
                    <a:pt x="10972800" y="121920"/>
                  </a:cubicBezTo>
                  <a:lnTo>
                    <a:pt x="10972800" y="1609344"/>
                  </a:lnTo>
                  <a:cubicBezTo>
                    <a:pt x="10972800" y="1676654"/>
                    <a:pt x="10918190" y="1731264"/>
                    <a:pt x="10850880" y="1731264"/>
                  </a:cubicBezTo>
                  <a:lnTo>
                    <a:pt x="121920" y="1731264"/>
                  </a:lnTo>
                  <a:cubicBezTo>
                    <a:pt x="54610" y="1731264"/>
                    <a:pt x="0" y="1676654"/>
                    <a:pt x="0" y="1609344"/>
                  </a:cubicBezTo>
                  <a:close/>
                </a:path>
              </a:pathLst>
            </a:custGeom>
            <a:solidFill>
              <a:srgbClr val="EAF8FA"/>
            </a:solidFill>
          </p:spPr>
        </p:sp>
      </p:grpSp>
      <p:grpSp>
        <p:nvGrpSpPr>
          <p:cNvPr name="Group 77" id="77"/>
          <p:cNvGrpSpPr/>
          <p:nvPr/>
        </p:nvGrpSpPr>
        <p:grpSpPr>
          <a:xfrm rot="0">
            <a:off x="1005840" y="6080760"/>
            <a:ext cx="457200" cy="457200"/>
            <a:chOff x="0" y="0"/>
            <a:chExt cx="609600" cy="609600"/>
          </a:xfrm>
        </p:grpSpPr>
        <p:sp>
          <p:nvSpPr>
            <p:cNvPr name="Freeform 78" id="78"/>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sp>
        <p:sp>
          <p:nvSpPr>
            <p:cNvPr name="TextBox 79" id="79"/>
            <p:cNvSpPr txBox="true"/>
            <p:nvPr/>
          </p:nvSpPr>
          <p:spPr>
            <a:xfrm>
              <a:off x="0" y="-28575"/>
              <a:ext cx="609600" cy="638175"/>
            </a:xfrm>
            <a:prstGeom prst="rect">
              <a:avLst/>
            </a:prstGeom>
          </p:spPr>
          <p:txBody>
            <a:bodyPr anchor="ctr" rtlCol="false" tIns="50800" lIns="50800" bIns="50800" rIns="50800"/>
            <a:lstStyle/>
            <a:p>
              <a:pPr algn="ctr">
                <a:lnSpc>
                  <a:spcPts val="1680"/>
                </a:lnSpc>
              </a:pPr>
              <a:r>
                <a:rPr lang="en-US" sz="1400" b="true">
                  <a:solidFill>
                    <a:srgbClr val="FFFFFF"/>
                  </a:solidFill>
                  <a:latin typeface="Calibri (MS) Bold"/>
                  <a:ea typeface="Calibri (MS) Bold"/>
                  <a:cs typeface="Calibri (MS) Bold"/>
                  <a:sym typeface="Calibri (MS) Bold"/>
                </a:rPr>
                <a:t>4</a:t>
              </a:r>
            </a:p>
          </p:txBody>
        </p:sp>
      </p:grpSp>
      <p:sp>
        <p:nvSpPr>
          <p:cNvPr name="TextBox 80" id="80"/>
          <p:cNvSpPr txBox="true"/>
          <p:nvPr/>
        </p:nvSpPr>
        <p:spPr>
          <a:xfrm rot="0">
            <a:off x="1600200" y="5987034"/>
            <a:ext cx="7269480" cy="4229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Fungsi tujuan</a:t>
            </a:r>
          </a:p>
        </p:txBody>
      </p:sp>
      <p:sp>
        <p:nvSpPr>
          <p:cNvPr name="TextBox 81" id="81"/>
          <p:cNvSpPr txBox="true"/>
          <p:nvPr/>
        </p:nvSpPr>
        <p:spPr>
          <a:xfrm rot="0">
            <a:off x="1600200" y="6325743"/>
            <a:ext cx="7269480" cy="504825"/>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NRMSE (sejalan dengan dekomposisi U1–U3); MAPE sebagai pelengkap.</a:t>
            </a:r>
          </a:p>
        </p:txBody>
      </p:sp>
      <p:sp>
        <p:nvSpPr>
          <p:cNvPr name="TextBox 82" id="82"/>
          <p:cNvSpPr txBox="true"/>
          <p:nvPr/>
        </p:nvSpPr>
        <p:spPr>
          <a:xfrm rot="0">
            <a:off x="1600200" y="6801993"/>
            <a:ext cx="7269480" cy="376047"/>
          </a:xfrm>
          <a:prstGeom prst="rect">
            <a:avLst/>
          </a:prstGeom>
        </p:spPr>
        <p:txBody>
          <a:bodyPr anchor="t" rtlCol="false" tIns="0" lIns="0" bIns="0" rIns="0">
            <a:spAutoFit/>
          </a:bodyPr>
          <a:lstStyle/>
          <a:p>
            <a:pPr algn="l">
              <a:lnSpc>
                <a:spcPts val="2150"/>
              </a:lnSpc>
            </a:pPr>
            <a:r>
              <a:rPr lang="en-US" sz="1599" i="true">
                <a:solidFill>
                  <a:srgbClr val="14313B"/>
                </a:solidFill>
                <a:latin typeface="Cambria Italics"/>
                <a:ea typeface="Cambria Italics"/>
                <a:cs typeface="Cambria Italics"/>
                <a:sym typeface="Cambria Italics"/>
              </a:rPr>
              <a:t>J = NRMSE = √[(1/n) Σₜ (Sₜ − Aₜ)²] / Ā</a:t>
            </a:r>
          </a:p>
        </p:txBody>
      </p:sp>
      <p:grpSp>
        <p:nvGrpSpPr>
          <p:cNvPr name="Group 83" id="83"/>
          <p:cNvGrpSpPr/>
          <p:nvPr/>
        </p:nvGrpSpPr>
        <p:grpSpPr>
          <a:xfrm rot="0">
            <a:off x="822960" y="7324344"/>
            <a:ext cx="8229600" cy="1298448"/>
            <a:chOff x="0" y="0"/>
            <a:chExt cx="10972800" cy="1731264"/>
          </a:xfrm>
        </p:grpSpPr>
        <p:sp>
          <p:nvSpPr>
            <p:cNvPr name="Freeform 84" id="84"/>
            <p:cNvSpPr/>
            <p:nvPr/>
          </p:nvSpPr>
          <p:spPr>
            <a:xfrm flipH="false" flipV="false" rot="0">
              <a:off x="0" y="0"/>
              <a:ext cx="10972800" cy="1731264"/>
            </a:xfrm>
            <a:custGeom>
              <a:avLst/>
              <a:gdLst/>
              <a:ahLst/>
              <a:cxnLst/>
              <a:rect r="r" b="b" t="t" l="l"/>
              <a:pathLst>
                <a:path h="1731264" w="10972800">
                  <a:moveTo>
                    <a:pt x="0" y="121920"/>
                  </a:moveTo>
                  <a:cubicBezTo>
                    <a:pt x="0" y="54610"/>
                    <a:pt x="54610" y="0"/>
                    <a:pt x="121920" y="0"/>
                  </a:cubicBezTo>
                  <a:lnTo>
                    <a:pt x="10850880" y="0"/>
                  </a:lnTo>
                  <a:cubicBezTo>
                    <a:pt x="10918190" y="0"/>
                    <a:pt x="10972800" y="54610"/>
                    <a:pt x="10972800" y="121920"/>
                  </a:cubicBezTo>
                  <a:lnTo>
                    <a:pt x="10972800" y="1609344"/>
                  </a:lnTo>
                  <a:cubicBezTo>
                    <a:pt x="10972800" y="1676654"/>
                    <a:pt x="10918190" y="1731264"/>
                    <a:pt x="10850880" y="1731264"/>
                  </a:cubicBezTo>
                  <a:lnTo>
                    <a:pt x="121920" y="1731264"/>
                  </a:lnTo>
                  <a:cubicBezTo>
                    <a:pt x="54610" y="1731264"/>
                    <a:pt x="0" y="1676654"/>
                    <a:pt x="0" y="1609344"/>
                  </a:cubicBezTo>
                  <a:close/>
                </a:path>
              </a:pathLst>
            </a:custGeom>
            <a:solidFill>
              <a:srgbClr val="EAF8FA"/>
            </a:solidFill>
          </p:spPr>
        </p:sp>
      </p:grpSp>
      <p:grpSp>
        <p:nvGrpSpPr>
          <p:cNvPr name="Group 85" id="85"/>
          <p:cNvGrpSpPr/>
          <p:nvPr/>
        </p:nvGrpSpPr>
        <p:grpSpPr>
          <a:xfrm rot="0">
            <a:off x="1005840" y="7488936"/>
            <a:ext cx="457200" cy="457200"/>
            <a:chOff x="0" y="0"/>
            <a:chExt cx="609600" cy="609600"/>
          </a:xfrm>
        </p:grpSpPr>
        <p:sp>
          <p:nvSpPr>
            <p:cNvPr name="Freeform 86" id="86"/>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sp>
        <p:sp>
          <p:nvSpPr>
            <p:cNvPr name="TextBox 87" id="87"/>
            <p:cNvSpPr txBox="true"/>
            <p:nvPr/>
          </p:nvSpPr>
          <p:spPr>
            <a:xfrm>
              <a:off x="0" y="-28575"/>
              <a:ext cx="609600" cy="638175"/>
            </a:xfrm>
            <a:prstGeom prst="rect">
              <a:avLst/>
            </a:prstGeom>
          </p:spPr>
          <p:txBody>
            <a:bodyPr anchor="ctr" rtlCol="false" tIns="50800" lIns="50800" bIns="50800" rIns="50800"/>
            <a:lstStyle/>
            <a:p>
              <a:pPr algn="ctr">
                <a:lnSpc>
                  <a:spcPts val="1680"/>
                </a:lnSpc>
              </a:pPr>
              <a:r>
                <a:rPr lang="en-US" sz="1400" b="true">
                  <a:solidFill>
                    <a:srgbClr val="FFFFFF"/>
                  </a:solidFill>
                  <a:latin typeface="Calibri (MS) Bold"/>
                  <a:ea typeface="Calibri (MS) Bold"/>
                  <a:cs typeface="Calibri (MS) Bold"/>
                  <a:sym typeface="Calibri (MS) Bold"/>
                </a:rPr>
                <a:t>5</a:t>
              </a:r>
            </a:p>
          </p:txBody>
        </p:sp>
      </p:grpSp>
      <p:sp>
        <p:nvSpPr>
          <p:cNvPr name="TextBox 88" id="88"/>
          <p:cNvSpPr txBox="true"/>
          <p:nvPr/>
        </p:nvSpPr>
        <p:spPr>
          <a:xfrm rot="0">
            <a:off x="1600200" y="7395210"/>
            <a:ext cx="7269480" cy="4229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Himpunan indiferen</a:t>
            </a:r>
          </a:p>
        </p:txBody>
      </p:sp>
      <p:sp>
        <p:nvSpPr>
          <p:cNvPr name="TextBox 89" id="89"/>
          <p:cNvSpPr txBox="true"/>
          <p:nvPr/>
        </p:nvSpPr>
        <p:spPr>
          <a:xfrm rot="0">
            <a:off x="1600200" y="7733919"/>
            <a:ext cx="7269480" cy="504825"/>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Titik yang tidak lebih buruk 5% dari minimum dianggap setara:</a:t>
            </a:r>
          </a:p>
        </p:txBody>
      </p:sp>
      <p:sp>
        <p:nvSpPr>
          <p:cNvPr name="TextBox 90" id="90"/>
          <p:cNvSpPr txBox="true"/>
          <p:nvPr/>
        </p:nvSpPr>
        <p:spPr>
          <a:xfrm rot="0">
            <a:off x="1600200" y="8210169"/>
            <a:ext cx="7269480" cy="376047"/>
          </a:xfrm>
          <a:prstGeom prst="rect">
            <a:avLst/>
          </a:prstGeom>
        </p:spPr>
        <p:txBody>
          <a:bodyPr anchor="t" rtlCol="false" tIns="0" lIns="0" bIns="0" rIns="0">
            <a:spAutoFit/>
          </a:bodyPr>
          <a:lstStyle/>
          <a:p>
            <a:pPr algn="l">
              <a:lnSpc>
                <a:spcPts val="2150"/>
              </a:lnSpc>
            </a:pPr>
            <a:r>
              <a:rPr lang="en-US" sz="1599" i="true">
                <a:solidFill>
                  <a:srgbClr val="14313B"/>
                </a:solidFill>
                <a:latin typeface="Cambria Italics"/>
                <a:ea typeface="Cambria Italics"/>
                <a:cs typeface="Cambria Italics"/>
                <a:sym typeface="Cambria Italics"/>
              </a:rPr>
              <a:t>I = { θ : J(θ) ≤ 1,05 × J_min }</a:t>
            </a:r>
          </a:p>
        </p:txBody>
      </p:sp>
      <p:graphicFrame>
        <p:nvGraphicFramePr>
          <p:cNvPr name="Table 91" id="91"/>
          <p:cNvGraphicFramePr>
            <a:graphicFrameLocks noGrp="true"/>
          </p:cNvGraphicFramePr>
          <p:nvPr/>
        </p:nvGraphicFramePr>
        <p:xfrm>
          <a:off x="9281160" y="2240280"/>
          <a:ext cx="8166100" cy="2540000"/>
        </p:xfrm>
        <a:graphic>
          <a:graphicData uri="http://schemas.openxmlformats.org/drawingml/2006/table">
            <a:tbl>
              <a:tblPr/>
              <a:tblGrid>
                <a:gridCol w="729930"/>
                <a:gridCol w="3010964"/>
                <a:gridCol w="4425206"/>
              </a:tblGrid>
              <a:tr h="441654">
                <a:tc>
                  <a:txBody>
                    <a:bodyPr anchor="t" rtlCol="false"/>
                    <a:lstStyle/>
                    <a:p>
                      <a:pPr algn="ctr">
                        <a:lnSpc>
                          <a:spcPts val="1680"/>
                        </a:lnSpc>
                        <a:defRPr/>
                      </a:pPr>
                      <a:r>
                        <a:rPr lang="en-US" sz="1400" b="true">
                          <a:solidFill>
                            <a:srgbClr val="FFFFFF"/>
                          </a:solidFill>
                          <a:latin typeface="Calibri (MS) Bold"/>
                          <a:ea typeface="Calibri (MS) Bold"/>
                          <a:cs typeface="Calibri (MS) Bold"/>
                          <a:sym typeface="Calibri (MS) Bold"/>
                        </a:rPr>
                        <a:t>Aturan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680"/>
                        </a:lnSpc>
                        <a:defRPr/>
                      </a:pPr>
                      <a:r>
                        <a:rPr lang="en-US" sz="1400" b="true">
                          <a:solidFill>
                            <a:srgbClr val="FFFFFF"/>
                          </a:solidFill>
                          <a:latin typeface="Calibri (MS) Bold"/>
                          <a:ea typeface="Calibri (MS) Bold"/>
                          <a:cs typeface="Calibri (MS) Bold"/>
                          <a:sym typeface="Calibri (MS) Bold"/>
                        </a:rPr>
                        <a:t>Kondisi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680"/>
                        </a:lnSpc>
                        <a:defRPr/>
                      </a:pPr>
                      <a:r>
                        <a:rPr lang="en-US" sz="1400" b="true">
                          <a:solidFill>
                            <a:srgbClr val="FFFFFF"/>
                          </a:solidFill>
                          <a:latin typeface="Calibri (MS) Bold"/>
                          <a:ea typeface="Calibri (MS) Bold"/>
                          <a:cs typeface="Calibri (MS) Bold"/>
                          <a:sym typeface="Calibri (MS) Bold"/>
                        </a:rPr>
                        <a:t>Keputusan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524587">
                <a:tc>
                  <a:txBody>
                    <a:bodyPr anchor="t" rtlCol="false"/>
                    <a:lstStyle/>
                    <a:p>
                      <a:pPr algn="ctr">
                        <a:lnSpc>
                          <a:spcPts val="1680"/>
                        </a:lnSpc>
                        <a:defRPr/>
                      </a:pPr>
                      <a:r>
                        <a:rPr lang="en-US" sz="1400" b="true">
                          <a:solidFill>
                            <a:srgbClr val="14313B"/>
                          </a:solidFill>
                          <a:latin typeface="Calibri (MS) Bold"/>
                          <a:ea typeface="Calibri (MS) Bold"/>
                          <a:cs typeface="Calibri (MS) Bold"/>
                          <a:sym typeface="Calibri (MS) Bold"/>
                        </a:rPr>
                        <a:t>R1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Nilai turunan data ∈ 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Perbaikan tidak material → nilai turunan 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524587">
                <a:tc>
                  <a:txBody>
                    <a:bodyPr anchor="t" rtlCol="false"/>
                    <a:lstStyle/>
                    <a:p>
                      <a:pPr algn="ctr">
                        <a:lnSpc>
                          <a:spcPts val="1680"/>
                        </a:lnSpc>
                        <a:defRPr/>
                      </a:pPr>
                      <a:r>
                        <a:rPr lang="en-US" sz="1400" b="true">
                          <a:solidFill>
                            <a:srgbClr val="14313B"/>
                          </a:solidFill>
                          <a:latin typeface="Calibri (MS) Bold"/>
                          <a:ea typeface="Calibri (MS) Bold"/>
                          <a:cs typeface="Calibri (MS) Bold"/>
                          <a:sym typeface="Calibri (MS) Bold"/>
                        </a:rPr>
                        <a:t>R2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I menyentuh kedua ujung rentang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Tidak teridentifikasi → nilai turunan 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524587">
                <a:tc>
                  <a:txBody>
                    <a:bodyPr anchor="t" rtlCol="false"/>
                    <a:lstStyle/>
                    <a:p>
                      <a:pPr algn="ctr">
                        <a:lnSpc>
                          <a:spcPts val="1680"/>
                        </a:lnSpc>
                        <a:defRPr/>
                      </a:pPr>
                      <a:r>
                        <a:rPr lang="en-US" sz="1400" b="true">
                          <a:solidFill>
                            <a:srgbClr val="14313B"/>
                          </a:solidFill>
                          <a:latin typeface="Calibri (MS) Bold"/>
                          <a:ea typeface="Calibri (MS) Bold"/>
                          <a:cs typeface="Calibri (MS) Bold"/>
                          <a:sym typeface="Calibri (MS) Bold"/>
                        </a:rPr>
                        <a:t>R3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Optimum tepat di batas rentang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Diagnostik leave-one-year-out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524587">
                <a:tc>
                  <a:txBody>
                    <a:bodyPr anchor="t" rtlCol="false"/>
                    <a:lstStyle/>
                    <a:p>
                      <a:pPr algn="ctr">
                        <a:lnSpc>
                          <a:spcPts val="1680"/>
                        </a:lnSpc>
                        <a:defRPr/>
                      </a:pPr>
                      <a:r>
                        <a:rPr lang="en-US" sz="1400" b="true">
                          <a:solidFill>
                            <a:srgbClr val="14313B"/>
                          </a:solidFill>
                          <a:latin typeface="Calibri (MS) Bold"/>
                          <a:ea typeface="Calibri (MS) Bold"/>
                          <a:cs typeface="Calibri (MS) Bold"/>
                          <a:sym typeface="Calibri (MS) Bold"/>
                        </a:rPr>
                        <a:t>R4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Selain ketiganya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Optimum diadopsi bila lolos uji kompatibilitas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grpSp>
        <p:nvGrpSpPr>
          <p:cNvPr name="Group 92" id="92"/>
          <p:cNvGrpSpPr/>
          <p:nvPr/>
        </p:nvGrpSpPr>
        <p:grpSpPr>
          <a:xfrm rot="0">
            <a:off x="9271635" y="4882515"/>
            <a:ext cx="8202930" cy="4380738"/>
            <a:chOff x="0" y="0"/>
            <a:chExt cx="10937240" cy="5840984"/>
          </a:xfrm>
        </p:grpSpPr>
        <p:sp>
          <p:nvSpPr>
            <p:cNvPr name="Freeform 93" id="93"/>
            <p:cNvSpPr/>
            <p:nvPr/>
          </p:nvSpPr>
          <p:spPr>
            <a:xfrm flipH="false" flipV="false" rot="0">
              <a:off x="0" y="0"/>
              <a:ext cx="10937240" cy="5840984"/>
            </a:xfrm>
            <a:custGeom>
              <a:avLst/>
              <a:gdLst/>
              <a:ahLst/>
              <a:cxnLst/>
              <a:rect r="r" b="b" t="t" l="l"/>
              <a:pathLst>
                <a:path h="5840984" w="10937240">
                  <a:moveTo>
                    <a:pt x="0" y="171450"/>
                  </a:moveTo>
                  <a:cubicBezTo>
                    <a:pt x="0" y="76708"/>
                    <a:pt x="76708" y="0"/>
                    <a:pt x="171450" y="0"/>
                  </a:cubicBezTo>
                  <a:lnTo>
                    <a:pt x="10765790" y="0"/>
                  </a:lnTo>
                  <a:cubicBezTo>
                    <a:pt x="10860532" y="0"/>
                    <a:pt x="10937240" y="76708"/>
                    <a:pt x="10937240" y="171450"/>
                  </a:cubicBezTo>
                  <a:lnTo>
                    <a:pt x="10937240" y="5669534"/>
                  </a:lnTo>
                  <a:cubicBezTo>
                    <a:pt x="10937240" y="5764276"/>
                    <a:pt x="10860532" y="5840984"/>
                    <a:pt x="10765790" y="5840984"/>
                  </a:cubicBezTo>
                  <a:lnTo>
                    <a:pt x="171450" y="5840984"/>
                  </a:lnTo>
                  <a:cubicBezTo>
                    <a:pt x="76708" y="5840984"/>
                    <a:pt x="0" y="5764276"/>
                    <a:pt x="0" y="5669534"/>
                  </a:cubicBezTo>
                  <a:close/>
                </a:path>
              </a:pathLst>
            </a:custGeom>
            <a:solidFill>
              <a:srgbClr val="FFFFFF"/>
            </a:solidFill>
            <a:ln w="19050" cap="sq">
              <a:solidFill>
                <a:srgbClr val="CFE5E9"/>
              </a:solidFill>
              <a:prstDash val="solid"/>
              <a:miter/>
            </a:ln>
          </p:spPr>
        </p:sp>
      </p:grpSp>
      <p:sp>
        <p:nvSpPr>
          <p:cNvPr name="TextBox 94" id="94"/>
          <p:cNvSpPr txBox="true"/>
          <p:nvPr/>
        </p:nvSpPr>
        <p:spPr>
          <a:xfrm rot="0">
            <a:off x="9555480" y="4972050"/>
            <a:ext cx="7680960" cy="4229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Tahapan kalibrasi</a:t>
            </a:r>
          </a:p>
        </p:txBody>
      </p:sp>
      <p:sp>
        <p:nvSpPr>
          <p:cNvPr name="TextBox 95" id="95"/>
          <p:cNvSpPr txBox="true"/>
          <p:nvPr/>
        </p:nvSpPr>
        <p:spPr>
          <a:xfrm rot="0">
            <a:off x="9555480" y="5356098"/>
            <a:ext cx="7680960" cy="1977390"/>
          </a:xfrm>
          <a:prstGeom prst="rect">
            <a:avLst/>
          </a:prstGeom>
        </p:spPr>
        <p:txBody>
          <a:bodyPr anchor="t" rtlCol="false" tIns="0" lIns="0" bIns="0" rIns="0">
            <a:spAutoFit/>
          </a:bodyPr>
          <a:lstStyle/>
          <a:p>
            <a:pPr algn="l">
              <a:lnSpc>
                <a:spcPts val="1948"/>
              </a:lnSpc>
            </a:pPr>
            <a:r>
              <a:rPr lang="en-US" sz="1449" b="true">
                <a:solidFill>
                  <a:srgbClr val="14313B"/>
                </a:solidFill>
                <a:latin typeface="Calibri (MS) Bold"/>
                <a:ea typeface="Calibri (MS) Bold"/>
                <a:cs typeface="Calibri (MS) Bold"/>
                <a:sym typeface="Calibri (MS) Bold"/>
              </a:rPr>
              <a:t>Tahap 0 </a:t>
            </a:r>
            <a:r>
              <a:rPr lang="en-US" sz="1449">
                <a:solidFill>
                  <a:srgbClr val="14313B"/>
                </a:solidFill>
                <a:latin typeface="Calibri (MS)"/>
                <a:ea typeface="Calibri (MS)"/>
                <a:cs typeface="Calibri (MS)"/>
                <a:sym typeface="Calibri (MS)"/>
              </a:rPr>
              <a:t>koreksi penurunan LPE dan LPD (bukan kalibrasi)</a:t>
            </a:r>
          </a:p>
          <a:p>
            <a:pPr algn="l">
              <a:lnSpc>
                <a:spcPts val="1948"/>
              </a:lnSpc>
            </a:pPr>
            <a:r>
              <a:rPr lang="en-US" sz="1449" b="true">
                <a:solidFill>
                  <a:srgbClr val="14313B"/>
                </a:solidFill>
                <a:latin typeface="Calibri (MS) Bold"/>
                <a:ea typeface="Calibri (MS) Bold"/>
                <a:cs typeface="Calibri (MS) Bold"/>
                <a:sym typeface="Calibri (MS) Bold"/>
              </a:rPr>
              <a:t>Tahap 1 </a:t>
            </a:r>
            <a:r>
              <a:rPr lang="en-US" sz="1449">
                <a:solidFill>
                  <a:srgbClr val="14313B"/>
                </a:solidFill>
                <a:latin typeface="Calibri (MS)"/>
                <a:ea typeface="Calibri (MS)"/>
                <a:cs typeface="Calibri (MS)"/>
                <a:sym typeface="Calibri (MS)"/>
              </a:rPr>
              <a:t>akomodasi: TPK ambang &amp; laju demolisi (uji P1)</a:t>
            </a:r>
          </a:p>
          <a:p>
            <a:pPr algn="l">
              <a:lnSpc>
                <a:spcPts val="1948"/>
              </a:lnSpc>
            </a:pPr>
            <a:r>
              <a:rPr lang="en-US" sz="1449" b="true">
                <a:solidFill>
                  <a:srgbClr val="14313B"/>
                </a:solidFill>
                <a:latin typeface="Calibri (MS) Bold"/>
                <a:ea typeface="Calibri (MS) Bold"/>
                <a:cs typeface="Calibri (MS) Bold"/>
                <a:sym typeface="Calibri (MS) Bold"/>
              </a:rPr>
              <a:t>Tahap 2 </a:t>
            </a:r>
            <a:r>
              <a:rPr lang="en-US" sz="1449">
                <a:solidFill>
                  <a:srgbClr val="14313B"/>
                </a:solidFill>
                <a:latin typeface="Calibri (MS)"/>
                <a:ea typeface="Calibri (MS)"/>
                <a:cs typeface="Calibri (MS)"/>
                <a:sym typeface="Calibri (MS)"/>
              </a:rPr>
              <a:t>lahan: laju konversi dasar (uji P4)</a:t>
            </a:r>
          </a:p>
          <a:p>
            <a:pPr algn="l">
              <a:lnSpc>
                <a:spcPts val="1948"/>
              </a:lnSpc>
            </a:pPr>
            <a:r>
              <a:rPr lang="en-US" sz="1449" b="true">
                <a:solidFill>
                  <a:srgbClr val="14313B"/>
                </a:solidFill>
                <a:latin typeface="Calibri (MS) Bold"/>
                <a:ea typeface="Calibri (MS) Bold"/>
                <a:cs typeface="Calibri (MS) Bold"/>
                <a:sym typeface="Calibri (MS) Bold"/>
              </a:rPr>
              <a:t>Tahap 3 </a:t>
            </a:r>
            <a:r>
              <a:rPr lang="en-US" sz="1449">
                <a:solidFill>
                  <a:srgbClr val="14313B"/>
                </a:solidFill>
                <a:latin typeface="Calibri (MS)"/>
                <a:ea typeface="Calibri (MS)"/>
                <a:cs typeface="Calibri (MS)"/>
                <a:sym typeface="Calibri (MS)"/>
              </a:rPr>
              <a:t>wisatawan: LPE dan rasio LPD/LPE (diagnostik)</a:t>
            </a:r>
          </a:p>
          <a:p>
            <a:pPr algn="l">
              <a:lnSpc>
                <a:spcPts val="1948"/>
              </a:lnSpc>
            </a:pPr>
            <a:r>
              <a:rPr lang="en-US" sz="1449" b="true">
                <a:solidFill>
                  <a:srgbClr val="14313B"/>
                </a:solidFill>
                <a:latin typeface="Calibri (MS) Bold"/>
                <a:ea typeface="Calibri (MS) Bold"/>
                <a:cs typeface="Calibri (MS) Bold"/>
                <a:sym typeface="Calibri (MS) Bold"/>
              </a:rPr>
              <a:t>Tahap 4 </a:t>
            </a:r>
            <a:r>
              <a:rPr lang="en-US" sz="1449">
                <a:solidFill>
                  <a:srgbClr val="14313B"/>
                </a:solidFill>
                <a:latin typeface="Calibri (MS)"/>
                <a:ea typeface="Calibri (MS)"/>
                <a:cs typeface="Calibri (MS)"/>
                <a:sym typeface="Calibri (MS)"/>
              </a:rPr>
              <a:t>uji kompatibilitas pada model penuh</a:t>
            </a:r>
          </a:p>
        </p:txBody>
      </p:sp>
      <p:sp>
        <p:nvSpPr>
          <p:cNvPr name="TextBox 96" id="96"/>
          <p:cNvSpPr txBox="true"/>
          <p:nvPr/>
        </p:nvSpPr>
        <p:spPr>
          <a:xfrm rot="0">
            <a:off x="9555480" y="7267575"/>
            <a:ext cx="7680960" cy="367665"/>
          </a:xfrm>
          <a:prstGeom prst="rect">
            <a:avLst/>
          </a:prstGeom>
        </p:spPr>
        <p:txBody>
          <a:bodyPr anchor="t" rtlCol="false" tIns="0" lIns="0" bIns="0" rIns="0">
            <a:spAutoFit/>
          </a:bodyPr>
          <a:lstStyle/>
          <a:p>
            <a:pPr algn="l">
              <a:lnSpc>
                <a:spcPts val="1814"/>
              </a:lnSpc>
            </a:pPr>
            <a:r>
              <a:rPr lang="en-US" sz="1350" b="true">
                <a:solidFill>
                  <a:srgbClr val="0B5E6E"/>
                </a:solidFill>
                <a:latin typeface="Calibri (MS) Bold"/>
                <a:ea typeface="Calibri (MS) Bold"/>
                <a:cs typeface="Calibri (MS) Bold"/>
                <a:sym typeface="Calibri (MS) Bold"/>
              </a:rPr>
              <a:t>Pemicu penolakan pada Tahap 4 (ambang 1,05)</a:t>
            </a:r>
          </a:p>
        </p:txBody>
      </p:sp>
      <p:sp>
        <p:nvSpPr>
          <p:cNvPr name="TextBox 97" id="97"/>
          <p:cNvSpPr txBox="true"/>
          <p:nvPr/>
        </p:nvSpPr>
        <p:spPr>
          <a:xfrm rot="0">
            <a:off x="9555480" y="7615047"/>
            <a:ext cx="7680960" cy="1602105"/>
          </a:xfrm>
          <a:prstGeom prst="rect">
            <a:avLst/>
          </a:prstGeom>
        </p:spPr>
        <p:txBody>
          <a:bodyPr anchor="t" rtlCol="false" tIns="0" lIns="0" bIns="0" rIns="0">
            <a:spAutoFit/>
          </a:bodyPr>
          <a:lstStyle/>
          <a:p>
            <a:pPr algn="l">
              <a:lnSpc>
                <a:spcPts val="1814"/>
              </a:lnSpc>
            </a:pPr>
            <a:r>
              <a:rPr lang="en-US" sz="1350" b="true">
                <a:solidFill>
                  <a:srgbClr val="14313B"/>
                </a:solidFill>
                <a:latin typeface="Calibri (MS) Bold"/>
                <a:ea typeface="Calibri (MS) Bold"/>
                <a:cs typeface="Calibri (MS) Bold"/>
                <a:sym typeface="Calibri (MS) Bold"/>
              </a:rPr>
              <a:t>M1 </a:t>
            </a:r>
            <a:r>
              <a:rPr lang="en-US" sz="1350">
                <a:solidFill>
                  <a:srgbClr val="14313B"/>
                </a:solidFill>
                <a:latin typeface="Calibri (MS)"/>
                <a:ea typeface="Calibri (MS)"/>
                <a:cs typeface="Calibri (MS)"/>
                <a:sym typeface="Calibri (MS)"/>
              </a:rPr>
              <a:t>NRMSE variabel target pada uji penuh &gt; 1,05 × nilai sebelum kalibrasi</a:t>
            </a:r>
          </a:p>
          <a:p>
            <a:pPr algn="l">
              <a:lnSpc>
                <a:spcPts val="1814"/>
              </a:lnSpc>
            </a:pPr>
            <a:r>
              <a:rPr lang="en-US" sz="1350" b="true">
                <a:solidFill>
                  <a:srgbClr val="14313B"/>
                </a:solidFill>
                <a:latin typeface="Calibri (MS) Bold"/>
                <a:ea typeface="Calibri (MS) Bold"/>
                <a:cs typeface="Calibri (MS) Bold"/>
                <a:sym typeface="Calibri (MS) Bold"/>
              </a:rPr>
              <a:t>M2 </a:t>
            </a:r>
            <a:r>
              <a:rPr lang="en-US" sz="1350">
                <a:solidFill>
                  <a:srgbClr val="14313B"/>
                </a:solidFill>
                <a:latin typeface="Calibri (MS)"/>
                <a:ea typeface="Calibri (MS)"/>
                <a:cs typeface="Calibri (MS)"/>
                <a:sym typeface="Calibri (MS)"/>
              </a:rPr>
              <a:t>rata-rata NRMSE 9 variabel uji penuh &gt; 1,05 × sebelumnya</a:t>
            </a:r>
          </a:p>
          <a:p>
            <a:pPr algn="l">
              <a:lnSpc>
                <a:spcPts val="1814"/>
              </a:lnSpc>
            </a:pPr>
            <a:r>
              <a:rPr lang="en-US" sz="1350" b="true">
                <a:solidFill>
                  <a:srgbClr val="14313B"/>
                </a:solidFill>
                <a:latin typeface="Calibri (MS) Bold"/>
                <a:ea typeface="Calibri (MS) Bold"/>
                <a:cs typeface="Calibri (MS) Bold"/>
                <a:sym typeface="Calibri (MS) Bold"/>
              </a:rPr>
              <a:t>S </a:t>
            </a:r>
            <a:r>
              <a:rPr lang="en-US" sz="1350">
                <a:solidFill>
                  <a:srgbClr val="14313B"/>
                </a:solidFill>
                <a:latin typeface="Calibri (MS)"/>
                <a:ea typeface="Calibri (MS)"/>
                <a:cs typeface="Calibri (MS)"/>
                <a:sym typeface="Calibri (MS)"/>
              </a:rPr>
              <a:t>uji kondisi ekstrem gagal / aturan fisik dilanggar</a:t>
            </a:r>
          </a:p>
          <a:p>
            <a:pPr algn="l">
              <a:lnSpc>
                <a:spcPts val="1814"/>
              </a:lnSpc>
            </a:pPr>
            <a:r>
              <a:rPr lang="en-US" sz="1350" b="true">
                <a:solidFill>
                  <a:srgbClr val="14313B"/>
                </a:solidFill>
                <a:latin typeface="Calibri (MS) Bold"/>
                <a:ea typeface="Calibri (MS) Bold"/>
                <a:cs typeface="Calibri (MS) Bold"/>
                <a:sym typeface="Calibri (MS) Bold"/>
              </a:rPr>
              <a:t>T </a:t>
            </a:r>
            <a:r>
              <a:rPr lang="en-US" sz="1350">
                <a:solidFill>
                  <a:srgbClr val="14313B"/>
                </a:solidFill>
                <a:latin typeface="Calibri (MS)"/>
                <a:ea typeface="Calibri (MS)"/>
                <a:cs typeface="Calibri (MS)"/>
                <a:sym typeface="Calibri (MS)"/>
              </a:rPr>
              <a:t>simulasi tidak stabil pada horizon yang diperpanjang</a:t>
            </a:r>
          </a:p>
        </p:txBody>
      </p:sp>
      <p:sp>
        <p:nvSpPr>
          <p:cNvPr id="98" name="TextBox 9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sp>
        <p:nvSpPr>
          <p:cNvPr id="99"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4.6.1–4.6.5 · Hasil Kalibrasi Tahap 0–4</a:t>
            </a:r>
          </a:p>
          <a:p>
            <a:pPr algn="l">
              <a:lnSpc>
                <a:spcPct val="100000"/>
              </a:lnSpc>
            </a:pPr>
            <a:r>
              <a:rPr lang="en-US" sz="3500" b="true">
                <a:solidFill>
                  <a:srgbClr val="0B5E6E"/>
                </a:solidFill>
                <a:latin typeface="Calibri (MS) Bold"/>
                <a:ea typeface="Calibri (MS) Bold"/>
                <a:cs typeface="Calibri (MS) Bold"/>
                <a:sym typeface="Calibri (MS) Bold"/>
              </a:rPr>
              <a:t>Kalibrasi memvalidasi parameter turunan data — tidak ada yang diganti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400300"/>
            <a:ext cx="3154680" cy="5143500"/>
            <a:chOff x="0" y="0"/>
            <a:chExt cx="4206240" cy="6858000"/>
          </a:xfrm>
        </p:grpSpPr>
        <p:sp>
          <p:nvSpPr>
            <p:cNvPr name="Freeform 53" id="53"/>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sp>
      </p:grpSp>
      <p:sp>
        <p:nvSpPr>
          <p:cNvPr name="TextBox 54" id="54"/>
          <p:cNvSpPr txBox="true"/>
          <p:nvPr/>
        </p:nvSpPr>
        <p:spPr>
          <a:xfrm rot="0">
            <a:off x="1097280" y="2595372"/>
            <a:ext cx="2606040" cy="38100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0</a:t>
            </a:r>
          </a:p>
        </p:txBody>
      </p:sp>
      <p:sp>
        <p:nvSpPr>
          <p:cNvPr name="TextBox 55" id="55"/>
          <p:cNvSpPr txBox="true"/>
          <p:nvPr/>
        </p:nvSpPr>
        <p:spPr>
          <a:xfrm rot="0">
            <a:off x="1097280" y="2903220"/>
            <a:ext cx="2606040" cy="107442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Koreksi penurunan</a:t>
            </a:r>
          </a:p>
        </p:txBody>
      </p:sp>
      <p:sp>
        <p:nvSpPr>
          <p:cNvPr name="TextBox 56" id="56"/>
          <p:cNvSpPr txBox="true"/>
          <p:nvPr/>
        </p:nvSpPr>
        <p:spPr>
          <a:xfrm rot="0">
            <a:off x="1097280" y="3970020"/>
            <a:ext cx="2606040" cy="26136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LPE 0,26864 → 0,27726; LPD 0,20148 → 0,207945, memakai indeks daya tarik 2024 (0,99223) sesuai integrasi Euler</a:t>
            </a:r>
          </a:p>
        </p:txBody>
      </p:sp>
      <p:grpSp>
        <p:nvGrpSpPr>
          <p:cNvPr name="Group 57" id="57"/>
          <p:cNvGrpSpPr/>
          <p:nvPr/>
        </p:nvGrpSpPr>
        <p:grpSpPr>
          <a:xfrm rot="0">
            <a:off x="1028700" y="6720840"/>
            <a:ext cx="2743200" cy="548640"/>
            <a:chOff x="0" y="0"/>
            <a:chExt cx="3657600" cy="731520"/>
          </a:xfrm>
        </p:grpSpPr>
        <p:sp>
          <p:nvSpPr>
            <p:cNvPr name="Freeform 58" id="58"/>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FFD23B"/>
            </a:solidFill>
          </p:spPr>
        </p:sp>
      </p:grpSp>
      <p:grpSp>
        <p:nvGrpSpPr>
          <p:cNvPr name="Group 59" id="59"/>
          <p:cNvGrpSpPr/>
          <p:nvPr/>
        </p:nvGrpSpPr>
        <p:grpSpPr>
          <a:xfrm rot="0">
            <a:off x="1028700" y="6720840"/>
            <a:ext cx="2743200" cy="548640"/>
            <a:chOff x="0" y="0"/>
            <a:chExt cx="3657600" cy="731520"/>
          </a:xfrm>
        </p:grpSpPr>
        <p:sp>
          <p:nvSpPr>
            <p:cNvPr name="Freeform 60" id="60"/>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sp>
      </p:grpSp>
      <p:grpSp>
        <p:nvGrpSpPr>
          <p:cNvPr name="Group 61" id="61"/>
          <p:cNvGrpSpPr/>
          <p:nvPr/>
        </p:nvGrpSpPr>
        <p:grpSpPr>
          <a:xfrm rot="0">
            <a:off x="1028700" y="6699409"/>
            <a:ext cx="2743200" cy="570071"/>
            <a:chOff x="0" y="0"/>
            <a:chExt cx="3657600" cy="760095"/>
          </a:xfrm>
        </p:grpSpPr>
        <p:sp>
          <p:nvSpPr>
            <p:cNvPr name="Freeform 62" id="62"/>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762" r="0" b="-43762"/>
              </a:stretch>
            </a:blipFill>
          </p:spPr>
        </p:sp>
        <p:sp>
          <p:nvSpPr>
            <p:cNvPr name="TextBox 63" id="63"/>
            <p:cNvSpPr txBox="true"/>
            <p:nvPr/>
          </p:nvSpPr>
          <p:spPr>
            <a:xfrm>
              <a:off x="0" y="-28575"/>
              <a:ext cx="3657600" cy="788670"/>
            </a:xfrm>
            <a:prstGeom prst="rect">
              <a:avLst/>
            </a:prstGeom>
          </p:spPr>
          <p:txBody>
            <a:bodyPr anchor="ctr" rtlCol="false" tIns="0" lIns="0" bIns="0" rIns="0"/>
            <a:lstStyle/>
            <a:p>
              <a:pPr algn="ctr">
                <a:lnSpc>
                  <a:spcPts val="1980"/>
                </a:lnSpc>
              </a:pPr>
              <a:r>
                <a:rPr lang="en-US" sz="1650" b="true">
                  <a:solidFill>
                    <a:srgbClr val="14313B"/>
                  </a:solidFill>
                  <a:latin typeface="Calibri (MS) Bold"/>
                  <a:ea typeface="Calibri (MS) Bold"/>
                  <a:cs typeface="Calibri (MS) Bold"/>
                  <a:sym typeface="Calibri (MS) Bold"/>
                </a:rPr>
                <a:t>Koreksi, bukan kalibrasi</a:t>
              </a:r>
            </a:p>
          </p:txBody>
        </p:sp>
      </p:grpSp>
      <p:grpSp>
        <p:nvGrpSpPr>
          <p:cNvPr name="Group 64" id="64"/>
          <p:cNvGrpSpPr/>
          <p:nvPr/>
        </p:nvGrpSpPr>
        <p:grpSpPr>
          <a:xfrm rot="0">
            <a:off x="4197096" y="2400300"/>
            <a:ext cx="3154680" cy="5143500"/>
            <a:chOff x="0" y="0"/>
            <a:chExt cx="4206240" cy="6858000"/>
          </a:xfrm>
        </p:grpSpPr>
        <p:sp>
          <p:nvSpPr>
            <p:cNvPr name="Freeform 65" id="65"/>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sp>
      </p:grpSp>
      <p:sp>
        <p:nvSpPr>
          <p:cNvPr name="TextBox 66" id="66"/>
          <p:cNvSpPr txBox="true"/>
          <p:nvPr/>
        </p:nvSpPr>
        <p:spPr>
          <a:xfrm rot="0">
            <a:off x="4471416" y="2595372"/>
            <a:ext cx="2606040" cy="38100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1</a:t>
            </a:r>
          </a:p>
        </p:txBody>
      </p:sp>
      <p:sp>
        <p:nvSpPr>
          <p:cNvPr name="TextBox 67" id="67"/>
          <p:cNvSpPr txBox="true"/>
          <p:nvPr/>
        </p:nvSpPr>
        <p:spPr>
          <a:xfrm rot="0">
            <a:off x="4471416" y="2903220"/>
            <a:ext cx="2606040" cy="107442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Subsistem akomodasi</a:t>
            </a:r>
          </a:p>
        </p:txBody>
      </p:sp>
      <p:sp>
        <p:nvSpPr>
          <p:cNvPr name="TextBox 68" id="68"/>
          <p:cNvSpPr txBox="true"/>
          <p:nvPr/>
        </p:nvSpPr>
        <p:spPr>
          <a:xfrm rot="0">
            <a:off x="4471416" y="3970020"/>
            <a:ext cx="2606040" cy="26136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TPK ambang dan laju demolisi dicari menyeluruh. Optimum TPK (0,35) di batas rentang dan gagal generalisasi lintas periode</a:t>
            </a:r>
          </a:p>
        </p:txBody>
      </p:sp>
      <p:grpSp>
        <p:nvGrpSpPr>
          <p:cNvPr name="Group 69" id="69"/>
          <p:cNvGrpSpPr/>
          <p:nvPr/>
        </p:nvGrpSpPr>
        <p:grpSpPr>
          <a:xfrm rot="0">
            <a:off x="4402836" y="6720840"/>
            <a:ext cx="2743200" cy="548640"/>
            <a:chOff x="0" y="0"/>
            <a:chExt cx="3657600" cy="731520"/>
          </a:xfrm>
        </p:grpSpPr>
        <p:sp>
          <p:nvSpPr>
            <p:cNvPr name="Freeform 70" id="70"/>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EAF8FA"/>
            </a:solidFill>
          </p:spPr>
        </p:sp>
      </p:grpSp>
      <p:grpSp>
        <p:nvGrpSpPr>
          <p:cNvPr name="Group 71" id="71"/>
          <p:cNvGrpSpPr/>
          <p:nvPr/>
        </p:nvGrpSpPr>
        <p:grpSpPr>
          <a:xfrm rot="0">
            <a:off x="4402836" y="6720840"/>
            <a:ext cx="2743200" cy="548640"/>
            <a:chOff x="0" y="0"/>
            <a:chExt cx="3657600" cy="731520"/>
          </a:xfrm>
        </p:grpSpPr>
        <p:sp>
          <p:nvSpPr>
            <p:cNvPr name="Freeform 72" id="72"/>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sp>
      </p:grpSp>
      <p:grpSp>
        <p:nvGrpSpPr>
          <p:cNvPr name="Group 73" id="73"/>
          <p:cNvGrpSpPr/>
          <p:nvPr/>
        </p:nvGrpSpPr>
        <p:grpSpPr>
          <a:xfrm rot="0">
            <a:off x="4402836" y="6699409"/>
            <a:ext cx="2743200" cy="570071"/>
            <a:chOff x="0" y="0"/>
            <a:chExt cx="3657600" cy="760095"/>
          </a:xfrm>
        </p:grpSpPr>
        <p:sp>
          <p:nvSpPr>
            <p:cNvPr name="Freeform 74" id="74"/>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762" r="0" b="-43762"/>
              </a:stretch>
            </a:blipFill>
          </p:spPr>
        </p:sp>
        <p:sp>
          <p:nvSpPr>
            <p:cNvPr name="TextBox 75" id="75"/>
            <p:cNvSpPr txBox="true"/>
            <p:nvPr/>
          </p:nvSpPr>
          <p:spPr>
            <a:xfrm>
              <a:off x="0" y="-28575"/>
              <a:ext cx="3657600" cy="788670"/>
            </a:xfrm>
            <a:prstGeom prst="rect">
              <a:avLst/>
            </a:prstGeom>
          </p:spPr>
          <p:txBody>
            <a:bodyPr anchor="ctr" rtlCol="false" tIns="0" lIns="0" bIns="0" rIns="0"/>
            <a:lstStyle/>
            <a:p>
              <a:pPr algn="ctr">
                <a:lnSpc>
                  <a:spcPts val="1980"/>
                </a:lnSpc>
              </a:pPr>
              <a:r>
                <a:rPr lang="en-US" sz="1650" b="true">
                  <a:solidFill>
                    <a:srgbClr val="0B5E6E"/>
                  </a:solidFill>
                  <a:latin typeface="Calibri (MS) Bold"/>
                  <a:ea typeface="Calibri (MS) Bold"/>
                  <a:cs typeface="Calibri (MS) Bold"/>
                  <a:sym typeface="Calibri (MS) Bold"/>
                </a:rPr>
                <a:t>Dipertahankan</a:t>
              </a:r>
            </a:p>
          </p:txBody>
        </p:sp>
      </p:grpSp>
      <p:grpSp>
        <p:nvGrpSpPr>
          <p:cNvPr name="Group 76" id="76"/>
          <p:cNvGrpSpPr/>
          <p:nvPr/>
        </p:nvGrpSpPr>
        <p:grpSpPr>
          <a:xfrm rot="0">
            <a:off x="7571232" y="2400300"/>
            <a:ext cx="3154680" cy="5143500"/>
            <a:chOff x="0" y="0"/>
            <a:chExt cx="4206240" cy="6858000"/>
          </a:xfrm>
        </p:grpSpPr>
        <p:sp>
          <p:nvSpPr>
            <p:cNvPr name="Freeform 77" id="77"/>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sp>
      </p:grpSp>
      <p:sp>
        <p:nvSpPr>
          <p:cNvPr name="TextBox 78" id="78"/>
          <p:cNvSpPr txBox="true"/>
          <p:nvPr/>
        </p:nvSpPr>
        <p:spPr>
          <a:xfrm rot="0">
            <a:off x="7845552" y="2595372"/>
            <a:ext cx="2606040" cy="38100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2</a:t>
            </a:r>
          </a:p>
        </p:txBody>
      </p:sp>
      <p:sp>
        <p:nvSpPr>
          <p:cNvPr name="TextBox 79" id="79"/>
          <p:cNvSpPr txBox="true"/>
          <p:nvPr/>
        </p:nvSpPr>
        <p:spPr>
          <a:xfrm rot="0">
            <a:off x="7845552" y="2903220"/>
            <a:ext cx="2606040" cy="107442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Subsistem lahan</a:t>
            </a:r>
          </a:p>
        </p:txBody>
      </p:sp>
      <p:sp>
        <p:nvSpPr>
          <p:cNvPr name="TextBox 80" id="80"/>
          <p:cNvSpPr txBox="true"/>
          <p:nvPr/>
        </p:nvSpPr>
        <p:spPr>
          <a:xfrm rot="0">
            <a:off x="7845552" y="3970020"/>
            <a:ext cx="2606040" cy="26136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Laju konversi dasar optimum 0,0638662 (selang 95% LOGEST 0,0034–0,0851); memenuhi kriteria adopsi</a:t>
            </a:r>
          </a:p>
        </p:txBody>
      </p:sp>
      <p:grpSp>
        <p:nvGrpSpPr>
          <p:cNvPr name="Group 81" id="81"/>
          <p:cNvGrpSpPr/>
          <p:nvPr/>
        </p:nvGrpSpPr>
        <p:grpSpPr>
          <a:xfrm rot="0">
            <a:off x="7776972" y="6720840"/>
            <a:ext cx="2743200" cy="548640"/>
            <a:chOff x="0" y="0"/>
            <a:chExt cx="3657600" cy="731520"/>
          </a:xfrm>
        </p:grpSpPr>
        <p:sp>
          <p:nvSpPr>
            <p:cNvPr name="Freeform 82" id="82"/>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FFD23B"/>
            </a:solidFill>
          </p:spPr>
        </p:sp>
      </p:grpSp>
      <p:grpSp>
        <p:nvGrpSpPr>
          <p:cNvPr name="Group 83" id="83"/>
          <p:cNvGrpSpPr/>
          <p:nvPr/>
        </p:nvGrpSpPr>
        <p:grpSpPr>
          <a:xfrm rot="0">
            <a:off x="7776972" y="6720840"/>
            <a:ext cx="2743200" cy="548640"/>
            <a:chOff x="0" y="0"/>
            <a:chExt cx="3657600" cy="731520"/>
          </a:xfrm>
        </p:grpSpPr>
        <p:sp>
          <p:nvSpPr>
            <p:cNvPr name="Freeform 84" id="84"/>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sp>
      </p:grpSp>
      <p:grpSp>
        <p:nvGrpSpPr>
          <p:cNvPr name="Group 85" id="85"/>
          <p:cNvGrpSpPr/>
          <p:nvPr/>
        </p:nvGrpSpPr>
        <p:grpSpPr>
          <a:xfrm rot="0">
            <a:off x="7776972" y="6699409"/>
            <a:ext cx="2743200" cy="570071"/>
            <a:chOff x="0" y="0"/>
            <a:chExt cx="3657600" cy="760095"/>
          </a:xfrm>
        </p:grpSpPr>
        <p:sp>
          <p:nvSpPr>
            <p:cNvPr name="Freeform 86" id="86"/>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762" r="0" b="-43762"/>
              </a:stretch>
            </a:blipFill>
          </p:spPr>
        </p:sp>
        <p:sp>
          <p:nvSpPr>
            <p:cNvPr name="TextBox 87" id="87"/>
            <p:cNvSpPr txBox="true"/>
            <p:nvPr/>
          </p:nvSpPr>
          <p:spPr>
            <a:xfrm>
              <a:off x="0" y="-28575"/>
              <a:ext cx="3657600" cy="788670"/>
            </a:xfrm>
            <a:prstGeom prst="rect">
              <a:avLst/>
            </a:prstGeom>
          </p:spPr>
          <p:txBody>
            <a:bodyPr anchor="ctr" rtlCol="false" tIns="0" lIns="0" bIns="0" rIns="0"/>
            <a:lstStyle/>
            <a:p>
              <a:pPr algn="ctr">
                <a:lnSpc>
                  <a:spcPts val="1980"/>
                </a:lnSpc>
              </a:pPr>
              <a:r>
                <a:rPr lang="en-US" sz="1650" b="true">
                  <a:solidFill>
                    <a:srgbClr val="14313B"/>
                  </a:solidFill>
                  <a:latin typeface="Calibri (MS) Bold"/>
                  <a:ea typeface="Calibri (MS) Bold"/>
                  <a:cs typeface="Calibri (MS) Bold"/>
                  <a:sym typeface="Calibri (MS) Bold"/>
                </a:rPr>
                <a:t>Sementara diadopsi</a:t>
              </a:r>
            </a:p>
          </p:txBody>
        </p:sp>
      </p:grpSp>
      <p:grpSp>
        <p:nvGrpSpPr>
          <p:cNvPr name="Group 88" id="88"/>
          <p:cNvGrpSpPr/>
          <p:nvPr/>
        </p:nvGrpSpPr>
        <p:grpSpPr>
          <a:xfrm rot="0">
            <a:off x="10945368" y="2400300"/>
            <a:ext cx="3154680" cy="5143500"/>
            <a:chOff x="0" y="0"/>
            <a:chExt cx="4206240" cy="6858000"/>
          </a:xfrm>
        </p:grpSpPr>
        <p:sp>
          <p:nvSpPr>
            <p:cNvPr name="Freeform 89" id="89"/>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sp>
      </p:grpSp>
      <p:sp>
        <p:nvSpPr>
          <p:cNvPr name="TextBox 90" id="90"/>
          <p:cNvSpPr txBox="true"/>
          <p:nvPr/>
        </p:nvSpPr>
        <p:spPr>
          <a:xfrm rot="0">
            <a:off x="11219688" y="2595372"/>
            <a:ext cx="2606040" cy="38100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3</a:t>
            </a:r>
          </a:p>
        </p:txBody>
      </p:sp>
      <p:sp>
        <p:nvSpPr>
          <p:cNvPr name="TextBox 91" id="91"/>
          <p:cNvSpPr txBox="true"/>
          <p:nvPr/>
        </p:nvSpPr>
        <p:spPr>
          <a:xfrm rot="0">
            <a:off x="11219688" y="2903220"/>
            <a:ext cx="2606040" cy="107442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Subsistem wisatawan</a:t>
            </a:r>
          </a:p>
        </p:txBody>
      </p:sp>
      <p:sp>
        <p:nvSpPr>
          <p:cNvPr name="TextBox 92" id="92"/>
          <p:cNvSpPr txBox="true"/>
          <p:nvPr/>
        </p:nvSpPr>
        <p:spPr>
          <a:xfrm rot="0">
            <a:off x="11219688" y="3970020"/>
            <a:ext cx="2606040" cy="26136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LPE dan LPD tidak teridentifikasi terpisah; data hanya mengidentifikasi selisih bersihnya → diagnostik saja</a:t>
            </a:r>
          </a:p>
        </p:txBody>
      </p:sp>
      <p:grpSp>
        <p:nvGrpSpPr>
          <p:cNvPr name="Group 93" id="93"/>
          <p:cNvGrpSpPr/>
          <p:nvPr/>
        </p:nvGrpSpPr>
        <p:grpSpPr>
          <a:xfrm rot="0">
            <a:off x="11151108" y="6720840"/>
            <a:ext cx="2743200" cy="548640"/>
            <a:chOff x="0" y="0"/>
            <a:chExt cx="3657600" cy="731520"/>
          </a:xfrm>
        </p:grpSpPr>
        <p:sp>
          <p:nvSpPr>
            <p:cNvPr name="Freeform 94" id="94"/>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EAF8FA"/>
            </a:solidFill>
          </p:spPr>
        </p:sp>
      </p:grpSp>
      <p:grpSp>
        <p:nvGrpSpPr>
          <p:cNvPr name="Group 95" id="95"/>
          <p:cNvGrpSpPr/>
          <p:nvPr/>
        </p:nvGrpSpPr>
        <p:grpSpPr>
          <a:xfrm rot="0">
            <a:off x="11151108" y="6720840"/>
            <a:ext cx="2743200" cy="548640"/>
            <a:chOff x="0" y="0"/>
            <a:chExt cx="3657600" cy="731520"/>
          </a:xfrm>
        </p:grpSpPr>
        <p:sp>
          <p:nvSpPr>
            <p:cNvPr name="Freeform 96" id="96"/>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sp>
      </p:grpSp>
      <p:grpSp>
        <p:nvGrpSpPr>
          <p:cNvPr name="Group 97" id="97"/>
          <p:cNvGrpSpPr/>
          <p:nvPr/>
        </p:nvGrpSpPr>
        <p:grpSpPr>
          <a:xfrm rot="0">
            <a:off x="11151108" y="6699409"/>
            <a:ext cx="2743200" cy="570071"/>
            <a:chOff x="0" y="0"/>
            <a:chExt cx="3657600" cy="760095"/>
          </a:xfrm>
        </p:grpSpPr>
        <p:sp>
          <p:nvSpPr>
            <p:cNvPr name="Freeform 98" id="98"/>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762" r="0" b="-43762"/>
              </a:stretch>
            </a:blipFill>
          </p:spPr>
        </p:sp>
        <p:sp>
          <p:nvSpPr>
            <p:cNvPr name="TextBox 99" id="99"/>
            <p:cNvSpPr txBox="true"/>
            <p:nvPr/>
          </p:nvSpPr>
          <p:spPr>
            <a:xfrm>
              <a:off x="0" y="-28575"/>
              <a:ext cx="3657600" cy="788670"/>
            </a:xfrm>
            <a:prstGeom prst="rect">
              <a:avLst/>
            </a:prstGeom>
          </p:spPr>
          <p:txBody>
            <a:bodyPr anchor="ctr" rtlCol="false" tIns="0" lIns="0" bIns="0" rIns="0"/>
            <a:lstStyle/>
            <a:p>
              <a:pPr algn="ctr">
                <a:lnSpc>
                  <a:spcPts val="1980"/>
                </a:lnSpc>
              </a:pPr>
              <a:r>
                <a:rPr lang="en-US" sz="1650" b="true">
                  <a:solidFill>
                    <a:srgbClr val="0B5E6E"/>
                  </a:solidFill>
                  <a:latin typeface="Calibri (MS) Bold"/>
                  <a:ea typeface="Calibri (MS) Bold"/>
                  <a:cs typeface="Calibri (MS) Bold"/>
                  <a:sym typeface="Calibri (MS) Bold"/>
                </a:rPr>
                <a:t>Dipertahankan</a:t>
              </a:r>
            </a:p>
          </p:txBody>
        </p:sp>
      </p:grpSp>
      <p:grpSp>
        <p:nvGrpSpPr>
          <p:cNvPr name="Group 100" id="100"/>
          <p:cNvGrpSpPr/>
          <p:nvPr/>
        </p:nvGrpSpPr>
        <p:grpSpPr>
          <a:xfrm rot="0">
            <a:off x="14319504" y="2400300"/>
            <a:ext cx="3154680" cy="5143500"/>
            <a:chOff x="0" y="0"/>
            <a:chExt cx="4206240" cy="6858000"/>
          </a:xfrm>
        </p:grpSpPr>
        <p:sp>
          <p:nvSpPr>
            <p:cNvPr name="Freeform 101" id="101"/>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sp>
      </p:grpSp>
      <p:sp>
        <p:nvSpPr>
          <p:cNvPr name="TextBox 102" id="102"/>
          <p:cNvSpPr txBox="true"/>
          <p:nvPr/>
        </p:nvSpPr>
        <p:spPr>
          <a:xfrm rot="0">
            <a:off x="14593824" y="2595372"/>
            <a:ext cx="2606040" cy="38100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4</a:t>
            </a:r>
          </a:p>
        </p:txBody>
      </p:sp>
      <p:sp>
        <p:nvSpPr>
          <p:cNvPr name="TextBox 103" id="103"/>
          <p:cNvSpPr txBox="true"/>
          <p:nvPr/>
        </p:nvSpPr>
        <p:spPr>
          <a:xfrm rot="0">
            <a:off x="14593824" y="2903220"/>
            <a:ext cx="2606040" cy="107442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Uji kompatibilitas</a:t>
            </a:r>
          </a:p>
        </p:txBody>
      </p:sp>
      <p:sp>
        <p:nvSpPr>
          <p:cNvPr name="TextBox 104" id="104"/>
          <p:cNvSpPr txBox="true"/>
          <p:nvPr/>
        </p:nvSpPr>
        <p:spPr>
          <a:xfrm rot="0">
            <a:off x="14593824" y="3970020"/>
            <a:ext cx="2606040" cy="26136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Hasil Tahap 2 memburuk pada model penuh (rasio 1,32 &gt; 1,05) → kembali ke 0,0436052</a:t>
            </a:r>
          </a:p>
        </p:txBody>
      </p:sp>
      <p:grpSp>
        <p:nvGrpSpPr>
          <p:cNvPr name="Group 105" id="105"/>
          <p:cNvGrpSpPr/>
          <p:nvPr/>
        </p:nvGrpSpPr>
        <p:grpSpPr>
          <a:xfrm rot="0">
            <a:off x="14525244" y="6720840"/>
            <a:ext cx="2743200" cy="548640"/>
            <a:chOff x="0" y="0"/>
            <a:chExt cx="3657600" cy="731520"/>
          </a:xfrm>
        </p:grpSpPr>
        <p:sp>
          <p:nvSpPr>
            <p:cNvPr name="Freeform 106" id="106"/>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E4604F"/>
            </a:solidFill>
          </p:spPr>
        </p:sp>
      </p:grpSp>
      <p:grpSp>
        <p:nvGrpSpPr>
          <p:cNvPr name="Group 107" id="107"/>
          <p:cNvGrpSpPr/>
          <p:nvPr/>
        </p:nvGrpSpPr>
        <p:grpSpPr>
          <a:xfrm rot="0">
            <a:off x="14525244" y="6720840"/>
            <a:ext cx="2743200" cy="548640"/>
            <a:chOff x="0" y="0"/>
            <a:chExt cx="3657600" cy="731520"/>
          </a:xfrm>
        </p:grpSpPr>
        <p:sp>
          <p:nvSpPr>
            <p:cNvPr name="Freeform 108" id="108"/>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sp>
      </p:grpSp>
      <p:grpSp>
        <p:nvGrpSpPr>
          <p:cNvPr name="Group 109" id="109"/>
          <p:cNvGrpSpPr/>
          <p:nvPr/>
        </p:nvGrpSpPr>
        <p:grpSpPr>
          <a:xfrm rot="0">
            <a:off x="14525244" y="6699409"/>
            <a:ext cx="2743200" cy="570071"/>
            <a:chOff x="0" y="0"/>
            <a:chExt cx="3657600" cy="760095"/>
          </a:xfrm>
        </p:grpSpPr>
        <p:sp>
          <p:nvSpPr>
            <p:cNvPr name="Freeform 110" id="110"/>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762" r="0" b="-43762"/>
              </a:stretch>
            </a:blipFill>
          </p:spPr>
        </p:sp>
        <p:sp>
          <p:nvSpPr>
            <p:cNvPr name="TextBox 111" id="111"/>
            <p:cNvSpPr txBox="true"/>
            <p:nvPr/>
          </p:nvSpPr>
          <p:spPr>
            <a:xfrm>
              <a:off x="0" y="-28575"/>
              <a:ext cx="3657600" cy="788670"/>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Ditolak</a:t>
              </a:r>
            </a:p>
          </p:txBody>
        </p:sp>
      </p:grpSp>
      <p:grpSp>
        <p:nvGrpSpPr>
          <p:cNvPr name="Group 112" id="112"/>
          <p:cNvGrpSpPr/>
          <p:nvPr/>
        </p:nvGrpSpPr>
        <p:grpSpPr>
          <a:xfrm rot="0">
            <a:off x="822960" y="7886700"/>
            <a:ext cx="16637508" cy="1371600"/>
            <a:chOff x="0" y="0"/>
            <a:chExt cx="22183344" cy="1828800"/>
          </a:xfrm>
        </p:grpSpPr>
        <p:sp>
          <p:nvSpPr>
            <p:cNvPr name="Freeform 113" id="113"/>
            <p:cNvSpPr/>
            <p:nvPr/>
          </p:nvSpPr>
          <p:spPr>
            <a:xfrm flipH="false" flipV="false" rot="0">
              <a:off x="0" y="0"/>
              <a:ext cx="22183344" cy="1828800"/>
            </a:xfrm>
            <a:custGeom>
              <a:avLst/>
              <a:gdLst/>
              <a:ahLst/>
              <a:cxnLst/>
              <a:rect r="r" b="b" t="t" l="l"/>
              <a:pathLst>
                <a:path h="1828800" w="22183344">
                  <a:moveTo>
                    <a:pt x="0" y="182880"/>
                  </a:moveTo>
                  <a:cubicBezTo>
                    <a:pt x="0" y="81915"/>
                    <a:pt x="81915" y="0"/>
                    <a:pt x="182880" y="0"/>
                  </a:cubicBezTo>
                  <a:lnTo>
                    <a:pt x="22000463" y="0"/>
                  </a:lnTo>
                  <a:cubicBezTo>
                    <a:pt x="22101428" y="0"/>
                    <a:pt x="22183344" y="81915"/>
                    <a:pt x="22183344" y="182880"/>
                  </a:cubicBezTo>
                  <a:lnTo>
                    <a:pt x="22183344" y="1645920"/>
                  </a:lnTo>
                  <a:cubicBezTo>
                    <a:pt x="22183344" y="1746885"/>
                    <a:pt x="22101428" y="1828800"/>
                    <a:pt x="22000463" y="1828800"/>
                  </a:cubicBezTo>
                  <a:lnTo>
                    <a:pt x="182880" y="1828800"/>
                  </a:lnTo>
                  <a:cubicBezTo>
                    <a:pt x="81915" y="1828800"/>
                    <a:pt x="0" y="1746885"/>
                    <a:pt x="0" y="1645920"/>
                  </a:cubicBezTo>
                  <a:close/>
                </a:path>
              </a:pathLst>
            </a:custGeom>
            <a:solidFill>
              <a:srgbClr val="0B5E6E"/>
            </a:solidFill>
          </p:spPr>
        </p:sp>
      </p:grpSp>
      <p:grpSp>
        <p:nvGrpSpPr>
          <p:cNvPr name="Group 114" id="114"/>
          <p:cNvGrpSpPr/>
          <p:nvPr/>
        </p:nvGrpSpPr>
        <p:grpSpPr>
          <a:xfrm rot="0">
            <a:off x="1234440" y="7886700"/>
            <a:ext cx="8503920" cy="1371600"/>
            <a:chOff x="0" y="0"/>
            <a:chExt cx="11338560" cy="1828800"/>
          </a:xfrm>
        </p:grpSpPr>
        <p:sp>
          <p:nvSpPr>
            <p:cNvPr name="Freeform 115" id="115"/>
            <p:cNvSpPr/>
            <p:nvPr/>
          </p:nvSpPr>
          <p:spPr>
            <a:xfrm flipH="false" flipV="false" rot="0">
              <a:off x="0" y="0"/>
              <a:ext cx="11338560" cy="1828800"/>
            </a:xfrm>
            <a:custGeom>
              <a:avLst/>
              <a:gdLst/>
              <a:ahLst/>
              <a:cxnLst/>
              <a:rect r="r" b="b" t="t" l="l"/>
              <a:pathLst>
                <a:path h="1828800" w="11338560">
                  <a:moveTo>
                    <a:pt x="0" y="0"/>
                  </a:moveTo>
                  <a:lnTo>
                    <a:pt x="11338560" y="0"/>
                  </a:lnTo>
                  <a:lnTo>
                    <a:pt x="11338560" y="1828800"/>
                  </a:lnTo>
                  <a:lnTo>
                    <a:pt x="0" y="1828800"/>
                  </a:lnTo>
                  <a:close/>
                </a:path>
              </a:pathLst>
            </a:custGeom>
            <a:blipFill>
              <a:blip r:embed="rId4">
                <a:alphaModFix amt="0"/>
              </a:blip>
              <a:stretch>
                <a:fillRect l="0" t="-70722" r="0" b="-70723"/>
              </a:stretch>
            </a:blipFill>
          </p:spPr>
        </p:sp>
      </p:grpSp>
      <p:grpSp>
        <p:nvGrpSpPr>
          <p:cNvPr name="Group 116" id="116"/>
          <p:cNvGrpSpPr/>
          <p:nvPr/>
        </p:nvGrpSpPr>
        <p:grpSpPr>
          <a:xfrm rot="0">
            <a:off x="1234440" y="7850981"/>
            <a:ext cx="8503920" cy="1407319"/>
            <a:chOff x="0" y="0"/>
            <a:chExt cx="11338560" cy="1876425"/>
          </a:xfrm>
        </p:grpSpPr>
        <p:sp>
          <p:nvSpPr>
            <p:cNvPr name="Freeform 117" id="117"/>
            <p:cNvSpPr/>
            <p:nvPr/>
          </p:nvSpPr>
          <p:spPr>
            <a:xfrm flipH="false" flipV="false" rot="0">
              <a:off x="0" y="0"/>
              <a:ext cx="11338560" cy="1876425"/>
            </a:xfrm>
            <a:custGeom>
              <a:avLst/>
              <a:gdLst/>
              <a:ahLst/>
              <a:cxnLst/>
              <a:rect r="r" b="b" t="t" l="l"/>
              <a:pathLst>
                <a:path h="1876425" w="11338560">
                  <a:moveTo>
                    <a:pt x="0" y="0"/>
                  </a:moveTo>
                  <a:lnTo>
                    <a:pt x="11338560" y="0"/>
                  </a:lnTo>
                  <a:lnTo>
                    <a:pt x="11338560" y="1876425"/>
                  </a:lnTo>
                  <a:lnTo>
                    <a:pt x="0" y="1876425"/>
                  </a:lnTo>
                  <a:close/>
                </a:path>
              </a:pathLst>
            </a:custGeom>
            <a:blipFill>
              <a:blip r:embed="rId5">
                <a:alphaModFix amt="0"/>
              </a:blip>
              <a:stretch>
                <a:fillRect l="0" t="-67741" r="0" b="-67741"/>
              </a:stretch>
            </a:blipFill>
          </p:spPr>
        </p:sp>
        <p:sp>
          <p:nvSpPr>
            <p:cNvPr name="TextBox 118" id="118"/>
            <p:cNvSpPr txBox="true"/>
            <p:nvPr/>
          </p:nvSpPr>
          <p:spPr>
            <a:xfrm>
              <a:off x="0" y="-47625"/>
              <a:ext cx="11338560" cy="1924050"/>
            </a:xfrm>
            <a:prstGeom prst="rect">
              <a:avLst/>
            </a:prstGeom>
          </p:spPr>
          <p:txBody>
            <a:bodyPr anchor="ctr" rtlCol="false" tIns="0" lIns="0" bIns="0" rIns="0"/>
            <a:lstStyle/>
            <a:p>
              <a:pPr algn="l">
                <a:lnSpc>
                  <a:spcPts val="3060"/>
                </a:lnSpc>
              </a:pPr>
              <a:r>
                <a:rPr lang="en-US" sz="2550" b="true">
                  <a:solidFill>
                    <a:srgbClr val="FFD23B"/>
                  </a:solidFill>
                  <a:latin typeface="Calibri (MS) Bold"/>
                  <a:ea typeface="Calibri (MS) Bold"/>
                  <a:cs typeface="Calibri (MS) Bold"/>
                  <a:sym typeface="Calibri (MS) Bold"/>
                </a:rPr>
                <a:t>3 parameter diuji (TPK ambang, laju demolisi, laju konversi) → 0 berubah</a:t>
              </a:r>
            </a:p>
          </p:txBody>
        </p:sp>
      </p:grpSp>
      <p:grpSp>
        <p:nvGrpSpPr>
          <p:cNvPr name="Group 119" id="119"/>
          <p:cNvGrpSpPr/>
          <p:nvPr/>
        </p:nvGrpSpPr>
        <p:grpSpPr>
          <a:xfrm rot="0">
            <a:off x="10012680" y="7886700"/>
            <a:ext cx="7132320" cy="1371600"/>
            <a:chOff x="0" y="0"/>
            <a:chExt cx="9509760" cy="1828800"/>
          </a:xfrm>
        </p:grpSpPr>
        <p:sp>
          <p:nvSpPr>
            <p:cNvPr name="Freeform 120" id="120"/>
            <p:cNvSpPr/>
            <p:nvPr/>
          </p:nvSpPr>
          <p:spPr>
            <a:xfrm flipH="false" flipV="false" rot="0">
              <a:off x="0" y="0"/>
              <a:ext cx="9509760" cy="1828800"/>
            </a:xfrm>
            <a:custGeom>
              <a:avLst/>
              <a:gdLst/>
              <a:ahLst/>
              <a:cxnLst/>
              <a:rect r="r" b="b" t="t" l="l"/>
              <a:pathLst>
                <a:path h="1828800" w="9509760">
                  <a:moveTo>
                    <a:pt x="0" y="0"/>
                  </a:moveTo>
                  <a:lnTo>
                    <a:pt x="9509760" y="0"/>
                  </a:lnTo>
                  <a:lnTo>
                    <a:pt x="9509760" y="1828800"/>
                  </a:lnTo>
                  <a:lnTo>
                    <a:pt x="0" y="1828800"/>
                  </a:lnTo>
                  <a:close/>
                </a:path>
              </a:pathLst>
            </a:custGeom>
            <a:blipFill>
              <a:blip r:embed="rId4">
                <a:alphaModFix amt="0"/>
              </a:blip>
              <a:stretch>
                <a:fillRect l="0" t="-51252" r="0" b="-51251"/>
              </a:stretch>
            </a:blipFill>
          </p:spPr>
        </p:sp>
      </p:grpSp>
      <p:grpSp>
        <p:nvGrpSpPr>
          <p:cNvPr name="Group 121" id="121"/>
          <p:cNvGrpSpPr/>
          <p:nvPr/>
        </p:nvGrpSpPr>
        <p:grpSpPr>
          <a:xfrm rot="0">
            <a:off x="10012680" y="7858125"/>
            <a:ext cx="7132320" cy="1400175"/>
            <a:chOff x="0" y="0"/>
            <a:chExt cx="9509760" cy="1866900"/>
          </a:xfrm>
        </p:grpSpPr>
        <p:sp>
          <p:nvSpPr>
            <p:cNvPr name="Freeform 122" id="122"/>
            <p:cNvSpPr/>
            <p:nvPr/>
          </p:nvSpPr>
          <p:spPr>
            <a:xfrm flipH="false" flipV="false" rot="0">
              <a:off x="0" y="0"/>
              <a:ext cx="9509760" cy="1866900"/>
            </a:xfrm>
            <a:custGeom>
              <a:avLst/>
              <a:gdLst/>
              <a:ahLst/>
              <a:cxnLst/>
              <a:rect r="r" b="b" t="t" l="l"/>
              <a:pathLst>
                <a:path h="1866900" w="9509760">
                  <a:moveTo>
                    <a:pt x="0" y="0"/>
                  </a:moveTo>
                  <a:lnTo>
                    <a:pt x="9509760" y="0"/>
                  </a:lnTo>
                  <a:lnTo>
                    <a:pt x="9509760" y="1866900"/>
                  </a:lnTo>
                  <a:lnTo>
                    <a:pt x="0" y="1866900"/>
                  </a:lnTo>
                  <a:close/>
                </a:path>
              </a:pathLst>
            </a:custGeom>
            <a:blipFill>
              <a:blip r:embed="rId5">
                <a:alphaModFix amt="0"/>
              </a:blip>
              <a:stretch>
                <a:fillRect l="0" t="-49254" r="0" b="-49254"/>
              </a:stretch>
            </a:blipFill>
          </p:spPr>
        </p:sp>
        <p:sp>
          <p:nvSpPr>
            <p:cNvPr name="TextBox 123" id="123"/>
            <p:cNvSpPr txBox="true"/>
            <p:nvPr/>
          </p:nvSpPr>
          <p:spPr>
            <a:xfrm>
              <a:off x="0" y="-38100"/>
              <a:ext cx="9509760" cy="1905000"/>
            </a:xfrm>
            <a:prstGeom prst="rect">
              <a:avLst/>
            </a:prstGeom>
          </p:spPr>
          <p:txBody>
            <a:bodyPr anchor="ctr" rtlCol="false" tIns="0" lIns="0" bIns="0" rIns="0"/>
            <a:lstStyle/>
            <a:p>
              <a:pPr algn="l">
                <a:lnSpc>
                  <a:spcPts val="2250"/>
                </a:lnSpc>
              </a:pPr>
              <a:r>
                <a:rPr lang="en-US" sz="1875">
                  <a:solidFill>
                    <a:srgbClr val="FFFFFF"/>
                  </a:solidFill>
                  <a:latin typeface="Calibri (MS)"/>
                  <a:ea typeface="Calibri (MS)"/>
                  <a:cs typeface="Calibri (MS)"/>
                  <a:sym typeface="Calibri (MS)"/>
                </a:rPr>
                <a:t>Nilai turunan data sudah berada di daerah yang dapat dipertanggungjawabkan: kalibrasi berfungsi sebagai instrumen validasi, bukan penyesuaian (Oliva, 2003).</a:t>
              </a:r>
            </a:p>
          </p:txBody>
        </p:sp>
      </p:grpSp>
      <p:sp>
        <p:nvSpPr>
          <p:cNvPr name="TextBox 124" id="124"/>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50</a:t>
            </a:r>
          </a:p>
        </p:txBody>
      </p:sp>
      <p:sp>
        <p:nvSpPr>
          <p:cNvPr id="125" name="TextBox 124"/>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sp>
        <p:nvSpPr>
          <p:cNvPr id="126"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4.6.4 · Kalibrasi Diagnostik Subsistem Wisatawan</a:t>
            </a:r>
          </a:p>
          <a:p>
            <a:pPr algn="l">
              <a:lnSpc>
                <a:spcPct val="100000"/>
              </a:lnSpc>
            </a:pPr>
            <a:r>
              <a:rPr lang="en-US" sz="3500" b="true">
                <a:solidFill>
                  <a:srgbClr val="0B5E6E"/>
                </a:solidFill>
                <a:latin typeface="Calibri (MS) Bold"/>
                <a:ea typeface="Calibri (MS) Bold"/>
                <a:cs typeface="Calibri (MS) Bold"/>
                <a:sym typeface="Calibri (MS) Bold"/>
              </a:rPr>
              <a:t>Diagnostik Tahap 3: kesenjangan wisatawan berasal dari rezim pemulihan pascapandemi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51</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pic>
        <p:nvPicPr>
          <p:cNvPr id="149" name="Picture 148" descr="image52.png"/>
          <p:cNvPicPr>
            <a:picLocks noChangeAspect="1"/>
          </p:cNvPicPr>
          <p:nvPr/>
        </p:nvPicPr>
        <p:blipFill>
          <a:blip r:embed="rId2"/>
          <a:stretch>
            <a:fillRect/>
          </a:stretch>
        </p:blipFill>
        <p:spPr>
          <a:xfrm>
            <a:off x="1435608" y="2240280"/>
            <a:ext cx="6912864" cy="3840480"/>
          </a:xfrm>
          <a:prstGeom prst="rect">
            <a:avLst/>
          </a:prstGeom>
        </p:spPr>
      </p:pic>
      <p:pic>
        <p:nvPicPr>
          <p:cNvPr id="150" name="Picture 149" descr="image53.png"/>
          <p:cNvPicPr>
            <a:picLocks noChangeAspect="1"/>
          </p:cNvPicPr>
          <p:nvPr/>
        </p:nvPicPr>
        <p:blipFill>
          <a:blip r:embed="rId6"/>
          <a:stretch>
            <a:fillRect/>
          </a:stretch>
        </p:blipFill>
        <p:spPr>
          <a:xfrm>
            <a:off x="10195559" y="2240280"/>
            <a:ext cx="6400800" cy="3840480"/>
          </a:xfrm>
          <a:prstGeom prst="rect">
            <a:avLst/>
          </a:prstGeom>
        </p:spPr>
      </p:pic>
      <p:sp>
        <p:nvSpPr>
          <p:cNvPr id="151" name="TextBox 150"/>
          <p:cNvSpPr txBox="1"/>
          <p:nvPr/>
        </p:nvSpPr>
        <p:spPr>
          <a:xfrm>
            <a:off x="822960" y="6080760"/>
            <a:ext cx="8138160" cy="365760"/>
          </a:xfrm>
          <a:prstGeom prst="rect">
            <a:avLst/>
          </a:prstGeom>
          <a:noFill/>
        </p:spPr>
        <p:txBody>
          <a:bodyPr wrap="square" anchor="t" lIns="0" rIns="0" tIns="0" bIns="0">
            <a:spAutoFit/>
          </a:bodyPr>
          <a:lstStyle/>
          <a:p>
            <a:pPr algn="l">
              <a:spcAft>
                <a:spcPts val="400"/>
              </a:spcAft>
            </a:pPr>
            <a:r>
              <a:rPr sz="1380" b="0" i="1">
                <a:solidFill>
                  <a:srgbClr val="5E6E78"/>
                </a:solidFill>
                <a:latin typeface="Calibri (MS)"/>
              </a:rPr>
              <a:t>Punggung keteridentifikasian: LPE 0,26–0,80 berpasangan dengan rasio 0,60–0,86</a:t>
            </a:r>
          </a:p>
        </p:txBody>
      </p:sp>
      <p:sp>
        <p:nvSpPr>
          <p:cNvPr id="152" name="TextBox 151"/>
          <p:cNvSpPr txBox="1"/>
          <p:nvPr/>
        </p:nvSpPr>
        <p:spPr>
          <a:xfrm>
            <a:off x="9326880" y="6080760"/>
            <a:ext cx="8138160" cy="365760"/>
          </a:xfrm>
          <a:prstGeom prst="rect">
            <a:avLst/>
          </a:prstGeom>
          <a:noFill/>
        </p:spPr>
        <p:txBody>
          <a:bodyPr wrap="square" anchor="t" lIns="0" rIns="0" tIns="0" bIns="0">
            <a:spAutoFit/>
          </a:bodyPr>
          <a:lstStyle/>
          <a:p>
            <a:pPr algn="l">
              <a:spcAft>
                <a:spcPts val="400"/>
              </a:spcAft>
            </a:pPr>
            <a:r>
              <a:rPr sz="1380" b="0" i="1">
                <a:solidFill>
                  <a:srgbClr val="5E6E78"/>
                </a:solidFill>
                <a:latin typeface="Calibri (MS)"/>
              </a:rPr>
              <a:t>Data sambungan vs simulasi LPE 0,27726 dan LPE diagnostik 0,440 (D-A)</a:t>
            </a:r>
          </a:p>
        </p:txBody>
      </p:sp>
      <p:graphicFrame>
        <p:nvGraphicFramePr>
          <p:cNvPr id="153" name="Table 152"/>
          <p:cNvGraphicFramePr>
            <a:graphicFrameLocks noGrp="1"/>
          </p:cNvGraphicFramePr>
          <p:nvPr/>
        </p:nvGraphicFramePr>
        <p:xfrm>
          <a:off x="822960" y="6492240"/>
          <a:ext cx="10241275" cy="1234440"/>
        </p:xfrm>
        <a:graphic>
          <a:graphicData uri="http://schemas.openxmlformats.org/drawingml/2006/table">
            <a:tbl>
              <a:tblPr firstRow="1" bandRow="1">
                <a:tableStyleId>{5C22544A-7EE6-4342-B048-85BDC9FD1C3A}</a:tableStyleId>
              </a:tblPr>
              <a:tblGrid>
                <a:gridCol w="1545853"/>
                <a:gridCol w="966158"/>
                <a:gridCol w="966158"/>
                <a:gridCol w="966158"/>
                <a:gridCol w="966158"/>
                <a:gridCol w="966158"/>
                <a:gridCol w="966158"/>
                <a:gridCol w="966158"/>
                <a:gridCol w="966158"/>
                <a:gridCol w="966158"/>
              </a:tblGrid>
              <a:tr h="411480">
                <a:tc>
                  <a:txBody>
                    <a:bodyPr wrap="square"/>
                    <a:lstStyle/>
                    <a:p>
                      <a:r>
                        <a:rPr sz="1440" b="1" i="0">
                          <a:solidFill>
                            <a:srgbClr val="FFFFFF"/>
                          </a:solidFill>
                          <a:latin typeface="Calibri (MS) Bold"/>
                        </a:rPr>
                        <a:t>Tahun</a:t>
                      </a:r>
                    </a:p>
                  </a:txBody>
                  <a:tcPr marL="73152" marR="73152" marT="36576" marB="36576" anchor="ctr">
                    <a:solidFill>
                      <a:srgbClr val="0B5E6E"/>
                    </a:solidFill>
                  </a:tcPr>
                </a:tc>
                <a:tc>
                  <a:txBody>
                    <a:bodyPr wrap="square"/>
                    <a:lstStyle/>
                    <a:p>
                      <a:r>
                        <a:rPr sz="1440" b="1" i="0">
                          <a:solidFill>
                            <a:srgbClr val="FFFFFF"/>
                          </a:solidFill>
                          <a:latin typeface="Calibri (MS) Bold"/>
                        </a:rPr>
                        <a:t>2017</a:t>
                      </a:r>
                    </a:p>
                  </a:txBody>
                  <a:tcPr marL="73152" marR="73152" marT="36576" marB="36576" anchor="ctr">
                    <a:solidFill>
                      <a:srgbClr val="0B5E6E"/>
                    </a:solidFill>
                  </a:tcPr>
                </a:tc>
                <a:tc>
                  <a:txBody>
                    <a:bodyPr wrap="square"/>
                    <a:lstStyle/>
                    <a:p>
                      <a:r>
                        <a:rPr sz="1440" b="1" i="0">
                          <a:solidFill>
                            <a:srgbClr val="FFFFFF"/>
                          </a:solidFill>
                          <a:latin typeface="Calibri (MS) Bold"/>
                        </a:rPr>
                        <a:t>2018</a:t>
                      </a:r>
                    </a:p>
                  </a:txBody>
                  <a:tcPr marL="73152" marR="73152" marT="36576" marB="36576" anchor="ctr">
                    <a:solidFill>
                      <a:srgbClr val="0B5E6E"/>
                    </a:solidFill>
                  </a:tcPr>
                </a:tc>
                <a:tc>
                  <a:txBody>
                    <a:bodyPr wrap="square"/>
                    <a:lstStyle/>
                    <a:p>
                      <a:r>
                        <a:rPr sz="1440" b="1" i="0">
                          <a:solidFill>
                            <a:srgbClr val="FFFFFF"/>
                          </a:solidFill>
                          <a:latin typeface="Calibri (MS) Bold"/>
                        </a:rPr>
                        <a:t>2019</a:t>
                      </a:r>
                    </a:p>
                  </a:txBody>
                  <a:tcPr marL="73152" marR="73152" marT="36576" marB="36576" anchor="ctr">
                    <a:solidFill>
                      <a:srgbClr val="0B5E6E"/>
                    </a:solidFill>
                  </a:tcPr>
                </a:tc>
                <a:tc>
                  <a:txBody>
                    <a:bodyPr wrap="square"/>
                    <a:lstStyle/>
                    <a:p>
                      <a:r>
                        <a:rPr sz="1440" b="1" i="0">
                          <a:solidFill>
                            <a:srgbClr val="FFFFFF"/>
                          </a:solidFill>
                          <a:latin typeface="Calibri (MS) Bold"/>
                        </a:rPr>
                        <a:t>2020</a:t>
                      </a:r>
                    </a:p>
                  </a:txBody>
                  <a:tcPr marL="73152" marR="73152" marT="36576" marB="36576" anchor="ctr">
                    <a:solidFill>
                      <a:srgbClr val="0B5E6E"/>
                    </a:solidFill>
                  </a:tcPr>
                </a:tc>
                <a:tc>
                  <a:txBody>
                    <a:bodyPr wrap="square"/>
                    <a:lstStyle/>
                    <a:p>
                      <a:r>
                        <a:rPr sz="1440" b="1" i="0">
                          <a:solidFill>
                            <a:srgbClr val="FFFFFF"/>
                          </a:solidFill>
                          <a:latin typeface="Calibri (MS) Bold"/>
                        </a:rPr>
                        <a:t>2021</a:t>
                      </a:r>
                    </a:p>
                  </a:txBody>
                  <a:tcPr marL="73152" marR="73152" marT="36576" marB="36576" anchor="ctr">
                    <a:solidFill>
                      <a:srgbClr val="0B5E6E"/>
                    </a:solidFill>
                  </a:tcPr>
                </a:tc>
                <a:tc>
                  <a:txBody>
                    <a:bodyPr wrap="square"/>
                    <a:lstStyle/>
                    <a:p>
                      <a:r>
                        <a:rPr sz="1440" b="1" i="0">
                          <a:solidFill>
                            <a:srgbClr val="FFFFFF"/>
                          </a:solidFill>
                          <a:latin typeface="Calibri (MS) Bold"/>
                        </a:rPr>
                        <a:t>2022</a:t>
                      </a:r>
                    </a:p>
                  </a:txBody>
                  <a:tcPr marL="73152" marR="73152" marT="36576" marB="36576" anchor="ctr">
                    <a:solidFill>
                      <a:srgbClr val="0B5E6E"/>
                    </a:solidFill>
                  </a:tcPr>
                </a:tc>
                <a:tc>
                  <a:txBody>
                    <a:bodyPr wrap="square"/>
                    <a:lstStyle/>
                    <a:p>
                      <a:r>
                        <a:rPr sz="1440" b="1" i="0">
                          <a:solidFill>
                            <a:srgbClr val="FFFFFF"/>
                          </a:solidFill>
                          <a:latin typeface="Calibri (MS) Bold"/>
                        </a:rPr>
                        <a:t>2023</a:t>
                      </a:r>
                    </a:p>
                  </a:txBody>
                  <a:tcPr marL="73152" marR="73152" marT="36576" marB="36576" anchor="ctr">
                    <a:solidFill>
                      <a:srgbClr val="0B5E6E"/>
                    </a:solidFill>
                  </a:tcPr>
                </a:tc>
                <a:tc>
                  <a:txBody>
                    <a:bodyPr wrap="square"/>
                    <a:lstStyle/>
                    <a:p>
                      <a:r>
                        <a:rPr sz="1440" b="1" i="0">
                          <a:solidFill>
                            <a:srgbClr val="FFFFFF"/>
                          </a:solidFill>
                          <a:latin typeface="Calibri (MS) Bold"/>
                        </a:rPr>
                        <a:t>2024</a:t>
                      </a:r>
                    </a:p>
                  </a:txBody>
                  <a:tcPr marL="73152" marR="73152" marT="36576" marB="36576" anchor="ctr">
                    <a:solidFill>
                      <a:srgbClr val="0B5E6E"/>
                    </a:solidFill>
                  </a:tcPr>
                </a:tc>
                <a:tc>
                  <a:txBody>
                    <a:bodyPr wrap="square"/>
                    <a:lstStyle/>
                    <a:p>
                      <a:r>
                        <a:rPr sz="1440" b="1" i="0">
                          <a:solidFill>
                            <a:srgbClr val="FFFFFF"/>
                          </a:solidFill>
                          <a:latin typeface="Calibri (MS) Bold"/>
                        </a:rPr>
                        <a:t>2025</a:t>
                      </a:r>
                    </a:p>
                  </a:txBody>
                  <a:tcPr marL="73152" marR="73152" marT="36576" marB="36576" anchor="ctr">
                    <a:solidFill>
                      <a:srgbClr val="0B5E6E"/>
                    </a:solidFill>
                  </a:tcPr>
                </a:tc>
              </a:tr>
              <a:tr h="411480">
                <a:tc>
                  <a:txBody>
                    <a:bodyPr wrap="square"/>
                    <a:lstStyle/>
                    <a:p>
                      <a:r>
                        <a:rPr sz="1440" b="1" i="0">
                          <a:solidFill>
                            <a:srgbClr val="14313B"/>
                          </a:solidFill>
                          <a:latin typeface="Calibri (MS) Bold"/>
                        </a:rPr>
                        <a:t>Data</a:t>
                      </a:r>
                    </a:p>
                  </a:txBody>
                  <a:tcPr marL="73152" marR="73152" marT="36576" marB="36576" anchor="ctr">
                    <a:solidFill>
                      <a:srgbClr val="FFFFFF"/>
                    </a:solidFill>
                  </a:tcPr>
                </a:tc>
                <a:tc>
                  <a:txBody>
                    <a:bodyPr wrap="square"/>
                    <a:lstStyle/>
                    <a:p>
                      <a:r>
                        <a:rPr sz="1440" b="0" i="0">
                          <a:solidFill>
                            <a:srgbClr val="14313B"/>
                          </a:solidFill>
                          <a:latin typeface="Calibri (MS)"/>
                        </a:rPr>
                        <a:t>1,42%</a:t>
                      </a:r>
                    </a:p>
                  </a:txBody>
                  <a:tcPr marL="73152" marR="73152" marT="36576" marB="36576" anchor="ctr">
                    <a:solidFill>
                      <a:srgbClr val="FFFFFF"/>
                    </a:solidFill>
                  </a:tcPr>
                </a:tc>
                <a:tc>
                  <a:txBody>
                    <a:bodyPr wrap="square"/>
                    <a:lstStyle/>
                    <a:p>
                      <a:r>
                        <a:rPr sz="1440" b="0" i="0">
                          <a:solidFill>
                            <a:srgbClr val="14313B"/>
                          </a:solidFill>
                          <a:latin typeface="Calibri (MS)"/>
                        </a:rPr>
                        <a:t>20,36%</a:t>
                      </a:r>
                    </a:p>
                  </a:txBody>
                  <a:tcPr marL="73152" marR="73152" marT="36576" marB="36576" anchor="ctr">
                    <a:solidFill>
                      <a:srgbClr val="FFFFFF"/>
                    </a:solidFill>
                  </a:tcPr>
                </a:tc>
                <a:tc>
                  <a:txBody>
                    <a:bodyPr wrap="square"/>
                    <a:lstStyle/>
                    <a:p>
                      <a:r>
                        <a:rPr sz="1440" b="0" i="0">
                          <a:solidFill>
                            <a:srgbClr val="14313B"/>
                          </a:solidFill>
                          <a:latin typeface="Calibri (MS)"/>
                        </a:rPr>
                        <a:t>11,58%</a:t>
                      </a:r>
                    </a:p>
                  </a:txBody>
                  <a:tcPr marL="73152" marR="73152" marT="36576" marB="36576" anchor="ctr">
                    <a:solidFill>
                      <a:srgbClr val="FFFFFF"/>
                    </a:solidFill>
                  </a:tcPr>
                </a:tc>
                <a:tc>
                  <a:txBody>
                    <a:bodyPr wrap="square"/>
                    <a:lstStyle/>
                    <a:p>
                      <a:r>
                        <a:rPr sz="1440" b="0" i="0">
                          <a:solidFill>
                            <a:srgbClr val="14313B"/>
                          </a:solidFill>
                          <a:latin typeface="Calibri (MS)"/>
                        </a:rPr>
                        <a:t>−4,43%</a:t>
                      </a:r>
                    </a:p>
                  </a:txBody>
                  <a:tcPr marL="73152" marR="73152" marT="36576" marB="36576" anchor="ctr">
                    <a:solidFill>
                      <a:srgbClr val="FFFFFF"/>
                    </a:solidFill>
                  </a:tcPr>
                </a:tc>
                <a:tc>
                  <a:txBody>
                    <a:bodyPr wrap="square"/>
                    <a:lstStyle/>
                    <a:p>
                      <a:r>
                        <a:rPr sz="1440" b="0" i="0">
                          <a:solidFill>
                            <a:srgbClr val="14313B"/>
                          </a:solidFill>
                          <a:latin typeface="Calibri (MS)"/>
                        </a:rPr>
                        <a:t>16,52%</a:t>
                      </a:r>
                    </a:p>
                  </a:txBody>
                  <a:tcPr marL="73152" marR="73152" marT="36576" marB="36576" anchor="ctr">
                    <a:solidFill>
                      <a:srgbClr val="FFFFFF"/>
                    </a:solidFill>
                  </a:tcPr>
                </a:tc>
                <a:tc>
                  <a:txBody>
                    <a:bodyPr wrap="square"/>
                    <a:lstStyle/>
                    <a:p>
                      <a:r>
                        <a:rPr sz="1440" b="0" i="0">
                          <a:solidFill>
                            <a:srgbClr val="14313B"/>
                          </a:solidFill>
                          <a:latin typeface="Calibri (MS)"/>
                        </a:rPr>
                        <a:t>12,72%</a:t>
                      </a:r>
                    </a:p>
                  </a:txBody>
                  <a:tcPr marL="73152" marR="73152" marT="36576" marB="36576" anchor="ctr">
                    <a:solidFill>
                      <a:srgbClr val="FFF1BF"/>
                    </a:solidFill>
                  </a:tcPr>
                </a:tc>
                <a:tc>
                  <a:txBody>
                    <a:bodyPr wrap="square"/>
                    <a:lstStyle/>
                    <a:p>
                      <a:r>
                        <a:rPr sz="1440" b="0" i="0">
                          <a:solidFill>
                            <a:srgbClr val="14313B"/>
                          </a:solidFill>
                          <a:latin typeface="Calibri (MS)"/>
                        </a:rPr>
                        <a:t>18,59%</a:t>
                      </a:r>
                    </a:p>
                  </a:txBody>
                  <a:tcPr marL="73152" marR="73152" marT="36576" marB="36576" anchor="ctr">
                    <a:solidFill>
                      <a:srgbClr val="FFF1BF"/>
                    </a:solidFill>
                  </a:tcPr>
                </a:tc>
                <a:tc>
                  <a:txBody>
                    <a:bodyPr wrap="square"/>
                    <a:lstStyle/>
                    <a:p>
                      <a:r>
                        <a:rPr sz="1440" b="0" i="0">
                          <a:solidFill>
                            <a:srgbClr val="14313B"/>
                          </a:solidFill>
                          <a:latin typeface="Calibri (MS)"/>
                        </a:rPr>
                        <a:t>24,86%</a:t>
                      </a:r>
                    </a:p>
                  </a:txBody>
                  <a:tcPr marL="73152" marR="73152" marT="36576" marB="36576" anchor="ctr">
                    <a:solidFill>
                      <a:srgbClr val="FFF1BF"/>
                    </a:solidFill>
                  </a:tcPr>
                </a:tc>
                <a:tc>
                  <a:txBody>
                    <a:bodyPr wrap="square"/>
                    <a:lstStyle/>
                    <a:p>
                      <a:r>
                        <a:rPr sz="1440" b="0" i="0">
                          <a:solidFill>
                            <a:srgbClr val="14313B"/>
                          </a:solidFill>
                          <a:latin typeface="Calibri (MS)"/>
                        </a:rPr>
                        <a:t>6,72%</a:t>
                      </a:r>
                    </a:p>
                  </a:txBody>
                  <a:tcPr marL="73152" marR="73152" marT="36576" marB="36576" anchor="ctr">
                    <a:solidFill>
                      <a:srgbClr val="FFFFFF"/>
                    </a:solidFill>
                  </a:tcPr>
                </a:tc>
              </a:tr>
              <a:tr h="411480">
                <a:tc>
                  <a:txBody>
                    <a:bodyPr wrap="square"/>
                    <a:lstStyle/>
                    <a:p>
                      <a:r>
                        <a:rPr sz="1440" b="1" i="0">
                          <a:solidFill>
                            <a:srgbClr val="14313B"/>
                          </a:solidFill>
                          <a:latin typeface="Calibri (MS) Bold"/>
                        </a:rPr>
                        <a:t>Simulasi</a:t>
                      </a:r>
                    </a:p>
                  </a:txBody>
                  <a:tcPr marL="73152" marR="73152" marT="36576" marB="36576" anchor="ctr">
                    <a:solidFill>
                      <a:srgbClr val="EAF8FA"/>
                    </a:solidFill>
                  </a:tcPr>
                </a:tc>
                <a:tc>
                  <a:txBody>
                    <a:bodyPr wrap="square"/>
                    <a:lstStyle/>
                    <a:p>
                      <a:r>
                        <a:rPr sz="1440" b="0" i="0">
                          <a:solidFill>
                            <a:srgbClr val="14313B"/>
                          </a:solidFill>
                          <a:latin typeface="Calibri (MS)"/>
                        </a:rPr>
                        <a:t>6,44%</a:t>
                      </a:r>
                    </a:p>
                  </a:txBody>
                  <a:tcPr marL="73152" marR="73152" marT="36576" marB="36576" anchor="ctr">
                    <a:solidFill>
                      <a:srgbClr val="EAF8FA"/>
                    </a:solidFill>
                  </a:tcPr>
                </a:tc>
                <a:tc>
                  <a:txBody>
                    <a:bodyPr wrap="square"/>
                    <a:lstStyle/>
                    <a:p>
                      <a:r>
                        <a:rPr sz="1440" b="0" i="0">
                          <a:solidFill>
                            <a:srgbClr val="14313B"/>
                          </a:solidFill>
                          <a:latin typeface="Calibri (MS)"/>
                        </a:rPr>
                        <a:t>6,53%</a:t>
                      </a:r>
                    </a:p>
                  </a:txBody>
                  <a:tcPr marL="73152" marR="73152" marT="36576" marB="36576" anchor="ctr">
                    <a:solidFill>
                      <a:srgbClr val="EAF8FA"/>
                    </a:solidFill>
                  </a:tcPr>
                </a:tc>
                <a:tc>
                  <a:txBody>
                    <a:bodyPr wrap="square"/>
                    <a:lstStyle/>
                    <a:p>
                      <a:r>
                        <a:rPr sz="1440" b="0" i="0">
                          <a:solidFill>
                            <a:srgbClr val="14313B"/>
                          </a:solidFill>
                          <a:latin typeface="Calibri (MS)"/>
                        </a:rPr>
                        <a:t>6,47%</a:t>
                      </a:r>
                    </a:p>
                  </a:txBody>
                  <a:tcPr marL="73152" marR="73152" marT="36576" marB="36576" anchor="ctr">
                    <a:solidFill>
                      <a:srgbClr val="EAF8FA"/>
                    </a:solidFill>
                  </a:tcPr>
                </a:tc>
                <a:tc>
                  <a:txBody>
                    <a:bodyPr wrap="square"/>
                    <a:lstStyle/>
                    <a:p>
                      <a:r>
                        <a:rPr sz="1440" b="0" i="0">
                          <a:solidFill>
                            <a:srgbClr val="14313B"/>
                          </a:solidFill>
                          <a:latin typeface="Calibri (MS)"/>
                        </a:rPr>
                        <a:t>6,51%</a:t>
                      </a:r>
                    </a:p>
                  </a:txBody>
                  <a:tcPr marL="73152" marR="73152" marT="36576" marB="36576" anchor="ctr">
                    <a:solidFill>
                      <a:srgbClr val="EAF8FA"/>
                    </a:solidFill>
                  </a:tcPr>
                </a:tc>
                <a:tc>
                  <a:txBody>
                    <a:bodyPr wrap="square"/>
                    <a:lstStyle/>
                    <a:p>
                      <a:r>
                        <a:rPr sz="1440" b="0" i="0">
                          <a:solidFill>
                            <a:srgbClr val="14313B"/>
                          </a:solidFill>
                          <a:latin typeface="Calibri (MS)"/>
                        </a:rPr>
                        <a:t>6,47%</a:t>
                      </a:r>
                    </a:p>
                  </a:txBody>
                  <a:tcPr marL="73152" marR="73152" marT="36576" marB="36576" anchor="ctr">
                    <a:solidFill>
                      <a:srgbClr val="EAF8FA"/>
                    </a:solidFill>
                  </a:tcPr>
                </a:tc>
                <a:tc>
                  <a:txBody>
                    <a:bodyPr wrap="square"/>
                    <a:lstStyle/>
                    <a:p>
                      <a:r>
                        <a:rPr sz="1440" b="0" i="0">
                          <a:solidFill>
                            <a:srgbClr val="14313B"/>
                          </a:solidFill>
                          <a:latin typeface="Calibri (MS)"/>
                        </a:rPr>
                        <a:t>6,26%</a:t>
                      </a:r>
                    </a:p>
                  </a:txBody>
                  <a:tcPr marL="73152" marR="73152" marT="36576" marB="36576" anchor="ctr">
                    <a:solidFill>
                      <a:srgbClr val="EAF8FA"/>
                    </a:solidFill>
                  </a:tcPr>
                </a:tc>
                <a:tc>
                  <a:txBody>
                    <a:bodyPr wrap="square"/>
                    <a:lstStyle/>
                    <a:p>
                      <a:r>
                        <a:rPr sz="1440" b="0" i="0">
                          <a:solidFill>
                            <a:srgbClr val="14313B"/>
                          </a:solidFill>
                          <a:latin typeface="Calibri (MS)"/>
                        </a:rPr>
                        <a:t>6,55%</a:t>
                      </a:r>
                    </a:p>
                  </a:txBody>
                  <a:tcPr marL="73152" marR="73152" marT="36576" marB="36576" anchor="ctr">
                    <a:solidFill>
                      <a:srgbClr val="EAF8FA"/>
                    </a:solidFill>
                  </a:tcPr>
                </a:tc>
                <a:tc>
                  <a:txBody>
                    <a:bodyPr wrap="square"/>
                    <a:lstStyle/>
                    <a:p>
                      <a:r>
                        <a:rPr sz="1440" b="0" i="0">
                          <a:solidFill>
                            <a:srgbClr val="14313B"/>
                          </a:solidFill>
                          <a:latin typeface="Calibri (MS)"/>
                        </a:rPr>
                        <a:t>6,39%</a:t>
                      </a:r>
                    </a:p>
                  </a:txBody>
                  <a:tcPr marL="73152" marR="73152" marT="36576" marB="36576" anchor="ctr">
                    <a:solidFill>
                      <a:srgbClr val="EAF8FA"/>
                    </a:solidFill>
                  </a:tcPr>
                </a:tc>
                <a:tc>
                  <a:txBody>
                    <a:bodyPr wrap="square"/>
                    <a:lstStyle/>
                    <a:p>
                      <a:r>
                        <a:rPr sz="1440" b="0" i="0">
                          <a:solidFill>
                            <a:srgbClr val="14313B"/>
                          </a:solidFill>
                          <a:latin typeface="Calibri (MS)"/>
                        </a:rPr>
                        <a:t>6,72%</a:t>
                      </a:r>
                    </a:p>
                  </a:txBody>
                  <a:tcPr marL="73152" marR="73152" marT="36576" marB="36576" anchor="ctr">
                    <a:solidFill>
                      <a:srgbClr val="EAF8FA"/>
                    </a:solidFill>
                  </a:tcPr>
                </a:tc>
              </a:tr>
            </a:tbl>
          </a:graphicData>
        </a:graphic>
      </p:graphicFrame>
      <p:sp>
        <p:nvSpPr>
          <p:cNvPr id="154" name="Rounded Rectangle 153"/>
          <p:cNvSpPr/>
          <p:nvPr/>
        </p:nvSpPr>
        <p:spPr>
          <a:xfrm>
            <a:off x="11338560" y="6492240"/>
            <a:ext cx="6126480" cy="12344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670" b="1" i="0">
                <a:solidFill>
                  <a:srgbClr val="0B5E6E"/>
                </a:solidFill>
                <a:latin typeface="Calibri (MS) Bold"/>
              </a:rPr>
              <a:t>LPE yang dituntut data: 0,410–0,490</a:t>
            </a:r>
          </a:p>
          <a:p>
            <a:pPr algn="l">
              <a:spcAft>
                <a:spcPts val="300"/>
              </a:spcAft>
            </a:pPr>
            <a:r>
              <a:rPr sz="1490" b="0" i="0">
                <a:solidFill>
                  <a:srgbClr val="14313B"/>
                </a:solidFill>
                <a:latin typeface="Calibri (MS)"/>
              </a:rPr>
              <a:t>Bergantung periode (D-A 0,440; D-B 0,490) dan faktor sambung (2,22–2,38).</a:t>
            </a:r>
          </a:p>
        </p:txBody>
      </p:sp>
      <p:sp>
        <p:nvSpPr>
          <p:cNvPr id="155" name="Rounded Rectangle 154"/>
          <p:cNvSpPr/>
          <p:nvPr/>
        </p:nvSpPr>
        <p:spPr>
          <a:xfrm>
            <a:off x="822960" y="8001000"/>
            <a:ext cx="1664208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Data hanya mengidentifikasi selisih bersih LPE dan LPD; lonjakan 2022–2024 (puncak 24,86%) adalah rezim di luar batas model (wisnus nasional 2024 +21,61%). LPE/LPD dipertahankan.</a:t>
            </a:r>
          </a:p>
        </p:txBody>
      </p:sp>
      <p:sp>
        <p:nvSpPr>
          <p:cNvPr id="156" name="TextBox 155"/>
          <p:cNvSpPr txBox="1"/>
          <p:nvPr/>
        </p:nvSpPr>
        <p:spPr>
          <a:xfrm>
            <a:off x="822960" y="918972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4.6.4, Tabel 53–54, Gambar 49–50.</a:t>
            </a:r>
          </a:p>
        </p:txBody>
      </p:sp>
      <p:sp>
        <p:nvSpPr>
          <p:cNvPr id="157"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4.4–4.6 · Sintesis Kelayakan Model</a:t>
            </a:r>
          </a:p>
          <a:p>
            <a:pPr algn="l">
              <a:lnSpc>
                <a:spcPct val="100000"/>
              </a:lnSpc>
            </a:pPr>
            <a:r>
              <a:rPr lang="en-US" sz="3500" b="true">
                <a:solidFill>
                  <a:srgbClr val="0B5E6E"/>
                </a:solidFill>
                <a:latin typeface="Calibri (MS) Bold"/>
                <a:ea typeface="Calibri (MS) Bold"/>
                <a:cs typeface="Calibri (MS) Bold"/>
                <a:sym typeface="Calibri (MS) Bold"/>
              </a:rPr>
              <a:t>Apakah model layak untuk simulasi skenario? Bukti dan batasnya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52</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sp>
        <p:nvSpPr>
          <p:cNvPr id="149" name="Rounded Rectangle 148"/>
          <p:cNvSpPr/>
          <p:nvPr/>
        </p:nvSpPr>
        <p:spPr>
          <a:xfrm>
            <a:off x="822960" y="2286000"/>
            <a:ext cx="10972800" cy="868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Struktur  </a:t>
            </a:r>
            <a:r>
              <a:rPr sz="1550" b="0" i="0">
                <a:solidFill>
                  <a:srgbClr val="14313B"/>
                </a:solidFill>
                <a:latin typeface="Calibri (MS)"/>
              </a:rPr>
              <a:t>6 uji struktur lolos: satuan konsisten, materi kekal, 6/6 loop berfungsi, 17 uji ekstrem 0 gagal, langkah waktu memadai.</a:t>
            </a:r>
          </a:p>
        </p:txBody>
      </p:sp>
      <p:sp>
        <p:nvSpPr>
          <p:cNvPr id="150" name="Rounded Rectangle 149"/>
          <p:cNvSpPr/>
          <p:nvPr/>
        </p:nvSpPr>
        <p:spPr>
          <a:xfrm>
            <a:off x="11978640" y="2286000"/>
            <a:ext cx="2743200" cy="8686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LOLOS</a:t>
            </a:r>
          </a:p>
        </p:txBody>
      </p:sp>
      <p:sp>
        <p:nvSpPr>
          <p:cNvPr id="151" name="Rounded Rectangle 150"/>
          <p:cNvSpPr/>
          <p:nvPr/>
        </p:nvSpPr>
        <p:spPr>
          <a:xfrm>
            <a:off x="822960" y="3291840"/>
            <a:ext cx="10972800" cy="868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Perilaku subsistem  </a:t>
            </a:r>
            <a:r>
              <a:rPr sz="1550" b="0" i="0">
                <a:solidFill>
                  <a:srgbClr val="14313B"/>
                </a:solidFill>
                <a:latin typeface="Calibri (MS)"/>
              </a:rPr>
              <a:t>Uji parsial: MAPE seluruh variabel &lt; 20%; akomodasi DC 0,20; tren sama kecuali wisatawan.</a:t>
            </a:r>
          </a:p>
        </p:txBody>
      </p:sp>
      <p:sp>
        <p:nvSpPr>
          <p:cNvPr id="152" name="Rounded Rectangle 151"/>
          <p:cNvSpPr/>
          <p:nvPr/>
        </p:nvSpPr>
        <p:spPr>
          <a:xfrm>
            <a:off x="11978640" y="3291840"/>
            <a:ext cx="2743200" cy="8686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MEMADAI</a:t>
            </a:r>
          </a:p>
        </p:txBody>
      </p:sp>
      <p:sp>
        <p:nvSpPr>
          <p:cNvPr id="153" name="Rounded Rectangle 152"/>
          <p:cNvSpPr/>
          <p:nvPr/>
        </p:nvSpPr>
        <p:spPr>
          <a:xfrm>
            <a:off x="822960" y="4297680"/>
            <a:ext cx="10972800" cy="868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Perilaku model penuh  </a:t>
            </a:r>
            <a:r>
              <a:rPr sz="1550" b="0" i="0">
                <a:solidFill>
                  <a:srgbClr val="14313B"/>
                </a:solidFill>
                <a:latin typeface="Calibri (MS)"/>
              </a:rPr>
              <a:t>Tidak ada variabel berkategori MAPE buruk; DC melemah karena galat merambat dari satu sumber.</a:t>
            </a:r>
          </a:p>
        </p:txBody>
      </p:sp>
      <p:sp>
        <p:nvSpPr>
          <p:cNvPr id="154" name="Rounded Rectangle 153"/>
          <p:cNvSpPr/>
          <p:nvPr/>
        </p:nvSpPr>
        <p:spPr>
          <a:xfrm>
            <a:off x="11978640" y="4297680"/>
            <a:ext cx="2743200" cy="868680"/>
          </a:xfrm>
          <a:prstGeom prst="roundRect">
            <a:avLst>
              <a:gd name="adj" fmla="val 8000"/>
            </a:avLst>
          </a:prstGeom>
          <a:solidFill>
            <a:srgbClr val="3AC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MEMADAI, DENGAN CATATAN</a:t>
            </a:r>
          </a:p>
        </p:txBody>
      </p:sp>
      <p:sp>
        <p:nvSpPr>
          <p:cNvPr id="155" name="Rounded Rectangle 154"/>
          <p:cNvSpPr/>
          <p:nvPr/>
        </p:nvSpPr>
        <p:spPr>
          <a:xfrm>
            <a:off x="822960" y="5303520"/>
            <a:ext cx="10972800" cy="868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Sumber galat  </a:t>
            </a:r>
            <a:r>
              <a:rPr sz="1550" b="0" i="0">
                <a:solidFill>
                  <a:srgbClr val="14313B"/>
                </a:solidFill>
                <a:latin typeface="Calibri (MS)"/>
              </a:rPr>
              <a:t>Terlokalisasi pada pertumbuhan wisatawan → rezim pemulihan pascapandemi di luar batas model, bukan kesalahan parameter.</a:t>
            </a:r>
          </a:p>
        </p:txBody>
      </p:sp>
      <p:sp>
        <p:nvSpPr>
          <p:cNvPr id="156" name="Rounded Rectangle 155"/>
          <p:cNvSpPr/>
          <p:nvPr/>
        </p:nvSpPr>
        <p:spPr>
          <a:xfrm>
            <a:off x="11978640" y="5303520"/>
            <a:ext cx="2743200" cy="868680"/>
          </a:xfrm>
          <a:prstGeom prst="roundRect">
            <a:avLst>
              <a:gd name="adj" fmla="val 8000"/>
            </a:avLst>
          </a:prstGeom>
          <a:solidFill>
            <a:srgbClr val="3AC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TERJELASKAN</a:t>
            </a:r>
          </a:p>
        </p:txBody>
      </p:sp>
      <p:sp>
        <p:nvSpPr>
          <p:cNvPr id="157" name="Rounded Rectangle 156"/>
          <p:cNvSpPr/>
          <p:nvPr/>
        </p:nvSpPr>
        <p:spPr>
          <a:xfrm>
            <a:off x="822960" y="6309360"/>
            <a:ext cx="10972800" cy="868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Nilai parameter  </a:t>
            </a:r>
            <a:r>
              <a:rPr sz="1550" b="0" i="0">
                <a:solidFill>
                  <a:srgbClr val="14313B"/>
                </a:solidFill>
                <a:latin typeface="Calibri (MS)"/>
              </a:rPr>
              <a:t>Kalibrasi 3 parameter → 0 berubah; nilai turunan data terkonfirmasi (Oliva, 2003).</a:t>
            </a:r>
          </a:p>
        </p:txBody>
      </p:sp>
      <p:sp>
        <p:nvSpPr>
          <p:cNvPr id="158" name="Rounded Rectangle 157"/>
          <p:cNvSpPr/>
          <p:nvPr/>
        </p:nvSpPr>
        <p:spPr>
          <a:xfrm>
            <a:off x="11978640" y="6309360"/>
            <a:ext cx="2743200" cy="8686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TERKONFIRMASI</a:t>
            </a:r>
          </a:p>
        </p:txBody>
      </p:sp>
      <p:sp>
        <p:nvSpPr>
          <p:cNvPr id="159" name="Rounded Rectangle 158"/>
          <p:cNvSpPr/>
          <p:nvPr/>
        </p:nvSpPr>
        <p:spPr>
          <a:xfrm>
            <a:off x="14950440" y="2286000"/>
            <a:ext cx="2514600" cy="48920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720" b="1" i="0">
                <a:solidFill>
                  <a:srgbClr val="E4604F"/>
                </a:solidFill>
                <a:latin typeface="Calibri (MS) Bold"/>
              </a:rPr>
              <a:t>Batas pemakaian</a:t>
            </a:r>
          </a:p>
          <a:p>
            <a:pPr algn="l">
              <a:spcAft>
                <a:spcPts val="300"/>
              </a:spcAft>
            </a:pPr>
            <a:r>
              <a:rPr sz="1490" b="0" i="0">
                <a:solidFill>
                  <a:srgbClr val="14313B"/>
                </a:solidFill>
                <a:latin typeface="Calibri (MS)"/>
              </a:rPr>
              <a:t>Bukan alat ramal angka absolut</a:t>
            </a:r>
          </a:p>
          <a:p>
            <a:pPr algn="l">
              <a:spcAft>
                <a:spcPts val="300"/>
              </a:spcAft>
            </a:pPr>
            <a:r>
              <a:rPr sz="1490" b="0" i="0">
                <a:solidFill>
                  <a:srgbClr val="14313B"/>
                </a:solidFill>
                <a:latin typeface="Calibri (MS)"/>
              </a:rPr>
              <a:t>Evaluasi pascakalibrasi ≠ validasi independen</a:t>
            </a:r>
          </a:p>
          <a:p>
            <a:pPr algn="l">
              <a:spcAft>
                <a:spcPts val="300"/>
              </a:spcAft>
            </a:pPr>
            <a:r>
              <a:rPr sz="1490" b="0" i="0">
                <a:solidFill>
                  <a:srgbClr val="14313B"/>
                </a:solidFill>
                <a:latin typeface="Calibri (MS)"/>
              </a:rPr>
              <a:t>Tanpa guncangan eksternal</a:t>
            </a:r>
          </a:p>
          <a:p>
            <a:pPr algn="l">
              <a:spcAft>
                <a:spcPts val="300"/>
              </a:spcAft>
            </a:pPr>
            <a:r>
              <a:rPr sz="1490" b="0" i="0">
                <a:solidFill>
                  <a:srgbClr val="14313B"/>
                </a:solidFill>
                <a:latin typeface="Calibri (MS)"/>
              </a:rPr>
              <a:t>Rasio LPD/LPE tidak teridentifikasi</a:t>
            </a:r>
          </a:p>
        </p:txBody>
      </p:sp>
      <p:sp>
        <p:nvSpPr>
          <p:cNvPr id="160" name="Rounded Rectangle 159"/>
          <p:cNvSpPr/>
          <p:nvPr/>
        </p:nvSpPr>
        <p:spPr>
          <a:xfrm>
            <a:off x="822960" y="7452360"/>
            <a:ext cx="16642080" cy="8686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950" b="1" i="0">
                <a:solidFill>
                  <a:srgbClr val="FFFFFF"/>
                </a:solidFill>
                <a:latin typeface="Calibri (MS) Bold"/>
              </a:rPr>
              <a:t>Keputusan: model layak dipakai untuk membandingkan arah dan besaran relatif antarskenario kebijakan 2025–2050.</a:t>
            </a:r>
          </a:p>
        </p:txBody>
      </p:sp>
      <p:sp>
        <p:nvSpPr>
          <p:cNvPr id="161" name="TextBox 160"/>
          <p:cNvSpPr txBox="1"/>
          <p:nvPr/>
        </p:nvSpPr>
        <p:spPr>
          <a:xfrm>
            <a:off x="822960" y="854964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Sintesis dari Buku Subbab 4.4–4.6, 4.10.1, 5.1 (tidak menambah angka baru).</a:t>
            </a:r>
          </a:p>
        </p:txBody>
      </p:sp>
      <p:sp>
        <p:nvSpPr>
          <p:cNvPr id="162"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76200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3.7.5 · Rancangan Analisis Sensitivitas</a:t>
            </a:r>
          </a:p>
          <a:p>
            <a:pPr algn="l">
              <a:lnSpc>
                <a:spcPct val="100000"/>
              </a:lnSpc>
            </a:pPr>
            <a:r>
              <a:rPr lang="en-US" sz="3500" b="true">
                <a:solidFill>
                  <a:srgbClr val="0B5E6E"/>
                </a:solidFill>
                <a:latin typeface="Calibri (MS) Bold"/>
                <a:ea typeface="Calibri (MS) Bold"/>
                <a:cs typeface="Calibri (MS) Bold"/>
                <a:sym typeface="Calibri (MS) Bold"/>
              </a:rPr>
              <a:t>Analisis sensitivitas dan kekokohan: dari ±10% hingga rentang penuh</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53</a:t>
            </a:r>
          </a:p>
        </p:txBody>
      </p:sp>
      <p:grpSp>
        <p:nvGrpSpPr>
          <p:cNvPr name="Group 53" id="53"/>
          <p:cNvGrpSpPr/>
          <p:nvPr/>
        </p:nvGrpSpPr>
        <p:grpSpPr>
          <a:xfrm rot="0">
            <a:off x="813435" y="2230755"/>
            <a:ext cx="5444490" cy="3434334"/>
            <a:chOff x="0" y="0"/>
            <a:chExt cx="7259320" cy="4579112"/>
          </a:xfrm>
        </p:grpSpPr>
        <p:sp>
          <p:nvSpPr>
            <p:cNvPr name="Freeform 54" id="54"/>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55" id="55"/>
          <p:cNvGrpSpPr/>
          <p:nvPr/>
        </p:nvGrpSpPr>
        <p:grpSpPr>
          <a:xfrm rot="0">
            <a:off x="1051560" y="2468880"/>
            <a:ext cx="530352" cy="530352"/>
            <a:chOff x="0" y="0"/>
            <a:chExt cx="707136" cy="707136"/>
          </a:xfrm>
        </p:grpSpPr>
        <p:sp>
          <p:nvSpPr>
            <p:cNvPr name="Freeform 56" id="56"/>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57" id="57"/>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1</a:t>
              </a:r>
            </a:p>
          </p:txBody>
        </p:sp>
      </p:grpSp>
      <p:sp>
        <p:nvSpPr>
          <p:cNvPr name="TextBox 58" id="58"/>
          <p:cNvSpPr txBox="true"/>
          <p:nvPr/>
        </p:nvSpPr>
        <p:spPr>
          <a:xfrm rot="0">
            <a:off x="1719072" y="2430018"/>
            <a:ext cx="4373880" cy="743560"/>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Bagian 1 · Perubahan ±10% (satu per satu)</a:t>
            </a:r>
          </a:p>
        </p:txBody>
      </p:sp>
      <p:sp>
        <p:nvSpPr>
          <p:cNvPr name="TextBox 59" id="59"/>
          <p:cNvSpPr txBox="true"/>
          <p:nvPr/>
        </p:nvSpPr>
        <p:spPr>
          <a:xfrm rot="0">
            <a:off x="1051560" y="3226537"/>
            <a:ext cx="4968240" cy="1194892"/>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Prosedur Mai dan Smith (2018): 32 parameter diubah naik dan turun 10%, satu parameter per simulasi. Kedua tuas dikecualikan (bernilai nol pada kondisi dasar).</a:t>
            </a:r>
          </a:p>
        </p:txBody>
      </p:sp>
      <p:grpSp>
        <p:nvGrpSpPr>
          <p:cNvPr name="Group 60" id="60"/>
          <p:cNvGrpSpPr/>
          <p:nvPr/>
        </p:nvGrpSpPr>
        <p:grpSpPr>
          <a:xfrm rot="0">
            <a:off x="987552" y="4494581"/>
            <a:ext cx="5096256" cy="546202"/>
            <a:chOff x="0" y="0"/>
            <a:chExt cx="6795008" cy="728269"/>
          </a:xfrm>
        </p:grpSpPr>
        <p:sp>
          <p:nvSpPr>
            <p:cNvPr name="Freeform 61" id="61"/>
            <p:cNvSpPr/>
            <p:nvPr/>
          </p:nvSpPr>
          <p:spPr>
            <a:xfrm flipH="false" flipV="false" rot="0">
              <a:off x="0" y="0"/>
              <a:ext cx="6795008" cy="728218"/>
            </a:xfrm>
            <a:custGeom>
              <a:avLst/>
              <a:gdLst/>
              <a:ahLst/>
              <a:cxnLst/>
              <a:rect r="r" b="b" t="t" l="l"/>
              <a:pathLst>
                <a:path h="728218" w="6795008">
                  <a:moveTo>
                    <a:pt x="0" y="97536"/>
                  </a:moveTo>
                  <a:cubicBezTo>
                    <a:pt x="0" y="43688"/>
                    <a:pt x="43688" y="0"/>
                    <a:pt x="97536" y="0"/>
                  </a:cubicBezTo>
                  <a:lnTo>
                    <a:pt x="6697472" y="0"/>
                  </a:lnTo>
                  <a:cubicBezTo>
                    <a:pt x="6751320" y="0"/>
                    <a:pt x="6795008" y="43688"/>
                    <a:pt x="6795008" y="97536"/>
                  </a:cubicBezTo>
                  <a:lnTo>
                    <a:pt x="6795008" y="630682"/>
                  </a:lnTo>
                  <a:cubicBezTo>
                    <a:pt x="6795008" y="684530"/>
                    <a:pt x="6751320" y="728218"/>
                    <a:pt x="6697472" y="728218"/>
                  </a:cubicBezTo>
                  <a:lnTo>
                    <a:pt x="97536" y="728218"/>
                  </a:lnTo>
                  <a:cubicBezTo>
                    <a:pt x="43688" y="728218"/>
                    <a:pt x="0" y="684657"/>
                    <a:pt x="0" y="630682"/>
                  </a:cubicBezTo>
                  <a:close/>
                </a:path>
              </a:pathLst>
            </a:custGeom>
            <a:solidFill>
              <a:srgbClr val="FFF1BF"/>
            </a:solidFill>
          </p:spPr>
        </p:sp>
      </p:grpSp>
      <p:sp>
        <p:nvSpPr>
          <p:cNvPr name="TextBox 62" id="62"/>
          <p:cNvSpPr txBox="true"/>
          <p:nvPr/>
        </p:nvSpPr>
        <p:spPr>
          <a:xfrm rot="0">
            <a:off x="1124712" y="4566590"/>
            <a:ext cx="4693920" cy="391897"/>
          </a:xfrm>
          <a:prstGeom prst="rect">
            <a:avLst/>
          </a:prstGeom>
        </p:spPr>
        <p:txBody>
          <a:bodyPr anchor="t" rtlCol="false" tIns="0" lIns="0" bIns="0" rIns="0">
            <a:spAutoFit/>
          </a:bodyPr>
          <a:lstStyle/>
          <a:p>
            <a:pPr algn="l">
              <a:lnSpc>
                <a:spcPts val="2284"/>
              </a:lnSpc>
            </a:pPr>
            <a:r>
              <a:rPr lang="en-US" sz="1700" i="true">
                <a:solidFill>
                  <a:srgbClr val="14313B"/>
                </a:solidFill>
                <a:latin typeface="Cambria Italics"/>
                <a:ea typeface="Cambria Italics"/>
                <a:cs typeface="Cambria Italics"/>
                <a:sym typeface="Cambria Italics"/>
              </a:rPr>
              <a:t>Δ% = (Kₚ − K_BASE) / K_BASE × 100%</a:t>
            </a:r>
          </a:p>
        </p:txBody>
      </p:sp>
      <p:sp>
        <p:nvSpPr>
          <p:cNvPr name="TextBox 63" id="63"/>
          <p:cNvSpPr txBox="true"/>
          <p:nvPr/>
        </p:nvSpPr>
        <p:spPr>
          <a:xfrm rot="0">
            <a:off x="1051560" y="5075072"/>
            <a:ext cx="4968240" cy="3595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K = keluaran 2050; pengaruh maksimum = |Δ%| terbesar</a:t>
            </a:r>
          </a:p>
        </p:txBody>
      </p:sp>
      <p:grpSp>
        <p:nvGrpSpPr>
          <p:cNvPr name="Group 64" id="64"/>
          <p:cNvGrpSpPr/>
          <p:nvPr/>
        </p:nvGrpSpPr>
        <p:grpSpPr>
          <a:xfrm rot="0">
            <a:off x="6421755" y="2230755"/>
            <a:ext cx="5444490" cy="3434334"/>
            <a:chOff x="0" y="0"/>
            <a:chExt cx="7259320" cy="4579112"/>
          </a:xfrm>
        </p:grpSpPr>
        <p:sp>
          <p:nvSpPr>
            <p:cNvPr name="Freeform 65" id="65"/>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66" id="66"/>
          <p:cNvGrpSpPr/>
          <p:nvPr/>
        </p:nvGrpSpPr>
        <p:grpSpPr>
          <a:xfrm rot="0">
            <a:off x="6659880" y="2468880"/>
            <a:ext cx="530352" cy="530352"/>
            <a:chOff x="0" y="0"/>
            <a:chExt cx="707136" cy="707136"/>
          </a:xfrm>
        </p:grpSpPr>
        <p:sp>
          <p:nvSpPr>
            <p:cNvPr name="Freeform 67" id="67"/>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68" id="68"/>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2</a:t>
              </a:r>
            </a:p>
          </p:txBody>
        </p:sp>
      </p:grpSp>
      <p:sp>
        <p:nvSpPr>
          <p:cNvPr name="TextBox 69" id="69"/>
          <p:cNvSpPr txBox="true"/>
          <p:nvPr/>
        </p:nvSpPr>
        <p:spPr>
          <a:xfrm rot="0">
            <a:off x="7327392" y="2430018"/>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Bagian 2 · Rentang penuh</a:t>
            </a:r>
          </a:p>
        </p:txBody>
      </p:sp>
      <p:sp>
        <p:nvSpPr>
          <p:cNvPr name="TextBox 70" id="70"/>
          <p:cNvSpPr txBox="true"/>
          <p:nvPr/>
        </p:nvSpPr>
        <p:spPr>
          <a:xfrm rot="0">
            <a:off x="6659880" y="3088767"/>
            <a:ext cx="4968240" cy="1194892"/>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17 kelompok parameter berstatus asumsi beserta kedua tuas diuji pada seluruh rentangnya (triangulasi rujukan atau selang kepercayaan 95%, sama dengan rentang kalibrasi).</a:t>
            </a:r>
          </a:p>
        </p:txBody>
      </p:sp>
      <p:grpSp>
        <p:nvGrpSpPr>
          <p:cNvPr name="Group 71" id="71"/>
          <p:cNvGrpSpPr/>
          <p:nvPr/>
        </p:nvGrpSpPr>
        <p:grpSpPr>
          <a:xfrm rot="0">
            <a:off x="6595872" y="4356811"/>
            <a:ext cx="5096256" cy="836371"/>
            <a:chOff x="0" y="0"/>
            <a:chExt cx="6795008" cy="1115162"/>
          </a:xfrm>
        </p:grpSpPr>
        <p:sp>
          <p:nvSpPr>
            <p:cNvPr name="Freeform 72" id="72"/>
            <p:cNvSpPr/>
            <p:nvPr/>
          </p:nvSpPr>
          <p:spPr>
            <a:xfrm flipH="false" flipV="false" rot="0">
              <a:off x="0" y="0"/>
              <a:ext cx="6795008" cy="1115187"/>
            </a:xfrm>
            <a:custGeom>
              <a:avLst/>
              <a:gdLst/>
              <a:ahLst/>
              <a:cxnLst/>
              <a:rect r="r" b="b" t="t" l="l"/>
              <a:pathLst>
                <a:path h="1115187" w="6795008">
                  <a:moveTo>
                    <a:pt x="0" y="97536"/>
                  </a:moveTo>
                  <a:cubicBezTo>
                    <a:pt x="0" y="43688"/>
                    <a:pt x="43688" y="0"/>
                    <a:pt x="97536" y="0"/>
                  </a:cubicBezTo>
                  <a:lnTo>
                    <a:pt x="6697472" y="0"/>
                  </a:lnTo>
                  <a:cubicBezTo>
                    <a:pt x="6751320" y="0"/>
                    <a:pt x="6795008" y="43688"/>
                    <a:pt x="6795008" y="97536"/>
                  </a:cubicBezTo>
                  <a:lnTo>
                    <a:pt x="6795008" y="1017651"/>
                  </a:lnTo>
                  <a:cubicBezTo>
                    <a:pt x="6795008" y="1071499"/>
                    <a:pt x="6751320" y="1115187"/>
                    <a:pt x="6697472" y="1115187"/>
                  </a:cubicBezTo>
                  <a:lnTo>
                    <a:pt x="97536" y="1115187"/>
                  </a:lnTo>
                  <a:cubicBezTo>
                    <a:pt x="43688" y="1115187"/>
                    <a:pt x="0" y="1071499"/>
                    <a:pt x="0" y="1017651"/>
                  </a:cubicBezTo>
                  <a:close/>
                </a:path>
              </a:pathLst>
            </a:custGeom>
            <a:solidFill>
              <a:srgbClr val="FFF1BF"/>
            </a:solidFill>
          </p:spPr>
        </p:sp>
      </p:grpSp>
      <p:sp>
        <p:nvSpPr>
          <p:cNvPr name="TextBox 73" id="73"/>
          <p:cNvSpPr txBox="true"/>
          <p:nvPr/>
        </p:nvSpPr>
        <p:spPr>
          <a:xfrm rot="0">
            <a:off x="6733032" y="4428820"/>
            <a:ext cx="4693920" cy="682066"/>
          </a:xfrm>
          <a:prstGeom prst="rect">
            <a:avLst/>
          </a:prstGeom>
        </p:spPr>
        <p:txBody>
          <a:bodyPr anchor="t" rtlCol="false" tIns="0" lIns="0" bIns="0" rIns="0">
            <a:spAutoFit/>
          </a:bodyPr>
          <a:lstStyle/>
          <a:p>
            <a:pPr algn="l">
              <a:lnSpc>
                <a:spcPts val="2284"/>
              </a:lnSpc>
            </a:pPr>
            <a:r>
              <a:rPr lang="en-US" sz="1700" i="true">
                <a:solidFill>
                  <a:srgbClr val="14313B"/>
                </a:solidFill>
                <a:latin typeface="Cambria Italics"/>
                <a:ea typeface="Cambria Italics"/>
                <a:cs typeface="Cambria Italics"/>
                <a:sym typeface="Cambria Italics"/>
              </a:rPr>
              <a:t>Lebar rentang = Keluaran_maks − Keluaran_min</a:t>
            </a:r>
          </a:p>
        </p:txBody>
      </p:sp>
      <p:sp>
        <p:nvSpPr>
          <p:cNvPr name="TextBox 74" id="74"/>
          <p:cNvSpPr txBox="true"/>
          <p:nvPr/>
        </p:nvSpPr>
        <p:spPr>
          <a:xfrm rot="0">
            <a:off x="6659880" y="5227472"/>
            <a:ext cx="4968240" cy="3595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Dinyatakan dalam poin persen terhadap simulasi dasar</a:t>
            </a:r>
          </a:p>
        </p:txBody>
      </p:sp>
      <p:grpSp>
        <p:nvGrpSpPr>
          <p:cNvPr name="Group 75" id="75"/>
          <p:cNvGrpSpPr/>
          <p:nvPr/>
        </p:nvGrpSpPr>
        <p:grpSpPr>
          <a:xfrm rot="0">
            <a:off x="12030075" y="2230755"/>
            <a:ext cx="5444490" cy="3434334"/>
            <a:chOff x="0" y="0"/>
            <a:chExt cx="7259320" cy="4579112"/>
          </a:xfrm>
        </p:grpSpPr>
        <p:sp>
          <p:nvSpPr>
            <p:cNvPr name="Freeform 76" id="76"/>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77" id="77"/>
          <p:cNvGrpSpPr/>
          <p:nvPr/>
        </p:nvGrpSpPr>
        <p:grpSpPr>
          <a:xfrm rot="0">
            <a:off x="12268200" y="2468880"/>
            <a:ext cx="530352" cy="530352"/>
            <a:chOff x="0" y="0"/>
            <a:chExt cx="707136" cy="707136"/>
          </a:xfrm>
        </p:grpSpPr>
        <p:sp>
          <p:nvSpPr>
            <p:cNvPr name="Freeform 78" id="78"/>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79" id="79"/>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3</a:t>
              </a:r>
            </a:p>
          </p:txBody>
        </p:sp>
      </p:grpSp>
      <p:sp>
        <p:nvSpPr>
          <p:cNvPr name="TextBox 80" id="80"/>
          <p:cNvSpPr txBox="true"/>
          <p:nvPr/>
        </p:nvSpPr>
        <p:spPr>
          <a:xfrm rot="0">
            <a:off x="12935712" y="2430018"/>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Kekokohan peringkat skenario</a:t>
            </a:r>
          </a:p>
        </p:txBody>
      </p:sp>
      <p:sp>
        <p:nvSpPr>
          <p:cNvPr name="TextBox 81" id="81"/>
          <p:cNvSpPr txBox="true"/>
          <p:nvPr/>
        </p:nvSpPr>
        <p:spPr>
          <a:xfrm rot="0">
            <a:off x="12268200" y="3088767"/>
            <a:ext cx="4968240" cy="1194892"/>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3 skenario × 7 kondisi: C0 acuan + C1–C6 yang menggeser rasio LPD/LPE (0,65; 0,90), bobot daya tarik (2 kombinasi alternatif), dan laju konversi dasar (batas selang kepercayaan 95%).</a:t>
            </a:r>
          </a:p>
        </p:txBody>
      </p:sp>
      <p:sp>
        <p:nvSpPr>
          <p:cNvPr name="TextBox 82" id="82"/>
          <p:cNvSpPr txBox="true"/>
          <p:nvPr/>
        </p:nvSpPr>
        <p:spPr>
          <a:xfrm rot="0">
            <a:off x="12268200" y="4299661"/>
            <a:ext cx="4968240" cy="607009"/>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Kokoh bila urutan skenario pada 7 indikator identik di C0–C6</a:t>
            </a:r>
          </a:p>
        </p:txBody>
      </p:sp>
      <p:grpSp>
        <p:nvGrpSpPr>
          <p:cNvPr name="Group 83" id="83"/>
          <p:cNvGrpSpPr/>
          <p:nvPr/>
        </p:nvGrpSpPr>
        <p:grpSpPr>
          <a:xfrm rot="0">
            <a:off x="813435" y="5828919"/>
            <a:ext cx="5444490" cy="3434334"/>
            <a:chOff x="0" y="0"/>
            <a:chExt cx="7259320" cy="4579112"/>
          </a:xfrm>
        </p:grpSpPr>
        <p:sp>
          <p:nvSpPr>
            <p:cNvPr name="Freeform 84" id="84"/>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85" id="85"/>
          <p:cNvGrpSpPr/>
          <p:nvPr/>
        </p:nvGrpSpPr>
        <p:grpSpPr>
          <a:xfrm rot="0">
            <a:off x="1051560" y="6067044"/>
            <a:ext cx="530352" cy="530352"/>
            <a:chOff x="0" y="0"/>
            <a:chExt cx="707136" cy="707136"/>
          </a:xfrm>
        </p:grpSpPr>
        <p:sp>
          <p:nvSpPr>
            <p:cNvPr name="Freeform 86" id="86"/>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87" id="87"/>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4</a:t>
              </a:r>
            </a:p>
          </p:txBody>
        </p:sp>
      </p:grpSp>
      <p:sp>
        <p:nvSpPr>
          <p:cNvPr name="TextBox 88" id="88"/>
          <p:cNvSpPr txBox="true"/>
          <p:nvPr/>
        </p:nvSpPr>
        <p:spPr>
          <a:xfrm rot="0">
            <a:off x="1719072" y="6028182"/>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Enam variabel keluaran</a:t>
            </a:r>
          </a:p>
        </p:txBody>
      </p:sp>
      <p:sp>
        <p:nvSpPr>
          <p:cNvPr name="TextBox 89" id="89"/>
          <p:cNvSpPr txBox="true"/>
          <p:nvPr/>
        </p:nvSpPr>
        <p:spPr>
          <a:xfrm rot="0">
            <a:off x="1051560" y="6686931"/>
            <a:ext cx="4968240" cy="1467993"/>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Jumlah wisatawan (acuan utama), PDRB sektor pariwisata (ekonomi), lahan terbangun (lingkungan), serta hotel &amp; akomodasi, tenaga kerja, dan ODTW sebagai pendamping — agar parameter penting bagi dimensi lain tidak terlewat.</a:t>
            </a:r>
          </a:p>
        </p:txBody>
      </p:sp>
      <p:grpSp>
        <p:nvGrpSpPr>
          <p:cNvPr name="Group 90" id="90"/>
          <p:cNvGrpSpPr/>
          <p:nvPr/>
        </p:nvGrpSpPr>
        <p:grpSpPr>
          <a:xfrm rot="0">
            <a:off x="6421755" y="5828919"/>
            <a:ext cx="5444490" cy="3434334"/>
            <a:chOff x="0" y="0"/>
            <a:chExt cx="7259320" cy="4579112"/>
          </a:xfrm>
        </p:grpSpPr>
        <p:sp>
          <p:nvSpPr>
            <p:cNvPr name="Freeform 91" id="91"/>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92" id="92"/>
          <p:cNvGrpSpPr/>
          <p:nvPr/>
        </p:nvGrpSpPr>
        <p:grpSpPr>
          <a:xfrm rot="0">
            <a:off x="6659880" y="6067044"/>
            <a:ext cx="530352" cy="530352"/>
            <a:chOff x="0" y="0"/>
            <a:chExt cx="707136" cy="707136"/>
          </a:xfrm>
        </p:grpSpPr>
        <p:sp>
          <p:nvSpPr>
            <p:cNvPr name="Freeform 93" id="9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94" id="94"/>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5</a:t>
              </a:r>
            </a:p>
          </p:txBody>
        </p:sp>
      </p:grpSp>
      <p:sp>
        <p:nvSpPr>
          <p:cNvPr name="TextBox 95" id="95"/>
          <p:cNvSpPr txBox="true"/>
          <p:nvPr/>
        </p:nvSpPr>
        <p:spPr>
          <a:xfrm rot="0">
            <a:off x="7327392" y="6028182"/>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Ketentuan pengujian</a:t>
            </a:r>
          </a:p>
        </p:txBody>
      </p:sp>
      <p:sp>
        <p:nvSpPr>
          <p:cNvPr name="TextBox 96" id="96"/>
          <p:cNvSpPr txBox="true"/>
          <p:nvPr/>
        </p:nvSpPr>
        <p:spPr>
          <a:xfrm rot="0">
            <a:off x="6659880" y="6686931"/>
            <a:ext cx="4968240" cy="1741094"/>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Parameter berpasangan dihitung ulang (LPE–LPD rasio 0,75; TPK ambang/demolisi–sensitivitas konstruksi; penutupan ODTW–sensitivitas ODTW; luas lahan–nilai referensi); ketiga bobot daya tarik dinormalisasi ulang agar berjumlah 1; nilai awal stok diubah melalui kondisi awal simulasi.</a:t>
            </a:r>
          </a:p>
        </p:txBody>
      </p:sp>
      <p:grpSp>
        <p:nvGrpSpPr>
          <p:cNvPr name="Group 97" id="97"/>
          <p:cNvGrpSpPr/>
          <p:nvPr/>
        </p:nvGrpSpPr>
        <p:grpSpPr>
          <a:xfrm rot="0">
            <a:off x="12030075" y="5828919"/>
            <a:ext cx="5444490" cy="3434334"/>
            <a:chOff x="0" y="0"/>
            <a:chExt cx="7259320" cy="4579112"/>
          </a:xfrm>
        </p:grpSpPr>
        <p:sp>
          <p:nvSpPr>
            <p:cNvPr name="Freeform 98" id="98"/>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99" id="99"/>
          <p:cNvGrpSpPr/>
          <p:nvPr/>
        </p:nvGrpSpPr>
        <p:grpSpPr>
          <a:xfrm rot="0">
            <a:off x="12268200" y="6067044"/>
            <a:ext cx="530352" cy="530352"/>
            <a:chOff x="0" y="0"/>
            <a:chExt cx="707136" cy="707136"/>
          </a:xfrm>
        </p:grpSpPr>
        <p:sp>
          <p:nvSpPr>
            <p:cNvPr name="Freeform 100" id="100"/>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101" id="101"/>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6</a:t>
              </a:r>
            </a:p>
          </p:txBody>
        </p:sp>
      </p:grpSp>
      <p:sp>
        <p:nvSpPr>
          <p:cNvPr name="TextBox 102" id="102"/>
          <p:cNvSpPr txBox="true"/>
          <p:nvPr/>
        </p:nvSpPr>
        <p:spPr>
          <a:xfrm rot="0">
            <a:off x="12935712" y="6028182"/>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Penetapan tuas kebijakan</a:t>
            </a:r>
          </a:p>
        </p:txBody>
      </p:sp>
      <p:sp>
        <p:nvSpPr>
          <p:cNvPr name="TextBox 103" id="103"/>
          <p:cNvSpPr txBox="true"/>
          <p:nvPr/>
        </p:nvSpPr>
        <p:spPr>
          <a:xfrm rot="0">
            <a:off x="12268200" y="6686931"/>
            <a:ext cx="4968240" cy="1194892"/>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Hasil sensitivitas menjadi kriteria pertama (relevansi struktural), lalu disaring dengan dasar kebijakan dan keterkendalian → Insentif Kebijakan dan Kebijakan Konservasi Lahan.</a:t>
            </a:r>
          </a:p>
        </p:txBody>
      </p:sp>
      <p:sp>
        <p:nvSpPr>
          <p:cNvPr id="104" name="TextBox 103"/>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2F · Analisis sensitivitas</a:t>
            </a:r>
          </a:p>
        </p:txBody>
      </p:sp>
      <p:sp>
        <p:nvSpPr>
          <p:cNvPr id="105"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4.7 · Hasil Analisis Sensitivitas</a:t>
            </a:r>
          </a:p>
          <a:p>
            <a:pPr algn="l">
              <a:lnSpc>
                <a:spcPct val="100000"/>
              </a:lnSpc>
            </a:pPr>
            <a:r>
              <a:rPr lang="en-US" sz="3500" b="true">
                <a:solidFill>
                  <a:srgbClr val="0B5E6E"/>
                </a:solidFill>
                <a:latin typeface="Calibri (MS) Bold"/>
                <a:ea typeface="Calibri (MS) Bold"/>
                <a:cs typeface="Calibri (MS) Bold"/>
                <a:sym typeface="Calibri (MS) Bold"/>
              </a:rPr>
              <a:t>Ketidakpastian terbesar model ada pada asumsi, bukan pada data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2236470"/>
            <a:ext cx="1014984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Pengaruh maksimum terhadap jumlah wisatawan 2050 (uji ±10%, %)</a:t>
            </a:r>
          </a:p>
        </p:txBody>
      </p:sp>
      <p:grpSp>
        <p:nvGrpSpPr>
          <p:cNvPr name="Group 53" id="53"/>
          <p:cNvGrpSpPr/>
          <p:nvPr/>
        </p:nvGrpSpPr>
        <p:grpSpPr>
          <a:xfrm rot="0">
            <a:off x="822960" y="8476488"/>
            <a:ext cx="274320" cy="274320"/>
            <a:chOff x="0" y="0"/>
            <a:chExt cx="365760" cy="365760"/>
          </a:xfrm>
        </p:grpSpPr>
        <p:sp>
          <p:nvSpPr>
            <p:cNvPr name="Freeform 54" id="54"/>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FFD23B"/>
            </a:solidFill>
          </p:spPr>
        </p:sp>
      </p:grpSp>
      <p:grpSp>
        <p:nvGrpSpPr>
          <p:cNvPr name="Group 55" id="55"/>
          <p:cNvGrpSpPr/>
          <p:nvPr/>
        </p:nvGrpSpPr>
        <p:grpSpPr>
          <a:xfrm rot="0">
            <a:off x="1207008" y="8394192"/>
            <a:ext cx="2125980" cy="438912"/>
            <a:chOff x="0" y="0"/>
            <a:chExt cx="2834640" cy="585216"/>
          </a:xfrm>
        </p:grpSpPr>
        <p:sp>
          <p:nvSpPr>
            <p:cNvPr name="Freeform 56" id="56"/>
            <p:cNvSpPr/>
            <p:nvPr/>
          </p:nvSpPr>
          <p:spPr>
            <a:xfrm flipH="false" flipV="false" rot="0">
              <a:off x="0" y="0"/>
              <a:ext cx="2834640" cy="585216"/>
            </a:xfrm>
            <a:custGeom>
              <a:avLst/>
              <a:gdLst/>
              <a:ahLst/>
              <a:cxnLst/>
              <a:rect r="r" b="b" t="t" l="l"/>
              <a:pathLst>
                <a:path h="585216" w="2834640">
                  <a:moveTo>
                    <a:pt x="0" y="0"/>
                  </a:moveTo>
                  <a:lnTo>
                    <a:pt x="2834640" y="0"/>
                  </a:lnTo>
                  <a:lnTo>
                    <a:pt x="2834640" y="585216"/>
                  </a:lnTo>
                  <a:lnTo>
                    <a:pt x="0" y="585216"/>
                  </a:lnTo>
                  <a:close/>
                </a:path>
              </a:pathLst>
            </a:custGeom>
            <a:blipFill>
              <a:blip r:embed="rId4">
                <a:alphaModFix amt="0"/>
              </a:blip>
              <a:stretch>
                <a:fillRect l="0" t="-44314" r="0" b="-44316"/>
              </a:stretch>
            </a:blipFill>
          </p:spPr>
        </p:sp>
      </p:grpSp>
      <p:grpSp>
        <p:nvGrpSpPr>
          <p:cNvPr name="Group 57" id="57"/>
          <p:cNvGrpSpPr/>
          <p:nvPr/>
        </p:nvGrpSpPr>
        <p:grpSpPr>
          <a:xfrm rot="0">
            <a:off x="1207008" y="8372761"/>
            <a:ext cx="2125980" cy="460343"/>
            <a:chOff x="0" y="0"/>
            <a:chExt cx="2834640" cy="613791"/>
          </a:xfrm>
        </p:grpSpPr>
        <p:sp>
          <p:nvSpPr>
            <p:cNvPr name="Freeform 58" id="58"/>
            <p:cNvSpPr/>
            <p:nvPr/>
          </p:nvSpPr>
          <p:spPr>
            <a:xfrm flipH="false" flipV="false" rot="0">
              <a:off x="0" y="0"/>
              <a:ext cx="2834640" cy="613791"/>
            </a:xfrm>
            <a:custGeom>
              <a:avLst/>
              <a:gdLst/>
              <a:ahLst/>
              <a:cxnLst/>
              <a:rect r="r" b="b" t="t" l="l"/>
              <a:pathLst>
                <a:path h="613791" w="2834640">
                  <a:moveTo>
                    <a:pt x="0" y="0"/>
                  </a:moveTo>
                  <a:lnTo>
                    <a:pt x="2834640" y="0"/>
                  </a:lnTo>
                  <a:lnTo>
                    <a:pt x="2834640" y="613791"/>
                  </a:lnTo>
                  <a:lnTo>
                    <a:pt x="0" y="613791"/>
                  </a:lnTo>
                  <a:close/>
                </a:path>
              </a:pathLst>
            </a:custGeom>
            <a:blipFill>
              <a:blip r:embed="rId5">
                <a:alphaModFix amt="0"/>
              </a:blip>
              <a:stretch>
                <a:fillRect l="0" t="-39986" r="0" b="-39986"/>
              </a:stretch>
            </a:blipFill>
          </p:spPr>
        </p:sp>
        <p:sp>
          <p:nvSpPr>
            <p:cNvPr name="TextBox 59" id="59"/>
            <p:cNvSpPr txBox="true"/>
            <p:nvPr/>
          </p:nvSpPr>
          <p:spPr>
            <a:xfrm>
              <a:off x="0" y="-28575"/>
              <a:ext cx="2834640" cy="642366"/>
            </a:xfrm>
            <a:prstGeom prst="rect">
              <a:avLst/>
            </a:prstGeom>
          </p:spPr>
          <p:txBody>
            <a:bodyPr anchor="ctr" rtlCol="false" tIns="0" lIns="0" bIns="0" rIns="0"/>
            <a:lstStyle/>
            <a:p>
              <a:pPr algn="l">
                <a:lnSpc>
                  <a:spcPts val="1980"/>
                </a:lnSpc>
              </a:pPr>
              <a:r>
                <a:rPr lang="en-US" sz="1650">
                  <a:solidFill>
                    <a:srgbClr val="14313B"/>
                  </a:solidFill>
                  <a:latin typeface="Calibri (MS)"/>
                  <a:ea typeface="Calibri (MS)"/>
                  <a:cs typeface="Calibri (MS)"/>
                  <a:sym typeface="Calibri (MS)"/>
                </a:rPr>
                <a:t>Asumsi peneliti</a:t>
              </a:r>
            </a:p>
          </p:txBody>
        </p:sp>
      </p:grpSp>
      <p:grpSp>
        <p:nvGrpSpPr>
          <p:cNvPr name="Group 60" id="60"/>
          <p:cNvGrpSpPr/>
          <p:nvPr/>
        </p:nvGrpSpPr>
        <p:grpSpPr>
          <a:xfrm rot="0">
            <a:off x="3360420" y="8476488"/>
            <a:ext cx="274320" cy="274320"/>
            <a:chOff x="0" y="0"/>
            <a:chExt cx="365760" cy="365760"/>
          </a:xfrm>
        </p:grpSpPr>
        <p:sp>
          <p:nvSpPr>
            <p:cNvPr name="Freeform 61" id="61"/>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6BE5EA"/>
            </a:solidFill>
          </p:spPr>
        </p:sp>
      </p:grpSp>
      <p:grpSp>
        <p:nvGrpSpPr>
          <p:cNvPr name="Group 62" id="62"/>
          <p:cNvGrpSpPr/>
          <p:nvPr/>
        </p:nvGrpSpPr>
        <p:grpSpPr>
          <a:xfrm rot="0">
            <a:off x="3744468" y="8394192"/>
            <a:ext cx="2125980" cy="438912"/>
            <a:chOff x="0" y="0"/>
            <a:chExt cx="2834640" cy="585216"/>
          </a:xfrm>
        </p:grpSpPr>
        <p:sp>
          <p:nvSpPr>
            <p:cNvPr name="Freeform 63" id="63"/>
            <p:cNvSpPr/>
            <p:nvPr/>
          </p:nvSpPr>
          <p:spPr>
            <a:xfrm flipH="false" flipV="false" rot="0">
              <a:off x="0" y="0"/>
              <a:ext cx="2834640" cy="585216"/>
            </a:xfrm>
            <a:custGeom>
              <a:avLst/>
              <a:gdLst/>
              <a:ahLst/>
              <a:cxnLst/>
              <a:rect r="r" b="b" t="t" l="l"/>
              <a:pathLst>
                <a:path h="585216" w="2834640">
                  <a:moveTo>
                    <a:pt x="0" y="0"/>
                  </a:moveTo>
                  <a:lnTo>
                    <a:pt x="2834640" y="0"/>
                  </a:lnTo>
                  <a:lnTo>
                    <a:pt x="2834640" y="585216"/>
                  </a:lnTo>
                  <a:lnTo>
                    <a:pt x="0" y="585216"/>
                  </a:lnTo>
                  <a:close/>
                </a:path>
              </a:pathLst>
            </a:custGeom>
            <a:blipFill>
              <a:blip r:embed="rId4">
                <a:alphaModFix amt="0"/>
              </a:blip>
              <a:stretch>
                <a:fillRect l="0" t="-44314" r="0" b="-44316"/>
              </a:stretch>
            </a:blipFill>
          </p:spPr>
        </p:sp>
      </p:grpSp>
      <p:grpSp>
        <p:nvGrpSpPr>
          <p:cNvPr name="Group 64" id="64"/>
          <p:cNvGrpSpPr/>
          <p:nvPr/>
        </p:nvGrpSpPr>
        <p:grpSpPr>
          <a:xfrm rot="0">
            <a:off x="3744468" y="8372761"/>
            <a:ext cx="2125980" cy="460343"/>
            <a:chOff x="0" y="0"/>
            <a:chExt cx="2834640" cy="613791"/>
          </a:xfrm>
        </p:grpSpPr>
        <p:sp>
          <p:nvSpPr>
            <p:cNvPr name="Freeform 65" id="65"/>
            <p:cNvSpPr/>
            <p:nvPr/>
          </p:nvSpPr>
          <p:spPr>
            <a:xfrm flipH="false" flipV="false" rot="0">
              <a:off x="0" y="0"/>
              <a:ext cx="2834640" cy="613791"/>
            </a:xfrm>
            <a:custGeom>
              <a:avLst/>
              <a:gdLst/>
              <a:ahLst/>
              <a:cxnLst/>
              <a:rect r="r" b="b" t="t" l="l"/>
              <a:pathLst>
                <a:path h="613791" w="2834640">
                  <a:moveTo>
                    <a:pt x="0" y="0"/>
                  </a:moveTo>
                  <a:lnTo>
                    <a:pt x="2834640" y="0"/>
                  </a:lnTo>
                  <a:lnTo>
                    <a:pt x="2834640" y="613791"/>
                  </a:lnTo>
                  <a:lnTo>
                    <a:pt x="0" y="613791"/>
                  </a:lnTo>
                  <a:close/>
                </a:path>
              </a:pathLst>
            </a:custGeom>
            <a:blipFill>
              <a:blip r:embed="rId5">
                <a:alphaModFix amt="0"/>
              </a:blip>
              <a:stretch>
                <a:fillRect l="0" t="-39986" r="0" b="-39986"/>
              </a:stretch>
            </a:blipFill>
          </p:spPr>
        </p:sp>
        <p:sp>
          <p:nvSpPr>
            <p:cNvPr name="TextBox 66" id="66"/>
            <p:cNvSpPr txBox="true"/>
            <p:nvPr/>
          </p:nvSpPr>
          <p:spPr>
            <a:xfrm>
              <a:off x="0" y="-28575"/>
              <a:ext cx="2834640" cy="642366"/>
            </a:xfrm>
            <a:prstGeom prst="rect">
              <a:avLst/>
            </a:prstGeom>
          </p:spPr>
          <p:txBody>
            <a:bodyPr anchor="ctr" rtlCol="false" tIns="0" lIns="0" bIns="0" rIns="0"/>
            <a:lstStyle/>
            <a:p>
              <a:pPr algn="l">
                <a:lnSpc>
                  <a:spcPts val="1980"/>
                </a:lnSpc>
              </a:pPr>
              <a:r>
                <a:rPr lang="en-US" sz="1650">
                  <a:solidFill>
                    <a:srgbClr val="14313B"/>
                  </a:solidFill>
                  <a:latin typeface="Calibri (MS)"/>
                  <a:ea typeface="Calibri (MS)"/>
                  <a:cs typeface="Calibri (MS)"/>
                  <a:sym typeface="Calibri (MS)"/>
                </a:rPr>
                <a:t>Nilai acuan (normalisasi)</a:t>
              </a:r>
            </a:p>
          </p:txBody>
        </p:sp>
      </p:grpSp>
      <p:grpSp>
        <p:nvGrpSpPr>
          <p:cNvPr name="Group 67" id="67"/>
          <p:cNvGrpSpPr/>
          <p:nvPr/>
        </p:nvGrpSpPr>
        <p:grpSpPr>
          <a:xfrm rot="0">
            <a:off x="5897880" y="8476488"/>
            <a:ext cx="274320" cy="274320"/>
            <a:chOff x="0" y="0"/>
            <a:chExt cx="365760" cy="365760"/>
          </a:xfrm>
        </p:grpSpPr>
        <p:sp>
          <p:nvSpPr>
            <p:cNvPr name="Freeform 68" id="68"/>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9C0D3"/>
            </a:solidFill>
          </p:spPr>
        </p:sp>
      </p:grpSp>
      <p:grpSp>
        <p:nvGrpSpPr>
          <p:cNvPr name="Group 69" id="69"/>
          <p:cNvGrpSpPr/>
          <p:nvPr/>
        </p:nvGrpSpPr>
        <p:grpSpPr>
          <a:xfrm rot="0">
            <a:off x="6281928" y="8394192"/>
            <a:ext cx="2125980" cy="438912"/>
            <a:chOff x="0" y="0"/>
            <a:chExt cx="2834640" cy="585216"/>
          </a:xfrm>
        </p:grpSpPr>
        <p:sp>
          <p:nvSpPr>
            <p:cNvPr name="Freeform 70" id="70"/>
            <p:cNvSpPr/>
            <p:nvPr/>
          </p:nvSpPr>
          <p:spPr>
            <a:xfrm flipH="false" flipV="false" rot="0">
              <a:off x="0" y="0"/>
              <a:ext cx="2834640" cy="585216"/>
            </a:xfrm>
            <a:custGeom>
              <a:avLst/>
              <a:gdLst/>
              <a:ahLst/>
              <a:cxnLst/>
              <a:rect r="r" b="b" t="t" l="l"/>
              <a:pathLst>
                <a:path h="585216" w="2834640">
                  <a:moveTo>
                    <a:pt x="0" y="0"/>
                  </a:moveTo>
                  <a:lnTo>
                    <a:pt x="2834640" y="0"/>
                  </a:lnTo>
                  <a:lnTo>
                    <a:pt x="2834640" y="585216"/>
                  </a:lnTo>
                  <a:lnTo>
                    <a:pt x="0" y="585216"/>
                  </a:lnTo>
                  <a:close/>
                </a:path>
              </a:pathLst>
            </a:custGeom>
            <a:blipFill>
              <a:blip r:embed="rId4">
                <a:alphaModFix amt="0"/>
              </a:blip>
              <a:stretch>
                <a:fillRect l="0" t="-44314" r="0" b="-44316"/>
              </a:stretch>
            </a:blipFill>
          </p:spPr>
        </p:sp>
      </p:grpSp>
      <p:grpSp>
        <p:nvGrpSpPr>
          <p:cNvPr name="Group 71" id="71"/>
          <p:cNvGrpSpPr/>
          <p:nvPr/>
        </p:nvGrpSpPr>
        <p:grpSpPr>
          <a:xfrm rot="0">
            <a:off x="6281928" y="8372761"/>
            <a:ext cx="2125980" cy="460343"/>
            <a:chOff x="0" y="0"/>
            <a:chExt cx="2834640" cy="613791"/>
          </a:xfrm>
        </p:grpSpPr>
        <p:sp>
          <p:nvSpPr>
            <p:cNvPr name="Freeform 72" id="72"/>
            <p:cNvSpPr/>
            <p:nvPr/>
          </p:nvSpPr>
          <p:spPr>
            <a:xfrm flipH="false" flipV="false" rot="0">
              <a:off x="0" y="0"/>
              <a:ext cx="2834640" cy="613791"/>
            </a:xfrm>
            <a:custGeom>
              <a:avLst/>
              <a:gdLst/>
              <a:ahLst/>
              <a:cxnLst/>
              <a:rect r="r" b="b" t="t" l="l"/>
              <a:pathLst>
                <a:path h="613791" w="2834640">
                  <a:moveTo>
                    <a:pt x="0" y="0"/>
                  </a:moveTo>
                  <a:lnTo>
                    <a:pt x="2834640" y="0"/>
                  </a:lnTo>
                  <a:lnTo>
                    <a:pt x="2834640" y="613791"/>
                  </a:lnTo>
                  <a:lnTo>
                    <a:pt x="0" y="613791"/>
                  </a:lnTo>
                  <a:close/>
                </a:path>
              </a:pathLst>
            </a:custGeom>
            <a:blipFill>
              <a:blip r:embed="rId5">
                <a:alphaModFix amt="0"/>
              </a:blip>
              <a:stretch>
                <a:fillRect l="0" t="-39986" r="0" b="-39986"/>
              </a:stretch>
            </a:blipFill>
          </p:spPr>
        </p:sp>
        <p:sp>
          <p:nvSpPr>
            <p:cNvPr name="TextBox 73" id="73"/>
            <p:cNvSpPr txBox="true"/>
            <p:nvPr/>
          </p:nvSpPr>
          <p:spPr>
            <a:xfrm>
              <a:off x="0" y="-28575"/>
              <a:ext cx="2834640" cy="642366"/>
            </a:xfrm>
            <a:prstGeom prst="rect">
              <a:avLst/>
            </a:prstGeom>
          </p:spPr>
          <p:txBody>
            <a:bodyPr anchor="ctr" rtlCol="false" tIns="0" lIns="0" bIns="0" rIns="0"/>
            <a:lstStyle/>
            <a:p>
              <a:pPr algn="l">
                <a:lnSpc>
                  <a:spcPts val="1980"/>
                </a:lnSpc>
              </a:pPr>
              <a:r>
                <a:rPr lang="en-US" sz="1650">
                  <a:solidFill>
                    <a:srgbClr val="14313B"/>
                  </a:solidFill>
                  <a:latin typeface="Calibri (MS)"/>
                  <a:ea typeface="Calibri (MS)"/>
                  <a:cs typeface="Calibri (MS)"/>
                  <a:sym typeface="Calibri (MS)"/>
                </a:rPr>
                <a:t>Turunan data</a:t>
              </a:r>
            </a:p>
          </p:txBody>
        </p:sp>
      </p:grpSp>
      <p:grpSp>
        <p:nvGrpSpPr>
          <p:cNvPr name="Group 74" id="74"/>
          <p:cNvGrpSpPr/>
          <p:nvPr/>
        </p:nvGrpSpPr>
        <p:grpSpPr>
          <a:xfrm rot="0">
            <a:off x="8435340" y="8476488"/>
            <a:ext cx="274320" cy="274320"/>
            <a:chOff x="0" y="0"/>
            <a:chExt cx="365760" cy="365760"/>
          </a:xfrm>
        </p:grpSpPr>
        <p:sp>
          <p:nvSpPr>
            <p:cNvPr name="Freeform 75" id="75"/>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8A99A1"/>
            </a:solidFill>
          </p:spPr>
        </p:sp>
      </p:grpSp>
      <p:grpSp>
        <p:nvGrpSpPr>
          <p:cNvPr name="Group 76" id="76"/>
          <p:cNvGrpSpPr/>
          <p:nvPr/>
        </p:nvGrpSpPr>
        <p:grpSpPr>
          <a:xfrm rot="0">
            <a:off x="8819388" y="8394192"/>
            <a:ext cx="2125980" cy="438912"/>
            <a:chOff x="0" y="0"/>
            <a:chExt cx="2834640" cy="585216"/>
          </a:xfrm>
        </p:grpSpPr>
        <p:sp>
          <p:nvSpPr>
            <p:cNvPr name="Freeform 77" id="77"/>
            <p:cNvSpPr/>
            <p:nvPr/>
          </p:nvSpPr>
          <p:spPr>
            <a:xfrm flipH="false" flipV="false" rot="0">
              <a:off x="0" y="0"/>
              <a:ext cx="2834640" cy="585216"/>
            </a:xfrm>
            <a:custGeom>
              <a:avLst/>
              <a:gdLst/>
              <a:ahLst/>
              <a:cxnLst/>
              <a:rect r="r" b="b" t="t" l="l"/>
              <a:pathLst>
                <a:path h="585216" w="2834640">
                  <a:moveTo>
                    <a:pt x="0" y="0"/>
                  </a:moveTo>
                  <a:lnTo>
                    <a:pt x="2834640" y="0"/>
                  </a:lnTo>
                  <a:lnTo>
                    <a:pt x="2834640" y="585216"/>
                  </a:lnTo>
                  <a:lnTo>
                    <a:pt x="0" y="585216"/>
                  </a:lnTo>
                  <a:close/>
                </a:path>
              </a:pathLst>
            </a:custGeom>
            <a:blipFill>
              <a:blip r:embed="rId4">
                <a:alphaModFix amt="0"/>
              </a:blip>
              <a:stretch>
                <a:fillRect l="0" t="-44314" r="0" b="-44316"/>
              </a:stretch>
            </a:blipFill>
          </p:spPr>
        </p:sp>
      </p:grpSp>
      <p:grpSp>
        <p:nvGrpSpPr>
          <p:cNvPr name="Group 78" id="78"/>
          <p:cNvGrpSpPr/>
          <p:nvPr/>
        </p:nvGrpSpPr>
        <p:grpSpPr>
          <a:xfrm rot="0">
            <a:off x="8819388" y="8372761"/>
            <a:ext cx="2125980" cy="460343"/>
            <a:chOff x="0" y="0"/>
            <a:chExt cx="2834640" cy="613791"/>
          </a:xfrm>
        </p:grpSpPr>
        <p:sp>
          <p:nvSpPr>
            <p:cNvPr name="Freeform 79" id="79"/>
            <p:cNvSpPr/>
            <p:nvPr/>
          </p:nvSpPr>
          <p:spPr>
            <a:xfrm flipH="false" flipV="false" rot="0">
              <a:off x="0" y="0"/>
              <a:ext cx="2834640" cy="613791"/>
            </a:xfrm>
            <a:custGeom>
              <a:avLst/>
              <a:gdLst/>
              <a:ahLst/>
              <a:cxnLst/>
              <a:rect r="r" b="b" t="t" l="l"/>
              <a:pathLst>
                <a:path h="613791" w="2834640">
                  <a:moveTo>
                    <a:pt x="0" y="0"/>
                  </a:moveTo>
                  <a:lnTo>
                    <a:pt x="2834640" y="0"/>
                  </a:lnTo>
                  <a:lnTo>
                    <a:pt x="2834640" y="613791"/>
                  </a:lnTo>
                  <a:lnTo>
                    <a:pt x="0" y="613791"/>
                  </a:lnTo>
                  <a:close/>
                </a:path>
              </a:pathLst>
            </a:custGeom>
            <a:blipFill>
              <a:blip r:embed="rId5">
                <a:alphaModFix amt="0"/>
              </a:blip>
              <a:stretch>
                <a:fillRect l="0" t="-39986" r="0" b="-39986"/>
              </a:stretch>
            </a:blipFill>
          </p:spPr>
        </p:sp>
        <p:sp>
          <p:nvSpPr>
            <p:cNvPr name="TextBox 80" id="80"/>
            <p:cNvSpPr txBox="true"/>
            <p:nvPr/>
          </p:nvSpPr>
          <p:spPr>
            <a:xfrm>
              <a:off x="0" y="-28575"/>
              <a:ext cx="2834640" cy="642366"/>
            </a:xfrm>
            <a:prstGeom prst="rect">
              <a:avLst/>
            </a:prstGeom>
          </p:spPr>
          <p:txBody>
            <a:bodyPr anchor="ctr" rtlCol="false" tIns="0" lIns="0" bIns="0" rIns="0"/>
            <a:lstStyle/>
            <a:p>
              <a:pPr algn="l">
                <a:lnSpc>
                  <a:spcPts val="1980"/>
                </a:lnSpc>
              </a:pPr>
              <a:r>
                <a:rPr lang="en-US" sz="1650">
                  <a:solidFill>
                    <a:srgbClr val="14313B"/>
                  </a:solidFill>
                  <a:latin typeface="Calibri (MS)"/>
                  <a:ea typeface="Calibri (MS)"/>
                  <a:cs typeface="Calibri (MS)"/>
                  <a:sym typeface="Calibri (MS)"/>
                </a:rPr>
                <a:t>Identitas stok-aliran</a:t>
              </a:r>
            </a:p>
          </p:txBody>
        </p:sp>
      </p:grpSp>
      <p:grpSp>
        <p:nvGrpSpPr>
          <p:cNvPr name="Group 81" id="81"/>
          <p:cNvGrpSpPr/>
          <p:nvPr/>
        </p:nvGrpSpPr>
        <p:grpSpPr>
          <a:xfrm rot="0">
            <a:off x="11384280" y="2400300"/>
            <a:ext cx="6076188" cy="2125980"/>
            <a:chOff x="0" y="0"/>
            <a:chExt cx="8101584" cy="2834640"/>
          </a:xfrm>
        </p:grpSpPr>
        <p:sp>
          <p:nvSpPr>
            <p:cNvPr name="Freeform 82" id="82"/>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sp>
      </p:grpSp>
      <p:grpSp>
        <p:nvGrpSpPr>
          <p:cNvPr name="Group 83" id="83"/>
          <p:cNvGrpSpPr/>
          <p:nvPr/>
        </p:nvGrpSpPr>
        <p:grpSpPr>
          <a:xfrm rot="0">
            <a:off x="11727180" y="2564892"/>
            <a:ext cx="5486400" cy="685800"/>
            <a:chOff x="0" y="0"/>
            <a:chExt cx="7315200" cy="914400"/>
          </a:xfrm>
        </p:grpSpPr>
        <p:sp>
          <p:nvSpPr>
            <p:cNvPr name="Freeform 84" id="84"/>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sp>
      </p:grpSp>
      <p:grpSp>
        <p:nvGrpSpPr>
          <p:cNvPr name="Group 85" id="85"/>
          <p:cNvGrpSpPr/>
          <p:nvPr/>
        </p:nvGrpSpPr>
        <p:grpSpPr>
          <a:xfrm rot="0">
            <a:off x="11727180" y="2514886"/>
            <a:ext cx="5486400" cy="735806"/>
            <a:chOff x="0" y="0"/>
            <a:chExt cx="7315200" cy="981075"/>
          </a:xfrm>
        </p:grpSpPr>
        <p:sp>
          <p:nvSpPr>
            <p:cNvPr name="Freeform 86" id="86"/>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286" r="0" b="-95286"/>
              </a:stretch>
            </a:blipFill>
          </p:spPr>
        </p:sp>
        <p:sp>
          <p:nvSpPr>
            <p:cNvPr name="TextBox 87" id="87"/>
            <p:cNvSpPr txBox="true"/>
            <p:nvPr/>
          </p:nvSpPr>
          <p:spPr>
            <a:xfrm>
              <a:off x="0" y="-66675"/>
              <a:ext cx="7315200" cy="1047750"/>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3 dari 4</a:t>
              </a:r>
            </a:p>
          </p:txBody>
        </p:sp>
      </p:grpSp>
      <p:sp>
        <p:nvSpPr>
          <p:cNvPr name="TextBox 88" id="88"/>
          <p:cNvSpPr txBox="true"/>
          <p:nvPr/>
        </p:nvSpPr>
        <p:spPr>
          <a:xfrm rot="0">
            <a:off x="11727180" y="3215640"/>
            <a:ext cx="5486400" cy="12420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peringkat teratas berstatus asumsi (laju penurunan dasar, bobot kepadatan, bobot ODTW)</a:t>
            </a:r>
          </a:p>
        </p:txBody>
      </p:sp>
      <p:grpSp>
        <p:nvGrpSpPr>
          <p:cNvPr name="Group 89" id="89"/>
          <p:cNvGrpSpPr/>
          <p:nvPr/>
        </p:nvGrpSpPr>
        <p:grpSpPr>
          <a:xfrm rot="0">
            <a:off x="11384280" y="4732020"/>
            <a:ext cx="6076188" cy="2125980"/>
            <a:chOff x="0" y="0"/>
            <a:chExt cx="8101584" cy="2834640"/>
          </a:xfrm>
        </p:grpSpPr>
        <p:sp>
          <p:nvSpPr>
            <p:cNvPr name="Freeform 90" id="90"/>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sp>
      </p:grpSp>
      <p:grpSp>
        <p:nvGrpSpPr>
          <p:cNvPr name="Group 91" id="91"/>
          <p:cNvGrpSpPr/>
          <p:nvPr/>
        </p:nvGrpSpPr>
        <p:grpSpPr>
          <a:xfrm rot="0">
            <a:off x="11727180" y="4896612"/>
            <a:ext cx="5486400" cy="685800"/>
            <a:chOff x="0" y="0"/>
            <a:chExt cx="7315200" cy="914400"/>
          </a:xfrm>
        </p:grpSpPr>
        <p:sp>
          <p:nvSpPr>
            <p:cNvPr name="Freeform 92" id="92"/>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sp>
      </p:grpSp>
      <p:grpSp>
        <p:nvGrpSpPr>
          <p:cNvPr name="Group 93" id="93"/>
          <p:cNvGrpSpPr/>
          <p:nvPr/>
        </p:nvGrpSpPr>
        <p:grpSpPr>
          <a:xfrm rot="0">
            <a:off x="11727180" y="4846606"/>
            <a:ext cx="5486400" cy="735806"/>
            <a:chOff x="0" y="0"/>
            <a:chExt cx="7315200" cy="981075"/>
          </a:xfrm>
        </p:grpSpPr>
        <p:sp>
          <p:nvSpPr>
            <p:cNvPr name="Freeform 94" id="94"/>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286" r="0" b="-95286"/>
              </a:stretch>
            </a:blipFill>
          </p:spPr>
        </p:sp>
        <p:sp>
          <p:nvSpPr>
            <p:cNvPr name="TextBox 95" id="95"/>
            <p:cNvSpPr txBox="true"/>
            <p:nvPr/>
          </p:nvSpPr>
          <p:spPr>
            <a:xfrm>
              <a:off x="0" y="-66675"/>
              <a:ext cx="7315200" cy="1047750"/>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42,07%</a:t>
              </a:r>
            </a:p>
          </p:txBody>
        </p:sp>
      </p:grpSp>
      <p:sp>
        <p:nvSpPr>
          <p:cNvPr name="TextBox 96" id="96"/>
          <p:cNvSpPr txBox="true"/>
          <p:nvPr/>
        </p:nvSpPr>
        <p:spPr>
          <a:xfrm rot="0">
            <a:off x="11727180" y="5547360"/>
            <a:ext cx="5486400" cy="12420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pengaruh laju penurunan dasar: pertumbuhan dan penurunan hampir seimbang sehingga selisihnya sensitif</a:t>
            </a:r>
          </a:p>
        </p:txBody>
      </p:sp>
      <p:grpSp>
        <p:nvGrpSpPr>
          <p:cNvPr name="Group 97" id="97"/>
          <p:cNvGrpSpPr/>
          <p:nvPr/>
        </p:nvGrpSpPr>
        <p:grpSpPr>
          <a:xfrm rot="0">
            <a:off x="11384280" y="7063740"/>
            <a:ext cx="6076188" cy="2125980"/>
            <a:chOff x="0" y="0"/>
            <a:chExt cx="8101584" cy="2834640"/>
          </a:xfrm>
        </p:grpSpPr>
        <p:sp>
          <p:nvSpPr>
            <p:cNvPr name="Freeform 98" id="98"/>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sp>
      </p:grpSp>
      <p:grpSp>
        <p:nvGrpSpPr>
          <p:cNvPr name="Group 99" id="99"/>
          <p:cNvGrpSpPr/>
          <p:nvPr/>
        </p:nvGrpSpPr>
        <p:grpSpPr>
          <a:xfrm rot="0">
            <a:off x="11727180" y="7228332"/>
            <a:ext cx="5486400" cy="685800"/>
            <a:chOff x="0" y="0"/>
            <a:chExt cx="7315200" cy="914400"/>
          </a:xfrm>
        </p:grpSpPr>
        <p:sp>
          <p:nvSpPr>
            <p:cNvPr name="Freeform 100" id="100"/>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sp>
      </p:grpSp>
      <p:grpSp>
        <p:nvGrpSpPr>
          <p:cNvPr name="Group 101" id="101"/>
          <p:cNvGrpSpPr/>
          <p:nvPr/>
        </p:nvGrpSpPr>
        <p:grpSpPr>
          <a:xfrm rot="0">
            <a:off x="11727180" y="7178326"/>
            <a:ext cx="5486400" cy="735806"/>
            <a:chOff x="0" y="0"/>
            <a:chExt cx="7315200" cy="981075"/>
          </a:xfrm>
        </p:grpSpPr>
        <p:sp>
          <p:nvSpPr>
            <p:cNvPr name="Freeform 102" id="102"/>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286" r="0" b="-95286"/>
              </a:stretch>
            </a:blipFill>
          </p:spPr>
        </p:sp>
        <p:sp>
          <p:nvSpPr>
            <p:cNvPr name="TextBox 103" id="103"/>
            <p:cNvSpPr txBox="true"/>
            <p:nvPr/>
          </p:nvSpPr>
          <p:spPr>
            <a:xfrm>
              <a:off x="0" y="-66675"/>
              <a:ext cx="7315200" cy="1047750"/>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153,57 poin</a:t>
              </a:r>
            </a:p>
          </p:txBody>
        </p:sp>
      </p:grpSp>
      <p:sp>
        <p:nvSpPr>
          <p:cNvPr name="TextBox 104" id="104"/>
          <p:cNvSpPr txBox="true"/>
          <p:nvPr/>
        </p:nvSpPr>
        <p:spPr>
          <a:xfrm rot="0">
            <a:off x="11727180" y="7879080"/>
            <a:ext cx="5486400" cy="12420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lebar rentang wisatawan akibat rasio LPD/LPE 0,60–0,90 (LPE tetap); 69,65 bila LPE diturunkan ulang</a:t>
            </a:r>
          </a:p>
        </p:txBody>
      </p:sp>
      <p:sp>
        <p:nvSpPr>
          <p:cNvPr name="TextBox 105" id="105"/>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54</a:t>
            </a:r>
          </a:p>
        </p:txBody>
      </p:sp>
      <p:pic>
        <p:nvPicPr>
          <p:cNvPr name="Picture 106" id="106"/>
          <p:cNvPicPr>
            <a:picLocks noChangeAspect="true"/>
          </p:cNvPicPr>
          <p:nvPr/>
        </p:nvPicPr>
        <p:blipFill>
          <a:blip r:embed="rId6"/>
          <a:stretch>
            <a:fillRect/>
          </a:stretch>
        </p:blipFill>
        <p:spPr>
          <a:xfrm rot="0">
            <a:off x="-192024" y="1865376"/>
            <a:ext cx="12179808" cy="7470648"/>
          </a:xfrm>
          <a:prstGeom prst="rect">
            <a:avLst/>
          </a:prstGeom>
        </p:spPr>
      </p:pic>
      <p:sp>
        <p:nvSpPr>
          <p:cNvPr id="107" name="TextBox 106"/>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2F · Analisis sensitivitas</a:t>
            </a:r>
          </a:p>
        </p:txBody>
      </p:sp>
      <p:sp>
        <p:nvSpPr>
          <p:cNvPr id="108"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3.8.1 · Kriteria Penetapan Tuas Kebijakan</a:t>
            </a:r>
          </a:p>
          <a:p>
            <a:pPr algn="l">
              <a:lnSpc>
                <a:spcPct val="100000"/>
              </a:lnSpc>
            </a:pPr>
            <a:r>
              <a:rPr lang="en-US" sz="3500" b="true">
                <a:solidFill>
                  <a:srgbClr val="0B5E6E"/>
                </a:solidFill>
                <a:latin typeface="Calibri (MS) Bold"/>
                <a:ea typeface="Calibri (MS) Bold"/>
                <a:cs typeface="Calibri (MS) Bold"/>
                <a:sym typeface="Calibri (MS) Bold"/>
              </a:rPr>
              <a:t>Tuas kebijakan disaring dengan tiga kriteria sekaligus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Freeform 52" id="52"/>
          <p:cNvSpPr/>
          <p:nvPr/>
        </p:nvSpPr>
        <p:spPr>
          <a:xfrm flipH="false" flipV="false" rot="0">
            <a:off x="806291" y="2383631"/>
            <a:ext cx="5382578" cy="3942397"/>
          </a:xfrm>
          <a:custGeom>
            <a:avLst/>
            <a:gdLst/>
            <a:ahLst/>
            <a:cxnLst/>
            <a:rect r="r" b="b" t="t" l="l"/>
            <a:pathLst>
              <a:path h="3942397" w="5382578">
                <a:moveTo>
                  <a:pt x="0" y="0"/>
                </a:moveTo>
                <a:lnTo>
                  <a:pt x="5382578" y="0"/>
                </a:lnTo>
                <a:lnTo>
                  <a:pt x="5382578" y="3942398"/>
                </a:lnTo>
                <a:lnTo>
                  <a:pt x="0" y="39423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3" id="53"/>
          <p:cNvGrpSpPr/>
          <p:nvPr/>
        </p:nvGrpSpPr>
        <p:grpSpPr>
          <a:xfrm rot="0">
            <a:off x="1165860" y="2715768"/>
            <a:ext cx="685800" cy="685800"/>
            <a:chOff x="0" y="0"/>
            <a:chExt cx="914400" cy="914400"/>
          </a:xfrm>
        </p:grpSpPr>
        <p:sp>
          <p:nvSpPr>
            <p:cNvPr name="Freeform 54" id="5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55" id="55"/>
          <p:cNvGrpSpPr/>
          <p:nvPr/>
        </p:nvGrpSpPr>
        <p:grpSpPr>
          <a:xfrm rot="0">
            <a:off x="1165860" y="2715768"/>
            <a:ext cx="685800" cy="685800"/>
            <a:chOff x="0" y="0"/>
            <a:chExt cx="914400" cy="914400"/>
          </a:xfrm>
        </p:grpSpPr>
        <p:sp>
          <p:nvSpPr>
            <p:cNvPr name="Freeform 56" id="5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57" id="57"/>
          <p:cNvGrpSpPr/>
          <p:nvPr/>
        </p:nvGrpSpPr>
        <p:grpSpPr>
          <a:xfrm rot="0">
            <a:off x="1165860" y="2687193"/>
            <a:ext cx="685800" cy="714375"/>
            <a:chOff x="0" y="0"/>
            <a:chExt cx="914400" cy="952500"/>
          </a:xfrm>
        </p:grpSpPr>
        <p:sp>
          <p:nvSpPr>
            <p:cNvPr name="Freeform 58" id="58"/>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59" id="59"/>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grpSp>
        <p:nvGrpSpPr>
          <p:cNvPr name="Group 60" id="60"/>
          <p:cNvGrpSpPr/>
          <p:nvPr/>
        </p:nvGrpSpPr>
        <p:grpSpPr>
          <a:xfrm rot="0">
            <a:off x="2125980" y="2715768"/>
            <a:ext cx="3840480" cy="685800"/>
            <a:chOff x="0" y="0"/>
            <a:chExt cx="5120640" cy="914400"/>
          </a:xfrm>
        </p:grpSpPr>
        <p:sp>
          <p:nvSpPr>
            <p:cNvPr name="Freeform 61" id="61"/>
            <p:cNvSpPr/>
            <p:nvPr/>
          </p:nvSpPr>
          <p:spPr>
            <a:xfrm flipH="false" flipV="false" rot="0">
              <a:off x="0" y="0"/>
              <a:ext cx="5120640" cy="914400"/>
            </a:xfrm>
            <a:custGeom>
              <a:avLst/>
              <a:gdLst/>
              <a:ahLst/>
              <a:cxnLst/>
              <a:rect r="r" b="b" t="t" l="l"/>
              <a:pathLst>
                <a:path h="914400" w="5120640">
                  <a:moveTo>
                    <a:pt x="0" y="0"/>
                  </a:moveTo>
                  <a:lnTo>
                    <a:pt x="5120640" y="0"/>
                  </a:lnTo>
                  <a:lnTo>
                    <a:pt x="5120640" y="914400"/>
                  </a:lnTo>
                  <a:lnTo>
                    <a:pt x="0" y="914400"/>
                  </a:lnTo>
                  <a:close/>
                </a:path>
              </a:pathLst>
            </a:custGeom>
            <a:blipFill>
              <a:blip r:embed="rId4">
                <a:alphaModFix amt="0"/>
              </a:blip>
              <a:stretch>
                <a:fillRect l="0" t="-59040" r="0" b="-59040"/>
              </a:stretch>
            </a:blipFill>
          </p:spPr>
        </p:sp>
      </p:grpSp>
      <p:grpSp>
        <p:nvGrpSpPr>
          <p:cNvPr name="Group 62" id="62"/>
          <p:cNvGrpSpPr/>
          <p:nvPr/>
        </p:nvGrpSpPr>
        <p:grpSpPr>
          <a:xfrm rot="0">
            <a:off x="2125980" y="2680049"/>
            <a:ext cx="3840480" cy="721519"/>
            <a:chOff x="0" y="0"/>
            <a:chExt cx="5120640" cy="962025"/>
          </a:xfrm>
        </p:grpSpPr>
        <p:sp>
          <p:nvSpPr>
            <p:cNvPr name="Freeform 63" id="63"/>
            <p:cNvSpPr/>
            <p:nvPr/>
          </p:nvSpPr>
          <p:spPr>
            <a:xfrm flipH="false" flipV="false" rot="0">
              <a:off x="0" y="0"/>
              <a:ext cx="5120640" cy="962025"/>
            </a:xfrm>
            <a:custGeom>
              <a:avLst/>
              <a:gdLst/>
              <a:ahLst/>
              <a:cxnLst/>
              <a:rect r="r" b="b" t="t" l="l"/>
              <a:pathLst>
                <a:path h="962025" w="5120640">
                  <a:moveTo>
                    <a:pt x="0" y="0"/>
                  </a:moveTo>
                  <a:lnTo>
                    <a:pt x="5120640" y="0"/>
                  </a:lnTo>
                  <a:lnTo>
                    <a:pt x="5120640" y="962025"/>
                  </a:lnTo>
                  <a:lnTo>
                    <a:pt x="0" y="962025"/>
                  </a:lnTo>
                  <a:close/>
                </a:path>
              </a:pathLst>
            </a:custGeom>
            <a:blipFill>
              <a:blip r:embed="rId5">
                <a:alphaModFix amt="0"/>
              </a:blip>
              <a:stretch>
                <a:fillRect l="0" t="-53714" r="0" b="-53714"/>
              </a:stretch>
            </a:blipFill>
          </p:spPr>
        </p:sp>
        <p:sp>
          <p:nvSpPr>
            <p:cNvPr name="TextBox 64" id="64"/>
            <p:cNvSpPr txBox="true"/>
            <p:nvPr/>
          </p:nvSpPr>
          <p:spPr>
            <a:xfrm>
              <a:off x="0" y="-47625"/>
              <a:ext cx="5120640" cy="1009650"/>
            </a:xfrm>
            <a:prstGeom prst="rect">
              <a:avLst/>
            </a:prstGeom>
          </p:spPr>
          <p:txBody>
            <a:bodyPr anchor="ctr" rtlCol="false" tIns="0" lIns="0" bIns="0" rIns="0"/>
            <a:lstStyle/>
            <a:p>
              <a:pPr algn="l">
                <a:lnSpc>
                  <a:spcPts val="3060"/>
                </a:lnSpc>
              </a:pPr>
              <a:r>
                <a:rPr lang="en-US" sz="2550" b="true">
                  <a:solidFill>
                    <a:srgbClr val="0B5E6E"/>
                  </a:solidFill>
                  <a:latin typeface="Calibri (MS) Bold"/>
                  <a:ea typeface="Calibri (MS) Bold"/>
                  <a:cs typeface="Calibri (MS) Bold"/>
                  <a:sym typeface="Calibri (MS) Bold"/>
                </a:rPr>
                <a:t>Relevansi struktural</a:t>
              </a:r>
            </a:p>
          </p:txBody>
        </p:sp>
      </p:grpSp>
      <p:sp>
        <p:nvSpPr>
          <p:cNvPr name="TextBox 65" id="65"/>
          <p:cNvSpPr txBox="true"/>
          <p:nvPr/>
        </p:nvSpPr>
        <p:spPr>
          <a:xfrm rot="0">
            <a:off x="1165860" y="3608070"/>
            <a:ext cx="4732020" cy="2632710"/>
          </a:xfrm>
          <a:prstGeom prst="rect">
            <a:avLst/>
          </a:prstGeom>
        </p:spPr>
        <p:txBody>
          <a:bodyPr anchor="t" rtlCol="false" tIns="0" lIns="0" bIns="0" rIns="0">
            <a:spAutoFit/>
          </a:bodyPr>
          <a:lstStyle/>
          <a:p>
            <a:pPr algn="l">
              <a:lnSpc>
                <a:spcPts val="2610"/>
              </a:lnSpc>
            </a:pPr>
            <a:r>
              <a:rPr lang="en-US" sz="2175">
                <a:solidFill>
                  <a:srgbClr val="14313B"/>
                </a:solidFill>
                <a:latin typeface="Calibri (MS)"/>
                <a:ea typeface="Calibri (MS)"/>
                <a:cs typeface="Calibri (MS)"/>
                <a:sym typeface="Calibri (MS)"/>
              </a:rPr>
              <a:t>Parameter terbukti memengaruhi perilaku model berdasarkan analisis sensitivitas.</a:t>
            </a:r>
          </a:p>
        </p:txBody>
      </p:sp>
      <p:sp>
        <p:nvSpPr>
          <p:cNvPr name="Freeform 66" id="66"/>
          <p:cNvSpPr/>
          <p:nvPr/>
        </p:nvSpPr>
        <p:spPr>
          <a:xfrm flipH="false" flipV="false" rot="0">
            <a:off x="6450425" y="2383631"/>
            <a:ext cx="5382578" cy="3942397"/>
          </a:xfrm>
          <a:custGeom>
            <a:avLst/>
            <a:gdLst/>
            <a:ahLst/>
            <a:cxnLst/>
            <a:rect r="r" b="b" t="t" l="l"/>
            <a:pathLst>
              <a:path h="3942397" w="5382578">
                <a:moveTo>
                  <a:pt x="0" y="0"/>
                </a:moveTo>
                <a:lnTo>
                  <a:pt x="5382578" y="0"/>
                </a:lnTo>
                <a:lnTo>
                  <a:pt x="5382578" y="3942398"/>
                </a:lnTo>
                <a:lnTo>
                  <a:pt x="0" y="39423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7" id="67"/>
          <p:cNvGrpSpPr/>
          <p:nvPr/>
        </p:nvGrpSpPr>
        <p:grpSpPr>
          <a:xfrm rot="0">
            <a:off x="6809994" y="2715768"/>
            <a:ext cx="685800" cy="685800"/>
            <a:chOff x="0" y="0"/>
            <a:chExt cx="914400" cy="914400"/>
          </a:xfrm>
        </p:grpSpPr>
        <p:sp>
          <p:nvSpPr>
            <p:cNvPr name="Freeform 68" id="68"/>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69" id="69"/>
          <p:cNvGrpSpPr/>
          <p:nvPr/>
        </p:nvGrpSpPr>
        <p:grpSpPr>
          <a:xfrm rot="0">
            <a:off x="6809994" y="2715768"/>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71" id="71"/>
          <p:cNvGrpSpPr/>
          <p:nvPr/>
        </p:nvGrpSpPr>
        <p:grpSpPr>
          <a:xfrm rot="0">
            <a:off x="6809994" y="2687193"/>
            <a:ext cx="685800" cy="714375"/>
            <a:chOff x="0" y="0"/>
            <a:chExt cx="914400" cy="952500"/>
          </a:xfrm>
        </p:grpSpPr>
        <p:sp>
          <p:nvSpPr>
            <p:cNvPr name="Freeform 72" id="72"/>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73" id="73"/>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grpSp>
        <p:nvGrpSpPr>
          <p:cNvPr name="Group 74" id="74"/>
          <p:cNvGrpSpPr/>
          <p:nvPr/>
        </p:nvGrpSpPr>
        <p:grpSpPr>
          <a:xfrm rot="0">
            <a:off x="7770114" y="2715768"/>
            <a:ext cx="3840480" cy="685800"/>
            <a:chOff x="0" y="0"/>
            <a:chExt cx="5120640" cy="914400"/>
          </a:xfrm>
        </p:grpSpPr>
        <p:sp>
          <p:nvSpPr>
            <p:cNvPr name="Freeform 75" id="75"/>
            <p:cNvSpPr/>
            <p:nvPr/>
          </p:nvSpPr>
          <p:spPr>
            <a:xfrm flipH="false" flipV="false" rot="0">
              <a:off x="0" y="0"/>
              <a:ext cx="5120640" cy="914400"/>
            </a:xfrm>
            <a:custGeom>
              <a:avLst/>
              <a:gdLst/>
              <a:ahLst/>
              <a:cxnLst/>
              <a:rect r="r" b="b" t="t" l="l"/>
              <a:pathLst>
                <a:path h="914400" w="5120640">
                  <a:moveTo>
                    <a:pt x="0" y="0"/>
                  </a:moveTo>
                  <a:lnTo>
                    <a:pt x="5120640" y="0"/>
                  </a:lnTo>
                  <a:lnTo>
                    <a:pt x="5120640" y="914400"/>
                  </a:lnTo>
                  <a:lnTo>
                    <a:pt x="0" y="914400"/>
                  </a:lnTo>
                  <a:close/>
                </a:path>
              </a:pathLst>
            </a:custGeom>
            <a:blipFill>
              <a:blip r:embed="rId4">
                <a:alphaModFix amt="0"/>
              </a:blip>
              <a:stretch>
                <a:fillRect l="0" t="-59040" r="0" b="-59040"/>
              </a:stretch>
            </a:blipFill>
          </p:spPr>
        </p:sp>
      </p:grpSp>
      <p:grpSp>
        <p:nvGrpSpPr>
          <p:cNvPr name="Group 76" id="76"/>
          <p:cNvGrpSpPr/>
          <p:nvPr/>
        </p:nvGrpSpPr>
        <p:grpSpPr>
          <a:xfrm rot="0">
            <a:off x="7770114" y="2680049"/>
            <a:ext cx="3840480" cy="721519"/>
            <a:chOff x="0" y="0"/>
            <a:chExt cx="5120640" cy="962025"/>
          </a:xfrm>
        </p:grpSpPr>
        <p:sp>
          <p:nvSpPr>
            <p:cNvPr name="Freeform 77" id="77"/>
            <p:cNvSpPr/>
            <p:nvPr/>
          </p:nvSpPr>
          <p:spPr>
            <a:xfrm flipH="false" flipV="false" rot="0">
              <a:off x="0" y="0"/>
              <a:ext cx="5120640" cy="962025"/>
            </a:xfrm>
            <a:custGeom>
              <a:avLst/>
              <a:gdLst/>
              <a:ahLst/>
              <a:cxnLst/>
              <a:rect r="r" b="b" t="t" l="l"/>
              <a:pathLst>
                <a:path h="962025" w="5120640">
                  <a:moveTo>
                    <a:pt x="0" y="0"/>
                  </a:moveTo>
                  <a:lnTo>
                    <a:pt x="5120640" y="0"/>
                  </a:lnTo>
                  <a:lnTo>
                    <a:pt x="5120640" y="962025"/>
                  </a:lnTo>
                  <a:lnTo>
                    <a:pt x="0" y="962025"/>
                  </a:lnTo>
                  <a:close/>
                </a:path>
              </a:pathLst>
            </a:custGeom>
            <a:blipFill>
              <a:blip r:embed="rId5">
                <a:alphaModFix amt="0"/>
              </a:blip>
              <a:stretch>
                <a:fillRect l="0" t="-53714" r="0" b="-53714"/>
              </a:stretch>
            </a:blipFill>
          </p:spPr>
        </p:sp>
        <p:sp>
          <p:nvSpPr>
            <p:cNvPr name="TextBox 78" id="78"/>
            <p:cNvSpPr txBox="true"/>
            <p:nvPr/>
          </p:nvSpPr>
          <p:spPr>
            <a:xfrm>
              <a:off x="0" y="-47625"/>
              <a:ext cx="5120640" cy="1009650"/>
            </a:xfrm>
            <a:prstGeom prst="rect">
              <a:avLst/>
            </a:prstGeom>
          </p:spPr>
          <p:txBody>
            <a:bodyPr anchor="ctr" rtlCol="false" tIns="0" lIns="0" bIns="0" rIns="0"/>
            <a:lstStyle/>
            <a:p>
              <a:pPr algn="l">
                <a:lnSpc>
                  <a:spcPts val="3060"/>
                </a:lnSpc>
              </a:pPr>
              <a:r>
                <a:rPr lang="en-US" sz="2550" b="true">
                  <a:solidFill>
                    <a:srgbClr val="0B5E6E"/>
                  </a:solidFill>
                  <a:latin typeface="Calibri (MS) Bold"/>
                  <a:ea typeface="Calibri (MS) Bold"/>
                  <a:cs typeface="Calibri (MS) Bold"/>
                  <a:sym typeface="Calibri (MS) Bold"/>
                </a:rPr>
                <a:t>Dasar kebijakan</a:t>
              </a:r>
            </a:p>
          </p:txBody>
        </p:sp>
      </p:grpSp>
      <p:sp>
        <p:nvSpPr>
          <p:cNvPr name="TextBox 79" id="79"/>
          <p:cNvSpPr txBox="true"/>
          <p:nvPr/>
        </p:nvSpPr>
        <p:spPr>
          <a:xfrm rot="0">
            <a:off x="6809994" y="3608070"/>
            <a:ext cx="4732020" cy="2632710"/>
          </a:xfrm>
          <a:prstGeom prst="rect">
            <a:avLst/>
          </a:prstGeom>
        </p:spPr>
        <p:txBody>
          <a:bodyPr anchor="t" rtlCol="false" tIns="0" lIns="0" bIns="0" rIns="0">
            <a:spAutoFit/>
          </a:bodyPr>
          <a:lstStyle/>
          <a:p>
            <a:pPr algn="l">
              <a:lnSpc>
                <a:spcPts val="2610"/>
              </a:lnSpc>
            </a:pPr>
            <a:r>
              <a:rPr lang="en-US" sz="2175">
                <a:solidFill>
                  <a:srgbClr val="14313B"/>
                </a:solidFill>
                <a:latin typeface="Calibri (MS)"/>
                <a:ea typeface="Calibri (MS)"/>
                <a:cs typeface="Calibri (MS)"/>
                <a:sym typeface="Calibri (MS)"/>
              </a:rPr>
              <a:t>Ada peraturan atau dokumen perencanaan yang menjadikannya sasaran: Perda DIY 1/2012 (pembukaan lahan baru bagi investor) dan Perda DIY 6/2021 (larangan alih fungsi lahan pangan).</a:t>
            </a:r>
          </a:p>
        </p:txBody>
      </p:sp>
      <p:sp>
        <p:nvSpPr>
          <p:cNvPr name="Freeform 80" id="80"/>
          <p:cNvSpPr/>
          <p:nvPr/>
        </p:nvSpPr>
        <p:spPr>
          <a:xfrm flipH="false" flipV="false" rot="0">
            <a:off x="12094559" y="2383631"/>
            <a:ext cx="5382578" cy="3942397"/>
          </a:xfrm>
          <a:custGeom>
            <a:avLst/>
            <a:gdLst/>
            <a:ahLst/>
            <a:cxnLst/>
            <a:rect r="r" b="b" t="t" l="l"/>
            <a:pathLst>
              <a:path h="3942397" w="5382578">
                <a:moveTo>
                  <a:pt x="0" y="0"/>
                </a:moveTo>
                <a:lnTo>
                  <a:pt x="5382578" y="0"/>
                </a:lnTo>
                <a:lnTo>
                  <a:pt x="5382578" y="3942398"/>
                </a:lnTo>
                <a:lnTo>
                  <a:pt x="0" y="39423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1" id="81"/>
          <p:cNvGrpSpPr/>
          <p:nvPr/>
        </p:nvGrpSpPr>
        <p:grpSpPr>
          <a:xfrm rot="0">
            <a:off x="12454128" y="2715768"/>
            <a:ext cx="685800" cy="685800"/>
            <a:chOff x="0" y="0"/>
            <a:chExt cx="914400" cy="914400"/>
          </a:xfrm>
        </p:grpSpPr>
        <p:sp>
          <p:nvSpPr>
            <p:cNvPr name="Freeform 82" id="8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83" id="83"/>
          <p:cNvGrpSpPr/>
          <p:nvPr/>
        </p:nvGrpSpPr>
        <p:grpSpPr>
          <a:xfrm rot="0">
            <a:off x="12454128" y="2715768"/>
            <a:ext cx="685800" cy="685800"/>
            <a:chOff x="0" y="0"/>
            <a:chExt cx="914400" cy="914400"/>
          </a:xfrm>
        </p:grpSpPr>
        <p:sp>
          <p:nvSpPr>
            <p:cNvPr name="Freeform 84" id="8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85" id="85"/>
          <p:cNvGrpSpPr/>
          <p:nvPr/>
        </p:nvGrpSpPr>
        <p:grpSpPr>
          <a:xfrm rot="0">
            <a:off x="12454128" y="2687193"/>
            <a:ext cx="685800" cy="714375"/>
            <a:chOff x="0" y="0"/>
            <a:chExt cx="914400" cy="952500"/>
          </a:xfrm>
        </p:grpSpPr>
        <p:sp>
          <p:nvSpPr>
            <p:cNvPr name="Freeform 86" id="86"/>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87" id="87"/>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grpSp>
        <p:nvGrpSpPr>
          <p:cNvPr name="Group 88" id="88"/>
          <p:cNvGrpSpPr/>
          <p:nvPr/>
        </p:nvGrpSpPr>
        <p:grpSpPr>
          <a:xfrm rot="0">
            <a:off x="13414248" y="2715768"/>
            <a:ext cx="3840480" cy="685800"/>
            <a:chOff x="0" y="0"/>
            <a:chExt cx="5120640" cy="914400"/>
          </a:xfrm>
        </p:grpSpPr>
        <p:sp>
          <p:nvSpPr>
            <p:cNvPr name="Freeform 89" id="89"/>
            <p:cNvSpPr/>
            <p:nvPr/>
          </p:nvSpPr>
          <p:spPr>
            <a:xfrm flipH="false" flipV="false" rot="0">
              <a:off x="0" y="0"/>
              <a:ext cx="5120640" cy="914400"/>
            </a:xfrm>
            <a:custGeom>
              <a:avLst/>
              <a:gdLst/>
              <a:ahLst/>
              <a:cxnLst/>
              <a:rect r="r" b="b" t="t" l="l"/>
              <a:pathLst>
                <a:path h="914400" w="5120640">
                  <a:moveTo>
                    <a:pt x="0" y="0"/>
                  </a:moveTo>
                  <a:lnTo>
                    <a:pt x="5120640" y="0"/>
                  </a:lnTo>
                  <a:lnTo>
                    <a:pt x="5120640" y="914400"/>
                  </a:lnTo>
                  <a:lnTo>
                    <a:pt x="0" y="914400"/>
                  </a:lnTo>
                  <a:close/>
                </a:path>
              </a:pathLst>
            </a:custGeom>
            <a:blipFill>
              <a:blip r:embed="rId4">
                <a:alphaModFix amt="0"/>
              </a:blip>
              <a:stretch>
                <a:fillRect l="0" t="-59040" r="0" b="-59040"/>
              </a:stretch>
            </a:blipFill>
          </p:spPr>
        </p:sp>
      </p:grpSp>
      <p:grpSp>
        <p:nvGrpSpPr>
          <p:cNvPr name="Group 90" id="90"/>
          <p:cNvGrpSpPr/>
          <p:nvPr/>
        </p:nvGrpSpPr>
        <p:grpSpPr>
          <a:xfrm rot="0">
            <a:off x="13414248" y="2680049"/>
            <a:ext cx="3840480" cy="721519"/>
            <a:chOff x="0" y="0"/>
            <a:chExt cx="5120640" cy="962025"/>
          </a:xfrm>
        </p:grpSpPr>
        <p:sp>
          <p:nvSpPr>
            <p:cNvPr name="Freeform 91" id="91"/>
            <p:cNvSpPr/>
            <p:nvPr/>
          </p:nvSpPr>
          <p:spPr>
            <a:xfrm flipH="false" flipV="false" rot="0">
              <a:off x="0" y="0"/>
              <a:ext cx="5120640" cy="962025"/>
            </a:xfrm>
            <a:custGeom>
              <a:avLst/>
              <a:gdLst/>
              <a:ahLst/>
              <a:cxnLst/>
              <a:rect r="r" b="b" t="t" l="l"/>
              <a:pathLst>
                <a:path h="962025" w="5120640">
                  <a:moveTo>
                    <a:pt x="0" y="0"/>
                  </a:moveTo>
                  <a:lnTo>
                    <a:pt x="5120640" y="0"/>
                  </a:lnTo>
                  <a:lnTo>
                    <a:pt x="5120640" y="962025"/>
                  </a:lnTo>
                  <a:lnTo>
                    <a:pt x="0" y="962025"/>
                  </a:lnTo>
                  <a:close/>
                </a:path>
              </a:pathLst>
            </a:custGeom>
            <a:blipFill>
              <a:blip r:embed="rId5">
                <a:alphaModFix amt="0"/>
              </a:blip>
              <a:stretch>
                <a:fillRect l="0" t="-53714" r="0" b="-53714"/>
              </a:stretch>
            </a:blipFill>
          </p:spPr>
        </p:sp>
        <p:sp>
          <p:nvSpPr>
            <p:cNvPr name="TextBox 92" id="92"/>
            <p:cNvSpPr txBox="true"/>
            <p:nvPr/>
          </p:nvSpPr>
          <p:spPr>
            <a:xfrm>
              <a:off x="0" y="-47625"/>
              <a:ext cx="5120640" cy="1009650"/>
            </a:xfrm>
            <a:prstGeom prst="rect">
              <a:avLst/>
            </a:prstGeom>
          </p:spPr>
          <p:txBody>
            <a:bodyPr anchor="ctr" rtlCol="false" tIns="0" lIns="0" bIns="0" rIns="0"/>
            <a:lstStyle/>
            <a:p>
              <a:pPr algn="l">
                <a:lnSpc>
                  <a:spcPts val="3060"/>
                </a:lnSpc>
              </a:pPr>
              <a:r>
                <a:rPr lang="en-US" sz="2550" b="true">
                  <a:solidFill>
                    <a:srgbClr val="0B5E6E"/>
                  </a:solidFill>
                  <a:latin typeface="Calibri (MS) Bold"/>
                  <a:ea typeface="Calibri (MS) Bold"/>
                  <a:cs typeface="Calibri (MS) Bold"/>
                  <a:sym typeface="Calibri (MS) Bold"/>
                </a:rPr>
                <a:t>Keterkendalian</a:t>
              </a:r>
            </a:p>
          </p:txBody>
        </p:sp>
      </p:grpSp>
      <p:sp>
        <p:nvSpPr>
          <p:cNvPr name="TextBox 93" id="93"/>
          <p:cNvSpPr txBox="true"/>
          <p:nvPr/>
        </p:nvSpPr>
        <p:spPr>
          <a:xfrm rot="0">
            <a:off x="12454128" y="3608070"/>
            <a:ext cx="4732020" cy="2632710"/>
          </a:xfrm>
          <a:prstGeom prst="rect">
            <a:avLst/>
          </a:prstGeom>
        </p:spPr>
        <p:txBody>
          <a:bodyPr anchor="t" rtlCol="false" tIns="0" lIns="0" bIns="0" rIns="0">
            <a:spAutoFit/>
          </a:bodyPr>
          <a:lstStyle/>
          <a:p>
            <a:pPr algn="l">
              <a:lnSpc>
                <a:spcPts val="2610"/>
              </a:lnSpc>
            </a:pPr>
            <a:r>
              <a:rPr lang="en-US" sz="2175">
                <a:solidFill>
                  <a:srgbClr val="14313B"/>
                </a:solidFill>
                <a:latin typeface="Calibri (MS)"/>
                <a:ea typeface="Calibri (MS)"/>
                <a:cs typeface="Calibri (MS)"/>
                <a:sym typeface="Calibri (MS)"/>
              </a:rPr>
              <a:t>Pemerintah memiliki instrumen: kemudahan perizinan dan insentif fiskal; zonasi dan moratorium izin.</a:t>
            </a:r>
          </a:p>
        </p:txBody>
      </p:sp>
      <p:grpSp>
        <p:nvGrpSpPr>
          <p:cNvPr name="Group 94" id="94"/>
          <p:cNvGrpSpPr/>
          <p:nvPr/>
        </p:nvGrpSpPr>
        <p:grpSpPr>
          <a:xfrm rot="0">
            <a:off x="822960" y="6789420"/>
            <a:ext cx="9875520" cy="2331720"/>
            <a:chOff x="0" y="0"/>
            <a:chExt cx="13167360" cy="3108960"/>
          </a:xfrm>
        </p:grpSpPr>
        <p:sp>
          <p:nvSpPr>
            <p:cNvPr name="Freeform 95" id="95"/>
            <p:cNvSpPr/>
            <p:nvPr/>
          </p:nvSpPr>
          <p:spPr>
            <a:xfrm flipH="false" flipV="false" rot="0">
              <a:off x="0" y="0"/>
              <a:ext cx="13167361" cy="3108960"/>
            </a:xfrm>
            <a:custGeom>
              <a:avLst/>
              <a:gdLst/>
              <a:ahLst/>
              <a:cxnLst/>
              <a:rect r="r" b="b" t="t" l="l"/>
              <a:pathLst>
                <a:path h="3108960" w="13167361">
                  <a:moveTo>
                    <a:pt x="0" y="182880"/>
                  </a:moveTo>
                  <a:cubicBezTo>
                    <a:pt x="0" y="81915"/>
                    <a:pt x="81915" y="0"/>
                    <a:pt x="182880" y="0"/>
                  </a:cubicBezTo>
                  <a:lnTo>
                    <a:pt x="12984480" y="0"/>
                  </a:lnTo>
                  <a:cubicBezTo>
                    <a:pt x="13085445" y="0"/>
                    <a:pt x="13167361" y="81915"/>
                    <a:pt x="13167361" y="182880"/>
                  </a:cubicBezTo>
                  <a:lnTo>
                    <a:pt x="13167361" y="2926080"/>
                  </a:lnTo>
                  <a:cubicBezTo>
                    <a:pt x="13167361" y="3027045"/>
                    <a:pt x="13085445" y="3108960"/>
                    <a:pt x="12984480" y="3108960"/>
                  </a:cubicBezTo>
                  <a:lnTo>
                    <a:pt x="182880" y="3108960"/>
                  </a:lnTo>
                  <a:cubicBezTo>
                    <a:pt x="81915" y="3108960"/>
                    <a:pt x="0" y="3027045"/>
                    <a:pt x="0" y="2926080"/>
                  </a:cubicBezTo>
                  <a:close/>
                </a:path>
              </a:pathLst>
            </a:custGeom>
            <a:solidFill>
              <a:srgbClr val="0B5E6E"/>
            </a:solidFill>
          </p:spPr>
        </p:sp>
      </p:grpSp>
      <p:sp>
        <p:nvSpPr>
          <p:cNvPr name="TextBox 96" id="96"/>
          <p:cNvSpPr txBox="true"/>
          <p:nvPr/>
        </p:nvSpPr>
        <p:spPr>
          <a:xfrm rot="0">
            <a:off x="1234440" y="6880860"/>
            <a:ext cx="9052560" cy="662940"/>
          </a:xfrm>
          <a:prstGeom prst="rect">
            <a:avLst/>
          </a:prstGeom>
        </p:spPr>
        <p:txBody>
          <a:bodyPr anchor="t" rtlCol="false" tIns="0" lIns="0" bIns="0" rIns="0">
            <a:spAutoFit/>
          </a:bodyPr>
          <a:lstStyle/>
          <a:p>
            <a:pPr algn="l">
              <a:lnSpc>
                <a:spcPts val="2700"/>
              </a:lnSpc>
            </a:pPr>
            <a:r>
              <a:rPr lang="en-US" sz="2250" b="true">
                <a:solidFill>
                  <a:srgbClr val="FFD23B"/>
                </a:solidFill>
                <a:latin typeface="Calibri (MS) Bold"/>
                <a:ea typeface="Calibri (MS) Bold"/>
                <a:cs typeface="Calibri (MS) Bold"/>
                <a:sym typeface="Calibri (MS) Bold"/>
              </a:rPr>
              <a:t>Lolos ketiganya → dua tuas kebijakan</a:t>
            </a:r>
          </a:p>
        </p:txBody>
      </p:sp>
      <p:sp>
        <p:nvSpPr>
          <p:cNvPr name="TextBox 97" id="97"/>
          <p:cNvSpPr txBox="true"/>
          <p:nvPr/>
        </p:nvSpPr>
        <p:spPr>
          <a:xfrm rot="0">
            <a:off x="1234440" y="7517130"/>
            <a:ext cx="9052560" cy="1329690"/>
          </a:xfrm>
          <a:prstGeom prst="rect">
            <a:avLst/>
          </a:prstGeom>
        </p:spPr>
        <p:txBody>
          <a:bodyPr anchor="t" rtlCol="false" tIns="0" lIns="0" bIns="0" rIns="0">
            <a:spAutoFit/>
          </a:bodyPr>
          <a:lstStyle/>
          <a:p>
            <a:pPr algn="l">
              <a:lnSpc>
                <a:spcPts val="2790"/>
              </a:lnSpc>
            </a:pPr>
            <a:r>
              <a:rPr lang="en-US" sz="2325" b="true">
                <a:solidFill>
                  <a:srgbClr val="FFFFFF"/>
                </a:solidFill>
                <a:latin typeface="Calibri (MS) Bold"/>
                <a:ea typeface="Calibri (MS) Bold"/>
                <a:cs typeface="Calibri (MS) Bold"/>
                <a:sym typeface="Calibri (MS) Bold"/>
              </a:rPr>
              <a:t>Insentif Kebijakan (dasar: Perda 1/2012) · Kebijakan Konservasi Lahan (dasar: Perda 6/2021)</a:t>
            </a:r>
          </a:p>
        </p:txBody>
      </p:sp>
      <p:grpSp>
        <p:nvGrpSpPr>
          <p:cNvPr name="Group 98" id="98"/>
          <p:cNvGrpSpPr/>
          <p:nvPr/>
        </p:nvGrpSpPr>
        <p:grpSpPr>
          <a:xfrm rot="0">
            <a:off x="10972800" y="6789420"/>
            <a:ext cx="6487668" cy="2331720"/>
            <a:chOff x="0" y="0"/>
            <a:chExt cx="8650224" cy="3108960"/>
          </a:xfrm>
        </p:grpSpPr>
        <p:sp>
          <p:nvSpPr>
            <p:cNvPr name="Freeform 99" id="99"/>
            <p:cNvSpPr/>
            <p:nvPr/>
          </p:nvSpPr>
          <p:spPr>
            <a:xfrm flipH="false" flipV="false" rot="0">
              <a:off x="0" y="0"/>
              <a:ext cx="8650224" cy="3108960"/>
            </a:xfrm>
            <a:custGeom>
              <a:avLst/>
              <a:gdLst/>
              <a:ahLst/>
              <a:cxnLst/>
              <a:rect r="r" b="b" t="t" l="l"/>
              <a:pathLst>
                <a:path h="3108960" w="8650224">
                  <a:moveTo>
                    <a:pt x="0" y="182880"/>
                  </a:moveTo>
                  <a:cubicBezTo>
                    <a:pt x="0" y="81915"/>
                    <a:pt x="81915" y="0"/>
                    <a:pt x="182880" y="0"/>
                  </a:cubicBezTo>
                  <a:lnTo>
                    <a:pt x="8467344" y="0"/>
                  </a:lnTo>
                  <a:cubicBezTo>
                    <a:pt x="8568309" y="0"/>
                    <a:pt x="8650224" y="81915"/>
                    <a:pt x="8650224" y="182880"/>
                  </a:cubicBezTo>
                  <a:lnTo>
                    <a:pt x="8650224" y="2926080"/>
                  </a:lnTo>
                  <a:cubicBezTo>
                    <a:pt x="8650224" y="3027045"/>
                    <a:pt x="8568309" y="3108960"/>
                    <a:pt x="8467344" y="3108960"/>
                  </a:cubicBezTo>
                  <a:lnTo>
                    <a:pt x="182880" y="3108960"/>
                  </a:lnTo>
                  <a:cubicBezTo>
                    <a:pt x="81915" y="3108960"/>
                    <a:pt x="0" y="3027045"/>
                    <a:pt x="0" y="2926080"/>
                  </a:cubicBezTo>
                  <a:close/>
                </a:path>
              </a:pathLst>
            </a:custGeom>
            <a:solidFill>
              <a:srgbClr val="FFF1BF"/>
            </a:solidFill>
          </p:spPr>
        </p:sp>
      </p:grpSp>
      <p:sp>
        <p:nvSpPr>
          <p:cNvPr name="TextBox 100" id="100"/>
          <p:cNvSpPr txBox="true"/>
          <p:nvPr/>
        </p:nvSpPr>
        <p:spPr>
          <a:xfrm rot="0">
            <a:off x="11315700" y="6872478"/>
            <a:ext cx="5897880" cy="506730"/>
          </a:xfrm>
          <a:prstGeom prst="rect">
            <a:avLst/>
          </a:prstGeom>
        </p:spPr>
        <p:txBody>
          <a:bodyPr anchor="t" rtlCol="false" tIns="0" lIns="0" bIns="0" rIns="0">
            <a:spAutoFit/>
          </a:bodyPr>
          <a:lstStyle/>
          <a:p>
            <a:pPr algn="l">
              <a:lnSpc>
                <a:spcPts val="2340"/>
              </a:lnSpc>
            </a:pPr>
            <a:r>
              <a:rPr lang="en-US" sz="1950" b="true">
                <a:solidFill>
                  <a:srgbClr val="5E6E78"/>
                </a:solidFill>
                <a:latin typeface="Calibri (MS) Bold"/>
                <a:ea typeface="Calibri (MS) Bold"/>
                <a:cs typeface="Calibri (MS) Bold"/>
                <a:sym typeface="Calibri (MS) Bold"/>
              </a:rPr>
              <a:t>Tidak menjadi tuas</a:t>
            </a:r>
          </a:p>
        </p:txBody>
      </p:sp>
      <p:sp>
        <p:nvSpPr>
          <p:cNvPr name="TextBox 101" id="101"/>
          <p:cNvSpPr txBox="true"/>
          <p:nvPr/>
        </p:nvSpPr>
        <p:spPr>
          <a:xfrm rot="0">
            <a:off x="11315700" y="7330440"/>
            <a:ext cx="5897880" cy="172212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Parameter yang hanya relevan struktural (perilaku wisatawan, bobot indeks) diuji sebagai ketidakpastian. Pembangunan ODTW jalur pemerintah: data pemisahan sumber pembiayaan tidak tersedia.</a:t>
            </a:r>
          </a:p>
        </p:txBody>
      </p:sp>
      <p:sp>
        <p:nvSpPr>
          <p:cNvPr name="TextBox 102" id="10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55</a:t>
            </a:r>
          </a:p>
        </p:txBody>
      </p:sp>
      <p:sp>
        <p:nvSpPr>
          <p:cNvPr id="103" name="TextBox 102"/>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
        <p:nvSpPr>
          <p:cNvPr id="104"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4.8.1–4.8.2 · Rancangan Skenario dan Indikator Kinerja</a:t>
            </a:r>
          </a:p>
          <a:p>
            <a:pPr algn="l">
              <a:lnSpc>
                <a:spcPct val="100000"/>
              </a:lnSpc>
            </a:pPr>
            <a:r>
              <a:rPr lang="en-US" sz="3500" b="true">
                <a:solidFill>
                  <a:srgbClr val="0B5E6E"/>
                </a:solidFill>
                <a:latin typeface="Calibri (MS) Bold"/>
                <a:ea typeface="Calibri (MS) Bold"/>
                <a:cs typeface="Calibri (MS) Bold"/>
                <a:sym typeface="Calibri (MS) Bold"/>
              </a:rPr>
              <a:t>Tiga skenario berasal dari kombinasi dua tuas kebijakan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331720"/>
            <a:ext cx="16637508" cy="1028700"/>
            <a:chOff x="0" y="0"/>
            <a:chExt cx="22183344" cy="1371600"/>
          </a:xfrm>
        </p:grpSpPr>
        <p:sp>
          <p:nvSpPr>
            <p:cNvPr name="Freeform 53" id="53"/>
            <p:cNvSpPr/>
            <p:nvPr/>
          </p:nvSpPr>
          <p:spPr>
            <a:xfrm flipH="false" flipV="false" rot="0">
              <a:off x="0" y="0"/>
              <a:ext cx="22183344" cy="1371600"/>
            </a:xfrm>
            <a:custGeom>
              <a:avLst/>
              <a:gdLst/>
              <a:ahLst/>
              <a:cxnLst/>
              <a:rect r="r" b="b" t="t" l="l"/>
              <a:pathLst>
                <a:path h="1371600" w="22183344">
                  <a:moveTo>
                    <a:pt x="0" y="182880"/>
                  </a:moveTo>
                  <a:cubicBezTo>
                    <a:pt x="0" y="81915"/>
                    <a:pt x="81915" y="0"/>
                    <a:pt x="182880" y="0"/>
                  </a:cubicBezTo>
                  <a:lnTo>
                    <a:pt x="22000463" y="0"/>
                  </a:lnTo>
                  <a:cubicBezTo>
                    <a:pt x="22101428" y="0"/>
                    <a:pt x="22183344" y="81915"/>
                    <a:pt x="22183344" y="182880"/>
                  </a:cubicBezTo>
                  <a:lnTo>
                    <a:pt x="22183344" y="1188720"/>
                  </a:lnTo>
                  <a:cubicBezTo>
                    <a:pt x="22183344" y="1289685"/>
                    <a:pt x="22101428" y="1371600"/>
                    <a:pt x="22000463" y="1371600"/>
                  </a:cubicBezTo>
                  <a:lnTo>
                    <a:pt x="182880" y="1371600"/>
                  </a:lnTo>
                  <a:cubicBezTo>
                    <a:pt x="81915" y="1371600"/>
                    <a:pt x="0" y="1289685"/>
                    <a:pt x="0" y="1188720"/>
                  </a:cubicBezTo>
                  <a:close/>
                </a:path>
              </a:pathLst>
            </a:custGeom>
            <a:solidFill>
              <a:srgbClr val="FFF1BF"/>
            </a:solidFill>
          </p:spPr>
        </p:sp>
      </p:grpSp>
      <p:grpSp>
        <p:nvGrpSpPr>
          <p:cNvPr name="Group 54" id="54"/>
          <p:cNvGrpSpPr/>
          <p:nvPr/>
        </p:nvGrpSpPr>
        <p:grpSpPr>
          <a:xfrm rot="0">
            <a:off x="1234440" y="2331720"/>
            <a:ext cx="15814548" cy="1028700"/>
            <a:chOff x="0" y="0"/>
            <a:chExt cx="21086064" cy="1371600"/>
          </a:xfrm>
        </p:grpSpPr>
        <p:sp>
          <p:nvSpPr>
            <p:cNvPr name="Freeform 55" id="55"/>
            <p:cNvSpPr/>
            <p:nvPr/>
          </p:nvSpPr>
          <p:spPr>
            <a:xfrm flipH="false" flipV="false" rot="0">
              <a:off x="0" y="0"/>
              <a:ext cx="21086063" cy="1371600"/>
            </a:xfrm>
            <a:custGeom>
              <a:avLst/>
              <a:gdLst/>
              <a:ahLst/>
              <a:cxnLst/>
              <a:rect r="r" b="b" t="t" l="l"/>
              <a:pathLst>
                <a:path h="1371600" w="21086063">
                  <a:moveTo>
                    <a:pt x="0" y="0"/>
                  </a:moveTo>
                  <a:lnTo>
                    <a:pt x="21086063" y="0"/>
                  </a:lnTo>
                  <a:lnTo>
                    <a:pt x="21086063" y="1371600"/>
                  </a:lnTo>
                  <a:lnTo>
                    <a:pt x="0" y="1371600"/>
                  </a:lnTo>
                  <a:close/>
                </a:path>
              </a:pathLst>
            </a:custGeom>
            <a:blipFill>
              <a:blip r:embed="rId4">
                <a:alphaModFix amt="0"/>
              </a:blip>
              <a:stretch>
                <a:fillRect l="0" t="-249341" r="0" b="-249341"/>
              </a:stretch>
            </a:blipFill>
          </p:spPr>
        </p:sp>
      </p:grpSp>
      <p:grpSp>
        <p:nvGrpSpPr>
          <p:cNvPr name="Group 56" id="56"/>
          <p:cNvGrpSpPr/>
          <p:nvPr/>
        </p:nvGrpSpPr>
        <p:grpSpPr>
          <a:xfrm rot="0">
            <a:off x="1234440" y="2296001"/>
            <a:ext cx="15814548" cy="1064419"/>
            <a:chOff x="0" y="0"/>
            <a:chExt cx="21086064" cy="1419225"/>
          </a:xfrm>
        </p:grpSpPr>
        <p:sp>
          <p:nvSpPr>
            <p:cNvPr name="Freeform 57" id="57"/>
            <p:cNvSpPr/>
            <p:nvPr/>
          </p:nvSpPr>
          <p:spPr>
            <a:xfrm flipH="false" flipV="false" rot="0">
              <a:off x="0" y="0"/>
              <a:ext cx="21086065" cy="1419225"/>
            </a:xfrm>
            <a:custGeom>
              <a:avLst/>
              <a:gdLst/>
              <a:ahLst/>
              <a:cxnLst/>
              <a:rect r="r" b="b" t="t" l="l"/>
              <a:pathLst>
                <a:path h="1419225" w="21086065">
                  <a:moveTo>
                    <a:pt x="0" y="0"/>
                  </a:moveTo>
                  <a:lnTo>
                    <a:pt x="21086065" y="0"/>
                  </a:lnTo>
                  <a:lnTo>
                    <a:pt x="21086065" y="1419225"/>
                  </a:lnTo>
                  <a:lnTo>
                    <a:pt x="0" y="1419225"/>
                  </a:lnTo>
                  <a:close/>
                </a:path>
              </a:pathLst>
            </a:custGeom>
            <a:blipFill>
              <a:blip r:embed="rId5">
                <a:alphaModFix amt="0"/>
              </a:blip>
              <a:stretch>
                <a:fillRect l="0" t="-239497" r="0" b="-239497"/>
              </a:stretch>
            </a:blipFill>
          </p:spPr>
        </p:sp>
        <p:sp>
          <p:nvSpPr>
            <p:cNvPr name="TextBox 58" id="58"/>
            <p:cNvSpPr txBox="true"/>
            <p:nvPr/>
          </p:nvSpPr>
          <p:spPr>
            <a:xfrm>
              <a:off x="0" y="-47625"/>
              <a:ext cx="21086064" cy="1466850"/>
            </a:xfrm>
            <a:prstGeom prst="rect">
              <a:avLst/>
            </a:prstGeom>
          </p:spPr>
          <p:txBody>
            <a:bodyPr anchor="ctr" rtlCol="false" tIns="0" lIns="0" bIns="0" rIns="0"/>
            <a:lstStyle/>
            <a:p>
              <a:pPr algn="l">
                <a:lnSpc>
                  <a:spcPts val="2340"/>
                </a:lnSpc>
              </a:pPr>
              <a:r>
                <a:rPr lang="en-US" sz="1950">
                  <a:solidFill>
                    <a:srgbClr val="14313B"/>
                  </a:solidFill>
                  <a:latin typeface="Calibri (MS)"/>
                  <a:ea typeface="Calibri (MS)"/>
                  <a:cs typeface="Calibri (MS)"/>
                  <a:sym typeface="Calibri (MS)"/>
                </a:rPr>
                <a:t>Dua dokumen kebijakan yang bertegangan:  Perda DIY 1/2012 (indikasi pembukaan lahan baru bagi investor)  ↔  Perda DIY 6/2021 (larangan alih fungsi lahan pangan)</a:t>
              </a:r>
            </a:p>
          </p:txBody>
        </p:sp>
      </p:grpSp>
      <p:grpSp>
        <p:nvGrpSpPr>
          <p:cNvPr name="Group 59" id="59"/>
          <p:cNvGrpSpPr/>
          <p:nvPr/>
        </p:nvGrpSpPr>
        <p:grpSpPr>
          <a:xfrm rot="0">
            <a:off x="822960" y="3634740"/>
            <a:ext cx="5349240" cy="4594860"/>
            <a:chOff x="0" y="0"/>
            <a:chExt cx="7132320" cy="6126480"/>
          </a:xfrm>
        </p:grpSpPr>
        <p:sp>
          <p:nvSpPr>
            <p:cNvPr name="Freeform 60" id="60"/>
            <p:cNvSpPr/>
            <p:nvPr/>
          </p:nvSpPr>
          <p:spPr>
            <a:xfrm flipH="false" flipV="false" rot="0">
              <a:off x="0" y="0"/>
              <a:ext cx="7132320" cy="6126480"/>
            </a:xfrm>
            <a:custGeom>
              <a:avLst/>
              <a:gdLst/>
              <a:ahLst/>
              <a:cxnLst/>
              <a:rect r="r" b="b" t="t" l="l"/>
              <a:pathLst>
                <a:path h="6126480" w="7132320">
                  <a:moveTo>
                    <a:pt x="0" y="182880"/>
                  </a:moveTo>
                  <a:cubicBezTo>
                    <a:pt x="0" y="81915"/>
                    <a:pt x="81915" y="0"/>
                    <a:pt x="182880" y="0"/>
                  </a:cubicBezTo>
                  <a:lnTo>
                    <a:pt x="6949440" y="0"/>
                  </a:lnTo>
                  <a:cubicBezTo>
                    <a:pt x="7050405" y="0"/>
                    <a:pt x="7132320" y="81915"/>
                    <a:pt x="7132320" y="182880"/>
                  </a:cubicBezTo>
                  <a:lnTo>
                    <a:pt x="7132320" y="5943600"/>
                  </a:lnTo>
                  <a:cubicBezTo>
                    <a:pt x="7132320" y="6044565"/>
                    <a:pt x="7050405" y="6126480"/>
                    <a:pt x="6949440" y="6126480"/>
                  </a:cubicBezTo>
                  <a:lnTo>
                    <a:pt x="182880" y="6126480"/>
                  </a:lnTo>
                  <a:cubicBezTo>
                    <a:pt x="81915" y="6126480"/>
                    <a:pt x="0" y="6044565"/>
                    <a:pt x="0" y="5943600"/>
                  </a:cubicBezTo>
                  <a:close/>
                </a:path>
              </a:pathLst>
            </a:custGeom>
            <a:solidFill>
              <a:srgbClr val="EAF8FA"/>
            </a:solidFill>
          </p:spPr>
        </p:sp>
      </p:grpSp>
      <p:grpSp>
        <p:nvGrpSpPr>
          <p:cNvPr name="Group 61" id="61"/>
          <p:cNvGrpSpPr/>
          <p:nvPr/>
        </p:nvGrpSpPr>
        <p:grpSpPr>
          <a:xfrm rot="0">
            <a:off x="822960" y="3634740"/>
            <a:ext cx="5349240" cy="822960"/>
            <a:chOff x="0" y="0"/>
            <a:chExt cx="7132320" cy="1097280"/>
          </a:xfrm>
        </p:grpSpPr>
        <p:sp>
          <p:nvSpPr>
            <p:cNvPr name="Freeform 62" id="62"/>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8A99A1"/>
            </a:solidFill>
          </p:spPr>
        </p:sp>
      </p:grpSp>
      <p:grpSp>
        <p:nvGrpSpPr>
          <p:cNvPr name="Group 63" id="63"/>
          <p:cNvGrpSpPr/>
          <p:nvPr/>
        </p:nvGrpSpPr>
        <p:grpSpPr>
          <a:xfrm rot="0">
            <a:off x="822960" y="3634740"/>
            <a:ext cx="5349240" cy="822960"/>
            <a:chOff x="0" y="0"/>
            <a:chExt cx="7132320" cy="1097280"/>
          </a:xfrm>
        </p:grpSpPr>
        <p:sp>
          <p:nvSpPr>
            <p:cNvPr name="Freeform 64" id="64"/>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sp>
      </p:grpSp>
      <p:grpSp>
        <p:nvGrpSpPr>
          <p:cNvPr name="Group 65" id="65"/>
          <p:cNvGrpSpPr/>
          <p:nvPr/>
        </p:nvGrpSpPr>
        <p:grpSpPr>
          <a:xfrm rot="0">
            <a:off x="822960" y="3599021"/>
            <a:ext cx="5349240" cy="858679"/>
            <a:chOff x="0" y="0"/>
            <a:chExt cx="7132320" cy="1144905"/>
          </a:xfrm>
        </p:grpSpPr>
        <p:sp>
          <p:nvSpPr>
            <p:cNvPr name="Freeform 66" id="66"/>
            <p:cNvSpPr/>
            <p:nvPr/>
          </p:nvSpPr>
          <p:spPr>
            <a:xfrm flipH="false" flipV="false" rot="0">
              <a:off x="0" y="0"/>
              <a:ext cx="7132320" cy="1144905"/>
            </a:xfrm>
            <a:custGeom>
              <a:avLst/>
              <a:gdLst/>
              <a:ahLst/>
              <a:cxnLst/>
              <a:rect r="r" b="b" t="t" l="l"/>
              <a:pathLst>
                <a:path h="1144905" w="7132320">
                  <a:moveTo>
                    <a:pt x="0" y="0"/>
                  </a:moveTo>
                  <a:lnTo>
                    <a:pt x="7132320" y="0"/>
                  </a:lnTo>
                  <a:lnTo>
                    <a:pt x="7132320" y="1144905"/>
                  </a:lnTo>
                  <a:lnTo>
                    <a:pt x="0" y="1144905"/>
                  </a:lnTo>
                  <a:close/>
                </a:path>
              </a:pathLst>
            </a:custGeom>
            <a:blipFill>
              <a:blip r:embed="rId5">
                <a:alphaModFix amt="0"/>
              </a:blip>
              <a:stretch>
                <a:fillRect l="0" t="-71384" r="0" b="-71384"/>
              </a:stretch>
            </a:blipFill>
          </p:spPr>
        </p:sp>
        <p:sp>
          <p:nvSpPr>
            <p:cNvPr name="TextBox 67" id="67"/>
            <p:cNvSpPr txBox="true"/>
            <p:nvPr/>
          </p:nvSpPr>
          <p:spPr>
            <a:xfrm>
              <a:off x="0" y="-47625"/>
              <a:ext cx="7132320" cy="1192530"/>
            </a:xfrm>
            <a:prstGeom prst="rect">
              <a:avLst/>
            </a:prstGeom>
          </p:spPr>
          <p:txBody>
            <a:bodyPr anchor="ctr" rtlCol="false" tIns="0" lIns="0" bIns="0" rIns="0"/>
            <a:lstStyle/>
            <a:p>
              <a:pPr algn="ctr">
                <a:lnSpc>
                  <a:spcPts val="3060"/>
                </a:lnSpc>
              </a:pPr>
              <a:r>
                <a:rPr lang="en-US" sz="2550" b="true">
                  <a:solidFill>
                    <a:srgbClr val="FFFFFF"/>
                  </a:solidFill>
                  <a:latin typeface="Calibri (MS) Bold"/>
                  <a:ea typeface="Calibri (MS) Bold"/>
                  <a:cs typeface="Calibri (MS) Bold"/>
                  <a:sym typeface="Calibri (MS) Bold"/>
                </a:rPr>
                <a:t>Business-as-Usual</a:t>
              </a:r>
            </a:p>
          </p:txBody>
        </p:sp>
      </p:grpSp>
      <p:grpSp>
        <p:nvGrpSpPr>
          <p:cNvPr name="Group 68" id="68"/>
          <p:cNvGrpSpPr/>
          <p:nvPr/>
        </p:nvGrpSpPr>
        <p:grpSpPr>
          <a:xfrm rot="0">
            <a:off x="1097280" y="4663440"/>
            <a:ext cx="2331720" cy="822960"/>
            <a:chOff x="0" y="0"/>
            <a:chExt cx="3108960" cy="1097280"/>
          </a:xfrm>
        </p:grpSpPr>
        <p:sp>
          <p:nvSpPr>
            <p:cNvPr name="Freeform 69" id="69"/>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sp>
      </p:grpSp>
      <p:grpSp>
        <p:nvGrpSpPr>
          <p:cNvPr name="Group 70" id="70"/>
          <p:cNvGrpSpPr/>
          <p:nvPr/>
        </p:nvGrpSpPr>
        <p:grpSpPr>
          <a:xfrm rot="0">
            <a:off x="1097280" y="4592003"/>
            <a:ext cx="2331720" cy="894398"/>
            <a:chOff x="0" y="0"/>
            <a:chExt cx="3108960" cy="1192530"/>
          </a:xfrm>
        </p:grpSpPr>
        <p:sp>
          <p:nvSpPr>
            <p:cNvPr name="Freeform 71" id="71"/>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98" r="0" b="-798"/>
              </a:stretch>
            </a:blipFill>
          </p:spPr>
        </p:sp>
        <p:sp>
          <p:nvSpPr>
            <p:cNvPr name="TextBox 72" id="72"/>
            <p:cNvSpPr txBox="true"/>
            <p:nvPr/>
          </p:nvSpPr>
          <p:spPr>
            <a:xfrm>
              <a:off x="0" y="-95250"/>
              <a:ext cx="3108960" cy="128778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a:t>
              </a:r>
            </a:p>
          </p:txBody>
        </p:sp>
      </p:grpSp>
      <p:sp>
        <p:nvSpPr>
          <p:cNvPr name="TextBox 73" id="73"/>
          <p:cNvSpPr txBox="true"/>
          <p:nvPr/>
        </p:nvSpPr>
        <p:spPr>
          <a:xfrm rot="0">
            <a:off x="1097280" y="5429250"/>
            <a:ext cx="2331720" cy="46863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Insentif Kebijakan</a:t>
            </a:r>
          </a:p>
        </p:txBody>
      </p:sp>
      <p:grpSp>
        <p:nvGrpSpPr>
          <p:cNvPr name="Group 74" id="74"/>
          <p:cNvGrpSpPr/>
          <p:nvPr/>
        </p:nvGrpSpPr>
        <p:grpSpPr>
          <a:xfrm rot="0">
            <a:off x="3566160" y="4663440"/>
            <a:ext cx="2331720" cy="822960"/>
            <a:chOff x="0" y="0"/>
            <a:chExt cx="3108960" cy="1097280"/>
          </a:xfrm>
        </p:grpSpPr>
        <p:sp>
          <p:nvSpPr>
            <p:cNvPr name="Freeform 75" id="75"/>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sp>
      </p:grpSp>
      <p:grpSp>
        <p:nvGrpSpPr>
          <p:cNvPr name="Group 76" id="76"/>
          <p:cNvGrpSpPr/>
          <p:nvPr/>
        </p:nvGrpSpPr>
        <p:grpSpPr>
          <a:xfrm rot="0">
            <a:off x="3566160" y="4592003"/>
            <a:ext cx="2331720" cy="894398"/>
            <a:chOff x="0" y="0"/>
            <a:chExt cx="3108960" cy="1192530"/>
          </a:xfrm>
        </p:grpSpPr>
        <p:sp>
          <p:nvSpPr>
            <p:cNvPr name="Freeform 77" id="77"/>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98" r="0" b="-798"/>
              </a:stretch>
            </a:blipFill>
          </p:spPr>
        </p:sp>
        <p:sp>
          <p:nvSpPr>
            <p:cNvPr name="TextBox 78" id="78"/>
            <p:cNvSpPr txBox="true"/>
            <p:nvPr/>
          </p:nvSpPr>
          <p:spPr>
            <a:xfrm>
              <a:off x="0" y="-95250"/>
              <a:ext cx="3108960" cy="128778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a:t>
              </a:r>
            </a:p>
          </p:txBody>
        </p:sp>
      </p:grpSp>
      <p:sp>
        <p:nvSpPr>
          <p:cNvPr name="TextBox 79" id="79"/>
          <p:cNvSpPr txBox="true"/>
          <p:nvPr/>
        </p:nvSpPr>
        <p:spPr>
          <a:xfrm rot="0">
            <a:off x="3566160" y="5429250"/>
            <a:ext cx="2331720" cy="46863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Konservasi Lahan</a:t>
            </a:r>
          </a:p>
        </p:txBody>
      </p:sp>
      <p:sp>
        <p:nvSpPr>
          <p:cNvPr name="TextBox 80" id="80"/>
          <p:cNvSpPr txBox="true"/>
          <p:nvPr/>
        </p:nvSpPr>
        <p:spPr>
          <a:xfrm rot="0">
            <a:off x="1165860" y="6096000"/>
            <a:ext cx="4663440" cy="19964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Tanpa insentif investasi tambahan; kebutuhan lahan fasilitas pariwisata dipenuhi lewat konversi seperti pola historis.</a:t>
            </a:r>
          </a:p>
        </p:txBody>
      </p:sp>
      <p:grpSp>
        <p:nvGrpSpPr>
          <p:cNvPr name="Group 81" id="81"/>
          <p:cNvGrpSpPr/>
          <p:nvPr/>
        </p:nvGrpSpPr>
        <p:grpSpPr>
          <a:xfrm rot="0">
            <a:off x="6467094" y="3634740"/>
            <a:ext cx="5349240" cy="4594860"/>
            <a:chOff x="0" y="0"/>
            <a:chExt cx="7132320" cy="6126480"/>
          </a:xfrm>
        </p:grpSpPr>
        <p:sp>
          <p:nvSpPr>
            <p:cNvPr name="Freeform 82" id="82"/>
            <p:cNvSpPr/>
            <p:nvPr/>
          </p:nvSpPr>
          <p:spPr>
            <a:xfrm flipH="false" flipV="false" rot="0">
              <a:off x="0" y="0"/>
              <a:ext cx="7132320" cy="6126480"/>
            </a:xfrm>
            <a:custGeom>
              <a:avLst/>
              <a:gdLst/>
              <a:ahLst/>
              <a:cxnLst/>
              <a:rect r="r" b="b" t="t" l="l"/>
              <a:pathLst>
                <a:path h="6126480" w="7132320">
                  <a:moveTo>
                    <a:pt x="0" y="182880"/>
                  </a:moveTo>
                  <a:cubicBezTo>
                    <a:pt x="0" y="81915"/>
                    <a:pt x="81915" y="0"/>
                    <a:pt x="182880" y="0"/>
                  </a:cubicBezTo>
                  <a:lnTo>
                    <a:pt x="6949440" y="0"/>
                  </a:lnTo>
                  <a:cubicBezTo>
                    <a:pt x="7050405" y="0"/>
                    <a:pt x="7132320" y="81915"/>
                    <a:pt x="7132320" y="182880"/>
                  </a:cubicBezTo>
                  <a:lnTo>
                    <a:pt x="7132320" y="5943600"/>
                  </a:lnTo>
                  <a:cubicBezTo>
                    <a:pt x="7132320" y="6044565"/>
                    <a:pt x="7050405" y="6126480"/>
                    <a:pt x="6949440" y="6126480"/>
                  </a:cubicBezTo>
                  <a:lnTo>
                    <a:pt x="182880" y="6126480"/>
                  </a:lnTo>
                  <a:cubicBezTo>
                    <a:pt x="81915" y="6126480"/>
                    <a:pt x="0" y="6044565"/>
                    <a:pt x="0" y="5943600"/>
                  </a:cubicBezTo>
                  <a:close/>
                </a:path>
              </a:pathLst>
            </a:custGeom>
            <a:solidFill>
              <a:srgbClr val="EAF8FA"/>
            </a:solidFill>
          </p:spPr>
        </p:sp>
      </p:grpSp>
      <p:grpSp>
        <p:nvGrpSpPr>
          <p:cNvPr name="Group 83" id="83"/>
          <p:cNvGrpSpPr/>
          <p:nvPr/>
        </p:nvGrpSpPr>
        <p:grpSpPr>
          <a:xfrm rot="0">
            <a:off x="6467094" y="3634740"/>
            <a:ext cx="5349240" cy="822960"/>
            <a:chOff x="0" y="0"/>
            <a:chExt cx="7132320" cy="1097280"/>
          </a:xfrm>
        </p:grpSpPr>
        <p:sp>
          <p:nvSpPr>
            <p:cNvPr name="Freeform 84" id="84"/>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39C0D3"/>
            </a:solidFill>
          </p:spPr>
        </p:sp>
      </p:grpSp>
      <p:grpSp>
        <p:nvGrpSpPr>
          <p:cNvPr name="Group 85" id="85"/>
          <p:cNvGrpSpPr/>
          <p:nvPr/>
        </p:nvGrpSpPr>
        <p:grpSpPr>
          <a:xfrm rot="0">
            <a:off x="6467094" y="3634740"/>
            <a:ext cx="5349240" cy="822960"/>
            <a:chOff x="0" y="0"/>
            <a:chExt cx="7132320" cy="1097280"/>
          </a:xfrm>
        </p:grpSpPr>
        <p:sp>
          <p:nvSpPr>
            <p:cNvPr name="Freeform 86" id="86"/>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sp>
      </p:grpSp>
      <p:grpSp>
        <p:nvGrpSpPr>
          <p:cNvPr name="Group 87" id="87"/>
          <p:cNvGrpSpPr/>
          <p:nvPr/>
        </p:nvGrpSpPr>
        <p:grpSpPr>
          <a:xfrm rot="0">
            <a:off x="6467094" y="3599021"/>
            <a:ext cx="5349240" cy="858679"/>
            <a:chOff x="0" y="0"/>
            <a:chExt cx="7132320" cy="1144905"/>
          </a:xfrm>
        </p:grpSpPr>
        <p:sp>
          <p:nvSpPr>
            <p:cNvPr name="Freeform 88" id="88"/>
            <p:cNvSpPr/>
            <p:nvPr/>
          </p:nvSpPr>
          <p:spPr>
            <a:xfrm flipH="false" flipV="false" rot="0">
              <a:off x="0" y="0"/>
              <a:ext cx="7132320" cy="1144905"/>
            </a:xfrm>
            <a:custGeom>
              <a:avLst/>
              <a:gdLst/>
              <a:ahLst/>
              <a:cxnLst/>
              <a:rect r="r" b="b" t="t" l="l"/>
              <a:pathLst>
                <a:path h="1144905" w="7132320">
                  <a:moveTo>
                    <a:pt x="0" y="0"/>
                  </a:moveTo>
                  <a:lnTo>
                    <a:pt x="7132320" y="0"/>
                  </a:lnTo>
                  <a:lnTo>
                    <a:pt x="7132320" y="1144905"/>
                  </a:lnTo>
                  <a:lnTo>
                    <a:pt x="0" y="1144905"/>
                  </a:lnTo>
                  <a:close/>
                </a:path>
              </a:pathLst>
            </a:custGeom>
            <a:blipFill>
              <a:blip r:embed="rId5">
                <a:alphaModFix amt="0"/>
              </a:blip>
              <a:stretch>
                <a:fillRect l="0" t="-71384" r="0" b="-71384"/>
              </a:stretch>
            </a:blipFill>
          </p:spPr>
        </p:sp>
        <p:sp>
          <p:nvSpPr>
            <p:cNvPr name="TextBox 89" id="89"/>
            <p:cNvSpPr txBox="true"/>
            <p:nvPr/>
          </p:nvSpPr>
          <p:spPr>
            <a:xfrm>
              <a:off x="0" y="-47625"/>
              <a:ext cx="7132320" cy="1192530"/>
            </a:xfrm>
            <a:prstGeom prst="rect">
              <a:avLst/>
            </a:prstGeom>
          </p:spPr>
          <p:txBody>
            <a:bodyPr anchor="ctr" rtlCol="false" tIns="0" lIns="0" bIns="0" rIns="0"/>
            <a:lstStyle/>
            <a:p>
              <a:pPr algn="ctr">
                <a:lnSpc>
                  <a:spcPts val="3060"/>
                </a:lnSpc>
              </a:pPr>
              <a:r>
                <a:rPr lang="en-US" sz="2550" b="true">
                  <a:solidFill>
                    <a:srgbClr val="FFFFFF"/>
                  </a:solidFill>
                  <a:latin typeface="Calibri (MS) Bold"/>
                  <a:ea typeface="Calibri (MS) Bold"/>
                  <a:cs typeface="Calibri (MS) Bold"/>
                  <a:sym typeface="Calibri (MS) Bold"/>
                </a:rPr>
                <a:t>Sustainable</a:t>
              </a:r>
            </a:p>
          </p:txBody>
        </p:sp>
      </p:grpSp>
      <p:grpSp>
        <p:nvGrpSpPr>
          <p:cNvPr name="Group 90" id="90"/>
          <p:cNvGrpSpPr/>
          <p:nvPr/>
        </p:nvGrpSpPr>
        <p:grpSpPr>
          <a:xfrm rot="0">
            <a:off x="6741414" y="4663440"/>
            <a:ext cx="2331720" cy="822960"/>
            <a:chOff x="0" y="0"/>
            <a:chExt cx="3108960" cy="1097280"/>
          </a:xfrm>
        </p:grpSpPr>
        <p:sp>
          <p:nvSpPr>
            <p:cNvPr name="Freeform 91" id="91"/>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sp>
      </p:grpSp>
      <p:grpSp>
        <p:nvGrpSpPr>
          <p:cNvPr name="Group 92" id="92"/>
          <p:cNvGrpSpPr/>
          <p:nvPr/>
        </p:nvGrpSpPr>
        <p:grpSpPr>
          <a:xfrm rot="0">
            <a:off x="6741414" y="4592003"/>
            <a:ext cx="2331720" cy="894398"/>
            <a:chOff x="0" y="0"/>
            <a:chExt cx="3108960" cy="1192530"/>
          </a:xfrm>
        </p:grpSpPr>
        <p:sp>
          <p:nvSpPr>
            <p:cNvPr name="Freeform 93" id="93"/>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98" r="0" b="-798"/>
              </a:stretch>
            </a:blipFill>
          </p:spPr>
        </p:sp>
        <p:sp>
          <p:nvSpPr>
            <p:cNvPr name="TextBox 94" id="94"/>
            <p:cNvSpPr txBox="true"/>
            <p:nvPr/>
          </p:nvSpPr>
          <p:spPr>
            <a:xfrm>
              <a:off x="0" y="-95250"/>
              <a:ext cx="3108960" cy="128778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0,1</a:t>
              </a:r>
            </a:p>
          </p:txBody>
        </p:sp>
      </p:grpSp>
      <p:sp>
        <p:nvSpPr>
          <p:cNvPr name="TextBox 95" id="95"/>
          <p:cNvSpPr txBox="true"/>
          <p:nvPr/>
        </p:nvSpPr>
        <p:spPr>
          <a:xfrm rot="0">
            <a:off x="6741414" y="5429250"/>
            <a:ext cx="2331720" cy="46863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Insentif Kebijakan</a:t>
            </a:r>
          </a:p>
        </p:txBody>
      </p:sp>
      <p:grpSp>
        <p:nvGrpSpPr>
          <p:cNvPr name="Group 96" id="96"/>
          <p:cNvGrpSpPr/>
          <p:nvPr/>
        </p:nvGrpSpPr>
        <p:grpSpPr>
          <a:xfrm rot="0">
            <a:off x="9210294" y="4663440"/>
            <a:ext cx="2331720" cy="822960"/>
            <a:chOff x="0" y="0"/>
            <a:chExt cx="3108960" cy="1097280"/>
          </a:xfrm>
        </p:grpSpPr>
        <p:sp>
          <p:nvSpPr>
            <p:cNvPr name="Freeform 97" id="97"/>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sp>
      </p:grpSp>
      <p:grpSp>
        <p:nvGrpSpPr>
          <p:cNvPr name="Group 98" id="98"/>
          <p:cNvGrpSpPr/>
          <p:nvPr/>
        </p:nvGrpSpPr>
        <p:grpSpPr>
          <a:xfrm rot="0">
            <a:off x="9210294" y="4592003"/>
            <a:ext cx="2331720" cy="894398"/>
            <a:chOff x="0" y="0"/>
            <a:chExt cx="3108960" cy="1192530"/>
          </a:xfrm>
        </p:grpSpPr>
        <p:sp>
          <p:nvSpPr>
            <p:cNvPr name="Freeform 99" id="99"/>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98" r="0" b="-798"/>
              </a:stretch>
            </a:blipFill>
          </p:spPr>
        </p:sp>
        <p:sp>
          <p:nvSpPr>
            <p:cNvPr name="TextBox 100" id="100"/>
            <p:cNvSpPr txBox="true"/>
            <p:nvPr/>
          </p:nvSpPr>
          <p:spPr>
            <a:xfrm>
              <a:off x="0" y="-95250"/>
              <a:ext cx="3108960" cy="128778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1,0</a:t>
              </a:r>
            </a:p>
          </p:txBody>
        </p:sp>
      </p:grpSp>
      <p:sp>
        <p:nvSpPr>
          <p:cNvPr name="TextBox 101" id="101"/>
          <p:cNvSpPr txBox="true"/>
          <p:nvPr/>
        </p:nvSpPr>
        <p:spPr>
          <a:xfrm rot="0">
            <a:off x="9210294" y="5429250"/>
            <a:ext cx="2331720" cy="46863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Konservasi Lahan</a:t>
            </a:r>
          </a:p>
        </p:txBody>
      </p:sp>
      <p:sp>
        <p:nvSpPr>
          <p:cNvPr name="TextBox 102" id="102"/>
          <p:cNvSpPr txBox="true"/>
          <p:nvPr/>
        </p:nvSpPr>
        <p:spPr>
          <a:xfrm rot="0">
            <a:off x="6809994" y="6096000"/>
            <a:ext cx="4663440" cy="19964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Dorongan investasi terbatas disertai pemenuhan kebutuhan lahan fasilitas pariwisata tanpa konversi lahan tambahan.</a:t>
            </a:r>
          </a:p>
        </p:txBody>
      </p:sp>
      <p:grpSp>
        <p:nvGrpSpPr>
          <p:cNvPr name="Group 103" id="103"/>
          <p:cNvGrpSpPr/>
          <p:nvPr/>
        </p:nvGrpSpPr>
        <p:grpSpPr>
          <a:xfrm rot="0">
            <a:off x="12111228" y="3634740"/>
            <a:ext cx="5349240" cy="4594860"/>
            <a:chOff x="0" y="0"/>
            <a:chExt cx="7132320" cy="6126480"/>
          </a:xfrm>
        </p:grpSpPr>
        <p:sp>
          <p:nvSpPr>
            <p:cNvPr name="Freeform 104" id="104"/>
            <p:cNvSpPr/>
            <p:nvPr/>
          </p:nvSpPr>
          <p:spPr>
            <a:xfrm flipH="false" flipV="false" rot="0">
              <a:off x="0" y="0"/>
              <a:ext cx="7132320" cy="6126480"/>
            </a:xfrm>
            <a:custGeom>
              <a:avLst/>
              <a:gdLst/>
              <a:ahLst/>
              <a:cxnLst/>
              <a:rect r="r" b="b" t="t" l="l"/>
              <a:pathLst>
                <a:path h="6126480" w="7132320">
                  <a:moveTo>
                    <a:pt x="0" y="182880"/>
                  </a:moveTo>
                  <a:cubicBezTo>
                    <a:pt x="0" y="81915"/>
                    <a:pt x="81915" y="0"/>
                    <a:pt x="182880" y="0"/>
                  </a:cubicBezTo>
                  <a:lnTo>
                    <a:pt x="6949440" y="0"/>
                  </a:lnTo>
                  <a:cubicBezTo>
                    <a:pt x="7050405" y="0"/>
                    <a:pt x="7132320" y="81915"/>
                    <a:pt x="7132320" y="182880"/>
                  </a:cubicBezTo>
                  <a:lnTo>
                    <a:pt x="7132320" y="5943600"/>
                  </a:lnTo>
                  <a:cubicBezTo>
                    <a:pt x="7132320" y="6044565"/>
                    <a:pt x="7050405" y="6126480"/>
                    <a:pt x="6949440" y="6126480"/>
                  </a:cubicBezTo>
                  <a:lnTo>
                    <a:pt x="182880" y="6126480"/>
                  </a:lnTo>
                  <a:cubicBezTo>
                    <a:pt x="81915" y="6126480"/>
                    <a:pt x="0" y="6044565"/>
                    <a:pt x="0" y="5943600"/>
                  </a:cubicBezTo>
                  <a:close/>
                </a:path>
              </a:pathLst>
            </a:custGeom>
            <a:solidFill>
              <a:srgbClr val="EAF8FA"/>
            </a:solidFill>
          </p:spPr>
        </p:sp>
      </p:grpSp>
      <p:grpSp>
        <p:nvGrpSpPr>
          <p:cNvPr name="Group 105" id="105"/>
          <p:cNvGrpSpPr/>
          <p:nvPr/>
        </p:nvGrpSpPr>
        <p:grpSpPr>
          <a:xfrm rot="0">
            <a:off x="12111228" y="3634740"/>
            <a:ext cx="5349240" cy="822960"/>
            <a:chOff x="0" y="0"/>
            <a:chExt cx="7132320" cy="1097280"/>
          </a:xfrm>
        </p:grpSpPr>
        <p:sp>
          <p:nvSpPr>
            <p:cNvPr name="Freeform 106" id="106"/>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FFD23B"/>
            </a:solidFill>
          </p:spPr>
        </p:sp>
      </p:grpSp>
      <p:grpSp>
        <p:nvGrpSpPr>
          <p:cNvPr name="Group 107" id="107"/>
          <p:cNvGrpSpPr/>
          <p:nvPr/>
        </p:nvGrpSpPr>
        <p:grpSpPr>
          <a:xfrm rot="0">
            <a:off x="12111228" y="3634740"/>
            <a:ext cx="5349240" cy="822960"/>
            <a:chOff x="0" y="0"/>
            <a:chExt cx="7132320" cy="1097280"/>
          </a:xfrm>
        </p:grpSpPr>
        <p:sp>
          <p:nvSpPr>
            <p:cNvPr name="Freeform 108" id="108"/>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sp>
      </p:grpSp>
      <p:grpSp>
        <p:nvGrpSpPr>
          <p:cNvPr name="Group 109" id="109"/>
          <p:cNvGrpSpPr/>
          <p:nvPr/>
        </p:nvGrpSpPr>
        <p:grpSpPr>
          <a:xfrm rot="0">
            <a:off x="12111228" y="3599021"/>
            <a:ext cx="5349240" cy="858679"/>
            <a:chOff x="0" y="0"/>
            <a:chExt cx="7132320" cy="1144905"/>
          </a:xfrm>
        </p:grpSpPr>
        <p:sp>
          <p:nvSpPr>
            <p:cNvPr name="Freeform 110" id="110"/>
            <p:cNvSpPr/>
            <p:nvPr/>
          </p:nvSpPr>
          <p:spPr>
            <a:xfrm flipH="false" flipV="false" rot="0">
              <a:off x="0" y="0"/>
              <a:ext cx="7132320" cy="1144905"/>
            </a:xfrm>
            <a:custGeom>
              <a:avLst/>
              <a:gdLst/>
              <a:ahLst/>
              <a:cxnLst/>
              <a:rect r="r" b="b" t="t" l="l"/>
              <a:pathLst>
                <a:path h="1144905" w="7132320">
                  <a:moveTo>
                    <a:pt x="0" y="0"/>
                  </a:moveTo>
                  <a:lnTo>
                    <a:pt x="7132320" y="0"/>
                  </a:lnTo>
                  <a:lnTo>
                    <a:pt x="7132320" y="1144905"/>
                  </a:lnTo>
                  <a:lnTo>
                    <a:pt x="0" y="1144905"/>
                  </a:lnTo>
                  <a:close/>
                </a:path>
              </a:pathLst>
            </a:custGeom>
            <a:blipFill>
              <a:blip r:embed="rId5">
                <a:alphaModFix amt="0"/>
              </a:blip>
              <a:stretch>
                <a:fillRect l="0" t="-71384" r="0" b="-71384"/>
              </a:stretch>
            </a:blipFill>
          </p:spPr>
        </p:sp>
        <p:sp>
          <p:nvSpPr>
            <p:cNvPr name="TextBox 111" id="111"/>
            <p:cNvSpPr txBox="true"/>
            <p:nvPr/>
          </p:nvSpPr>
          <p:spPr>
            <a:xfrm>
              <a:off x="0" y="-47625"/>
              <a:ext cx="7132320" cy="1192530"/>
            </a:xfrm>
            <a:prstGeom prst="rect">
              <a:avLst/>
            </a:prstGeom>
          </p:spPr>
          <p:txBody>
            <a:bodyPr anchor="ctr" rtlCol="false" tIns="0" lIns="0" bIns="0" rIns="0"/>
            <a:lstStyle/>
            <a:p>
              <a:pPr algn="ctr">
                <a:lnSpc>
                  <a:spcPts val="3060"/>
                </a:lnSpc>
              </a:pPr>
              <a:r>
                <a:rPr lang="en-US" sz="2550" b="true">
                  <a:solidFill>
                    <a:srgbClr val="14313B"/>
                  </a:solidFill>
                  <a:latin typeface="Calibri (MS) Bold"/>
                  <a:ea typeface="Calibri (MS) Bold"/>
                  <a:cs typeface="Calibri (MS) Bold"/>
                  <a:sym typeface="Calibri (MS) Bold"/>
                </a:rPr>
                <a:t>Development Priority</a:t>
              </a:r>
            </a:p>
          </p:txBody>
        </p:sp>
      </p:grpSp>
      <p:grpSp>
        <p:nvGrpSpPr>
          <p:cNvPr name="Group 112" id="112"/>
          <p:cNvGrpSpPr/>
          <p:nvPr/>
        </p:nvGrpSpPr>
        <p:grpSpPr>
          <a:xfrm rot="0">
            <a:off x="12385548" y="4663440"/>
            <a:ext cx="2331720" cy="822960"/>
            <a:chOff x="0" y="0"/>
            <a:chExt cx="3108960" cy="1097280"/>
          </a:xfrm>
        </p:grpSpPr>
        <p:sp>
          <p:nvSpPr>
            <p:cNvPr name="Freeform 113" id="113"/>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sp>
      </p:grpSp>
      <p:grpSp>
        <p:nvGrpSpPr>
          <p:cNvPr name="Group 114" id="114"/>
          <p:cNvGrpSpPr/>
          <p:nvPr/>
        </p:nvGrpSpPr>
        <p:grpSpPr>
          <a:xfrm rot="0">
            <a:off x="12385548" y="4592003"/>
            <a:ext cx="2331720" cy="894398"/>
            <a:chOff x="0" y="0"/>
            <a:chExt cx="3108960" cy="1192530"/>
          </a:xfrm>
        </p:grpSpPr>
        <p:sp>
          <p:nvSpPr>
            <p:cNvPr name="Freeform 115" id="115"/>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98" r="0" b="-798"/>
              </a:stretch>
            </a:blipFill>
          </p:spPr>
        </p:sp>
        <p:sp>
          <p:nvSpPr>
            <p:cNvPr name="TextBox 116" id="116"/>
            <p:cNvSpPr txBox="true"/>
            <p:nvPr/>
          </p:nvSpPr>
          <p:spPr>
            <a:xfrm>
              <a:off x="0" y="-95250"/>
              <a:ext cx="3108960" cy="128778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0,3</a:t>
              </a:r>
            </a:p>
          </p:txBody>
        </p:sp>
      </p:grpSp>
      <p:sp>
        <p:nvSpPr>
          <p:cNvPr name="TextBox 117" id="117"/>
          <p:cNvSpPr txBox="true"/>
          <p:nvPr/>
        </p:nvSpPr>
        <p:spPr>
          <a:xfrm rot="0">
            <a:off x="12385548" y="5429250"/>
            <a:ext cx="2331720" cy="46863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Insentif Kebijakan</a:t>
            </a:r>
          </a:p>
        </p:txBody>
      </p:sp>
      <p:grpSp>
        <p:nvGrpSpPr>
          <p:cNvPr name="Group 118" id="118"/>
          <p:cNvGrpSpPr/>
          <p:nvPr/>
        </p:nvGrpSpPr>
        <p:grpSpPr>
          <a:xfrm rot="0">
            <a:off x="14854428" y="4663440"/>
            <a:ext cx="2331720" cy="822960"/>
            <a:chOff x="0" y="0"/>
            <a:chExt cx="3108960" cy="1097280"/>
          </a:xfrm>
        </p:grpSpPr>
        <p:sp>
          <p:nvSpPr>
            <p:cNvPr name="Freeform 119" id="119"/>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sp>
      </p:grpSp>
      <p:grpSp>
        <p:nvGrpSpPr>
          <p:cNvPr name="Group 120" id="120"/>
          <p:cNvGrpSpPr/>
          <p:nvPr/>
        </p:nvGrpSpPr>
        <p:grpSpPr>
          <a:xfrm rot="0">
            <a:off x="14854428" y="4592003"/>
            <a:ext cx="2331720" cy="894398"/>
            <a:chOff x="0" y="0"/>
            <a:chExt cx="3108960" cy="1192530"/>
          </a:xfrm>
        </p:grpSpPr>
        <p:sp>
          <p:nvSpPr>
            <p:cNvPr name="Freeform 121" id="121"/>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98" r="0" b="-798"/>
              </a:stretch>
            </a:blipFill>
          </p:spPr>
        </p:sp>
        <p:sp>
          <p:nvSpPr>
            <p:cNvPr name="TextBox 122" id="122"/>
            <p:cNvSpPr txBox="true"/>
            <p:nvPr/>
          </p:nvSpPr>
          <p:spPr>
            <a:xfrm>
              <a:off x="0" y="-95250"/>
              <a:ext cx="3108960" cy="128778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a:t>
              </a:r>
            </a:p>
          </p:txBody>
        </p:sp>
      </p:grpSp>
      <p:sp>
        <p:nvSpPr>
          <p:cNvPr name="TextBox 123" id="123"/>
          <p:cNvSpPr txBox="true"/>
          <p:nvPr/>
        </p:nvSpPr>
        <p:spPr>
          <a:xfrm rot="0">
            <a:off x="14854428" y="5429250"/>
            <a:ext cx="2331720" cy="46863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Konservasi Lahan</a:t>
            </a:r>
          </a:p>
        </p:txBody>
      </p:sp>
      <p:sp>
        <p:nvSpPr>
          <p:cNvPr name="TextBox 124" id="124"/>
          <p:cNvSpPr txBox="true"/>
          <p:nvPr/>
        </p:nvSpPr>
        <p:spPr>
          <a:xfrm rot="0">
            <a:off x="12454128" y="6096000"/>
            <a:ext cx="4663440" cy="19964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Ekspansi investasi agresif tanpa pengendalian kebutuhan lahan pariwisata.</a:t>
            </a:r>
          </a:p>
        </p:txBody>
      </p:sp>
      <p:grpSp>
        <p:nvGrpSpPr>
          <p:cNvPr name="Group 125" id="125"/>
          <p:cNvGrpSpPr/>
          <p:nvPr/>
        </p:nvGrpSpPr>
        <p:grpSpPr>
          <a:xfrm rot="0">
            <a:off x="822960" y="8503920"/>
            <a:ext cx="16637508" cy="754380"/>
            <a:chOff x="0" y="0"/>
            <a:chExt cx="22183344" cy="1005840"/>
          </a:xfrm>
        </p:grpSpPr>
        <p:sp>
          <p:nvSpPr>
            <p:cNvPr name="Freeform 126" id="126"/>
            <p:cNvSpPr/>
            <p:nvPr/>
          </p:nvSpPr>
          <p:spPr>
            <a:xfrm flipH="false" flipV="false" rot="0">
              <a:off x="0" y="0"/>
              <a:ext cx="22183344" cy="1005840"/>
            </a:xfrm>
            <a:custGeom>
              <a:avLst/>
              <a:gdLst/>
              <a:ahLst/>
              <a:cxnLst/>
              <a:rect r="r" b="b" t="t" l="l"/>
              <a:pathLst>
                <a:path h="1005840" w="22183344">
                  <a:moveTo>
                    <a:pt x="0" y="182880"/>
                  </a:moveTo>
                  <a:cubicBezTo>
                    <a:pt x="0" y="81915"/>
                    <a:pt x="81915" y="0"/>
                    <a:pt x="182880" y="0"/>
                  </a:cubicBezTo>
                  <a:lnTo>
                    <a:pt x="22000463" y="0"/>
                  </a:lnTo>
                  <a:cubicBezTo>
                    <a:pt x="22101428" y="0"/>
                    <a:pt x="22183344" y="81915"/>
                    <a:pt x="22183344" y="182880"/>
                  </a:cubicBezTo>
                  <a:lnTo>
                    <a:pt x="22183344" y="822960"/>
                  </a:lnTo>
                  <a:cubicBezTo>
                    <a:pt x="22183344" y="923925"/>
                    <a:pt x="22101428" y="1005840"/>
                    <a:pt x="22000463" y="1005840"/>
                  </a:cubicBezTo>
                  <a:lnTo>
                    <a:pt x="182880" y="1005840"/>
                  </a:lnTo>
                  <a:cubicBezTo>
                    <a:pt x="81915" y="1005840"/>
                    <a:pt x="0" y="923925"/>
                    <a:pt x="0" y="822960"/>
                  </a:cubicBezTo>
                  <a:close/>
                </a:path>
              </a:pathLst>
            </a:custGeom>
            <a:solidFill>
              <a:srgbClr val="0B5E6E"/>
            </a:solidFill>
          </p:spPr>
        </p:sp>
      </p:grpSp>
      <p:grpSp>
        <p:nvGrpSpPr>
          <p:cNvPr name="Group 127" id="127"/>
          <p:cNvGrpSpPr/>
          <p:nvPr/>
        </p:nvGrpSpPr>
        <p:grpSpPr>
          <a:xfrm rot="0">
            <a:off x="1234440" y="8503920"/>
            <a:ext cx="15814548" cy="754380"/>
            <a:chOff x="0" y="0"/>
            <a:chExt cx="21086064" cy="1005840"/>
          </a:xfrm>
        </p:grpSpPr>
        <p:sp>
          <p:nvSpPr>
            <p:cNvPr name="Freeform 128" id="128"/>
            <p:cNvSpPr/>
            <p:nvPr/>
          </p:nvSpPr>
          <p:spPr>
            <a:xfrm flipH="false" flipV="false" rot="0">
              <a:off x="0" y="0"/>
              <a:ext cx="21086063" cy="1005840"/>
            </a:xfrm>
            <a:custGeom>
              <a:avLst/>
              <a:gdLst/>
              <a:ahLst/>
              <a:cxnLst/>
              <a:rect r="r" b="b" t="t" l="l"/>
              <a:pathLst>
                <a:path h="1005840" w="21086063">
                  <a:moveTo>
                    <a:pt x="0" y="0"/>
                  </a:moveTo>
                  <a:lnTo>
                    <a:pt x="21086063" y="0"/>
                  </a:lnTo>
                  <a:lnTo>
                    <a:pt x="21086063" y="1005840"/>
                  </a:lnTo>
                  <a:lnTo>
                    <a:pt x="0" y="1005840"/>
                  </a:lnTo>
                  <a:close/>
                </a:path>
              </a:pathLst>
            </a:custGeom>
            <a:blipFill>
              <a:blip r:embed="rId4">
                <a:alphaModFix amt="0"/>
              </a:blip>
              <a:stretch>
                <a:fillRect l="0" t="-358193" r="0" b="-358193"/>
              </a:stretch>
            </a:blipFill>
          </p:spPr>
        </p:sp>
      </p:grpSp>
      <p:grpSp>
        <p:nvGrpSpPr>
          <p:cNvPr name="Group 129" id="129"/>
          <p:cNvGrpSpPr/>
          <p:nvPr/>
        </p:nvGrpSpPr>
        <p:grpSpPr>
          <a:xfrm rot="0">
            <a:off x="1234440" y="8475345"/>
            <a:ext cx="15814548" cy="782955"/>
            <a:chOff x="0" y="0"/>
            <a:chExt cx="21086064" cy="1043940"/>
          </a:xfrm>
        </p:grpSpPr>
        <p:sp>
          <p:nvSpPr>
            <p:cNvPr name="Freeform 130" id="130"/>
            <p:cNvSpPr/>
            <p:nvPr/>
          </p:nvSpPr>
          <p:spPr>
            <a:xfrm flipH="false" flipV="false" rot="0">
              <a:off x="0" y="0"/>
              <a:ext cx="21086065" cy="1043940"/>
            </a:xfrm>
            <a:custGeom>
              <a:avLst/>
              <a:gdLst/>
              <a:ahLst/>
              <a:cxnLst/>
              <a:rect r="r" b="b" t="t" l="l"/>
              <a:pathLst>
                <a:path h="1043940" w="21086065">
                  <a:moveTo>
                    <a:pt x="0" y="0"/>
                  </a:moveTo>
                  <a:lnTo>
                    <a:pt x="21086065" y="0"/>
                  </a:lnTo>
                  <a:lnTo>
                    <a:pt x="21086065" y="1043940"/>
                  </a:lnTo>
                  <a:lnTo>
                    <a:pt x="0" y="1043940"/>
                  </a:lnTo>
                  <a:close/>
                </a:path>
              </a:pathLst>
            </a:custGeom>
            <a:blipFill>
              <a:blip r:embed="rId5">
                <a:alphaModFix amt="0"/>
              </a:blip>
              <a:stretch>
                <a:fillRect l="0" t="-343569" r="0" b="-343569"/>
              </a:stretch>
            </a:blipFill>
          </p:spPr>
        </p:sp>
        <p:sp>
          <p:nvSpPr>
            <p:cNvPr name="TextBox 131" id="131"/>
            <p:cNvSpPr txBox="true"/>
            <p:nvPr/>
          </p:nvSpPr>
          <p:spPr>
            <a:xfrm>
              <a:off x="0" y="-38100"/>
              <a:ext cx="21086064" cy="1082040"/>
            </a:xfrm>
            <a:prstGeom prst="rect">
              <a:avLst/>
            </a:prstGeom>
          </p:spPr>
          <p:txBody>
            <a:bodyPr anchor="ctr" rtlCol="false" tIns="0" lIns="0" bIns="0" rIns="0"/>
            <a:lstStyle/>
            <a:p>
              <a:pPr algn="l">
                <a:lnSpc>
                  <a:spcPts val="2250"/>
                </a:lnSpc>
              </a:pPr>
              <a:r>
                <a:rPr lang="en-US" sz="1875">
                  <a:solidFill>
                    <a:srgbClr val="FFFFFF"/>
                  </a:solidFill>
                  <a:latin typeface="Calibri (MS)"/>
                  <a:ea typeface="Calibri (MS)"/>
                  <a:cs typeface="Calibri (MS)"/>
                  <a:sym typeface="Calibri (MS)"/>
                </a:rPr>
                <a:t>Skenario berupa paket dua tuas → atribusi dilakukan lewat simulasi dekomposisi (analisis pendukung, bukan skenario).</a:t>
              </a:r>
            </a:p>
          </p:txBody>
        </p:sp>
      </p:grpSp>
      <p:sp>
        <p:nvSpPr>
          <p:cNvPr name="TextBox 132" id="13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56</a:t>
            </a:r>
          </a:p>
        </p:txBody>
      </p:sp>
      <p:sp>
        <p:nvSpPr>
          <p:cNvPr id="133" name="TextBox 132"/>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
        <p:nvSpPr>
          <p:cNvPr id="134"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4.8.3 · Hasil Perbandingan Skenario</a:t>
            </a:r>
          </a:p>
          <a:p>
            <a:pPr algn="l">
              <a:lnSpc>
                <a:spcPct val="100000"/>
              </a:lnSpc>
            </a:pPr>
            <a:r>
              <a:rPr lang="en-US" sz="3500" b="true">
                <a:solidFill>
                  <a:srgbClr val="0B5E6E"/>
                </a:solidFill>
                <a:latin typeface="Calibri (MS) Bold"/>
                <a:ea typeface="Calibri (MS) Bold"/>
                <a:cs typeface="Calibri (MS) Bold"/>
                <a:sym typeface="Calibri (MS) Bold"/>
              </a:rPr>
              <a:t>Tidak ada skenario yang unggul pada ketiga dimensi sekaligus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aphicFrame>
        <p:nvGraphicFramePr>
          <p:cNvPr name="Table 52" id="52"/>
          <p:cNvGraphicFramePr>
            <a:graphicFrameLocks noGrp="true"/>
          </p:cNvGraphicFramePr>
          <p:nvPr/>
        </p:nvGraphicFramePr>
        <p:xfrm>
          <a:off x="822960" y="2331720"/>
          <a:ext cx="16586200" cy="5359400"/>
        </p:xfrm>
        <a:graphic>
          <a:graphicData uri="http://schemas.openxmlformats.org/drawingml/2006/table">
            <a:tbl>
              <a:tblPr/>
              <a:tblGrid>
                <a:gridCol w="2068994"/>
                <a:gridCol w="6247788"/>
                <a:gridCol w="2608193"/>
                <a:gridCol w="2742993"/>
                <a:gridCol w="2918232"/>
              </a:tblGrid>
              <a:tr h="557974">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Dimensi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Indikator tahun 2050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BAU</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Sustainable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Development Priority</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33492">
                <a:tc rowSpan="3">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Lapangan kerja pariwisata (jiwa)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650.355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667.458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697.021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r>
              <a:tr h="533492">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PDRB pariwisata (miliar Rp)</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40.061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41.194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43.152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r>
              <a:tr h="533492">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Investasi kumulatif (miliar Rp) · deskriptif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37.318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41.550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50.133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92">
                <a:tc rowSpan="3">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Rasio daya dukung lahan (ambang &gt; 0,331)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0,6145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0,6180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0,6140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92">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Lahan terbangun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122.208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121.094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122.377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92">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Konversi lahan pariwisata kumulatif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947,0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0,0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1.095,1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92">
                <a:tc rowSpan="2">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Sosial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Indeks kepadatan (ambang &lt; 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2,3638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2,4307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2,5462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92">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Sosial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Daya tarik destinasi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0,8132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0,8205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0,8322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r>
              <a:tr h="533492">
                <a:tc>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Skala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Jumlah wisatawan (juta kunjungan) · dilaporkan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96,20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98,92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103,62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53" id="53"/>
          <p:cNvGrpSpPr/>
          <p:nvPr/>
        </p:nvGrpSpPr>
        <p:grpSpPr>
          <a:xfrm rot="0">
            <a:off x="822960" y="8092440"/>
            <a:ext cx="5349240" cy="1165860"/>
            <a:chOff x="0" y="0"/>
            <a:chExt cx="7132320" cy="1554480"/>
          </a:xfrm>
        </p:grpSpPr>
        <p:sp>
          <p:nvSpPr>
            <p:cNvPr name="Freeform 54" id="54"/>
            <p:cNvSpPr/>
            <p:nvPr/>
          </p:nvSpPr>
          <p:spPr>
            <a:xfrm flipH="false" flipV="false" rot="0">
              <a:off x="0" y="0"/>
              <a:ext cx="7132320" cy="1554480"/>
            </a:xfrm>
            <a:custGeom>
              <a:avLst/>
              <a:gdLst/>
              <a:ahLst/>
              <a:cxnLst/>
              <a:rect r="r" b="b" t="t" l="l"/>
              <a:pathLst>
                <a:path h="1554480" w="7132320">
                  <a:moveTo>
                    <a:pt x="0" y="182880"/>
                  </a:moveTo>
                  <a:cubicBezTo>
                    <a:pt x="0" y="81915"/>
                    <a:pt x="81915" y="0"/>
                    <a:pt x="182880" y="0"/>
                  </a:cubicBezTo>
                  <a:lnTo>
                    <a:pt x="6949440" y="0"/>
                  </a:lnTo>
                  <a:cubicBezTo>
                    <a:pt x="7050405" y="0"/>
                    <a:pt x="7132320" y="81915"/>
                    <a:pt x="7132320" y="182880"/>
                  </a:cubicBezTo>
                  <a:lnTo>
                    <a:pt x="7132320" y="1371600"/>
                  </a:lnTo>
                  <a:cubicBezTo>
                    <a:pt x="7132320" y="1472565"/>
                    <a:pt x="7050405" y="1554480"/>
                    <a:pt x="6949440" y="1554480"/>
                  </a:cubicBezTo>
                  <a:lnTo>
                    <a:pt x="182880" y="1554480"/>
                  </a:lnTo>
                  <a:cubicBezTo>
                    <a:pt x="81915" y="1554480"/>
                    <a:pt x="0" y="1472565"/>
                    <a:pt x="0" y="1371600"/>
                  </a:cubicBezTo>
                  <a:close/>
                </a:path>
              </a:pathLst>
            </a:custGeom>
            <a:solidFill>
              <a:srgbClr val="FFF1BF"/>
            </a:solidFill>
          </p:spPr>
        </p:sp>
      </p:grpSp>
      <p:sp>
        <p:nvSpPr>
          <p:cNvPr name="TextBox 55" id="55"/>
          <p:cNvSpPr txBox="true"/>
          <p:nvPr/>
        </p:nvSpPr>
        <p:spPr>
          <a:xfrm rot="0">
            <a:off x="1097280" y="8093202"/>
            <a:ext cx="4800600" cy="575310"/>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Development Priority unggul di ekonomi</a:t>
            </a:r>
          </a:p>
        </p:txBody>
      </p:sp>
      <p:sp>
        <p:nvSpPr>
          <p:cNvPr name="TextBox 56" id="56"/>
          <p:cNvSpPr txBox="true"/>
          <p:nvPr/>
        </p:nvSpPr>
        <p:spPr>
          <a:xfrm rot="0">
            <a:off x="1097280" y="8606028"/>
            <a:ext cx="4800600" cy="5562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+7,18% lapangan kerja dan +7,71% PDRB vs BAU</a:t>
            </a:r>
          </a:p>
        </p:txBody>
      </p:sp>
      <p:grpSp>
        <p:nvGrpSpPr>
          <p:cNvPr name="Group 57" id="57"/>
          <p:cNvGrpSpPr/>
          <p:nvPr/>
        </p:nvGrpSpPr>
        <p:grpSpPr>
          <a:xfrm rot="0">
            <a:off x="6467094" y="8092440"/>
            <a:ext cx="5349240" cy="1165860"/>
            <a:chOff x="0" y="0"/>
            <a:chExt cx="7132320" cy="1554480"/>
          </a:xfrm>
        </p:grpSpPr>
        <p:sp>
          <p:nvSpPr>
            <p:cNvPr name="Freeform 58" id="58"/>
            <p:cNvSpPr/>
            <p:nvPr/>
          </p:nvSpPr>
          <p:spPr>
            <a:xfrm flipH="false" flipV="false" rot="0">
              <a:off x="0" y="0"/>
              <a:ext cx="7132320" cy="1554480"/>
            </a:xfrm>
            <a:custGeom>
              <a:avLst/>
              <a:gdLst/>
              <a:ahLst/>
              <a:cxnLst/>
              <a:rect r="r" b="b" t="t" l="l"/>
              <a:pathLst>
                <a:path h="1554480" w="7132320">
                  <a:moveTo>
                    <a:pt x="0" y="182880"/>
                  </a:moveTo>
                  <a:cubicBezTo>
                    <a:pt x="0" y="81915"/>
                    <a:pt x="81915" y="0"/>
                    <a:pt x="182880" y="0"/>
                  </a:cubicBezTo>
                  <a:lnTo>
                    <a:pt x="6949440" y="0"/>
                  </a:lnTo>
                  <a:cubicBezTo>
                    <a:pt x="7050405" y="0"/>
                    <a:pt x="7132320" y="81915"/>
                    <a:pt x="7132320" y="182880"/>
                  </a:cubicBezTo>
                  <a:lnTo>
                    <a:pt x="7132320" y="1371600"/>
                  </a:lnTo>
                  <a:cubicBezTo>
                    <a:pt x="7132320" y="1472565"/>
                    <a:pt x="7050405" y="1554480"/>
                    <a:pt x="6949440" y="1554480"/>
                  </a:cubicBezTo>
                  <a:lnTo>
                    <a:pt x="182880" y="1554480"/>
                  </a:lnTo>
                  <a:cubicBezTo>
                    <a:pt x="81915" y="1554480"/>
                    <a:pt x="0" y="1472565"/>
                    <a:pt x="0" y="1371600"/>
                  </a:cubicBezTo>
                  <a:close/>
                </a:path>
              </a:pathLst>
            </a:custGeom>
            <a:solidFill>
              <a:srgbClr val="FFF1BF"/>
            </a:solidFill>
          </p:spPr>
        </p:sp>
      </p:grpSp>
      <p:sp>
        <p:nvSpPr>
          <p:cNvPr name="TextBox 59" id="59"/>
          <p:cNvSpPr txBox="true"/>
          <p:nvPr/>
        </p:nvSpPr>
        <p:spPr>
          <a:xfrm rot="0">
            <a:off x="6741414" y="8093202"/>
            <a:ext cx="4800600" cy="575310"/>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Sustainable unggul di lingkungan</a:t>
            </a:r>
          </a:p>
        </p:txBody>
      </p:sp>
      <p:sp>
        <p:nvSpPr>
          <p:cNvPr name="TextBox 60" id="60"/>
          <p:cNvSpPr txBox="true"/>
          <p:nvPr/>
        </p:nvSpPr>
        <p:spPr>
          <a:xfrm rot="0">
            <a:off x="6741414" y="8606028"/>
            <a:ext cx="4800600" cy="5562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konversi lahan pariwisata −100% vs BAU</a:t>
            </a:r>
          </a:p>
        </p:txBody>
      </p:sp>
      <p:grpSp>
        <p:nvGrpSpPr>
          <p:cNvPr name="Group 61" id="61"/>
          <p:cNvGrpSpPr/>
          <p:nvPr/>
        </p:nvGrpSpPr>
        <p:grpSpPr>
          <a:xfrm rot="0">
            <a:off x="12111228" y="8092440"/>
            <a:ext cx="5349240" cy="1165860"/>
            <a:chOff x="0" y="0"/>
            <a:chExt cx="7132320" cy="1554480"/>
          </a:xfrm>
        </p:grpSpPr>
        <p:sp>
          <p:nvSpPr>
            <p:cNvPr name="Freeform 62" id="62"/>
            <p:cNvSpPr/>
            <p:nvPr/>
          </p:nvSpPr>
          <p:spPr>
            <a:xfrm flipH="false" flipV="false" rot="0">
              <a:off x="0" y="0"/>
              <a:ext cx="7132320" cy="1554480"/>
            </a:xfrm>
            <a:custGeom>
              <a:avLst/>
              <a:gdLst/>
              <a:ahLst/>
              <a:cxnLst/>
              <a:rect r="r" b="b" t="t" l="l"/>
              <a:pathLst>
                <a:path h="1554480" w="7132320">
                  <a:moveTo>
                    <a:pt x="0" y="182880"/>
                  </a:moveTo>
                  <a:cubicBezTo>
                    <a:pt x="0" y="81915"/>
                    <a:pt x="81915" y="0"/>
                    <a:pt x="182880" y="0"/>
                  </a:cubicBezTo>
                  <a:lnTo>
                    <a:pt x="6949440" y="0"/>
                  </a:lnTo>
                  <a:cubicBezTo>
                    <a:pt x="7050405" y="0"/>
                    <a:pt x="7132320" y="81915"/>
                    <a:pt x="7132320" y="182880"/>
                  </a:cubicBezTo>
                  <a:lnTo>
                    <a:pt x="7132320" y="1371600"/>
                  </a:lnTo>
                  <a:cubicBezTo>
                    <a:pt x="7132320" y="1472565"/>
                    <a:pt x="7050405" y="1554480"/>
                    <a:pt x="6949440" y="1554480"/>
                  </a:cubicBezTo>
                  <a:lnTo>
                    <a:pt x="182880" y="1554480"/>
                  </a:lnTo>
                  <a:cubicBezTo>
                    <a:pt x="81915" y="1554480"/>
                    <a:pt x="0" y="1472565"/>
                    <a:pt x="0" y="1371600"/>
                  </a:cubicBezTo>
                  <a:close/>
                </a:path>
              </a:pathLst>
            </a:custGeom>
            <a:solidFill>
              <a:srgbClr val="FFF1BF"/>
            </a:solidFill>
          </p:spPr>
        </p:sp>
      </p:grpSp>
      <p:sp>
        <p:nvSpPr>
          <p:cNvPr name="TextBox 63" id="63"/>
          <p:cNvSpPr txBox="true"/>
          <p:nvPr/>
        </p:nvSpPr>
        <p:spPr>
          <a:xfrm rot="0">
            <a:off x="12385548" y="8093202"/>
            <a:ext cx="4800600" cy="575310"/>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BAU unggul di kepadatan</a:t>
            </a:r>
          </a:p>
        </p:txBody>
      </p:sp>
      <p:sp>
        <p:nvSpPr>
          <p:cNvPr name="TextBox 64" id="64"/>
          <p:cNvSpPr txBox="true"/>
          <p:nvPr/>
        </p:nvSpPr>
        <p:spPr>
          <a:xfrm rot="0">
            <a:off x="12385548" y="8606028"/>
            <a:ext cx="4800600" cy="5562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indeks 2,36 vs 2,43 (S) dan 2,55 (DP)</a:t>
            </a:r>
          </a:p>
        </p:txBody>
      </p:sp>
      <p:sp>
        <p:nvSpPr>
          <p:cNvPr name="TextBox 65" id="65"/>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57</a:t>
            </a:r>
          </a:p>
        </p:txBody>
      </p:sp>
      <p:sp>
        <p:nvSpPr>
          <p:cNvPr id="66" name="TextBox 65"/>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
        <p:nvSpPr>
          <p:cNvPr id="67"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4.8.3 · Hasil Perbandingan Skenario — Komposisi Daya Tarik</a:t>
            </a:r>
          </a:p>
          <a:p>
            <a:pPr algn="l">
              <a:lnSpc>
                <a:spcPct val="100000"/>
              </a:lnSpc>
            </a:pPr>
            <a:r>
              <a:rPr lang="en-US" sz="3500" b="true">
                <a:solidFill>
                  <a:srgbClr val="0B5E6E"/>
                </a:solidFill>
                <a:latin typeface="Calibri (MS) Bold"/>
                <a:ea typeface="Calibri (MS) Bold"/>
                <a:cs typeface="Calibri (MS) Bold"/>
                <a:sym typeface="Calibri (MS) Bold"/>
              </a:rPr>
              <a:t>Pertumbuhan ODTW lebih besar daripada tekanan kepadatan dan lahan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58</a:t>
            </a:r>
          </a:p>
        </p:txBody>
      </p:sp>
      <p:grpSp>
        <p:nvGrpSpPr>
          <p:cNvPr name="Group 53" id="53"/>
          <p:cNvGrpSpPr/>
          <p:nvPr/>
        </p:nvGrpSpPr>
        <p:grpSpPr>
          <a:xfrm rot="0">
            <a:off x="822960" y="2307946"/>
            <a:ext cx="4983480" cy="2790749"/>
            <a:chOff x="0" y="0"/>
            <a:chExt cx="6644640" cy="3720998"/>
          </a:xfrm>
        </p:grpSpPr>
        <p:sp>
          <p:nvSpPr>
            <p:cNvPr name="Freeform 54" id="54" descr="skenario_Jumlah_Wisatawan.png"/>
            <p:cNvSpPr/>
            <p:nvPr/>
          </p:nvSpPr>
          <p:spPr>
            <a:xfrm flipH="false" flipV="false" rot="0">
              <a:off x="0" y="0"/>
              <a:ext cx="6644640" cy="3720973"/>
            </a:xfrm>
            <a:custGeom>
              <a:avLst/>
              <a:gdLst/>
              <a:ahLst/>
              <a:cxnLst/>
              <a:rect r="r" b="b" t="t" l="l"/>
              <a:pathLst>
                <a:path h="3720973" w="6644640">
                  <a:moveTo>
                    <a:pt x="0" y="0"/>
                  </a:moveTo>
                  <a:lnTo>
                    <a:pt x="6644640" y="0"/>
                  </a:lnTo>
                  <a:lnTo>
                    <a:pt x="6644640" y="3720973"/>
                  </a:lnTo>
                  <a:lnTo>
                    <a:pt x="0" y="3720973"/>
                  </a:lnTo>
                  <a:lnTo>
                    <a:pt x="0" y="0"/>
                  </a:lnTo>
                  <a:close/>
                </a:path>
              </a:pathLst>
            </a:custGeom>
            <a:blipFill>
              <a:blip r:embed="rId6"/>
              <a:stretch>
                <a:fillRect l="0" t="0" r="0" b="0"/>
              </a:stretch>
            </a:blipFill>
          </p:spPr>
        </p:sp>
      </p:grpSp>
      <p:grpSp>
        <p:nvGrpSpPr>
          <p:cNvPr name="Group 55" id="55"/>
          <p:cNvGrpSpPr/>
          <p:nvPr/>
        </p:nvGrpSpPr>
        <p:grpSpPr>
          <a:xfrm rot="0">
            <a:off x="5989320" y="2307946"/>
            <a:ext cx="4983480" cy="2790749"/>
            <a:chOff x="0" y="0"/>
            <a:chExt cx="6644640" cy="3720998"/>
          </a:xfrm>
        </p:grpSpPr>
        <p:sp>
          <p:nvSpPr>
            <p:cNvPr name="Freeform 56" id="56" descr="skenario_PDRB_Sektor_Pariwisata.png"/>
            <p:cNvSpPr/>
            <p:nvPr/>
          </p:nvSpPr>
          <p:spPr>
            <a:xfrm flipH="false" flipV="false" rot="0">
              <a:off x="0" y="0"/>
              <a:ext cx="6644640" cy="3720973"/>
            </a:xfrm>
            <a:custGeom>
              <a:avLst/>
              <a:gdLst/>
              <a:ahLst/>
              <a:cxnLst/>
              <a:rect r="r" b="b" t="t" l="l"/>
              <a:pathLst>
                <a:path h="3720973" w="6644640">
                  <a:moveTo>
                    <a:pt x="0" y="0"/>
                  </a:moveTo>
                  <a:lnTo>
                    <a:pt x="6644640" y="0"/>
                  </a:lnTo>
                  <a:lnTo>
                    <a:pt x="6644640" y="3720973"/>
                  </a:lnTo>
                  <a:lnTo>
                    <a:pt x="0" y="3720973"/>
                  </a:lnTo>
                  <a:lnTo>
                    <a:pt x="0" y="0"/>
                  </a:lnTo>
                  <a:close/>
                </a:path>
              </a:pathLst>
            </a:custGeom>
            <a:blipFill>
              <a:blip r:embed="rId7"/>
              <a:stretch>
                <a:fillRect l="0" t="0" r="0" b="0"/>
              </a:stretch>
            </a:blipFill>
          </p:spPr>
        </p:sp>
      </p:grpSp>
      <p:sp>
        <p:nvSpPr>
          <p:cNvPr name="TextBox 57" id="57"/>
          <p:cNvSpPr txBox="true"/>
          <p:nvPr/>
        </p:nvSpPr>
        <p:spPr>
          <a:xfrm rot="0">
            <a:off x="822960" y="5091303"/>
            <a:ext cx="10149840" cy="459105"/>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Lintasan 2025–2050: jumlah wisatawan (kiri) dan PDRB sektor pariwisata (kanan) menurut skenario</a:t>
            </a:r>
          </a:p>
        </p:txBody>
      </p:sp>
      <p:graphicFrame>
        <p:nvGraphicFramePr>
          <p:cNvPr name="Table 58" id="58"/>
          <p:cNvGraphicFramePr>
            <a:graphicFrameLocks noGrp="true"/>
          </p:cNvGraphicFramePr>
          <p:nvPr/>
        </p:nvGraphicFramePr>
        <p:xfrm>
          <a:off x="822960" y="5623560"/>
          <a:ext cx="10109200" cy="2324100"/>
        </p:xfrm>
        <a:graphic>
          <a:graphicData uri="http://schemas.openxmlformats.org/drawingml/2006/table">
            <a:tbl>
              <a:tblPr/>
              <a:tblGrid>
                <a:gridCol w="3551881"/>
                <a:gridCol w="2185773"/>
                <a:gridCol w="2185773"/>
                <a:gridCol w="2185773"/>
              </a:tblGrid>
              <a:tr h="490588">
                <a:tc>
                  <a:txBody>
                    <a:bodyPr anchor="t" rtlCol="false"/>
                    <a:lstStyle/>
                    <a:p>
                      <a:pPr algn="l">
                        <a:lnSpc>
                          <a:spcPts val="1800"/>
                        </a:lnSpc>
                        <a:defRPr/>
                      </a:pPr>
                      <a:r>
                        <a:rPr lang="en-US" sz="1500" b="true">
                          <a:solidFill>
                            <a:srgbClr val="FFFFFF"/>
                          </a:solidFill>
                          <a:latin typeface="Calibri (MS) Bold"/>
                          <a:ea typeface="Calibri (MS) Bold"/>
                          <a:cs typeface="Calibri (MS) Bold"/>
                          <a:sym typeface="Calibri (MS) Bold"/>
                        </a:rPr>
                        <a:t>Komponen indeks daya tarik 2050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800"/>
                        </a:lnSpc>
                        <a:defRPr/>
                      </a:pPr>
                      <a:r>
                        <a:rPr lang="en-US" sz="1500" b="true">
                          <a:solidFill>
                            <a:srgbClr val="FFFFFF"/>
                          </a:solidFill>
                          <a:latin typeface="Calibri (MS) Bold"/>
                          <a:ea typeface="Calibri (MS) Bold"/>
                          <a:cs typeface="Calibri (MS) Bold"/>
                          <a:sym typeface="Calibri (MS) Bold"/>
                        </a:rPr>
                        <a:t>BAU</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800"/>
                        </a:lnSpc>
                        <a:defRPr/>
                      </a:pPr>
                      <a:r>
                        <a:rPr lang="en-US" sz="1500" b="true">
                          <a:solidFill>
                            <a:srgbClr val="FFFFFF"/>
                          </a:solidFill>
                          <a:latin typeface="Calibri (MS) Bold"/>
                          <a:ea typeface="Calibri (MS) Bold"/>
                          <a:cs typeface="Calibri (MS) Bold"/>
                          <a:sym typeface="Calibri (MS) Bold"/>
                        </a:rPr>
                        <a:t>Sustainable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800"/>
                        </a:lnSpc>
                        <a:defRPr/>
                      </a:pPr>
                      <a:r>
                        <a:rPr lang="en-US" sz="1500" b="true">
                          <a:solidFill>
                            <a:srgbClr val="FFFFFF"/>
                          </a:solidFill>
                          <a:latin typeface="Calibri (MS) Bold"/>
                          <a:ea typeface="Calibri (MS) Bold"/>
                          <a:cs typeface="Calibri (MS) Bold"/>
                          <a:sym typeface="Calibri (MS) Bold"/>
                        </a:rPr>
                        <a:t>Development Priority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58378">
                <a:tc>
                  <a:txBody>
                    <a:bodyPr anchor="t" rtlCol="false"/>
                    <a:lstStyle/>
                    <a:p>
                      <a:pPr algn="l">
                        <a:lnSpc>
                          <a:spcPts val="1800"/>
                        </a:lnSpc>
                        <a:defRPr/>
                      </a:pPr>
                      <a:r>
                        <a:rPr lang="en-US" sz="1500">
                          <a:solidFill>
                            <a:srgbClr val="14313B"/>
                          </a:solidFill>
                          <a:latin typeface="Calibri (MS)"/>
                          <a:ea typeface="Calibri (MS)"/>
                          <a:cs typeface="Calibri (MS)"/>
                          <a:sym typeface="Calibri (MS)"/>
                        </a:rPr>
                        <a:t>Objek daya tarik 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0,4793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0,4896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0B5E6E"/>
                          </a:solidFill>
                          <a:latin typeface="Calibri (MS)"/>
                          <a:ea typeface="Calibri (MS)"/>
                          <a:cs typeface="Calibri (MS)"/>
                          <a:sym typeface="Calibri (MS)"/>
                        </a:rPr>
                        <a:t>0,5090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EAF8FA"/>
                    </a:solidFill>
                  </a:tcPr>
                </a:tc>
              </a:tr>
              <a:tr h="458378">
                <a:tc>
                  <a:txBody>
                    <a:bodyPr anchor="t" rtlCol="false"/>
                    <a:lstStyle/>
                    <a:p>
                      <a:pPr algn="l">
                        <a:lnSpc>
                          <a:spcPts val="1800"/>
                        </a:lnSpc>
                        <a:defRPr/>
                      </a:pPr>
                      <a:r>
                        <a:rPr lang="en-US" sz="1500">
                          <a:solidFill>
                            <a:srgbClr val="14313B"/>
                          </a:solidFill>
                          <a:latin typeface="Calibri (MS)"/>
                          <a:ea typeface="Calibri (MS)"/>
                          <a:cs typeface="Calibri (MS)"/>
                          <a:sym typeface="Calibri (MS)"/>
                        </a:rPr>
                        <a:t>Kepadatan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0,1481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0,1440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0,1375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378">
                <a:tc>
                  <a:txBody>
                    <a:bodyPr anchor="t" rtlCol="false"/>
                    <a:lstStyle/>
                    <a:p>
                      <a:pPr algn="l">
                        <a:lnSpc>
                          <a:spcPts val="1800"/>
                        </a:lnSpc>
                        <a:defRPr/>
                      </a:pPr>
                      <a:r>
                        <a:rPr lang="en-US" sz="1500">
                          <a:solidFill>
                            <a:srgbClr val="14313B"/>
                          </a:solidFill>
                          <a:latin typeface="Calibri (MS)"/>
                          <a:ea typeface="Calibri (MS)"/>
                          <a:cs typeface="Calibri (MS)"/>
                          <a:sym typeface="Calibri (MS)"/>
                        </a:rPr>
                        <a:t>Daya dukung 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0,1859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0,1869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0,1857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378">
                <a:tc>
                  <a:txBody>
                    <a:bodyPr anchor="t" rtlCol="false"/>
                    <a:lstStyle/>
                    <a:p>
                      <a:pPr algn="l">
                        <a:lnSpc>
                          <a:spcPts val="1800"/>
                        </a:lnSpc>
                        <a:defRPr/>
                      </a:pPr>
                      <a:r>
                        <a:rPr lang="en-US" sz="1500" b="true">
                          <a:solidFill>
                            <a:srgbClr val="14313B"/>
                          </a:solidFill>
                          <a:latin typeface="Calibri (MS) Bold"/>
                          <a:ea typeface="Calibri (MS) Bold"/>
                          <a:cs typeface="Calibri (MS) Bold"/>
                          <a:sym typeface="Calibri (MS) Bold"/>
                        </a:rPr>
                        <a:t>Total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b="true">
                          <a:solidFill>
                            <a:srgbClr val="14313B"/>
                          </a:solidFill>
                          <a:latin typeface="Calibri (MS) Bold"/>
                          <a:ea typeface="Calibri (MS) Bold"/>
                          <a:cs typeface="Calibri (MS) Bold"/>
                          <a:sym typeface="Calibri (MS) Bold"/>
                        </a:rPr>
                        <a:t>0,8132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b="true">
                          <a:solidFill>
                            <a:srgbClr val="14313B"/>
                          </a:solidFill>
                          <a:latin typeface="Calibri (MS) Bold"/>
                          <a:ea typeface="Calibri (MS) Bold"/>
                          <a:cs typeface="Calibri (MS) Bold"/>
                          <a:sym typeface="Calibri (MS) Bold"/>
                        </a:rPr>
                        <a:t>0,8205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b="true">
                          <a:solidFill>
                            <a:srgbClr val="0B5E6E"/>
                          </a:solidFill>
                          <a:latin typeface="Calibri (MS) Bold"/>
                          <a:ea typeface="Calibri (MS) Bold"/>
                          <a:cs typeface="Calibri (MS) Bold"/>
                          <a:sym typeface="Calibri (MS) Bold"/>
                        </a:rPr>
                        <a:t>0,8322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EAF8FA"/>
                    </a:solidFill>
                  </a:tcPr>
                </a:tc>
              </a:tr>
            </a:tbl>
          </a:graphicData>
        </a:graphic>
      </p:graphicFrame>
      <p:grpSp>
        <p:nvGrpSpPr>
          <p:cNvPr name="Group 59" id="59"/>
          <p:cNvGrpSpPr/>
          <p:nvPr/>
        </p:nvGrpSpPr>
        <p:grpSpPr>
          <a:xfrm rot="0">
            <a:off x="11384280" y="2395728"/>
            <a:ext cx="6071616" cy="1783080"/>
            <a:chOff x="0" y="0"/>
            <a:chExt cx="8095488" cy="2377440"/>
          </a:xfrm>
        </p:grpSpPr>
        <p:sp>
          <p:nvSpPr>
            <p:cNvPr name="Freeform 60" id="60"/>
            <p:cNvSpPr/>
            <p:nvPr/>
          </p:nvSpPr>
          <p:spPr>
            <a:xfrm flipH="false" flipV="false" rot="0">
              <a:off x="0" y="0"/>
              <a:ext cx="8095488" cy="2377440"/>
            </a:xfrm>
            <a:custGeom>
              <a:avLst/>
              <a:gdLst/>
              <a:ahLst/>
              <a:cxnLst/>
              <a:rect r="r" b="b" t="t" l="l"/>
              <a:pathLst>
                <a:path h="2377440" w="8095488">
                  <a:moveTo>
                    <a:pt x="0" y="170688"/>
                  </a:moveTo>
                  <a:cubicBezTo>
                    <a:pt x="0" y="76454"/>
                    <a:pt x="76454" y="0"/>
                    <a:pt x="170688" y="0"/>
                  </a:cubicBezTo>
                  <a:lnTo>
                    <a:pt x="7924800" y="0"/>
                  </a:lnTo>
                  <a:cubicBezTo>
                    <a:pt x="8019034" y="0"/>
                    <a:pt x="8095488" y="76454"/>
                    <a:pt x="8095488" y="170688"/>
                  </a:cubicBezTo>
                  <a:lnTo>
                    <a:pt x="8095488" y="2206752"/>
                  </a:lnTo>
                  <a:cubicBezTo>
                    <a:pt x="8095488" y="2300986"/>
                    <a:pt x="8019034" y="2377440"/>
                    <a:pt x="7924800" y="2377440"/>
                  </a:cubicBezTo>
                  <a:lnTo>
                    <a:pt x="170688" y="2377440"/>
                  </a:lnTo>
                  <a:cubicBezTo>
                    <a:pt x="76454" y="2377440"/>
                    <a:pt x="0" y="2300986"/>
                    <a:pt x="0" y="2206752"/>
                  </a:cubicBezTo>
                  <a:close/>
                </a:path>
              </a:pathLst>
            </a:custGeom>
            <a:solidFill>
              <a:srgbClr val="EAF8FA"/>
            </a:solidFill>
          </p:spPr>
        </p:sp>
      </p:grpSp>
      <p:sp>
        <p:nvSpPr>
          <p:cNvPr name="TextBox 61" id="61"/>
          <p:cNvSpPr txBox="true"/>
          <p:nvPr/>
        </p:nvSpPr>
        <p:spPr>
          <a:xfrm rot="0">
            <a:off x="11658600" y="2446020"/>
            <a:ext cx="5522976" cy="845820"/>
          </a:xfrm>
          <a:prstGeom prst="rect">
            <a:avLst/>
          </a:prstGeom>
        </p:spPr>
        <p:txBody>
          <a:bodyPr anchor="t" rtlCol="false" tIns="0" lIns="0" bIns="0" rIns="0">
            <a:spAutoFit/>
          </a:bodyPr>
          <a:lstStyle/>
          <a:p>
            <a:pPr algn="l">
              <a:lnSpc>
                <a:spcPts val="4838"/>
              </a:lnSpc>
            </a:pPr>
            <a:r>
              <a:rPr lang="en-US" sz="3600" b="true">
                <a:solidFill>
                  <a:srgbClr val="0B5E6E"/>
                </a:solidFill>
                <a:latin typeface="Calibri (MS) Bold"/>
                <a:ea typeface="Calibri (MS) Bold"/>
                <a:cs typeface="Calibri (MS) Bold"/>
                <a:sym typeface="Calibri (MS) Bold"/>
              </a:rPr>
              <a:t>+0,0297</a:t>
            </a:r>
          </a:p>
        </p:txBody>
      </p:sp>
      <p:sp>
        <p:nvSpPr>
          <p:cNvPr name="TextBox 62" id="62"/>
          <p:cNvSpPr txBox="true"/>
          <p:nvPr/>
        </p:nvSpPr>
        <p:spPr>
          <a:xfrm rot="0">
            <a:off x="11658600" y="3084195"/>
            <a:ext cx="5522976" cy="916305"/>
          </a:xfrm>
          <a:prstGeom prst="rect">
            <a:avLst/>
          </a:prstGeom>
        </p:spPr>
        <p:txBody>
          <a:bodyPr anchor="t" rtlCol="false" tIns="0" lIns="0" bIns="0" rIns="0">
            <a:spAutoFit/>
          </a:bodyPr>
          <a:lstStyle/>
          <a:p>
            <a:pPr algn="l">
              <a:lnSpc>
                <a:spcPts val="2150"/>
              </a:lnSpc>
            </a:pPr>
            <a:r>
              <a:rPr lang="en-US" sz="1599">
                <a:solidFill>
                  <a:srgbClr val="5E6E78"/>
                </a:solidFill>
                <a:latin typeface="Calibri (MS)"/>
                <a:ea typeface="Calibri (MS)"/>
                <a:cs typeface="Calibri (MS)"/>
                <a:sym typeface="Calibri (MS)"/>
              </a:rPr>
              <a:t>komponen ODTW: Development Priority dibanding BAU</a:t>
            </a:r>
          </a:p>
        </p:txBody>
      </p:sp>
      <p:grpSp>
        <p:nvGrpSpPr>
          <p:cNvPr name="Group 63" id="63"/>
          <p:cNvGrpSpPr/>
          <p:nvPr/>
        </p:nvGrpSpPr>
        <p:grpSpPr>
          <a:xfrm rot="0">
            <a:off x="11384280" y="4315968"/>
            <a:ext cx="6071616" cy="1783080"/>
            <a:chOff x="0" y="0"/>
            <a:chExt cx="8095488" cy="2377440"/>
          </a:xfrm>
        </p:grpSpPr>
        <p:sp>
          <p:nvSpPr>
            <p:cNvPr name="Freeform 64" id="64"/>
            <p:cNvSpPr/>
            <p:nvPr/>
          </p:nvSpPr>
          <p:spPr>
            <a:xfrm flipH="false" flipV="false" rot="0">
              <a:off x="0" y="0"/>
              <a:ext cx="8095488" cy="2377440"/>
            </a:xfrm>
            <a:custGeom>
              <a:avLst/>
              <a:gdLst/>
              <a:ahLst/>
              <a:cxnLst/>
              <a:rect r="r" b="b" t="t" l="l"/>
              <a:pathLst>
                <a:path h="2377440" w="8095488">
                  <a:moveTo>
                    <a:pt x="0" y="170688"/>
                  </a:moveTo>
                  <a:cubicBezTo>
                    <a:pt x="0" y="76454"/>
                    <a:pt x="76454" y="0"/>
                    <a:pt x="170688" y="0"/>
                  </a:cubicBezTo>
                  <a:lnTo>
                    <a:pt x="7924800" y="0"/>
                  </a:lnTo>
                  <a:cubicBezTo>
                    <a:pt x="8019034" y="0"/>
                    <a:pt x="8095488" y="76454"/>
                    <a:pt x="8095488" y="170688"/>
                  </a:cubicBezTo>
                  <a:lnTo>
                    <a:pt x="8095488" y="2206752"/>
                  </a:lnTo>
                  <a:cubicBezTo>
                    <a:pt x="8095488" y="2300986"/>
                    <a:pt x="8019034" y="2377440"/>
                    <a:pt x="7924800" y="2377440"/>
                  </a:cubicBezTo>
                  <a:lnTo>
                    <a:pt x="170688" y="2377440"/>
                  </a:lnTo>
                  <a:cubicBezTo>
                    <a:pt x="76454" y="2377440"/>
                    <a:pt x="0" y="2300986"/>
                    <a:pt x="0" y="2206752"/>
                  </a:cubicBezTo>
                  <a:close/>
                </a:path>
              </a:pathLst>
            </a:custGeom>
            <a:solidFill>
              <a:srgbClr val="EAF8FA"/>
            </a:solidFill>
          </p:spPr>
        </p:sp>
      </p:grpSp>
      <p:sp>
        <p:nvSpPr>
          <p:cNvPr name="TextBox 65" id="65"/>
          <p:cNvSpPr txBox="true"/>
          <p:nvPr/>
        </p:nvSpPr>
        <p:spPr>
          <a:xfrm rot="0">
            <a:off x="11658600" y="4366260"/>
            <a:ext cx="5522976" cy="845820"/>
          </a:xfrm>
          <a:prstGeom prst="rect">
            <a:avLst/>
          </a:prstGeom>
        </p:spPr>
        <p:txBody>
          <a:bodyPr anchor="t" rtlCol="false" tIns="0" lIns="0" bIns="0" rIns="0">
            <a:spAutoFit/>
          </a:bodyPr>
          <a:lstStyle/>
          <a:p>
            <a:pPr algn="l">
              <a:lnSpc>
                <a:spcPts val="4838"/>
              </a:lnSpc>
            </a:pPr>
            <a:r>
              <a:rPr lang="en-US" sz="3600" b="true">
                <a:solidFill>
                  <a:srgbClr val="0B5E6E"/>
                </a:solidFill>
                <a:latin typeface="Calibri (MS) Bold"/>
                <a:ea typeface="Calibri (MS) Bold"/>
                <a:cs typeface="Calibri (MS) Bold"/>
                <a:sym typeface="Calibri (MS) Bold"/>
              </a:rPr>
              <a:t>−0,0106</a:t>
            </a:r>
          </a:p>
        </p:txBody>
      </p:sp>
      <p:sp>
        <p:nvSpPr>
          <p:cNvPr name="TextBox 66" id="66"/>
          <p:cNvSpPr txBox="true"/>
          <p:nvPr/>
        </p:nvSpPr>
        <p:spPr>
          <a:xfrm rot="0">
            <a:off x="11658600" y="5004435"/>
            <a:ext cx="5522976" cy="916305"/>
          </a:xfrm>
          <a:prstGeom prst="rect">
            <a:avLst/>
          </a:prstGeom>
        </p:spPr>
        <p:txBody>
          <a:bodyPr anchor="t" rtlCol="false" tIns="0" lIns="0" bIns="0" rIns="0">
            <a:spAutoFit/>
          </a:bodyPr>
          <a:lstStyle/>
          <a:p>
            <a:pPr algn="l">
              <a:lnSpc>
                <a:spcPts val="2150"/>
              </a:lnSpc>
            </a:pPr>
            <a:r>
              <a:rPr lang="en-US" sz="1599">
                <a:solidFill>
                  <a:srgbClr val="5E6E78"/>
                </a:solidFill>
                <a:latin typeface="Calibri (MS)"/>
                <a:ea typeface="Calibri (MS)"/>
                <a:cs typeface="Calibri (MS)"/>
                <a:sym typeface="Calibri (MS)"/>
              </a:rPr>
              <a:t>komponen kepadatan: Development Priority dibanding BAU</a:t>
            </a:r>
          </a:p>
        </p:txBody>
      </p:sp>
      <p:grpSp>
        <p:nvGrpSpPr>
          <p:cNvPr name="Group 67" id="67"/>
          <p:cNvGrpSpPr/>
          <p:nvPr/>
        </p:nvGrpSpPr>
        <p:grpSpPr>
          <a:xfrm rot="0">
            <a:off x="11384280" y="6236208"/>
            <a:ext cx="6071616" cy="1783080"/>
            <a:chOff x="0" y="0"/>
            <a:chExt cx="8095488" cy="2377440"/>
          </a:xfrm>
        </p:grpSpPr>
        <p:sp>
          <p:nvSpPr>
            <p:cNvPr name="Freeform 68" id="68"/>
            <p:cNvSpPr/>
            <p:nvPr/>
          </p:nvSpPr>
          <p:spPr>
            <a:xfrm flipH="false" flipV="false" rot="0">
              <a:off x="0" y="0"/>
              <a:ext cx="8095488" cy="2377440"/>
            </a:xfrm>
            <a:custGeom>
              <a:avLst/>
              <a:gdLst/>
              <a:ahLst/>
              <a:cxnLst/>
              <a:rect r="r" b="b" t="t" l="l"/>
              <a:pathLst>
                <a:path h="2377440" w="8095488">
                  <a:moveTo>
                    <a:pt x="0" y="170688"/>
                  </a:moveTo>
                  <a:cubicBezTo>
                    <a:pt x="0" y="76454"/>
                    <a:pt x="76454" y="0"/>
                    <a:pt x="170688" y="0"/>
                  </a:cubicBezTo>
                  <a:lnTo>
                    <a:pt x="7924800" y="0"/>
                  </a:lnTo>
                  <a:cubicBezTo>
                    <a:pt x="8019034" y="0"/>
                    <a:pt x="8095488" y="76454"/>
                    <a:pt x="8095488" y="170688"/>
                  </a:cubicBezTo>
                  <a:lnTo>
                    <a:pt x="8095488" y="2206752"/>
                  </a:lnTo>
                  <a:cubicBezTo>
                    <a:pt x="8095488" y="2300986"/>
                    <a:pt x="8019034" y="2377440"/>
                    <a:pt x="7924800" y="2377440"/>
                  </a:cubicBezTo>
                  <a:lnTo>
                    <a:pt x="170688" y="2377440"/>
                  </a:lnTo>
                  <a:cubicBezTo>
                    <a:pt x="76454" y="2377440"/>
                    <a:pt x="0" y="2300986"/>
                    <a:pt x="0" y="2206752"/>
                  </a:cubicBezTo>
                  <a:close/>
                </a:path>
              </a:pathLst>
            </a:custGeom>
            <a:solidFill>
              <a:srgbClr val="EAF8FA"/>
            </a:solidFill>
          </p:spPr>
        </p:sp>
      </p:grpSp>
      <p:sp>
        <p:nvSpPr>
          <p:cNvPr name="TextBox 69" id="69"/>
          <p:cNvSpPr txBox="true"/>
          <p:nvPr/>
        </p:nvSpPr>
        <p:spPr>
          <a:xfrm rot="0">
            <a:off x="11658600" y="6286500"/>
            <a:ext cx="5522976" cy="845820"/>
          </a:xfrm>
          <a:prstGeom prst="rect">
            <a:avLst/>
          </a:prstGeom>
        </p:spPr>
        <p:txBody>
          <a:bodyPr anchor="t" rtlCol="false" tIns="0" lIns="0" bIns="0" rIns="0">
            <a:spAutoFit/>
          </a:bodyPr>
          <a:lstStyle/>
          <a:p>
            <a:pPr algn="l">
              <a:lnSpc>
                <a:spcPts val="4838"/>
              </a:lnSpc>
            </a:pPr>
            <a:r>
              <a:rPr lang="en-US" sz="3600" b="true">
                <a:solidFill>
                  <a:srgbClr val="0B5E6E"/>
                </a:solidFill>
                <a:latin typeface="Calibri (MS) Bold"/>
                <a:ea typeface="Calibri (MS) Bold"/>
                <a:cs typeface="Calibri (MS) Bold"/>
                <a:sym typeface="Calibri (MS) Bold"/>
              </a:rPr>
              <a:t>−0,0002</a:t>
            </a:r>
          </a:p>
        </p:txBody>
      </p:sp>
      <p:sp>
        <p:nvSpPr>
          <p:cNvPr name="TextBox 70" id="70"/>
          <p:cNvSpPr txBox="true"/>
          <p:nvPr/>
        </p:nvSpPr>
        <p:spPr>
          <a:xfrm rot="0">
            <a:off x="11658600" y="6924675"/>
            <a:ext cx="5522976" cy="916305"/>
          </a:xfrm>
          <a:prstGeom prst="rect">
            <a:avLst/>
          </a:prstGeom>
        </p:spPr>
        <p:txBody>
          <a:bodyPr anchor="t" rtlCol="false" tIns="0" lIns="0" bIns="0" rIns="0">
            <a:spAutoFit/>
          </a:bodyPr>
          <a:lstStyle/>
          <a:p>
            <a:pPr algn="l">
              <a:lnSpc>
                <a:spcPts val="2150"/>
              </a:lnSpc>
            </a:pPr>
            <a:r>
              <a:rPr lang="en-US" sz="1599">
                <a:solidFill>
                  <a:srgbClr val="5E6E78"/>
                </a:solidFill>
                <a:latin typeface="Calibri (MS)"/>
                <a:ea typeface="Calibri (MS)"/>
                <a:cs typeface="Calibri (MS)"/>
                <a:sym typeface="Calibri (MS)"/>
              </a:rPr>
              <a:t>komponen daya dukung lahan: Development Priority dibanding BAU</a:t>
            </a:r>
          </a:p>
        </p:txBody>
      </p:sp>
      <p:grpSp>
        <p:nvGrpSpPr>
          <p:cNvPr name="Group 71" id="71"/>
          <p:cNvGrpSpPr/>
          <p:nvPr/>
        </p:nvGrpSpPr>
        <p:grpSpPr>
          <a:xfrm rot="0">
            <a:off x="822960" y="8229600"/>
            <a:ext cx="16642080" cy="987552"/>
            <a:chOff x="0" y="0"/>
            <a:chExt cx="22189440" cy="1316736"/>
          </a:xfrm>
        </p:grpSpPr>
        <p:sp>
          <p:nvSpPr>
            <p:cNvPr name="Freeform 72" id="72"/>
            <p:cNvSpPr/>
            <p:nvPr/>
          </p:nvSpPr>
          <p:spPr>
            <a:xfrm flipH="false" flipV="false" rot="0">
              <a:off x="0" y="0"/>
              <a:ext cx="22189439" cy="1316736"/>
            </a:xfrm>
            <a:custGeom>
              <a:avLst/>
              <a:gdLst/>
              <a:ahLst/>
              <a:cxnLst/>
              <a:rect r="r" b="b" t="t" l="l"/>
              <a:pathLst>
                <a:path h="1316736" w="22189439">
                  <a:moveTo>
                    <a:pt x="0" y="170688"/>
                  </a:moveTo>
                  <a:cubicBezTo>
                    <a:pt x="0" y="76454"/>
                    <a:pt x="76454" y="0"/>
                    <a:pt x="170688" y="0"/>
                  </a:cubicBezTo>
                  <a:lnTo>
                    <a:pt x="22018752" y="0"/>
                  </a:lnTo>
                  <a:cubicBezTo>
                    <a:pt x="22112987" y="0"/>
                    <a:pt x="22189439" y="76454"/>
                    <a:pt x="22189439" y="170688"/>
                  </a:cubicBezTo>
                  <a:lnTo>
                    <a:pt x="22189439" y="1146048"/>
                  </a:lnTo>
                  <a:cubicBezTo>
                    <a:pt x="22189439" y="1240282"/>
                    <a:pt x="22112987" y="1316736"/>
                    <a:pt x="22018752" y="1316736"/>
                  </a:cubicBezTo>
                  <a:lnTo>
                    <a:pt x="170688" y="1316736"/>
                  </a:lnTo>
                  <a:cubicBezTo>
                    <a:pt x="76454" y="1316736"/>
                    <a:pt x="0" y="1240282"/>
                    <a:pt x="0" y="1146048"/>
                  </a:cubicBezTo>
                  <a:close/>
                </a:path>
              </a:pathLst>
            </a:custGeom>
            <a:solidFill>
              <a:srgbClr val="FFF1BF"/>
            </a:solidFill>
          </p:spPr>
        </p:sp>
      </p:grpSp>
      <p:grpSp>
        <p:nvGrpSpPr>
          <p:cNvPr name="Group 73" id="73"/>
          <p:cNvGrpSpPr/>
          <p:nvPr/>
        </p:nvGrpSpPr>
        <p:grpSpPr>
          <a:xfrm rot="0">
            <a:off x="1143000" y="8229600"/>
            <a:ext cx="16002000" cy="987552"/>
            <a:chOff x="0" y="0"/>
            <a:chExt cx="21336000" cy="1316736"/>
          </a:xfrm>
        </p:grpSpPr>
        <p:sp>
          <p:nvSpPr>
            <p:cNvPr name="Freeform 74" id="74"/>
            <p:cNvSpPr/>
            <p:nvPr/>
          </p:nvSpPr>
          <p:spPr>
            <a:xfrm flipH="false" flipV="false" rot="0">
              <a:off x="0" y="0"/>
              <a:ext cx="21336000" cy="1316736"/>
            </a:xfrm>
            <a:custGeom>
              <a:avLst/>
              <a:gdLst/>
              <a:ahLst/>
              <a:cxnLst/>
              <a:rect r="r" b="b" t="t" l="l"/>
              <a:pathLst>
                <a:path h="1316736" w="21336000">
                  <a:moveTo>
                    <a:pt x="0" y="0"/>
                  </a:moveTo>
                  <a:lnTo>
                    <a:pt x="21336000" y="0"/>
                  </a:lnTo>
                  <a:lnTo>
                    <a:pt x="21336000" y="1316736"/>
                  </a:lnTo>
                  <a:lnTo>
                    <a:pt x="0" y="1316736"/>
                  </a:lnTo>
                  <a:close/>
                </a:path>
              </a:pathLst>
            </a:custGeom>
            <a:blipFill>
              <a:blip r:embed="rId5">
                <a:alphaModFix amt="0"/>
              </a:blip>
              <a:stretch>
                <a:fillRect l="0" t="-265729" r="0" b="-265729"/>
              </a:stretch>
            </a:blipFill>
          </p:spPr>
        </p:sp>
        <p:sp>
          <p:nvSpPr>
            <p:cNvPr name="TextBox 75" id="75"/>
            <p:cNvSpPr txBox="true"/>
            <p:nvPr/>
          </p:nvSpPr>
          <p:spPr>
            <a:xfrm>
              <a:off x="0" y="-47625"/>
              <a:ext cx="21336000" cy="1364361"/>
            </a:xfrm>
            <a:prstGeom prst="rect">
              <a:avLst/>
            </a:prstGeom>
          </p:spPr>
          <p:txBody>
            <a:bodyPr anchor="ctr" rtlCol="false" tIns="0" lIns="0" bIns="0" rIns="0"/>
            <a:lstStyle/>
            <a:p>
              <a:pPr algn="l">
                <a:lnSpc>
                  <a:spcPts val="2150"/>
                </a:lnSpc>
              </a:pPr>
              <a:r>
                <a:rPr lang="en-US" sz="1599">
                  <a:solidFill>
                    <a:srgbClr val="14313B"/>
                  </a:solidFill>
                  <a:latin typeface="Calibri (MS)"/>
                  <a:ea typeface="Calibri (MS)"/>
                  <a:cs typeface="Calibri (MS)"/>
                  <a:sym typeface="Calibri (MS)"/>
                </a:rPr>
                <a:t>RDDL ≈ 0,614, jauh di atas ambang 0,331 → hingga 2050 rem daya dukung lahan belum bekerja berarti; pertumbuhan atraksi lebih menentukan daya tarik daripada tekanan lahan.</a:t>
              </a:r>
            </a:p>
          </p:txBody>
        </p:sp>
      </p:grpSp>
      <p:sp>
        <p:nvSpPr>
          <p:cNvPr id="76" name="TextBox 75"/>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
        <p:nvSpPr>
          <p:cNvPr id="77"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4.8.3 · Hasil Perbandingan Skenario — Ambang Kepadatan</a:t>
            </a:r>
          </a:p>
          <a:p>
            <a:pPr algn="l">
              <a:lnSpc>
                <a:spcPct val="100000"/>
              </a:lnSpc>
            </a:pPr>
            <a:r>
              <a:rPr lang="en-US" sz="3500" b="true">
                <a:solidFill>
                  <a:srgbClr val="0B5E6E"/>
                </a:solidFill>
                <a:latin typeface="Calibri (MS) Bold"/>
                <a:ea typeface="Calibri (MS) Bold"/>
                <a:cs typeface="Calibri (MS) Bold"/>
                <a:sym typeface="Calibri (MS) Bold"/>
              </a:rPr>
              <a:t>Kedua tuas hanya menggeser waktu terlampauinya ambang kepadatan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545994"/>
            <a:ext cx="10149840" cy="5675090"/>
            <a:chOff x="0" y="0"/>
            <a:chExt cx="13533120" cy="7566787"/>
          </a:xfrm>
        </p:grpSpPr>
        <p:sp>
          <p:nvSpPr>
            <p:cNvPr name="Freeform 53" id="53" descr="Indeks kepadatan wisatawan menurut skenario 2025-2050"/>
            <p:cNvSpPr/>
            <p:nvPr/>
          </p:nvSpPr>
          <p:spPr>
            <a:xfrm flipH="false" flipV="false" rot="0">
              <a:off x="0" y="0"/>
              <a:ext cx="13533120" cy="7566787"/>
            </a:xfrm>
            <a:custGeom>
              <a:avLst/>
              <a:gdLst/>
              <a:ahLst/>
              <a:cxnLst/>
              <a:rect r="r" b="b" t="t" l="l"/>
              <a:pathLst>
                <a:path h="7566787" w="13533120">
                  <a:moveTo>
                    <a:pt x="0" y="0"/>
                  </a:moveTo>
                  <a:lnTo>
                    <a:pt x="13533120" y="0"/>
                  </a:lnTo>
                  <a:lnTo>
                    <a:pt x="13533120" y="7566787"/>
                  </a:lnTo>
                  <a:lnTo>
                    <a:pt x="0" y="7566787"/>
                  </a:lnTo>
                  <a:lnTo>
                    <a:pt x="0" y="0"/>
                  </a:lnTo>
                  <a:close/>
                </a:path>
              </a:pathLst>
            </a:custGeom>
            <a:blipFill>
              <a:blip r:embed="rId6"/>
              <a:stretch>
                <a:fillRect l="0" t="0" r="0" b="0"/>
              </a:stretch>
            </a:blipFill>
          </p:spPr>
        </p:sp>
      </p:grpSp>
      <p:sp>
        <p:nvSpPr>
          <p:cNvPr name="TextBox 54" id="54"/>
          <p:cNvSpPr txBox="true"/>
          <p:nvPr/>
        </p:nvSpPr>
        <p:spPr>
          <a:xfrm rot="0">
            <a:off x="822960" y="8427720"/>
            <a:ext cx="10149840" cy="4876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Indeks kepadatan menurut skenario, 2025–2050, dengan garis ambang 2,0</a:t>
            </a:r>
          </a:p>
        </p:txBody>
      </p:sp>
      <p:grpSp>
        <p:nvGrpSpPr>
          <p:cNvPr name="Group 55" id="55"/>
          <p:cNvGrpSpPr/>
          <p:nvPr/>
        </p:nvGrpSpPr>
        <p:grpSpPr>
          <a:xfrm rot="0">
            <a:off x="11384280" y="2400300"/>
            <a:ext cx="1892808" cy="2057400"/>
            <a:chOff x="0" y="0"/>
            <a:chExt cx="2523744" cy="2743200"/>
          </a:xfrm>
        </p:grpSpPr>
        <p:sp>
          <p:nvSpPr>
            <p:cNvPr name="Freeform 56" id="56"/>
            <p:cNvSpPr/>
            <p:nvPr/>
          </p:nvSpPr>
          <p:spPr>
            <a:xfrm flipH="false" flipV="false" rot="0">
              <a:off x="0" y="0"/>
              <a:ext cx="2523744" cy="2743200"/>
            </a:xfrm>
            <a:custGeom>
              <a:avLst/>
              <a:gdLst/>
              <a:ahLst/>
              <a:cxnLst/>
              <a:rect r="r" b="b" t="t" l="l"/>
              <a:pathLst>
                <a:path h="2743200" w="2523744">
                  <a:moveTo>
                    <a:pt x="0" y="182880"/>
                  </a:moveTo>
                  <a:cubicBezTo>
                    <a:pt x="0" y="81915"/>
                    <a:pt x="81915" y="0"/>
                    <a:pt x="182880" y="0"/>
                  </a:cubicBezTo>
                  <a:lnTo>
                    <a:pt x="2340864" y="0"/>
                  </a:lnTo>
                  <a:cubicBezTo>
                    <a:pt x="2441829" y="0"/>
                    <a:pt x="2523744" y="81915"/>
                    <a:pt x="2523744" y="182880"/>
                  </a:cubicBezTo>
                  <a:lnTo>
                    <a:pt x="2523744" y="2560320"/>
                  </a:lnTo>
                  <a:cubicBezTo>
                    <a:pt x="2523744" y="2661285"/>
                    <a:pt x="2441829" y="2743200"/>
                    <a:pt x="2340864" y="2743200"/>
                  </a:cubicBezTo>
                  <a:lnTo>
                    <a:pt x="182880" y="2743200"/>
                  </a:lnTo>
                  <a:cubicBezTo>
                    <a:pt x="81915" y="2743200"/>
                    <a:pt x="0" y="2661285"/>
                    <a:pt x="0" y="2560320"/>
                  </a:cubicBezTo>
                  <a:close/>
                </a:path>
              </a:pathLst>
            </a:custGeom>
            <a:solidFill>
              <a:srgbClr val="EAF8FA"/>
            </a:solidFill>
          </p:spPr>
        </p:sp>
      </p:grpSp>
      <p:grpSp>
        <p:nvGrpSpPr>
          <p:cNvPr name="Group 57" id="57"/>
          <p:cNvGrpSpPr/>
          <p:nvPr/>
        </p:nvGrpSpPr>
        <p:grpSpPr>
          <a:xfrm rot="0">
            <a:off x="11384280" y="2537460"/>
            <a:ext cx="1892808" cy="822960"/>
            <a:chOff x="0" y="0"/>
            <a:chExt cx="2523744" cy="1097280"/>
          </a:xfrm>
        </p:grpSpPr>
        <p:sp>
          <p:nvSpPr>
            <p:cNvPr name="Freeform 58" id="58"/>
            <p:cNvSpPr/>
            <p:nvPr/>
          </p:nvSpPr>
          <p:spPr>
            <a:xfrm flipH="false" flipV="false" rot="0">
              <a:off x="0" y="0"/>
              <a:ext cx="2523744" cy="1097280"/>
            </a:xfrm>
            <a:custGeom>
              <a:avLst/>
              <a:gdLst/>
              <a:ahLst/>
              <a:cxnLst/>
              <a:rect r="r" b="b" t="t" l="l"/>
              <a:pathLst>
                <a:path h="1097280" w="2523744">
                  <a:moveTo>
                    <a:pt x="0" y="0"/>
                  </a:moveTo>
                  <a:lnTo>
                    <a:pt x="2523744" y="0"/>
                  </a:lnTo>
                  <a:lnTo>
                    <a:pt x="2523744" y="1097280"/>
                  </a:lnTo>
                  <a:lnTo>
                    <a:pt x="0" y="1097280"/>
                  </a:lnTo>
                  <a:close/>
                </a:path>
              </a:pathLst>
            </a:custGeom>
            <a:blipFill>
              <a:blip r:embed="rId4">
                <a:alphaModFix amt="0"/>
              </a:blip>
              <a:stretch>
                <a:fillRect l="-5822" t="0" r="-5823" b="0"/>
              </a:stretch>
            </a:blipFill>
          </p:spPr>
        </p:sp>
      </p:grpSp>
      <p:grpSp>
        <p:nvGrpSpPr>
          <p:cNvPr name="Group 59" id="59"/>
          <p:cNvGrpSpPr/>
          <p:nvPr/>
        </p:nvGrpSpPr>
        <p:grpSpPr>
          <a:xfrm rot="0">
            <a:off x="11384280" y="2473166"/>
            <a:ext cx="1892808" cy="887254"/>
            <a:chOff x="0" y="0"/>
            <a:chExt cx="2523744" cy="1183005"/>
          </a:xfrm>
        </p:grpSpPr>
        <p:sp>
          <p:nvSpPr>
            <p:cNvPr name="Freeform 60" id="60"/>
            <p:cNvSpPr/>
            <p:nvPr/>
          </p:nvSpPr>
          <p:spPr>
            <a:xfrm flipH="false" flipV="false" rot="0">
              <a:off x="0" y="0"/>
              <a:ext cx="2523744" cy="1183005"/>
            </a:xfrm>
            <a:custGeom>
              <a:avLst/>
              <a:gdLst/>
              <a:ahLst/>
              <a:cxnLst/>
              <a:rect r="r" b="b" t="t" l="l"/>
              <a:pathLst>
                <a:path h="1183005" w="2523744">
                  <a:moveTo>
                    <a:pt x="0" y="0"/>
                  </a:moveTo>
                  <a:lnTo>
                    <a:pt x="2523744" y="0"/>
                  </a:lnTo>
                  <a:lnTo>
                    <a:pt x="2523744" y="1183005"/>
                  </a:lnTo>
                  <a:lnTo>
                    <a:pt x="0" y="1183005"/>
                  </a:lnTo>
                  <a:close/>
                </a:path>
              </a:pathLst>
            </a:custGeom>
            <a:blipFill>
              <a:blip r:embed="rId5">
                <a:alphaModFix amt="0"/>
              </a:blip>
              <a:stretch>
                <a:fillRect l="-10142" t="0" r="-10142" b="0"/>
              </a:stretch>
            </a:blipFill>
          </p:spPr>
        </p:sp>
        <p:sp>
          <p:nvSpPr>
            <p:cNvPr name="TextBox 61" id="61"/>
            <p:cNvSpPr txBox="true"/>
            <p:nvPr/>
          </p:nvSpPr>
          <p:spPr>
            <a:xfrm>
              <a:off x="0" y="-85725"/>
              <a:ext cx="2523744" cy="1268730"/>
            </a:xfrm>
            <a:prstGeom prst="rect">
              <a:avLst/>
            </a:prstGeom>
          </p:spPr>
          <p:txBody>
            <a:bodyPr anchor="ctr" rtlCol="false" tIns="0" lIns="0" bIns="0" rIns="0"/>
            <a:lstStyle/>
            <a:p>
              <a:pPr algn="ctr">
                <a:lnSpc>
                  <a:spcPts val="5040"/>
                </a:lnSpc>
              </a:pPr>
              <a:r>
                <a:rPr lang="en-US" sz="4200" b="true">
                  <a:solidFill>
                    <a:srgbClr val="0B5E6E"/>
                  </a:solidFill>
                  <a:latin typeface="Calibri (MS) Bold"/>
                  <a:ea typeface="Calibri (MS) Bold"/>
                  <a:cs typeface="Calibri (MS) Bold"/>
                  <a:sym typeface="Calibri (MS) Bold"/>
                </a:rPr>
                <a:t>2041</a:t>
              </a:r>
            </a:p>
          </p:txBody>
        </p:sp>
      </p:grpSp>
      <p:sp>
        <p:nvSpPr>
          <p:cNvPr name="TextBox 62" id="62"/>
          <p:cNvSpPr txBox="true"/>
          <p:nvPr/>
        </p:nvSpPr>
        <p:spPr>
          <a:xfrm rot="0">
            <a:off x="11494008" y="3371850"/>
            <a:ext cx="1673352" cy="1017270"/>
          </a:xfrm>
          <a:prstGeom prst="rect">
            <a:avLst/>
          </a:prstGeom>
        </p:spPr>
        <p:txBody>
          <a:bodyPr anchor="t" rtlCol="false" tIns="0" lIns="0" bIns="0" rIns="0">
            <a:spAutoFit/>
          </a:bodyPr>
          <a:lstStyle/>
          <a:p>
            <a:pPr algn="ctr">
              <a:lnSpc>
                <a:spcPts val="1980"/>
              </a:lnSpc>
            </a:pPr>
            <a:r>
              <a:rPr lang="en-US" sz="1650">
                <a:solidFill>
                  <a:srgbClr val="14313B"/>
                </a:solidFill>
                <a:latin typeface="Calibri (MS)"/>
                <a:ea typeface="Calibri (MS)"/>
                <a:cs typeface="Calibri (MS)"/>
                <a:sym typeface="Calibri (MS)"/>
              </a:rPr>
              <a:t>Development Priority</a:t>
            </a:r>
          </a:p>
        </p:txBody>
      </p:sp>
      <p:grpSp>
        <p:nvGrpSpPr>
          <p:cNvPr name="Group 63" id="63"/>
          <p:cNvGrpSpPr/>
          <p:nvPr/>
        </p:nvGrpSpPr>
        <p:grpSpPr>
          <a:xfrm rot="0">
            <a:off x="13441680" y="2400300"/>
            <a:ext cx="1892808" cy="2057400"/>
            <a:chOff x="0" y="0"/>
            <a:chExt cx="2523744" cy="2743200"/>
          </a:xfrm>
        </p:grpSpPr>
        <p:sp>
          <p:nvSpPr>
            <p:cNvPr name="Freeform 64" id="64"/>
            <p:cNvSpPr/>
            <p:nvPr/>
          </p:nvSpPr>
          <p:spPr>
            <a:xfrm flipH="false" flipV="false" rot="0">
              <a:off x="0" y="0"/>
              <a:ext cx="2523744" cy="2743200"/>
            </a:xfrm>
            <a:custGeom>
              <a:avLst/>
              <a:gdLst/>
              <a:ahLst/>
              <a:cxnLst/>
              <a:rect r="r" b="b" t="t" l="l"/>
              <a:pathLst>
                <a:path h="2743200" w="2523744">
                  <a:moveTo>
                    <a:pt x="0" y="182880"/>
                  </a:moveTo>
                  <a:cubicBezTo>
                    <a:pt x="0" y="81915"/>
                    <a:pt x="81915" y="0"/>
                    <a:pt x="182880" y="0"/>
                  </a:cubicBezTo>
                  <a:lnTo>
                    <a:pt x="2340864" y="0"/>
                  </a:lnTo>
                  <a:cubicBezTo>
                    <a:pt x="2441829" y="0"/>
                    <a:pt x="2523744" y="81915"/>
                    <a:pt x="2523744" y="182880"/>
                  </a:cubicBezTo>
                  <a:lnTo>
                    <a:pt x="2523744" y="2560320"/>
                  </a:lnTo>
                  <a:cubicBezTo>
                    <a:pt x="2523744" y="2661285"/>
                    <a:pt x="2441829" y="2743200"/>
                    <a:pt x="2340864" y="2743200"/>
                  </a:cubicBezTo>
                  <a:lnTo>
                    <a:pt x="182880" y="2743200"/>
                  </a:lnTo>
                  <a:cubicBezTo>
                    <a:pt x="81915" y="2743200"/>
                    <a:pt x="0" y="2661285"/>
                    <a:pt x="0" y="2560320"/>
                  </a:cubicBezTo>
                  <a:close/>
                </a:path>
              </a:pathLst>
            </a:custGeom>
            <a:solidFill>
              <a:srgbClr val="EAF8FA"/>
            </a:solidFill>
          </p:spPr>
        </p:sp>
      </p:grpSp>
      <p:grpSp>
        <p:nvGrpSpPr>
          <p:cNvPr name="Group 65" id="65"/>
          <p:cNvGrpSpPr/>
          <p:nvPr/>
        </p:nvGrpSpPr>
        <p:grpSpPr>
          <a:xfrm rot="0">
            <a:off x="13441680" y="2537460"/>
            <a:ext cx="1892808" cy="822960"/>
            <a:chOff x="0" y="0"/>
            <a:chExt cx="2523744" cy="1097280"/>
          </a:xfrm>
        </p:grpSpPr>
        <p:sp>
          <p:nvSpPr>
            <p:cNvPr name="Freeform 66" id="66"/>
            <p:cNvSpPr/>
            <p:nvPr/>
          </p:nvSpPr>
          <p:spPr>
            <a:xfrm flipH="false" flipV="false" rot="0">
              <a:off x="0" y="0"/>
              <a:ext cx="2523744" cy="1097280"/>
            </a:xfrm>
            <a:custGeom>
              <a:avLst/>
              <a:gdLst/>
              <a:ahLst/>
              <a:cxnLst/>
              <a:rect r="r" b="b" t="t" l="l"/>
              <a:pathLst>
                <a:path h="1097280" w="2523744">
                  <a:moveTo>
                    <a:pt x="0" y="0"/>
                  </a:moveTo>
                  <a:lnTo>
                    <a:pt x="2523744" y="0"/>
                  </a:lnTo>
                  <a:lnTo>
                    <a:pt x="2523744" y="1097280"/>
                  </a:lnTo>
                  <a:lnTo>
                    <a:pt x="0" y="1097280"/>
                  </a:lnTo>
                  <a:close/>
                </a:path>
              </a:pathLst>
            </a:custGeom>
            <a:blipFill>
              <a:blip r:embed="rId4">
                <a:alphaModFix amt="0"/>
              </a:blip>
              <a:stretch>
                <a:fillRect l="-5822" t="0" r="-5823" b="0"/>
              </a:stretch>
            </a:blipFill>
          </p:spPr>
        </p:sp>
      </p:grpSp>
      <p:grpSp>
        <p:nvGrpSpPr>
          <p:cNvPr name="Group 67" id="67"/>
          <p:cNvGrpSpPr/>
          <p:nvPr/>
        </p:nvGrpSpPr>
        <p:grpSpPr>
          <a:xfrm rot="0">
            <a:off x="13441680" y="2473166"/>
            <a:ext cx="1892808" cy="887254"/>
            <a:chOff x="0" y="0"/>
            <a:chExt cx="2523744" cy="1183005"/>
          </a:xfrm>
        </p:grpSpPr>
        <p:sp>
          <p:nvSpPr>
            <p:cNvPr name="Freeform 68" id="68"/>
            <p:cNvSpPr/>
            <p:nvPr/>
          </p:nvSpPr>
          <p:spPr>
            <a:xfrm flipH="false" flipV="false" rot="0">
              <a:off x="0" y="0"/>
              <a:ext cx="2523744" cy="1183005"/>
            </a:xfrm>
            <a:custGeom>
              <a:avLst/>
              <a:gdLst/>
              <a:ahLst/>
              <a:cxnLst/>
              <a:rect r="r" b="b" t="t" l="l"/>
              <a:pathLst>
                <a:path h="1183005" w="2523744">
                  <a:moveTo>
                    <a:pt x="0" y="0"/>
                  </a:moveTo>
                  <a:lnTo>
                    <a:pt x="2523744" y="0"/>
                  </a:lnTo>
                  <a:lnTo>
                    <a:pt x="2523744" y="1183005"/>
                  </a:lnTo>
                  <a:lnTo>
                    <a:pt x="0" y="1183005"/>
                  </a:lnTo>
                  <a:close/>
                </a:path>
              </a:pathLst>
            </a:custGeom>
            <a:blipFill>
              <a:blip r:embed="rId5">
                <a:alphaModFix amt="0"/>
              </a:blip>
              <a:stretch>
                <a:fillRect l="-10142" t="0" r="-10142" b="0"/>
              </a:stretch>
            </a:blipFill>
          </p:spPr>
        </p:sp>
        <p:sp>
          <p:nvSpPr>
            <p:cNvPr name="TextBox 69" id="69"/>
            <p:cNvSpPr txBox="true"/>
            <p:nvPr/>
          </p:nvSpPr>
          <p:spPr>
            <a:xfrm>
              <a:off x="0" y="-85725"/>
              <a:ext cx="2523744" cy="1268730"/>
            </a:xfrm>
            <a:prstGeom prst="rect">
              <a:avLst/>
            </a:prstGeom>
          </p:spPr>
          <p:txBody>
            <a:bodyPr anchor="ctr" rtlCol="false" tIns="0" lIns="0" bIns="0" rIns="0"/>
            <a:lstStyle/>
            <a:p>
              <a:pPr algn="ctr">
                <a:lnSpc>
                  <a:spcPts val="5040"/>
                </a:lnSpc>
              </a:pPr>
              <a:r>
                <a:rPr lang="en-US" sz="4200" b="true">
                  <a:solidFill>
                    <a:srgbClr val="0B5E6E"/>
                  </a:solidFill>
                  <a:latin typeface="Calibri (MS) Bold"/>
                  <a:ea typeface="Calibri (MS) Bold"/>
                  <a:cs typeface="Calibri (MS) Bold"/>
                  <a:sym typeface="Calibri (MS) Bold"/>
                </a:rPr>
                <a:t>2042</a:t>
              </a:r>
            </a:p>
          </p:txBody>
        </p:sp>
      </p:grpSp>
      <p:sp>
        <p:nvSpPr>
          <p:cNvPr name="TextBox 70" id="70"/>
          <p:cNvSpPr txBox="true"/>
          <p:nvPr/>
        </p:nvSpPr>
        <p:spPr>
          <a:xfrm rot="0">
            <a:off x="13551408" y="3371850"/>
            <a:ext cx="1673352" cy="1017270"/>
          </a:xfrm>
          <a:prstGeom prst="rect">
            <a:avLst/>
          </a:prstGeom>
        </p:spPr>
        <p:txBody>
          <a:bodyPr anchor="t" rtlCol="false" tIns="0" lIns="0" bIns="0" rIns="0">
            <a:spAutoFit/>
          </a:bodyPr>
          <a:lstStyle/>
          <a:p>
            <a:pPr algn="ctr">
              <a:lnSpc>
                <a:spcPts val="1980"/>
              </a:lnSpc>
            </a:pPr>
            <a:r>
              <a:rPr lang="en-US" sz="1650">
                <a:solidFill>
                  <a:srgbClr val="14313B"/>
                </a:solidFill>
                <a:latin typeface="Calibri (MS)"/>
                <a:ea typeface="Calibri (MS)"/>
                <a:cs typeface="Calibri (MS)"/>
                <a:sym typeface="Calibri (MS)"/>
              </a:rPr>
              <a:t>Sustainable</a:t>
            </a:r>
          </a:p>
        </p:txBody>
      </p:sp>
      <p:grpSp>
        <p:nvGrpSpPr>
          <p:cNvPr name="Group 71" id="71"/>
          <p:cNvGrpSpPr/>
          <p:nvPr/>
        </p:nvGrpSpPr>
        <p:grpSpPr>
          <a:xfrm rot="0">
            <a:off x="15499080" y="2400300"/>
            <a:ext cx="1892808" cy="2057400"/>
            <a:chOff x="0" y="0"/>
            <a:chExt cx="2523744" cy="2743200"/>
          </a:xfrm>
        </p:grpSpPr>
        <p:sp>
          <p:nvSpPr>
            <p:cNvPr name="Freeform 72" id="72"/>
            <p:cNvSpPr/>
            <p:nvPr/>
          </p:nvSpPr>
          <p:spPr>
            <a:xfrm flipH="false" flipV="false" rot="0">
              <a:off x="0" y="0"/>
              <a:ext cx="2523744" cy="2743200"/>
            </a:xfrm>
            <a:custGeom>
              <a:avLst/>
              <a:gdLst/>
              <a:ahLst/>
              <a:cxnLst/>
              <a:rect r="r" b="b" t="t" l="l"/>
              <a:pathLst>
                <a:path h="2743200" w="2523744">
                  <a:moveTo>
                    <a:pt x="0" y="182880"/>
                  </a:moveTo>
                  <a:cubicBezTo>
                    <a:pt x="0" y="81915"/>
                    <a:pt x="81915" y="0"/>
                    <a:pt x="182880" y="0"/>
                  </a:cubicBezTo>
                  <a:lnTo>
                    <a:pt x="2340864" y="0"/>
                  </a:lnTo>
                  <a:cubicBezTo>
                    <a:pt x="2441829" y="0"/>
                    <a:pt x="2523744" y="81915"/>
                    <a:pt x="2523744" y="182880"/>
                  </a:cubicBezTo>
                  <a:lnTo>
                    <a:pt x="2523744" y="2560320"/>
                  </a:lnTo>
                  <a:cubicBezTo>
                    <a:pt x="2523744" y="2661285"/>
                    <a:pt x="2441829" y="2743200"/>
                    <a:pt x="2340864" y="2743200"/>
                  </a:cubicBezTo>
                  <a:lnTo>
                    <a:pt x="182880" y="2743200"/>
                  </a:lnTo>
                  <a:cubicBezTo>
                    <a:pt x="81915" y="2743200"/>
                    <a:pt x="0" y="2661285"/>
                    <a:pt x="0" y="2560320"/>
                  </a:cubicBezTo>
                  <a:close/>
                </a:path>
              </a:pathLst>
            </a:custGeom>
            <a:solidFill>
              <a:srgbClr val="EAF8FA"/>
            </a:solidFill>
          </p:spPr>
        </p:sp>
      </p:grpSp>
      <p:grpSp>
        <p:nvGrpSpPr>
          <p:cNvPr name="Group 73" id="73"/>
          <p:cNvGrpSpPr/>
          <p:nvPr/>
        </p:nvGrpSpPr>
        <p:grpSpPr>
          <a:xfrm rot="0">
            <a:off x="15499080" y="2537460"/>
            <a:ext cx="1892808" cy="822960"/>
            <a:chOff x="0" y="0"/>
            <a:chExt cx="2523744" cy="1097280"/>
          </a:xfrm>
        </p:grpSpPr>
        <p:sp>
          <p:nvSpPr>
            <p:cNvPr name="Freeform 74" id="74"/>
            <p:cNvSpPr/>
            <p:nvPr/>
          </p:nvSpPr>
          <p:spPr>
            <a:xfrm flipH="false" flipV="false" rot="0">
              <a:off x="0" y="0"/>
              <a:ext cx="2523744" cy="1097280"/>
            </a:xfrm>
            <a:custGeom>
              <a:avLst/>
              <a:gdLst/>
              <a:ahLst/>
              <a:cxnLst/>
              <a:rect r="r" b="b" t="t" l="l"/>
              <a:pathLst>
                <a:path h="1097280" w="2523744">
                  <a:moveTo>
                    <a:pt x="0" y="0"/>
                  </a:moveTo>
                  <a:lnTo>
                    <a:pt x="2523744" y="0"/>
                  </a:lnTo>
                  <a:lnTo>
                    <a:pt x="2523744" y="1097280"/>
                  </a:lnTo>
                  <a:lnTo>
                    <a:pt x="0" y="1097280"/>
                  </a:lnTo>
                  <a:close/>
                </a:path>
              </a:pathLst>
            </a:custGeom>
            <a:blipFill>
              <a:blip r:embed="rId4">
                <a:alphaModFix amt="0"/>
              </a:blip>
              <a:stretch>
                <a:fillRect l="-5822" t="0" r="-5823" b="0"/>
              </a:stretch>
            </a:blipFill>
          </p:spPr>
        </p:sp>
      </p:grpSp>
      <p:grpSp>
        <p:nvGrpSpPr>
          <p:cNvPr name="Group 75" id="75"/>
          <p:cNvGrpSpPr/>
          <p:nvPr/>
        </p:nvGrpSpPr>
        <p:grpSpPr>
          <a:xfrm rot="0">
            <a:off x="15499080" y="2473166"/>
            <a:ext cx="1892808" cy="887254"/>
            <a:chOff x="0" y="0"/>
            <a:chExt cx="2523744" cy="1183005"/>
          </a:xfrm>
        </p:grpSpPr>
        <p:sp>
          <p:nvSpPr>
            <p:cNvPr name="Freeform 76" id="76"/>
            <p:cNvSpPr/>
            <p:nvPr/>
          </p:nvSpPr>
          <p:spPr>
            <a:xfrm flipH="false" flipV="false" rot="0">
              <a:off x="0" y="0"/>
              <a:ext cx="2523744" cy="1183005"/>
            </a:xfrm>
            <a:custGeom>
              <a:avLst/>
              <a:gdLst/>
              <a:ahLst/>
              <a:cxnLst/>
              <a:rect r="r" b="b" t="t" l="l"/>
              <a:pathLst>
                <a:path h="1183005" w="2523744">
                  <a:moveTo>
                    <a:pt x="0" y="0"/>
                  </a:moveTo>
                  <a:lnTo>
                    <a:pt x="2523744" y="0"/>
                  </a:lnTo>
                  <a:lnTo>
                    <a:pt x="2523744" y="1183005"/>
                  </a:lnTo>
                  <a:lnTo>
                    <a:pt x="0" y="1183005"/>
                  </a:lnTo>
                  <a:close/>
                </a:path>
              </a:pathLst>
            </a:custGeom>
            <a:blipFill>
              <a:blip r:embed="rId5">
                <a:alphaModFix amt="0"/>
              </a:blip>
              <a:stretch>
                <a:fillRect l="-10142" t="0" r="-10142" b="0"/>
              </a:stretch>
            </a:blipFill>
          </p:spPr>
        </p:sp>
        <p:sp>
          <p:nvSpPr>
            <p:cNvPr name="TextBox 77" id="77"/>
            <p:cNvSpPr txBox="true"/>
            <p:nvPr/>
          </p:nvSpPr>
          <p:spPr>
            <a:xfrm>
              <a:off x="0" y="-85725"/>
              <a:ext cx="2523744" cy="1268730"/>
            </a:xfrm>
            <a:prstGeom prst="rect">
              <a:avLst/>
            </a:prstGeom>
          </p:spPr>
          <p:txBody>
            <a:bodyPr anchor="ctr" rtlCol="false" tIns="0" lIns="0" bIns="0" rIns="0"/>
            <a:lstStyle/>
            <a:p>
              <a:pPr algn="ctr">
                <a:lnSpc>
                  <a:spcPts val="5040"/>
                </a:lnSpc>
              </a:pPr>
              <a:r>
                <a:rPr lang="en-US" sz="4200" b="true">
                  <a:solidFill>
                    <a:srgbClr val="0B5E6E"/>
                  </a:solidFill>
                  <a:latin typeface="Calibri (MS) Bold"/>
                  <a:ea typeface="Calibri (MS) Bold"/>
                  <a:cs typeface="Calibri (MS) Bold"/>
                  <a:sym typeface="Calibri (MS) Bold"/>
                </a:rPr>
                <a:t>2043</a:t>
              </a:r>
            </a:p>
          </p:txBody>
        </p:sp>
      </p:grpSp>
      <p:sp>
        <p:nvSpPr>
          <p:cNvPr name="TextBox 78" id="78"/>
          <p:cNvSpPr txBox="true"/>
          <p:nvPr/>
        </p:nvSpPr>
        <p:spPr>
          <a:xfrm rot="0">
            <a:off x="15608808" y="3371850"/>
            <a:ext cx="1673352" cy="1017270"/>
          </a:xfrm>
          <a:prstGeom prst="rect">
            <a:avLst/>
          </a:prstGeom>
        </p:spPr>
        <p:txBody>
          <a:bodyPr anchor="t" rtlCol="false" tIns="0" lIns="0" bIns="0" rIns="0">
            <a:spAutoFit/>
          </a:bodyPr>
          <a:lstStyle/>
          <a:p>
            <a:pPr algn="ctr">
              <a:lnSpc>
                <a:spcPts val="1980"/>
              </a:lnSpc>
            </a:pPr>
            <a:r>
              <a:rPr lang="en-US" sz="1650">
                <a:solidFill>
                  <a:srgbClr val="14313B"/>
                </a:solidFill>
                <a:latin typeface="Calibri (MS)"/>
                <a:ea typeface="Calibri (MS)"/>
                <a:cs typeface="Calibri (MS)"/>
                <a:sym typeface="Calibri (MS)"/>
              </a:rPr>
              <a:t>Business-as-Usual</a:t>
            </a:r>
          </a:p>
        </p:txBody>
      </p:sp>
      <p:sp>
        <p:nvSpPr>
          <p:cNvPr name="TextBox 79" id="79"/>
          <p:cNvSpPr txBox="true"/>
          <p:nvPr/>
        </p:nvSpPr>
        <p:spPr>
          <a:xfrm rot="0">
            <a:off x="11384280" y="4450080"/>
            <a:ext cx="6076188" cy="556260"/>
          </a:xfrm>
          <a:prstGeom prst="rect">
            <a:avLst/>
          </a:prstGeom>
        </p:spPr>
        <p:txBody>
          <a:bodyPr anchor="t" rtlCol="false" tIns="0" lIns="0" bIns="0" rIns="0">
            <a:spAutoFit/>
          </a:bodyPr>
          <a:lstStyle/>
          <a:p>
            <a:pPr algn="l">
              <a:lnSpc>
                <a:spcPts val="2160"/>
              </a:lnSpc>
            </a:pPr>
            <a:r>
              <a:rPr lang="en-US" sz="1800" i="true">
                <a:solidFill>
                  <a:srgbClr val="5E6E78"/>
                </a:solidFill>
                <a:latin typeface="Calibri (MS) Italics"/>
                <a:ea typeface="Calibri (MS) Italics"/>
                <a:cs typeface="Calibri (MS) Italics"/>
                <a:sym typeface="Calibri (MS) Italics"/>
              </a:rPr>
              <a:t>tahun ambang 2,0 terlampaui — selisih antarskenario hanya 2 tahun</a:t>
            </a:r>
          </a:p>
        </p:txBody>
      </p:sp>
      <p:grpSp>
        <p:nvGrpSpPr>
          <p:cNvPr name="Group 80" id="80"/>
          <p:cNvGrpSpPr/>
          <p:nvPr/>
        </p:nvGrpSpPr>
        <p:grpSpPr>
          <a:xfrm rot="0">
            <a:off x="11384280" y="5212080"/>
            <a:ext cx="6076188" cy="1714500"/>
            <a:chOff x="0" y="0"/>
            <a:chExt cx="8101584" cy="2286000"/>
          </a:xfrm>
        </p:grpSpPr>
        <p:sp>
          <p:nvSpPr>
            <p:cNvPr name="Freeform 81" id="81"/>
            <p:cNvSpPr/>
            <p:nvPr/>
          </p:nvSpPr>
          <p:spPr>
            <a:xfrm flipH="false" flipV="false" rot="0">
              <a:off x="0" y="0"/>
              <a:ext cx="8101585" cy="2286000"/>
            </a:xfrm>
            <a:custGeom>
              <a:avLst/>
              <a:gdLst/>
              <a:ahLst/>
              <a:cxnLst/>
              <a:rect r="r" b="b" t="t" l="l"/>
              <a:pathLst>
                <a:path h="2286000" w="8101585">
                  <a:moveTo>
                    <a:pt x="0" y="182880"/>
                  </a:moveTo>
                  <a:cubicBezTo>
                    <a:pt x="0" y="81915"/>
                    <a:pt x="81915" y="0"/>
                    <a:pt x="182880" y="0"/>
                  </a:cubicBezTo>
                  <a:lnTo>
                    <a:pt x="7918704" y="0"/>
                  </a:lnTo>
                  <a:cubicBezTo>
                    <a:pt x="8019669" y="0"/>
                    <a:pt x="8101585" y="81915"/>
                    <a:pt x="8101585" y="182880"/>
                  </a:cubicBezTo>
                  <a:lnTo>
                    <a:pt x="8101585" y="2103120"/>
                  </a:lnTo>
                  <a:cubicBezTo>
                    <a:pt x="8101585" y="2204085"/>
                    <a:pt x="8019669" y="2286000"/>
                    <a:pt x="7918704" y="2286000"/>
                  </a:cubicBezTo>
                  <a:lnTo>
                    <a:pt x="182880" y="2286000"/>
                  </a:lnTo>
                  <a:cubicBezTo>
                    <a:pt x="81915" y="2286000"/>
                    <a:pt x="0" y="2204085"/>
                    <a:pt x="0" y="2103120"/>
                  </a:cubicBezTo>
                  <a:close/>
                </a:path>
              </a:pathLst>
            </a:custGeom>
            <a:solidFill>
              <a:srgbClr val="0B5E6E"/>
            </a:solidFill>
          </p:spPr>
        </p:sp>
      </p:grpSp>
      <p:grpSp>
        <p:nvGrpSpPr>
          <p:cNvPr name="Group 82" id="82"/>
          <p:cNvGrpSpPr/>
          <p:nvPr/>
        </p:nvGrpSpPr>
        <p:grpSpPr>
          <a:xfrm rot="0">
            <a:off x="11727180" y="5212080"/>
            <a:ext cx="5417820" cy="1714500"/>
            <a:chOff x="0" y="0"/>
            <a:chExt cx="7223760" cy="2286000"/>
          </a:xfrm>
        </p:grpSpPr>
        <p:sp>
          <p:nvSpPr>
            <p:cNvPr name="Freeform 83" id="83"/>
            <p:cNvSpPr/>
            <p:nvPr/>
          </p:nvSpPr>
          <p:spPr>
            <a:xfrm flipH="false" flipV="false" rot="0">
              <a:off x="0" y="0"/>
              <a:ext cx="7223760" cy="2286000"/>
            </a:xfrm>
            <a:custGeom>
              <a:avLst/>
              <a:gdLst/>
              <a:ahLst/>
              <a:cxnLst/>
              <a:rect r="r" b="b" t="t" l="l"/>
              <a:pathLst>
                <a:path h="2286000" w="7223760">
                  <a:moveTo>
                    <a:pt x="0" y="0"/>
                  </a:moveTo>
                  <a:lnTo>
                    <a:pt x="7223760" y="0"/>
                  </a:lnTo>
                  <a:lnTo>
                    <a:pt x="7223760" y="2286000"/>
                  </a:lnTo>
                  <a:lnTo>
                    <a:pt x="0" y="2286000"/>
                  </a:lnTo>
                  <a:close/>
                </a:path>
              </a:pathLst>
            </a:custGeom>
            <a:blipFill>
              <a:blip r:embed="rId4">
                <a:alphaModFix amt="0"/>
              </a:blip>
              <a:stretch>
                <a:fillRect l="0" t="-11530" r="0" b="-11530"/>
              </a:stretch>
            </a:blipFill>
          </p:spPr>
        </p:sp>
      </p:grpSp>
      <p:grpSp>
        <p:nvGrpSpPr>
          <p:cNvPr name="Group 84" id="84"/>
          <p:cNvGrpSpPr/>
          <p:nvPr/>
        </p:nvGrpSpPr>
        <p:grpSpPr>
          <a:xfrm rot="0">
            <a:off x="11727180" y="5176361"/>
            <a:ext cx="5417820" cy="1750219"/>
            <a:chOff x="0" y="0"/>
            <a:chExt cx="7223760" cy="2333625"/>
          </a:xfrm>
        </p:grpSpPr>
        <p:sp>
          <p:nvSpPr>
            <p:cNvPr name="Freeform 85" id="85"/>
            <p:cNvSpPr/>
            <p:nvPr/>
          </p:nvSpPr>
          <p:spPr>
            <a:xfrm flipH="false" flipV="false" rot="0">
              <a:off x="0" y="0"/>
              <a:ext cx="7223760" cy="2333625"/>
            </a:xfrm>
            <a:custGeom>
              <a:avLst/>
              <a:gdLst/>
              <a:ahLst/>
              <a:cxnLst/>
              <a:rect r="r" b="b" t="t" l="l"/>
              <a:pathLst>
                <a:path h="2333625" w="7223760">
                  <a:moveTo>
                    <a:pt x="0" y="0"/>
                  </a:moveTo>
                  <a:lnTo>
                    <a:pt x="7223760" y="0"/>
                  </a:lnTo>
                  <a:lnTo>
                    <a:pt x="7223760" y="2333625"/>
                  </a:lnTo>
                  <a:lnTo>
                    <a:pt x="0" y="2333625"/>
                  </a:lnTo>
                  <a:close/>
                </a:path>
              </a:pathLst>
            </a:custGeom>
            <a:blipFill>
              <a:blip r:embed="rId5">
                <a:alphaModFix amt="0"/>
              </a:blip>
              <a:stretch>
                <a:fillRect l="0" t="-10316" r="0" b="-10316"/>
              </a:stretch>
            </a:blipFill>
          </p:spPr>
        </p:sp>
        <p:sp>
          <p:nvSpPr>
            <p:cNvPr name="TextBox 86" id="86"/>
            <p:cNvSpPr txBox="true"/>
            <p:nvPr/>
          </p:nvSpPr>
          <p:spPr>
            <a:xfrm>
              <a:off x="0" y="-47625"/>
              <a:ext cx="7223760" cy="2381250"/>
            </a:xfrm>
            <a:prstGeom prst="rect">
              <a:avLst/>
            </a:prstGeom>
          </p:spPr>
          <p:txBody>
            <a:bodyPr anchor="ctr" rtlCol="false" tIns="0" lIns="0" bIns="0" rIns="0"/>
            <a:lstStyle/>
            <a:p>
              <a:pPr algn="l">
                <a:lnSpc>
                  <a:spcPts val="2340"/>
                </a:lnSpc>
              </a:pPr>
              <a:r>
                <a:rPr lang="en-US" sz="1950">
                  <a:solidFill>
                    <a:srgbClr val="FFFFFF"/>
                  </a:solidFill>
                  <a:latin typeface="Calibri (MS)"/>
                  <a:ea typeface="Calibri (MS)"/>
                  <a:cs typeface="Calibri (MS)"/>
                  <a:sym typeface="Calibri (MS)"/>
                </a:rPr>
                <a:t>Kedua tuas bekerja di sisi penyediaan (investasi, lahan); kepadatan ditentukan pertumbuhan permintaan.</a:t>
              </a:r>
            </a:p>
          </p:txBody>
        </p:sp>
      </p:grpSp>
      <p:grpSp>
        <p:nvGrpSpPr>
          <p:cNvPr name="Group 87" id="87"/>
          <p:cNvGrpSpPr/>
          <p:nvPr/>
        </p:nvGrpSpPr>
        <p:grpSpPr>
          <a:xfrm rot="0">
            <a:off x="11384280" y="7132320"/>
            <a:ext cx="6076188" cy="960120"/>
            <a:chOff x="0" y="0"/>
            <a:chExt cx="8101584" cy="1280160"/>
          </a:xfrm>
        </p:grpSpPr>
        <p:sp>
          <p:nvSpPr>
            <p:cNvPr name="Freeform 88" id="88"/>
            <p:cNvSpPr/>
            <p:nvPr/>
          </p:nvSpPr>
          <p:spPr>
            <a:xfrm flipH="false" flipV="false" rot="0">
              <a:off x="0" y="0"/>
              <a:ext cx="8101585" cy="1280160"/>
            </a:xfrm>
            <a:custGeom>
              <a:avLst/>
              <a:gdLst/>
              <a:ahLst/>
              <a:cxnLst/>
              <a:rect r="r" b="b" t="t" l="l"/>
              <a:pathLst>
                <a:path h="1280160" w="8101585">
                  <a:moveTo>
                    <a:pt x="0" y="182880"/>
                  </a:moveTo>
                  <a:cubicBezTo>
                    <a:pt x="0" y="81915"/>
                    <a:pt x="81915" y="0"/>
                    <a:pt x="182880" y="0"/>
                  </a:cubicBezTo>
                  <a:lnTo>
                    <a:pt x="7918704" y="0"/>
                  </a:lnTo>
                  <a:cubicBezTo>
                    <a:pt x="8019669" y="0"/>
                    <a:pt x="8101585" y="81915"/>
                    <a:pt x="8101585" y="182880"/>
                  </a:cubicBezTo>
                  <a:lnTo>
                    <a:pt x="8101585" y="1097280"/>
                  </a:lnTo>
                  <a:cubicBezTo>
                    <a:pt x="8101585" y="1198245"/>
                    <a:pt x="8019669" y="1280160"/>
                    <a:pt x="7918704" y="1280160"/>
                  </a:cubicBezTo>
                  <a:lnTo>
                    <a:pt x="182880" y="1280160"/>
                  </a:lnTo>
                  <a:cubicBezTo>
                    <a:pt x="81915" y="1280160"/>
                    <a:pt x="0" y="1198245"/>
                    <a:pt x="0" y="1097280"/>
                  </a:cubicBezTo>
                  <a:close/>
                </a:path>
              </a:pathLst>
            </a:custGeom>
            <a:solidFill>
              <a:srgbClr val="EAF8FA"/>
            </a:solidFill>
          </p:spPr>
        </p:sp>
      </p:grpSp>
      <p:grpSp>
        <p:nvGrpSpPr>
          <p:cNvPr name="Group 89" id="89"/>
          <p:cNvGrpSpPr/>
          <p:nvPr/>
        </p:nvGrpSpPr>
        <p:grpSpPr>
          <a:xfrm rot="0">
            <a:off x="11658600" y="7132320"/>
            <a:ext cx="5554980" cy="960120"/>
            <a:chOff x="0" y="0"/>
            <a:chExt cx="7406640" cy="1280160"/>
          </a:xfrm>
        </p:grpSpPr>
        <p:sp>
          <p:nvSpPr>
            <p:cNvPr name="Freeform 90" id="90"/>
            <p:cNvSpPr/>
            <p:nvPr/>
          </p:nvSpPr>
          <p:spPr>
            <a:xfrm flipH="false" flipV="false" rot="0">
              <a:off x="0" y="0"/>
              <a:ext cx="7406640" cy="1280160"/>
            </a:xfrm>
            <a:custGeom>
              <a:avLst/>
              <a:gdLst/>
              <a:ahLst/>
              <a:cxnLst/>
              <a:rect r="r" b="b" t="t" l="l"/>
              <a:pathLst>
                <a:path h="1280160" w="7406640">
                  <a:moveTo>
                    <a:pt x="0" y="0"/>
                  </a:moveTo>
                  <a:lnTo>
                    <a:pt x="7406640" y="0"/>
                  </a:lnTo>
                  <a:lnTo>
                    <a:pt x="7406640" y="1280160"/>
                  </a:lnTo>
                  <a:lnTo>
                    <a:pt x="0" y="1280160"/>
                  </a:lnTo>
                  <a:close/>
                </a:path>
              </a:pathLst>
            </a:custGeom>
            <a:blipFill>
              <a:blip r:embed="rId4">
                <a:alphaModFix amt="0"/>
              </a:blip>
              <a:stretch>
                <a:fillRect l="0" t="-62656" r="0" b="-62655"/>
              </a:stretch>
            </a:blipFill>
          </p:spPr>
        </p:sp>
      </p:grpSp>
      <p:grpSp>
        <p:nvGrpSpPr>
          <p:cNvPr name="Group 91" id="91"/>
          <p:cNvGrpSpPr/>
          <p:nvPr/>
        </p:nvGrpSpPr>
        <p:grpSpPr>
          <a:xfrm rot="0">
            <a:off x="11658600" y="7103745"/>
            <a:ext cx="5554980" cy="988695"/>
            <a:chOff x="0" y="0"/>
            <a:chExt cx="7406640" cy="1318260"/>
          </a:xfrm>
        </p:grpSpPr>
        <p:sp>
          <p:nvSpPr>
            <p:cNvPr name="Freeform 92" id="92"/>
            <p:cNvSpPr/>
            <p:nvPr/>
          </p:nvSpPr>
          <p:spPr>
            <a:xfrm flipH="false" flipV="false" rot="0">
              <a:off x="0" y="0"/>
              <a:ext cx="7406640" cy="1318260"/>
            </a:xfrm>
            <a:custGeom>
              <a:avLst/>
              <a:gdLst/>
              <a:ahLst/>
              <a:cxnLst/>
              <a:rect r="r" b="b" t="t" l="l"/>
              <a:pathLst>
                <a:path h="1318260" w="7406640">
                  <a:moveTo>
                    <a:pt x="0" y="0"/>
                  </a:moveTo>
                  <a:lnTo>
                    <a:pt x="7406640" y="0"/>
                  </a:lnTo>
                  <a:lnTo>
                    <a:pt x="7406640" y="1318260"/>
                  </a:lnTo>
                  <a:lnTo>
                    <a:pt x="0" y="1318260"/>
                  </a:lnTo>
                  <a:close/>
                </a:path>
              </a:pathLst>
            </a:custGeom>
            <a:blipFill>
              <a:blip r:embed="rId5">
                <a:alphaModFix amt="0"/>
              </a:blip>
              <a:stretch>
                <a:fillRect l="0" t="-59476" r="0" b="-59476"/>
              </a:stretch>
            </a:blipFill>
          </p:spPr>
        </p:sp>
        <p:sp>
          <p:nvSpPr>
            <p:cNvPr name="TextBox 93" id="93"/>
            <p:cNvSpPr txBox="true"/>
            <p:nvPr/>
          </p:nvSpPr>
          <p:spPr>
            <a:xfrm>
              <a:off x="0" y="-38100"/>
              <a:ext cx="7406640" cy="1356360"/>
            </a:xfrm>
            <a:prstGeom prst="rect">
              <a:avLst/>
            </a:prstGeom>
          </p:spPr>
          <p:txBody>
            <a:bodyPr anchor="ctr" rtlCol="false" tIns="0" lIns="0" bIns="0" rIns="0"/>
            <a:lstStyle/>
            <a:p>
              <a:pPr algn="l">
                <a:lnSpc>
                  <a:spcPts val="2160"/>
                </a:lnSpc>
              </a:pPr>
              <a:r>
                <a:rPr lang="en-US" sz="1800">
                  <a:solidFill>
                    <a:srgbClr val="14313B"/>
                  </a:solidFill>
                  <a:latin typeface="Calibri (MS)"/>
                  <a:ea typeface="Calibri (MS)"/>
                  <a:cs typeface="Calibri (MS)"/>
                  <a:sym typeface="Calibri (MS)"/>
                </a:rPr>
                <a:t>Rasio daya dukung lahan ≈ 0,614 — ambang 0,331 tidak terlampaui</a:t>
              </a:r>
            </a:p>
          </p:txBody>
        </p:sp>
      </p:grpSp>
      <p:grpSp>
        <p:nvGrpSpPr>
          <p:cNvPr name="Group 94" id="94"/>
          <p:cNvGrpSpPr/>
          <p:nvPr/>
        </p:nvGrpSpPr>
        <p:grpSpPr>
          <a:xfrm rot="0">
            <a:off x="11384280" y="8298180"/>
            <a:ext cx="6076188" cy="960120"/>
            <a:chOff x="0" y="0"/>
            <a:chExt cx="8101584" cy="1280160"/>
          </a:xfrm>
        </p:grpSpPr>
        <p:sp>
          <p:nvSpPr>
            <p:cNvPr name="Freeform 95" id="95"/>
            <p:cNvSpPr/>
            <p:nvPr/>
          </p:nvSpPr>
          <p:spPr>
            <a:xfrm flipH="false" flipV="false" rot="0">
              <a:off x="0" y="0"/>
              <a:ext cx="8101585" cy="1280160"/>
            </a:xfrm>
            <a:custGeom>
              <a:avLst/>
              <a:gdLst/>
              <a:ahLst/>
              <a:cxnLst/>
              <a:rect r="r" b="b" t="t" l="l"/>
              <a:pathLst>
                <a:path h="1280160" w="8101585">
                  <a:moveTo>
                    <a:pt x="0" y="182880"/>
                  </a:moveTo>
                  <a:cubicBezTo>
                    <a:pt x="0" y="81915"/>
                    <a:pt x="81915" y="0"/>
                    <a:pt x="182880" y="0"/>
                  </a:cubicBezTo>
                  <a:lnTo>
                    <a:pt x="7918704" y="0"/>
                  </a:lnTo>
                  <a:cubicBezTo>
                    <a:pt x="8019669" y="0"/>
                    <a:pt x="8101585" y="81915"/>
                    <a:pt x="8101585" y="182880"/>
                  </a:cubicBezTo>
                  <a:lnTo>
                    <a:pt x="8101585" y="1097280"/>
                  </a:lnTo>
                  <a:cubicBezTo>
                    <a:pt x="8101585" y="1198245"/>
                    <a:pt x="8019669" y="1280160"/>
                    <a:pt x="7918704" y="1280160"/>
                  </a:cubicBezTo>
                  <a:lnTo>
                    <a:pt x="182880" y="1280160"/>
                  </a:lnTo>
                  <a:cubicBezTo>
                    <a:pt x="81915" y="1280160"/>
                    <a:pt x="0" y="1198245"/>
                    <a:pt x="0" y="1097280"/>
                  </a:cubicBezTo>
                  <a:close/>
                </a:path>
              </a:pathLst>
            </a:custGeom>
            <a:solidFill>
              <a:srgbClr val="FFF1BF"/>
            </a:solidFill>
          </p:spPr>
        </p:sp>
      </p:grpSp>
      <p:grpSp>
        <p:nvGrpSpPr>
          <p:cNvPr name="Group 96" id="96"/>
          <p:cNvGrpSpPr/>
          <p:nvPr/>
        </p:nvGrpSpPr>
        <p:grpSpPr>
          <a:xfrm rot="0">
            <a:off x="11658600" y="8298180"/>
            <a:ext cx="5554980" cy="960120"/>
            <a:chOff x="0" y="0"/>
            <a:chExt cx="7406640" cy="1280160"/>
          </a:xfrm>
        </p:grpSpPr>
        <p:sp>
          <p:nvSpPr>
            <p:cNvPr name="Freeform 97" id="97"/>
            <p:cNvSpPr/>
            <p:nvPr/>
          </p:nvSpPr>
          <p:spPr>
            <a:xfrm flipH="false" flipV="false" rot="0">
              <a:off x="0" y="0"/>
              <a:ext cx="7406640" cy="1280160"/>
            </a:xfrm>
            <a:custGeom>
              <a:avLst/>
              <a:gdLst/>
              <a:ahLst/>
              <a:cxnLst/>
              <a:rect r="r" b="b" t="t" l="l"/>
              <a:pathLst>
                <a:path h="1280160" w="7406640">
                  <a:moveTo>
                    <a:pt x="0" y="0"/>
                  </a:moveTo>
                  <a:lnTo>
                    <a:pt x="7406640" y="0"/>
                  </a:lnTo>
                  <a:lnTo>
                    <a:pt x="7406640" y="1280160"/>
                  </a:lnTo>
                  <a:lnTo>
                    <a:pt x="0" y="1280160"/>
                  </a:lnTo>
                  <a:close/>
                </a:path>
              </a:pathLst>
            </a:custGeom>
            <a:blipFill>
              <a:blip r:embed="rId4">
                <a:alphaModFix amt="0"/>
              </a:blip>
              <a:stretch>
                <a:fillRect l="0" t="-62656" r="0" b="-62655"/>
              </a:stretch>
            </a:blipFill>
          </p:spPr>
        </p:sp>
      </p:grpSp>
      <p:grpSp>
        <p:nvGrpSpPr>
          <p:cNvPr name="Group 98" id="98"/>
          <p:cNvGrpSpPr/>
          <p:nvPr/>
        </p:nvGrpSpPr>
        <p:grpSpPr>
          <a:xfrm rot="0">
            <a:off x="11658600" y="8269605"/>
            <a:ext cx="5554980" cy="988695"/>
            <a:chOff x="0" y="0"/>
            <a:chExt cx="7406640" cy="1318260"/>
          </a:xfrm>
        </p:grpSpPr>
        <p:sp>
          <p:nvSpPr>
            <p:cNvPr name="Freeform 99" id="99"/>
            <p:cNvSpPr/>
            <p:nvPr/>
          </p:nvSpPr>
          <p:spPr>
            <a:xfrm flipH="false" flipV="false" rot="0">
              <a:off x="0" y="0"/>
              <a:ext cx="7406640" cy="1318260"/>
            </a:xfrm>
            <a:custGeom>
              <a:avLst/>
              <a:gdLst/>
              <a:ahLst/>
              <a:cxnLst/>
              <a:rect r="r" b="b" t="t" l="l"/>
              <a:pathLst>
                <a:path h="1318260" w="7406640">
                  <a:moveTo>
                    <a:pt x="0" y="0"/>
                  </a:moveTo>
                  <a:lnTo>
                    <a:pt x="7406640" y="0"/>
                  </a:lnTo>
                  <a:lnTo>
                    <a:pt x="7406640" y="1318260"/>
                  </a:lnTo>
                  <a:lnTo>
                    <a:pt x="0" y="1318260"/>
                  </a:lnTo>
                  <a:close/>
                </a:path>
              </a:pathLst>
            </a:custGeom>
            <a:blipFill>
              <a:blip r:embed="rId5">
                <a:alphaModFix amt="0"/>
              </a:blip>
              <a:stretch>
                <a:fillRect l="0" t="-59476" r="0" b="-59476"/>
              </a:stretch>
            </a:blipFill>
          </p:spPr>
        </p:sp>
        <p:sp>
          <p:nvSpPr>
            <p:cNvPr name="TextBox 100" id="100"/>
            <p:cNvSpPr txBox="true"/>
            <p:nvPr/>
          </p:nvSpPr>
          <p:spPr>
            <a:xfrm>
              <a:off x="0" y="-38100"/>
              <a:ext cx="7406640" cy="1356360"/>
            </a:xfrm>
            <a:prstGeom prst="rect">
              <a:avLst/>
            </a:prstGeom>
          </p:spPr>
          <p:txBody>
            <a:bodyPr anchor="ctr" rtlCol="false" tIns="0" lIns="0" bIns="0" rIns="0"/>
            <a:lstStyle/>
            <a:p>
              <a:pPr algn="l">
                <a:lnSpc>
                  <a:spcPts val="2160"/>
                </a:lnSpc>
              </a:pPr>
              <a:r>
                <a:rPr lang="en-US" sz="1800">
                  <a:solidFill>
                    <a:srgbClr val="14313B"/>
                  </a:solidFill>
                  <a:latin typeface="Calibri (MS)"/>
                  <a:ea typeface="Calibri (MS)"/>
                  <a:cs typeface="Calibri (MS)"/>
                  <a:sym typeface="Calibri (MS)"/>
                </a:rPr>
                <a:t>Ambang 2,0 = ketetapan peneliti (2× kepadatan tahun dasar): sinyal deskriptif</a:t>
              </a:r>
            </a:p>
          </p:txBody>
        </p:sp>
      </p:grpSp>
      <p:sp>
        <p:nvSpPr>
          <p:cNvPr name="TextBox 101" id="101"/>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59</a:t>
            </a:r>
          </a:p>
        </p:txBody>
      </p:sp>
      <p:sp>
        <p:nvSpPr>
          <p:cNvPr id="102" name="TextBox 101"/>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
        <p:nvSpPr>
          <p:cNvPr id="103"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4.8.4 · Dekomposisi Kontribusi Tuas</a:t>
            </a:r>
          </a:p>
          <a:p>
            <a:pPr algn="l">
              <a:lnSpc>
                <a:spcPct val="100000"/>
              </a:lnSpc>
            </a:pPr>
            <a:r>
              <a:rPr lang="en-US" sz="3500" b="true">
                <a:solidFill>
                  <a:srgbClr val="0B5E6E"/>
                </a:solidFill>
                <a:latin typeface="Calibri (MS) Bold"/>
                <a:ea typeface="Calibri (MS) Bold"/>
                <a:cs typeface="Calibri (MS) Bold"/>
                <a:sym typeface="Calibri (MS) Bold"/>
              </a:rPr>
              <a:t>Dua tuas bekerja pada jalur terpisah sehingga hampir aditif</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aphicFrame>
        <p:nvGraphicFramePr>
          <p:cNvPr name="Table 52" id="52"/>
          <p:cNvGraphicFramePr>
            <a:graphicFrameLocks noGrp="true"/>
          </p:cNvGraphicFramePr>
          <p:nvPr/>
        </p:nvGraphicFramePr>
        <p:xfrm>
          <a:off x="822960" y="2331720"/>
          <a:ext cx="16560800" cy="3429000"/>
        </p:xfrm>
        <a:graphic>
          <a:graphicData uri="http://schemas.openxmlformats.org/drawingml/2006/table">
            <a:tbl>
              <a:tblPr/>
              <a:tblGrid>
                <a:gridCol w="5699832"/>
                <a:gridCol w="2738796"/>
                <a:gridCol w="3007981"/>
                <a:gridCol w="2469610"/>
                <a:gridCol w="2644581"/>
              </a:tblGrid>
              <a:tr h="685800">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Indikator (Sustainable − BAU)</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250"/>
                        </a:lnSpc>
                        <a:defRPr/>
                      </a:pPr>
                      <a:r>
                        <a:rPr lang="en-US" sz="1875" b="true">
                          <a:solidFill>
                            <a:srgbClr val="FFFFFF"/>
                          </a:solidFill>
                          <a:latin typeface="Calibri (MS) Bold"/>
                          <a:ea typeface="Calibri (MS) Bold"/>
                          <a:cs typeface="Calibri (MS) Bold"/>
                          <a:sym typeface="Calibri (MS) Bold"/>
                        </a:rPr>
                        <a:t>Kontribusi insentif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250"/>
                        </a:lnSpc>
                        <a:defRPr/>
                      </a:pPr>
                      <a:r>
                        <a:rPr lang="en-US" sz="1875" b="true">
                          <a:solidFill>
                            <a:srgbClr val="FFFFFF"/>
                          </a:solidFill>
                          <a:latin typeface="Calibri (MS) Bold"/>
                          <a:ea typeface="Calibri (MS) Bold"/>
                          <a:cs typeface="Calibri (MS) Bold"/>
                          <a:sym typeface="Calibri (MS) Bold"/>
                        </a:rPr>
                        <a:t>Kontribusi konservasi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250"/>
                        </a:lnSpc>
                        <a:defRPr/>
                      </a:pPr>
                      <a:r>
                        <a:rPr lang="en-US" sz="1875" b="true">
                          <a:solidFill>
                            <a:srgbClr val="FFFFFF"/>
                          </a:solidFill>
                          <a:latin typeface="Calibri (MS) Bold"/>
                          <a:ea typeface="Calibri (MS) Bold"/>
                          <a:cs typeface="Calibri (MS) Bold"/>
                          <a:sym typeface="Calibri (MS) Bold"/>
                        </a:rPr>
                        <a:t>Efek interaksi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250"/>
                        </a:lnSpc>
                        <a:defRPr/>
                      </a:pPr>
                      <a:r>
                        <a:rPr lang="en-US" sz="1875" b="true">
                          <a:solidFill>
                            <a:srgbClr val="FFFFFF"/>
                          </a:solidFill>
                          <a:latin typeface="Calibri (MS) Bold"/>
                          <a:ea typeface="Calibri (MS) Bold"/>
                          <a:cs typeface="Calibri (MS) Bold"/>
                          <a:sym typeface="Calibri (MS) Bold"/>
                        </a:rPr>
                        <a:t>Selisih paket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685800">
                <a:tc>
                  <a:txBody>
                    <a:bodyPr anchor="t" rtlCol="false"/>
                    <a:lstStyle/>
                    <a:p>
                      <a:pPr algn="l">
                        <a:lnSpc>
                          <a:spcPts val="2340"/>
                        </a:lnSpc>
                        <a:defRPr/>
                      </a:pPr>
                      <a:r>
                        <a:rPr lang="en-US" sz="1950">
                          <a:solidFill>
                            <a:srgbClr val="14313B"/>
                          </a:solidFill>
                          <a:latin typeface="Calibri (MS)"/>
                          <a:ea typeface="Calibri (MS)"/>
                          <a:cs typeface="Calibri (MS)"/>
                          <a:sym typeface="Calibri (MS)"/>
                        </a:rPr>
                        <a:t>Jumlah wisatawan (juta kunjungan)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+2,46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+0,24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+0,02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b="true">
                          <a:solidFill>
                            <a:srgbClr val="14313B"/>
                          </a:solidFill>
                          <a:latin typeface="Calibri (MS) Bold"/>
                          <a:ea typeface="Calibri (MS) Bold"/>
                          <a:cs typeface="Calibri (MS) Bold"/>
                          <a:sym typeface="Calibri (MS) Bold"/>
                        </a:rPr>
                        <a:t>+2,72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340"/>
                        </a:lnSpc>
                        <a:defRPr/>
                      </a:pPr>
                      <a:r>
                        <a:rPr lang="en-US" sz="1950">
                          <a:solidFill>
                            <a:srgbClr val="14313B"/>
                          </a:solidFill>
                          <a:latin typeface="Calibri (MS)"/>
                          <a:ea typeface="Calibri (MS)"/>
                          <a:cs typeface="Calibri (MS)"/>
                          <a:sym typeface="Calibri (MS)"/>
                        </a:rPr>
                        <a:t>Konversi lahan pariwisata kumulatif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+50,1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−947,0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−50,1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b="true">
                          <a:solidFill>
                            <a:srgbClr val="14313B"/>
                          </a:solidFill>
                          <a:latin typeface="Calibri (MS) Bold"/>
                          <a:ea typeface="Calibri (MS) Bold"/>
                          <a:cs typeface="Calibri (MS) Bold"/>
                          <a:sym typeface="Calibri (MS) Bold"/>
                        </a:rPr>
                        <a:t>−947,0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340"/>
                        </a:lnSpc>
                        <a:defRPr/>
                      </a:pPr>
                      <a:r>
                        <a:rPr lang="en-US" sz="1950">
                          <a:solidFill>
                            <a:srgbClr val="14313B"/>
                          </a:solidFill>
                          <a:latin typeface="Calibri (MS)"/>
                          <a:ea typeface="Calibri (MS)"/>
                          <a:cs typeface="Calibri (MS)"/>
                          <a:sym typeface="Calibri (MS)"/>
                        </a:rPr>
                        <a:t>Lahan terbangun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+57,6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−1.114,0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−57,6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b="true">
                          <a:solidFill>
                            <a:srgbClr val="14313B"/>
                          </a:solidFill>
                          <a:latin typeface="Calibri (MS) Bold"/>
                          <a:ea typeface="Calibri (MS) Bold"/>
                          <a:cs typeface="Calibri (MS) Bold"/>
                          <a:sym typeface="Calibri (MS) Bold"/>
                        </a:rPr>
                        <a:t>−1.114,0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340"/>
                        </a:lnSpc>
                        <a:defRPr/>
                      </a:pPr>
                      <a:r>
                        <a:rPr lang="en-US" sz="1950">
                          <a:solidFill>
                            <a:srgbClr val="14313B"/>
                          </a:solidFill>
                          <a:latin typeface="Calibri (MS)"/>
                          <a:ea typeface="Calibri (MS)"/>
                          <a:cs typeface="Calibri (MS)"/>
                          <a:sym typeface="Calibri (MS)"/>
                        </a:rPr>
                        <a:t>Rasio daya dukung lahan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−0,00018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+0,00351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+0,00018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b="true">
                          <a:solidFill>
                            <a:srgbClr val="14313B"/>
                          </a:solidFill>
                          <a:latin typeface="Calibri (MS) Bold"/>
                          <a:ea typeface="Calibri (MS) Bold"/>
                          <a:cs typeface="Calibri (MS) Bold"/>
                          <a:sym typeface="Calibri (MS) Bold"/>
                        </a:rPr>
                        <a:t>+0,00351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53" id="53"/>
          <p:cNvSpPr txBox="true"/>
          <p:nvPr/>
        </p:nvSpPr>
        <p:spPr>
          <a:xfrm rot="0">
            <a:off x="822960" y="5821680"/>
            <a:ext cx="16637508" cy="4876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Kontribusi tuas = keluaran tuas tunggal − tanpa intervensi · Efek interaksi = selisih paket − (kontribusi insentif + konservasi)</a:t>
            </a:r>
          </a:p>
        </p:txBody>
      </p:sp>
      <p:grpSp>
        <p:nvGrpSpPr>
          <p:cNvPr name="Group 54" id="54"/>
          <p:cNvGrpSpPr/>
          <p:nvPr/>
        </p:nvGrpSpPr>
        <p:grpSpPr>
          <a:xfrm rot="0">
            <a:off x="822960" y="6515100"/>
            <a:ext cx="8161020" cy="2743200"/>
            <a:chOff x="0" y="0"/>
            <a:chExt cx="10881360" cy="3657600"/>
          </a:xfrm>
        </p:grpSpPr>
        <p:sp>
          <p:nvSpPr>
            <p:cNvPr name="Freeform 55" id="55"/>
            <p:cNvSpPr/>
            <p:nvPr/>
          </p:nvSpPr>
          <p:spPr>
            <a:xfrm flipH="false" flipV="false" rot="0">
              <a:off x="0" y="0"/>
              <a:ext cx="10881360" cy="3657600"/>
            </a:xfrm>
            <a:custGeom>
              <a:avLst/>
              <a:gdLst/>
              <a:ahLst/>
              <a:cxnLst/>
              <a:rect r="r" b="b" t="t" l="l"/>
              <a:pathLst>
                <a:path h="3657600" w="10881360">
                  <a:moveTo>
                    <a:pt x="0" y="182880"/>
                  </a:moveTo>
                  <a:cubicBezTo>
                    <a:pt x="0" y="81915"/>
                    <a:pt x="81915" y="0"/>
                    <a:pt x="182880" y="0"/>
                  </a:cubicBezTo>
                  <a:lnTo>
                    <a:pt x="10698480" y="0"/>
                  </a:lnTo>
                  <a:cubicBezTo>
                    <a:pt x="10799445" y="0"/>
                    <a:pt x="10881360" y="81915"/>
                    <a:pt x="10881360" y="182880"/>
                  </a:cubicBezTo>
                  <a:lnTo>
                    <a:pt x="10881360" y="3474720"/>
                  </a:lnTo>
                  <a:cubicBezTo>
                    <a:pt x="10881360" y="3575685"/>
                    <a:pt x="10799445" y="3657600"/>
                    <a:pt x="10698480" y="3657600"/>
                  </a:cubicBezTo>
                  <a:lnTo>
                    <a:pt x="182880" y="3657600"/>
                  </a:lnTo>
                  <a:cubicBezTo>
                    <a:pt x="81915" y="3657600"/>
                    <a:pt x="0" y="3575685"/>
                    <a:pt x="0" y="3474720"/>
                  </a:cubicBezTo>
                  <a:close/>
                </a:path>
              </a:pathLst>
            </a:custGeom>
            <a:solidFill>
              <a:srgbClr val="EAF8FA"/>
            </a:solidFill>
          </p:spPr>
        </p:sp>
      </p:grpSp>
      <p:sp>
        <p:nvSpPr>
          <p:cNvPr name="TextBox 56" id="56"/>
          <p:cNvSpPr txBox="true"/>
          <p:nvPr/>
        </p:nvSpPr>
        <p:spPr>
          <a:xfrm rot="0">
            <a:off x="1234440" y="6644640"/>
            <a:ext cx="74066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Insentif → ekonomi · Konservasi → lahan</a:t>
            </a:r>
          </a:p>
        </p:txBody>
      </p:sp>
      <p:sp>
        <p:nvSpPr>
          <p:cNvPr name="TextBox 57" id="57"/>
          <p:cNvSpPr txBox="true"/>
          <p:nvPr/>
        </p:nvSpPr>
        <p:spPr>
          <a:xfrm rot="0">
            <a:off x="1234440" y="7330440"/>
            <a:ext cx="7406640" cy="1722120"/>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Interaksi hanya ≈ 0,7% dari selisih paket pada jumlah wisatawan: kontribusi kedua tuas hampir bersifat aditif.</a:t>
            </a:r>
          </a:p>
        </p:txBody>
      </p:sp>
      <p:grpSp>
        <p:nvGrpSpPr>
          <p:cNvPr name="Group 58" id="58"/>
          <p:cNvGrpSpPr/>
          <p:nvPr/>
        </p:nvGrpSpPr>
        <p:grpSpPr>
          <a:xfrm rot="0">
            <a:off x="9299448" y="6515100"/>
            <a:ext cx="8161020" cy="2743200"/>
            <a:chOff x="0" y="0"/>
            <a:chExt cx="10881360" cy="3657600"/>
          </a:xfrm>
        </p:grpSpPr>
        <p:sp>
          <p:nvSpPr>
            <p:cNvPr name="Freeform 59" id="59"/>
            <p:cNvSpPr/>
            <p:nvPr/>
          </p:nvSpPr>
          <p:spPr>
            <a:xfrm flipH="false" flipV="false" rot="0">
              <a:off x="0" y="0"/>
              <a:ext cx="10881360" cy="3657600"/>
            </a:xfrm>
            <a:custGeom>
              <a:avLst/>
              <a:gdLst/>
              <a:ahLst/>
              <a:cxnLst/>
              <a:rect r="r" b="b" t="t" l="l"/>
              <a:pathLst>
                <a:path h="3657600" w="10881360">
                  <a:moveTo>
                    <a:pt x="0" y="182880"/>
                  </a:moveTo>
                  <a:cubicBezTo>
                    <a:pt x="0" y="81915"/>
                    <a:pt x="81915" y="0"/>
                    <a:pt x="182880" y="0"/>
                  </a:cubicBezTo>
                  <a:lnTo>
                    <a:pt x="10698480" y="0"/>
                  </a:lnTo>
                  <a:cubicBezTo>
                    <a:pt x="10799445" y="0"/>
                    <a:pt x="10881360" y="81915"/>
                    <a:pt x="10881360" y="182880"/>
                  </a:cubicBezTo>
                  <a:lnTo>
                    <a:pt x="10881360" y="3474720"/>
                  </a:lnTo>
                  <a:cubicBezTo>
                    <a:pt x="10881360" y="3575685"/>
                    <a:pt x="10799445" y="3657600"/>
                    <a:pt x="10698480" y="3657600"/>
                  </a:cubicBezTo>
                  <a:lnTo>
                    <a:pt x="182880" y="3657600"/>
                  </a:lnTo>
                  <a:cubicBezTo>
                    <a:pt x="81915" y="3657600"/>
                    <a:pt x="0" y="3575685"/>
                    <a:pt x="0" y="3474720"/>
                  </a:cubicBezTo>
                  <a:close/>
                </a:path>
              </a:pathLst>
            </a:custGeom>
            <a:solidFill>
              <a:srgbClr val="FFF1BF"/>
            </a:solidFill>
          </p:spPr>
        </p:sp>
      </p:grpSp>
      <p:sp>
        <p:nvSpPr>
          <p:cNvPr name="TextBox 60" id="60"/>
          <p:cNvSpPr txBox="true"/>
          <p:nvPr/>
        </p:nvSpPr>
        <p:spPr>
          <a:xfrm rot="0">
            <a:off x="9710928" y="6644640"/>
            <a:ext cx="74066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Kebutuhan lahan dari insentif diserap konservasi</a:t>
            </a:r>
          </a:p>
        </p:txBody>
      </p:sp>
      <p:sp>
        <p:nvSpPr>
          <p:cNvPr name="TextBox 61" id="61"/>
          <p:cNvSpPr txBox="true"/>
          <p:nvPr/>
        </p:nvSpPr>
        <p:spPr>
          <a:xfrm rot="0">
            <a:off x="9710928" y="7330440"/>
            <a:ext cx="7406640" cy="1859280"/>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Interaksi −57,6 ha menetralkan +57,6 ha dari insentif: Sustainable menihilkan konversi lahan pariwisata tanpa kehilangan pertumbuhan ekonomi → portofolio kebijakan dapat dirancang modular.</a:t>
            </a:r>
          </a:p>
        </p:txBody>
      </p:sp>
      <p:sp>
        <p:nvSpPr>
          <p:cNvPr name="TextBox 62" id="6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60</a:t>
            </a:r>
          </a:p>
        </p:txBody>
      </p:sp>
      <p:sp>
        <p:nvSpPr>
          <p:cNvPr id="63" name="TextBox 62"/>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
        <p:nvSpPr>
          <p:cNvPr id="64"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4.8.5 · Kekokohan Peringkat Skenario</a:t>
            </a:r>
          </a:p>
          <a:p>
            <a:pPr algn="l">
              <a:lnSpc>
                <a:spcPct val="100000"/>
              </a:lnSpc>
            </a:pPr>
            <a:r>
              <a:rPr lang="en-US" sz="3500" b="true">
                <a:solidFill>
                  <a:srgbClr val="0B5E6E"/>
                </a:solidFill>
                <a:latin typeface="Calibri (MS) Bold"/>
                <a:ea typeface="Calibri (MS) Bold"/>
                <a:cs typeface="Calibri (MS) Bold"/>
                <a:sym typeface="Calibri (MS) Bold"/>
              </a:rPr>
              <a:t>Peringkat skenario tidak berubah pada tujuh kondisi parameter</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304288"/>
            <a:ext cx="16637508" cy="1069848"/>
            <a:chOff x="0" y="0"/>
            <a:chExt cx="22183344" cy="1426464"/>
          </a:xfrm>
        </p:grpSpPr>
        <p:sp>
          <p:nvSpPr>
            <p:cNvPr name="Freeform 53" id="53"/>
            <p:cNvSpPr/>
            <p:nvPr/>
          </p:nvSpPr>
          <p:spPr>
            <a:xfrm flipH="false" flipV="false" rot="0">
              <a:off x="0" y="0"/>
              <a:ext cx="22183344" cy="1426464"/>
            </a:xfrm>
            <a:custGeom>
              <a:avLst/>
              <a:gdLst/>
              <a:ahLst/>
              <a:cxnLst/>
              <a:rect r="r" b="b" t="t" l="l"/>
              <a:pathLst>
                <a:path h="1426464" w="22183344">
                  <a:moveTo>
                    <a:pt x="0" y="182880"/>
                  </a:moveTo>
                  <a:cubicBezTo>
                    <a:pt x="0" y="81915"/>
                    <a:pt x="81915" y="0"/>
                    <a:pt x="182880" y="0"/>
                  </a:cubicBezTo>
                  <a:lnTo>
                    <a:pt x="22000463" y="0"/>
                  </a:lnTo>
                  <a:cubicBezTo>
                    <a:pt x="22101428" y="0"/>
                    <a:pt x="22183344" y="81915"/>
                    <a:pt x="22183344" y="182880"/>
                  </a:cubicBezTo>
                  <a:lnTo>
                    <a:pt x="22183344" y="1243584"/>
                  </a:lnTo>
                  <a:cubicBezTo>
                    <a:pt x="22183344" y="1344549"/>
                    <a:pt x="22101428" y="1426464"/>
                    <a:pt x="22000463" y="1426464"/>
                  </a:cubicBezTo>
                  <a:lnTo>
                    <a:pt x="182880" y="1426464"/>
                  </a:lnTo>
                  <a:cubicBezTo>
                    <a:pt x="81915" y="1426464"/>
                    <a:pt x="0" y="1344549"/>
                    <a:pt x="0" y="1243584"/>
                  </a:cubicBezTo>
                  <a:close/>
                </a:path>
              </a:pathLst>
            </a:custGeom>
            <a:solidFill>
              <a:srgbClr val="EAF8FA"/>
            </a:solidFill>
          </p:spPr>
        </p:sp>
      </p:grpSp>
      <p:grpSp>
        <p:nvGrpSpPr>
          <p:cNvPr name="Group 54" id="54"/>
          <p:cNvGrpSpPr/>
          <p:nvPr/>
        </p:nvGrpSpPr>
        <p:grpSpPr>
          <a:xfrm rot="0">
            <a:off x="1165860" y="2304288"/>
            <a:ext cx="15951708" cy="1069848"/>
            <a:chOff x="0" y="0"/>
            <a:chExt cx="21268944" cy="1426464"/>
          </a:xfrm>
        </p:grpSpPr>
        <p:sp>
          <p:nvSpPr>
            <p:cNvPr name="Freeform 55" id="55"/>
            <p:cNvSpPr/>
            <p:nvPr/>
          </p:nvSpPr>
          <p:spPr>
            <a:xfrm flipH="false" flipV="false" rot="0">
              <a:off x="0" y="0"/>
              <a:ext cx="21268944" cy="1426464"/>
            </a:xfrm>
            <a:custGeom>
              <a:avLst/>
              <a:gdLst/>
              <a:ahLst/>
              <a:cxnLst/>
              <a:rect r="r" b="b" t="t" l="l"/>
              <a:pathLst>
                <a:path h="1426464" w="21268944">
                  <a:moveTo>
                    <a:pt x="0" y="0"/>
                  </a:moveTo>
                  <a:lnTo>
                    <a:pt x="21268944" y="0"/>
                  </a:lnTo>
                  <a:lnTo>
                    <a:pt x="21268944" y="1426464"/>
                  </a:lnTo>
                  <a:lnTo>
                    <a:pt x="0" y="1426464"/>
                  </a:lnTo>
                  <a:close/>
                </a:path>
              </a:pathLst>
            </a:custGeom>
            <a:blipFill>
              <a:blip r:embed="rId4">
                <a:alphaModFix amt="0"/>
              </a:blip>
              <a:stretch>
                <a:fillRect l="0" t="-240324" r="0" b="-240324"/>
              </a:stretch>
            </a:blipFill>
          </p:spPr>
        </p:sp>
      </p:grpSp>
      <p:grpSp>
        <p:nvGrpSpPr>
          <p:cNvPr name="Group 56" id="56"/>
          <p:cNvGrpSpPr/>
          <p:nvPr/>
        </p:nvGrpSpPr>
        <p:grpSpPr>
          <a:xfrm rot="0">
            <a:off x="1165860" y="2275713"/>
            <a:ext cx="15951708" cy="1098423"/>
            <a:chOff x="0" y="0"/>
            <a:chExt cx="21268944" cy="1464564"/>
          </a:xfrm>
        </p:grpSpPr>
        <p:sp>
          <p:nvSpPr>
            <p:cNvPr name="Freeform 57" id="57"/>
            <p:cNvSpPr/>
            <p:nvPr/>
          </p:nvSpPr>
          <p:spPr>
            <a:xfrm flipH="false" flipV="false" rot="0">
              <a:off x="0" y="0"/>
              <a:ext cx="21268944" cy="1464564"/>
            </a:xfrm>
            <a:custGeom>
              <a:avLst/>
              <a:gdLst/>
              <a:ahLst/>
              <a:cxnLst/>
              <a:rect r="r" b="b" t="t" l="l"/>
              <a:pathLst>
                <a:path h="1464564" w="21268944">
                  <a:moveTo>
                    <a:pt x="0" y="0"/>
                  </a:moveTo>
                  <a:lnTo>
                    <a:pt x="21268944" y="0"/>
                  </a:lnTo>
                  <a:lnTo>
                    <a:pt x="21268944" y="1464564"/>
                  </a:lnTo>
                  <a:lnTo>
                    <a:pt x="0" y="1464564"/>
                  </a:lnTo>
                  <a:close/>
                </a:path>
              </a:pathLst>
            </a:custGeom>
            <a:blipFill>
              <a:blip r:embed="rId5">
                <a:alphaModFix amt="0"/>
              </a:blip>
              <a:stretch>
                <a:fillRect l="0" t="-232968" r="0" b="-232968"/>
              </a:stretch>
            </a:blipFill>
          </p:spPr>
        </p:sp>
        <p:sp>
          <p:nvSpPr>
            <p:cNvPr name="TextBox 58" id="58"/>
            <p:cNvSpPr txBox="true"/>
            <p:nvPr/>
          </p:nvSpPr>
          <p:spPr>
            <a:xfrm>
              <a:off x="0" y="-38100"/>
              <a:ext cx="21268944" cy="1502664"/>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Uji: 3 skenario × 7 kondisi — C0 (acuan) + C1–C6 yang menggeser rasio LPD/LPE (0,65; 0,90), bobot daya tarik (2 kombinasi alternatif), dan laju konversi dasar (batas selang kepercayaan 95%).</a:t>
              </a:r>
            </a:p>
          </p:txBody>
        </p:sp>
      </p:grpSp>
      <p:sp>
        <p:nvSpPr>
          <p:cNvPr name="TextBox 59" id="59"/>
          <p:cNvSpPr txBox="true"/>
          <p:nvPr/>
        </p:nvSpPr>
        <p:spPr>
          <a:xfrm rot="0">
            <a:off x="960120" y="3462528"/>
            <a:ext cx="5486400" cy="487680"/>
          </a:xfrm>
          <a:prstGeom prst="rect">
            <a:avLst/>
          </a:prstGeom>
        </p:spPr>
        <p:txBody>
          <a:bodyPr anchor="t" rtlCol="false" tIns="0" lIns="0" bIns="0" rIns="0">
            <a:spAutoFit/>
          </a:bodyPr>
          <a:lstStyle/>
          <a:p>
            <a:pPr algn="l">
              <a:lnSpc>
                <a:spcPts val="2070"/>
              </a:lnSpc>
            </a:pPr>
            <a:r>
              <a:rPr lang="en-US" sz="1725" b="true">
                <a:solidFill>
                  <a:srgbClr val="5E6E78"/>
                </a:solidFill>
                <a:latin typeface="Calibri (MS) Bold"/>
                <a:ea typeface="Calibri (MS) Bold"/>
                <a:cs typeface="Calibri (MS) Bold"/>
                <a:sym typeface="Calibri (MS) Bold"/>
              </a:rPr>
              <a:t>Indikator</a:t>
            </a:r>
          </a:p>
        </p:txBody>
      </p:sp>
      <p:sp>
        <p:nvSpPr>
          <p:cNvPr name="TextBox 60" id="60"/>
          <p:cNvSpPr txBox="true"/>
          <p:nvPr/>
        </p:nvSpPr>
        <p:spPr>
          <a:xfrm rot="0">
            <a:off x="6858000" y="3462528"/>
            <a:ext cx="8229600" cy="487680"/>
          </a:xfrm>
          <a:prstGeom prst="rect">
            <a:avLst/>
          </a:prstGeom>
        </p:spPr>
        <p:txBody>
          <a:bodyPr anchor="t" rtlCol="false" tIns="0" lIns="0" bIns="0" rIns="0">
            <a:spAutoFit/>
          </a:bodyPr>
          <a:lstStyle/>
          <a:p>
            <a:pPr algn="l">
              <a:lnSpc>
                <a:spcPts val="2070"/>
              </a:lnSpc>
            </a:pPr>
            <a:r>
              <a:rPr lang="en-US" sz="1725" b="true">
                <a:solidFill>
                  <a:srgbClr val="5E6E78"/>
                </a:solidFill>
                <a:latin typeface="Calibri (MS) Bold"/>
                <a:ea typeface="Calibri (MS) Bold"/>
                <a:cs typeface="Calibri (MS) Bold"/>
                <a:sym typeface="Calibri (MS) Bold"/>
              </a:rPr>
              <a:t>Urutan dari terbaik ke terburuk — identik pada C0–C6</a:t>
            </a:r>
          </a:p>
        </p:txBody>
      </p:sp>
      <p:grpSp>
        <p:nvGrpSpPr>
          <p:cNvPr name="Group 61" id="61"/>
          <p:cNvGrpSpPr/>
          <p:nvPr/>
        </p:nvGrpSpPr>
        <p:grpSpPr>
          <a:xfrm rot="0">
            <a:off x="822960" y="4005072"/>
            <a:ext cx="16637508" cy="576072"/>
            <a:chOff x="0" y="0"/>
            <a:chExt cx="22183344" cy="768096"/>
          </a:xfrm>
        </p:grpSpPr>
        <p:sp>
          <p:nvSpPr>
            <p:cNvPr name="Freeform 62" id="62"/>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EAF8FA"/>
            </a:solidFill>
          </p:spPr>
        </p:sp>
      </p:grpSp>
      <p:grpSp>
        <p:nvGrpSpPr>
          <p:cNvPr name="Group 63" id="63"/>
          <p:cNvGrpSpPr/>
          <p:nvPr/>
        </p:nvGrpSpPr>
        <p:grpSpPr>
          <a:xfrm rot="0">
            <a:off x="1097280" y="4005072"/>
            <a:ext cx="5486400" cy="576072"/>
            <a:chOff x="0" y="0"/>
            <a:chExt cx="7315200" cy="768096"/>
          </a:xfrm>
        </p:grpSpPr>
        <p:sp>
          <p:nvSpPr>
            <p:cNvPr name="Freeform 64" id="64"/>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65" id="65"/>
          <p:cNvGrpSpPr/>
          <p:nvPr/>
        </p:nvGrpSpPr>
        <p:grpSpPr>
          <a:xfrm rot="0">
            <a:off x="1097280" y="3969353"/>
            <a:ext cx="5486400" cy="611791"/>
            <a:chOff x="0" y="0"/>
            <a:chExt cx="7315200" cy="815721"/>
          </a:xfrm>
        </p:grpSpPr>
        <p:sp>
          <p:nvSpPr>
            <p:cNvPr name="Freeform 66" id="66"/>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67" id="67"/>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Lapangan kerja pariwisata</a:t>
              </a:r>
            </a:p>
          </p:txBody>
        </p:sp>
      </p:grpSp>
      <p:grpSp>
        <p:nvGrpSpPr>
          <p:cNvPr name="Group 68" id="68"/>
          <p:cNvGrpSpPr/>
          <p:nvPr/>
        </p:nvGrpSpPr>
        <p:grpSpPr>
          <a:xfrm rot="0">
            <a:off x="6858000" y="4073652"/>
            <a:ext cx="2880360" cy="438912"/>
            <a:chOff x="0" y="0"/>
            <a:chExt cx="3840480" cy="585216"/>
          </a:xfrm>
        </p:grpSpPr>
        <p:sp>
          <p:nvSpPr>
            <p:cNvPr name="Freeform 69" id="69"/>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70" id="70"/>
          <p:cNvGrpSpPr/>
          <p:nvPr/>
        </p:nvGrpSpPr>
        <p:grpSpPr>
          <a:xfrm rot="0">
            <a:off x="6858000" y="4073652"/>
            <a:ext cx="2880360" cy="438912"/>
            <a:chOff x="0" y="0"/>
            <a:chExt cx="3840480" cy="585216"/>
          </a:xfrm>
        </p:grpSpPr>
        <p:sp>
          <p:nvSpPr>
            <p:cNvPr name="Freeform 71" id="71"/>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72" id="72"/>
          <p:cNvGrpSpPr/>
          <p:nvPr/>
        </p:nvGrpSpPr>
        <p:grpSpPr>
          <a:xfrm rot="0">
            <a:off x="6858000" y="4045077"/>
            <a:ext cx="2880360" cy="467487"/>
            <a:chOff x="0" y="0"/>
            <a:chExt cx="3840480" cy="623316"/>
          </a:xfrm>
        </p:grpSpPr>
        <p:sp>
          <p:nvSpPr>
            <p:cNvPr name="Freeform 73" id="73"/>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74" id="74"/>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75" id="75"/>
          <p:cNvGrpSpPr/>
          <p:nvPr/>
        </p:nvGrpSpPr>
        <p:grpSpPr>
          <a:xfrm rot="0">
            <a:off x="9738360" y="4005072"/>
            <a:ext cx="342900" cy="576072"/>
            <a:chOff x="0" y="0"/>
            <a:chExt cx="457200" cy="768096"/>
          </a:xfrm>
        </p:grpSpPr>
        <p:sp>
          <p:nvSpPr>
            <p:cNvPr name="Freeform 76" id="76"/>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77" id="77"/>
          <p:cNvGrpSpPr/>
          <p:nvPr/>
        </p:nvGrpSpPr>
        <p:grpSpPr>
          <a:xfrm rot="0">
            <a:off x="9738360" y="3969353"/>
            <a:ext cx="342900" cy="611791"/>
            <a:chOff x="0" y="0"/>
            <a:chExt cx="457200" cy="815721"/>
          </a:xfrm>
        </p:grpSpPr>
        <p:sp>
          <p:nvSpPr>
            <p:cNvPr name="Freeform 78" id="78"/>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79" id="79"/>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80" id="80"/>
          <p:cNvGrpSpPr/>
          <p:nvPr/>
        </p:nvGrpSpPr>
        <p:grpSpPr>
          <a:xfrm rot="0">
            <a:off x="10081260" y="4073652"/>
            <a:ext cx="2880360" cy="438912"/>
            <a:chOff x="0" y="0"/>
            <a:chExt cx="3840480" cy="585216"/>
          </a:xfrm>
        </p:grpSpPr>
        <p:sp>
          <p:nvSpPr>
            <p:cNvPr name="Freeform 81" id="81"/>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82" id="82"/>
          <p:cNvGrpSpPr/>
          <p:nvPr/>
        </p:nvGrpSpPr>
        <p:grpSpPr>
          <a:xfrm rot="0">
            <a:off x="10081260" y="4073652"/>
            <a:ext cx="2880360" cy="438912"/>
            <a:chOff x="0" y="0"/>
            <a:chExt cx="3840480" cy="585216"/>
          </a:xfrm>
        </p:grpSpPr>
        <p:sp>
          <p:nvSpPr>
            <p:cNvPr name="Freeform 83" id="83"/>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84" id="84"/>
          <p:cNvGrpSpPr/>
          <p:nvPr/>
        </p:nvGrpSpPr>
        <p:grpSpPr>
          <a:xfrm rot="0">
            <a:off x="10081260" y="4045077"/>
            <a:ext cx="2880360" cy="467487"/>
            <a:chOff x="0" y="0"/>
            <a:chExt cx="3840480" cy="623316"/>
          </a:xfrm>
        </p:grpSpPr>
        <p:sp>
          <p:nvSpPr>
            <p:cNvPr name="Freeform 85" id="85"/>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86" id="86"/>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87" id="87"/>
          <p:cNvGrpSpPr/>
          <p:nvPr/>
        </p:nvGrpSpPr>
        <p:grpSpPr>
          <a:xfrm rot="0">
            <a:off x="12961620" y="4005072"/>
            <a:ext cx="342900" cy="576072"/>
            <a:chOff x="0" y="0"/>
            <a:chExt cx="457200" cy="768096"/>
          </a:xfrm>
        </p:grpSpPr>
        <p:sp>
          <p:nvSpPr>
            <p:cNvPr name="Freeform 88" id="88"/>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89" id="89"/>
          <p:cNvGrpSpPr/>
          <p:nvPr/>
        </p:nvGrpSpPr>
        <p:grpSpPr>
          <a:xfrm rot="0">
            <a:off x="12961620" y="3969353"/>
            <a:ext cx="342900" cy="611791"/>
            <a:chOff x="0" y="0"/>
            <a:chExt cx="457200" cy="815721"/>
          </a:xfrm>
        </p:grpSpPr>
        <p:sp>
          <p:nvSpPr>
            <p:cNvPr name="Freeform 90" id="90"/>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91" id="91"/>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92" id="92"/>
          <p:cNvGrpSpPr/>
          <p:nvPr/>
        </p:nvGrpSpPr>
        <p:grpSpPr>
          <a:xfrm rot="0">
            <a:off x="13304520" y="4073652"/>
            <a:ext cx="2880360" cy="438912"/>
            <a:chOff x="0" y="0"/>
            <a:chExt cx="3840480" cy="585216"/>
          </a:xfrm>
        </p:grpSpPr>
        <p:sp>
          <p:nvSpPr>
            <p:cNvPr name="Freeform 93" id="93"/>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94" id="94"/>
          <p:cNvGrpSpPr/>
          <p:nvPr/>
        </p:nvGrpSpPr>
        <p:grpSpPr>
          <a:xfrm rot="0">
            <a:off x="13304520" y="4073652"/>
            <a:ext cx="2880360" cy="438912"/>
            <a:chOff x="0" y="0"/>
            <a:chExt cx="3840480" cy="585216"/>
          </a:xfrm>
        </p:grpSpPr>
        <p:sp>
          <p:nvSpPr>
            <p:cNvPr name="Freeform 95" id="95"/>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96" id="96"/>
          <p:cNvGrpSpPr/>
          <p:nvPr/>
        </p:nvGrpSpPr>
        <p:grpSpPr>
          <a:xfrm rot="0">
            <a:off x="13304520" y="4045077"/>
            <a:ext cx="2880360" cy="467487"/>
            <a:chOff x="0" y="0"/>
            <a:chExt cx="3840480" cy="623316"/>
          </a:xfrm>
        </p:grpSpPr>
        <p:sp>
          <p:nvSpPr>
            <p:cNvPr name="Freeform 97" id="97"/>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98" id="98"/>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99" id="99"/>
          <p:cNvGrpSpPr/>
          <p:nvPr/>
        </p:nvGrpSpPr>
        <p:grpSpPr>
          <a:xfrm rot="0">
            <a:off x="16390620" y="4087368"/>
            <a:ext cx="891540" cy="411480"/>
            <a:chOff x="0" y="0"/>
            <a:chExt cx="1188720" cy="548640"/>
          </a:xfrm>
        </p:grpSpPr>
        <p:sp>
          <p:nvSpPr>
            <p:cNvPr name="Freeform 100" id="100"/>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101" id="101"/>
          <p:cNvGrpSpPr/>
          <p:nvPr/>
        </p:nvGrpSpPr>
        <p:grpSpPr>
          <a:xfrm rot="0">
            <a:off x="16390620" y="4087368"/>
            <a:ext cx="891540" cy="411480"/>
            <a:chOff x="0" y="0"/>
            <a:chExt cx="1188720" cy="548640"/>
          </a:xfrm>
        </p:grpSpPr>
        <p:sp>
          <p:nvSpPr>
            <p:cNvPr name="Freeform 102" id="102"/>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103" id="103"/>
          <p:cNvGrpSpPr/>
          <p:nvPr/>
        </p:nvGrpSpPr>
        <p:grpSpPr>
          <a:xfrm rot="0">
            <a:off x="16390620" y="4058793"/>
            <a:ext cx="891540" cy="440055"/>
            <a:chOff x="0" y="0"/>
            <a:chExt cx="1188720" cy="586740"/>
          </a:xfrm>
        </p:grpSpPr>
        <p:sp>
          <p:nvSpPr>
            <p:cNvPr name="Freeform 104" id="104"/>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105" id="105"/>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106" id="106"/>
          <p:cNvGrpSpPr/>
          <p:nvPr/>
        </p:nvGrpSpPr>
        <p:grpSpPr>
          <a:xfrm rot="0">
            <a:off x="822960" y="4649724"/>
            <a:ext cx="16637508" cy="576072"/>
            <a:chOff x="0" y="0"/>
            <a:chExt cx="22183344" cy="768096"/>
          </a:xfrm>
        </p:grpSpPr>
        <p:sp>
          <p:nvSpPr>
            <p:cNvPr name="Freeform 107" id="107"/>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FFFFFF"/>
            </a:solidFill>
          </p:spPr>
        </p:sp>
      </p:grpSp>
      <p:grpSp>
        <p:nvGrpSpPr>
          <p:cNvPr name="Group 108" id="108"/>
          <p:cNvGrpSpPr/>
          <p:nvPr/>
        </p:nvGrpSpPr>
        <p:grpSpPr>
          <a:xfrm rot="0">
            <a:off x="1097280" y="4649724"/>
            <a:ext cx="5486400" cy="576072"/>
            <a:chOff x="0" y="0"/>
            <a:chExt cx="7315200" cy="768096"/>
          </a:xfrm>
        </p:grpSpPr>
        <p:sp>
          <p:nvSpPr>
            <p:cNvPr name="Freeform 109" id="109"/>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110" id="110"/>
          <p:cNvGrpSpPr/>
          <p:nvPr/>
        </p:nvGrpSpPr>
        <p:grpSpPr>
          <a:xfrm rot="0">
            <a:off x="1097280" y="4614005"/>
            <a:ext cx="5486400" cy="611791"/>
            <a:chOff x="0" y="0"/>
            <a:chExt cx="7315200" cy="815721"/>
          </a:xfrm>
        </p:grpSpPr>
        <p:sp>
          <p:nvSpPr>
            <p:cNvPr name="Freeform 111" id="111"/>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112" id="112"/>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PDRB pariwisata</a:t>
              </a:r>
            </a:p>
          </p:txBody>
        </p:sp>
      </p:grpSp>
      <p:grpSp>
        <p:nvGrpSpPr>
          <p:cNvPr name="Group 113" id="113"/>
          <p:cNvGrpSpPr/>
          <p:nvPr/>
        </p:nvGrpSpPr>
        <p:grpSpPr>
          <a:xfrm rot="0">
            <a:off x="6858000" y="4718304"/>
            <a:ext cx="2880360" cy="438912"/>
            <a:chOff x="0" y="0"/>
            <a:chExt cx="3840480" cy="585216"/>
          </a:xfrm>
        </p:grpSpPr>
        <p:sp>
          <p:nvSpPr>
            <p:cNvPr name="Freeform 114" id="114"/>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115" id="115"/>
          <p:cNvGrpSpPr/>
          <p:nvPr/>
        </p:nvGrpSpPr>
        <p:grpSpPr>
          <a:xfrm rot="0">
            <a:off x="6858000" y="4718304"/>
            <a:ext cx="2880360" cy="438912"/>
            <a:chOff x="0" y="0"/>
            <a:chExt cx="3840480" cy="585216"/>
          </a:xfrm>
        </p:grpSpPr>
        <p:sp>
          <p:nvSpPr>
            <p:cNvPr name="Freeform 116" id="116"/>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117" id="117"/>
          <p:cNvGrpSpPr/>
          <p:nvPr/>
        </p:nvGrpSpPr>
        <p:grpSpPr>
          <a:xfrm rot="0">
            <a:off x="6858000" y="4689729"/>
            <a:ext cx="2880360" cy="467487"/>
            <a:chOff x="0" y="0"/>
            <a:chExt cx="3840480" cy="623316"/>
          </a:xfrm>
        </p:grpSpPr>
        <p:sp>
          <p:nvSpPr>
            <p:cNvPr name="Freeform 118" id="118"/>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119" id="119"/>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120" id="120"/>
          <p:cNvGrpSpPr/>
          <p:nvPr/>
        </p:nvGrpSpPr>
        <p:grpSpPr>
          <a:xfrm rot="0">
            <a:off x="9738360" y="4649724"/>
            <a:ext cx="342900" cy="576072"/>
            <a:chOff x="0" y="0"/>
            <a:chExt cx="457200" cy="768096"/>
          </a:xfrm>
        </p:grpSpPr>
        <p:sp>
          <p:nvSpPr>
            <p:cNvPr name="Freeform 121" id="121"/>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122" id="122"/>
          <p:cNvGrpSpPr/>
          <p:nvPr/>
        </p:nvGrpSpPr>
        <p:grpSpPr>
          <a:xfrm rot="0">
            <a:off x="9738360" y="4614005"/>
            <a:ext cx="342900" cy="611791"/>
            <a:chOff x="0" y="0"/>
            <a:chExt cx="457200" cy="815721"/>
          </a:xfrm>
        </p:grpSpPr>
        <p:sp>
          <p:nvSpPr>
            <p:cNvPr name="Freeform 123" id="123"/>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124" id="124"/>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125" id="125"/>
          <p:cNvGrpSpPr/>
          <p:nvPr/>
        </p:nvGrpSpPr>
        <p:grpSpPr>
          <a:xfrm rot="0">
            <a:off x="10081260" y="4718304"/>
            <a:ext cx="2880360" cy="438912"/>
            <a:chOff x="0" y="0"/>
            <a:chExt cx="3840480" cy="585216"/>
          </a:xfrm>
        </p:grpSpPr>
        <p:sp>
          <p:nvSpPr>
            <p:cNvPr name="Freeform 126" id="126"/>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127" id="127"/>
          <p:cNvGrpSpPr/>
          <p:nvPr/>
        </p:nvGrpSpPr>
        <p:grpSpPr>
          <a:xfrm rot="0">
            <a:off x="10081260" y="4718304"/>
            <a:ext cx="2880360" cy="438912"/>
            <a:chOff x="0" y="0"/>
            <a:chExt cx="3840480" cy="585216"/>
          </a:xfrm>
        </p:grpSpPr>
        <p:sp>
          <p:nvSpPr>
            <p:cNvPr name="Freeform 128" id="128"/>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129" id="129"/>
          <p:cNvGrpSpPr/>
          <p:nvPr/>
        </p:nvGrpSpPr>
        <p:grpSpPr>
          <a:xfrm rot="0">
            <a:off x="10081260" y="4689729"/>
            <a:ext cx="2880360" cy="467487"/>
            <a:chOff x="0" y="0"/>
            <a:chExt cx="3840480" cy="623316"/>
          </a:xfrm>
        </p:grpSpPr>
        <p:sp>
          <p:nvSpPr>
            <p:cNvPr name="Freeform 130" id="130"/>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131" id="131"/>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132" id="132"/>
          <p:cNvGrpSpPr/>
          <p:nvPr/>
        </p:nvGrpSpPr>
        <p:grpSpPr>
          <a:xfrm rot="0">
            <a:off x="12961620" y="4649724"/>
            <a:ext cx="342900" cy="576072"/>
            <a:chOff x="0" y="0"/>
            <a:chExt cx="457200" cy="768096"/>
          </a:xfrm>
        </p:grpSpPr>
        <p:sp>
          <p:nvSpPr>
            <p:cNvPr name="Freeform 133" id="133"/>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134" id="134"/>
          <p:cNvGrpSpPr/>
          <p:nvPr/>
        </p:nvGrpSpPr>
        <p:grpSpPr>
          <a:xfrm rot="0">
            <a:off x="12961620" y="4614005"/>
            <a:ext cx="342900" cy="611791"/>
            <a:chOff x="0" y="0"/>
            <a:chExt cx="457200" cy="815721"/>
          </a:xfrm>
        </p:grpSpPr>
        <p:sp>
          <p:nvSpPr>
            <p:cNvPr name="Freeform 135" id="135"/>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136" id="136"/>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137" id="137"/>
          <p:cNvGrpSpPr/>
          <p:nvPr/>
        </p:nvGrpSpPr>
        <p:grpSpPr>
          <a:xfrm rot="0">
            <a:off x="13304520" y="4718304"/>
            <a:ext cx="2880360" cy="438912"/>
            <a:chOff x="0" y="0"/>
            <a:chExt cx="3840480" cy="585216"/>
          </a:xfrm>
        </p:grpSpPr>
        <p:sp>
          <p:nvSpPr>
            <p:cNvPr name="Freeform 138" id="138"/>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139" id="139"/>
          <p:cNvGrpSpPr/>
          <p:nvPr/>
        </p:nvGrpSpPr>
        <p:grpSpPr>
          <a:xfrm rot="0">
            <a:off x="13304520" y="4718304"/>
            <a:ext cx="2880360" cy="438912"/>
            <a:chOff x="0" y="0"/>
            <a:chExt cx="3840480" cy="585216"/>
          </a:xfrm>
        </p:grpSpPr>
        <p:sp>
          <p:nvSpPr>
            <p:cNvPr name="Freeform 140" id="140"/>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141" id="141"/>
          <p:cNvGrpSpPr/>
          <p:nvPr/>
        </p:nvGrpSpPr>
        <p:grpSpPr>
          <a:xfrm rot="0">
            <a:off x="13304520" y="4689729"/>
            <a:ext cx="2880360" cy="467487"/>
            <a:chOff x="0" y="0"/>
            <a:chExt cx="3840480" cy="623316"/>
          </a:xfrm>
        </p:grpSpPr>
        <p:sp>
          <p:nvSpPr>
            <p:cNvPr name="Freeform 142" id="142"/>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143" id="143"/>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144" id="144"/>
          <p:cNvGrpSpPr/>
          <p:nvPr/>
        </p:nvGrpSpPr>
        <p:grpSpPr>
          <a:xfrm rot="0">
            <a:off x="16390620" y="4732020"/>
            <a:ext cx="891540" cy="411480"/>
            <a:chOff x="0" y="0"/>
            <a:chExt cx="1188720" cy="548640"/>
          </a:xfrm>
        </p:grpSpPr>
        <p:sp>
          <p:nvSpPr>
            <p:cNvPr name="Freeform 145" id="145"/>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146" id="146"/>
          <p:cNvGrpSpPr/>
          <p:nvPr/>
        </p:nvGrpSpPr>
        <p:grpSpPr>
          <a:xfrm rot="0">
            <a:off x="16390620" y="4732020"/>
            <a:ext cx="891540" cy="411480"/>
            <a:chOff x="0" y="0"/>
            <a:chExt cx="1188720" cy="548640"/>
          </a:xfrm>
        </p:grpSpPr>
        <p:sp>
          <p:nvSpPr>
            <p:cNvPr name="Freeform 147" id="147"/>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148" id="148"/>
          <p:cNvGrpSpPr/>
          <p:nvPr/>
        </p:nvGrpSpPr>
        <p:grpSpPr>
          <a:xfrm rot="0">
            <a:off x="16390620" y="4703445"/>
            <a:ext cx="891540" cy="440055"/>
            <a:chOff x="0" y="0"/>
            <a:chExt cx="1188720" cy="586740"/>
          </a:xfrm>
        </p:grpSpPr>
        <p:sp>
          <p:nvSpPr>
            <p:cNvPr name="Freeform 149" id="149"/>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150" id="150"/>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151" id="151"/>
          <p:cNvGrpSpPr/>
          <p:nvPr/>
        </p:nvGrpSpPr>
        <p:grpSpPr>
          <a:xfrm rot="0">
            <a:off x="822960" y="5294376"/>
            <a:ext cx="16637508" cy="576072"/>
            <a:chOff x="0" y="0"/>
            <a:chExt cx="22183344" cy="768096"/>
          </a:xfrm>
        </p:grpSpPr>
        <p:sp>
          <p:nvSpPr>
            <p:cNvPr name="Freeform 152" id="152"/>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EAF8FA"/>
            </a:solidFill>
          </p:spPr>
        </p:sp>
      </p:grpSp>
      <p:grpSp>
        <p:nvGrpSpPr>
          <p:cNvPr name="Group 153" id="153"/>
          <p:cNvGrpSpPr/>
          <p:nvPr/>
        </p:nvGrpSpPr>
        <p:grpSpPr>
          <a:xfrm rot="0">
            <a:off x="1097280" y="5294376"/>
            <a:ext cx="5486400" cy="576072"/>
            <a:chOff x="0" y="0"/>
            <a:chExt cx="7315200" cy="768096"/>
          </a:xfrm>
        </p:grpSpPr>
        <p:sp>
          <p:nvSpPr>
            <p:cNvPr name="Freeform 154" id="154"/>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155" id="155"/>
          <p:cNvGrpSpPr/>
          <p:nvPr/>
        </p:nvGrpSpPr>
        <p:grpSpPr>
          <a:xfrm rot="0">
            <a:off x="1097280" y="5258657"/>
            <a:ext cx="5486400" cy="611791"/>
            <a:chOff x="0" y="0"/>
            <a:chExt cx="7315200" cy="815721"/>
          </a:xfrm>
        </p:grpSpPr>
        <p:sp>
          <p:nvSpPr>
            <p:cNvPr name="Freeform 156" id="156"/>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157" id="157"/>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Daya tarik destinasi</a:t>
              </a:r>
            </a:p>
          </p:txBody>
        </p:sp>
      </p:grpSp>
      <p:grpSp>
        <p:nvGrpSpPr>
          <p:cNvPr name="Group 158" id="158"/>
          <p:cNvGrpSpPr/>
          <p:nvPr/>
        </p:nvGrpSpPr>
        <p:grpSpPr>
          <a:xfrm rot="0">
            <a:off x="6858000" y="5362956"/>
            <a:ext cx="2880360" cy="438912"/>
            <a:chOff x="0" y="0"/>
            <a:chExt cx="3840480" cy="585216"/>
          </a:xfrm>
        </p:grpSpPr>
        <p:sp>
          <p:nvSpPr>
            <p:cNvPr name="Freeform 159" id="159"/>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160" id="160"/>
          <p:cNvGrpSpPr/>
          <p:nvPr/>
        </p:nvGrpSpPr>
        <p:grpSpPr>
          <a:xfrm rot="0">
            <a:off x="6858000" y="5362956"/>
            <a:ext cx="2880360" cy="438912"/>
            <a:chOff x="0" y="0"/>
            <a:chExt cx="3840480" cy="585216"/>
          </a:xfrm>
        </p:grpSpPr>
        <p:sp>
          <p:nvSpPr>
            <p:cNvPr name="Freeform 161" id="161"/>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162" id="162"/>
          <p:cNvGrpSpPr/>
          <p:nvPr/>
        </p:nvGrpSpPr>
        <p:grpSpPr>
          <a:xfrm rot="0">
            <a:off x="6858000" y="5334381"/>
            <a:ext cx="2880360" cy="467487"/>
            <a:chOff x="0" y="0"/>
            <a:chExt cx="3840480" cy="623316"/>
          </a:xfrm>
        </p:grpSpPr>
        <p:sp>
          <p:nvSpPr>
            <p:cNvPr name="Freeform 163" id="163"/>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164" id="164"/>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165" id="165"/>
          <p:cNvGrpSpPr/>
          <p:nvPr/>
        </p:nvGrpSpPr>
        <p:grpSpPr>
          <a:xfrm rot="0">
            <a:off x="9738360" y="5294376"/>
            <a:ext cx="342900" cy="576072"/>
            <a:chOff x="0" y="0"/>
            <a:chExt cx="457200" cy="768096"/>
          </a:xfrm>
        </p:grpSpPr>
        <p:sp>
          <p:nvSpPr>
            <p:cNvPr name="Freeform 166" id="166"/>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167" id="167"/>
          <p:cNvGrpSpPr/>
          <p:nvPr/>
        </p:nvGrpSpPr>
        <p:grpSpPr>
          <a:xfrm rot="0">
            <a:off x="9738360" y="5258657"/>
            <a:ext cx="342900" cy="611791"/>
            <a:chOff x="0" y="0"/>
            <a:chExt cx="457200" cy="815721"/>
          </a:xfrm>
        </p:grpSpPr>
        <p:sp>
          <p:nvSpPr>
            <p:cNvPr name="Freeform 168" id="168"/>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169" id="169"/>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170" id="170"/>
          <p:cNvGrpSpPr/>
          <p:nvPr/>
        </p:nvGrpSpPr>
        <p:grpSpPr>
          <a:xfrm rot="0">
            <a:off x="10081260" y="5362956"/>
            <a:ext cx="2880360" cy="438912"/>
            <a:chOff x="0" y="0"/>
            <a:chExt cx="3840480" cy="585216"/>
          </a:xfrm>
        </p:grpSpPr>
        <p:sp>
          <p:nvSpPr>
            <p:cNvPr name="Freeform 171" id="171"/>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172" id="172"/>
          <p:cNvGrpSpPr/>
          <p:nvPr/>
        </p:nvGrpSpPr>
        <p:grpSpPr>
          <a:xfrm rot="0">
            <a:off x="10081260" y="5362956"/>
            <a:ext cx="2880360" cy="438912"/>
            <a:chOff x="0" y="0"/>
            <a:chExt cx="3840480" cy="585216"/>
          </a:xfrm>
        </p:grpSpPr>
        <p:sp>
          <p:nvSpPr>
            <p:cNvPr name="Freeform 173" id="173"/>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174" id="174"/>
          <p:cNvGrpSpPr/>
          <p:nvPr/>
        </p:nvGrpSpPr>
        <p:grpSpPr>
          <a:xfrm rot="0">
            <a:off x="10081260" y="5334381"/>
            <a:ext cx="2880360" cy="467487"/>
            <a:chOff x="0" y="0"/>
            <a:chExt cx="3840480" cy="623316"/>
          </a:xfrm>
        </p:grpSpPr>
        <p:sp>
          <p:nvSpPr>
            <p:cNvPr name="Freeform 175" id="175"/>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176" id="176"/>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177" id="177"/>
          <p:cNvGrpSpPr/>
          <p:nvPr/>
        </p:nvGrpSpPr>
        <p:grpSpPr>
          <a:xfrm rot="0">
            <a:off x="12961620" y="5294376"/>
            <a:ext cx="342900" cy="576072"/>
            <a:chOff x="0" y="0"/>
            <a:chExt cx="457200" cy="768096"/>
          </a:xfrm>
        </p:grpSpPr>
        <p:sp>
          <p:nvSpPr>
            <p:cNvPr name="Freeform 178" id="178"/>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179" id="179"/>
          <p:cNvGrpSpPr/>
          <p:nvPr/>
        </p:nvGrpSpPr>
        <p:grpSpPr>
          <a:xfrm rot="0">
            <a:off x="12961620" y="5258657"/>
            <a:ext cx="342900" cy="611791"/>
            <a:chOff x="0" y="0"/>
            <a:chExt cx="457200" cy="815721"/>
          </a:xfrm>
        </p:grpSpPr>
        <p:sp>
          <p:nvSpPr>
            <p:cNvPr name="Freeform 180" id="180"/>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181" id="181"/>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182" id="182"/>
          <p:cNvGrpSpPr/>
          <p:nvPr/>
        </p:nvGrpSpPr>
        <p:grpSpPr>
          <a:xfrm rot="0">
            <a:off x="13304520" y="5362956"/>
            <a:ext cx="2880360" cy="438912"/>
            <a:chOff x="0" y="0"/>
            <a:chExt cx="3840480" cy="585216"/>
          </a:xfrm>
        </p:grpSpPr>
        <p:sp>
          <p:nvSpPr>
            <p:cNvPr name="Freeform 183" id="183"/>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184" id="184"/>
          <p:cNvGrpSpPr/>
          <p:nvPr/>
        </p:nvGrpSpPr>
        <p:grpSpPr>
          <a:xfrm rot="0">
            <a:off x="13304520" y="5362956"/>
            <a:ext cx="2880360" cy="438912"/>
            <a:chOff x="0" y="0"/>
            <a:chExt cx="3840480" cy="585216"/>
          </a:xfrm>
        </p:grpSpPr>
        <p:sp>
          <p:nvSpPr>
            <p:cNvPr name="Freeform 185" id="185"/>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186" id="186"/>
          <p:cNvGrpSpPr/>
          <p:nvPr/>
        </p:nvGrpSpPr>
        <p:grpSpPr>
          <a:xfrm rot="0">
            <a:off x="13304520" y="5334381"/>
            <a:ext cx="2880360" cy="467487"/>
            <a:chOff x="0" y="0"/>
            <a:chExt cx="3840480" cy="623316"/>
          </a:xfrm>
        </p:grpSpPr>
        <p:sp>
          <p:nvSpPr>
            <p:cNvPr name="Freeform 187" id="187"/>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188" id="188"/>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189" id="189"/>
          <p:cNvGrpSpPr/>
          <p:nvPr/>
        </p:nvGrpSpPr>
        <p:grpSpPr>
          <a:xfrm rot="0">
            <a:off x="16390620" y="5376672"/>
            <a:ext cx="891540" cy="411480"/>
            <a:chOff x="0" y="0"/>
            <a:chExt cx="1188720" cy="548640"/>
          </a:xfrm>
        </p:grpSpPr>
        <p:sp>
          <p:nvSpPr>
            <p:cNvPr name="Freeform 190" id="190"/>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191" id="191"/>
          <p:cNvGrpSpPr/>
          <p:nvPr/>
        </p:nvGrpSpPr>
        <p:grpSpPr>
          <a:xfrm rot="0">
            <a:off x="16390620" y="5376672"/>
            <a:ext cx="891540" cy="411480"/>
            <a:chOff x="0" y="0"/>
            <a:chExt cx="1188720" cy="548640"/>
          </a:xfrm>
        </p:grpSpPr>
        <p:sp>
          <p:nvSpPr>
            <p:cNvPr name="Freeform 192" id="192"/>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193" id="193"/>
          <p:cNvGrpSpPr/>
          <p:nvPr/>
        </p:nvGrpSpPr>
        <p:grpSpPr>
          <a:xfrm rot="0">
            <a:off x="16390620" y="5348097"/>
            <a:ext cx="891540" cy="440055"/>
            <a:chOff x="0" y="0"/>
            <a:chExt cx="1188720" cy="586740"/>
          </a:xfrm>
        </p:grpSpPr>
        <p:sp>
          <p:nvSpPr>
            <p:cNvPr name="Freeform 194" id="194"/>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195" id="195"/>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196" id="196"/>
          <p:cNvGrpSpPr/>
          <p:nvPr/>
        </p:nvGrpSpPr>
        <p:grpSpPr>
          <a:xfrm rot="0">
            <a:off x="822960" y="5939028"/>
            <a:ext cx="16637508" cy="576072"/>
            <a:chOff x="0" y="0"/>
            <a:chExt cx="22183344" cy="768096"/>
          </a:xfrm>
        </p:grpSpPr>
        <p:sp>
          <p:nvSpPr>
            <p:cNvPr name="Freeform 197" id="197"/>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FFFFFF"/>
            </a:solidFill>
          </p:spPr>
        </p:sp>
      </p:grpSp>
      <p:grpSp>
        <p:nvGrpSpPr>
          <p:cNvPr name="Group 198" id="198"/>
          <p:cNvGrpSpPr/>
          <p:nvPr/>
        </p:nvGrpSpPr>
        <p:grpSpPr>
          <a:xfrm rot="0">
            <a:off x="1097280" y="5939028"/>
            <a:ext cx="5486400" cy="576072"/>
            <a:chOff x="0" y="0"/>
            <a:chExt cx="7315200" cy="768096"/>
          </a:xfrm>
        </p:grpSpPr>
        <p:sp>
          <p:nvSpPr>
            <p:cNvPr name="Freeform 199" id="199"/>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200" id="200"/>
          <p:cNvGrpSpPr/>
          <p:nvPr/>
        </p:nvGrpSpPr>
        <p:grpSpPr>
          <a:xfrm rot="0">
            <a:off x="1097280" y="5903309"/>
            <a:ext cx="5486400" cy="611791"/>
            <a:chOff x="0" y="0"/>
            <a:chExt cx="7315200" cy="815721"/>
          </a:xfrm>
        </p:grpSpPr>
        <p:sp>
          <p:nvSpPr>
            <p:cNvPr name="Freeform 201" id="201"/>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202" id="202"/>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Rasio daya dukung lahan</a:t>
              </a:r>
            </a:p>
          </p:txBody>
        </p:sp>
      </p:grpSp>
      <p:grpSp>
        <p:nvGrpSpPr>
          <p:cNvPr name="Group 203" id="203"/>
          <p:cNvGrpSpPr/>
          <p:nvPr/>
        </p:nvGrpSpPr>
        <p:grpSpPr>
          <a:xfrm rot="0">
            <a:off x="6858000" y="6007608"/>
            <a:ext cx="2880360" cy="438912"/>
            <a:chOff x="0" y="0"/>
            <a:chExt cx="3840480" cy="585216"/>
          </a:xfrm>
        </p:grpSpPr>
        <p:sp>
          <p:nvSpPr>
            <p:cNvPr name="Freeform 204" id="204"/>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205" id="205"/>
          <p:cNvGrpSpPr/>
          <p:nvPr/>
        </p:nvGrpSpPr>
        <p:grpSpPr>
          <a:xfrm rot="0">
            <a:off x="6858000" y="6007608"/>
            <a:ext cx="2880360" cy="438912"/>
            <a:chOff x="0" y="0"/>
            <a:chExt cx="3840480" cy="585216"/>
          </a:xfrm>
        </p:grpSpPr>
        <p:sp>
          <p:nvSpPr>
            <p:cNvPr name="Freeform 206" id="206"/>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07" id="207"/>
          <p:cNvGrpSpPr/>
          <p:nvPr/>
        </p:nvGrpSpPr>
        <p:grpSpPr>
          <a:xfrm rot="0">
            <a:off x="6858000" y="5979033"/>
            <a:ext cx="2880360" cy="467487"/>
            <a:chOff x="0" y="0"/>
            <a:chExt cx="3840480" cy="623316"/>
          </a:xfrm>
        </p:grpSpPr>
        <p:sp>
          <p:nvSpPr>
            <p:cNvPr name="Freeform 208" id="208"/>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09" id="209"/>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210" id="210"/>
          <p:cNvGrpSpPr/>
          <p:nvPr/>
        </p:nvGrpSpPr>
        <p:grpSpPr>
          <a:xfrm rot="0">
            <a:off x="9738360" y="5939028"/>
            <a:ext cx="342900" cy="576072"/>
            <a:chOff x="0" y="0"/>
            <a:chExt cx="457200" cy="768096"/>
          </a:xfrm>
        </p:grpSpPr>
        <p:sp>
          <p:nvSpPr>
            <p:cNvPr name="Freeform 211" id="211"/>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212" id="212"/>
          <p:cNvGrpSpPr/>
          <p:nvPr/>
        </p:nvGrpSpPr>
        <p:grpSpPr>
          <a:xfrm rot="0">
            <a:off x="9738360" y="5903309"/>
            <a:ext cx="342900" cy="611791"/>
            <a:chOff x="0" y="0"/>
            <a:chExt cx="457200" cy="815721"/>
          </a:xfrm>
        </p:grpSpPr>
        <p:sp>
          <p:nvSpPr>
            <p:cNvPr name="Freeform 213" id="213"/>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214" id="214"/>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215" id="215"/>
          <p:cNvGrpSpPr/>
          <p:nvPr/>
        </p:nvGrpSpPr>
        <p:grpSpPr>
          <a:xfrm rot="0">
            <a:off x="10081260" y="6007608"/>
            <a:ext cx="2880360" cy="438912"/>
            <a:chOff x="0" y="0"/>
            <a:chExt cx="3840480" cy="585216"/>
          </a:xfrm>
        </p:grpSpPr>
        <p:sp>
          <p:nvSpPr>
            <p:cNvPr name="Freeform 216" id="216"/>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217" id="217"/>
          <p:cNvGrpSpPr/>
          <p:nvPr/>
        </p:nvGrpSpPr>
        <p:grpSpPr>
          <a:xfrm rot="0">
            <a:off x="10081260" y="6007608"/>
            <a:ext cx="2880360" cy="438912"/>
            <a:chOff x="0" y="0"/>
            <a:chExt cx="3840480" cy="585216"/>
          </a:xfrm>
        </p:grpSpPr>
        <p:sp>
          <p:nvSpPr>
            <p:cNvPr name="Freeform 218" id="218"/>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19" id="219"/>
          <p:cNvGrpSpPr/>
          <p:nvPr/>
        </p:nvGrpSpPr>
        <p:grpSpPr>
          <a:xfrm rot="0">
            <a:off x="10081260" y="5979033"/>
            <a:ext cx="2880360" cy="467487"/>
            <a:chOff x="0" y="0"/>
            <a:chExt cx="3840480" cy="623316"/>
          </a:xfrm>
        </p:grpSpPr>
        <p:sp>
          <p:nvSpPr>
            <p:cNvPr name="Freeform 220" id="220"/>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21" id="221"/>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222" id="222"/>
          <p:cNvGrpSpPr/>
          <p:nvPr/>
        </p:nvGrpSpPr>
        <p:grpSpPr>
          <a:xfrm rot="0">
            <a:off x="12961620" y="5939028"/>
            <a:ext cx="342900" cy="576072"/>
            <a:chOff x="0" y="0"/>
            <a:chExt cx="457200" cy="768096"/>
          </a:xfrm>
        </p:grpSpPr>
        <p:sp>
          <p:nvSpPr>
            <p:cNvPr name="Freeform 223" id="223"/>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224" id="224"/>
          <p:cNvGrpSpPr/>
          <p:nvPr/>
        </p:nvGrpSpPr>
        <p:grpSpPr>
          <a:xfrm rot="0">
            <a:off x="12961620" y="5903309"/>
            <a:ext cx="342900" cy="611791"/>
            <a:chOff x="0" y="0"/>
            <a:chExt cx="457200" cy="815721"/>
          </a:xfrm>
        </p:grpSpPr>
        <p:sp>
          <p:nvSpPr>
            <p:cNvPr name="Freeform 225" id="225"/>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226" id="226"/>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227" id="227"/>
          <p:cNvGrpSpPr/>
          <p:nvPr/>
        </p:nvGrpSpPr>
        <p:grpSpPr>
          <a:xfrm rot="0">
            <a:off x="13304520" y="6007608"/>
            <a:ext cx="2880360" cy="438912"/>
            <a:chOff x="0" y="0"/>
            <a:chExt cx="3840480" cy="585216"/>
          </a:xfrm>
        </p:grpSpPr>
        <p:sp>
          <p:nvSpPr>
            <p:cNvPr name="Freeform 228" id="228"/>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229" id="229"/>
          <p:cNvGrpSpPr/>
          <p:nvPr/>
        </p:nvGrpSpPr>
        <p:grpSpPr>
          <a:xfrm rot="0">
            <a:off x="13304520" y="6007608"/>
            <a:ext cx="2880360" cy="438912"/>
            <a:chOff x="0" y="0"/>
            <a:chExt cx="3840480" cy="585216"/>
          </a:xfrm>
        </p:grpSpPr>
        <p:sp>
          <p:nvSpPr>
            <p:cNvPr name="Freeform 230" id="230"/>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31" id="231"/>
          <p:cNvGrpSpPr/>
          <p:nvPr/>
        </p:nvGrpSpPr>
        <p:grpSpPr>
          <a:xfrm rot="0">
            <a:off x="13304520" y="5979033"/>
            <a:ext cx="2880360" cy="467487"/>
            <a:chOff x="0" y="0"/>
            <a:chExt cx="3840480" cy="623316"/>
          </a:xfrm>
        </p:grpSpPr>
        <p:sp>
          <p:nvSpPr>
            <p:cNvPr name="Freeform 232" id="232"/>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33" id="233"/>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234" id="234"/>
          <p:cNvGrpSpPr/>
          <p:nvPr/>
        </p:nvGrpSpPr>
        <p:grpSpPr>
          <a:xfrm rot="0">
            <a:off x="16390620" y="6021324"/>
            <a:ext cx="891540" cy="411480"/>
            <a:chOff x="0" y="0"/>
            <a:chExt cx="1188720" cy="548640"/>
          </a:xfrm>
        </p:grpSpPr>
        <p:sp>
          <p:nvSpPr>
            <p:cNvPr name="Freeform 235" id="235"/>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236" id="236"/>
          <p:cNvGrpSpPr/>
          <p:nvPr/>
        </p:nvGrpSpPr>
        <p:grpSpPr>
          <a:xfrm rot="0">
            <a:off x="16390620" y="6021324"/>
            <a:ext cx="891540" cy="411480"/>
            <a:chOff x="0" y="0"/>
            <a:chExt cx="1188720" cy="548640"/>
          </a:xfrm>
        </p:grpSpPr>
        <p:sp>
          <p:nvSpPr>
            <p:cNvPr name="Freeform 237" id="237"/>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238" id="238"/>
          <p:cNvGrpSpPr/>
          <p:nvPr/>
        </p:nvGrpSpPr>
        <p:grpSpPr>
          <a:xfrm rot="0">
            <a:off x="16390620" y="5992749"/>
            <a:ext cx="891540" cy="440055"/>
            <a:chOff x="0" y="0"/>
            <a:chExt cx="1188720" cy="586740"/>
          </a:xfrm>
        </p:grpSpPr>
        <p:sp>
          <p:nvSpPr>
            <p:cNvPr name="Freeform 239" id="239"/>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240" id="240"/>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241" id="241"/>
          <p:cNvGrpSpPr/>
          <p:nvPr/>
        </p:nvGrpSpPr>
        <p:grpSpPr>
          <a:xfrm rot="0">
            <a:off x="822960" y="6583680"/>
            <a:ext cx="16637508" cy="576072"/>
            <a:chOff x="0" y="0"/>
            <a:chExt cx="22183344" cy="768096"/>
          </a:xfrm>
        </p:grpSpPr>
        <p:sp>
          <p:nvSpPr>
            <p:cNvPr name="Freeform 242" id="242"/>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EAF8FA"/>
            </a:solidFill>
          </p:spPr>
        </p:sp>
      </p:grpSp>
      <p:grpSp>
        <p:nvGrpSpPr>
          <p:cNvPr name="Group 243" id="243"/>
          <p:cNvGrpSpPr/>
          <p:nvPr/>
        </p:nvGrpSpPr>
        <p:grpSpPr>
          <a:xfrm rot="0">
            <a:off x="1097280" y="6583680"/>
            <a:ext cx="5486400" cy="576072"/>
            <a:chOff x="0" y="0"/>
            <a:chExt cx="7315200" cy="768096"/>
          </a:xfrm>
        </p:grpSpPr>
        <p:sp>
          <p:nvSpPr>
            <p:cNvPr name="Freeform 244" id="244"/>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245" id="245"/>
          <p:cNvGrpSpPr/>
          <p:nvPr/>
        </p:nvGrpSpPr>
        <p:grpSpPr>
          <a:xfrm rot="0">
            <a:off x="1097280" y="6547961"/>
            <a:ext cx="5486400" cy="611791"/>
            <a:chOff x="0" y="0"/>
            <a:chExt cx="7315200" cy="815721"/>
          </a:xfrm>
        </p:grpSpPr>
        <p:sp>
          <p:nvSpPr>
            <p:cNvPr name="Freeform 246" id="246"/>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247" id="247"/>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Lahan terbangun</a:t>
              </a:r>
            </a:p>
          </p:txBody>
        </p:sp>
      </p:grpSp>
      <p:grpSp>
        <p:nvGrpSpPr>
          <p:cNvPr name="Group 248" id="248"/>
          <p:cNvGrpSpPr/>
          <p:nvPr/>
        </p:nvGrpSpPr>
        <p:grpSpPr>
          <a:xfrm rot="0">
            <a:off x="6858000" y="6652260"/>
            <a:ext cx="2880360" cy="438912"/>
            <a:chOff x="0" y="0"/>
            <a:chExt cx="3840480" cy="585216"/>
          </a:xfrm>
        </p:grpSpPr>
        <p:sp>
          <p:nvSpPr>
            <p:cNvPr name="Freeform 249" id="249"/>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250" id="250"/>
          <p:cNvGrpSpPr/>
          <p:nvPr/>
        </p:nvGrpSpPr>
        <p:grpSpPr>
          <a:xfrm rot="0">
            <a:off x="6858000" y="6652260"/>
            <a:ext cx="2880360" cy="438912"/>
            <a:chOff x="0" y="0"/>
            <a:chExt cx="3840480" cy="585216"/>
          </a:xfrm>
        </p:grpSpPr>
        <p:sp>
          <p:nvSpPr>
            <p:cNvPr name="Freeform 251" id="251"/>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52" id="252"/>
          <p:cNvGrpSpPr/>
          <p:nvPr/>
        </p:nvGrpSpPr>
        <p:grpSpPr>
          <a:xfrm rot="0">
            <a:off x="6858000" y="6623685"/>
            <a:ext cx="2880360" cy="467487"/>
            <a:chOff x="0" y="0"/>
            <a:chExt cx="3840480" cy="623316"/>
          </a:xfrm>
        </p:grpSpPr>
        <p:sp>
          <p:nvSpPr>
            <p:cNvPr name="Freeform 253" id="253"/>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54" id="254"/>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255" id="255"/>
          <p:cNvGrpSpPr/>
          <p:nvPr/>
        </p:nvGrpSpPr>
        <p:grpSpPr>
          <a:xfrm rot="0">
            <a:off x="9738360" y="6583680"/>
            <a:ext cx="342900" cy="576072"/>
            <a:chOff x="0" y="0"/>
            <a:chExt cx="457200" cy="768096"/>
          </a:xfrm>
        </p:grpSpPr>
        <p:sp>
          <p:nvSpPr>
            <p:cNvPr name="Freeform 256" id="256"/>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257" id="257"/>
          <p:cNvGrpSpPr/>
          <p:nvPr/>
        </p:nvGrpSpPr>
        <p:grpSpPr>
          <a:xfrm rot="0">
            <a:off x="9738360" y="6547961"/>
            <a:ext cx="342900" cy="611791"/>
            <a:chOff x="0" y="0"/>
            <a:chExt cx="457200" cy="815721"/>
          </a:xfrm>
        </p:grpSpPr>
        <p:sp>
          <p:nvSpPr>
            <p:cNvPr name="Freeform 258" id="258"/>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259" id="259"/>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260" id="260"/>
          <p:cNvGrpSpPr/>
          <p:nvPr/>
        </p:nvGrpSpPr>
        <p:grpSpPr>
          <a:xfrm rot="0">
            <a:off x="10081260" y="6652260"/>
            <a:ext cx="2880360" cy="438912"/>
            <a:chOff x="0" y="0"/>
            <a:chExt cx="3840480" cy="585216"/>
          </a:xfrm>
        </p:grpSpPr>
        <p:sp>
          <p:nvSpPr>
            <p:cNvPr name="Freeform 261" id="261"/>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262" id="262"/>
          <p:cNvGrpSpPr/>
          <p:nvPr/>
        </p:nvGrpSpPr>
        <p:grpSpPr>
          <a:xfrm rot="0">
            <a:off x="10081260" y="6652260"/>
            <a:ext cx="2880360" cy="438912"/>
            <a:chOff x="0" y="0"/>
            <a:chExt cx="3840480" cy="585216"/>
          </a:xfrm>
        </p:grpSpPr>
        <p:sp>
          <p:nvSpPr>
            <p:cNvPr name="Freeform 263" id="263"/>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64" id="264"/>
          <p:cNvGrpSpPr/>
          <p:nvPr/>
        </p:nvGrpSpPr>
        <p:grpSpPr>
          <a:xfrm rot="0">
            <a:off x="10081260" y="6623685"/>
            <a:ext cx="2880360" cy="467487"/>
            <a:chOff x="0" y="0"/>
            <a:chExt cx="3840480" cy="623316"/>
          </a:xfrm>
        </p:grpSpPr>
        <p:sp>
          <p:nvSpPr>
            <p:cNvPr name="Freeform 265" id="265"/>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66" id="266"/>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267" id="267"/>
          <p:cNvGrpSpPr/>
          <p:nvPr/>
        </p:nvGrpSpPr>
        <p:grpSpPr>
          <a:xfrm rot="0">
            <a:off x="12961620" y="6583680"/>
            <a:ext cx="342900" cy="576072"/>
            <a:chOff x="0" y="0"/>
            <a:chExt cx="457200" cy="768096"/>
          </a:xfrm>
        </p:grpSpPr>
        <p:sp>
          <p:nvSpPr>
            <p:cNvPr name="Freeform 268" id="268"/>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269" id="269"/>
          <p:cNvGrpSpPr/>
          <p:nvPr/>
        </p:nvGrpSpPr>
        <p:grpSpPr>
          <a:xfrm rot="0">
            <a:off x="12961620" y="6547961"/>
            <a:ext cx="342900" cy="611791"/>
            <a:chOff x="0" y="0"/>
            <a:chExt cx="457200" cy="815721"/>
          </a:xfrm>
        </p:grpSpPr>
        <p:sp>
          <p:nvSpPr>
            <p:cNvPr name="Freeform 270" id="270"/>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271" id="271"/>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272" id="272"/>
          <p:cNvGrpSpPr/>
          <p:nvPr/>
        </p:nvGrpSpPr>
        <p:grpSpPr>
          <a:xfrm rot="0">
            <a:off x="13304520" y="6652260"/>
            <a:ext cx="2880360" cy="438912"/>
            <a:chOff x="0" y="0"/>
            <a:chExt cx="3840480" cy="585216"/>
          </a:xfrm>
        </p:grpSpPr>
        <p:sp>
          <p:nvSpPr>
            <p:cNvPr name="Freeform 273" id="273"/>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274" id="274"/>
          <p:cNvGrpSpPr/>
          <p:nvPr/>
        </p:nvGrpSpPr>
        <p:grpSpPr>
          <a:xfrm rot="0">
            <a:off x="13304520" y="6652260"/>
            <a:ext cx="2880360" cy="438912"/>
            <a:chOff x="0" y="0"/>
            <a:chExt cx="3840480" cy="585216"/>
          </a:xfrm>
        </p:grpSpPr>
        <p:sp>
          <p:nvSpPr>
            <p:cNvPr name="Freeform 275" id="275"/>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76" id="276"/>
          <p:cNvGrpSpPr/>
          <p:nvPr/>
        </p:nvGrpSpPr>
        <p:grpSpPr>
          <a:xfrm rot="0">
            <a:off x="13304520" y="6623685"/>
            <a:ext cx="2880360" cy="467487"/>
            <a:chOff x="0" y="0"/>
            <a:chExt cx="3840480" cy="623316"/>
          </a:xfrm>
        </p:grpSpPr>
        <p:sp>
          <p:nvSpPr>
            <p:cNvPr name="Freeform 277" id="277"/>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78" id="278"/>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279" id="279"/>
          <p:cNvGrpSpPr/>
          <p:nvPr/>
        </p:nvGrpSpPr>
        <p:grpSpPr>
          <a:xfrm rot="0">
            <a:off x="16390620" y="6665976"/>
            <a:ext cx="891540" cy="411480"/>
            <a:chOff x="0" y="0"/>
            <a:chExt cx="1188720" cy="548640"/>
          </a:xfrm>
        </p:grpSpPr>
        <p:sp>
          <p:nvSpPr>
            <p:cNvPr name="Freeform 280" id="280"/>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281" id="281"/>
          <p:cNvGrpSpPr/>
          <p:nvPr/>
        </p:nvGrpSpPr>
        <p:grpSpPr>
          <a:xfrm rot="0">
            <a:off x="16390620" y="6665976"/>
            <a:ext cx="891540" cy="411480"/>
            <a:chOff x="0" y="0"/>
            <a:chExt cx="1188720" cy="548640"/>
          </a:xfrm>
        </p:grpSpPr>
        <p:sp>
          <p:nvSpPr>
            <p:cNvPr name="Freeform 282" id="282"/>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283" id="283"/>
          <p:cNvGrpSpPr/>
          <p:nvPr/>
        </p:nvGrpSpPr>
        <p:grpSpPr>
          <a:xfrm rot="0">
            <a:off x="16390620" y="6637401"/>
            <a:ext cx="891540" cy="440055"/>
            <a:chOff x="0" y="0"/>
            <a:chExt cx="1188720" cy="586740"/>
          </a:xfrm>
        </p:grpSpPr>
        <p:sp>
          <p:nvSpPr>
            <p:cNvPr name="Freeform 284" id="284"/>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285" id="285"/>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286" id="286"/>
          <p:cNvGrpSpPr/>
          <p:nvPr/>
        </p:nvGrpSpPr>
        <p:grpSpPr>
          <a:xfrm rot="0">
            <a:off x="822960" y="7228332"/>
            <a:ext cx="16637508" cy="576072"/>
            <a:chOff x="0" y="0"/>
            <a:chExt cx="22183344" cy="768096"/>
          </a:xfrm>
        </p:grpSpPr>
        <p:sp>
          <p:nvSpPr>
            <p:cNvPr name="Freeform 287" id="287"/>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FFFFFF"/>
            </a:solidFill>
          </p:spPr>
        </p:sp>
      </p:grpSp>
      <p:grpSp>
        <p:nvGrpSpPr>
          <p:cNvPr name="Group 288" id="288"/>
          <p:cNvGrpSpPr/>
          <p:nvPr/>
        </p:nvGrpSpPr>
        <p:grpSpPr>
          <a:xfrm rot="0">
            <a:off x="1097280" y="7228332"/>
            <a:ext cx="5486400" cy="576072"/>
            <a:chOff x="0" y="0"/>
            <a:chExt cx="7315200" cy="768096"/>
          </a:xfrm>
        </p:grpSpPr>
        <p:sp>
          <p:nvSpPr>
            <p:cNvPr name="Freeform 289" id="289"/>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290" id="290"/>
          <p:cNvGrpSpPr/>
          <p:nvPr/>
        </p:nvGrpSpPr>
        <p:grpSpPr>
          <a:xfrm rot="0">
            <a:off x="1097280" y="7192613"/>
            <a:ext cx="5486400" cy="611791"/>
            <a:chOff x="0" y="0"/>
            <a:chExt cx="7315200" cy="815721"/>
          </a:xfrm>
        </p:grpSpPr>
        <p:sp>
          <p:nvSpPr>
            <p:cNvPr name="Freeform 291" id="291"/>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292" id="292"/>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Konversi lahan pariwisata kumulatif</a:t>
              </a:r>
            </a:p>
          </p:txBody>
        </p:sp>
      </p:grpSp>
      <p:grpSp>
        <p:nvGrpSpPr>
          <p:cNvPr name="Group 293" id="293"/>
          <p:cNvGrpSpPr/>
          <p:nvPr/>
        </p:nvGrpSpPr>
        <p:grpSpPr>
          <a:xfrm rot="0">
            <a:off x="6858000" y="7296912"/>
            <a:ext cx="2880360" cy="438912"/>
            <a:chOff x="0" y="0"/>
            <a:chExt cx="3840480" cy="585216"/>
          </a:xfrm>
        </p:grpSpPr>
        <p:sp>
          <p:nvSpPr>
            <p:cNvPr name="Freeform 294" id="294"/>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295" id="295"/>
          <p:cNvGrpSpPr/>
          <p:nvPr/>
        </p:nvGrpSpPr>
        <p:grpSpPr>
          <a:xfrm rot="0">
            <a:off x="6858000" y="7296912"/>
            <a:ext cx="2880360" cy="438912"/>
            <a:chOff x="0" y="0"/>
            <a:chExt cx="3840480" cy="585216"/>
          </a:xfrm>
        </p:grpSpPr>
        <p:sp>
          <p:nvSpPr>
            <p:cNvPr name="Freeform 296" id="296"/>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97" id="297"/>
          <p:cNvGrpSpPr/>
          <p:nvPr/>
        </p:nvGrpSpPr>
        <p:grpSpPr>
          <a:xfrm rot="0">
            <a:off x="6858000" y="7268337"/>
            <a:ext cx="2880360" cy="467487"/>
            <a:chOff x="0" y="0"/>
            <a:chExt cx="3840480" cy="623316"/>
          </a:xfrm>
        </p:grpSpPr>
        <p:sp>
          <p:nvSpPr>
            <p:cNvPr name="Freeform 298" id="298"/>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99" id="299"/>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300" id="300"/>
          <p:cNvGrpSpPr/>
          <p:nvPr/>
        </p:nvGrpSpPr>
        <p:grpSpPr>
          <a:xfrm rot="0">
            <a:off x="9738360" y="7228332"/>
            <a:ext cx="342900" cy="576072"/>
            <a:chOff x="0" y="0"/>
            <a:chExt cx="457200" cy="768096"/>
          </a:xfrm>
        </p:grpSpPr>
        <p:sp>
          <p:nvSpPr>
            <p:cNvPr name="Freeform 301" id="301"/>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302" id="302"/>
          <p:cNvGrpSpPr/>
          <p:nvPr/>
        </p:nvGrpSpPr>
        <p:grpSpPr>
          <a:xfrm rot="0">
            <a:off x="9738360" y="7192613"/>
            <a:ext cx="342900" cy="611791"/>
            <a:chOff x="0" y="0"/>
            <a:chExt cx="457200" cy="815721"/>
          </a:xfrm>
        </p:grpSpPr>
        <p:sp>
          <p:nvSpPr>
            <p:cNvPr name="Freeform 303" id="303"/>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304" id="304"/>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305" id="305"/>
          <p:cNvGrpSpPr/>
          <p:nvPr/>
        </p:nvGrpSpPr>
        <p:grpSpPr>
          <a:xfrm rot="0">
            <a:off x="10081260" y="7296912"/>
            <a:ext cx="2880360" cy="438912"/>
            <a:chOff x="0" y="0"/>
            <a:chExt cx="3840480" cy="585216"/>
          </a:xfrm>
        </p:grpSpPr>
        <p:sp>
          <p:nvSpPr>
            <p:cNvPr name="Freeform 306" id="306"/>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307" id="307"/>
          <p:cNvGrpSpPr/>
          <p:nvPr/>
        </p:nvGrpSpPr>
        <p:grpSpPr>
          <a:xfrm rot="0">
            <a:off x="10081260" y="7296912"/>
            <a:ext cx="2880360" cy="438912"/>
            <a:chOff x="0" y="0"/>
            <a:chExt cx="3840480" cy="585216"/>
          </a:xfrm>
        </p:grpSpPr>
        <p:sp>
          <p:nvSpPr>
            <p:cNvPr name="Freeform 308" id="308"/>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309" id="309"/>
          <p:cNvGrpSpPr/>
          <p:nvPr/>
        </p:nvGrpSpPr>
        <p:grpSpPr>
          <a:xfrm rot="0">
            <a:off x="10081260" y="7268337"/>
            <a:ext cx="2880360" cy="467487"/>
            <a:chOff x="0" y="0"/>
            <a:chExt cx="3840480" cy="623316"/>
          </a:xfrm>
        </p:grpSpPr>
        <p:sp>
          <p:nvSpPr>
            <p:cNvPr name="Freeform 310" id="310"/>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311" id="311"/>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312" id="312"/>
          <p:cNvGrpSpPr/>
          <p:nvPr/>
        </p:nvGrpSpPr>
        <p:grpSpPr>
          <a:xfrm rot="0">
            <a:off x="12961620" y="7228332"/>
            <a:ext cx="342900" cy="576072"/>
            <a:chOff x="0" y="0"/>
            <a:chExt cx="457200" cy="768096"/>
          </a:xfrm>
        </p:grpSpPr>
        <p:sp>
          <p:nvSpPr>
            <p:cNvPr name="Freeform 313" id="313"/>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314" id="314"/>
          <p:cNvGrpSpPr/>
          <p:nvPr/>
        </p:nvGrpSpPr>
        <p:grpSpPr>
          <a:xfrm rot="0">
            <a:off x="12961620" y="7192613"/>
            <a:ext cx="342900" cy="611791"/>
            <a:chOff x="0" y="0"/>
            <a:chExt cx="457200" cy="815721"/>
          </a:xfrm>
        </p:grpSpPr>
        <p:sp>
          <p:nvSpPr>
            <p:cNvPr name="Freeform 315" id="315"/>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316" id="316"/>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317" id="317"/>
          <p:cNvGrpSpPr/>
          <p:nvPr/>
        </p:nvGrpSpPr>
        <p:grpSpPr>
          <a:xfrm rot="0">
            <a:off x="13304520" y="7296912"/>
            <a:ext cx="2880360" cy="438912"/>
            <a:chOff x="0" y="0"/>
            <a:chExt cx="3840480" cy="585216"/>
          </a:xfrm>
        </p:grpSpPr>
        <p:sp>
          <p:nvSpPr>
            <p:cNvPr name="Freeform 318" id="318"/>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319" id="319"/>
          <p:cNvGrpSpPr/>
          <p:nvPr/>
        </p:nvGrpSpPr>
        <p:grpSpPr>
          <a:xfrm rot="0">
            <a:off x="13304520" y="7296912"/>
            <a:ext cx="2880360" cy="438912"/>
            <a:chOff x="0" y="0"/>
            <a:chExt cx="3840480" cy="585216"/>
          </a:xfrm>
        </p:grpSpPr>
        <p:sp>
          <p:nvSpPr>
            <p:cNvPr name="Freeform 320" id="320"/>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321" id="321"/>
          <p:cNvGrpSpPr/>
          <p:nvPr/>
        </p:nvGrpSpPr>
        <p:grpSpPr>
          <a:xfrm rot="0">
            <a:off x="13304520" y="7268337"/>
            <a:ext cx="2880360" cy="467487"/>
            <a:chOff x="0" y="0"/>
            <a:chExt cx="3840480" cy="623316"/>
          </a:xfrm>
        </p:grpSpPr>
        <p:sp>
          <p:nvSpPr>
            <p:cNvPr name="Freeform 322" id="322"/>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323" id="323"/>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324" id="324"/>
          <p:cNvGrpSpPr/>
          <p:nvPr/>
        </p:nvGrpSpPr>
        <p:grpSpPr>
          <a:xfrm rot="0">
            <a:off x="16390620" y="7310628"/>
            <a:ext cx="891540" cy="411480"/>
            <a:chOff x="0" y="0"/>
            <a:chExt cx="1188720" cy="548640"/>
          </a:xfrm>
        </p:grpSpPr>
        <p:sp>
          <p:nvSpPr>
            <p:cNvPr name="Freeform 325" id="325"/>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326" id="326"/>
          <p:cNvGrpSpPr/>
          <p:nvPr/>
        </p:nvGrpSpPr>
        <p:grpSpPr>
          <a:xfrm rot="0">
            <a:off x="16390620" y="7310628"/>
            <a:ext cx="891540" cy="411480"/>
            <a:chOff x="0" y="0"/>
            <a:chExt cx="1188720" cy="548640"/>
          </a:xfrm>
        </p:grpSpPr>
        <p:sp>
          <p:nvSpPr>
            <p:cNvPr name="Freeform 327" id="327"/>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328" id="328"/>
          <p:cNvGrpSpPr/>
          <p:nvPr/>
        </p:nvGrpSpPr>
        <p:grpSpPr>
          <a:xfrm rot="0">
            <a:off x="16390620" y="7282053"/>
            <a:ext cx="891540" cy="440055"/>
            <a:chOff x="0" y="0"/>
            <a:chExt cx="1188720" cy="586740"/>
          </a:xfrm>
        </p:grpSpPr>
        <p:sp>
          <p:nvSpPr>
            <p:cNvPr name="Freeform 329" id="329"/>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330" id="330"/>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331" id="331"/>
          <p:cNvGrpSpPr/>
          <p:nvPr/>
        </p:nvGrpSpPr>
        <p:grpSpPr>
          <a:xfrm rot="0">
            <a:off x="822960" y="7872984"/>
            <a:ext cx="16637508" cy="576072"/>
            <a:chOff x="0" y="0"/>
            <a:chExt cx="22183344" cy="768096"/>
          </a:xfrm>
        </p:grpSpPr>
        <p:sp>
          <p:nvSpPr>
            <p:cNvPr name="Freeform 332" id="332"/>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EAF8FA"/>
            </a:solidFill>
          </p:spPr>
        </p:sp>
      </p:grpSp>
      <p:grpSp>
        <p:nvGrpSpPr>
          <p:cNvPr name="Group 333" id="333"/>
          <p:cNvGrpSpPr/>
          <p:nvPr/>
        </p:nvGrpSpPr>
        <p:grpSpPr>
          <a:xfrm rot="0">
            <a:off x="1097280" y="7872984"/>
            <a:ext cx="5486400" cy="576072"/>
            <a:chOff x="0" y="0"/>
            <a:chExt cx="7315200" cy="768096"/>
          </a:xfrm>
        </p:grpSpPr>
        <p:sp>
          <p:nvSpPr>
            <p:cNvPr name="Freeform 334" id="334"/>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335" id="335"/>
          <p:cNvGrpSpPr/>
          <p:nvPr/>
        </p:nvGrpSpPr>
        <p:grpSpPr>
          <a:xfrm rot="0">
            <a:off x="1097280" y="7837265"/>
            <a:ext cx="5486400" cy="611791"/>
            <a:chOff x="0" y="0"/>
            <a:chExt cx="7315200" cy="815721"/>
          </a:xfrm>
        </p:grpSpPr>
        <p:sp>
          <p:nvSpPr>
            <p:cNvPr name="Freeform 336" id="336"/>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337" id="337"/>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Indeks kepadatan</a:t>
              </a:r>
            </a:p>
          </p:txBody>
        </p:sp>
      </p:grpSp>
      <p:grpSp>
        <p:nvGrpSpPr>
          <p:cNvPr name="Group 338" id="338"/>
          <p:cNvGrpSpPr/>
          <p:nvPr/>
        </p:nvGrpSpPr>
        <p:grpSpPr>
          <a:xfrm rot="0">
            <a:off x="6858000" y="7941564"/>
            <a:ext cx="2880360" cy="438912"/>
            <a:chOff x="0" y="0"/>
            <a:chExt cx="3840480" cy="585216"/>
          </a:xfrm>
        </p:grpSpPr>
        <p:sp>
          <p:nvSpPr>
            <p:cNvPr name="Freeform 339" id="339"/>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340" id="340"/>
          <p:cNvGrpSpPr/>
          <p:nvPr/>
        </p:nvGrpSpPr>
        <p:grpSpPr>
          <a:xfrm rot="0">
            <a:off x="6858000" y="7941564"/>
            <a:ext cx="2880360" cy="438912"/>
            <a:chOff x="0" y="0"/>
            <a:chExt cx="3840480" cy="585216"/>
          </a:xfrm>
        </p:grpSpPr>
        <p:sp>
          <p:nvSpPr>
            <p:cNvPr name="Freeform 341" id="341"/>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342" id="342"/>
          <p:cNvGrpSpPr/>
          <p:nvPr/>
        </p:nvGrpSpPr>
        <p:grpSpPr>
          <a:xfrm rot="0">
            <a:off x="6858000" y="7912989"/>
            <a:ext cx="2880360" cy="467487"/>
            <a:chOff x="0" y="0"/>
            <a:chExt cx="3840480" cy="623316"/>
          </a:xfrm>
        </p:grpSpPr>
        <p:sp>
          <p:nvSpPr>
            <p:cNvPr name="Freeform 343" id="343"/>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344" id="344"/>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345" id="345"/>
          <p:cNvGrpSpPr/>
          <p:nvPr/>
        </p:nvGrpSpPr>
        <p:grpSpPr>
          <a:xfrm rot="0">
            <a:off x="9738360" y="7872984"/>
            <a:ext cx="342900" cy="576072"/>
            <a:chOff x="0" y="0"/>
            <a:chExt cx="457200" cy="768096"/>
          </a:xfrm>
        </p:grpSpPr>
        <p:sp>
          <p:nvSpPr>
            <p:cNvPr name="Freeform 346" id="346"/>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347" id="347"/>
          <p:cNvGrpSpPr/>
          <p:nvPr/>
        </p:nvGrpSpPr>
        <p:grpSpPr>
          <a:xfrm rot="0">
            <a:off x="9738360" y="7837265"/>
            <a:ext cx="342900" cy="611791"/>
            <a:chOff x="0" y="0"/>
            <a:chExt cx="457200" cy="815721"/>
          </a:xfrm>
        </p:grpSpPr>
        <p:sp>
          <p:nvSpPr>
            <p:cNvPr name="Freeform 348" id="348"/>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349" id="349"/>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350" id="350"/>
          <p:cNvGrpSpPr/>
          <p:nvPr/>
        </p:nvGrpSpPr>
        <p:grpSpPr>
          <a:xfrm rot="0">
            <a:off x="10081260" y="7941564"/>
            <a:ext cx="2880360" cy="438912"/>
            <a:chOff x="0" y="0"/>
            <a:chExt cx="3840480" cy="585216"/>
          </a:xfrm>
        </p:grpSpPr>
        <p:sp>
          <p:nvSpPr>
            <p:cNvPr name="Freeform 351" id="351"/>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352" id="352"/>
          <p:cNvGrpSpPr/>
          <p:nvPr/>
        </p:nvGrpSpPr>
        <p:grpSpPr>
          <a:xfrm rot="0">
            <a:off x="10081260" y="7941564"/>
            <a:ext cx="2880360" cy="438912"/>
            <a:chOff x="0" y="0"/>
            <a:chExt cx="3840480" cy="585216"/>
          </a:xfrm>
        </p:grpSpPr>
        <p:sp>
          <p:nvSpPr>
            <p:cNvPr name="Freeform 353" id="353"/>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354" id="354"/>
          <p:cNvGrpSpPr/>
          <p:nvPr/>
        </p:nvGrpSpPr>
        <p:grpSpPr>
          <a:xfrm rot="0">
            <a:off x="10081260" y="7912989"/>
            <a:ext cx="2880360" cy="467487"/>
            <a:chOff x="0" y="0"/>
            <a:chExt cx="3840480" cy="623316"/>
          </a:xfrm>
        </p:grpSpPr>
        <p:sp>
          <p:nvSpPr>
            <p:cNvPr name="Freeform 355" id="355"/>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356" id="356"/>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357" id="357"/>
          <p:cNvGrpSpPr/>
          <p:nvPr/>
        </p:nvGrpSpPr>
        <p:grpSpPr>
          <a:xfrm rot="0">
            <a:off x="12961620" y="7872984"/>
            <a:ext cx="342900" cy="576072"/>
            <a:chOff x="0" y="0"/>
            <a:chExt cx="457200" cy="768096"/>
          </a:xfrm>
        </p:grpSpPr>
        <p:sp>
          <p:nvSpPr>
            <p:cNvPr name="Freeform 358" id="358"/>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359" id="359"/>
          <p:cNvGrpSpPr/>
          <p:nvPr/>
        </p:nvGrpSpPr>
        <p:grpSpPr>
          <a:xfrm rot="0">
            <a:off x="12961620" y="7837265"/>
            <a:ext cx="342900" cy="611791"/>
            <a:chOff x="0" y="0"/>
            <a:chExt cx="457200" cy="815721"/>
          </a:xfrm>
        </p:grpSpPr>
        <p:sp>
          <p:nvSpPr>
            <p:cNvPr name="Freeform 360" id="360"/>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361" id="361"/>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362" id="362"/>
          <p:cNvGrpSpPr/>
          <p:nvPr/>
        </p:nvGrpSpPr>
        <p:grpSpPr>
          <a:xfrm rot="0">
            <a:off x="13304520" y="7941564"/>
            <a:ext cx="2880360" cy="438912"/>
            <a:chOff x="0" y="0"/>
            <a:chExt cx="3840480" cy="585216"/>
          </a:xfrm>
        </p:grpSpPr>
        <p:sp>
          <p:nvSpPr>
            <p:cNvPr name="Freeform 363" id="363"/>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364" id="364"/>
          <p:cNvGrpSpPr/>
          <p:nvPr/>
        </p:nvGrpSpPr>
        <p:grpSpPr>
          <a:xfrm rot="0">
            <a:off x="13304520" y="7941564"/>
            <a:ext cx="2880360" cy="438912"/>
            <a:chOff x="0" y="0"/>
            <a:chExt cx="3840480" cy="585216"/>
          </a:xfrm>
        </p:grpSpPr>
        <p:sp>
          <p:nvSpPr>
            <p:cNvPr name="Freeform 365" id="365"/>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366" id="366"/>
          <p:cNvGrpSpPr/>
          <p:nvPr/>
        </p:nvGrpSpPr>
        <p:grpSpPr>
          <a:xfrm rot="0">
            <a:off x="13304520" y="7912989"/>
            <a:ext cx="2880360" cy="467487"/>
            <a:chOff x="0" y="0"/>
            <a:chExt cx="3840480" cy="623316"/>
          </a:xfrm>
        </p:grpSpPr>
        <p:sp>
          <p:nvSpPr>
            <p:cNvPr name="Freeform 367" id="367"/>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368" id="368"/>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369" id="369"/>
          <p:cNvGrpSpPr/>
          <p:nvPr/>
        </p:nvGrpSpPr>
        <p:grpSpPr>
          <a:xfrm rot="0">
            <a:off x="16390620" y="7955280"/>
            <a:ext cx="891540" cy="411480"/>
            <a:chOff x="0" y="0"/>
            <a:chExt cx="1188720" cy="548640"/>
          </a:xfrm>
        </p:grpSpPr>
        <p:sp>
          <p:nvSpPr>
            <p:cNvPr name="Freeform 370" id="370"/>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371" id="371"/>
          <p:cNvGrpSpPr/>
          <p:nvPr/>
        </p:nvGrpSpPr>
        <p:grpSpPr>
          <a:xfrm rot="0">
            <a:off x="16390620" y="7955280"/>
            <a:ext cx="891540" cy="411480"/>
            <a:chOff x="0" y="0"/>
            <a:chExt cx="1188720" cy="548640"/>
          </a:xfrm>
        </p:grpSpPr>
        <p:sp>
          <p:nvSpPr>
            <p:cNvPr name="Freeform 372" id="372"/>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373" id="373"/>
          <p:cNvGrpSpPr/>
          <p:nvPr/>
        </p:nvGrpSpPr>
        <p:grpSpPr>
          <a:xfrm rot="0">
            <a:off x="16390620" y="7926705"/>
            <a:ext cx="891540" cy="440055"/>
            <a:chOff x="0" y="0"/>
            <a:chExt cx="1188720" cy="586740"/>
          </a:xfrm>
        </p:grpSpPr>
        <p:sp>
          <p:nvSpPr>
            <p:cNvPr name="Freeform 374" id="374"/>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375" id="375"/>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376" id="376"/>
          <p:cNvGrpSpPr/>
          <p:nvPr/>
        </p:nvGrpSpPr>
        <p:grpSpPr>
          <a:xfrm rot="0">
            <a:off x="822960" y="8641080"/>
            <a:ext cx="16637508" cy="685800"/>
            <a:chOff x="0" y="0"/>
            <a:chExt cx="22183344" cy="914400"/>
          </a:xfrm>
        </p:grpSpPr>
        <p:sp>
          <p:nvSpPr>
            <p:cNvPr name="Freeform 377" id="377"/>
            <p:cNvSpPr/>
            <p:nvPr/>
          </p:nvSpPr>
          <p:spPr>
            <a:xfrm flipH="false" flipV="false" rot="0">
              <a:off x="0" y="0"/>
              <a:ext cx="22183344" cy="914400"/>
            </a:xfrm>
            <a:custGeom>
              <a:avLst/>
              <a:gdLst/>
              <a:ahLst/>
              <a:cxnLst/>
              <a:rect r="r" b="b" t="t" l="l"/>
              <a:pathLst>
                <a:path h="914400" w="22183344">
                  <a:moveTo>
                    <a:pt x="0" y="182880"/>
                  </a:moveTo>
                  <a:cubicBezTo>
                    <a:pt x="0" y="81915"/>
                    <a:pt x="81915" y="0"/>
                    <a:pt x="182880" y="0"/>
                  </a:cubicBezTo>
                  <a:lnTo>
                    <a:pt x="22000463" y="0"/>
                  </a:lnTo>
                  <a:cubicBezTo>
                    <a:pt x="22101428" y="0"/>
                    <a:pt x="22183344" y="81915"/>
                    <a:pt x="22183344" y="182880"/>
                  </a:cubicBezTo>
                  <a:lnTo>
                    <a:pt x="22183344" y="731520"/>
                  </a:lnTo>
                  <a:cubicBezTo>
                    <a:pt x="22183344" y="832485"/>
                    <a:pt x="22101428" y="914400"/>
                    <a:pt x="22000463" y="914400"/>
                  </a:cubicBezTo>
                  <a:lnTo>
                    <a:pt x="182880" y="914400"/>
                  </a:lnTo>
                  <a:cubicBezTo>
                    <a:pt x="81915" y="914400"/>
                    <a:pt x="0" y="832485"/>
                    <a:pt x="0" y="731520"/>
                  </a:cubicBezTo>
                  <a:close/>
                </a:path>
              </a:pathLst>
            </a:custGeom>
            <a:solidFill>
              <a:srgbClr val="FFF1BF"/>
            </a:solidFill>
          </p:spPr>
        </p:sp>
      </p:grpSp>
      <p:grpSp>
        <p:nvGrpSpPr>
          <p:cNvPr name="Group 378" id="378"/>
          <p:cNvGrpSpPr/>
          <p:nvPr/>
        </p:nvGrpSpPr>
        <p:grpSpPr>
          <a:xfrm rot="0">
            <a:off x="1165860" y="8641080"/>
            <a:ext cx="15951708" cy="685800"/>
            <a:chOff x="0" y="0"/>
            <a:chExt cx="21268944" cy="914400"/>
          </a:xfrm>
        </p:grpSpPr>
        <p:sp>
          <p:nvSpPr>
            <p:cNvPr name="Freeform 379" id="379"/>
            <p:cNvSpPr/>
            <p:nvPr/>
          </p:nvSpPr>
          <p:spPr>
            <a:xfrm flipH="false" flipV="false" rot="0">
              <a:off x="0" y="0"/>
              <a:ext cx="21268944" cy="914400"/>
            </a:xfrm>
            <a:custGeom>
              <a:avLst/>
              <a:gdLst/>
              <a:ahLst/>
              <a:cxnLst/>
              <a:rect r="r" b="b" t="t" l="l"/>
              <a:pathLst>
                <a:path h="914400" w="21268944">
                  <a:moveTo>
                    <a:pt x="0" y="0"/>
                  </a:moveTo>
                  <a:lnTo>
                    <a:pt x="21268944" y="0"/>
                  </a:lnTo>
                  <a:lnTo>
                    <a:pt x="21268944" y="914400"/>
                  </a:lnTo>
                  <a:lnTo>
                    <a:pt x="0" y="914400"/>
                  </a:lnTo>
                  <a:close/>
                </a:path>
              </a:pathLst>
            </a:custGeom>
            <a:blipFill>
              <a:blip r:embed="rId4">
                <a:alphaModFix amt="0"/>
              </a:blip>
              <a:stretch>
                <a:fillRect l="0" t="-402906" r="0" b="-402906"/>
              </a:stretch>
            </a:blipFill>
          </p:spPr>
        </p:sp>
      </p:grpSp>
      <p:grpSp>
        <p:nvGrpSpPr>
          <p:cNvPr name="Group 380" id="380"/>
          <p:cNvGrpSpPr/>
          <p:nvPr/>
        </p:nvGrpSpPr>
        <p:grpSpPr>
          <a:xfrm rot="0">
            <a:off x="1165860" y="8612505"/>
            <a:ext cx="15951708" cy="714375"/>
            <a:chOff x="0" y="0"/>
            <a:chExt cx="21268944" cy="952500"/>
          </a:xfrm>
        </p:grpSpPr>
        <p:sp>
          <p:nvSpPr>
            <p:cNvPr name="Freeform 381" id="381"/>
            <p:cNvSpPr/>
            <p:nvPr/>
          </p:nvSpPr>
          <p:spPr>
            <a:xfrm flipH="false" flipV="false" rot="0">
              <a:off x="0" y="0"/>
              <a:ext cx="21268944" cy="952500"/>
            </a:xfrm>
            <a:custGeom>
              <a:avLst/>
              <a:gdLst/>
              <a:ahLst/>
              <a:cxnLst/>
              <a:rect r="r" b="b" t="t" l="l"/>
              <a:pathLst>
                <a:path h="952500" w="21268944">
                  <a:moveTo>
                    <a:pt x="0" y="0"/>
                  </a:moveTo>
                  <a:lnTo>
                    <a:pt x="21268944" y="0"/>
                  </a:lnTo>
                  <a:lnTo>
                    <a:pt x="21268944" y="952500"/>
                  </a:lnTo>
                  <a:lnTo>
                    <a:pt x="0" y="952500"/>
                  </a:lnTo>
                  <a:close/>
                </a:path>
              </a:pathLst>
            </a:custGeom>
            <a:blipFill>
              <a:blip r:embed="rId5">
                <a:alphaModFix amt="0"/>
              </a:blip>
              <a:stretch>
                <a:fillRect l="0" t="-385093" r="0" b="-385093"/>
              </a:stretch>
            </a:blipFill>
          </p:spPr>
        </p:sp>
        <p:sp>
          <p:nvSpPr>
            <p:cNvPr name="TextBox 382" id="382"/>
            <p:cNvSpPr txBox="true"/>
            <p:nvPr/>
          </p:nvSpPr>
          <p:spPr>
            <a:xfrm>
              <a:off x="0" y="-38100"/>
              <a:ext cx="21268944" cy="990600"/>
            </a:xfrm>
            <a:prstGeom prst="rect">
              <a:avLst/>
            </a:prstGeom>
          </p:spPr>
          <p:txBody>
            <a:bodyPr anchor="ctr" rtlCol="false" tIns="0" lIns="0" bIns="0" rIns="0"/>
            <a:lstStyle/>
            <a:p>
              <a:pPr algn="l">
                <a:lnSpc>
                  <a:spcPts val="2250"/>
                </a:lnSpc>
              </a:pPr>
              <a:r>
                <a:rPr lang="en-US" sz="1875" b="true">
                  <a:solidFill>
                    <a:srgbClr val="14313B"/>
                  </a:solidFill>
                  <a:latin typeface="Calibri (MS) Bold"/>
                  <a:ea typeface="Calibri (MS) Bold"/>
                  <a:cs typeface="Calibri (MS) Bold"/>
                  <a:sym typeface="Calibri (MS) Bold"/>
                </a:rPr>
                <a:t>Kokoh pada peringkat, bukan pada besaran: angka absolut 2050 berubah cukup besar antarkondisi → hasil bukan ramalan.</a:t>
              </a:r>
            </a:p>
          </p:txBody>
        </p:sp>
      </p:grpSp>
      <p:sp>
        <p:nvSpPr>
          <p:cNvPr name="TextBox 383" id="383"/>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61</a:t>
            </a:r>
          </a:p>
        </p:txBody>
      </p:sp>
      <p:sp>
        <p:nvSpPr>
          <p:cNvPr id="384" name="TextBox 383"/>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
        <p:nvSpPr>
          <p:cNvPr id="385"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4.8.6 · Implikasi Kebijakan</a:t>
            </a:r>
          </a:p>
          <a:p>
            <a:pPr algn="l">
              <a:lnSpc>
                <a:spcPct val="100000"/>
              </a:lnSpc>
            </a:pPr>
            <a:r>
              <a:rPr lang="en-US" sz="3500" b="true">
                <a:solidFill>
                  <a:srgbClr val="0B5E6E"/>
                </a:solidFill>
                <a:latin typeface="Calibri (MS) Bold"/>
                <a:ea typeface="Calibri (MS) Bold"/>
                <a:cs typeface="Calibri (MS) Bold"/>
                <a:sym typeface="Calibri (MS) Bold"/>
              </a:rPr>
              <a:t>Simulasi memetakan pertukaran kebijakan, bukan satu jawaban tunggal</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Freeform 52" id="52"/>
          <p:cNvSpPr/>
          <p:nvPr/>
        </p:nvSpPr>
        <p:spPr>
          <a:xfrm flipH="false" flipV="false" rot="0">
            <a:off x="806291" y="2315051"/>
            <a:ext cx="8194357" cy="3393758"/>
          </a:xfrm>
          <a:custGeom>
            <a:avLst/>
            <a:gdLst/>
            <a:ahLst/>
            <a:cxnLst/>
            <a:rect r="r" b="b" t="t" l="l"/>
            <a:pathLst>
              <a:path h="3393758"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3" id="53"/>
          <p:cNvGrpSpPr/>
          <p:nvPr/>
        </p:nvGrpSpPr>
        <p:grpSpPr>
          <a:xfrm rot="0">
            <a:off x="1165860" y="2633472"/>
            <a:ext cx="685800" cy="685800"/>
            <a:chOff x="0" y="0"/>
            <a:chExt cx="914400" cy="914400"/>
          </a:xfrm>
        </p:grpSpPr>
        <p:sp>
          <p:nvSpPr>
            <p:cNvPr name="Freeform 54" id="5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55" id="55"/>
          <p:cNvGrpSpPr/>
          <p:nvPr/>
        </p:nvGrpSpPr>
        <p:grpSpPr>
          <a:xfrm rot="0">
            <a:off x="1165860" y="2633472"/>
            <a:ext cx="685800" cy="685800"/>
            <a:chOff x="0" y="0"/>
            <a:chExt cx="914400" cy="914400"/>
          </a:xfrm>
        </p:grpSpPr>
        <p:sp>
          <p:nvSpPr>
            <p:cNvPr name="Freeform 56" id="5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57" id="57"/>
          <p:cNvGrpSpPr/>
          <p:nvPr/>
        </p:nvGrpSpPr>
        <p:grpSpPr>
          <a:xfrm rot="0">
            <a:off x="1165860" y="2604897"/>
            <a:ext cx="685800" cy="714375"/>
            <a:chOff x="0" y="0"/>
            <a:chExt cx="914400" cy="952500"/>
          </a:xfrm>
        </p:grpSpPr>
        <p:sp>
          <p:nvSpPr>
            <p:cNvPr name="Freeform 58" id="58"/>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59" id="59"/>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grpSp>
        <p:nvGrpSpPr>
          <p:cNvPr name="Group 60" id="60"/>
          <p:cNvGrpSpPr/>
          <p:nvPr/>
        </p:nvGrpSpPr>
        <p:grpSpPr>
          <a:xfrm rot="0">
            <a:off x="2125980" y="2633472"/>
            <a:ext cx="6583680" cy="685800"/>
            <a:chOff x="0" y="0"/>
            <a:chExt cx="8778240" cy="914400"/>
          </a:xfrm>
        </p:grpSpPr>
        <p:sp>
          <p:nvSpPr>
            <p:cNvPr name="Freeform 61" id="61"/>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62" id="62"/>
          <p:cNvGrpSpPr/>
          <p:nvPr/>
        </p:nvGrpSpPr>
        <p:grpSpPr>
          <a:xfrm rot="0">
            <a:off x="2125980" y="2604897"/>
            <a:ext cx="6583680" cy="714375"/>
            <a:chOff x="0" y="0"/>
            <a:chExt cx="8778240" cy="952500"/>
          </a:xfrm>
        </p:grpSpPr>
        <p:sp>
          <p:nvSpPr>
            <p:cNvPr name="Freeform 63" id="63"/>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64" id="64"/>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Prioritas tak terelakkan</a:t>
              </a:r>
            </a:p>
          </p:txBody>
        </p:sp>
      </p:grpSp>
      <p:sp>
        <p:nvSpPr>
          <p:cNvPr name="TextBox 65" id="65"/>
          <p:cNvSpPr txBox="true"/>
          <p:nvPr/>
        </p:nvSpPr>
        <p:spPr>
          <a:xfrm rot="0">
            <a:off x="1234440" y="347091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Development Priority tertinggi pada lapangan kerja dan nilai tambah, dengan konversi lahan pariwisata +15,64% vs BAU dan kepadatan tertinggi. Sustainable menihilkan konversi lahan fasilitas pariwisata sambil tetap tumbuh lebih tinggi dari BAU.</a:t>
            </a:r>
          </a:p>
        </p:txBody>
      </p:sp>
      <p:sp>
        <p:nvSpPr>
          <p:cNvPr name="Freeform 66" id="66"/>
          <p:cNvSpPr/>
          <p:nvPr/>
        </p:nvSpPr>
        <p:spPr>
          <a:xfrm flipH="false" flipV="false" rot="0">
            <a:off x="9282779" y="2315051"/>
            <a:ext cx="8194357" cy="3393758"/>
          </a:xfrm>
          <a:custGeom>
            <a:avLst/>
            <a:gdLst/>
            <a:ahLst/>
            <a:cxnLst/>
            <a:rect r="r" b="b" t="t" l="l"/>
            <a:pathLst>
              <a:path h="3393758"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7" id="67"/>
          <p:cNvGrpSpPr/>
          <p:nvPr/>
        </p:nvGrpSpPr>
        <p:grpSpPr>
          <a:xfrm rot="0">
            <a:off x="9642348" y="2633472"/>
            <a:ext cx="685800" cy="685800"/>
            <a:chOff x="0" y="0"/>
            <a:chExt cx="914400" cy="914400"/>
          </a:xfrm>
        </p:grpSpPr>
        <p:sp>
          <p:nvSpPr>
            <p:cNvPr name="Freeform 68" id="68"/>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69" id="69"/>
          <p:cNvGrpSpPr/>
          <p:nvPr/>
        </p:nvGrpSpPr>
        <p:grpSpPr>
          <a:xfrm rot="0">
            <a:off x="9642348" y="2633472"/>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71" id="71"/>
          <p:cNvGrpSpPr/>
          <p:nvPr/>
        </p:nvGrpSpPr>
        <p:grpSpPr>
          <a:xfrm rot="0">
            <a:off x="9642348" y="2604897"/>
            <a:ext cx="685800" cy="714375"/>
            <a:chOff x="0" y="0"/>
            <a:chExt cx="914400" cy="952500"/>
          </a:xfrm>
        </p:grpSpPr>
        <p:sp>
          <p:nvSpPr>
            <p:cNvPr name="Freeform 72" id="72"/>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73" id="73"/>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grpSp>
        <p:nvGrpSpPr>
          <p:cNvPr name="Group 74" id="74"/>
          <p:cNvGrpSpPr/>
          <p:nvPr/>
        </p:nvGrpSpPr>
        <p:grpSpPr>
          <a:xfrm rot="0">
            <a:off x="10602468" y="2633472"/>
            <a:ext cx="6583680" cy="685800"/>
            <a:chOff x="0" y="0"/>
            <a:chExt cx="8778240" cy="914400"/>
          </a:xfrm>
        </p:grpSpPr>
        <p:sp>
          <p:nvSpPr>
            <p:cNvPr name="Freeform 75" id="75"/>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76" id="76"/>
          <p:cNvGrpSpPr/>
          <p:nvPr/>
        </p:nvGrpSpPr>
        <p:grpSpPr>
          <a:xfrm rot="0">
            <a:off x="10602468" y="2604897"/>
            <a:ext cx="6583680" cy="714375"/>
            <a:chOff x="0" y="0"/>
            <a:chExt cx="8778240" cy="952500"/>
          </a:xfrm>
        </p:grpSpPr>
        <p:sp>
          <p:nvSpPr>
            <p:cNvPr name="Freeform 77" id="77"/>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78" id="78"/>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Instrumen lahan sektor pariwisata terbatas</a:t>
              </a:r>
            </a:p>
          </p:txBody>
        </p:sp>
      </p:grpSp>
      <p:sp>
        <p:nvSpPr>
          <p:cNvPr name="TextBox 79" id="79"/>
          <p:cNvSpPr txBox="true"/>
          <p:nvPr/>
        </p:nvSpPr>
        <p:spPr>
          <a:xfrm rot="0">
            <a:off x="9710928" y="347091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Lahan terbangun total hanya turun 0,91% karena konversi non-pariwisata tetap berjalan → pengendalian ruang perlu terpadu lintas sektor.</a:t>
            </a:r>
          </a:p>
        </p:txBody>
      </p:sp>
      <p:sp>
        <p:nvSpPr>
          <p:cNvPr name="Freeform 80" id="80"/>
          <p:cNvSpPr/>
          <p:nvPr/>
        </p:nvSpPr>
        <p:spPr>
          <a:xfrm flipH="false" flipV="false" rot="0">
            <a:off x="806291" y="5881211"/>
            <a:ext cx="8194357" cy="3393757"/>
          </a:xfrm>
          <a:custGeom>
            <a:avLst/>
            <a:gdLst/>
            <a:ahLst/>
            <a:cxnLst/>
            <a:rect r="r" b="b" t="t" l="l"/>
            <a:pathLst>
              <a:path h="3393757"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1" id="81"/>
          <p:cNvGrpSpPr/>
          <p:nvPr/>
        </p:nvGrpSpPr>
        <p:grpSpPr>
          <a:xfrm rot="0">
            <a:off x="1165860" y="6199632"/>
            <a:ext cx="685800" cy="685800"/>
            <a:chOff x="0" y="0"/>
            <a:chExt cx="914400" cy="914400"/>
          </a:xfrm>
        </p:grpSpPr>
        <p:sp>
          <p:nvSpPr>
            <p:cNvPr name="Freeform 82" id="8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83" id="83"/>
          <p:cNvGrpSpPr/>
          <p:nvPr/>
        </p:nvGrpSpPr>
        <p:grpSpPr>
          <a:xfrm rot="0">
            <a:off x="1165860" y="6199632"/>
            <a:ext cx="685800" cy="685800"/>
            <a:chOff x="0" y="0"/>
            <a:chExt cx="914400" cy="914400"/>
          </a:xfrm>
        </p:grpSpPr>
        <p:sp>
          <p:nvSpPr>
            <p:cNvPr name="Freeform 84" id="8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85" id="85"/>
          <p:cNvGrpSpPr/>
          <p:nvPr/>
        </p:nvGrpSpPr>
        <p:grpSpPr>
          <a:xfrm rot="0">
            <a:off x="1165860" y="6171057"/>
            <a:ext cx="685800" cy="714375"/>
            <a:chOff x="0" y="0"/>
            <a:chExt cx="914400" cy="952500"/>
          </a:xfrm>
        </p:grpSpPr>
        <p:sp>
          <p:nvSpPr>
            <p:cNvPr name="Freeform 86" id="86"/>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87" id="87"/>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grpSp>
        <p:nvGrpSpPr>
          <p:cNvPr name="Group 88" id="88"/>
          <p:cNvGrpSpPr/>
          <p:nvPr/>
        </p:nvGrpSpPr>
        <p:grpSpPr>
          <a:xfrm rot="0">
            <a:off x="2125980" y="6199632"/>
            <a:ext cx="6583680" cy="685800"/>
            <a:chOff x="0" y="0"/>
            <a:chExt cx="8778240" cy="914400"/>
          </a:xfrm>
        </p:grpSpPr>
        <p:sp>
          <p:nvSpPr>
            <p:cNvPr name="Freeform 89" id="89"/>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90" id="90"/>
          <p:cNvGrpSpPr/>
          <p:nvPr/>
        </p:nvGrpSpPr>
        <p:grpSpPr>
          <a:xfrm rot="0">
            <a:off x="2125980" y="6171057"/>
            <a:ext cx="6583680" cy="714375"/>
            <a:chOff x="0" y="0"/>
            <a:chExt cx="8778240" cy="952500"/>
          </a:xfrm>
        </p:grpSpPr>
        <p:sp>
          <p:nvSpPr>
            <p:cNvPr name="Freeform 91" id="91"/>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92" id="92"/>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Kepadatan butuh instrumen sisi permintaan</a:t>
              </a:r>
            </a:p>
          </p:txBody>
        </p:sp>
      </p:grpSp>
      <p:sp>
        <p:nvSpPr>
          <p:cNvPr name="TextBox 93" id="93"/>
          <p:cNvSpPr txBox="true"/>
          <p:nvPr/>
        </p:nvSpPr>
        <p:spPr>
          <a:xfrm rot="0">
            <a:off x="1234440" y="703707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Ambang kepadatan terlampaui 2041–2043 pada ketiga skenario; diperlukan pengelolaan sebaran kunjungan antarwaktu dan antarlokasi, di luar cakupan model.</a:t>
            </a:r>
          </a:p>
        </p:txBody>
      </p:sp>
      <p:sp>
        <p:nvSpPr>
          <p:cNvPr name="Freeform 94" id="94"/>
          <p:cNvSpPr/>
          <p:nvPr/>
        </p:nvSpPr>
        <p:spPr>
          <a:xfrm flipH="false" flipV="false" rot="0">
            <a:off x="9282779" y="5881211"/>
            <a:ext cx="8194357" cy="3393757"/>
          </a:xfrm>
          <a:custGeom>
            <a:avLst/>
            <a:gdLst/>
            <a:ahLst/>
            <a:cxnLst/>
            <a:rect r="r" b="b" t="t" l="l"/>
            <a:pathLst>
              <a:path h="3393757"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5" id="95"/>
          <p:cNvGrpSpPr/>
          <p:nvPr/>
        </p:nvGrpSpPr>
        <p:grpSpPr>
          <a:xfrm rot="0">
            <a:off x="9642348" y="6199632"/>
            <a:ext cx="685800" cy="685800"/>
            <a:chOff x="0" y="0"/>
            <a:chExt cx="914400" cy="914400"/>
          </a:xfrm>
        </p:grpSpPr>
        <p:sp>
          <p:nvSpPr>
            <p:cNvPr name="Freeform 96" id="9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97" id="97"/>
          <p:cNvGrpSpPr/>
          <p:nvPr/>
        </p:nvGrpSpPr>
        <p:grpSpPr>
          <a:xfrm rot="0">
            <a:off x="9642348" y="6199632"/>
            <a:ext cx="685800" cy="685800"/>
            <a:chOff x="0" y="0"/>
            <a:chExt cx="914400" cy="914400"/>
          </a:xfrm>
        </p:grpSpPr>
        <p:sp>
          <p:nvSpPr>
            <p:cNvPr name="Freeform 98" id="9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99" id="99"/>
          <p:cNvGrpSpPr/>
          <p:nvPr/>
        </p:nvGrpSpPr>
        <p:grpSpPr>
          <a:xfrm rot="0">
            <a:off x="9642348" y="6171057"/>
            <a:ext cx="685800" cy="714375"/>
            <a:chOff x="0" y="0"/>
            <a:chExt cx="914400" cy="952500"/>
          </a:xfrm>
        </p:grpSpPr>
        <p:sp>
          <p:nvSpPr>
            <p:cNvPr name="Freeform 100" id="100"/>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101" id="101"/>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4</a:t>
              </a:r>
            </a:p>
          </p:txBody>
        </p:sp>
      </p:grpSp>
      <p:grpSp>
        <p:nvGrpSpPr>
          <p:cNvPr name="Group 102" id="102"/>
          <p:cNvGrpSpPr/>
          <p:nvPr/>
        </p:nvGrpSpPr>
        <p:grpSpPr>
          <a:xfrm rot="0">
            <a:off x="10602468" y="6199632"/>
            <a:ext cx="6583680" cy="685800"/>
            <a:chOff x="0" y="0"/>
            <a:chExt cx="8778240" cy="914400"/>
          </a:xfrm>
        </p:grpSpPr>
        <p:sp>
          <p:nvSpPr>
            <p:cNvPr name="Freeform 103" id="103"/>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104" id="104"/>
          <p:cNvGrpSpPr/>
          <p:nvPr/>
        </p:nvGrpSpPr>
        <p:grpSpPr>
          <a:xfrm rot="0">
            <a:off x="10602468" y="6171057"/>
            <a:ext cx="6583680" cy="714375"/>
            <a:chOff x="0" y="0"/>
            <a:chExt cx="8778240" cy="952500"/>
          </a:xfrm>
        </p:grpSpPr>
        <p:sp>
          <p:nvSpPr>
            <p:cNvPr name="Freeform 105" id="105"/>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106" id="106"/>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Ketegangan antardokumen kebijakan</a:t>
              </a:r>
            </a:p>
          </p:txBody>
        </p:sp>
      </p:grpSp>
      <p:sp>
        <p:nvSpPr>
          <p:cNvPr name="TextBox 107" id="107"/>
          <p:cNvSpPr txBox="true"/>
          <p:nvPr/>
        </p:nvSpPr>
        <p:spPr>
          <a:xfrm rot="0">
            <a:off x="9710928" y="703707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Perda DIY 1/2012 (pembukaan lahan baru) vs Perda DIY 6/2021 (larangan alih fungsi lahan pangan) terpotret secara kuantitatif dalam Development Priority vs Sustainable.</a:t>
            </a:r>
          </a:p>
        </p:txBody>
      </p:sp>
      <p:sp>
        <p:nvSpPr>
          <p:cNvPr name="TextBox 108" id="10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62</a:t>
            </a:r>
          </a:p>
        </p:txBody>
      </p:sp>
      <p:sp>
        <p:nvSpPr>
          <p:cNvPr id="109" name="TextBox 10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
        <p:nvSpPr>
          <p:cNvPr id="110"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Ringkasan Hasil Tujuan 2</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63</a:t>
            </a:r>
          </a:p>
        </p:txBody>
      </p:sp>
      <p:sp>
        <p:nvSpPr>
          <p:cNvPr id="148" name="Rounded Rectangle 147"/>
          <p:cNvSpPr/>
          <p:nvPr/>
        </p:nvSpPr>
        <p:spPr>
          <a:xfrm>
            <a:off x="822960" y="2286000"/>
            <a:ext cx="16642080" cy="77724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2070" b="1" i="0">
                <a:solidFill>
                  <a:srgbClr val="FFFFFF"/>
                </a:solidFill>
                <a:latin typeface="Calibri (MS) Bold"/>
              </a:rPr>
              <a:t>Apa hasil yang diperoleh untuk Tujuan 2?</a:t>
            </a:r>
          </a:p>
        </p:txBody>
      </p:sp>
      <p:sp>
        <p:nvSpPr>
          <p:cNvPr id="149" name="Rounded Rectangle 148"/>
          <p:cNvSpPr/>
          <p:nvPr/>
        </p:nvSpPr>
        <p:spPr>
          <a:xfrm>
            <a:off x="822960" y="329184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0" name="Oval 149"/>
          <p:cNvSpPr/>
          <p:nvPr/>
        </p:nvSpPr>
        <p:spPr>
          <a:xfrm>
            <a:off x="1051560" y="357759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1</a:t>
            </a:r>
          </a:p>
        </p:txBody>
      </p:sp>
      <p:sp>
        <p:nvSpPr>
          <p:cNvPr id="151" name="TextBox 150"/>
          <p:cNvSpPr txBox="1"/>
          <p:nvPr/>
        </p:nvSpPr>
        <p:spPr>
          <a:xfrm>
            <a:off x="1828800" y="338328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Citra satelit terintegrasi</a:t>
            </a:r>
          </a:p>
        </p:txBody>
      </p:sp>
      <p:sp>
        <p:nvSpPr>
          <p:cNvPr id="152" name="TextBox 151"/>
          <p:cNvSpPr txBox="1"/>
          <p:nvPr/>
        </p:nvSpPr>
        <p:spPr>
          <a:xfrm>
            <a:off x="6126480" y="338328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VIIRS mengisi ODTW 2015–2017 &amp; 2025 (R² selisih 0,405; LOOCV 5,99%); Dynamic World menyediakan lahan terbangun 2016–2025 (OA 89,95%; κ 0,61).</a:t>
            </a:r>
          </a:p>
        </p:txBody>
      </p:sp>
      <p:sp>
        <p:nvSpPr>
          <p:cNvPr id="153" name="Rounded Rectangle 152"/>
          <p:cNvSpPr/>
          <p:nvPr/>
        </p:nvSpPr>
        <p:spPr>
          <a:xfrm>
            <a:off x="822960" y="459486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4" name="Oval 153"/>
          <p:cNvSpPr/>
          <p:nvPr/>
        </p:nvSpPr>
        <p:spPr>
          <a:xfrm>
            <a:off x="1051560" y="488061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2</a:t>
            </a:r>
          </a:p>
        </p:txBody>
      </p:sp>
      <p:sp>
        <p:nvSpPr>
          <p:cNvPr id="155" name="TextBox 154"/>
          <p:cNvSpPr txBox="1"/>
          <p:nvPr/>
        </p:nvSpPr>
        <p:spPr>
          <a:xfrm>
            <a:off x="1828800" y="468630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Model SD 61 variabel</a:t>
            </a:r>
          </a:p>
        </p:txBody>
      </p:sp>
      <p:sp>
        <p:nvSpPr>
          <p:cNvPr id="156" name="TextBox 155"/>
          <p:cNvSpPr txBox="1"/>
          <p:nvPr/>
        </p:nvSpPr>
        <p:spPr>
          <a:xfrm>
            <a:off x="6126480" y="468630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5 stock, 10 flow, 11 auxiliary, 35 parameter dari 5 kategori sumber; nilai awal 2025 terlacak ke data resmi dan citra.</a:t>
            </a:r>
          </a:p>
        </p:txBody>
      </p:sp>
      <p:sp>
        <p:nvSpPr>
          <p:cNvPr id="157" name="Rounded Rectangle 156"/>
          <p:cNvSpPr/>
          <p:nvPr/>
        </p:nvSpPr>
        <p:spPr>
          <a:xfrm>
            <a:off x="822960" y="589788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8" name="Oval 157"/>
          <p:cNvSpPr/>
          <p:nvPr/>
        </p:nvSpPr>
        <p:spPr>
          <a:xfrm>
            <a:off x="1051560" y="618363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3</a:t>
            </a:r>
          </a:p>
        </p:txBody>
      </p:sp>
      <p:sp>
        <p:nvSpPr>
          <p:cNvPr id="159" name="TextBox 158"/>
          <p:cNvSpPr txBox="1"/>
          <p:nvPr/>
        </p:nvSpPr>
        <p:spPr>
          <a:xfrm>
            <a:off x="1828800" y="598932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Valid secara struktur</a:t>
            </a:r>
          </a:p>
        </p:txBody>
      </p:sp>
      <p:sp>
        <p:nvSpPr>
          <p:cNvPr id="160" name="TextBox 159"/>
          <p:cNvSpPr txBox="1"/>
          <p:nvPr/>
        </p:nvSpPr>
        <p:spPr>
          <a:xfrm>
            <a:off x="6126480" y="598932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6 uji struktur lolos (17 uji ekstrem tanpa gagal); perilaku memadai per subsistem; kalibrasi tidak mengubah parameter.</a:t>
            </a:r>
          </a:p>
        </p:txBody>
      </p:sp>
      <p:sp>
        <p:nvSpPr>
          <p:cNvPr id="161" name="Rounded Rectangle 160"/>
          <p:cNvSpPr/>
          <p:nvPr/>
        </p:nvSpPr>
        <p:spPr>
          <a:xfrm>
            <a:off x="822960" y="720090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62" name="Oval 161"/>
          <p:cNvSpPr/>
          <p:nvPr/>
        </p:nvSpPr>
        <p:spPr>
          <a:xfrm>
            <a:off x="1051560" y="748665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4</a:t>
            </a:r>
          </a:p>
        </p:txBody>
      </p:sp>
      <p:sp>
        <p:nvSpPr>
          <p:cNvPr id="163" name="TextBox 162"/>
          <p:cNvSpPr txBox="1"/>
          <p:nvPr/>
        </p:nvSpPr>
        <p:spPr>
          <a:xfrm>
            <a:off x="1828800" y="729234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Dasar simulasi kebijakan</a:t>
            </a:r>
          </a:p>
        </p:txBody>
      </p:sp>
      <p:sp>
        <p:nvSpPr>
          <p:cNvPr id="164" name="TextBox 163"/>
          <p:cNvSpPr txBox="1"/>
          <p:nvPr/>
        </p:nvSpPr>
        <p:spPr>
          <a:xfrm>
            <a:off x="6126480" y="729234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Tidak ada skenario unggul di ketiga dimensi; DP unggul ekonomi, Sustainable unggul lingkungan, BAU unggul kepadatan — urutan kokoh pada 7 kondisi.</a:t>
            </a:r>
          </a:p>
        </p:txBody>
      </p:sp>
      <p:sp>
        <p:nvSpPr>
          <p:cNvPr id="165" name="Rounded Rectangle 164"/>
          <p:cNvSpPr/>
          <p:nvPr/>
        </p:nvSpPr>
        <p:spPr>
          <a:xfrm>
            <a:off x="822960" y="8503920"/>
            <a:ext cx="16642080" cy="7315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Model terintegrasi citra, tervalidasi, dan mampu membandingkan skenario kebijakan secara kuantitatif beserta kekokohannya.</a:t>
            </a:r>
          </a:p>
        </p:txBody>
      </p:sp>
      <p:sp>
        <p:nvSpPr>
          <p:cNvPr id="166"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bg>
      <p:bgPr>
        <a:solidFill>
          <a:srgbClr val="0B5E6E"/>
        </a:solidFill>
      </p:bgPr>
    </p:bg>
    <p:spTree>
      <p:nvGrpSpPr>
        <p:cNvPr id="1" name=""/>
        <p:cNvGrpSpPr/>
        <p:nvPr/>
      </p:nvGrpSpPr>
      <p:grpSpPr>
        <a:xfrm>
          <a:off x="0" y="0"/>
          <a:ext cx="0" cy="0"/>
          <a:chOff x="0" y="0"/>
          <a:chExt cx="0" cy="0"/>
        </a:xfrm>
      </p:grpSpPr>
      <p:grpSp>
        <p:nvGrpSpPr>
          <p:cNvPr name="Group 2" id="2"/>
          <p:cNvGrpSpPr/>
          <p:nvPr/>
        </p:nvGrpSpPr>
        <p:grpSpPr>
          <a:xfrm rot="0">
            <a:off x="8462772" y="1645920"/>
            <a:ext cx="1371600" cy="1371600"/>
            <a:chOff x="0" y="0"/>
            <a:chExt cx="1828800" cy="1828800"/>
          </a:xfrm>
        </p:grpSpPr>
        <p:sp>
          <p:nvSpPr>
            <p:cNvPr name="Freeform 3" id="3"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3497580"/>
            <a:ext cx="16637508" cy="1371600"/>
            <a:chOff x="0" y="0"/>
            <a:chExt cx="22183344" cy="1828800"/>
          </a:xfrm>
        </p:grpSpPr>
        <p:sp>
          <p:nvSpPr>
            <p:cNvPr name="Freeform 5" id="5"/>
            <p:cNvSpPr/>
            <p:nvPr/>
          </p:nvSpPr>
          <p:spPr>
            <a:xfrm flipH="false" flipV="false" rot="0">
              <a:off x="0" y="0"/>
              <a:ext cx="22183344" cy="1828800"/>
            </a:xfrm>
            <a:custGeom>
              <a:avLst/>
              <a:gdLst/>
              <a:ahLst/>
              <a:cxnLst/>
              <a:rect r="r" b="b" t="t" l="l"/>
              <a:pathLst>
                <a:path h="1828800" w="22183344">
                  <a:moveTo>
                    <a:pt x="0" y="0"/>
                  </a:moveTo>
                  <a:lnTo>
                    <a:pt x="22183344" y="0"/>
                  </a:lnTo>
                  <a:lnTo>
                    <a:pt x="22183344" y="1828800"/>
                  </a:lnTo>
                  <a:lnTo>
                    <a:pt x="0" y="1828800"/>
                  </a:lnTo>
                  <a:close/>
                </a:path>
              </a:pathLst>
            </a:custGeom>
            <a:blipFill>
              <a:blip r:embed="rId4">
                <a:alphaModFix amt="0"/>
              </a:blip>
              <a:stretch>
                <a:fillRect l="0" t="-186188" r="0" b="-186189"/>
              </a:stretch>
            </a:blipFill>
          </p:spPr>
          <p:txBody>
            <a:bodyPr/>
            <a:p/>
          </p:txBody>
        </p:sp>
      </p:grpSp>
      <p:grpSp>
        <p:nvGrpSpPr>
          <p:cNvPr name="Group 6" id="6"/>
          <p:cNvGrpSpPr/>
          <p:nvPr/>
        </p:nvGrpSpPr>
        <p:grpSpPr>
          <a:xfrm rot="0">
            <a:off x="822960" y="3376136"/>
            <a:ext cx="16637508" cy="1493044"/>
            <a:chOff x="0" y="0"/>
            <a:chExt cx="22183344" cy="1990725"/>
          </a:xfrm>
        </p:grpSpPr>
        <p:sp>
          <p:nvSpPr>
            <p:cNvPr name="Freeform 7" id="7"/>
            <p:cNvSpPr/>
            <p:nvPr/>
          </p:nvSpPr>
          <p:spPr>
            <a:xfrm flipH="false" flipV="false" rot="0">
              <a:off x="0" y="0"/>
              <a:ext cx="22183344" cy="1990725"/>
            </a:xfrm>
            <a:custGeom>
              <a:avLst/>
              <a:gdLst/>
              <a:ahLst/>
              <a:cxnLst/>
              <a:rect r="r" b="b" t="t" l="l"/>
              <a:pathLst>
                <a:path h="1990725" w="22183344">
                  <a:moveTo>
                    <a:pt x="0" y="0"/>
                  </a:moveTo>
                  <a:lnTo>
                    <a:pt x="22183344" y="0"/>
                  </a:lnTo>
                  <a:lnTo>
                    <a:pt x="22183344" y="1990725"/>
                  </a:lnTo>
                  <a:lnTo>
                    <a:pt x="0" y="1990725"/>
                  </a:lnTo>
                  <a:close/>
                </a:path>
              </a:pathLst>
            </a:custGeom>
            <a:blipFill>
              <a:blip r:embed="rId5">
                <a:alphaModFix amt="0"/>
              </a:blip>
              <a:stretch>
                <a:fillRect l="0" t="-167128" r="0" b="-167128"/>
              </a:stretch>
            </a:blipFill>
          </p:spPr>
          <p:txBody>
            <a:bodyPr/>
            <a:p/>
          </p:txBody>
        </p:sp>
        <p:sp>
          <p:nvSpPr>
            <p:cNvPr name="TextBox 8" id="8"/>
            <p:cNvSpPr txBox="true"/>
            <p:nvPr/>
          </p:nvSpPr>
          <p:spPr>
            <a:xfrm>
              <a:off x="0" y="-161925"/>
              <a:ext cx="22183344" cy="2152650"/>
            </a:xfrm>
            <a:prstGeom prst="rect">
              <a:avLst/>
            </a:prstGeom>
          </p:spPr>
          <p:txBody>
            <a:bodyPr anchor="ctr" rtlCol="false" tIns="0" lIns="0" bIns="0" rIns="0"/>
            <a:lstStyle/>
            <a:p>
              <a:pPr algn="ctr">
                <a:lnSpc>
                  <a:spcPts val="9360"/>
                </a:lnSpc>
              </a:pPr>
              <a:r>
                <a:rPr lang="en-US" sz="7800" b="true">
                  <a:solidFill>
                    <a:srgbClr val="FFD23B"/>
                  </a:solidFill>
                  <a:latin typeface="Calibri (MS) Bold"/>
                  <a:ea typeface="Calibri (MS) Bold"/>
                  <a:cs typeface="Calibri (MS) Bold"/>
                  <a:sym typeface="Calibri (MS) Bold"/>
                </a:rPr>
                <a:t>Tujuan 3</a:t>
              </a:r>
            </a:p>
          </p:txBody>
        </p:sp>
      </p:grpSp>
      <p:sp>
        <p:nvSpPr>
          <p:cNvPr name="TextBox 9" id="9"/>
          <p:cNvSpPr txBox="true"/>
          <p:nvPr/>
        </p:nvSpPr>
        <p:spPr>
          <a:xfrm rot="0">
            <a:off x="2057400" y="4979670"/>
            <a:ext cx="14168628" cy="1192530"/>
          </a:xfrm>
          <a:prstGeom prst="rect">
            <a:avLst/>
          </a:prstGeom>
        </p:spPr>
        <p:txBody>
          <a:bodyPr anchor="t" rtlCol="false" tIns="0" lIns="0" bIns="0" rIns="0">
            <a:spAutoFit/>
          </a:bodyPr>
          <a:lstStyle/>
          <a:p>
            <a:pPr algn="ctr">
              <a:lnSpc>
                <a:spcPts val="3060"/>
              </a:lnSpc>
            </a:pPr>
            <a:r>
              <a:rPr lang="en-US" sz="2400">
                <a:solidFill>
                  <a:srgbClr val="FFFFFF"/>
                </a:solidFill>
                <a:latin typeface="Calibri (MS)"/>
                <a:ea typeface="Calibri (MS)"/>
                <a:cs typeface="Calibri (MS)"/>
                <a:sym typeface="Calibri (MS)"/>
              </a:rPr>
              <a:t>Membangun aplikasi berbasis web yang mengimplementasikan hasil pemodelan dan simulasi skenario kebijakan sebagai alat bantu analisis dan pengambilan keputusan.</a:t>
            </a:r>
          </a:p>
        </p:txBody>
      </p:sp>
      <p:sp>
        <p:nvSpPr>
          <p:cNvPr name="TextBox 10" id="10"/>
          <p:cNvSpPr txBox="true"/>
          <p:nvPr/>
        </p:nvSpPr>
        <p:spPr>
          <a:xfrm rot="0">
            <a:off x="822960" y="6332220"/>
            <a:ext cx="16637508" cy="662940"/>
          </a:xfrm>
          <a:prstGeom prst="rect">
            <a:avLst/>
          </a:prstGeom>
        </p:spPr>
        <p:txBody>
          <a:bodyPr anchor="t" rtlCol="false" tIns="0" lIns="0" bIns="0" rIns="0">
            <a:spAutoFit/>
          </a:bodyPr>
          <a:lstStyle/>
          <a:p>
            <a:pPr algn="ctr">
              <a:lnSpc>
                <a:spcPts val="2700"/>
              </a:lnSpc>
            </a:pPr>
            <a:r>
              <a:rPr lang="en-US" sz="1800" b="true">
                <a:solidFill>
                  <a:srgbClr val="FFFFFF"/>
                </a:solidFill>
                <a:latin typeface="Calibri (MS) Bold"/>
                <a:ea typeface="Calibri (MS) Bold"/>
                <a:cs typeface="Calibri (MS) Bold"/>
                <a:sym typeface="Calibri (MS) Bold"/>
              </a:rPr>
              <a:t>Alasan &amp; kebutuhan  →  Arsitektur  →  Fitur  →  Uji fungsional  →  Usability (SUS)</a:t>
            </a:r>
          </a:p>
        </p:txBody>
      </p:sp>
      <p:grpSp>
        <p:nvGrpSpPr>
          <p:cNvPr name="Group 11" id="11"/>
          <p:cNvGrpSpPr/>
          <p:nvPr/>
        </p:nvGrpSpPr>
        <p:grpSpPr>
          <a:xfrm rot="0">
            <a:off x="6035040" y="7543800"/>
            <a:ext cx="6213348" cy="685800"/>
            <a:chOff x="0" y="0"/>
            <a:chExt cx="8284464" cy="914400"/>
          </a:xfrm>
        </p:grpSpPr>
        <p:sp>
          <p:nvSpPr>
            <p:cNvPr name="Freeform 12" id="12"/>
            <p:cNvSpPr/>
            <p:nvPr/>
          </p:nvSpPr>
          <p:spPr>
            <a:xfrm flipH="false" flipV="false" rot="0">
              <a:off x="0" y="0"/>
              <a:ext cx="8284464" cy="914400"/>
            </a:xfrm>
            <a:custGeom>
              <a:avLst/>
              <a:gdLst/>
              <a:ahLst/>
              <a:cxnLst/>
              <a:rect r="r" b="b" t="t" l="l"/>
              <a:pathLst>
                <a:path h="914400" w="8284464">
                  <a:moveTo>
                    <a:pt x="0" y="457200"/>
                  </a:moveTo>
                  <a:cubicBezTo>
                    <a:pt x="0" y="204724"/>
                    <a:pt x="204724" y="0"/>
                    <a:pt x="457200" y="0"/>
                  </a:cubicBezTo>
                  <a:lnTo>
                    <a:pt x="7827264" y="0"/>
                  </a:lnTo>
                  <a:cubicBezTo>
                    <a:pt x="8079740" y="0"/>
                    <a:pt x="8284464" y="204724"/>
                    <a:pt x="8284464" y="457200"/>
                  </a:cubicBezTo>
                  <a:cubicBezTo>
                    <a:pt x="8284464" y="709676"/>
                    <a:pt x="8079740" y="914400"/>
                    <a:pt x="7827264" y="914400"/>
                  </a:cubicBezTo>
                  <a:lnTo>
                    <a:pt x="457200" y="914400"/>
                  </a:lnTo>
                  <a:cubicBezTo>
                    <a:pt x="204724" y="914400"/>
                    <a:pt x="0" y="709676"/>
                    <a:pt x="0" y="457200"/>
                  </a:cubicBezTo>
                  <a:close/>
                </a:path>
              </a:pathLst>
            </a:custGeom>
            <a:solidFill>
              <a:srgbClr val="39C0D3"/>
            </a:solidFill>
          </p:spPr>
          <p:txBody>
            <a:bodyPr/>
            <a:p/>
          </p:txBody>
        </p:sp>
      </p:grpSp>
      <p:grpSp>
        <p:nvGrpSpPr>
          <p:cNvPr name="Group 13" id="13"/>
          <p:cNvGrpSpPr/>
          <p:nvPr/>
        </p:nvGrpSpPr>
        <p:grpSpPr>
          <a:xfrm rot="0">
            <a:off x="6035040" y="7543800"/>
            <a:ext cx="6213348" cy="685800"/>
            <a:chOff x="0" y="0"/>
            <a:chExt cx="8284464" cy="914400"/>
          </a:xfrm>
        </p:grpSpPr>
        <p:sp>
          <p:nvSpPr>
            <p:cNvPr name="Freeform 14" id="14"/>
            <p:cNvSpPr/>
            <p:nvPr/>
          </p:nvSpPr>
          <p:spPr>
            <a:xfrm flipH="false" flipV="false" rot="0">
              <a:off x="0" y="0"/>
              <a:ext cx="8284464" cy="914400"/>
            </a:xfrm>
            <a:custGeom>
              <a:avLst/>
              <a:gdLst/>
              <a:ahLst/>
              <a:cxnLst/>
              <a:rect r="r" b="b" t="t" l="l"/>
              <a:pathLst>
                <a:path h="914400" w="8284464">
                  <a:moveTo>
                    <a:pt x="0" y="0"/>
                  </a:moveTo>
                  <a:lnTo>
                    <a:pt x="8284464" y="0"/>
                  </a:lnTo>
                  <a:lnTo>
                    <a:pt x="8284464" y="914400"/>
                  </a:lnTo>
                  <a:lnTo>
                    <a:pt x="0" y="914400"/>
                  </a:lnTo>
                  <a:close/>
                </a:path>
              </a:pathLst>
            </a:custGeom>
            <a:blipFill>
              <a:blip r:embed="rId4">
                <a:alphaModFix amt="0"/>
              </a:blip>
              <a:stretch>
                <a:fillRect l="0" t="-126411" r="0" b="-126412"/>
              </a:stretch>
            </a:blipFill>
          </p:spPr>
          <p:txBody>
            <a:bodyPr/>
            <a:p/>
          </p:txBody>
        </p:sp>
      </p:grpSp>
      <p:grpSp>
        <p:nvGrpSpPr>
          <p:cNvPr name="Group 15" id="15"/>
          <p:cNvGrpSpPr/>
          <p:nvPr/>
        </p:nvGrpSpPr>
        <p:grpSpPr>
          <a:xfrm rot="0">
            <a:off x="6035040" y="7508081"/>
            <a:ext cx="6213348" cy="721519"/>
            <a:chOff x="0" y="0"/>
            <a:chExt cx="8284464" cy="962025"/>
          </a:xfrm>
        </p:grpSpPr>
        <p:sp>
          <p:nvSpPr>
            <p:cNvPr name="Freeform 16" id="16"/>
            <p:cNvSpPr/>
            <p:nvPr/>
          </p:nvSpPr>
          <p:spPr>
            <a:xfrm flipH="false" flipV="false" rot="0">
              <a:off x="0" y="0"/>
              <a:ext cx="8284464" cy="962025"/>
            </a:xfrm>
            <a:custGeom>
              <a:avLst/>
              <a:gdLst/>
              <a:ahLst/>
              <a:cxnLst/>
              <a:rect r="r" b="b" t="t" l="l"/>
              <a:pathLst>
                <a:path h="962025" w="8284464">
                  <a:moveTo>
                    <a:pt x="0" y="0"/>
                  </a:moveTo>
                  <a:lnTo>
                    <a:pt x="8284464" y="0"/>
                  </a:lnTo>
                  <a:lnTo>
                    <a:pt x="8284464" y="962025"/>
                  </a:lnTo>
                  <a:lnTo>
                    <a:pt x="0" y="962025"/>
                  </a:lnTo>
                  <a:close/>
                </a:path>
              </a:pathLst>
            </a:custGeom>
            <a:blipFill>
              <a:blip r:embed="rId5">
                <a:alphaModFix amt="0"/>
              </a:blip>
              <a:stretch>
                <a:fillRect l="0" t="-117795" r="0" b="-117795"/>
              </a:stretch>
            </a:blipFill>
          </p:spPr>
          <p:txBody>
            <a:bodyPr/>
            <a:p/>
          </p:txBody>
        </p:sp>
        <p:sp>
          <p:nvSpPr>
            <p:cNvPr name="TextBox 17" id="17"/>
            <p:cNvSpPr txBox="true"/>
            <p:nvPr/>
          </p:nvSpPr>
          <p:spPr>
            <a:xfrm>
              <a:off x="0" y="-47625"/>
              <a:ext cx="8284464" cy="100965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Ringkasan hasil: slide 70</a:t>
              </a:r>
            </a:p>
          </p:txBody>
        </p:sp>
      </p:grpSp>
      <p:sp>
        <p:nvSpPr>
          <p:cNvPr id="18" name="Penanda prioritas S"/>
          <p:cNvSpPr/>
          <p:nvPr/>
        </p:nvSpPr>
        <p:spPr>
          <a:xfrm>
            <a:off x="16962120" y="955548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3.9 &amp; 4.9.1 · Implementasi Aplikasi Berbasis Web</a:t>
            </a:r>
          </a:p>
          <a:p>
            <a:pPr algn="l">
              <a:lnSpc>
                <a:spcPct val="100000"/>
              </a:lnSpc>
            </a:pPr>
            <a:r>
              <a:rPr lang="en-US" sz="3500" b="true">
                <a:solidFill>
                  <a:srgbClr val="0B5E6E"/>
                </a:solidFill>
                <a:latin typeface="Calibri (MS) Bold"/>
                <a:ea typeface="Calibri (MS) Bold"/>
                <a:cs typeface="Calibri (MS) Bold"/>
                <a:sym typeface="Calibri (MS) Bold"/>
              </a:rPr>
              <a:t>Dari model ke alat bantu keputusan: alasan dan kebutuhan pengguna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65</a:t>
            </a:r>
          </a:p>
        </p:txBody>
      </p:sp>
      <p:sp>
        <p:nvSpPr>
          <p:cNvPr id="148" name="Rounded Rectangle 147"/>
          <p:cNvSpPr/>
          <p:nvPr/>
        </p:nvSpPr>
        <p:spPr>
          <a:xfrm>
            <a:off x="822960" y="2286000"/>
            <a:ext cx="7863840" cy="23774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950" b="1" i="0">
                <a:solidFill>
                  <a:srgbClr val="E4604F"/>
                </a:solidFill>
                <a:latin typeface="Calibri (MS) Bold"/>
              </a:rPr>
              <a:t>Masalah</a:t>
            </a:r>
          </a:p>
          <a:p>
            <a:pPr algn="l">
              <a:spcAft>
                <a:spcPts val="300"/>
              </a:spcAft>
            </a:pPr>
            <a:r>
              <a:rPr sz="1720" b="0" i="0">
                <a:solidFill>
                  <a:srgbClr val="14313B"/>
                </a:solidFill>
                <a:latin typeface="Calibri (MS)"/>
              </a:rPr>
              <a:t>Hasil model biasanya berhenti di grafik statis dan laporan; menjalankan model butuh Vensim dan keahlian pemodelan, sehingga sulit dipakai pemangku kepentingan non-teknis.</a:t>
            </a:r>
          </a:p>
        </p:txBody>
      </p:sp>
      <p:sp>
        <p:nvSpPr>
          <p:cNvPr id="149" name="Rounded Rectangle 148"/>
          <p:cNvSpPr/>
          <p:nvPr/>
        </p:nvSpPr>
        <p:spPr>
          <a:xfrm>
            <a:off x="822960" y="4846320"/>
            <a:ext cx="7863840" cy="24231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950" b="1" i="0">
                <a:solidFill>
                  <a:srgbClr val="0B5E6E"/>
                </a:solidFill>
                <a:latin typeface="Calibri (MS) Bold"/>
              </a:rPr>
              <a:t>Prinsip rancangan</a:t>
            </a:r>
          </a:p>
          <a:p>
            <a:pPr algn="l">
              <a:spcAft>
                <a:spcPts val="300"/>
              </a:spcAft>
            </a:pPr>
            <a:r>
              <a:rPr sz="1720" b="0" i="0">
                <a:solidFill>
                  <a:srgbClr val="14313B"/>
                </a:solidFill>
                <a:latin typeface="Calibri (MS)"/>
              </a:rPr>
              <a:t>Model sistem dinamis tetap menjadi sumber logika perhitungan; antarmuka hanya lapisan interaksi (menerima masukan, meneruskan ke model, menampilkan keluaran). Konsep decision support system (Power, 2002).</a:t>
            </a:r>
          </a:p>
        </p:txBody>
      </p:sp>
      <p:graphicFrame>
        <p:nvGraphicFramePr>
          <p:cNvPr id="150" name="Table 149"/>
          <p:cNvGraphicFramePr>
            <a:graphicFrameLocks noGrp="1"/>
          </p:cNvGraphicFramePr>
          <p:nvPr/>
        </p:nvGraphicFramePr>
        <p:xfrm>
          <a:off x="9052560" y="2286000"/>
          <a:ext cx="8412480" cy="4937760"/>
        </p:xfrm>
        <a:graphic>
          <a:graphicData uri="http://schemas.openxmlformats.org/drawingml/2006/table">
            <a:tbl>
              <a:tblPr firstRow="1" bandRow="1">
                <a:tableStyleId>{5C22544A-7EE6-4342-B048-85BDC9FD1C3A}</a:tableStyleId>
              </a:tblPr>
              <a:tblGrid>
                <a:gridCol w="4023360"/>
                <a:gridCol w="4389120"/>
              </a:tblGrid>
              <a:tr h="822960">
                <a:tc>
                  <a:txBody>
                    <a:bodyPr wrap="square"/>
                    <a:lstStyle/>
                    <a:p>
                      <a:r>
                        <a:rPr sz="1550" b="1" i="0">
                          <a:solidFill>
                            <a:srgbClr val="FFFFFF"/>
                          </a:solidFill>
                          <a:latin typeface="Calibri (MS) Bold"/>
                        </a:rPr>
                        <a:t>Kebutuhan pengguna</a:t>
                      </a:r>
                    </a:p>
                  </a:txBody>
                  <a:tcPr marL="73152" marR="73152" marT="36576" marB="36576" anchor="ctr">
                    <a:solidFill>
                      <a:srgbClr val="0B5E6E"/>
                    </a:solidFill>
                  </a:tcPr>
                </a:tc>
                <a:tc>
                  <a:txBody>
                    <a:bodyPr wrap="square"/>
                    <a:lstStyle/>
                    <a:p>
                      <a:r>
                        <a:rPr sz="1550" b="1" i="0">
                          <a:solidFill>
                            <a:srgbClr val="FFFFFF"/>
                          </a:solidFill>
                          <a:latin typeface="Calibri (MS) Bold"/>
                        </a:rPr>
                        <a:t>Fitur yang menjawab</a:t>
                      </a:r>
                    </a:p>
                  </a:txBody>
                  <a:tcPr marL="73152" marR="73152" marT="36576" marB="36576" anchor="ctr">
                    <a:solidFill>
                      <a:srgbClr val="0B5E6E"/>
                    </a:solidFill>
                  </a:tcPr>
                </a:tc>
              </a:tr>
              <a:tr h="822960">
                <a:tc>
                  <a:txBody>
                    <a:bodyPr wrap="square"/>
                    <a:lstStyle/>
                    <a:p>
                      <a:r>
                        <a:rPr sz="1550" b="0" i="0">
                          <a:solidFill>
                            <a:srgbClr val="14313B"/>
                          </a:solidFill>
                          <a:latin typeface="Calibri (MS)"/>
                        </a:rPr>
                        <a:t>Memahami dasar model dan keabsahannya</a:t>
                      </a:r>
                    </a:p>
                  </a:txBody>
                  <a:tcPr marL="73152" marR="73152" marT="36576" marB="36576" anchor="ctr">
                    <a:solidFill>
                      <a:srgbClr val="FFFFFF"/>
                    </a:solidFill>
                  </a:tcPr>
                </a:tc>
                <a:tc>
                  <a:txBody>
                    <a:bodyPr wrap="square"/>
                    <a:lstStyle/>
                    <a:p>
                      <a:r>
                        <a:rPr sz="1550" b="0" i="0">
                          <a:solidFill>
                            <a:srgbClr val="14313B"/>
                          </a:solidFill>
                          <a:latin typeface="Calibri (MS)"/>
                        </a:rPr>
                        <a:t>Halaman Model: struktur &amp; evaluasi</a:t>
                      </a:r>
                    </a:p>
                  </a:txBody>
                  <a:tcPr marL="73152" marR="73152" marT="36576" marB="36576" anchor="ctr">
                    <a:solidFill>
                      <a:srgbClr val="FFFFFF"/>
                    </a:solidFill>
                  </a:tcPr>
                </a:tc>
              </a:tr>
              <a:tr h="822960">
                <a:tc>
                  <a:txBody>
                    <a:bodyPr wrap="square"/>
                    <a:lstStyle/>
                    <a:p>
                      <a:r>
                        <a:rPr sz="1550" b="0" i="0">
                          <a:solidFill>
                            <a:srgbClr val="14313B"/>
                          </a:solidFill>
                          <a:latin typeface="Calibri (MS)"/>
                        </a:rPr>
                        <a:t>Membandingkan pilihan kebijakan</a:t>
                      </a:r>
                    </a:p>
                  </a:txBody>
                  <a:tcPr marL="73152" marR="73152" marT="36576" marB="36576" anchor="ctr">
                    <a:solidFill>
                      <a:srgbClr val="EAF8FA"/>
                    </a:solidFill>
                  </a:tcPr>
                </a:tc>
                <a:tc>
                  <a:txBody>
                    <a:bodyPr wrap="square"/>
                    <a:lstStyle/>
                    <a:p>
                      <a:r>
                        <a:rPr sz="1550" b="0" i="0">
                          <a:solidFill>
                            <a:srgbClr val="14313B"/>
                          </a:solidFill>
                          <a:latin typeface="Calibri (MS)"/>
                        </a:rPr>
                        <a:t>Halaman Skenario: BAU, Sustainable, DP + bandingkan</a:t>
                      </a:r>
                    </a:p>
                  </a:txBody>
                  <a:tcPr marL="73152" marR="73152" marT="36576" marB="36576" anchor="ctr">
                    <a:solidFill>
                      <a:srgbClr val="EAF8FA"/>
                    </a:solidFill>
                  </a:tcPr>
                </a:tc>
              </a:tr>
              <a:tr h="822960">
                <a:tc>
                  <a:txBody>
                    <a:bodyPr wrap="square"/>
                    <a:lstStyle/>
                    <a:p>
                      <a:r>
                        <a:rPr sz="1550" b="0" i="0">
                          <a:solidFill>
                            <a:srgbClr val="14313B"/>
                          </a:solidFill>
                          <a:latin typeface="Calibri (MS)"/>
                        </a:rPr>
                        <a:t>Mencoba nilai kebijakan sendiri</a:t>
                      </a:r>
                    </a:p>
                  </a:txBody>
                  <a:tcPr marL="73152" marR="73152" marT="36576" marB="36576" anchor="ctr">
                    <a:solidFill>
                      <a:srgbClr val="FFFFFF"/>
                    </a:solidFill>
                  </a:tcPr>
                </a:tc>
                <a:tc>
                  <a:txBody>
                    <a:bodyPr wrap="square"/>
                    <a:lstStyle/>
                    <a:p>
                      <a:r>
                        <a:rPr sz="1550" b="0" i="0">
                          <a:solidFill>
                            <a:srgbClr val="14313B"/>
                          </a:solidFill>
                          <a:latin typeface="Calibri (MS)"/>
                        </a:rPr>
                        <a:t>Halaman Simulasi: atur 2 tuas, pilih variabel</a:t>
                      </a:r>
                    </a:p>
                  </a:txBody>
                  <a:tcPr marL="73152" marR="73152" marT="36576" marB="36576" anchor="ctr">
                    <a:solidFill>
                      <a:srgbClr val="FFFFFF"/>
                    </a:solidFill>
                  </a:tcPr>
                </a:tc>
              </a:tr>
              <a:tr h="822960">
                <a:tc>
                  <a:txBody>
                    <a:bodyPr wrap="square"/>
                    <a:lstStyle/>
                    <a:p>
                      <a:r>
                        <a:rPr sz="1550" b="0" i="0">
                          <a:solidFill>
                            <a:srgbClr val="14313B"/>
                          </a:solidFill>
                          <a:latin typeface="Calibri (MS)"/>
                        </a:rPr>
                        <a:t>Akses tanpa instalasi</a:t>
                      </a:r>
                    </a:p>
                  </a:txBody>
                  <a:tcPr marL="73152" marR="73152" marT="36576" marB="36576" anchor="ctr">
                    <a:solidFill>
                      <a:srgbClr val="EAF8FA"/>
                    </a:solidFill>
                  </a:tcPr>
                </a:tc>
                <a:tc>
                  <a:txBody>
                    <a:bodyPr wrap="square"/>
                    <a:lstStyle/>
                    <a:p>
                      <a:r>
                        <a:rPr sz="1550" b="0" i="0">
                          <a:solidFill>
                            <a:srgbClr val="14313B"/>
                          </a:solidFill>
                          <a:latin typeface="Calibri (MS)"/>
                        </a:rPr>
                        <a:t>Aplikasi web (Vercel), model berjalan di peramban</a:t>
                      </a:r>
                    </a:p>
                  </a:txBody>
                  <a:tcPr marL="73152" marR="73152" marT="36576" marB="36576" anchor="ctr">
                    <a:solidFill>
                      <a:srgbClr val="EAF8FA"/>
                    </a:solidFill>
                  </a:tcPr>
                </a:tc>
              </a:tr>
              <a:tr h="822960">
                <a:tc>
                  <a:txBody>
                    <a:bodyPr wrap="square"/>
                    <a:lstStyle/>
                    <a:p>
                      <a:r>
                        <a:rPr sz="1550" b="0" i="0">
                          <a:solidFill>
                            <a:srgbClr val="14313B"/>
                          </a:solidFill>
                          <a:latin typeface="Calibri (MS)"/>
                        </a:rPr>
                        <a:t>Evaluasi kualitas</a:t>
                      </a:r>
                    </a:p>
                  </a:txBody>
                  <a:tcPr marL="73152" marR="73152" marT="36576" marB="36576" anchor="ctr">
                    <a:solidFill>
                      <a:srgbClr val="FFFFFF"/>
                    </a:solidFill>
                  </a:tcPr>
                </a:tc>
                <a:tc>
                  <a:txBody>
                    <a:bodyPr wrap="square"/>
                    <a:lstStyle/>
                    <a:p>
                      <a:r>
                        <a:rPr sz="1550" b="0" i="0">
                          <a:solidFill>
                            <a:srgbClr val="14313B"/>
                          </a:solidFill>
                          <a:latin typeface="Calibri (MS)"/>
                        </a:rPr>
                        <a:t>Black-box (ISO/IEC 25010) + SUS (ISO 9241-11)</a:t>
                      </a:r>
                    </a:p>
                  </a:txBody>
                  <a:tcPr marL="73152" marR="73152" marT="36576" marB="36576" anchor="ctr">
                    <a:solidFill>
                      <a:srgbClr val="FFFFFF"/>
                    </a:solidFill>
                  </a:tcPr>
                </a:tc>
              </a:tr>
            </a:tbl>
          </a:graphicData>
        </a:graphic>
      </p:graphicFrame>
      <p:sp>
        <p:nvSpPr>
          <p:cNvPr id="151" name="Rounded Rectangle 150"/>
          <p:cNvSpPr/>
          <p:nvPr/>
        </p:nvSpPr>
        <p:spPr>
          <a:xfrm>
            <a:off x="822960" y="7498079"/>
            <a:ext cx="16642080" cy="82296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Aplikasi menjembatani model ilmiah dengan kebutuhan Pemda DIY, Dinas Pariwisata, dan pemangku kepentingan tanpa keahlian pemodelan.</a:t>
            </a:r>
          </a:p>
        </p:txBody>
      </p:sp>
      <p:sp>
        <p:nvSpPr>
          <p:cNvPr id="152" name="TextBox 151"/>
          <p:cNvSpPr txBox="1"/>
          <p:nvPr/>
        </p:nvSpPr>
        <p:spPr>
          <a:xfrm>
            <a:off x="822960" y="850392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1.1, 2.2, 3.9, 4.9.1. Kebutuhan diturunkan dari rancangan penelitian, bukan dari survei kebutuhan formal.</a:t>
            </a:r>
          </a:p>
        </p:txBody>
      </p:sp>
      <p:sp>
        <p:nvSpPr>
          <p:cNvPr id="153"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3.9.1 &amp; 4.9.1 · Arsitektur dan Implementasi Aplikasi</a:t>
            </a:r>
          </a:p>
          <a:p>
            <a:pPr algn="l">
              <a:lnSpc>
                <a:spcPct val="100000"/>
              </a:lnSpc>
            </a:pPr>
            <a:r>
              <a:rPr lang="en-US" sz="3500" b="true">
                <a:solidFill>
                  <a:srgbClr val="0B5E6E"/>
                </a:solidFill>
                <a:latin typeface="Calibri (MS) Bold"/>
                <a:ea typeface="Calibri (MS) Bold"/>
                <a:cs typeface="Calibri (MS) Bold"/>
                <a:sym typeface="Calibri (MS) Bold"/>
              </a:rPr>
              <a:t>Aplikasi web membuat model dapat dieksplorasi tanpa software pemodelan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400300"/>
            <a:ext cx="2674620" cy="1783080"/>
            <a:chOff x="0" y="0"/>
            <a:chExt cx="3566160" cy="2377440"/>
          </a:xfrm>
        </p:grpSpPr>
        <p:sp>
          <p:nvSpPr>
            <p:cNvPr name="Freeform 53" id="53"/>
            <p:cNvSpPr/>
            <p:nvPr/>
          </p:nvSpPr>
          <p:spPr>
            <a:xfrm flipH="false" flipV="false" rot="0">
              <a:off x="0" y="0"/>
              <a:ext cx="3566160" cy="2377440"/>
            </a:xfrm>
            <a:custGeom>
              <a:avLst/>
              <a:gdLst/>
              <a:ahLst/>
              <a:cxnLst/>
              <a:rect r="r" b="b" t="t" l="l"/>
              <a:pathLst>
                <a:path h="2377440" w="3566160">
                  <a:moveTo>
                    <a:pt x="0" y="182880"/>
                  </a:moveTo>
                  <a:cubicBezTo>
                    <a:pt x="0" y="81915"/>
                    <a:pt x="81915" y="0"/>
                    <a:pt x="182880" y="0"/>
                  </a:cubicBezTo>
                  <a:lnTo>
                    <a:pt x="3383280" y="0"/>
                  </a:lnTo>
                  <a:cubicBezTo>
                    <a:pt x="3484245" y="0"/>
                    <a:pt x="3566160" y="81915"/>
                    <a:pt x="3566160" y="182880"/>
                  </a:cubicBezTo>
                  <a:lnTo>
                    <a:pt x="3566160" y="2194560"/>
                  </a:lnTo>
                  <a:cubicBezTo>
                    <a:pt x="3566160" y="2295525"/>
                    <a:pt x="3484245" y="2377440"/>
                    <a:pt x="3383280" y="2377440"/>
                  </a:cubicBezTo>
                  <a:lnTo>
                    <a:pt x="182880" y="2377440"/>
                  </a:lnTo>
                  <a:cubicBezTo>
                    <a:pt x="81915" y="2377440"/>
                    <a:pt x="0" y="2295525"/>
                    <a:pt x="0" y="2194560"/>
                  </a:cubicBezTo>
                  <a:close/>
                </a:path>
              </a:pathLst>
            </a:custGeom>
            <a:solidFill>
              <a:srgbClr val="EAF8FA"/>
            </a:solidFill>
          </p:spPr>
        </p:sp>
      </p:grpSp>
      <p:grpSp>
        <p:nvGrpSpPr>
          <p:cNvPr name="Group 54" id="54"/>
          <p:cNvGrpSpPr/>
          <p:nvPr/>
        </p:nvGrpSpPr>
        <p:grpSpPr>
          <a:xfrm rot="0">
            <a:off x="960120" y="2537460"/>
            <a:ext cx="2400300" cy="685800"/>
            <a:chOff x="0" y="0"/>
            <a:chExt cx="3200400" cy="914400"/>
          </a:xfrm>
        </p:grpSpPr>
        <p:sp>
          <p:nvSpPr>
            <p:cNvPr name="Freeform 55" id="55"/>
            <p:cNvSpPr/>
            <p:nvPr/>
          </p:nvSpPr>
          <p:spPr>
            <a:xfrm flipH="false" flipV="false" rot="0">
              <a:off x="0" y="0"/>
              <a:ext cx="3200400" cy="914400"/>
            </a:xfrm>
            <a:custGeom>
              <a:avLst/>
              <a:gdLst/>
              <a:ahLst/>
              <a:cxnLst/>
              <a:rect r="r" b="b" t="t" l="l"/>
              <a:pathLst>
                <a:path h="914400" w="3200400">
                  <a:moveTo>
                    <a:pt x="0" y="0"/>
                  </a:moveTo>
                  <a:lnTo>
                    <a:pt x="3200400" y="0"/>
                  </a:lnTo>
                  <a:lnTo>
                    <a:pt x="3200400" y="914400"/>
                  </a:lnTo>
                  <a:lnTo>
                    <a:pt x="0" y="914400"/>
                  </a:lnTo>
                  <a:close/>
                </a:path>
              </a:pathLst>
            </a:custGeom>
            <a:blipFill>
              <a:blip r:embed="rId4">
                <a:alphaModFix amt="0"/>
              </a:blip>
              <a:stretch>
                <a:fillRect l="0" t="-18150" r="0" b="-18149"/>
              </a:stretch>
            </a:blipFill>
          </p:spPr>
        </p:sp>
      </p:grpSp>
      <p:grpSp>
        <p:nvGrpSpPr>
          <p:cNvPr name="Group 56" id="56"/>
          <p:cNvGrpSpPr/>
          <p:nvPr/>
        </p:nvGrpSpPr>
        <p:grpSpPr>
          <a:xfrm rot="0">
            <a:off x="960120" y="2494598"/>
            <a:ext cx="2400300" cy="728662"/>
            <a:chOff x="0" y="0"/>
            <a:chExt cx="3200400" cy="971550"/>
          </a:xfrm>
        </p:grpSpPr>
        <p:sp>
          <p:nvSpPr>
            <p:cNvPr name="Freeform 57" id="57"/>
            <p:cNvSpPr/>
            <p:nvPr/>
          </p:nvSpPr>
          <p:spPr>
            <a:xfrm flipH="false" flipV="false" rot="0">
              <a:off x="0" y="0"/>
              <a:ext cx="3200400" cy="971550"/>
            </a:xfrm>
            <a:custGeom>
              <a:avLst/>
              <a:gdLst/>
              <a:ahLst/>
              <a:cxnLst/>
              <a:rect r="r" b="b" t="t" l="l"/>
              <a:pathLst>
                <a:path h="971550" w="3200400">
                  <a:moveTo>
                    <a:pt x="0" y="0"/>
                  </a:moveTo>
                  <a:lnTo>
                    <a:pt x="3200400" y="0"/>
                  </a:lnTo>
                  <a:lnTo>
                    <a:pt x="3200400" y="971550"/>
                  </a:lnTo>
                  <a:lnTo>
                    <a:pt x="0" y="971550"/>
                  </a:lnTo>
                  <a:close/>
                </a:path>
              </a:pathLst>
            </a:custGeom>
            <a:blipFill>
              <a:blip r:embed="rId5">
                <a:alphaModFix amt="0"/>
              </a:blip>
              <a:stretch>
                <a:fillRect l="0" t="-14186" r="0" b="-14186"/>
              </a:stretch>
            </a:blipFill>
          </p:spPr>
        </p:sp>
        <p:sp>
          <p:nvSpPr>
            <p:cNvPr name="TextBox 58" id="58"/>
            <p:cNvSpPr txBox="true"/>
            <p:nvPr/>
          </p:nvSpPr>
          <p:spPr>
            <a:xfrm>
              <a:off x="0" y="-57150"/>
              <a:ext cx="3200400" cy="1028700"/>
            </a:xfrm>
            <a:prstGeom prst="rect">
              <a:avLst/>
            </a:prstGeom>
          </p:spPr>
          <p:txBody>
            <a:bodyPr anchor="ctr" rtlCol="false" tIns="0" lIns="0" bIns="0" rIns="0"/>
            <a:lstStyle/>
            <a:p>
              <a:pPr algn="ctr">
                <a:lnSpc>
                  <a:spcPts val="2700"/>
                </a:lnSpc>
              </a:pPr>
              <a:r>
                <a:rPr lang="en-US" sz="2250" b="true">
                  <a:solidFill>
                    <a:srgbClr val="0B5E6E"/>
                  </a:solidFill>
                  <a:latin typeface="Calibri (MS) Bold"/>
                  <a:ea typeface="Calibri (MS) Bold"/>
                  <a:cs typeface="Calibri (MS) Bold"/>
                  <a:sym typeface="Calibri (MS) Bold"/>
                </a:rPr>
                <a:t>Model Vensim</a:t>
              </a:r>
            </a:p>
          </p:txBody>
        </p:sp>
      </p:grpSp>
      <p:sp>
        <p:nvSpPr>
          <p:cNvPr name="AutoShape 59" id="59"/>
          <p:cNvSpPr/>
          <p:nvPr/>
        </p:nvSpPr>
        <p:spPr>
          <a:xfrm rot="287880">
            <a:off x="3498199" y="3268028"/>
            <a:ext cx="341662" cy="0"/>
          </a:xfrm>
          <a:prstGeom prst="line">
            <a:avLst/>
          </a:prstGeom>
          <a:ln cap="rnd" w="19050">
            <a:solidFill>
              <a:srgbClr val="39C0D3"/>
            </a:solidFill>
            <a:prstDash val="solid"/>
            <a:headEnd type="none" len="sm" w="sm"/>
            <a:tailEnd type="triangle" len="med" w="lg"/>
          </a:ln>
        </p:spPr>
      </p:sp>
      <p:grpSp>
        <p:nvGrpSpPr>
          <p:cNvPr name="Group 60" id="60"/>
          <p:cNvGrpSpPr/>
          <p:nvPr/>
        </p:nvGrpSpPr>
        <p:grpSpPr>
          <a:xfrm rot="0">
            <a:off x="3840480" y="2400300"/>
            <a:ext cx="2674620" cy="1783080"/>
            <a:chOff x="0" y="0"/>
            <a:chExt cx="3566160" cy="2377440"/>
          </a:xfrm>
        </p:grpSpPr>
        <p:sp>
          <p:nvSpPr>
            <p:cNvPr name="Freeform 61" id="61"/>
            <p:cNvSpPr/>
            <p:nvPr/>
          </p:nvSpPr>
          <p:spPr>
            <a:xfrm flipH="false" flipV="false" rot="0">
              <a:off x="0" y="0"/>
              <a:ext cx="3566160" cy="2377440"/>
            </a:xfrm>
            <a:custGeom>
              <a:avLst/>
              <a:gdLst/>
              <a:ahLst/>
              <a:cxnLst/>
              <a:rect r="r" b="b" t="t" l="l"/>
              <a:pathLst>
                <a:path h="2377440" w="3566160">
                  <a:moveTo>
                    <a:pt x="0" y="182880"/>
                  </a:moveTo>
                  <a:cubicBezTo>
                    <a:pt x="0" y="81915"/>
                    <a:pt x="81915" y="0"/>
                    <a:pt x="182880" y="0"/>
                  </a:cubicBezTo>
                  <a:lnTo>
                    <a:pt x="3383280" y="0"/>
                  </a:lnTo>
                  <a:cubicBezTo>
                    <a:pt x="3484245" y="0"/>
                    <a:pt x="3566160" y="81915"/>
                    <a:pt x="3566160" y="182880"/>
                  </a:cubicBezTo>
                  <a:lnTo>
                    <a:pt x="3566160" y="2194560"/>
                  </a:lnTo>
                  <a:cubicBezTo>
                    <a:pt x="3566160" y="2295525"/>
                    <a:pt x="3484245" y="2377440"/>
                    <a:pt x="3383280" y="2377440"/>
                  </a:cubicBezTo>
                  <a:lnTo>
                    <a:pt x="182880" y="2377440"/>
                  </a:lnTo>
                  <a:cubicBezTo>
                    <a:pt x="81915" y="2377440"/>
                    <a:pt x="0" y="2295525"/>
                    <a:pt x="0" y="2194560"/>
                  </a:cubicBezTo>
                  <a:close/>
                </a:path>
              </a:pathLst>
            </a:custGeom>
            <a:solidFill>
              <a:srgbClr val="EAF8FA"/>
            </a:solidFill>
          </p:spPr>
        </p:sp>
      </p:grpSp>
      <p:grpSp>
        <p:nvGrpSpPr>
          <p:cNvPr name="Group 62" id="62"/>
          <p:cNvGrpSpPr/>
          <p:nvPr/>
        </p:nvGrpSpPr>
        <p:grpSpPr>
          <a:xfrm rot="0">
            <a:off x="3977640" y="2537460"/>
            <a:ext cx="2400300" cy="685800"/>
            <a:chOff x="0" y="0"/>
            <a:chExt cx="3200400" cy="914400"/>
          </a:xfrm>
        </p:grpSpPr>
        <p:sp>
          <p:nvSpPr>
            <p:cNvPr name="Freeform 63" id="63"/>
            <p:cNvSpPr/>
            <p:nvPr/>
          </p:nvSpPr>
          <p:spPr>
            <a:xfrm flipH="false" flipV="false" rot="0">
              <a:off x="0" y="0"/>
              <a:ext cx="3200400" cy="914400"/>
            </a:xfrm>
            <a:custGeom>
              <a:avLst/>
              <a:gdLst/>
              <a:ahLst/>
              <a:cxnLst/>
              <a:rect r="r" b="b" t="t" l="l"/>
              <a:pathLst>
                <a:path h="914400" w="3200400">
                  <a:moveTo>
                    <a:pt x="0" y="0"/>
                  </a:moveTo>
                  <a:lnTo>
                    <a:pt x="3200400" y="0"/>
                  </a:lnTo>
                  <a:lnTo>
                    <a:pt x="3200400" y="914400"/>
                  </a:lnTo>
                  <a:lnTo>
                    <a:pt x="0" y="914400"/>
                  </a:lnTo>
                  <a:close/>
                </a:path>
              </a:pathLst>
            </a:custGeom>
            <a:blipFill>
              <a:blip r:embed="rId4">
                <a:alphaModFix amt="0"/>
              </a:blip>
              <a:stretch>
                <a:fillRect l="0" t="-18150" r="0" b="-18149"/>
              </a:stretch>
            </a:blipFill>
          </p:spPr>
        </p:sp>
      </p:grpSp>
      <p:grpSp>
        <p:nvGrpSpPr>
          <p:cNvPr name="Group 64" id="64"/>
          <p:cNvGrpSpPr/>
          <p:nvPr/>
        </p:nvGrpSpPr>
        <p:grpSpPr>
          <a:xfrm rot="0">
            <a:off x="3977640" y="2494598"/>
            <a:ext cx="2400300" cy="728662"/>
            <a:chOff x="0" y="0"/>
            <a:chExt cx="3200400" cy="971550"/>
          </a:xfrm>
        </p:grpSpPr>
        <p:sp>
          <p:nvSpPr>
            <p:cNvPr name="Freeform 65" id="65"/>
            <p:cNvSpPr/>
            <p:nvPr/>
          </p:nvSpPr>
          <p:spPr>
            <a:xfrm flipH="false" flipV="false" rot="0">
              <a:off x="0" y="0"/>
              <a:ext cx="3200400" cy="971550"/>
            </a:xfrm>
            <a:custGeom>
              <a:avLst/>
              <a:gdLst/>
              <a:ahLst/>
              <a:cxnLst/>
              <a:rect r="r" b="b" t="t" l="l"/>
              <a:pathLst>
                <a:path h="971550" w="3200400">
                  <a:moveTo>
                    <a:pt x="0" y="0"/>
                  </a:moveTo>
                  <a:lnTo>
                    <a:pt x="3200400" y="0"/>
                  </a:lnTo>
                  <a:lnTo>
                    <a:pt x="3200400" y="971550"/>
                  </a:lnTo>
                  <a:lnTo>
                    <a:pt x="0" y="971550"/>
                  </a:lnTo>
                  <a:close/>
                </a:path>
              </a:pathLst>
            </a:custGeom>
            <a:blipFill>
              <a:blip r:embed="rId5">
                <a:alphaModFix amt="0"/>
              </a:blip>
              <a:stretch>
                <a:fillRect l="0" t="-14186" r="0" b="-14186"/>
              </a:stretch>
            </a:blipFill>
          </p:spPr>
        </p:sp>
        <p:sp>
          <p:nvSpPr>
            <p:cNvPr name="TextBox 66" id="66"/>
            <p:cNvSpPr txBox="true"/>
            <p:nvPr/>
          </p:nvSpPr>
          <p:spPr>
            <a:xfrm>
              <a:off x="0" y="-57150"/>
              <a:ext cx="3200400" cy="1028700"/>
            </a:xfrm>
            <a:prstGeom prst="rect">
              <a:avLst/>
            </a:prstGeom>
          </p:spPr>
          <p:txBody>
            <a:bodyPr anchor="ctr" rtlCol="false" tIns="0" lIns="0" bIns="0" rIns="0"/>
            <a:lstStyle/>
            <a:p>
              <a:pPr algn="ctr">
                <a:lnSpc>
                  <a:spcPts val="2700"/>
                </a:lnSpc>
              </a:pPr>
              <a:r>
                <a:rPr lang="en-US" sz="2250" b="true">
                  <a:solidFill>
                    <a:srgbClr val="0B5E6E"/>
                  </a:solidFill>
                  <a:latin typeface="Calibri (MS) Bold"/>
                  <a:ea typeface="Calibri (MS) Bold"/>
                  <a:cs typeface="Calibri (MS) Bold"/>
                  <a:sym typeface="Calibri (MS) Bold"/>
                </a:rPr>
                <a:t>SDEverywhere</a:t>
              </a:r>
            </a:p>
          </p:txBody>
        </p:sp>
      </p:grpSp>
      <p:sp>
        <p:nvSpPr>
          <p:cNvPr name="TextBox 67" id="67"/>
          <p:cNvSpPr txBox="true"/>
          <p:nvPr/>
        </p:nvSpPr>
        <p:spPr>
          <a:xfrm rot="0">
            <a:off x="3977640" y="3166110"/>
            <a:ext cx="2400300" cy="94869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konversi ke kode web</a:t>
            </a:r>
          </a:p>
        </p:txBody>
      </p:sp>
      <p:sp>
        <p:nvSpPr>
          <p:cNvPr name="AutoShape 68" id="68"/>
          <p:cNvSpPr/>
          <p:nvPr/>
        </p:nvSpPr>
        <p:spPr>
          <a:xfrm rot="287880">
            <a:off x="6515719" y="3268028"/>
            <a:ext cx="341662" cy="0"/>
          </a:xfrm>
          <a:prstGeom prst="line">
            <a:avLst/>
          </a:prstGeom>
          <a:ln cap="rnd" w="19050">
            <a:solidFill>
              <a:srgbClr val="39C0D3"/>
            </a:solidFill>
            <a:prstDash val="solid"/>
            <a:headEnd type="none" len="sm" w="sm"/>
            <a:tailEnd type="triangle" len="med" w="lg"/>
          </a:ln>
        </p:spPr>
      </p:sp>
      <p:grpSp>
        <p:nvGrpSpPr>
          <p:cNvPr name="Group 69" id="69"/>
          <p:cNvGrpSpPr/>
          <p:nvPr/>
        </p:nvGrpSpPr>
        <p:grpSpPr>
          <a:xfrm rot="0">
            <a:off x="6858000" y="2400300"/>
            <a:ext cx="2674620" cy="1783080"/>
            <a:chOff x="0" y="0"/>
            <a:chExt cx="3566160" cy="2377440"/>
          </a:xfrm>
        </p:grpSpPr>
        <p:sp>
          <p:nvSpPr>
            <p:cNvPr name="Freeform 70" id="70"/>
            <p:cNvSpPr/>
            <p:nvPr/>
          </p:nvSpPr>
          <p:spPr>
            <a:xfrm flipH="false" flipV="false" rot="0">
              <a:off x="0" y="0"/>
              <a:ext cx="3566160" cy="2377440"/>
            </a:xfrm>
            <a:custGeom>
              <a:avLst/>
              <a:gdLst/>
              <a:ahLst/>
              <a:cxnLst/>
              <a:rect r="r" b="b" t="t" l="l"/>
              <a:pathLst>
                <a:path h="2377440" w="3566160">
                  <a:moveTo>
                    <a:pt x="0" y="182880"/>
                  </a:moveTo>
                  <a:cubicBezTo>
                    <a:pt x="0" y="81915"/>
                    <a:pt x="81915" y="0"/>
                    <a:pt x="182880" y="0"/>
                  </a:cubicBezTo>
                  <a:lnTo>
                    <a:pt x="3383280" y="0"/>
                  </a:lnTo>
                  <a:cubicBezTo>
                    <a:pt x="3484245" y="0"/>
                    <a:pt x="3566160" y="81915"/>
                    <a:pt x="3566160" y="182880"/>
                  </a:cubicBezTo>
                  <a:lnTo>
                    <a:pt x="3566160" y="2194560"/>
                  </a:lnTo>
                  <a:cubicBezTo>
                    <a:pt x="3566160" y="2295525"/>
                    <a:pt x="3484245" y="2377440"/>
                    <a:pt x="3383280" y="2377440"/>
                  </a:cubicBezTo>
                  <a:lnTo>
                    <a:pt x="182880" y="2377440"/>
                  </a:lnTo>
                  <a:cubicBezTo>
                    <a:pt x="81915" y="2377440"/>
                    <a:pt x="0" y="2295525"/>
                    <a:pt x="0" y="2194560"/>
                  </a:cubicBezTo>
                  <a:close/>
                </a:path>
              </a:pathLst>
            </a:custGeom>
            <a:solidFill>
              <a:srgbClr val="0B5E6E"/>
            </a:solidFill>
          </p:spPr>
        </p:sp>
      </p:grpSp>
      <p:grpSp>
        <p:nvGrpSpPr>
          <p:cNvPr name="Group 71" id="71"/>
          <p:cNvGrpSpPr/>
          <p:nvPr/>
        </p:nvGrpSpPr>
        <p:grpSpPr>
          <a:xfrm rot="0">
            <a:off x="6995160" y="2537460"/>
            <a:ext cx="2400300" cy="685800"/>
            <a:chOff x="0" y="0"/>
            <a:chExt cx="3200400" cy="914400"/>
          </a:xfrm>
        </p:grpSpPr>
        <p:sp>
          <p:nvSpPr>
            <p:cNvPr name="Freeform 72" id="72"/>
            <p:cNvSpPr/>
            <p:nvPr/>
          </p:nvSpPr>
          <p:spPr>
            <a:xfrm flipH="false" flipV="false" rot="0">
              <a:off x="0" y="0"/>
              <a:ext cx="3200400" cy="914400"/>
            </a:xfrm>
            <a:custGeom>
              <a:avLst/>
              <a:gdLst/>
              <a:ahLst/>
              <a:cxnLst/>
              <a:rect r="r" b="b" t="t" l="l"/>
              <a:pathLst>
                <a:path h="914400" w="3200400">
                  <a:moveTo>
                    <a:pt x="0" y="0"/>
                  </a:moveTo>
                  <a:lnTo>
                    <a:pt x="3200400" y="0"/>
                  </a:lnTo>
                  <a:lnTo>
                    <a:pt x="3200400" y="914400"/>
                  </a:lnTo>
                  <a:lnTo>
                    <a:pt x="0" y="914400"/>
                  </a:lnTo>
                  <a:close/>
                </a:path>
              </a:pathLst>
            </a:custGeom>
            <a:blipFill>
              <a:blip r:embed="rId4">
                <a:alphaModFix amt="0"/>
              </a:blip>
              <a:stretch>
                <a:fillRect l="0" t="-18150" r="0" b="-18149"/>
              </a:stretch>
            </a:blipFill>
          </p:spPr>
        </p:sp>
      </p:grpSp>
      <p:grpSp>
        <p:nvGrpSpPr>
          <p:cNvPr name="Group 73" id="73"/>
          <p:cNvGrpSpPr/>
          <p:nvPr/>
        </p:nvGrpSpPr>
        <p:grpSpPr>
          <a:xfrm rot="0">
            <a:off x="6995160" y="2494598"/>
            <a:ext cx="2400300" cy="728662"/>
            <a:chOff x="0" y="0"/>
            <a:chExt cx="3200400" cy="971550"/>
          </a:xfrm>
        </p:grpSpPr>
        <p:sp>
          <p:nvSpPr>
            <p:cNvPr name="Freeform 74" id="74"/>
            <p:cNvSpPr/>
            <p:nvPr/>
          </p:nvSpPr>
          <p:spPr>
            <a:xfrm flipH="false" flipV="false" rot="0">
              <a:off x="0" y="0"/>
              <a:ext cx="3200400" cy="971550"/>
            </a:xfrm>
            <a:custGeom>
              <a:avLst/>
              <a:gdLst/>
              <a:ahLst/>
              <a:cxnLst/>
              <a:rect r="r" b="b" t="t" l="l"/>
              <a:pathLst>
                <a:path h="971550" w="3200400">
                  <a:moveTo>
                    <a:pt x="0" y="0"/>
                  </a:moveTo>
                  <a:lnTo>
                    <a:pt x="3200400" y="0"/>
                  </a:lnTo>
                  <a:lnTo>
                    <a:pt x="3200400" y="971550"/>
                  </a:lnTo>
                  <a:lnTo>
                    <a:pt x="0" y="971550"/>
                  </a:lnTo>
                  <a:close/>
                </a:path>
              </a:pathLst>
            </a:custGeom>
            <a:blipFill>
              <a:blip r:embed="rId5">
                <a:alphaModFix amt="0"/>
              </a:blip>
              <a:stretch>
                <a:fillRect l="0" t="-14186" r="0" b="-14186"/>
              </a:stretch>
            </a:blipFill>
          </p:spPr>
        </p:sp>
        <p:sp>
          <p:nvSpPr>
            <p:cNvPr name="TextBox 75" id="75"/>
            <p:cNvSpPr txBox="true"/>
            <p:nvPr/>
          </p:nvSpPr>
          <p:spPr>
            <a:xfrm>
              <a:off x="0" y="-57150"/>
              <a:ext cx="3200400" cy="102870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Aplikasi web</a:t>
              </a:r>
            </a:p>
          </p:txBody>
        </p:sp>
      </p:grpSp>
      <p:sp>
        <p:nvSpPr>
          <p:cNvPr name="TextBox 76" id="76"/>
          <p:cNvSpPr txBox="true"/>
          <p:nvPr/>
        </p:nvSpPr>
        <p:spPr>
          <a:xfrm rot="0">
            <a:off x="6995160" y="3166110"/>
            <a:ext cx="2400300" cy="948690"/>
          </a:xfrm>
          <a:prstGeom prst="rect">
            <a:avLst/>
          </a:prstGeom>
        </p:spPr>
        <p:txBody>
          <a:bodyPr anchor="t" rtlCol="false" tIns="0" lIns="0" bIns="0" rIns="0">
            <a:spAutoFit/>
          </a:bodyPr>
          <a:lstStyle/>
          <a:p>
            <a:pPr algn="ctr">
              <a:lnSpc>
                <a:spcPts val="1980"/>
              </a:lnSpc>
            </a:pPr>
            <a:r>
              <a:rPr lang="en-US" sz="1650">
                <a:solidFill>
                  <a:srgbClr val="6BE5EA"/>
                </a:solidFill>
                <a:latin typeface="Calibri (MS)"/>
                <a:ea typeface="Calibri (MS)"/>
                <a:cs typeface="Calibri (MS)"/>
                <a:sym typeface="Calibri (MS)"/>
              </a:rPr>
              <a:t>Next.js · TypeScript · Tailwind CSS</a:t>
            </a:r>
          </a:p>
        </p:txBody>
      </p:sp>
      <p:grpSp>
        <p:nvGrpSpPr>
          <p:cNvPr name="Group 77" id="77"/>
          <p:cNvGrpSpPr/>
          <p:nvPr/>
        </p:nvGrpSpPr>
        <p:grpSpPr>
          <a:xfrm rot="0">
            <a:off x="822960" y="4594860"/>
            <a:ext cx="4183380" cy="1508760"/>
            <a:chOff x="0" y="0"/>
            <a:chExt cx="5577840" cy="2011680"/>
          </a:xfrm>
        </p:grpSpPr>
        <p:sp>
          <p:nvSpPr>
            <p:cNvPr name="Freeform 78" id="78"/>
            <p:cNvSpPr/>
            <p:nvPr/>
          </p:nvSpPr>
          <p:spPr>
            <a:xfrm flipH="false" flipV="false" rot="0">
              <a:off x="0" y="0"/>
              <a:ext cx="5577840" cy="2011680"/>
            </a:xfrm>
            <a:custGeom>
              <a:avLst/>
              <a:gdLst/>
              <a:ahLst/>
              <a:cxnLst/>
              <a:rect r="r" b="b" t="t" l="l"/>
              <a:pathLst>
                <a:path h="2011680" w="5577840">
                  <a:moveTo>
                    <a:pt x="0" y="182880"/>
                  </a:moveTo>
                  <a:cubicBezTo>
                    <a:pt x="0" y="81915"/>
                    <a:pt x="81915" y="0"/>
                    <a:pt x="182880" y="0"/>
                  </a:cubicBezTo>
                  <a:lnTo>
                    <a:pt x="5394960" y="0"/>
                  </a:lnTo>
                  <a:cubicBezTo>
                    <a:pt x="5495925" y="0"/>
                    <a:pt x="5577840" y="81915"/>
                    <a:pt x="5577840" y="182880"/>
                  </a:cubicBezTo>
                  <a:lnTo>
                    <a:pt x="5577840" y="1828800"/>
                  </a:lnTo>
                  <a:cubicBezTo>
                    <a:pt x="5577840" y="1929765"/>
                    <a:pt x="5495925" y="2011680"/>
                    <a:pt x="5394960" y="2011680"/>
                  </a:cubicBezTo>
                  <a:lnTo>
                    <a:pt x="182880" y="2011680"/>
                  </a:lnTo>
                  <a:cubicBezTo>
                    <a:pt x="81915" y="2011680"/>
                    <a:pt x="0" y="1929765"/>
                    <a:pt x="0" y="1828800"/>
                  </a:cubicBezTo>
                  <a:close/>
                </a:path>
              </a:pathLst>
            </a:custGeom>
            <a:solidFill>
              <a:srgbClr val="FFF1BF"/>
            </a:solidFill>
          </p:spPr>
        </p:sp>
      </p:grpSp>
      <p:sp>
        <p:nvSpPr>
          <p:cNvPr name="TextBox 79" id="79"/>
          <p:cNvSpPr txBox="true"/>
          <p:nvPr/>
        </p:nvSpPr>
        <p:spPr>
          <a:xfrm rot="0">
            <a:off x="1097280" y="4617720"/>
            <a:ext cx="3703320" cy="59436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Beranda</a:t>
            </a:r>
          </a:p>
        </p:txBody>
      </p:sp>
      <p:sp>
        <p:nvSpPr>
          <p:cNvPr name="TextBox 80" id="80"/>
          <p:cNvSpPr txBox="true"/>
          <p:nvPr/>
        </p:nvSpPr>
        <p:spPr>
          <a:xfrm rot="0">
            <a:off x="1097280" y="5177028"/>
            <a:ext cx="3703320" cy="899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gambaran umum dan navigasi</a:t>
            </a:r>
          </a:p>
        </p:txBody>
      </p:sp>
      <p:grpSp>
        <p:nvGrpSpPr>
          <p:cNvPr name="Group 81" id="81"/>
          <p:cNvGrpSpPr/>
          <p:nvPr/>
        </p:nvGrpSpPr>
        <p:grpSpPr>
          <a:xfrm rot="0">
            <a:off x="5212080" y="4594860"/>
            <a:ext cx="4183380" cy="1508760"/>
            <a:chOff x="0" y="0"/>
            <a:chExt cx="5577840" cy="2011680"/>
          </a:xfrm>
        </p:grpSpPr>
        <p:sp>
          <p:nvSpPr>
            <p:cNvPr name="Freeform 82" id="82"/>
            <p:cNvSpPr/>
            <p:nvPr/>
          </p:nvSpPr>
          <p:spPr>
            <a:xfrm flipH="false" flipV="false" rot="0">
              <a:off x="0" y="0"/>
              <a:ext cx="5577840" cy="2011680"/>
            </a:xfrm>
            <a:custGeom>
              <a:avLst/>
              <a:gdLst/>
              <a:ahLst/>
              <a:cxnLst/>
              <a:rect r="r" b="b" t="t" l="l"/>
              <a:pathLst>
                <a:path h="2011680" w="5577840">
                  <a:moveTo>
                    <a:pt x="0" y="182880"/>
                  </a:moveTo>
                  <a:cubicBezTo>
                    <a:pt x="0" y="81915"/>
                    <a:pt x="81915" y="0"/>
                    <a:pt x="182880" y="0"/>
                  </a:cubicBezTo>
                  <a:lnTo>
                    <a:pt x="5394960" y="0"/>
                  </a:lnTo>
                  <a:cubicBezTo>
                    <a:pt x="5495925" y="0"/>
                    <a:pt x="5577840" y="81915"/>
                    <a:pt x="5577840" y="182880"/>
                  </a:cubicBezTo>
                  <a:lnTo>
                    <a:pt x="5577840" y="1828800"/>
                  </a:lnTo>
                  <a:cubicBezTo>
                    <a:pt x="5577840" y="1929765"/>
                    <a:pt x="5495925" y="2011680"/>
                    <a:pt x="5394960" y="2011680"/>
                  </a:cubicBezTo>
                  <a:lnTo>
                    <a:pt x="182880" y="2011680"/>
                  </a:lnTo>
                  <a:cubicBezTo>
                    <a:pt x="81915" y="2011680"/>
                    <a:pt x="0" y="1929765"/>
                    <a:pt x="0" y="1828800"/>
                  </a:cubicBezTo>
                  <a:close/>
                </a:path>
              </a:pathLst>
            </a:custGeom>
            <a:solidFill>
              <a:srgbClr val="FFF1BF"/>
            </a:solidFill>
          </p:spPr>
        </p:sp>
      </p:grpSp>
      <p:sp>
        <p:nvSpPr>
          <p:cNvPr name="TextBox 83" id="83"/>
          <p:cNvSpPr txBox="true"/>
          <p:nvPr/>
        </p:nvSpPr>
        <p:spPr>
          <a:xfrm rot="0">
            <a:off x="5486400" y="4617720"/>
            <a:ext cx="3703320" cy="59436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Model</a:t>
            </a:r>
          </a:p>
        </p:txBody>
      </p:sp>
      <p:sp>
        <p:nvSpPr>
          <p:cNvPr name="TextBox 84" id="84"/>
          <p:cNvSpPr txBox="true"/>
          <p:nvPr/>
        </p:nvSpPr>
        <p:spPr>
          <a:xfrm rot="0">
            <a:off x="5486400" y="5177028"/>
            <a:ext cx="3703320" cy="899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struktur model dan evaluasi model</a:t>
            </a:r>
          </a:p>
        </p:txBody>
      </p:sp>
      <p:grpSp>
        <p:nvGrpSpPr>
          <p:cNvPr name="Group 85" id="85"/>
          <p:cNvGrpSpPr/>
          <p:nvPr/>
        </p:nvGrpSpPr>
        <p:grpSpPr>
          <a:xfrm rot="0">
            <a:off x="822960" y="6309360"/>
            <a:ext cx="4183380" cy="1508760"/>
            <a:chOff x="0" y="0"/>
            <a:chExt cx="5577840" cy="2011680"/>
          </a:xfrm>
        </p:grpSpPr>
        <p:sp>
          <p:nvSpPr>
            <p:cNvPr name="Freeform 86" id="86"/>
            <p:cNvSpPr/>
            <p:nvPr/>
          </p:nvSpPr>
          <p:spPr>
            <a:xfrm flipH="false" flipV="false" rot="0">
              <a:off x="0" y="0"/>
              <a:ext cx="5577840" cy="2011680"/>
            </a:xfrm>
            <a:custGeom>
              <a:avLst/>
              <a:gdLst/>
              <a:ahLst/>
              <a:cxnLst/>
              <a:rect r="r" b="b" t="t" l="l"/>
              <a:pathLst>
                <a:path h="2011680" w="5577840">
                  <a:moveTo>
                    <a:pt x="0" y="182880"/>
                  </a:moveTo>
                  <a:cubicBezTo>
                    <a:pt x="0" y="81915"/>
                    <a:pt x="81915" y="0"/>
                    <a:pt x="182880" y="0"/>
                  </a:cubicBezTo>
                  <a:lnTo>
                    <a:pt x="5394960" y="0"/>
                  </a:lnTo>
                  <a:cubicBezTo>
                    <a:pt x="5495925" y="0"/>
                    <a:pt x="5577840" y="81915"/>
                    <a:pt x="5577840" y="182880"/>
                  </a:cubicBezTo>
                  <a:lnTo>
                    <a:pt x="5577840" y="1828800"/>
                  </a:lnTo>
                  <a:cubicBezTo>
                    <a:pt x="5577840" y="1929765"/>
                    <a:pt x="5495925" y="2011680"/>
                    <a:pt x="5394960" y="2011680"/>
                  </a:cubicBezTo>
                  <a:lnTo>
                    <a:pt x="182880" y="2011680"/>
                  </a:lnTo>
                  <a:cubicBezTo>
                    <a:pt x="81915" y="2011680"/>
                    <a:pt x="0" y="1929765"/>
                    <a:pt x="0" y="1828800"/>
                  </a:cubicBezTo>
                  <a:close/>
                </a:path>
              </a:pathLst>
            </a:custGeom>
            <a:solidFill>
              <a:srgbClr val="FFF1BF"/>
            </a:solidFill>
          </p:spPr>
        </p:sp>
      </p:grpSp>
      <p:sp>
        <p:nvSpPr>
          <p:cNvPr name="TextBox 87" id="87"/>
          <p:cNvSpPr txBox="true"/>
          <p:nvPr/>
        </p:nvSpPr>
        <p:spPr>
          <a:xfrm rot="0">
            <a:off x="1097280" y="6332220"/>
            <a:ext cx="3703320" cy="59436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Skenario</a:t>
            </a:r>
          </a:p>
        </p:txBody>
      </p:sp>
      <p:sp>
        <p:nvSpPr>
          <p:cNvPr name="TextBox 88" id="88"/>
          <p:cNvSpPr txBox="true"/>
          <p:nvPr/>
        </p:nvSpPr>
        <p:spPr>
          <a:xfrm rot="0">
            <a:off x="1097280" y="6891528"/>
            <a:ext cx="3703320" cy="899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tiga skenario dan perbandingannya</a:t>
            </a:r>
          </a:p>
        </p:txBody>
      </p:sp>
      <p:grpSp>
        <p:nvGrpSpPr>
          <p:cNvPr name="Group 89" id="89"/>
          <p:cNvGrpSpPr/>
          <p:nvPr/>
        </p:nvGrpSpPr>
        <p:grpSpPr>
          <a:xfrm rot="0">
            <a:off x="5212080" y="6309360"/>
            <a:ext cx="4183380" cy="1508760"/>
            <a:chOff x="0" y="0"/>
            <a:chExt cx="5577840" cy="2011680"/>
          </a:xfrm>
        </p:grpSpPr>
        <p:sp>
          <p:nvSpPr>
            <p:cNvPr name="Freeform 90" id="90"/>
            <p:cNvSpPr/>
            <p:nvPr/>
          </p:nvSpPr>
          <p:spPr>
            <a:xfrm flipH="false" flipV="false" rot="0">
              <a:off x="0" y="0"/>
              <a:ext cx="5577840" cy="2011680"/>
            </a:xfrm>
            <a:custGeom>
              <a:avLst/>
              <a:gdLst/>
              <a:ahLst/>
              <a:cxnLst/>
              <a:rect r="r" b="b" t="t" l="l"/>
              <a:pathLst>
                <a:path h="2011680" w="5577840">
                  <a:moveTo>
                    <a:pt x="0" y="182880"/>
                  </a:moveTo>
                  <a:cubicBezTo>
                    <a:pt x="0" y="81915"/>
                    <a:pt x="81915" y="0"/>
                    <a:pt x="182880" y="0"/>
                  </a:cubicBezTo>
                  <a:lnTo>
                    <a:pt x="5394960" y="0"/>
                  </a:lnTo>
                  <a:cubicBezTo>
                    <a:pt x="5495925" y="0"/>
                    <a:pt x="5577840" y="81915"/>
                    <a:pt x="5577840" y="182880"/>
                  </a:cubicBezTo>
                  <a:lnTo>
                    <a:pt x="5577840" y="1828800"/>
                  </a:lnTo>
                  <a:cubicBezTo>
                    <a:pt x="5577840" y="1929765"/>
                    <a:pt x="5495925" y="2011680"/>
                    <a:pt x="5394960" y="2011680"/>
                  </a:cubicBezTo>
                  <a:lnTo>
                    <a:pt x="182880" y="2011680"/>
                  </a:lnTo>
                  <a:cubicBezTo>
                    <a:pt x="81915" y="2011680"/>
                    <a:pt x="0" y="1929765"/>
                    <a:pt x="0" y="1828800"/>
                  </a:cubicBezTo>
                  <a:close/>
                </a:path>
              </a:pathLst>
            </a:custGeom>
            <a:solidFill>
              <a:srgbClr val="FFF1BF"/>
            </a:solidFill>
          </p:spPr>
        </p:sp>
      </p:grpSp>
      <p:sp>
        <p:nvSpPr>
          <p:cNvPr name="TextBox 91" id="91"/>
          <p:cNvSpPr txBox="true"/>
          <p:nvPr/>
        </p:nvSpPr>
        <p:spPr>
          <a:xfrm rot="0">
            <a:off x="5486400" y="6332220"/>
            <a:ext cx="3703320" cy="59436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Simulasi</a:t>
            </a:r>
          </a:p>
        </p:txBody>
      </p:sp>
      <p:sp>
        <p:nvSpPr>
          <p:cNvPr name="TextBox 92" id="92"/>
          <p:cNvSpPr txBox="true"/>
          <p:nvPr/>
        </p:nvSpPr>
        <p:spPr>
          <a:xfrm rot="0">
            <a:off x="5486400" y="6891528"/>
            <a:ext cx="3703320" cy="899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atur dua tuas, pilih variabel, jalankan 2025–2050</a:t>
            </a:r>
          </a:p>
        </p:txBody>
      </p:sp>
      <p:grpSp>
        <p:nvGrpSpPr>
          <p:cNvPr name="Group 93" id="93"/>
          <p:cNvGrpSpPr/>
          <p:nvPr/>
        </p:nvGrpSpPr>
        <p:grpSpPr>
          <a:xfrm rot="0">
            <a:off x="822960" y="8298180"/>
            <a:ext cx="8092440" cy="617220"/>
            <a:chOff x="0" y="0"/>
            <a:chExt cx="10789920" cy="822960"/>
          </a:xfrm>
        </p:grpSpPr>
        <p:sp>
          <p:nvSpPr>
            <p:cNvPr name="Freeform 94" id="94"/>
            <p:cNvSpPr/>
            <p:nvPr/>
          </p:nvSpPr>
          <p:spPr>
            <a:xfrm flipH="false" flipV="false" rot="0">
              <a:off x="0" y="0"/>
              <a:ext cx="10789920" cy="822960"/>
            </a:xfrm>
            <a:custGeom>
              <a:avLst/>
              <a:gdLst/>
              <a:ahLst/>
              <a:cxnLst/>
              <a:rect r="r" b="b" t="t" l="l"/>
              <a:pathLst>
                <a:path h="822960" w="10789920">
                  <a:moveTo>
                    <a:pt x="0" y="411480"/>
                  </a:moveTo>
                  <a:cubicBezTo>
                    <a:pt x="0" y="184277"/>
                    <a:pt x="184277" y="0"/>
                    <a:pt x="411480" y="0"/>
                  </a:cubicBezTo>
                  <a:lnTo>
                    <a:pt x="10378440" y="0"/>
                  </a:lnTo>
                  <a:cubicBezTo>
                    <a:pt x="10605643" y="0"/>
                    <a:pt x="10789920" y="184277"/>
                    <a:pt x="10789920" y="411480"/>
                  </a:cubicBezTo>
                  <a:cubicBezTo>
                    <a:pt x="10789920" y="638683"/>
                    <a:pt x="10605643" y="822960"/>
                    <a:pt x="10378440" y="822960"/>
                  </a:cubicBezTo>
                  <a:lnTo>
                    <a:pt x="411480" y="822960"/>
                  </a:lnTo>
                  <a:cubicBezTo>
                    <a:pt x="184277" y="822960"/>
                    <a:pt x="0" y="638683"/>
                    <a:pt x="0" y="411480"/>
                  </a:cubicBezTo>
                  <a:close/>
                </a:path>
              </a:pathLst>
            </a:custGeom>
            <a:solidFill>
              <a:srgbClr val="39C0D3"/>
            </a:solidFill>
          </p:spPr>
        </p:sp>
      </p:grpSp>
      <p:grpSp>
        <p:nvGrpSpPr>
          <p:cNvPr name="Group 95" id="95"/>
          <p:cNvGrpSpPr/>
          <p:nvPr/>
        </p:nvGrpSpPr>
        <p:grpSpPr>
          <a:xfrm rot="0">
            <a:off x="822960" y="8298180"/>
            <a:ext cx="8092440" cy="617220"/>
            <a:chOff x="0" y="0"/>
            <a:chExt cx="10789920" cy="822960"/>
          </a:xfrm>
        </p:grpSpPr>
        <p:sp>
          <p:nvSpPr>
            <p:cNvPr name="Freeform 96" id="96"/>
            <p:cNvSpPr/>
            <p:nvPr/>
          </p:nvSpPr>
          <p:spPr>
            <a:xfrm flipH="false" flipV="false" rot="0">
              <a:off x="0" y="0"/>
              <a:ext cx="10789920" cy="822960"/>
            </a:xfrm>
            <a:custGeom>
              <a:avLst/>
              <a:gdLst/>
              <a:ahLst/>
              <a:cxnLst/>
              <a:rect r="r" b="b" t="t" l="l"/>
              <a:pathLst>
                <a:path h="822960" w="10789920">
                  <a:moveTo>
                    <a:pt x="0" y="0"/>
                  </a:moveTo>
                  <a:lnTo>
                    <a:pt x="10789920" y="0"/>
                  </a:lnTo>
                  <a:lnTo>
                    <a:pt x="10789920" y="822960"/>
                  </a:lnTo>
                  <a:lnTo>
                    <a:pt x="0" y="822960"/>
                  </a:lnTo>
                  <a:close/>
                </a:path>
              </a:pathLst>
            </a:custGeom>
            <a:blipFill>
              <a:blip r:embed="rId4">
                <a:alphaModFix amt="0"/>
              </a:blip>
              <a:stretch>
                <a:fillRect l="0" t="-205293" r="0" b="-205293"/>
              </a:stretch>
            </a:blipFill>
          </p:spPr>
        </p:sp>
      </p:grpSp>
      <p:grpSp>
        <p:nvGrpSpPr>
          <p:cNvPr name="Group 97" id="97"/>
          <p:cNvGrpSpPr/>
          <p:nvPr/>
        </p:nvGrpSpPr>
        <p:grpSpPr>
          <a:xfrm rot="0">
            <a:off x="822960" y="8262461"/>
            <a:ext cx="8092440" cy="652939"/>
            <a:chOff x="0" y="0"/>
            <a:chExt cx="10789920" cy="870585"/>
          </a:xfrm>
        </p:grpSpPr>
        <p:sp>
          <p:nvSpPr>
            <p:cNvPr name="Freeform 98" id="98"/>
            <p:cNvSpPr/>
            <p:nvPr/>
          </p:nvSpPr>
          <p:spPr>
            <a:xfrm flipH="false" flipV="false" rot="0">
              <a:off x="0" y="0"/>
              <a:ext cx="10789920" cy="870585"/>
            </a:xfrm>
            <a:custGeom>
              <a:avLst/>
              <a:gdLst/>
              <a:ahLst/>
              <a:cxnLst/>
              <a:rect r="r" b="b" t="t" l="l"/>
              <a:pathLst>
                <a:path h="870585" w="10789920">
                  <a:moveTo>
                    <a:pt x="0" y="0"/>
                  </a:moveTo>
                  <a:lnTo>
                    <a:pt x="10789920" y="0"/>
                  </a:lnTo>
                  <a:lnTo>
                    <a:pt x="10789920" y="870585"/>
                  </a:lnTo>
                  <a:lnTo>
                    <a:pt x="0" y="870585"/>
                  </a:lnTo>
                  <a:close/>
                </a:path>
              </a:pathLst>
            </a:custGeom>
            <a:blipFill>
              <a:blip r:embed="rId5">
                <a:alphaModFix amt="0"/>
              </a:blip>
              <a:stretch>
                <a:fillRect l="0" t="-191495" r="0" b="-191495"/>
              </a:stretch>
            </a:blipFill>
          </p:spPr>
        </p:sp>
        <p:sp>
          <p:nvSpPr>
            <p:cNvPr name="TextBox 99" id="99"/>
            <p:cNvSpPr txBox="true"/>
            <p:nvPr/>
          </p:nvSpPr>
          <p:spPr>
            <a:xfrm>
              <a:off x="0" y="-47625"/>
              <a:ext cx="10789920" cy="91821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sistemdinamispariwisata.vercel.app</a:t>
              </a:r>
            </a:p>
          </p:txBody>
        </p:sp>
      </p:grpSp>
      <p:grpSp>
        <p:nvGrpSpPr>
          <p:cNvPr name="Group 100" id="100"/>
          <p:cNvGrpSpPr/>
          <p:nvPr/>
        </p:nvGrpSpPr>
        <p:grpSpPr>
          <a:xfrm rot="0">
            <a:off x="9738360" y="2817400"/>
            <a:ext cx="3771900" cy="4995100"/>
            <a:chOff x="0" y="0"/>
            <a:chExt cx="5029200" cy="6660134"/>
          </a:xfrm>
        </p:grpSpPr>
        <p:sp>
          <p:nvSpPr>
            <p:cNvPr name="Freeform 101" id="101" descr="Halaman Skenario aplikasi"/>
            <p:cNvSpPr/>
            <p:nvPr/>
          </p:nvSpPr>
          <p:spPr>
            <a:xfrm flipH="false" flipV="false" rot="0">
              <a:off x="0" y="0"/>
              <a:ext cx="5029200" cy="6660134"/>
            </a:xfrm>
            <a:custGeom>
              <a:avLst/>
              <a:gdLst/>
              <a:ahLst/>
              <a:cxnLst/>
              <a:rect r="r" b="b" t="t" l="l"/>
              <a:pathLst>
                <a:path h="6660134" w="5029200">
                  <a:moveTo>
                    <a:pt x="0" y="0"/>
                  </a:moveTo>
                  <a:lnTo>
                    <a:pt x="5029200" y="0"/>
                  </a:lnTo>
                  <a:lnTo>
                    <a:pt x="5029200" y="6660134"/>
                  </a:lnTo>
                  <a:lnTo>
                    <a:pt x="0" y="6660134"/>
                  </a:lnTo>
                  <a:lnTo>
                    <a:pt x="0" y="0"/>
                  </a:lnTo>
                  <a:close/>
                </a:path>
              </a:pathLst>
            </a:custGeom>
            <a:blipFill>
              <a:blip r:embed="rId6"/>
              <a:stretch>
                <a:fillRect l="0" t="-57" r="0" b="-56"/>
              </a:stretch>
            </a:blipFill>
          </p:spPr>
        </p:sp>
      </p:grpSp>
      <p:grpSp>
        <p:nvGrpSpPr>
          <p:cNvPr name="Group 102" id="102"/>
          <p:cNvGrpSpPr/>
          <p:nvPr/>
        </p:nvGrpSpPr>
        <p:grpSpPr>
          <a:xfrm rot="0">
            <a:off x="13716000" y="2861948"/>
            <a:ext cx="3744468" cy="4906042"/>
            <a:chOff x="0" y="0"/>
            <a:chExt cx="4992624" cy="6541389"/>
          </a:xfrm>
        </p:grpSpPr>
        <p:sp>
          <p:nvSpPr>
            <p:cNvPr name="Freeform 103" id="103" descr="Halaman Simulasi aplikasi"/>
            <p:cNvSpPr/>
            <p:nvPr/>
          </p:nvSpPr>
          <p:spPr>
            <a:xfrm flipH="false" flipV="false" rot="0">
              <a:off x="0" y="0"/>
              <a:ext cx="4992624" cy="6541389"/>
            </a:xfrm>
            <a:custGeom>
              <a:avLst/>
              <a:gdLst/>
              <a:ahLst/>
              <a:cxnLst/>
              <a:rect r="r" b="b" t="t" l="l"/>
              <a:pathLst>
                <a:path h="6541389" w="4992624">
                  <a:moveTo>
                    <a:pt x="0" y="0"/>
                  </a:moveTo>
                  <a:lnTo>
                    <a:pt x="4992624" y="0"/>
                  </a:lnTo>
                  <a:lnTo>
                    <a:pt x="4992624" y="6541389"/>
                  </a:lnTo>
                  <a:lnTo>
                    <a:pt x="0" y="6541389"/>
                  </a:lnTo>
                  <a:lnTo>
                    <a:pt x="0" y="0"/>
                  </a:lnTo>
                  <a:close/>
                </a:path>
              </a:pathLst>
            </a:custGeom>
            <a:blipFill>
              <a:blip r:embed="rId7"/>
              <a:stretch>
                <a:fillRect l="-42" t="0" r="-42" b="0"/>
              </a:stretch>
            </a:blipFill>
          </p:spPr>
        </p:sp>
      </p:grpSp>
      <p:sp>
        <p:nvSpPr>
          <p:cNvPr name="TextBox 104" id="104"/>
          <p:cNvSpPr txBox="true"/>
          <p:nvPr/>
        </p:nvSpPr>
        <p:spPr>
          <a:xfrm rot="0">
            <a:off x="9738360" y="8290560"/>
            <a:ext cx="3771900" cy="487680"/>
          </a:xfrm>
          <a:prstGeom prst="rect">
            <a:avLst/>
          </a:prstGeom>
        </p:spPr>
        <p:txBody>
          <a:bodyPr anchor="t" rtlCol="false" tIns="0" lIns="0" bIns="0" rIns="0">
            <a:spAutoFit/>
          </a:bodyPr>
          <a:lstStyle/>
          <a:p>
            <a:pPr algn="ctr">
              <a:lnSpc>
                <a:spcPts val="2160"/>
              </a:lnSpc>
            </a:pPr>
            <a:r>
              <a:rPr lang="en-US" sz="1800" b="true">
                <a:solidFill>
                  <a:srgbClr val="0B5E6E"/>
                </a:solidFill>
                <a:latin typeface="Calibri (MS) Bold"/>
                <a:ea typeface="Calibri (MS) Bold"/>
                <a:cs typeface="Calibri (MS) Bold"/>
                <a:sym typeface="Calibri (MS) Bold"/>
              </a:rPr>
              <a:t>Halaman Skenario</a:t>
            </a:r>
          </a:p>
        </p:txBody>
      </p:sp>
      <p:sp>
        <p:nvSpPr>
          <p:cNvPr name="TextBox 105" id="105"/>
          <p:cNvSpPr txBox="true"/>
          <p:nvPr/>
        </p:nvSpPr>
        <p:spPr>
          <a:xfrm rot="0">
            <a:off x="13716000" y="8290560"/>
            <a:ext cx="3744468" cy="487680"/>
          </a:xfrm>
          <a:prstGeom prst="rect">
            <a:avLst/>
          </a:prstGeom>
        </p:spPr>
        <p:txBody>
          <a:bodyPr anchor="t" rtlCol="false" tIns="0" lIns="0" bIns="0" rIns="0">
            <a:spAutoFit/>
          </a:bodyPr>
          <a:lstStyle/>
          <a:p>
            <a:pPr algn="ctr">
              <a:lnSpc>
                <a:spcPts val="2160"/>
              </a:lnSpc>
            </a:pPr>
            <a:r>
              <a:rPr lang="en-US" sz="1800" b="true">
                <a:solidFill>
                  <a:srgbClr val="0B5E6E"/>
                </a:solidFill>
                <a:latin typeface="Calibri (MS) Bold"/>
                <a:ea typeface="Calibri (MS) Bold"/>
                <a:cs typeface="Calibri (MS) Bold"/>
                <a:sym typeface="Calibri (MS) Bold"/>
              </a:rPr>
              <a:t>Halaman Simulasi</a:t>
            </a:r>
          </a:p>
        </p:txBody>
      </p:sp>
      <p:sp>
        <p:nvSpPr>
          <p:cNvPr name="TextBox 106" id="106"/>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66</a:t>
            </a:r>
          </a:p>
        </p:txBody>
      </p:sp>
      <p:sp>
        <p:nvSpPr>
          <p:cNvPr id="107"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txBody>
            <a:bodyPr/>
            <a:p/>
          </p:txBody>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4.9.1 · Implementasi Aplikasi — Halaman Aplikasi</a:t>
            </a:r>
          </a:p>
          <a:p>
            <a:pPr algn="l">
              <a:lnSpc>
                <a:spcPct val="100000"/>
              </a:lnSpc>
            </a:pPr>
            <a:r>
              <a:rPr lang="en-US" sz="3500" b="true">
                <a:solidFill>
                  <a:srgbClr val="0B5E6E"/>
                </a:solidFill>
                <a:latin typeface="Calibri (MS) Bold"/>
                <a:ea typeface="Calibri (MS) Bold"/>
                <a:cs typeface="Calibri (MS) Bold"/>
                <a:sym typeface="Calibri (MS) Bold"/>
              </a:rPr>
              <a:t>Empat halaman aplikasi: dari input tuas ke grafik keluaran</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Tujuan 3</a:t>
              </a:r>
            </a:p>
          </p:txBody>
        </p:sp>
      </p:grpSp>
      <p:grpSp>
        <p:nvGrpSpPr>
          <p:cNvPr name="Group 17" id="17"/>
          <p:cNvGrpSpPr/>
          <p:nvPr/>
        </p:nvGrpSpPr>
        <p:grpSpPr>
          <a:xfrm rot="0">
            <a:off x="822960" y="2674620"/>
            <a:ext cx="4192714" cy="5143500"/>
            <a:chOff x="0" y="0"/>
            <a:chExt cx="5590286" cy="6858000"/>
          </a:xfrm>
        </p:grpSpPr>
        <p:sp>
          <p:nvSpPr>
            <p:cNvPr name="Freeform 18" id="18" descr="Halaman Beranda aplikasi"/>
            <p:cNvSpPr/>
            <p:nvPr/>
          </p:nvSpPr>
          <p:spPr>
            <a:xfrm flipH="false" flipV="false" rot="0">
              <a:off x="0" y="0"/>
              <a:ext cx="5590286" cy="6858000"/>
            </a:xfrm>
            <a:custGeom>
              <a:avLst/>
              <a:gdLst/>
              <a:ahLst/>
              <a:cxnLst/>
              <a:rect r="r" b="b" t="t" l="l"/>
              <a:pathLst>
                <a:path h="6858000" w="5590286">
                  <a:moveTo>
                    <a:pt x="0" y="0"/>
                  </a:moveTo>
                  <a:lnTo>
                    <a:pt x="5590286" y="0"/>
                  </a:lnTo>
                  <a:lnTo>
                    <a:pt x="5590286" y="6858000"/>
                  </a:lnTo>
                  <a:lnTo>
                    <a:pt x="0" y="6858000"/>
                  </a:lnTo>
                  <a:lnTo>
                    <a:pt x="0" y="0"/>
                  </a:lnTo>
                  <a:close/>
                </a:path>
              </a:pathLst>
            </a:custGeom>
            <a:blipFill>
              <a:blip r:embed="rId6"/>
              <a:stretch>
                <a:fillRect l="-14" t="0" r="-14" b="0"/>
              </a:stretch>
            </a:blipFill>
          </p:spPr>
          <p:txBody>
            <a:bodyPr/>
            <a:p/>
          </p:txBody>
        </p:sp>
      </p:grpSp>
      <p:sp>
        <p:nvSpPr>
          <p:cNvPr name="TextBox 19" id="19"/>
          <p:cNvSpPr txBox="true"/>
          <p:nvPr/>
        </p:nvSpPr>
        <p:spPr>
          <a:xfrm rot="0">
            <a:off x="822960" y="7879080"/>
            <a:ext cx="4192762" cy="487680"/>
          </a:xfrm>
          <a:prstGeom prst="rect">
            <a:avLst/>
          </a:prstGeom>
        </p:spPr>
        <p:txBody>
          <a:bodyPr anchor="t" rtlCol="false" tIns="0" lIns="0" bIns="0" rIns="0">
            <a:spAutoFit/>
          </a:bodyPr>
          <a:lstStyle/>
          <a:p>
            <a:pPr algn="ctr">
              <a:lnSpc>
                <a:spcPts val="2250"/>
              </a:lnSpc>
            </a:pPr>
            <a:r>
              <a:rPr lang="en-US" sz="1875" b="true">
                <a:solidFill>
                  <a:srgbClr val="0B5E6E"/>
                </a:solidFill>
                <a:latin typeface="Calibri (MS) Bold"/>
                <a:ea typeface="Calibri (MS) Bold"/>
                <a:cs typeface="Calibri (MS) Bold"/>
                <a:sym typeface="Calibri (MS) Bold"/>
              </a:rPr>
              <a:t>Beranda</a:t>
            </a:r>
          </a:p>
        </p:txBody>
      </p:sp>
      <p:grpSp>
        <p:nvGrpSpPr>
          <p:cNvPr name="Group 20" id="20"/>
          <p:cNvGrpSpPr/>
          <p:nvPr/>
        </p:nvGrpSpPr>
        <p:grpSpPr>
          <a:xfrm rot="0">
            <a:off x="5290042" y="2674620"/>
            <a:ext cx="3814572" cy="5143500"/>
            <a:chOff x="0" y="0"/>
            <a:chExt cx="5086096" cy="6858000"/>
          </a:xfrm>
        </p:grpSpPr>
        <p:sp>
          <p:nvSpPr>
            <p:cNvPr name="Freeform 21" id="21" descr="Halaman Model aplikasi"/>
            <p:cNvSpPr/>
            <p:nvPr/>
          </p:nvSpPr>
          <p:spPr>
            <a:xfrm flipH="false" flipV="false" rot="0">
              <a:off x="0" y="0"/>
              <a:ext cx="5086096" cy="6858000"/>
            </a:xfrm>
            <a:custGeom>
              <a:avLst/>
              <a:gdLst/>
              <a:ahLst/>
              <a:cxnLst/>
              <a:rect r="r" b="b" t="t" l="l"/>
              <a:pathLst>
                <a:path h="6858000" w="5086096">
                  <a:moveTo>
                    <a:pt x="0" y="0"/>
                  </a:moveTo>
                  <a:lnTo>
                    <a:pt x="5086096" y="0"/>
                  </a:lnTo>
                  <a:lnTo>
                    <a:pt x="5086096" y="6858000"/>
                  </a:lnTo>
                  <a:lnTo>
                    <a:pt x="0" y="6858000"/>
                  </a:lnTo>
                  <a:lnTo>
                    <a:pt x="0" y="0"/>
                  </a:lnTo>
                  <a:close/>
                </a:path>
              </a:pathLst>
            </a:custGeom>
            <a:blipFill>
              <a:blip r:embed="rId7"/>
              <a:stretch>
                <a:fillRect l="-49" t="0" r="-48" b="0"/>
              </a:stretch>
            </a:blipFill>
          </p:spPr>
          <p:txBody>
            <a:bodyPr/>
            <a:p/>
          </p:txBody>
        </p:sp>
      </p:grpSp>
      <p:sp>
        <p:nvSpPr>
          <p:cNvPr name="TextBox 22" id="22"/>
          <p:cNvSpPr txBox="true"/>
          <p:nvPr/>
        </p:nvSpPr>
        <p:spPr>
          <a:xfrm rot="0">
            <a:off x="5290042" y="7879080"/>
            <a:ext cx="3814572" cy="487680"/>
          </a:xfrm>
          <a:prstGeom prst="rect">
            <a:avLst/>
          </a:prstGeom>
        </p:spPr>
        <p:txBody>
          <a:bodyPr anchor="t" rtlCol="false" tIns="0" lIns="0" bIns="0" rIns="0">
            <a:spAutoFit/>
          </a:bodyPr>
          <a:lstStyle/>
          <a:p>
            <a:pPr algn="ctr">
              <a:lnSpc>
                <a:spcPts val="2250"/>
              </a:lnSpc>
            </a:pPr>
            <a:r>
              <a:rPr lang="en-US" sz="1875" b="true">
                <a:solidFill>
                  <a:srgbClr val="0B5E6E"/>
                </a:solidFill>
                <a:latin typeface="Calibri (MS) Bold"/>
                <a:ea typeface="Calibri (MS) Bold"/>
                <a:cs typeface="Calibri (MS) Bold"/>
                <a:sym typeface="Calibri (MS) Bold"/>
              </a:rPr>
              <a:t>Model</a:t>
            </a:r>
          </a:p>
        </p:txBody>
      </p:sp>
      <p:grpSp>
        <p:nvGrpSpPr>
          <p:cNvPr name="Group 23" id="23"/>
          <p:cNvGrpSpPr/>
          <p:nvPr/>
        </p:nvGrpSpPr>
        <p:grpSpPr>
          <a:xfrm rot="0">
            <a:off x="9378934" y="2674620"/>
            <a:ext cx="3883914" cy="5143500"/>
            <a:chOff x="0" y="0"/>
            <a:chExt cx="5178552" cy="6858000"/>
          </a:xfrm>
        </p:grpSpPr>
        <p:sp>
          <p:nvSpPr>
            <p:cNvPr name="Freeform 24" id="24" descr="Halaman Skenario aplikasi"/>
            <p:cNvSpPr/>
            <p:nvPr/>
          </p:nvSpPr>
          <p:spPr>
            <a:xfrm flipH="false" flipV="false" rot="0">
              <a:off x="0" y="0"/>
              <a:ext cx="5178552" cy="6858000"/>
            </a:xfrm>
            <a:custGeom>
              <a:avLst/>
              <a:gdLst/>
              <a:ahLst/>
              <a:cxnLst/>
              <a:rect r="r" b="b" t="t" l="l"/>
              <a:pathLst>
                <a:path h="6858000" w="5178552">
                  <a:moveTo>
                    <a:pt x="0" y="0"/>
                  </a:moveTo>
                  <a:lnTo>
                    <a:pt x="5178552" y="0"/>
                  </a:lnTo>
                  <a:lnTo>
                    <a:pt x="5178552" y="6858000"/>
                  </a:lnTo>
                  <a:lnTo>
                    <a:pt x="0" y="6858000"/>
                  </a:lnTo>
                  <a:lnTo>
                    <a:pt x="0" y="0"/>
                  </a:lnTo>
                  <a:close/>
                </a:path>
              </a:pathLst>
            </a:custGeom>
            <a:blipFill>
              <a:blip r:embed="rId8"/>
              <a:stretch>
                <a:fillRect l="0" t="-56" r="0" b="-56"/>
              </a:stretch>
            </a:blipFill>
          </p:spPr>
          <p:txBody>
            <a:bodyPr/>
            <a:p/>
          </p:txBody>
        </p:sp>
      </p:grpSp>
      <p:sp>
        <p:nvSpPr>
          <p:cNvPr name="TextBox 25" id="25"/>
          <p:cNvSpPr txBox="true"/>
          <p:nvPr/>
        </p:nvSpPr>
        <p:spPr>
          <a:xfrm rot="0">
            <a:off x="9378934" y="7879080"/>
            <a:ext cx="3883962" cy="487680"/>
          </a:xfrm>
          <a:prstGeom prst="rect">
            <a:avLst/>
          </a:prstGeom>
        </p:spPr>
        <p:txBody>
          <a:bodyPr anchor="t" rtlCol="false" tIns="0" lIns="0" bIns="0" rIns="0">
            <a:spAutoFit/>
          </a:bodyPr>
          <a:lstStyle/>
          <a:p>
            <a:pPr algn="ctr">
              <a:lnSpc>
                <a:spcPts val="2250"/>
              </a:lnSpc>
            </a:pPr>
            <a:r>
              <a:rPr lang="en-US" sz="1875" b="true">
                <a:solidFill>
                  <a:srgbClr val="0B5E6E"/>
                </a:solidFill>
                <a:latin typeface="Calibri (MS) Bold"/>
                <a:ea typeface="Calibri (MS) Bold"/>
                <a:cs typeface="Calibri (MS) Bold"/>
                <a:sym typeface="Calibri (MS) Bold"/>
              </a:rPr>
              <a:t>Skenario</a:t>
            </a:r>
          </a:p>
        </p:txBody>
      </p:sp>
      <p:grpSp>
        <p:nvGrpSpPr>
          <p:cNvPr name="Group 26" id="26"/>
          <p:cNvGrpSpPr/>
          <p:nvPr/>
        </p:nvGrpSpPr>
        <p:grpSpPr>
          <a:xfrm rot="0">
            <a:off x="13537216" y="2674620"/>
            <a:ext cx="3925729" cy="5143500"/>
            <a:chOff x="0" y="0"/>
            <a:chExt cx="5234305" cy="6858000"/>
          </a:xfrm>
        </p:grpSpPr>
        <p:sp>
          <p:nvSpPr>
            <p:cNvPr name="Freeform 27" id="27" descr="Halaman Simulasi aplikasi"/>
            <p:cNvSpPr/>
            <p:nvPr/>
          </p:nvSpPr>
          <p:spPr>
            <a:xfrm flipH="false" flipV="false" rot="0">
              <a:off x="0" y="0"/>
              <a:ext cx="5234305" cy="6858000"/>
            </a:xfrm>
            <a:custGeom>
              <a:avLst/>
              <a:gdLst/>
              <a:ahLst/>
              <a:cxnLst/>
              <a:rect r="r" b="b" t="t" l="l"/>
              <a:pathLst>
                <a:path h="6858000" w="5234305">
                  <a:moveTo>
                    <a:pt x="0" y="0"/>
                  </a:moveTo>
                  <a:lnTo>
                    <a:pt x="5234305" y="0"/>
                  </a:lnTo>
                  <a:lnTo>
                    <a:pt x="5234305" y="6858000"/>
                  </a:lnTo>
                  <a:lnTo>
                    <a:pt x="0" y="6858000"/>
                  </a:lnTo>
                  <a:lnTo>
                    <a:pt x="0" y="0"/>
                  </a:lnTo>
                  <a:close/>
                </a:path>
              </a:pathLst>
            </a:custGeom>
            <a:blipFill>
              <a:blip r:embed="rId9"/>
              <a:stretch>
                <a:fillRect l="-42" t="0" r="-42" b="0"/>
              </a:stretch>
            </a:blipFill>
          </p:spPr>
          <p:txBody>
            <a:bodyPr/>
            <a:p/>
          </p:txBody>
        </p:sp>
      </p:grpSp>
      <p:sp>
        <p:nvSpPr>
          <p:cNvPr name="TextBox 28" id="28"/>
          <p:cNvSpPr txBox="true"/>
          <p:nvPr/>
        </p:nvSpPr>
        <p:spPr>
          <a:xfrm rot="0">
            <a:off x="13537216" y="7879080"/>
            <a:ext cx="3925738" cy="487680"/>
          </a:xfrm>
          <a:prstGeom prst="rect">
            <a:avLst/>
          </a:prstGeom>
        </p:spPr>
        <p:txBody>
          <a:bodyPr anchor="t" rtlCol="false" tIns="0" lIns="0" bIns="0" rIns="0">
            <a:spAutoFit/>
          </a:bodyPr>
          <a:lstStyle/>
          <a:p>
            <a:pPr algn="ctr">
              <a:lnSpc>
                <a:spcPts val="2250"/>
              </a:lnSpc>
            </a:pPr>
            <a:r>
              <a:rPr lang="en-US" sz="1875" b="true">
                <a:solidFill>
                  <a:srgbClr val="0B5E6E"/>
                </a:solidFill>
                <a:latin typeface="Calibri (MS) Bold"/>
                <a:ea typeface="Calibri (MS) Bold"/>
                <a:cs typeface="Calibri (MS) Bold"/>
                <a:sym typeface="Calibri (MS) Bold"/>
              </a:rPr>
              <a:t>Simulasi</a:t>
            </a:r>
          </a:p>
        </p:txBody>
      </p:sp>
      <p:sp>
        <p:nvSpPr>
          <p:cNvPr name="TextBox 29" id="29"/>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67</a:t>
            </a:r>
          </a:p>
        </p:txBody>
      </p:sp>
      <p:sp>
        <p:nvSpPr>
          <p:cNvPr id="30" name="TextBox 29"/>
          <p:cNvSpPr txBox="1"/>
          <p:nvPr/>
        </p:nvSpPr>
        <p:spPr>
          <a:xfrm>
            <a:off x="822960" y="8503920"/>
            <a:ext cx="16642080" cy="731520"/>
          </a:xfrm>
          <a:prstGeom prst="rect">
            <a:avLst/>
          </a:prstGeom>
          <a:noFill/>
        </p:spPr>
        <p:txBody>
          <a:bodyPr wrap="square" anchor="t" lIns="0" rIns="0" tIns="0" bIns="0">
            <a:spAutoFit/>
          </a:bodyPr>
          <a:lstStyle/>
          <a:p>
            <a:pPr algn="l">
              <a:spcAft>
                <a:spcPts val="400"/>
              </a:spcAft>
            </a:pPr>
            <a:r>
              <a:rPr sz="1610" b="1" i="0">
                <a:solidFill>
                  <a:srgbClr val="0B5E6E"/>
                </a:solidFill>
                <a:latin typeface="Calibri (MS) Bold"/>
              </a:rPr>
              <a:t>Input: </a:t>
            </a:r>
            <a:r>
              <a:rPr sz="1610" b="0" i="0">
                <a:solidFill>
                  <a:srgbClr val="14313B"/>
                </a:solidFill>
                <a:latin typeface="Calibri (MS)"/>
              </a:rPr>
              <a:t>pilih skenario atau atur Insentif Kebijakan (0–0,5) dan Kebijakan Konservasi Lahan (0–1).  </a:t>
            </a:r>
            <a:r>
              <a:rPr sz="1610" b="1" i="0">
                <a:solidFill>
                  <a:srgbClr val="0B5E6E"/>
                </a:solidFill>
                <a:latin typeface="Calibri (MS) Bold"/>
              </a:rPr>
              <a:t>Proses: </a:t>
            </a:r>
            <a:r>
              <a:rPr sz="1610" b="0" i="0">
                <a:solidFill>
                  <a:srgbClr val="14313B"/>
                </a:solidFill>
                <a:latin typeface="Calibri (MS)"/>
              </a:rPr>
              <a:t>model hasil konversi SDEverywhere menghitung 2025–2050 di peramban.  </a:t>
            </a:r>
            <a:r>
              <a:rPr sz="1610" b="1" i="0">
                <a:solidFill>
                  <a:srgbClr val="0B5E6E"/>
                </a:solidFill>
                <a:latin typeface="Calibri (MS) Bold"/>
              </a:rPr>
              <a:t>Output: </a:t>
            </a:r>
            <a:r>
              <a:rPr sz="1610" b="0" i="0">
                <a:solidFill>
                  <a:srgbClr val="14313B"/>
                </a:solidFill>
                <a:latin typeface="Calibri (MS)"/>
              </a:rPr>
              <a:t>indikator numerik dan grafik deret waktu; perbandingan tiga skenario.</a:t>
            </a:r>
          </a:p>
        </p:txBody>
      </p:sp>
      <p:sp>
        <p:nvSpPr>
          <p:cNvPr id="31"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4.9.2 · Hasil Pengujian Fungsional (Black-box)</a:t>
            </a:r>
          </a:p>
          <a:p>
            <a:pPr algn="l">
              <a:lnSpc>
                <a:spcPct val="100000"/>
              </a:lnSpc>
            </a:pPr>
            <a:r>
              <a:rPr lang="en-US" sz="3500" b="true">
                <a:solidFill>
                  <a:srgbClr val="0B5E6E"/>
                </a:solidFill>
                <a:latin typeface="Calibri (MS) Bold"/>
                <a:ea typeface="Calibri (MS) Bold"/>
                <a:cs typeface="Calibri (MS) Bold"/>
                <a:sym typeface="Calibri (MS) Bold"/>
              </a:rPr>
              <a:t>Pengujian fungsional black-box: 9 dari 9 kasus Pass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68</a:t>
            </a:r>
          </a:p>
        </p:txBody>
      </p:sp>
      <p:graphicFrame>
        <p:nvGraphicFramePr>
          <p:cNvPr id="148" name="Table 147"/>
          <p:cNvGraphicFramePr>
            <a:graphicFrameLocks noGrp="1"/>
          </p:cNvGraphicFramePr>
          <p:nvPr/>
        </p:nvGraphicFramePr>
        <p:xfrm>
          <a:off x="822960" y="2286000"/>
          <a:ext cx="16642080" cy="5486400"/>
        </p:xfrm>
        <a:graphic>
          <a:graphicData uri="http://schemas.openxmlformats.org/drawingml/2006/table">
            <a:tbl>
              <a:tblPr firstRow="1" bandRow="1">
                <a:tableStyleId>{5C22544A-7EE6-4342-B048-85BDC9FD1C3A}</a:tableStyleId>
              </a:tblPr>
              <a:tblGrid>
                <a:gridCol w="640080"/>
                <a:gridCol w="3840480"/>
                <a:gridCol w="5547360"/>
                <a:gridCol w="5334000"/>
                <a:gridCol w="1280160"/>
              </a:tblGrid>
              <a:tr h="548640">
                <a:tc>
                  <a:txBody>
                    <a:bodyPr wrap="square"/>
                    <a:lstStyle/>
                    <a:p>
                      <a:r>
                        <a:rPr sz="1550" b="1" i="0">
                          <a:solidFill>
                            <a:srgbClr val="FFFFFF"/>
                          </a:solidFill>
                          <a:latin typeface="Calibri (MS) Bold"/>
                        </a:rPr>
                        <a:t>No</a:t>
                      </a:r>
                    </a:p>
                  </a:txBody>
                  <a:tcPr marL="73152" marR="73152" marT="36576" marB="36576" anchor="ctr">
                    <a:solidFill>
                      <a:srgbClr val="0B5E6E"/>
                    </a:solidFill>
                  </a:tcPr>
                </a:tc>
                <a:tc>
                  <a:txBody>
                    <a:bodyPr wrap="square"/>
                    <a:lstStyle/>
                    <a:p>
                      <a:r>
                        <a:rPr sz="1550" b="1" i="0">
                          <a:solidFill>
                            <a:srgbClr val="FFFFFF"/>
                          </a:solidFill>
                          <a:latin typeface="Calibri (MS) Bold"/>
                        </a:rPr>
                        <a:t>Fungsi yang diuji</a:t>
                      </a:r>
                    </a:p>
                  </a:txBody>
                  <a:tcPr marL="73152" marR="73152" marT="36576" marB="36576" anchor="ctr">
                    <a:solidFill>
                      <a:srgbClr val="0B5E6E"/>
                    </a:solidFill>
                  </a:tcPr>
                </a:tc>
                <a:tc>
                  <a:txBody>
                    <a:bodyPr wrap="square"/>
                    <a:lstStyle/>
                    <a:p>
                      <a:r>
                        <a:rPr sz="1550" b="1" i="0">
                          <a:solidFill>
                            <a:srgbClr val="FFFFFF"/>
                          </a:solidFill>
                          <a:latin typeface="Calibri (MS) Bold"/>
                        </a:rPr>
                        <a:t>Tindakan / masukan</a:t>
                      </a:r>
                    </a:p>
                  </a:txBody>
                  <a:tcPr marL="73152" marR="73152" marT="36576" marB="36576" anchor="ctr">
                    <a:solidFill>
                      <a:srgbClr val="0B5E6E"/>
                    </a:solidFill>
                  </a:tcPr>
                </a:tc>
                <a:tc>
                  <a:txBody>
                    <a:bodyPr wrap="square"/>
                    <a:lstStyle/>
                    <a:p>
                      <a:r>
                        <a:rPr sz="1550" b="1" i="0">
                          <a:solidFill>
                            <a:srgbClr val="FFFFFF"/>
                          </a:solidFill>
                          <a:latin typeface="Calibri (MS) Bold"/>
                        </a:rPr>
                        <a:t>Hasil yang diharapkan</a:t>
                      </a:r>
                    </a:p>
                  </a:txBody>
                  <a:tcPr marL="73152" marR="73152" marT="36576" marB="36576" anchor="ctr">
                    <a:solidFill>
                      <a:srgbClr val="0B5E6E"/>
                    </a:solidFill>
                  </a:tcPr>
                </a:tc>
                <a:tc>
                  <a:txBody>
                    <a:bodyPr wrap="square"/>
                    <a:lstStyle/>
                    <a:p>
                      <a:r>
                        <a:rPr sz="1550" b="1" i="0">
                          <a:solidFill>
                            <a:srgbClr val="FFFFFF"/>
                          </a:solidFill>
                          <a:latin typeface="Calibri (MS) Bold"/>
                        </a:rPr>
                        <a:t>Status</a:t>
                      </a:r>
                    </a:p>
                  </a:txBody>
                  <a:tcPr marL="73152" marR="73152" marT="36576" marB="36576" anchor="ctr">
                    <a:solidFill>
                      <a:srgbClr val="0B5E6E"/>
                    </a:solidFill>
                  </a:tcPr>
                </a:tc>
              </a:tr>
              <a:tr h="548640">
                <a:tc>
                  <a:txBody>
                    <a:bodyPr wrap="square"/>
                    <a:lstStyle/>
                    <a:p>
                      <a:r>
                        <a:rPr sz="1550" b="0" i="0">
                          <a:solidFill>
                            <a:srgbClr val="14313B"/>
                          </a:solidFill>
                          <a:latin typeface="Calibri (MS)"/>
                        </a:rPr>
                        <a:t>1</a:t>
                      </a:r>
                    </a:p>
                  </a:txBody>
                  <a:tcPr marL="73152" marR="73152" marT="36576" marB="36576" anchor="ctr">
                    <a:solidFill>
                      <a:srgbClr val="FFFFFF"/>
                    </a:solidFill>
                  </a:tcPr>
                </a:tc>
                <a:tc>
                  <a:txBody>
                    <a:bodyPr wrap="square"/>
                    <a:lstStyle/>
                    <a:p>
                      <a:r>
                        <a:rPr sz="1550" b="0" i="0">
                          <a:solidFill>
                            <a:srgbClr val="14313B"/>
                          </a:solidFill>
                          <a:latin typeface="Calibri (MS)"/>
                        </a:rPr>
                        <a:t>Navigasi aplikasi</a:t>
                      </a:r>
                    </a:p>
                  </a:txBody>
                  <a:tcPr marL="73152" marR="73152" marT="36576" marB="36576" anchor="ctr">
                    <a:solidFill>
                      <a:srgbClr val="FFFFFF"/>
                    </a:solidFill>
                  </a:tcPr>
                </a:tc>
                <a:tc>
                  <a:txBody>
                    <a:bodyPr wrap="square"/>
                    <a:lstStyle/>
                    <a:p>
                      <a:r>
                        <a:rPr sz="1550" b="0" i="0">
                          <a:solidFill>
                            <a:srgbClr val="14313B"/>
                          </a:solidFill>
                          <a:latin typeface="Calibri (MS)"/>
                        </a:rPr>
                        <a:t>Pilih menu Beranda, Model, Skenario, Simulasi</a:t>
                      </a:r>
                    </a:p>
                  </a:txBody>
                  <a:tcPr marL="73152" marR="73152" marT="36576" marB="36576" anchor="ctr">
                    <a:solidFill>
                      <a:srgbClr val="FFFFFF"/>
                    </a:solidFill>
                  </a:tcPr>
                </a:tc>
                <a:tc>
                  <a:txBody>
                    <a:bodyPr wrap="square"/>
                    <a:lstStyle/>
                    <a:p>
                      <a:r>
                        <a:rPr sz="1550" b="0" i="0">
                          <a:solidFill>
                            <a:srgbClr val="14313B"/>
                          </a:solidFill>
                          <a:latin typeface="Calibri (MS)"/>
                        </a:rPr>
                        <a:t>Halaman sesuai menu tampil</a:t>
                      </a:r>
                    </a:p>
                  </a:txBody>
                  <a:tcPr marL="73152" marR="73152" marT="36576" marB="36576" anchor="ctr">
                    <a:solidFill>
                      <a:srgbClr val="FFFFFF"/>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2</a:t>
                      </a:r>
                    </a:p>
                  </a:txBody>
                  <a:tcPr marL="73152" marR="73152" marT="36576" marB="36576" anchor="ctr">
                    <a:solidFill>
                      <a:srgbClr val="EAF8FA"/>
                    </a:solidFill>
                  </a:tcPr>
                </a:tc>
                <a:tc>
                  <a:txBody>
                    <a:bodyPr wrap="square"/>
                    <a:lstStyle/>
                    <a:p>
                      <a:r>
                        <a:rPr sz="1550" b="0" i="0">
                          <a:solidFill>
                            <a:srgbClr val="14313B"/>
                          </a:solidFill>
                          <a:latin typeface="Calibri (MS)"/>
                        </a:rPr>
                        <a:t>Pergantian tampilan Model</a:t>
                      </a:r>
                    </a:p>
                  </a:txBody>
                  <a:tcPr marL="73152" marR="73152" marT="36576" marB="36576" anchor="ctr">
                    <a:solidFill>
                      <a:srgbClr val="EAF8FA"/>
                    </a:solidFill>
                  </a:tcPr>
                </a:tc>
                <a:tc>
                  <a:txBody>
                    <a:bodyPr wrap="square"/>
                    <a:lstStyle/>
                    <a:p>
                      <a:r>
                        <a:rPr sz="1550" b="0" i="0">
                          <a:solidFill>
                            <a:srgbClr val="14313B"/>
                          </a:solidFill>
                          <a:latin typeface="Calibri (MS)"/>
                        </a:rPr>
                        <a:t>Pilih tab Struktur / Evaluasi Model</a:t>
                      </a:r>
                    </a:p>
                  </a:txBody>
                  <a:tcPr marL="73152" marR="73152" marT="36576" marB="36576" anchor="ctr">
                    <a:solidFill>
                      <a:srgbClr val="EAF8FA"/>
                    </a:solidFill>
                  </a:tcPr>
                </a:tc>
                <a:tc>
                  <a:txBody>
                    <a:bodyPr wrap="square"/>
                    <a:lstStyle/>
                    <a:p>
                      <a:r>
                        <a:rPr sz="1550" b="0" i="0">
                          <a:solidFill>
                            <a:srgbClr val="14313B"/>
                          </a:solidFill>
                          <a:latin typeface="Calibri (MS)"/>
                        </a:rPr>
                        <a:t>Konten sesuai tab</a:t>
                      </a:r>
                    </a:p>
                  </a:txBody>
                  <a:tcPr marL="73152" marR="73152" marT="36576" marB="36576" anchor="ctr">
                    <a:solidFill>
                      <a:srgbClr val="EAF8FA"/>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3</a:t>
                      </a:r>
                    </a:p>
                  </a:txBody>
                  <a:tcPr marL="73152" marR="73152" marT="36576" marB="36576" anchor="ctr">
                    <a:solidFill>
                      <a:srgbClr val="FFFFFF"/>
                    </a:solidFill>
                  </a:tcPr>
                </a:tc>
                <a:tc>
                  <a:txBody>
                    <a:bodyPr wrap="square"/>
                    <a:lstStyle/>
                    <a:p>
                      <a:r>
                        <a:rPr sz="1550" b="0" i="0">
                          <a:solidFill>
                            <a:srgbClr val="14313B"/>
                          </a:solidFill>
                          <a:latin typeface="Calibri (MS)"/>
                        </a:rPr>
                        <a:t>Pemilihan skenario</a:t>
                      </a:r>
                    </a:p>
                  </a:txBody>
                  <a:tcPr marL="73152" marR="73152" marT="36576" marB="36576" anchor="ctr">
                    <a:solidFill>
                      <a:srgbClr val="FFFFFF"/>
                    </a:solidFill>
                  </a:tcPr>
                </a:tc>
                <a:tc>
                  <a:txBody>
                    <a:bodyPr wrap="square"/>
                    <a:lstStyle/>
                    <a:p>
                      <a:r>
                        <a:rPr sz="1550" b="0" i="0">
                          <a:solidFill>
                            <a:srgbClr val="14313B"/>
                          </a:solidFill>
                          <a:latin typeface="Calibri (MS)"/>
                        </a:rPr>
                        <a:t>Pilih BAU, Sustainable, atau DP</a:t>
                      </a:r>
                    </a:p>
                  </a:txBody>
                  <a:tcPr marL="73152" marR="73152" marT="36576" marB="36576" anchor="ctr">
                    <a:solidFill>
                      <a:srgbClr val="FFFFFF"/>
                    </a:solidFill>
                  </a:tcPr>
                </a:tc>
                <a:tc>
                  <a:txBody>
                    <a:bodyPr wrap="square"/>
                    <a:lstStyle/>
                    <a:p>
                      <a:r>
                        <a:rPr sz="1550" b="0" i="0">
                          <a:solidFill>
                            <a:srgbClr val="14313B"/>
                          </a:solidFill>
                          <a:latin typeface="Calibri (MS)"/>
                        </a:rPr>
                        <a:t>Skenario menjadi aktif</a:t>
                      </a:r>
                    </a:p>
                  </a:txBody>
                  <a:tcPr marL="73152" marR="73152" marT="36576" marB="36576" anchor="ctr">
                    <a:solidFill>
                      <a:srgbClr val="FFFFFF"/>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4</a:t>
                      </a:r>
                    </a:p>
                  </a:txBody>
                  <a:tcPr marL="73152" marR="73152" marT="36576" marB="36576" anchor="ctr">
                    <a:solidFill>
                      <a:srgbClr val="EAF8FA"/>
                    </a:solidFill>
                  </a:tcPr>
                </a:tc>
                <a:tc>
                  <a:txBody>
                    <a:bodyPr wrap="square"/>
                    <a:lstStyle/>
                    <a:p>
                      <a:r>
                        <a:rPr sz="1550" b="0" i="0">
                          <a:solidFill>
                            <a:srgbClr val="14313B"/>
                          </a:solidFill>
                          <a:latin typeface="Calibri (MS)"/>
                        </a:rPr>
                        <a:t>Perbandingan skenario</a:t>
                      </a:r>
                    </a:p>
                  </a:txBody>
                  <a:tcPr marL="73152" marR="73152" marT="36576" marB="36576" anchor="ctr">
                    <a:solidFill>
                      <a:srgbClr val="EAF8FA"/>
                    </a:solidFill>
                  </a:tcPr>
                </a:tc>
                <a:tc>
                  <a:txBody>
                    <a:bodyPr wrap="square"/>
                    <a:lstStyle/>
                    <a:p>
                      <a:r>
                        <a:rPr sz="1550" b="0" i="0">
                          <a:solidFill>
                            <a:srgbClr val="14313B"/>
                          </a:solidFill>
                          <a:latin typeface="Calibri (MS)"/>
                        </a:rPr>
                        <a:t>Aktifkan Bandingkan Semua Skenario</a:t>
                      </a:r>
                    </a:p>
                  </a:txBody>
                  <a:tcPr marL="73152" marR="73152" marT="36576" marB="36576" anchor="ctr">
                    <a:solidFill>
                      <a:srgbClr val="EAF8FA"/>
                    </a:solidFill>
                  </a:tcPr>
                </a:tc>
                <a:tc>
                  <a:txBody>
                    <a:bodyPr wrap="square"/>
                    <a:lstStyle/>
                    <a:p>
                      <a:r>
                        <a:rPr sz="1550" b="0" i="0">
                          <a:solidFill>
                            <a:srgbClr val="14313B"/>
                          </a:solidFill>
                          <a:latin typeface="Calibri (MS)"/>
                        </a:rPr>
                        <a:t>Ketiga skenario tampil berdampingan</a:t>
                      </a:r>
                    </a:p>
                  </a:txBody>
                  <a:tcPr marL="73152" marR="73152" marT="36576" marB="36576" anchor="ctr">
                    <a:solidFill>
                      <a:srgbClr val="EAF8FA"/>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5</a:t>
                      </a:r>
                    </a:p>
                  </a:txBody>
                  <a:tcPr marL="73152" marR="73152" marT="36576" marB="36576" anchor="ctr">
                    <a:solidFill>
                      <a:srgbClr val="FFFFFF"/>
                    </a:solidFill>
                  </a:tcPr>
                </a:tc>
                <a:tc>
                  <a:txBody>
                    <a:bodyPr wrap="square"/>
                    <a:lstStyle/>
                    <a:p>
                      <a:r>
                        <a:rPr sz="1550" b="0" i="0">
                          <a:solidFill>
                            <a:srgbClr val="14313B"/>
                          </a:solidFill>
                          <a:latin typeface="Calibri (MS)"/>
                        </a:rPr>
                        <a:t>Menjalankan simulasi</a:t>
                      </a:r>
                    </a:p>
                  </a:txBody>
                  <a:tcPr marL="73152" marR="73152" marT="36576" marB="36576" anchor="ctr">
                    <a:solidFill>
                      <a:srgbClr val="FFFFFF"/>
                    </a:solidFill>
                  </a:tcPr>
                </a:tc>
                <a:tc>
                  <a:txBody>
                    <a:bodyPr wrap="square"/>
                    <a:lstStyle/>
                    <a:p>
                      <a:r>
                        <a:rPr sz="1550" b="0" i="0">
                          <a:solidFill>
                            <a:srgbClr val="14313B"/>
                          </a:solidFill>
                          <a:latin typeface="Calibri (MS)"/>
                        </a:rPr>
                        <a:t>Tekan Jalankan Simulasi</a:t>
                      </a:r>
                    </a:p>
                  </a:txBody>
                  <a:tcPr marL="73152" marR="73152" marT="36576" marB="36576" anchor="ctr">
                    <a:solidFill>
                      <a:srgbClr val="FFFFFF"/>
                    </a:solidFill>
                  </a:tcPr>
                </a:tc>
                <a:tc>
                  <a:txBody>
                    <a:bodyPr wrap="square"/>
                    <a:lstStyle/>
                    <a:p>
                      <a:r>
                        <a:rPr sz="1550" b="0" i="0">
                          <a:solidFill>
                            <a:srgbClr val="14313B"/>
                          </a:solidFill>
                          <a:latin typeface="Calibri (MS)"/>
                        </a:rPr>
                        <a:t>Hasil 2025–2050 tampil</a:t>
                      </a:r>
                    </a:p>
                  </a:txBody>
                  <a:tcPr marL="73152" marR="73152" marT="36576" marB="36576" anchor="ctr">
                    <a:solidFill>
                      <a:srgbClr val="FFFFFF"/>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6</a:t>
                      </a:r>
                    </a:p>
                  </a:txBody>
                  <a:tcPr marL="73152" marR="73152" marT="36576" marB="36576" anchor="ctr">
                    <a:solidFill>
                      <a:srgbClr val="EAF8FA"/>
                    </a:solidFill>
                  </a:tcPr>
                </a:tc>
                <a:tc>
                  <a:txBody>
                    <a:bodyPr wrap="square"/>
                    <a:lstStyle/>
                    <a:p>
                      <a:r>
                        <a:rPr sz="1550" b="0" i="0">
                          <a:solidFill>
                            <a:srgbClr val="14313B"/>
                          </a:solidFill>
                          <a:latin typeface="Calibri (MS)"/>
                        </a:rPr>
                        <a:t>Pemilihan variabel keluaran</a:t>
                      </a:r>
                    </a:p>
                  </a:txBody>
                  <a:tcPr marL="73152" marR="73152" marT="36576" marB="36576" anchor="ctr">
                    <a:solidFill>
                      <a:srgbClr val="EAF8FA"/>
                    </a:solidFill>
                  </a:tcPr>
                </a:tc>
                <a:tc>
                  <a:txBody>
                    <a:bodyPr wrap="square"/>
                    <a:lstStyle/>
                    <a:p>
                      <a:r>
                        <a:rPr sz="1550" b="0" i="0">
                          <a:solidFill>
                            <a:srgbClr val="14313B"/>
                          </a:solidFill>
                          <a:latin typeface="Calibri (MS)"/>
                        </a:rPr>
                        <a:t>Pilih / batalkan variabel</a:t>
                      </a:r>
                    </a:p>
                  </a:txBody>
                  <a:tcPr marL="73152" marR="73152" marT="36576" marB="36576" anchor="ctr">
                    <a:solidFill>
                      <a:srgbClr val="EAF8FA"/>
                    </a:solidFill>
                  </a:tcPr>
                </a:tc>
                <a:tc>
                  <a:txBody>
                    <a:bodyPr wrap="square"/>
                    <a:lstStyle/>
                    <a:p>
                      <a:r>
                        <a:rPr sz="1550" b="0" i="0">
                          <a:solidFill>
                            <a:srgbClr val="14313B"/>
                          </a:solidFill>
                          <a:latin typeface="Calibri (MS)"/>
                        </a:rPr>
                        <a:t>Grafik dan data menyesuaikan</a:t>
                      </a:r>
                    </a:p>
                  </a:txBody>
                  <a:tcPr marL="73152" marR="73152" marT="36576" marB="36576" anchor="ctr">
                    <a:solidFill>
                      <a:srgbClr val="EAF8FA"/>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7</a:t>
                      </a:r>
                    </a:p>
                  </a:txBody>
                  <a:tcPr marL="73152" marR="73152" marT="36576" marB="36576" anchor="ctr">
                    <a:solidFill>
                      <a:srgbClr val="FFFFFF"/>
                    </a:solidFill>
                  </a:tcPr>
                </a:tc>
                <a:tc>
                  <a:txBody>
                    <a:bodyPr wrap="square"/>
                    <a:lstStyle/>
                    <a:p>
                      <a:r>
                        <a:rPr sz="1550" b="0" i="0">
                          <a:solidFill>
                            <a:srgbClr val="14313B"/>
                          </a:solidFill>
                          <a:latin typeface="Calibri (MS)"/>
                        </a:rPr>
                        <a:t>Perubahan Insentif Kebijakan</a:t>
                      </a:r>
                    </a:p>
                  </a:txBody>
                  <a:tcPr marL="73152" marR="73152" marT="36576" marB="36576" anchor="ctr">
                    <a:solidFill>
                      <a:srgbClr val="FFFFFF"/>
                    </a:solidFill>
                  </a:tcPr>
                </a:tc>
                <a:tc>
                  <a:txBody>
                    <a:bodyPr wrap="square"/>
                    <a:lstStyle/>
                    <a:p>
                      <a:r>
                        <a:rPr sz="1550" b="0" i="0">
                          <a:solidFill>
                            <a:srgbClr val="14313B"/>
                          </a:solidFill>
                          <a:latin typeface="Calibri (MS)"/>
                        </a:rPr>
                        <a:t>Ubah nilai lewat kontrol parameter</a:t>
                      </a:r>
                    </a:p>
                  </a:txBody>
                  <a:tcPr marL="73152" marR="73152" marT="36576" marB="36576" anchor="ctr">
                    <a:solidFill>
                      <a:srgbClr val="FFFFFF"/>
                    </a:solidFill>
                  </a:tcPr>
                </a:tc>
                <a:tc>
                  <a:txBody>
                    <a:bodyPr wrap="square"/>
                    <a:lstStyle/>
                    <a:p>
                      <a:r>
                        <a:rPr sz="1550" b="0" i="0">
                          <a:solidFill>
                            <a:srgbClr val="14313B"/>
                          </a:solidFill>
                          <a:latin typeface="Calibri (MS)"/>
                        </a:rPr>
                        <a:t>Nilai berubah dan dipakai simulasi</a:t>
                      </a:r>
                    </a:p>
                  </a:txBody>
                  <a:tcPr marL="73152" marR="73152" marT="36576" marB="36576" anchor="ctr">
                    <a:solidFill>
                      <a:srgbClr val="FFFFFF"/>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8</a:t>
                      </a:r>
                    </a:p>
                  </a:txBody>
                  <a:tcPr marL="73152" marR="73152" marT="36576" marB="36576" anchor="ctr">
                    <a:solidFill>
                      <a:srgbClr val="EAF8FA"/>
                    </a:solidFill>
                  </a:tcPr>
                </a:tc>
                <a:tc>
                  <a:txBody>
                    <a:bodyPr wrap="square"/>
                    <a:lstStyle/>
                    <a:p>
                      <a:r>
                        <a:rPr sz="1550" b="0" i="0">
                          <a:solidFill>
                            <a:srgbClr val="14313B"/>
                          </a:solidFill>
                          <a:latin typeface="Calibri (MS)"/>
                        </a:rPr>
                        <a:t>Perubahan Konservasi Lahan</a:t>
                      </a:r>
                    </a:p>
                  </a:txBody>
                  <a:tcPr marL="73152" marR="73152" marT="36576" marB="36576" anchor="ctr">
                    <a:solidFill>
                      <a:srgbClr val="EAF8FA"/>
                    </a:solidFill>
                  </a:tcPr>
                </a:tc>
                <a:tc>
                  <a:txBody>
                    <a:bodyPr wrap="square"/>
                    <a:lstStyle/>
                    <a:p>
                      <a:r>
                        <a:rPr sz="1550" b="0" i="0">
                          <a:solidFill>
                            <a:srgbClr val="14313B"/>
                          </a:solidFill>
                          <a:latin typeface="Calibri (MS)"/>
                        </a:rPr>
                        <a:t>Ubah nilai lewat kontrol parameter</a:t>
                      </a:r>
                    </a:p>
                  </a:txBody>
                  <a:tcPr marL="73152" marR="73152" marT="36576" marB="36576" anchor="ctr">
                    <a:solidFill>
                      <a:srgbClr val="EAF8FA"/>
                    </a:solidFill>
                  </a:tcPr>
                </a:tc>
                <a:tc>
                  <a:txBody>
                    <a:bodyPr wrap="square"/>
                    <a:lstStyle/>
                    <a:p>
                      <a:r>
                        <a:rPr sz="1550" b="0" i="0">
                          <a:solidFill>
                            <a:srgbClr val="14313B"/>
                          </a:solidFill>
                          <a:latin typeface="Calibri (MS)"/>
                        </a:rPr>
                        <a:t>Nilai berubah dan dipakai simulasi</a:t>
                      </a:r>
                    </a:p>
                  </a:txBody>
                  <a:tcPr marL="73152" marR="73152" marT="36576" marB="36576" anchor="ctr">
                    <a:solidFill>
                      <a:srgbClr val="EAF8FA"/>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9</a:t>
                      </a:r>
                    </a:p>
                  </a:txBody>
                  <a:tcPr marL="73152" marR="73152" marT="36576" marB="36576" anchor="ctr">
                    <a:solidFill>
                      <a:srgbClr val="FFFFFF"/>
                    </a:solidFill>
                  </a:tcPr>
                </a:tc>
                <a:tc>
                  <a:txBody>
                    <a:bodyPr wrap="square"/>
                    <a:lstStyle/>
                    <a:p>
                      <a:r>
                        <a:rPr sz="1550" b="0" i="0">
                          <a:solidFill>
                            <a:srgbClr val="14313B"/>
                          </a:solidFill>
                          <a:latin typeface="Calibri (MS)"/>
                        </a:rPr>
                        <a:t>Reset parameter</a:t>
                      </a:r>
                    </a:p>
                  </a:txBody>
                  <a:tcPr marL="73152" marR="73152" marT="36576" marB="36576" anchor="ctr">
                    <a:solidFill>
                      <a:srgbClr val="FFFFFF"/>
                    </a:solidFill>
                  </a:tcPr>
                </a:tc>
                <a:tc>
                  <a:txBody>
                    <a:bodyPr wrap="square"/>
                    <a:lstStyle/>
                    <a:p>
                      <a:r>
                        <a:rPr sz="1550" b="0" i="0">
                          <a:solidFill>
                            <a:srgbClr val="14313B"/>
                          </a:solidFill>
                          <a:latin typeface="Calibri (MS)"/>
                        </a:rPr>
                        <a:t>Tekan Reset ke BAU</a:t>
                      </a:r>
                    </a:p>
                  </a:txBody>
                  <a:tcPr marL="73152" marR="73152" marT="36576" marB="36576" anchor="ctr">
                    <a:solidFill>
                      <a:srgbClr val="FFFFFF"/>
                    </a:solidFill>
                  </a:tcPr>
                </a:tc>
                <a:tc>
                  <a:txBody>
                    <a:bodyPr wrap="square"/>
                    <a:lstStyle/>
                    <a:p>
                      <a:r>
                        <a:rPr sz="1550" b="0" i="0">
                          <a:solidFill>
                            <a:srgbClr val="14313B"/>
                          </a:solidFill>
                          <a:latin typeface="Calibri (MS)"/>
                        </a:rPr>
                        <a:t>Parameter kembali ke BAU</a:t>
                      </a:r>
                    </a:p>
                  </a:txBody>
                  <a:tcPr marL="73152" marR="73152" marT="36576" marB="36576" anchor="ctr">
                    <a:solidFill>
                      <a:srgbClr val="FFFFFF"/>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bl>
          </a:graphicData>
        </a:graphic>
      </p:graphicFrame>
      <p:sp>
        <p:nvSpPr>
          <p:cNvPr id="149" name="Rounded Rectangle 148"/>
          <p:cNvSpPr/>
          <p:nvPr/>
        </p:nvSpPr>
        <p:spPr>
          <a:xfrm>
            <a:off x="822960" y="8001000"/>
            <a:ext cx="1664208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Fungsi utama berjalan sesuai spesifikasi (100% kasus uji). Pengujian terbatas pada kasus yang ditetapkan dan tidak menilai kemudahan penggunaan — itu dinilai lewat SUS.</a:t>
            </a:r>
          </a:p>
        </p:txBody>
      </p:sp>
      <p:sp>
        <p:nvSpPr>
          <p:cNvPr id="150" name="TextBox 149"/>
          <p:cNvSpPr txBox="1"/>
          <p:nvPr/>
        </p:nvSpPr>
        <p:spPr>
          <a:xfrm>
            <a:off x="822960" y="918972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3.9.2, 4.9.2, Tabel 22 dan 64; repository Evaluasi SUS/BlackBox.xlsx. Metode: black-box testing (ISTQB, 2019).</a:t>
            </a:r>
          </a:p>
        </p:txBody>
      </p:sp>
      <p:sp>
        <p:nvSpPr>
          <p:cNvPr id="151"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4.9.3 · Hasil Evaluasi Usability (SUS)</a:t>
            </a:r>
          </a:p>
          <a:p>
            <a:pPr algn="l">
              <a:lnSpc>
                <a:spcPct val="100000"/>
              </a:lnSpc>
            </a:pPr>
            <a:r>
              <a:rPr lang="en-US" sz="3500" b="true">
                <a:solidFill>
                  <a:srgbClr val="0B5E6E"/>
                </a:solidFill>
                <a:latin typeface="Calibri (MS) Bold"/>
                <a:ea typeface="Calibri (MS) Bold"/>
                <a:cs typeface="Calibri (MS) Bold"/>
                <a:sym typeface="Calibri (MS) Bold"/>
              </a:rPr>
              <a:t>Usability tinggi: skor SUS rata-rata 88,50</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2236470"/>
            <a:ext cx="905256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Skor SUS per responden (n = 10)</a:t>
            </a:r>
          </a:p>
        </p:txBody>
      </p:sp>
      <p:sp>
        <p:nvSpPr>
          <p:cNvPr name="TextBox 53" id="53"/>
          <p:cNvSpPr txBox="true"/>
          <p:nvPr/>
        </p:nvSpPr>
        <p:spPr>
          <a:xfrm rot="0">
            <a:off x="822960" y="7505700"/>
            <a:ext cx="9464040" cy="449580"/>
          </a:xfrm>
          <a:prstGeom prst="rect">
            <a:avLst/>
          </a:prstGeom>
        </p:spPr>
        <p:txBody>
          <a:bodyPr anchor="t" rtlCol="false" tIns="0" lIns="0" bIns="0" rIns="0">
            <a:spAutoFit/>
          </a:bodyPr>
          <a:lstStyle/>
          <a:p>
            <a:pPr algn="l">
              <a:lnSpc>
                <a:spcPts val="1889"/>
              </a:lnSpc>
            </a:pPr>
            <a:r>
              <a:rPr lang="en-US" sz="1300" i="true">
                <a:solidFill>
                  <a:srgbClr val="5E6E78"/>
                </a:solidFill>
                <a:latin typeface="Calibri (MS) Italics"/>
                <a:ea typeface="Calibri (MS) Italics"/>
                <a:cs typeface="Calibri (MS) Italics"/>
                <a:sym typeface="Calibri (MS) Italics"/>
              </a:rPr>
              <a:t>Batang merah = skor di bawah rata-rata normatif SUS (±68; Brooke, 2013): hanya R8. Responden: 10 mahasiswa (data kuesioner) setelah mencoba lima tugas.</a:t>
            </a:r>
          </a:p>
        </p:txBody>
      </p:sp>
      <p:grpSp>
        <p:nvGrpSpPr>
          <p:cNvPr name="Group 54" id="54"/>
          <p:cNvGrpSpPr/>
          <p:nvPr/>
        </p:nvGrpSpPr>
        <p:grpSpPr>
          <a:xfrm rot="0">
            <a:off x="10698480" y="2400300"/>
            <a:ext cx="6761988" cy="1714500"/>
            <a:chOff x="0" y="0"/>
            <a:chExt cx="9015984" cy="2286000"/>
          </a:xfrm>
        </p:grpSpPr>
        <p:sp>
          <p:nvSpPr>
            <p:cNvPr name="Freeform 55" id="55"/>
            <p:cNvSpPr/>
            <p:nvPr/>
          </p:nvSpPr>
          <p:spPr>
            <a:xfrm flipH="false" flipV="false" rot="0">
              <a:off x="0" y="0"/>
              <a:ext cx="9015985" cy="2286000"/>
            </a:xfrm>
            <a:custGeom>
              <a:avLst/>
              <a:gdLst/>
              <a:ahLst/>
              <a:cxnLst/>
              <a:rect r="r" b="b" t="t" l="l"/>
              <a:pathLst>
                <a:path h="2286000" w="9015985">
                  <a:moveTo>
                    <a:pt x="0" y="182880"/>
                  </a:moveTo>
                  <a:cubicBezTo>
                    <a:pt x="0" y="81915"/>
                    <a:pt x="81915" y="0"/>
                    <a:pt x="182880" y="0"/>
                  </a:cubicBezTo>
                  <a:lnTo>
                    <a:pt x="8833104" y="0"/>
                  </a:lnTo>
                  <a:cubicBezTo>
                    <a:pt x="8934069" y="0"/>
                    <a:pt x="9015985" y="81915"/>
                    <a:pt x="9015985" y="182880"/>
                  </a:cubicBezTo>
                  <a:lnTo>
                    <a:pt x="9015985" y="2103120"/>
                  </a:lnTo>
                  <a:cubicBezTo>
                    <a:pt x="9015985" y="2204085"/>
                    <a:pt x="8934069" y="2286000"/>
                    <a:pt x="8833104" y="2286000"/>
                  </a:cubicBezTo>
                  <a:lnTo>
                    <a:pt x="182880" y="2286000"/>
                  </a:lnTo>
                  <a:cubicBezTo>
                    <a:pt x="81915" y="2286000"/>
                    <a:pt x="0" y="2204085"/>
                    <a:pt x="0" y="2103120"/>
                  </a:cubicBezTo>
                  <a:close/>
                </a:path>
              </a:pathLst>
            </a:custGeom>
            <a:solidFill>
              <a:srgbClr val="EAF8FA"/>
            </a:solidFill>
          </p:spPr>
        </p:sp>
      </p:grpSp>
      <p:grpSp>
        <p:nvGrpSpPr>
          <p:cNvPr name="Group 56" id="56"/>
          <p:cNvGrpSpPr/>
          <p:nvPr/>
        </p:nvGrpSpPr>
        <p:grpSpPr>
          <a:xfrm rot="0">
            <a:off x="11041380" y="2400300"/>
            <a:ext cx="2400300" cy="1714500"/>
            <a:chOff x="0" y="0"/>
            <a:chExt cx="3200400" cy="2286000"/>
          </a:xfrm>
        </p:grpSpPr>
        <p:sp>
          <p:nvSpPr>
            <p:cNvPr name="Freeform 57" id="57"/>
            <p:cNvSpPr/>
            <p:nvPr/>
          </p:nvSpPr>
          <p:spPr>
            <a:xfrm flipH="false" flipV="false" rot="0">
              <a:off x="0" y="0"/>
              <a:ext cx="3200400" cy="2286000"/>
            </a:xfrm>
            <a:custGeom>
              <a:avLst/>
              <a:gdLst/>
              <a:ahLst/>
              <a:cxnLst/>
              <a:rect r="r" b="b" t="t" l="l"/>
              <a:pathLst>
                <a:path h="2286000" w="3200400">
                  <a:moveTo>
                    <a:pt x="0" y="0"/>
                  </a:moveTo>
                  <a:lnTo>
                    <a:pt x="3200400" y="0"/>
                  </a:lnTo>
                  <a:lnTo>
                    <a:pt x="3200400" y="2286000"/>
                  </a:lnTo>
                  <a:lnTo>
                    <a:pt x="0" y="2286000"/>
                  </a:lnTo>
                  <a:close/>
                </a:path>
              </a:pathLst>
            </a:custGeom>
            <a:blipFill>
              <a:blip r:embed="rId4">
                <a:alphaModFix amt="0"/>
              </a:blip>
              <a:stretch>
                <a:fillRect l="-41709" t="0" r="-41709" b="0"/>
              </a:stretch>
            </a:blipFill>
          </p:spPr>
        </p:sp>
      </p:grpSp>
      <p:grpSp>
        <p:nvGrpSpPr>
          <p:cNvPr name="Group 58" id="58"/>
          <p:cNvGrpSpPr/>
          <p:nvPr/>
        </p:nvGrpSpPr>
        <p:grpSpPr>
          <a:xfrm rot="0">
            <a:off x="11041380" y="2336006"/>
            <a:ext cx="2400300" cy="1778794"/>
            <a:chOff x="0" y="0"/>
            <a:chExt cx="3200400" cy="2371725"/>
          </a:xfrm>
        </p:grpSpPr>
        <p:sp>
          <p:nvSpPr>
            <p:cNvPr name="Freeform 59" id="59"/>
            <p:cNvSpPr/>
            <p:nvPr/>
          </p:nvSpPr>
          <p:spPr>
            <a:xfrm flipH="false" flipV="false" rot="0">
              <a:off x="0" y="0"/>
              <a:ext cx="3200400" cy="2371725"/>
            </a:xfrm>
            <a:custGeom>
              <a:avLst/>
              <a:gdLst/>
              <a:ahLst/>
              <a:cxnLst/>
              <a:rect r="r" b="b" t="t" l="l"/>
              <a:pathLst>
                <a:path h="2371725" w="3200400">
                  <a:moveTo>
                    <a:pt x="0" y="0"/>
                  </a:moveTo>
                  <a:lnTo>
                    <a:pt x="3200400" y="0"/>
                  </a:lnTo>
                  <a:lnTo>
                    <a:pt x="3200400" y="2371725"/>
                  </a:lnTo>
                  <a:lnTo>
                    <a:pt x="0" y="2371725"/>
                  </a:lnTo>
                  <a:close/>
                </a:path>
              </a:pathLst>
            </a:custGeom>
            <a:blipFill>
              <a:blip r:embed="rId5">
                <a:alphaModFix amt="0"/>
              </a:blip>
              <a:stretch>
                <a:fillRect l="-45082" t="0" r="-45082" b="0"/>
              </a:stretch>
            </a:blipFill>
          </p:spPr>
        </p:sp>
        <p:sp>
          <p:nvSpPr>
            <p:cNvPr name="TextBox 60" id="60"/>
            <p:cNvSpPr txBox="true"/>
            <p:nvPr/>
          </p:nvSpPr>
          <p:spPr>
            <a:xfrm>
              <a:off x="0" y="-85725"/>
              <a:ext cx="3200400" cy="2457450"/>
            </a:xfrm>
            <a:prstGeom prst="rect">
              <a:avLst/>
            </a:prstGeom>
          </p:spPr>
          <p:txBody>
            <a:bodyPr anchor="ctr" rtlCol="false" tIns="0" lIns="0" bIns="0" rIns="0"/>
            <a:lstStyle/>
            <a:p>
              <a:pPr algn="l">
                <a:lnSpc>
                  <a:spcPts val="5040"/>
                </a:lnSpc>
              </a:pPr>
              <a:r>
                <a:rPr lang="en-US" sz="4200" b="true">
                  <a:solidFill>
                    <a:srgbClr val="0B5E6E"/>
                  </a:solidFill>
                  <a:latin typeface="Calibri (MS) Bold"/>
                  <a:ea typeface="Calibri (MS) Bold"/>
                  <a:cs typeface="Calibri (MS) Bold"/>
                  <a:sym typeface="Calibri (MS) Bold"/>
                </a:rPr>
                <a:t>9 / 9</a:t>
              </a:r>
            </a:p>
          </p:txBody>
        </p:sp>
      </p:grpSp>
      <p:grpSp>
        <p:nvGrpSpPr>
          <p:cNvPr name="Group 61" id="61"/>
          <p:cNvGrpSpPr/>
          <p:nvPr/>
        </p:nvGrpSpPr>
        <p:grpSpPr>
          <a:xfrm rot="0">
            <a:off x="13510260" y="2400300"/>
            <a:ext cx="3771900" cy="1714500"/>
            <a:chOff x="0" y="0"/>
            <a:chExt cx="5029200" cy="2286000"/>
          </a:xfrm>
        </p:grpSpPr>
        <p:sp>
          <p:nvSpPr>
            <p:cNvPr name="Freeform 62" id="62"/>
            <p:cNvSpPr/>
            <p:nvPr/>
          </p:nvSpPr>
          <p:spPr>
            <a:xfrm flipH="false" flipV="false" rot="0">
              <a:off x="0" y="0"/>
              <a:ext cx="5029200" cy="2286000"/>
            </a:xfrm>
            <a:custGeom>
              <a:avLst/>
              <a:gdLst/>
              <a:ahLst/>
              <a:cxnLst/>
              <a:rect r="r" b="b" t="t" l="l"/>
              <a:pathLst>
                <a:path h="2286000" w="5029200">
                  <a:moveTo>
                    <a:pt x="0" y="0"/>
                  </a:moveTo>
                  <a:lnTo>
                    <a:pt x="5029200" y="0"/>
                  </a:lnTo>
                  <a:lnTo>
                    <a:pt x="5029200" y="2286000"/>
                  </a:lnTo>
                  <a:lnTo>
                    <a:pt x="0" y="2286000"/>
                  </a:lnTo>
                  <a:close/>
                </a:path>
              </a:pathLst>
            </a:custGeom>
            <a:blipFill>
              <a:blip r:embed="rId4">
                <a:alphaModFix amt="0"/>
              </a:blip>
              <a:stretch>
                <a:fillRect l="-8360" t="0" r="-8360" b="0"/>
              </a:stretch>
            </a:blipFill>
          </p:spPr>
        </p:sp>
      </p:grpSp>
      <p:grpSp>
        <p:nvGrpSpPr>
          <p:cNvPr name="Group 63" id="63"/>
          <p:cNvGrpSpPr/>
          <p:nvPr/>
        </p:nvGrpSpPr>
        <p:grpSpPr>
          <a:xfrm rot="0">
            <a:off x="13510260" y="2371725"/>
            <a:ext cx="3771900" cy="1743075"/>
            <a:chOff x="0" y="0"/>
            <a:chExt cx="5029200" cy="2324100"/>
          </a:xfrm>
        </p:grpSpPr>
        <p:sp>
          <p:nvSpPr>
            <p:cNvPr name="Freeform 64" id="64"/>
            <p:cNvSpPr/>
            <p:nvPr/>
          </p:nvSpPr>
          <p:spPr>
            <a:xfrm flipH="false" flipV="false" rot="0">
              <a:off x="0" y="0"/>
              <a:ext cx="5029200" cy="2324100"/>
            </a:xfrm>
            <a:custGeom>
              <a:avLst/>
              <a:gdLst/>
              <a:ahLst/>
              <a:cxnLst/>
              <a:rect r="r" b="b" t="t" l="l"/>
              <a:pathLst>
                <a:path h="2324100" w="5029200">
                  <a:moveTo>
                    <a:pt x="0" y="0"/>
                  </a:moveTo>
                  <a:lnTo>
                    <a:pt x="5029200" y="0"/>
                  </a:lnTo>
                  <a:lnTo>
                    <a:pt x="5029200" y="2324100"/>
                  </a:lnTo>
                  <a:lnTo>
                    <a:pt x="0" y="2324100"/>
                  </a:lnTo>
                  <a:close/>
                </a:path>
              </a:pathLst>
            </a:custGeom>
            <a:blipFill>
              <a:blip r:embed="rId5">
                <a:alphaModFix amt="0"/>
              </a:blip>
              <a:stretch>
                <a:fillRect l="-9291" t="0" r="-9291" b="0"/>
              </a:stretch>
            </a:blipFill>
          </p:spPr>
        </p:sp>
        <p:sp>
          <p:nvSpPr>
            <p:cNvPr name="TextBox 65" id="65"/>
            <p:cNvSpPr txBox="true"/>
            <p:nvPr/>
          </p:nvSpPr>
          <p:spPr>
            <a:xfrm>
              <a:off x="0" y="-38100"/>
              <a:ext cx="5029200" cy="236220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kasus uji black-box berstatus Pass (100%)</a:t>
              </a:r>
            </a:p>
          </p:txBody>
        </p:sp>
      </p:grpSp>
      <p:grpSp>
        <p:nvGrpSpPr>
          <p:cNvPr name="Group 66" id="66"/>
          <p:cNvGrpSpPr/>
          <p:nvPr/>
        </p:nvGrpSpPr>
        <p:grpSpPr>
          <a:xfrm rot="0">
            <a:off x="10698480" y="4293108"/>
            <a:ext cx="6761988" cy="1714500"/>
            <a:chOff x="0" y="0"/>
            <a:chExt cx="9015984" cy="2286000"/>
          </a:xfrm>
        </p:grpSpPr>
        <p:sp>
          <p:nvSpPr>
            <p:cNvPr name="Freeform 67" id="67"/>
            <p:cNvSpPr/>
            <p:nvPr/>
          </p:nvSpPr>
          <p:spPr>
            <a:xfrm flipH="false" flipV="false" rot="0">
              <a:off x="0" y="0"/>
              <a:ext cx="9015985" cy="2286000"/>
            </a:xfrm>
            <a:custGeom>
              <a:avLst/>
              <a:gdLst/>
              <a:ahLst/>
              <a:cxnLst/>
              <a:rect r="r" b="b" t="t" l="l"/>
              <a:pathLst>
                <a:path h="2286000" w="9015985">
                  <a:moveTo>
                    <a:pt x="0" y="182880"/>
                  </a:moveTo>
                  <a:cubicBezTo>
                    <a:pt x="0" y="81915"/>
                    <a:pt x="81915" y="0"/>
                    <a:pt x="182880" y="0"/>
                  </a:cubicBezTo>
                  <a:lnTo>
                    <a:pt x="8833104" y="0"/>
                  </a:lnTo>
                  <a:cubicBezTo>
                    <a:pt x="8934069" y="0"/>
                    <a:pt x="9015985" y="81915"/>
                    <a:pt x="9015985" y="182880"/>
                  </a:cubicBezTo>
                  <a:lnTo>
                    <a:pt x="9015985" y="2103120"/>
                  </a:lnTo>
                  <a:cubicBezTo>
                    <a:pt x="9015985" y="2204085"/>
                    <a:pt x="8934069" y="2286000"/>
                    <a:pt x="8833104" y="2286000"/>
                  </a:cubicBezTo>
                  <a:lnTo>
                    <a:pt x="182880" y="2286000"/>
                  </a:lnTo>
                  <a:cubicBezTo>
                    <a:pt x="81915" y="2286000"/>
                    <a:pt x="0" y="2204085"/>
                    <a:pt x="0" y="2103120"/>
                  </a:cubicBezTo>
                  <a:close/>
                </a:path>
              </a:pathLst>
            </a:custGeom>
            <a:solidFill>
              <a:srgbClr val="EAF8FA"/>
            </a:solidFill>
          </p:spPr>
        </p:sp>
      </p:grpSp>
      <p:grpSp>
        <p:nvGrpSpPr>
          <p:cNvPr name="Group 68" id="68"/>
          <p:cNvGrpSpPr/>
          <p:nvPr/>
        </p:nvGrpSpPr>
        <p:grpSpPr>
          <a:xfrm rot="0">
            <a:off x="11041380" y="4293108"/>
            <a:ext cx="2400300" cy="1714500"/>
            <a:chOff x="0" y="0"/>
            <a:chExt cx="3200400" cy="2286000"/>
          </a:xfrm>
        </p:grpSpPr>
        <p:sp>
          <p:nvSpPr>
            <p:cNvPr name="Freeform 69" id="69"/>
            <p:cNvSpPr/>
            <p:nvPr/>
          </p:nvSpPr>
          <p:spPr>
            <a:xfrm flipH="false" flipV="false" rot="0">
              <a:off x="0" y="0"/>
              <a:ext cx="3200400" cy="2286000"/>
            </a:xfrm>
            <a:custGeom>
              <a:avLst/>
              <a:gdLst/>
              <a:ahLst/>
              <a:cxnLst/>
              <a:rect r="r" b="b" t="t" l="l"/>
              <a:pathLst>
                <a:path h="2286000" w="3200400">
                  <a:moveTo>
                    <a:pt x="0" y="0"/>
                  </a:moveTo>
                  <a:lnTo>
                    <a:pt x="3200400" y="0"/>
                  </a:lnTo>
                  <a:lnTo>
                    <a:pt x="3200400" y="2286000"/>
                  </a:lnTo>
                  <a:lnTo>
                    <a:pt x="0" y="2286000"/>
                  </a:lnTo>
                  <a:close/>
                </a:path>
              </a:pathLst>
            </a:custGeom>
            <a:blipFill>
              <a:blip r:embed="rId4">
                <a:alphaModFix amt="0"/>
              </a:blip>
              <a:stretch>
                <a:fillRect l="-41709" t="0" r="-41709" b="0"/>
              </a:stretch>
            </a:blipFill>
          </p:spPr>
        </p:sp>
      </p:grpSp>
      <p:grpSp>
        <p:nvGrpSpPr>
          <p:cNvPr name="Group 70" id="70"/>
          <p:cNvGrpSpPr/>
          <p:nvPr/>
        </p:nvGrpSpPr>
        <p:grpSpPr>
          <a:xfrm rot="0">
            <a:off x="11041380" y="4228814"/>
            <a:ext cx="2400300" cy="1778794"/>
            <a:chOff x="0" y="0"/>
            <a:chExt cx="3200400" cy="2371725"/>
          </a:xfrm>
        </p:grpSpPr>
        <p:sp>
          <p:nvSpPr>
            <p:cNvPr name="Freeform 71" id="71"/>
            <p:cNvSpPr/>
            <p:nvPr/>
          </p:nvSpPr>
          <p:spPr>
            <a:xfrm flipH="false" flipV="false" rot="0">
              <a:off x="0" y="0"/>
              <a:ext cx="3200400" cy="2371725"/>
            </a:xfrm>
            <a:custGeom>
              <a:avLst/>
              <a:gdLst/>
              <a:ahLst/>
              <a:cxnLst/>
              <a:rect r="r" b="b" t="t" l="l"/>
              <a:pathLst>
                <a:path h="2371725" w="3200400">
                  <a:moveTo>
                    <a:pt x="0" y="0"/>
                  </a:moveTo>
                  <a:lnTo>
                    <a:pt x="3200400" y="0"/>
                  </a:lnTo>
                  <a:lnTo>
                    <a:pt x="3200400" y="2371725"/>
                  </a:lnTo>
                  <a:lnTo>
                    <a:pt x="0" y="2371725"/>
                  </a:lnTo>
                  <a:close/>
                </a:path>
              </a:pathLst>
            </a:custGeom>
            <a:blipFill>
              <a:blip r:embed="rId5">
                <a:alphaModFix amt="0"/>
              </a:blip>
              <a:stretch>
                <a:fillRect l="-45082" t="0" r="-45082" b="0"/>
              </a:stretch>
            </a:blipFill>
          </p:spPr>
        </p:sp>
        <p:sp>
          <p:nvSpPr>
            <p:cNvPr name="TextBox 72" id="72"/>
            <p:cNvSpPr txBox="true"/>
            <p:nvPr/>
          </p:nvSpPr>
          <p:spPr>
            <a:xfrm>
              <a:off x="0" y="-85725"/>
              <a:ext cx="3200400" cy="2457450"/>
            </a:xfrm>
            <a:prstGeom prst="rect">
              <a:avLst/>
            </a:prstGeom>
          </p:spPr>
          <p:txBody>
            <a:bodyPr anchor="ctr" rtlCol="false" tIns="0" lIns="0" bIns="0" rIns="0"/>
            <a:lstStyle/>
            <a:p>
              <a:pPr algn="l">
                <a:lnSpc>
                  <a:spcPts val="5040"/>
                </a:lnSpc>
              </a:pPr>
              <a:r>
                <a:rPr lang="en-US" sz="4200" b="true">
                  <a:solidFill>
                    <a:srgbClr val="0B5E6E"/>
                  </a:solidFill>
                  <a:latin typeface="Calibri (MS) Bold"/>
                  <a:ea typeface="Calibri (MS) Bold"/>
                  <a:cs typeface="Calibri (MS) Bold"/>
                  <a:sym typeface="Calibri (MS) Bold"/>
                </a:rPr>
                <a:t>88,50</a:t>
              </a:r>
            </a:p>
          </p:txBody>
        </p:sp>
      </p:grpSp>
      <p:grpSp>
        <p:nvGrpSpPr>
          <p:cNvPr name="Group 73" id="73"/>
          <p:cNvGrpSpPr/>
          <p:nvPr/>
        </p:nvGrpSpPr>
        <p:grpSpPr>
          <a:xfrm rot="0">
            <a:off x="13510260" y="4293108"/>
            <a:ext cx="3771900" cy="1714500"/>
            <a:chOff x="0" y="0"/>
            <a:chExt cx="5029200" cy="2286000"/>
          </a:xfrm>
        </p:grpSpPr>
        <p:sp>
          <p:nvSpPr>
            <p:cNvPr name="Freeform 74" id="74"/>
            <p:cNvSpPr/>
            <p:nvPr/>
          </p:nvSpPr>
          <p:spPr>
            <a:xfrm flipH="false" flipV="false" rot="0">
              <a:off x="0" y="0"/>
              <a:ext cx="5029200" cy="2286000"/>
            </a:xfrm>
            <a:custGeom>
              <a:avLst/>
              <a:gdLst/>
              <a:ahLst/>
              <a:cxnLst/>
              <a:rect r="r" b="b" t="t" l="l"/>
              <a:pathLst>
                <a:path h="2286000" w="5029200">
                  <a:moveTo>
                    <a:pt x="0" y="0"/>
                  </a:moveTo>
                  <a:lnTo>
                    <a:pt x="5029200" y="0"/>
                  </a:lnTo>
                  <a:lnTo>
                    <a:pt x="5029200" y="2286000"/>
                  </a:lnTo>
                  <a:lnTo>
                    <a:pt x="0" y="2286000"/>
                  </a:lnTo>
                  <a:close/>
                </a:path>
              </a:pathLst>
            </a:custGeom>
            <a:blipFill>
              <a:blip r:embed="rId4">
                <a:alphaModFix amt="0"/>
              </a:blip>
              <a:stretch>
                <a:fillRect l="-8360" t="0" r="-8360" b="0"/>
              </a:stretch>
            </a:blipFill>
          </p:spPr>
        </p:sp>
      </p:grpSp>
      <p:grpSp>
        <p:nvGrpSpPr>
          <p:cNvPr name="Group 75" id="75"/>
          <p:cNvGrpSpPr/>
          <p:nvPr/>
        </p:nvGrpSpPr>
        <p:grpSpPr>
          <a:xfrm rot="0">
            <a:off x="13510260" y="4264533"/>
            <a:ext cx="3771900" cy="1743075"/>
            <a:chOff x="0" y="0"/>
            <a:chExt cx="5029200" cy="2324100"/>
          </a:xfrm>
        </p:grpSpPr>
        <p:sp>
          <p:nvSpPr>
            <p:cNvPr name="Freeform 76" id="76"/>
            <p:cNvSpPr/>
            <p:nvPr/>
          </p:nvSpPr>
          <p:spPr>
            <a:xfrm flipH="false" flipV="false" rot="0">
              <a:off x="0" y="0"/>
              <a:ext cx="5029200" cy="2324100"/>
            </a:xfrm>
            <a:custGeom>
              <a:avLst/>
              <a:gdLst/>
              <a:ahLst/>
              <a:cxnLst/>
              <a:rect r="r" b="b" t="t" l="l"/>
              <a:pathLst>
                <a:path h="2324100" w="5029200">
                  <a:moveTo>
                    <a:pt x="0" y="0"/>
                  </a:moveTo>
                  <a:lnTo>
                    <a:pt x="5029200" y="0"/>
                  </a:lnTo>
                  <a:lnTo>
                    <a:pt x="5029200" y="2324100"/>
                  </a:lnTo>
                  <a:lnTo>
                    <a:pt x="0" y="2324100"/>
                  </a:lnTo>
                  <a:close/>
                </a:path>
              </a:pathLst>
            </a:custGeom>
            <a:blipFill>
              <a:blip r:embed="rId5">
                <a:alphaModFix amt="0"/>
              </a:blip>
              <a:stretch>
                <a:fillRect l="-9291" t="0" r="-9291" b="0"/>
              </a:stretch>
            </a:blipFill>
          </p:spPr>
        </p:sp>
        <p:sp>
          <p:nvSpPr>
            <p:cNvPr name="TextBox 77" id="77"/>
            <p:cNvSpPr txBox="true"/>
            <p:nvPr/>
          </p:nvSpPr>
          <p:spPr>
            <a:xfrm>
              <a:off x="0" y="-38100"/>
              <a:ext cx="5029200" cy="236220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skor SUS rata-rata (median 92,50; SD 13,85)</a:t>
              </a:r>
            </a:p>
          </p:txBody>
        </p:sp>
      </p:grpSp>
      <p:grpSp>
        <p:nvGrpSpPr>
          <p:cNvPr name="Group 78" id="78"/>
          <p:cNvGrpSpPr/>
          <p:nvPr/>
        </p:nvGrpSpPr>
        <p:grpSpPr>
          <a:xfrm rot="0">
            <a:off x="10698480" y="6185916"/>
            <a:ext cx="6761988" cy="1714500"/>
            <a:chOff x="0" y="0"/>
            <a:chExt cx="9015984" cy="2286000"/>
          </a:xfrm>
        </p:grpSpPr>
        <p:sp>
          <p:nvSpPr>
            <p:cNvPr name="Freeform 79" id="79"/>
            <p:cNvSpPr/>
            <p:nvPr/>
          </p:nvSpPr>
          <p:spPr>
            <a:xfrm flipH="false" flipV="false" rot="0">
              <a:off x="0" y="0"/>
              <a:ext cx="9015985" cy="2286000"/>
            </a:xfrm>
            <a:custGeom>
              <a:avLst/>
              <a:gdLst/>
              <a:ahLst/>
              <a:cxnLst/>
              <a:rect r="r" b="b" t="t" l="l"/>
              <a:pathLst>
                <a:path h="2286000" w="9015985">
                  <a:moveTo>
                    <a:pt x="0" y="182880"/>
                  </a:moveTo>
                  <a:cubicBezTo>
                    <a:pt x="0" y="81915"/>
                    <a:pt x="81915" y="0"/>
                    <a:pt x="182880" y="0"/>
                  </a:cubicBezTo>
                  <a:lnTo>
                    <a:pt x="8833104" y="0"/>
                  </a:lnTo>
                  <a:cubicBezTo>
                    <a:pt x="8934069" y="0"/>
                    <a:pt x="9015985" y="81915"/>
                    <a:pt x="9015985" y="182880"/>
                  </a:cubicBezTo>
                  <a:lnTo>
                    <a:pt x="9015985" y="2103120"/>
                  </a:lnTo>
                  <a:cubicBezTo>
                    <a:pt x="9015985" y="2204085"/>
                    <a:pt x="8934069" y="2286000"/>
                    <a:pt x="8833104" y="2286000"/>
                  </a:cubicBezTo>
                  <a:lnTo>
                    <a:pt x="182880" y="2286000"/>
                  </a:lnTo>
                  <a:cubicBezTo>
                    <a:pt x="81915" y="2286000"/>
                    <a:pt x="0" y="2204085"/>
                    <a:pt x="0" y="2103120"/>
                  </a:cubicBezTo>
                  <a:close/>
                </a:path>
              </a:pathLst>
            </a:custGeom>
            <a:solidFill>
              <a:srgbClr val="EAF8FA"/>
            </a:solidFill>
          </p:spPr>
        </p:sp>
      </p:grpSp>
      <p:grpSp>
        <p:nvGrpSpPr>
          <p:cNvPr name="Group 80" id="80"/>
          <p:cNvGrpSpPr/>
          <p:nvPr/>
        </p:nvGrpSpPr>
        <p:grpSpPr>
          <a:xfrm rot="0">
            <a:off x="11041380" y="6185916"/>
            <a:ext cx="2400300" cy="1714500"/>
            <a:chOff x="0" y="0"/>
            <a:chExt cx="3200400" cy="2286000"/>
          </a:xfrm>
        </p:grpSpPr>
        <p:sp>
          <p:nvSpPr>
            <p:cNvPr name="Freeform 81" id="81"/>
            <p:cNvSpPr/>
            <p:nvPr/>
          </p:nvSpPr>
          <p:spPr>
            <a:xfrm flipH="false" flipV="false" rot="0">
              <a:off x="0" y="0"/>
              <a:ext cx="3200400" cy="2286000"/>
            </a:xfrm>
            <a:custGeom>
              <a:avLst/>
              <a:gdLst/>
              <a:ahLst/>
              <a:cxnLst/>
              <a:rect r="r" b="b" t="t" l="l"/>
              <a:pathLst>
                <a:path h="2286000" w="3200400">
                  <a:moveTo>
                    <a:pt x="0" y="0"/>
                  </a:moveTo>
                  <a:lnTo>
                    <a:pt x="3200400" y="0"/>
                  </a:lnTo>
                  <a:lnTo>
                    <a:pt x="3200400" y="2286000"/>
                  </a:lnTo>
                  <a:lnTo>
                    <a:pt x="0" y="2286000"/>
                  </a:lnTo>
                  <a:close/>
                </a:path>
              </a:pathLst>
            </a:custGeom>
            <a:blipFill>
              <a:blip r:embed="rId4">
                <a:alphaModFix amt="0"/>
              </a:blip>
              <a:stretch>
                <a:fillRect l="-41709" t="0" r="-41709" b="0"/>
              </a:stretch>
            </a:blipFill>
          </p:spPr>
        </p:sp>
      </p:grpSp>
      <p:grpSp>
        <p:nvGrpSpPr>
          <p:cNvPr name="Group 82" id="82"/>
          <p:cNvGrpSpPr/>
          <p:nvPr/>
        </p:nvGrpSpPr>
        <p:grpSpPr>
          <a:xfrm rot="0">
            <a:off x="11041380" y="6121622"/>
            <a:ext cx="2400300" cy="1778794"/>
            <a:chOff x="0" y="0"/>
            <a:chExt cx="3200400" cy="2371725"/>
          </a:xfrm>
        </p:grpSpPr>
        <p:sp>
          <p:nvSpPr>
            <p:cNvPr name="Freeform 83" id="83"/>
            <p:cNvSpPr/>
            <p:nvPr/>
          </p:nvSpPr>
          <p:spPr>
            <a:xfrm flipH="false" flipV="false" rot="0">
              <a:off x="0" y="0"/>
              <a:ext cx="3200400" cy="2371725"/>
            </a:xfrm>
            <a:custGeom>
              <a:avLst/>
              <a:gdLst/>
              <a:ahLst/>
              <a:cxnLst/>
              <a:rect r="r" b="b" t="t" l="l"/>
              <a:pathLst>
                <a:path h="2371725" w="3200400">
                  <a:moveTo>
                    <a:pt x="0" y="0"/>
                  </a:moveTo>
                  <a:lnTo>
                    <a:pt x="3200400" y="0"/>
                  </a:lnTo>
                  <a:lnTo>
                    <a:pt x="3200400" y="2371725"/>
                  </a:lnTo>
                  <a:lnTo>
                    <a:pt x="0" y="2371725"/>
                  </a:lnTo>
                  <a:close/>
                </a:path>
              </a:pathLst>
            </a:custGeom>
            <a:blipFill>
              <a:blip r:embed="rId5">
                <a:alphaModFix amt="0"/>
              </a:blip>
              <a:stretch>
                <a:fillRect l="-45082" t="0" r="-45082" b="0"/>
              </a:stretch>
            </a:blipFill>
          </p:spPr>
        </p:sp>
        <p:sp>
          <p:nvSpPr>
            <p:cNvPr name="TextBox 84" id="84"/>
            <p:cNvSpPr txBox="true"/>
            <p:nvPr/>
          </p:nvSpPr>
          <p:spPr>
            <a:xfrm>
              <a:off x="0" y="-85725"/>
              <a:ext cx="3200400" cy="2457450"/>
            </a:xfrm>
            <a:prstGeom prst="rect">
              <a:avLst/>
            </a:prstGeom>
          </p:spPr>
          <p:txBody>
            <a:bodyPr anchor="ctr" rtlCol="false" tIns="0" lIns="0" bIns="0" rIns="0"/>
            <a:lstStyle/>
            <a:p>
              <a:pPr algn="l">
                <a:lnSpc>
                  <a:spcPts val="5040"/>
                </a:lnSpc>
              </a:pPr>
              <a:r>
                <a:rPr lang="en-US" sz="4200" b="true">
                  <a:solidFill>
                    <a:srgbClr val="0B5E6E"/>
                  </a:solidFill>
                  <a:latin typeface="Calibri (MS) Bold"/>
                  <a:ea typeface="Calibri (MS) Bold"/>
                  <a:cs typeface="Calibri (MS) Bold"/>
                  <a:sym typeface="Calibri (MS) Bold"/>
                </a:rPr>
                <a:t>8 / 10</a:t>
              </a:r>
            </a:p>
          </p:txBody>
        </p:sp>
      </p:grpSp>
      <p:grpSp>
        <p:nvGrpSpPr>
          <p:cNvPr name="Group 85" id="85"/>
          <p:cNvGrpSpPr/>
          <p:nvPr/>
        </p:nvGrpSpPr>
        <p:grpSpPr>
          <a:xfrm rot="0">
            <a:off x="13510260" y="6185916"/>
            <a:ext cx="3771900" cy="1714500"/>
            <a:chOff x="0" y="0"/>
            <a:chExt cx="5029200" cy="2286000"/>
          </a:xfrm>
        </p:grpSpPr>
        <p:sp>
          <p:nvSpPr>
            <p:cNvPr name="Freeform 86" id="86"/>
            <p:cNvSpPr/>
            <p:nvPr/>
          </p:nvSpPr>
          <p:spPr>
            <a:xfrm flipH="false" flipV="false" rot="0">
              <a:off x="0" y="0"/>
              <a:ext cx="5029200" cy="2286000"/>
            </a:xfrm>
            <a:custGeom>
              <a:avLst/>
              <a:gdLst/>
              <a:ahLst/>
              <a:cxnLst/>
              <a:rect r="r" b="b" t="t" l="l"/>
              <a:pathLst>
                <a:path h="2286000" w="5029200">
                  <a:moveTo>
                    <a:pt x="0" y="0"/>
                  </a:moveTo>
                  <a:lnTo>
                    <a:pt x="5029200" y="0"/>
                  </a:lnTo>
                  <a:lnTo>
                    <a:pt x="5029200" y="2286000"/>
                  </a:lnTo>
                  <a:lnTo>
                    <a:pt x="0" y="2286000"/>
                  </a:lnTo>
                  <a:close/>
                </a:path>
              </a:pathLst>
            </a:custGeom>
            <a:blipFill>
              <a:blip r:embed="rId4">
                <a:alphaModFix amt="0"/>
              </a:blip>
              <a:stretch>
                <a:fillRect l="-8360" t="0" r="-8360" b="0"/>
              </a:stretch>
            </a:blipFill>
          </p:spPr>
        </p:sp>
      </p:grpSp>
      <p:grpSp>
        <p:nvGrpSpPr>
          <p:cNvPr name="Group 87" id="87"/>
          <p:cNvGrpSpPr/>
          <p:nvPr/>
        </p:nvGrpSpPr>
        <p:grpSpPr>
          <a:xfrm rot="0">
            <a:off x="13510260" y="6157341"/>
            <a:ext cx="3771900" cy="1743075"/>
            <a:chOff x="0" y="0"/>
            <a:chExt cx="5029200" cy="2324100"/>
          </a:xfrm>
        </p:grpSpPr>
        <p:sp>
          <p:nvSpPr>
            <p:cNvPr name="Freeform 88" id="88"/>
            <p:cNvSpPr/>
            <p:nvPr/>
          </p:nvSpPr>
          <p:spPr>
            <a:xfrm flipH="false" flipV="false" rot="0">
              <a:off x="0" y="0"/>
              <a:ext cx="5029200" cy="2324100"/>
            </a:xfrm>
            <a:custGeom>
              <a:avLst/>
              <a:gdLst/>
              <a:ahLst/>
              <a:cxnLst/>
              <a:rect r="r" b="b" t="t" l="l"/>
              <a:pathLst>
                <a:path h="2324100" w="5029200">
                  <a:moveTo>
                    <a:pt x="0" y="0"/>
                  </a:moveTo>
                  <a:lnTo>
                    <a:pt x="5029200" y="0"/>
                  </a:lnTo>
                  <a:lnTo>
                    <a:pt x="5029200" y="2324100"/>
                  </a:lnTo>
                  <a:lnTo>
                    <a:pt x="0" y="2324100"/>
                  </a:lnTo>
                  <a:close/>
                </a:path>
              </a:pathLst>
            </a:custGeom>
            <a:blipFill>
              <a:blip r:embed="rId5">
                <a:alphaModFix amt="0"/>
              </a:blip>
              <a:stretch>
                <a:fillRect l="-9291" t="0" r="-9291" b="0"/>
              </a:stretch>
            </a:blipFill>
          </p:spPr>
        </p:sp>
        <p:sp>
          <p:nvSpPr>
            <p:cNvPr name="TextBox 89" id="89"/>
            <p:cNvSpPr txBox="true"/>
            <p:nvPr/>
          </p:nvSpPr>
          <p:spPr>
            <a:xfrm>
              <a:off x="0" y="-38100"/>
              <a:ext cx="5029200" cy="236220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responden memberi skor ≥ 85; antara Excellent (85,5) dan Best Imaginable (90,9)</a:t>
              </a:r>
            </a:p>
          </p:txBody>
        </p:sp>
      </p:grpSp>
      <p:grpSp>
        <p:nvGrpSpPr>
          <p:cNvPr name="Group 90" id="90"/>
          <p:cNvGrpSpPr/>
          <p:nvPr/>
        </p:nvGrpSpPr>
        <p:grpSpPr>
          <a:xfrm rot="0">
            <a:off x="822960" y="8092440"/>
            <a:ext cx="16637508" cy="1165860"/>
            <a:chOff x="0" y="0"/>
            <a:chExt cx="22183344" cy="1554480"/>
          </a:xfrm>
        </p:grpSpPr>
        <p:sp>
          <p:nvSpPr>
            <p:cNvPr name="Freeform 91" id="91"/>
            <p:cNvSpPr/>
            <p:nvPr/>
          </p:nvSpPr>
          <p:spPr>
            <a:xfrm flipH="false" flipV="false" rot="0">
              <a:off x="0" y="0"/>
              <a:ext cx="22183344" cy="1554480"/>
            </a:xfrm>
            <a:custGeom>
              <a:avLst/>
              <a:gdLst/>
              <a:ahLst/>
              <a:cxnLst/>
              <a:rect r="r" b="b" t="t" l="l"/>
              <a:pathLst>
                <a:path h="1554480" w="22183344">
                  <a:moveTo>
                    <a:pt x="0" y="182880"/>
                  </a:moveTo>
                  <a:cubicBezTo>
                    <a:pt x="0" y="81915"/>
                    <a:pt x="81915" y="0"/>
                    <a:pt x="182880" y="0"/>
                  </a:cubicBezTo>
                  <a:lnTo>
                    <a:pt x="22000463" y="0"/>
                  </a:lnTo>
                  <a:cubicBezTo>
                    <a:pt x="22101428" y="0"/>
                    <a:pt x="22183344" y="81915"/>
                    <a:pt x="22183344" y="182880"/>
                  </a:cubicBezTo>
                  <a:lnTo>
                    <a:pt x="22183344" y="1371600"/>
                  </a:lnTo>
                  <a:cubicBezTo>
                    <a:pt x="22183344" y="1472565"/>
                    <a:pt x="22101428" y="1554480"/>
                    <a:pt x="22000463" y="1554480"/>
                  </a:cubicBezTo>
                  <a:lnTo>
                    <a:pt x="182880" y="1554480"/>
                  </a:lnTo>
                  <a:cubicBezTo>
                    <a:pt x="81915" y="1554480"/>
                    <a:pt x="0" y="1472565"/>
                    <a:pt x="0" y="1371600"/>
                  </a:cubicBezTo>
                  <a:close/>
                </a:path>
              </a:pathLst>
            </a:custGeom>
            <a:solidFill>
              <a:srgbClr val="FFF1BF"/>
            </a:solidFill>
          </p:spPr>
        </p:sp>
      </p:grpSp>
      <p:grpSp>
        <p:nvGrpSpPr>
          <p:cNvPr name="Group 92" id="92"/>
          <p:cNvGrpSpPr/>
          <p:nvPr/>
        </p:nvGrpSpPr>
        <p:grpSpPr>
          <a:xfrm rot="0">
            <a:off x="1165860" y="8092440"/>
            <a:ext cx="15951708" cy="1165860"/>
            <a:chOff x="0" y="0"/>
            <a:chExt cx="21268944" cy="1554480"/>
          </a:xfrm>
        </p:grpSpPr>
        <p:sp>
          <p:nvSpPr>
            <p:cNvPr name="Freeform 93" id="93"/>
            <p:cNvSpPr/>
            <p:nvPr/>
          </p:nvSpPr>
          <p:spPr>
            <a:xfrm flipH="false" flipV="false" rot="0">
              <a:off x="0" y="0"/>
              <a:ext cx="21268944" cy="1554480"/>
            </a:xfrm>
            <a:custGeom>
              <a:avLst/>
              <a:gdLst/>
              <a:ahLst/>
              <a:cxnLst/>
              <a:rect r="r" b="b" t="t" l="l"/>
              <a:pathLst>
                <a:path h="1554480" w="21268944">
                  <a:moveTo>
                    <a:pt x="0" y="0"/>
                  </a:moveTo>
                  <a:lnTo>
                    <a:pt x="21268944" y="0"/>
                  </a:lnTo>
                  <a:lnTo>
                    <a:pt x="21268944" y="1554480"/>
                  </a:lnTo>
                  <a:lnTo>
                    <a:pt x="0" y="1554480"/>
                  </a:lnTo>
                  <a:close/>
                </a:path>
              </a:pathLst>
            </a:custGeom>
            <a:blipFill>
              <a:blip r:embed="rId4">
                <a:alphaModFix amt="0"/>
              </a:blip>
              <a:stretch>
                <a:fillRect l="0" t="-216415" r="0" b="-216415"/>
              </a:stretch>
            </a:blipFill>
          </p:spPr>
        </p:sp>
      </p:grpSp>
      <p:grpSp>
        <p:nvGrpSpPr>
          <p:cNvPr name="Group 94" id="94"/>
          <p:cNvGrpSpPr/>
          <p:nvPr/>
        </p:nvGrpSpPr>
        <p:grpSpPr>
          <a:xfrm rot="0">
            <a:off x="1165860" y="8063865"/>
            <a:ext cx="15951708" cy="1194435"/>
            <a:chOff x="0" y="0"/>
            <a:chExt cx="21268944" cy="1592580"/>
          </a:xfrm>
        </p:grpSpPr>
        <p:sp>
          <p:nvSpPr>
            <p:cNvPr name="Freeform 95" id="95"/>
            <p:cNvSpPr/>
            <p:nvPr/>
          </p:nvSpPr>
          <p:spPr>
            <a:xfrm flipH="false" flipV="false" rot="0">
              <a:off x="0" y="0"/>
              <a:ext cx="21268944" cy="1592580"/>
            </a:xfrm>
            <a:custGeom>
              <a:avLst/>
              <a:gdLst/>
              <a:ahLst/>
              <a:cxnLst/>
              <a:rect r="r" b="b" t="t" l="l"/>
              <a:pathLst>
                <a:path h="1592580" w="21268944">
                  <a:moveTo>
                    <a:pt x="0" y="0"/>
                  </a:moveTo>
                  <a:lnTo>
                    <a:pt x="21268944" y="0"/>
                  </a:lnTo>
                  <a:lnTo>
                    <a:pt x="21268944" y="1592580"/>
                  </a:lnTo>
                  <a:lnTo>
                    <a:pt x="0" y="1592580"/>
                  </a:lnTo>
                  <a:close/>
                </a:path>
              </a:pathLst>
            </a:custGeom>
            <a:blipFill>
              <a:blip r:embed="rId5">
                <a:alphaModFix amt="0"/>
              </a:blip>
              <a:stretch>
                <a:fillRect l="0" t="-210223" r="0" b="-210223"/>
              </a:stretch>
            </a:blipFill>
          </p:spPr>
        </p:sp>
        <p:sp>
          <p:nvSpPr>
            <p:cNvPr name="TextBox 96" id="96"/>
            <p:cNvSpPr txBox="true"/>
            <p:nvPr/>
          </p:nvSpPr>
          <p:spPr>
            <a:xfrm>
              <a:off x="0" y="-38100"/>
              <a:ext cx="21268944" cy="163068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Masukan: 2 responden sulit menafsirkan grafik/hasil simulasi, 1 responden bingung pada tampilan dua garis tuas. Saran: interpretasi otomatis, panduan penggunaan, chatbot.</a:t>
              </a:r>
            </a:p>
          </p:txBody>
        </p:sp>
      </p:grpSp>
      <p:sp>
        <p:nvSpPr>
          <p:cNvPr name="TextBox 97" id="9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69</a:t>
            </a:r>
          </a:p>
        </p:txBody>
      </p:sp>
      <p:pic>
        <p:nvPicPr>
          <p:cNvPr name="Picture 98" id="98"/>
          <p:cNvPicPr>
            <a:picLocks noChangeAspect="true"/>
          </p:cNvPicPr>
          <p:nvPr/>
        </p:nvPicPr>
        <p:blipFill>
          <a:blip r:embed="rId6"/>
          <a:stretch>
            <a:fillRect/>
          </a:stretch>
        </p:blipFill>
        <p:spPr>
          <a:xfrm rot="0">
            <a:off x="-128016" y="1883664"/>
            <a:ext cx="11411712" cy="6519672"/>
          </a:xfrm>
          <a:prstGeom prst="rect">
            <a:avLst/>
          </a:prstGeom>
        </p:spPr>
      </p:pic>
      <p:sp>
        <p:nvSpPr>
          <p:cNvPr id="99"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7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Ringkasan Hasil Tujuan 3</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70</a:t>
            </a:r>
          </a:p>
        </p:txBody>
      </p:sp>
      <p:sp>
        <p:nvSpPr>
          <p:cNvPr id="148" name="Rounded Rectangle 147"/>
          <p:cNvSpPr/>
          <p:nvPr/>
        </p:nvSpPr>
        <p:spPr>
          <a:xfrm>
            <a:off x="822960" y="2286000"/>
            <a:ext cx="16642080" cy="77724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2070" b="1" i="0">
                <a:solidFill>
                  <a:srgbClr val="FFFFFF"/>
                </a:solidFill>
                <a:latin typeface="Calibri (MS) Bold"/>
              </a:rPr>
              <a:t>Apa hasil yang diperoleh untuk Tujuan 3?</a:t>
            </a:r>
          </a:p>
        </p:txBody>
      </p:sp>
      <p:sp>
        <p:nvSpPr>
          <p:cNvPr id="149" name="Rounded Rectangle 148"/>
          <p:cNvSpPr/>
          <p:nvPr/>
        </p:nvSpPr>
        <p:spPr>
          <a:xfrm>
            <a:off x="822960" y="329184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0" name="Oval 149"/>
          <p:cNvSpPr/>
          <p:nvPr/>
        </p:nvSpPr>
        <p:spPr>
          <a:xfrm>
            <a:off x="1051560" y="357759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1</a:t>
            </a:r>
          </a:p>
        </p:txBody>
      </p:sp>
      <p:sp>
        <p:nvSpPr>
          <p:cNvPr id="151" name="TextBox 150"/>
          <p:cNvSpPr txBox="1"/>
          <p:nvPr/>
        </p:nvSpPr>
        <p:spPr>
          <a:xfrm>
            <a:off x="1828800" y="338328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Aplikasi web DST</a:t>
            </a:r>
          </a:p>
        </p:txBody>
      </p:sp>
      <p:sp>
        <p:nvSpPr>
          <p:cNvPr id="152" name="TextBox 151"/>
          <p:cNvSpPr txBox="1"/>
          <p:nvPr/>
        </p:nvSpPr>
        <p:spPr>
          <a:xfrm>
            <a:off x="6126480" y="338328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Model Vensim final dikonversi SDEverywhere dan dijalankan di peramban (Next.js, TypeScript, Tailwind): sistemdinamispariwisata.vercel.app.</a:t>
            </a:r>
          </a:p>
        </p:txBody>
      </p:sp>
      <p:sp>
        <p:nvSpPr>
          <p:cNvPr id="153" name="Rounded Rectangle 152"/>
          <p:cNvSpPr/>
          <p:nvPr/>
        </p:nvSpPr>
        <p:spPr>
          <a:xfrm>
            <a:off x="822960" y="459486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4" name="Oval 153"/>
          <p:cNvSpPr/>
          <p:nvPr/>
        </p:nvSpPr>
        <p:spPr>
          <a:xfrm>
            <a:off x="1051560" y="488061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2</a:t>
            </a:r>
          </a:p>
        </p:txBody>
      </p:sp>
      <p:sp>
        <p:nvSpPr>
          <p:cNvPr id="155" name="TextBox 154"/>
          <p:cNvSpPr txBox="1"/>
          <p:nvPr/>
        </p:nvSpPr>
        <p:spPr>
          <a:xfrm>
            <a:off x="1828800" y="468630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Empat halaman</a:t>
            </a:r>
          </a:p>
        </p:txBody>
      </p:sp>
      <p:sp>
        <p:nvSpPr>
          <p:cNvPr id="156" name="TextBox 155"/>
          <p:cNvSpPr txBox="1"/>
          <p:nvPr/>
        </p:nvSpPr>
        <p:spPr>
          <a:xfrm>
            <a:off x="6126480" y="468630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Beranda, Model (struktur &amp; evaluasi), Skenario (tiga skenario + perbandingan), Simulasi (dua tuas, pilihan variabel, 2025–2050).</a:t>
            </a:r>
          </a:p>
        </p:txBody>
      </p:sp>
      <p:sp>
        <p:nvSpPr>
          <p:cNvPr id="157" name="Rounded Rectangle 156"/>
          <p:cNvSpPr/>
          <p:nvPr/>
        </p:nvSpPr>
        <p:spPr>
          <a:xfrm>
            <a:off x="822960" y="589788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8" name="Oval 157"/>
          <p:cNvSpPr/>
          <p:nvPr/>
        </p:nvSpPr>
        <p:spPr>
          <a:xfrm>
            <a:off x="1051560" y="618363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3</a:t>
            </a:r>
          </a:p>
        </p:txBody>
      </p:sp>
      <p:sp>
        <p:nvSpPr>
          <p:cNvPr id="159" name="TextBox 158"/>
          <p:cNvSpPr txBox="1"/>
          <p:nvPr/>
        </p:nvSpPr>
        <p:spPr>
          <a:xfrm>
            <a:off x="1828800" y="598932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Fungsional</a:t>
            </a:r>
          </a:p>
        </p:txBody>
      </p:sp>
      <p:sp>
        <p:nvSpPr>
          <p:cNvPr id="160" name="TextBox 159"/>
          <p:cNvSpPr txBox="1"/>
          <p:nvPr/>
        </p:nvSpPr>
        <p:spPr>
          <a:xfrm>
            <a:off x="6126480" y="598932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9 dari 9 kasus black-box Pass.</a:t>
            </a:r>
          </a:p>
        </p:txBody>
      </p:sp>
      <p:sp>
        <p:nvSpPr>
          <p:cNvPr id="161" name="Rounded Rectangle 160"/>
          <p:cNvSpPr/>
          <p:nvPr/>
        </p:nvSpPr>
        <p:spPr>
          <a:xfrm>
            <a:off x="822960" y="720090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62" name="Oval 161"/>
          <p:cNvSpPr/>
          <p:nvPr/>
        </p:nvSpPr>
        <p:spPr>
          <a:xfrm>
            <a:off x="1051560" y="748665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4</a:t>
            </a:r>
          </a:p>
        </p:txBody>
      </p:sp>
      <p:sp>
        <p:nvSpPr>
          <p:cNvPr id="163" name="TextBox 162"/>
          <p:cNvSpPr txBox="1"/>
          <p:nvPr/>
        </p:nvSpPr>
        <p:spPr>
          <a:xfrm>
            <a:off x="1828800" y="729234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Usability</a:t>
            </a:r>
          </a:p>
        </p:txBody>
      </p:sp>
      <p:sp>
        <p:nvSpPr>
          <p:cNvPr id="164" name="TextBox 163"/>
          <p:cNvSpPr txBox="1"/>
          <p:nvPr/>
        </p:nvSpPr>
        <p:spPr>
          <a:xfrm>
            <a:off x="6126480" y="729234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SUS rata-rata 88,50 (median 92,50; n = 10) — antara Excellent dan Best Imaginable; masukan: perlu bantuan interpretasi hasil.</a:t>
            </a:r>
          </a:p>
        </p:txBody>
      </p:sp>
      <p:sp>
        <p:nvSpPr>
          <p:cNvPr id="165" name="Rounded Rectangle 164"/>
          <p:cNvSpPr/>
          <p:nvPr/>
        </p:nvSpPr>
        <p:spPr>
          <a:xfrm>
            <a:off x="822960" y="8503920"/>
            <a:ext cx="16642080" cy="7315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Hasil pemodelan dan simulasi skenario kebijakan kini dapat dieksplorasi tanpa perangkat lunak pemodelan.</a:t>
            </a:r>
          </a:p>
        </p:txBody>
      </p:sp>
      <p:sp>
        <p:nvSpPr>
          <p:cNvPr id="166"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4.10.2 · Diskusi</a:t>
            </a:r>
          </a:p>
          <a:p>
            <a:pPr algn="l">
              <a:lnSpc>
                <a:spcPct val="100000"/>
              </a:lnSpc>
            </a:pPr>
            <a:r>
              <a:rPr lang="en-US" sz="3500" b="true">
                <a:solidFill>
                  <a:srgbClr val="0B5E6E"/>
                </a:solidFill>
                <a:latin typeface="Calibri (MS) Bold"/>
                <a:ea typeface="Calibri (MS) Bold"/>
                <a:cs typeface="Calibri (MS) Bold"/>
                <a:sym typeface="Calibri (MS) Bold"/>
              </a:rPr>
              <a:t>Diskusi: kontribusi ada pada kerangka pengujian, bukan kecocokan data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Penutup</a:t>
              </a:r>
            </a:p>
          </p:txBody>
        </p:sp>
      </p:grpSp>
      <p:sp>
        <p:nvSpPr>
          <p:cNvPr name="TextBox 52" id="5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71</a:t>
            </a:r>
          </a:p>
        </p:txBody>
      </p:sp>
      <p:grpSp>
        <p:nvGrpSpPr>
          <p:cNvPr name="Group 53" id="53"/>
          <p:cNvGrpSpPr/>
          <p:nvPr/>
        </p:nvGrpSpPr>
        <p:grpSpPr>
          <a:xfrm rot="0">
            <a:off x="813435" y="2386203"/>
            <a:ext cx="5414010" cy="5551170"/>
            <a:chOff x="0" y="0"/>
            <a:chExt cx="7218680" cy="7401560"/>
          </a:xfrm>
        </p:grpSpPr>
        <p:sp>
          <p:nvSpPr>
            <p:cNvPr name="Freeform 54" id="54"/>
            <p:cNvSpPr/>
            <p:nvPr/>
          </p:nvSpPr>
          <p:spPr>
            <a:xfrm flipH="false" flipV="false" rot="0">
              <a:off x="0" y="0"/>
              <a:ext cx="7218680" cy="7401560"/>
            </a:xfrm>
            <a:custGeom>
              <a:avLst/>
              <a:gdLst/>
              <a:ahLst/>
              <a:cxnLst/>
              <a:rect r="r" b="b" t="t" l="l"/>
              <a:pathLst>
                <a:path h="7401560" w="7218680">
                  <a:moveTo>
                    <a:pt x="0" y="171196"/>
                  </a:moveTo>
                  <a:cubicBezTo>
                    <a:pt x="0" y="76708"/>
                    <a:pt x="76708" y="0"/>
                    <a:pt x="171196" y="0"/>
                  </a:cubicBezTo>
                  <a:lnTo>
                    <a:pt x="7047484" y="0"/>
                  </a:lnTo>
                  <a:cubicBezTo>
                    <a:pt x="7142099" y="0"/>
                    <a:pt x="7218680" y="76708"/>
                    <a:pt x="7218680" y="171196"/>
                  </a:cubicBezTo>
                  <a:lnTo>
                    <a:pt x="7218680" y="7230364"/>
                  </a:lnTo>
                  <a:cubicBezTo>
                    <a:pt x="7218680" y="7324979"/>
                    <a:pt x="7141972" y="7401560"/>
                    <a:pt x="7047484" y="7401560"/>
                  </a:cubicBezTo>
                  <a:lnTo>
                    <a:pt x="171196" y="7401560"/>
                  </a:lnTo>
                  <a:cubicBezTo>
                    <a:pt x="76708" y="7401560"/>
                    <a:pt x="0" y="7324852"/>
                    <a:pt x="0" y="7230364"/>
                  </a:cubicBezTo>
                  <a:close/>
                </a:path>
              </a:pathLst>
            </a:custGeom>
            <a:solidFill>
              <a:srgbClr val="FFFFFF"/>
            </a:solidFill>
            <a:ln w="19050" cap="sq">
              <a:solidFill>
                <a:srgbClr val="CFE5E9"/>
              </a:solidFill>
              <a:prstDash val="solid"/>
              <a:miter/>
            </a:ln>
          </p:spPr>
        </p:sp>
      </p:grpSp>
      <p:grpSp>
        <p:nvGrpSpPr>
          <p:cNvPr name="Group 55" id="55"/>
          <p:cNvGrpSpPr/>
          <p:nvPr/>
        </p:nvGrpSpPr>
        <p:grpSpPr>
          <a:xfrm rot="0">
            <a:off x="1115568" y="2697480"/>
            <a:ext cx="685800" cy="685800"/>
            <a:chOff x="0" y="0"/>
            <a:chExt cx="914400" cy="914400"/>
          </a:xfrm>
        </p:grpSpPr>
        <p:sp>
          <p:nvSpPr>
            <p:cNvPr name="Freeform 56" id="5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sp>
          <p:nvSpPr>
            <p:cNvPr name="TextBox 57" id="57"/>
            <p:cNvSpPr txBox="true"/>
            <p:nvPr/>
          </p:nvSpPr>
          <p:spPr>
            <a:xfrm>
              <a:off x="0" y="-47625"/>
              <a:ext cx="914400" cy="962025"/>
            </a:xfrm>
            <a:prstGeom prst="rect">
              <a:avLst/>
            </a:prstGeom>
          </p:spPr>
          <p:txBody>
            <a:bodyPr anchor="ctr" rtlCol="false" tIns="50800" lIns="50800" bIns="50800" rIns="50800"/>
            <a:lstStyle/>
            <a:p>
              <a:pPr algn="ctr">
                <a:lnSpc>
                  <a:spcPts val="2639"/>
                </a:lnSpc>
              </a:pPr>
              <a:r>
                <a:rPr lang="en-US" sz="2199" b="true">
                  <a:solidFill>
                    <a:srgbClr val="FFFFFF"/>
                  </a:solidFill>
                  <a:latin typeface="Calibri (MS) Bold"/>
                  <a:ea typeface="Calibri (MS) Bold"/>
                  <a:cs typeface="Calibri (MS) Bold"/>
                  <a:sym typeface="Calibri (MS) Bold"/>
                </a:rPr>
                <a:t>1</a:t>
              </a:r>
            </a:p>
          </p:txBody>
        </p:sp>
      </p:grpSp>
      <p:sp>
        <p:nvSpPr>
          <p:cNvPr name="TextBox 58" id="58"/>
          <p:cNvSpPr txBox="true"/>
          <p:nvPr/>
        </p:nvSpPr>
        <p:spPr>
          <a:xfrm rot="0">
            <a:off x="1965960" y="2648712"/>
            <a:ext cx="4023360" cy="1173480"/>
          </a:xfrm>
          <a:prstGeom prst="rect">
            <a:avLst/>
          </a:prstGeom>
        </p:spPr>
        <p:txBody>
          <a:bodyPr anchor="t" rtlCol="false" tIns="0" lIns="0" bIns="0" rIns="0">
            <a:spAutoFit/>
          </a:bodyPr>
          <a:lstStyle/>
          <a:p>
            <a:pPr algn="l">
              <a:lnSpc>
                <a:spcPts val="3091"/>
              </a:lnSpc>
            </a:pPr>
            <a:r>
              <a:rPr lang="en-US" sz="2300" b="true">
                <a:solidFill>
                  <a:srgbClr val="0B5E6E"/>
                </a:solidFill>
                <a:latin typeface="Calibri (MS) Bold"/>
                <a:ea typeface="Calibri (MS) Bold"/>
                <a:cs typeface="Calibri (MS) Bold"/>
                <a:sym typeface="Calibri (MS) Bold"/>
              </a:rPr>
              <a:t>Kalibrasi menjadi instrumen validasi</a:t>
            </a:r>
          </a:p>
        </p:txBody>
      </p:sp>
      <p:sp>
        <p:nvSpPr>
          <p:cNvPr name="TextBox 59" id="59"/>
          <p:cNvSpPr txBox="true"/>
          <p:nvPr/>
        </p:nvSpPr>
        <p:spPr>
          <a:xfrm rot="0">
            <a:off x="1115568" y="3846195"/>
            <a:ext cx="4809744" cy="3926205"/>
          </a:xfrm>
          <a:prstGeom prst="rect">
            <a:avLst/>
          </a:prstGeom>
        </p:spPr>
        <p:txBody>
          <a:bodyPr anchor="t" rtlCol="false" tIns="0" lIns="0" bIns="0" rIns="0">
            <a:spAutoFit/>
          </a:bodyPr>
          <a:lstStyle/>
          <a:p>
            <a:pPr algn="l">
              <a:lnSpc>
                <a:spcPts val="2761"/>
              </a:lnSpc>
            </a:pPr>
            <a:r>
              <a:rPr lang="en-US" sz="1950">
                <a:solidFill>
                  <a:srgbClr val="14313B"/>
                </a:solidFill>
                <a:latin typeface="Calibri (MS)"/>
                <a:ea typeface="Calibri (MS)"/>
                <a:cs typeface="Calibri (MS)"/>
                <a:sym typeface="Calibri (MS)"/>
              </a:rPr>
              <a:t>Tiga parameter diuji (TPK ambang, laju demolisi, laju konversi) dan tidak satu pun berubah. Nilai turunan data dan identitas stok-aliran sudah berada di daerah yang dapat dipertanggungjawabkan — sejalan dengan Oliva (2003): kalibrasi sebagai pengujian hipotesis struktural.</a:t>
            </a:r>
          </a:p>
        </p:txBody>
      </p:sp>
      <p:grpSp>
        <p:nvGrpSpPr>
          <p:cNvPr name="Group 60" id="60"/>
          <p:cNvGrpSpPr/>
          <p:nvPr/>
        </p:nvGrpSpPr>
        <p:grpSpPr>
          <a:xfrm rot="0">
            <a:off x="6436995" y="2386203"/>
            <a:ext cx="5414010" cy="5551170"/>
            <a:chOff x="0" y="0"/>
            <a:chExt cx="7218680" cy="7401560"/>
          </a:xfrm>
        </p:grpSpPr>
        <p:sp>
          <p:nvSpPr>
            <p:cNvPr name="Freeform 61" id="61"/>
            <p:cNvSpPr/>
            <p:nvPr/>
          </p:nvSpPr>
          <p:spPr>
            <a:xfrm flipH="false" flipV="false" rot="0">
              <a:off x="0" y="0"/>
              <a:ext cx="7218680" cy="7401560"/>
            </a:xfrm>
            <a:custGeom>
              <a:avLst/>
              <a:gdLst/>
              <a:ahLst/>
              <a:cxnLst/>
              <a:rect r="r" b="b" t="t" l="l"/>
              <a:pathLst>
                <a:path h="7401560" w="7218680">
                  <a:moveTo>
                    <a:pt x="0" y="171196"/>
                  </a:moveTo>
                  <a:cubicBezTo>
                    <a:pt x="0" y="76708"/>
                    <a:pt x="76708" y="0"/>
                    <a:pt x="171196" y="0"/>
                  </a:cubicBezTo>
                  <a:lnTo>
                    <a:pt x="7047484" y="0"/>
                  </a:lnTo>
                  <a:cubicBezTo>
                    <a:pt x="7142099" y="0"/>
                    <a:pt x="7218680" y="76708"/>
                    <a:pt x="7218680" y="171196"/>
                  </a:cubicBezTo>
                  <a:lnTo>
                    <a:pt x="7218680" y="7230364"/>
                  </a:lnTo>
                  <a:cubicBezTo>
                    <a:pt x="7218680" y="7324979"/>
                    <a:pt x="7141972" y="7401560"/>
                    <a:pt x="7047484" y="7401560"/>
                  </a:cubicBezTo>
                  <a:lnTo>
                    <a:pt x="171196" y="7401560"/>
                  </a:lnTo>
                  <a:cubicBezTo>
                    <a:pt x="76708" y="7401560"/>
                    <a:pt x="0" y="7324852"/>
                    <a:pt x="0" y="7230364"/>
                  </a:cubicBezTo>
                  <a:close/>
                </a:path>
              </a:pathLst>
            </a:custGeom>
            <a:solidFill>
              <a:srgbClr val="FFFFFF"/>
            </a:solidFill>
            <a:ln w="19050" cap="sq">
              <a:solidFill>
                <a:srgbClr val="CFE5E9"/>
              </a:solidFill>
              <a:prstDash val="solid"/>
              <a:miter/>
            </a:ln>
          </p:spPr>
        </p:sp>
      </p:grpSp>
      <p:grpSp>
        <p:nvGrpSpPr>
          <p:cNvPr name="Group 62" id="62"/>
          <p:cNvGrpSpPr/>
          <p:nvPr/>
        </p:nvGrpSpPr>
        <p:grpSpPr>
          <a:xfrm rot="0">
            <a:off x="6739128" y="2697480"/>
            <a:ext cx="685800" cy="685800"/>
            <a:chOff x="0" y="0"/>
            <a:chExt cx="914400" cy="914400"/>
          </a:xfrm>
        </p:grpSpPr>
        <p:sp>
          <p:nvSpPr>
            <p:cNvPr name="Freeform 63" id="6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sp>
          <p:nvSpPr>
            <p:cNvPr name="TextBox 64" id="64"/>
            <p:cNvSpPr txBox="true"/>
            <p:nvPr/>
          </p:nvSpPr>
          <p:spPr>
            <a:xfrm>
              <a:off x="0" y="-47625"/>
              <a:ext cx="914400" cy="962025"/>
            </a:xfrm>
            <a:prstGeom prst="rect">
              <a:avLst/>
            </a:prstGeom>
          </p:spPr>
          <p:txBody>
            <a:bodyPr anchor="ctr" rtlCol="false" tIns="50800" lIns="50800" bIns="50800" rIns="50800"/>
            <a:lstStyle/>
            <a:p>
              <a:pPr algn="ctr">
                <a:lnSpc>
                  <a:spcPts val="2639"/>
                </a:lnSpc>
              </a:pPr>
              <a:r>
                <a:rPr lang="en-US" sz="2199" b="true">
                  <a:solidFill>
                    <a:srgbClr val="FFFFFF"/>
                  </a:solidFill>
                  <a:latin typeface="Calibri (MS) Bold"/>
                  <a:ea typeface="Calibri (MS) Bold"/>
                  <a:cs typeface="Calibri (MS) Bold"/>
                  <a:sym typeface="Calibri (MS) Bold"/>
                </a:rPr>
                <a:t>2</a:t>
              </a:r>
            </a:p>
          </p:txBody>
        </p:sp>
      </p:grpSp>
      <p:sp>
        <p:nvSpPr>
          <p:cNvPr name="TextBox 65" id="65"/>
          <p:cNvSpPr txBox="true"/>
          <p:nvPr/>
        </p:nvSpPr>
        <p:spPr>
          <a:xfrm rot="0">
            <a:off x="7589520" y="2648712"/>
            <a:ext cx="4023360" cy="1173480"/>
          </a:xfrm>
          <a:prstGeom prst="rect">
            <a:avLst/>
          </a:prstGeom>
        </p:spPr>
        <p:txBody>
          <a:bodyPr anchor="t" rtlCol="false" tIns="0" lIns="0" bIns="0" rIns="0">
            <a:spAutoFit/>
          </a:bodyPr>
          <a:lstStyle/>
          <a:p>
            <a:pPr algn="l">
              <a:lnSpc>
                <a:spcPts val="3091"/>
              </a:lnSpc>
            </a:pPr>
            <a:r>
              <a:rPr lang="en-US" sz="2300" b="true">
                <a:solidFill>
                  <a:srgbClr val="0B5E6E"/>
                </a:solidFill>
                <a:latin typeface="Calibri (MS) Bold"/>
                <a:ea typeface="Calibri (MS) Bold"/>
                <a:cs typeface="Calibri (MS) Bold"/>
                <a:sym typeface="Calibri (MS) Bold"/>
              </a:rPr>
              <a:t>Nilai citra satelit bersifat kondisional</a:t>
            </a:r>
          </a:p>
        </p:txBody>
      </p:sp>
      <p:sp>
        <p:nvSpPr>
          <p:cNvPr name="TextBox 66" id="66"/>
          <p:cNvSpPr txBox="true"/>
          <p:nvPr/>
        </p:nvSpPr>
        <p:spPr>
          <a:xfrm rot="0">
            <a:off x="6739128" y="3846195"/>
            <a:ext cx="4809744" cy="3926205"/>
          </a:xfrm>
          <a:prstGeom prst="rect">
            <a:avLst/>
          </a:prstGeom>
        </p:spPr>
        <p:txBody>
          <a:bodyPr anchor="t" rtlCol="false" tIns="0" lIns="0" bIns="0" rIns="0">
            <a:spAutoFit/>
          </a:bodyPr>
          <a:lstStyle/>
          <a:p>
            <a:pPr algn="l">
              <a:lnSpc>
                <a:spcPts val="2761"/>
              </a:lnSpc>
            </a:pPr>
            <a:r>
              <a:rPr lang="en-US" sz="1950">
                <a:solidFill>
                  <a:srgbClr val="14313B"/>
                </a:solidFill>
                <a:latin typeface="Calibri (MS)"/>
                <a:ea typeface="Calibri (MS)"/>
                <a:cs typeface="Calibri (MS)"/>
                <a:sym typeface="Calibri (MS)"/>
              </a:rPr>
              <a:t>Lahan terbangun: Dynamic World diklasifikasi langsung, tanpa model regresi tambahan. ODTW: cahaya malam memerlukan regresi proksi dengan kekuatan moderat (R² selisih tahunan 0,405). Manfaat citra bergantung pada apakah variabel dapat diklasifikasi langsung atau butuh hubungan statistik.</a:t>
            </a:r>
          </a:p>
        </p:txBody>
      </p:sp>
      <p:grpSp>
        <p:nvGrpSpPr>
          <p:cNvPr name="Group 67" id="67"/>
          <p:cNvGrpSpPr/>
          <p:nvPr/>
        </p:nvGrpSpPr>
        <p:grpSpPr>
          <a:xfrm rot="0">
            <a:off x="12060555" y="2386203"/>
            <a:ext cx="5414010" cy="5551170"/>
            <a:chOff x="0" y="0"/>
            <a:chExt cx="7218680" cy="7401560"/>
          </a:xfrm>
        </p:grpSpPr>
        <p:sp>
          <p:nvSpPr>
            <p:cNvPr name="Freeform 68" id="68"/>
            <p:cNvSpPr/>
            <p:nvPr/>
          </p:nvSpPr>
          <p:spPr>
            <a:xfrm flipH="false" flipV="false" rot="0">
              <a:off x="0" y="0"/>
              <a:ext cx="7218680" cy="7401560"/>
            </a:xfrm>
            <a:custGeom>
              <a:avLst/>
              <a:gdLst/>
              <a:ahLst/>
              <a:cxnLst/>
              <a:rect r="r" b="b" t="t" l="l"/>
              <a:pathLst>
                <a:path h="7401560" w="7218680">
                  <a:moveTo>
                    <a:pt x="0" y="171196"/>
                  </a:moveTo>
                  <a:cubicBezTo>
                    <a:pt x="0" y="76708"/>
                    <a:pt x="76708" y="0"/>
                    <a:pt x="171196" y="0"/>
                  </a:cubicBezTo>
                  <a:lnTo>
                    <a:pt x="7047484" y="0"/>
                  </a:lnTo>
                  <a:cubicBezTo>
                    <a:pt x="7142099" y="0"/>
                    <a:pt x="7218680" y="76708"/>
                    <a:pt x="7218680" y="171196"/>
                  </a:cubicBezTo>
                  <a:lnTo>
                    <a:pt x="7218680" y="7230364"/>
                  </a:lnTo>
                  <a:cubicBezTo>
                    <a:pt x="7218680" y="7324979"/>
                    <a:pt x="7141972" y="7401560"/>
                    <a:pt x="7047484" y="7401560"/>
                  </a:cubicBezTo>
                  <a:lnTo>
                    <a:pt x="171196" y="7401560"/>
                  </a:lnTo>
                  <a:cubicBezTo>
                    <a:pt x="76708" y="7401560"/>
                    <a:pt x="0" y="7324852"/>
                    <a:pt x="0" y="7230364"/>
                  </a:cubicBezTo>
                  <a:close/>
                </a:path>
              </a:pathLst>
            </a:custGeom>
            <a:solidFill>
              <a:srgbClr val="FFFFFF"/>
            </a:solidFill>
            <a:ln w="19050" cap="sq">
              <a:solidFill>
                <a:srgbClr val="CFE5E9"/>
              </a:solidFill>
              <a:prstDash val="solid"/>
              <a:miter/>
            </a:ln>
          </p:spPr>
        </p:sp>
      </p:grpSp>
      <p:grpSp>
        <p:nvGrpSpPr>
          <p:cNvPr name="Group 69" id="69"/>
          <p:cNvGrpSpPr/>
          <p:nvPr/>
        </p:nvGrpSpPr>
        <p:grpSpPr>
          <a:xfrm rot="0">
            <a:off x="12362688" y="2697480"/>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sp>
          <p:nvSpPr>
            <p:cNvPr name="TextBox 71" id="71"/>
            <p:cNvSpPr txBox="true"/>
            <p:nvPr/>
          </p:nvSpPr>
          <p:spPr>
            <a:xfrm>
              <a:off x="0" y="-47625"/>
              <a:ext cx="914400" cy="962025"/>
            </a:xfrm>
            <a:prstGeom prst="rect">
              <a:avLst/>
            </a:prstGeom>
          </p:spPr>
          <p:txBody>
            <a:bodyPr anchor="ctr" rtlCol="false" tIns="50800" lIns="50800" bIns="50800" rIns="50800"/>
            <a:lstStyle/>
            <a:p>
              <a:pPr algn="ctr">
                <a:lnSpc>
                  <a:spcPts val="2639"/>
                </a:lnSpc>
              </a:pPr>
              <a:r>
                <a:rPr lang="en-US" sz="2199" b="true">
                  <a:solidFill>
                    <a:srgbClr val="FFFFFF"/>
                  </a:solidFill>
                  <a:latin typeface="Calibri (MS) Bold"/>
                  <a:ea typeface="Calibri (MS) Bold"/>
                  <a:cs typeface="Calibri (MS) Bold"/>
                  <a:sym typeface="Calibri (MS) Bold"/>
                </a:rPr>
                <a:t>3</a:t>
              </a:r>
            </a:p>
          </p:txBody>
        </p:sp>
      </p:grpSp>
      <p:sp>
        <p:nvSpPr>
          <p:cNvPr name="TextBox 72" id="72"/>
          <p:cNvSpPr txBox="true"/>
          <p:nvPr/>
        </p:nvSpPr>
        <p:spPr>
          <a:xfrm rot="0">
            <a:off x="13213080" y="2648712"/>
            <a:ext cx="4023360" cy="1173480"/>
          </a:xfrm>
          <a:prstGeom prst="rect">
            <a:avLst/>
          </a:prstGeom>
        </p:spPr>
        <p:txBody>
          <a:bodyPr anchor="t" rtlCol="false" tIns="0" lIns="0" bIns="0" rIns="0">
            <a:spAutoFit/>
          </a:bodyPr>
          <a:lstStyle/>
          <a:p>
            <a:pPr algn="l">
              <a:lnSpc>
                <a:spcPts val="3091"/>
              </a:lnSpc>
            </a:pPr>
            <a:r>
              <a:rPr lang="en-US" sz="2300" b="true">
                <a:solidFill>
                  <a:srgbClr val="0B5E6E"/>
                </a:solidFill>
                <a:latin typeface="Calibri (MS) Bold"/>
                <a:ea typeface="Calibri (MS) Bold"/>
                <a:cs typeface="Calibri (MS) Bold"/>
                <a:sym typeface="Calibri (MS) Bold"/>
              </a:rPr>
              <a:t>Dua tuas dapat dirancang modular</a:t>
            </a:r>
          </a:p>
        </p:txBody>
      </p:sp>
      <p:sp>
        <p:nvSpPr>
          <p:cNvPr name="TextBox 73" id="73"/>
          <p:cNvSpPr txBox="true"/>
          <p:nvPr/>
        </p:nvSpPr>
        <p:spPr>
          <a:xfrm rot="0">
            <a:off x="12362688" y="3846195"/>
            <a:ext cx="4809744" cy="3926205"/>
          </a:xfrm>
          <a:prstGeom prst="rect">
            <a:avLst/>
          </a:prstGeom>
        </p:spPr>
        <p:txBody>
          <a:bodyPr anchor="t" rtlCol="false" tIns="0" lIns="0" bIns="0" rIns="0">
            <a:spAutoFit/>
          </a:bodyPr>
          <a:lstStyle/>
          <a:p>
            <a:pPr algn="l">
              <a:lnSpc>
                <a:spcPts val="2761"/>
              </a:lnSpc>
            </a:pPr>
            <a:r>
              <a:rPr lang="en-US" sz="1950">
                <a:solidFill>
                  <a:srgbClr val="14313B"/>
                </a:solidFill>
                <a:latin typeface="Calibri (MS)"/>
                <a:ea typeface="Calibri (MS)"/>
                <a:cs typeface="Calibri (MS)"/>
                <a:sym typeface="Calibri (MS)"/>
              </a:rPr>
              <a:t>Efek interaksi hanya ≈ 0,7% dari selisih paket pada jumlah wisatawan: insentif menggerakkan ekonomi, konservasi menggerakkan lahan. Satu tuas dapat ditambah atau dikurangi tanpa mengulang seluruh simulasi untuk memperkirakan dampaknya.</a:t>
            </a:r>
          </a:p>
        </p:txBody>
      </p:sp>
      <p:grpSp>
        <p:nvGrpSpPr>
          <p:cNvPr name="Group 74" id="74"/>
          <p:cNvGrpSpPr/>
          <p:nvPr/>
        </p:nvGrpSpPr>
        <p:grpSpPr>
          <a:xfrm rot="0">
            <a:off x="822960" y="8156448"/>
            <a:ext cx="16642080" cy="1078992"/>
            <a:chOff x="0" y="0"/>
            <a:chExt cx="22189440" cy="1438656"/>
          </a:xfrm>
        </p:grpSpPr>
        <p:sp>
          <p:nvSpPr>
            <p:cNvPr name="Freeform 75" id="75"/>
            <p:cNvSpPr/>
            <p:nvPr/>
          </p:nvSpPr>
          <p:spPr>
            <a:xfrm flipH="false" flipV="false" rot="0">
              <a:off x="0" y="0"/>
              <a:ext cx="22189439" cy="1438656"/>
            </a:xfrm>
            <a:custGeom>
              <a:avLst/>
              <a:gdLst/>
              <a:ahLst/>
              <a:cxnLst/>
              <a:rect r="r" b="b" t="t" l="l"/>
              <a:pathLst>
                <a:path h="1438656" w="22189439">
                  <a:moveTo>
                    <a:pt x="0" y="170688"/>
                  </a:moveTo>
                  <a:cubicBezTo>
                    <a:pt x="0" y="76454"/>
                    <a:pt x="76454" y="0"/>
                    <a:pt x="170688" y="0"/>
                  </a:cubicBezTo>
                  <a:lnTo>
                    <a:pt x="22018752" y="0"/>
                  </a:lnTo>
                  <a:cubicBezTo>
                    <a:pt x="22112987" y="0"/>
                    <a:pt x="22189439" y="76454"/>
                    <a:pt x="22189439" y="170688"/>
                  </a:cubicBezTo>
                  <a:lnTo>
                    <a:pt x="22189439" y="1267968"/>
                  </a:lnTo>
                  <a:cubicBezTo>
                    <a:pt x="22189439" y="1362202"/>
                    <a:pt x="22112987" y="1438656"/>
                    <a:pt x="22018752" y="1438656"/>
                  </a:cubicBezTo>
                  <a:lnTo>
                    <a:pt x="170688" y="1438656"/>
                  </a:lnTo>
                  <a:cubicBezTo>
                    <a:pt x="76454" y="1438656"/>
                    <a:pt x="0" y="1362202"/>
                    <a:pt x="0" y="1267968"/>
                  </a:cubicBezTo>
                  <a:close/>
                </a:path>
              </a:pathLst>
            </a:custGeom>
            <a:solidFill>
              <a:srgbClr val="0B5E6E"/>
            </a:solidFill>
          </p:spPr>
        </p:sp>
      </p:grpSp>
      <p:grpSp>
        <p:nvGrpSpPr>
          <p:cNvPr name="Group 76" id="76"/>
          <p:cNvGrpSpPr/>
          <p:nvPr/>
        </p:nvGrpSpPr>
        <p:grpSpPr>
          <a:xfrm rot="0">
            <a:off x="1188720" y="8156448"/>
            <a:ext cx="15910560" cy="1078992"/>
            <a:chOff x="0" y="0"/>
            <a:chExt cx="21214080" cy="1438656"/>
          </a:xfrm>
        </p:grpSpPr>
        <p:sp>
          <p:nvSpPr>
            <p:cNvPr name="Freeform 77" id="77"/>
            <p:cNvSpPr/>
            <p:nvPr/>
          </p:nvSpPr>
          <p:spPr>
            <a:xfrm flipH="false" flipV="false" rot="0">
              <a:off x="0" y="0"/>
              <a:ext cx="21214079" cy="1438656"/>
            </a:xfrm>
            <a:custGeom>
              <a:avLst/>
              <a:gdLst/>
              <a:ahLst/>
              <a:cxnLst/>
              <a:rect r="r" b="b" t="t" l="l"/>
              <a:pathLst>
                <a:path h="1438656" w="21214079">
                  <a:moveTo>
                    <a:pt x="0" y="0"/>
                  </a:moveTo>
                  <a:lnTo>
                    <a:pt x="21214079" y="0"/>
                  </a:lnTo>
                  <a:lnTo>
                    <a:pt x="21214079" y="1438656"/>
                  </a:lnTo>
                  <a:lnTo>
                    <a:pt x="0" y="1438656"/>
                  </a:lnTo>
                  <a:close/>
                </a:path>
              </a:pathLst>
            </a:custGeom>
            <a:blipFill>
              <a:blip r:embed="rId5">
                <a:alphaModFix amt="0"/>
              </a:blip>
              <a:stretch>
                <a:fillRect l="0" t="-237321" r="0" b="-237321"/>
              </a:stretch>
            </a:blipFill>
          </p:spPr>
        </p:sp>
        <p:sp>
          <p:nvSpPr>
            <p:cNvPr name="TextBox 78" id="78"/>
            <p:cNvSpPr txBox="true"/>
            <p:nvPr/>
          </p:nvSpPr>
          <p:spPr>
            <a:xfrm>
              <a:off x="0" y="-57150"/>
              <a:ext cx="21214080" cy="1495806"/>
            </a:xfrm>
            <a:prstGeom prst="rect">
              <a:avLst/>
            </a:prstGeom>
          </p:spPr>
          <p:txBody>
            <a:bodyPr anchor="ctr" rtlCol="false" tIns="0" lIns="0" bIns="0" rIns="0"/>
            <a:lstStyle/>
            <a:p>
              <a:pPr algn="l">
                <a:lnSpc>
                  <a:spcPts val="2284"/>
                </a:lnSpc>
              </a:pPr>
              <a:r>
                <a:rPr lang="en-US" sz="1700">
                  <a:solidFill>
                    <a:srgbClr val="FFFFFF"/>
                  </a:solidFill>
                  <a:latin typeface="Calibri (MS)"/>
                  <a:ea typeface="Calibri (MS)"/>
                  <a:cs typeface="Calibri (MS)"/>
                  <a:sym typeface="Calibri (MS)"/>
                </a:rPr>
                <a:t>Kontribusi penelitian: kerangka pengujian yang membedakan sumber ketidaksesuaian, serta pemetaan pertukaran kebijakan secara kuantitatif beserta kekokohannya terhadap ketidakpastian struktural.</a:t>
              </a:r>
            </a:p>
          </p:txBody>
        </p:sp>
      </p:grpSp>
      <p:sp>
        <p:nvSpPr>
          <p:cNvPr id="79"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4.10.1 · Catatan Keterbatasan</a:t>
            </a:r>
          </a:p>
          <a:p>
            <a:pPr algn="l">
              <a:lnSpc>
                <a:spcPct val="100000"/>
              </a:lnSpc>
            </a:pPr>
            <a:r>
              <a:rPr lang="en-US" sz="3500" b="true">
                <a:solidFill>
                  <a:srgbClr val="0B5E6E"/>
                </a:solidFill>
                <a:latin typeface="Calibri (MS) Bold"/>
                <a:ea typeface="Calibri (MS) Bold"/>
                <a:cs typeface="Calibri (MS) Bold"/>
                <a:sym typeface="Calibri (MS) Bold"/>
              </a:rPr>
              <a:t>Keterbatasan dinyatakan terbuka; model dipakai untuk membandingkan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Penutup</a:t>
              </a:r>
            </a:p>
          </p:txBody>
        </p:sp>
      </p:grpSp>
      <p:grpSp>
        <p:nvGrpSpPr>
          <p:cNvPr name="Group 52" id="52"/>
          <p:cNvGrpSpPr/>
          <p:nvPr/>
        </p:nvGrpSpPr>
        <p:grpSpPr>
          <a:xfrm rot="0">
            <a:off x="822960" y="2400300"/>
            <a:ext cx="5349240" cy="5692140"/>
            <a:chOff x="0" y="0"/>
            <a:chExt cx="7132320" cy="7589520"/>
          </a:xfrm>
        </p:grpSpPr>
        <p:sp>
          <p:nvSpPr>
            <p:cNvPr name="Freeform 53" id="53"/>
            <p:cNvSpPr/>
            <p:nvPr/>
          </p:nvSpPr>
          <p:spPr>
            <a:xfrm flipH="false" flipV="false" rot="0">
              <a:off x="0" y="0"/>
              <a:ext cx="7132320" cy="7589520"/>
            </a:xfrm>
            <a:custGeom>
              <a:avLst/>
              <a:gdLst/>
              <a:ahLst/>
              <a:cxnLst/>
              <a:rect r="r" b="b" t="t" l="l"/>
              <a:pathLst>
                <a:path h="7589520" w="7132320">
                  <a:moveTo>
                    <a:pt x="0" y="182880"/>
                  </a:moveTo>
                  <a:cubicBezTo>
                    <a:pt x="0" y="81915"/>
                    <a:pt x="81915" y="0"/>
                    <a:pt x="182880" y="0"/>
                  </a:cubicBezTo>
                  <a:lnTo>
                    <a:pt x="6949440" y="0"/>
                  </a:lnTo>
                  <a:cubicBezTo>
                    <a:pt x="7050405" y="0"/>
                    <a:pt x="7132320" y="81915"/>
                    <a:pt x="7132320" y="182880"/>
                  </a:cubicBezTo>
                  <a:lnTo>
                    <a:pt x="7132320" y="7406640"/>
                  </a:lnTo>
                  <a:cubicBezTo>
                    <a:pt x="7132320" y="7507605"/>
                    <a:pt x="7050405" y="7589520"/>
                    <a:pt x="6949440" y="7589520"/>
                  </a:cubicBezTo>
                  <a:lnTo>
                    <a:pt x="182880" y="7589520"/>
                  </a:lnTo>
                  <a:cubicBezTo>
                    <a:pt x="81915" y="7589520"/>
                    <a:pt x="0" y="7507605"/>
                    <a:pt x="0" y="7406640"/>
                  </a:cubicBezTo>
                  <a:close/>
                </a:path>
              </a:pathLst>
            </a:custGeom>
            <a:solidFill>
              <a:srgbClr val="EAF8FA"/>
            </a:solidFill>
          </p:spPr>
        </p:sp>
      </p:grpSp>
      <p:grpSp>
        <p:nvGrpSpPr>
          <p:cNvPr name="Group 54" id="54"/>
          <p:cNvGrpSpPr/>
          <p:nvPr/>
        </p:nvGrpSpPr>
        <p:grpSpPr>
          <a:xfrm rot="0">
            <a:off x="822960" y="2400300"/>
            <a:ext cx="5349240" cy="822960"/>
            <a:chOff x="0" y="0"/>
            <a:chExt cx="7132320" cy="1097280"/>
          </a:xfrm>
        </p:grpSpPr>
        <p:sp>
          <p:nvSpPr>
            <p:cNvPr name="Freeform 55" id="55"/>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0B5E6E"/>
            </a:solidFill>
          </p:spPr>
        </p:sp>
      </p:grpSp>
      <p:grpSp>
        <p:nvGrpSpPr>
          <p:cNvPr name="Group 56" id="56"/>
          <p:cNvGrpSpPr/>
          <p:nvPr/>
        </p:nvGrpSpPr>
        <p:grpSpPr>
          <a:xfrm rot="0">
            <a:off x="822960" y="2400300"/>
            <a:ext cx="5349240" cy="822960"/>
            <a:chOff x="0" y="0"/>
            <a:chExt cx="7132320" cy="1097280"/>
          </a:xfrm>
        </p:grpSpPr>
        <p:sp>
          <p:nvSpPr>
            <p:cNvPr name="Freeform 57" id="57"/>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sp>
      </p:grpSp>
      <p:grpSp>
        <p:nvGrpSpPr>
          <p:cNvPr name="Group 58" id="58"/>
          <p:cNvGrpSpPr/>
          <p:nvPr/>
        </p:nvGrpSpPr>
        <p:grpSpPr>
          <a:xfrm rot="0">
            <a:off x="822960" y="2371725"/>
            <a:ext cx="5349240" cy="851535"/>
            <a:chOff x="0" y="0"/>
            <a:chExt cx="7132320" cy="1135380"/>
          </a:xfrm>
        </p:grpSpPr>
        <p:sp>
          <p:nvSpPr>
            <p:cNvPr name="Freeform 59" id="59"/>
            <p:cNvSpPr/>
            <p:nvPr/>
          </p:nvSpPr>
          <p:spPr>
            <a:xfrm flipH="false" flipV="false" rot="0">
              <a:off x="0" y="0"/>
              <a:ext cx="7132320" cy="1135380"/>
            </a:xfrm>
            <a:custGeom>
              <a:avLst/>
              <a:gdLst/>
              <a:ahLst/>
              <a:cxnLst/>
              <a:rect r="r" b="b" t="t" l="l"/>
              <a:pathLst>
                <a:path h="1135380" w="7132320">
                  <a:moveTo>
                    <a:pt x="0" y="0"/>
                  </a:moveTo>
                  <a:lnTo>
                    <a:pt x="7132320" y="0"/>
                  </a:lnTo>
                  <a:lnTo>
                    <a:pt x="7132320" y="1135380"/>
                  </a:lnTo>
                  <a:lnTo>
                    <a:pt x="0" y="1135380"/>
                  </a:lnTo>
                  <a:close/>
                </a:path>
              </a:pathLst>
            </a:custGeom>
            <a:blipFill>
              <a:blip r:embed="rId5">
                <a:alphaModFix amt="0"/>
              </a:blip>
              <a:stretch>
                <a:fillRect l="0" t="-72402" r="0" b="-72402"/>
              </a:stretch>
            </a:blipFill>
          </p:spPr>
        </p:sp>
        <p:sp>
          <p:nvSpPr>
            <p:cNvPr name="TextBox 60" id="60"/>
            <p:cNvSpPr txBox="true"/>
            <p:nvPr/>
          </p:nvSpPr>
          <p:spPr>
            <a:xfrm>
              <a:off x="0" y="-38100"/>
              <a:ext cx="713232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Data</a:t>
              </a:r>
            </a:p>
          </p:txBody>
        </p:sp>
      </p:grpSp>
      <p:sp>
        <p:nvSpPr>
          <p:cNvPr name="TextBox 61" id="61"/>
          <p:cNvSpPr txBox="true"/>
          <p:nvPr/>
        </p:nvSpPr>
        <p:spPr>
          <a:xfrm rot="0">
            <a:off x="1097280" y="3421380"/>
            <a:ext cx="4800600" cy="4602480"/>
          </a:xfrm>
          <a:prstGeom prst="rect">
            <a:avLst/>
          </a:prstGeom>
        </p:spPr>
        <p:txBody>
          <a:bodyPr anchor="t" rtlCol="false" tIns="0" lIns="0" bIns="0" rIns="0">
            <a:spAutoFit/>
          </a:bodyPr>
          <a:lstStyle/>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Patahan metode wisnus 2018/2019 (faktor sambung 2,22–2,38)</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Lahan terbangun berderau (−27% dalam dua tahun)</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ODTW 2015–2017 dan 2025 hasil regresi (R² ≈ 0,41)</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Lonjakan akomodasi 2018 tak dapat direproduksi</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Investasi hanya realisasi PMA dan PMDN</a:t>
            </a:r>
          </a:p>
        </p:txBody>
      </p:sp>
      <p:grpSp>
        <p:nvGrpSpPr>
          <p:cNvPr name="Group 62" id="62"/>
          <p:cNvGrpSpPr/>
          <p:nvPr/>
        </p:nvGrpSpPr>
        <p:grpSpPr>
          <a:xfrm rot="0">
            <a:off x="6467094" y="2400300"/>
            <a:ext cx="5349240" cy="5692140"/>
            <a:chOff x="0" y="0"/>
            <a:chExt cx="7132320" cy="7589520"/>
          </a:xfrm>
        </p:grpSpPr>
        <p:sp>
          <p:nvSpPr>
            <p:cNvPr name="Freeform 63" id="63"/>
            <p:cNvSpPr/>
            <p:nvPr/>
          </p:nvSpPr>
          <p:spPr>
            <a:xfrm flipH="false" flipV="false" rot="0">
              <a:off x="0" y="0"/>
              <a:ext cx="7132320" cy="7589520"/>
            </a:xfrm>
            <a:custGeom>
              <a:avLst/>
              <a:gdLst/>
              <a:ahLst/>
              <a:cxnLst/>
              <a:rect r="r" b="b" t="t" l="l"/>
              <a:pathLst>
                <a:path h="7589520" w="7132320">
                  <a:moveTo>
                    <a:pt x="0" y="182880"/>
                  </a:moveTo>
                  <a:cubicBezTo>
                    <a:pt x="0" y="81915"/>
                    <a:pt x="81915" y="0"/>
                    <a:pt x="182880" y="0"/>
                  </a:cubicBezTo>
                  <a:lnTo>
                    <a:pt x="6949440" y="0"/>
                  </a:lnTo>
                  <a:cubicBezTo>
                    <a:pt x="7050405" y="0"/>
                    <a:pt x="7132320" y="81915"/>
                    <a:pt x="7132320" y="182880"/>
                  </a:cubicBezTo>
                  <a:lnTo>
                    <a:pt x="7132320" y="7406640"/>
                  </a:lnTo>
                  <a:cubicBezTo>
                    <a:pt x="7132320" y="7507605"/>
                    <a:pt x="7050405" y="7589520"/>
                    <a:pt x="6949440" y="7589520"/>
                  </a:cubicBezTo>
                  <a:lnTo>
                    <a:pt x="182880" y="7589520"/>
                  </a:lnTo>
                  <a:cubicBezTo>
                    <a:pt x="81915" y="7589520"/>
                    <a:pt x="0" y="7507605"/>
                    <a:pt x="0" y="7406640"/>
                  </a:cubicBezTo>
                  <a:close/>
                </a:path>
              </a:pathLst>
            </a:custGeom>
            <a:solidFill>
              <a:srgbClr val="EAF8FA"/>
            </a:solidFill>
          </p:spPr>
        </p:sp>
      </p:grpSp>
      <p:grpSp>
        <p:nvGrpSpPr>
          <p:cNvPr name="Group 64" id="64"/>
          <p:cNvGrpSpPr/>
          <p:nvPr/>
        </p:nvGrpSpPr>
        <p:grpSpPr>
          <a:xfrm rot="0">
            <a:off x="6467094" y="2400300"/>
            <a:ext cx="5349240" cy="822960"/>
            <a:chOff x="0" y="0"/>
            <a:chExt cx="7132320" cy="1097280"/>
          </a:xfrm>
        </p:grpSpPr>
        <p:sp>
          <p:nvSpPr>
            <p:cNvPr name="Freeform 65" id="65"/>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0B5E6E"/>
            </a:solidFill>
          </p:spPr>
        </p:sp>
      </p:grpSp>
      <p:grpSp>
        <p:nvGrpSpPr>
          <p:cNvPr name="Group 66" id="66"/>
          <p:cNvGrpSpPr/>
          <p:nvPr/>
        </p:nvGrpSpPr>
        <p:grpSpPr>
          <a:xfrm rot="0">
            <a:off x="6467094" y="2400300"/>
            <a:ext cx="5349240" cy="822960"/>
            <a:chOff x="0" y="0"/>
            <a:chExt cx="7132320" cy="1097280"/>
          </a:xfrm>
        </p:grpSpPr>
        <p:sp>
          <p:nvSpPr>
            <p:cNvPr name="Freeform 67" id="67"/>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sp>
      </p:grpSp>
      <p:grpSp>
        <p:nvGrpSpPr>
          <p:cNvPr name="Group 68" id="68"/>
          <p:cNvGrpSpPr/>
          <p:nvPr/>
        </p:nvGrpSpPr>
        <p:grpSpPr>
          <a:xfrm rot="0">
            <a:off x="6467094" y="2371725"/>
            <a:ext cx="5349240" cy="851535"/>
            <a:chOff x="0" y="0"/>
            <a:chExt cx="7132320" cy="1135380"/>
          </a:xfrm>
        </p:grpSpPr>
        <p:sp>
          <p:nvSpPr>
            <p:cNvPr name="Freeform 69" id="69"/>
            <p:cNvSpPr/>
            <p:nvPr/>
          </p:nvSpPr>
          <p:spPr>
            <a:xfrm flipH="false" flipV="false" rot="0">
              <a:off x="0" y="0"/>
              <a:ext cx="7132320" cy="1135380"/>
            </a:xfrm>
            <a:custGeom>
              <a:avLst/>
              <a:gdLst/>
              <a:ahLst/>
              <a:cxnLst/>
              <a:rect r="r" b="b" t="t" l="l"/>
              <a:pathLst>
                <a:path h="1135380" w="7132320">
                  <a:moveTo>
                    <a:pt x="0" y="0"/>
                  </a:moveTo>
                  <a:lnTo>
                    <a:pt x="7132320" y="0"/>
                  </a:lnTo>
                  <a:lnTo>
                    <a:pt x="7132320" y="1135380"/>
                  </a:lnTo>
                  <a:lnTo>
                    <a:pt x="0" y="1135380"/>
                  </a:lnTo>
                  <a:close/>
                </a:path>
              </a:pathLst>
            </a:custGeom>
            <a:blipFill>
              <a:blip r:embed="rId5">
                <a:alphaModFix amt="0"/>
              </a:blip>
              <a:stretch>
                <a:fillRect l="0" t="-72402" r="0" b="-72402"/>
              </a:stretch>
            </a:blipFill>
          </p:spPr>
        </p:sp>
        <p:sp>
          <p:nvSpPr>
            <p:cNvPr name="TextBox 70" id="70"/>
            <p:cNvSpPr txBox="true"/>
            <p:nvPr/>
          </p:nvSpPr>
          <p:spPr>
            <a:xfrm>
              <a:off x="0" y="-38100"/>
              <a:ext cx="713232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Struktur model</a:t>
              </a:r>
            </a:p>
          </p:txBody>
        </p:sp>
      </p:grpSp>
      <p:sp>
        <p:nvSpPr>
          <p:cNvPr name="TextBox 71" id="71"/>
          <p:cNvSpPr txBox="true"/>
          <p:nvPr/>
        </p:nvSpPr>
        <p:spPr>
          <a:xfrm rot="0">
            <a:off x="6741414" y="3421380"/>
            <a:ext cx="4800600" cy="4602480"/>
          </a:xfrm>
          <a:prstGeom prst="rect">
            <a:avLst/>
          </a:prstGeom>
        </p:spPr>
        <p:txBody>
          <a:bodyPr anchor="t" rtlCol="false" tIns="0" lIns="0" bIns="0" rIns="0">
            <a:spAutoFit/>
          </a:bodyPr>
          <a:lstStyle/>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Tanpa guncangan, harga, promosi, musim, dan lingkungan</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Daya dukung lahan = luas wilayah (longgar)</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Permintaan kamar tak terlayani tidak menekan kunjungan</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Tenaga kerja hanya indikator keluaran</a:t>
            </a:r>
          </a:p>
        </p:txBody>
      </p:sp>
      <p:grpSp>
        <p:nvGrpSpPr>
          <p:cNvPr name="Group 72" id="72"/>
          <p:cNvGrpSpPr/>
          <p:nvPr/>
        </p:nvGrpSpPr>
        <p:grpSpPr>
          <a:xfrm rot="0">
            <a:off x="12111228" y="2400300"/>
            <a:ext cx="5349240" cy="5692140"/>
            <a:chOff x="0" y="0"/>
            <a:chExt cx="7132320" cy="7589520"/>
          </a:xfrm>
        </p:grpSpPr>
        <p:sp>
          <p:nvSpPr>
            <p:cNvPr name="Freeform 73" id="73"/>
            <p:cNvSpPr/>
            <p:nvPr/>
          </p:nvSpPr>
          <p:spPr>
            <a:xfrm flipH="false" flipV="false" rot="0">
              <a:off x="0" y="0"/>
              <a:ext cx="7132320" cy="7589520"/>
            </a:xfrm>
            <a:custGeom>
              <a:avLst/>
              <a:gdLst/>
              <a:ahLst/>
              <a:cxnLst/>
              <a:rect r="r" b="b" t="t" l="l"/>
              <a:pathLst>
                <a:path h="7589520" w="7132320">
                  <a:moveTo>
                    <a:pt x="0" y="182880"/>
                  </a:moveTo>
                  <a:cubicBezTo>
                    <a:pt x="0" y="81915"/>
                    <a:pt x="81915" y="0"/>
                    <a:pt x="182880" y="0"/>
                  </a:cubicBezTo>
                  <a:lnTo>
                    <a:pt x="6949440" y="0"/>
                  </a:lnTo>
                  <a:cubicBezTo>
                    <a:pt x="7050405" y="0"/>
                    <a:pt x="7132320" y="81915"/>
                    <a:pt x="7132320" y="182880"/>
                  </a:cubicBezTo>
                  <a:lnTo>
                    <a:pt x="7132320" y="7406640"/>
                  </a:lnTo>
                  <a:cubicBezTo>
                    <a:pt x="7132320" y="7507605"/>
                    <a:pt x="7050405" y="7589520"/>
                    <a:pt x="6949440" y="7589520"/>
                  </a:cubicBezTo>
                  <a:lnTo>
                    <a:pt x="182880" y="7589520"/>
                  </a:lnTo>
                  <a:cubicBezTo>
                    <a:pt x="81915" y="7589520"/>
                    <a:pt x="0" y="7507605"/>
                    <a:pt x="0" y="7406640"/>
                  </a:cubicBezTo>
                  <a:close/>
                </a:path>
              </a:pathLst>
            </a:custGeom>
            <a:solidFill>
              <a:srgbClr val="EAF8FA"/>
            </a:solidFill>
          </p:spPr>
        </p:sp>
      </p:grpSp>
      <p:grpSp>
        <p:nvGrpSpPr>
          <p:cNvPr name="Group 74" id="74"/>
          <p:cNvGrpSpPr/>
          <p:nvPr/>
        </p:nvGrpSpPr>
        <p:grpSpPr>
          <a:xfrm rot="0">
            <a:off x="12111228" y="2400300"/>
            <a:ext cx="5349240" cy="822960"/>
            <a:chOff x="0" y="0"/>
            <a:chExt cx="7132320" cy="1097280"/>
          </a:xfrm>
        </p:grpSpPr>
        <p:sp>
          <p:nvSpPr>
            <p:cNvPr name="Freeform 75" id="75"/>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0B5E6E"/>
            </a:solidFill>
          </p:spPr>
        </p:sp>
      </p:grpSp>
      <p:grpSp>
        <p:nvGrpSpPr>
          <p:cNvPr name="Group 76" id="76"/>
          <p:cNvGrpSpPr/>
          <p:nvPr/>
        </p:nvGrpSpPr>
        <p:grpSpPr>
          <a:xfrm rot="0">
            <a:off x="12111228" y="2400300"/>
            <a:ext cx="5349240" cy="822960"/>
            <a:chOff x="0" y="0"/>
            <a:chExt cx="7132320" cy="1097280"/>
          </a:xfrm>
        </p:grpSpPr>
        <p:sp>
          <p:nvSpPr>
            <p:cNvPr name="Freeform 77" id="77"/>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sp>
      </p:grpSp>
      <p:grpSp>
        <p:nvGrpSpPr>
          <p:cNvPr name="Group 78" id="78"/>
          <p:cNvGrpSpPr/>
          <p:nvPr/>
        </p:nvGrpSpPr>
        <p:grpSpPr>
          <a:xfrm rot="0">
            <a:off x="12111228" y="2371725"/>
            <a:ext cx="5349240" cy="851535"/>
            <a:chOff x="0" y="0"/>
            <a:chExt cx="7132320" cy="1135380"/>
          </a:xfrm>
        </p:grpSpPr>
        <p:sp>
          <p:nvSpPr>
            <p:cNvPr name="Freeform 79" id="79"/>
            <p:cNvSpPr/>
            <p:nvPr/>
          </p:nvSpPr>
          <p:spPr>
            <a:xfrm flipH="false" flipV="false" rot="0">
              <a:off x="0" y="0"/>
              <a:ext cx="7132320" cy="1135380"/>
            </a:xfrm>
            <a:custGeom>
              <a:avLst/>
              <a:gdLst/>
              <a:ahLst/>
              <a:cxnLst/>
              <a:rect r="r" b="b" t="t" l="l"/>
              <a:pathLst>
                <a:path h="1135380" w="7132320">
                  <a:moveTo>
                    <a:pt x="0" y="0"/>
                  </a:moveTo>
                  <a:lnTo>
                    <a:pt x="7132320" y="0"/>
                  </a:lnTo>
                  <a:lnTo>
                    <a:pt x="7132320" y="1135380"/>
                  </a:lnTo>
                  <a:lnTo>
                    <a:pt x="0" y="1135380"/>
                  </a:lnTo>
                  <a:close/>
                </a:path>
              </a:pathLst>
            </a:custGeom>
            <a:blipFill>
              <a:blip r:embed="rId5">
                <a:alphaModFix amt="0"/>
              </a:blip>
              <a:stretch>
                <a:fillRect l="0" t="-72402" r="0" b="-72402"/>
              </a:stretch>
            </a:blipFill>
          </p:spPr>
        </p:sp>
        <p:sp>
          <p:nvSpPr>
            <p:cNvPr name="TextBox 80" id="80"/>
            <p:cNvSpPr txBox="true"/>
            <p:nvPr/>
          </p:nvSpPr>
          <p:spPr>
            <a:xfrm>
              <a:off x="0" y="-38100"/>
              <a:ext cx="713232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Penafsiran</a:t>
              </a:r>
            </a:p>
          </p:txBody>
        </p:sp>
      </p:grpSp>
      <p:sp>
        <p:nvSpPr>
          <p:cNvPr name="TextBox 81" id="81"/>
          <p:cNvSpPr txBox="true"/>
          <p:nvPr/>
        </p:nvSpPr>
        <p:spPr>
          <a:xfrm rot="0">
            <a:off x="12385548" y="3421380"/>
            <a:ext cx="4800600" cy="4602480"/>
          </a:xfrm>
          <a:prstGeom prst="rect">
            <a:avLst/>
          </a:prstGeom>
        </p:spPr>
        <p:txBody>
          <a:bodyPr anchor="t" rtlCol="false" tIns="0" lIns="0" bIns="0" rIns="0">
            <a:spAutoFit/>
          </a:bodyPr>
          <a:lstStyle/>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Rasio LPD/LPE: asumsi, tidak teridentifikasi dari data</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Nilai tuas dan ambang kepadatan 2,0: ketetapan peneliti</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Evaluasi pascakalibrasi memakai data yang sama (bukan validasi independen)</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Skenario tanpa lokakarya pemangku kepentingan</a:t>
            </a:r>
          </a:p>
        </p:txBody>
      </p:sp>
      <p:grpSp>
        <p:nvGrpSpPr>
          <p:cNvPr name="Group 82" id="82"/>
          <p:cNvGrpSpPr/>
          <p:nvPr/>
        </p:nvGrpSpPr>
        <p:grpSpPr>
          <a:xfrm rot="0">
            <a:off x="822960" y="8366760"/>
            <a:ext cx="16637508" cy="891540"/>
            <a:chOff x="0" y="0"/>
            <a:chExt cx="22183344" cy="1188720"/>
          </a:xfrm>
        </p:grpSpPr>
        <p:sp>
          <p:nvSpPr>
            <p:cNvPr name="Freeform 83" id="83"/>
            <p:cNvSpPr/>
            <p:nvPr/>
          </p:nvSpPr>
          <p:spPr>
            <a:xfrm flipH="false" flipV="false" rot="0">
              <a:off x="0" y="0"/>
              <a:ext cx="22183344" cy="1188720"/>
            </a:xfrm>
            <a:custGeom>
              <a:avLst/>
              <a:gdLst/>
              <a:ahLst/>
              <a:cxnLst/>
              <a:rect r="r" b="b" t="t" l="l"/>
              <a:pathLst>
                <a:path h="1188720" w="22183344">
                  <a:moveTo>
                    <a:pt x="0" y="182880"/>
                  </a:moveTo>
                  <a:cubicBezTo>
                    <a:pt x="0" y="81915"/>
                    <a:pt x="81915" y="0"/>
                    <a:pt x="182880" y="0"/>
                  </a:cubicBezTo>
                  <a:lnTo>
                    <a:pt x="22000463" y="0"/>
                  </a:lnTo>
                  <a:cubicBezTo>
                    <a:pt x="22101428" y="0"/>
                    <a:pt x="22183344" y="81915"/>
                    <a:pt x="22183344" y="182880"/>
                  </a:cubicBezTo>
                  <a:lnTo>
                    <a:pt x="22183344" y="1005840"/>
                  </a:lnTo>
                  <a:cubicBezTo>
                    <a:pt x="22183344" y="1106805"/>
                    <a:pt x="22101428" y="1188720"/>
                    <a:pt x="22000463" y="1188720"/>
                  </a:cubicBezTo>
                  <a:lnTo>
                    <a:pt x="182880" y="1188720"/>
                  </a:lnTo>
                  <a:cubicBezTo>
                    <a:pt x="81915" y="1188720"/>
                    <a:pt x="0" y="1106805"/>
                    <a:pt x="0" y="1005840"/>
                  </a:cubicBezTo>
                  <a:close/>
                </a:path>
              </a:pathLst>
            </a:custGeom>
            <a:solidFill>
              <a:srgbClr val="FFF1BF"/>
            </a:solidFill>
          </p:spPr>
        </p:sp>
      </p:grpSp>
      <p:grpSp>
        <p:nvGrpSpPr>
          <p:cNvPr name="Group 84" id="84"/>
          <p:cNvGrpSpPr/>
          <p:nvPr/>
        </p:nvGrpSpPr>
        <p:grpSpPr>
          <a:xfrm rot="0">
            <a:off x="1234440" y="8366760"/>
            <a:ext cx="15814548" cy="891540"/>
            <a:chOff x="0" y="0"/>
            <a:chExt cx="21086064" cy="1188720"/>
          </a:xfrm>
        </p:grpSpPr>
        <p:sp>
          <p:nvSpPr>
            <p:cNvPr name="Freeform 85" id="85"/>
            <p:cNvSpPr/>
            <p:nvPr/>
          </p:nvSpPr>
          <p:spPr>
            <a:xfrm flipH="false" flipV="false" rot="0">
              <a:off x="0" y="0"/>
              <a:ext cx="21086063" cy="1188720"/>
            </a:xfrm>
            <a:custGeom>
              <a:avLst/>
              <a:gdLst/>
              <a:ahLst/>
              <a:cxnLst/>
              <a:rect r="r" b="b" t="t" l="l"/>
              <a:pathLst>
                <a:path h="1188720" w="21086063">
                  <a:moveTo>
                    <a:pt x="0" y="0"/>
                  </a:moveTo>
                  <a:lnTo>
                    <a:pt x="21086063" y="0"/>
                  </a:lnTo>
                  <a:lnTo>
                    <a:pt x="21086063" y="1188720"/>
                  </a:lnTo>
                  <a:lnTo>
                    <a:pt x="0" y="1188720"/>
                  </a:lnTo>
                  <a:close/>
                </a:path>
              </a:pathLst>
            </a:custGeom>
            <a:blipFill>
              <a:blip r:embed="rId4">
                <a:alphaModFix amt="0"/>
              </a:blip>
              <a:stretch>
                <a:fillRect l="0" t="-295394" r="0" b="-295394"/>
              </a:stretch>
            </a:blipFill>
          </p:spPr>
        </p:sp>
      </p:grpSp>
      <p:grpSp>
        <p:nvGrpSpPr>
          <p:cNvPr name="Group 86" id="86"/>
          <p:cNvGrpSpPr/>
          <p:nvPr/>
        </p:nvGrpSpPr>
        <p:grpSpPr>
          <a:xfrm rot="0">
            <a:off x="1234440" y="8338185"/>
            <a:ext cx="15814548" cy="920115"/>
            <a:chOff x="0" y="0"/>
            <a:chExt cx="21086064" cy="1226820"/>
          </a:xfrm>
        </p:grpSpPr>
        <p:sp>
          <p:nvSpPr>
            <p:cNvPr name="Freeform 87" id="87"/>
            <p:cNvSpPr/>
            <p:nvPr/>
          </p:nvSpPr>
          <p:spPr>
            <a:xfrm flipH="false" flipV="false" rot="0">
              <a:off x="0" y="0"/>
              <a:ext cx="21086065" cy="1226820"/>
            </a:xfrm>
            <a:custGeom>
              <a:avLst/>
              <a:gdLst/>
              <a:ahLst/>
              <a:cxnLst/>
              <a:rect r="r" b="b" t="t" l="l"/>
              <a:pathLst>
                <a:path h="1226820" w="21086065">
                  <a:moveTo>
                    <a:pt x="0" y="0"/>
                  </a:moveTo>
                  <a:lnTo>
                    <a:pt x="21086065" y="0"/>
                  </a:lnTo>
                  <a:lnTo>
                    <a:pt x="21086065" y="1226820"/>
                  </a:lnTo>
                  <a:lnTo>
                    <a:pt x="0" y="1226820"/>
                  </a:lnTo>
                  <a:close/>
                </a:path>
              </a:pathLst>
            </a:custGeom>
            <a:blipFill>
              <a:blip r:embed="rId5">
                <a:alphaModFix amt="0"/>
              </a:blip>
              <a:stretch>
                <a:fillRect l="0" t="-284900" r="0" b="-284900"/>
              </a:stretch>
            </a:blipFill>
          </p:spPr>
        </p:sp>
        <p:sp>
          <p:nvSpPr>
            <p:cNvPr name="TextBox 88" id="88"/>
            <p:cNvSpPr txBox="true"/>
            <p:nvPr/>
          </p:nvSpPr>
          <p:spPr>
            <a:xfrm>
              <a:off x="0" y="-38100"/>
              <a:ext cx="21086064" cy="1264920"/>
            </a:xfrm>
            <a:prstGeom prst="rect">
              <a:avLst/>
            </a:prstGeom>
          </p:spPr>
          <p:txBody>
            <a:bodyPr anchor="ctr" rtlCol="false" tIns="0" lIns="0" bIns="0" rIns="0"/>
            <a:lstStyle/>
            <a:p>
              <a:pPr algn="l">
                <a:lnSpc>
                  <a:spcPts val="2430"/>
                </a:lnSpc>
              </a:pPr>
              <a:r>
                <a:rPr lang="en-US" sz="2025" b="true">
                  <a:solidFill>
                    <a:srgbClr val="0B5E6E"/>
                  </a:solidFill>
                  <a:latin typeface="Calibri (MS) Bold"/>
                  <a:ea typeface="Calibri (MS) Bold"/>
                  <a:cs typeface="Calibri (MS) Bold"/>
                  <a:sym typeface="Calibri (MS) Bold"/>
                </a:rPr>
                <a:t>Model dipakai untuk membandingkan arah dan besaran relatif antarskenario — bukan untuk meramalkan angka absolut pada tahun tertentu.</a:t>
              </a:r>
            </a:p>
          </p:txBody>
        </p:sp>
      </p:grpSp>
      <p:sp>
        <p:nvSpPr>
          <p:cNvPr name="TextBox 89" id="89"/>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72</a:t>
            </a:r>
          </a:p>
        </p:txBody>
      </p:sp>
      <p:sp>
        <p:nvSpPr>
          <p:cNvPr id="90"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5.1 · Kesimpulan</a:t>
            </a:r>
          </a:p>
          <a:p>
            <a:pPr algn="l">
              <a:lnSpc>
                <a:spcPct val="100000"/>
              </a:lnSpc>
            </a:pPr>
            <a:r>
              <a:rPr lang="en-US" sz="3500" b="true">
                <a:solidFill>
                  <a:srgbClr val="0B5E6E"/>
                </a:solidFill>
                <a:latin typeface="Calibri (MS) Bold"/>
                <a:ea typeface="Calibri (MS) Bold"/>
                <a:cs typeface="Calibri (MS) Bold"/>
                <a:sym typeface="Calibri (MS) Bold"/>
              </a:rPr>
              <a:t>Kesimpulan: tiga tujuan penelitian tercapai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Penutup</a:t>
              </a:r>
            </a:p>
          </p:txBody>
        </p:sp>
      </p:grpSp>
      <p:grpSp>
        <p:nvGrpSpPr>
          <p:cNvPr name="Group 52" id="52"/>
          <p:cNvGrpSpPr/>
          <p:nvPr/>
        </p:nvGrpSpPr>
        <p:grpSpPr>
          <a:xfrm rot="0">
            <a:off x="822960" y="2400300"/>
            <a:ext cx="4800600" cy="1851660"/>
            <a:chOff x="0" y="0"/>
            <a:chExt cx="6400800" cy="2468880"/>
          </a:xfrm>
        </p:grpSpPr>
        <p:sp>
          <p:nvSpPr>
            <p:cNvPr name="Freeform 53" id="53"/>
            <p:cNvSpPr/>
            <p:nvPr/>
          </p:nvSpPr>
          <p:spPr>
            <a:xfrm flipH="false" flipV="false" rot="0">
              <a:off x="0" y="0"/>
              <a:ext cx="6400800" cy="2468880"/>
            </a:xfrm>
            <a:custGeom>
              <a:avLst/>
              <a:gdLst/>
              <a:ahLst/>
              <a:cxnLst/>
              <a:rect r="r" b="b" t="t" l="l"/>
              <a:pathLst>
                <a:path h="2468880" w="6400800">
                  <a:moveTo>
                    <a:pt x="0" y="182880"/>
                  </a:moveTo>
                  <a:cubicBezTo>
                    <a:pt x="0" y="81915"/>
                    <a:pt x="81915" y="0"/>
                    <a:pt x="182880" y="0"/>
                  </a:cubicBezTo>
                  <a:lnTo>
                    <a:pt x="6217920" y="0"/>
                  </a:lnTo>
                  <a:cubicBezTo>
                    <a:pt x="6318885" y="0"/>
                    <a:pt x="6400800" y="81915"/>
                    <a:pt x="6400800" y="182880"/>
                  </a:cubicBezTo>
                  <a:lnTo>
                    <a:pt x="6400800" y="2286000"/>
                  </a:lnTo>
                  <a:cubicBezTo>
                    <a:pt x="6400800" y="2386965"/>
                    <a:pt x="6318885" y="2468880"/>
                    <a:pt x="6217920" y="2468880"/>
                  </a:cubicBezTo>
                  <a:lnTo>
                    <a:pt x="182880" y="2468880"/>
                  </a:lnTo>
                  <a:cubicBezTo>
                    <a:pt x="81915" y="2468880"/>
                    <a:pt x="0" y="2386965"/>
                    <a:pt x="0" y="2286000"/>
                  </a:cubicBezTo>
                  <a:close/>
                </a:path>
              </a:pathLst>
            </a:custGeom>
            <a:solidFill>
              <a:srgbClr val="0B5E6E"/>
            </a:solidFill>
          </p:spPr>
        </p:sp>
      </p:grpSp>
      <p:sp>
        <p:nvSpPr>
          <p:cNvPr name="TextBox 54" id="54"/>
          <p:cNvSpPr txBox="true"/>
          <p:nvPr/>
        </p:nvSpPr>
        <p:spPr>
          <a:xfrm rot="0">
            <a:off x="1165860" y="2598420"/>
            <a:ext cx="4114800" cy="487680"/>
          </a:xfrm>
          <a:prstGeom prst="rect">
            <a:avLst/>
          </a:prstGeom>
        </p:spPr>
        <p:txBody>
          <a:bodyPr anchor="t" rtlCol="false" tIns="0" lIns="0" bIns="0" rIns="0">
            <a:spAutoFit/>
          </a:bodyPr>
          <a:lstStyle/>
          <a:p>
            <a:pPr algn="l">
              <a:lnSpc>
                <a:spcPts val="2160"/>
              </a:lnSpc>
            </a:pPr>
            <a:r>
              <a:rPr lang="en-US" sz="1800" b="true">
                <a:solidFill>
                  <a:srgbClr val="FFD23B"/>
                </a:solidFill>
                <a:latin typeface="Calibri (MS) Bold"/>
                <a:ea typeface="Calibri (MS) Bold"/>
                <a:cs typeface="Calibri (MS) Bold"/>
                <a:sym typeface="Calibri (MS) Bold"/>
              </a:rPr>
              <a:t>Tujuan 1</a:t>
            </a:r>
          </a:p>
        </p:txBody>
      </p:sp>
      <p:sp>
        <p:nvSpPr>
          <p:cNvPr name="TextBox 55" id="55"/>
          <p:cNvSpPr txBox="true"/>
          <p:nvPr/>
        </p:nvSpPr>
        <p:spPr>
          <a:xfrm rot="0">
            <a:off x="1165860" y="3078480"/>
            <a:ext cx="4114800" cy="1036320"/>
          </a:xfrm>
          <a:prstGeom prst="rect">
            <a:avLst/>
          </a:prstGeom>
        </p:spPr>
        <p:txBody>
          <a:bodyPr anchor="t" rtlCol="false" tIns="0" lIns="0" bIns="0" rIns="0">
            <a:spAutoFit/>
          </a:bodyPr>
          <a:lstStyle/>
          <a:p>
            <a:pPr algn="l">
              <a:lnSpc>
                <a:spcPts val="2878"/>
              </a:lnSpc>
            </a:pPr>
            <a:r>
              <a:rPr lang="en-US" sz="2400" b="true">
                <a:solidFill>
                  <a:srgbClr val="FFFFFF"/>
                </a:solidFill>
                <a:latin typeface="Calibri (MS) Bold"/>
                <a:ea typeface="Calibri (MS) Bold"/>
                <a:cs typeface="Calibri (MS) Bold"/>
                <a:sym typeface="Calibri (MS) Bold"/>
              </a:rPr>
              <a:t>Variabel penyusun CLD</a:t>
            </a:r>
          </a:p>
        </p:txBody>
      </p:sp>
      <p:sp>
        <p:nvSpPr>
          <p:cNvPr name="AutoShape 56" id="56"/>
          <p:cNvSpPr/>
          <p:nvPr/>
        </p:nvSpPr>
        <p:spPr>
          <a:xfrm rot="154080">
            <a:off x="5647611" y="3295460"/>
            <a:ext cx="637689" cy="0"/>
          </a:xfrm>
          <a:prstGeom prst="line">
            <a:avLst/>
          </a:prstGeom>
          <a:ln cap="rnd" w="19050">
            <a:solidFill>
              <a:srgbClr val="39C0D3"/>
            </a:solidFill>
            <a:prstDash val="solid"/>
            <a:headEnd type="none" len="sm" w="sm"/>
            <a:tailEnd type="triangle" len="med" w="lg"/>
          </a:ln>
        </p:spPr>
      </p:sp>
      <p:grpSp>
        <p:nvGrpSpPr>
          <p:cNvPr name="Group 57" id="57"/>
          <p:cNvGrpSpPr/>
          <p:nvPr/>
        </p:nvGrpSpPr>
        <p:grpSpPr>
          <a:xfrm rot="0">
            <a:off x="6309360" y="2400300"/>
            <a:ext cx="11151108" cy="1851660"/>
            <a:chOff x="0" y="0"/>
            <a:chExt cx="14868144" cy="2468880"/>
          </a:xfrm>
        </p:grpSpPr>
        <p:sp>
          <p:nvSpPr>
            <p:cNvPr name="Freeform 58" id="58"/>
            <p:cNvSpPr/>
            <p:nvPr/>
          </p:nvSpPr>
          <p:spPr>
            <a:xfrm flipH="false" flipV="false" rot="0">
              <a:off x="0" y="0"/>
              <a:ext cx="14868144" cy="2468880"/>
            </a:xfrm>
            <a:custGeom>
              <a:avLst/>
              <a:gdLst/>
              <a:ahLst/>
              <a:cxnLst/>
              <a:rect r="r" b="b" t="t" l="l"/>
              <a:pathLst>
                <a:path h="2468880" w="14868144">
                  <a:moveTo>
                    <a:pt x="0" y="182880"/>
                  </a:moveTo>
                  <a:cubicBezTo>
                    <a:pt x="0" y="81915"/>
                    <a:pt x="81915" y="0"/>
                    <a:pt x="182880" y="0"/>
                  </a:cubicBezTo>
                  <a:lnTo>
                    <a:pt x="14685263" y="0"/>
                  </a:lnTo>
                  <a:cubicBezTo>
                    <a:pt x="14786228" y="0"/>
                    <a:pt x="14868144" y="81915"/>
                    <a:pt x="14868144" y="182880"/>
                  </a:cubicBezTo>
                  <a:lnTo>
                    <a:pt x="14868144" y="2286000"/>
                  </a:lnTo>
                  <a:cubicBezTo>
                    <a:pt x="14868144" y="2386965"/>
                    <a:pt x="14786228" y="2468880"/>
                    <a:pt x="14685263" y="2468880"/>
                  </a:cubicBezTo>
                  <a:lnTo>
                    <a:pt x="182880" y="2468880"/>
                  </a:lnTo>
                  <a:cubicBezTo>
                    <a:pt x="81915" y="2468880"/>
                    <a:pt x="0" y="2386965"/>
                    <a:pt x="0" y="2286000"/>
                  </a:cubicBezTo>
                  <a:close/>
                </a:path>
              </a:pathLst>
            </a:custGeom>
            <a:solidFill>
              <a:srgbClr val="EAF8FA"/>
            </a:solidFill>
          </p:spPr>
        </p:sp>
      </p:grpSp>
      <p:grpSp>
        <p:nvGrpSpPr>
          <p:cNvPr name="Group 59" id="59"/>
          <p:cNvGrpSpPr/>
          <p:nvPr/>
        </p:nvGrpSpPr>
        <p:grpSpPr>
          <a:xfrm rot="0">
            <a:off x="6720840" y="2400300"/>
            <a:ext cx="10355580" cy="1851660"/>
            <a:chOff x="0" y="0"/>
            <a:chExt cx="13807440" cy="2468880"/>
          </a:xfrm>
        </p:grpSpPr>
        <p:sp>
          <p:nvSpPr>
            <p:cNvPr name="Freeform 60" id="60"/>
            <p:cNvSpPr/>
            <p:nvPr/>
          </p:nvSpPr>
          <p:spPr>
            <a:xfrm flipH="false" flipV="false" rot="0">
              <a:off x="0" y="0"/>
              <a:ext cx="13807439" cy="2468880"/>
            </a:xfrm>
            <a:custGeom>
              <a:avLst/>
              <a:gdLst/>
              <a:ahLst/>
              <a:cxnLst/>
              <a:rect r="r" b="b" t="t" l="l"/>
              <a:pathLst>
                <a:path h="2468880" w="13807439">
                  <a:moveTo>
                    <a:pt x="0" y="0"/>
                  </a:moveTo>
                  <a:lnTo>
                    <a:pt x="13807439" y="0"/>
                  </a:lnTo>
                  <a:lnTo>
                    <a:pt x="13807439" y="2468880"/>
                  </a:lnTo>
                  <a:lnTo>
                    <a:pt x="0" y="2468880"/>
                  </a:lnTo>
                  <a:close/>
                </a:path>
              </a:pathLst>
            </a:custGeom>
            <a:blipFill>
              <a:blip r:embed="rId4">
                <a:alphaModFix amt="0"/>
              </a:blip>
              <a:stretch>
                <a:fillRect l="0" t="-58896" r="0" b="-58896"/>
              </a:stretch>
            </a:blipFill>
          </p:spPr>
        </p:sp>
      </p:grpSp>
      <p:grpSp>
        <p:nvGrpSpPr>
          <p:cNvPr name="Group 61" id="61"/>
          <p:cNvGrpSpPr/>
          <p:nvPr/>
        </p:nvGrpSpPr>
        <p:grpSpPr>
          <a:xfrm rot="0">
            <a:off x="6720840" y="2371725"/>
            <a:ext cx="10355580" cy="1880235"/>
            <a:chOff x="0" y="0"/>
            <a:chExt cx="13807440" cy="2506980"/>
          </a:xfrm>
        </p:grpSpPr>
        <p:sp>
          <p:nvSpPr>
            <p:cNvPr name="Freeform 62" id="62"/>
            <p:cNvSpPr/>
            <p:nvPr/>
          </p:nvSpPr>
          <p:spPr>
            <a:xfrm flipH="false" flipV="false" rot="0">
              <a:off x="0" y="0"/>
              <a:ext cx="13807439" cy="2506980"/>
            </a:xfrm>
            <a:custGeom>
              <a:avLst/>
              <a:gdLst/>
              <a:ahLst/>
              <a:cxnLst/>
              <a:rect r="r" b="b" t="t" l="l"/>
              <a:pathLst>
                <a:path h="2506980" w="13807439">
                  <a:moveTo>
                    <a:pt x="0" y="0"/>
                  </a:moveTo>
                  <a:lnTo>
                    <a:pt x="13807439" y="0"/>
                  </a:lnTo>
                  <a:lnTo>
                    <a:pt x="13807439" y="2506980"/>
                  </a:lnTo>
                  <a:lnTo>
                    <a:pt x="0" y="2506980"/>
                  </a:lnTo>
                  <a:close/>
                </a:path>
              </a:pathLst>
            </a:custGeom>
            <a:blipFill>
              <a:blip r:embed="rId5">
                <a:alphaModFix amt="0"/>
              </a:blip>
              <a:stretch>
                <a:fillRect l="0" t="-57315" r="0" b="-57315"/>
              </a:stretch>
            </a:blipFill>
          </p:spPr>
        </p:sp>
        <p:sp>
          <p:nvSpPr>
            <p:cNvPr name="TextBox 63" id="63"/>
            <p:cNvSpPr txBox="true"/>
            <p:nvPr/>
          </p:nvSpPr>
          <p:spPr>
            <a:xfrm>
              <a:off x="0" y="-38100"/>
              <a:ext cx="13807440" cy="2545080"/>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Teridentifikasi dan dirumuskan: 5 stock, 10 flow, 11 auxiliary, 35 parameter, dengan enam loop umpan balik — teradaptasi dari Mai &amp; Smith (2018) ke ketersediaan data resmi Indonesia.</a:t>
              </a:r>
            </a:p>
          </p:txBody>
        </p:sp>
      </p:grpSp>
      <p:grpSp>
        <p:nvGrpSpPr>
          <p:cNvPr name="Group 64" id="64"/>
          <p:cNvGrpSpPr/>
          <p:nvPr/>
        </p:nvGrpSpPr>
        <p:grpSpPr>
          <a:xfrm rot="0">
            <a:off x="822960" y="4457700"/>
            <a:ext cx="4800600" cy="1851660"/>
            <a:chOff x="0" y="0"/>
            <a:chExt cx="6400800" cy="2468880"/>
          </a:xfrm>
        </p:grpSpPr>
        <p:sp>
          <p:nvSpPr>
            <p:cNvPr name="Freeform 65" id="65"/>
            <p:cNvSpPr/>
            <p:nvPr/>
          </p:nvSpPr>
          <p:spPr>
            <a:xfrm flipH="false" flipV="false" rot="0">
              <a:off x="0" y="0"/>
              <a:ext cx="6400800" cy="2468880"/>
            </a:xfrm>
            <a:custGeom>
              <a:avLst/>
              <a:gdLst/>
              <a:ahLst/>
              <a:cxnLst/>
              <a:rect r="r" b="b" t="t" l="l"/>
              <a:pathLst>
                <a:path h="2468880" w="6400800">
                  <a:moveTo>
                    <a:pt x="0" y="182880"/>
                  </a:moveTo>
                  <a:cubicBezTo>
                    <a:pt x="0" y="81915"/>
                    <a:pt x="81915" y="0"/>
                    <a:pt x="182880" y="0"/>
                  </a:cubicBezTo>
                  <a:lnTo>
                    <a:pt x="6217920" y="0"/>
                  </a:lnTo>
                  <a:cubicBezTo>
                    <a:pt x="6318885" y="0"/>
                    <a:pt x="6400800" y="81915"/>
                    <a:pt x="6400800" y="182880"/>
                  </a:cubicBezTo>
                  <a:lnTo>
                    <a:pt x="6400800" y="2286000"/>
                  </a:lnTo>
                  <a:cubicBezTo>
                    <a:pt x="6400800" y="2386965"/>
                    <a:pt x="6318885" y="2468880"/>
                    <a:pt x="6217920" y="2468880"/>
                  </a:cubicBezTo>
                  <a:lnTo>
                    <a:pt x="182880" y="2468880"/>
                  </a:lnTo>
                  <a:cubicBezTo>
                    <a:pt x="81915" y="2468880"/>
                    <a:pt x="0" y="2386965"/>
                    <a:pt x="0" y="2286000"/>
                  </a:cubicBezTo>
                  <a:close/>
                </a:path>
              </a:pathLst>
            </a:custGeom>
            <a:solidFill>
              <a:srgbClr val="0B5E6E"/>
            </a:solidFill>
          </p:spPr>
        </p:sp>
      </p:grpSp>
      <p:sp>
        <p:nvSpPr>
          <p:cNvPr name="TextBox 66" id="66"/>
          <p:cNvSpPr txBox="true"/>
          <p:nvPr/>
        </p:nvSpPr>
        <p:spPr>
          <a:xfrm rot="0">
            <a:off x="1165860" y="4655820"/>
            <a:ext cx="4114800" cy="487680"/>
          </a:xfrm>
          <a:prstGeom prst="rect">
            <a:avLst/>
          </a:prstGeom>
        </p:spPr>
        <p:txBody>
          <a:bodyPr anchor="t" rtlCol="false" tIns="0" lIns="0" bIns="0" rIns="0">
            <a:spAutoFit/>
          </a:bodyPr>
          <a:lstStyle/>
          <a:p>
            <a:pPr algn="l">
              <a:lnSpc>
                <a:spcPts val="2160"/>
              </a:lnSpc>
            </a:pPr>
            <a:r>
              <a:rPr lang="en-US" sz="1800" b="true">
                <a:solidFill>
                  <a:srgbClr val="FFD23B"/>
                </a:solidFill>
                <a:latin typeface="Calibri (MS) Bold"/>
                <a:ea typeface="Calibri (MS) Bold"/>
                <a:cs typeface="Calibri (MS) Bold"/>
                <a:sym typeface="Calibri (MS) Bold"/>
              </a:rPr>
              <a:t>Tujuan 2</a:t>
            </a:r>
          </a:p>
        </p:txBody>
      </p:sp>
      <p:sp>
        <p:nvSpPr>
          <p:cNvPr name="TextBox 67" id="67"/>
          <p:cNvSpPr txBox="true"/>
          <p:nvPr/>
        </p:nvSpPr>
        <p:spPr>
          <a:xfrm rot="0">
            <a:off x="1165860" y="5135880"/>
            <a:ext cx="4114800" cy="1036320"/>
          </a:xfrm>
          <a:prstGeom prst="rect">
            <a:avLst/>
          </a:prstGeom>
        </p:spPr>
        <p:txBody>
          <a:bodyPr anchor="t" rtlCol="false" tIns="0" lIns="0" bIns="0" rIns="0">
            <a:spAutoFit/>
          </a:bodyPr>
          <a:lstStyle/>
          <a:p>
            <a:pPr algn="l">
              <a:lnSpc>
                <a:spcPts val="2878"/>
              </a:lnSpc>
            </a:pPr>
            <a:r>
              <a:rPr lang="en-US" sz="2400" b="true">
                <a:solidFill>
                  <a:srgbClr val="FFFFFF"/>
                </a:solidFill>
                <a:latin typeface="Calibri (MS) Bold"/>
                <a:ea typeface="Calibri (MS) Bold"/>
                <a:cs typeface="Calibri (MS) Bold"/>
                <a:sym typeface="Calibri (MS) Bold"/>
              </a:rPr>
              <a:t>Model tervalidasi dan simulasi skenario</a:t>
            </a:r>
          </a:p>
        </p:txBody>
      </p:sp>
      <p:sp>
        <p:nvSpPr>
          <p:cNvPr name="AutoShape 68" id="68"/>
          <p:cNvSpPr/>
          <p:nvPr/>
        </p:nvSpPr>
        <p:spPr>
          <a:xfrm rot="154080">
            <a:off x="5647611" y="5352860"/>
            <a:ext cx="637689" cy="0"/>
          </a:xfrm>
          <a:prstGeom prst="line">
            <a:avLst/>
          </a:prstGeom>
          <a:ln cap="rnd" w="19050">
            <a:solidFill>
              <a:srgbClr val="39C0D3"/>
            </a:solidFill>
            <a:prstDash val="solid"/>
            <a:headEnd type="none" len="sm" w="sm"/>
            <a:tailEnd type="triangle" len="med" w="lg"/>
          </a:ln>
        </p:spPr>
      </p:sp>
      <p:grpSp>
        <p:nvGrpSpPr>
          <p:cNvPr name="Group 69" id="69"/>
          <p:cNvGrpSpPr/>
          <p:nvPr/>
        </p:nvGrpSpPr>
        <p:grpSpPr>
          <a:xfrm rot="0">
            <a:off x="6309360" y="4457700"/>
            <a:ext cx="11151108" cy="1851660"/>
            <a:chOff x="0" y="0"/>
            <a:chExt cx="14868144" cy="2468880"/>
          </a:xfrm>
        </p:grpSpPr>
        <p:sp>
          <p:nvSpPr>
            <p:cNvPr name="Freeform 70" id="70"/>
            <p:cNvSpPr/>
            <p:nvPr/>
          </p:nvSpPr>
          <p:spPr>
            <a:xfrm flipH="false" flipV="false" rot="0">
              <a:off x="0" y="0"/>
              <a:ext cx="14868144" cy="2468880"/>
            </a:xfrm>
            <a:custGeom>
              <a:avLst/>
              <a:gdLst/>
              <a:ahLst/>
              <a:cxnLst/>
              <a:rect r="r" b="b" t="t" l="l"/>
              <a:pathLst>
                <a:path h="2468880" w="14868144">
                  <a:moveTo>
                    <a:pt x="0" y="182880"/>
                  </a:moveTo>
                  <a:cubicBezTo>
                    <a:pt x="0" y="81915"/>
                    <a:pt x="81915" y="0"/>
                    <a:pt x="182880" y="0"/>
                  </a:cubicBezTo>
                  <a:lnTo>
                    <a:pt x="14685263" y="0"/>
                  </a:lnTo>
                  <a:cubicBezTo>
                    <a:pt x="14786228" y="0"/>
                    <a:pt x="14868144" y="81915"/>
                    <a:pt x="14868144" y="182880"/>
                  </a:cubicBezTo>
                  <a:lnTo>
                    <a:pt x="14868144" y="2286000"/>
                  </a:lnTo>
                  <a:cubicBezTo>
                    <a:pt x="14868144" y="2386965"/>
                    <a:pt x="14786228" y="2468880"/>
                    <a:pt x="14685263" y="2468880"/>
                  </a:cubicBezTo>
                  <a:lnTo>
                    <a:pt x="182880" y="2468880"/>
                  </a:lnTo>
                  <a:cubicBezTo>
                    <a:pt x="81915" y="2468880"/>
                    <a:pt x="0" y="2386965"/>
                    <a:pt x="0" y="2286000"/>
                  </a:cubicBezTo>
                  <a:close/>
                </a:path>
              </a:pathLst>
            </a:custGeom>
            <a:solidFill>
              <a:srgbClr val="EAF8FA"/>
            </a:solidFill>
          </p:spPr>
        </p:sp>
      </p:grpSp>
      <p:grpSp>
        <p:nvGrpSpPr>
          <p:cNvPr name="Group 71" id="71"/>
          <p:cNvGrpSpPr/>
          <p:nvPr/>
        </p:nvGrpSpPr>
        <p:grpSpPr>
          <a:xfrm rot="0">
            <a:off x="6720840" y="4457700"/>
            <a:ext cx="10355580" cy="1851660"/>
            <a:chOff x="0" y="0"/>
            <a:chExt cx="13807440" cy="2468880"/>
          </a:xfrm>
        </p:grpSpPr>
        <p:sp>
          <p:nvSpPr>
            <p:cNvPr name="Freeform 72" id="72"/>
            <p:cNvSpPr/>
            <p:nvPr/>
          </p:nvSpPr>
          <p:spPr>
            <a:xfrm flipH="false" flipV="false" rot="0">
              <a:off x="0" y="0"/>
              <a:ext cx="13807439" cy="2468880"/>
            </a:xfrm>
            <a:custGeom>
              <a:avLst/>
              <a:gdLst/>
              <a:ahLst/>
              <a:cxnLst/>
              <a:rect r="r" b="b" t="t" l="l"/>
              <a:pathLst>
                <a:path h="2468880" w="13807439">
                  <a:moveTo>
                    <a:pt x="0" y="0"/>
                  </a:moveTo>
                  <a:lnTo>
                    <a:pt x="13807439" y="0"/>
                  </a:lnTo>
                  <a:lnTo>
                    <a:pt x="13807439" y="2468880"/>
                  </a:lnTo>
                  <a:lnTo>
                    <a:pt x="0" y="2468880"/>
                  </a:lnTo>
                  <a:close/>
                </a:path>
              </a:pathLst>
            </a:custGeom>
            <a:blipFill>
              <a:blip r:embed="rId4">
                <a:alphaModFix amt="0"/>
              </a:blip>
              <a:stretch>
                <a:fillRect l="0" t="-58896" r="0" b="-58896"/>
              </a:stretch>
            </a:blipFill>
          </p:spPr>
        </p:sp>
      </p:grpSp>
      <p:grpSp>
        <p:nvGrpSpPr>
          <p:cNvPr name="Group 73" id="73"/>
          <p:cNvGrpSpPr/>
          <p:nvPr/>
        </p:nvGrpSpPr>
        <p:grpSpPr>
          <a:xfrm rot="0">
            <a:off x="6720840" y="4429125"/>
            <a:ext cx="10355580" cy="1880235"/>
            <a:chOff x="0" y="0"/>
            <a:chExt cx="13807440" cy="2506980"/>
          </a:xfrm>
        </p:grpSpPr>
        <p:sp>
          <p:nvSpPr>
            <p:cNvPr name="Freeform 74" id="74"/>
            <p:cNvSpPr/>
            <p:nvPr/>
          </p:nvSpPr>
          <p:spPr>
            <a:xfrm flipH="false" flipV="false" rot="0">
              <a:off x="0" y="0"/>
              <a:ext cx="13807439" cy="2506980"/>
            </a:xfrm>
            <a:custGeom>
              <a:avLst/>
              <a:gdLst/>
              <a:ahLst/>
              <a:cxnLst/>
              <a:rect r="r" b="b" t="t" l="l"/>
              <a:pathLst>
                <a:path h="2506980" w="13807439">
                  <a:moveTo>
                    <a:pt x="0" y="0"/>
                  </a:moveTo>
                  <a:lnTo>
                    <a:pt x="13807439" y="0"/>
                  </a:lnTo>
                  <a:lnTo>
                    <a:pt x="13807439" y="2506980"/>
                  </a:lnTo>
                  <a:lnTo>
                    <a:pt x="0" y="2506980"/>
                  </a:lnTo>
                  <a:close/>
                </a:path>
              </a:pathLst>
            </a:custGeom>
            <a:blipFill>
              <a:blip r:embed="rId5">
                <a:alphaModFix amt="0"/>
              </a:blip>
              <a:stretch>
                <a:fillRect l="0" t="-57315" r="0" b="-57315"/>
              </a:stretch>
            </a:blipFill>
          </p:spPr>
        </p:sp>
        <p:sp>
          <p:nvSpPr>
            <p:cNvPr name="TextBox 75" id="75"/>
            <p:cNvSpPr txBox="true"/>
            <p:nvPr/>
          </p:nvSpPr>
          <p:spPr>
            <a:xfrm>
              <a:off x="0" y="-38100"/>
              <a:ext cx="13807440" cy="2545080"/>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Valid secara struktural dan memadai pada tingkat subsistem; kalibrasi tidak mengubah parameter apa pun. Tiga skenario: tidak ada yang unggul di semua dimensi, dan pola ini kokoh terhadap ketidakpastian parameter terbesar.</a:t>
              </a:r>
            </a:p>
          </p:txBody>
        </p:sp>
      </p:grpSp>
      <p:grpSp>
        <p:nvGrpSpPr>
          <p:cNvPr name="Group 76" id="76"/>
          <p:cNvGrpSpPr/>
          <p:nvPr/>
        </p:nvGrpSpPr>
        <p:grpSpPr>
          <a:xfrm rot="0">
            <a:off x="822960" y="6515100"/>
            <a:ext cx="4800600" cy="1851660"/>
            <a:chOff x="0" y="0"/>
            <a:chExt cx="6400800" cy="2468880"/>
          </a:xfrm>
        </p:grpSpPr>
        <p:sp>
          <p:nvSpPr>
            <p:cNvPr name="Freeform 77" id="77"/>
            <p:cNvSpPr/>
            <p:nvPr/>
          </p:nvSpPr>
          <p:spPr>
            <a:xfrm flipH="false" flipV="false" rot="0">
              <a:off x="0" y="0"/>
              <a:ext cx="6400800" cy="2468880"/>
            </a:xfrm>
            <a:custGeom>
              <a:avLst/>
              <a:gdLst/>
              <a:ahLst/>
              <a:cxnLst/>
              <a:rect r="r" b="b" t="t" l="l"/>
              <a:pathLst>
                <a:path h="2468880" w="6400800">
                  <a:moveTo>
                    <a:pt x="0" y="182880"/>
                  </a:moveTo>
                  <a:cubicBezTo>
                    <a:pt x="0" y="81915"/>
                    <a:pt x="81915" y="0"/>
                    <a:pt x="182880" y="0"/>
                  </a:cubicBezTo>
                  <a:lnTo>
                    <a:pt x="6217920" y="0"/>
                  </a:lnTo>
                  <a:cubicBezTo>
                    <a:pt x="6318885" y="0"/>
                    <a:pt x="6400800" y="81915"/>
                    <a:pt x="6400800" y="182880"/>
                  </a:cubicBezTo>
                  <a:lnTo>
                    <a:pt x="6400800" y="2286000"/>
                  </a:lnTo>
                  <a:cubicBezTo>
                    <a:pt x="6400800" y="2386965"/>
                    <a:pt x="6318885" y="2468880"/>
                    <a:pt x="6217920" y="2468880"/>
                  </a:cubicBezTo>
                  <a:lnTo>
                    <a:pt x="182880" y="2468880"/>
                  </a:lnTo>
                  <a:cubicBezTo>
                    <a:pt x="81915" y="2468880"/>
                    <a:pt x="0" y="2386965"/>
                    <a:pt x="0" y="2286000"/>
                  </a:cubicBezTo>
                  <a:close/>
                </a:path>
              </a:pathLst>
            </a:custGeom>
            <a:solidFill>
              <a:srgbClr val="0B5E6E"/>
            </a:solidFill>
          </p:spPr>
        </p:sp>
      </p:grpSp>
      <p:sp>
        <p:nvSpPr>
          <p:cNvPr name="TextBox 78" id="78"/>
          <p:cNvSpPr txBox="true"/>
          <p:nvPr/>
        </p:nvSpPr>
        <p:spPr>
          <a:xfrm rot="0">
            <a:off x="1165860" y="6713220"/>
            <a:ext cx="4114800" cy="487680"/>
          </a:xfrm>
          <a:prstGeom prst="rect">
            <a:avLst/>
          </a:prstGeom>
        </p:spPr>
        <p:txBody>
          <a:bodyPr anchor="t" rtlCol="false" tIns="0" lIns="0" bIns="0" rIns="0">
            <a:spAutoFit/>
          </a:bodyPr>
          <a:lstStyle/>
          <a:p>
            <a:pPr algn="l">
              <a:lnSpc>
                <a:spcPts val="2160"/>
              </a:lnSpc>
            </a:pPr>
            <a:r>
              <a:rPr lang="en-US" sz="1800" b="true">
                <a:solidFill>
                  <a:srgbClr val="FFD23B"/>
                </a:solidFill>
                <a:latin typeface="Calibri (MS) Bold"/>
                <a:ea typeface="Calibri (MS) Bold"/>
                <a:cs typeface="Calibri (MS) Bold"/>
                <a:sym typeface="Calibri (MS) Bold"/>
              </a:rPr>
              <a:t>Tujuan 3</a:t>
            </a:r>
          </a:p>
        </p:txBody>
      </p:sp>
      <p:sp>
        <p:nvSpPr>
          <p:cNvPr name="TextBox 79" id="79"/>
          <p:cNvSpPr txBox="true"/>
          <p:nvPr/>
        </p:nvSpPr>
        <p:spPr>
          <a:xfrm rot="0">
            <a:off x="1165860" y="7193280"/>
            <a:ext cx="4114800" cy="1036320"/>
          </a:xfrm>
          <a:prstGeom prst="rect">
            <a:avLst/>
          </a:prstGeom>
        </p:spPr>
        <p:txBody>
          <a:bodyPr anchor="t" rtlCol="false" tIns="0" lIns="0" bIns="0" rIns="0">
            <a:spAutoFit/>
          </a:bodyPr>
          <a:lstStyle/>
          <a:p>
            <a:pPr algn="l">
              <a:lnSpc>
                <a:spcPts val="2878"/>
              </a:lnSpc>
            </a:pPr>
            <a:r>
              <a:rPr lang="en-US" sz="2400" b="true">
                <a:solidFill>
                  <a:srgbClr val="FFFFFF"/>
                </a:solidFill>
                <a:latin typeface="Calibri (MS) Bold"/>
                <a:ea typeface="Calibri (MS) Bold"/>
                <a:cs typeface="Calibri (MS) Bold"/>
                <a:sym typeface="Calibri (MS) Bold"/>
              </a:rPr>
              <a:t>Aplikasi web</a:t>
            </a:r>
          </a:p>
        </p:txBody>
      </p:sp>
      <p:sp>
        <p:nvSpPr>
          <p:cNvPr name="AutoShape 80" id="80"/>
          <p:cNvSpPr/>
          <p:nvPr/>
        </p:nvSpPr>
        <p:spPr>
          <a:xfrm rot="154080">
            <a:off x="5647611" y="7410260"/>
            <a:ext cx="637689" cy="0"/>
          </a:xfrm>
          <a:prstGeom prst="line">
            <a:avLst/>
          </a:prstGeom>
          <a:ln cap="rnd" w="19050">
            <a:solidFill>
              <a:srgbClr val="39C0D3"/>
            </a:solidFill>
            <a:prstDash val="solid"/>
            <a:headEnd type="none" len="sm" w="sm"/>
            <a:tailEnd type="triangle" len="med" w="lg"/>
          </a:ln>
        </p:spPr>
      </p:sp>
      <p:grpSp>
        <p:nvGrpSpPr>
          <p:cNvPr name="Group 81" id="81"/>
          <p:cNvGrpSpPr/>
          <p:nvPr/>
        </p:nvGrpSpPr>
        <p:grpSpPr>
          <a:xfrm rot="0">
            <a:off x="6309360" y="6515100"/>
            <a:ext cx="11151108" cy="1851660"/>
            <a:chOff x="0" y="0"/>
            <a:chExt cx="14868144" cy="2468880"/>
          </a:xfrm>
        </p:grpSpPr>
        <p:sp>
          <p:nvSpPr>
            <p:cNvPr name="Freeform 82" id="82"/>
            <p:cNvSpPr/>
            <p:nvPr/>
          </p:nvSpPr>
          <p:spPr>
            <a:xfrm flipH="false" flipV="false" rot="0">
              <a:off x="0" y="0"/>
              <a:ext cx="14868144" cy="2468880"/>
            </a:xfrm>
            <a:custGeom>
              <a:avLst/>
              <a:gdLst/>
              <a:ahLst/>
              <a:cxnLst/>
              <a:rect r="r" b="b" t="t" l="l"/>
              <a:pathLst>
                <a:path h="2468880" w="14868144">
                  <a:moveTo>
                    <a:pt x="0" y="182880"/>
                  </a:moveTo>
                  <a:cubicBezTo>
                    <a:pt x="0" y="81915"/>
                    <a:pt x="81915" y="0"/>
                    <a:pt x="182880" y="0"/>
                  </a:cubicBezTo>
                  <a:lnTo>
                    <a:pt x="14685263" y="0"/>
                  </a:lnTo>
                  <a:cubicBezTo>
                    <a:pt x="14786228" y="0"/>
                    <a:pt x="14868144" y="81915"/>
                    <a:pt x="14868144" y="182880"/>
                  </a:cubicBezTo>
                  <a:lnTo>
                    <a:pt x="14868144" y="2286000"/>
                  </a:lnTo>
                  <a:cubicBezTo>
                    <a:pt x="14868144" y="2386965"/>
                    <a:pt x="14786228" y="2468880"/>
                    <a:pt x="14685263" y="2468880"/>
                  </a:cubicBezTo>
                  <a:lnTo>
                    <a:pt x="182880" y="2468880"/>
                  </a:lnTo>
                  <a:cubicBezTo>
                    <a:pt x="81915" y="2468880"/>
                    <a:pt x="0" y="2386965"/>
                    <a:pt x="0" y="2286000"/>
                  </a:cubicBezTo>
                  <a:close/>
                </a:path>
              </a:pathLst>
            </a:custGeom>
            <a:solidFill>
              <a:srgbClr val="EAF8FA"/>
            </a:solidFill>
          </p:spPr>
        </p:sp>
      </p:grpSp>
      <p:grpSp>
        <p:nvGrpSpPr>
          <p:cNvPr name="Group 83" id="83"/>
          <p:cNvGrpSpPr/>
          <p:nvPr/>
        </p:nvGrpSpPr>
        <p:grpSpPr>
          <a:xfrm rot="0">
            <a:off x="6720840" y="6515100"/>
            <a:ext cx="10355580" cy="1851660"/>
            <a:chOff x="0" y="0"/>
            <a:chExt cx="13807440" cy="2468880"/>
          </a:xfrm>
        </p:grpSpPr>
        <p:sp>
          <p:nvSpPr>
            <p:cNvPr name="Freeform 84" id="84"/>
            <p:cNvSpPr/>
            <p:nvPr/>
          </p:nvSpPr>
          <p:spPr>
            <a:xfrm flipH="false" flipV="false" rot="0">
              <a:off x="0" y="0"/>
              <a:ext cx="13807439" cy="2468880"/>
            </a:xfrm>
            <a:custGeom>
              <a:avLst/>
              <a:gdLst/>
              <a:ahLst/>
              <a:cxnLst/>
              <a:rect r="r" b="b" t="t" l="l"/>
              <a:pathLst>
                <a:path h="2468880" w="13807439">
                  <a:moveTo>
                    <a:pt x="0" y="0"/>
                  </a:moveTo>
                  <a:lnTo>
                    <a:pt x="13807439" y="0"/>
                  </a:lnTo>
                  <a:lnTo>
                    <a:pt x="13807439" y="2468880"/>
                  </a:lnTo>
                  <a:lnTo>
                    <a:pt x="0" y="2468880"/>
                  </a:lnTo>
                  <a:close/>
                </a:path>
              </a:pathLst>
            </a:custGeom>
            <a:blipFill>
              <a:blip r:embed="rId4">
                <a:alphaModFix amt="0"/>
              </a:blip>
              <a:stretch>
                <a:fillRect l="0" t="-58896" r="0" b="-58896"/>
              </a:stretch>
            </a:blipFill>
          </p:spPr>
        </p:sp>
      </p:grpSp>
      <p:grpSp>
        <p:nvGrpSpPr>
          <p:cNvPr name="Group 85" id="85"/>
          <p:cNvGrpSpPr/>
          <p:nvPr/>
        </p:nvGrpSpPr>
        <p:grpSpPr>
          <a:xfrm rot="0">
            <a:off x="6720840" y="6486525"/>
            <a:ext cx="10355580" cy="1880235"/>
            <a:chOff x="0" y="0"/>
            <a:chExt cx="13807440" cy="2506980"/>
          </a:xfrm>
        </p:grpSpPr>
        <p:sp>
          <p:nvSpPr>
            <p:cNvPr name="Freeform 86" id="86"/>
            <p:cNvSpPr/>
            <p:nvPr/>
          </p:nvSpPr>
          <p:spPr>
            <a:xfrm flipH="false" flipV="false" rot="0">
              <a:off x="0" y="0"/>
              <a:ext cx="13807439" cy="2506980"/>
            </a:xfrm>
            <a:custGeom>
              <a:avLst/>
              <a:gdLst/>
              <a:ahLst/>
              <a:cxnLst/>
              <a:rect r="r" b="b" t="t" l="l"/>
              <a:pathLst>
                <a:path h="2506980" w="13807439">
                  <a:moveTo>
                    <a:pt x="0" y="0"/>
                  </a:moveTo>
                  <a:lnTo>
                    <a:pt x="13807439" y="0"/>
                  </a:lnTo>
                  <a:lnTo>
                    <a:pt x="13807439" y="2506980"/>
                  </a:lnTo>
                  <a:lnTo>
                    <a:pt x="0" y="2506980"/>
                  </a:lnTo>
                  <a:close/>
                </a:path>
              </a:pathLst>
            </a:custGeom>
            <a:blipFill>
              <a:blip r:embed="rId5">
                <a:alphaModFix amt="0"/>
              </a:blip>
              <a:stretch>
                <a:fillRect l="0" t="-57315" r="0" b="-57315"/>
              </a:stretch>
            </a:blipFill>
          </p:spPr>
        </p:sp>
        <p:sp>
          <p:nvSpPr>
            <p:cNvPr name="TextBox 87" id="87"/>
            <p:cNvSpPr txBox="true"/>
            <p:nvPr/>
          </p:nvSpPr>
          <p:spPr>
            <a:xfrm>
              <a:off x="0" y="-38100"/>
              <a:ext cx="13807440" cy="2545080"/>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Lulus pengujian fungsional pada seluruh fungsi utama (9/9) dengan skor SUS rata-rata 88,50.</a:t>
              </a:r>
            </a:p>
          </p:txBody>
        </p:sp>
      </p:grpSp>
      <p:grpSp>
        <p:nvGrpSpPr>
          <p:cNvPr name="Group 88" id="88"/>
          <p:cNvGrpSpPr/>
          <p:nvPr/>
        </p:nvGrpSpPr>
        <p:grpSpPr>
          <a:xfrm rot="0">
            <a:off x="822960" y="8641080"/>
            <a:ext cx="16637508" cy="685800"/>
            <a:chOff x="0" y="0"/>
            <a:chExt cx="22183344" cy="914400"/>
          </a:xfrm>
        </p:grpSpPr>
        <p:sp>
          <p:nvSpPr>
            <p:cNvPr name="Freeform 89" id="89"/>
            <p:cNvSpPr/>
            <p:nvPr/>
          </p:nvSpPr>
          <p:spPr>
            <a:xfrm flipH="false" flipV="false" rot="0">
              <a:off x="0" y="0"/>
              <a:ext cx="22183344" cy="914400"/>
            </a:xfrm>
            <a:custGeom>
              <a:avLst/>
              <a:gdLst/>
              <a:ahLst/>
              <a:cxnLst/>
              <a:rect r="r" b="b" t="t" l="l"/>
              <a:pathLst>
                <a:path h="914400" w="22183344">
                  <a:moveTo>
                    <a:pt x="0" y="182880"/>
                  </a:moveTo>
                  <a:cubicBezTo>
                    <a:pt x="0" y="81915"/>
                    <a:pt x="81915" y="0"/>
                    <a:pt x="182880" y="0"/>
                  </a:cubicBezTo>
                  <a:lnTo>
                    <a:pt x="22000463" y="0"/>
                  </a:lnTo>
                  <a:cubicBezTo>
                    <a:pt x="22101428" y="0"/>
                    <a:pt x="22183344" y="81915"/>
                    <a:pt x="22183344" y="182880"/>
                  </a:cubicBezTo>
                  <a:lnTo>
                    <a:pt x="22183344" y="731520"/>
                  </a:lnTo>
                  <a:cubicBezTo>
                    <a:pt x="22183344" y="832485"/>
                    <a:pt x="22101428" y="914400"/>
                    <a:pt x="22000463" y="914400"/>
                  </a:cubicBezTo>
                  <a:lnTo>
                    <a:pt x="182880" y="914400"/>
                  </a:lnTo>
                  <a:cubicBezTo>
                    <a:pt x="81915" y="914400"/>
                    <a:pt x="0" y="832485"/>
                    <a:pt x="0" y="731520"/>
                  </a:cubicBezTo>
                  <a:close/>
                </a:path>
              </a:pathLst>
            </a:custGeom>
            <a:solidFill>
              <a:srgbClr val="FFF1BF"/>
            </a:solidFill>
          </p:spPr>
        </p:sp>
      </p:grpSp>
      <p:grpSp>
        <p:nvGrpSpPr>
          <p:cNvPr name="Group 90" id="90"/>
          <p:cNvGrpSpPr/>
          <p:nvPr/>
        </p:nvGrpSpPr>
        <p:grpSpPr>
          <a:xfrm rot="0">
            <a:off x="1234440" y="8641080"/>
            <a:ext cx="15814548" cy="685800"/>
            <a:chOff x="0" y="0"/>
            <a:chExt cx="21086064" cy="914400"/>
          </a:xfrm>
        </p:grpSpPr>
        <p:sp>
          <p:nvSpPr>
            <p:cNvPr name="Freeform 91" id="91"/>
            <p:cNvSpPr/>
            <p:nvPr/>
          </p:nvSpPr>
          <p:spPr>
            <a:xfrm flipH="false" flipV="false" rot="0">
              <a:off x="0" y="0"/>
              <a:ext cx="21086063" cy="914400"/>
            </a:xfrm>
            <a:custGeom>
              <a:avLst/>
              <a:gdLst/>
              <a:ahLst/>
              <a:cxnLst/>
              <a:rect r="r" b="b" t="t" l="l"/>
              <a:pathLst>
                <a:path h="914400" w="21086063">
                  <a:moveTo>
                    <a:pt x="0" y="0"/>
                  </a:moveTo>
                  <a:lnTo>
                    <a:pt x="21086063" y="0"/>
                  </a:lnTo>
                  <a:lnTo>
                    <a:pt x="21086063" y="914400"/>
                  </a:lnTo>
                  <a:lnTo>
                    <a:pt x="0" y="914400"/>
                  </a:lnTo>
                  <a:close/>
                </a:path>
              </a:pathLst>
            </a:custGeom>
            <a:blipFill>
              <a:blip r:embed="rId4">
                <a:alphaModFix amt="0"/>
              </a:blip>
              <a:stretch>
                <a:fillRect l="0" t="-399012" r="0" b="-399012"/>
              </a:stretch>
            </a:blipFill>
          </p:spPr>
        </p:sp>
      </p:grpSp>
      <p:grpSp>
        <p:nvGrpSpPr>
          <p:cNvPr name="Group 92" id="92"/>
          <p:cNvGrpSpPr/>
          <p:nvPr/>
        </p:nvGrpSpPr>
        <p:grpSpPr>
          <a:xfrm rot="0">
            <a:off x="1234440" y="8612505"/>
            <a:ext cx="15814548" cy="714375"/>
            <a:chOff x="0" y="0"/>
            <a:chExt cx="21086064" cy="952500"/>
          </a:xfrm>
        </p:grpSpPr>
        <p:sp>
          <p:nvSpPr>
            <p:cNvPr name="Freeform 93" id="93"/>
            <p:cNvSpPr/>
            <p:nvPr/>
          </p:nvSpPr>
          <p:spPr>
            <a:xfrm flipH="false" flipV="false" rot="0">
              <a:off x="0" y="0"/>
              <a:ext cx="21086065" cy="952500"/>
            </a:xfrm>
            <a:custGeom>
              <a:avLst/>
              <a:gdLst/>
              <a:ahLst/>
              <a:cxnLst/>
              <a:rect r="r" b="b" t="t" l="l"/>
              <a:pathLst>
                <a:path h="952500" w="21086065">
                  <a:moveTo>
                    <a:pt x="0" y="0"/>
                  </a:moveTo>
                  <a:lnTo>
                    <a:pt x="21086065" y="0"/>
                  </a:lnTo>
                  <a:lnTo>
                    <a:pt x="21086065" y="952500"/>
                  </a:lnTo>
                  <a:lnTo>
                    <a:pt x="0" y="952500"/>
                  </a:lnTo>
                  <a:close/>
                </a:path>
              </a:pathLst>
            </a:custGeom>
            <a:blipFill>
              <a:blip r:embed="rId5">
                <a:alphaModFix amt="0"/>
              </a:blip>
              <a:stretch>
                <a:fillRect l="0" t="-381351" r="0" b="-381351"/>
              </a:stretch>
            </a:blipFill>
          </p:spPr>
        </p:sp>
        <p:sp>
          <p:nvSpPr>
            <p:cNvPr name="TextBox 94" id="94"/>
            <p:cNvSpPr txBox="true"/>
            <p:nvPr/>
          </p:nvSpPr>
          <p:spPr>
            <a:xfrm>
              <a:off x="0" y="-38100"/>
              <a:ext cx="21086064" cy="990600"/>
            </a:xfrm>
            <a:prstGeom prst="rect">
              <a:avLst/>
            </a:prstGeom>
          </p:spPr>
          <p:txBody>
            <a:bodyPr anchor="ctr" rtlCol="false" tIns="0" lIns="0" bIns="0" rIns="0"/>
            <a:lstStyle/>
            <a:p>
              <a:pPr algn="l">
                <a:lnSpc>
                  <a:spcPts val="2430"/>
                </a:lnSpc>
              </a:pPr>
              <a:r>
                <a:rPr lang="en-US" sz="2025" b="true">
                  <a:solidFill>
                    <a:srgbClr val="0B5E6E"/>
                  </a:solidFill>
                  <a:latin typeface="Calibri (MS) Bold"/>
                  <a:ea typeface="Calibri (MS) Bold"/>
                  <a:cs typeface="Calibri (MS) Bold"/>
                  <a:sym typeface="Calibri (MS) Bold"/>
                </a:rPr>
                <a:t>Model tervalidasi mampu membandingkan skenario kebijakan secara kuantitatif beserta tingkat kekokohannya.</a:t>
              </a:r>
            </a:p>
          </p:txBody>
        </p:sp>
      </p:grpSp>
      <p:sp>
        <p:nvSpPr>
          <p:cNvPr name="TextBox 95" id="95"/>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73</a:t>
            </a:r>
          </a:p>
        </p:txBody>
      </p:sp>
      <p:sp>
        <p:nvSpPr>
          <p:cNvPr id="96" name="Penanda prioritas W"/>
          <p:cNvSpPr/>
          <p:nvPr/>
        </p:nvSpPr>
        <p:spPr>
          <a:xfrm>
            <a:off x="16047720" y="9646920"/>
            <a:ext cx="420624" cy="420624"/>
          </a:xfrm>
          <a:prstGeom prst="ellipse">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W</a:t>
            </a:r>
          </a:p>
        </p:txBody>
      </p:sp>
    </p:spTree>
  </p:cSld>
  <p:clrMapOvr>
    <a:masterClrMapping/>
  </p:clrMapOvr>
</p:sld>
</file>

<file path=ppt/slides/slide7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5.2 · Saran</a:t>
            </a:r>
          </a:p>
          <a:p>
            <a:pPr algn="l">
              <a:lnSpc>
                <a:spcPct val="100000"/>
              </a:lnSpc>
            </a:pPr>
            <a:r>
              <a:rPr lang="en-US" sz="3500" b="true">
                <a:solidFill>
                  <a:srgbClr val="0B5E6E"/>
                </a:solidFill>
                <a:latin typeface="Calibri (MS) Bold"/>
                <a:ea typeface="Calibri (MS) Bold"/>
                <a:cs typeface="Calibri (MS) Bold"/>
                <a:sym typeface="Calibri (MS) Bold"/>
              </a:rPr>
              <a:t>Saran untuk penelitian dan pengembangan lanjutan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Penutup</a:t>
              </a:r>
            </a:p>
          </p:txBody>
        </p:sp>
      </p:grpSp>
      <p:sp>
        <p:nvSpPr>
          <p:cNvPr name="Freeform 52" id="52"/>
          <p:cNvSpPr/>
          <p:nvPr/>
        </p:nvSpPr>
        <p:spPr>
          <a:xfrm flipH="false" flipV="false" rot="0">
            <a:off x="806291" y="2315051"/>
            <a:ext cx="8194357" cy="3393758"/>
          </a:xfrm>
          <a:custGeom>
            <a:avLst/>
            <a:gdLst/>
            <a:ahLst/>
            <a:cxnLst/>
            <a:rect r="r" b="b" t="t" l="l"/>
            <a:pathLst>
              <a:path h="3393758"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3" id="53"/>
          <p:cNvGrpSpPr/>
          <p:nvPr/>
        </p:nvGrpSpPr>
        <p:grpSpPr>
          <a:xfrm rot="0">
            <a:off x="1165860" y="2633472"/>
            <a:ext cx="685800" cy="685800"/>
            <a:chOff x="0" y="0"/>
            <a:chExt cx="914400" cy="914400"/>
          </a:xfrm>
        </p:grpSpPr>
        <p:sp>
          <p:nvSpPr>
            <p:cNvPr name="Freeform 54" id="5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55" id="55"/>
          <p:cNvGrpSpPr/>
          <p:nvPr/>
        </p:nvGrpSpPr>
        <p:grpSpPr>
          <a:xfrm rot="0">
            <a:off x="1165860" y="2633472"/>
            <a:ext cx="685800" cy="685800"/>
            <a:chOff x="0" y="0"/>
            <a:chExt cx="914400" cy="914400"/>
          </a:xfrm>
        </p:grpSpPr>
        <p:sp>
          <p:nvSpPr>
            <p:cNvPr name="Freeform 56" id="5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57" id="57"/>
          <p:cNvGrpSpPr/>
          <p:nvPr/>
        </p:nvGrpSpPr>
        <p:grpSpPr>
          <a:xfrm rot="0">
            <a:off x="1165860" y="2604897"/>
            <a:ext cx="685800" cy="714375"/>
            <a:chOff x="0" y="0"/>
            <a:chExt cx="914400" cy="952500"/>
          </a:xfrm>
        </p:grpSpPr>
        <p:sp>
          <p:nvSpPr>
            <p:cNvPr name="Freeform 58" id="58"/>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59" id="59"/>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grpSp>
        <p:nvGrpSpPr>
          <p:cNvPr name="Group 60" id="60"/>
          <p:cNvGrpSpPr/>
          <p:nvPr/>
        </p:nvGrpSpPr>
        <p:grpSpPr>
          <a:xfrm rot="0">
            <a:off x="2125980" y="2633472"/>
            <a:ext cx="6583680" cy="685800"/>
            <a:chOff x="0" y="0"/>
            <a:chExt cx="8778240" cy="914400"/>
          </a:xfrm>
        </p:grpSpPr>
        <p:sp>
          <p:nvSpPr>
            <p:cNvPr name="Freeform 61" id="61"/>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62" id="62"/>
          <p:cNvGrpSpPr/>
          <p:nvPr/>
        </p:nvGrpSpPr>
        <p:grpSpPr>
          <a:xfrm rot="0">
            <a:off x="2125980" y="2604897"/>
            <a:ext cx="6583680" cy="714375"/>
            <a:chOff x="0" y="0"/>
            <a:chExt cx="8778240" cy="952500"/>
          </a:xfrm>
        </p:grpSpPr>
        <p:sp>
          <p:nvSpPr>
            <p:cNvPr name="Freeform 63" id="63"/>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64" id="64"/>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Penelitian lanjutan</a:t>
              </a:r>
            </a:p>
          </p:txBody>
        </p:sp>
      </p:grpSp>
      <p:sp>
        <p:nvSpPr>
          <p:cNvPr name="TextBox 65" id="65"/>
          <p:cNvSpPr txBox="true"/>
          <p:nvPr/>
        </p:nvSpPr>
        <p:spPr>
          <a:xfrm rot="0">
            <a:off x="1234440" y="3470910"/>
            <a:ext cx="7406640" cy="1228725"/>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Perkuat dasar empiris parameter berstatus ketetapan, terutama rasio laju penurunan/pertumbuhan wisatawan dan ambang kepadatan, melalui survei primer (niat berkunjung kembali, daya dukung sosial) di destinasi utama DIY.</a:t>
            </a:r>
          </a:p>
        </p:txBody>
      </p:sp>
      <p:sp>
        <p:nvSpPr>
          <p:cNvPr name="Freeform 66" id="66"/>
          <p:cNvSpPr/>
          <p:nvPr/>
        </p:nvSpPr>
        <p:spPr>
          <a:xfrm flipH="false" flipV="false" rot="0">
            <a:off x="9282779" y="2315051"/>
            <a:ext cx="8194357" cy="3393758"/>
          </a:xfrm>
          <a:custGeom>
            <a:avLst/>
            <a:gdLst/>
            <a:ahLst/>
            <a:cxnLst/>
            <a:rect r="r" b="b" t="t" l="l"/>
            <a:pathLst>
              <a:path h="3393758"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7" id="67"/>
          <p:cNvGrpSpPr/>
          <p:nvPr/>
        </p:nvGrpSpPr>
        <p:grpSpPr>
          <a:xfrm rot="0">
            <a:off x="9642348" y="2633472"/>
            <a:ext cx="685800" cy="685800"/>
            <a:chOff x="0" y="0"/>
            <a:chExt cx="914400" cy="914400"/>
          </a:xfrm>
        </p:grpSpPr>
        <p:sp>
          <p:nvSpPr>
            <p:cNvPr name="Freeform 68" id="68"/>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69" id="69"/>
          <p:cNvGrpSpPr/>
          <p:nvPr/>
        </p:nvGrpSpPr>
        <p:grpSpPr>
          <a:xfrm rot="0">
            <a:off x="9642348" y="2633472"/>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71" id="71"/>
          <p:cNvGrpSpPr/>
          <p:nvPr/>
        </p:nvGrpSpPr>
        <p:grpSpPr>
          <a:xfrm rot="0">
            <a:off x="9642348" y="2604897"/>
            <a:ext cx="685800" cy="714375"/>
            <a:chOff x="0" y="0"/>
            <a:chExt cx="914400" cy="952500"/>
          </a:xfrm>
        </p:grpSpPr>
        <p:sp>
          <p:nvSpPr>
            <p:cNvPr name="Freeform 72" id="72"/>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73" id="73"/>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grpSp>
        <p:nvGrpSpPr>
          <p:cNvPr name="Group 74" id="74"/>
          <p:cNvGrpSpPr/>
          <p:nvPr/>
        </p:nvGrpSpPr>
        <p:grpSpPr>
          <a:xfrm rot="0">
            <a:off x="10602468" y="2633472"/>
            <a:ext cx="6583680" cy="685800"/>
            <a:chOff x="0" y="0"/>
            <a:chExt cx="8778240" cy="914400"/>
          </a:xfrm>
        </p:grpSpPr>
        <p:sp>
          <p:nvSpPr>
            <p:cNvPr name="Freeform 75" id="75"/>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76" id="76"/>
          <p:cNvGrpSpPr/>
          <p:nvPr/>
        </p:nvGrpSpPr>
        <p:grpSpPr>
          <a:xfrm rot="0">
            <a:off x="10602468" y="2604897"/>
            <a:ext cx="6583680" cy="714375"/>
            <a:chOff x="0" y="0"/>
            <a:chExt cx="8778240" cy="952500"/>
          </a:xfrm>
        </p:grpSpPr>
        <p:sp>
          <p:nvSpPr>
            <p:cNvPr name="Freeform 77" id="77"/>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78" id="78"/>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Pengembangan model</a:t>
              </a:r>
            </a:p>
          </p:txBody>
        </p:sp>
      </p:grpSp>
      <p:sp>
        <p:nvSpPr>
          <p:cNvPr name="TextBox 79" id="79"/>
          <p:cNvSpPr txBox="true"/>
          <p:nvPr/>
        </p:nvSpPr>
        <p:spPr>
          <a:xfrm rot="0">
            <a:off x="9710928" y="347091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Tambahkan mekanisme guncangan eksternal (mis. pandemi); pisahkan data pembangunan ODTW menurut sumber pembiayaan bersama Dinas Pariwisata dan Bappeda DIY; verifikasi silang Dynamic World pada tahun berderau tertinggi.</a:t>
            </a:r>
          </a:p>
        </p:txBody>
      </p:sp>
      <p:sp>
        <p:nvSpPr>
          <p:cNvPr name="Freeform 80" id="80"/>
          <p:cNvSpPr/>
          <p:nvPr/>
        </p:nvSpPr>
        <p:spPr>
          <a:xfrm flipH="false" flipV="false" rot="0">
            <a:off x="806291" y="5881211"/>
            <a:ext cx="8194357" cy="3393757"/>
          </a:xfrm>
          <a:custGeom>
            <a:avLst/>
            <a:gdLst/>
            <a:ahLst/>
            <a:cxnLst/>
            <a:rect r="r" b="b" t="t" l="l"/>
            <a:pathLst>
              <a:path h="3393757"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1" id="81"/>
          <p:cNvGrpSpPr/>
          <p:nvPr/>
        </p:nvGrpSpPr>
        <p:grpSpPr>
          <a:xfrm rot="0">
            <a:off x="1165860" y="6199632"/>
            <a:ext cx="685800" cy="685800"/>
            <a:chOff x="0" y="0"/>
            <a:chExt cx="914400" cy="914400"/>
          </a:xfrm>
        </p:grpSpPr>
        <p:sp>
          <p:nvSpPr>
            <p:cNvPr name="Freeform 82" id="8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83" id="83"/>
          <p:cNvGrpSpPr/>
          <p:nvPr/>
        </p:nvGrpSpPr>
        <p:grpSpPr>
          <a:xfrm rot="0">
            <a:off x="1165860" y="6199632"/>
            <a:ext cx="685800" cy="685800"/>
            <a:chOff x="0" y="0"/>
            <a:chExt cx="914400" cy="914400"/>
          </a:xfrm>
        </p:grpSpPr>
        <p:sp>
          <p:nvSpPr>
            <p:cNvPr name="Freeform 84" id="8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85" id="85"/>
          <p:cNvGrpSpPr/>
          <p:nvPr/>
        </p:nvGrpSpPr>
        <p:grpSpPr>
          <a:xfrm rot="0">
            <a:off x="1165860" y="6171057"/>
            <a:ext cx="685800" cy="714375"/>
            <a:chOff x="0" y="0"/>
            <a:chExt cx="914400" cy="952500"/>
          </a:xfrm>
        </p:grpSpPr>
        <p:sp>
          <p:nvSpPr>
            <p:cNvPr name="Freeform 86" id="86"/>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87" id="87"/>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grpSp>
        <p:nvGrpSpPr>
          <p:cNvPr name="Group 88" id="88"/>
          <p:cNvGrpSpPr/>
          <p:nvPr/>
        </p:nvGrpSpPr>
        <p:grpSpPr>
          <a:xfrm rot="0">
            <a:off x="2125980" y="6199632"/>
            <a:ext cx="6583680" cy="685800"/>
            <a:chOff x="0" y="0"/>
            <a:chExt cx="8778240" cy="914400"/>
          </a:xfrm>
        </p:grpSpPr>
        <p:sp>
          <p:nvSpPr>
            <p:cNvPr name="Freeform 89" id="89"/>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90" id="90"/>
          <p:cNvGrpSpPr/>
          <p:nvPr/>
        </p:nvGrpSpPr>
        <p:grpSpPr>
          <a:xfrm rot="0">
            <a:off x="2125980" y="6171057"/>
            <a:ext cx="6583680" cy="714375"/>
            <a:chOff x="0" y="0"/>
            <a:chExt cx="8778240" cy="952500"/>
          </a:xfrm>
        </p:grpSpPr>
        <p:sp>
          <p:nvSpPr>
            <p:cNvPr name="Freeform 91" id="91"/>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92" id="92"/>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Penyusunan skenario</a:t>
              </a:r>
            </a:p>
          </p:txBody>
        </p:sp>
      </p:grpSp>
      <p:sp>
        <p:nvSpPr>
          <p:cNvPr name="TextBox 93" id="93"/>
          <p:cNvSpPr txBox="true"/>
          <p:nvPr/>
        </p:nvSpPr>
        <p:spPr>
          <a:xfrm rot="0">
            <a:off x="1234440" y="703707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Libatkan lokakarya pemangku kepentingan agar nilai tuas kebijakan mencerminkan kesepakatan pihak yang berwenang menerapkannya.</a:t>
            </a:r>
          </a:p>
        </p:txBody>
      </p:sp>
      <p:sp>
        <p:nvSpPr>
          <p:cNvPr name="Freeform 94" id="94"/>
          <p:cNvSpPr/>
          <p:nvPr/>
        </p:nvSpPr>
        <p:spPr>
          <a:xfrm flipH="false" flipV="false" rot="0">
            <a:off x="9282779" y="5881211"/>
            <a:ext cx="8194357" cy="3393757"/>
          </a:xfrm>
          <a:custGeom>
            <a:avLst/>
            <a:gdLst/>
            <a:ahLst/>
            <a:cxnLst/>
            <a:rect r="r" b="b" t="t" l="l"/>
            <a:pathLst>
              <a:path h="3393757"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5" id="95"/>
          <p:cNvGrpSpPr/>
          <p:nvPr/>
        </p:nvGrpSpPr>
        <p:grpSpPr>
          <a:xfrm rot="0">
            <a:off x="9642348" y="6199632"/>
            <a:ext cx="685800" cy="685800"/>
            <a:chOff x="0" y="0"/>
            <a:chExt cx="914400" cy="914400"/>
          </a:xfrm>
        </p:grpSpPr>
        <p:sp>
          <p:nvSpPr>
            <p:cNvPr name="Freeform 96" id="9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97" id="97"/>
          <p:cNvGrpSpPr/>
          <p:nvPr/>
        </p:nvGrpSpPr>
        <p:grpSpPr>
          <a:xfrm rot="0">
            <a:off x="9642348" y="6199632"/>
            <a:ext cx="685800" cy="685800"/>
            <a:chOff x="0" y="0"/>
            <a:chExt cx="914400" cy="914400"/>
          </a:xfrm>
        </p:grpSpPr>
        <p:sp>
          <p:nvSpPr>
            <p:cNvPr name="Freeform 98" id="9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99" id="99"/>
          <p:cNvGrpSpPr/>
          <p:nvPr/>
        </p:nvGrpSpPr>
        <p:grpSpPr>
          <a:xfrm rot="0">
            <a:off x="9642348" y="6171057"/>
            <a:ext cx="685800" cy="714375"/>
            <a:chOff x="0" y="0"/>
            <a:chExt cx="914400" cy="952500"/>
          </a:xfrm>
        </p:grpSpPr>
        <p:sp>
          <p:nvSpPr>
            <p:cNvPr name="Freeform 100" id="100"/>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101" id="101"/>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4</a:t>
              </a:r>
            </a:p>
          </p:txBody>
        </p:sp>
      </p:grpSp>
      <p:grpSp>
        <p:nvGrpSpPr>
          <p:cNvPr name="Group 102" id="102"/>
          <p:cNvGrpSpPr/>
          <p:nvPr/>
        </p:nvGrpSpPr>
        <p:grpSpPr>
          <a:xfrm rot="0">
            <a:off x="10602468" y="6199632"/>
            <a:ext cx="6583680" cy="685800"/>
            <a:chOff x="0" y="0"/>
            <a:chExt cx="8778240" cy="914400"/>
          </a:xfrm>
        </p:grpSpPr>
        <p:sp>
          <p:nvSpPr>
            <p:cNvPr name="Freeform 103" id="103"/>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104" id="104"/>
          <p:cNvGrpSpPr/>
          <p:nvPr/>
        </p:nvGrpSpPr>
        <p:grpSpPr>
          <a:xfrm rot="0">
            <a:off x="10602468" y="6171057"/>
            <a:ext cx="6583680" cy="714375"/>
            <a:chOff x="0" y="0"/>
            <a:chExt cx="8778240" cy="952500"/>
          </a:xfrm>
        </p:grpSpPr>
        <p:sp>
          <p:nvSpPr>
            <p:cNvPr name="Freeform 105" id="105"/>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106" id="106"/>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Pengembangan aplikasi</a:t>
              </a:r>
            </a:p>
          </p:txBody>
        </p:sp>
      </p:grpSp>
      <p:sp>
        <p:nvSpPr>
          <p:cNvPr name="TextBox 107" id="107"/>
          <p:cNvSpPr txBox="true"/>
          <p:nvPr/>
        </p:nvSpPr>
        <p:spPr>
          <a:xfrm rot="0">
            <a:off x="9710928" y="703707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Tambahkan fitur pembaruan data tahunan dan ekspor laporan hasil simulasi agar tetap relevan bagi Pemerintah Daerah DIY.</a:t>
            </a:r>
          </a:p>
        </p:txBody>
      </p:sp>
      <p:sp>
        <p:nvSpPr>
          <p:cNvPr name="TextBox 108" id="10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74</a:t>
            </a:r>
          </a:p>
        </p:txBody>
      </p:sp>
      <p:sp>
        <p:nvSpPr>
          <p:cNvPr id="109" name="Penanda prioritas S"/>
          <p:cNvSpPr/>
          <p:nvPr/>
        </p:nvSpPr>
        <p:spPr>
          <a:xfrm>
            <a:off x="16047720" y="9646920"/>
            <a:ext cx="420624" cy="420624"/>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S</a:t>
            </a:r>
          </a:p>
        </p:txBody>
      </p:sp>
    </p:spTree>
  </p:cSld>
  <p:clrMapOvr>
    <a:masterClrMapping/>
  </p:clrMapOvr>
</p:sld>
</file>

<file path=ppt/slides/slide75.xml><?xml version="1.0" encoding="utf-8"?>
<p:sld xmlns:p="http://schemas.openxmlformats.org/presentationml/2006/main" xmlns:a="http://schemas.openxmlformats.org/drawingml/2006/main" xmlns:r="http://schemas.openxmlformats.org/officeDocument/2006/relationships">
  <p:cSld>
    <p:bg>
      <p:bgPr>
        <a:solidFill>
          <a:srgbClr val="0B5E6E"/>
        </a:solidFill>
      </p:bgPr>
    </p:bg>
    <p:spTree>
      <p:nvGrpSpPr>
        <p:cNvPr id="1" name=""/>
        <p:cNvGrpSpPr/>
        <p:nvPr/>
      </p:nvGrpSpPr>
      <p:grpSpPr>
        <a:xfrm>
          <a:off x="0" y="0"/>
          <a:ext cx="0" cy="0"/>
          <a:chOff x="0" y="0"/>
          <a:chExt cx="0" cy="0"/>
        </a:xfrm>
      </p:grpSpPr>
      <p:grpSp>
        <p:nvGrpSpPr>
          <p:cNvPr name="Group 2" id="2"/>
          <p:cNvGrpSpPr/>
          <p:nvPr/>
        </p:nvGrpSpPr>
        <p:grpSpPr>
          <a:xfrm rot="0">
            <a:off x="8462772" y="1645920"/>
            <a:ext cx="1371600" cy="1371600"/>
            <a:chOff x="0" y="0"/>
            <a:chExt cx="1828800" cy="1828800"/>
          </a:xfrm>
        </p:grpSpPr>
        <p:sp>
          <p:nvSpPr>
            <p:cNvPr name="Freeform 3" id="3"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3"/>
              <a:stretch>
                <a:fillRect l="0" t="0" r="0" b="0"/>
              </a:stretch>
            </a:blipFill>
          </p:spPr>
        </p:sp>
      </p:grpSp>
      <p:grpSp>
        <p:nvGrpSpPr>
          <p:cNvPr name="Group 4" id="4"/>
          <p:cNvGrpSpPr/>
          <p:nvPr/>
        </p:nvGrpSpPr>
        <p:grpSpPr>
          <a:xfrm rot="0">
            <a:off x="822960" y="3497580"/>
            <a:ext cx="16637508" cy="1371600"/>
            <a:chOff x="0" y="0"/>
            <a:chExt cx="22183344" cy="1828800"/>
          </a:xfrm>
        </p:grpSpPr>
        <p:sp>
          <p:nvSpPr>
            <p:cNvPr name="Freeform 5" id="5"/>
            <p:cNvSpPr/>
            <p:nvPr/>
          </p:nvSpPr>
          <p:spPr>
            <a:xfrm flipH="false" flipV="false" rot="0">
              <a:off x="0" y="0"/>
              <a:ext cx="22183344" cy="1828800"/>
            </a:xfrm>
            <a:custGeom>
              <a:avLst/>
              <a:gdLst/>
              <a:ahLst/>
              <a:cxnLst/>
              <a:rect r="r" b="b" t="t" l="l"/>
              <a:pathLst>
                <a:path h="1828800" w="22183344">
                  <a:moveTo>
                    <a:pt x="0" y="0"/>
                  </a:moveTo>
                  <a:lnTo>
                    <a:pt x="22183344" y="0"/>
                  </a:lnTo>
                  <a:lnTo>
                    <a:pt x="22183344" y="1828800"/>
                  </a:lnTo>
                  <a:lnTo>
                    <a:pt x="0" y="1828800"/>
                  </a:lnTo>
                  <a:close/>
                </a:path>
              </a:pathLst>
            </a:custGeom>
            <a:blipFill>
              <a:blip r:embed="rId4">
                <a:alphaModFix amt="0"/>
              </a:blip>
              <a:stretch>
                <a:fillRect l="0" t="-186188" r="0" b="-186189"/>
              </a:stretch>
            </a:blipFill>
          </p:spPr>
        </p:sp>
      </p:grpSp>
      <p:grpSp>
        <p:nvGrpSpPr>
          <p:cNvPr name="Group 6" id="6"/>
          <p:cNvGrpSpPr/>
          <p:nvPr/>
        </p:nvGrpSpPr>
        <p:grpSpPr>
          <a:xfrm rot="0">
            <a:off x="822960" y="3376136"/>
            <a:ext cx="16637508" cy="1493044"/>
            <a:chOff x="0" y="0"/>
            <a:chExt cx="22183344" cy="1990725"/>
          </a:xfrm>
        </p:grpSpPr>
        <p:sp>
          <p:nvSpPr>
            <p:cNvPr name="Freeform 7" id="7"/>
            <p:cNvSpPr/>
            <p:nvPr/>
          </p:nvSpPr>
          <p:spPr>
            <a:xfrm flipH="false" flipV="false" rot="0">
              <a:off x="0" y="0"/>
              <a:ext cx="22183344" cy="1990725"/>
            </a:xfrm>
            <a:custGeom>
              <a:avLst/>
              <a:gdLst/>
              <a:ahLst/>
              <a:cxnLst/>
              <a:rect r="r" b="b" t="t" l="l"/>
              <a:pathLst>
                <a:path h="1990725" w="22183344">
                  <a:moveTo>
                    <a:pt x="0" y="0"/>
                  </a:moveTo>
                  <a:lnTo>
                    <a:pt x="22183344" y="0"/>
                  </a:lnTo>
                  <a:lnTo>
                    <a:pt x="22183344" y="1990725"/>
                  </a:lnTo>
                  <a:lnTo>
                    <a:pt x="0" y="1990725"/>
                  </a:lnTo>
                  <a:close/>
                </a:path>
              </a:pathLst>
            </a:custGeom>
            <a:blipFill>
              <a:blip r:embed="rId5">
                <a:alphaModFix amt="0"/>
              </a:blip>
              <a:stretch>
                <a:fillRect l="0" t="-167128" r="0" b="-167128"/>
              </a:stretch>
            </a:blipFill>
          </p:spPr>
        </p:sp>
        <p:sp>
          <p:nvSpPr>
            <p:cNvPr name="TextBox 8" id="8"/>
            <p:cNvSpPr txBox="true"/>
            <p:nvPr/>
          </p:nvSpPr>
          <p:spPr>
            <a:xfrm>
              <a:off x="0" y="-161925"/>
              <a:ext cx="22183344" cy="2152650"/>
            </a:xfrm>
            <a:prstGeom prst="rect">
              <a:avLst/>
            </a:prstGeom>
          </p:spPr>
          <p:txBody>
            <a:bodyPr anchor="ctr" rtlCol="false" tIns="0" lIns="0" bIns="0" rIns="0"/>
            <a:lstStyle/>
            <a:p>
              <a:pPr algn="ctr">
                <a:lnSpc>
                  <a:spcPts val="9360"/>
                </a:lnSpc>
              </a:pPr>
              <a:r>
                <a:rPr lang="en-US" sz="7800" b="true">
                  <a:solidFill>
                    <a:srgbClr val="FFD23B"/>
                  </a:solidFill>
                  <a:latin typeface="Calibri (MS) Bold"/>
                  <a:ea typeface="Calibri (MS) Bold"/>
                  <a:cs typeface="Calibri (MS) Bold"/>
                  <a:sym typeface="Calibri (MS) Bold"/>
                </a:rPr>
                <a:t>Terima Kasih</a:t>
              </a:r>
            </a:p>
          </p:txBody>
        </p:sp>
      </p:grpSp>
      <p:sp>
        <p:nvSpPr>
          <p:cNvPr name="TextBox 9" id="9"/>
          <p:cNvSpPr txBox="true"/>
          <p:nvPr/>
        </p:nvSpPr>
        <p:spPr>
          <a:xfrm rot="0">
            <a:off x="2057400" y="4979670"/>
            <a:ext cx="14168628" cy="1192530"/>
          </a:xfrm>
          <a:prstGeom prst="rect">
            <a:avLst/>
          </a:prstGeom>
        </p:spPr>
        <p:txBody>
          <a:bodyPr anchor="t" rtlCol="false" tIns="0" lIns="0" bIns="0" rIns="0">
            <a:spAutoFit/>
          </a:bodyPr>
          <a:lstStyle/>
          <a:p>
            <a:pPr algn="ctr">
              <a:lnSpc>
                <a:spcPts val="3060"/>
              </a:lnSpc>
            </a:pPr>
            <a:r>
              <a:rPr lang="en-US" sz="2550">
                <a:solidFill>
                  <a:srgbClr val="FFFFFF"/>
                </a:solidFill>
                <a:latin typeface="Calibri (MS)"/>
                <a:ea typeface="Calibri (MS)"/>
                <a:cs typeface="Calibri (MS)"/>
                <a:sym typeface="Calibri (MS)"/>
              </a:rPr>
              <a:t>Perancangan Aplikasi Simulasi Kebijakan Pariwisata Menggunakan Sistem Dinamis dengan Integrasi Data Citra Satelit</a:t>
            </a:r>
          </a:p>
        </p:txBody>
      </p:sp>
      <p:sp>
        <p:nvSpPr>
          <p:cNvPr name="TextBox 10" id="10"/>
          <p:cNvSpPr txBox="true"/>
          <p:nvPr/>
        </p:nvSpPr>
        <p:spPr>
          <a:xfrm rot="0">
            <a:off x="822960" y="6332220"/>
            <a:ext cx="16637508" cy="662940"/>
          </a:xfrm>
          <a:prstGeom prst="rect">
            <a:avLst/>
          </a:prstGeom>
        </p:spPr>
        <p:txBody>
          <a:bodyPr anchor="t" rtlCol="false" tIns="0" lIns="0" bIns="0" rIns="0">
            <a:spAutoFit/>
          </a:bodyPr>
          <a:lstStyle/>
          <a:p>
            <a:pPr algn="ctr">
              <a:lnSpc>
                <a:spcPts val="2700"/>
              </a:lnSpc>
            </a:pPr>
            <a:r>
              <a:rPr lang="en-US" sz="2250" b="true">
                <a:solidFill>
                  <a:srgbClr val="FFFFFF"/>
                </a:solidFill>
                <a:latin typeface="Calibri (MS) Bold"/>
                <a:ea typeface="Calibri (MS) Bold"/>
                <a:cs typeface="Calibri (MS) Bold"/>
                <a:sym typeface="Calibri (MS) Bold"/>
              </a:rPr>
              <a:t>Kevin Atha Fathoni Ramadha · 222212691</a:t>
            </a:r>
          </a:p>
        </p:txBody>
      </p:sp>
      <p:grpSp>
        <p:nvGrpSpPr>
          <p:cNvPr name="Group 11" id="11"/>
          <p:cNvGrpSpPr/>
          <p:nvPr/>
        </p:nvGrpSpPr>
        <p:grpSpPr>
          <a:xfrm rot="0">
            <a:off x="6035040" y="7543800"/>
            <a:ext cx="6213348" cy="685800"/>
            <a:chOff x="0" y="0"/>
            <a:chExt cx="8284464" cy="914400"/>
          </a:xfrm>
        </p:grpSpPr>
        <p:sp>
          <p:nvSpPr>
            <p:cNvPr name="Freeform 12" id="12"/>
            <p:cNvSpPr/>
            <p:nvPr/>
          </p:nvSpPr>
          <p:spPr>
            <a:xfrm flipH="false" flipV="false" rot="0">
              <a:off x="0" y="0"/>
              <a:ext cx="8284464" cy="914400"/>
            </a:xfrm>
            <a:custGeom>
              <a:avLst/>
              <a:gdLst/>
              <a:ahLst/>
              <a:cxnLst/>
              <a:rect r="r" b="b" t="t" l="l"/>
              <a:pathLst>
                <a:path h="914400" w="8284464">
                  <a:moveTo>
                    <a:pt x="0" y="457200"/>
                  </a:moveTo>
                  <a:cubicBezTo>
                    <a:pt x="0" y="204724"/>
                    <a:pt x="204724" y="0"/>
                    <a:pt x="457200" y="0"/>
                  </a:cubicBezTo>
                  <a:lnTo>
                    <a:pt x="7827264" y="0"/>
                  </a:lnTo>
                  <a:cubicBezTo>
                    <a:pt x="8079740" y="0"/>
                    <a:pt x="8284464" y="204724"/>
                    <a:pt x="8284464" y="457200"/>
                  </a:cubicBezTo>
                  <a:cubicBezTo>
                    <a:pt x="8284464" y="709676"/>
                    <a:pt x="8079740" y="914400"/>
                    <a:pt x="7827264" y="914400"/>
                  </a:cubicBezTo>
                  <a:lnTo>
                    <a:pt x="457200" y="914400"/>
                  </a:lnTo>
                  <a:cubicBezTo>
                    <a:pt x="204724" y="914400"/>
                    <a:pt x="0" y="709676"/>
                    <a:pt x="0" y="457200"/>
                  </a:cubicBezTo>
                  <a:close/>
                </a:path>
              </a:pathLst>
            </a:custGeom>
            <a:solidFill>
              <a:srgbClr val="39C0D3"/>
            </a:solidFill>
          </p:spPr>
        </p:sp>
      </p:grpSp>
      <p:grpSp>
        <p:nvGrpSpPr>
          <p:cNvPr name="Group 13" id="13"/>
          <p:cNvGrpSpPr/>
          <p:nvPr/>
        </p:nvGrpSpPr>
        <p:grpSpPr>
          <a:xfrm rot="0">
            <a:off x="6035040" y="7543800"/>
            <a:ext cx="6213348" cy="685800"/>
            <a:chOff x="0" y="0"/>
            <a:chExt cx="8284464" cy="914400"/>
          </a:xfrm>
        </p:grpSpPr>
        <p:sp>
          <p:nvSpPr>
            <p:cNvPr name="Freeform 14" id="14"/>
            <p:cNvSpPr/>
            <p:nvPr/>
          </p:nvSpPr>
          <p:spPr>
            <a:xfrm flipH="false" flipV="false" rot="0">
              <a:off x="0" y="0"/>
              <a:ext cx="8284464" cy="914400"/>
            </a:xfrm>
            <a:custGeom>
              <a:avLst/>
              <a:gdLst/>
              <a:ahLst/>
              <a:cxnLst/>
              <a:rect r="r" b="b" t="t" l="l"/>
              <a:pathLst>
                <a:path h="914400" w="8284464">
                  <a:moveTo>
                    <a:pt x="0" y="0"/>
                  </a:moveTo>
                  <a:lnTo>
                    <a:pt x="8284464" y="0"/>
                  </a:lnTo>
                  <a:lnTo>
                    <a:pt x="8284464" y="914400"/>
                  </a:lnTo>
                  <a:lnTo>
                    <a:pt x="0" y="914400"/>
                  </a:lnTo>
                  <a:close/>
                </a:path>
              </a:pathLst>
            </a:custGeom>
            <a:blipFill>
              <a:blip r:embed="rId4">
                <a:alphaModFix amt="0"/>
              </a:blip>
              <a:stretch>
                <a:fillRect l="0" t="-126411" r="0" b="-126412"/>
              </a:stretch>
            </a:blipFill>
          </p:spPr>
        </p:sp>
      </p:grpSp>
      <p:grpSp>
        <p:nvGrpSpPr>
          <p:cNvPr name="Group 15" id="15"/>
          <p:cNvGrpSpPr/>
          <p:nvPr/>
        </p:nvGrpSpPr>
        <p:grpSpPr>
          <a:xfrm rot="0">
            <a:off x="6035040" y="7508081"/>
            <a:ext cx="6213348" cy="721519"/>
            <a:chOff x="0" y="0"/>
            <a:chExt cx="8284464" cy="962025"/>
          </a:xfrm>
        </p:grpSpPr>
        <p:sp>
          <p:nvSpPr>
            <p:cNvPr name="Freeform 16" id="16"/>
            <p:cNvSpPr/>
            <p:nvPr/>
          </p:nvSpPr>
          <p:spPr>
            <a:xfrm flipH="false" flipV="false" rot="0">
              <a:off x="0" y="0"/>
              <a:ext cx="8284464" cy="962025"/>
            </a:xfrm>
            <a:custGeom>
              <a:avLst/>
              <a:gdLst/>
              <a:ahLst/>
              <a:cxnLst/>
              <a:rect r="r" b="b" t="t" l="l"/>
              <a:pathLst>
                <a:path h="962025" w="8284464">
                  <a:moveTo>
                    <a:pt x="0" y="0"/>
                  </a:moveTo>
                  <a:lnTo>
                    <a:pt x="8284464" y="0"/>
                  </a:lnTo>
                  <a:lnTo>
                    <a:pt x="8284464" y="962025"/>
                  </a:lnTo>
                  <a:lnTo>
                    <a:pt x="0" y="962025"/>
                  </a:lnTo>
                  <a:close/>
                </a:path>
              </a:pathLst>
            </a:custGeom>
            <a:blipFill>
              <a:blip r:embed="rId5">
                <a:alphaModFix amt="0"/>
              </a:blip>
              <a:stretch>
                <a:fillRect l="0" t="-117795" r="0" b="-117795"/>
              </a:stretch>
            </a:blipFill>
          </p:spPr>
        </p:sp>
        <p:sp>
          <p:nvSpPr>
            <p:cNvPr name="TextBox 17" id="17"/>
            <p:cNvSpPr txBox="true"/>
            <p:nvPr/>
          </p:nvSpPr>
          <p:spPr>
            <a:xfrm>
              <a:off x="0" y="-47625"/>
              <a:ext cx="8284464" cy="100965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sistemdinamispariwisata.vercel.app</a:t>
              </a:r>
            </a:p>
          </p:txBody>
        </p:sp>
      </p:grpSp>
    </p:spTree>
  </p:cSld>
  <p:clrMapOvr>
    <a:masterClrMapping/>
  </p:clrMapOvr>
</p:sld>
</file>

<file path=ppt/slides/slide7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16666" r="0" b="-16666"/>
            </a:stretch>
          </a:blipFill>
        </p:spPr>
        <p:txBody>
          <a:bodyPr/>
          <a:p/>
        </p:txBody>
      </p:sp>
      <p:grpSp>
        <p:nvGrpSpPr>
          <p:cNvPr name="Group 3" id="3"/>
          <p:cNvGrpSpPr/>
          <p:nvPr/>
        </p:nvGrpSpPr>
        <p:grpSpPr>
          <a:xfrm rot="0">
            <a:off x="-192024" y="186407"/>
            <a:ext cx="2441448" cy="411480"/>
            <a:chOff x="0" y="0"/>
            <a:chExt cx="3255264" cy="548640"/>
          </a:xfrm>
        </p:grpSpPr>
        <p:sp>
          <p:nvSpPr>
            <p:cNvPr name="Freeform 4" id="4"/>
            <p:cNvSpPr/>
            <p:nvPr/>
          </p:nvSpPr>
          <p:spPr>
            <a:xfrm flipH="false" flipV="false" rot="0">
              <a:off x="0" y="0"/>
              <a:ext cx="3255264" cy="548640"/>
            </a:xfrm>
            <a:custGeom>
              <a:avLst/>
              <a:gdLst/>
              <a:ahLst/>
              <a:cxnLst/>
              <a:rect r="r" b="b" t="t" l="l"/>
              <a:pathLst>
                <a:path h="548640" w="3255264">
                  <a:moveTo>
                    <a:pt x="0" y="274320"/>
                  </a:moveTo>
                  <a:cubicBezTo>
                    <a:pt x="0" y="122809"/>
                    <a:pt x="122809" y="0"/>
                    <a:pt x="274320" y="0"/>
                  </a:cubicBezTo>
                  <a:lnTo>
                    <a:pt x="2980944" y="0"/>
                  </a:lnTo>
                  <a:cubicBezTo>
                    <a:pt x="3132455" y="0"/>
                    <a:pt x="3255264" y="122809"/>
                    <a:pt x="3255264" y="274320"/>
                  </a:cubicBezTo>
                  <a:cubicBezTo>
                    <a:pt x="3255264" y="425831"/>
                    <a:pt x="3132455" y="548640"/>
                    <a:pt x="2980944" y="548640"/>
                  </a:cubicBezTo>
                  <a:lnTo>
                    <a:pt x="274320" y="548640"/>
                  </a:lnTo>
                  <a:cubicBezTo>
                    <a:pt x="122809" y="548640"/>
                    <a:pt x="0" y="425831"/>
                    <a:pt x="0" y="274320"/>
                  </a:cubicBezTo>
                  <a:close/>
                </a:path>
              </a:pathLst>
            </a:custGeom>
            <a:solidFill>
              <a:srgbClr val="0B5563"/>
            </a:solidFill>
          </p:spPr>
          <p:txBody>
            <a:bodyPr/>
            <a:p/>
          </p:txBody>
        </p:sp>
      </p:grpSp>
      <p:grpSp>
        <p:nvGrpSpPr>
          <p:cNvPr name="Group 5" id="5"/>
          <p:cNvGrpSpPr/>
          <p:nvPr/>
        </p:nvGrpSpPr>
        <p:grpSpPr>
          <a:xfrm rot="0">
            <a:off x="-192024" y="186407"/>
            <a:ext cx="2441448" cy="411480"/>
            <a:chOff x="0" y="0"/>
            <a:chExt cx="3255264" cy="548640"/>
          </a:xfrm>
        </p:grpSpPr>
        <p:sp>
          <p:nvSpPr>
            <p:cNvPr name="Freeform 6" id="6"/>
            <p:cNvSpPr/>
            <p:nvPr/>
          </p:nvSpPr>
          <p:spPr>
            <a:xfrm flipH="false" flipV="false" rot="0">
              <a:off x="0" y="0"/>
              <a:ext cx="3255264" cy="548640"/>
            </a:xfrm>
            <a:custGeom>
              <a:avLst/>
              <a:gdLst/>
              <a:ahLst/>
              <a:cxnLst/>
              <a:rect r="r" b="b" t="t" l="l"/>
              <a:pathLst>
                <a:path h="548640" w="3255264">
                  <a:moveTo>
                    <a:pt x="0" y="0"/>
                  </a:moveTo>
                  <a:lnTo>
                    <a:pt x="3255264" y="0"/>
                  </a:lnTo>
                  <a:lnTo>
                    <a:pt x="3255264" y="548640"/>
                  </a:lnTo>
                  <a:lnTo>
                    <a:pt x="0" y="548640"/>
                  </a:lnTo>
                  <a:close/>
                </a:path>
              </a:pathLst>
            </a:custGeom>
            <a:blipFill>
              <a:blip r:embed="rId4">
                <a:alphaModFix amt="0"/>
              </a:blip>
              <a:stretch>
                <a:fillRect l="0" t="-65611" r="0" b="-65611"/>
              </a:stretch>
            </a:blipFill>
          </p:spPr>
          <p:txBody>
            <a:bodyPr/>
            <a:p/>
          </p:txBody>
        </p:sp>
        <p:sp>
          <p:nvSpPr>
            <p:cNvPr name="TextBox 7" id="7"/>
            <p:cNvSpPr txBox="true"/>
            <p:nvPr/>
          </p:nvSpPr>
          <p:spPr>
            <a:xfrm>
              <a:off x="0" y="-28575"/>
              <a:ext cx="3255264" cy="577215"/>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Lampiran 1</a:t>
              </a:r>
            </a:p>
          </p:txBody>
        </p:sp>
      </p:grpSp>
      <p:grpSp>
        <p:nvGrpSpPr>
          <p:cNvPr name="Group 8" id="8"/>
          <p:cNvGrpSpPr/>
          <p:nvPr/>
        </p:nvGrpSpPr>
        <p:grpSpPr>
          <a:xfrm rot="0">
            <a:off x="-516212" y="822075"/>
            <a:ext cx="11869757" cy="935567"/>
            <a:chOff x="0" y="0"/>
            <a:chExt cx="3126191" cy="246404"/>
          </a:xfrm>
        </p:grpSpPr>
        <p:sp>
          <p:nvSpPr>
            <p:cNvPr name="Freeform 9" id="9"/>
            <p:cNvSpPr/>
            <p:nvPr/>
          </p:nvSpPr>
          <p:spPr>
            <a:xfrm flipH="false" flipV="false" rot="0">
              <a:off x="0" y="0"/>
              <a:ext cx="3126191" cy="246404"/>
            </a:xfrm>
            <a:custGeom>
              <a:avLst/>
              <a:gdLst/>
              <a:ahLst/>
              <a:cxnLst/>
              <a:rect r="r" b="b" t="t" l="l"/>
              <a:pathLst>
                <a:path h="246404" w="3126191">
                  <a:moveTo>
                    <a:pt x="26090" y="0"/>
                  </a:moveTo>
                  <a:lnTo>
                    <a:pt x="3100102" y="0"/>
                  </a:lnTo>
                  <a:cubicBezTo>
                    <a:pt x="3114510" y="0"/>
                    <a:pt x="3126191" y="11681"/>
                    <a:pt x="3126191" y="26090"/>
                  </a:cubicBezTo>
                  <a:lnTo>
                    <a:pt x="3126191" y="220315"/>
                  </a:lnTo>
                  <a:cubicBezTo>
                    <a:pt x="3126191" y="234724"/>
                    <a:pt x="3114510" y="246404"/>
                    <a:pt x="3100102" y="246404"/>
                  </a:cubicBezTo>
                  <a:lnTo>
                    <a:pt x="26090" y="246404"/>
                  </a:lnTo>
                  <a:cubicBezTo>
                    <a:pt x="11681" y="246404"/>
                    <a:pt x="0" y="234724"/>
                    <a:pt x="0" y="220315"/>
                  </a:cubicBezTo>
                  <a:lnTo>
                    <a:pt x="0" y="26090"/>
                  </a:lnTo>
                  <a:cubicBezTo>
                    <a:pt x="0" y="11681"/>
                    <a:pt x="11681" y="0"/>
                    <a:pt x="26090" y="0"/>
                  </a:cubicBezTo>
                  <a:close/>
                </a:path>
              </a:pathLst>
            </a:custGeom>
            <a:solidFill>
              <a:srgbClr val="FFD230"/>
            </a:solidFill>
          </p:spPr>
          <p:txBody>
            <a:bodyPr/>
            <a:p/>
          </p:txBody>
        </p:sp>
        <p:sp>
          <p:nvSpPr>
            <p:cNvPr name="TextBox 10" id="10"/>
            <p:cNvSpPr txBox="true"/>
            <p:nvPr/>
          </p:nvSpPr>
          <p:spPr>
            <a:xfrm>
              <a:off x="0" y="-47625"/>
              <a:ext cx="3126191" cy="294029"/>
            </a:xfrm>
            <a:prstGeom prst="rect">
              <a:avLst/>
            </a:prstGeom>
          </p:spPr>
          <p:txBody>
            <a:bodyPr anchor="ctr" rtlCol="false" tIns="50800" lIns="50800" bIns="50800" rIns="50800"/>
            <a:lstStyle/>
            <a:p>
              <a:pPr algn="ctr">
                <a:lnSpc>
                  <a:spcPts val="2340"/>
                </a:lnSpc>
              </a:pPr>
            </a:p>
          </p:txBody>
        </p:sp>
      </p:grpSp>
      <p:sp>
        <p:nvSpPr>
          <p:cNvPr name="TextBox 11" id="11"/>
          <p:cNvSpPr txBox="true"/>
          <p:nvPr/>
        </p:nvSpPr>
        <p:spPr>
          <a:xfrm rot="0">
            <a:off x="250704" y="1011107"/>
            <a:ext cx="10988422" cy="603885"/>
          </a:xfrm>
          <a:prstGeom prst="rect">
            <a:avLst/>
          </a:prstGeom>
        </p:spPr>
        <p:txBody>
          <a:bodyPr anchor="t" rtlCol="false" tIns="0" lIns="0" bIns="0" rIns="0">
            <a:spAutoFit/>
          </a:bodyPr>
          <a:lstStyle/>
          <a:p>
            <a:pPr algn="l">
              <a:lnSpc>
                <a:spcPts val="3900"/>
              </a:lnSpc>
            </a:pPr>
            <a:r>
              <a:rPr lang="en-US" sz="3900" b="true">
                <a:solidFill>
                  <a:srgbClr val="003147"/>
                </a:solidFill>
                <a:latin typeface="Calibri (MS) Bold"/>
                <a:ea typeface="Calibri (MS) Bold"/>
                <a:cs typeface="Calibri (MS) Bold"/>
                <a:sym typeface="Calibri (MS) Bold"/>
              </a:rPr>
              <a:t>Definisi Wisata, Pariwisata, dan Kebijakan Pariwisata</a:t>
            </a:r>
          </a:p>
        </p:txBody>
      </p:sp>
      <p:grpSp>
        <p:nvGrpSpPr>
          <p:cNvPr name="Group 12" id="12"/>
          <p:cNvGrpSpPr/>
          <p:nvPr/>
        </p:nvGrpSpPr>
        <p:grpSpPr>
          <a:xfrm rot="0">
            <a:off x="1028700" y="2569234"/>
            <a:ext cx="15990827" cy="6520414"/>
            <a:chOff x="0" y="0"/>
            <a:chExt cx="21321103" cy="8693885"/>
          </a:xfrm>
        </p:grpSpPr>
        <p:sp>
          <p:nvSpPr>
            <p:cNvPr name="Freeform 13" id="13"/>
            <p:cNvSpPr/>
            <p:nvPr/>
          </p:nvSpPr>
          <p:spPr>
            <a:xfrm flipH="false" flipV="false" rot="0">
              <a:off x="0" y="7601179"/>
              <a:ext cx="21321103" cy="1092707"/>
            </a:xfrm>
            <a:custGeom>
              <a:avLst/>
              <a:gdLst/>
              <a:ahLst/>
              <a:cxnLst/>
              <a:rect r="r" b="b" t="t" l="l"/>
              <a:pathLst>
                <a:path h="1092707" w="21321103">
                  <a:moveTo>
                    <a:pt x="0" y="0"/>
                  </a:moveTo>
                  <a:lnTo>
                    <a:pt x="21321103" y="0"/>
                  </a:lnTo>
                  <a:lnTo>
                    <a:pt x="21321103" y="1092706"/>
                  </a:lnTo>
                  <a:lnTo>
                    <a:pt x="0" y="1092706"/>
                  </a:lnTo>
                  <a:lnTo>
                    <a:pt x="0" y="0"/>
                  </a:lnTo>
                  <a:close/>
                </a:path>
              </a:pathLst>
            </a:custGeom>
            <a:blipFill>
              <a:blip r:embed="rId5"/>
              <a:stretch>
                <a:fillRect l="0" t="0" r="0" b="0"/>
              </a:stretch>
            </a:blipFill>
          </p:spPr>
          <p:txBody>
            <a:bodyPr/>
            <a:p/>
          </p:txBody>
        </p:sp>
        <p:grpSp>
          <p:nvGrpSpPr>
            <p:cNvPr name="Group 14" id="14"/>
            <p:cNvGrpSpPr/>
            <p:nvPr/>
          </p:nvGrpSpPr>
          <p:grpSpPr>
            <a:xfrm rot="0">
              <a:off x="0" y="2971525"/>
              <a:ext cx="21321103" cy="4908152"/>
              <a:chOff x="0" y="0"/>
              <a:chExt cx="4211576" cy="969512"/>
            </a:xfrm>
          </p:grpSpPr>
          <p:sp>
            <p:nvSpPr>
              <p:cNvPr name="Freeform 15" id="15"/>
              <p:cNvSpPr/>
              <p:nvPr/>
            </p:nvSpPr>
            <p:spPr>
              <a:xfrm flipH="false" flipV="false" rot="0">
                <a:off x="0" y="0"/>
                <a:ext cx="4211576" cy="969512"/>
              </a:xfrm>
              <a:custGeom>
                <a:avLst/>
                <a:gdLst/>
                <a:ahLst/>
                <a:cxnLst/>
                <a:rect r="r" b="b" t="t" l="l"/>
                <a:pathLst>
                  <a:path h="969512" w="4211576">
                    <a:moveTo>
                      <a:pt x="23723" y="0"/>
                    </a:moveTo>
                    <a:lnTo>
                      <a:pt x="4187853" y="0"/>
                    </a:lnTo>
                    <a:cubicBezTo>
                      <a:pt x="4194144" y="0"/>
                      <a:pt x="4200179" y="2499"/>
                      <a:pt x="4204627" y="6948"/>
                    </a:cubicBezTo>
                    <a:cubicBezTo>
                      <a:pt x="4209076" y="11397"/>
                      <a:pt x="4211576" y="17431"/>
                      <a:pt x="4211576" y="23723"/>
                    </a:cubicBezTo>
                    <a:lnTo>
                      <a:pt x="4211576" y="945788"/>
                    </a:lnTo>
                    <a:cubicBezTo>
                      <a:pt x="4211576" y="958890"/>
                      <a:pt x="4200955" y="969512"/>
                      <a:pt x="4187853" y="969512"/>
                    </a:cubicBezTo>
                    <a:lnTo>
                      <a:pt x="23723" y="969512"/>
                    </a:lnTo>
                    <a:cubicBezTo>
                      <a:pt x="10621" y="969512"/>
                      <a:pt x="0" y="958890"/>
                      <a:pt x="0" y="945788"/>
                    </a:cubicBezTo>
                    <a:lnTo>
                      <a:pt x="0" y="23723"/>
                    </a:lnTo>
                    <a:cubicBezTo>
                      <a:pt x="0" y="10621"/>
                      <a:pt x="10621" y="0"/>
                      <a:pt x="23723" y="0"/>
                    </a:cubicBezTo>
                    <a:close/>
                  </a:path>
                </a:pathLst>
              </a:custGeom>
              <a:solidFill>
                <a:srgbClr val="0B5563"/>
              </a:solidFill>
            </p:spPr>
            <p:txBody>
              <a:bodyPr/>
              <a:p/>
            </p:txBody>
          </p:sp>
          <p:sp>
            <p:nvSpPr>
              <p:cNvPr name="TextBox 16" id="16"/>
              <p:cNvSpPr txBox="true"/>
              <p:nvPr/>
            </p:nvSpPr>
            <p:spPr>
              <a:xfrm>
                <a:off x="0" y="-104775"/>
                <a:ext cx="4211576" cy="1074287"/>
              </a:xfrm>
              <a:prstGeom prst="rect">
                <a:avLst/>
              </a:prstGeom>
            </p:spPr>
            <p:txBody>
              <a:bodyPr anchor="ctr" rtlCol="false" tIns="50800" lIns="50800" bIns="50800" rIns="50800"/>
              <a:lstStyle/>
              <a:p>
                <a:pPr algn="ctr">
                  <a:lnSpc>
                    <a:spcPts val="3640"/>
                  </a:lnSpc>
                </a:pPr>
              </a:p>
            </p:txBody>
          </p:sp>
        </p:grpSp>
        <p:grpSp>
          <p:nvGrpSpPr>
            <p:cNvPr name="Group 17" id="17"/>
            <p:cNvGrpSpPr/>
            <p:nvPr/>
          </p:nvGrpSpPr>
          <p:grpSpPr>
            <a:xfrm rot="0">
              <a:off x="1907418" y="0"/>
              <a:ext cx="3603413" cy="3603413"/>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230"/>
              </a:solidFill>
            </p:spPr>
            <p:txBody>
              <a:bodyPr/>
              <a:p/>
            </p:txBody>
          </p:sp>
          <p:sp>
            <p:nvSpPr>
              <p:cNvPr name="TextBox 19" id="19"/>
              <p:cNvSpPr txBox="true"/>
              <p:nvPr/>
            </p:nvSpPr>
            <p:spPr>
              <a:xfrm>
                <a:off x="76200" y="-28575"/>
                <a:ext cx="660400" cy="765175"/>
              </a:xfrm>
              <a:prstGeom prst="rect">
                <a:avLst/>
              </a:prstGeom>
            </p:spPr>
            <p:txBody>
              <a:bodyPr anchor="ctr" rtlCol="false" tIns="50800" lIns="50800" bIns="50800" rIns="50800"/>
              <a:lstStyle/>
              <a:p>
                <a:pPr algn="ctr">
                  <a:lnSpc>
                    <a:spcPts val="3640"/>
                  </a:lnSpc>
                </a:pPr>
              </a:p>
            </p:txBody>
          </p:sp>
        </p:grpSp>
        <p:grpSp>
          <p:nvGrpSpPr>
            <p:cNvPr name="Group 20" id="20"/>
            <p:cNvGrpSpPr/>
            <p:nvPr/>
          </p:nvGrpSpPr>
          <p:grpSpPr>
            <a:xfrm rot="0">
              <a:off x="9018694" y="0"/>
              <a:ext cx="3603413" cy="3603413"/>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230"/>
              </a:solidFill>
            </p:spPr>
            <p:txBody>
              <a:bodyPr/>
              <a:p/>
            </p:txBody>
          </p:sp>
          <p:sp>
            <p:nvSpPr>
              <p:cNvPr name="TextBox 22" id="22"/>
              <p:cNvSpPr txBox="true"/>
              <p:nvPr/>
            </p:nvSpPr>
            <p:spPr>
              <a:xfrm>
                <a:off x="76200" y="-28575"/>
                <a:ext cx="660400" cy="765175"/>
              </a:xfrm>
              <a:prstGeom prst="rect">
                <a:avLst/>
              </a:prstGeom>
            </p:spPr>
            <p:txBody>
              <a:bodyPr anchor="ctr" rtlCol="false" tIns="50800" lIns="50800" bIns="50800" rIns="50800"/>
              <a:lstStyle/>
              <a:p>
                <a:pPr algn="ctr">
                  <a:lnSpc>
                    <a:spcPts val="3640"/>
                  </a:lnSpc>
                </a:pPr>
              </a:p>
            </p:txBody>
          </p:sp>
        </p:grpSp>
        <p:grpSp>
          <p:nvGrpSpPr>
            <p:cNvPr name="Group 23" id="23"/>
            <p:cNvGrpSpPr/>
            <p:nvPr/>
          </p:nvGrpSpPr>
          <p:grpSpPr>
            <a:xfrm rot="0">
              <a:off x="16123554" y="0"/>
              <a:ext cx="3603413" cy="3603413"/>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230"/>
              </a:solidFill>
            </p:spPr>
            <p:txBody>
              <a:bodyPr/>
              <a:p/>
            </p:txBody>
          </p:sp>
          <p:sp>
            <p:nvSpPr>
              <p:cNvPr name="TextBox 25" id="25"/>
              <p:cNvSpPr txBox="true"/>
              <p:nvPr/>
            </p:nvSpPr>
            <p:spPr>
              <a:xfrm>
                <a:off x="76200" y="-28575"/>
                <a:ext cx="660400" cy="765175"/>
              </a:xfrm>
              <a:prstGeom prst="rect">
                <a:avLst/>
              </a:prstGeom>
            </p:spPr>
            <p:txBody>
              <a:bodyPr anchor="ctr" rtlCol="false" tIns="50800" lIns="50800" bIns="50800" rIns="50800"/>
              <a:lstStyle/>
              <a:p>
                <a:pPr algn="ctr">
                  <a:lnSpc>
                    <a:spcPts val="3640"/>
                  </a:lnSpc>
                </a:pPr>
              </a:p>
            </p:txBody>
          </p:sp>
        </p:grpSp>
        <p:sp>
          <p:nvSpPr>
            <p:cNvPr name="Freeform 26" id="26"/>
            <p:cNvSpPr/>
            <p:nvPr/>
          </p:nvSpPr>
          <p:spPr>
            <a:xfrm flipH="false" flipV="false" rot="-5400000">
              <a:off x="4870787" y="5302900"/>
              <a:ext cx="4788313" cy="245401"/>
            </a:xfrm>
            <a:custGeom>
              <a:avLst/>
              <a:gdLst/>
              <a:ahLst/>
              <a:cxnLst/>
              <a:rect r="r" b="b" t="t" l="l"/>
              <a:pathLst>
                <a:path h="245401" w="4788313">
                  <a:moveTo>
                    <a:pt x="0" y="0"/>
                  </a:moveTo>
                  <a:lnTo>
                    <a:pt x="4788313" y="0"/>
                  </a:lnTo>
                  <a:lnTo>
                    <a:pt x="4788313" y="245401"/>
                  </a:lnTo>
                  <a:lnTo>
                    <a:pt x="0" y="245401"/>
                  </a:lnTo>
                  <a:lnTo>
                    <a:pt x="0" y="0"/>
                  </a:lnTo>
                  <a:close/>
                </a:path>
              </a:pathLst>
            </a:custGeom>
            <a:blipFill>
              <a:blip r:embed="rId5"/>
              <a:stretch>
                <a:fillRect l="0" t="0" r="0" b="0"/>
              </a:stretch>
            </a:blipFill>
          </p:spPr>
          <p:txBody>
            <a:bodyPr/>
            <a:p/>
          </p:txBody>
        </p:sp>
        <p:sp>
          <p:nvSpPr>
            <p:cNvPr name="Freeform 27" id="27"/>
            <p:cNvSpPr/>
            <p:nvPr/>
          </p:nvSpPr>
          <p:spPr>
            <a:xfrm flipH="false" flipV="false" rot="-5400000">
              <a:off x="12217097" y="5302900"/>
              <a:ext cx="4788313" cy="245401"/>
            </a:xfrm>
            <a:custGeom>
              <a:avLst/>
              <a:gdLst/>
              <a:ahLst/>
              <a:cxnLst/>
              <a:rect r="r" b="b" t="t" l="l"/>
              <a:pathLst>
                <a:path h="245401" w="4788313">
                  <a:moveTo>
                    <a:pt x="0" y="0"/>
                  </a:moveTo>
                  <a:lnTo>
                    <a:pt x="4788314" y="0"/>
                  </a:lnTo>
                  <a:lnTo>
                    <a:pt x="4788314" y="245401"/>
                  </a:lnTo>
                  <a:lnTo>
                    <a:pt x="0" y="245401"/>
                  </a:lnTo>
                  <a:lnTo>
                    <a:pt x="0" y="0"/>
                  </a:lnTo>
                  <a:close/>
                </a:path>
              </a:pathLst>
            </a:custGeom>
            <a:blipFill>
              <a:blip r:embed="rId5"/>
              <a:stretch>
                <a:fillRect l="0" t="0" r="0" b="0"/>
              </a:stretch>
            </a:blipFill>
          </p:spPr>
          <p:txBody>
            <a:bodyPr/>
            <a:p/>
          </p:txBody>
        </p:sp>
        <p:sp>
          <p:nvSpPr>
            <p:cNvPr name="Freeform 28" id="28"/>
            <p:cNvSpPr/>
            <p:nvPr/>
          </p:nvSpPr>
          <p:spPr>
            <a:xfrm flipH="false" flipV="false" rot="0">
              <a:off x="2638675" y="703809"/>
              <a:ext cx="2140899" cy="2195794"/>
            </a:xfrm>
            <a:custGeom>
              <a:avLst/>
              <a:gdLst/>
              <a:ahLst/>
              <a:cxnLst/>
              <a:rect r="r" b="b" t="t" l="l"/>
              <a:pathLst>
                <a:path h="2195794" w="2140899">
                  <a:moveTo>
                    <a:pt x="0" y="0"/>
                  </a:moveTo>
                  <a:lnTo>
                    <a:pt x="2140899" y="0"/>
                  </a:lnTo>
                  <a:lnTo>
                    <a:pt x="2140899" y="2195794"/>
                  </a:lnTo>
                  <a:lnTo>
                    <a:pt x="0" y="21957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txBody>
            <a:bodyPr/>
            <a:p/>
          </p:txBody>
        </p:sp>
        <p:sp>
          <p:nvSpPr>
            <p:cNvPr name="Freeform 29" id="29"/>
            <p:cNvSpPr/>
            <p:nvPr/>
          </p:nvSpPr>
          <p:spPr>
            <a:xfrm flipH="false" flipV="false" rot="0">
              <a:off x="9674226" y="865021"/>
              <a:ext cx="2470872" cy="1873370"/>
            </a:xfrm>
            <a:custGeom>
              <a:avLst/>
              <a:gdLst/>
              <a:ahLst/>
              <a:cxnLst/>
              <a:rect r="r" b="b" t="t" l="l"/>
              <a:pathLst>
                <a:path h="1873370" w="2470872">
                  <a:moveTo>
                    <a:pt x="0" y="0"/>
                  </a:moveTo>
                  <a:lnTo>
                    <a:pt x="2470872" y="0"/>
                  </a:lnTo>
                  <a:lnTo>
                    <a:pt x="2470872" y="1873370"/>
                  </a:lnTo>
                  <a:lnTo>
                    <a:pt x="0" y="18733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txBody>
            <a:bodyPr/>
            <a:p/>
          </p:txBody>
        </p:sp>
        <p:sp>
          <p:nvSpPr>
            <p:cNvPr name="Freeform 30" id="30"/>
            <p:cNvSpPr/>
            <p:nvPr/>
          </p:nvSpPr>
          <p:spPr>
            <a:xfrm flipH="false" flipV="false" rot="0">
              <a:off x="16781573" y="658019"/>
              <a:ext cx="2287374" cy="2287374"/>
            </a:xfrm>
            <a:custGeom>
              <a:avLst/>
              <a:gdLst/>
              <a:ahLst/>
              <a:cxnLst/>
              <a:rect r="r" b="b" t="t" l="l"/>
              <a:pathLst>
                <a:path h="2287374" w="2287374">
                  <a:moveTo>
                    <a:pt x="0" y="0"/>
                  </a:moveTo>
                  <a:lnTo>
                    <a:pt x="2287375" y="0"/>
                  </a:lnTo>
                  <a:lnTo>
                    <a:pt x="2287375" y="2287374"/>
                  </a:lnTo>
                  <a:lnTo>
                    <a:pt x="0" y="228737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txBody>
            <a:bodyPr/>
            <a:p/>
          </p:txBody>
        </p:sp>
        <p:sp>
          <p:nvSpPr>
            <p:cNvPr name="TextBox 31" id="31"/>
            <p:cNvSpPr txBox="true"/>
            <p:nvPr/>
          </p:nvSpPr>
          <p:spPr>
            <a:xfrm rot="0">
              <a:off x="1392471" y="3990104"/>
              <a:ext cx="4633307" cy="818092"/>
            </a:xfrm>
            <a:prstGeom prst="rect">
              <a:avLst/>
            </a:prstGeom>
          </p:spPr>
          <p:txBody>
            <a:bodyPr anchor="t" rtlCol="false" tIns="0" lIns="0" bIns="0" rIns="0">
              <a:spAutoFit/>
            </a:bodyPr>
            <a:lstStyle/>
            <a:p>
              <a:pPr algn="ctr">
                <a:lnSpc>
                  <a:spcPts val="3999"/>
                </a:lnSpc>
              </a:pPr>
              <a:r>
                <a:rPr lang="en-US" sz="3999" b="true">
                  <a:solidFill>
                    <a:srgbClr val="FFFFFF"/>
                  </a:solidFill>
                  <a:latin typeface="Calibri (MS) Bold"/>
                  <a:ea typeface="Calibri (MS) Bold"/>
                  <a:cs typeface="Calibri (MS) Bold"/>
                  <a:sym typeface="Calibri (MS) Bold"/>
                </a:rPr>
                <a:t>Wisata</a:t>
              </a:r>
            </a:p>
          </p:txBody>
        </p:sp>
        <p:sp>
          <p:nvSpPr>
            <p:cNvPr name="TextBox 32" id="32"/>
            <p:cNvSpPr txBox="true"/>
            <p:nvPr/>
          </p:nvSpPr>
          <p:spPr>
            <a:xfrm rot="0">
              <a:off x="8027623" y="3990104"/>
              <a:ext cx="5574087" cy="818092"/>
            </a:xfrm>
            <a:prstGeom prst="rect">
              <a:avLst/>
            </a:prstGeom>
          </p:spPr>
          <p:txBody>
            <a:bodyPr anchor="t" rtlCol="false" tIns="0" lIns="0" bIns="0" rIns="0">
              <a:spAutoFit/>
            </a:bodyPr>
            <a:lstStyle/>
            <a:p>
              <a:pPr algn="ctr">
                <a:lnSpc>
                  <a:spcPts val="3999"/>
                </a:lnSpc>
              </a:pPr>
              <a:r>
                <a:rPr lang="en-US" sz="3999" b="true">
                  <a:solidFill>
                    <a:srgbClr val="FFFFFF"/>
                  </a:solidFill>
                  <a:latin typeface="Calibri (MS) Bold"/>
                  <a:ea typeface="Calibri (MS) Bold"/>
                  <a:cs typeface="Calibri (MS) Bold"/>
                  <a:sym typeface="Calibri (MS) Bold"/>
                </a:rPr>
                <a:t>Pariwisata</a:t>
              </a:r>
            </a:p>
          </p:txBody>
        </p:sp>
        <p:sp>
          <p:nvSpPr>
            <p:cNvPr name="TextBox 33" id="33"/>
            <p:cNvSpPr txBox="true"/>
            <p:nvPr/>
          </p:nvSpPr>
          <p:spPr>
            <a:xfrm rot="0">
              <a:off x="15615746" y="3653554"/>
              <a:ext cx="4633307" cy="1491192"/>
            </a:xfrm>
            <a:prstGeom prst="rect">
              <a:avLst/>
            </a:prstGeom>
          </p:spPr>
          <p:txBody>
            <a:bodyPr anchor="t" rtlCol="false" tIns="0" lIns="0" bIns="0" rIns="0">
              <a:spAutoFit/>
            </a:bodyPr>
            <a:lstStyle/>
            <a:p>
              <a:pPr algn="ctr">
                <a:lnSpc>
                  <a:spcPts val="3999"/>
                </a:lnSpc>
              </a:pPr>
              <a:r>
                <a:rPr lang="en-US" sz="3999" b="true">
                  <a:solidFill>
                    <a:srgbClr val="FFFFFF"/>
                  </a:solidFill>
                  <a:latin typeface="Calibri (MS) Bold"/>
                  <a:ea typeface="Calibri (MS) Bold"/>
                  <a:cs typeface="Calibri (MS) Bold"/>
                  <a:sym typeface="Calibri (MS) Bold"/>
                </a:rPr>
                <a:t>Kebijakan Pariwisata</a:t>
              </a:r>
            </a:p>
          </p:txBody>
        </p:sp>
        <p:sp>
          <p:nvSpPr>
            <p:cNvPr name="TextBox 34" id="34"/>
            <p:cNvSpPr txBox="true"/>
            <p:nvPr/>
          </p:nvSpPr>
          <p:spPr>
            <a:xfrm rot="0">
              <a:off x="915986" y="5128213"/>
              <a:ext cx="5586278" cy="1418167"/>
            </a:xfrm>
            <a:prstGeom prst="rect">
              <a:avLst/>
            </a:prstGeom>
          </p:spPr>
          <p:txBody>
            <a:bodyPr anchor="t" rtlCol="false" tIns="0" lIns="0" bIns="0" rIns="0">
              <a:spAutoFit/>
            </a:bodyPr>
            <a:lstStyle/>
            <a:p>
              <a:pPr algn="just">
                <a:lnSpc>
                  <a:spcPts val="2800"/>
                </a:lnSpc>
              </a:pPr>
              <a:r>
                <a:rPr lang="en-US" sz="2000">
                  <a:solidFill>
                    <a:srgbClr val="FFFFFF"/>
                  </a:solidFill>
                  <a:latin typeface="Calibri (MS)"/>
                  <a:ea typeface="Calibri (MS)"/>
                  <a:cs typeface="Calibri (MS)"/>
                  <a:sym typeface="Calibri (MS)"/>
                </a:rPr>
                <a:t>Perjalanan sementara untuk rekreasi, pengembangan pribadi, atau mempelajari daya tarik suatu tempat.</a:t>
              </a:r>
            </a:p>
          </p:txBody>
        </p:sp>
        <p:sp>
          <p:nvSpPr>
            <p:cNvPr name="TextBox 35" id="35"/>
            <p:cNvSpPr txBox="true"/>
            <p:nvPr/>
          </p:nvSpPr>
          <p:spPr>
            <a:xfrm rot="0">
              <a:off x="8027623" y="5128213"/>
              <a:ext cx="5586278" cy="1418167"/>
            </a:xfrm>
            <a:prstGeom prst="rect">
              <a:avLst/>
            </a:prstGeom>
          </p:spPr>
          <p:txBody>
            <a:bodyPr anchor="t" rtlCol="false" tIns="0" lIns="0" bIns="0" rIns="0">
              <a:spAutoFit/>
            </a:bodyPr>
            <a:lstStyle/>
            <a:p>
              <a:pPr algn="just">
                <a:lnSpc>
                  <a:spcPts val="2800"/>
                </a:lnSpc>
              </a:pPr>
              <a:r>
                <a:rPr lang="en-US" sz="2000">
                  <a:solidFill>
                    <a:srgbClr val="FFFFFF"/>
                  </a:solidFill>
                  <a:latin typeface="Calibri (MS)"/>
                  <a:ea typeface="Calibri (MS)"/>
                  <a:cs typeface="Calibri (MS)"/>
                  <a:sym typeface="Calibri (MS)"/>
                </a:rPr>
                <a:t>Berbagai kegiatan wisata beserta fasilitas dan layanan yang mendukungnya.</a:t>
              </a:r>
            </a:p>
          </p:txBody>
        </p:sp>
        <p:sp>
          <p:nvSpPr>
            <p:cNvPr name="TextBox 36" id="36"/>
            <p:cNvSpPr txBox="true"/>
            <p:nvPr/>
          </p:nvSpPr>
          <p:spPr>
            <a:xfrm rot="0">
              <a:off x="15139261" y="5128213"/>
              <a:ext cx="5586278" cy="1888067"/>
            </a:xfrm>
            <a:prstGeom prst="rect">
              <a:avLst/>
            </a:prstGeom>
          </p:spPr>
          <p:txBody>
            <a:bodyPr anchor="t" rtlCol="false" tIns="0" lIns="0" bIns="0" rIns="0">
              <a:spAutoFit/>
            </a:bodyPr>
            <a:lstStyle/>
            <a:p>
              <a:pPr algn="just">
                <a:lnSpc>
                  <a:spcPts val="2800"/>
                </a:lnSpc>
              </a:pPr>
              <a:r>
                <a:rPr lang="en-US" sz="2000">
                  <a:solidFill>
                    <a:srgbClr val="FFFFFF"/>
                  </a:solidFill>
                  <a:latin typeface="Calibri (MS)"/>
                  <a:ea typeface="Calibri (MS)"/>
                  <a:cs typeface="Calibri (MS)"/>
                  <a:sym typeface="Calibri (MS)"/>
                </a:rPr>
                <a:t>Arahan pengembangan dan pengelolaan pariwisata untuk mencapai tujuan ekonomi, kesejahteraan masyarakat, dan keberlanjutan lingkungan.</a:t>
              </a:r>
            </a:p>
          </p:txBody>
        </p:sp>
      </p:grpSp>
      <p:grpSp>
        <p:nvGrpSpPr>
          <p:cNvPr name="Group 37" id="37"/>
          <p:cNvGrpSpPr/>
          <p:nvPr/>
        </p:nvGrpSpPr>
        <p:grpSpPr>
          <a:xfrm rot="0">
            <a:off x="822960" y="9669780"/>
            <a:ext cx="8229600" cy="411480"/>
            <a:chOff x="0" y="0"/>
            <a:chExt cx="10972800" cy="548640"/>
          </a:xfrm>
        </p:grpSpPr>
        <p:sp>
          <p:nvSpPr>
            <p:cNvPr name="Freeform 38" id="38"/>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4">
                <a:alphaModFix amt="0"/>
              </a:blip>
              <a:stretch>
                <a:fillRect l="0" t="-339700" r="0" b="-339700"/>
              </a:stretch>
            </a:blipFill>
          </p:spPr>
          <p:txBody>
            <a:bodyPr/>
            <a:p/>
          </p:txBody>
        </p:sp>
        <p:sp>
          <p:nvSpPr>
            <p:cNvPr name="TextBox 39" id="39"/>
            <p:cNvSpPr txBox="true"/>
            <p:nvPr/>
          </p:nvSpPr>
          <p:spPr>
            <a:xfrm>
              <a:off x="0" y="-28575"/>
              <a:ext cx="10972800" cy="577215"/>
            </a:xfrm>
            <a:prstGeom prst="rect">
              <a:avLst/>
            </a:prstGeom>
          </p:spPr>
          <p:txBody>
            <a:bodyPr anchor="ctr" rtlCol="false" tIns="0" lIns="0" bIns="0" rIns="0"/>
            <a:lstStyle/>
            <a:p>
              <a:pPr algn="l">
                <a:lnSpc>
                  <a:spcPts val="1620"/>
                </a:lnSpc>
              </a:pPr>
              <a:r>
                <a:rPr lang="en-US" sz="1350">
                  <a:solidFill>
                    <a:srgbClr val="000000"/>
                  </a:solidFill>
                  <a:latin typeface="Calibri (MS)"/>
                  <a:ea typeface="Calibri (MS)"/>
                  <a:cs typeface="Calibri (MS)"/>
                  <a:sym typeface="Calibri (MS)"/>
                </a:rPr>
                <a:t>Sidang Skripsi  ·  Politeknik Statistika STIS</a:t>
              </a:r>
            </a:p>
          </p:txBody>
        </p:sp>
      </p:grpSp>
      <p:sp>
        <p:nvSpPr>
          <p:cNvPr name="TextBox 40" id="40"/>
          <p:cNvSpPr txBox="true"/>
          <p:nvPr/>
        </p:nvSpPr>
        <p:spPr>
          <a:xfrm rot="0">
            <a:off x="1148586" y="8611614"/>
            <a:ext cx="15990827" cy="323850"/>
          </a:xfrm>
          <a:prstGeom prst="rect">
            <a:avLst/>
          </a:prstGeom>
        </p:spPr>
        <p:txBody>
          <a:bodyPr anchor="t" rtlCol="false" tIns="0" lIns="0" bIns="0" rIns="0">
            <a:spAutoFit/>
          </a:bodyPr>
          <a:lstStyle/>
          <a:p>
            <a:pPr algn="ctr">
              <a:lnSpc>
                <a:spcPts val="2250"/>
              </a:lnSpc>
              <a:spcBef>
                <a:spcPct val="0"/>
              </a:spcBef>
            </a:pPr>
            <a:r>
              <a:rPr lang="en-US" sz="1875">
                <a:solidFill>
                  <a:srgbClr val="000000"/>
                </a:solidFill>
                <a:latin typeface="Calibri (MS)"/>
                <a:ea typeface="Calibri (MS)"/>
                <a:cs typeface="Calibri (MS)"/>
                <a:sym typeface="Calibri (MS)"/>
              </a:rPr>
              <a:t>Sumber: Undang - Undang Republik Indonesia Nomor 10 Tahun 2009 Tentang Kepariwisataan; Keller (2015); Saputra (2020)</a:t>
            </a:r>
          </a:p>
        </p:txBody>
      </p:sp>
      <p:sp>
        <p:nvSpPr>
          <p:cNvPr name="TextBox 41" id="41"/>
          <p:cNvSpPr txBox="true"/>
          <p:nvPr/>
        </p:nvSpPr>
        <p:spPr>
          <a:xfrm rot="0">
            <a:off x="16550640" y="9718548"/>
            <a:ext cx="818388" cy="2667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76</a:t>
            </a:r>
          </a:p>
        </p:txBody>
      </p:sp>
      <p:sp>
        <p:nvSpPr>
          <p:cNvPr name="TextBox 42" id="4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76</a:t>
            </a:r>
          </a:p>
        </p:txBody>
      </p:sp>
    </p:spTree>
  </p:cSld>
  <p:clrMapOvr>
    <a:masterClrMapping/>
  </p:clrMapOvr>
</p:sld>
</file>

<file path=ppt/slides/slide7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2 · Nilai 35 parameter menurut jenis sumbernya</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grpSp>
        <p:nvGrpSpPr>
          <p:cNvPr name="Group 17" id="17"/>
          <p:cNvGrpSpPr/>
          <p:nvPr/>
        </p:nvGrpSpPr>
        <p:grpSpPr>
          <a:xfrm rot="0">
            <a:off x="822960" y="2331720"/>
            <a:ext cx="3154680" cy="6858000"/>
            <a:chOff x="0" y="0"/>
            <a:chExt cx="4206240" cy="9144000"/>
          </a:xfrm>
        </p:grpSpPr>
        <p:sp>
          <p:nvSpPr>
            <p:cNvPr name="Freeform 18" id="18"/>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sp>
      </p:grpSp>
      <p:sp>
        <p:nvSpPr>
          <p:cNvPr name="TextBox 19" id="19"/>
          <p:cNvSpPr txBox="true"/>
          <p:nvPr/>
        </p:nvSpPr>
        <p:spPr>
          <a:xfrm rot="0">
            <a:off x="1028700" y="2420112"/>
            <a:ext cx="2743200" cy="7620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Data statistik resmi</a:t>
            </a:r>
          </a:p>
        </p:txBody>
      </p:sp>
      <p:grpSp>
        <p:nvGrpSpPr>
          <p:cNvPr name="Group 20" id="20"/>
          <p:cNvGrpSpPr/>
          <p:nvPr/>
        </p:nvGrpSpPr>
        <p:grpSpPr>
          <a:xfrm rot="0">
            <a:off x="1028700" y="3236976"/>
            <a:ext cx="1783080" cy="384048"/>
            <a:chOff x="0" y="0"/>
            <a:chExt cx="2377440" cy="512064"/>
          </a:xfrm>
        </p:grpSpPr>
        <p:sp>
          <p:nvSpPr>
            <p:cNvPr name="Freeform 21" id="21"/>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39C0D3"/>
            </a:solidFill>
          </p:spPr>
        </p:sp>
      </p:grpSp>
      <p:grpSp>
        <p:nvGrpSpPr>
          <p:cNvPr name="Group 22" id="22"/>
          <p:cNvGrpSpPr/>
          <p:nvPr/>
        </p:nvGrpSpPr>
        <p:grpSpPr>
          <a:xfrm rot="0">
            <a:off x="1028700" y="3236976"/>
            <a:ext cx="1783080" cy="384048"/>
            <a:chOff x="0" y="0"/>
            <a:chExt cx="2377440" cy="512064"/>
          </a:xfrm>
        </p:grpSpPr>
        <p:sp>
          <p:nvSpPr>
            <p:cNvPr name="Freeform 23" id="23"/>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sp>
      </p:grpSp>
      <p:grpSp>
        <p:nvGrpSpPr>
          <p:cNvPr name="Group 24" id="24"/>
          <p:cNvGrpSpPr/>
          <p:nvPr/>
        </p:nvGrpSpPr>
        <p:grpSpPr>
          <a:xfrm rot="0">
            <a:off x="1028700" y="3208401"/>
            <a:ext cx="1783080" cy="412623"/>
            <a:chOff x="0" y="0"/>
            <a:chExt cx="2377440" cy="550164"/>
          </a:xfrm>
        </p:grpSpPr>
        <p:sp>
          <p:nvSpPr>
            <p:cNvPr name="Freeform 25" id="25"/>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201" r="0" b="-34201"/>
              </a:stretch>
            </a:blipFill>
          </p:spPr>
        </p:sp>
        <p:sp>
          <p:nvSpPr>
            <p:cNvPr name="TextBox 26" id="26"/>
            <p:cNvSpPr txBox="true"/>
            <p:nvPr/>
          </p:nvSpPr>
          <p:spPr>
            <a:xfrm>
              <a:off x="0" y="-38100"/>
              <a:ext cx="2377440" cy="588264"/>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11 parameter</a:t>
              </a:r>
            </a:p>
          </p:txBody>
        </p:sp>
      </p:grpSp>
      <p:sp>
        <p:nvSpPr>
          <p:cNvPr name="TextBox 27" id="27"/>
          <p:cNvSpPr txBox="true"/>
          <p:nvPr/>
        </p:nvSpPr>
        <p:spPr>
          <a:xfrm rot="0">
            <a:off x="1028700" y="3802380"/>
            <a:ext cx="2811780" cy="5318760"/>
          </a:xfrm>
          <a:prstGeom prst="rect">
            <a:avLst/>
          </a:prstGeom>
        </p:spPr>
        <p:txBody>
          <a:bodyPr anchor="t" rtlCol="false" tIns="0" lIns="0" bIns="0" rIns="0">
            <a:spAutoFit/>
          </a:bodyPr>
          <a:lstStyle/>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Pengeluaran/kunjungan: 0,00272 miliar Rp</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Rasio nilai tambah: 0,1531</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Rasio investasi/PDRB: 0,0488</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Proporsi menginap: 0,2058</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Lama menginap: 1,427 malam</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TPG: 2,07</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Kamar/unit: 21,4168</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Malam tersedia/kamar: 329,03</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Luas lahan: 317.036 ha</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Intensitas TK awal: 21,5366</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Kenaikan produktivitas: 0,0110</a:t>
            </a:r>
          </a:p>
        </p:txBody>
      </p:sp>
      <p:grpSp>
        <p:nvGrpSpPr>
          <p:cNvPr name="Group 28" id="28"/>
          <p:cNvGrpSpPr/>
          <p:nvPr/>
        </p:nvGrpSpPr>
        <p:grpSpPr>
          <a:xfrm rot="0">
            <a:off x="4197096" y="2331720"/>
            <a:ext cx="3154680" cy="6858000"/>
            <a:chOff x="0" y="0"/>
            <a:chExt cx="4206240" cy="9144000"/>
          </a:xfrm>
        </p:grpSpPr>
        <p:sp>
          <p:nvSpPr>
            <p:cNvPr name="Freeform 29" id="29"/>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sp>
      </p:grpSp>
      <p:sp>
        <p:nvSpPr>
          <p:cNvPr name="TextBox 30" id="30"/>
          <p:cNvSpPr txBox="true"/>
          <p:nvPr/>
        </p:nvSpPr>
        <p:spPr>
          <a:xfrm rot="0">
            <a:off x="4402836" y="2420112"/>
            <a:ext cx="2743200" cy="7620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Identitas stok-aliran</a:t>
            </a:r>
          </a:p>
        </p:txBody>
      </p:sp>
      <p:grpSp>
        <p:nvGrpSpPr>
          <p:cNvPr name="Group 31" id="31"/>
          <p:cNvGrpSpPr/>
          <p:nvPr/>
        </p:nvGrpSpPr>
        <p:grpSpPr>
          <a:xfrm rot="0">
            <a:off x="4402836" y="3236976"/>
            <a:ext cx="1783080" cy="384048"/>
            <a:chOff x="0" y="0"/>
            <a:chExt cx="2377440" cy="512064"/>
          </a:xfrm>
        </p:grpSpPr>
        <p:sp>
          <p:nvSpPr>
            <p:cNvPr name="Freeform 32" id="32"/>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39C0D3"/>
            </a:solidFill>
          </p:spPr>
        </p:sp>
      </p:grpSp>
      <p:grpSp>
        <p:nvGrpSpPr>
          <p:cNvPr name="Group 33" id="33"/>
          <p:cNvGrpSpPr/>
          <p:nvPr/>
        </p:nvGrpSpPr>
        <p:grpSpPr>
          <a:xfrm rot="0">
            <a:off x="4402836" y="3236976"/>
            <a:ext cx="1783080" cy="384048"/>
            <a:chOff x="0" y="0"/>
            <a:chExt cx="2377440" cy="512064"/>
          </a:xfrm>
        </p:grpSpPr>
        <p:sp>
          <p:nvSpPr>
            <p:cNvPr name="Freeform 34" id="34"/>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sp>
      </p:grpSp>
      <p:grpSp>
        <p:nvGrpSpPr>
          <p:cNvPr name="Group 35" id="35"/>
          <p:cNvGrpSpPr/>
          <p:nvPr/>
        </p:nvGrpSpPr>
        <p:grpSpPr>
          <a:xfrm rot="0">
            <a:off x="4402836" y="3208401"/>
            <a:ext cx="1783080" cy="412623"/>
            <a:chOff x="0" y="0"/>
            <a:chExt cx="2377440" cy="550164"/>
          </a:xfrm>
        </p:grpSpPr>
        <p:sp>
          <p:nvSpPr>
            <p:cNvPr name="Freeform 36" id="36"/>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201" r="0" b="-34201"/>
              </a:stretch>
            </a:blipFill>
          </p:spPr>
        </p:sp>
        <p:sp>
          <p:nvSpPr>
            <p:cNvPr name="TextBox 37" id="37"/>
            <p:cNvSpPr txBox="true"/>
            <p:nvPr/>
          </p:nvSpPr>
          <p:spPr>
            <a:xfrm>
              <a:off x="0" y="-38100"/>
              <a:ext cx="2377440" cy="588264"/>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8 parameter</a:t>
              </a:r>
            </a:p>
          </p:txBody>
        </p:sp>
      </p:grpSp>
      <p:sp>
        <p:nvSpPr>
          <p:cNvPr name="TextBox 38" id="38"/>
          <p:cNvSpPr txBox="true"/>
          <p:nvPr/>
        </p:nvSpPr>
        <p:spPr>
          <a:xfrm rot="0">
            <a:off x="4402836" y="3802380"/>
            <a:ext cx="2811780" cy="5318760"/>
          </a:xfrm>
          <a:prstGeom prst="rect">
            <a:avLst/>
          </a:prstGeom>
        </p:spPr>
        <p:txBody>
          <a:bodyPr anchor="t" rtlCol="false" tIns="0" lIns="0" bIns="0" rIns="0">
            <a:spAutoFit/>
          </a:bodyPr>
          <a:lstStyle/>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LPE: 0,27726</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LPD: 0,207945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Sens. konstruksi thd TPK: 2,31385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TPK ambang: 0,275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Sens. ODTW thd investasi: 0,010519</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Laju ODTW non-investasi: 5,4272</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Laju penutupan ODTW: 0,04993</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Laju konversi dasar: 0,0436052</a:t>
            </a:r>
          </a:p>
        </p:txBody>
      </p:sp>
      <p:grpSp>
        <p:nvGrpSpPr>
          <p:cNvPr name="Group 39" id="39"/>
          <p:cNvGrpSpPr/>
          <p:nvPr/>
        </p:nvGrpSpPr>
        <p:grpSpPr>
          <a:xfrm rot="0">
            <a:off x="7571232" y="2331720"/>
            <a:ext cx="3154680" cy="6858000"/>
            <a:chOff x="0" y="0"/>
            <a:chExt cx="4206240" cy="9144000"/>
          </a:xfrm>
        </p:grpSpPr>
        <p:sp>
          <p:nvSpPr>
            <p:cNvPr name="Freeform 40" id="40"/>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sp>
      </p:grpSp>
      <p:sp>
        <p:nvSpPr>
          <p:cNvPr name="TextBox 41" id="41"/>
          <p:cNvSpPr txBox="true"/>
          <p:nvPr/>
        </p:nvSpPr>
        <p:spPr>
          <a:xfrm rot="0">
            <a:off x="7776972" y="2420112"/>
            <a:ext cx="2743200" cy="7620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Ketentuan regulasi</a:t>
            </a:r>
          </a:p>
        </p:txBody>
      </p:sp>
      <p:grpSp>
        <p:nvGrpSpPr>
          <p:cNvPr name="Group 42" id="42"/>
          <p:cNvGrpSpPr/>
          <p:nvPr/>
        </p:nvGrpSpPr>
        <p:grpSpPr>
          <a:xfrm rot="0">
            <a:off x="7776972" y="3236976"/>
            <a:ext cx="1783080" cy="384048"/>
            <a:chOff x="0" y="0"/>
            <a:chExt cx="2377440" cy="512064"/>
          </a:xfrm>
        </p:grpSpPr>
        <p:sp>
          <p:nvSpPr>
            <p:cNvPr name="Freeform 43" id="43"/>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FFD23B"/>
            </a:solidFill>
          </p:spPr>
        </p:sp>
      </p:grpSp>
      <p:grpSp>
        <p:nvGrpSpPr>
          <p:cNvPr name="Group 44" id="44"/>
          <p:cNvGrpSpPr/>
          <p:nvPr/>
        </p:nvGrpSpPr>
        <p:grpSpPr>
          <a:xfrm rot="0">
            <a:off x="7776972" y="3236976"/>
            <a:ext cx="1783080" cy="384048"/>
            <a:chOff x="0" y="0"/>
            <a:chExt cx="2377440" cy="512064"/>
          </a:xfrm>
        </p:grpSpPr>
        <p:sp>
          <p:nvSpPr>
            <p:cNvPr name="Freeform 45" id="45"/>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sp>
      </p:grpSp>
      <p:grpSp>
        <p:nvGrpSpPr>
          <p:cNvPr name="Group 46" id="46"/>
          <p:cNvGrpSpPr/>
          <p:nvPr/>
        </p:nvGrpSpPr>
        <p:grpSpPr>
          <a:xfrm rot="0">
            <a:off x="7776972" y="3208401"/>
            <a:ext cx="1783080" cy="412623"/>
            <a:chOff x="0" y="0"/>
            <a:chExt cx="2377440" cy="550164"/>
          </a:xfrm>
        </p:grpSpPr>
        <p:sp>
          <p:nvSpPr>
            <p:cNvPr name="Freeform 47" id="47"/>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201" r="0" b="-34201"/>
              </a:stretch>
            </a:blipFill>
          </p:spPr>
        </p:sp>
        <p:sp>
          <p:nvSpPr>
            <p:cNvPr name="TextBox 48" id="48"/>
            <p:cNvSpPr txBox="true"/>
            <p:nvPr/>
          </p:nvSpPr>
          <p:spPr>
            <a:xfrm>
              <a:off x="0" y="-38100"/>
              <a:ext cx="2377440" cy="588264"/>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2 parameter</a:t>
              </a:r>
            </a:p>
          </p:txBody>
        </p:sp>
      </p:grpSp>
      <p:sp>
        <p:nvSpPr>
          <p:cNvPr name="TextBox 49" id="49"/>
          <p:cNvSpPr txBox="true"/>
          <p:nvPr/>
        </p:nvSpPr>
        <p:spPr>
          <a:xfrm rot="0">
            <a:off x="7776972" y="3802380"/>
            <a:ext cx="2811780" cy="5318760"/>
          </a:xfrm>
          <a:prstGeom prst="rect">
            <a:avLst/>
          </a:prstGeom>
        </p:spPr>
        <p:txBody>
          <a:bodyPr anchor="t" rtlCol="false" tIns="0" lIns="0" bIns="0" rIns="0">
            <a:spAutoFit/>
          </a:bodyPr>
          <a:lstStyle/>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Laju demolisi dasar: 0,05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Laju keluar dasar tenaga kerja: 0,03</a:t>
            </a:r>
          </a:p>
        </p:txBody>
      </p:sp>
      <p:grpSp>
        <p:nvGrpSpPr>
          <p:cNvPr name="Group 50" id="50"/>
          <p:cNvGrpSpPr/>
          <p:nvPr/>
        </p:nvGrpSpPr>
        <p:grpSpPr>
          <a:xfrm rot="0">
            <a:off x="10945368" y="2331720"/>
            <a:ext cx="3154680" cy="6858000"/>
            <a:chOff x="0" y="0"/>
            <a:chExt cx="4206240" cy="9144000"/>
          </a:xfrm>
        </p:grpSpPr>
        <p:sp>
          <p:nvSpPr>
            <p:cNvPr name="Freeform 51" id="51"/>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sp>
      </p:grpSp>
      <p:sp>
        <p:nvSpPr>
          <p:cNvPr name="TextBox 52" id="52"/>
          <p:cNvSpPr txBox="true"/>
          <p:nvPr/>
        </p:nvSpPr>
        <p:spPr>
          <a:xfrm rot="0">
            <a:off x="11151108" y="2420112"/>
            <a:ext cx="2743200" cy="7620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Asumsi pemodelan</a:t>
            </a:r>
          </a:p>
        </p:txBody>
      </p:sp>
      <p:grpSp>
        <p:nvGrpSpPr>
          <p:cNvPr name="Group 53" id="53"/>
          <p:cNvGrpSpPr/>
          <p:nvPr/>
        </p:nvGrpSpPr>
        <p:grpSpPr>
          <a:xfrm rot="0">
            <a:off x="11151108" y="3236976"/>
            <a:ext cx="1783080" cy="384048"/>
            <a:chOff x="0" y="0"/>
            <a:chExt cx="2377440" cy="512064"/>
          </a:xfrm>
        </p:grpSpPr>
        <p:sp>
          <p:nvSpPr>
            <p:cNvPr name="Freeform 54" id="54"/>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FFD23B"/>
            </a:solidFill>
          </p:spPr>
        </p:sp>
      </p:grpSp>
      <p:grpSp>
        <p:nvGrpSpPr>
          <p:cNvPr name="Group 55" id="55"/>
          <p:cNvGrpSpPr/>
          <p:nvPr/>
        </p:nvGrpSpPr>
        <p:grpSpPr>
          <a:xfrm rot="0">
            <a:off x="11151108" y="3236976"/>
            <a:ext cx="1783080" cy="384048"/>
            <a:chOff x="0" y="0"/>
            <a:chExt cx="2377440" cy="512064"/>
          </a:xfrm>
        </p:grpSpPr>
        <p:sp>
          <p:nvSpPr>
            <p:cNvPr name="Freeform 56" id="56"/>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sp>
      </p:grpSp>
      <p:grpSp>
        <p:nvGrpSpPr>
          <p:cNvPr name="Group 57" id="57"/>
          <p:cNvGrpSpPr/>
          <p:nvPr/>
        </p:nvGrpSpPr>
        <p:grpSpPr>
          <a:xfrm rot="0">
            <a:off x="11151108" y="3208401"/>
            <a:ext cx="1783080" cy="412623"/>
            <a:chOff x="0" y="0"/>
            <a:chExt cx="2377440" cy="550164"/>
          </a:xfrm>
        </p:grpSpPr>
        <p:sp>
          <p:nvSpPr>
            <p:cNvPr name="Freeform 58" id="58"/>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201" r="0" b="-34201"/>
              </a:stretch>
            </a:blipFill>
          </p:spPr>
        </p:sp>
        <p:sp>
          <p:nvSpPr>
            <p:cNvPr name="TextBox 59" id="59"/>
            <p:cNvSpPr txBox="true"/>
            <p:nvPr/>
          </p:nvSpPr>
          <p:spPr>
            <a:xfrm>
              <a:off x="0" y="-38100"/>
              <a:ext cx="2377440" cy="588264"/>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8 parameter</a:t>
              </a:r>
            </a:p>
          </p:txBody>
        </p:sp>
      </p:grpSp>
      <p:sp>
        <p:nvSpPr>
          <p:cNvPr name="TextBox 60" id="60"/>
          <p:cNvSpPr txBox="true"/>
          <p:nvPr/>
        </p:nvSpPr>
        <p:spPr>
          <a:xfrm rot="0">
            <a:off x="11151108" y="3802380"/>
            <a:ext cx="2811780" cy="5318760"/>
          </a:xfrm>
          <a:prstGeom prst="rect">
            <a:avLst/>
          </a:prstGeom>
        </p:spPr>
        <p:txBody>
          <a:bodyPr anchor="t" rtlCol="false" tIns="0" lIns="0" bIns="0" rIns="0">
            <a:spAutoFit/>
          </a:bodyPr>
          <a:lstStyle/>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Bobot ODTW: 0,40</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Bobot kepadatan: 0,35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Bobot daya dukung lahan: 0,25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Elastisitas daya tarik ODTW: 0,3</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Batas maks. efek ODTW: 1,5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Lahan per hotel: 0,1 ha</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Lahan per ODTW: 0,5 ha</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Waktu penyesuaian TK: 1 tahun</a:t>
            </a:r>
          </a:p>
        </p:txBody>
      </p:sp>
      <p:grpSp>
        <p:nvGrpSpPr>
          <p:cNvPr name="Group 61" id="61"/>
          <p:cNvGrpSpPr/>
          <p:nvPr/>
        </p:nvGrpSpPr>
        <p:grpSpPr>
          <a:xfrm rot="0">
            <a:off x="14319504" y="2331720"/>
            <a:ext cx="3154680" cy="6858000"/>
            <a:chOff x="0" y="0"/>
            <a:chExt cx="4206240" cy="9144000"/>
          </a:xfrm>
        </p:grpSpPr>
        <p:sp>
          <p:nvSpPr>
            <p:cNvPr name="Freeform 62" id="62"/>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sp>
      </p:grpSp>
      <p:sp>
        <p:nvSpPr>
          <p:cNvPr name="TextBox 63" id="63"/>
          <p:cNvSpPr txBox="true"/>
          <p:nvPr/>
        </p:nvSpPr>
        <p:spPr>
          <a:xfrm rot="0">
            <a:off x="14525244" y="2420112"/>
            <a:ext cx="2743200" cy="7620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Normalisasi &amp; tuas</a:t>
            </a:r>
          </a:p>
        </p:txBody>
      </p:sp>
      <p:grpSp>
        <p:nvGrpSpPr>
          <p:cNvPr name="Group 64" id="64"/>
          <p:cNvGrpSpPr/>
          <p:nvPr/>
        </p:nvGrpSpPr>
        <p:grpSpPr>
          <a:xfrm rot="0">
            <a:off x="14525244" y="3236976"/>
            <a:ext cx="1783080" cy="384048"/>
            <a:chOff x="0" y="0"/>
            <a:chExt cx="2377440" cy="512064"/>
          </a:xfrm>
        </p:grpSpPr>
        <p:sp>
          <p:nvSpPr>
            <p:cNvPr name="Freeform 65" id="65"/>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39C0D3"/>
            </a:solidFill>
          </p:spPr>
        </p:sp>
      </p:grpSp>
      <p:grpSp>
        <p:nvGrpSpPr>
          <p:cNvPr name="Group 66" id="66"/>
          <p:cNvGrpSpPr/>
          <p:nvPr/>
        </p:nvGrpSpPr>
        <p:grpSpPr>
          <a:xfrm rot="0">
            <a:off x="14525244" y="3236976"/>
            <a:ext cx="1783080" cy="384048"/>
            <a:chOff x="0" y="0"/>
            <a:chExt cx="2377440" cy="512064"/>
          </a:xfrm>
        </p:grpSpPr>
        <p:sp>
          <p:nvSpPr>
            <p:cNvPr name="Freeform 67" id="67"/>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sp>
      </p:grpSp>
      <p:grpSp>
        <p:nvGrpSpPr>
          <p:cNvPr name="Group 68" id="68"/>
          <p:cNvGrpSpPr/>
          <p:nvPr/>
        </p:nvGrpSpPr>
        <p:grpSpPr>
          <a:xfrm rot="0">
            <a:off x="14525244" y="3208401"/>
            <a:ext cx="1783080" cy="412623"/>
            <a:chOff x="0" y="0"/>
            <a:chExt cx="2377440" cy="550164"/>
          </a:xfrm>
        </p:grpSpPr>
        <p:sp>
          <p:nvSpPr>
            <p:cNvPr name="Freeform 69" id="69"/>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201" r="0" b="-34201"/>
              </a:stretch>
            </a:blipFill>
          </p:spPr>
        </p:sp>
        <p:sp>
          <p:nvSpPr>
            <p:cNvPr name="TextBox 70" id="70"/>
            <p:cNvSpPr txBox="true"/>
            <p:nvPr/>
          </p:nvSpPr>
          <p:spPr>
            <a:xfrm>
              <a:off x="0" y="-38100"/>
              <a:ext cx="2377440" cy="588264"/>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6 parameter</a:t>
              </a:r>
            </a:p>
          </p:txBody>
        </p:sp>
      </p:grpSp>
      <p:sp>
        <p:nvSpPr>
          <p:cNvPr name="TextBox 71" id="71"/>
          <p:cNvSpPr txBox="true"/>
          <p:nvPr/>
        </p:nvSpPr>
        <p:spPr>
          <a:xfrm rot="0">
            <a:off x="14525244" y="3802380"/>
            <a:ext cx="2811780" cy="5318760"/>
          </a:xfrm>
          <a:prstGeom prst="rect">
            <a:avLst/>
          </a:prstGeom>
        </p:spPr>
        <p:txBody>
          <a:bodyPr anchor="t" rtlCol="false" tIns="0" lIns="0" bIns="0" rIns="0">
            <a:spAutoFit/>
          </a:bodyPr>
          <a:lstStyle/>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ODTW referensi: 201</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Kepadatan referensi: 128,363</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RDDL referensi: 0,826425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Tahun dasar intensitas TK: 2025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Insentif kebijakan: 0 (BAU)</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Konservasi lahan: 0 (BAU)</a:t>
            </a:r>
          </a:p>
        </p:txBody>
      </p:sp>
      <p:sp>
        <p:nvSpPr>
          <p:cNvPr name="TextBox 72" id="7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77</a:t>
            </a:r>
          </a:p>
        </p:txBody>
      </p:sp>
    </p:spTree>
  </p:cSld>
  <p:clrMapOvr>
    <a:masterClrMapping/>
  </p:clrMapOvr>
</p:sld>
</file>

<file path=ppt/slides/slide7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3 · Estimasi ODTW dengan NTL: validasi LOOCV dan selang prediksi</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822960" y="2236470"/>
            <a:ext cx="932688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ODTW aktual vs prediksi LOOCV (unit)</a:t>
            </a:r>
          </a:p>
        </p:txBody>
      </p:sp>
      <p:sp>
        <p:nvSpPr>
          <p:cNvPr name="TextBox 18" id="18"/>
          <p:cNvSpPr txBox="true"/>
          <p:nvPr/>
        </p:nvSpPr>
        <p:spPr>
          <a:xfrm rot="0">
            <a:off x="10698480" y="2236470"/>
            <a:ext cx="6761988"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Estimasi pada tahun tanpa data BPS (selang prediksi 95%)</a:t>
            </a:r>
          </a:p>
        </p:txBody>
      </p:sp>
      <p:graphicFrame>
        <p:nvGraphicFramePr>
          <p:cNvPr name="Table 19" id="19"/>
          <p:cNvGraphicFramePr>
            <a:graphicFrameLocks noGrp="true"/>
          </p:cNvGraphicFramePr>
          <p:nvPr/>
        </p:nvGraphicFramePr>
        <p:xfrm>
          <a:off x="10698480" y="2880360"/>
          <a:ext cx="6705600" cy="2857500"/>
        </p:xfrm>
        <a:graphic>
          <a:graphicData uri="http://schemas.openxmlformats.org/drawingml/2006/table">
            <a:tbl>
              <a:tblPr/>
              <a:tblGrid>
                <a:gridCol w="1096825"/>
                <a:gridCol w="1096825"/>
                <a:gridCol w="1359508"/>
                <a:gridCol w="1622191"/>
                <a:gridCol w="1530251"/>
              </a:tblGrid>
              <a:tr h="571500">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Tahun</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NTL</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Estimasi</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Batas bawah</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Batas atas</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a:txBody>
                    <a:bodyPr anchor="t" rtlCol="false"/>
                    <a:lstStyle/>
                    <a:p>
                      <a:pPr algn="ctr">
                        <a:lnSpc>
                          <a:spcPts val="2160"/>
                        </a:lnSpc>
                        <a:defRPr/>
                      </a:pPr>
                      <a:r>
                        <a:rPr lang="en-US" sz="1800">
                          <a:solidFill>
                            <a:srgbClr val="14313B"/>
                          </a:solidFill>
                          <a:latin typeface="Calibri (MS)"/>
                          <a:ea typeface="Calibri (MS)"/>
                          <a:cs typeface="Calibri (MS)"/>
                          <a:sym typeface="Calibri (MS)"/>
                        </a:rPr>
                        <a:t>2015</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1,262</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b="true">
                          <a:solidFill>
                            <a:srgbClr val="14313B"/>
                          </a:solidFill>
                          <a:latin typeface="Calibri (MS) Bold"/>
                          <a:ea typeface="Calibri (MS) Bold"/>
                          <a:cs typeface="Calibri (MS) Bold"/>
                          <a:sym typeface="Calibri (MS) Bold"/>
                        </a:rPr>
                        <a:t>165,2</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138,5</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191,9</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ctr">
                        <a:lnSpc>
                          <a:spcPts val="2160"/>
                        </a:lnSpc>
                        <a:defRPr/>
                      </a:pPr>
                      <a:r>
                        <a:rPr lang="en-US" sz="1800">
                          <a:solidFill>
                            <a:srgbClr val="14313B"/>
                          </a:solidFill>
                          <a:latin typeface="Calibri (MS)"/>
                          <a:ea typeface="Calibri (MS)"/>
                          <a:cs typeface="Calibri (MS)"/>
                          <a:sym typeface="Calibri (MS)"/>
                        </a:rPr>
                        <a:t>2016</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1,054</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b="true">
                          <a:solidFill>
                            <a:srgbClr val="14313B"/>
                          </a:solidFill>
                          <a:latin typeface="Calibri (MS) Bold"/>
                          <a:ea typeface="Calibri (MS) Bold"/>
                          <a:cs typeface="Calibri (MS) Bold"/>
                          <a:sym typeface="Calibri (MS) Bold"/>
                        </a:rPr>
                        <a:t>158,1</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128,9</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187,3</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ctr">
                        <a:lnSpc>
                          <a:spcPts val="2160"/>
                        </a:lnSpc>
                        <a:defRPr/>
                      </a:pPr>
                      <a:r>
                        <a:rPr lang="en-US" sz="1800">
                          <a:solidFill>
                            <a:srgbClr val="14313B"/>
                          </a:solidFill>
                          <a:latin typeface="Calibri (MS)"/>
                          <a:ea typeface="Calibri (MS)"/>
                          <a:cs typeface="Calibri (MS)"/>
                          <a:sym typeface="Calibri (MS)"/>
                        </a:rPr>
                        <a:t>2017</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1,438</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b="true">
                          <a:solidFill>
                            <a:srgbClr val="14313B"/>
                          </a:solidFill>
                          <a:latin typeface="Calibri (MS) Bold"/>
                          <a:ea typeface="Calibri (MS) Bold"/>
                          <a:cs typeface="Calibri (MS) Bold"/>
                          <a:sym typeface="Calibri (MS) Bold"/>
                        </a:rPr>
                        <a:t>171,4</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146,4</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196,3</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ctr">
                        <a:lnSpc>
                          <a:spcPts val="2160"/>
                        </a:lnSpc>
                        <a:defRPr/>
                      </a:pPr>
                      <a:r>
                        <a:rPr lang="en-US" sz="1800">
                          <a:solidFill>
                            <a:srgbClr val="14313B"/>
                          </a:solidFill>
                          <a:latin typeface="Calibri (MS)"/>
                          <a:ea typeface="Calibri (MS)"/>
                          <a:cs typeface="Calibri (MS)"/>
                          <a:sym typeface="Calibri (MS)"/>
                        </a:rPr>
                        <a:t>2025</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2,288</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b="true">
                          <a:solidFill>
                            <a:srgbClr val="14313B"/>
                          </a:solidFill>
                          <a:latin typeface="Calibri (MS) Bold"/>
                          <a:ea typeface="Calibri (MS) Bold"/>
                          <a:cs typeface="Calibri (MS) Bold"/>
                          <a:sym typeface="Calibri (MS) Bold"/>
                        </a:rPr>
                        <a:t>200,7</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176,7</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224,8</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20" id="20"/>
          <p:cNvGrpSpPr/>
          <p:nvPr/>
        </p:nvGrpSpPr>
        <p:grpSpPr>
          <a:xfrm rot="0">
            <a:off x="10698480" y="6103620"/>
            <a:ext cx="6761988" cy="3017520"/>
            <a:chOff x="0" y="0"/>
            <a:chExt cx="9015984" cy="4023360"/>
          </a:xfrm>
        </p:grpSpPr>
        <p:sp>
          <p:nvSpPr>
            <p:cNvPr name="Freeform 21" id="21"/>
            <p:cNvSpPr/>
            <p:nvPr/>
          </p:nvSpPr>
          <p:spPr>
            <a:xfrm flipH="false" flipV="false" rot="0">
              <a:off x="0" y="0"/>
              <a:ext cx="9015985" cy="4023360"/>
            </a:xfrm>
            <a:custGeom>
              <a:avLst/>
              <a:gdLst/>
              <a:ahLst/>
              <a:cxnLst/>
              <a:rect r="r" b="b" t="t" l="l"/>
              <a:pathLst>
                <a:path h="4023360" w="9015985">
                  <a:moveTo>
                    <a:pt x="0" y="182880"/>
                  </a:moveTo>
                  <a:cubicBezTo>
                    <a:pt x="0" y="81915"/>
                    <a:pt x="81915" y="0"/>
                    <a:pt x="182880" y="0"/>
                  </a:cubicBezTo>
                  <a:lnTo>
                    <a:pt x="8833104" y="0"/>
                  </a:lnTo>
                  <a:cubicBezTo>
                    <a:pt x="8934069" y="0"/>
                    <a:pt x="9015985" y="81915"/>
                    <a:pt x="9015985" y="182880"/>
                  </a:cubicBezTo>
                  <a:lnTo>
                    <a:pt x="9015985" y="3840480"/>
                  </a:lnTo>
                  <a:cubicBezTo>
                    <a:pt x="9015985" y="3941445"/>
                    <a:pt x="8934069" y="4023360"/>
                    <a:pt x="8833104" y="4023360"/>
                  </a:cubicBezTo>
                  <a:lnTo>
                    <a:pt x="182880" y="4023360"/>
                  </a:lnTo>
                  <a:cubicBezTo>
                    <a:pt x="81915" y="4023360"/>
                    <a:pt x="0" y="3941445"/>
                    <a:pt x="0" y="3840480"/>
                  </a:cubicBezTo>
                  <a:close/>
                </a:path>
              </a:pathLst>
            </a:custGeom>
            <a:solidFill>
              <a:srgbClr val="FFF1BF"/>
            </a:solidFill>
          </p:spPr>
        </p:sp>
      </p:grpSp>
      <p:sp>
        <p:nvSpPr>
          <p:cNvPr name="TextBox 22" id="22"/>
          <p:cNvSpPr txBox="true"/>
          <p:nvPr/>
        </p:nvSpPr>
        <p:spPr>
          <a:xfrm rot="0">
            <a:off x="10972800" y="6233160"/>
            <a:ext cx="6240780" cy="2819400"/>
          </a:xfrm>
          <a:prstGeom prst="rect">
            <a:avLst/>
          </a:prstGeom>
        </p:spPr>
        <p:txBody>
          <a:bodyPr anchor="t" rtlCol="false" tIns="0" lIns="0" bIns="0" rIns="0">
            <a:spAutoFit/>
          </a:bodyPr>
          <a:lstStyle/>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RMSE relatif LOOCV 5,99% (galat terbesar: 2022 −8,2%, 2023 +7,0%, 2024 −8,9%)</a:t>
            </a:r>
          </a:p>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2016 memiliki selang terlebar (≈ 58 unit): NTL 1,054 di luar rentang data latih (1,483–2,512)</a:t>
            </a:r>
          </a:p>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Estimasi tetap dipakai tanpa penyesuaian tambahan</a:t>
            </a:r>
          </a:p>
        </p:txBody>
      </p:sp>
      <p:sp>
        <p:nvSpPr>
          <p:cNvPr name="TextBox 23" id="23"/>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78</a:t>
            </a:r>
          </a:p>
        </p:txBody>
      </p:sp>
      <p:pic>
        <p:nvPicPr>
          <p:cNvPr name="Picture 24" id="24"/>
          <p:cNvPicPr>
            <a:picLocks noChangeAspect="true"/>
          </p:cNvPicPr>
          <p:nvPr/>
        </p:nvPicPr>
        <p:blipFill>
          <a:blip r:embed="rId6"/>
          <a:stretch>
            <a:fillRect/>
          </a:stretch>
        </p:blipFill>
        <p:spPr>
          <a:xfrm rot="0">
            <a:off x="-128016" y="1929384"/>
            <a:ext cx="11411712" cy="8165592"/>
          </a:xfrm>
          <a:prstGeom prst="rect">
            <a:avLst/>
          </a:prstGeom>
        </p:spPr>
      </p:pic>
    </p:spTree>
  </p:cSld>
  <p:clrMapOvr>
    <a:masterClrMapping/>
  </p:clrMapOvr>
</p:sld>
</file>

<file path=ppt/slides/slide7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4 · Uji akurasi klasifikasi lahan terbangun Dynamic World 2025</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822960" y="2236470"/>
            <a:ext cx="754380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Matriks konfusi (jumlah titik)</a:t>
            </a:r>
          </a:p>
        </p:txBody>
      </p:sp>
      <p:sp>
        <p:nvSpPr>
          <p:cNvPr name="TextBox 18" id="18"/>
          <p:cNvSpPr txBox="true"/>
          <p:nvPr/>
        </p:nvSpPr>
        <p:spPr>
          <a:xfrm rot="0">
            <a:off x="3291840" y="2831592"/>
            <a:ext cx="4937760" cy="487680"/>
          </a:xfrm>
          <a:prstGeom prst="rect">
            <a:avLst/>
          </a:prstGeom>
        </p:spPr>
        <p:txBody>
          <a:bodyPr anchor="t" rtlCol="false" tIns="0" lIns="0" bIns="0" rIns="0">
            <a:spAutoFit/>
          </a:bodyPr>
          <a:lstStyle/>
          <a:p>
            <a:pPr algn="ctr">
              <a:lnSpc>
                <a:spcPts val="2070"/>
              </a:lnSpc>
            </a:pPr>
            <a:r>
              <a:rPr lang="en-US" sz="1725" b="true">
                <a:solidFill>
                  <a:srgbClr val="5E6E78"/>
                </a:solidFill>
                <a:latin typeface="Calibri (MS) Bold"/>
                <a:ea typeface="Calibri (MS) Bold"/>
                <a:cs typeface="Calibri (MS) Bold"/>
                <a:sym typeface="Calibri (MS) Bold"/>
              </a:rPr>
              <a:t>Rujukan</a:t>
            </a:r>
          </a:p>
        </p:txBody>
      </p:sp>
      <p:sp>
        <p:nvSpPr>
          <p:cNvPr name="TextBox 19" id="19"/>
          <p:cNvSpPr txBox="true"/>
          <p:nvPr/>
        </p:nvSpPr>
        <p:spPr>
          <a:xfrm rot="0">
            <a:off x="3154680" y="3243072"/>
            <a:ext cx="2468880" cy="48768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Terbangun</a:t>
            </a:r>
          </a:p>
        </p:txBody>
      </p:sp>
      <p:sp>
        <p:nvSpPr>
          <p:cNvPr name="TextBox 20" id="20"/>
          <p:cNvSpPr txBox="true"/>
          <p:nvPr/>
        </p:nvSpPr>
        <p:spPr>
          <a:xfrm rot="0">
            <a:off x="5760720" y="3243072"/>
            <a:ext cx="2468880" cy="48768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Bukan terbangun</a:t>
            </a:r>
          </a:p>
        </p:txBody>
      </p:sp>
      <p:grpSp>
        <p:nvGrpSpPr>
          <p:cNvPr name="Group 21" id="21"/>
          <p:cNvGrpSpPr/>
          <p:nvPr/>
        </p:nvGrpSpPr>
        <p:grpSpPr>
          <a:xfrm rot="0">
            <a:off x="822960" y="4594860"/>
            <a:ext cx="2263140" cy="685800"/>
            <a:chOff x="0" y="0"/>
            <a:chExt cx="3017520" cy="914400"/>
          </a:xfrm>
        </p:grpSpPr>
        <p:sp>
          <p:nvSpPr>
            <p:cNvPr name="Freeform 22" id="22"/>
            <p:cNvSpPr/>
            <p:nvPr/>
          </p:nvSpPr>
          <p:spPr>
            <a:xfrm flipH="false" flipV="false" rot="0">
              <a:off x="0" y="0"/>
              <a:ext cx="3017520" cy="914400"/>
            </a:xfrm>
            <a:custGeom>
              <a:avLst/>
              <a:gdLst/>
              <a:ahLst/>
              <a:cxnLst/>
              <a:rect r="r" b="b" t="t" l="l"/>
              <a:pathLst>
                <a:path h="914400" w="3017520">
                  <a:moveTo>
                    <a:pt x="0" y="0"/>
                  </a:moveTo>
                  <a:lnTo>
                    <a:pt x="3017520" y="0"/>
                  </a:lnTo>
                  <a:lnTo>
                    <a:pt x="3017520" y="914400"/>
                  </a:lnTo>
                  <a:lnTo>
                    <a:pt x="0" y="914400"/>
                  </a:lnTo>
                  <a:close/>
                </a:path>
              </a:pathLst>
            </a:custGeom>
            <a:blipFill>
              <a:blip r:embed="rId4">
                <a:alphaModFix amt="0"/>
              </a:blip>
              <a:stretch>
                <a:fillRect l="0" t="-14255" r="0" b="-14256"/>
              </a:stretch>
            </a:blipFill>
          </p:spPr>
        </p:sp>
      </p:grpSp>
      <p:grpSp>
        <p:nvGrpSpPr>
          <p:cNvPr name="Group 23" id="23"/>
          <p:cNvGrpSpPr/>
          <p:nvPr/>
        </p:nvGrpSpPr>
        <p:grpSpPr>
          <a:xfrm rot="0">
            <a:off x="822960" y="4566285"/>
            <a:ext cx="2263140" cy="714375"/>
            <a:chOff x="0" y="0"/>
            <a:chExt cx="3017520" cy="952500"/>
          </a:xfrm>
        </p:grpSpPr>
        <p:sp>
          <p:nvSpPr>
            <p:cNvPr name="Freeform 24" id="24"/>
            <p:cNvSpPr/>
            <p:nvPr/>
          </p:nvSpPr>
          <p:spPr>
            <a:xfrm flipH="false" flipV="false" rot="0">
              <a:off x="0" y="0"/>
              <a:ext cx="3017520" cy="952500"/>
            </a:xfrm>
            <a:custGeom>
              <a:avLst/>
              <a:gdLst/>
              <a:ahLst/>
              <a:cxnLst/>
              <a:rect r="r" b="b" t="t" l="l"/>
              <a:pathLst>
                <a:path h="952500" w="3017520">
                  <a:moveTo>
                    <a:pt x="0" y="0"/>
                  </a:moveTo>
                  <a:lnTo>
                    <a:pt x="3017520" y="0"/>
                  </a:lnTo>
                  <a:lnTo>
                    <a:pt x="3017520" y="952500"/>
                  </a:lnTo>
                  <a:lnTo>
                    <a:pt x="0" y="952500"/>
                  </a:lnTo>
                  <a:close/>
                </a:path>
              </a:pathLst>
            </a:custGeom>
            <a:blipFill>
              <a:blip r:embed="rId5">
                <a:alphaModFix amt="0"/>
              </a:blip>
              <a:stretch>
                <a:fillRect l="0" t="-11728" r="0" b="-11728"/>
              </a:stretch>
            </a:blipFill>
          </p:spPr>
        </p:sp>
        <p:sp>
          <p:nvSpPr>
            <p:cNvPr name="TextBox 25" id="25"/>
            <p:cNvSpPr txBox="true"/>
            <p:nvPr/>
          </p:nvSpPr>
          <p:spPr>
            <a:xfrm>
              <a:off x="0" y="-38100"/>
              <a:ext cx="3017520" cy="990600"/>
            </a:xfrm>
            <a:prstGeom prst="rect">
              <a:avLst/>
            </a:prstGeom>
          </p:spPr>
          <p:txBody>
            <a:bodyPr anchor="ctr" rtlCol="false" tIns="0" lIns="0" bIns="0" rIns="0"/>
            <a:lstStyle/>
            <a:p>
              <a:pPr algn="r">
                <a:lnSpc>
                  <a:spcPts val="2070"/>
                </a:lnSpc>
              </a:pPr>
              <a:r>
                <a:rPr lang="en-US" sz="1725">
                  <a:solidFill>
                    <a:srgbClr val="14313B"/>
                  </a:solidFill>
                  <a:latin typeface="Calibri (MS)"/>
                  <a:ea typeface="Calibri (MS)"/>
                  <a:cs typeface="Calibri (MS)"/>
                  <a:sym typeface="Calibri (MS)"/>
                </a:rPr>
                <a:t>Peta: terbangun</a:t>
              </a:r>
            </a:p>
          </p:txBody>
        </p:sp>
      </p:grpSp>
      <p:grpSp>
        <p:nvGrpSpPr>
          <p:cNvPr name="Group 26" id="26"/>
          <p:cNvGrpSpPr/>
          <p:nvPr/>
        </p:nvGrpSpPr>
        <p:grpSpPr>
          <a:xfrm rot="0">
            <a:off x="822960" y="6309360"/>
            <a:ext cx="2263140" cy="685800"/>
            <a:chOff x="0" y="0"/>
            <a:chExt cx="3017520" cy="914400"/>
          </a:xfrm>
        </p:grpSpPr>
        <p:sp>
          <p:nvSpPr>
            <p:cNvPr name="Freeform 27" id="27"/>
            <p:cNvSpPr/>
            <p:nvPr/>
          </p:nvSpPr>
          <p:spPr>
            <a:xfrm flipH="false" flipV="false" rot="0">
              <a:off x="0" y="0"/>
              <a:ext cx="3017520" cy="914400"/>
            </a:xfrm>
            <a:custGeom>
              <a:avLst/>
              <a:gdLst/>
              <a:ahLst/>
              <a:cxnLst/>
              <a:rect r="r" b="b" t="t" l="l"/>
              <a:pathLst>
                <a:path h="914400" w="3017520">
                  <a:moveTo>
                    <a:pt x="0" y="0"/>
                  </a:moveTo>
                  <a:lnTo>
                    <a:pt x="3017520" y="0"/>
                  </a:lnTo>
                  <a:lnTo>
                    <a:pt x="3017520" y="914400"/>
                  </a:lnTo>
                  <a:lnTo>
                    <a:pt x="0" y="914400"/>
                  </a:lnTo>
                  <a:close/>
                </a:path>
              </a:pathLst>
            </a:custGeom>
            <a:blipFill>
              <a:blip r:embed="rId4">
                <a:alphaModFix amt="0"/>
              </a:blip>
              <a:stretch>
                <a:fillRect l="0" t="-14255" r="0" b="-14256"/>
              </a:stretch>
            </a:blipFill>
          </p:spPr>
        </p:sp>
      </p:grpSp>
      <p:grpSp>
        <p:nvGrpSpPr>
          <p:cNvPr name="Group 28" id="28"/>
          <p:cNvGrpSpPr/>
          <p:nvPr/>
        </p:nvGrpSpPr>
        <p:grpSpPr>
          <a:xfrm rot="0">
            <a:off x="822960" y="6280785"/>
            <a:ext cx="2263140" cy="714375"/>
            <a:chOff x="0" y="0"/>
            <a:chExt cx="3017520" cy="952500"/>
          </a:xfrm>
        </p:grpSpPr>
        <p:sp>
          <p:nvSpPr>
            <p:cNvPr name="Freeform 29" id="29"/>
            <p:cNvSpPr/>
            <p:nvPr/>
          </p:nvSpPr>
          <p:spPr>
            <a:xfrm flipH="false" flipV="false" rot="0">
              <a:off x="0" y="0"/>
              <a:ext cx="3017520" cy="952500"/>
            </a:xfrm>
            <a:custGeom>
              <a:avLst/>
              <a:gdLst/>
              <a:ahLst/>
              <a:cxnLst/>
              <a:rect r="r" b="b" t="t" l="l"/>
              <a:pathLst>
                <a:path h="952500" w="3017520">
                  <a:moveTo>
                    <a:pt x="0" y="0"/>
                  </a:moveTo>
                  <a:lnTo>
                    <a:pt x="3017520" y="0"/>
                  </a:lnTo>
                  <a:lnTo>
                    <a:pt x="3017520" y="952500"/>
                  </a:lnTo>
                  <a:lnTo>
                    <a:pt x="0" y="952500"/>
                  </a:lnTo>
                  <a:close/>
                </a:path>
              </a:pathLst>
            </a:custGeom>
            <a:blipFill>
              <a:blip r:embed="rId5">
                <a:alphaModFix amt="0"/>
              </a:blip>
              <a:stretch>
                <a:fillRect l="0" t="-11728" r="0" b="-11728"/>
              </a:stretch>
            </a:blipFill>
          </p:spPr>
        </p:sp>
        <p:sp>
          <p:nvSpPr>
            <p:cNvPr name="TextBox 30" id="30"/>
            <p:cNvSpPr txBox="true"/>
            <p:nvPr/>
          </p:nvSpPr>
          <p:spPr>
            <a:xfrm>
              <a:off x="0" y="-38100"/>
              <a:ext cx="3017520" cy="990600"/>
            </a:xfrm>
            <a:prstGeom prst="rect">
              <a:avLst/>
            </a:prstGeom>
          </p:spPr>
          <p:txBody>
            <a:bodyPr anchor="ctr" rtlCol="false" tIns="0" lIns="0" bIns="0" rIns="0"/>
            <a:lstStyle/>
            <a:p>
              <a:pPr algn="r">
                <a:lnSpc>
                  <a:spcPts val="2070"/>
                </a:lnSpc>
              </a:pPr>
              <a:r>
                <a:rPr lang="en-US" sz="1725">
                  <a:solidFill>
                    <a:srgbClr val="14313B"/>
                  </a:solidFill>
                  <a:latin typeface="Calibri (MS)"/>
                  <a:ea typeface="Calibri (MS)"/>
                  <a:cs typeface="Calibri (MS)"/>
                  <a:sym typeface="Calibri (MS)"/>
                </a:rPr>
                <a:t>Peta: bukan terbangun</a:t>
              </a:r>
            </a:p>
          </p:txBody>
        </p:sp>
      </p:grpSp>
      <p:grpSp>
        <p:nvGrpSpPr>
          <p:cNvPr name="Group 31" id="31"/>
          <p:cNvGrpSpPr/>
          <p:nvPr/>
        </p:nvGrpSpPr>
        <p:grpSpPr>
          <a:xfrm rot="0">
            <a:off x="3154680" y="4251960"/>
            <a:ext cx="2468880" cy="1577340"/>
            <a:chOff x="0" y="0"/>
            <a:chExt cx="3291840" cy="2103120"/>
          </a:xfrm>
        </p:grpSpPr>
        <p:sp>
          <p:nvSpPr>
            <p:cNvPr name="Freeform 32" id="32"/>
            <p:cNvSpPr/>
            <p:nvPr/>
          </p:nvSpPr>
          <p:spPr>
            <a:xfrm flipH="false" flipV="false" rot="0">
              <a:off x="0" y="0"/>
              <a:ext cx="3291840" cy="2103120"/>
            </a:xfrm>
            <a:custGeom>
              <a:avLst/>
              <a:gdLst/>
              <a:ahLst/>
              <a:cxnLst/>
              <a:rect r="r" b="b" t="t" l="l"/>
              <a:pathLst>
                <a:path h="2103120" w="3291840">
                  <a:moveTo>
                    <a:pt x="0" y="146304"/>
                  </a:moveTo>
                  <a:cubicBezTo>
                    <a:pt x="0" y="65532"/>
                    <a:pt x="65532" y="0"/>
                    <a:pt x="146304" y="0"/>
                  </a:cubicBezTo>
                  <a:lnTo>
                    <a:pt x="3145536" y="0"/>
                  </a:lnTo>
                  <a:cubicBezTo>
                    <a:pt x="3226308" y="0"/>
                    <a:pt x="3291840" y="65532"/>
                    <a:pt x="3291840" y="146304"/>
                  </a:cubicBezTo>
                  <a:lnTo>
                    <a:pt x="3291840" y="1956816"/>
                  </a:lnTo>
                  <a:cubicBezTo>
                    <a:pt x="3291840" y="2037588"/>
                    <a:pt x="3226308" y="2103120"/>
                    <a:pt x="3145536" y="2103120"/>
                  </a:cubicBezTo>
                  <a:lnTo>
                    <a:pt x="146304" y="2103120"/>
                  </a:lnTo>
                  <a:cubicBezTo>
                    <a:pt x="65532" y="2103120"/>
                    <a:pt x="0" y="2037588"/>
                    <a:pt x="0" y="1956816"/>
                  </a:cubicBezTo>
                  <a:close/>
                </a:path>
              </a:pathLst>
            </a:custGeom>
            <a:solidFill>
              <a:srgbClr val="39C0D3"/>
            </a:solidFill>
          </p:spPr>
        </p:sp>
      </p:grpSp>
      <p:grpSp>
        <p:nvGrpSpPr>
          <p:cNvPr name="Group 33" id="33"/>
          <p:cNvGrpSpPr/>
          <p:nvPr/>
        </p:nvGrpSpPr>
        <p:grpSpPr>
          <a:xfrm rot="0">
            <a:off x="3154680" y="4251960"/>
            <a:ext cx="2468880" cy="1577340"/>
            <a:chOff x="0" y="0"/>
            <a:chExt cx="3291840" cy="2103120"/>
          </a:xfrm>
        </p:grpSpPr>
        <p:sp>
          <p:nvSpPr>
            <p:cNvPr name="Freeform 34" id="34"/>
            <p:cNvSpPr/>
            <p:nvPr/>
          </p:nvSpPr>
          <p:spPr>
            <a:xfrm flipH="false" flipV="false" rot="0">
              <a:off x="0" y="0"/>
              <a:ext cx="3291840" cy="2103120"/>
            </a:xfrm>
            <a:custGeom>
              <a:avLst/>
              <a:gdLst/>
              <a:ahLst/>
              <a:cxnLst/>
              <a:rect r="r" b="b" t="t" l="l"/>
              <a:pathLst>
                <a:path h="2103120" w="3291840">
                  <a:moveTo>
                    <a:pt x="0" y="0"/>
                  </a:moveTo>
                  <a:lnTo>
                    <a:pt x="3291840" y="0"/>
                  </a:lnTo>
                  <a:lnTo>
                    <a:pt x="3291840" y="2103120"/>
                  </a:lnTo>
                  <a:lnTo>
                    <a:pt x="0" y="2103120"/>
                  </a:lnTo>
                  <a:close/>
                </a:path>
              </a:pathLst>
            </a:custGeom>
            <a:blipFill>
              <a:blip r:embed="rId4">
                <a:alphaModFix amt="0"/>
              </a:blip>
              <a:stretch>
                <a:fillRect l="-32028" t="0" r="-32028" b="0"/>
              </a:stretch>
            </a:blipFill>
          </p:spPr>
        </p:sp>
      </p:grpSp>
      <p:grpSp>
        <p:nvGrpSpPr>
          <p:cNvPr name="Group 35" id="35"/>
          <p:cNvGrpSpPr/>
          <p:nvPr/>
        </p:nvGrpSpPr>
        <p:grpSpPr>
          <a:xfrm rot="0">
            <a:off x="3154680" y="4180522"/>
            <a:ext cx="2468880" cy="1648777"/>
            <a:chOff x="0" y="0"/>
            <a:chExt cx="3291840" cy="2198370"/>
          </a:xfrm>
        </p:grpSpPr>
        <p:sp>
          <p:nvSpPr>
            <p:cNvPr name="Freeform 36" id="36"/>
            <p:cNvSpPr/>
            <p:nvPr/>
          </p:nvSpPr>
          <p:spPr>
            <a:xfrm flipH="false" flipV="false" rot="0">
              <a:off x="0" y="0"/>
              <a:ext cx="3291840" cy="2198370"/>
            </a:xfrm>
            <a:custGeom>
              <a:avLst/>
              <a:gdLst/>
              <a:ahLst/>
              <a:cxnLst/>
              <a:rect r="r" b="b" t="t" l="l"/>
              <a:pathLst>
                <a:path h="2198370" w="3291840">
                  <a:moveTo>
                    <a:pt x="0" y="0"/>
                  </a:moveTo>
                  <a:lnTo>
                    <a:pt x="3291840" y="0"/>
                  </a:lnTo>
                  <a:lnTo>
                    <a:pt x="3291840" y="2198370"/>
                  </a:lnTo>
                  <a:lnTo>
                    <a:pt x="0" y="2198370"/>
                  </a:lnTo>
                  <a:close/>
                </a:path>
              </a:pathLst>
            </a:custGeom>
            <a:blipFill>
              <a:blip r:embed="rId5">
                <a:alphaModFix amt="0"/>
              </a:blip>
              <a:stretch>
                <a:fillRect l="-35684" t="0" r="-35684" b="0"/>
              </a:stretch>
            </a:blipFill>
          </p:spPr>
        </p:sp>
        <p:sp>
          <p:nvSpPr>
            <p:cNvPr name="TextBox 37" id="37"/>
            <p:cNvSpPr txBox="true"/>
            <p:nvPr/>
          </p:nvSpPr>
          <p:spPr>
            <a:xfrm>
              <a:off x="0" y="-95250"/>
              <a:ext cx="3291840" cy="2293620"/>
            </a:xfrm>
            <a:prstGeom prst="rect">
              <a:avLst/>
            </a:prstGeom>
          </p:spPr>
          <p:txBody>
            <a:bodyPr anchor="ctr" rtlCol="false" tIns="0" lIns="0" bIns="0" rIns="0"/>
            <a:lstStyle/>
            <a:p>
              <a:pPr algn="ctr">
                <a:lnSpc>
                  <a:spcPts val="5400"/>
                </a:lnSpc>
              </a:pPr>
              <a:r>
                <a:rPr lang="en-US" sz="4500" b="true">
                  <a:solidFill>
                    <a:srgbClr val="FFFFFF"/>
                  </a:solidFill>
                  <a:latin typeface="Calibri (MS) Bold"/>
                  <a:ea typeface="Calibri (MS) Bold"/>
                  <a:cs typeface="Calibri (MS) Bold"/>
                  <a:sym typeface="Calibri (MS) Bold"/>
                </a:rPr>
                <a:t>66</a:t>
              </a:r>
            </a:p>
          </p:txBody>
        </p:sp>
      </p:grpSp>
      <p:grpSp>
        <p:nvGrpSpPr>
          <p:cNvPr name="Group 38" id="38"/>
          <p:cNvGrpSpPr/>
          <p:nvPr/>
        </p:nvGrpSpPr>
        <p:grpSpPr>
          <a:xfrm rot="0">
            <a:off x="5760720" y="4251960"/>
            <a:ext cx="2468880" cy="1577340"/>
            <a:chOff x="0" y="0"/>
            <a:chExt cx="3291840" cy="2103120"/>
          </a:xfrm>
        </p:grpSpPr>
        <p:sp>
          <p:nvSpPr>
            <p:cNvPr name="Freeform 39" id="39"/>
            <p:cNvSpPr/>
            <p:nvPr/>
          </p:nvSpPr>
          <p:spPr>
            <a:xfrm flipH="false" flipV="false" rot="0">
              <a:off x="0" y="0"/>
              <a:ext cx="3291840" cy="2103120"/>
            </a:xfrm>
            <a:custGeom>
              <a:avLst/>
              <a:gdLst/>
              <a:ahLst/>
              <a:cxnLst/>
              <a:rect r="r" b="b" t="t" l="l"/>
              <a:pathLst>
                <a:path h="2103120" w="3291840">
                  <a:moveTo>
                    <a:pt x="0" y="146304"/>
                  </a:moveTo>
                  <a:cubicBezTo>
                    <a:pt x="0" y="65532"/>
                    <a:pt x="65532" y="0"/>
                    <a:pt x="146304" y="0"/>
                  </a:cubicBezTo>
                  <a:lnTo>
                    <a:pt x="3145536" y="0"/>
                  </a:lnTo>
                  <a:cubicBezTo>
                    <a:pt x="3226308" y="0"/>
                    <a:pt x="3291840" y="65532"/>
                    <a:pt x="3291840" y="146304"/>
                  </a:cubicBezTo>
                  <a:lnTo>
                    <a:pt x="3291840" y="1956816"/>
                  </a:lnTo>
                  <a:cubicBezTo>
                    <a:pt x="3291840" y="2037588"/>
                    <a:pt x="3226308" y="2103120"/>
                    <a:pt x="3145536" y="2103120"/>
                  </a:cubicBezTo>
                  <a:lnTo>
                    <a:pt x="146304" y="2103120"/>
                  </a:lnTo>
                  <a:cubicBezTo>
                    <a:pt x="65532" y="2103120"/>
                    <a:pt x="0" y="2037588"/>
                    <a:pt x="0" y="1956816"/>
                  </a:cubicBezTo>
                  <a:close/>
                </a:path>
              </a:pathLst>
            </a:custGeom>
            <a:solidFill>
              <a:srgbClr val="FFF1BF"/>
            </a:solidFill>
          </p:spPr>
        </p:sp>
      </p:grpSp>
      <p:grpSp>
        <p:nvGrpSpPr>
          <p:cNvPr name="Group 40" id="40"/>
          <p:cNvGrpSpPr/>
          <p:nvPr/>
        </p:nvGrpSpPr>
        <p:grpSpPr>
          <a:xfrm rot="0">
            <a:off x="5760720" y="4251960"/>
            <a:ext cx="2468880" cy="1577340"/>
            <a:chOff x="0" y="0"/>
            <a:chExt cx="3291840" cy="2103120"/>
          </a:xfrm>
        </p:grpSpPr>
        <p:sp>
          <p:nvSpPr>
            <p:cNvPr name="Freeform 41" id="41"/>
            <p:cNvSpPr/>
            <p:nvPr/>
          </p:nvSpPr>
          <p:spPr>
            <a:xfrm flipH="false" flipV="false" rot="0">
              <a:off x="0" y="0"/>
              <a:ext cx="3291840" cy="2103120"/>
            </a:xfrm>
            <a:custGeom>
              <a:avLst/>
              <a:gdLst/>
              <a:ahLst/>
              <a:cxnLst/>
              <a:rect r="r" b="b" t="t" l="l"/>
              <a:pathLst>
                <a:path h="2103120" w="3291840">
                  <a:moveTo>
                    <a:pt x="0" y="0"/>
                  </a:moveTo>
                  <a:lnTo>
                    <a:pt x="3291840" y="0"/>
                  </a:lnTo>
                  <a:lnTo>
                    <a:pt x="3291840" y="2103120"/>
                  </a:lnTo>
                  <a:lnTo>
                    <a:pt x="0" y="2103120"/>
                  </a:lnTo>
                  <a:close/>
                </a:path>
              </a:pathLst>
            </a:custGeom>
            <a:blipFill>
              <a:blip r:embed="rId4">
                <a:alphaModFix amt="0"/>
              </a:blip>
              <a:stretch>
                <a:fillRect l="-32028" t="0" r="-32028" b="0"/>
              </a:stretch>
            </a:blipFill>
          </p:spPr>
        </p:sp>
      </p:grpSp>
      <p:grpSp>
        <p:nvGrpSpPr>
          <p:cNvPr name="Group 42" id="42"/>
          <p:cNvGrpSpPr/>
          <p:nvPr/>
        </p:nvGrpSpPr>
        <p:grpSpPr>
          <a:xfrm rot="0">
            <a:off x="5760720" y="4180522"/>
            <a:ext cx="2468880" cy="1648777"/>
            <a:chOff x="0" y="0"/>
            <a:chExt cx="3291840" cy="2198370"/>
          </a:xfrm>
        </p:grpSpPr>
        <p:sp>
          <p:nvSpPr>
            <p:cNvPr name="Freeform 43" id="43"/>
            <p:cNvSpPr/>
            <p:nvPr/>
          </p:nvSpPr>
          <p:spPr>
            <a:xfrm flipH="false" flipV="false" rot="0">
              <a:off x="0" y="0"/>
              <a:ext cx="3291840" cy="2198370"/>
            </a:xfrm>
            <a:custGeom>
              <a:avLst/>
              <a:gdLst/>
              <a:ahLst/>
              <a:cxnLst/>
              <a:rect r="r" b="b" t="t" l="l"/>
              <a:pathLst>
                <a:path h="2198370" w="3291840">
                  <a:moveTo>
                    <a:pt x="0" y="0"/>
                  </a:moveTo>
                  <a:lnTo>
                    <a:pt x="3291840" y="0"/>
                  </a:lnTo>
                  <a:lnTo>
                    <a:pt x="3291840" y="2198370"/>
                  </a:lnTo>
                  <a:lnTo>
                    <a:pt x="0" y="2198370"/>
                  </a:lnTo>
                  <a:close/>
                </a:path>
              </a:pathLst>
            </a:custGeom>
            <a:blipFill>
              <a:blip r:embed="rId5">
                <a:alphaModFix amt="0"/>
              </a:blip>
              <a:stretch>
                <a:fillRect l="-35684" t="0" r="-35684" b="0"/>
              </a:stretch>
            </a:blipFill>
          </p:spPr>
        </p:sp>
        <p:sp>
          <p:nvSpPr>
            <p:cNvPr name="TextBox 44" id="44"/>
            <p:cNvSpPr txBox="true"/>
            <p:nvPr/>
          </p:nvSpPr>
          <p:spPr>
            <a:xfrm>
              <a:off x="0" y="-95250"/>
              <a:ext cx="3291840" cy="2293620"/>
            </a:xfrm>
            <a:prstGeom prst="rect">
              <a:avLst/>
            </a:prstGeom>
          </p:spPr>
          <p:txBody>
            <a:bodyPr anchor="ctr" rtlCol="false" tIns="0" lIns="0" bIns="0" rIns="0"/>
            <a:lstStyle/>
            <a:p>
              <a:pPr algn="ctr">
                <a:lnSpc>
                  <a:spcPts val="5400"/>
                </a:lnSpc>
              </a:pPr>
              <a:r>
                <a:rPr lang="en-US" sz="4500" b="true">
                  <a:solidFill>
                    <a:srgbClr val="14313B"/>
                  </a:solidFill>
                  <a:latin typeface="Calibri (MS) Bold"/>
                  <a:ea typeface="Calibri (MS) Bold"/>
                  <a:cs typeface="Calibri (MS) Bold"/>
                  <a:sym typeface="Calibri (MS) Bold"/>
                </a:rPr>
                <a:t>34</a:t>
              </a:r>
            </a:p>
          </p:txBody>
        </p:sp>
      </p:grpSp>
      <p:grpSp>
        <p:nvGrpSpPr>
          <p:cNvPr name="Group 45" id="45"/>
          <p:cNvGrpSpPr/>
          <p:nvPr/>
        </p:nvGrpSpPr>
        <p:grpSpPr>
          <a:xfrm rot="0">
            <a:off x="3154680" y="5966460"/>
            <a:ext cx="2468880" cy="1577340"/>
            <a:chOff x="0" y="0"/>
            <a:chExt cx="3291840" cy="2103120"/>
          </a:xfrm>
        </p:grpSpPr>
        <p:sp>
          <p:nvSpPr>
            <p:cNvPr name="Freeform 46" id="46"/>
            <p:cNvSpPr/>
            <p:nvPr/>
          </p:nvSpPr>
          <p:spPr>
            <a:xfrm flipH="false" flipV="false" rot="0">
              <a:off x="0" y="0"/>
              <a:ext cx="3291840" cy="2103120"/>
            </a:xfrm>
            <a:custGeom>
              <a:avLst/>
              <a:gdLst/>
              <a:ahLst/>
              <a:cxnLst/>
              <a:rect r="r" b="b" t="t" l="l"/>
              <a:pathLst>
                <a:path h="2103120" w="3291840">
                  <a:moveTo>
                    <a:pt x="0" y="146304"/>
                  </a:moveTo>
                  <a:cubicBezTo>
                    <a:pt x="0" y="65532"/>
                    <a:pt x="65532" y="0"/>
                    <a:pt x="146304" y="0"/>
                  </a:cubicBezTo>
                  <a:lnTo>
                    <a:pt x="3145536" y="0"/>
                  </a:lnTo>
                  <a:cubicBezTo>
                    <a:pt x="3226308" y="0"/>
                    <a:pt x="3291840" y="65532"/>
                    <a:pt x="3291840" y="146304"/>
                  </a:cubicBezTo>
                  <a:lnTo>
                    <a:pt x="3291840" y="1956816"/>
                  </a:lnTo>
                  <a:cubicBezTo>
                    <a:pt x="3291840" y="2037588"/>
                    <a:pt x="3226308" y="2103120"/>
                    <a:pt x="3145536" y="2103120"/>
                  </a:cubicBezTo>
                  <a:lnTo>
                    <a:pt x="146304" y="2103120"/>
                  </a:lnTo>
                  <a:cubicBezTo>
                    <a:pt x="65532" y="2103120"/>
                    <a:pt x="0" y="2037588"/>
                    <a:pt x="0" y="1956816"/>
                  </a:cubicBezTo>
                  <a:close/>
                </a:path>
              </a:pathLst>
            </a:custGeom>
            <a:solidFill>
              <a:srgbClr val="FFF1BF"/>
            </a:solidFill>
          </p:spPr>
        </p:sp>
      </p:grpSp>
      <p:grpSp>
        <p:nvGrpSpPr>
          <p:cNvPr name="Group 47" id="47"/>
          <p:cNvGrpSpPr/>
          <p:nvPr/>
        </p:nvGrpSpPr>
        <p:grpSpPr>
          <a:xfrm rot="0">
            <a:off x="3154680" y="5966460"/>
            <a:ext cx="2468880" cy="1577340"/>
            <a:chOff x="0" y="0"/>
            <a:chExt cx="3291840" cy="2103120"/>
          </a:xfrm>
        </p:grpSpPr>
        <p:sp>
          <p:nvSpPr>
            <p:cNvPr name="Freeform 48" id="48"/>
            <p:cNvSpPr/>
            <p:nvPr/>
          </p:nvSpPr>
          <p:spPr>
            <a:xfrm flipH="false" flipV="false" rot="0">
              <a:off x="0" y="0"/>
              <a:ext cx="3291840" cy="2103120"/>
            </a:xfrm>
            <a:custGeom>
              <a:avLst/>
              <a:gdLst/>
              <a:ahLst/>
              <a:cxnLst/>
              <a:rect r="r" b="b" t="t" l="l"/>
              <a:pathLst>
                <a:path h="2103120" w="3291840">
                  <a:moveTo>
                    <a:pt x="0" y="0"/>
                  </a:moveTo>
                  <a:lnTo>
                    <a:pt x="3291840" y="0"/>
                  </a:lnTo>
                  <a:lnTo>
                    <a:pt x="3291840" y="2103120"/>
                  </a:lnTo>
                  <a:lnTo>
                    <a:pt x="0" y="2103120"/>
                  </a:lnTo>
                  <a:close/>
                </a:path>
              </a:pathLst>
            </a:custGeom>
            <a:blipFill>
              <a:blip r:embed="rId4">
                <a:alphaModFix amt="0"/>
              </a:blip>
              <a:stretch>
                <a:fillRect l="-32028" t="0" r="-32028" b="0"/>
              </a:stretch>
            </a:blipFill>
          </p:spPr>
        </p:sp>
      </p:grpSp>
      <p:grpSp>
        <p:nvGrpSpPr>
          <p:cNvPr name="Group 49" id="49"/>
          <p:cNvGrpSpPr/>
          <p:nvPr/>
        </p:nvGrpSpPr>
        <p:grpSpPr>
          <a:xfrm rot="0">
            <a:off x="3154680" y="5895022"/>
            <a:ext cx="2468880" cy="1648777"/>
            <a:chOff x="0" y="0"/>
            <a:chExt cx="3291840" cy="2198370"/>
          </a:xfrm>
        </p:grpSpPr>
        <p:sp>
          <p:nvSpPr>
            <p:cNvPr name="Freeform 50" id="50"/>
            <p:cNvSpPr/>
            <p:nvPr/>
          </p:nvSpPr>
          <p:spPr>
            <a:xfrm flipH="false" flipV="false" rot="0">
              <a:off x="0" y="0"/>
              <a:ext cx="3291840" cy="2198370"/>
            </a:xfrm>
            <a:custGeom>
              <a:avLst/>
              <a:gdLst/>
              <a:ahLst/>
              <a:cxnLst/>
              <a:rect r="r" b="b" t="t" l="l"/>
              <a:pathLst>
                <a:path h="2198370" w="3291840">
                  <a:moveTo>
                    <a:pt x="0" y="0"/>
                  </a:moveTo>
                  <a:lnTo>
                    <a:pt x="3291840" y="0"/>
                  </a:lnTo>
                  <a:lnTo>
                    <a:pt x="3291840" y="2198370"/>
                  </a:lnTo>
                  <a:lnTo>
                    <a:pt x="0" y="2198370"/>
                  </a:lnTo>
                  <a:close/>
                </a:path>
              </a:pathLst>
            </a:custGeom>
            <a:blipFill>
              <a:blip r:embed="rId5">
                <a:alphaModFix amt="0"/>
              </a:blip>
              <a:stretch>
                <a:fillRect l="-35684" t="0" r="-35684" b="0"/>
              </a:stretch>
            </a:blipFill>
          </p:spPr>
        </p:sp>
        <p:sp>
          <p:nvSpPr>
            <p:cNvPr name="TextBox 51" id="51"/>
            <p:cNvSpPr txBox="true"/>
            <p:nvPr/>
          </p:nvSpPr>
          <p:spPr>
            <a:xfrm>
              <a:off x="0" y="-95250"/>
              <a:ext cx="3291840" cy="2293620"/>
            </a:xfrm>
            <a:prstGeom prst="rect">
              <a:avLst/>
            </a:prstGeom>
          </p:spPr>
          <p:txBody>
            <a:bodyPr anchor="ctr" rtlCol="false" tIns="0" lIns="0" bIns="0" rIns="0"/>
            <a:lstStyle/>
            <a:p>
              <a:pPr algn="ctr">
                <a:lnSpc>
                  <a:spcPts val="5400"/>
                </a:lnSpc>
              </a:pPr>
              <a:r>
                <a:rPr lang="en-US" sz="4500" b="true">
                  <a:solidFill>
                    <a:srgbClr val="14313B"/>
                  </a:solidFill>
                  <a:latin typeface="Calibri (MS) Bold"/>
                  <a:ea typeface="Calibri (MS) Bold"/>
                  <a:cs typeface="Calibri (MS) Bold"/>
                  <a:sym typeface="Calibri (MS) Bold"/>
                </a:rPr>
                <a:t>5</a:t>
              </a:r>
            </a:p>
          </p:txBody>
        </p:sp>
      </p:grpSp>
      <p:grpSp>
        <p:nvGrpSpPr>
          <p:cNvPr name="Group 52" id="52"/>
          <p:cNvGrpSpPr/>
          <p:nvPr/>
        </p:nvGrpSpPr>
        <p:grpSpPr>
          <a:xfrm rot="0">
            <a:off x="5760720" y="5966460"/>
            <a:ext cx="2468880" cy="1577340"/>
            <a:chOff x="0" y="0"/>
            <a:chExt cx="3291840" cy="2103120"/>
          </a:xfrm>
        </p:grpSpPr>
        <p:sp>
          <p:nvSpPr>
            <p:cNvPr name="Freeform 53" id="53"/>
            <p:cNvSpPr/>
            <p:nvPr/>
          </p:nvSpPr>
          <p:spPr>
            <a:xfrm flipH="false" flipV="false" rot="0">
              <a:off x="0" y="0"/>
              <a:ext cx="3291840" cy="2103120"/>
            </a:xfrm>
            <a:custGeom>
              <a:avLst/>
              <a:gdLst/>
              <a:ahLst/>
              <a:cxnLst/>
              <a:rect r="r" b="b" t="t" l="l"/>
              <a:pathLst>
                <a:path h="2103120" w="3291840">
                  <a:moveTo>
                    <a:pt x="0" y="146304"/>
                  </a:moveTo>
                  <a:cubicBezTo>
                    <a:pt x="0" y="65532"/>
                    <a:pt x="65532" y="0"/>
                    <a:pt x="146304" y="0"/>
                  </a:cubicBezTo>
                  <a:lnTo>
                    <a:pt x="3145536" y="0"/>
                  </a:lnTo>
                  <a:cubicBezTo>
                    <a:pt x="3226308" y="0"/>
                    <a:pt x="3291840" y="65532"/>
                    <a:pt x="3291840" y="146304"/>
                  </a:cubicBezTo>
                  <a:lnTo>
                    <a:pt x="3291840" y="1956816"/>
                  </a:lnTo>
                  <a:cubicBezTo>
                    <a:pt x="3291840" y="2037588"/>
                    <a:pt x="3226308" y="2103120"/>
                    <a:pt x="3145536" y="2103120"/>
                  </a:cubicBezTo>
                  <a:lnTo>
                    <a:pt x="146304" y="2103120"/>
                  </a:lnTo>
                  <a:cubicBezTo>
                    <a:pt x="65532" y="2103120"/>
                    <a:pt x="0" y="2037588"/>
                    <a:pt x="0" y="1956816"/>
                  </a:cubicBezTo>
                  <a:close/>
                </a:path>
              </a:pathLst>
            </a:custGeom>
            <a:solidFill>
              <a:srgbClr val="39C0D3"/>
            </a:solidFill>
          </p:spPr>
        </p:sp>
      </p:grpSp>
      <p:grpSp>
        <p:nvGrpSpPr>
          <p:cNvPr name="Group 54" id="54"/>
          <p:cNvGrpSpPr/>
          <p:nvPr/>
        </p:nvGrpSpPr>
        <p:grpSpPr>
          <a:xfrm rot="0">
            <a:off x="5760720" y="5966460"/>
            <a:ext cx="2468880" cy="1577340"/>
            <a:chOff x="0" y="0"/>
            <a:chExt cx="3291840" cy="2103120"/>
          </a:xfrm>
        </p:grpSpPr>
        <p:sp>
          <p:nvSpPr>
            <p:cNvPr name="Freeform 55" id="55"/>
            <p:cNvSpPr/>
            <p:nvPr/>
          </p:nvSpPr>
          <p:spPr>
            <a:xfrm flipH="false" flipV="false" rot="0">
              <a:off x="0" y="0"/>
              <a:ext cx="3291840" cy="2103120"/>
            </a:xfrm>
            <a:custGeom>
              <a:avLst/>
              <a:gdLst/>
              <a:ahLst/>
              <a:cxnLst/>
              <a:rect r="r" b="b" t="t" l="l"/>
              <a:pathLst>
                <a:path h="2103120" w="3291840">
                  <a:moveTo>
                    <a:pt x="0" y="0"/>
                  </a:moveTo>
                  <a:lnTo>
                    <a:pt x="3291840" y="0"/>
                  </a:lnTo>
                  <a:lnTo>
                    <a:pt x="3291840" y="2103120"/>
                  </a:lnTo>
                  <a:lnTo>
                    <a:pt x="0" y="2103120"/>
                  </a:lnTo>
                  <a:close/>
                </a:path>
              </a:pathLst>
            </a:custGeom>
            <a:blipFill>
              <a:blip r:embed="rId4">
                <a:alphaModFix amt="0"/>
              </a:blip>
              <a:stretch>
                <a:fillRect l="-32028" t="0" r="-32028" b="0"/>
              </a:stretch>
            </a:blipFill>
          </p:spPr>
        </p:sp>
      </p:grpSp>
      <p:grpSp>
        <p:nvGrpSpPr>
          <p:cNvPr name="Group 56" id="56"/>
          <p:cNvGrpSpPr/>
          <p:nvPr/>
        </p:nvGrpSpPr>
        <p:grpSpPr>
          <a:xfrm rot="0">
            <a:off x="5760720" y="5895022"/>
            <a:ext cx="2468880" cy="1648777"/>
            <a:chOff x="0" y="0"/>
            <a:chExt cx="3291840" cy="2198370"/>
          </a:xfrm>
        </p:grpSpPr>
        <p:sp>
          <p:nvSpPr>
            <p:cNvPr name="Freeform 57" id="57"/>
            <p:cNvSpPr/>
            <p:nvPr/>
          </p:nvSpPr>
          <p:spPr>
            <a:xfrm flipH="false" flipV="false" rot="0">
              <a:off x="0" y="0"/>
              <a:ext cx="3291840" cy="2198370"/>
            </a:xfrm>
            <a:custGeom>
              <a:avLst/>
              <a:gdLst/>
              <a:ahLst/>
              <a:cxnLst/>
              <a:rect r="r" b="b" t="t" l="l"/>
              <a:pathLst>
                <a:path h="2198370" w="3291840">
                  <a:moveTo>
                    <a:pt x="0" y="0"/>
                  </a:moveTo>
                  <a:lnTo>
                    <a:pt x="3291840" y="0"/>
                  </a:lnTo>
                  <a:lnTo>
                    <a:pt x="3291840" y="2198370"/>
                  </a:lnTo>
                  <a:lnTo>
                    <a:pt x="0" y="2198370"/>
                  </a:lnTo>
                  <a:close/>
                </a:path>
              </a:pathLst>
            </a:custGeom>
            <a:blipFill>
              <a:blip r:embed="rId5">
                <a:alphaModFix amt="0"/>
              </a:blip>
              <a:stretch>
                <a:fillRect l="-35684" t="0" r="-35684" b="0"/>
              </a:stretch>
            </a:blipFill>
          </p:spPr>
        </p:sp>
        <p:sp>
          <p:nvSpPr>
            <p:cNvPr name="TextBox 58" id="58"/>
            <p:cNvSpPr txBox="true"/>
            <p:nvPr/>
          </p:nvSpPr>
          <p:spPr>
            <a:xfrm>
              <a:off x="0" y="-95250"/>
              <a:ext cx="3291840" cy="2293620"/>
            </a:xfrm>
            <a:prstGeom prst="rect">
              <a:avLst/>
            </a:prstGeom>
          </p:spPr>
          <p:txBody>
            <a:bodyPr anchor="ctr" rtlCol="false" tIns="0" lIns="0" bIns="0" rIns="0"/>
            <a:lstStyle/>
            <a:p>
              <a:pPr algn="ctr">
                <a:lnSpc>
                  <a:spcPts val="5400"/>
                </a:lnSpc>
              </a:pPr>
              <a:r>
                <a:rPr lang="en-US" sz="4500" b="true">
                  <a:solidFill>
                    <a:srgbClr val="FFFFFF"/>
                  </a:solidFill>
                  <a:latin typeface="Calibri (MS) Bold"/>
                  <a:ea typeface="Calibri (MS) Bold"/>
                  <a:cs typeface="Calibri (MS) Bold"/>
                  <a:sym typeface="Calibri (MS) Bold"/>
                </a:rPr>
                <a:t>95</a:t>
              </a:r>
            </a:p>
          </p:txBody>
        </p:sp>
      </p:grpSp>
      <p:sp>
        <p:nvSpPr>
          <p:cNvPr name="TextBox 59" id="59"/>
          <p:cNvSpPr txBox="true"/>
          <p:nvPr/>
        </p:nvSpPr>
        <p:spPr>
          <a:xfrm rot="0">
            <a:off x="822960" y="7810500"/>
            <a:ext cx="7818120" cy="103632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Komisi dominan: 34 titik peta terbangun yang rujukannya bukan terbangun, dibanding 5 omisi.</a:t>
            </a:r>
          </a:p>
        </p:txBody>
      </p:sp>
      <p:graphicFrame>
        <p:nvGraphicFramePr>
          <p:cNvPr name="Table 60" id="60"/>
          <p:cNvGraphicFramePr>
            <a:graphicFrameLocks noGrp="true"/>
          </p:cNvGraphicFramePr>
          <p:nvPr/>
        </p:nvGraphicFramePr>
        <p:xfrm>
          <a:off x="9189720" y="2400300"/>
          <a:ext cx="8229600" cy="4800600"/>
        </p:xfrm>
        <a:graphic>
          <a:graphicData uri="http://schemas.openxmlformats.org/drawingml/2006/table">
            <a:tbl>
              <a:tblPr/>
              <a:tblGrid>
                <a:gridCol w="4205415"/>
                <a:gridCol w="1723674"/>
                <a:gridCol w="2300511"/>
              </a:tblGrid>
              <a:tr h="685800">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Metrik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Nilai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IK 95%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Overall accuracy (tak terbobot)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80,50%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74,46–85,39%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Overall accuracy (terbobot luas)</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89,95%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86,05–93,85%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User's accuracy —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66,00%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56,67–75,33%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Producer's accuracy —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73,58%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56,66–90,50%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F1-score kelas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77,19%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Koefisien Kappa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0,6100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0,5002–0,7198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61" id="61"/>
          <p:cNvGrpSpPr/>
          <p:nvPr/>
        </p:nvGrpSpPr>
        <p:grpSpPr>
          <a:xfrm rot="0">
            <a:off x="9189720" y="7475220"/>
            <a:ext cx="8270748" cy="1783080"/>
            <a:chOff x="0" y="0"/>
            <a:chExt cx="11027664" cy="2377440"/>
          </a:xfrm>
        </p:grpSpPr>
        <p:sp>
          <p:nvSpPr>
            <p:cNvPr name="Freeform 62" id="62"/>
            <p:cNvSpPr/>
            <p:nvPr/>
          </p:nvSpPr>
          <p:spPr>
            <a:xfrm flipH="false" flipV="false" rot="0">
              <a:off x="0" y="0"/>
              <a:ext cx="11027664" cy="2377440"/>
            </a:xfrm>
            <a:custGeom>
              <a:avLst/>
              <a:gdLst/>
              <a:ahLst/>
              <a:cxnLst/>
              <a:rect r="r" b="b" t="t" l="l"/>
              <a:pathLst>
                <a:path h="2377440" w="11027664">
                  <a:moveTo>
                    <a:pt x="0" y="182880"/>
                  </a:moveTo>
                  <a:cubicBezTo>
                    <a:pt x="0" y="81915"/>
                    <a:pt x="81915" y="0"/>
                    <a:pt x="182880" y="0"/>
                  </a:cubicBezTo>
                  <a:lnTo>
                    <a:pt x="10844784" y="0"/>
                  </a:lnTo>
                  <a:cubicBezTo>
                    <a:pt x="10945749" y="0"/>
                    <a:pt x="11027664" y="81915"/>
                    <a:pt x="11027664" y="182880"/>
                  </a:cubicBezTo>
                  <a:lnTo>
                    <a:pt x="11027664" y="2194560"/>
                  </a:lnTo>
                  <a:cubicBezTo>
                    <a:pt x="11027664" y="2295525"/>
                    <a:pt x="10945749" y="2377440"/>
                    <a:pt x="10844784" y="2377440"/>
                  </a:cubicBezTo>
                  <a:lnTo>
                    <a:pt x="182880" y="2377440"/>
                  </a:lnTo>
                  <a:cubicBezTo>
                    <a:pt x="81915" y="2377440"/>
                    <a:pt x="0" y="2295525"/>
                    <a:pt x="0" y="2194560"/>
                  </a:cubicBezTo>
                  <a:close/>
                </a:path>
              </a:pathLst>
            </a:custGeom>
            <a:solidFill>
              <a:srgbClr val="FFF1BF"/>
            </a:solidFill>
          </p:spPr>
        </p:sp>
      </p:grpSp>
      <p:grpSp>
        <p:nvGrpSpPr>
          <p:cNvPr name="Group 63" id="63"/>
          <p:cNvGrpSpPr/>
          <p:nvPr/>
        </p:nvGrpSpPr>
        <p:grpSpPr>
          <a:xfrm rot="0">
            <a:off x="9532620" y="7475220"/>
            <a:ext cx="7612380" cy="1783080"/>
            <a:chOff x="0" y="0"/>
            <a:chExt cx="10149840" cy="2377440"/>
          </a:xfrm>
        </p:grpSpPr>
        <p:sp>
          <p:nvSpPr>
            <p:cNvPr name="Freeform 64" id="64"/>
            <p:cNvSpPr/>
            <p:nvPr/>
          </p:nvSpPr>
          <p:spPr>
            <a:xfrm flipH="false" flipV="false" rot="0">
              <a:off x="0" y="0"/>
              <a:ext cx="10149840" cy="2377440"/>
            </a:xfrm>
            <a:custGeom>
              <a:avLst/>
              <a:gdLst/>
              <a:ahLst/>
              <a:cxnLst/>
              <a:rect r="r" b="b" t="t" l="l"/>
              <a:pathLst>
                <a:path h="2377440" w="10149840">
                  <a:moveTo>
                    <a:pt x="0" y="0"/>
                  </a:moveTo>
                  <a:lnTo>
                    <a:pt x="10149840" y="0"/>
                  </a:lnTo>
                  <a:lnTo>
                    <a:pt x="10149840" y="2377440"/>
                  </a:lnTo>
                  <a:lnTo>
                    <a:pt x="0" y="2377440"/>
                  </a:lnTo>
                  <a:close/>
                </a:path>
              </a:pathLst>
            </a:custGeom>
            <a:blipFill>
              <a:blip r:embed="rId4">
                <a:alphaModFix amt="0"/>
              </a:blip>
              <a:stretch>
                <a:fillRect l="0" t="-33128" r="0" b="-33128"/>
              </a:stretch>
            </a:blipFill>
          </p:spPr>
        </p:sp>
      </p:grpSp>
      <p:grpSp>
        <p:nvGrpSpPr>
          <p:cNvPr name="Group 65" id="65"/>
          <p:cNvGrpSpPr/>
          <p:nvPr/>
        </p:nvGrpSpPr>
        <p:grpSpPr>
          <a:xfrm rot="0">
            <a:off x="9532620" y="7446645"/>
            <a:ext cx="7612380" cy="1811655"/>
            <a:chOff x="0" y="0"/>
            <a:chExt cx="10149840" cy="2415540"/>
          </a:xfrm>
        </p:grpSpPr>
        <p:sp>
          <p:nvSpPr>
            <p:cNvPr name="Freeform 66" id="66"/>
            <p:cNvSpPr/>
            <p:nvPr/>
          </p:nvSpPr>
          <p:spPr>
            <a:xfrm flipH="false" flipV="false" rot="0">
              <a:off x="0" y="0"/>
              <a:ext cx="10149840" cy="2415540"/>
            </a:xfrm>
            <a:custGeom>
              <a:avLst/>
              <a:gdLst/>
              <a:ahLst/>
              <a:cxnLst/>
              <a:rect r="r" b="b" t="t" l="l"/>
              <a:pathLst>
                <a:path h="2415540" w="10149840">
                  <a:moveTo>
                    <a:pt x="0" y="0"/>
                  </a:moveTo>
                  <a:lnTo>
                    <a:pt x="10149840" y="0"/>
                  </a:lnTo>
                  <a:lnTo>
                    <a:pt x="10149840" y="2415540"/>
                  </a:lnTo>
                  <a:lnTo>
                    <a:pt x="0" y="2415540"/>
                  </a:lnTo>
                  <a:close/>
                </a:path>
              </a:pathLst>
            </a:custGeom>
            <a:blipFill>
              <a:blip r:embed="rId5">
                <a:alphaModFix amt="0"/>
              </a:blip>
              <a:stretch>
                <a:fillRect l="0" t="-31874" r="0" b="-31874"/>
              </a:stretch>
            </a:blipFill>
          </p:spPr>
        </p:sp>
        <p:sp>
          <p:nvSpPr>
            <p:cNvPr name="TextBox 67" id="67"/>
            <p:cNvSpPr txBox="true"/>
            <p:nvPr/>
          </p:nvSpPr>
          <p:spPr>
            <a:xfrm>
              <a:off x="0" y="-38100"/>
              <a:ext cx="10149840" cy="245364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Kesalahan terkonsentrasi pada titik berprobabilitas dekat ambang 0,5 (akurasi 52,0% pada selang 0,5–0,6 vs 97,7% pada 0–0,25): piksel campuran di tepi objek, bukan kesalahan acak.</a:t>
              </a:r>
            </a:p>
          </p:txBody>
        </p:sp>
      </p:grpSp>
      <p:sp>
        <p:nvSpPr>
          <p:cNvPr name="TextBox 68" id="6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79</a:t>
            </a:r>
          </a:p>
        </p:txBody>
      </p:sp>
    </p:spTree>
  </p:cSld>
  <p:clrMapOvr>
    <a:masterClrMapping/>
  </p:clrMapOvr>
</p:sld>
</file>

<file path=ppt/slides/slide8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5 · Data pendukung dari dokumentasi repository</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80</a:t>
            </a:r>
          </a:p>
        </p:txBody>
      </p:sp>
      <p:graphicFrame>
        <p:nvGraphicFramePr>
          <p:cNvPr id="18" name="Table 17"/>
          <p:cNvGraphicFramePr>
            <a:graphicFrameLocks noGrp="1"/>
          </p:cNvGraphicFramePr>
          <p:nvPr/>
        </p:nvGraphicFramePr>
        <p:xfrm>
          <a:off x="822960" y="2286000"/>
          <a:ext cx="10058397" cy="3017520"/>
        </p:xfrm>
        <a:graphic>
          <a:graphicData uri="http://schemas.openxmlformats.org/drawingml/2006/table">
            <a:tbl>
              <a:tblPr firstRow="1" bandRow="1">
                <a:tableStyleId>{5C22544A-7EE6-4342-B048-85BDC9FD1C3A}</a:tableStyleId>
              </a:tblPr>
              <a:tblGrid>
                <a:gridCol w="892277"/>
                <a:gridCol w="1865670"/>
                <a:gridCol w="2433483"/>
                <a:gridCol w="2271251"/>
                <a:gridCol w="2595716"/>
              </a:tblGrid>
              <a:tr h="502920">
                <a:tc>
                  <a:txBody>
                    <a:bodyPr wrap="square"/>
                    <a:lstStyle/>
                    <a:p>
                      <a:r>
                        <a:rPr sz="1490" b="1" i="0">
                          <a:solidFill>
                            <a:srgbClr val="FFFFFF"/>
                          </a:solidFill>
                          <a:latin typeface="Calibri (MS) Bold"/>
                        </a:rPr>
                        <a:t>Tahun</a:t>
                      </a:r>
                    </a:p>
                  </a:txBody>
                  <a:tcPr marL="73152" marR="73152" marT="36576" marB="36576" anchor="ctr">
                    <a:solidFill>
                      <a:srgbClr val="0B5E6E"/>
                    </a:solidFill>
                  </a:tcPr>
                </a:tc>
                <a:tc>
                  <a:txBody>
                    <a:bodyPr wrap="square"/>
                    <a:lstStyle/>
                    <a:p>
                      <a:r>
                        <a:rPr sz="1490" b="1" i="0">
                          <a:solidFill>
                            <a:srgbClr val="FFFFFF"/>
                          </a:solidFill>
                          <a:latin typeface="Calibri (MS) Bold"/>
                        </a:rPr>
                        <a:t>TK pariwisata (jiwa)</a:t>
                      </a:r>
                    </a:p>
                  </a:txBody>
                  <a:tcPr marL="73152" marR="73152" marT="36576" marB="36576" anchor="ctr">
                    <a:solidFill>
                      <a:srgbClr val="0B5E6E"/>
                    </a:solidFill>
                  </a:tcPr>
                </a:tc>
                <a:tc>
                  <a:txBody>
                    <a:bodyPr wrap="square"/>
                    <a:lstStyle/>
                    <a:p>
                      <a:r>
                        <a:rPr sz="1490" b="1" i="0">
                          <a:solidFill>
                            <a:srgbClr val="FFFFFF"/>
                          </a:solidFill>
                          <a:latin typeface="Calibri (MS) Bold"/>
                        </a:rPr>
                        <a:t>Status TK</a:t>
                      </a:r>
                    </a:p>
                  </a:txBody>
                  <a:tcPr marL="73152" marR="73152" marT="36576" marB="36576" anchor="ctr">
                    <a:solidFill>
                      <a:srgbClr val="0B5E6E"/>
                    </a:solidFill>
                  </a:tcPr>
                </a:tc>
                <a:tc>
                  <a:txBody>
                    <a:bodyPr wrap="square"/>
                    <a:lstStyle/>
                    <a:p>
                      <a:r>
                        <a:rPr sz="1490" b="1" i="0">
                          <a:solidFill>
                            <a:srgbClr val="FFFFFF"/>
                          </a:solidFill>
                          <a:latin typeface="Calibri (MS) Bold"/>
                        </a:rPr>
                        <a:t>Pengeluaran/kunjungan (Rp)</a:t>
                      </a:r>
                    </a:p>
                  </a:txBody>
                  <a:tcPr marL="73152" marR="73152" marT="36576" marB="36576" anchor="ctr">
                    <a:solidFill>
                      <a:srgbClr val="0B5E6E"/>
                    </a:solidFill>
                  </a:tcPr>
                </a:tc>
                <a:tc>
                  <a:txBody>
                    <a:bodyPr wrap="square"/>
                    <a:lstStyle/>
                    <a:p>
                      <a:r>
                        <a:rPr sz="1490" b="1" i="0">
                          <a:solidFill>
                            <a:srgbClr val="FFFFFF"/>
                          </a:solidFill>
                          <a:latin typeface="Calibri (MS) Bold"/>
                        </a:rPr>
                        <a:t>Status pengeluaran</a:t>
                      </a:r>
                    </a:p>
                  </a:txBody>
                  <a:tcPr marL="73152" marR="73152" marT="36576" marB="36576" anchor="ctr">
                    <a:solidFill>
                      <a:srgbClr val="0B5E6E"/>
                    </a:solidFill>
                  </a:tcPr>
                </a:tc>
              </a:tr>
              <a:tr h="502920">
                <a:tc>
                  <a:txBody>
                    <a:bodyPr wrap="square"/>
                    <a:lstStyle/>
                    <a:p>
                      <a:r>
                        <a:rPr sz="1490" b="0" i="0">
                          <a:solidFill>
                            <a:srgbClr val="14313B"/>
                          </a:solidFill>
                          <a:latin typeface="Calibri (MS)"/>
                        </a:rPr>
                        <a:t>2015</a:t>
                      </a:r>
                    </a:p>
                  </a:txBody>
                  <a:tcPr marL="73152" marR="73152" marT="36576" marB="36576" anchor="ctr">
                    <a:solidFill>
                      <a:srgbClr val="FFFFFF"/>
                    </a:solidFill>
                  </a:tcPr>
                </a:tc>
                <a:tc>
                  <a:txBody>
                    <a:bodyPr wrap="square"/>
                    <a:lstStyle/>
                    <a:p>
                      <a:r>
                        <a:rPr sz="1490" b="0" i="0">
                          <a:solidFill>
                            <a:srgbClr val="14313B"/>
                          </a:solidFill>
                          <a:latin typeface="Calibri (MS)"/>
                        </a:rPr>
                        <a:t>254.537</a:t>
                      </a:r>
                    </a:p>
                  </a:txBody>
                  <a:tcPr marL="73152" marR="73152" marT="36576" marB="36576" anchor="ctr">
                    <a:solidFill>
                      <a:srgbClr val="FFFFFF"/>
                    </a:solidFill>
                  </a:tcPr>
                </a:tc>
                <a:tc>
                  <a:txBody>
                    <a:bodyPr wrap="square"/>
                    <a:lstStyle/>
                    <a:p>
                      <a:r>
                        <a:rPr sz="1490" b="0" i="0">
                          <a:solidFill>
                            <a:srgbClr val="14313B"/>
                          </a:solidFill>
                          <a:latin typeface="Calibri (MS)"/>
                        </a:rPr>
                        <a:t>Ekstrapolasi CAGR 3,67%</a:t>
                      </a:r>
                    </a:p>
                  </a:txBody>
                  <a:tcPr marL="73152" marR="73152" marT="36576" marB="36576" anchor="ctr">
                    <a:solidFill>
                      <a:srgbClr val="FFFFFF"/>
                    </a:solidFill>
                  </a:tcPr>
                </a:tc>
                <a:tc>
                  <a:txBody>
                    <a:bodyPr wrap="square"/>
                    <a:lstStyle/>
                    <a:p>
                      <a:r>
                        <a:rPr sz="1490" b="0" i="0">
                          <a:solidFill>
                            <a:srgbClr val="14313B"/>
                          </a:solidFill>
                          <a:latin typeface="Calibri (MS)"/>
                        </a:rPr>
                        <a:t>1.023.749</a:t>
                      </a:r>
                    </a:p>
                  </a:txBody>
                  <a:tcPr marL="73152" marR="73152" marT="36576" marB="36576" anchor="ctr">
                    <a:solidFill>
                      <a:srgbClr val="FFFFFF"/>
                    </a:solidFill>
                  </a:tcPr>
                </a:tc>
                <a:tc>
                  <a:txBody>
                    <a:bodyPr wrap="square"/>
                    <a:lstStyle/>
                    <a:p>
                      <a:r>
                        <a:rPr sz="1490" b="0" i="0">
                          <a:solidFill>
                            <a:srgbClr val="14313B"/>
                          </a:solidFill>
                          <a:latin typeface="Calibri (MS)"/>
                        </a:rPr>
                        <a:t>Ekstrapolasi CAGR 10,27%</a:t>
                      </a:r>
                    </a:p>
                  </a:txBody>
                  <a:tcPr marL="73152" marR="73152" marT="36576" marB="36576" anchor="ctr">
                    <a:solidFill>
                      <a:srgbClr val="FFFFFF"/>
                    </a:solidFill>
                  </a:tcPr>
                </a:tc>
              </a:tr>
              <a:tr h="502920">
                <a:tc>
                  <a:txBody>
                    <a:bodyPr wrap="square"/>
                    <a:lstStyle/>
                    <a:p>
                      <a:r>
                        <a:rPr sz="1490" b="0" i="0">
                          <a:solidFill>
                            <a:srgbClr val="14313B"/>
                          </a:solidFill>
                          <a:latin typeface="Calibri (MS)"/>
                        </a:rPr>
                        <a:t>2016</a:t>
                      </a:r>
                    </a:p>
                  </a:txBody>
                  <a:tcPr marL="73152" marR="73152" marT="36576" marB="36576" anchor="ctr">
                    <a:solidFill>
                      <a:srgbClr val="EAF8FA"/>
                    </a:solidFill>
                  </a:tcPr>
                </a:tc>
                <a:tc>
                  <a:txBody>
                    <a:bodyPr wrap="square"/>
                    <a:lstStyle/>
                    <a:p>
                      <a:r>
                        <a:rPr sz="1490" b="0" i="0">
                          <a:solidFill>
                            <a:srgbClr val="14313B"/>
                          </a:solidFill>
                          <a:latin typeface="Calibri (MS)"/>
                        </a:rPr>
                        <a:t>263.878</a:t>
                      </a:r>
                    </a:p>
                  </a:txBody>
                  <a:tcPr marL="73152" marR="73152" marT="36576" marB="36576" anchor="ctr">
                    <a:solidFill>
                      <a:srgbClr val="EAF8FA"/>
                    </a:solidFill>
                  </a:tcPr>
                </a:tc>
                <a:tc>
                  <a:txBody>
                    <a:bodyPr wrap="square"/>
                    <a:lstStyle/>
                    <a:p>
                      <a:r>
                        <a:rPr sz="1490" b="0" i="0">
                          <a:solidFill>
                            <a:srgbClr val="14313B"/>
                          </a:solidFill>
                          <a:latin typeface="Calibri (MS)"/>
                        </a:rPr>
                        <a:t>Ekstrapolasi CAGR 3,67%</a:t>
                      </a:r>
                    </a:p>
                  </a:txBody>
                  <a:tcPr marL="73152" marR="73152" marT="36576" marB="36576" anchor="ctr">
                    <a:solidFill>
                      <a:srgbClr val="EAF8FA"/>
                    </a:solidFill>
                  </a:tcPr>
                </a:tc>
                <a:tc>
                  <a:txBody>
                    <a:bodyPr wrap="square"/>
                    <a:lstStyle/>
                    <a:p>
                      <a:r>
                        <a:rPr sz="1490" b="0" i="0">
                          <a:solidFill>
                            <a:srgbClr val="14313B"/>
                          </a:solidFill>
                          <a:latin typeface="Calibri (MS)"/>
                        </a:rPr>
                        <a:t>1.128.845</a:t>
                      </a:r>
                    </a:p>
                  </a:txBody>
                  <a:tcPr marL="73152" marR="73152" marT="36576" marB="36576" anchor="ctr">
                    <a:solidFill>
                      <a:srgbClr val="EAF8FA"/>
                    </a:solidFill>
                  </a:tcPr>
                </a:tc>
                <a:tc>
                  <a:txBody>
                    <a:bodyPr wrap="square"/>
                    <a:lstStyle/>
                    <a:p>
                      <a:r>
                        <a:rPr sz="1490" b="0" i="0">
                          <a:solidFill>
                            <a:srgbClr val="14313B"/>
                          </a:solidFill>
                          <a:latin typeface="Calibri (MS)"/>
                        </a:rPr>
                        <a:t>Ekstrapolasi CAGR 10,27%</a:t>
                      </a:r>
                    </a:p>
                  </a:txBody>
                  <a:tcPr marL="73152" marR="73152" marT="36576" marB="36576" anchor="ctr">
                    <a:solidFill>
                      <a:srgbClr val="EAF8FA"/>
                    </a:solidFill>
                  </a:tcPr>
                </a:tc>
              </a:tr>
              <a:tr h="502920">
                <a:tc>
                  <a:txBody>
                    <a:bodyPr wrap="square"/>
                    <a:lstStyle/>
                    <a:p>
                      <a:r>
                        <a:rPr sz="1490" b="0" i="0">
                          <a:solidFill>
                            <a:srgbClr val="14313B"/>
                          </a:solidFill>
                          <a:latin typeface="Calibri (MS)"/>
                        </a:rPr>
                        <a:t>2017</a:t>
                      </a:r>
                    </a:p>
                  </a:txBody>
                  <a:tcPr marL="73152" marR="73152" marT="36576" marB="36576" anchor="ctr">
                    <a:solidFill>
                      <a:srgbClr val="FFFFFF"/>
                    </a:solidFill>
                  </a:tcPr>
                </a:tc>
                <a:tc>
                  <a:txBody>
                    <a:bodyPr wrap="square"/>
                    <a:lstStyle/>
                    <a:p>
                      <a:r>
                        <a:rPr sz="1490" b="0" i="0">
                          <a:solidFill>
                            <a:srgbClr val="14313B"/>
                          </a:solidFill>
                          <a:latin typeface="Calibri (MS)"/>
                        </a:rPr>
                        <a:t>273.563</a:t>
                      </a:r>
                    </a:p>
                  </a:txBody>
                  <a:tcPr marL="73152" marR="73152" marT="36576" marB="36576" anchor="ctr">
                    <a:solidFill>
                      <a:srgbClr val="FFFFFF"/>
                    </a:solidFill>
                  </a:tcPr>
                </a:tc>
                <a:tc>
                  <a:txBody>
                    <a:bodyPr wrap="square"/>
                    <a:lstStyle/>
                    <a:p>
                      <a:r>
                        <a:rPr sz="1490" b="0" i="0">
                          <a:solidFill>
                            <a:srgbClr val="14313B"/>
                          </a:solidFill>
                          <a:latin typeface="Calibri (MS)"/>
                        </a:rPr>
                        <a:t>Sakernas</a:t>
                      </a:r>
                    </a:p>
                  </a:txBody>
                  <a:tcPr marL="73152" marR="73152" marT="36576" marB="36576" anchor="ctr">
                    <a:solidFill>
                      <a:srgbClr val="FFFFFF"/>
                    </a:solidFill>
                  </a:tcPr>
                </a:tc>
                <a:tc>
                  <a:txBody>
                    <a:bodyPr wrap="square"/>
                    <a:lstStyle/>
                    <a:p>
                      <a:r>
                        <a:rPr sz="1490" b="0" i="0">
                          <a:solidFill>
                            <a:srgbClr val="14313B"/>
                          </a:solidFill>
                          <a:latin typeface="Calibri (MS)"/>
                        </a:rPr>
                        <a:t>1.244.730</a:t>
                      </a:r>
                    </a:p>
                  </a:txBody>
                  <a:tcPr marL="73152" marR="73152" marT="36576" marB="36576" anchor="ctr">
                    <a:solidFill>
                      <a:srgbClr val="FFFFFF"/>
                    </a:solidFill>
                  </a:tcPr>
                </a:tc>
                <a:tc>
                  <a:txBody>
                    <a:bodyPr wrap="square"/>
                    <a:lstStyle/>
                    <a:p>
                      <a:r>
                        <a:rPr sz="1490" b="0" i="0">
                          <a:solidFill>
                            <a:srgbClr val="14313B"/>
                          </a:solidFill>
                          <a:latin typeface="Calibri (MS)"/>
                        </a:rPr>
                        <a:t>Ekstrapolasi CAGR 10,27%</a:t>
                      </a:r>
                    </a:p>
                  </a:txBody>
                  <a:tcPr marL="73152" marR="73152" marT="36576" marB="36576" anchor="ctr">
                    <a:solidFill>
                      <a:srgbClr val="FFFFFF"/>
                    </a:solidFill>
                  </a:tcPr>
                </a:tc>
              </a:tr>
              <a:tr h="502920">
                <a:tc>
                  <a:txBody>
                    <a:bodyPr wrap="square"/>
                    <a:lstStyle/>
                    <a:p>
                      <a:r>
                        <a:rPr sz="1490" b="0" i="0">
                          <a:solidFill>
                            <a:srgbClr val="14313B"/>
                          </a:solidFill>
                          <a:latin typeface="Calibri (MS)"/>
                        </a:rPr>
                        <a:t>2018</a:t>
                      </a:r>
                    </a:p>
                  </a:txBody>
                  <a:tcPr marL="73152" marR="73152" marT="36576" marB="36576" anchor="ctr">
                    <a:solidFill>
                      <a:srgbClr val="EAF8FA"/>
                    </a:solidFill>
                  </a:tcPr>
                </a:tc>
                <a:tc>
                  <a:txBody>
                    <a:bodyPr wrap="square"/>
                    <a:lstStyle/>
                    <a:p>
                      <a:r>
                        <a:rPr sz="1490" b="0" i="0">
                          <a:solidFill>
                            <a:srgbClr val="14313B"/>
                          </a:solidFill>
                          <a:latin typeface="Calibri (MS)"/>
                        </a:rPr>
                        <a:t>354.684</a:t>
                      </a:r>
                    </a:p>
                  </a:txBody>
                  <a:tcPr marL="73152" marR="73152" marT="36576" marB="36576" anchor="ctr">
                    <a:solidFill>
                      <a:srgbClr val="EAF8FA"/>
                    </a:solidFill>
                  </a:tcPr>
                </a:tc>
                <a:tc>
                  <a:txBody>
                    <a:bodyPr wrap="square"/>
                    <a:lstStyle/>
                    <a:p>
                      <a:r>
                        <a:rPr sz="1490" b="0" i="0">
                          <a:solidFill>
                            <a:srgbClr val="14313B"/>
                          </a:solidFill>
                          <a:latin typeface="Calibri (MS)"/>
                        </a:rPr>
                        <a:t>Sakernas</a:t>
                      </a:r>
                    </a:p>
                  </a:txBody>
                  <a:tcPr marL="73152" marR="73152" marT="36576" marB="36576" anchor="ctr">
                    <a:solidFill>
                      <a:srgbClr val="EAF8FA"/>
                    </a:solidFill>
                  </a:tcPr>
                </a:tc>
                <a:tc>
                  <a:txBody>
                    <a:bodyPr wrap="square"/>
                    <a:lstStyle/>
                    <a:p>
                      <a:r>
                        <a:rPr sz="1490" b="0" i="0">
                          <a:solidFill>
                            <a:srgbClr val="14313B"/>
                          </a:solidFill>
                          <a:latin typeface="Calibri (MS)"/>
                        </a:rPr>
                        <a:t>1.372.512</a:t>
                      </a:r>
                    </a:p>
                  </a:txBody>
                  <a:tcPr marL="73152" marR="73152" marT="36576" marB="36576" anchor="ctr">
                    <a:solidFill>
                      <a:srgbClr val="EAF8FA"/>
                    </a:solidFill>
                  </a:tcPr>
                </a:tc>
                <a:tc>
                  <a:txBody>
                    <a:bodyPr wrap="square"/>
                    <a:lstStyle/>
                    <a:p>
                      <a:r>
                        <a:rPr sz="1490" b="0" i="0">
                          <a:solidFill>
                            <a:srgbClr val="14313B"/>
                          </a:solidFill>
                          <a:latin typeface="Calibri (MS)"/>
                        </a:rPr>
                        <a:t>Observasi (tertimbang)</a:t>
                      </a:r>
                    </a:p>
                  </a:txBody>
                  <a:tcPr marL="73152" marR="73152" marT="36576" marB="36576" anchor="ctr">
                    <a:solidFill>
                      <a:srgbClr val="EAF8FA"/>
                    </a:solidFill>
                  </a:tcPr>
                </a:tc>
              </a:tr>
              <a:tr h="502920">
                <a:tc>
                  <a:txBody>
                    <a:bodyPr wrap="square"/>
                    <a:lstStyle/>
                    <a:p>
                      <a:r>
                        <a:rPr sz="1490" b="0" i="0">
                          <a:solidFill>
                            <a:srgbClr val="14313B"/>
                          </a:solidFill>
                          <a:latin typeface="Calibri (MS)"/>
                        </a:rPr>
                        <a:t>2025</a:t>
                      </a:r>
                    </a:p>
                  </a:txBody>
                  <a:tcPr marL="73152" marR="73152" marT="36576" marB="36576" anchor="ctr">
                    <a:solidFill>
                      <a:srgbClr val="FFFFFF"/>
                    </a:solidFill>
                  </a:tcPr>
                </a:tc>
                <a:tc>
                  <a:txBody>
                    <a:bodyPr wrap="square"/>
                    <a:lstStyle/>
                    <a:p>
                      <a:r>
                        <a:rPr sz="1490" b="0" i="0">
                          <a:solidFill>
                            <a:srgbClr val="14313B"/>
                          </a:solidFill>
                          <a:latin typeface="Calibri (MS)"/>
                        </a:rPr>
                        <a:t>364.994</a:t>
                      </a:r>
                    </a:p>
                  </a:txBody>
                  <a:tcPr marL="73152" marR="73152" marT="36576" marB="36576" anchor="ctr">
                    <a:solidFill>
                      <a:srgbClr val="FFFFFF"/>
                    </a:solidFill>
                  </a:tcPr>
                </a:tc>
                <a:tc>
                  <a:txBody>
                    <a:bodyPr wrap="square"/>
                    <a:lstStyle/>
                    <a:p>
                      <a:r>
                        <a:rPr sz="1490" b="0" i="0">
                          <a:solidFill>
                            <a:srgbClr val="14313B"/>
                          </a:solidFill>
                          <a:latin typeface="Calibri (MS)"/>
                        </a:rPr>
                        <a:t>Sakernas</a:t>
                      </a:r>
                    </a:p>
                  </a:txBody>
                  <a:tcPr marL="73152" marR="73152" marT="36576" marB="36576" anchor="ctr">
                    <a:solidFill>
                      <a:srgbClr val="FFFFFF"/>
                    </a:solidFill>
                  </a:tcPr>
                </a:tc>
                <a:tc>
                  <a:txBody>
                    <a:bodyPr wrap="square"/>
                    <a:lstStyle/>
                    <a:p>
                      <a:r>
                        <a:rPr sz="1490" b="0" i="0">
                          <a:solidFill>
                            <a:srgbClr val="14313B"/>
                          </a:solidFill>
                          <a:latin typeface="Calibri (MS)"/>
                        </a:rPr>
                        <a:t>2.720.209</a:t>
                      </a:r>
                    </a:p>
                  </a:txBody>
                  <a:tcPr marL="73152" marR="73152" marT="36576" marB="36576" anchor="ctr">
                    <a:solidFill>
                      <a:srgbClr val="FFFFFF"/>
                    </a:solidFill>
                  </a:tcPr>
                </a:tc>
                <a:tc>
                  <a:txBody>
                    <a:bodyPr wrap="square"/>
                    <a:lstStyle/>
                    <a:p>
                      <a:r>
                        <a:rPr sz="1490" b="0" i="0">
                          <a:solidFill>
                            <a:srgbClr val="14313B"/>
                          </a:solidFill>
                          <a:latin typeface="Calibri (MS)"/>
                        </a:rPr>
                        <a:t>Observasi (tertimbang)</a:t>
                      </a:r>
                    </a:p>
                  </a:txBody>
                  <a:tcPr marL="73152" marR="73152" marT="36576" marB="36576" anchor="ctr">
                    <a:solidFill>
                      <a:srgbClr val="FFFFFF"/>
                    </a:solidFill>
                  </a:tcPr>
                </a:tc>
              </a:tr>
            </a:tbl>
          </a:graphicData>
        </a:graphic>
      </p:graphicFrame>
      <p:sp>
        <p:nvSpPr>
          <p:cNvPr id="19" name="Rounded Rectangle 18"/>
          <p:cNvSpPr/>
          <p:nvPr/>
        </p:nvSpPr>
        <p:spPr>
          <a:xfrm>
            <a:off x="822960" y="5486400"/>
            <a:ext cx="10058400" cy="2743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720" b="1" i="0">
                <a:solidFill>
                  <a:srgbClr val="0B5E6E"/>
                </a:solidFill>
                <a:latin typeface="Calibri (MS) Bold"/>
              </a:rPr>
              <a:t>Catatan</a:t>
            </a:r>
          </a:p>
          <a:p>
            <a:pPr algn="l">
              <a:spcAft>
                <a:spcPts val="300"/>
              </a:spcAft>
            </a:pPr>
            <a:r>
              <a:rPr sz="1490" b="0" i="0">
                <a:solidFill>
                  <a:srgbClr val="14313B"/>
                </a:solidFill>
                <a:latin typeface="Calibri (MS)"/>
              </a:rPr>
              <a:t>• TK 2015–2016: NTL (R² selisih 0,070) dan PDRB (R² selisih 0,093) ditolak sebagai estimator; dipakai CAGR 2017–2025.</a:t>
            </a:r>
          </a:p>
          <a:p>
            <a:pPr algn="l">
              <a:spcAft>
                <a:spcPts val="300"/>
              </a:spcAft>
            </a:pPr>
            <a:r>
              <a:rPr sz="1490" b="0" i="0">
                <a:solidFill>
                  <a:srgbClr val="14313B"/>
                </a:solidFill>
                <a:latin typeface="Calibri (MS)"/>
              </a:rPr>
              <a:t>• Pengeluaran per kunjungan = rata-rata tertimbang wisnus (DIY, ribu Rp) dan wisman (nasional, US$ × kurs tengah BI).</a:t>
            </a:r>
          </a:p>
          <a:p>
            <a:pPr algn="l">
              <a:spcAft>
                <a:spcPts val="300"/>
              </a:spcAft>
            </a:pPr>
            <a:r>
              <a:rPr sz="1490" b="0" i="0">
                <a:solidFill>
                  <a:srgbClr val="14313B"/>
                </a:solidFill>
                <a:latin typeface="Calibri (MS)"/>
              </a:rPr>
              <a:t>• Faktor sambung wisnus: g_pra 7,63%; g_pasca 15,52%; g_wajar 11,58%; lompatan 2,566 → 2,2997.</a:t>
            </a:r>
          </a:p>
        </p:txBody>
      </p:sp>
      <p:sp>
        <p:nvSpPr>
          <p:cNvPr id="20" name="Rounded Rectangle 19"/>
          <p:cNvSpPr/>
          <p:nvPr/>
        </p:nvSpPr>
        <p:spPr>
          <a:xfrm>
            <a:off x="11155680" y="2286000"/>
            <a:ext cx="6309360" cy="59436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720" b="1" i="0">
                <a:solidFill>
                  <a:srgbClr val="0B5E6E"/>
                </a:solidFill>
                <a:latin typeface="Calibri (MS) Bold"/>
              </a:rPr>
              <a:t>Spesifikasi Google Earth Engine</a:t>
            </a:r>
          </a:p>
          <a:p>
            <a:pPr algn="l">
              <a:spcAft>
                <a:spcPts val="300"/>
              </a:spcAft>
            </a:pPr>
            <a:r>
              <a:rPr sz="1490" b="0" i="0">
                <a:solidFill>
                  <a:srgbClr val="14313B"/>
                </a:solidFill>
                <a:latin typeface="Calibri (MS)"/>
              </a:rPr>
              <a:t>NTL: NOAA/VIIRS/DNB/MONTHLY_V1/VCMSLCFG, band avg_rad, rata-rata bulanan → tahunan, reduceRegions mean, skala 500 m.</a:t>
            </a:r>
          </a:p>
          <a:p>
            <a:pPr algn="l">
              <a:spcAft>
                <a:spcPts val="300"/>
              </a:spcAft>
            </a:pPr>
            <a:r>
              <a:rPr sz="1490" b="0" i="0">
                <a:solidFill>
                  <a:srgbClr val="14313B"/>
                </a:solidFill>
                <a:latin typeface="Calibri (MS)"/>
              </a:rPr>
              <a:t>Batas wilayah: FAO/GAUL/2015/level1 (DIY).</a:t>
            </a:r>
          </a:p>
          <a:p>
            <a:pPr algn="l">
              <a:spcAft>
                <a:spcPts val="300"/>
              </a:spcAft>
            </a:pPr>
            <a:r>
              <a:rPr sz="1490" b="0" i="0">
                <a:solidFill>
                  <a:srgbClr val="14313B"/>
                </a:solidFill>
                <a:latin typeface="Calibri (MS)"/>
              </a:rPr>
              <a:t>Dynamic World: GOOGLE/DYNAMICWORLD/V1, band built dirata-ratakan per tahun, ambang ≥ 0,5, pixelArea, skala 10 m.</a:t>
            </a:r>
          </a:p>
          <a:p>
            <a:pPr algn="l">
              <a:spcAft>
                <a:spcPts val="300"/>
              </a:spcAft>
            </a:pPr>
            <a:r>
              <a:rPr sz="1490" b="0" i="0">
                <a:solidFill>
                  <a:srgbClr val="14313B"/>
                </a:solidFill>
                <a:latin typeface="Calibri (MS)"/>
              </a:rPr>
              <a:t>Uji akurasi: stratifiedSample 100 titik/kelas, seed 2024, tahun 2025.</a:t>
            </a:r>
          </a:p>
          <a:p>
            <a:pPr algn="l">
              <a:spcAft>
                <a:spcPts val="300"/>
              </a:spcAft>
            </a:pPr>
            <a:r>
              <a:rPr sz="1490" b="0" i="0">
                <a:solidFill>
                  <a:srgbClr val="14313B"/>
                </a:solidFill>
                <a:latin typeface="Calibri (MS)"/>
              </a:rPr>
              <a:t>Validasi spasial NTL: titik sampel dengan buffer 300 m.</a:t>
            </a:r>
          </a:p>
        </p:txBody>
      </p:sp>
      <p:sp>
        <p:nvSpPr>
          <p:cNvPr id="21" name="TextBox 20"/>
          <p:cNvSpPr txBox="1"/>
          <p:nvPr/>
        </p:nvSpPr>
        <p:spPr>
          <a:xfrm>
            <a:off x="822960" y="859536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repository (Ekstrapolasi Tenaga Kerja Pariwisata, Perhitungan Pengeluaran wisatawan, Master Data, GEE.rtf). Tidak mengubah nilai final di buku.</a:t>
            </a:r>
          </a:p>
        </p:txBody>
      </p:sp>
    </p:spTree>
  </p:cSld>
  <p:clrMapOvr>
    <a:masterClrMapping/>
  </p:clrMapOvr>
</p:sld>
</file>

<file path=ppt/slides/slide8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6 · Sepuluh indikator kinerja evaluasi skenario</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graphicFrame>
        <p:nvGraphicFramePr>
          <p:cNvPr name="Table 17" id="17"/>
          <p:cNvGraphicFramePr>
            <a:graphicFrameLocks noGrp="true"/>
          </p:cNvGraphicFramePr>
          <p:nvPr/>
        </p:nvGraphicFramePr>
        <p:xfrm>
          <a:off x="822960" y="2331720"/>
          <a:ext cx="16560800" cy="6286500"/>
        </p:xfrm>
        <a:graphic>
          <a:graphicData uri="http://schemas.openxmlformats.org/drawingml/2006/table">
            <a:tbl>
              <a:tblPr/>
              <a:tblGrid>
                <a:gridCol w="2065833"/>
                <a:gridCol w="4623091"/>
                <a:gridCol w="5565239"/>
                <a:gridCol w="2335019"/>
                <a:gridCol w="1971618"/>
              </a:tblGrid>
              <a:tr h="571500">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Dimensi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Indikator</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Variabel model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Arah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Ambang</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rowSpan="4">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Lapangan kerja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Tenaga Kerja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Maksimum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Nilai tambah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PDRB Sektor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Maksimum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Investasi kumulatif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Akumulasi Investasi Sektor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Deskriptif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Okupansi akomodasi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Tingkat Penghunian Kamar</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Deskriptif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rowSpan="3">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Lahan tersedia untuk konservasi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Rasio Daya Dukung Lahan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Maksimum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&gt; 0,331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Luas 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Minimum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Konversi lahan pariwisata kumulatif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Akumulasi Laju Konversi Lahan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Minimum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rowSpan="2">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Sosial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Indeks kepadatan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Kepadatan Wisatawan ÷ Kepadatan Referensi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Minimum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&lt; 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Sosial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Kualitas destinasi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Daya Tarik Destinasi 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Maksimum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Skala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Jumlah wisatawan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Jumlah Wisatawan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Dilaporkan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18" id="1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81</a:t>
            </a:r>
          </a:p>
        </p:txBody>
      </p:sp>
    </p:spTree>
  </p:cSld>
  <p:clrMapOvr>
    <a:masterClrMapping/>
  </p:clrMapOvr>
</p:sld>
</file>

<file path=ppt/slides/slide8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7 · KPI pelengkap per skenario tahun 2050</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82</a:t>
            </a:r>
          </a:p>
        </p:txBody>
      </p:sp>
      <p:graphicFrame>
        <p:nvGraphicFramePr>
          <p:cNvPr id="18" name="Table 17"/>
          <p:cNvGraphicFramePr>
            <a:graphicFrameLocks noGrp="1"/>
          </p:cNvGraphicFramePr>
          <p:nvPr/>
        </p:nvGraphicFramePr>
        <p:xfrm>
          <a:off x="822960" y="2286000"/>
          <a:ext cx="16642078" cy="3968496"/>
        </p:xfrm>
        <a:graphic>
          <a:graphicData uri="http://schemas.openxmlformats.org/drawingml/2006/table">
            <a:tbl>
              <a:tblPr firstRow="1" bandRow="1">
                <a:tableStyleId>{5C22544A-7EE6-4342-B048-85BDC9FD1C3A}</a:tableStyleId>
              </a:tblPr>
              <a:tblGrid>
                <a:gridCol w="5738648"/>
                <a:gridCol w="2295459"/>
                <a:gridCol w="2486747"/>
                <a:gridCol w="3251900"/>
                <a:gridCol w="2869324"/>
              </a:tblGrid>
              <a:tr h="566928">
                <a:tc>
                  <a:txBody>
                    <a:bodyPr wrap="square"/>
                    <a:lstStyle/>
                    <a:p>
                      <a:r>
                        <a:rPr sz="1610" b="1" i="0">
                          <a:solidFill>
                            <a:srgbClr val="FFFFFF"/>
                          </a:solidFill>
                          <a:latin typeface="Calibri (MS) Bold"/>
                        </a:rPr>
                        <a:t>Indikator 2050</a:t>
                      </a:r>
                    </a:p>
                  </a:txBody>
                  <a:tcPr marL="73152" marR="73152" marT="36576" marB="36576" anchor="ctr">
                    <a:solidFill>
                      <a:srgbClr val="0B5E6E"/>
                    </a:solidFill>
                  </a:tcPr>
                </a:tc>
                <a:tc>
                  <a:txBody>
                    <a:bodyPr wrap="square"/>
                    <a:lstStyle/>
                    <a:p>
                      <a:r>
                        <a:rPr sz="1610" b="1" i="0">
                          <a:solidFill>
                            <a:srgbClr val="FFFFFF"/>
                          </a:solidFill>
                          <a:latin typeface="Calibri (MS) Bold"/>
                        </a:rPr>
                        <a:t>BAU</a:t>
                      </a:r>
                    </a:p>
                  </a:txBody>
                  <a:tcPr marL="73152" marR="73152" marT="36576" marB="36576" anchor="ctr">
                    <a:solidFill>
                      <a:srgbClr val="0B5E6E"/>
                    </a:solidFill>
                  </a:tcPr>
                </a:tc>
                <a:tc>
                  <a:txBody>
                    <a:bodyPr wrap="square"/>
                    <a:lstStyle/>
                    <a:p>
                      <a:r>
                        <a:rPr sz="1610" b="1" i="0">
                          <a:solidFill>
                            <a:srgbClr val="FFFFFF"/>
                          </a:solidFill>
                          <a:latin typeface="Calibri (MS) Bold"/>
                        </a:rPr>
                        <a:t>Sustainable</a:t>
                      </a:r>
                    </a:p>
                  </a:txBody>
                  <a:tcPr marL="73152" marR="73152" marT="36576" marB="36576" anchor="ctr">
                    <a:solidFill>
                      <a:srgbClr val="0B5E6E"/>
                    </a:solidFill>
                  </a:tcPr>
                </a:tc>
                <a:tc>
                  <a:txBody>
                    <a:bodyPr wrap="square"/>
                    <a:lstStyle/>
                    <a:p>
                      <a:r>
                        <a:rPr sz="1610" b="1" i="0">
                          <a:solidFill>
                            <a:srgbClr val="FFFFFF"/>
                          </a:solidFill>
                          <a:latin typeface="Calibri (MS) Bold"/>
                        </a:rPr>
                        <a:t>Development Priority</a:t>
                      </a:r>
                    </a:p>
                  </a:txBody>
                  <a:tcPr marL="73152" marR="73152" marT="36576" marB="36576" anchor="ctr">
                    <a:solidFill>
                      <a:srgbClr val="0B5E6E"/>
                    </a:solidFill>
                  </a:tcPr>
                </a:tc>
                <a:tc>
                  <a:txBody>
                    <a:bodyPr wrap="square"/>
                    <a:lstStyle/>
                    <a:p>
                      <a:r>
                        <a:rPr sz="1610" b="1" i="0">
                          <a:solidFill>
                            <a:srgbClr val="FFFFFF"/>
                          </a:solidFill>
                          <a:latin typeface="Calibri (MS) Bold"/>
                        </a:rPr>
                        <a:t>Sumber</a:t>
                      </a:r>
                    </a:p>
                  </a:txBody>
                  <a:tcPr marL="73152" marR="73152" marT="36576" marB="36576" anchor="ctr">
                    <a:solidFill>
                      <a:srgbClr val="0B5E6E"/>
                    </a:solidFill>
                  </a:tcPr>
                </a:tc>
              </a:tr>
              <a:tr h="566928">
                <a:tc>
                  <a:txBody>
                    <a:bodyPr wrap="square"/>
                    <a:lstStyle/>
                    <a:p>
                      <a:r>
                        <a:rPr sz="1610" b="0" i="0">
                          <a:solidFill>
                            <a:srgbClr val="14313B"/>
                          </a:solidFill>
                          <a:latin typeface="Calibri (MS)"/>
                        </a:rPr>
                        <a:t>Tingkat penghunian kamar (deskriptif)</a:t>
                      </a:r>
                    </a:p>
                  </a:txBody>
                  <a:tcPr marL="73152" marR="73152" marT="36576" marB="36576" anchor="ctr">
                    <a:solidFill>
                      <a:srgbClr val="FFFFFF"/>
                    </a:solidFill>
                  </a:tcPr>
                </a:tc>
                <a:tc>
                  <a:txBody>
                    <a:bodyPr wrap="square"/>
                    <a:lstStyle/>
                    <a:p>
                      <a:r>
                        <a:rPr sz="1610" b="0" i="0">
                          <a:solidFill>
                            <a:srgbClr val="14313B"/>
                          </a:solidFill>
                          <a:latin typeface="Calibri (MS)"/>
                        </a:rPr>
                        <a:t>0,3584</a:t>
                      </a:r>
                    </a:p>
                  </a:txBody>
                  <a:tcPr marL="73152" marR="73152" marT="36576" marB="36576" anchor="ctr">
                    <a:solidFill>
                      <a:srgbClr val="FFFFFF"/>
                    </a:solidFill>
                  </a:tcPr>
                </a:tc>
                <a:tc>
                  <a:txBody>
                    <a:bodyPr wrap="square"/>
                    <a:lstStyle/>
                    <a:p>
                      <a:r>
                        <a:rPr sz="1610" b="0" i="0">
                          <a:solidFill>
                            <a:srgbClr val="14313B"/>
                          </a:solidFill>
                          <a:latin typeface="Calibri (MS)"/>
                        </a:rPr>
                        <a:t>0,3537</a:t>
                      </a:r>
                    </a:p>
                  </a:txBody>
                  <a:tcPr marL="73152" marR="73152" marT="36576" marB="36576" anchor="ctr">
                    <a:solidFill>
                      <a:srgbClr val="FFFFFF"/>
                    </a:solidFill>
                  </a:tcPr>
                </a:tc>
                <a:tc>
                  <a:txBody>
                    <a:bodyPr wrap="square"/>
                    <a:lstStyle/>
                    <a:p>
                      <a:r>
                        <a:rPr sz="1610" b="0" i="0">
                          <a:solidFill>
                            <a:srgbClr val="14313B"/>
                          </a:solidFill>
                          <a:latin typeface="Calibri (MS)"/>
                        </a:rPr>
                        <a:t>0,3458</a:t>
                      </a:r>
                    </a:p>
                  </a:txBody>
                  <a:tcPr marL="73152" marR="73152" marT="36576" marB="36576" anchor="ctr">
                    <a:solidFill>
                      <a:srgbClr val="FFFFFF"/>
                    </a:solidFill>
                  </a:tcPr>
                </a:tc>
                <a:tc>
                  <a:txBody>
                    <a:bodyPr wrap="square"/>
                    <a:lstStyle/>
                    <a:p>
                      <a:r>
                        <a:rPr sz="1610" b="0" i="0">
                          <a:solidFill>
                            <a:srgbClr val="14313B"/>
                          </a:solidFill>
                          <a:latin typeface="Calibri (MS)"/>
                        </a:rPr>
                        <a:t>Repository</a:t>
                      </a:r>
                    </a:p>
                  </a:txBody>
                  <a:tcPr marL="73152" marR="73152" marT="36576" marB="36576" anchor="ctr">
                    <a:solidFill>
                      <a:srgbClr val="FFFFFF"/>
                    </a:solidFill>
                  </a:tcPr>
                </a:tc>
              </a:tr>
              <a:tr h="566928">
                <a:tc>
                  <a:txBody>
                    <a:bodyPr wrap="square"/>
                    <a:lstStyle/>
                    <a:p>
                      <a:r>
                        <a:rPr sz="1610" b="0" i="0">
                          <a:solidFill>
                            <a:srgbClr val="14313B"/>
                          </a:solidFill>
                          <a:latin typeface="Calibri (MS)"/>
                        </a:rPr>
                        <a:t>Jumlah hotel dan akomodasi (unit)</a:t>
                      </a:r>
                    </a:p>
                  </a:txBody>
                  <a:tcPr marL="73152" marR="73152" marT="36576" marB="36576" anchor="ctr">
                    <a:solidFill>
                      <a:srgbClr val="EAF8FA"/>
                    </a:solidFill>
                  </a:tcPr>
                </a:tc>
                <a:tc>
                  <a:txBody>
                    <a:bodyPr wrap="square"/>
                    <a:lstStyle/>
                    <a:p>
                      <a:r>
                        <a:rPr sz="1610" b="0" i="0">
                          <a:solidFill>
                            <a:srgbClr val="14313B"/>
                          </a:solidFill>
                          <a:latin typeface="Calibri (MS)"/>
                        </a:rPr>
                        <a:t>5.404</a:t>
                      </a:r>
                    </a:p>
                  </a:txBody>
                  <a:tcPr marL="73152" marR="73152" marT="36576" marB="36576" anchor="ctr">
                    <a:solidFill>
                      <a:srgbClr val="EAF8FA"/>
                    </a:solidFill>
                  </a:tcPr>
                </a:tc>
                <a:tc>
                  <a:txBody>
                    <a:bodyPr wrap="square"/>
                    <a:lstStyle/>
                    <a:p>
                      <a:r>
                        <a:rPr sz="1610" b="0" i="0">
                          <a:solidFill>
                            <a:srgbClr val="14313B"/>
                          </a:solidFill>
                          <a:latin typeface="Calibri (MS)"/>
                        </a:rPr>
                        <a:t>5.631</a:t>
                      </a:r>
                    </a:p>
                  </a:txBody>
                  <a:tcPr marL="73152" marR="73152" marT="36576" marB="36576" anchor="ctr">
                    <a:solidFill>
                      <a:srgbClr val="EAF8FA"/>
                    </a:solidFill>
                  </a:tcPr>
                </a:tc>
                <a:tc>
                  <a:txBody>
                    <a:bodyPr wrap="square"/>
                    <a:lstStyle/>
                    <a:p>
                      <a:r>
                        <a:rPr sz="1610" b="0" i="0">
                          <a:solidFill>
                            <a:srgbClr val="14313B"/>
                          </a:solidFill>
                          <a:latin typeface="Calibri (MS)"/>
                        </a:rPr>
                        <a:t>6.033</a:t>
                      </a:r>
                    </a:p>
                  </a:txBody>
                  <a:tcPr marL="73152" marR="73152" marT="36576" marB="36576" anchor="ctr">
                    <a:solidFill>
                      <a:srgbClr val="EAF8FA"/>
                    </a:solidFill>
                  </a:tcPr>
                </a:tc>
                <a:tc>
                  <a:txBody>
                    <a:bodyPr wrap="square"/>
                    <a:lstStyle/>
                    <a:p>
                      <a:r>
                        <a:rPr sz="1610" b="0" i="0">
                          <a:solidFill>
                            <a:srgbClr val="14313B"/>
                          </a:solidFill>
                          <a:latin typeface="Calibri (MS)"/>
                        </a:rPr>
                        <a:t>Repository</a:t>
                      </a:r>
                    </a:p>
                  </a:txBody>
                  <a:tcPr marL="73152" marR="73152" marT="36576" marB="36576" anchor="ctr">
                    <a:solidFill>
                      <a:srgbClr val="EAF8FA"/>
                    </a:solidFill>
                  </a:tcPr>
                </a:tc>
              </a:tr>
              <a:tr h="566928">
                <a:tc>
                  <a:txBody>
                    <a:bodyPr wrap="square"/>
                    <a:lstStyle/>
                    <a:p>
                      <a:r>
                        <a:rPr sz="1610" b="0" i="0">
                          <a:solidFill>
                            <a:srgbClr val="14313B"/>
                          </a:solidFill>
                          <a:latin typeface="Calibri (MS)"/>
                        </a:rPr>
                        <a:t>Jumlah ODTW (unit)</a:t>
                      </a:r>
                    </a:p>
                  </a:txBody>
                  <a:tcPr marL="73152" marR="73152" marT="36576" marB="36576" anchor="ctr">
                    <a:solidFill>
                      <a:srgbClr val="FFFFFF"/>
                    </a:solidFill>
                  </a:tcPr>
                </a:tc>
                <a:tc>
                  <a:txBody>
                    <a:bodyPr wrap="square"/>
                    <a:lstStyle/>
                    <a:p>
                      <a:r>
                        <a:rPr sz="1610" b="0" i="0">
                          <a:solidFill>
                            <a:srgbClr val="14313B"/>
                          </a:solidFill>
                          <a:latin typeface="Calibri (MS)"/>
                        </a:rPr>
                        <a:t>367</a:t>
                      </a:r>
                    </a:p>
                  </a:txBody>
                  <a:tcPr marL="73152" marR="73152" marT="36576" marB="36576" anchor="ctr">
                    <a:solidFill>
                      <a:srgbClr val="FFFFFF"/>
                    </a:solidFill>
                  </a:tcPr>
                </a:tc>
                <a:tc>
                  <a:txBody>
                    <a:bodyPr wrap="square"/>
                    <a:lstStyle/>
                    <a:p>
                      <a:r>
                        <a:rPr sz="1610" b="0" i="0">
                          <a:solidFill>
                            <a:srgbClr val="14313B"/>
                          </a:solidFill>
                          <a:latin typeface="Calibri (MS)"/>
                        </a:rPr>
                        <a:t>394</a:t>
                      </a:r>
                    </a:p>
                  </a:txBody>
                  <a:tcPr marL="73152" marR="73152" marT="36576" marB="36576" anchor="ctr">
                    <a:solidFill>
                      <a:srgbClr val="FFFFFF"/>
                    </a:solidFill>
                  </a:tcPr>
                </a:tc>
                <a:tc>
                  <a:txBody>
                    <a:bodyPr wrap="square"/>
                    <a:lstStyle/>
                    <a:p>
                      <a:r>
                        <a:rPr sz="1610" b="0" i="0">
                          <a:solidFill>
                            <a:srgbClr val="14313B"/>
                          </a:solidFill>
                          <a:latin typeface="Calibri (MS)"/>
                        </a:rPr>
                        <a:t>449</a:t>
                      </a:r>
                    </a:p>
                  </a:txBody>
                  <a:tcPr marL="73152" marR="73152" marT="36576" marB="36576" anchor="ctr">
                    <a:solidFill>
                      <a:srgbClr val="FFFFFF"/>
                    </a:solidFill>
                  </a:tcPr>
                </a:tc>
                <a:tc>
                  <a:txBody>
                    <a:bodyPr wrap="square"/>
                    <a:lstStyle/>
                    <a:p>
                      <a:r>
                        <a:rPr sz="1610" b="0" i="0">
                          <a:solidFill>
                            <a:srgbClr val="14313B"/>
                          </a:solidFill>
                          <a:latin typeface="Calibri (MS)"/>
                        </a:rPr>
                        <a:t>Repository</a:t>
                      </a:r>
                    </a:p>
                  </a:txBody>
                  <a:tcPr marL="73152" marR="73152" marT="36576" marB="36576" anchor="ctr">
                    <a:solidFill>
                      <a:srgbClr val="FFFFFF"/>
                    </a:solidFill>
                  </a:tcPr>
                </a:tc>
              </a:tr>
              <a:tr h="566928">
                <a:tc>
                  <a:txBody>
                    <a:bodyPr wrap="square"/>
                    <a:lstStyle/>
                    <a:p>
                      <a:r>
                        <a:rPr sz="1610" b="0" i="0">
                          <a:solidFill>
                            <a:srgbClr val="14313B"/>
                          </a:solidFill>
                          <a:latin typeface="Calibri (MS)"/>
                        </a:rPr>
                        <a:t>Investasi kumulatif 2025–2050 (miliar Rp)</a:t>
                      </a:r>
                    </a:p>
                  </a:txBody>
                  <a:tcPr marL="73152" marR="73152" marT="36576" marB="36576" anchor="ctr">
                    <a:solidFill>
                      <a:srgbClr val="EAF8FA"/>
                    </a:solidFill>
                  </a:tcPr>
                </a:tc>
                <a:tc>
                  <a:txBody>
                    <a:bodyPr wrap="square"/>
                    <a:lstStyle/>
                    <a:p>
                      <a:r>
                        <a:rPr sz="1610" b="0" i="0">
                          <a:solidFill>
                            <a:srgbClr val="14313B"/>
                          </a:solidFill>
                          <a:latin typeface="Calibri (MS)"/>
                        </a:rPr>
                        <a:t>37.318</a:t>
                      </a:r>
                    </a:p>
                  </a:txBody>
                  <a:tcPr marL="73152" marR="73152" marT="36576" marB="36576" anchor="ctr">
                    <a:solidFill>
                      <a:srgbClr val="EAF8FA"/>
                    </a:solidFill>
                  </a:tcPr>
                </a:tc>
                <a:tc>
                  <a:txBody>
                    <a:bodyPr wrap="square"/>
                    <a:lstStyle/>
                    <a:p>
                      <a:r>
                        <a:rPr sz="1610" b="0" i="0">
                          <a:solidFill>
                            <a:srgbClr val="14313B"/>
                          </a:solidFill>
                          <a:latin typeface="Calibri (MS)"/>
                        </a:rPr>
                        <a:t>41.550</a:t>
                      </a:r>
                    </a:p>
                  </a:txBody>
                  <a:tcPr marL="73152" marR="73152" marT="36576" marB="36576" anchor="ctr">
                    <a:solidFill>
                      <a:srgbClr val="EAF8FA"/>
                    </a:solidFill>
                  </a:tcPr>
                </a:tc>
                <a:tc>
                  <a:txBody>
                    <a:bodyPr wrap="square"/>
                    <a:lstStyle/>
                    <a:p>
                      <a:r>
                        <a:rPr sz="1610" b="0" i="0">
                          <a:solidFill>
                            <a:srgbClr val="14313B"/>
                          </a:solidFill>
                          <a:latin typeface="Calibri (MS)"/>
                        </a:rPr>
                        <a:t>50.133</a:t>
                      </a:r>
                    </a:p>
                  </a:txBody>
                  <a:tcPr marL="73152" marR="73152" marT="36576" marB="36576" anchor="ctr">
                    <a:solidFill>
                      <a:srgbClr val="EAF8FA"/>
                    </a:solidFill>
                  </a:tcPr>
                </a:tc>
                <a:tc>
                  <a:txBody>
                    <a:bodyPr wrap="square"/>
                    <a:lstStyle/>
                    <a:p>
                      <a:r>
                        <a:rPr sz="1610" b="0" i="0">
                          <a:solidFill>
                            <a:srgbClr val="14313B"/>
                          </a:solidFill>
                          <a:latin typeface="Calibri (MS)"/>
                        </a:rPr>
                        <a:t>Buku Tabel 60</a:t>
                      </a:r>
                    </a:p>
                  </a:txBody>
                  <a:tcPr marL="73152" marR="73152" marT="36576" marB="36576" anchor="ctr">
                    <a:solidFill>
                      <a:srgbClr val="EAF8FA"/>
                    </a:solidFill>
                  </a:tcPr>
                </a:tc>
              </a:tr>
              <a:tr h="566928">
                <a:tc>
                  <a:txBody>
                    <a:bodyPr wrap="square"/>
                    <a:lstStyle/>
                    <a:p>
                      <a:r>
                        <a:rPr sz="1610" b="0" i="0">
                          <a:solidFill>
                            <a:srgbClr val="14313B"/>
                          </a:solidFill>
                          <a:latin typeface="Calibri (MS)"/>
                        </a:rPr>
                        <a:t>Tahun ambang kepadatan 2,0 terlampaui</a:t>
                      </a:r>
                    </a:p>
                  </a:txBody>
                  <a:tcPr marL="73152" marR="73152" marT="36576" marB="36576" anchor="ctr">
                    <a:solidFill>
                      <a:srgbClr val="FFFFFF"/>
                    </a:solidFill>
                  </a:tcPr>
                </a:tc>
                <a:tc>
                  <a:txBody>
                    <a:bodyPr wrap="square"/>
                    <a:lstStyle/>
                    <a:p>
                      <a:r>
                        <a:rPr sz="1610" b="0" i="0">
                          <a:solidFill>
                            <a:srgbClr val="14313B"/>
                          </a:solidFill>
                          <a:latin typeface="Calibri (MS)"/>
                        </a:rPr>
                        <a:t>2043</a:t>
                      </a:r>
                    </a:p>
                  </a:txBody>
                  <a:tcPr marL="73152" marR="73152" marT="36576" marB="36576" anchor="ctr">
                    <a:solidFill>
                      <a:srgbClr val="FFFFFF"/>
                    </a:solidFill>
                  </a:tcPr>
                </a:tc>
                <a:tc>
                  <a:txBody>
                    <a:bodyPr wrap="square"/>
                    <a:lstStyle/>
                    <a:p>
                      <a:r>
                        <a:rPr sz="1610" b="0" i="0">
                          <a:solidFill>
                            <a:srgbClr val="14313B"/>
                          </a:solidFill>
                          <a:latin typeface="Calibri (MS)"/>
                        </a:rPr>
                        <a:t>2042</a:t>
                      </a:r>
                    </a:p>
                  </a:txBody>
                  <a:tcPr marL="73152" marR="73152" marT="36576" marB="36576" anchor="ctr">
                    <a:solidFill>
                      <a:srgbClr val="FFFFFF"/>
                    </a:solidFill>
                  </a:tcPr>
                </a:tc>
                <a:tc>
                  <a:txBody>
                    <a:bodyPr wrap="square"/>
                    <a:lstStyle/>
                    <a:p>
                      <a:r>
                        <a:rPr sz="1610" b="0" i="0">
                          <a:solidFill>
                            <a:srgbClr val="14313B"/>
                          </a:solidFill>
                          <a:latin typeface="Calibri (MS)"/>
                        </a:rPr>
                        <a:t>2041</a:t>
                      </a:r>
                    </a:p>
                  </a:txBody>
                  <a:tcPr marL="73152" marR="73152" marT="36576" marB="36576" anchor="ctr">
                    <a:solidFill>
                      <a:srgbClr val="FFFFFF"/>
                    </a:solidFill>
                  </a:tcPr>
                </a:tc>
                <a:tc>
                  <a:txBody>
                    <a:bodyPr wrap="square"/>
                    <a:lstStyle/>
                    <a:p>
                      <a:r>
                        <a:rPr sz="1610" b="0" i="0">
                          <a:solidFill>
                            <a:srgbClr val="14313B"/>
                          </a:solidFill>
                          <a:latin typeface="Calibri (MS)"/>
                        </a:rPr>
                        <a:t>Buku 4.8.3</a:t>
                      </a:r>
                    </a:p>
                  </a:txBody>
                  <a:tcPr marL="73152" marR="73152" marT="36576" marB="36576" anchor="ctr">
                    <a:solidFill>
                      <a:srgbClr val="FFFFFF"/>
                    </a:solidFill>
                  </a:tcPr>
                </a:tc>
              </a:tr>
              <a:tr h="566928">
                <a:tc>
                  <a:txBody>
                    <a:bodyPr wrap="square"/>
                    <a:lstStyle/>
                    <a:p>
                      <a:r>
                        <a:rPr sz="1610" b="0" i="0">
                          <a:solidFill>
                            <a:srgbClr val="14313B"/>
                          </a:solidFill>
                          <a:latin typeface="Calibri (MS)"/>
                        </a:rPr>
                        <a:t>Rasio daya dukung lahan (ambang &gt; 0,331)</a:t>
                      </a:r>
                    </a:p>
                  </a:txBody>
                  <a:tcPr marL="73152" marR="73152" marT="36576" marB="36576" anchor="ctr">
                    <a:solidFill>
                      <a:srgbClr val="EAF8FA"/>
                    </a:solidFill>
                  </a:tcPr>
                </a:tc>
                <a:tc>
                  <a:txBody>
                    <a:bodyPr wrap="square"/>
                    <a:lstStyle/>
                    <a:p>
                      <a:r>
                        <a:rPr sz="1610" b="0" i="0">
                          <a:solidFill>
                            <a:srgbClr val="14313B"/>
                          </a:solidFill>
                          <a:latin typeface="Calibri (MS)"/>
                        </a:rPr>
                        <a:t>0,6145</a:t>
                      </a:r>
                    </a:p>
                  </a:txBody>
                  <a:tcPr marL="73152" marR="73152" marT="36576" marB="36576" anchor="ctr">
                    <a:solidFill>
                      <a:srgbClr val="EAF8FA"/>
                    </a:solidFill>
                  </a:tcPr>
                </a:tc>
                <a:tc>
                  <a:txBody>
                    <a:bodyPr wrap="square"/>
                    <a:lstStyle/>
                    <a:p>
                      <a:r>
                        <a:rPr sz="1610" b="0" i="0">
                          <a:solidFill>
                            <a:srgbClr val="14313B"/>
                          </a:solidFill>
                          <a:latin typeface="Calibri (MS)"/>
                        </a:rPr>
                        <a:t>0,6180</a:t>
                      </a:r>
                    </a:p>
                  </a:txBody>
                  <a:tcPr marL="73152" marR="73152" marT="36576" marB="36576" anchor="ctr">
                    <a:solidFill>
                      <a:srgbClr val="EAF8FA"/>
                    </a:solidFill>
                  </a:tcPr>
                </a:tc>
                <a:tc>
                  <a:txBody>
                    <a:bodyPr wrap="square"/>
                    <a:lstStyle/>
                    <a:p>
                      <a:r>
                        <a:rPr sz="1610" b="0" i="0">
                          <a:solidFill>
                            <a:srgbClr val="14313B"/>
                          </a:solidFill>
                          <a:latin typeface="Calibri (MS)"/>
                        </a:rPr>
                        <a:t>0,6140</a:t>
                      </a:r>
                    </a:p>
                  </a:txBody>
                  <a:tcPr marL="73152" marR="73152" marT="36576" marB="36576" anchor="ctr">
                    <a:solidFill>
                      <a:srgbClr val="EAF8FA"/>
                    </a:solidFill>
                  </a:tcPr>
                </a:tc>
                <a:tc>
                  <a:txBody>
                    <a:bodyPr wrap="square"/>
                    <a:lstStyle/>
                    <a:p>
                      <a:r>
                        <a:rPr sz="1610" b="0" i="0">
                          <a:solidFill>
                            <a:srgbClr val="14313B"/>
                          </a:solidFill>
                          <a:latin typeface="Calibri (MS)"/>
                        </a:rPr>
                        <a:t>Buku Tabel 60</a:t>
                      </a:r>
                    </a:p>
                  </a:txBody>
                  <a:tcPr marL="73152" marR="73152" marT="36576" marB="36576" anchor="ctr">
                    <a:solidFill>
                      <a:srgbClr val="EAF8FA"/>
                    </a:solidFill>
                  </a:tcPr>
                </a:tc>
              </a:tr>
            </a:tbl>
          </a:graphicData>
        </a:graphic>
      </p:graphicFrame>
      <p:sp>
        <p:nvSpPr>
          <p:cNvPr id="19" name="TextBox 18"/>
          <p:cNvSpPr txBox="1"/>
          <p:nvPr/>
        </p:nvSpPr>
        <p:spPr>
          <a:xfrm>
            <a:off x="822960" y="6583680"/>
            <a:ext cx="16642080" cy="914400"/>
          </a:xfrm>
          <a:prstGeom prst="rect">
            <a:avLst/>
          </a:prstGeom>
          <a:noFill/>
        </p:spPr>
        <p:txBody>
          <a:bodyPr wrap="square" anchor="t" lIns="0" rIns="0" tIns="0" bIns="0">
            <a:spAutoFit/>
          </a:bodyPr>
          <a:lstStyle/>
          <a:p>
            <a:pPr algn="l">
              <a:spcAft>
                <a:spcPts val="400"/>
              </a:spcAft>
            </a:pPr>
            <a:r>
              <a:rPr sz="1490" b="0" i="1">
                <a:solidFill>
                  <a:srgbClr val="5E6E78"/>
                </a:solidFill>
                <a:latin typeface="Calibri (MS)"/>
              </a:rPr>
              <a:t>TPK tercantum sebagai KPI deskriptif pada Tabel 21 buku tetapi tidak muncul di Tabel 60; nilainya diambil dari hasil_simulasi_skenario.xlsx (23 run: 3 skenario × 7 kondisi + 2 dekomposisi).</a:t>
            </a:r>
          </a:p>
        </p:txBody>
      </p:sp>
    </p:spTree>
  </p:cSld>
  <p:clrMapOvr>
    <a:masterClrMapping/>
  </p:clrMapOvr>
</p:sld>
</file>

<file path=ppt/slides/slide8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8 · Hasil uji perilaku parsial dan uji penuh</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822960" y="2228088"/>
            <a:ext cx="8092440" cy="515112"/>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Uji parsial (tanpa COVID)</a:t>
            </a:r>
          </a:p>
        </p:txBody>
      </p:sp>
      <p:graphicFrame>
        <p:nvGraphicFramePr>
          <p:cNvPr name="Table 18" id="18"/>
          <p:cNvGraphicFramePr>
            <a:graphicFrameLocks noGrp="true"/>
          </p:cNvGraphicFramePr>
          <p:nvPr/>
        </p:nvGraphicFramePr>
        <p:xfrm>
          <a:off x="822960" y="2811780"/>
          <a:ext cx="8077200" cy="3429000"/>
        </p:xfrm>
        <a:graphic>
          <a:graphicData uri="http://schemas.openxmlformats.org/drawingml/2006/table">
            <a:tbl>
              <a:tblPr/>
              <a:tblGrid>
                <a:gridCol w="2602684"/>
                <a:gridCol w="963792"/>
                <a:gridCol w="1094903"/>
                <a:gridCol w="1160459"/>
                <a:gridCol w="1094903"/>
                <a:gridCol w="1160459"/>
              </a:tblGrid>
              <a:tr h="571500">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Uji · Variabel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Tren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E1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E2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DC</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MAPE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P1 · Jumlah hotel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0,0402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0,0773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0,2011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6,05%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P1 · TPK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0,0643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b="true">
                          <a:solidFill>
                            <a:srgbClr val="E4604F"/>
                          </a:solidFill>
                          <a:latin typeface="Calibri (MS) Bold"/>
                          <a:ea typeface="Calibri (MS) Bold"/>
                          <a:cs typeface="Calibri (MS) Bold"/>
                          <a:sym typeface="Calibri (MS) Bold"/>
                        </a:rPr>
                        <a:t>2,5684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0,6692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17,37%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P2 · Jumlah ODTW</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0,0880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0,3303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0,3367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8,48%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P3 · Tenaga kerja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0,1370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0,3027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0,4945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12,88%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P4 · 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0,1125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0,3918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0,4813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12,94%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19" id="19"/>
          <p:cNvSpPr txBox="true"/>
          <p:nvPr/>
        </p:nvSpPr>
        <p:spPr>
          <a:xfrm rot="0">
            <a:off x="822960" y="6339840"/>
            <a:ext cx="8161020" cy="449580"/>
          </a:xfrm>
          <a:prstGeom prst="rect">
            <a:avLst/>
          </a:prstGeom>
        </p:spPr>
        <p:txBody>
          <a:bodyPr anchor="t" rtlCol="false" tIns="0" lIns="0" bIns="0" rIns="0">
            <a:spAutoFit/>
          </a:bodyPr>
          <a:lstStyle/>
          <a:p>
            <a:pPr algn="l">
              <a:lnSpc>
                <a:spcPts val="1889"/>
              </a:lnSpc>
            </a:pPr>
            <a:r>
              <a:rPr lang="en-US" sz="1575" i="true">
                <a:solidFill>
                  <a:srgbClr val="5E6E78"/>
                </a:solidFill>
                <a:latin typeface="Calibri (MS) Italics"/>
                <a:ea typeface="Calibri (MS) Italics"/>
                <a:cs typeface="Calibri (MS) Italics"/>
                <a:sym typeface="Calibri (MS) Italics"/>
              </a:rPr>
              <a:t>sama = tren tidak berbeda nyata. P5 (wisatawan): tren berbeda nyata.</a:t>
            </a:r>
          </a:p>
        </p:txBody>
      </p:sp>
      <p:sp>
        <p:nvSpPr>
          <p:cNvPr name="TextBox 20" id="20"/>
          <p:cNvSpPr txBox="true"/>
          <p:nvPr/>
        </p:nvSpPr>
        <p:spPr>
          <a:xfrm rot="0">
            <a:off x="9299448" y="2228088"/>
            <a:ext cx="8092440" cy="515112"/>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Uji penuh (dengan COVID)</a:t>
            </a:r>
          </a:p>
        </p:txBody>
      </p:sp>
      <p:graphicFrame>
        <p:nvGraphicFramePr>
          <p:cNvPr name="Table 21" id="21"/>
          <p:cNvGraphicFramePr>
            <a:graphicFrameLocks noGrp="true"/>
          </p:cNvGraphicFramePr>
          <p:nvPr/>
        </p:nvGraphicFramePr>
        <p:xfrm>
          <a:off x="9299448" y="2811780"/>
          <a:ext cx="8064500" cy="5715000"/>
        </p:xfrm>
        <a:graphic>
          <a:graphicData uri="http://schemas.openxmlformats.org/drawingml/2006/table">
            <a:tbl>
              <a:tblPr/>
              <a:tblGrid>
                <a:gridCol w="2467686"/>
                <a:gridCol w="1354992"/>
                <a:gridCol w="962277"/>
                <a:gridCol w="962277"/>
                <a:gridCol w="1093182"/>
                <a:gridCol w="1224087"/>
              </a:tblGrid>
              <a:tr h="571500">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Variabel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Tren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E1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E2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DC</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MAPE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Jumlah wisatawan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b="true">
                          <a:solidFill>
                            <a:srgbClr val="E4604F"/>
                          </a:solidFill>
                          <a:latin typeface="Calibri (MS) Bold"/>
                          <a:ea typeface="Calibri (MS) Bold"/>
                          <a:cs typeface="Calibri (MS) Bold"/>
                          <a:sym typeface="Calibri (MS) Bold"/>
                        </a:rPr>
                        <a:t>beda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0,4482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12,06%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Jumlah hotel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E4604F"/>
                          </a:solidFill>
                          <a:latin typeface="Calibri (MS)"/>
                          <a:ea typeface="Calibri (MS)"/>
                          <a:cs typeface="Calibri (MS)"/>
                          <a:sym typeface="Calibri (MS)"/>
                        </a:rPr>
                        <a:t>lawan arah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0,1399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0,4685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0,8228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13,16%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Jumlah ODTW</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0,0012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0,8550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0,7855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5,68%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Tenaga kerja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E4604F"/>
                          </a:solidFill>
                          <a:latin typeface="Calibri (MS)"/>
                          <a:ea typeface="Calibri (MS)"/>
                          <a:cs typeface="Calibri (MS)"/>
                          <a:sym typeface="Calibri (MS)"/>
                        </a:rPr>
                        <a:t>lawan arah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0,1182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0,3280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0,8860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12,39%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0,1099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0,3627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0,6619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13,43%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TPK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0,2013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0,2670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0,6224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18,98%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PDRB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0,2543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0,3450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0,3062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25,06%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Investasi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0,3839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0,7927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0,7356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33,54%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Total malam menginap</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0,2643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0,6757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0,7041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29,52%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22" id="22"/>
          <p:cNvGrpSpPr/>
          <p:nvPr/>
        </p:nvGrpSpPr>
        <p:grpSpPr>
          <a:xfrm rot="0">
            <a:off x="822960" y="7132320"/>
            <a:ext cx="8161020" cy="2057400"/>
            <a:chOff x="0" y="0"/>
            <a:chExt cx="10881360" cy="2743200"/>
          </a:xfrm>
        </p:grpSpPr>
        <p:sp>
          <p:nvSpPr>
            <p:cNvPr name="Freeform 23" id="23"/>
            <p:cNvSpPr/>
            <p:nvPr/>
          </p:nvSpPr>
          <p:spPr>
            <a:xfrm flipH="false" flipV="false" rot="0">
              <a:off x="0" y="0"/>
              <a:ext cx="10881360" cy="2743200"/>
            </a:xfrm>
            <a:custGeom>
              <a:avLst/>
              <a:gdLst/>
              <a:ahLst/>
              <a:cxnLst/>
              <a:rect r="r" b="b" t="t" l="l"/>
              <a:pathLst>
                <a:path h="2743200" w="10881360">
                  <a:moveTo>
                    <a:pt x="0" y="182880"/>
                  </a:moveTo>
                  <a:cubicBezTo>
                    <a:pt x="0" y="81915"/>
                    <a:pt x="81915" y="0"/>
                    <a:pt x="182880" y="0"/>
                  </a:cubicBezTo>
                  <a:lnTo>
                    <a:pt x="10698480" y="0"/>
                  </a:lnTo>
                  <a:cubicBezTo>
                    <a:pt x="10799445" y="0"/>
                    <a:pt x="10881360" y="81915"/>
                    <a:pt x="10881360" y="182880"/>
                  </a:cubicBezTo>
                  <a:lnTo>
                    <a:pt x="10881360" y="2560320"/>
                  </a:lnTo>
                  <a:cubicBezTo>
                    <a:pt x="10881360" y="2661285"/>
                    <a:pt x="10799445" y="2743200"/>
                    <a:pt x="10698480" y="2743200"/>
                  </a:cubicBezTo>
                  <a:lnTo>
                    <a:pt x="182880" y="2743200"/>
                  </a:lnTo>
                  <a:cubicBezTo>
                    <a:pt x="81915" y="2743200"/>
                    <a:pt x="0" y="2661285"/>
                    <a:pt x="0" y="2560320"/>
                  </a:cubicBezTo>
                  <a:close/>
                </a:path>
              </a:pathLst>
            </a:custGeom>
            <a:solidFill>
              <a:srgbClr val="FFF1BF"/>
            </a:solidFill>
          </p:spPr>
        </p:sp>
      </p:grpSp>
      <p:grpSp>
        <p:nvGrpSpPr>
          <p:cNvPr name="Group 24" id="24"/>
          <p:cNvGrpSpPr/>
          <p:nvPr/>
        </p:nvGrpSpPr>
        <p:grpSpPr>
          <a:xfrm rot="0">
            <a:off x="1165860" y="7132320"/>
            <a:ext cx="7475220" cy="2057400"/>
            <a:chOff x="0" y="0"/>
            <a:chExt cx="9966960" cy="2743200"/>
          </a:xfrm>
        </p:grpSpPr>
        <p:sp>
          <p:nvSpPr>
            <p:cNvPr name="Freeform 25" id="25"/>
            <p:cNvSpPr/>
            <p:nvPr/>
          </p:nvSpPr>
          <p:spPr>
            <a:xfrm flipH="false" flipV="false" rot="0">
              <a:off x="0" y="0"/>
              <a:ext cx="9966960" cy="2743200"/>
            </a:xfrm>
            <a:custGeom>
              <a:avLst/>
              <a:gdLst/>
              <a:ahLst/>
              <a:cxnLst/>
              <a:rect r="r" b="b" t="t" l="l"/>
              <a:pathLst>
                <a:path h="2743200" w="9966960">
                  <a:moveTo>
                    <a:pt x="0" y="0"/>
                  </a:moveTo>
                  <a:lnTo>
                    <a:pt x="9966960" y="0"/>
                  </a:lnTo>
                  <a:lnTo>
                    <a:pt x="9966960" y="2743200"/>
                  </a:lnTo>
                  <a:lnTo>
                    <a:pt x="0" y="2743200"/>
                  </a:lnTo>
                  <a:close/>
                </a:path>
              </a:pathLst>
            </a:custGeom>
            <a:blipFill>
              <a:blip r:embed="rId4">
                <a:alphaModFix amt="0"/>
              </a:blip>
              <a:stretch>
                <a:fillRect l="0" t="-20746" r="0" b="-20746"/>
              </a:stretch>
            </a:blipFill>
          </p:spPr>
        </p:sp>
      </p:grpSp>
      <p:grpSp>
        <p:nvGrpSpPr>
          <p:cNvPr name="Group 26" id="26"/>
          <p:cNvGrpSpPr/>
          <p:nvPr/>
        </p:nvGrpSpPr>
        <p:grpSpPr>
          <a:xfrm rot="0">
            <a:off x="1165860" y="7103745"/>
            <a:ext cx="7475220" cy="2085975"/>
            <a:chOff x="0" y="0"/>
            <a:chExt cx="9966960" cy="2781300"/>
          </a:xfrm>
        </p:grpSpPr>
        <p:sp>
          <p:nvSpPr>
            <p:cNvPr name="Freeform 27" id="27"/>
            <p:cNvSpPr/>
            <p:nvPr/>
          </p:nvSpPr>
          <p:spPr>
            <a:xfrm flipH="false" flipV="false" rot="0">
              <a:off x="0" y="0"/>
              <a:ext cx="9966960" cy="2781300"/>
            </a:xfrm>
            <a:custGeom>
              <a:avLst/>
              <a:gdLst/>
              <a:ahLst/>
              <a:cxnLst/>
              <a:rect r="r" b="b" t="t" l="l"/>
              <a:pathLst>
                <a:path h="2781300" w="9966960">
                  <a:moveTo>
                    <a:pt x="0" y="0"/>
                  </a:moveTo>
                  <a:lnTo>
                    <a:pt x="9966960" y="0"/>
                  </a:lnTo>
                  <a:lnTo>
                    <a:pt x="9966960" y="2781300"/>
                  </a:lnTo>
                  <a:lnTo>
                    <a:pt x="0" y="2781300"/>
                  </a:lnTo>
                  <a:close/>
                </a:path>
              </a:pathLst>
            </a:custGeom>
            <a:blipFill>
              <a:blip r:embed="rId5">
                <a:alphaModFix amt="0"/>
              </a:blip>
              <a:stretch>
                <a:fillRect l="0" t="-19825" r="0" b="-19825"/>
              </a:stretch>
            </a:blipFill>
          </p:spPr>
        </p:sp>
        <p:sp>
          <p:nvSpPr>
            <p:cNvPr name="TextBox 28" id="28"/>
            <p:cNvSpPr txBox="true"/>
            <p:nvPr/>
          </p:nvSpPr>
          <p:spPr>
            <a:xfrm>
              <a:off x="0" y="-38100"/>
              <a:ext cx="9966960" cy="2819400"/>
            </a:xfrm>
            <a:prstGeom prst="rect">
              <a:avLst/>
            </a:prstGeom>
          </p:spPr>
          <p:txBody>
            <a:bodyPr anchor="ctr" rtlCol="false" tIns="0" lIns="0" bIns="0" rIns="0"/>
            <a:lstStyle/>
            <a:p>
              <a:pPr algn="l">
                <a:lnSpc>
                  <a:spcPts val="2070"/>
                </a:lnSpc>
              </a:pPr>
              <a:r>
                <a:rPr lang="en-US" sz="1725">
                  <a:solidFill>
                    <a:srgbClr val="14313B"/>
                  </a:solidFill>
                  <a:latin typeface="Calibri (MS)"/>
                  <a:ea typeface="Calibri (MS)"/>
                  <a:cs typeface="Calibri (MS)"/>
                  <a:sym typeface="Calibri (MS)"/>
                </a:rPr>
                <a:t>Pedoman: E1 &lt; 0,05 · E2 &lt; 0,30 · DC 0,4–0,7 = rata-rata sampai baik · MAPE &lt;10% sangat baik, 10–20% baik, 20–50% layak, &gt;50% buruk. E1/E2 wisatawan (uji penuh) tidak ditafsirkan karena tren berbeda nyata.</a:t>
              </a:r>
            </a:p>
          </p:txBody>
        </p:sp>
      </p:grpSp>
      <p:sp>
        <p:nvSpPr>
          <p:cNvPr name="TextBox 29" id="29"/>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83</a:t>
            </a:r>
          </a:p>
        </p:txBody>
      </p:sp>
    </p:spTree>
  </p:cSld>
  <p:clrMapOvr>
    <a:masterClrMapping/>
  </p:clrMapOvr>
</p:sld>
</file>

<file path=ppt/slides/slide8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9 · Aspek yang dikeluarkan dari batas model</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84</a:t>
            </a:r>
          </a:p>
        </p:txBody>
      </p:sp>
      <p:graphicFrame>
        <p:nvGraphicFramePr>
          <p:cNvPr name="Table 18" id="18"/>
          <p:cNvGraphicFramePr>
            <a:graphicFrameLocks noGrp="true"/>
          </p:cNvGraphicFramePr>
          <p:nvPr/>
        </p:nvGraphicFramePr>
        <p:xfrm>
          <a:off x="822960" y="2286000"/>
          <a:ext cx="16637000" cy="6743700"/>
        </p:xfrm>
        <a:graphic>
          <a:graphicData uri="http://schemas.openxmlformats.org/drawingml/2006/table">
            <a:tbl>
              <a:tblPr/>
              <a:tblGrid>
                <a:gridCol w="4570604"/>
                <a:gridCol w="6033198"/>
                <a:gridCol w="6033198"/>
              </a:tblGrid>
              <a:tr h="434610">
                <a:tc>
                  <a:txBody>
                    <a:bodyPr anchor="t" rtlCol="false"/>
                    <a:lstStyle/>
                    <a:p>
                      <a:pPr algn="l">
                        <a:lnSpc>
                          <a:spcPts val="1559"/>
                        </a:lnSpc>
                        <a:defRPr/>
                      </a:pPr>
                      <a:r>
                        <a:rPr lang="en-US" sz="1299" b="true">
                          <a:solidFill>
                            <a:srgbClr val="FFFFFF"/>
                          </a:solidFill>
                          <a:latin typeface="Calibri (MS) Bold"/>
                          <a:ea typeface="Calibri (MS) Bold"/>
                          <a:cs typeface="Calibri (MS) Bold"/>
                          <a:sym typeface="Calibri (MS) Bold"/>
                        </a:rPr>
                        <a:t>Aspek yang dikeluarkan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559"/>
                        </a:lnSpc>
                        <a:defRPr/>
                      </a:pPr>
                      <a:r>
                        <a:rPr lang="en-US" sz="1299" b="true">
                          <a:solidFill>
                            <a:srgbClr val="FFFFFF"/>
                          </a:solidFill>
                          <a:latin typeface="Calibri (MS) Bold"/>
                          <a:ea typeface="Calibri (MS) Bold"/>
                          <a:cs typeface="Calibri (MS) Bold"/>
                          <a:sym typeface="Calibri (MS) Bold"/>
                        </a:rPr>
                        <a:t>Alasan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559"/>
                        </a:lnSpc>
                        <a:defRPr/>
                      </a:pPr>
                      <a:r>
                        <a:rPr lang="en-US" sz="1299" b="true">
                          <a:solidFill>
                            <a:srgbClr val="FFFFFF"/>
                          </a:solidFill>
                          <a:latin typeface="Calibri (MS) Bold"/>
                          <a:ea typeface="Calibri (MS) Bold"/>
                          <a:cs typeface="Calibri (MS) Bold"/>
                          <a:sym typeface="Calibri (MS) Bold"/>
                        </a:rPr>
                        <a:t>Konsekuensi terhadap hasil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Pemisahan wisman dan wisnus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Wisnus mendominasi kunjungan DIY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Perbedaan pola belanja dan lama tinggal tidak terlihat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Harga dan daya saing harga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Tidak ada indeks harga pariwisata provinsi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Penyeimbang lewat harga tidak tercakup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Aksesibilitas dan transportasi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Ditentukan kebijakan nasional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Tersirat dalam laju pertumbuhan eksternal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Promosi, pemasaran, citra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Data anggaran dan efektivitas tidak tersedia tahunan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Tersirat dalam laju pertumbuhan eksternal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Kualitas SDM dan sertifikasi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Data tidak lengkap; fokus pada jumlah</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Perbedaan mutu layanan tidak terlihat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Musim dan fluktuasi bulanan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Satuan waktu model tahunan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Okupansi puncak musim ramai tidak tergambar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Guncangan: pandemi, erupsi, gempa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Peristiwa acak di luar struktur umpan balik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Lintasan tanpa guncangan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Persaingan antardestinasi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Butuh model multi-destinasi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Perpindahan ke destinasi lain tidak dimodelkan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Zonasi RTRW dan kawasan lindung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Memakai luas wilayah administratif</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Daya dukung lahan cenderung terlalu longgar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Dampak lingkungan: sampah, air, emisi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Data provinsi tidak konsisten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Lingkungan hanya diwakili lahan terbangun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Daya dukung sosial budaya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Sulit diukur kuantitatif di tingkat provinsi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Aspek sosial tidak terwakili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Distribusi manfaat ekonomi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Model bekerja pada tingkat agregat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Tidak menjawab siapa penerima manfaat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Investasi pemerintah (APBN/APBD)</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Data investasi = realisasi PMA dan PMDN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Masuk jalur non-investasi yang eksogen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Perpindahan TK antarsektor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Sakernas tidak menerbitkan data perpindahan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Laju keluar TK merupakan batas bawah</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Harga dan kepemilikan 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Tidak ada seri harga lahan provinsi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Hambatan ekonomi konversi tidak dimodelkan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10 · Hasil 17 uji kondisi ekstrem (nilai tahun 2050)</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85</a:t>
            </a:r>
          </a:p>
        </p:txBody>
      </p:sp>
      <p:graphicFrame>
        <p:nvGraphicFramePr>
          <p:cNvPr name="Table 18" id="18"/>
          <p:cNvGraphicFramePr>
            <a:graphicFrameLocks noGrp="true"/>
          </p:cNvGraphicFramePr>
          <p:nvPr/>
        </p:nvGraphicFramePr>
        <p:xfrm>
          <a:off x="822960" y="2286000"/>
          <a:ext cx="16573500" cy="6604000"/>
        </p:xfrm>
        <a:graphic>
          <a:graphicData uri="http://schemas.openxmlformats.org/drawingml/2006/table">
            <a:tbl>
              <a:tblPr/>
              <a:tblGrid>
                <a:gridCol w="696366"/>
                <a:gridCol w="3806799"/>
                <a:gridCol w="1624853"/>
                <a:gridCol w="1624853"/>
                <a:gridCol w="1067760"/>
                <a:gridCol w="1624853"/>
                <a:gridCol w="1346307"/>
                <a:gridCol w="928487"/>
                <a:gridCol w="928487"/>
                <a:gridCol w="1067760"/>
                <a:gridCol w="1856975"/>
              </a:tblGrid>
              <a:tr h="534799">
                <a:tc>
                  <a:txBody>
                    <a:bodyPr anchor="t" rtlCol="false"/>
                    <a:lstStyle/>
                    <a:p>
                      <a:pPr algn="ctr">
                        <a:lnSpc>
                          <a:spcPts val="1379"/>
                        </a:lnSpc>
                        <a:defRPr/>
                      </a:pPr>
                      <a:r>
                        <a:rPr lang="en-US" sz="1149" b="true">
                          <a:solidFill>
                            <a:srgbClr val="FFFFFF"/>
                          </a:solidFill>
                          <a:latin typeface="Calibri (MS) Bold"/>
                          <a:ea typeface="Calibri (MS) Bold"/>
                          <a:cs typeface="Calibri (MS) Bold"/>
                          <a:sym typeface="Calibri (MS) Bold"/>
                        </a:rPr>
                        <a:t>Kode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379"/>
                        </a:lnSpc>
                        <a:defRPr/>
                      </a:pPr>
                      <a:r>
                        <a:rPr lang="en-US" sz="1149" b="true">
                          <a:solidFill>
                            <a:srgbClr val="FFFFFF"/>
                          </a:solidFill>
                          <a:latin typeface="Calibri (MS) Bold"/>
                          <a:ea typeface="Calibri (MS) Bold"/>
                          <a:cs typeface="Calibri (MS) Bold"/>
                          <a:sym typeface="Calibri (MS) Bold"/>
                        </a:rPr>
                        <a:t>Parameter &amp; nilai ekstrem</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379"/>
                        </a:lnSpc>
                        <a:defRPr/>
                      </a:pPr>
                      <a:r>
                        <a:rPr lang="en-US" sz="1149" b="true">
                          <a:solidFill>
                            <a:srgbClr val="FFFFFF"/>
                          </a:solidFill>
                          <a:latin typeface="Calibri (MS) Bold"/>
                          <a:ea typeface="Calibri (MS) Bold"/>
                          <a:cs typeface="Calibri (MS) Bold"/>
                          <a:sym typeface="Calibri (MS) Bold"/>
                        </a:rPr>
                        <a:t>Status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Wisatawan (juta)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Hotel (unit)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ODTW</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TK (ribu)</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Lahan (ha)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TPK maks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RDDL min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Daya tarik min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LPE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0,12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683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149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175,71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121.226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0,903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LPD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 dg catatan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6.343,72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254.956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5.179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35.985,56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148.742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0,511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0,531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0,758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Pengeluaran per kunjungan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71,56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134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170,44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121.169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0,740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Rasio investasi/PDRB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71,56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134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493,42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121.169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0,740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Laju demolisi dasar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96,27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6.357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650,79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121.826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TPK ambang = 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1.821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651,33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121.519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Proporsi menginap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96,38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651,46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121.366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Pembangunan ODTW (investasi &amp; non)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59,62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416,04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121.719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0,698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Laju konversi dasar ×10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47,40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2.846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286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326,91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317.033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0,715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Konservasi lahan = 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96,43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5.415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651,81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121.094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Lahan per hotel &amp; per ODTW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96,43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5.415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651,81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121.094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Kenaikan produktivitas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5.404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847,26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122.208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Laju keluar dasar TK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5.404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650,36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122.208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Insentif kebijakan = 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166,59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11.355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2.143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1.108,34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124.478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0,607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LPE ×3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 dg catatan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581.801,49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21.542.004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353.870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3.096.262,46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317.036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Laju penutupan ODTW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127,78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6.829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755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846,35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122.397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0,391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0,892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Laju konversi dasar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111,39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6.070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743,62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56.161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0,823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0,862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11 · Uji loop umpan balik: nilai 2050 saat satu loop dilumpuhkan</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86</a:t>
            </a:r>
          </a:p>
        </p:txBody>
      </p:sp>
      <p:graphicFrame>
        <p:nvGraphicFramePr>
          <p:cNvPr name="Table 18" id="18"/>
          <p:cNvGraphicFramePr>
            <a:graphicFrameLocks noGrp="true"/>
          </p:cNvGraphicFramePr>
          <p:nvPr/>
        </p:nvGraphicFramePr>
        <p:xfrm>
          <a:off x="822960" y="2286000"/>
          <a:ext cx="16598900" cy="3581400"/>
        </p:xfrm>
        <a:graphic>
          <a:graphicData uri="http://schemas.openxmlformats.org/drawingml/2006/table">
            <a:tbl>
              <a:tblPr/>
              <a:tblGrid>
                <a:gridCol w="4742543"/>
                <a:gridCol w="1550447"/>
                <a:gridCol w="1368041"/>
                <a:gridCol w="1185636"/>
                <a:gridCol w="1459244"/>
                <a:gridCol w="1459244"/>
                <a:gridCol w="1276838"/>
                <a:gridCol w="1550447"/>
                <a:gridCol w="2006460"/>
              </a:tblGrid>
              <a:tr h="544603">
                <a:tc>
                  <a:txBody>
                    <a:bodyPr anchor="t" rtlCol="false"/>
                    <a:lstStyle/>
                    <a:p>
                      <a:pPr algn="l">
                        <a:lnSpc>
                          <a:spcPts val="1559"/>
                        </a:lnSpc>
                        <a:defRPr/>
                      </a:pPr>
                      <a:r>
                        <a:rPr lang="en-US" sz="1299" b="true">
                          <a:solidFill>
                            <a:srgbClr val="FFFFFF"/>
                          </a:solidFill>
                          <a:latin typeface="Calibri (MS) Bold"/>
                          <a:ea typeface="Calibri (MS) Bold"/>
                          <a:cs typeface="Calibri (MS) Bold"/>
                          <a:sym typeface="Calibri (MS) Bold"/>
                        </a:rPr>
                        <a:t>Kondisi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9"/>
                        </a:lnSpc>
                        <a:defRPr/>
                      </a:pPr>
                      <a:r>
                        <a:rPr lang="en-US" sz="1299" b="true">
                          <a:solidFill>
                            <a:srgbClr val="FFFFFF"/>
                          </a:solidFill>
                          <a:latin typeface="Calibri (MS) Bold"/>
                          <a:ea typeface="Calibri (MS) Bold"/>
                          <a:cs typeface="Calibri (MS) Bold"/>
                          <a:sym typeface="Calibri (MS) Bold"/>
                        </a:rPr>
                        <a:t>Wisatawan (juta)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9"/>
                        </a:lnSpc>
                        <a:defRPr/>
                      </a:pPr>
                      <a:r>
                        <a:rPr lang="en-US" sz="1299" b="true">
                          <a:solidFill>
                            <a:srgbClr val="FFFFFF"/>
                          </a:solidFill>
                          <a:latin typeface="Calibri (MS) Bold"/>
                          <a:ea typeface="Calibri (MS) Bold"/>
                          <a:cs typeface="Calibri (MS) Bold"/>
                          <a:sym typeface="Calibri (MS) Bold"/>
                        </a:rPr>
                        <a:t>Hotel (unit)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9"/>
                        </a:lnSpc>
                        <a:defRPr/>
                      </a:pPr>
                      <a:r>
                        <a:rPr lang="en-US" sz="1299" b="true">
                          <a:solidFill>
                            <a:srgbClr val="FFFFFF"/>
                          </a:solidFill>
                          <a:latin typeface="Calibri (MS) Bold"/>
                          <a:ea typeface="Calibri (MS) Bold"/>
                          <a:cs typeface="Calibri (MS) Bold"/>
                          <a:sym typeface="Calibri (MS) Bold"/>
                        </a:rPr>
                        <a:t>ODTW (unit)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9"/>
                        </a:lnSpc>
                        <a:defRPr/>
                      </a:pPr>
                      <a:r>
                        <a:rPr lang="en-US" sz="1299" b="true">
                          <a:solidFill>
                            <a:srgbClr val="FFFFFF"/>
                          </a:solidFill>
                          <a:latin typeface="Calibri (MS) Bold"/>
                          <a:ea typeface="Calibri (MS) Bold"/>
                          <a:cs typeface="Calibri (MS) Bold"/>
                          <a:sym typeface="Calibri (MS) Bold"/>
                        </a:rPr>
                        <a:t>TK (ribu)</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9"/>
                        </a:lnSpc>
                        <a:defRPr/>
                      </a:pPr>
                      <a:r>
                        <a:rPr lang="en-US" sz="1299" b="true">
                          <a:solidFill>
                            <a:srgbClr val="FFFFFF"/>
                          </a:solidFill>
                          <a:latin typeface="Calibri (MS) Bold"/>
                          <a:ea typeface="Calibri (MS) Bold"/>
                          <a:cs typeface="Calibri (MS) Bold"/>
                          <a:sym typeface="Calibri (MS) Bold"/>
                        </a:rPr>
                        <a:t>Lahan (ha)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9"/>
                        </a:lnSpc>
                        <a:defRPr/>
                      </a:pPr>
                      <a:r>
                        <a:rPr lang="en-US" sz="1299" b="true">
                          <a:solidFill>
                            <a:srgbClr val="FFFFFF"/>
                          </a:solidFill>
                          <a:latin typeface="Calibri (MS) Bold"/>
                          <a:ea typeface="Calibri (MS) Bold"/>
                          <a:cs typeface="Calibri (MS) Bold"/>
                          <a:sym typeface="Calibri (MS) Bold"/>
                        </a:rPr>
                        <a:t>Daya tarik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559"/>
                        </a:lnSpc>
                        <a:defRPr/>
                      </a:pPr>
                      <a:r>
                        <a:rPr lang="en-US" sz="1299" b="true">
                          <a:solidFill>
                            <a:srgbClr val="FFFFFF"/>
                          </a:solidFill>
                          <a:latin typeface="Calibri (MS) Bold"/>
                          <a:ea typeface="Calibri (MS) Bold"/>
                          <a:cs typeface="Calibri (MS) Bold"/>
                          <a:sym typeface="Calibri (MS) Bold"/>
                        </a:rPr>
                        <a:t>Δ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559"/>
                        </a:lnSpc>
                        <a:defRPr/>
                      </a:pPr>
                      <a:r>
                        <a:rPr lang="en-US" sz="1299" b="true">
                          <a:solidFill>
                            <a:srgbClr val="FFFFFF"/>
                          </a:solidFill>
                          <a:latin typeface="Calibri (MS) Bold"/>
                          <a:ea typeface="Calibri (MS) Bold"/>
                          <a:cs typeface="Calibri (MS) Bold"/>
                          <a:sym typeface="Calibri (MS) Bold"/>
                        </a:rPr>
                        <a:t>Variabel berubah &gt;1%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Simulasi dasar (semua loop aktif)</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96,20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5.404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650,36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122.208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0,8132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B1 kepadatan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250,32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12.151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528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1.585,46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123.070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1,0696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0B5E6E"/>
                          </a:solidFill>
                          <a:latin typeface="Calibri (MS)"/>
                          <a:ea typeface="Calibri (MS)"/>
                          <a:cs typeface="Calibri (MS)"/>
                          <a:sym typeface="Calibri (MS)"/>
                        </a:rPr>
                        <a:t>+160,2%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EAF8FA"/>
                    </a:solidFill>
                  </a:tcPr>
                </a:tc>
                <a:tc>
                  <a:txBody>
                    <a:bodyPr anchor="t" rtlCol="false"/>
                    <a:lstStyle/>
                    <a:p>
                      <a:pPr algn="ctr">
                        <a:lnSpc>
                          <a:spcPts val="1559"/>
                        </a:lnSpc>
                        <a:defRPr/>
                      </a:pPr>
                      <a:r>
                        <a:rPr lang="en-US" sz="1299">
                          <a:solidFill>
                            <a:srgbClr val="0B5E6E"/>
                          </a:solidFill>
                          <a:latin typeface="Calibri (MS)"/>
                          <a:ea typeface="Calibri (MS)"/>
                          <a:cs typeface="Calibri (MS)"/>
                          <a:sym typeface="Calibri (MS)"/>
                        </a:rPr>
                        <a:t>5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EAF8FA"/>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Gugus daya dukung lahan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111,66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6.081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745,26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135.035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0,8632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+16,1%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6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R2 ekonomi–atraksi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80,24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4.671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549,73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122.109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0,7635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−16,6%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5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Okupansi akomodasi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96,23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4.867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650,56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122.080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0,8133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+0,03%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1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Goal-seeking tenaga kerja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96,20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5.404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364,99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122.208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0,8132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1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Seluruh rem dimatikan (R1 murni)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217,37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10.885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1.399,44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122.930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1,0000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+126,0%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5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grpSp>
        <p:nvGrpSpPr>
          <p:cNvPr name="Group 19" id="19"/>
          <p:cNvGrpSpPr/>
          <p:nvPr/>
        </p:nvGrpSpPr>
        <p:grpSpPr>
          <a:xfrm rot="0">
            <a:off x="822960" y="6107049"/>
            <a:ext cx="5394960" cy="3102102"/>
            <a:chOff x="0" y="0"/>
            <a:chExt cx="7193280" cy="4136136"/>
          </a:xfrm>
        </p:grpSpPr>
        <p:sp>
          <p:nvSpPr>
            <p:cNvPr name="Freeform 20" id="20" descr="uji_loop_wisatawan.png"/>
            <p:cNvSpPr/>
            <p:nvPr/>
          </p:nvSpPr>
          <p:spPr>
            <a:xfrm flipH="false" flipV="false" rot="0">
              <a:off x="0" y="0"/>
              <a:ext cx="7193280" cy="4136136"/>
            </a:xfrm>
            <a:custGeom>
              <a:avLst/>
              <a:gdLst/>
              <a:ahLst/>
              <a:cxnLst/>
              <a:rect r="r" b="b" t="t" l="l"/>
              <a:pathLst>
                <a:path h="4136136" w="7193280">
                  <a:moveTo>
                    <a:pt x="0" y="0"/>
                  </a:moveTo>
                  <a:lnTo>
                    <a:pt x="7193280" y="0"/>
                  </a:lnTo>
                  <a:lnTo>
                    <a:pt x="7193280" y="4136136"/>
                  </a:lnTo>
                  <a:lnTo>
                    <a:pt x="0" y="4136136"/>
                  </a:lnTo>
                  <a:lnTo>
                    <a:pt x="0" y="0"/>
                  </a:lnTo>
                  <a:close/>
                </a:path>
              </a:pathLst>
            </a:custGeom>
            <a:blipFill>
              <a:blip r:embed="rId6"/>
              <a:stretch>
                <a:fillRect l="0" t="0" r="0" b="0"/>
              </a:stretch>
            </a:blipFill>
          </p:spPr>
        </p:sp>
      </p:grpSp>
      <p:grpSp>
        <p:nvGrpSpPr>
          <p:cNvPr name="Group 21" id="21"/>
          <p:cNvGrpSpPr/>
          <p:nvPr/>
        </p:nvGrpSpPr>
        <p:grpSpPr>
          <a:xfrm rot="0">
            <a:off x="6492240" y="6172200"/>
            <a:ext cx="10972800" cy="3017520"/>
            <a:chOff x="0" y="0"/>
            <a:chExt cx="14630400" cy="4023360"/>
          </a:xfrm>
        </p:grpSpPr>
        <p:sp>
          <p:nvSpPr>
            <p:cNvPr name="Freeform 22" id="22"/>
            <p:cNvSpPr/>
            <p:nvPr/>
          </p:nvSpPr>
          <p:spPr>
            <a:xfrm flipH="false" flipV="false" rot="0">
              <a:off x="0" y="0"/>
              <a:ext cx="14630400" cy="4023360"/>
            </a:xfrm>
            <a:custGeom>
              <a:avLst/>
              <a:gdLst/>
              <a:ahLst/>
              <a:cxnLst/>
              <a:rect r="r" b="b" t="t" l="l"/>
              <a:pathLst>
                <a:path h="4023360" w="14630400">
                  <a:moveTo>
                    <a:pt x="0" y="170688"/>
                  </a:moveTo>
                  <a:cubicBezTo>
                    <a:pt x="0" y="76454"/>
                    <a:pt x="76454" y="0"/>
                    <a:pt x="170688" y="0"/>
                  </a:cubicBezTo>
                  <a:lnTo>
                    <a:pt x="14459713" y="0"/>
                  </a:lnTo>
                  <a:cubicBezTo>
                    <a:pt x="14553947" y="0"/>
                    <a:pt x="14630400" y="76454"/>
                    <a:pt x="14630400" y="170688"/>
                  </a:cubicBezTo>
                  <a:lnTo>
                    <a:pt x="14630400" y="3852672"/>
                  </a:lnTo>
                  <a:cubicBezTo>
                    <a:pt x="14630400" y="3946906"/>
                    <a:pt x="14553947" y="4023360"/>
                    <a:pt x="14459713" y="4023360"/>
                  </a:cubicBezTo>
                  <a:lnTo>
                    <a:pt x="170688" y="4023360"/>
                  </a:lnTo>
                  <a:cubicBezTo>
                    <a:pt x="76454" y="4023360"/>
                    <a:pt x="0" y="3946906"/>
                    <a:pt x="0" y="3852672"/>
                  </a:cubicBezTo>
                  <a:close/>
                </a:path>
              </a:pathLst>
            </a:custGeom>
            <a:solidFill>
              <a:srgbClr val="EAF8FA"/>
            </a:solidFill>
          </p:spPr>
        </p:sp>
      </p:grpSp>
      <p:sp>
        <p:nvSpPr>
          <p:cNvPr name="TextBox 23" id="23"/>
          <p:cNvSpPr txBox="true"/>
          <p:nvPr/>
        </p:nvSpPr>
        <p:spPr>
          <a:xfrm rot="0">
            <a:off x="6766560" y="6348222"/>
            <a:ext cx="10424160" cy="605790"/>
          </a:xfrm>
          <a:prstGeom prst="rect">
            <a:avLst/>
          </a:prstGeom>
        </p:spPr>
        <p:txBody>
          <a:bodyPr anchor="t" rtlCol="false" tIns="0" lIns="0" bIns="0" rIns="0">
            <a:spAutoFit/>
          </a:bodyPr>
          <a:lstStyle/>
          <a:p>
            <a:pPr algn="l">
              <a:lnSpc>
                <a:spcPts val="2688"/>
              </a:lnSpc>
            </a:pPr>
            <a:r>
              <a:rPr lang="en-US" sz="2000" b="true">
                <a:solidFill>
                  <a:srgbClr val="0B5E6E"/>
                </a:solidFill>
                <a:latin typeface="Calibri (MS) Bold"/>
                <a:ea typeface="Calibri (MS) Bold"/>
                <a:cs typeface="Calibri (MS) Bold"/>
                <a:sym typeface="Calibri (MS) Bold"/>
              </a:rPr>
              <a:t>Pembacaan</a:t>
            </a:r>
          </a:p>
        </p:txBody>
      </p:sp>
      <p:sp>
        <p:nvSpPr>
          <p:cNvPr name="TextBox 24" id="24"/>
          <p:cNvSpPr txBox="true"/>
          <p:nvPr/>
        </p:nvSpPr>
        <p:spPr>
          <a:xfrm rot="0">
            <a:off x="6766560" y="6915150"/>
            <a:ext cx="10424160" cy="2109978"/>
          </a:xfrm>
          <a:prstGeom prst="rect">
            <a:avLst/>
          </a:prstGeom>
        </p:spPr>
        <p:txBody>
          <a:bodyPr anchor="t" rtlCol="false" tIns="0" lIns="0" bIns="0" rIns="0">
            <a:spAutoFit/>
          </a:bodyPr>
          <a:lstStyle/>
          <a:p>
            <a:pPr algn="l">
              <a:lnSpc>
                <a:spcPts val="2016"/>
              </a:lnSpc>
            </a:pPr>
            <a:r>
              <a:rPr lang="en-US" sz="1500">
                <a:solidFill>
                  <a:srgbClr val="14313B"/>
                </a:solidFill>
                <a:latin typeface="Calibri (MS)"/>
                <a:ea typeface="Calibri (MS)"/>
                <a:cs typeface="Calibri (MS)"/>
                <a:sym typeface="Calibri (MS)"/>
              </a:rPr>
              <a:t>• B1 paling kuat dan sistemik: wisatawan 2050 +160,2%, 5 dari 6 variabel berubah &gt;1%</a:t>
            </a:r>
          </a:p>
          <a:p>
            <a:pPr algn="l">
              <a:lnSpc>
                <a:spcPts val="2016"/>
              </a:lnSpc>
            </a:pPr>
            <a:r>
              <a:rPr lang="en-US" sz="1500">
                <a:solidFill>
                  <a:srgbClr val="14313B"/>
                </a:solidFill>
                <a:latin typeface="Calibri (MS)"/>
                <a:ea typeface="Calibri (MS)"/>
                <a:cs typeface="Calibri (MS)"/>
                <a:sym typeface="Calibri (MS)"/>
              </a:rPr>
              <a:t>• Gugus daya dukung lahan: satu-satunya yang memengaruhi 6 dari 6 variabel (wisatawan +16,1%)</a:t>
            </a:r>
          </a:p>
          <a:p>
            <a:pPr algn="l">
              <a:lnSpc>
                <a:spcPts val="2016"/>
              </a:lnSpc>
            </a:pPr>
            <a:r>
              <a:rPr lang="en-US" sz="1500">
                <a:solidFill>
                  <a:srgbClr val="14313B"/>
                </a:solidFill>
                <a:latin typeface="Calibri (MS)"/>
                <a:ea typeface="Calibri (MS)"/>
                <a:cs typeface="Calibri (MS)"/>
                <a:sym typeface="Calibri (MS)"/>
              </a:rPr>
              <a:t>• R2: dampak terbesar pada ODTW (−45,3%), melebihi dampak pada wisatawan (−16,6%)</a:t>
            </a:r>
          </a:p>
          <a:p>
            <a:pPr algn="l">
              <a:lnSpc>
                <a:spcPts val="2016"/>
              </a:lnSpc>
            </a:pPr>
            <a:r>
              <a:rPr lang="en-US" sz="1500">
                <a:solidFill>
                  <a:srgbClr val="14313B"/>
                </a:solidFill>
                <a:latin typeface="Calibri (MS)"/>
                <a:ea typeface="Calibri (MS)"/>
                <a:cs typeface="Calibri (MS)"/>
                <a:sym typeface="Calibri (MS)"/>
              </a:rPr>
              <a:t>• Tidak aditif: B1 saja (250,32 juta) &gt; seluruh rem dimatikan (217,37 juta) karena R2 tetap menguatkan daya tarik</a:t>
            </a:r>
          </a:p>
        </p:txBody>
      </p:sp>
    </p:spTree>
  </p:cSld>
  <p:clrMapOvr>
    <a:masterClrMapping/>
  </p:clrMapOvr>
</p:sld>
</file>

<file path=ppt/slides/slide8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12 · Horizon diperpanjang sampai 2150 (uji kestabilan, BAU)</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87</a:t>
            </a:r>
          </a:p>
        </p:txBody>
      </p:sp>
      <p:graphicFrame>
        <p:nvGraphicFramePr>
          <p:cNvPr id="18" name="Table 17"/>
          <p:cNvGraphicFramePr>
            <a:graphicFrameLocks noGrp="1"/>
          </p:cNvGraphicFramePr>
          <p:nvPr/>
        </p:nvGraphicFramePr>
        <p:xfrm>
          <a:off x="822960" y="2286000"/>
          <a:ext cx="16642075" cy="3291840"/>
        </p:xfrm>
        <a:graphic>
          <a:graphicData uri="http://schemas.openxmlformats.org/drawingml/2006/table">
            <a:tbl>
              <a:tblPr firstRow="1" bandRow="1">
                <a:tableStyleId>{5C22544A-7EE6-4342-B048-85BDC9FD1C3A}</a:tableStyleId>
              </a:tblPr>
              <a:tblGrid>
                <a:gridCol w="1579175"/>
                <a:gridCol w="2793925"/>
                <a:gridCol w="2065075"/>
                <a:gridCol w="1700650"/>
                <a:gridCol w="2429500"/>
                <a:gridCol w="2308025"/>
                <a:gridCol w="1700650"/>
                <a:gridCol w="2065075"/>
              </a:tblGrid>
              <a:tr h="548640">
                <a:tc>
                  <a:txBody>
                    <a:bodyPr wrap="square"/>
                    <a:lstStyle/>
                    <a:p>
                      <a:r>
                        <a:rPr sz="1610" b="1" i="0">
                          <a:solidFill>
                            <a:srgbClr val="FFFFFF"/>
                          </a:solidFill>
                          <a:latin typeface="Calibri (MS) Bold"/>
                        </a:rPr>
                        <a:t>Tahun</a:t>
                      </a:r>
                    </a:p>
                  </a:txBody>
                  <a:tcPr marL="73152" marR="73152" marT="36576" marB="36576" anchor="ctr">
                    <a:solidFill>
                      <a:srgbClr val="0B5E6E"/>
                    </a:solidFill>
                  </a:tcPr>
                </a:tc>
                <a:tc>
                  <a:txBody>
                    <a:bodyPr wrap="square"/>
                    <a:lstStyle/>
                    <a:p>
                      <a:r>
                        <a:rPr sz="1610" b="1" i="0">
                          <a:solidFill>
                            <a:srgbClr val="FFFFFF"/>
                          </a:solidFill>
                          <a:latin typeface="Calibri (MS) Bold"/>
                        </a:rPr>
                        <a:t>Wisatawan (juta)</a:t>
                      </a:r>
                    </a:p>
                  </a:txBody>
                  <a:tcPr marL="73152" marR="73152" marT="36576" marB="36576" anchor="ctr">
                    <a:solidFill>
                      <a:srgbClr val="0B5E6E"/>
                    </a:solidFill>
                  </a:tcPr>
                </a:tc>
                <a:tc>
                  <a:txBody>
                    <a:bodyPr wrap="square"/>
                    <a:lstStyle/>
                    <a:p>
                      <a:r>
                        <a:rPr sz="1610" b="1" i="0">
                          <a:solidFill>
                            <a:srgbClr val="FFFFFF"/>
                          </a:solidFill>
                          <a:latin typeface="Calibri (MS) Bold"/>
                        </a:rPr>
                        <a:t>Daya tarik</a:t>
                      </a:r>
                    </a:p>
                  </a:txBody>
                  <a:tcPr marL="73152" marR="73152" marT="36576" marB="36576" anchor="ctr">
                    <a:solidFill>
                      <a:srgbClr val="0B5E6E"/>
                    </a:solidFill>
                  </a:tcPr>
                </a:tc>
                <a:tc>
                  <a:txBody>
                    <a:bodyPr wrap="square"/>
                    <a:lstStyle/>
                    <a:p>
                      <a:r>
                        <a:rPr sz="1610" b="1" i="0">
                          <a:solidFill>
                            <a:srgbClr val="FFFFFF"/>
                          </a:solidFill>
                          <a:latin typeface="Calibri (MS) Bold"/>
                        </a:rPr>
                        <a:t>RDDL</a:t>
                      </a:r>
                    </a:p>
                  </a:txBody>
                  <a:tcPr marL="73152" marR="73152" marT="36576" marB="36576" anchor="ctr">
                    <a:solidFill>
                      <a:srgbClr val="0B5E6E"/>
                    </a:solidFill>
                  </a:tcPr>
                </a:tc>
                <a:tc>
                  <a:txBody>
                    <a:bodyPr wrap="square"/>
                    <a:lstStyle/>
                    <a:p>
                      <a:r>
                        <a:rPr sz="1610" b="1" i="0">
                          <a:solidFill>
                            <a:srgbClr val="FFFFFF"/>
                          </a:solidFill>
                          <a:latin typeface="Calibri (MS) Bold"/>
                        </a:rPr>
                        <a:t>Lahan (ha)</a:t>
                      </a:r>
                    </a:p>
                  </a:txBody>
                  <a:tcPr marL="73152" marR="73152" marT="36576" marB="36576" anchor="ctr">
                    <a:solidFill>
                      <a:srgbClr val="0B5E6E"/>
                    </a:solidFill>
                  </a:tcPr>
                </a:tc>
                <a:tc>
                  <a:txBody>
                    <a:bodyPr wrap="square"/>
                    <a:lstStyle/>
                    <a:p>
                      <a:r>
                        <a:rPr sz="1610" b="1" i="0">
                          <a:solidFill>
                            <a:srgbClr val="FFFFFF"/>
                          </a:solidFill>
                          <a:latin typeface="Calibri (MS) Bold"/>
                        </a:rPr>
                        <a:t>Hotel (unit)</a:t>
                      </a:r>
                    </a:p>
                  </a:txBody>
                  <a:tcPr marL="73152" marR="73152" marT="36576" marB="36576" anchor="ctr">
                    <a:solidFill>
                      <a:srgbClr val="0B5E6E"/>
                    </a:solidFill>
                  </a:tcPr>
                </a:tc>
                <a:tc>
                  <a:txBody>
                    <a:bodyPr wrap="square"/>
                    <a:lstStyle/>
                    <a:p>
                      <a:r>
                        <a:rPr sz="1610" b="1" i="0">
                          <a:solidFill>
                            <a:srgbClr val="FFFFFF"/>
                          </a:solidFill>
                          <a:latin typeface="Calibri (MS) Bold"/>
                        </a:rPr>
                        <a:t>ODTW</a:t>
                      </a:r>
                    </a:p>
                  </a:txBody>
                  <a:tcPr marL="73152" marR="73152" marT="36576" marB="36576" anchor="ctr">
                    <a:solidFill>
                      <a:srgbClr val="0B5E6E"/>
                    </a:solidFill>
                  </a:tcPr>
                </a:tc>
                <a:tc>
                  <a:txBody>
                    <a:bodyPr wrap="square"/>
                    <a:lstStyle/>
                    <a:p>
                      <a:r>
                        <a:rPr sz="1610" b="1" i="0">
                          <a:solidFill>
                            <a:srgbClr val="FFFFFF"/>
                          </a:solidFill>
                          <a:latin typeface="Calibri (MS) Bold"/>
                        </a:rPr>
                        <a:t>TK (ribu)</a:t>
                      </a:r>
                    </a:p>
                  </a:txBody>
                  <a:tcPr marL="73152" marR="73152" marT="36576" marB="36576" anchor="ctr">
                    <a:solidFill>
                      <a:srgbClr val="0B5E6E"/>
                    </a:solidFill>
                  </a:tcPr>
                </a:tc>
              </a:tr>
              <a:tr h="548640">
                <a:tc>
                  <a:txBody>
                    <a:bodyPr wrap="square"/>
                    <a:lstStyle/>
                    <a:p>
                      <a:r>
                        <a:rPr sz="1610" b="0" i="0">
                          <a:solidFill>
                            <a:srgbClr val="14313B"/>
                          </a:solidFill>
                          <a:latin typeface="Calibri (MS)"/>
                        </a:rPr>
                        <a:t>2050</a:t>
                      </a:r>
                    </a:p>
                  </a:txBody>
                  <a:tcPr marL="73152" marR="73152" marT="36576" marB="36576" anchor="ctr">
                    <a:solidFill>
                      <a:srgbClr val="FFFFFF"/>
                    </a:solidFill>
                  </a:tcPr>
                </a:tc>
                <a:tc>
                  <a:txBody>
                    <a:bodyPr wrap="square"/>
                    <a:lstStyle/>
                    <a:p>
                      <a:r>
                        <a:rPr sz="1610" b="0" i="0">
                          <a:solidFill>
                            <a:srgbClr val="14313B"/>
                          </a:solidFill>
                          <a:latin typeface="Calibri (MS)"/>
                        </a:rPr>
                        <a:t>96,20</a:t>
                      </a:r>
                    </a:p>
                  </a:txBody>
                  <a:tcPr marL="73152" marR="73152" marT="36576" marB="36576" anchor="ctr">
                    <a:solidFill>
                      <a:srgbClr val="FFFFFF"/>
                    </a:solidFill>
                  </a:tcPr>
                </a:tc>
                <a:tc>
                  <a:txBody>
                    <a:bodyPr wrap="square"/>
                    <a:lstStyle/>
                    <a:p>
                      <a:r>
                        <a:rPr sz="1610" b="0" i="0">
                          <a:solidFill>
                            <a:srgbClr val="14313B"/>
                          </a:solidFill>
                          <a:latin typeface="Calibri (MS)"/>
                        </a:rPr>
                        <a:t>0,813</a:t>
                      </a:r>
                    </a:p>
                  </a:txBody>
                  <a:tcPr marL="73152" marR="73152" marT="36576" marB="36576" anchor="ctr">
                    <a:solidFill>
                      <a:srgbClr val="FFFFFF"/>
                    </a:solidFill>
                  </a:tcPr>
                </a:tc>
                <a:tc>
                  <a:txBody>
                    <a:bodyPr wrap="square"/>
                    <a:lstStyle/>
                    <a:p>
                      <a:r>
                        <a:rPr sz="1610" b="0" i="0">
                          <a:solidFill>
                            <a:srgbClr val="14313B"/>
                          </a:solidFill>
                          <a:latin typeface="Calibri (MS)"/>
                        </a:rPr>
                        <a:t>0,615</a:t>
                      </a:r>
                    </a:p>
                  </a:txBody>
                  <a:tcPr marL="73152" marR="73152" marT="36576" marB="36576" anchor="ctr">
                    <a:solidFill>
                      <a:srgbClr val="FFFFFF"/>
                    </a:solidFill>
                  </a:tcPr>
                </a:tc>
                <a:tc>
                  <a:txBody>
                    <a:bodyPr wrap="square"/>
                    <a:lstStyle/>
                    <a:p>
                      <a:r>
                        <a:rPr sz="1610" b="0" i="0">
                          <a:solidFill>
                            <a:srgbClr val="14313B"/>
                          </a:solidFill>
                          <a:latin typeface="Calibri (MS)"/>
                        </a:rPr>
                        <a:t>122.208</a:t>
                      </a:r>
                    </a:p>
                  </a:txBody>
                  <a:tcPr marL="73152" marR="73152" marT="36576" marB="36576" anchor="ctr">
                    <a:solidFill>
                      <a:srgbClr val="FFFFFF"/>
                    </a:solidFill>
                  </a:tcPr>
                </a:tc>
                <a:tc>
                  <a:txBody>
                    <a:bodyPr wrap="square"/>
                    <a:lstStyle/>
                    <a:p>
                      <a:r>
                        <a:rPr sz="1610" b="0" i="0">
                          <a:solidFill>
                            <a:srgbClr val="14313B"/>
                          </a:solidFill>
                          <a:latin typeface="Calibri (MS)"/>
                        </a:rPr>
                        <a:t>5.404</a:t>
                      </a:r>
                    </a:p>
                  </a:txBody>
                  <a:tcPr marL="73152" marR="73152" marT="36576" marB="36576" anchor="ctr">
                    <a:solidFill>
                      <a:srgbClr val="FFFFFF"/>
                    </a:solidFill>
                  </a:tcPr>
                </a:tc>
                <a:tc>
                  <a:txBody>
                    <a:bodyPr wrap="square"/>
                    <a:lstStyle/>
                    <a:p>
                      <a:r>
                        <a:rPr sz="1610" b="0" i="0">
                          <a:solidFill>
                            <a:srgbClr val="14313B"/>
                          </a:solidFill>
                          <a:latin typeface="Calibri (MS)"/>
                        </a:rPr>
                        <a:t>367</a:t>
                      </a:r>
                    </a:p>
                  </a:txBody>
                  <a:tcPr marL="73152" marR="73152" marT="36576" marB="36576" anchor="ctr">
                    <a:solidFill>
                      <a:srgbClr val="FFFFFF"/>
                    </a:solidFill>
                  </a:tcPr>
                </a:tc>
                <a:tc>
                  <a:txBody>
                    <a:bodyPr wrap="square"/>
                    <a:lstStyle/>
                    <a:p>
                      <a:r>
                        <a:rPr sz="1610" b="0" i="0">
                          <a:solidFill>
                            <a:srgbClr val="14313B"/>
                          </a:solidFill>
                          <a:latin typeface="Calibri (MS)"/>
                        </a:rPr>
                        <a:t>650,4</a:t>
                      </a:r>
                    </a:p>
                  </a:txBody>
                  <a:tcPr marL="73152" marR="73152" marT="36576" marB="36576" anchor="ctr">
                    <a:solidFill>
                      <a:srgbClr val="FFFFFF"/>
                    </a:solidFill>
                  </a:tcPr>
                </a:tc>
              </a:tr>
              <a:tr h="548640">
                <a:tc>
                  <a:txBody>
                    <a:bodyPr wrap="square"/>
                    <a:lstStyle/>
                    <a:p>
                      <a:r>
                        <a:rPr sz="1610" b="0" i="0">
                          <a:solidFill>
                            <a:srgbClr val="14313B"/>
                          </a:solidFill>
                          <a:latin typeface="Calibri (MS)"/>
                        </a:rPr>
                        <a:t>2075</a:t>
                      </a:r>
                    </a:p>
                  </a:txBody>
                  <a:tcPr marL="73152" marR="73152" marT="36576" marB="36576" anchor="ctr">
                    <a:solidFill>
                      <a:srgbClr val="EAF8FA"/>
                    </a:solidFill>
                  </a:tcPr>
                </a:tc>
                <a:tc>
                  <a:txBody>
                    <a:bodyPr wrap="square"/>
                    <a:lstStyle/>
                    <a:p>
                      <a:r>
                        <a:rPr sz="1610" b="0" i="0">
                          <a:solidFill>
                            <a:srgbClr val="14313B"/>
                          </a:solidFill>
                          <a:latin typeface="Calibri (MS)"/>
                        </a:rPr>
                        <a:t>122,23</a:t>
                      </a:r>
                    </a:p>
                  </a:txBody>
                  <a:tcPr marL="73152" marR="73152" marT="36576" marB="36576" anchor="ctr">
                    <a:solidFill>
                      <a:srgbClr val="EAF8FA"/>
                    </a:solidFill>
                  </a:tcPr>
                </a:tc>
                <a:tc>
                  <a:txBody>
                    <a:bodyPr wrap="square"/>
                    <a:lstStyle/>
                    <a:p>
                      <a:r>
                        <a:rPr sz="1610" b="0" i="0">
                          <a:solidFill>
                            <a:srgbClr val="14313B"/>
                          </a:solidFill>
                          <a:latin typeface="Calibri (MS)"/>
                        </a:rPr>
                        <a:t>0,758</a:t>
                      </a:r>
                    </a:p>
                  </a:txBody>
                  <a:tcPr marL="73152" marR="73152" marT="36576" marB="36576" anchor="ctr">
                    <a:solidFill>
                      <a:srgbClr val="EAF8FA"/>
                    </a:solidFill>
                  </a:tcPr>
                </a:tc>
                <a:tc>
                  <a:txBody>
                    <a:bodyPr wrap="square"/>
                    <a:lstStyle/>
                    <a:p>
                      <a:r>
                        <a:rPr sz="1610" b="0" i="0">
                          <a:solidFill>
                            <a:srgbClr val="14313B"/>
                          </a:solidFill>
                          <a:latin typeface="Calibri (MS)"/>
                        </a:rPr>
                        <a:t>0,346</a:t>
                      </a:r>
                    </a:p>
                  </a:txBody>
                  <a:tcPr marL="73152" marR="73152" marT="36576" marB="36576" anchor="ctr">
                    <a:solidFill>
                      <a:srgbClr val="EAF8FA"/>
                    </a:solidFill>
                  </a:tcPr>
                </a:tc>
                <a:tc>
                  <a:txBody>
                    <a:bodyPr wrap="square"/>
                    <a:lstStyle/>
                    <a:p>
                      <a:r>
                        <a:rPr sz="1610" b="0" i="0">
                          <a:solidFill>
                            <a:srgbClr val="14313B"/>
                          </a:solidFill>
                          <a:latin typeface="Calibri (MS)"/>
                        </a:rPr>
                        <a:t>207.210</a:t>
                      </a:r>
                    </a:p>
                  </a:txBody>
                  <a:tcPr marL="73152" marR="73152" marT="36576" marB="36576" anchor="ctr">
                    <a:solidFill>
                      <a:srgbClr val="EAF8FA"/>
                    </a:solidFill>
                  </a:tcPr>
                </a:tc>
                <a:tc>
                  <a:txBody>
                    <a:bodyPr wrap="square"/>
                    <a:lstStyle/>
                    <a:p>
                      <a:r>
                        <a:rPr sz="1610" b="0" i="0">
                          <a:solidFill>
                            <a:srgbClr val="14313B"/>
                          </a:solidFill>
                          <a:latin typeface="Calibri (MS)"/>
                        </a:rPr>
                        <a:t>7.191</a:t>
                      </a:r>
                    </a:p>
                  </a:txBody>
                  <a:tcPr marL="73152" marR="73152" marT="36576" marB="36576" anchor="ctr">
                    <a:solidFill>
                      <a:srgbClr val="EAF8FA"/>
                    </a:solidFill>
                  </a:tcPr>
                </a:tc>
                <a:tc>
                  <a:txBody>
                    <a:bodyPr wrap="square"/>
                    <a:lstStyle/>
                    <a:p>
                      <a:r>
                        <a:rPr sz="1610" b="0" i="0">
                          <a:solidFill>
                            <a:srgbClr val="14313B"/>
                          </a:solidFill>
                          <a:latin typeface="Calibri (MS)"/>
                        </a:rPr>
                        <a:t>534</a:t>
                      </a:r>
                    </a:p>
                  </a:txBody>
                  <a:tcPr marL="73152" marR="73152" marT="36576" marB="36576" anchor="ctr">
                    <a:solidFill>
                      <a:srgbClr val="EAF8FA"/>
                    </a:solidFill>
                  </a:tcPr>
                </a:tc>
                <a:tc>
                  <a:txBody>
                    <a:bodyPr wrap="square"/>
                    <a:lstStyle/>
                    <a:p>
                      <a:r>
                        <a:rPr sz="1610" b="0" i="0">
                          <a:solidFill>
                            <a:srgbClr val="14313B"/>
                          </a:solidFill>
                          <a:latin typeface="Calibri (MS)"/>
                        </a:rPr>
                        <a:t>637,1</a:t>
                      </a:r>
                    </a:p>
                  </a:txBody>
                  <a:tcPr marL="73152" marR="73152" marT="36576" marB="36576" anchor="ctr">
                    <a:solidFill>
                      <a:srgbClr val="EAF8FA"/>
                    </a:solidFill>
                  </a:tcPr>
                </a:tc>
              </a:tr>
              <a:tr h="548640">
                <a:tc>
                  <a:txBody>
                    <a:bodyPr wrap="square"/>
                    <a:lstStyle/>
                    <a:p>
                      <a:r>
                        <a:rPr sz="1610" b="0" i="0">
                          <a:solidFill>
                            <a:srgbClr val="14313B"/>
                          </a:solidFill>
                          <a:latin typeface="Calibri (MS)"/>
                        </a:rPr>
                        <a:t>2100</a:t>
                      </a:r>
                    </a:p>
                  </a:txBody>
                  <a:tcPr marL="73152" marR="73152" marT="36576" marB="36576" anchor="ctr">
                    <a:solidFill>
                      <a:srgbClr val="FFFFFF"/>
                    </a:solidFill>
                  </a:tcPr>
                </a:tc>
                <a:tc>
                  <a:txBody>
                    <a:bodyPr wrap="square"/>
                    <a:lstStyle/>
                    <a:p>
                      <a:r>
                        <a:rPr sz="1610" b="0" i="0">
                          <a:solidFill>
                            <a:srgbClr val="14313B"/>
                          </a:solidFill>
                          <a:latin typeface="Calibri (MS)"/>
                        </a:rPr>
                        <a:t>113,79</a:t>
                      </a:r>
                    </a:p>
                  </a:txBody>
                  <a:tcPr marL="73152" marR="73152" marT="36576" marB="36576" anchor="ctr">
                    <a:solidFill>
                      <a:srgbClr val="FFFFFF"/>
                    </a:solidFill>
                  </a:tcPr>
                </a:tc>
                <a:tc>
                  <a:txBody>
                    <a:bodyPr wrap="square"/>
                    <a:lstStyle/>
                    <a:p>
                      <a:r>
                        <a:rPr sz="1610" b="0" i="0">
                          <a:solidFill>
                            <a:srgbClr val="14313B"/>
                          </a:solidFill>
                          <a:latin typeface="Calibri (MS)"/>
                        </a:rPr>
                        <a:t>0,725</a:t>
                      </a:r>
                    </a:p>
                  </a:txBody>
                  <a:tcPr marL="73152" marR="73152" marT="36576" marB="36576" anchor="ctr">
                    <a:solidFill>
                      <a:srgbClr val="FFFFFF"/>
                    </a:solidFill>
                  </a:tcPr>
                </a:tc>
                <a:tc>
                  <a:txBody>
                    <a:bodyPr wrap="square"/>
                    <a:lstStyle/>
                    <a:p>
                      <a:r>
                        <a:rPr sz="1610" b="0" i="0">
                          <a:solidFill>
                            <a:srgbClr val="14313B"/>
                          </a:solidFill>
                          <a:latin typeface="Calibri (MS)"/>
                        </a:rPr>
                        <a:t>0,149</a:t>
                      </a:r>
                    </a:p>
                  </a:txBody>
                  <a:tcPr marL="73152" marR="73152" marT="36576" marB="36576" anchor="ctr">
                    <a:solidFill>
                      <a:srgbClr val="FFFFFF"/>
                    </a:solidFill>
                  </a:tcPr>
                </a:tc>
                <a:tc>
                  <a:txBody>
                    <a:bodyPr wrap="square"/>
                    <a:lstStyle/>
                    <a:p>
                      <a:r>
                        <a:rPr sz="1610" b="0" i="0">
                          <a:solidFill>
                            <a:srgbClr val="14313B"/>
                          </a:solidFill>
                          <a:latin typeface="Calibri (MS)"/>
                        </a:rPr>
                        <a:t>269.864</a:t>
                      </a:r>
                    </a:p>
                  </a:txBody>
                  <a:tcPr marL="73152" marR="73152" marT="36576" marB="36576" anchor="ctr">
                    <a:solidFill>
                      <a:srgbClr val="FFFFFF"/>
                    </a:solidFill>
                  </a:tcPr>
                </a:tc>
                <a:tc>
                  <a:txBody>
                    <a:bodyPr wrap="square"/>
                    <a:lstStyle/>
                    <a:p>
                      <a:r>
                        <a:rPr sz="1610" b="0" i="0">
                          <a:solidFill>
                            <a:srgbClr val="14313B"/>
                          </a:solidFill>
                          <a:latin typeface="Calibri (MS)"/>
                        </a:rPr>
                        <a:t>6.910</a:t>
                      </a:r>
                    </a:p>
                  </a:txBody>
                  <a:tcPr marL="73152" marR="73152" marT="36576" marB="36576" anchor="ctr">
                    <a:solidFill>
                      <a:srgbClr val="FFFFFF"/>
                    </a:solidFill>
                  </a:tcPr>
                </a:tc>
                <a:tc>
                  <a:txBody>
                    <a:bodyPr wrap="square"/>
                    <a:lstStyle/>
                    <a:p>
                      <a:r>
                        <a:rPr sz="1610" b="0" i="0">
                          <a:solidFill>
                            <a:srgbClr val="14313B"/>
                          </a:solidFill>
                          <a:latin typeface="Calibri (MS)"/>
                        </a:rPr>
                        <a:t>597</a:t>
                      </a:r>
                    </a:p>
                  </a:txBody>
                  <a:tcPr marL="73152" marR="73152" marT="36576" marB="36576" anchor="ctr">
                    <a:solidFill>
                      <a:srgbClr val="FFFFFF"/>
                    </a:solidFill>
                  </a:tcPr>
                </a:tc>
                <a:tc>
                  <a:txBody>
                    <a:bodyPr wrap="square"/>
                    <a:lstStyle/>
                    <a:p>
                      <a:r>
                        <a:rPr sz="1610" b="0" i="0">
                          <a:solidFill>
                            <a:srgbClr val="14313B"/>
                          </a:solidFill>
                          <a:latin typeface="Calibri (MS)"/>
                        </a:rPr>
                        <a:t>454,6</a:t>
                      </a:r>
                    </a:p>
                  </a:txBody>
                  <a:tcPr marL="73152" marR="73152" marT="36576" marB="36576" anchor="ctr">
                    <a:solidFill>
                      <a:srgbClr val="FFFFFF"/>
                    </a:solidFill>
                  </a:tcPr>
                </a:tc>
              </a:tr>
              <a:tr h="548640">
                <a:tc>
                  <a:txBody>
                    <a:bodyPr wrap="square"/>
                    <a:lstStyle/>
                    <a:p>
                      <a:r>
                        <a:rPr sz="1610" b="0" i="0">
                          <a:solidFill>
                            <a:srgbClr val="14313B"/>
                          </a:solidFill>
                          <a:latin typeface="Calibri (MS)"/>
                        </a:rPr>
                        <a:t>2125</a:t>
                      </a:r>
                    </a:p>
                  </a:txBody>
                  <a:tcPr marL="73152" marR="73152" marT="36576" marB="36576" anchor="ctr">
                    <a:solidFill>
                      <a:srgbClr val="EAF8FA"/>
                    </a:solidFill>
                  </a:tcPr>
                </a:tc>
                <a:tc>
                  <a:txBody>
                    <a:bodyPr wrap="square"/>
                    <a:lstStyle/>
                    <a:p>
                      <a:r>
                        <a:rPr sz="1610" b="0" i="0">
                          <a:solidFill>
                            <a:srgbClr val="14313B"/>
                          </a:solidFill>
                          <a:latin typeface="Calibri (MS)"/>
                        </a:rPr>
                        <a:t>91,30</a:t>
                      </a:r>
                    </a:p>
                  </a:txBody>
                  <a:tcPr marL="73152" marR="73152" marT="36576" marB="36576" anchor="ctr">
                    <a:solidFill>
                      <a:srgbClr val="EAF8FA"/>
                    </a:solidFill>
                  </a:tcPr>
                </a:tc>
                <a:tc>
                  <a:txBody>
                    <a:bodyPr wrap="square"/>
                    <a:lstStyle/>
                    <a:p>
                      <a:r>
                        <a:rPr sz="1610" b="0" i="0">
                          <a:solidFill>
                            <a:srgbClr val="14313B"/>
                          </a:solidFill>
                          <a:latin typeface="Calibri (MS)"/>
                        </a:rPr>
                        <a:t>0,715</a:t>
                      </a:r>
                    </a:p>
                  </a:txBody>
                  <a:tcPr marL="73152" marR="73152" marT="36576" marB="36576" anchor="ctr">
                    <a:solidFill>
                      <a:srgbClr val="EAF8FA"/>
                    </a:solidFill>
                  </a:tcPr>
                </a:tc>
                <a:tc>
                  <a:txBody>
                    <a:bodyPr wrap="square"/>
                    <a:lstStyle/>
                    <a:p>
                      <a:r>
                        <a:rPr sz="1610" b="0" i="0">
                          <a:solidFill>
                            <a:srgbClr val="14313B"/>
                          </a:solidFill>
                          <a:latin typeface="Calibri (MS)"/>
                        </a:rPr>
                        <a:t>0,054</a:t>
                      </a:r>
                    </a:p>
                  </a:txBody>
                  <a:tcPr marL="73152" marR="73152" marT="36576" marB="36576" anchor="ctr">
                    <a:solidFill>
                      <a:srgbClr val="EAF8FA"/>
                    </a:solidFill>
                  </a:tcPr>
                </a:tc>
                <a:tc>
                  <a:txBody>
                    <a:bodyPr wrap="square"/>
                    <a:lstStyle/>
                    <a:p>
                      <a:r>
                        <a:rPr sz="1610" b="0" i="0">
                          <a:solidFill>
                            <a:srgbClr val="14313B"/>
                          </a:solidFill>
                          <a:latin typeface="Calibri (MS)"/>
                        </a:rPr>
                        <a:t>299.837</a:t>
                      </a:r>
                    </a:p>
                  </a:txBody>
                  <a:tcPr marL="73152" marR="73152" marT="36576" marB="36576" anchor="ctr">
                    <a:solidFill>
                      <a:srgbClr val="EAF8FA"/>
                    </a:solidFill>
                  </a:tcPr>
                </a:tc>
                <a:tc>
                  <a:txBody>
                    <a:bodyPr wrap="square"/>
                    <a:lstStyle/>
                    <a:p>
                      <a:r>
                        <a:rPr sz="1610" b="0" i="0">
                          <a:solidFill>
                            <a:srgbClr val="14313B"/>
                          </a:solidFill>
                          <a:latin typeface="Calibri (MS)"/>
                        </a:rPr>
                        <a:t>5.608</a:t>
                      </a:r>
                    </a:p>
                  </a:txBody>
                  <a:tcPr marL="73152" marR="73152" marT="36576" marB="36576" anchor="ctr">
                    <a:solidFill>
                      <a:srgbClr val="EAF8FA"/>
                    </a:solidFill>
                  </a:tcPr>
                </a:tc>
                <a:tc>
                  <a:txBody>
                    <a:bodyPr wrap="square"/>
                    <a:lstStyle/>
                    <a:p>
                      <a:r>
                        <a:rPr sz="1610" b="0" i="0">
                          <a:solidFill>
                            <a:srgbClr val="14313B"/>
                          </a:solidFill>
                          <a:latin typeface="Calibri (MS)"/>
                        </a:rPr>
                        <a:t>556</a:t>
                      </a:r>
                    </a:p>
                  </a:txBody>
                  <a:tcPr marL="73152" marR="73152" marT="36576" marB="36576" anchor="ctr">
                    <a:solidFill>
                      <a:srgbClr val="EAF8FA"/>
                    </a:solidFill>
                  </a:tcPr>
                </a:tc>
                <a:tc>
                  <a:txBody>
                    <a:bodyPr wrap="square"/>
                    <a:lstStyle/>
                    <a:p>
                      <a:r>
                        <a:rPr sz="1610" b="0" i="0">
                          <a:solidFill>
                            <a:srgbClr val="14313B"/>
                          </a:solidFill>
                          <a:latin typeface="Calibri (MS)"/>
                        </a:rPr>
                        <a:t>277,7</a:t>
                      </a:r>
                    </a:p>
                  </a:txBody>
                  <a:tcPr marL="73152" marR="73152" marT="36576" marB="36576" anchor="ctr">
                    <a:solidFill>
                      <a:srgbClr val="EAF8FA"/>
                    </a:solidFill>
                  </a:tcPr>
                </a:tc>
              </a:tr>
              <a:tr h="548640">
                <a:tc>
                  <a:txBody>
                    <a:bodyPr wrap="square"/>
                    <a:lstStyle/>
                    <a:p>
                      <a:r>
                        <a:rPr sz="1610" b="0" i="0">
                          <a:solidFill>
                            <a:srgbClr val="14313B"/>
                          </a:solidFill>
                          <a:latin typeface="Calibri (MS)"/>
                        </a:rPr>
                        <a:t>2150</a:t>
                      </a:r>
                    </a:p>
                  </a:txBody>
                  <a:tcPr marL="73152" marR="73152" marT="36576" marB="36576" anchor="ctr">
                    <a:solidFill>
                      <a:srgbClr val="FFFFFF"/>
                    </a:solidFill>
                  </a:tcPr>
                </a:tc>
                <a:tc>
                  <a:txBody>
                    <a:bodyPr wrap="square"/>
                    <a:lstStyle/>
                    <a:p>
                      <a:r>
                        <a:rPr sz="1610" b="0" i="0">
                          <a:solidFill>
                            <a:srgbClr val="14313B"/>
                          </a:solidFill>
                          <a:latin typeface="Calibri (MS)"/>
                        </a:rPr>
                        <a:t>72,65</a:t>
                      </a:r>
                    </a:p>
                  </a:txBody>
                  <a:tcPr marL="73152" marR="73152" marT="36576" marB="36576" anchor="ctr">
                    <a:solidFill>
                      <a:srgbClr val="FFFFFF"/>
                    </a:solidFill>
                  </a:tcPr>
                </a:tc>
                <a:tc>
                  <a:txBody>
                    <a:bodyPr wrap="square"/>
                    <a:lstStyle/>
                    <a:p>
                      <a:r>
                        <a:rPr sz="1610" b="0" i="0">
                          <a:solidFill>
                            <a:srgbClr val="14313B"/>
                          </a:solidFill>
                          <a:latin typeface="Calibri (MS)"/>
                        </a:rPr>
                        <a:t>0,721</a:t>
                      </a:r>
                    </a:p>
                  </a:txBody>
                  <a:tcPr marL="73152" marR="73152" marT="36576" marB="36576" anchor="ctr">
                    <a:solidFill>
                      <a:srgbClr val="FFFFFF"/>
                    </a:solidFill>
                  </a:tcPr>
                </a:tc>
                <a:tc>
                  <a:txBody>
                    <a:bodyPr wrap="square"/>
                    <a:lstStyle/>
                    <a:p>
                      <a:r>
                        <a:rPr sz="1610" b="0" i="0">
                          <a:solidFill>
                            <a:srgbClr val="14313B"/>
                          </a:solidFill>
                          <a:latin typeface="Calibri (MS)"/>
                        </a:rPr>
                        <a:t>0,018</a:t>
                      </a:r>
                    </a:p>
                  </a:txBody>
                  <a:tcPr marL="73152" marR="73152" marT="36576" marB="36576" anchor="ctr">
                    <a:solidFill>
                      <a:srgbClr val="FFFFFF"/>
                    </a:solidFill>
                  </a:tcPr>
                </a:tc>
                <a:tc>
                  <a:txBody>
                    <a:bodyPr wrap="square"/>
                    <a:lstStyle/>
                    <a:p>
                      <a:r>
                        <a:rPr sz="1610" b="0" i="0">
                          <a:solidFill>
                            <a:srgbClr val="14313B"/>
                          </a:solidFill>
                          <a:latin typeface="Calibri (MS)"/>
                        </a:rPr>
                        <a:t>311.190</a:t>
                      </a:r>
                    </a:p>
                  </a:txBody>
                  <a:tcPr marL="73152" marR="73152" marT="36576" marB="36576" anchor="ctr">
                    <a:solidFill>
                      <a:srgbClr val="FFFFFF"/>
                    </a:solidFill>
                  </a:tcPr>
                </a:tc>
                <a:tc>
                  <a:txBody>
                    <a:bodyPr wrap="square"/>
                    <a:lstStyle/>
                    <a:p>
                      <a:r>
                        <a:rPr sz="1610" b="0" i="0">
                          <a:solidFill>
                            <a:srgbClr val="14313B"/>
                          </a:solidFill>
                          <a:latin typeface="Calibri (MS)"/>
                        </a:rPr>
                        <a:t>4.444</a:t>
                      </a:r>
                    </a:p>
                  </a:txBody>
                  <a:tcPr marL="73152" marR="73152" marT="36576" marB="36576" anchor="ctr">
                    <a:solidFill>
                      <a:srgbClr val="FFFFFF"/>
                    </a:solidFill>
                  </a:tcPr>
                </a:tc>
                <a:tc>
                  <a:txBody>
                    <a:bodyPr wrap="square"/>
                    <a:lstStyle/>
                    <a:p>
                      <a:r>
                        <a:rPr sz="1610" b="0" i="0">
                          <a:solidFill>
                            <a:srgbClr val="14313B"/>
                          </a:solidFill>
                          <a:latin typeface="Calibri (MS)"/>
                        </a:rPr>
                        <a:t>480</a:t>
                      </a:r>
                    </a:p>
                  </a:txBody>
                  <a:tcPr marL="73152" marR="73152" marT="36576" marB="36576" anchor="ctr">
                    <a:solidFill>
                      <a:srgbClr val="FFFFFF"/>
                    </a:solidFill>
                  </a:tcPr>
                </a:tc>
                <a:tc>
                  <a:txBody>
                    <a:bodyPr wrap="square"/>
                    <a:lstStyle/>
                    <a:p>
                      <a:r>
                        <a:rPr sz="1610" b="0" i="0">
                          <a:solidFill>
                            <a:srgbClr val="14313B"/>
                          </a:solidFill>
                          <a:latin typeface="Calibri (MS)"/>
                        </a:rPr>
                        <a:t>167,5</a:t>
                      </a:r>
                    </a:p>
                  </a:txBody>
                  <a:tcPr marL="73152" marR="73152" marT="36576" marB="36576" anchor="ctr">
                    <a:solidFill>
                      <a:srgbClr val="FFFFFF"/>
                    </a:solidFill>
                  </a:tcPr>
                </a:tc>
              </a:tr>
            </a:tbl>
          </a:graphicData>
        </a:graphic>
      </p:graphicFrame>
      <p:sp>
        <p:nvSpPr>
          <p:cNvPr id="19" name="Rounded Rectangle 18"/>
          <p:cNvSpPr/>
          <p:nvPr/>
        </p:nvSpPr>
        <p:spPr>
          <a:xfrm>
            <a:off x="822960" y="5852160"/>
            <a:ext cx="16642080" cy="17373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720" b="1" i="0">
                <a:solidFill>
                  <a:srgbClr val="0B5E6E"/>
                </a:solidFill>
                <a:latin typeface="Calibri (MS) Bold"/>
              </a:rPr>
              <a:t>Bacaan</a:t>
            </a:r>
          </a:p>
          <a:p>
            <a:pPr algn="l">
              <a:spcAft>
                <a:spcPts val="300"/>
              </a:spcAft>
            </a:pPr>
            <a:r>
              <a:rPr sz="1550" b="0" i="0">
                <a:solidFill>
                  <a:srgbClr val="14313B"/>
                </a:solidFill>
                <a:latin typeface="Calibri (MS)"/>
              </a:rPr>
              <a:t>Wisatawan memuncak ±122,9 juta pada 2080 lalu turun ketika RDDL mendekati nol: pola overshoot–penurunan khas struktur daya dukung (limits to growth). Simulasi tetap stabil (TPK maks 0,388; daya tarik min 0,715). Uji ini dirujuk di Buku 4.3.2.4 sebagai dasar pemilihan bobot dan elastisitas; tabelnya hanya ada di repository.</a:t>
            </a:r>
          </a:p>
        </p:txBody>
      </p:sp>
      <p:sp>
        <p:nvSpPr>
          <p:cNvPr id="20" name="TextBox 19"/>
          <p:cNvSpPr txBox="1"/>
          <p:nvPr/>
        </p:nvSpPr>
        <p:spPr>
          <a:xfrm>
            <a:off x="822960" y="786384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repository hasil_uji_kondisi_ekstrem_v2.xlsx (sheet Horizon 2150). Bukan hasil utama penelitian; untuk tanya jawab.</a:t>
            </a:r>
          </a:p>
        </p:txBody>
      </p:sp>
    </p:spTree>
  </p:cSld>
  <p:clrMapOvr>
    <a:masterClrMapping/>
  </p:clrMapOvr>
</p:sld>
</file>

<file path=ppt/slides/slide8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13 · Kalibrasi per tahap: tidak ada parameter yang berubah</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88</a:t>
            </a:r>
          </a:p>
        </p:txBody>
      </p:sp>
      <p:grpSp>
        <p:nvGrpSpPr>
          <p:cNvPr name="Group 18" id="18"/>
          <p:cNvGrpSpPr/>
          <p:nvPr/>
        </p:nvGrpSpPr>
        <p:grpSpPr>
          <a:xfrm rot="0">
            <a:off x="813435" y="2276475"/>
            <a:ext cx="8202930" cy="3356610"/>
            <a:chOff x="0" y="0"/>
            <a:chExt cx="10937240" cy="4475480"/>
          </a:xfrm>
        </p:grpSpPr>
        <p:sp>
          <p:nvSpPr>
            <p:cNvPr name="Freeform 19" id="19"/>
            <p:cNvSpPr/>
            <p:nvPr/>
          </p:nvSpPr>
          <p:spPr>
            <a:xfrm flipH="false" flipV="false" rot="0">
              <a:off x="0" y="0"/>
              <a:ext cx="10937240" cy="4475480"/>
            </a:xfrm>
            <a:custGeom>
              <a:avLst/>
              <a:gdLst/>
              <a:ahLst/>
              <a:cxnLst/>
              <a:rect r="r" b="b" t="t" l="l"/>
              <a:pathLst>
                <a:path h="4475480" w="10937240">
                  <a:moveTo>
                    <a:pt x="0" y="171577"/>
                  </a:moveTo>
                  <a:cubicBezTo>
                    <a:pt x="0" y="76835"/>
                    <a:pt x="76835" y="0"/>
                    <a:pt x="171577" y="0"/>
                  </a:cubicBezTo>
                  <a:lnTo>
                    <a:pt x="10765663" y="0"/>
                  </a:lnTo>
                  <a:cubicBezTo>
                    <a:pt x="10860405" y="0"/>
                    <a:pt x="10937240" y="76835"/>
                    <a:pt x="10937240" y="171577"/>
                  </a:cubicBezTo>
                  <a:lnTo>
                    <a:pt x="10937240" y="4303903"/>
                  </a:lnTo>
                  <a:cubicBezTo>
                    <a:pt x="10937240" y="4398645"/>
                    <a:pt x="10860405" y="4475480"/>
                    <a:pt x="10765663" y="4475480"/>
                  </a:cubicBezTo>
                  <a:lnTo>
                    <a:pt x="171577" y="4475480"/>
                  </a:lnTo>
                  <a:cubicBezTo>
                    <a:pt x="76835" y="4475480"/>
                    <a:pt x="0" y="4398645"/>
                    <a:pt x="0" y="4303903"/>
                  </a:cubicBezTo>
                  <a:close/>
                </a:path>
              </a:pathLst>
            </a:custGeom>
            <a:solidFill>
              <a:srgbClr val="FFFFFF"/>
            </a:solidFill>
            <a:ln w="19050" cap="sq">
              <a:solidFill>
                <a:srgbClr val="CFE5E9"/>
              </a:solidFill>
              <a:prstDash val="solid"/>
              <a:miter/>
            </a:ln>
          </p:spPr>
        </p:sp>
      </p:grpSp>
      <p:grpSp>
        <p:nvGrpSpPr>
          <p:cNvPr name="Group 20" id="20"/>
          <p:cNvGrpSpPr/>
          <p:nvPr/>
        </p:nvGrpSpPr>
        <p:grpSpPr>
          <a:xfrm rot="0">
            <a:off x="914400" y="2390137"/>
            <a:ext cx="5120640" cy="3129277"/>
            <a:chOff x="0" y="0"/>
            <a:chExt cx="6827520" cy="4172369"/>
          </a:xfrm>
        </p:grpSpPr>
        <p:sp>
          <p:nvSpPr>
            <p:cNvPr name="Freeform 21" id="21" descr="tahap1_permukaan_J_P1.png"/>
            <p:cNvSpPr/>
            <p:nvPr/>
          </p:nvSpPr>
          <p:spPr>
            <a:xfrm flipH="false" flipV="false" rot="0">
              <a:off x="0" y="0"/>
              <a:ext cx="6827520" cy="4172331"/>
            </a:xfrm>
            <a:custGeom>
              <a:avLst/>
              <a:gdLst/>
              <a:ahLst/>
              <a:cxnLst/>
              <a:rect r="r" b="b" t="t" l="l"/>
              <a:pathLst>
                <a:path h="4172331" w="6827520">
                  <a:moveTo>
                    <a:pt x="0" y="0"/>
                  </a:moveTo>
                  <a:lnTo>
                    <a:pt x="6827520" y="0"/>
                  </a:lnTo>
                  <a:lnTo>
                    <a:pt x="6827520" y="4172331"/>
                  </a:lnTo>
                  <a:lnTo>
                    <a:pt x="0" y="4172331"/>
                  </a:lnTo>
                  <a:lnTo>
                    <a:pt x="0" y="0"/>
                  </a:lnTo>
                  <a:close/>
                </a:path>
              </a:pathLst>
            </a:custGeom>
            <a:blipFill>
              <a:blip r:embed="rId6"/>
              <a:stretch>
                <a:fillRect l="0" t="0" r="0" b="0"/>
              </a:stretch>
            </a:blipFill>
          </p:spPr>
        </p:sp>
      </p:grpSp>
      <p:sp>
        <p:nvSpPr>
          <p:cNvPr name="TextBox 22" id="22"/>
          <p:cNvSpPr txBox="true"/>
          <p:nvPr/>
        </p:nvSpPr>
        <p:spPr>
          <a:xfrm rot="0">
            <a:off x="6172200" y="2503170"/>
            <a:ext cx="2651760" cy="8801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 1 · Akomodasi (P1)</a:t>
            </a:r>
          </a:p>
        </p:txBody>
      </p:sp>
      <p:sp>
        <p:nvSpPr>
          <p:cNvPr name="TextBox 23" id="23"/>
          <p:cNvSpPr txBox="true"/>
          <p:nvPr/>
        </p:nvSpPr>
        <p:spPr>
          <a:xfrm rot="0">
            <a:off x="6172200" y="3345180"/>
            <a:ext cx="2651760" cy="2186940"/>
          </a:xfrm>
          <a:prstGeom prst="rect">
            <a:avLst/>
          </a:prstGeom>
        </p:spPr>
        <p:txBody>
          <a:bodyPr anchor="t" rtlCol="false" tIns="0" lIns="0" bIns="0" rIns="0">
            <a:spAutoFit/>
          </a:bodyPr>
          <a:lstStyle/>
          <a:p>
            <a:pPr algn="l">
              <a:lnSpc>
                <a:spcPts val="1680"/>
              </a:lnSpc>
            </a:pPr>
            <a:r>
              <a:rPr lang="en-US" sz="1250">
                <a:solidFill>
                  <a:srgbClr val="14313B"/>
                </a:solidFill>
                <a:latin typeface="Calibri (MS)"/>
                <a:ea typeface="Calibri (MS)"/>
                <a:cs typeface="Calibri (MS)"/>
                <a:sym typeface="Calibri (MS)"/>
              </a:rPr>
              <a:t>Optimum TPK ambang 0,35 tepat di batas rentang; perbaikan 11,64% bertumpu pada tahun 2019 dan gagal generalisasi (P1b, versi COVID). Dipertahankan: 0,275 dan 0,05.</a:t>
            </a:r>
          </a:p>
        </p:txBody>
      </p:sp>
      <p:grpSp>
        <p:nvGrpSpPr>
          <p:cNvPr name="Group 24" id="24"/>
          <p:cNvGrpSpPr/>
          <p:nvPr/>
        </p:nvGrpSpPr>
        <p:grpSpPr>
          <a:xfrm rot="0">
            <a:off x="9271635" y="2276475"/>
            <a:ext cx="8202930" cy="3356610"/>
            <a:chOff x="0" y="0"/>
            <a:chExt cx="10937240" cy="4475480"/>
          </a:xfrm>
        </p:grpSpPr>
        <p:sp>
          <p:nvSpPr>
            <p:cNvPr name="Freeform 25" id="25"/>
            <p:cNvSpPr/>
            <p:nvPr/>
          </p:nvSpPr>
          <p:spPr>
            <a:xfrm flipH="false" flipV="false" rot="0">
              <a:off x="0" y="0"/>
              <a:ext cx="10937240" cy="4475480"/>
            </a:xfrm>
            <a:custGeom>
              <a:avLst/>
              <a:gdLst/>
              <a:ahLst/>
              <a:cxnLst/>
              <a:rect r="r" b="b" t="t" l="l"/>
              <a:pathLst>
                <a:path h="4475480" w="10937240">
                  <a:moveTo>
                    <a:pt x="0" y="171577"/>
                  </a:moveTo>
                  <a:cubicBezTo>
                    <a:pt x="0" y="76835"/>
                    <a:pt x="76835" y="0"/>
                    <a:pt x="171577" y="0"/>
                  </a:cubicBezTo>
                  <a:lnTo>
                    <a:pt x="10765663" y="0"/>
                  </a:lnTo>
                  <a:cubicBezTo>
                    <a:pt x="10860405" y="0"/>
                    <a:pt x="10937240" y="76835"/>
                    <a:pt x="10937240" y="171577"/>
                  </a:cubicBezTo>
                  <a:lnTo>
                    <a:pt x="10937240" y="4303903"/>
                  </a:lnTo>
                  <a:cubicBezTo>
                    <a:pt x="10937240" y="4398645"/>
                    <a:pt x="10860405" y="4475480"/>
                    <a:pt x="10765663" y="4475480"/>
                  </a:cubicBezTo>
                  <a:lnTo>
                    <a:pt x="171577" y="4475480"/>
                  </a:lnTo>
                  <a:cubicBezTo>
                    <a:pt x="76835" y="4475480"/>
                    <a:pt x="0" y="4398645"/>
                    <a:pt x="0" y="4303903"/>
                  </a:cubicBezTo>
                  <a:close/>
                </a:path>
              </a:pathLst>
            </a:custGeom>
            <a:solidFill>
              <a:srgbClr val="FFFFFF"/>
            </a:solidFill>
            <a:ln w="19050" cap="sq">
              <a:solidFill>
                <a:srgbClr val="CFE5E9"/>
              </a:solidFill>
              <a:prstDash val="solid"/>
              <a:miter/>
            </a:ln>
          </p:spPr>
        </p:sp>
      </p:grpSp>
      <p:grpSp>
        <p:nvGrpSpPr>
          <p:cNvPr name="Group 26" id="26"/>
          <p:cNvGrpSpPr/>
          <p:nvPr/>
        </p:nvGrpSpPr>
        <p:grpSpPr>
          <a:xfrm rot="0">
            <a:off x="9372600" y="2521001"/>
            <a:ext cx="5120640" cy="2867558"/>
            <a:chOff x="0" y="0"/>
            <a:chExt cx="6827520" cy="3823411"/>
          </a:xfrm>
        </p:grpSpPr>
        <p:sp>
          <p:nvSpPr>
            <p:cNvPr name="Freeform 27" id="27" descr="tahap2_profil_J.png"/>
            <p:cNvSpPr/>
            <p:nvPr/>
          </p:nvSpPr>
          <p:spPr>
            <a:xfrm flipH="false" flipV="false" rot="0">
              <a:off x="0" y="0"/>
              <a:ext cx="6827520" cy="3823462"/>
            </a:xfrm>
            <a:custGeom>
              <a:avLst/>
              <a:gdLst/>
              <a:ahLst/>
              <a:cxnLst/>
              <a:rect r="r" b="b" t="t" l="l"/>
              <a:pathLst>
                <a:path h="3823462" w="6827520">
                  <a:moveTo>
                    <a:pt x="0" y="0"/>
                  </a:moveTo>
                  <a:lnTo>
                    <a:pt x="6827520" y="0"/>
                  </a:lnTo>
                  <a:lnTo>
                    <a:pt x="6827520" y="3823462"/>
                  </a:lnTo>
                  <a:lnTo>
                    <a:pt x="0" y="3823462"/>
                  </a:lnTo>
                  <a:lnTo>
                    <a:pt x="0" y="0"/>
                  </a:lnTo>
                  <a:close/>
                </a:path>
              </a:pathLst>
            </a:custGeom>
            <a:blipFill>
              <a:blip r:embed="rId7"/>
              <a:stretch>
                <a:fillRect l="0" t="0" r="0" b="1"/>
              </a:stretch>
            </a:blipFill>
          </p:spPr>
        </p:sp>
      </p:grpSp>
      <p:sp>
        <p:nvSpPr>
          <p:cNvPr name="TextBox 28" id="28"/>
          <p:cNvSpPr txBox="true"/>
          <p:nvPr/>
        </p:nvSpPr>
        <p:spPr>
          <a:xfrm rot="0">
            <a:off x="14630400" y="2503170"/>
            <a:ext cx="2651760" cy="8801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 2 · Lahan (P4)</a:t>
            </a:r>
          </a:p>
        </p:txBody>
      </p:sp>
      <p:sp>
        <p:nvSpPr>
          <p:cNvPr name="TextBox 29" id="29"/>
          <p:cNvSpPr txBox="true"/>
          <p:nvPr/>
        </p:nvSpPr>
        <p:spPr>
          <a:xfrm rot="0">
            <a:off x="14630400" y="3345180"/>
            <a:ext cx="2651760" cy="2186940"/>
          </a:xfrm>
          <a:prstGeom prst="rect">
            <a:avLst/>
          </a:prstGeom>
        </p:spPr>
        <p:txBody>
          <a:bodyPr anchor="t" rtlCol="false" tIns="0" lIns="0" bIns="0" rIns="0">
            <a:spAutoFit/>
          </a:bodyPr>
          <a:lstStyle/>
          <a:p>
            <a:pPr algn="l">
              <a:lnSpc>
                <a:spcPts val="1680"/>
              </a:lnSpc>
            </a:pPr>
            <a:r>
              <a:rPr lang="en-US" sz="1250">
                <a:solidFill>
                  <a:srgbClr val="14313B"/>
                </a:solidFill>
                <a:latin typeface="Calibri (MS)"/>
                <a:ea typeface="Calibri (MS)"/>
                <a:cs typeface="Calibri (MS)"/>
                <a:sym typeface="Calibri (MS)"/>
              </a:rPr>
              <a:t>Optimum k = 0,0639 di dalam rentang; perbaikan 14,76%, komponen bias U1 0,4250 → 0,0755. Sementara diadopsi.</a:t>
            </a:r>
          </a:p>
        </p:txBody>
      </p:sp>
      <p:grpSp>
        <p:nvGrpSpPr>
          <p:cNvPr name="Group 30" id="30"/>
          <p:cNvGrpSpPr/>
          <p:nvPr/>
        </p:nvGrpSpPr>
        <p:grpSpPr>
          <a:xfrm rot="0">
            <a:off x="813435" y="5796915"/>
            <a:ext cx="8202930" cy="3356610"/>
            <a:chOff x="0" y="0"/>
            <a:chExt cx="10937240" cy="4475480"/>
          </a:xfrm>
        </p:grpSpPr>
        <p:sp>
          <p:nvSpPr>
            <p:cNvPr name="Freeform 31" id="31"/>
            <p:cNvSpPr/>
            <p:nvPr/>
          </p:nvSpPr>
          <p:spPr>
            <a:xfrm flipH="false" flipV="false" rot="0">
              <a:off x="0" y="0"/>
              <a:ext cx="10937240" cy="4475480"/>
            </a:xfrm>
            <a:custGeom>
              <a:avLst/>
              <a:gdLst/>
              <a:ahLst/>
              <a:cxnLst/>
              <a:rect r="r" b="b" t="t" l="l"/>
              <a:pathLst>
                <a:path h="4475480" w="10937240">
                  <a:moveTo>
                    <a:pt x="0" y="171577"/>
                  </a:moveTo>
                  <a:cubicBezTo>
                    <a:pt x="0" y="76835"/>
                    <a:pt x="76835" y="0"/>
                    <a:pt x="171577" y="0"/>
                  </a:cubicBezTo>
                  <a:lnTo>
                    <a:pt x="10765663" y="0"/>
                  </a:lnTo>
                  <a:cubicBezTo>
                    <a:pt x="10860405" y="0"/>
                    <a:pt x="10937240" y="76835"/>
                    <a:pt x="10937240" y="171577"/>
                  </a:cubicBezTo>
                  <a:lnTo>
                    <a:pt x="10937240" y="4303903"/>
                  </a:lnTo>
                  <a:cubicBezTo>
                    <a:pt x="10937240" y="4398645"/>
                    <a:pt x="10860405" y="4475480"/>
                    <a:pt x="10765663" y="4475480"/>
                  </a:cubicBezTo>
                  <a:lnTo>
                    <a:pt x="171577" y="4475480"/>
                  </a:lnTo>
                  <a:cubicBezTo>
                    <a:pt x="76835" y="4475480"/>
                    <a:pt x="0" y="4398645"/>
                    <a:pt x="0" y="4303903"/>
                  </a:cubicBezTo>
                  <a:close/>
                </a:path>
              </a:pathLst>
            </a:custGeom>
            <a:solidFill>
              <a:srgbClr val="FFFFFF"/>
            </a:solidFill>
            <a:ln w="19050" cap="sq">
              <a:solidFill>
                <a:srgbClr val="CFE5E9"/>
              </a:solidFill>
              <a:prstDash val="solid"/>
              <a:miter/>
            </a:ln>
          </p:spPr>
        </p:sp>
      </p:grpSp>
      <p:grpSp>
        <p:nvGrpSpPr>
          <p:cNvPr name="Group 32" id="32"/>
          <p:cNvGrpSpPr/>
          <p:nvPr/>
        </p:nvGrpSpPr>
        <p:grpSpPr>
          <a:xfrm rot="0">
            <a:off x="914400" y="6052823"/>
            <a:ext cx="5120640" cy="2844803"/>
            <a:chOff x="0" y="0"/>
            <a:chExt cx="6827520" cy="3793071"/>
          </a:xfrm>
        </p:grpSpPr>
        <p:sp>
          <p:nvSpPr>
            <p:cNvPr name="Freeform 33" id="33" descr="tahap3_punggung_identifikasi.png"/>
            <p:cNvSpPr/>
            <p:nvPr/>
          </p:nvSpPr>
          <p:spPr>
            <a:xfrm flipH="false" flipV="false" rot="0">
              <a:off x="0" y="0"/>
              <a:ext cx="6827520" cy="3793109"/>
            </a:xfrm>
            <a:custGeom>
              <a:avLst/>
              <a:gdLst/>
              <a:ahLst/>
              <a:cxnLst/>
              <a:rect r="r" b="b" t="t" l="l"/>
              <a:pathLst>
                <a:path h="3793109" w="6827520">
                  <a:moveTo>
                    <a:pt x="0" y="0"/>
                  </a:moveTo>
                  <a:lnTo>
                    <a:pt x="6827520" y="0"/>
                  </a:lnTo>
                  <a:lnTo>
                    <a:pt x="6827520" y="3793109"/>
                  </a:lnTo>
                  <a:lnTo>
                    <a:pt x="0" y="3793109"/>
                  </a:lnTo>
                  <a:lnTo>
                    <a:pt x="0" y="0"/>
                  </a:lnTo>
                  <a:close/>
                </a:path>
              </a:pathLst>
            </a:custGeom>
            <a:blipFill>
              <a:blip r:embed="rId8"/>
              <a:stretch>
                <a:fillRect l="0" t="0" r="0" b="1"/>
              </a:stretch>
            </a:blipFill>
          </p:spPr>
        </p:sp>
      </p:grpSp>
      <p:sp>
        <p:nvSpPr>
          <p:cNvPr name="TextBox 34" id="34"/>
          <p:cNvSpPr txBox="true"/>
          <p:nvPr/>
        </p:nvSpPr>
        <p:spPr>
          <a:xfrm rot="0">
            <a:off x="6172200" y="6023610"/>
            <a:ext cx="2651760" cy="8801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 3 · Wisatawan (diagnostik)</a:t>
            </a:r>
          </a:p>
        </p:txBody>
      </p:sp>
      <p:sp>
        <p:nvSpPr>
          <p:cNvPr name="TextBox 35" id="35"/>
          <p:cNvSpPr txBox="true"/>
          <p:nvPr/>
        </p:nvSpPr>
        <p:spPr>
          <a:xfrm rot="0">
            <a:off x="6172200" y="6865620"/>
            <a:ext cx="2651760" cy="2186940"/>
          </a:xfrm>
          <a:prstGeom prst="rect">
            <a:avLst/>
          </a:prstGeom>
        </p:spPr>
        <p:txBody>
          <a:bodyPr anchor="t" rtlCol="false" tIns="0" lIns="0" bIns="0" rIns="0">
            <a:spAutoFit/>
          </a:bodyPr>
          <a:lstStyle/>
          <a:p>
            <a:pPr algn="l">
              <a:lnSpc>
                <a:spcPts val="1680"/>
              </a:lnSpc>
            </a:pPr>
            <a:r>
              <a:rPr lang="en-US" sz="1250">
                <a:solidFill>
                  <a:srgbClr val="14313B"/>
                </a:solidFill>
                <a:latin typeface="Calibri (MS)"/>
                <a:ea typeface="Calibri (MS)"/>
                <a:cs typeface="Calibri (MS)"/>
                <a:sym typeface="Calibri (MS)"/>
              </a:rPr>
              <a:t>Punggung himpunan indiferen: LPE dan rasio LPD/LPE tidak teridentifikasi terpisah; data hanya mengidentifikasi selisih bersih. Dipertahankan.</a:t>
            </a:r>
          </a:p>
        </p:txBody>
      </p:sp>
      <p:grpSp>
        <p:nvGrpSpPr>
          <p:cNvPr name="Group 36" id="36"/>
          <p:cNvGrpSpPr/>
          <p:nvPr/>
        </p:nvGrpSpPr>
        <p:grpSpPr>
          <a:xfrm rot="0">
            <a:off x="9271635" y="5796915"/>
            <a:ext cx="8202930" cy="3356610"/>
            <a:chOff x="0" y="0"/>
            <a:chExt cx="10937240" cy="4475480"/>
          </a:xfrm>
        </p:grpSpPr>
        <p:sp>
          <p:nvSpPr>
            <p:cNvPr name="Freeform 37" id="37"/>
            <p:cNvSpPr/>
            <p:nvPr/>
          </p:nvSpPr>
          <p:spPr>
            <a:xfrm flipH="false" flipV="false" rot="0">
              <a:off x="0" y="0"/>
              <a:ext cx="10937240" cy="4475480"/>
            </a:xfrm>
            <a:custGeom>
              <a:avLst/>
              <a:gdLst/>
              <a:ahLst/>
              <a:cxnLst/>
              <a:rect r="r" b="b" t="t" l="l"/>
              <a:pathLst>
                <a:path h="4475480" w="10937240">
                  <a:moveTo>
                    <a:pt x="0" y="171577"/>
                  </a:moveTo>
                  <a:cubicBezTo>
                    <a:pt x="0" y="76835"/>
                    <a:pt x="76835" y="0"/>
                    <a:pt x="171577" y="0"/>
                  </a:cubicBezTo>
                  <a:lnTo>
                    <a:pt x="10765663" y="0"/>
                  </a:lnTo>
                  <a:cubicBezTo>
                    <a:pt x="10860405" y="0"/>
                    <a:pt x="10937240" y="76835"/>
                    <a:pt x="10937240" y="171577"/>
                  </a:cubicBezTo>
                  <a:lnTo>
                    <a:pt x="10937240" y="4303903"/>
                  </a:lnTo>
                  <a:cubicBezTo>
                    <a:pt x="10937240" y="4398645"/>
                    <a:pt x="10860405" y="4475480"/>
                    <a:pt x="10765663" y="4475480"/>
                  </a:cubicBezTo>
                  <a:lnTo>
                    <a:pt x="171577" y="4475480"/>
                  </a:lnTo>
                  <a:cubicBezTo>
                    <a:pt x="76835" y="4475480"/>
                    <a:pt x="0" y="4398645"/>
                    <a:pt x="0" y="4303903"/>
                  </a:cubicBezTo>
                  <a:close/>
                </a:path>
              </a:pathLst>
            </a:custGeom>
            <a:solidFill>
              <a:srgbClr val="FFFFFF"/>
            </a:solidFill>
            <a:ln w="19050" cap="sq">
              <a:solidFill>
                <a:srgbClr val="CFE5E9"/>
              </a:solidFill>
              <a:prstDash val="solid"/>
              <a:miter/>
            </a:ln>
          </p:spPr>
        </p:sp>
      </p:grpSp>
      <p:grpSp>
        <p:nvGrpSpPr>
          <p:cNvPr name="Group 38" id="38"/>
          <p:cNvGrpSpPr/>
          <p:nvPr/>
        </p:nvGrpSpPr>
        <p:grpSpPr>
          <a:xfrm rot="0">
            <a:off x="9372600" y="5939028"/>
            <a:ext cx="5120640" cy="3072384"/>
            <a:chOff x="0" y="0"/>
            <a:chExt cx="6827520" cy="4096512"/>
          </a:xfrm>
        </p:grpSpPr>
        <p:sp>
          <p:nvSpPr>
            <p:cNvPr name="Freeform 39" id="39" descr="tahap4_lahan_uji_B.png"/>
            <p:cNvSpPr/>
            <p:nvPr/>
          </p:nvSpPr>
          <p:spPr>
            <a:xfrm flipH="false" flipV="false" rot="0">
              <a:off x="0" y="0"/>
              <a:ext cx="6827520" cy="4096512"/>
            </a:xfrm>
            <a:custGeom>
              <a:avLst/>
              <a:gdLst/>
              <a:ahLst/>
              <a:cxnLst/>
              <a:rect r="r" b="b" t="t" l="l"/>
              <a:pathLst>
                <a:path h="4096512" w="6827520">
                  <a:moveTo>
                    <a:pt x="0" y="0"/>
                  </a:moveTo>
                  <a:lnTo>
                    <a:pt x="6827520" y="0"/>
                  </a:lnTo>
                  <a:lnTo>
                    <a:pt x="6827520" y="4096512"/>
                  </a:lnTo>
                  <a:lnTo>
                    <a:pt x="0" y="4096512"/>
                  </a:lnTo>
                  <a:lnTo>
                    <a:pt x="0" y="0"/>
                  </a:lnTo>
                  <a:close/>
                </a:path>
              </a:pathLst>
            </a:custGeom>
            <a:blipFill>
              <a:blip r:embed="rId9"/>
              <a:stretch>
                <a:fillRect l="0" t="0" r="0" b="0"/>
              </a:stretch>
            </a:blipFill>
          </p:spPr>
        </p:sp>
      </p:grpSp>
      <p:sp>
        <p:nvSpPr>
          <p:cNvPr name="TextBox 40" id="40"/>
          <p:cNvSpPr txBox="true"/>
          <p:nvPr/>
        </p:nvSpPr>
        <p:spPr>
          <a:xfrm rot="0">
            <a:off x="14630400" y="6023610"/>
            <a:ext cx="2651760" cy="8801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 4 · Kompatibilitas</a:t>
            </a:r>
          </a:p>
        </p:txBody>
      </p:sp>
      <p:sp>
        <p:nvSpPr>
          <p:cNvPr name="TextBox 41" id="41"/>
          <p:cNvSpPr txBox="true"/>
          <p:nvPr/>
        </p:nvSpPr>
        <p:spPr>
          <a:xfrm rot="0">
            <a:off x="14630400" y="6865620"/>
            <a:ext cx="2651760" cy="2186940"/>
          </a:xfrm>
          <a:prstGeom prst="rect">
            <a:avLst/>
          </a:prstGeom>
        </p:spPr>
        <p:txBody>
          <a:bodyPr anchor="t" rtlCol="false" tIns="0" lIns="0" bIns="0" rIns="0">
            <a:spAutoFit/>
          </a:bodyPr>
          <a:lstStyle/>
          <a:p>
            <a:pPr algn="l">
              <a:lnSpc>
                <a:spcPts val="1680"/>
              </a:lnSpc>
            </a:pPr>
            <a:r>
              <a:rPr lang="en-US" sz="1250">
                <a:solidFill>
                  <a:srgbClr val="14313B"/>
                </a:solidFill>
                <a:latin typeface="Calibri (MS)"/>
                <a:ea typeface="Calibri (MS)"/>
                <a:cs typeface="Calibri (MS)"/>
                <a:sym typeface="Calibri (MS)"/>
              </a:rPr>
              <a:t>Nilai Tahap 2 memperburuk lahan terbangun pada uji penuh: NRMSE 0,1796 → 0,2378 (rasio 1,32 &gt; 1,05). Ditolak; kembali ke 0,0436052.</a:t>
            </a:r>
          </a:p>
        </p:txBody>
      </p:sp>
    </p:spTree>
  </p:cSld>
  <p:clrMapOvr>
    <a:masterClrMapping/>
  </p:clrMapOvr>
</p:sld>
</file>

<file path=ppt/slides/slide8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14 · Sensitivitas ±10% pada lima keluaran lain dan rentang penuh</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89</a:t>
            </a:r>
          </a:p>
        </p:txBody>
      </p:sp>
      <p:grpSp>
        <p:nvGrpSpPr>
          <p:cNvPr name="Group 18" id="18"/>
          <p:cNvGrpSpPr/>
          <p:nvPr/>
        </p:nvGrpSpPr>
        <p:grpSpPr>
          <a:xfrm rot="0">
            <a:off x="1737360" y="2240280"/>
            <a:ext cx="3566160" cy="3090672"/>
            <a:chOff x="0" y="0"/>
            <a:chExt cx="4754880" cy="4120896"/>
          </a:xfrm>
        </p:grpSpPr>
        <p:sp>
          <p:nvSpPr>
            <p:cNvPr name="Freeform 19" id="19" descr="tornado_PDRB.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6"/>
              <a:stretch>
                <a:fillRect l="0" t="0" r="0" b="0"/>
              </a:stretch>
            </a:blipFill>
          </p:spPr>
        </p:sp>
      </p:grpSp>
      <p:sp>
        <p:nvSpPr>
          <p:cNvPr name="TextBox 20" id="20"/>
          <p:cNvSpPr txBox="true"/>
          <p:nvPr/>
        </p:nvSpPr>
        <p:spPr>
          <a:xfrm rot="0">
            <a:off x="822960" y="5283327"/>
            <a:ext cx="5394960" cy="367665"/>
          </a:xfrm>
          <a:prstGeom prst="rect">
            <a:avLst/>
          </a:prstGeom>
        </p:spPr>
        <p:txBody>
          <a:bodyPr anchor="t" rtlCol="false" tIns="0" lIns="0" bIns="0" rIns="0">
            <a:spAutoFit/>
          </a:bodyPr>
          <a:lstStyle/>
          <a:p>
            <a:pPr algn="ctr">
              <a:lnSpc>
                <a:spcPts val="1747"/>
              </a:lnSpc>
            </a:pPr>
            <a:r>
              <a:rPr lang="en-US" sz="1299" b="true">
                <a:solidFill>
                  <a:srgbClr val="0B5E6E"/>
                </a:solidFill>
                <a:latin typeface="Calibri (MS) Bold"/>
                <a:ea typeface="Calibri (MS) Bold"/>
                <a:cs typeface="Calibri (MS) Bold"/>
                <a:sym typeface="Calibri (MS) Bold"/>
              </a:rPr>
              <a:t>PDRB sektor pariwisata</a:t>
            </a:r>
          </a:p>
        </p:txBody>
      </p:sp>
      <p:grpSp>
        <p:nvGrpSpPr>
          <p:cNvPr name="Group 21" id="21"/>
          <p:cNvGrpSpPr/>
          <p:nvPr/>
        </p:nvGrpSpPr>
        <p:grpSpPr>
          <a:xfrm rot="0">
            <a:off x="7360920" y="2240280"/>
            <a:ext cx="3566160" cy="3090672"/>
            <a:chOff x="0" y="0"/>
            <a:chExt cx="4754880" cy="4120896"/>
          </a:xfrm>
        </p:grpSpPr>
        <p:sp>
          <p:nvSpPr>
            <p:cNvPr name="Freeform 22" id="22" descr="tornado_Lahan.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7"/>
              <a:stretch>
                <a:fillRect l="0" t="0" r="0" b="0"/>
              </a:stretch>
            </a:blipFill>
          </p:spPr>
        </p:sp>
      </p:grpSp>
      <p:sp>
        <p:nvSpPr>
          <p:cNvPr name="TextBox 23" id="23"/>
          <p:cNvSpPr txBox="true"/>
          <p:nvPr/>
        </p:nvSpPr>
        <p:spPr>
          <a:xfrm rot="0">
            <a:off x="6446520" y="5283327"/>
            <a:ext cx="5394960" cy="367665"/>
          </a:xfrm>
          <a:prstGeom prst="rect">
            <a:avLst/>
          </a:prstGeom>
        </p:spPr>
        <p:txBody>
          <a:bodyPr anchor="t" rtlCol="false" tIns="0" lIns="0" bIns="0" rIns="0">
            <a:spAutoFit/>
          </a:bodyPr>
          <a:lstStyle/>
          <a:p>
            <a:pPr algn="ctr">
              <a:lnSpc>
                <a:spcPts val="1747"/>
              </a:lnSpc>
            </a:pPr>
            <a:r>
              <a:rPr lang="en-US" sz="1299" b="true">
                <a:solidFill>
                  <a:srgbClr val="0B5E6E"/>
                </a:solidFill>
                <a:latin typeface="Calibri (MS) Bold"/>
                <a:ea typeface="Calibri (MS) Bold"/>
                <a:cs typeface="Calibri (MS) Bold"/>
                <a:sym typeface="Calibri (MS) Bold"/>
              </a:rPr>
              <a:t>Lahan terbangun</a:t>
            </a:r>
          </a:p>
        </p:txBody>
      </p:sp>
      <p:grpSp>
        <p:nvGrpSpPr>
          <p:cNvPr name="Group 24" id="24"/>
          <p:cNvGrpSpPr/>
          <p:nvPr/>
        </p:nvGrpSpPr>
        <p:grpSpPr>
          <a:xfrm rot="0">
            <a:off x="12984480" y="2240280"/>
            <a:ext cx="3566160" cy="3090672"/>
            <a:chOff x="0" y="0"/>
            <a:chExt cx="4754880" cy="4120896"/>
          </a:xfrm>
        </p:grpSpPr>
        <p:sp>
          <p:nvSpPr>
            <p:cNvPr name="Freeform 25" id="25" descr="tornado_Hotel.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8"/>
              <a:stretch>
                <a:fillRect l="0" t="0" r="0" b="0"/>
              </a:stretch>
            </a:blipFill>
          </p:spPr>
        </p:sp>
      </p:grpSp>
      <p:sp>
        <p:nvSpPr>
          <p:cNvPr name="TextBox 26" id="26"/>
          <p:cNvSpPr txBox="true"/>
          <p:nvPr/>
        </p:nvSpPr>
        <p:spPr>
          <a:xfrm rot="0">
            <a:off x="12070080" y="5283327"/>
            <a:ext cx="5394960" cy="367665"/>
          </a:xfrm>
          <a:prstGeom prst="rect">
            <a:avLst/>
          </a:prstGeom>
        </p:spPr>
        <p:txBody>
          <a:bodyPr anchor="t" rtlCol="false" tIns="0" lIns="0" bIns="0" rIns="0">
            <a:spAutoFit/>
          </a:bodyPr>
          <a:lstStyle/>
          <a:p>
            <a:pPr algn="ctr">
              <a:lnSpc>
                <a:spcPts val="1747"/>
              </a:lnSpc>
            </a:pPr>
            <a:r>
              <a:rPr lang="en-US" sz="1299" b="true">
                <a:solidFill>
                  <a:srgbClr val="0B5E6E"/>
                </a:solidFill>
                <a:latin typeface="Calibri (MS) Bold"/>
                <a:ea typeface="Calibri (MS) Bold"/>
                <a:cs typeface="Calibri (MS) Bold"/>
                <a:sym typeface="Calibri (MS) Bold"/>
              </a:rPr>
              <a:t>Jumlah hotel dan akomodasi</a:t>
            </a:r>
          </a:p>
        </p:txBody>
      </p:sp>
      <p:grpSp>
        <p:nvGrpSpPr>
          <p:cNvPr name="Group 27" id="27"/>
          <p:cNvGrpSpPr/>
          <p:nvPr/>
        </p:nvGrpSpPr>
        <p:grpSpPr>
          <a:xfrm rot="0">
            <a:off x="1737360" y="5760720"/>
            <a:ext cx="3566160" cy="3090672"/>
            <a:chOff x="0" y="0"/>
            <a:chExt cx="4754880" cy="4120896"/>
          </a:xfrm>
        </p:grpSpPr>
        <p:sp>
          <p:nvSpPr>
            <p:cNvPr name="Freeform 28" id="28" descr="tornado_Tenaga_Kerja.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9"/>
              <a:stretch>
                <a:fillRect l="0" t="0" r="0" b="0"/>
              </a:stretch>
            </a:blipFill>
          </p:spPr>
        </p:sp>
      </p:grpSp>
      <p:sp>
        <p:nvSpPr>
          <p:cNvPr name="TextBox 29" id="29"/>
          <p:cNvSpPr txBox="true"/>
          <p:nvPr/>
        </p:nvSpPr>
        <p:spPr>
          <a:xfrm rot="0">
            <a:off x="822960" y="8803767"/>
            <a:ext cx="5394960" cy="367665"/>
          </a:xfrm>
          <a:prstGeom prst="rect">
            <a:avLst/>
          </a:prstGeom>
        </p:spPr>
        <p:txBody>
          <a:bodyPr anchor="t" rtlCol="false" tIns="0" lIns="0" bIns="0" rIns="0">
            <a:spAutoFit/>
          </a:bodyPr>
          <a:lstStyle/>
          <a:p>
            <a:pPr algn="ctr">
              <a:lnSpc>
                <a:spcPts val="1747"/>
              </a:lnSpc>
            </a:pPr>
            <a:r>
              <a:rPr lang="en-US" sz="1299" b="true">
                <a:solidFill>
                  <a:srgbClr val="0B5E6E"/>
                </a:solidFill>
                <a:latin typeface="Calibri (MS) Bold"/>
                <a:ea typeface="Calibri (MS) Bold"/>
                <a:cs typeface="Calibri (MS) Bold"/>
                <a:sym typeface="Calibri (MS) Bold"/>
              </a:rPr>
              <a:t>Tenaga kerja pariwisata</a:t>
            </a:r>
          </a:p>
        </p:txBody>
      </p:sp>
      <p:grpSp>
        <p:nvGrpSpPr>
          <p:cNvPr name="Group 30" id="30"/>
          <p:cNvGrpSpPr/>
          <p:nvPr/>
        </p:nvGrpSpPr>
        <p:grpSpPr>
          <a:xfrm rot="0">
            <a:off x="7360920" y="5760720"/>
            <a:ext cx="3566160" cy="3090672"/>
            <a:chOff x="0" y="0"/>
            <a:chExt cx="4754880" cy="4120896"/>
          </a:xfrm>
        </p:grpSpPr>
        <p:sp>
          <p:nvSpPr>
            <p:cNvPr name="Freeform 31" id="31" descr="tornado_ODTW.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10"/>
              <a:stretch>
                <a:fillRect l="0" t="0" r="0" b="0"/>
              </a:stretch>
            </a:blipFill>
          </p:spPr>
        </p:sp>
      </p:grpSp>
      <p:sp>
        <p:nvSpPr>
          <p:cNvPr name="TextBox 32" id="32"/>
          <p:cNvSpPr txBox="true"/>
          <p:nvPr/>
        </p:nvSpPr>
        <p:spPr>
          <a:xfrm rot="0">
            <a:off x="6446520" y="8803767"/>
            <a:ext cx="5394960" cy="367665"/>
          </a:xfrm>
          <a:prstGeom prst="rect">
            <a:avLst/>
          </a:prstGeom>
        </p:spPr>
        <p:txBody>
          <a:bodyPr anchor="t" rtlCol="false" tIns="0" lIns="0" bIns="0" rIns="0">
            <a:spAutoFit/>
          </a:bodyPr>
          <a:lstStyle/>
          <a:p>
            <a:pPr algn="ctr">
              <a:lnSpc>
                <a:spcPts val="1747"/>
              </a:lnSpc>
            </a:pPr>
            <a:r>
              <a:rPr lang="en-US" sz="1299" b="true">
                <a:solidFill>
                  <a:srgbClr val="0B5E6E"/>
                </a:solidFill>
                <a:latin typeface="Calibri (MS) Bold"/>
                <a:ea typeface="Calibri (MS) Bold"/>
                <a:cs typeface="Calibri (MS) Bold"/>
                <a:sym typeface="Calibri (MS) Bold"/>
              </a:rPr>
              <a:t>Jumlah ODTW</a:t>
            </a:r>
          </a:p>
        </p:txBody>
      </p:sp>
      <p:graphicFrame>
        <p:nvGraphicFramePr>
          <p:cNvPr name="Table 33" id="33"/>
          <p:cNvGraphicFramePr>
            <a:graphicFrameLocks noGrp="true"/>
          </p:cNvGraphicFramePr>
          <p:nvPr/>
        </p:nvGraphicFramePr>
        <p:xfrm>
          <a:off x="12070080" y="5852160"/>
          <a:ext cx="5384800" cy="2946400"/>
        </p:xfrm>
        <a:graphic>
          <a:graphicData uri="http://schemas.openxmlformats.org/drawingml/2006/table">
            <a:tbl>
              <a:tblPr/>
              <a:tblGrid>
                <a:gridCol w="2372963"/>
                <a:gridCol w="1186481"/>
                <a:gridCol w="912678"/>
                <a:gridCol w="912678"/>
              </a:tblGrid>
              <a:tr h="385306">
                <a:tc>
                  <a:txBody>
                    <a:bodyPr anchor="t" rtlCol="false"/>
                    <a:lstStyle/>
                    <a:p>
                      <a:pPr algn="l">
                        <a:lnSpc>
                          <a:spcPts val="1260"/>
                        </a:lnSpc>
                        <a:defRPr/>
                      </a:pPr>
                      <a:r>
                        <a:rPr lang="en-US" sz="1050" b="true">
                          <a:solidFill>
                            <a:srgbClr val="FFFFFF"/>
                          </a:solidFill>
                          <a:latin typeface="Calibri (MS) Bold"/>
                          <a:ea typeface="Calibri (MS) Bold"/>
                          <a:cs typeface="Calibri (MS) Bold"/>
                          <a:sym typeface="Calibri (MS) Bold"/>
                        </a:rPr>
                        <a:t>Parameter (rentang penuh)</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260"/>
                        </a:lnSpc>
                        <a:defRPr/>
                      </a:pPr>
                      <a:r>
                        <a:rPr lang="en-US" sz="1050" b="true">
                          <a:solidFill>
                            <a:srgbClr val="FFFFFF"/>
                          </a:solidFill>
                          <a:latin typeface="Calibri (MS) Bold"/>
                          <a:ea typeface="Calibri (MS) Bold"/>
                          <a:cs typeface="Calibri (MS) Bold"/>
                          <a:sym typeface="Calibri (MS) Bold"/>
                        </a:rPr>
                        <a:t>Rentang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260"/>
                        </a:lnSpc>
                        <a:defRPr/>
                      </a:pPr>
                      <a:r>
                        <a:rPr lang="en-US" sz="1050" b="true">
                          <a:solidFill>
                            <a:srgbClr val="FFFFFF"/>
                          </a:solidFill>
                          <a:latin typeface="Calibri (MS) Bold"/>
                          <a:ea typeface="Calibri (MS) Bold"/>
                          <a:cs typeface="Calibri (MS) Bold"/>
                          <a:sym typeface="Calibri (MS) Bold"/>
                        </a:rPr>
                        <a:t>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260"/>
                        </a:lnSpc>
                        <a:defRPr/>
                      </a:pPr>
                      <a:r>
                        <a:rPr lang="en-US" sz="1050" b="true">
                          <a:solidFill>
                            <a:srgbClr val="FFFFFF"/>
                          </a:solidFill>
                          <a:latin typeface="Calibri (MS) Bold"/>
                          <a:ea typeface="Calibri (MS) Bold"/>
                          <a:cs typeface="Calibri (MS) Bold"/>
                          <a:sym typeface="Calibri (MS) Bold"/>
                        </a:rPr>
                        <a:t>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Rasio LPD/LPE (LPE tetap)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0,60–0,90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153,57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Rasio LPD/LPE (LPE diturunkan ulang)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0,60–0,90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69,65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Bobot daya tarik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3 kombinasi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48,10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0,24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Laju konversi dasar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SK 95%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30,64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115,70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Elastisitas daya tarik ODTW</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0,2–0,4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12,49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Insentif kebijakan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0,1–0,5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10,35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ODTW 2025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189–218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1,51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Konservasi 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0,25–1,0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0,68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
        <p:nvSpPr>
          <p:cNvPr name="TextBox 34" id="34"/>
          <p:cNvSpPr txBox="true"/>
          <p:nvPr/>
        </p:nvSpPr>
        <p:spPr>
          <a:xfrm rot="0">
            <a:off x="12070080" y="8877300"/>
            <a:ext cx="5394960" cy="358140"/>
          </a:xfrm>
          <a:prstGeom prst="rect">
            <a:avLst/>
          </a:prstGeom>
        </p:spPr>
        <p:txBody>
          <a:bodyPr anchor="t" rtlCol="false" tIns="0" lIns="0" bIns="0" rIns="0">
            <a:spAutoFit/>
          </a:bodyPr>
          <a:lstStyle/>
          <a:p>
            <a:pPr algn="l">
              <a:lnSpc>
                <a:spcPts val="1478"/>
              </a:lnSpc>
            </a:pPr>
            <a:r>
              <a:rPr lang="en-US" sz="1100">
                <a:solidFill>
                  <a:srgbClr val="5E6E78"/>
                </a:solidFill>
                <a:latin typeface="Calibri (MS)"/>
                <a:ea typeface="Calibri (MS)"/>
                <a:cs typeface="Calibri (MS)"/>
                <a:sym typeface="Calibri (MS)"/>
              </a:rPr>
              <a:t>Lebar rentang dalam poin persen</a:t>
            </a:r>
          </a:p>
        </p:txBody>
      </p:sp>
    </p:spTree>
  </p:cSld>
  <p:clrMapOvr>
    <a:masterClrMapping/>
  </p:clrMapOvr>
</p:sld>
</file>

<file path=ppt/slides/slide9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15 · Persamaan kunci model (Vensim, model final)</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90</a:t>
            </a:r>
          </a:p>
        </p:txBody>
      </p:sp>
      <p:graphicFrame>
        <p:nvGraphicFramePr>
          <p:cNvPr name="Table 18" id="18"/>
          <p:cNvGraphicFramePr>
            <a:graphicFrameLocks noGrp="true"/>
          </p:cNvGraphicFramePr>
          <p:nvPr/>
        </p:nvGraphicFramePr>
        <p:xfrm>
          <a:off x="822960" y="2286000"/>
          <a:ext cx="16637000" cy="6731000"/>
        </p:xfrm>
        <a:graphic>
          <a:graphicData uri="http://schemas.openxmlformats.org/drawingml/2006/table">
            <a:tbl>
              <a:tblPr/>
              <a:tblGrid>
                <a:gridCol w="4204956"/>
                <a:gridCol w="12432044"/>
              </a:tblGrid>
              <a:tr h="437046">
                <a:tc>
                  <a:txBody>
                    <a:bodyPr anchor="t" rtlCol="false"/>
                    <a:lstStyle/>
                    <a:p>
                      <a:pPr algn="l">
                        <a:lnSpc>
                          <a:spcPts val="1620"/>
                        </a:lnSpc>
                        <a:defRPr/>
                      </a:pPr>
                      <a:r>
                        <a:rPr lang="en-US" sz="1350" b="true">
                          <a:solidFill>
                            <a:srgbClr val="FFFFFF"/>
                          </a:solidFill>
                          <a:latin typeface="Calibri (MS) Bold"/>
                          <a:ea typeface="Calibri (MS) Bold"/>
                          <a:cs typeface="Calibri (MS) Bold"/>
                          <a:sym typeface="Calibri (MS) Bold"/>
                        </a:rPr>
                        <a:t>Variabel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620"/>
                        </a:lnSpc>
                        <a:defRPr/>
                      </a:pPr>
                      <a:r>
                        <a:rPr lang="en-US" sz="1350" b="true">
                          <a:solidFill>
                            <a:srgbClr val="FFFFFF"/>
                          </a:solidFill>
                          <a:latin typeface="Calibri (MS) Bold"/>
                          <a:ea typeface="Calibri (MS) Bold"/>
                          <a:cs typeface="Calibri (MS) Bold"/>
                          <a:sym typeface="Calibri (MS) Bold"/>
                        </a:rPr>
                        <a:t>Persamaan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Stok (umum)</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Stok(t + dt) = Stok(t) + (aliran masuk − aliran keluar) × dt;  dt = 1 tahun (Euler)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Kedatangan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Jumlah Wisatawan × Laju Pertumbuhan Eksternal × Daya Tarik Destinasi 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Penurunan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Jumlah Wisatawan × Laju Penurunan Dasar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Daya Tarik Destinasi 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0,40 × MIN(1,5; (ODTW ÷ ODTW Referensi)^0,3) + 0,35 × MIN(1; Kepadatan Referensi ÷ Kepadatan) + 0,25 × (RDDL ÷ RDDL Referensi)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Kepadatan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Jumlah Wisatawan ÷ Luas Lahan Tersedia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PDRB Sektor 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(Jumlah Wisatawan × Pengeluaran per Kunjungan) × Rasio Nilai Tambah 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Investasi Sektor 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PDRB × Rasio Investasi terhadap PDRB × (1 + Insentif Kebijakan)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Rasio Permintaan thd Kapasitas Kamar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(Total Malam Menginap ÷ TPG) ÷ (Jumlah Hotel × Kamar per Unit × Malam Tersedia per Kamar);  TPK = MIN(1; rasio)</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Konstruksi Hotel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Investasi × Sensitivitas Konstruksi thd TPK × MAX(0; Rasio Permintaan − TPK Ambang)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Pembangunan ODTW</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Investasi × Sensitivitas ODTW thd Investasi + Laju Pembangunan ODTW Non Investasi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Penyerapan Tenaga Kerja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MAX(0; Laju Keluar TK + (PDRB × Intensitas TK − Tenaga Kerja) ÷ Waktu Penyesuaian)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Konversi Lahan 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(Konstruksi × Lahan per Hotel + Pembangunan ODTW × Lahan per ODTW) × (1 − Konservasi Lahan) × (RDDL ÷ RDDL Referensi)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Konversi Non-Pariwisata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Laju Konversi Dasar × Lahan Terbangun × RDDL;  RDDL = MAX(0; 1 − Lahan Terbangun ÷ Luas Lahan Tersedia)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16 · Data historis 2015–2025</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91</a:t>
            </a:r>
          </a:p>
        </p:txBody>
      </p:sp>
      <p:graphicFrame>
        <p:nvGraphicFramePr>
          <p:cNvPr name="Table 18" id="18"/>
          <p:cNvGraphicFramePr>
            <a:graphicFrameLocks noGrp="true"/>
          </p:cNvGraphicFramePr>
          <p:nvPr/>
        </p:nvGraphicFramePr>
        <p:xfrm>
          <a:off x="822960" y="2286000"/>
          <a:ext cx="16598900" cy="5715000"/>
        </p:xfrm>
        <a:graphic>
          <a:graphicData uri="http://schemas.openxmlformats.org/drawingml/2006/table">
            <a:tbl>
              <a:tblPr/>
              <a:tblGrid>
                <a:gridCol w="989339"/>
                <a:gridCol w="2528310"/>
                <a:gridCol w="1868750"/>
                <a:gridCol w="1209191"/>
                <a:gridCol w="1319118"/>
                <a:gridCol w="1978677"/>
                <a:gridCol w="2308456"/>
                <a:gridCol w="2418382"/>
                <a:gridCol w="1978677"/>
              </a:tblGrid>
              <a:tr h="669436">
                <a:tc>
                  <a:txBody>
                    <a:bodyPr anchor="t" rtlCol="false"/>
                    <a:lstStyle/>
                    <a:p>
                      <a:pPr algn="ctr">
                        <a:lnSpc>
                          <a:spcPts val="1500"/>
                        </a:lnSpc>
                        <a:defRPr/>
                      </a:pPr>
                      <a:r>
                        <a:rPr lang="en-US" sz="1250" b="true">
                          <a:solidFill>
                            <a:srgbClr val="FFFFFF"/>
                          </a:solidFill>
                          <a:latin typeface="Calibri (MS) Bold"/>
                          <a:ea typeface="Calibri (MS) Bold"/>
                          <a:cs typeface="Calibri (MS) Bold"/>
                          <a:sym typeface="Calibri (MS) Bold"/>
                        </a:rPr>
                        <a:t>Tahun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Jumlah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Hotel &amp; akomodasi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TPK (%)</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ODTW (unit)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Tenaga kerja (jiwa)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Lahan terbangun (ha)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PDRB pariwisata (miliar Rp)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Investasi (miliar Rp)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6.413.735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1.165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34,89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165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254.537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5E6E78"/>
                          </a:solidFill>
                          <a:latin typeface="Calibri (MS)"/>
                          <a:ea typeface="Calibri (MS)"/>
                          <a:cs typeface="Calibri (MS)"/>
                          <a:sym typeface="Calibri (MS)"/>
                        </a:rPr>
                        <a:t>ekstrapolasi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10.131,09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53,09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2016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6.551.294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1.170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37,72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263.878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44.561,08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10.694,03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373,84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6.644.412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1.179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45,08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171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273.563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50.223,96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11.347,59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165,39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7.996.959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1.617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45,11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177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354.684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56.624,36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12.100,99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568,33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2019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20.520.104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45,34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334.784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63.480,04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13.104,38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741,45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19.610.135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1.848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28,90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313.840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58.962,04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10.926,83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489,69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2021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22.849.394,50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1.696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27,48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310.755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59.887,53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12.097,19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848,80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2022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25.755.726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44,99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395.284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57.709,08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13.672,58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463,59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2023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30.542.580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44,77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359.340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75.624,40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14.809,20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1.175,26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2024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38.134.536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42,17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350.946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73.511,57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15.873,81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712,28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2025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40.695.654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2.291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38,07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364.994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55.029,54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16.947,62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1.325,95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
        <p:nvSpPr>
          <p:cNvPr name="TextBox 19" id="19"/>
          <p:cNvSpPr txBox="true"/>
          <p:nvPr/>
        </p:nvSpPr>
        <p:spPr>
          <a:xfrm rot="0">
            <a:off x="822960" y="8181975"/>
            <a:ext cx="16642080" cy="962025"/>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Kuning: nilai estimasi (ODTW 2015–2017 dan 2025 dari NTL; lahan 2015 ekstrapolasi log-linear, tidak dipakai menurunkan parameter). Sumber: BPS DIY dan BPS RI, BKPM, Dynamic World (Lampiran skripsi).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DAHW8YVyWwY</dc:identifier>
  <dcterms:modified xsi:type="dcterms:W3CDTF">2011-08-01T06:04:30Z</dcterms:modified>
  <cp:revision>1</cp:revision>
  <dc:title>PPT Paparan Sidang  (Final yg tidak final).pptx</dc:title>
</cp:coreProperties>
</file>