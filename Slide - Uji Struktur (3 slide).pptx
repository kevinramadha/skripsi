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2.xml" ContentType="application/vnd.openxmlformats-officedocument.drawingml.chart+xml"/>
  <Override PartName="/ppt/charts/chart4.xml" ContentType="application/vnd.openxmlformats-officedocument.drawingml.chart+xml"/>
  <Override PartName="/ppt/media/image29.svg" ContentType="image/svg+xml"/>
  <Override PartName="/ppt/media/image31.svg" ContentType="image/svg+xml"/>
  <Override PartName="/ppt/media/image41.svg" ContentType="image/svg+xml"/>
  <Override PartName="/ppt/notesMasters/notesMaster1.xml" ContentType="application/vnd.openxmlformats-officedocument.presentationml.notesMaster+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embedTrueTypeFonts="true">
  <p:sldMasterIdLst>
    <p:sldMasterId id="2147483648" r:id="rId1"/>
  </p:sldMasterIdLst>
  <p:notesMasterIdLst>
    <p:notesMasterId r:id="rId96"/>
  </p:notesMasterIdLst>
  <p:sldIdLst>
    <p:sldId id="294" r:id="rId44"/>
    <p:sldId id="295" r:id="rId45"/>
    <p:sldId id="296" r:id="rId46"/>
  </p:sldIdLst>
  <p:sldSz cx="18288000" cy="10287000"/>
  <p:notesSz cx="6858000" cy="9144000"/>
  <p:embeddedFontLst>
    <p:embeddedFont>
      <p:font typeface="Calibri (MS) Bold" charset="1" panose="020F0702030404030204"/>
      <p:regular r:id="rId99"/>
    </p:embeddedFont>
    <p:embeddedFont>
      <p:font typeface="Calibri (MS) Bold Italics" charset="1" panose="020F07020304040A0204"/>
      <p:regular r:id="rId100"/>
    </p:embeddedFont>
    <p:embeddedFont>
      <p:font typeface="Calibri (MS)" charset="1" panose="020F0502020204030204"/>
      <p:regular r:id="rId101"/>
    </p:embeddedFont>
    <p:embeddedFont>
      <p:font typeface="Montserrat" charset="1" panose="00000500000000000000"/>
      <p:regular r:id="rId105"/>
    </p:embeddedFont>
    <p:embeddedFont>
      <p:font typeface="Calibri (MS) Italics" charset="1" panose="020F05020202040A0204"/>
      <p:regular r:id="rId108"/>
    </p:embeddedFont>
    <p:embeddedFont>
      <p:font typeface="Cambria Italics" charset="1" panose="020405030504060A0204"/>
      <p:regular r:id="rId128"/>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autoAdjust="0"/>
    <p:restoredTop sz="94622" autoAdjust="0"/>
  </p:normalViewPr>
  <p:slideViewPr>
    <p:cSldViewPr>
      <p:cViewPr varScale="1">
        <p:scale>
          <a:sx n="74" d="100"/>
          <a:sy n="74" d="100"/>
        </p:scale>
        <p:origin x="-1092" y="-90"/>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esProps" Target="presProps.xml"/><Relationship Id="rId3" Type="http://schemas.openxmlformats.org/officeDocument/2006/relationships/viewProps" Target="viewProps.xml"/><Relationship Id="rId4" Type="http://schemas.openxmlformats.org/officeDocument/2006/relationships/theme" Target="theme/theme1.xml"/><Relationship Id="rId5" Type="http://schemas.openxmlformats.org/officeDocument/2006/relationships/tableStyles" Target="tableStyles.xml"/><Relationship Id="rId44" Type="http://schemas.openxmlformats.org/officeDocument/2006/relationships/slide" Target="slides/slide1.xml"/><Relationship Id="rId45" Type="http://schemas.openxmlformats.org/officeDocument/2006/relationships/slide" Target="slides/slide2.xml"/><Relationship Id="rId46" Type="http://schemas.openxmlformats.org/officeDocument/2006/relationships/slide" Target="slides/slide3.xml"/><Relationship Id="rId96" Type="http://schemas.openxmlformats.org/officeDocument/2006/relationships/notesMaster" Target="notesMasters/notesMaster1.xml"/><Relationship Id="rId97" Type="http://schemas.openxmlformats.org/officeDocument/2006/relationships/theme" Target="theme/theme2.xml"/><Relationship Id="rId99" Type="http://schemas.openxmlformats.org/officeDocument/2006/relationships/font" Target="fonts/font99.fntdata"/><Relationship Id="rId100" Type="http://schemas.openxmlformats.org/officeDocument/2006/relationships/font" Target="fonts/font100.fntdata"/><Relationship Id="rId101" Type="http://schemas.openxmlformats.org/officeDocument/2006/relationships/font" Target="fonts/font101.fntdata"/><Relationship Id="rId105" Type="http://schemas.openxmlformats.org/officeDocument/2006/relationships/font" Target="fonts/font105.fntdata"/><Relationship Id="rId108" Type="http://schemas.openxmlformats.org/officeDocument/2006/relationships/font" Target="fonts/font108.fntdata"/><Relationship Id="rId128" Type="http://schemas.openxmlformats.org/officeDocument/2006/relationships/font" Target="fonts/font128.fntdata"/></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Wisatawan 2050 (juta)</c:v>
                </c:pt>
              </c:strCache>
            </c:strRef>
          </c:tx>
          <c:dPt>
            <c:idx val="0"/>
            <c:spPr>
              <a:solidFill>
                <a:srgbClr val="5E6E78"/>
              </a:solidFill>
            </c:spPr>
          </c:dPt>
          <c:dPt>
            <c:idx val="1"/>
            <c:spPr>
              <a:solidFill>
                <a:srgbClr val="39C0D3"/>
              </a:solidFill>
            </c:spPr>
          </c:dPt>
          <c:dPt>
            <c:idx val="2"/>
            <c:spPr>
              <a:solidFill>
                <a:srgbClr val="39C0D3"/>
              </a:solidFill>
            </c:spPr>
          </c:dPt>
          <c:dPt>
            <c:idx val="3"/>
            <c:spPr>
              <a:solidFill>
                <a:srgbClr val="39C0D3"/>
              </a:solidFill>
            </c:spPr>
          </c:dPt>
          <c:dPt>
            <c:idx val="4"/>
            <c:spPr>
              <a:solidFill>
                <a:srgbClr val="39C0D3"/>
              </a:solidFill>
            </c:spPr>
          </c:dPt>
          <c:dPt>
            <c:idx val="5"/>
            <c:spPr>
              <a:solidFill>
                <a:srgbClr val="E4604F"/>
              </a:solidFill>
            </c:spPr>
          </c:dPt>
          <c:dPt>
            <c:idx val="6"/>
            <c:spPr>
              <a:solidFill>
                <a:srgbClr val="0B5E6E"/>
              </a:solidFill>
            </c:spPr>
          </c:dPt>
          <c:cat>
            <c:strRef>
              <c:f>Sheet1!$A$2:$A$8</c:f>
              <c:strCache>
                <c:ptCount val="7"/>
                <c:pt idx="0">
                  <c:v>Semua balancing loop nonaktif (tinggal R1)</c:v>
                </c:pt>
                <c:pt idx="1">
                  <c:v>Penyesuaian tenaga kerja nonaktif</c:v>
                </c:pt>
                <c:pt idx="2">
                  <c:v>Okupansi akomodasi nonaktif</c:v>
                </c:pt>
                <c:pt idx="3">
                  <c:v>R2 ekonomi–objek wisata nonaktif</c:v>
                </c:pt>
                <c:pt idx="4">
                  <c:v>Daya dukung lahan nonaktif</c:v>
                </c:pt>
                <c:pt idx="5">
                  <c:v>B1 kepadatan nonaktif</c:v>
                </c:pt>
                <c:pt idx="6">
                  <c:v>Simulasi dasar (semua loop aktif)</c:v>
                </c:pt>
              </c:strCache>
            </c:strRef>
          </c:cat>
          <c:val>
            <c:numRef>
              <c:f>Sheet1!$B$2:$B$8</c:f>
              <c:numCache>
                <c:formatCode>General</c:formatCode>
                <c:ptCount val="7"/>
                <c:pt idx="0">
                  <c:v>217.37</c:v>
                </c:pt>
                <c:pt idx="1">
                  <c:v>96.2</c:v>
                </c:pt>
                <c:pt idx="2">
                  <c:v>96.23</c:v>
                </c:pt>
                <c:pt idx="3">
                  <c:v>80.24</c:v>
                </c:pt>
                <c:pt idx="4">
                  <c:v>111.66</c:v>
                </c:pt>
                <c:pt idx="5">
                  <c:v>250.32</c:v>
                </c:pt>
                <c:pt idx="6">
                  <c:v>96.2</c:v>
                </c:pt>
              </c:numCache>
            </c:numRef>
          </c:val>
        </c:ser>
        <c:dLbls>
          <c:numFmt formatCode="0.00" sourceLinked="0"/>
          <c:txPr>
            <a:bodyPr/>
            <a:lstStyle/>
            <a:p>
              <a:pPr>
                <a:defRPr sz="1100" b="1"/>
              </a:pPr>
            </a:p>
          </c:txPr>
          <c:dLblPos val="outEnd"/>
          <c:showLegendKey val="0"/>
          <c:showVal val="1"/>
          <c:showCatName val="0"/>
          <c:showSerName val="0"/>
          <c:showPercent val="0"/>
          <c:showBubbleSize val="0"/>
          <c:showLeaderLines val="1"/>
        </c:dLbls>
        <c:gapWidth val="40"/>
        <c:axId val="-2068027336"/>
        <c:axId val="-2113994440"/>
      </c:barChart>
      <c:catAx>
        <c:axId val="-2068027336"/>
        <c:scaling>
          <c:orientation val="minMax"/>
        </c:scaling>
        <c:delete val="0"/>
        <c:axPos val="l"/>
        <c:majorTickMark val="out"/>
        <c:minorTickMark val="none"/>
        <c:tickLblPos val="nextTo"/>
        <c:spPr>
          <a:ln>
            <a:solidFill>
              <a:srgbClr val="B8C7CC"/>
            </a:solidFill>
          </a:ln>
        </c:spPr>
        <c:txPr>
          <a:bodyPr/>
          <a:lstStyle/>
          <a:p>
            <a:pPr>
              <a:defRPr sz="1100"/>
            </a:pPr>
          </a:p>
        </c:txPr>
        <c:crossAx val="-2113994440"/>
        <c:crosses val="autoZero"/>
        <c:auto val="1"/>
        <c:lblAlgn val="ctr"/>
        <c:lblOffset val="100"/>
        <c:noMultiLvlLbl val="0"/>
      </c:catAx>
      <c:valAx>
        <c:axId val="-2113994440"/>
        <c:scaling>
          <c:max val="300.0"/>
          <c:min val="0.0"/>
        </c:scaling>
        <c:delete val="0"/>
        <c:axPos val="b"/>
        <c:majorGridlines>
          <c:spPr>
            <a:ln>
              <a:solidFill>
                <a:srgbClr val="E3EEF1"/>
              </a:solidFill>
            </a:ln>
          </c:spPr>
        </c:majorGridlines>
        <c:majorTickMark val="out"/>
        <c:minorTickMark val="none"/>
        <c:tickLblPos val="nextTo"/>
        <c:spPr>
          <a:ln>
            <a:noFill/>
          </a:ln>
        </c:spPr>
        <c:txPr>
          <a:bodyPr/>
          <a:lstStyle/>
          <a:p>
            <a:pPr>
              <a:defRPr sz="1000"/>
            </a:pPr>
          </a:p>
        </c:txPr>
        <c:crossAx val="-2068027336"/>
        <c:crosses val="autoZero"/>
      </c:valAx>
    </c:plotArea>
    <c:dispBlanksAs val="gap"/>
  </c:chart>
  <c:txPr>
    <a:bodyPr/>
    <a:lstStyle/>
    <a:p>
      <a:pPr>
        <a:defRPr sz="1100">
          <a:solidFill>
            <a:srgbClr val="14313B"/>
          </a:solidFill>
          <a:latin typeface="Calibri (MS)"/>
        </a:defRPr>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Jumlah wisatawan 2050 (juta)</c:v>
                </c:pt>
              </c:strCache>
            </c:strRef>
          </c:tx>
          <c:dPt>
            <c:idx val="0"/>
            <c:spPr>
              <a:solidFill>
                <a:srgbClr val="39C0D3"/>
              </a:solidFill>
            </c:spPr>
          </c:dPt>
          <c:dPt>
            <c:idx val="1"/>
            <c:spPr>
              <a:solidFill>
                <a:srgbClr val="39C0D3"/>
              </a:solidFill>
            </c:spPr>
          </c:dPt>
          <c:dPt>
            <c:idx val="2"/>
            <c:spPr>
              <a:solidFill>
                <a:srgbClr val="39C0D3"/>
              </a:solidFill>
            </c:spPr>
          </c:dPt>
          <c:dPt>
            <c:idx val="3"/>
            <c:spPr>
              <a:solidFill>
                <a:srgbClr val="39C0D3"/>
              </a:solidFill>
            </c:spPr>
          </c:dPt>
          <c:dPt>
            <c:idx val="4"/>
            <c:spPr>
              <a:solidFill>
                <a:srgbClr val="39C0D3"/>
              </a:solidFill>
            </c:spPr>
          </c:dPt>
          <c:dPt>
            <c:idx val="5"/>
            <c:spPr>
              <a:solidFill>
                <a:srgbClr val="E4604F"/>
              </a:solidFill>
            </c:spPr>
          </c:dPt>
          <c:dPt>
            <c:idx val="6"/>
            <c:spPr>
              <a:solidFill>
                <a:srgbClr val="5E6E78"/>
              </a:solidFill>
            </c:spPr>
          </c:dPt>
          <c:cat>
            <c:strRef>
              <c:f>Sheet1!$A$2:$A$8</c:f>
              <c:strCache>
                <c:ptCount val="7"/>
                <c:pt idx="0">
                  <c:v>Semua balancing loop dimatikan (hanya R1)</c:v>
                </c:pt>
                <c:pt idx="1">
                  <c:v>Goal-seeking tenaga kerja dimatikan</c:v>
                </c:pt>
                <c:pt idx="2">
                  <c:v>Okupansi akomodasi dimatikan</c:v>
                </c:pt>
                <c:pt idx="3">
                  <c:v>R2 ekonomi–atraksi dimatikan</c:v>
                </c:pt>
                <c:pt idx="4">
                  <c:v>Daya dukung lahan dimatikan</c:v>
                </c:pt>
                <c:pt idx="5">
                  <c:v>B1 kepadatan dimatikan</c:v>
                </c:pt>
                <c:pt idx="6">
                  <c:v>Simulasi dasar (semua loop aktif)</c:v>
                </c:pt>
              </c:strCache>
            </c:strRef>
          </c:cat>
          <c:val>
            <c:numRef>
              <c:f>Sheet1!$B$2:$B$8</c:f>
              <c:numCache>
                <c:formatCode>General</c:formatCode>
                <c:ptCount val="7"/>
                <c:pt idx="0">
                  <c:v>217.37</c:v>
                </c:pt>
                <c:pt idx="1">
                  <c:v>96.2</c:v>
                </c:pt>
                <c:pt idx="2">
                  <c:v>96.23</c:v>
                </c:pt>
                <c:pt idx="3">
                  <c:v>80.24</c:v>
                </c:pt>
                <c:pt idx="4">
                  <c:v>111.66</c:v>
                </c:pt>
                <c:pt idx="5">
                  <c:v>250.32</c:v>
                </c:pt>
                <c:pt idx="6">
                  <c:v>96.2</c:v>
                </c:pt>
              </c:numCache>
            </c:numRef>
          </c:val>
        </c:ser>
        <c:dLbls>
          <c:numFmt formatCode="0.0" sourceLinked="0"/>
          <c:txPr>
            <a:bodyPr/>
            <a:lstStyle/>
            <a:p>
              <a:pPr>
                <a:defRPr sz="1200">
                  <a:solidFill>
                    <a:srgbClr val="14313B"/>
                  </a:solidFill>
                </a:defRPr>
              </a:pPr>
            </a:p>
          </c:txPr>
          <c:showLegendKey val="0"/>
          <c:showVal val="1"/>
          <c:showCatName val="0"/>
          <c:showSerName val="0"/>
          <c:showPercent val="0"/>
          <c:showBubbleSize val="0"/>
          <c:showLeaderLines val="1"/>
        </c:dLbls>
        <c:gapWidth val="45"/>
        <c:axId val="-2068027336"/>
        <c:axId val="-2113994440"/>
      </c:barChart>
      <c:catAx>
        <c:axId val="-2068027336"/>
        <c:scaling>
          <c:orientation val="minMax"/>
        </c:scaling>
        <c:delete val="0"/>
        <c:axPos val="l"/>
        <c:majorTickMark val="out"/>
        <c:minorTickMark val="none"/>
        <c:tickLblPos val="nextTo"/>
        <c:spPr>
          <a:ln>
            <a:solidFill>
              <a:srgbClr val="B8C7CC"/>
            </a:solidFill>
          </a:ln>
        </c:spPr>
        <c:txPr>
          <a:bodyPr/>
          <a:lstStyle/>
          <a:p>
            <a:pPr>
              <a:defRPr sz="1200"/>
            </a:pPr>
          </a:p>
        </c:txPr>
        <c:crossAx val="-2113994440"/>
        <c:crosses val="autoZero"/>
        <c:auto val="1"/>
        <c:lblAlgn val="ctr"/>
        <c:lblOffset val="100"/>
        <c:noMultiLvlLbl val="0"/>
      </c:catAx>
      <c:valAx>
        <c:axId val="-2113994440"/>
        <c:scaling>
          <c:max val="300.0"/>
          <c:min val="0.0"/>
        </c:scaling>
        <c:delete val="0"/>
        <c:axPos val="b"/>
        <c:majorGridlines>
          <c:spPr>
            <a:ln>
              <a:solidFill>
                <a:srgbClr val="E3EEF1"/>
              </a:solidFill>
            </a:ln>
          </c:spPr>
        </c:majorGridlines>
        <c:majorTickMark val="out"/>
        <c:minorTickMark val="none"/>
        <c:tickLblPos val="nextTo"/>
        <c:spPr>
          <a:ln>
            <a:noFill/>
          </a:ln>
        </c:spPr>
        <c:txPr>
          <a:bodyPr/>
          <a:lstStyle/>
          <a:p>
            <a:pPr>
              <a:defRPr sz="1100"/>
            </a:pPr>
          </a:p>
        </c:txPr>
        <c:crossAx val="-2068027336"/>
        <c:crosses val="autoZero"/>
      </c:valAx>
    </c:plotArea>
    <c:dispBlanksAs val="gap"/>
  </c:chart>
  <c:txPr>
    <a:bodyPr/>
    <a:lstStyle/>
    <a:p>
      <a:pPr>
        <a:defRPr sz="1200">
          <a:solidFill>
            <a:srgbClr val="14313B"/>
          </a:solidFill>
          <a:latin typeface="Calibri (MS)"/>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lang="cs-CZ"/>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fld id="{B7268E1E-0E44-426D-905E-8AD9B19D2182}" type="datetimeFigureOut">
              <a:rPr lang="cs-CZ" smtClean="0"/>
              <a:t>1.7.2013</a:t>
            </a:fld>
            <a:endParaRPr lang="cs-CZ"/>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lang="cs-CZ"/>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cs-CZ"/>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lang="cs-CZ"/>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fld id="{871B2431-D351-4C6E-A3CF-9DFAC0E3E050}" type="slidenum">
              <a:rPr lang="cs-CZ" smtClean="0"/>
              <a:t>‹#›</a:t>
            </a:fld>
            <a:endParaRPr lang="cs-CZ"/>
          </a:p>
        </p:txBody>
      </p:sp>
    </p:spTree>
    <p:extLst>
      <p:ext uri="{BB962C8B-B14F-4D97-AF65-F5344CB8AC3E}">
        <p14:creationId xmlns:p14="http://schemas.microsoft.com/office/powerpoint/2010/main" val="179888911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notesSlide39.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t>Uji struktur saya mulai dari tiga pemeriksaan dasar. Pertama, kesesuaian struktur dan parameter: setiap variabel saya telusuri dan sumber serta landasannya saya catat, sehingga setiap hubungan sebab-akibat punya dasar teori atau bukti empiris. Kedua, konsistensi dimensi: Units Check dan Check Model di Vensim menampilkan "Units are OK" dan "Model is OK", artinya satuan seluruh persamaan konsisten. Ketiga, kecukupan batas model: model memuat 61 variabel, 26 dihitung di dalam model dan 35 merupakan input yang ditetapkan dari luar, serta 15 aspek sengaja dikeluarkan beserta konsekuensinya. Karena itu hasil model tidak dipakai untuk menjelaskan harga, promosi, musim, atau kejadian mendadak seperti pandemi dan bencana. Daftar lengkapnya ada di Lampiran 9.</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40.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t>Uji kekekalan materi memeriksa apakah jumlah pada setiap stok hanya berubah karena yang bertambah dan yang berkurang. Contohnya hotel: 2.291 ditambah 158,18 yang dibangun dikurangi 114,55 yang ditutup menghasilkan 2.334,63, sama persis dengan jumlah hotel 2026 hasil simulasi. Pada kelima stok selisihnya nol sepanjang 2025 sampai 2049. Uji feedback loop dilakukan dengan menonaktifkan satu loop pada satu waktu, yaitu menahan variabel penghubung loop tetap pada nilai 2025. Loop kepadatan B1 paling berpengaruh: tanpa B1, wisatawan 2050 naik 160 persen. Daya dukung lahan pengaruhnya sedang tetapi menyentuh keenam variabel utama. Menonaktifkan R2 justru menurunkan wisatawan dan paling besar menurunkan ODTW. Okupansi akomodasi dan penyesuaian tenaga kerja hanya memengaruhi satu variabel. Menariknya, menonaktifkan B1 saja menghasilkan angka lebih tinggi daripada menonaktifkan semua balancing loop, karena R2 tetap menaikkan daya tarik. Jadi pengaruh antarloop tidak bisa dijumlahkan begitu saja.</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notesSlides/notesSlide41.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t>Uji kondisi ekstrem memberi nilai ekstrem pada parameter, misalnya dinolkan atau dikali sepuluh, lalu memeriksa apakah hasilnya tetap masuk akal dengan enam syarat, misalnya TPK tidak boleh lebih dari 100 persen dan lahan terbangun tidak boleh melebihi luas wilayah. Uji awal menemukan empat persamaan yang bisa menghasilkan nilai tidak masuk akal, lalu saya beri batas. Setelah itu, 15 uji lolos, 2 lolos dengan catatan, dan tidak ada yang gagal. Contohnya, saat investasi dinolkan, TPK berhenti tepat di 100 persen meskipun permintaan kamar 2,27 kali kapasitas, dan saat konversi lahan dikali sepuluh, rasio daya dukung lahan turun tepat ke nol. E02 dan E15 diberi catatan karena sengaja mendorong model jauh di luar batas berlakunya. Uji error integrasi memeriksa ketelitian langkah hitung. Model menghitung tahun demi tahun; pada E15 lahan sempat melewati luas wilayah 57,70 hektar. Ketika langkah hitung diperkecil, selisih itu mengecil lalu hilang pada 0,25 tahun. Artinya penyebabnya cara menghitung, bukan struktur model. Dengan demikian model valid secara struktural dan dapat lanjut ke uji perilaku.</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1D8BD707-D9CF-40AE-B4C6-C98DA3205C09}" type="datetimeFigureOut">
              <a:rPr lang="en-US" smtClean="0"/>
              <a:pPr/>
              <a:t>8/1/2011</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1D8BD707-D9CF-40AE-B4C6-C98DA3205C09}" type="datetimeFigureOut">
              <a:rPr lang="en-US" smtClean="0"/>
              <a:pPr/>
              <a:t>8/1/2011</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8/1/2011</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8/1/2011</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 Id="rId3" Type="http://schemas.openxmlformats.org/officeDocument/2006/relationships/image" Target="../media/image6.png"/><Relationship Id="rId4" Type="http://schemas.openxmlformats.org/officeDocument/2006/relationships/image" Target="../media/image3.jpeg"/><Relationship Id="rId5" Type="http://schemas.openxmlformats.org/officeDocument/2006/relationships/image" Target="../media/image4.jpeg"/><Relationship Id="rId6" Type="http://schemas.openxmlformats.org/officeDocument/2006/relationships/image" Target="../media/image5.jpeg"/><Relationship Id="rId7" Type="http://schemas.openxmlformats.org/officeDocument/2006/relationships/image" Target="../media/image28.png"/><Relationship Id="rId8" Type="http://schemas.openxmlformats.org/officeDocument/2006/relationships/image" Target="../media/image29.svg"/><Relationship Id="rId9" Type="http://schemas.openxmlformats.org/officeDocument/2006/relationships/image" Target="../media/image30.png"/><Relationship Id="rId10" Type="http://schemas.openxmlformats.org/officeDocument/2006/relationships/image" Target="../media/image31.svg"/><Relationship Id="rId11" Type="http://schemas.openxmlformats.org/officeDocument/2006/relationships/image" Target="../media/image1.png"/><Relationship Id="rId12"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 Id="rId3" Type="http://schemas.openxmlformats.org/officeDocument/2006/relationships/image" Target="../media/image6.png"/><Relationship Id="rId4" Type="http://schemas.openxmlformats.org/officeDocument/2006/relationships/image" Target="../media/image3.jpeg"/><Relationship Id="rId5" Type="http://schemas.openxmlformats.org/officeDocument/2006/relationships/image" Target="../media/image4.jpeg"/><Relationship Id="rId6" Type="http://schemas.openxmlformats.org/officeDocument/2006/relationships/image" Target="../media/image5.jpeg"/><Relationship Id="rId7" Type="http://schemas.openxmlformats.org/officeDocument/2006/relationships/image" Target="../media/image40.png"/><Relationship Id="rId8" Type="http://schemas.openxmlformats.org/officeDocument/2006/relationships/image" Target="../media/image41.svg"/><Relationship Id="rId9" Type="http://schemas.openxmlformats.org/officeDocument/2006/relationships/chart" Target="../charts/char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 Id="rId3" Type="http://schemas.openxmlformats.org/officeDocument/2006/relationships/image" Target="../media/image6.png"/><Relationship Id="rId4" Type="http://schemas.openxmlformats.org/officeDocument/2006/relationships/image" Target="../media/image3.jpeg"/><Relationship Id="rId5" Type="http://schemas.openxmlformats.org/officeDocument/2006/relationships/image" Target="../media/image4.jpeg"/><Relationship Id="rId6" Type="http://schemas.openxmlformats.org/officeDocument/2006/relationships/image" Target="../media/image5.jpeg"/><Relationship Id="rId7" Type="http://schemas.openxmlformats.org/officeDocument/2006/relationships/image" Target="../media/image42.png"/><Relationship Id="rId8" Type="http://schemas.openxmlformats.org/officeDocument/2006/relationships/chart" Target="../charts/chart4.xml"/><Relationship Id="rId9" Type="http://schemas.openxmlformats.org/officeDocument/2006/relationships/image" Target="../media/image7.png"/><Relationship Id="rId10" Type="http://schemas.openxmlformats.org/officeDocument/2006/relationships/image" Target="../media/image8.png"/><Relationship Id="rId11" Type="http://schemas.openxmlformats.org/officeDocument/2006/relationships/image" Target="../media/image9.png"/></Relationships>
</file>

<file path=ppt/slides/slide1.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16870680" y="164592"/>
            <a:ext cx="713232" cy="713232"/>
            <a:chOff x="0" y="0"/>
            <a:chExt cx="950976" cy="950976"/>
          </a:xfrm>
        </p:grpSpPr>
        <p:sp>
          <p:nvSpPr>
            <p:cNvPr name="Freeform 3" id="3" descr="Logo Politeknik Statistika STIS"/>
            <p:cNvSpPr/>
            <p:nvPr/>
          </p:nvSpPr>
          <p:spPr>
            <a:xfrm flipH="false" flipV="false" rot="0">
              <a:off x="0" y="0"/>
              <a:ext cx="950976" cy="950976"/>
            </a:xfrm>
            <a:custGeom>
              <a:avLst/>
              <a:gdLst/>
              <a:ahLst/>
              <a:cxnLst/>
              <a:rect r="r" b="b" t="t" l="l"/>
              <a:pathLst>
                <a:path h="950976" w="950976">
                  <a:moveTo>
                    <a:pt x="0" y="0"/>
                  </a:moveTo>
                  <a:lnTo>
                    <a:pt x="950976" y="0"/>
                  </a:lnTo>
                  <a:lnTo>
                    <a:pt x="950976" y="950976"/>
                  </a:lnTo>
                  <a:lnTo>
                    <a:pt x="0" y="950976"/>
                  </a:lnTo>
                  <a:lnTo>
                    <a:pt x="0" y="0"/>
                  </a:lnTo>
                  <a:close/>
                </a:path>
              </a:pathLst>
            </a:custGeom>
            <a:blipFill>
              <a:blip r:embed="rId3"/>
              <a:stretch>
                <a:fillRect l="0" t="0" r="0" b="0"/>
              </a:stretch>
            </a:blipFill>
          </p:spPr>
          <p:txBody>
            <a:bodyPr/>
            <a:p/>
          </p:txBody>
        </p:sp>
      </p:grpSp>
      <p:grpSp>
        <p:nvGrpSpPr>
          <p:cNvPr name="Group 4" id="4"/>
          <p:cNvGrpSpPr/>
          <p:nvPr/>
        </p:nvGrpSpPr>
        <p:grpSpPr>
          <a:xfrm rot="0">
            <a:off x="822960" y="9738360"/>
            <a:ext cx="12344400" cy="384048"/>
            <a:chOff x="0" y="0"/>
            <a:chExt cx="16459200" cy="512064"/>
          </a:xfrm>
        </p:grpSpPr>
        <p:sp>
          <p:nvSpPr>
            <p:cNvPr name="Freeform 5" id="5"/>
            <p:cNvSpPr/>
            <p:nvPr/>
          </p:nvSpPr>
          <p:spPr>
            <a:xfrm flipH="false" flipV="false" rot="0">
              <a:off x="0" y="0"/>
              <a:ext cx="16459200" cy="512064"/>
            </a:xfrm>
            <a:custGeom>
              <a:avLst/>
              <a:gdLst/>
              <a:ahLst/>
              <a:cxnLst/>
              <a:rect r="r" b="b" t="t" l="l"/>
              <a:pathLst>
                <a:path h="512064" w="16459200">
                  <a:moveTo>
                    <a:pt x="0" y="0"/>
                  </a:moveTo>
                  <a:lnTo>
                    <a:pt x="16459200" y="0"/>
                  </a:lnTo>
                  <a:lnTo>
                    <a:pt x="16459200" y="512064"/>
                  </a:lnTo>
                  <a:lnTo>
                    <a:pt x="0" y="512064"/>
                  </a:lnTo>
                  <a:close/>
                </a:path>
              </a:pathLst>
            </a:custGeom>
            <a:blipFill>
              <a:blip r:embed="rId4">
                <a:alphaModFix amt="0"/>
              </a:blip>
              <a:stretch>
                <a:fillRect l="0" t="-575868" r="0" b="-575870"/>
              </a:stretch>
            </a:blipFill>
          </p:spPr>
          <p:txBody>
            <a:bodyPr/>
            <a:p/>
          </p:txBody>
        </p:sp>
      </p:grpSp>
      <p:grpSp>
        <p:nvGrpSpPr>
          <p:cNvPr name="Group 6" id="6"/>
          <p:cNvGrpSpPr/>
          <p:nvPr/>
        </p:nvGrpSpPr>
        <p:grpSpPr>
          <a:xfrm rot="0">
            <a:off x="822960" y="9716929"/>
            <a:ext cx="12344400" cy="405479"/>
            <a:chOff x="0" y="0"/>
            <a:chExt cx="16459200" cy="540639"/>
          </a:xfrm>
        </p:grpSpPr>
        <p:sp>
          <p:nvSpPr>
            <p:cNvPr name="Freeform 7" id="7"/>
            <p:cNvSpPr/>
            <p:nvPr/>
          </p:nvSpPr>
          <p:spPr>
            <a:xfrm flipH="false" flipV="false" rot="0">
              <a:off x="0" y="0"/>
              <a:ext cx="16459200" cy="540639"/>
            </a:xfrm>
            <a:custGeom>
              <a:avLst/>
              <a:gdLst/>
              <a:ahLst/>
              <a:cxnLst/>
              <a:rect r="r" b="b" t="t" l="l"/>
              <a:pathLst>
                <a:path h="540639" w="16459200">
                  <a:moveTo>
                    <a:pt x="0" y="0"/>
                  </a:moveTo>
                  <a:lnTo>
                    <a:pt x="16459200" y="0"/>
                  </a:lnTo>
                  <a:lnTo>
                    <a:pt x="16459200" y="540639"/>
                  </a:lnTo>
                  <a:lnTo>
                    <a:pt x="0" y="540639"/>
                  </a:lnTo>
                  <a:close/>
                </a:path>
              </a:pathLst>
            </a:custGeom>
            <a:blipFill>
              <a:blip r:embed="rId5">
                <a:alphaModFix amt="0"/>
              </a:blip>
              <a:stretch>
                <a:fillRect l="0" t="-542788" r="0" b="-542790"/>
              </a:stretch>
            </a:blipFill>
          </p:spPr>
          <p:txBody>
            <a:bodyPr/>
            <a:p/>
          </p:txBody>
        </p:sp>
      </p:grpSp>
      <p:grpSp>
        <p:nvGrpSpPr>
          <p:cNvPr name="Group 8" id="8"/>
          <p:cNvGrpSpPr/>
          <p:nvPr/>
        </p:nvGrpSpPr>
        <p:grpSpPr>
          <a:xfrm rot="0">
            <a:off x="822960" y="9695498"/>
            <a:ext cx="12344400" cy="426910"/>
            <a:chOff x="0" y="0"/>
            <a:chExt cx="16459200" cy="569214"/>
          </a:xfrm>
        </p:grpSpPr>
        <p:sp>
          <p:nvSpPr>
            <p:cNvPr name="Freeform 9" id="9"/>
            <p:cNvSpPr/>
            <p:nvPr/>
          </p:nvSpPr>
          <p:spPr>
            <a:xfrm flipH="false" flipV="false" rot="0">
              <a:off x="0" y="0"/>
              <a:ext cx="16459200" cy="569214"/>
            </a:xfrm>
            <a:custGeom>
              <a:avLst/>
              <a:gdLst/>
              <a:ahLst/>
              <a:cxnLst/>
              <a:rect r="r" b="b" t="t" l="l"/>
              <a:pathLst>
                <a:path h="569214" w="16459200">
                  <a:moveTo>
                    <a:pt x="0" y="0"/>
                  </a:moveTo>
                  <a:lnTo>
                    <a:pt x="16459200" y="0"/>
                  </a:lnTo>
                  <a:lnTo>
                    <a:pt x="16459200" y="569214"/>
                  </a:lnTo>
                  <a:lnTo>
                    <a:pt x="0" y="569214"/>
                  </a:lnTo>
                  <a:close/>
                </a:path>
              </a:pathLst>
            </a:custGeom>
            <a:blipFill>
              <a:blip r:embed="rId6">
                <a:alphaModFix amt="0"/>
              </a:blip>
              <a:stretch>
                <a:fillRect l="0" t="-513423" r="0" b="-513423"/>
              </a:stretch>
            </a:blipFill>
          </p:spPr>
          <p:txBody>
            <a:bodyPr/>
            <a:p/>
          </p:txBody>
        </p:sp>
        <p:sp>
          <p:nvSpPr>
            <p:cNvPr name="TextBox 10" id="10"/>
            <p:cNvSpPr txBox="true"/>
            <p:nvPr/>
          </p:nvSpPr>
          <p:spPr>
            <a:xfrm>
              <a:off x="0" y="-28575"/>
              <a:ext cx="16459200" cy="597789"/>
            </a:xfrm>
            <a:prstGeom prst="rect">
              <a:avLst/>
            </a:prstGeom>
          </p:spPr>
          <p:txBody>
            <a:bodyPr anchor="ctr" rtlCol="false" tIns="0" lIns="0" bIns="0" rIns="0"/>
            <a:lstStyle/>
            <a:p>
              <a:pPr algn="l">
                <a:lnSpc>
                  <a:spcPts val="1620"/>
                </a:lnSpc>
              </a:pPr>
              <a:r>
                <a:rPr lang="en-US" sz="1350">
                  <a:solidFill>
                    <a:srgbClr val="5E6E78"/>
                  </a:solidFill>
                  <a:latin typeface="Calibri (MS)"/>
                  <a:ea typeface="Calibri (MS)"/>
                  <a:cs typeface="Calibri (MS)"/>
                  <a:sym typeface="Calibri (MS)"/>
                </a:rPr>
                <a:t>Sidang Skripsi  |  Kevin Atha Fathoni Ramadha  |  Politeknik Statistika STIS</a:t>
              </a:r>
            </a:p>
          </p:txBody>
        </p:sp>
      </p:grpSp>
      <p:sp>
        <p:nvSpPr>
          <p:cNvPr name="TextBox 11" id="11"/>
          <p:cNvSpPr txBox="true"/>
          <p:nvPr/>
        </p:nvSpPr>
        <p:spPr>
          <a:xfrm rot="0">
            <a:off x="822960" y="713232"/>
            <a:ext cx="16637508" cy="800100"/>
          </a:xfrm>
          <a:prstGeom prst="rect">
            <a:avLst/>
          </a:prstGeom>
        </p:spPr>
        <p:txBody>
          <a:bodyPr anchor="t" rtlCol="false" tIns="0" lIns="0" bIns="0" rIns="0">
            <a:spAutoFit/>
          </a:bodyPr>
          <a:lstStyle/>
          <a:p>
            <a:pPr algn="l">
              <a:lnSpc>
                <a:spcPct val="100000"/>
              </a:lnSpc>
              <a:spcBef>
                <a:spcPts val="0"/>
              </a:spcBef>
              <a:spcAft>
                <a:spcPts val="0"/>
              </a:spcAft>
            </a:pPr>
            <a:r>
              <a:rPr lang="en-US" sz="3200" b="1" i="0">
                <a:solidFill>
                  <a:srgbClr val="0B5E6E"/>
                </a:solidFill>
                <a:latin typeface="Calibri (MS) Bold"/>
                <a:ea typeface="Calibri (MS) Bold"/>
                <a:cs typeface="Calibri (MS) Bold"/>
                <a:sym typeface="Calibri (MS) Bold"/>
              </a:rPr>
              <a:t>Uji Struktur (1/3): Kesesuaian Struktur, Dimensi, dan Batas Model</a:t>
            </a:r>
          </a:p>
          <a:p>
            <a:pPr algn="l">
              <a:lnSpc>
                <a:spcPct val="100000"/>
              </a:lnSpc>
              <a:spcBef>
                <a:spcPts val="300"/>
              </a:spcBef>
              <a:spcAft>
                <a:spcPts val="0"/>
              </a:spcAft>
            </a:pPr>
            <a:r>
              <a:rPr lang="en-US" sz="1900" b="0" i="0">
                <a:solidFill>
                  <a:srgbClr val="4A5A63"/>
                </a:solidFill>
                <a:latin typeface="Calibri (MS)"/>
                <a:ea typeface="Calibri (MS) Bold"/>
                <a:cs typeface="Calibri (MS) Bold"/>
                <a:sym typeface="Calibri (MS) Bold"/>
              </a:rPr>
              <a:t>Setiap hubungan punya dasar, satuan konsisten, dan batas model dinyatakan secara terbuka</a:t>
            </a:r>
          </a:p>
        </p:txBody>
      </p:sp>
      <p:grpSp>
        <p:nvGrpSpPr>
          <p:cNvPr name="Group 12" id="12"/>
          <p:cNvGrpSpPr/>
          <p:nvPr/>
        </p:nvGrpSpPr>
        <p:grpSpPr>
          <a:xfrm rot="0">
            <a:off x="822960" y="274320"/>
            <a:ext cx="2040922" cy="411480"/>
            <a:chOff x="0" y="0"/>
            <a:chExt cx="2721229" cy="548640"/>
          </a:xfrm>
        </p:grpSpPr>
        <p:sp>
          <p:nvSpPr>
            <p:cNvPr name="Freeform 13" id="13"/>
            <p:cNvSpPr/>
            <p:nvPr/>
          </p:nvSpPr>
          <p:spPr>
            <a:xfrm flipH="false" flipV="false" rot="0">
              <a:off x="0" y="0"/>
              <a:ext cx="2721229" cy="548640"/>
            </a:xfrm>
            <a:custGeom>
              <a:avLst/>
              <a:gdLst/>
              <a:ahLst/>
              <a:cxnLst/>
              <a:rect r="r" b="b" t="t" l="l"/>
              <a:pathLst>
                <a:path h="548640" w="2721229">
                  <a:moveTo>
                    <a:pt x="0" y="274320"/>
                  </a:moveTo>
                  <a:cubicBezTo>
                    <a:pt x="0" y="122809"/>
                    <a:pt x="122809" y="0"/>
                    <a:pt x="274320" y="0"/>
                  </a:cubicBezTo>
                  <a:lnTo>
                    <a:pt x="2446909" y="0"/>
                  </a:lnTo>
                  <a:cubicBezTo>
                    <a:pt x="2598420" y="0"/>
                    <a:pt x="2721229" y="122809"/>
                    <a:pt x="2721229" y="274320"/>
                  </a:cubicBezTo>
                  <a:cubicBezTo>
                    <a:pt x="2721229" y="425831"/>
                    <a:pt x="2598420" y="548640"/>
                    <a:pt x="2446909" y="548640"/>
                  </a:cubicBezTo>
                  <a:lnTo>
                    <a:pt x="274320" y="548640"/>
                  </a:lnTo>
                  <a:cubicBezTo>
                    <a:pt x="122809" y="548640"/>
                    <a:pt x="0" y="425831"/>
                    <a:pt x="0" y="274320"/>
                  </a:cubicBezTo>
                  <a:close/>
                </a:path>
              </a:pathLst>
            </a:custGeom>
            <a:solidFill>
              <a:srgbClr val="EAF8FA"/>
            </a:solidFill>
          </p:spPr>
          <p:txBody>
            <a:bodyPr/>
            <a:p/>
          </p:txBody>
        </p:sp>
      </p:grpSp>
      <p:grpSp>
        <p:nvGrpSpPr>
          <p:cNvPr name="Group 14" id="14"/>
          <p:cNvGrpSpPr/>
          <p:nvPr/>
        </p:nvGrpSpPr>
        <p:grpSpPr>
          <a:xfrm rot="0">
            <a:off x="822960" y="274320"/>
            <a:ext cx="2040922" cy="411480"/>
            <a:chOff x="0" y="0"/>
            <a:chExt cx="2721229" cy="548640"/>
          </a:xfrm>
        </p:grpSpPr>
        <p:sp>
          <p:nvSpPr>
            <p:cNvPr name="Freeform 15" id="15"/>
            <p:cNvSpPr/>
            <p:nvPr/>
          </p:nvSpPr>
          <p:spPr>
            <a:xfrm flipH="false" flipV="false" rot="0">
              <a:off x="0" y="0"/>
              <a:ext cx="2721229" cy="548640"/>
            </a:xfrm>
            <a:custGeom>
              <a:avLst/>
              <a:gdLst/>
              <a:ahLst/>
              <a:cxnLst/>
              <a:rect r="r" b="b" t="t" l="l"/>
              <a:pathLst>
                <a:path h="548640" w="2721229">
                  <a:moveTo>
                    <a:pt x="0" y="0"/>
                  </a:moveTo>
                  <a:lnTo>
                    <a:pt x="2721229" y="0"/>
                  </a:lnTo>
                  <a:lnTo>
                    <a:pt x="2721229" y="548640"/>
                  </a:lnTo>
                  <a:lnTo>
                    <a:pt x="0" y="548640"/>
                  </a:lnTo>
                  <a:close/>
                </a:path>
              </a:pathLst>
            </a:custGeom>
            <a:blipFill>
              <a:blip r:embed="rId4">
                <a:alphaModFix amt="0"/>
              </a:blip>
              <a:stretch>
                <a:fillRect l="0" t="-46578" r="0" b="-46576"/>
              </a:stretch>
            </a:blipFill>
          </p:spPr>
          <p:txBody>
            <a:bodyPr/>
            <a:p/>
          </p:txBody>
        </p:sp>
      </p:grpSp>
      <p:grpSp>
        <p:nvGrpSpPr>
          <p:cNvPr name="Group 16" id="16"/>
          <p:cNvGrpSpPr/>
          <p:nvPr/>
        </p:nvGrpSpPr>
        <p:grpSpPr>
          <a:xfrm rot="0">
            <a:off x="822960" y="260033"/>
            <a:ext cx="2040941" cy="425768"/>
            <a:chOff x="0" y="0"/>
            <a:chExt cx="2721254" cy="567690"/>
          </a:xfrm>
        </p:grpSpPr>
        <p:sp>
          <p:nvSpPr>
            <p:cNvPr name="Freeform 17" id="17"/>
            <p:cNvSpPr/>
            <p:nvPr/>
          </p:nvSpPr>
          <p:spPr>
            <a:xfrm flipH="false" flipV="false" rot="0">
              <a:off x="0" y="0"/>
              <a:ext cx="2721229" cy="567690"/>
            </a:xfrm>
            <a:custGeom>
              <a:avLst/>
              <a:gdLst/>
              <a:ahLst/>
              <a:cxnLst/>
              <a:rect r="r" b="b" t="t" l="l"/>
              <a:pathLst>
                <a:path h="567690" w="2721229">
                  <a:moveTo>
                    <a:pt x="0" y="0"/>
                  </a:moveTo>
                  <a:lnTo>
                    <a:pt x="2721229" y="0"/>
                  </a:lnTo>
                  <a:lnTo>
                    <a:pt x="2721229" y="567690"/>
                  </a:lnTo>
                  <a:lnTo>
                    <a:pt x="0" y="567690"/>
                  </a:lnTo>
                  <a:close/>
                </a:path>
              </a:pathLst>
            </a:custGeom>
            <a:blipFill>
              <a:blip r:embed="rId5">
                <a:alphaModFix amt="0"/>
              </a:blip>
              <a:stretch>
                <a:fillRect l="0" t="-43337" r="0" b="-43337"/>
              </a:stretch>
            </a:blipFill>
          </p:spPr>
          <p:txBody>
            <a:bodyPr/>
            <a:p/>
          </p:txBody>
        </p:sp>
      </p:grpSp>
      <p:grpSp>
        <p:nvGrpSpPr>
          <p:cNvPr name="Group 18" id="18"/>
          <p:cNvGrpSpPr/>
          <p:nvPr/>
        </p:nvGrpSpPr>
        <p:grpSpPr>
          <a:xfrm rot="0">
            <a:off x="822960" y="245745"/>
            <a:ext cx="2040941" cy="440055"/>
            <a:chOff x="0" y="0"/>
            <a:chExt cx="2721254" cy="586740"/>
          </a:xfrm>
        </p:grpSpPr>
        <p:sp>
          <p:nvSpPr>
            <p:cNvPr name="Freeform 19" id="19"/>
            <p:cNvSpPr/>
            <p:nvPr/>
          </p:nvSpPr>
          <p:spPr>
            <a:xfrm flipH="false" flipV="false" rot="0">
              <a:off x="0" y="0"/>
              <a:ext cx="2721255" cy="586741"/>
            </a:xfrm>
            <a:custGeom>
              <a:avLst/>
              <a:gdLst/>
              <a:ahLst/>
              <a:cxnLst/>
              <a:rect r="r" b="b" t="t" l="l"/>
              <a:pathLst>
                <a:path h="586741" w="2721255">
                  <a:moveTo>
                    <a:pt x="0" y="0"/>
                  </a:moveTo>
                  <a:lnTo>
                    <a:pt x="2721255" y="0"/>
                  </a:lnTo>
                  <a:lnTo>
                    <a:pt x="2721255" y="586741"/>
                  </a:lnTo>
                  <a:lnTo>
                    <a:pt x="0" y="586741"/>
                  </a:lnTo>
                  <a:close/>
                </a:path>
              </a:pathLst>
            </a:custGeom>
            <a:blipFill>
              <a:blip r:embed="rId6">
                <a:alphaModFix amt="0"/>
              </a:blip>
              <a:stretch>
                <a:fillRect l="0" t="-40370" r="0" b="-40369"/>
              </a:stretch>
            </a:blipFill>
          </p:spPr>
          <p:txBody>
            <a:bodyPr/>
            <a:p/>
          </p:txBody>
        </p:sp>
        <p:sp>
          <p:nvSpPr>
            <p:cNvPr name="TextBox 20" id="20"/>
            <p:cNvSpPr txBox="true"/>
            <p:nvPr/>
          </p:nvSpPr>
          <p:spPr>
            <a:xfrm>
              <a:off x="0" y="-19050"/>
              <a:ext cx="2721254"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Pendahuluan</a:t>
              </a:r>
            </a:p>
          </p:txBody>
        </p:sp>
      </p:grpSp>
      <p:grpSp>
        <p:nvGrpSpPr>
          <p:cNvPr name="Group 21" id="21"/>
          <p:cNvGrpSpPr/>
          <p:nvPr/>
        </p:nvGrpSpPr>
        <p:grpSpPr>
          <a:xfrm rot="0">
            <a:off x="2973629" y="274320"/>
            <a:ext cx="2378392" cy="411480"/>
            <a:chOff x="0" y="0"/>
            <a:chExt cx="3171190" cy="548640"/>
          </a:xfrm>
        </p:grpSpPr>
        <p:sp>
          <p:nvSpPr>
            <p:cNvPr name="Freeform 22" id="22"/>
            <p:cNvSpPr/>
            <p:nvPr/>
          </p:nvSpPr>
          <p:spPr>
            <a:xfrm flipH="false" flipV="false" rot="0">
              <a:off x="0" y="0"/>
              <a:ext cx="3171190" cy="548640"/>
            </a:xfrm>
            <a:custGeom>
              <a:avLst/>
              <a:gdLst/>
              <a:ahLst/>
              <a:cxnLst/>
              <a:rect r="r" b="b" t="t" l="l"/>
              <a:pathLst>
                <a:path h="548640" w="3171190">
                  <a:moveTo>
                    <a:pt x="0" y="274320"/>
                  </a:moveTo>
                  <a:cubicBezTo>
                    <a:pt x="0" y="122809"/>
                    <a:pt x="122809" y="0"/>
                    <a:pt x="274320" y="0"/>
                  </a:cubicBezTo>
                  <a:lnTo>
                    <a:pt x="2896870" y="0"/>
                  </a:lnTo>
                  <a:cubicBezTo>
                    <a:pt x="3048381" y="0"/>
                    <a:pt x="3171190" y="122809"/>
                    <a:pt x="3171190" y="274320"/>
                  </a:cubicBezTo>
                  <a:cubicBezTo>
                    <a:pt x="3171190" y="425831"/>
                    <a:pt x="3048381" y="548640"/>
                    <a:pt x="2896870" y="548640"/>
                  </a:cubicBezTo>
                  <a:lnTo>
                    <a:pt x="274320" y="548640"/>
                  </a:lnTo>
                  <a:cubicBezTo>
                    <a:pt x="122809" y="548640"/>
                    <a:pt x="0" y="425831"/>
                    <a:pt x="0" y="274320"/>
                  </a:cubicBezTo>
                  <a:close/>
                </a:path>
              </a:pathLst>
            </a:custGeom>
            <a:solidFill>
              <a:srgbClr val="EAF8FA"/>
            </a:solidFill>
          </p:spPr>
          <p:txBody>
            <a:bodyPr/>
            <a:p/>
          </p:txBody>
        </p:sp>
      </p:grpSp>
      <p:grpSp>
        <p:nvGrpSpPr>
          <p:cNvPr name="Group 23" id="23"/>
          <p:cNvGrpSpPr/>
          <p:nvPr/>
        </p:nvGrpSpPr>
        <p:grpSpPr>
          <a:xfrm rot="0">
            <a:off x="2973629" y="274320"/>
            <a:ext cx="2378392" cy="411480"/>
            <a:chOff x="0" y="0"/>
            <a:chExt cx="3171190" cy="548640"/>
          </a:xfrm>
        </p:grpSpPr>
        <p:sp>
          <p:nvSpPr>
            <p:cNvPr name="Freeform 24" id="24"/>
            <p:cNvSpPr/>
            <p:nvPr/>
          </p:nvSpPr>
          <p:spPr>
            <a:xfrm flipH="false" flipV="false" rot="0">
              <a:off x="0" y="0"/>
              <a:ext cx="3171190" cy="548640"/>
            </a:xfrm>
            <a:custGeom>
              <a:avLst/>
              <a:gdLst/>
              <a:ahLst/>
              <a:cxnLst/>
              <a:rect r="r" b="b" t="t" l="l"/>
              <a:pathLst>
                <a:path h="548640" w="3171190">
                  <a:moveTo>
                    <a:pt x="0" y="0"/>
                  </a:moveTo>
                  <a:lnTo>
                    <a:pt x="3171190" y="0"/>
                  </a:lnTo>
                  <a:lnTo>
                    <a:pt x="3171190" y="548640"/>
                  </a:lnTo>
                  <a:lnTo>
                    <a:pt x="0" y="548640"/>
                  </a:lnTo>
                  <a:close/>
                </a:path>
              </a:pathLst>
            </a:custGeom>
            <a:blipFill>
              <a:blip r:embed="rId4">
                <a:alphaModFix amt="0"/>
              </a:blip>
              <a:stretch>
                <a:fillRect l="0" t="-62546" r="0" b="-62548"/>
              </a:stretch>
            </a:blipFill>
          </p:spPr>
          <p:txBody>
            <a:bodyPr/>
            <a:p/>
          </p:txBody>
        </p:sp>
      </p:grpSp>
      <p:grpSp>
        <p:nvGrpSpPr>
          <p:cNvPr name="Group 25" id="25"/>
          <p:cNvGrpSpPr/>
          <p:nvPr/>
        </p:nvGrpSpPr>
        <p:grpSpPr>
          <a:xfrm rot="0">
            <a:off x="2973629" y="260033"/>
            <a:ext cx="2378354" cy="425768"/>
            <a:chOff x="0" y="0"/>
            <a:chExt cx="3171139" cy="567690"/>
          </a:xfrm>
        </p:grpSpPr>
        <p:sp>
          <p:nvSpPr>
            <p:cNvPr name="Freeform 26" id="26"/>
            <p:cNvSpPr/>
            <p:nvPr/>
          </p:nvSpPr>
          <p:spPr>
            <a:xfrm flipH="false" flipV="false" rot="0">
              <a:off x="0" y="0"/>
              <a:ext cx="3171190" cy="567690"/>
            </a:xfrm>
            <a:custGeom>
              <a:avLst/>
              <a:gdLst/>
              <a:ahLst/>
              <a:cxnLst/>
              <a:rect r="r" b="b" t="t" l="l"/>
              <a:pathLst>
                <a:path h="567690" w="3171190">
                  <a:moveTo>
                    <a:pt x="0" y="0"/>
                  </a:moveTo>
                  <a:lnTo>
                    <a:pt x="3171190" y="0"/>
                  </a:lnTo>
                  <a:lnTo>
                    <a:pt x="3171190" y="567690"/>
                  </a:lnTo>
                  <a:lnTo>
                    <a:pt x="0" y="567690"/>
                  </a:lnTo>
                  <a:close/>
                </a:path>
              </a:pathLst>
            </a:custGeom>
            <a:blipFill>
              <a:blip r:embed="rId5">
                <a:alphaModFix amt="0"/>
              </a:blip>
              <a:stretch>
                <a:fillRect l="0" t="-58767" r="1" b="-58769"/>
              </a:stretch>
            </a:blipFill>
          </p:spPr>
          <p:txBody>
            <a:bodyPr/>
            <a:p/>
          </p:txBody>
        </p:sp>
      </p:grpSp>
      <p:grpSp>
        <p:nvGrpSpPr>
          <p:cNvPr name="Group 27" id="27"/>
          <p:cNvGrpSpPr/>
          <p:nvPr/>
        </p:nvGrpSpPr>
        <p:grpSpPr>
          <a:xfrm rot="0">
            <a:off x="2973629" y="245745"/>
            <a:ext cx="2378354" cy="440055"/>
            <a:chOff x="0" y="0"/>
            <a:chExt cx="3171139" cy="586740"/>
          </a:xfrm>
        </p:grpSpPr>
        <p:sp>
          <p:nvSpPr>
            <p:cNvPr name="Freeform 28" id="28"/>
            <p:cNvSpPr/>
            <p:nvPr/>
          </p:nvSpPr>
          <p:spPr>
            <a:xfrm flipH="false" flipV="false" rot="0">
              <a:off x="0" y="0"/>
              <a:ext cx="3171139" cy="586741"/>
            </a:xfrm>
            <a:custGeom>
              <a:avLst/>
              <a:gdLst/>
              <a:ahLst/>
              <a:cxnLst/>
              <a:rect r="r" b="b" t="t" l="l"/>
              <a:pathLst>
                <a:path h="586741" w="3171139">
                  <a:moveTo>
                    <a:pt x="0" y="0"/>
                  </a:moveTo>
                  <a:lnTo>
                    <a:pt x="3171139" y="0"/>
                  </a:lnTo>
                  <a:lnTo>
                    <a:pt x="3171139" y="586741"/>
                  </a:lnTo>
                  <a:lnTo>
                    <a:pt x="0" y="586741"/>
                  </a:lnTo>
                  <a:close/>
                </a:path>
              </a:pathLst>
            </a:custGeom>
            <a:blipFill>
              <a:blip r:embed="rId6">
                <a:alphaModFix amt="0"/>
              </a:blip>
              <a:stretch>
                <a:fillRect l="0" t="-55310" r="0" b="-55310"/>
              </a:stretch>
            </a:blipFill>
          </p:spPr>
          <p:txBody>
            <a:bodyPr/>
            <a:p/>
          </p:txBody>
        </p:sp>
        <p:sp>
          <p:nvSpPr>
            <p:cNvPr name="TextBox 29" id="29"/>
            <p:cNvSpPr txBox="true"/>
            <p:nvPr/>
          </p:nvSpPr>
          <p:spPr>
            <a:xfrm>
              <a:off x="0" y="-19050"/>
              <a:ext cx="3171139"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Metodologi</a:t>
              </a:r>
            </a:p>
          </p:txBody>
        </p:sp>
      </p:grpSp>
      <p:grpSp>
        <p:nvGrpSpPr>
          <p:cNvPr name="Group 30" id="30"/>
          <p:cNvGrpSpPr/>
          <p:nvPr/>
        </p:nvGrpSpPr>
        <p:grpSpPr>
          <a:xfrm rot="0">
            <a:off x="5461711" y="274320"/>
            <a:ext cx="1591056" cy="411480"/>
            <a:chOff x="0" y="0"/>
            <a:chExt cx="2121408" cy="548640"/>
          </a:xfrm>
        </p:grpSpPr>
        <p:sp>
          <p:nvSpPr>
            <p:cNvPr name="Freeform 31" id="31"/>
            <p:cNvSpPr/>
            <p:nvPr/>
          </p:nvSpPr>
          <p:spPr>
            <a:xfrm flipH="false" flipV="false" rot="0">
              <a:off x="0" y="0"/>
              <a:ext cx="2121408" cy="548640"/>
            </a:xfrm>
            <a:custGeom>
              <a:avLst/>
              <a:gdLst/>
              <a:ahLst/>
              <a:cxnLst/>
              <a:rect r="r" b="b" t="t" l="l"/>
              <a:pathLst>
                <a:path h="548640" w="2121408">
                  <a:moveTo>
                    <a:pt x="0" y="274320"/>
                  </a:moveTo>
                  <a:cubicBezTo>
                    <a:pt x="0" y="122809"/>
                    <a:pt x="122809" y="0"/>
                    <a:pt x="274320" y="0"/>
                  </a:cubicBezTo>
                  <a:lnTo>
                    <a:pt x="1847088" y="0"/>
                  </a:lnTo>
                  <a:cubicBezTo>
                    <a:pt x="1998599" y="0"/>
                    <a:pt x="2121408" y="122809"/>
                    <a:pt x="2121408" y="274320"/>
                  </a:cubicBezTo>
                  <a:cubicBezTo>
                    <a:pt x="2121408" y="425831"/>
                    <a:pt x="1998599" y="548640"/>
                    <a:pt x="1847088" y="548640"/>
                  </a:cubicBezTo>
                  <a:lnTo>
                    <a:pt x="274320" y="548640"/>
                  </a:lnTo>
                  <a:cubicBezTo>
                    <a:pt x="122809" y="548640"/>
                    <a:pt x="0" y="425831"/>
                    <a:pt x="0" y="274320"/>
                  </a:cubicBezTo>
                  <a:close/>
                </a:path>
              </a:pathLst>
            </a:custGeom>
            <a:solidFill>
              <a:srgbClr val="EAF8FA"/>
            </a:solidFill>
          </p:spPr>
          <p:txBody>
            <a:bodyPr/>
            <a:p/>
          </p:txBody>
        </p:sp>
      </p:grpSp>
      <p:grpSp>
        <p:nvGrpSpPr>
          <p:cNvPr name="Group 32" id="32"/>
          <p:cNvGrpSpPr/>
          <p:nvPr/>
        </p:nvGrpSpPr>
        <p:grpSpPr>
          <a:xfrm rot="0">
            <a:off x="5461711" y="274320"/>
            <a:ext cx="1591056" cy="411480"/>
            <a:chOff x="0" y="0"/>
            <a:chExt cx="2121408" cy="548640"/>
          </a:xfrm>
        </p:grpSpPr>
        <p:sp>
          <p:nvSpPr>
            <p:cNvPr name="Freeform 33" id="33"/>
            <p:cNvSpPr/>
            <p:nvPr/>
          </p:nvSpPr>
          <p:spPr>
            <a:xfrm flipH="false" flipV="false" rot="0">
              <a:off x="0" y="0"/>
              <a:ext cx="2121408" cy="548640"/>
            </a:xfrm>
            <a:custGeom>
              <a:avLst/>
              <a:gdLst/>
              <a:ahLst/>
              <a:cxnLst/>
              <a:rect r="r" b="b" t="t" l="l"/>
              <a:pathLst>
                <a:path h="548640" w="2121408">
                  <a:moveTo>
                    <a:pt x="0" y="0"/>
                  </a:moveTo>
                  <a:lnTo>
                    <a:pt x="2121408" y="0"/>
                  </a:lnTo>
                  <a:lnTo>
                    <a:pt x="2121408" y="548640"/>
                  </a:lnTo>
                  <a:lnTo>
                    <a:pt x="0" y="548640"/>
                  </a:lnTo>
                  <a:close/>
                </a:path>
              </a:pathLst>
            </a:custGeom>
            <a:blipFill>
              <a:blip r:embed="rId4">
                <a:alphaModFix amt="0"/>
              </a:blip>
              <a:stretch>
                <a:fillRect l="0" t="-25289" r="0" b="-25289"/>
              </a:stretch>
            </a:blipFill>
          </p:spPr>
          <p:txBody>
            <a:bodyPr/>
            <a:p/>
          </p:txBody>
        </p:sp>
      </p:grpSp>
      <p:grpSp>
        <p:nvGrpSpPr>
          <p:cNvPr name="Group 34" id="34"/>
          <p:cNvGrpSpPr/>
          <p:nvPr/>
        </p:nvGrpSpPr>
        <p:grpSpPr>
          <a:xfrm rot="0">
            <a:off x="5461711" y="260033"/>
            <a:ext cx="1591056" cy="425768"/>
            <a:chOff x="0" y="0"/>
            <a:chExt cx="2121408" cy="567690"/>
          </a:xfrm>
        </p:grpSpPr>
        <p:sp>
          <p:nvSpPr>
            <p:cNvPr name="Freeform 35" id="35"/>
            <p:cNvSpPr/>
            <p:nvPr/>
          </p:nvSpPr>
          <p:spPr>
            <a:xfrm flipH="false" flipV="false" rot="0">
              <a:off x="0" y="0"/>
              <a:ext cx="2121408" cy="567690"/>
            </a:xfrm>
            <a:custGeom>
              <a:avLst/>
              <a:gdLst/>
              <a:ahLst/>
              <a:cxnLst/>
              <a:rect r="r" b="b" t="t" l="l"/>
              <a:pathLst>
                <a:path h="567690" w="2121408">
                  <a:moveTo>
                    <a:pt x="0" y="0"/>
                  </a:moveTo>
                  <a:lnTo>
                    <a:pt x="2121408" y="0"/>
                  </a:lnTo>
                  <a:lnTo>
                    <a:pt x="2121408" y="567690"/>
                  </a:lnTo>
                  <a:lnTo>
                    <a:pt x="0" y="567690"/>
                  </a:lnTo>
                  <a:close/>
                </a:path>
              </a:pathLst>
            </a:custGeom>
            <a:blipFill>
              <a:blip r:embed="rId5">
                <a:alphaModFix amt="0"/>
              </a:blip>
              <a:stretch>
                <a:fillRect l="0" t="-22762" r="0" b="-22762"/>
              </a:stretch>
            </a:blipFill>
          </p:spPr>
          <p:txBody>
            <a:bodyPr/>
            <a:p/>
          </p:txBody>
        </p:sp>
      </p:grpSp>
      <p:grpSp>
        <p:nvGrpSpPr>
          <p:cNvPr name="Group 36" id="36"/>
          <p:cNvGrpSpPr/>
          <p:nvPr/>
        </p:nvGrpSpPr>
        <p:grpSpPr>
          <a:xfrm rot="0">
            <a:off x="5461711" y="245745"/>
            <a:ext cx="1591056" cy="440055"/>
            <a:chOff x="0" y="0"/>
            <a:chExt cx="2121408" cy="586740"/>
          </a:xfrm>
        </p:grpSpPr>
        <p:sp>
          <p:nvSpPr>
            <p:cNvPr name="Freeform 37" id="37"/>
            <p:cNvSpPr/>
            <p:nvPr/>
          </p:nvSpPr>
          <p:spPr>
            <a:xfrm flipH="false" flipV="false" rot="0">
              <a:off x="0" y="0"/>
              <a:ext cx="2121408" cy="586741"/>
            </a:xfrm>
            <a:custGeom>
              <a:avLst/>
              <a:gdLst/>
              <a:ahLst/>
              <a:cxnLst/>
              <a:rect r="r" b="b" t="t" l="l"/>
              <a:pathLst>
                <a:path h="586741" w="2121408">
                  <a:moveTo>
                    <a:pt x="0" y="0"/>
                  </a:moveTo>
                  <a:lnTo>
                    <a:pt x="2121408" y="0"/>
                  </a:lnTo>
                  <a:lnTo>
                    <a:pt x="2121408" y="586741"/>
                  </a:lnTo>
                  <a:lnTo>
                    <a:pt x="0" y="586741"/>
                  </a:lnTo>
                  <a:close/>
                </a:path>
              </a:pathLst>
            </a:custGeom>
            <a:blipFill>
              <a:blip r:embed="rId6">
                <a:alphaModFix amt="0"/>
              </a:blip>
              <a:stretch>
                <a:fillRect l="0" t="-20449" r="0" b="-20449"/>
              </a:stretch>
            </a:blipFill>
          </p:spPr>
          <p:txBody>
            <a:bodyPr/>
            <a:p/>
          </p:txBody>
        </p:sp>
        <p:sp>
          <p:nvSpPr>
            <p:cNvPr name="TextBox 38" id="38"/>
            <p:cNvSpPr txBox="true"/>
            <p:nvPr/>
          </p:nvSpPr>
          <p:spPr>
            <a:xfrm>
              <a:off x="0" y="-19050"/>
              <a:ext cx="2121408"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Tujuan 1</a:t>
              </a:r>
            </a:p>
          </p:txBody>
        </p:sp>
      </p:grpSp>
      <p:grpSp>
        <p:nvGrpSpPr>
          <p:cNvPr name="Group 39" id="39"/>
          <p:cNvGrpSpPr/>
          <p:nvPr/>
        </p:nvGrpSpPr>
        <p:grpSpPr>
          <a:xfrm rot="0">
            <a:off x="7162495" y="274320"/>
            <a:ext cx="2490788" cy="411480"/>
            <a:chOff x="0" y="0"/>
            <a:chExt cx="3321050" cy="548640"/>
          </a:xfrm>
        </p:grpSpPr>
        <p:sp>
          <p:nvSpPr>
            <p:cNvPr name="Freeform 40" id="40"/>
            <p:cNvSpPr/>
            <p:nvPr/>
          </p:nvSpPr>
          <p:spPr>
            <a:xfrm flipH="false" flipV="false" rot="0">
              <a:off x="0" y="0"/>
              <a:ext cx="3321050" cy="548640"/>
            </a:xfrm>
            <a:custGeom>
              <a:avLst/>
              <a:gdLst/>
              <a:ahLst/>
              <a:cxnLst/>
              <a:rect r="r" b="b" t="t" l="l"/>
              <a:pathLst>
                <a:path h="548640" w="3321050">
                  <a:moveTo>
                    <a:pt x="0" y="274320"/>
                  </a:moveTo>
                  <a:cubicBezTo>
                    <a:pt x="0" y="122809"/>
                    <a:pt x="122809" y="0"/>
                    <a:pt x="274320" y="0"/>
                  </a:cubicBezTo>
                  <a:lnTo>
                    <a:pt x="3046730" y="0"/>
                  </a:lnTo>
                  <a:cubicBezTo>
                    <a:pt x="3198241" y="0"/>
                    <a:pt x="3321050" y="122809"/>
                    <a:pt x="3321050" y="274320"/>
                  </a:cubicBezTo>
                  <a:cubicBezTo>
                    <a:pt x="3321050" y="425831"/>
                    <a:pt x="3198241" y="548640"/>
                    <a:pt x="3046730" y="548640"/>
                  </a:cubicBezTo>
                  <a:lnTo>
                    <a:pt x="274320" y="548640"/>
                  </a:lnTo>
                  <a:cubicBezTo>
                    <a:pt x="122809" y="548640"/>
                    <a:pt x="0" y="425831"/>
                    <a:pt x="0" y="274320"/>
                  </a:cubicBezTo>
                  <a:close/>
                </a:path>
              </a:pathLst>
            </a:custGeom>
            <a:solidFill>
              <a:srgbClr val="0B5E6E"/>
            </a:solidFill>
          </p:spPr>
          <p:txBody>
            <a:bodyPr/>
            <a:p/>
          </p:txBody>
        </p:sp>
      </p:grpSp>
      <p:grpSp>
        <p:nvGrpSpPr>
          <p:cNvPr name="Group 41" id="41"/>
          <p:cNvGrpSpPr/>
          <p:nvPr/>
        </p:nvGrpSpPr>
        <p:grpSpPr>
          <a:xfrm rot="0">
            <a:off x="7162495" y="274320"/>
            <a:ext cx="2490788" cy="411480"/>
            <a:chOff x="0" y="0"/>
            <a:chExt cx="3321050" cy="548640"/>
          </a:xfrm>
        </p:grpSpPr>
        <p:sp>
          <p:nvSpPr>
            <p:cNvPr name="Freeform 42" id="42"/>
            <p:cNvSpPr/>
            <p:nvPr/>
          </p:nvSpPr>
          <p:spPr>
            <a:xfrm flipH="false" flipV="false" rot="0">
              <a:off x="0" y="0"/>
              <a:ext cx="3321050" cy="548640"/>
            </a:xfrm>
            <a:custGeom>
              <a:avLst/>
              <a:gdLst/>
              <a:ahLst/>
              <a:cxnLst/>
              <a:rect r="r" b="b" t="t" l="l"/>
              <a:pathLst>
                <a:path h="548640" w="3321050">
                  <a:moveTo>
                    <a:pt x="0" y="0"/>
                  </a:moveTo>
                  <a:lnTo>
                    <a:pt x="3321050" y="0"/>
                  </a:lnTo>
                  <a:lnTo>
                    <a:pt x="3321050" y="548640"/>
                  </a:lnTo>
                  <a:lnTo>
                    <a:pt x="0" y="548640"/>
                  </a:lnTo>
                  <a:close/>
                </a:path>
              </a:pathLst>
            </a:custGeom>
            <a:blipFill>
              <a:blip r:embed="rId4">
                <a:alphaModFix amt="0"/>
              </a:blip>
              <a:stretch>
                <a:fillRect l="0" t="-67865" r="0" b="-67865"/>
              </a:stretch>
            </a:blipFill>
          </p:spPr>
          <p:txBody>
            <a:bodyPr/>
            <a:p/>
          </p:txBody>
        </p:sp>
      </p:grpSp>
      <p:grpSp>
        <p:nvGrpSpPr>
          <p:cNvPr name="Group 43" id="43"/>
          <p:cNvGrpSpPr/>
          <p:nvPr/>
        </p:nvGrpSpPr>
        <p:grpSpPr>
          <a:xfrm rot="0">
            <a:off x="7162495" y="260033"/>
            <a:ext cx="2490826" cy="425768"/>
            <a:chOff x="0" y="0"/>
            <a:chExt cx="3321101" cy="567690"/>
          </a:xfrm>
        </p:grpSpPr>
        <p:sp>
          <p:nvSpPr>
            <p:cNvPr name="Freeform 44" id="44"/>
            <p:cNvSpPr/>
            <p:nvPr/>
          </p:nvSpPr>
          <p:spPr>
            <a:xfrm flipH="false" flipV="false" rot="0">
              <a:off x="0" y="0"/>
              <a:ext cx="3321050" cy="567690"/>
            </a:xfrm>
            <a:custGeom>
              <a:avLst/>
              <a:gdLst/>
              <a:ahLst/>
              <a:cxnLst/>
              <a:rect r="r" b="b" t="t" l="l"/>
              <a:pathLst>
                <a:path h="567690" w="3321050">
                  <a:moveTo>
                    <a:pt x="0" y="0"/>
                  </a:moveTo>
                  <a:lnTo>
                    <a:pt x="3321050" y="0"/>
                  </a:lnTo>
                  <a:lnTo>
                    <a:pt x="3321050" y="567690"/>
                  </a:lnTo>
                  <a:lnTo>
                    <a:pt x="0" y="567690"/>
                  </a:lnTo>
                  <a:close/>
                </a:path>
              </a:pathLst>
            </a:custGeom>
            <a:blipFill>
              <a:blip r:embed="rId5">
                <a:alphaModFix amt="0"/>
              </a:blip>
              <a:stretch>
                <a:fillRect l="0" t="-63912" r="-1" b="-63910"/>
              </a:stretch>
            </a:blipFill>
          </p:spPr>
          <p:txBody>
            <a:bodyPr/>
            <a:p/>
          </p:txBody>
        </p:sp>
      </p:grpSp>
      <p:grpSp>
        <p:nvGrpSpPr>
          <p:cNvPr name="Group 45" id="45"/>
          <p:cNvGrpSpPr/>
          <p:nvPr/>
        </p:nvGrpSpPr>
        <p:grpSpPr>
          <a:xfrm rot="0">
            <a:off x="7162495" y="245745"/>
            <a:ext cx="2490826" cy="440055"/>
            <a:chOff x="0" y="0"/>
            <a:chExt cx="3321101" cy="586740"/>
          </a:xfrm>
        </p:grpSpPr>
        <p:sp>
          <p:nvSpPr>
            <p:cNvPr name="Freeform 46" id="46"/>
            <p:cNvSpPr/>
            <p:nvPr/>
          </p:nvSpPr>
          <p:spPr>
            <a:xfrm flipH="false" flipV="false" rot="0">
              <a:off x="0" y="0"/>
              <a:ext cx="3321101" cy="586741"/>
            </a:xfrm>
            <a:custGeom>
              <a:avLst/>
              <a:gdLst/>
              <a:ahLst/>
              <a:cxnLst/>
              <a:rect r="r" b="b" t="t" l="l"/>
              <a:pathLst>
                <a:path h="586741" w="3321101">
                  <a:moveTo>
                    <a:pt x="0" y="0"/>
                  </a:moveTo>
                  <a:lnTo>
                    <a:pt x="3321101" y="0"/>
                  </a:lnTo>
                  <a:lnTo>
                    <a:pt x="3321101" y="586741"/>
                  </a:lnTo>
                  <a:lnTo>
                    <a:pt x="0" y="586741"/>
                  </a:lnTo>
                  <a:close/>
                </a:path>
              </a:pathLst>
            </a:custGeom>
            <a:blipFill>
              <a:blip r:embed="rId6">
                <a:alphaModFix amt="0"/>
              </a:blip>
              <a:stretch>
                <a:fillRect l="0" t="-60290" r="0" b="-60290"/>
              </a:stretch>
            </a:blipFill>
          </p:spPr>
          <p:txBody>
            <a:bodyPr/>
            <a:p/>
          </p:txBody>
        </p:sp>
        <p:sp>
          <p:nvSpPr>
            <p:cNvPr name="TextBox 47" id="47"/>
            <p:cNvSpPr txBox="true"/>
            <p:nvPr/>
          </p:nvSpPr>
          <p:spPr>
            <a:xfrm>
              <a:off x="0" y="-19050"/>
              <a:ext cx="3321101" cy="605790"/>
            </a:xfrm>
            <a:prstGeom prst="rect">
              <a:avLst/>
            </a:prstGeom>
          </p:spPr>
          <p:txBody>
            <a:bodyPr anchor="ctr" rtlCol="false" tIns="0" lIns="0" bIns="0" rIns="0"/>
            <a:lstStyle/>
            <a:p>
              <a:pPr algn="ctr">
                <a:lnSpc>
                  <a:spcPts val="1889"/>
                </a:lnSpc>
              </a:pPr>
              <a:r>
                <a:rPr lang="en-US" sz="1575" b="true">
                  <a:solidFill>
                    <a:srgbClr val="FFFFFF"/>
                  </a:solidFill>
                  <a:latin typeface="Calibri (MS) Bold"/>
                  <a:ea typeface="Calibri (MS) Bold"/>
                  <a:cs typeface="Calibri (MS) Bold"/>
                  <a:sym typeface="Calibri (MS) Bold"/>
                </a:rPr>
                <a:t>Tujuan 2</a:t>
              </a:r>
            </a:p>
          </p:txBody>
        </p:sp>
      </p:grpSp>
      <p:grpSp>
        <p:nvGrpSpPr>
          <p:cNvPr name="Group 48" id="48"/>
          <p:cNvGrpSpPr/>
          <p:nvPr/>
        </p:nvGrpSpPr>
        <p:grpSpPr>
          <a:xfrm rot="0">
            <a:off x="9763049" y="274320"/>
            <a:ext cx="1366076" cy="411480"/>
            <a:chOff x="0" y="0"/>
            <a:chExt cx="1821434" cy="548640"/>
          </a:xfrm>
        </p:grpSpPr>
        <p:sp>
          <p:nvSpPr>
            <p:cNvPr name="Freeform 49" id="49"/>
            <p:cNvSpPr/>
            <p:nvPr/>
          </p:nvSpPr>
          <p:spPr>
            <a:xfrm flipH="false" flipV="false" rot="0">
              <a:off x="0" y="0"/>
              <a:ext cx="1821434" cy="548640"/>
            </a:xfrm>
            <a:custGeom>
              <a:avLst/>
              <a:gdLst/>
              <a:ahLst/>
              <a:cxnLst/>
              <a:rect r="r" b="b" t="t" l="l"/>
              <a:pathLst>
                <a:path h="548640" w="1821434">
                  <a:moveTo>
                    <a:pt x="0" y="274320"/>
                  </a:moveTo>
                  <a:cubicBezTo>
                    <a:pt x="0" y="122809"/>
                    <a:pt x="122809" y="0"/>
                    <a:pt x="274320" y="0"/>
                  </a:cubicBezTo>
                  <a:lnTo>
                    <a:pt x="1547114" y="0"/>
                  </a:lnTo>
                  <a:cubicBezTo>
                    <a:pt x="1698625" y="0"/>
                    <a:pt x="1821434" y="122809"/>
                    <a:pt x="1821434" y="274320"/>
                  </a:cubicBezTo>
                  <a:cubicBezTo>
                    <a:pt x="1821434" y="425831"/>
                    <a:pt x="1698625" y="548640"/>
                    <a:pt x="1547114" y="548640"/>
                  </a:cubicBezTo>
                  <a:lnTo>
                    <a:pt x="274320" y="548640"/>
                  </a:lnTo>
                  <a:cubicBezTo>
                    <a:pt x="122809" y="548640"/>
                    <a:pt x="0" y="425831"/>
                    <a:pt x="0" y="274320"/>
                  </a:cubicBezTo>
                  <a:close/>
                </a:path>
              </a:pathLst>
            </a:custGeom>
            <a:solidFill>
              <a:srgbClr val="EAF8FA"/>
            </a:solidFill>
          </p:spPr>
          <p:txBody>
            <a:bodyPr/>
            <a:p/>
          </p:txBody>
        </p:sp>
      </p:grpSp>
      <p:grpSp>
        <p:nvGrpSpPr>
          <p:cNvPr name="Group 50" id="50"/>
          <p:cNvGrpSpPr/>
          <p:nvPr/>
        </p:nvGrpSpPr>
        <p:grpSpPr>
          <a:xfrm rot="0">
            <a:off x="9763049" y="274320"/>
            <a:ext cx="1366076" cy="411480"/>
            <a:chOff x="0" y="0"/>
            <a:chExt cx="1821434" cy="548640"/>
          </a:xfrm>
        </p:grpSpPr>
        <p:sp>
          <p:nvSpPr>
            <p:cNvPr name="Freeform 51" id="51"/>
            <p:cNvSpPr/>
            <p:nvPr/>
          </p:nvSpPr>
          <p:spPr>
            <a:xfrm flipH="false" flipV="false" rot="0">
              <a:off x="0" y="0"/>
              <a:ext cx="1821434" cy="548640"/>
            </a:xfrm>
            <a:custGeom>
              <a:avLst/>
              <a:gdLst/>
              <a:ahLst/>
              <a:cxnLst/>
              <a:rect r="r" b="b" t="t" l="l"/>
              <a:pathLst>
                <a:path h="548640" w="1821434">
                  <a:moveTo>
                    <a:pt x="0" y="0"/>
                  </a:moveTo>
                  <a:lnTo>
                    <a:pt x="1821434" y="0"/>
                  </a:lnTo>
                  <a:lnTo>
                    <a:pt x="1821434" y="548640"/>
                  </a:lnTo>
                  <a:lnTo>
                    <a:pt x="0" y="548640"/>
                  </a:lnTo>
                  <a:close/>
                </a:path>
              </a:pathLst>
            </a:custGeom>
            <a:blipFill>
              <a:blip r:embed="rId4">
                <a:alphaModFix amt="0"/>
              </a:blip>
              <a:stretch>
                <a:fillRect l="0" t="-14643" r="0" b="-14643"/>
              </a:stretch>
            </a:blipFill>
          </p:spPr>
          <p:txBody>
            <a:bodyPr/>
            <a:p/>
          </p:txBody>
        </p:sp>
      </p:grpSp>
      <p:grpSp>
        <p:nvGrpSpPr>
          <p:cNvPr name="Group 52" id="52"/>
          <p:cNvGrpSpPr/>
          <p:nvPr/>
        </p:nvGrpSpPr>
        <p:grpSpPr>
          <a:xfrm rot="0">
            <a:off x="9763049" y="260033"/>
            <a:ext cx="1366114" cy="425768"/>
            <a:chOff x="0" y="0"/>
            <a:chExt cx="1821485" cy="567690"/>
          </a:xfrm>
        </p:grpSpPr>
        <p:sp>
          <p:nvSpPr>
            <p:cNvPr name="Freeform 53" id="53"/>
            <p:cNvSpPr/>
            <p:nvPr/>
          </p:nvSpPr>
          <p:spPr>
            <a:xfrm flipH="false" flipV="false" rot="0">
              <a:off x="0" y="0"/>
              <a:ext cx="1821434" cy="567690"/>
            </a:xfrm>
            <a:custGeom>
              <a:avLst/>
              <a:gdLst/>
              <a:ahLst/>
              <a:cxnLst/>
              <a:rect r="r" b="b" t="t" l="l"/>
              <a:pathLst>
                <a:path h="567690" w="1821434">
                  <a:moveTo>
                    <a:pt x="0" y="0"/>
                  </a:moveTo>
                  <a:lnTo>
                    <a:pt x="1821434" y="0"/>
                  </a:lnTo>
                  <a:lnTo>
                    <a:pt x="1821434" y="567690"/>
                  </a:lnTo>
                  <a:lnTo>
                    <a:pt x="0" y="567690"/>
                  </a:lnTo>
                  <a:close/>
                </a:path>
              </a:pathLst>
            </a:custGeom>
            <a:blipFill>
              <a:blip r:embed="rId5">
                <a:alphaModFix amt="0"/>
              </a:blip>
              <a:stretch>
                <a:fillRect l="0" t="-12476" r="-2" b="-12476"/>
              </a:stretch>
            </a:blipFill>
          </p:spPr>
          <p:txBody>
            <a:bodyPr/>
            <a:p/>
          </p:txBody>
        </p:sp>
      </p:grpSp>
      <p:grpSp>
        <p:nvGrpSpPr>
          <p:cNvPr name="Group 54" id="54"/>
          <p:cNvGrpSpPr/>
          <p:nvPr/>
        </p:nvGrpSpPr>
        <p:grpSpPr>
          <a:xfrm rot="0">
            <a:off x="9763049" y="245745"/>
            <a:ext cx="1366114" cy="440055"/>
            <a:chOff x="0" y="0"/>
            <a:chExt cx="1821485" cy="586740"/>
          </a:xfrm>
        </p:grpSpPr>
        <p:sp>
          <p:nvSpPr>
            <p:cNvPr name="Freeform 55" id="55"/>
            <p:cNvSpPr/>
            <p:nvPr/>
          </p:nvSpPr>
          <p:spPr>
            <a:xfrm flipH="false" flipV="false" rot="0">
              <a:off x="0" y="0"/>
              <a:ext cx="1821485" cy="586741"/>
            </a:xfrm>
            <a:custGeom>
              <a:avLst/>
              <a:gdLst/>
              <a:ahLst/>
              <a:cxnLst/>
              <a:rect r="r" b="b" t="t" l="l"/>
              <a:pathLst>
                <a:path h="586741" w="1821485">
                  <a:moveTo>
                    <a:pt x="0" y="0"/>
                  </a:moveTo>
                  <a:lnTo>
                    <a:pt x="1821485" y="0"/>
                  </a:lnTo>
                  <a:lnTo>
                    <a:pt x="1821485" y="586741"/>
                  </a:lnTo>
                  <a:lnTo>
                    <a:pt x="0" y="586741"/>
                  </a:lnTo>
                  <a:close/>
                </a:path>
              </a:pathLst>
            </a:custGeom>
            <a:blipFill>
              <a:blip r:embed="rId6">
                <a:alphaModFix amt="0"/>
              </a:blip>
              <a:stretch>
                <a:fillRect l="0" t="-10489" r="0" b="-10489"/>
              </a:stretch>
            </a:blipFill>
          </p:spPr>
          <p:txBody>
            <a:bodyPr/>
            <a:p/>
          </p:txBody>
        </p:sp>
        <p:sp>
          <p:nvSpPr>
            <p:cNvPr name="TextBox 56" id="56"/>
            <p:cNvSpPr txBox="true"/>
            <p:nvPr/>
          </p:nvSpPr>
          <p:spPr>
            <a:xfrm>
              <a:off x="0" y="-19050"/>
              <a:ext cx="1821485"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Tujuan 3</a:t>
              </a:r>
            </a:p>
          </p:txBody>
        </p:sp>
      </p:grpSp>
      <p:grpSp>
        <p:nvGrpSpPr>
          <p:cNvPr name="Group 57" id="57"/>
          <p:cNvGrpSpPr/>
          <p:nvPr/>
        </p:nvGrpSpPr>
        <p:grpSpPr>
          <a:xfrm rot="0">
            <a:off x="11238890" y="274320"/>
            <a:ext cx="1253680" cy="411480"/>
            <a:chOff x="0" y="0"/>
            <a:chExt cx="1671574" cy="548640"/>
          </a:xfrm>
        </p:grpSpPr>
        <p:sp>
          <p:nvSpPr>
            <p:cNvPr name="Freeform 58" id="58"/>
            <p:cNvSpPr/>
            <p:nvPr/>
          </p:nvSpPr>
          <p:spPr>
            <a:xfrm flipH="false" flipV="false" rot="0">
              <a:off x="0" y="0"/>
              <a:ext cx="1671574" cy="548640"/>
            </a:xfrm>
            <a:custGeom>
              <a:avLst/>
              <a:gdLst/>
              <a:ahLst/>
              <a:cxnLst/>
              <a:rect r="r" b="b" t="t" l="l"/>
              <a:pathLst>
                <a:path h="548640" w="1671574">
                  <a:moveTo>
                    <a:pt x="0" y="274320"/>
                  </a:moveTo>
                  <a:cubicBezTo>
                    <a:pt x="0" y="122809"/>
                    <a:pt x="122809" y="0"/>
                    <a:pt x="274320" y="0"/>
                  </a:cubicBezTo>
                  <a:lnTo>
                    <a:pt x="1397254" y="0"/>
                  </a:lnTo>
                  <a:cubicBezTo>
                    <a:pt x="1548765" y="0"/>
                    <a:pt x="1671574" y="122809"/>
                    <a:pt x="1671574" y="274320"/>
                  </a:cubicBezTo>
                  <a:cubicBezTo>
                    <a:pt x="1671574" y="425831"/>
                    <a:pt x="1548765" y="548640"/>
                    <a:pt x="1397254" y="548640"/>
                  </a:cubicBezTo>
                  <a:lnTo>
                    <a:pt x="274320" y="548640"/>
                  </a:lnTo>
                  <a:cubicBezTo>
                    <a:pt x="122809" y="548640"/>
                    <a:pt x="0" y="425831"/>
                    <a:pt x="0" y="274320"/>
                  </a:cubicBezTo>
                  <a:close/>
                </a:path>
              </a:pathLst>
            </a:custGeom>
            <a:solidFill>
              <a:srgbClr val="EAF8FA"/>
            </a:solidFill>
          </p:spPr>
          <p:txBody>
            <a:bodyPr/>
            <a:p/>
          </p:txBody>
        </p:sp>
      </p:grpSp>
      <p:grpSp>
        <p:nvGrpSpPr>
          <p:cNvPr name="Group 59" id="59"/>
          <p:cNvGrpSpPr/>
          <p:nvPr/>
        </p:nvGrpSpPr>
        <p:grpSpPr>
          <a:xfrm rot="0">
            <a:off x="11238890" y="274320"/>
            <a:ext cx="1253680" cy="411480"/>
            <a:chOff x="0" y="0"/>
            <a:chExt cx="1671574" cy="548640"/>
          </a:xfrm>
        </p:grpSpPr>
        <p:sp>
          <p:nvSpPr>
            <p:cNvPr name="Freeform 60" id="60"/>
            <p:cNvSpPr/>
            <p:nvPr/>
          </p:nvSpPr>
          <p:spPr>
            <a:xfrm flipH="false" flipV="false" rot="0">
              <a:off x="0" y="0"/>
              <a:ext cx="1671574" cy="548640"/>
            </a:xfrm>
            <a:custGeom>
              <a:avLst/>
              <a:gdLst/>
              <a:ahLst/>
              <a:cxnLst/>
              <a:rect r="r" b="b" t="t" l="l"/>
              <a:pathLst>
                <a:path h="548640" w="1671574">
                  <a:moveTo>
                    <a:pt x="0" y="0"/>
                  </a:moveTo>
                  <a:lnTo>
                    <a:pt x="1671574" y="0"/>
                  </a:lnTo>
                  <a:lnTo>
                    <a:pt x="1671574" y="548640"/>
                  </a:lnTo>
                  <a:lnTo>
                    <a:pt x="0" y="548640"/>
                  </a:lnTo>
                  <a:close/>
                </a:path>
              </a:pathLst>
            </a:custGeom>
            <a:blipFill>
              <a:blip r:embed="rId4">
                <a:alphaModFix amt="0"/>
              </a:blip>
              <a:stretch>
                <a:fillRect l="0" t="-9324" r="0" b="-9326"/>
              </a:stretch>
            </a:blipFill>
          </p:spPr>
          <p:txBody>
            <a:bodyPr/>
            <a:p/>
          </p:txBody>
        </p:sp>
      </p:grpSp>
      <p:grpSp>
        <p:nvGrpSpPr>
          <p:cNvPr name="Group 61" id="61"/>
          <p:cNvGrpSpPr/>
          <p:nvPr/>
        </p:nvGrpSpPr>
        <p:grpSpPr>
          <a:xfrm rot="0">
            <a:off x="11238890" y="260033"/>
            <a:ext cx="1253642" cy="425768"/>
            <a:chOff x="0" y="0"/>
            <a:chExt cx="1671523" cy="567690"/>
          </a:xfrm>
        </p:grpSpPr>
        <p:sp>
          <p:nvSpPr>
            <p:cNvPr name="Freeform 62" id="62"/>
            <p:cNvSpPr/>
            <p:nvPr/>
          </p:nvSpPr>
          <p:spPr>
            <a:xfrm flipH="false" flipV="false" rot="0">
              <a:off x="0" y="0"/>
              <a:ext cx="1671574" cy="567690"/>
            </a:xfrm>
            <a:custGeom>
              <a:avLst/>
              <a:gdLst/>
              <a:ahLst/>
              <a:cxnLst/>
              <a:rect r="r" b="b" t="t" l="l"/>
              <a:pathLst>
                <a:path h="567690" w="1671574">
                  <a:moveTo>
                    <a:pt x="0" y="0"/>
                  </a:moveTo>
                  <a:lnTo>
                    <a:pt x="1671574" y="0"/>
                  </a:lnTo>
                  <a:lnTo>
                    <a:pt x="1671574" y="567690"/>
                  </a:lnTo>
                  <a:lnTo>
                    <a:pt x="0" y="567690"/>
                  </a:lnTo>
                  <a:close/>
                </a:path>
              </a:pathLst>
            </a:custGeom>
            <a:blipFill>
              <a:blip r:embed="rId5">
                <a:alphaModFix amt="0"/>
              </a:blip>
              <a:stretch>
                <a:fillRect l="0" t="-7333" r="3" b="-7331"/>
              </a:stretch>
            </a:blipFill>
          </p:spPr>
          <p:txBody>
            <a:bodyPr/>
            <a:p/>
          </p:txBody>
        </p:sp>
      </p:grpSp>
      <p:grpSp>
        <p:nvGrpSpPr>
          <p:cNvPr name="Group 63" id="63"/>
          <p:cNvGrpSpPr/>
          <p:nvPr/>
        </p:nvGrpSpPr>
        <p:grpSpPr>
          <a:xfrm rot="0">
            <a:off x="11238890" y="245745"/>
            <a:ext cx="1253642" cy="440055"/>
            <a:chOff x="0" y="0"/>
            <a:chExt cx="1671523" cy="586740"/>
          </a:xfrm>
        </p:grpSpPr>
        <p:sp>
          <p:nvSpPr>
            <p:cNvPr name="Freeform 64" id="64"/>
            <p:cNvSpPr/>
            <p:nvPr/>
          </p:nvSpPr>
          <p:spPr>
            <a:xfrm flipH="false" flipV="false" rot="0">
              <a:off x="0" y="0"/>
              <a:ext cx="1671523" cy="586741"/>
            </a:xfrm>
            <a:custGeom>
              <a:avLst/>
              <a:gdLst/>
              <a:ahLst/>
              <a:cxnLst/>
              <a:rect r="r" b="b" t="t" l="l"/>
              <a:pathLst>
                <a:path h="586741" w="1671523">
                  <a:moveTo>
                    <a:pt x="0" y="0"/>
                  </a:moveTo>
                  <a:lnTo>
                    <a:pt x="1671523" y="0"/>
                  </a:lnTo>
                  <a:lnTo>
                    <a:pt x="1671523" y="586741"/>
                  </a:lnTo>
                  <a:lnTo>
                    <a:pt x="0" y="586741"/>
                  </a:lnTo>
                  <a:close/>
                </a:path>
              </a:pathLst>
            </a:custGeom>
            <a:blipFill>
              <a:blip r:embed="rId6">
                <a:alphaModFix amt="0"/>
              </a:blip>
              <a:stretch>
                <a:fillRect l="0" t="-5509" r="0" b="-5509"/>
              </a:stretch>
            </a:blipFill>
          </p:spPr>
          <p:txBody>
            <a:bodyPr/>
            <a:p/>
          </p:txBody>
        </p:sp>
        <p:sp>
          <p:nvSpPr>
            <p:cNvPr name="TextBox 65" id="65"/>
            <p:cNvSpPr txBox="true"/>
            <p:nvPr/>
          </p:nvSpPr>
          <p:spPr>
            <a:xfrm>
              <a:off x="0" y="-19050"/>
              <a:ext cx="1671523"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Penutup</a:t>
              </a:r>
            </a:p>
          </p:txBody>
        </p:sp>
      </p:grpSp>
      <p:sp>
        <p:nvSpPr>
          <p:cNvPr name="TextBox 66" id="66"/>
          <p:cNvSpPr txBox="true"/>
          <p:nvPr/>
        </p:nvSpPr>
        <p:spPr>
          <a:xfrm rot="0">
            <a:off x="16550640" y="9642348"/>
            <a:ext cx="818388" cy="342900"/>
          </a:xfrm>
          <a:prstGeom prst="rect">
            <a:avLst/>
          </a:prstGeom>
        </p:spPr>
        <p:txBody>
          <a:bodyPr anchor="t" rtlCol="false" tIns="0" lIns="0" bIns="0" rIns="0">
            <a:spAutoFit/>
          </a:bodyPr>
          <a:lstStyle/>
          <a:p>
            <a:pPr algn="r">
              <a:lnSpc>
                <a:spcPts val="1800"/>
              </a:lnSpc>
            </a:pPr>
            <a:r>
              <a:rPr lang="en-US" sz="1500">
                <a:solidFill>
                  <a:srgbClr val="5E6E78"/>
                </a:solidFill>
                <a:latin typeface="Calibri (MS)"/>
                <a:ea typeface="Calibri (MS)"/>
                <a:cs typeface="Calibri (MS)"/>
                <a:sym typeface="Calibri (MS)"/>
              </a:rPr>
              <a:t/>
            </a:r>
          </a:p>
        </p:txBody>
      </p:sp>
      <p:grpSp>
        <p:nvGrpSpPr>
          <p:cNvPr name="Group 136" id="136"/>
          <p:cNvGrpSpPr/>
          <p:nvPr/>
        </p:nvGrpSpPr>
        <p:grpSpPr>
          <a:xfrm rot="0">
            <a:off x="12755880" y="274320"/>
            <a:ext cx="3931920" cy="411480"/>
            <a:chOff x="0" y="0"/>
            <a:chExt cx="5242560" cy="548640"/>
          </a:xfrm>
        </p:grpSpPr>
        <p:sp>
          <p:nvSpPr>
            <p:cNvPr name="Freeform 137" id="137"/>
            <p:cNvSpPr/>
            <p:nvPr/>
          </p:nvSpPr>
          <p:spPr>
            <a:xfrm flipH="false" flipV="false" rot="0">
              <a:off x="0" y="0"/>
              <a:ext cx="5242560" cy="548640"/>
            </a:xfrm>
            <a:custGeom>
              <a:avLst/>
              <a:gdLst/>
              <a:ahLst/>
              <a:cxnLst/>
              <a:rect r="r" b="b" t="t" l="l"/>
              <a:pathLst>
                <a:path h="548640" w="5242560">
                  <a:moveTo>
                    <a:pt x="0" y="0"/>
                  </a:moveTo>
                  <a:lnTo>
                    <a:pt x="5242560" y="0"/>
                  </a:lnTo>
                  <a:lnTo>
                    <a:pt x="5242560" y="548640"/>
                  </a:lnTo>
                  <a:lnTo>
                    <a:pt x="0" y="548640"/>
                  </a:lnTo>
                  <a:close/>
                </a:path>
              </a:pathLst>
            </a:custGeom>
            <a:blipFill>
              <a:blip r:embed="rId6">
                <a:alphaModFix amt="0"/>
              </a:blip>
              <a:stretch>
                <a:fillRect l="0" t="-136190" r="0" b="-136190"/>
              </a:stretch>
            </a:blipFill>
          </p:spPr>
          <p:txBody>
            <a:bodyPr/>
            <a:p/>
          </p:txBody>
        </p:sp>
        <p:sp>
          <p:nvSpPr>
            <p:cNvPr name="TextBox 138" id="138"/>
            <p:cNvSpPr txBox="true"/>
            <p:nvPr/>
          </p:nvSpPr>
          <p:spPr>
            <a:xfrm>
              <a:off x="0" y="-28575"/>
              <a:ext cx="5242560" cy="577215"/>
            </a:xfrm>
            <a:prstGeom prst="rect">
              <a:avLst/>
            </a:prstGeom>
          </p:spPr>
          <p:txBody>
            <a:bodyPr anchor="ctr" rtlCol="false" tIns="0" lIns="0" bIns="0" rIns="0"/>
            <a:lstStyle/>
            <a:p>
              <a:pPr algn="l">
                <a:lnSpc>
                  <a:spcPts val="1932"/>
                </a:lnSpc>
              </a:pPr>
              <a:r>
                <a:rPr lang="en-US" sz="1610" b="true">
                  <a:solidFill>
                    <a:srgbClr val="0B5E6E"/>
                  </a:solidFill>
                  <a:latin typeface="Calibri (MS) Bold"/>
                  <a:ea typeface="Calibri (MS) Bold"/>
                  <a:cs typeface="Calibri (MS) Bold"/>
                  <a:sym typeface="Calibri (MS) Bold"/>
                </a:rPr>
                <a:t>2D · Uji struktur</a:t>
              </a:r>
            </a:p>
          </p:txBody>
        </p:sp>
      </p:grpSp>
      <p:sp>
        <p:nvSpPr>
          <p:cNvPr id="139" name="Rounded Rectangle 138"/>
          <p:cNvSpPr/>
          <p:nvPr/>
        </p:nvSpPr>
        <p:spPr>
          <a:xfrm>
            <a:off x="822960" y="1783080"/>
            <a:ext cx="5897880" cy="457200"/>
          </a:xfrm>
          <a:prstGeom prst="roundRect">
            <a:avLst>
              <a:gd name="adj" fmla="val 8000"/>
            </a:avLst>
          </a:prstGeom>
          <a:solidFill>
            <a:srgbClr val="0B5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109728" bIns="109728"/>
          <a:lstStyle/>
          <a:p>
            <a:pPr algn="l">
              <a:spcAft>
                <a:spcPts val="300"/>
              </a:spcAft>
            </a:pPr>
            <a:r>
              <a:rPr sz="1550" b="1" i="0">
                <a:solidFill>
                  <a:srgbClr val="FFFFFF"/>
                </a:solidFill>
                <a:latin typeface="Calibri (MS) Bold"/>
              </a:rPr>
              <a:t>Uji kesesuaian struktur dan parameter</a:t>
            </a:r>
          </a:p>
        </p:txBody>
      </p:sp>
      <p:sp>
        <p:nvSpPr>
          <p:cNvPr id="140" name="Rounded Rectangle 139"/>
          <p:cNvSpPr/>
          <p:nvPr/>
        </p:nvSpPr>
        <p:spPr>
          <a:xfrm>
            <a:off x="822960" y="2286000"/>
            <a:ext cx="5897880" cy="2697480"/>
          </a:xfrm>
          <a:prstGeom prst="roundRect">
            <a:avLst>
              <a:gd name="adj" fmla="val 8000"/>
            </a:avLst>
          </a:prstGeom>
          <a:solidFill>
            <a:srgbClr val="EAF8FA"/>
          </a:solidFill>
          <a:ln w="12700">
            <a:solidFill>
              <a:srgbClr val="CFE5E9"/>
            </a:solid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109728" bIns="109728"/>
          <a:lstStyle/>
          <a:p>
            <a:pPr algn="l">
              <a:spcAft>
                <a:spcPts val="300"/>
              </a:spcAft>
            </a:pPr>
            <a:r>
              <a:rPr sz="1380" b="1" i="0">
                <a:solidFill>
                  <a:srgbClr val="0B5E6E"/>
                </a:solidFill>
                <a:latin typeface="Calibri (MS) Bold"/>
              </a:rPr>
              <a:t>Pertanyaan  </a:t>
            </a:r>
            <a:r>
              <a:rPr sz="1380" b="0" i="0">
                <a:solidFill>
                  <a:srgbClr val="14313B"/>
                </a:solidFill>
                <a:latin typeface="Calibri (MS)"/>
              </a:rPr>
              <a:t>Apakah setiap hubungan sebab-akibat dan parameter punya dasar?</a:t>
            </a:r>
          </a:p>
          <a:p>
            <a:pPr algn="l">
              <a:spcAft>
                <a:spcPts val="300"/>
              </a:spcAft>
            </a:pPr>
            <a:r>
              <a:rPr sz="1380" b="1" i="0">
                <a:solidFill>
                  <a:srgbClr val="0B5E6E"/>
                </a:solidFill>
                <a:latin typeface="Calibri (MS) Bold"/>
              </a:rPr>
              <a:t>Cara  </a:t>
            </a:r>
            <a:r>
              <a:rPr sz="1380" b="0" i="0">
                <a:solidFill>
                  <a:srgbClr val="14313B"/>
                </a:solidFill>
                <a:latin typeface="Calibri (MS)"/>
              </a:rPr>
              <a:t>Setiap variabel ditelusuri; sumber dan landasannya (teori, penelitian terdahulu, regulasi, atau data) dicatat dalam tabel parameter.</a:t>
            </a:r>
          </a:p>
          <a:p>
            <a:pPr algn="l">
              <a:spcAft>
                <a:spcPts val="300"/>
              </a:spcAft>
            </a:pPr>
            <a:r>
              <a:rPr sz="1380" b="1" i="0">
                <a:solidFill>
                  <a:srgbClr val="1E7A43"/>
                </a:solidFill>
                <a:latin typeface="Calibri (MS) Bold"/>
              </a:rPr>
              <a:t>Hasil  </a:t>
            </a:r>
            <a:r>
              <a:rPr sz="1380" b="0" i="0">
                <a:solidFill>
                  <a:srgbClr val="14313B"/>
                </a:solidFill>
                <a:latin typeface="Calibri (MS)"/>
              </a:rPr>
              <a:t>Seluruh hubungan memiliki dasar teori atau bukti empiris.</a:t>
            </a:r>
          </a:p>
        </p:txBody>
      </p:sp>
      <p:sp>
        <p:nvSpPr>
          <p:cNvPr id="141" name="Rounded Rectangle 140"/>
          <p:cNvSpPr/>
          <p:nvPr/>
        </p:nvSpPr>
        <p:spPr>
          <a:xfrm>
            <a:off x="822960" y="5120640"/>
            <a:ext cx="5897880" cy="457200"/>
          </a:xfrm>
          <a:prstGeom prst="roundRect">
            <a:avLst>
              <a:gd name="adj" fmla="val 8000"/>
            </a:avLst>
          </a:prstGeom>
          <a:solidFill>
            <a:srgbClr val="0B5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109728" bIns="109728"/>
          <a:lstStyle/>
          <a:p>
            <a:pPr algn="l">
              <a:spcAft>
                <a:spcPts val="300"/>
              </a:spcAft>
            </a:pPr>
            <a:r>
              <a:rPr sz="1550" b="1" i="0">
                <a:solidFill>
                  <a:srgbClr val="FFFFFF"/>
                </a:solidFill>
                <a:latin typeface="Calibri (MS) Bold"/>
              </a:rPr>
              <a:t>Uji konsistensi dimensi (satuan)</a:t>
            </a:r>
          </a:p>
        </p:txBody>
      </p:sp>
      <p:sp>
        <p:nvSpPr>
          <p:cNvPr id="142" name="Rounded Rectangle 141"/>
          <p:cNvSpPr/>
          <p:nvPr/>
        </p:nvSpPr>
        <p:spPr>
          <a:xfrm>
            <a:off x="822960" y="5623560"/>
            <a:ext cx="5897880" cy="2514600"/>
          </a:xfrm>
          <a:prstGeom prst="roundRect">
            <a:avLst>
              <a:gd name="adj" fmla="val 8000"/>
            </a:avLst>
          </a:prstGeom>
          <a:solidFill>
            <a:srgbClr val="EAF8FA"/>
          </a:solidFill>
          <a:ln w="12700">
            <a:solidFill>
              <a:srgbClr val="CFE5E9"/>
            </a:solid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109728" bIns="109728"/>
          <a:lstStyle/>
          <a:p>
            <a:pPr algn="l">
              <a:spcAft>
                <a:spcPts val="300"/>
              </a:spcAft>
            </a:pPr>
            <a:r>
              <a:rPr sz="1380" b="1" i="0">
                <a:solidFill>
                  <a:srgbClr val="0B5E6E"/>
                </a:solidFill>
                <a:latin typeface="Calibri (MS) Bold"/>
              </a:rPr>
              <a:t>Pertanyaan  </a:t>
            </a:r>
            <a:r>
              <a:rPr sz="1380" b="0" i="0">
                <a:solidFill>
                  <a:srgbClr val="14313B"/>
                </a:solidFill>
                <a:latin typeface="Calibri (MS)"/>
              </a:rPr>
              <a:t>Apakah satuan dalam setiap persamaan sudah sesuai? Misalnya, jumlah wisatawan tidak boleh dijumlahkan dengan luas lahan.</a:t>
            </a:r>
          </a:p>
          <a:p>
            <a:pPr algn="l">
              <a:spcAft>
                <a:spcPts val="300"/>
              </a:spcAft>
            </a:pPr>
            <a:r>
              <a:rPr sz="1380" b="1" i="0">
                <a:solidFill>
                  <a:srgbClr val="0B5E6E"/>
                </a:solidFill>
                <a:latin typeface="Calibri (MS) Bold"/>
              </a:rPr>
              <a:t>Cara  </a:t>
            </a:r>
            <a:r>
              <a:rPr sz="1380" b="0" i="0">
                <a:solidFill>
                  <a:srgbClr val="14313B"/>
                </a:solidFill>
                <a:latin typeface="Calibri (MS)"/>
              </a:rPr>
              <a:t>Seluruh persamaan diperiksa otomatis dengan fitur Units Check dan Check Model di Vensim.</a:t>
            </a:r>
          </a:p>
          <a:p>
            <a:pPr algn="l">
              <a:spcAft>
                <a:spcPts val="300"/>
              </a:spcAft>
            </a:pPr>
            <a:r>
              <a:rPr sz="1380" b="1" i="0">
                <a:solidFill>
                  <a:srgbClr val="1E7A43"/>
                </a:solidFill>
                <a:latin typeface="Calibri (MS) Bold"/>
              </a:rPr>
              <a:t>Hasil  </a:t>
            </a:r>
            <a:r>
              <a:rPr sz="1380" b="0" i="0">
                <a:solidFill>
                  <a:srgbClr val="14313B"/>
                </a:solidFill>
                <a:latin typeface="Calibri (MS)"/>
              </a:rPr>
              <a:t>Tidak ditemukan satuan yang tidak sesuai (pesan Vensim: “Units are OK” dan “Model is OK.”).</a:t>
            </a:r>
          </a:p>
        </p:txBody>
      </p:sp>
      <p:pic>
        <p:nvPicPr>
          <p:cNvPr id="143" name="Picture 142" descr="dlg18.png"/>
          <p:cNvPicPr>
            <a:picLocks noChangeAspect="1"/>
          </p:cNvPicPr>
          <p:nvPr/>
        </p:nvPicPr>
        <p:blipFill>
          <a:blip r:embed="rId11"/>
          <a:stretch>
            <a:fillRect/>
          </a:stretch>
        </p:blipFill>
        <p:spPr>
          <a:xfrm>
            <a:off x="6949440" y="1783080"/>
            <a:ext cx="4160520" cy="2783991"/>
          </a:xfrm>
          <a:prstGeom prst="rect">
            <a:avLst/>
          </a:prstGeom>
          <a:ln w="12700">
            <a:solidFill>
              <a:srgbClr val="CFE5E9"/>
            </a:solidFill>
          </a:ln>
        </p:spPr>
      </p:pic>
      <p:sp>
        <p:nvSpPr>
          <p:cNvPr id="144" name="TextBox 143"/>
          <p:cNvSpPr txBox="1"/>
          <p:nvPr/>
        </p:nvSpPr>
        <p:spPr>
          <a:xfrm>
            <a:off x="6949440" y="4594503"/>
            <a:ext cx="4160520" cy="320040"/>
          </a:xfrm>
          <a:prstGeom prst="rect">
            <a:avLst/>
          </a:prstGeom>
          <a:noFill/>
        </p:spPr>
        <p:txBody>
          <a:bodyPr wrap="square" anchor="t" lIns="0" rIns="0" tIns="0" bIns="0">
            <a:spAutoFit/>
          </a:bodyPr>
          <a:lstStyle/>
          <a:p>
            <a:pPr algn="ctr">
              <a:spcAft>
                <a:spcPts val="400"/>
              </a:spcAft>
            </a:pPr>
            <a:r>
              <a:rPr sz="1260" b="1" i="0">
                <a:solidFill>
                  <a:srgbClr val="0B5E6E"/>
                </a:solidFill>
                <a:latin typeface="Calibri (MS) Bold"/>
              </a:rPr>
              <a:t>Units Check → “Units are OK”</a:t>
            </a:r>
          </a:p>
        </p:txBody>
      </p:sp>
      <p:pic>
        <p:nvPicPr>
          <p:cNvPr id="145" name="Picture 144" descr="dlg19.png"/>
          <p:cNvPicPr>
            <a:picLocks noChangeAspect="1"/>
          </p:cNvPicPr>
          <p:nvPr/>
        </p:nvPicPr>
        <p:blipFill>
          <a:blip r:embed="rId12"/>
          <a:stretch>
            <a:fillRect/>
          </a:stretch>
        </p:blipFill>
        <p:spPr>
          <a:xfrm>
            <a:off x="6949440" y="4978551"/>
            <a:ext cx="4160520" cy="2783991"/>
          </a:xfrm>
          <a:prstGeom prst="rect">
            <a:avLst/>
          </a:prstGeom>
          <a:ln w="12700">
            <a:solidFill>
              <a:srgbClr val="CFE5E9"/>
            </a:solidFill>
          </a:ln>
        </p:spPr>
      </p:pic>
      <p:sp>
        <p:nvSpPr>
          <p:cNvPr id="146" name="TextBox 145"/>
          <p:cNvSpPr txBox="1"/>
          <p:nvPr/>
        </p:nvSpPr>
        <p:spPr>
          <a:xfrm>
            <a:off x="6949440" y="7789974"/>
            <a:ext cx="4160520" cy="320040"/>
          </a:xfrm>
          <a:prstGeom prst="rect">
            <a:avLst/>
          </a:prstGeom>
          <a:noFill/>
        </p:spPr>
        <p:txBody>
          <a:bodyPr wrap="square" anchor="t" lIns="0" rIns="0" tIns="0" bIns="0">
            <a:spAutoFit/>
          </a:bodyPr>
          <a:lstStyle/>
          <a:p>
            <a:pPr algn="ctr">
              <a:spcAft>
                <a:spcPts val="400"/>
              </a:spcAft>
            </a:pPr>
            <a:r>
              <a:rPr sz="1260" b="1" i="0">
                <a:solidFill>
                  <a:srgbClr val="0B5E6E"/>
                </a:solidFill>
                <a:latin typeface="Calibri (MS) Bold"/>
              </a:rPr>
              <a:t>Check Model → “Model is OK.”</a:t>
            </a:r>
          </a:p>
        </p:txBody>
      </p:sp>
      <p:sp>
        <p:nvSpPr>
          <p:cNvPr id="147" name="Rounded Rectangle 146"/>
          <p:cNvSpPr/>
          <p:nvPr/>
        </p:nvSpPr>
        <p:spPr>
          <a:xfrm>
            <a:off x="11338560" y="1783080"/>
            <a:ext cx="6126480" cy="457200"/>
          </a:xfrm>
          <a:prstGeom prst="roundRect">
            <a:avLst>
              <a:gd name="adj" fmla="val 8000"/>
            </a:avLst>
          </a:prstGeom>
          <a:solidFill>
            <a:srgbClr val="0B5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109728" bIns="109728"/>
          <a:lstStyle/>
          <a:p>
            <a:pPr algn="l">
              <a:spcAft>
                <a:spcPts val="300"/>
              </a:spcAft>
            </a:pPr>
            <a:r>
              <a:rPr sz="1550" b="1" i="0">
                <a:solidFill>
                  <a:srgbClr val="FFFFFF"/>
                </a:solidFill>
                <a:latin typeface="Calibri (MS) Bold"/>
              </a:rPr>
              <a:t>Uji kecukupan batas model</a:t>
            </a:r>
          </a:p>
        </p:txBody>
      </p:sp>
      <p:sp>
        <p:nvSpPr>
          <p:cNvPr id="148" name="Rounded Rectangle 147"/>
          <p:cNvSpPr/>
          <p:nvPr/>
        </p:nvSpPr>
        <p:spPr>
          <a:xfrm>
            <a:off x="11338560" y="2331720"/>
            <a:ext cx="6126480" cy="914400"/>
          </a:xfrm>
          <a:prstGeom prst="roundRect">
            <a:avLst>
              <a:gd name="adj" fmla="val 8000"/>
            </a:avLst>
          </a:prstGeom>
          <a:solidFill>
            <a:srgbClr val="EAF8FA"/>
          </a:solidFill>
          <a:ln w="12700">
            <a:solidFill>
              <a:srgbClr val="CFE5E9"/>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109728" bIns="109728"/>
          <a:lstStyle/>
          <a:p>
            <a:pPr algn="l">
              <a:spcAft>
                <a:spcPts val="300"/>
              </a:spcAft>
            </a:pPr>
            <a:r>
              <a:rPr sz="2530" b="1" i="0">
                <a:solidFill>
                  <a:srgbClr val="0B5E6E"/>
                </a:solidFill>
                <a:latin typeface="Calibri (MS) Bold"/>
              </a:rPr>
              <a:t>26  </a:t>
            </a:r>
            <a:r>
              <a:rPr sz="1490" b="1" i="0">
                <a:solidFill>
                  <a:srgbClr val="0B5E6E"/>
                </a:solidFill>
                <a:latin typeface="Calibri (MS) Bold"/>
              </a:rPr>
              <a:t>variabel dihitung model</a:t>
            </a:r>
          </a:p>
          <a:p>
            <a:pPr algn="l">
              <a:spcAft>
                <a:spcPts val="300"/>
              </a:spcAft>
            </a:pPr>
            <a:r>
              <a:rPr sz="1210" b="0" i="0">
                <a:solidFill>
                  <a:srgbClr val="14313B"/>
                </a:solidFill>
                <a:latin typeface="Calibri (MS)"/>
              </a:rPr>
              <a:t>nilainya berubah mengikuti hubungan di dalam model</a:t>
            </a:r>
          </a:p>
        </p:txBody>
      </p:sp>
      <p:sp>
        <p:nvSpPr>
          <p:cNvPr id="149" name="Rounded Rectangle 148"/>
          <p:cNvSpPr/>
          <p:nvPr/>
        </p:nvSpPr>
        <p:spPr>
          <a:xfrm>
            <a:off x="11338560" y="3355848"/>
            <a:ext cx="6126480" cy="914400"/>
          </a:xfrm>
          <a:prstGeom prst="roundRect">
            <a:avLst>
              <a:gd name="adj" fmla="val 8000"/>
            </a:avLst>
          </a:prstGeom>
          <a:solidFill>
            <a:srgbClr val="EAF8FA"/>
          </a:solidFill>
          <a:ln w="12700">
            <a:solidFill>
              <a:srgbClr val="CFE5E9"/>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109728" bIns="109728"/>
          <a:lstStyle/>
          <a:p>
            <a:pPr algn="l">
              <a:spcAft>
                <a:spcPts val="300"/>
              </a:spcAft>
            </a:pPr>
            <a:r>
              <a:rPr sz="2530" b="1" i="0">
                <a:solidFill>
                  <a:srgbClr val="0B5E6E"/>
                </a:solidFill>
                <a:latin typeface="Calibri (MS) Bold"/>
              </a:rPr>
              <a:t>35  </a:t>
            </a:r>
            <a:r>
              <a:rPr sz="1490" b="1" i="0">
                <a:solidFill>
                  <a:srgbClr val="0B5E6E"/>
                </a:solidFill>
                <a:latin typeface="Calibri (MS) Bold"/>
              </a:rPr>
              <a:t>variabel input</a:t>
            </a:r>
          </a:p>
          <a:p>
            <a:pPr algn="l">
              <a:spcAft>
                <a:spcPts val="300"/>
              </a:spcAft>
            </a:pPr>
            <a:r>
              <a:rPr sz="1210" b="0" i="0">
                <a:solidFill>
                  <a:srgbClr val="14313B"/>
                </a:solidFill>
                <a:latin typeface="Calibri (MS)"/>
              </a:rPr>
              <a:t>nilainya ditetapkan dari luar: data, regulasi, asumsi, kebijakan</a:t>
            </a:r>
          </a:p>
        </p:txBody>
      </p:sp>
      <p:sp>
        <p:nvSpPr>
          <p:cNvPr id="150" name="Rounded Rectangle 149"/>
          <p:cNvSpPr/>
          <p:nvPr/>
        </p:nvSpPr>
        <p:spPr>
          <a:xfrm>
            <a:off x="11338560" y="4379976"/>
            <a:ext cx="6126480" cy="914400"/>
          </a:xfrm>
          <a:prstGeom prst="roundRect">
            <a:avLst>
              <a:gd name="adj" fmla="val 8000"/>
            </a:avLst>
          </a:prstGeom>
          <a:solidFill>
            <a:srgbClr val="FFF1BF"/>
          </a:solidFill>
          <a:ln w="12700">
            <a:solidFill>
              <a:srgbClr val="FFD23B"/>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109728" bIns="109728"/>
          <a:lstStyle/>
          <a:p>
            <a:pPr algn="l">
              <a:spcAft>
                <a:spcPts val="300"/>
              </a:spcAft>
            </a:pPr>
            <a:r>
              <a:rPr sz="2530" b="1" i="0">
                <a:solidFill>
                  <a:srgbClr val="7A5A00"/>
                </a:solidFill>
                <a:latin typeface="Calibri (MS) Bold"/>
              </a:rPr>
              <a:t>15  </a:t>
            </a:r>
            <a:r>
              <a:rPr sz="1490" b="1" i="0">
                <a:solidFill>
                  <a:srgbClr val="7A5A00"/>
                </a:solidFill>
                <a:latin typeface="Calibri (MS) Bold"/>
              </a:rPr>
              <a:t>aspek di luar cakupan</a:t>
            </a:r>
          </a:p>
          <a:p>
            <a:pPr algn="l">
              <a:spcAft>
                <a:spcPts val="300"/>
              </a:spcAft>
            </a:pPr>
            <a:r>
              <a:rPr sz="1210" b="0" i="0">
                <a:solidFill>
                  <a:srgbClr val="14313B"/>
                </a:solidFill>
                <a:latin typeface="Calibri (MS)"/>
              </a:rPr>
              <a:t>alasan dan dampaknya terhadap hasil dicatat (Lampiran 9)</a:t>
            </a:r>
          </a:p>
        </p:txBody>
      </p:sp>
      <p:sp>
        <p:nvSpPr>
          <p:cNvPr id="151" name="Rounded Rectangle 150"/>
          <p:cNvSpPr/>
          <p:nvPr/>
        </p:nvSpPr>
        <p:spPr>
          <a:xfrm>
            <a:off x="11338560" y="5440680"/>
            <a:ext cx="6126480" cy="2697480"/>
          </a:xfrm>
          <a:prstGeom prst="roundRect">
            <a:avLst>
              <a:gd name="adj" fmla="val 8000"/>
            </a:avLst>
          </a:prstGeom>
          <a:solidFill>
            <a:srgbClr val="FFFFFF"/>
          </a:solidFill>
          <a:ln w="12700">
            <a:solidFill>
              <a:srgbClr val="CFE5E9"/>
            </a:solid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109728" bIns="109728"/>
          <a:lstStyle/>
          <a:p>
            <a:pPr algn="l">
              <a:spcAft>
                <a:spcPts val="300"/>
              </a:spcAft>
            </a:pPr>
            <a:r>
              <a:rPr sz="1440" b="1" i="0">
                <a:solidFill>
                  <a:srgbClr val="0B5E6E"/>
                </a:solidFill>
                <a:latin typeface="Calibri (MS) Bold"/>
              </a:rPr>
              <a:t>Cara membaca hasil model</a:t>
            </a:r>
          </a:p>
          <a:p>
            <a:pPr algn="l">
              <a:spcAft>
                <a:spcPts val="300"/>
              </a:spcAft>
            </a:pPr>
            <a:r>
              <a:rPr sz="1260" b="0" i="0">
                <a:solidFill>
                  <a:srgbClr val="14313B"/>
                </a:solidFill>
                <a:latin typeface="Calibri (MS)"/>
              </a:rPr>
              <a:t>Hasil menggambarkan arah perkembangan jangka panjang dalam kondisi normal, dan </a:t>
            </a:r>
            <a:r>
              <a:rPr sz="1260" b="1" i="0">
                <a:solidFill>
                  <a:srgbClr val="E4604F"/>
                </a:solidFill>
                <a:latin typeface="Calibri (MS) Bold"/>
              </a:rPr>
              <a:t>tidak</a:t>
            </a:r>
            <a:r>
              <a:rPr sz="1260" b="0" i="0">
                <a:solidFill>
                  <a:srgbClr val="14313B"/>
                </a:solidFill>
                <a:latin typeface="Calibri (MS)"/>
              </a:rPr>
              <a:t> dapat dipakai untuk menjelaskan pengaruh:</a:t>
            </a:r>
          </a:p>
          <a:p>
            <a:pPr algn="l">
              <a:spcAft>
                <a:spcPts val="300"/>
              </a:spcAft>
            </a:pPr>
            <a:r>
              <a:rPr sz="1260" b="0" i="0">
                <a:solidFill>
                  <a:srgbClr val="14313B"/>
                </a:solidFill>
                <a:latin typeface="Calibri (MS)"/>
              </a:rPr>
              <a:t>•  harga dan daya saing harga</a:t>
            </a:r>
          </a:p>
          <a:p>
            <a:pPr algn="l">
              <a:spcAft>
                <a:spcPts val="300"/>
              </a:spcAft>
            </a:pPr>
            <a:r>
              <a:rPr sz="1260" b="0" i="0">
                <a:solidFill>
                  <a:srgbClr val="14313B"/>
                </a:solidFill>
                <a:latin typeface="Calibri (MS)"/>
              </a:rPr>
              <a:t>•  promosi dan citra destinasi</a:t>
            </a:r>
          </a:p>
          <a:p>
            <a:pPr algn="l">
              <a:spcAft>
                <a:spcPts val="300"/>
              </a:spcAft>
            </a:pPr>
            <a:r>
              <a:rPr sz="1260" b="0" i="0">
                <a:solidFill>
                  <a:srgbClr val="14313B"/>
                </a:solidFill>
                <a:latin typeface="Calibri (MS)"/>
              </a:rPr>
              <a:t>•  musim ramai/sepi dalam setahun</a:t>
            </a:r>
          </a:p>
          <a:p>
            <a:pPr algn="l">
              <a:spcAft>
                <a:spcPts val="300"/>
              </a:spcAft>
            </a:pPr>
            <a:r>
              <a:rPr sz="1260" b="0" i="0">
                <a:solidFill>
                  <a:srgbClr val="14313B"/>
                </a:solidFill>
                <a:latin typeface="Calibri (MS)"/>
              </a:rPr>
              <a:t>•  kejadian mendadak: pandemi, erupsi, gempa</a:t>
            </a:r>
          </a:p>
          <a:p>
            <a:pPr algn="l">
              <a:spcAft>
                <a:spcPts val="300"/>
              </a:spcAft>
            </a:pPr>
            <a:r>
              <a:rPr sz="1210" b="0" i="1">
                <a:solidFill>
                  <a:srgbClr val="5E6E78"/>
                </a:solidFill>
                <a:latin typeface="Calibri (MS)"/>
              </a:rPr>
              <a:t>Daftar lengkap 15 aspek: Lampiran 9</a:t>
            </a:r>
          </a:p>
        </p:txBody>
      </p:sp>
      <p:sp>
        <p:nvSpPr>
          <p:cNvPr id="152" name="Rounded Rectangle 151"/>
          <p:cNvSpPr/>
          <p:nvPr/>
        </p:nvSpPr>
        <p:spPr>
          <a:xfrm>
            <a:off x="822960" y="8275320"/>
            <a:ext cx="16642080" cy="777240"/>
          </a:xfrm>
          <a:prstGeom prst="roundRect">
            <a:avLst>
              <a:gd name="adj" fmla="val 8000"/>
            </a:avLst>
          </a:prstGeom>
          <a:solidFill>
            <a:srgbClr val="FFF1BF"/>
          </a:solidFill>
          <a:ln w="12700">
            <a:solidFill>
              <a:srgbClr val="FFD23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300"/>
              </a:spcAft>
            </a:pPr>
            <a:r>
              <a:rPr sz="1610" b="1" i="0">
                <a:solidFill>
                  <a:srgbClr val="0B5E6E"/>
                </a:solidFill>
                <a:latin typeface="Calibri (MS) Bold"/>
              </a:rPr>
              <a:t>Intinya  </a:t>
            </a:r>
            <a:r>
              <a:rPr sz="1610" b="0" i="0">
                <a:solidFill>
                  <a:srgbClr val="14313B"/>
                </a:solidFill>
                <a:latin typeface="Calibri (MS)"/>
              </a:rPr>
              <a:t>Struktur model dapat dipertanggungjawabkan secara teori dan matematis, dan hasilnya dibaca sebagai arah perkembangan jangka panjang dalam kondisi normal.</a:t>
            </a:r>
          </a:p>
        </p:txBody>
      </p:sp>
      <p:sp>
        <p:nvSpPr>
          <p:cNvPr id="153" name="TextBox 152"/>
          <p:cNvSpPr txBox="1"/>
          <p:nvPr/>
        </p:nvSpPr>
        <p:spPr>
          <a:xfrm>
            <a:off x="822960" y="9253728"/>
            <a:ext cx="15544800" cy="274320"/>
          </a:xfrm>
          <a:prstGeom prst="rect">
            <a:avLst/>
          </a:prstGeom>
          <a:noFill/>
        </p:spPr>
        <p:txBody>
          <a:bodyPr wrap="square" anchor="t" lIns="0" rIns="0" tIns="0" bIns="0">
            <a:spAutoFit/>
          </a:bodyPr>
          <a:lstStyle/>
          <a:p>
            <a:pPr algn="l">
              <a:spcAft>
                <a:spcPts val="400"/>
              </a:spcAft>
            </a:pPr>
            <a:r>
              <a:rPr sz="1210" b="0" i="1">
                <a:solidFill>
                  <a:srgbClr val="5E6E78"/>
                </a:solidFill>
                <a:latin typeface="Calibri (MS)"/>
              </a:rPr>
              <a:t>Sumber: Buku Subbab 4.4.1–4.4.2, Gambar 16 (dipotong pada pesan Vensim), Tabel 38–39; rincian di Lampiran 9.</a:t>
            </a:r>
          </a:p>
        </p:txBody>
      </p:sp>
    </p:spTree>
  </p:cSld>
  <p:clrMapOvr>
    <a:masterClrMapping/>
  </p:clrMapOvr>
</p:sld>
</file>

<file path=ppt/slides/slide2.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16870680" y="164592"/>
            <a:ext cx="713232" cy="713232"/>
            <a:chOff x="0" y="0"/>
            <a:chExt cx="950976" cy="950976"/>
          </a:xfrm>
        </p:grpSpPr>
        <p:sp>
          <p:nvSpPr>
            <p:cNvPr name="Freeform 3" id="3" descr="Logo Politeknik Statistika STIS"/>
            <p:cNvSpPr/>
            <p:nvPr/>
          </p:nvSpPr>
          <p:spPr>
            <a:xfrm flipH="false" flipV="false" rot="0">
              <a:off x="0" y="0"/>
              <a:ext cx="950976" cy="950976"/>
            </a:xfrm>
            <a:custGeom>
              <a:avLst/>
              <a:gdLst/>
              <a:ahLst/>
              <a:cxnLst/>
              <a:rect r="r" b="b" t="t" l="l"/>
              <a:pathLst>
                <a:path h="950976" w="950976">
                  <a:moveTo>
                    <a:pt x="0" y="0"/>
                  </a:moveTo>
                  <a:lnTo>
                    <a:pt x="950976" y="0"/>
                  </a:lnTo>
                  <a:lnTo>
                    <a:pt x="950976" y="950976"/>
                  </a:lnTo>
                  <a:lnTo>
                    <a:pt x="0" y="950976"/>
                  </a:lnTo>
                  <a:lnTo>
                    <a:pt x="0" y="0"/>
                  </a:lnTo>
                  <a:close/>
                </a:path>
              </a:pathLst>
            </a:custGeom>
            <a:blipFill>
              <a:blip r:embed="rId3"/>
              <a:stretch>
                <a:fillRect l="0" t="0" r="0" b="0"/>
              </a:stretch>
            </a:blipFill>
          </p:spPr>
          <p:txBody>
            <a:bodyPr/>
            <a:p/>
          </p:txBody>
        </p:sp>
      </p:grpSp>
      <p:grpSp>
        <p:nvGrpSpPr>
          <p:cNvPr name="Group 4" id="4"/>
          <p:cNvGrpSpPr/>
          <p:nvPr/>
        </p:nvGrpSpPr>
        <p:grpSpPr>
          <a:xfrm rot="0">
            <a:off x="822960" y="9738360"/>
            <a:ext cx="12344400" cy="384048"/>
            <a:chOff x="0" y="0"/>
            <a:chExt cx="16459200" cy="512064"/>
          </a:xfrm>
        </p:grpSpPr>
        <p:sp>
          <p:nvSpPr>
            <p:cNvPr name="Freeform 5" id="5"/>
            <p:cNvSpPr/>
            <p:nvPr/>
          </p:nvSpPr>
          <p:spPr>
            <a:xfrm flipH="false" flipV="false" rot="0">
              <a:off x="0" y="0"/>
              <a:ext cx="16459200" cy="512064"/>
            </a:xfrm>
            <a:custGeom>
              <a:avLst/>
              <a:gdLst/>
              <a:ahLst/>
              <a:cxnLst/>
              <a:rect r="r" b="b" t="t" l="l"/>
              <a:pathLst>
                <a:path h="512064" w="16459200">
                  <a:moveTo>
                    <a:pt x="0" y="0"/>
                  </a:moveTo>
                  <a:lnTo>
                    <a:pt x="16459200" y="0"/>
                  </a:lnTo>
                  <a:lnTo>
                    <a:pt x="16459200" y="512064"/>
                  </a:lnTo>
                  <a:lnTo>
                    <a:pt x="0" y="512064"/>
                  </a:lnTo>
                  <a:close/>
                </a:path>
              </a:pathLst>
            </a:custGeom>
            <a:blipFill>
              <a:blip r:embed="rId4">
                <a:alphaModFix amt="0"/>
              </a:blip>
              <a:stretch>
                <a:fillRect l="0" t="-575868" r="0" b="-575870"/>
              </a:stretch>
            </a:blipFill>
          </p:spPr>
          <p:txBody>
            <a:bodyPr/>
            <a:p/>
          </p:txBody>
        </p:sp>
      </p:grpSp>
      <p:grpSp>
        <p:nvGrpSpPr>
          <p:cNvPr name="Group 6" id="6"/>
          <p:cNvGrpSpPr/>
          <p:nvPr/>
        </p:nvGrpSpPr>
        <p:grpSpPr>
          <a:xfrm rot="0">
            <a:off x="822960" y="9716929"/>
            <a:ext cx="12344400" cy="405479"/>
            <a:chOff x="0" y="0"/>
            <a:chExt cx="16459200" cy="540639"/>
          </a:xfrm>
        </p:grpSpPr>
        <p:sp>
          <p:nvSpPr>
            <p:cNvPr name="Freeform 7" id="7"/>
            <p:cNvSpPr/>
            <p:nvPr/>
          </p:nvSpPr>
          <p:spPr>
            <a:xfrm flipH="false" flipV="false" rot="0">
              <a:off x="0" y="0"/>
              <a:ext cx="16459200" cy="540639"/>
            </a:xfrm>
            <a:custGeom>
              <a:avLst/>
              <a:gdLst/>
              <a:ahLst/>
              <a:cxnLst/>
              <a:rect r="r" b="b" t="t" l="l"/>
              <a:pathLst>
                <a:path h="540639" w="16459200">
                  <a:moveTo>
                    <a:pt x="0" y="0"/>
                  </a:moveTo>
                  <a:lnTo>
                    <a:pt x="16459200" y="0"/>
                  </a:lnTo>
                  <a:lnTo>
                    <a:pt x="16459200" y="540639"/>
                  </a:lnTo>
                  <a:lnTo>
                    <a:pt x="0" y="540639"/>
                  </a:lnTo>
                  <a:close/>
                </a:path>
              </a:pathLst>
            </a:custGeom>
            <a:blipFill>
              <a:blip r:embed="rId5">
                <a:alphaModFix amt="0"/>
              </a:blip>
              <a:stretch>
                <a:fillRect l="0" t="-542788" r="0" b="-542790"/>
              </a:stretch>
            </a:blipFill>
          </p:spPr>
          <p:txBody>
            <a:bodyPr/>
            <a:p/>
          </p:txBody>
        </p:sp>
      </p:grpSp>
      <p:grpSp>
        <p:nvGrpSpPr>
          <p:cNvPr name="Group 8" id="8"/>
          <p:cNvGrpSpPr/>
          <p:nvPr/>
        </p:nvGrpSpPr>
        <p:grpSpPr>
          <a:xfrm rot="0">
            <a:off x="822960" y="9695498"/>
            <a:ext cx="12344400" cy="426910"/>
            <a:chOff x="0" y="0"/>
            <a:chExt cx="16459200" cy="569214"/>
          </a:xfrm>
        </p:grpSpPr>
        <p:sp>
          <p:nvSpPr>
            <p:cNvPr name="Freeform 9" id="9"/>
            <p:cNvSpPr/>
            <p:nvPr/>
          </p:nvSpPr>
          <p:spPr>
            <a:xfrm flipH="false" flipV="false" rot="0">
              <a:off x="0" y="0"/>
              <a:ext cx="16459200" cy="569214"/>
            </a:xfrm>
            <a:custGeom>
              <a:avLst/>
              <a:gdLst/>
              <a:ahLst/>
              <a:cxnLst/>
              <a:rect r="r" b="b" t="t" l="l"/>
              <a:pathLst>
                <a:path h="569214" w="16459200">
                  <a:moveTo>
                    <a:pt x="0" y="0"/>
                  </a:moveTo>
                  <a:lnTo>
                    <a:pt x="16459200" y="0"/>
                  </a:lnTo>
                  <a:lnTo>
                    <a:pt x="16459200" y="569214"/>
                  </a:lnTo>
                  <a:lnTo>
                    <a:pt x="0" y="569214"/>
                  </a:lnTo>
                  <a:close/>
                </a:path>
              </a:pathLst>
            </a:custGeom>
            <a:blipFill>
              <a:blip r:embed="rId6">
                <a:alphaModFix amt="0"/>
              </a:blip>
              <a:stretch>
                <a:fillRect l="0" t="-513423" r="0" b="-513423"/>
              </a:stretch>
            </a:blipFill>
          </p:spPr>
          <p:txBody>
            <a:bodyPr/>
            <a:p/>
          </p:txBody>
        </p:sp>
        <p:sp>
          <p:nvSpPr>
            <p:cNvPr name="TextBox 10" id="10"/>
            <p:cNvSpPr txBox="true"/>
            <p:nvPr/>
          </p:nvSpPr>
          <p:spPr>
            <a:xfrm>
              <a:off x="0" y="-28575"/>
              <a:ext cx="16459200" cy="597789"/>
            </a:xfrm>
            <a:prstGeom prst="rect">
              <a:avLst/>
            </a:prstGeom>
          </p:spPr>
          <p:txBody>
            <a:bodyPr anchor="ctr" rtlCol="false" tIns="0" lIns="0" bIns="0" rIns="0"/>
            <a:lstStyle/>
            <a:p>
              <a:pPr algn="l">
                <a:lnSpc>
                  <a:spcPts val="1620"/>
                </a:lnSpc>
              </a:pPr>
              <a:r>
                <a:rPr lang="en-US" sz="1350">
                  <a:solidFill>
                    <a:srgbClr val="5E6E78"/>
                  </a:solidFill>
                  <a:latin typeface="Calibri (MS)"/>
                  <a:ea typeface="Calibri (MS)"/>
                  <a:cs typeface="Calibri (MS)"/>
                  <a:sym typeface="Calibri (MS)"/>
                </a:rPr>
                <a:t>Sidang Skripsi  |  Kevin Atha Fathoni Ramadha  |  Politeknik Statistika STIS</a:t>
              </a:r>
            </a:p>
          </p:txBody>
        </p:sp>
      </p:grpSp>
      <p:sp>
        <p:nvSpPr>
          <p:cNvPr name="TextBox 11" id="11"/>
          <p:cNvSpPr txBox="true"/>
          <p:nvPr/>
        </p:nvSpPr>
        <p:spPr>
          <a:xfrm rot="0">
            <a:off x="822960" y="713232"/>
            <a:ext cx="16637508" cy="1287780"/>
          </a:xfrm>
          <a:prstGeom prst="rect">
            <a:avLst/>
          </a:prstGeom>
        </p:spPr>
        <p:txBody>
          <a:bodyPr anchor="t" rtlCol="false" tIns="0" lIns="0" bIns="0" rIns="0">
            <a:spAutoFit/>
          </a:bodyPr>
          <a:lstStyle/>
          <a:p>
            <a:pPr algn="l">
              <a:lnSpc>
                <a:spcPct val="100000"/>
              </a:lnSpc>
              <a:spcBef>
                <a:spcPts val="0"/>
              </a:spcBef>
              <a:spcAft>
                <a:spcPts val="0"/>
              </a:spcAft>
            </a:pPr>
            <a:r>
              <a:rPr lang="en-US" sz="3200" b="1" i="0">
                <a:solidFill>
                  <a:srgbClr val="0B5E6E"/>
                </a:solidFill>
                <a:latin typeface="Calibri (MS) Bold"/>
                <a:ea typeface="Calibri (MS) Bold"/>
                <a:cs typeface="Calibri (MS) Bold"/>
                <a:sym typeface="Calibri (MS) Bold"/>
              </a:rPr>
              <a:t>Uji Struktur (2/3): Kekekalan Materi dan Feedback Loop</a:t>
            </a:r>
          </a:p>
          <a:p>
            <a:pPr algn="l">
              <a:lnSpc>
                <a:spcPct val="100000"/>
              </a:lnSpc>
              <a:spcBef>
                <a:spcPts val="300"/>
              </a:spcBef>
              <a:spcAft>
                <a:spcPts val="0"/>
              </a:spcAft>
            </a:pPr>
            <a:r>
              <a:rPr lang="en-US" sz="1900" b="0" i="0">
                <a:solidFill>
                  <a:srgbClr val="4A5A63"/>
                </a:solidFill>
                <a:latin typeface="Calibri (MS)"/>
                <a:ea typeface="Calibri (MS) Bold"/>
                <a:cs typeface="Calibri (MS) Bold"/>
                <a:sym typeface="Calibri (MS) Bold"/>
              </a:rPr>
              <a:t>Jumlah pada setiap stok selalu cocok dengan hitungan tambah-kurangnya, dan setiap loop berpengaruh sesuai rancangan CLD</a:t>
            </a:r>
          </a:p>
        </p:txBody>
      </p:sp>
      <p:grpSp>
        <p:nvGrpSpPr>
          <p:cNvPr name="Group 12" id="12"/>
          <p:cNvGrpSpPr/>
          <p:nvPr/>
        </p:nvGrpSpPr>
        <p:grpSpPr>
          <a:xfrm rot="0">
            <a:off x="822960" y="274320"/>
            <a:ext cx="2040922" cy="411480"/>
            <a:chOff x="0" y="0"/>
            <a:chExt cx="2721229" cy="548640"/>
          </a:xfrm>
        </p:grpSpPr>
        <p:sp>
          <p:nvSpPr>
            <p:cNvPr name="Freeform 13" id="13"/>
            <p:cNvSpPr/>
            <p:nvPr/>
          </p:nvSpPr>
          <p:spPr>
            <a:xfrm flipH="false" flipV="false" rot="0">
              <a:off x="0" y="0"/>
              <a:ext cx="2721229" cy="548640"/>
            </a:xfrm>
            <a:custGeom>
              <a:avLst/>
              <a:gdLst/>
              <a:ahLst/>
              <a:cxnLst/>
              <a:rect r="r" b="b" t="t" l="l"/>
              <a:pathLst>
                <a:path h="548640" w="2721229">
                  <a:moveTo>
                    <a:pt x="0" y="274320"/>
                  </a:moveTo>
                  <a:cubicBezTo>
                    <a:pt x="0" y="122809"/>
                    <a:pt x="122809" y="0"/>
                    <a:pt x="274320" y="0"/>
                  </a:cubicBezTo>
                  <a:lnTo>
                    <a:pt x="2446909" y="0"/>
                  </a:lnTo>
                  <a:cubicBezTo>
                    <a:pt x="2598420" y="0"/>
                    <a:pt x="2721229" y="122809"/>
                    <a:pt x="2721229" y="274320"/>
                  </a:cubicBezTo>
                  <a:cubicBezTo>
                    <a:pt x="2721229" y="425831"/>
                    <a:pt x="2598420" y="548640"/>
                    <a:pt x="2446909" y="548640"/>
                  </a:cubicBezTo>
                  <a:lnTo>
                    <a:pt x="274320" y="548640"/>
                  </a:lnTo>
                  <a:cubicBezTo>
                    <a:pt x="122809" y="548640"/>
                    <a:pt x="0" y="425831"/>
                    <a:pt x="0" y="274320"/>
                  </a:cubicBezTo>
                  <a:close/>
                </a:path>
              </a:pathLst>
            </a:custGeom>
            <a:solidFill>
              <a:srgbClr val="EAF8FA"/>
            </a:solidFill>
          </p:spPr>
          <p:txBody>
            <a:bodyPr/>
            <a:p/>
          </p:txBody>
        </p:sp>
      </p:grpSp>
      <p:grpSp>
        <p:nvGrpSpPr>
          <p:cNvPr name="Group 14" id="14"/>
          <p:cNvGrpSpPr/>
          <p:nvPr/>
        </p:nvGrpSpPr>
        <p:grpSpPr>
          <a:xfrm rot="0">
            <a:off x="822960" y="274320"/>
            <a:ext cx="2040922" cy="411480"/>
            <a:chOff x="0" y="0"/>
            <a:chExt cx="2721229" cy="548640"/>
          </a:xfrm>
        </p:grpSpPr>
        <p:sp>
          <p:nvSpPr>
            <p:cNvPr name="Freeform 15" id="15"/>
            <p:cNvSpPr/>
            <p:nvPr/>
          </p:nvSpPr>
          <p:spPr>
            <a:xfrm flipH="false" flipV="false" rot="0">
              <a:off x="0" y="0"/>
              <a:ext cx="2721229" cy="548640"/>
            </a:xfrm>
            <a:custGeom>
              <a:avLst/>
              <a:gdLst/>
              <a:ahLst/>
              <a:cxnLst/>
              <a:rect r="r" b="b" t="t" l="l"/>
              <a:pathLst>
                <a:path h="548640" w="2721229">
                  <a:moveTo>
                    <a:pt x="0" y="0"/>
                  </a:moveTo>
                  <a:lnTo>
                    <a:pt x="2721229" y="0"/>
                  </a:lnTo>
                  <a:lnTo>
                    <a:pt x="2721229" y="548640"/>
                  </a:lnTo>
                  <a:lnTo>
                    <a:pt x="0" y="548640"/>
                  </a:lnTo>
                  <a:close/>
                </a:path>
              </a:pathLst>
            </a:custGeom>
            <a:blipFill>
              <a:blip r:embed="rId4">
                <a:alphaModFix amt="0"/>
              </a:blip>
              <a:stretch>
                <a:fillRect l="0" t="-46578" r="0" b="-46576"/>
              </a:stretch>
            </a:blipFill>
          </p:spPr>
          <p:txBody>
            <a:bodyPr/>
            <a:p/>
          </p:txBody>
        </p:sp>
      </p:grpSp>
      <p:grpSp>
        <p:nvGrpSpPr>
          <p:cNvPr name="Group 16" id="16"/>
          <p:cNvGrpSpPr/>
          <p:nvPr/>
        </p:nvGrpSpPr>
        <p:grpSpPr>
          <a:xfrm rot="0">
            <a:off x="822960" y="260033"/>
            <a:ext cx="2040941" cy="425768"/>
            <a:chOff x="0" y="0"/>
            <a:chExt cx="2721254" cy="567690"/>
          </a:xfrm>
        </p:grpSpPr>
        <p:sp>
          <p:nvSpPr>
            <p:cNvPr name="Freeform 17" id="17"/>
            <p:cNvSpPr/>
            <p:nvPr/>
          </p:nvSpPr>
          <p:spPr>
            <a:xfrm flipH="false" flipV="false" rot="0">
              <a:off x="0" y="0"/>
              <a:ext cx="2721229" cy="567690"/>
            </a:xfrm>
            <a:custGeom>
              <a:avLst/>
              <a:gdLst/>
              <a:ahLst/>
              <a:cxnLst/>
              <a:rect r="r" b="b" t="t" l="l"/>
              <a:pathLst>
                <a:path h="567690" w="2721229">
                  <a:moveTo>
                    <a:pt x="0" y="0"/>
                  </a:moveTo>
                  <a:lnTo>
                    <a:pt x="2721229" y="0"/>
                  </a:lnTo>
                  <a:lnTo>
                    <a:pt x="2721229" y="567690"/>
                  </a:lnTo>
                  <a:lnTo>
                    <a:pt x="0" y="567690"/>
                  </a:lnTo>
                  <a:close/>
                </a:path>
              </a:pathLst>
            </a:custGeom>
            <a:blipFill>
              <a:blip r:embed="rId5">
                <a:alphaModFix amt="0"/>
              </a:blip>
              <a:stretch>
                <a:fillRect l="0" t="-43337" r="0" b="-43337"/>
              </a:stretch>
            </a:blipFill>
          </p:spPr>
          <p:txBody>
            <a:bodyPr/>
            <a:p/>
          </p:txBody>
        </p:sp>
      </p:grpSp>
      <p:grpSp>
        <p:nvGrpSpPr>
          <p:cNvPr name="Group 18" id="18"/>
          <p:cNvGrpSpPr/>
          <p:nvPr/>
        </p:nvGrpSpPr>
        <p:grpSpPr>
          <a:xfrm rot="0">
            <a:off x="822960" y="245745"/>
            <a:ext cx="2040941" cy="440055"/>
            <a:chOff x="0" y="0"/>
            <a:chExt cx="2721254" cy="586740"/>
          </a:xfrm>
        </p:grpSpPr>
        <p:sp>
          <p:nvSpPr>
            <p:cNvPr name="Freeform 19" id="19"/>
            <p:cNvSpPr/>
            <p:nvPr/>
          </p:nvSpPr>
          <p:spPr>
            <a:xfrm flipH="false" flipV="false" rot="0">
              <a:off x="0" y="0"/>
              <a:ext cx="2721255" cy="586741"/>
            </a:xfrm>
            <a:custGeom>
              <a:avLst/>
              <a:gdLst/>
              <a:ahLst/>
              <a:cxnLst/>
              <a:rect r="r" b="b" t="t" l="l"/>
              <a:pathLst>
                <a:path h="586741" w="2721255">
                  <a:moveTo>
                    <a:pt x="0" y="0"/>
                  </a:moveTo>
                  <a:lnTo>
                    <a:pt x="2721255" y="0"/>
                  </a:lnTo>
                  <a:lnTo>
                    <a:pt x="2721255" y="586741"/>
                  </a:lnTo>
                  <a:lnTo>
                    <a:pt x="0" y="586741"/>
                  </a:lnTo>
                  <a:close/>
                </a:path>
              </a:pathLst>
            </a:custGeom>
            <a:blipFill>
              <a:blip r:embed="rId6">
                <a:alphaModFix amt="0"/>
              </a:blip>
              <a:stretch>
                <a:fillRect l="0" t="-40370" r="0" b="-40369"/>
              </a:stretch>
            </a:blipFill>
          </p:spPr>
          <p:txBody>
            <a:bodyPr/>
            <a:p/>
          </p:txBody>
        </p:sp>
        <p:sp>
          <p:nvSpPr>
            <p:cNvPr name="TextBox 20" id="20"/>
            <p:cNvSpPr txBox="true"/>
            <p:nvPr/>
          </p:nvSpPr>
          <p:spPr>
            <a:xfrm>
              <a:off x="0" y="-19050"/>
              <a:ext cx="2721254"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Pendahuluan</a:t>
              </a:r>
            </a:p>
          </p:txBody>
        </p:sp>
      </p:grpSp>
      <p:grpSp>
        <p:nvGrpSpPr>
          <p:cNvPr name="Group 21" id="21"/>
          <p:cNvGrpSpPr/>
          <p:nvPr/>
        </p:nvGrpSpPr>
        <p:grpSpPr>
          <a:xfrm rot="0">
            <a:off x="2973629" y="274320"/>
            <a:ext cx="2378392" cy="411480"/>
            <a:chOff x="0" y="0"/>
            <a:chExt cx="3171190" cy="548640"/>
          </a:xfrm>
        </p:grpSpPr>
        <p:sp>
          <p:nvSpPr>
            <p:cNvPr name="Freeform 22" id="22"/>
            <p:cNvSpPr/>
            <p:nvPr/>
          </p:nvSpPr>
          <p:spPr>
            <a:xfrm flipH="false" flipV="false" rot="0">
              <a:off x="0" y="0"/>
              <a:ext cx="3171190" cy="548640"/>
            </a:xfrm>
            <a:custGeom>
              <a:avLst/>
              <a:gdLst/>
              <a:ahLst/>
              <a:cxnLst/>
              <a:rect r="r" b="b" t="t" l="l"/>
              <a:pathLst>
                <a:path h="548640" w="3171190">
                  <a:moveTo>
                    <a:pt x="0" y="274320"/>
                  </a:moveTo>
                  <a:cubicBezTo>
                    <a:pt x="0" y="122809"/>
                    <a:pt x="122809" y="0"/>
                    <a:pt x="274320" y="0"/>
                  </a:cubicBezTo>
                  <a:lnTo>
                    <a:pt x="2896870" y="0"/>
                  </a:lnTo>
                  <a:cubicBezTo>
                    <a:pt x="3048381" y="0"/>
                    <a:pt x="3171190" y="122809"/>
                    <a:pt x="3171190" y="274320"/>
                  </a:cubicBezTo>
                  <a:cubicBezTo>
                    <a:pt x="3171190" y="425831"/>
                    <a:pt x="3048381" y="548640"/>
                    <a:pt x="2896870" y="548640"/>
                  </a:cubicBezTo>
                  <a:lnTo>
                    <a:pt x="274320" y="548640"/>
                  </a:lnTo>
                  <a:cubicBezTo>
                    <a:pt x="122809" y="548640"/>
                    <a:pt x="0" y="425831"/>
                    <a:pt x="0" y="274320"/>
                  </a:cubicBezTo>
                  <a:close/>
                </a:path>
              </a:pathLst>
            </a:custGeom>
            <a:solidFill>
              <a:srgbClr val="EAF8FA"/>
            </a:solidFill>
          </p:spPr>
          <p:txBody>
            <a:bodyPr/>
            <a:p/>
          </p:txBody>
        </p:sp>
      </p:grpSp>
      <p:grpSp>
        <p:nvGrpSpPr>
          <p:cNvPr name="Group 23" id="23"/>
          <p:cNvGrpSpPr/>
          <p:nvPr/>
        </p:nvGrpSpPr>
        <p:grpSpPr>
          <a:xfrm rot="0">
            <a:off x="2973629" y="274320"/>
            <a:ext cx="2378392" cy="411480"/>
            <a:chOff x="0" y="0"/>
            <a:chExt cx="3171190" cy="548640"/>
          </a:xfrm>
        </p:grpSpPr>
        <p:sp>
          <p:nvSpPr>
            <p:cNvPr name="Freeform 24" id="24"/>
            <p:cNvSpPr/>
            <p:nvPr/>
          </p:nvSpPr>
          <p:spPr>
            <a:xfrm flipH="false" flipV="false" rot="0">
              <a:off x="0" y="0"/>
              <a:ext cx="3171190" cy="548640"/>
            </a:xfrm>
            <a:custGeom>
              <a:avLst/>
              <a:gdLst/>
              <a:ahLst/>
              <a:cxnLst/>
              <a:rect r="r" b="b" t="t" l="l"/>
              <a:pathLst>
                <a:path h="548640" w="3171190">
                  <a:moveTo>
                    <a:pt x="0" y="0"/>
                  </a:moveTo>
                  <a:lnTo>
                    <a:pt x="3171190" y="0"/>
                  </a:lnTo>
                  <a:lnTo>
                    <a:pt x="3171190" y="548640"/>
                  </a:lnTo>
                  <a:lnTo>
                    <a:pt x="0" y="548640"/>
                  </a:lnTo>
                  <a:close/>
                </a:path>
              </a:pathLst>
            </a:custGeom>
            <a:blipFill>
              <a:blip r:embed="rId4">
                <a:alphaModFix amt="0"/>
              </a:blip>
              <a:stretch>
                <a:fillRect l="0" t="-62546" r="0" b="-62548"/>
              </a:stretch>
            </a:blipFill>
          </p:spPr>
          <p:txBody>
            <a:bodyPr/>
            <a:p/>
          </p:txBody>
        </p:sp>
      </p:grpSp>
      <p:grpSp>
        <p:nvGrpSpPr>
          <p:cNvPr name="Group 25" id="25"/>
          <p:cNvGrpSpPr/>
          <p:nvPr/>
        </p:nvGrpSpPr>
        <p:grpSpPr>
          <a:xfrm rot="0">
            <a:off x="2973629" y="260033"/>
            <a:ext cx="2378354" cy="425768"/>
            <a:chOff x="0" y="0"/>
            <a:chExt cx="3171139" cy="567690"/>
          </a:xfrm>
        </p:grpSpPr>
        <p:sp>
          <p:nvSpPr>
            <p:cNvPr name="Freeform 26" id="26"/>
            <p:cNvSpPr/>
            <p:nvPr/>
          </p:nvSpPr>
          <p:spPr>
            <a:xfrm flipH="false" flipV="false" rot="0">
              <a:off x="0" y="0"/>
              <a:ext cx="3171190" cy="567690"/>
            </a:xfrm>
            <a:custGeom>
              <a:avLst/>
              <a:gdLst/>
              <a:ahLst/>
              <a:cxnLst/>
              <a:rect r="r" b="b" t="t" l="l"/>
              <a:pathLst>
                <a:path h="567690" w="3171190">
                  <a:moveTo>
                    <a:pt x="0" y="0"/>
                  </a:moveTo>
                  <a:lnTo>
                    <a:pt x="3171190" y="0"/>
                  </a:lnTo>
                  <a:lnTo>
                    <a:pt x="3171190" y="567690"/>
                  </a:lnTo>
                  <a:lnTo>
                    <a:pt x="0" y="567690"/>
                  </a:lnTo>
                  <a:close/>
                </a:path>
              </a:pathLst>
            </a:custGeom>
            <a:blipFill>
              <a:blip r:embed="rId5">
                <a:alphaModFix amt="0"/>
              </a:blip>
              <a:stretch>
                <a:fillRect l="0" t="-58767" r="1" b="-58769"/>
              </a:stretch>
            </a:blipFill>
          </p:spPr>
          <p:txBody>
            <a:bodyPr/>
            <a:p/>
          </p:txBody>
        </p:sp>
      </p:grpSp>
      <p:grpSp>
        <p:nvGrpSpPr>
          <p:cNvPr name="Group 27" id="27"/>
          <p:cNvGrpSpPr/>
          <p:nvPr/>
        </p:nvGrpSpPr>
        <p:grpSpPr>
          <a:xfrm rot="0">
            <a:off x="2973629" y="245745"/>
            <a:ext cx="2378354" cy="440055"/>
            <a:chOff x="0" y="0"/>
            <a:chExt cx="3171139" cy="586740"/>
          </a:xfrm>
        </p:grpSpPr>
        <p:sp>
          <p:nvSpPr>
            <p:cNvPr name="Freeform 28" id="28"/>
            <p:cNvSpPr/>
            <p:nvPr/>
          </p:nvSpPr>
          <p:spPr>
            <a:xfrm flipH="false" flipV="false" rot="0">
              <a:off x="0" y="0"/>
              <a:ext cx="3171139" cy="586741"/>
            </a:xfrm>
            <a:custGeom>
              <a:avLst/>
              <a:gdLst/>
              <a:ahLst/>
              <a:cxnLst/>
              <a:rect r="r" b="b" t="t" l="l"/>
              <a:pathLst>
                <a:path h="586741" w="3171139">
                  <a:moveTo>
                    <a:pt x="0" y="0"/>
                  </a:moveTo>
                  <a:lnTo>
                    <a:pt x="3171139" y="0"/>
                  </a:lnTo>
                  <a:lnTo>
                    <a:pt x="3171139" y="586741"/>
                  </a:lnTo>
                  <a:lnTo>
                    <a:pt x="0" y="586741"/>
                  </a:lnTo>
                  <a:close/>
                </a:path>
              </a:pathLst>
            </a:custGeom>
            <a:blipFill>
              <a:blip r:embed="rId6">
                <a:alphaModFix amt="0"/>
              </a:blip>
              <a:stretch>
                <a:fillRect l="0" t="-55310" r="0" b="-55310"/>
              </a:stretch>
            </a:blipFill>
          </p:spPr>
          <p:txBody>
            <a:bodyPr/>
            <a:p/>
          </p:txBody>
        </p:sp>
        <p:sp>
          <p:nvSpPr>
            <p:cNvPr name="TextBox 29" id="29"/>
            <p:cNvSpPr txBox="true"/>
            <p:nvPr/>
          </p:nvSpPr>
          <p:spPr>
            <a:xfrm>
              <a:off x="0" y="-19050"/>
              <a:ext cx="3171139"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Metodologi</a:t>
              </a:r>
            </a:p>
          </p:txBody>
        </p:sp>
      </p:grpSp>
      <p:grpSp>
        <p:nvGrpSpPr>
          <p:cNvPr name="Group 30" id="30"/>
          <p:cNvGrpSpPr/>
          <p:nvPr/>
        </p:nvGrpSpPr>
        <p:grpSpPr>
          <a:xfrm rot="0">
            <a:off x="5461711" y="274320"/>
            <a:ext cx="1591056" cy="411480"/>
            <a:chOff x="0" y="0"/>
            <a:chExt cx="2121408" cy="548640"/>
          </a:xfrm>
        </p:grpSpPr>
        <p:sp>
          <p:nvSpPr>
            <p:cNvPr name="Freeform 31" id="31"/>
            <p:cNvSpPr/>
            <p:nvPr/>
          </p:nvSpPr>
          <p:spPr>
            <a:xfrm flipH="false" flipV="false" rot="0">
              <a:off x="0" y="0"/>
              <a:ext cx="2121408" cy="548640"/>
            </a:xfrm>
            <a:custGeom>
              <a:avLst/>
              <a:gdLst/>
              <a:ahLst/>
              <a:cxnLst/>
              <a:rect r="r" b="b" t="t" l="l"/>
              <a:pathLst>
                <a:path h="548640" w="2121408">
                  <a:moveTo>
                    <a:pt x="0" y="274320"/>
                  </a:moveTo>
                  <a:cubicBezTo>
                    <a:pt x="0" y="122809"/>
                    <a:pt x="122809" y="0"/>
                    <a:pt x="274320" y="0"/>
                  </a:cubicBezTo>
                  <a:lnTo>
                    <a:pt x="1847088" y="0"/>
                  </a:lnTo>
                  <a:cubicBezTo>
                    <a:pt x="1998599" y="0"/>
                    <a:pt x="2121408" y="122809"/>
                    <a:pt x="2121408" y="274320"/>
                  </a:cubicBezTo>
                  <a:cubicBezTo>
                    <a:pt x="2121408" y="425831"/>
                    <a:pt x="1998599" y="548640"/>
                    <a:pt x="1847088" y="548640"/>
                  </a:cubicBezTo>
                  <a:lnTo>
                    <a:pt x="274320" y="548640"/>
                  </a:lnTo>
                  <a:cubicBezTo>
                    <a:pt x="122809" y="548640"/>
                    <a:pt x="0" y="425831"/>
                    <a:pt x="0" y="274320"/>
                  </a:cubicBezTo>
                  <a:close/>
                </a:path>
              </a:pathLst>
            </a:custGeom>
            <a:solidFill>
              <a:srgbClr val="EAF8FA"/>
            </a:solidFill>
          </p:spPr>
          <p:txBody>
            <a:bodyPr/>
            <a:p/>
          </p:txBody>
        </p:sp>
      </p:grpSp>
      <p:grpSp>
        <p:nvGrpSpPr>
          <p:cNvPr name="Group 32" id="32"/>
          <p:cNvGrpSpPr/>
          <p:nvPr/>
        </p:nvGrpSpPr>
        <p:grpSpPr>
          <a:xfrm rot="0">
            <a:off x="5461711" y="274320"/>
            <a:ext cx="1591056" cy="411480"/>
            <a:chOff x="0" y="0"/>
            <a:chExt cx="2121408" cy="548640"/>
          </a:xfrm>
        </p:grpSpPr>
        <p:sp>
          <p:nvSpPr>
            <p:cNvPr name="Freeform 33" id="33"/>
            <p:cNvSpPr/>
            <p:nvPr/>
          </p:nvSpPr>
          <p:spPr>
            <a:xfrm flipH="false" flipV="false" rot="0">
              <a:off x="0" y="0"/>
              <a:ext cx="2121408" cy="548640"/>
            </a:xfrm>
            <a:custGeom>
              <a:avLst/>
              <a:gdLst/>
              <a:ahLst/>
              <a:cxnLst/>
              <a:rect r="r" b="b" t="t" l="l"/>
              <a:pathLst>
                <a:path h="548640" w="2121408">
                  <a:moveTo>
                    <a:pt x="0" y="0"/>
                  </a:moveTo>
                  <a:lnTo>
                    <a:pt x="2121408" y="0"/>
                  </a:lnTo>
                  <a:lnTo>
                    <a:pt x="2121408" y="548640"/>
                  </a:lnTo>
                  <a:lnTo>
                    <a:pt x="0" y="548640"/>
                  </a:lnTo>
                  <a:close/>
                </a:path>
              </a:pathLst>
            </a:custGeom>
            <a:blipFill>
              <a:blip r:embed="rId4">
                <a:alphaModFix amt="0"/>
              </a:blip>
              <a:stretch>
                <a:fillRect l="0" t="-25289" r="0" b="-25289"/>
              </a:stretch>
            </a:blipFill>
          </p:spPr>
          <p:txBody>
            <a:bodyPr/>
            <a:p/>
          </p:txBody>
        </p:sp>
      </p:grpSp>
      <p:grpSp>
        <p:nvGrpSpPr>
          <p:cNvPr name="Group 34" id="34"/>
          <p:cNvGrpSpPr/>
          <p:nvPr/>
        </p:nvGrpSpPr>
        <p:grpSpPr>
          <a:xfrm rot="0">
            <a:off x="5461711" y="260033"/>
            <a:ext cx="1591056" cy="425768"/>
            <a:chOff x="0" y="0"/>
            <a:chExt cx="2121408" cy="567690"/>
          </a:xfrm>
        </p:grpSpPr>
        <p:sp>
          <p:nvSpPr>
            <p:cNvPr name="Freeform 35" id="35"/>
            <p:cNvSpPr/>
            <p:nvPr/>
          </p:nvSpPr>
          <p:spPr>
            <a:xfrm flipH="false" flipV="false" rot="0">
              <a:off x="0" y="0"/>
              <a:ext cx="2121408" cy="567690"/>
            </a:xfrm>
            <a:custGeom>
              <a:avLst/>
              <a:gdLst/>
              <a:ahLst/>
              <a:cxnLst/>
              <a:rect r="r" b="b" t="t" l="l"/>
              <a:pathLst>
                <a:path h="567690" w="2121408">
                  <a:moveTo>
                    <a:pt x="0" y="0"/>
                  </a:moveTo>
                  <a:lnTo>
                    <a:pt x="2121408" y="0"/>
                  </a:lnTo>
                  <a:lnTo>
                    <a:pt x="2121408" y="567690"/>
                  </a:lnTo>
                  <a:lnTo>
                    <a:pt x="0" y="567690"/>
                  </a:lnTo>
                  <a:close/>
                </a:path>
              </a:pathLst>
            </a:custGeom>
            <a:blipFill>
              <a:blip r:embed="rId5">
                <a:alphaModFix amt="0"/>
              </a:blip>
              <a:stretch>
                <a:fillRect l="0" t="-22762" r="0" b="-22762"/>
              </a:stretch>
            </a:blipFill>
          </p:spPr>
          <p:txBody>
            <a:bodyPr/>
            <a:p/>
          </p:txBody>
        </p:sp>
      </p:grpSp>
      <p:grpSp>
        <p:nvGrpSpPr>
          <p:cNvPr name="Group 36" id="36"/>
          <p:cNvGrpSpPr/>
          <p:nvPr/>
        </p:nvGrpSpPr>
        <p:grpSpPr>
          <a:xfrm rot="0">
            <a:off x="5461711" y="245745"/>
            <a:ext cx="1591056" cy="440055"/>
            <a:chOff x="0" y="0"/>
            <a:chExt cx="2121408" cy="586740"/>
          </a:xfrm>
        </p:grpSpPr>
        <p:sp>
          <p:nvSpPr>
            <p:cNvPr name="Freeform 37" id="37"/>
            <p:cNvSpPr/>
            <p:nvPr/>
          </p:nvSpPr>
          <p:spPr>
            <a:xfrm flipH="false" flipV="false" rot="0">
              <a:off x="0" y="0"/>
              <a:ext cx="2121408" cy="586741"/>
            </a:xfrm>
            <a:custGeom>
              <a:avLst/>
              <a:gdLst/>
              <a:ahLst/>
              <a:cxnLst/>
              <a:rect r="r" b="b" t="t" l="l"/>
              <a:pathLst>
                <a:path h="586741" w="2121408">
                  <a:moveTo>
                    <a:pt x="0" y="0"/>
                  </a:moveTo>
                  <a:lnTo>
                    <a:pt x="2121408" y="0"/>
                  </a:lnTo>
                  <a:lnTo>
                    <a:pt x="2121408" y="586741"/>
                  </a:lnTo>
                  <a:lnTo>
                    <a:pt x="0" y="586741"/>
                  </a:lnTo>
                  <a:close/>
                </a:path>
              </a:pathLst>
            </a:custGeom>
            <a:blipFill>
              <a:blip r:embed="rId6">
                <a:alphaModFix amt="0"/>
              </a:blip>
              <a:stretch>
                <a:fillRect l="0" t="-20449" r="0" b="-20449"/>
              </a:stretch>
            </a:blipFill>
          </p:spPr>
          <p:txBody>
            <a:bodyPr/>
            <a:p/>
          </p:txBody>
        </p:sp>
        <p:sp>
          <p:nvSpPr>
            <p:cNvPr name="TextBox 38" id="38"/>
            <p:cNvSpPr txBox="true"/>
            <p:nvPr/>
          </p:nvSpPr>
          <p:spPr>
            <a:xfrm>
              <a:off x="0" y="-19050"/>
              <a:ext cx="2121408"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Tujuan 1</a:t>
              </a:r>
            </a:p>
          </p:txBody>
        </p:sp>
      </p:grpSp>
      <p:grpSp>
        <p:nvGrpSpPr>
          <p:cNvPr name="Group 39" id="39"/>
          <p:cNvGrpSpPr/>
          <p:nvPr/>
        </p:nvGrpSpPr>
        <p:grpSpPr>
          <a:xfrm rot="0">
            <a:off x="7162495" y="274320"/>
            <a:ext cx="2490788" cy="411480"/>
            <a:chOff x="0" y="0"/>
            <a:chExt cx="3321050" cy="548640"/>
          </a:xfrm>
        </p:grpSpPr>
        <p:sp>
          <p:nvSpPr>
            <p:cNvPr name="Freeform 40" id="40"/>
            <p:cNvSpPr/>
            <p:nvPr/>
          </p:nvSpPr>
          <p:spPr>
            <a:xfrm flipH="false" flipV="false" rot="0">
              <a:off x="0" y="0"/>
              <a:ext cx="3321050" cy="548640"/>
            </a:xfrm>
            <a:custGeom>
              <a:avLst/>
              <a:gdLst/>
              <a:ahLst/>
              <a:cxnLst/>
              <a:rect r="r" b="b" t="t" l="l"/>
              <a:pathLst>
                <a:path h="548640" w="3321050">
                  <a:moveTo>
                    <a:pt x="0" y="274320"/>
                  </a:moveTo>
                  <a:cubicBezTo>
                    <a:pt x="0" y="122809"/>
                    <a:pt x="122809" y="0"/>
                    <a:pt x="274320" y="0"/>
                  </a:cubicBezTo>
                  <a:lnTo>
                    <a:pt x="3046730" y="0"/>
                  </a:lnTo>
                  <a:cubicBezTo>
                    <a:pt x="3198241" y="0"/>
                    <a:pt x="3321050" y="122809"/>
                    <a:pt x="3321050" y="274320"/>
                  </a:cubicBezTo>
                  <a:cubicBezTo>
                    <a:pt x="3321050" y="425831"/>
                    <a:pt x="3198241" y="548640"/>
                    <a:pt x="3046730" y="548640"/>
                  </a:cubicBezTo>
                  <a:lnTo>
                    <a:pt x="274320" y="548640"/>
                  </a:lnTo>
                  <a:cubicBezTo>
                    <a:pt x="122809" y="548640"/>
                    <a:pt x="0" y="425831"/>
                    <a:pt x="0" y="274320"/>
                  </a:cubicBezTo>
                  <a:close/>
                </a:path>
              </a:pathLst>
            </a:custGeom>
            <a:solidFill>
              <a:srgbClr val="0B5E6E"/>
            </a:solidFill>
          </p:spPr>
          <p:txBody>
            <a:bodyPr/>
            <a:p/>
          </p:txBody>
        </p:sp>
      </p:grpSp>
      <p:grpSp>
        <p:nvGrpSpPr>
          <p:cNvPr name="Group 41" id="41"/>
          <p:cNvGrpSpPr/>
          <p:nvPr/>
        </p:nvGrpSpPr>
        <p:grpSpPr>
          <a:xfrm rot="0">
            <a:off x="7162495" y="274320"/>
            <a:ext cx="2490788" cy="411480"/>
            <a:chOff x="0" y="0"/>
            <a:chExt cx="3321050" cy="548640"/>
          </a:xfrm>
        </p:grpSpPr>
        <p:sp>
          <p:nvSpPr>
            <p:cNvPr name="Freeform 42" id="42"/>
            <p:cNvSpPr/>
            <p:nvPr/>
          </p:nvSpPr>
          <p:spPr>
            <a:xfrm flipH="false" flipV="false" rot="0">
              <a:off x="0" y="0"/>
              <a:ext cx="3321050" cy="548640"/>
            </a:xfrm>
            <a:custGeom>
              <a:avLst/>
              <a:gdLst/>
              <a:ahLst/>
              <a:cxnLst/>
              <a:rect r="r" b="b" t="t" l="l"/>
              <a:pathLst>
                <a:path h="548640" w="3321050">
                  <a:moveTo>
                    <a:pt x="0" y="0"/>
                  </a:moveTo>
                  <a:lnTo>
                    <a:pt x="3321050" y="0"/>
                  </a:lnTo>
                  <a:lnTo>
                    <a:pt x="3321050" y="548640"/>
                  </a:lnTo>
                  <a:lnTo>
                    <a:pt x="0" y="548640"/>
                  </a:lnTo>
                  <a:close/>
                </a:path>
              </a:pathLst>
            </a:custGeom>
            <a:blipFill>
              <a:blip r:embed="rId4">
                <a:alphaModFix amt="0"/>
              </a:blip>
              <a:stretch>
                <a:fillRect l="0" t="-67865" r="0" b="-67865"/>
              </a:stretch>
            </a:blipFill>
          </p:spPr>
          <p:txBody>
            <a:bodyPr/>
            <a:p/>
          </p:txBody>
        </p:sp>
      </p:grpSp>
      <p:grpSp>
        <p:nvGrpSpPr>
          <p:cNvPr name="Group 43" id="43"/>
          <p:cNvGrpSpPr/>
          <p:nvPr/>
        </p:nvGrpSpPr>
        <p:grpSpPr>
          <a:xfrm rot="0">
            <a:off x="7162495" y="260033"/>
            <a:ext cx="2490826" cy="425768"/>
            <a:chOff x="0" y="0"/>
            <a:chExt cx="3321101" cy="567690"/>
          </a:xfrm>
        </p:grpSpPr>
        <p:sp>
          <p:nvSpPr>
            <p:cNvPr name="Freeform 44" id="44"/>
            <p:cNvSpPr/>
            <p:nvPr/>
          </p:nvSpPr>
          <p:spPr>
            <a:xfrm flipH="false" flipV="false" rot="0">
              <a:off x="0" y="0"/>
              <a:ext cx="3321050" cy="567690"/>
            </a:xfrm>
            <a:custGeom>
              <a:avLst/>
              <a:gdLst/>
              <a:ahLst/>
              <a:cxnLst/>
              <a:rect r="r" b="b" t="t" l="l"/>
              <a:pathLst>
                <a:path h="567690" w="3321050">
                  <a:moveTo>
                    <a:pt x="0" y="0"/>
                  </a:moveTo>
                  <a:lnTo>
                    <a:pt x="3321050" y="0"/>
                  </a:lnTo>
                  <a:lnTo>
                    <a:pt x="3321050" y="567690"/>
                  </a:lnTo>
                  <a:lnTo>
                    <a:pt x="0" y="567690"/>
                  </a:lnTo>
                  <a:close/>
                </a:path>
              </a:pathLst>
            </a:custGeom>
            <a:blipFill>
              <a:blip r:embed="rId5">
                <a:alphaModFix amt="0"/>
              </a:blip>
              <a:stretch>
                <a:fillRect l="0" t="-63912" r="-1" b="-63910"/>
              </a:stretch>
            </a:blipFill>
          </p:spPr>
          <p:txBody>
            <a:bodyPr/>
            <a:p/>
          </p:txBody>
        </p:sp>
      </p:grpSp>
      <p:grpSp>
        <p:nvGrpSpPr>
          <p:cNvPr name="Group 45" id="45"/>
          <p:cNvGrpSpPr/>
          <p:nvPr/>
        </p:nvGrpSpPr>
        <p:grpSpPr>
          <a:xfrm rot="0">
            <a:off x="7162495" y="245745"/>
            <a:ext cx="2490826" cy="440055"/>
            <a:chOff x="0" y="0"/>
            <a:chExt cx="3321101" cy="586740"/>
          </a:xfrm>
        </p:grpSpPr>
        <p:sp>
          <p:nvSpPr>
            <p:cNvPr name="Freeform 46" id="46"/>
            <p:cNvSpPr/>
            <p:nvPr/>
          </p:nvSpPr>
          <p:spPr>
            <a:xfrm flipH="false" flipV="false" rot="0">
              <a:off x="0" y="0"/>
              <a:ext cx="3321101" cy="586741"/>
            </a:xfrm>
            <a:custGeom>
              <a:avLst/>
              <a:gdLst/>
              <a:ahLst/>
              <a:cxnLst/>
              <a:rect r="r" b="b" t="t" l="l"/>
              <a:pathLst>
                <a:path h="586741" w="3321101">
                  <a:moveTo>
                    <a:pt x="0" y="0"/>
                  </a:moveTo>
                  <a:lnTo>
                    <a:pt x="3321101" y="0"/>
                  </a:lnTo>
                  <a:lnTo>
                    <a:pt x="3321101" y="586741"/>
                  </a:lnTo>
                  <a:lnTo>
                    <a:pt x="0" y="586741"/>
                  </a:lnTo>
                  <a:close/>
                </a:path>
              </a:pathLst>
            </a:custGeom>
            <a:blipFill>
              <a:blip r:embed="rId6">
                <a:alphaModFix amt="0"/>
              </a:blip>
              <a:stretch>
                <a:fillRect l="0" t="-60290" r="0" b="-60290"/>
              </a:stretch>
            </a:blipFill>
          </p:spPr>
          <p:txBody>
            <a:bodyPr/>
            <a:p/>
          </p:txBody>
        </p:sp>
        <p:sp>
          <p:nvSpPr>
            <p:cNvPr name="TextBox 47" id="47"/>
            <p:cNvSpPr txBox="true"/>
            <p:nvPr/>
          </p:nvSpPr>
          <p:spPr>
            <a:xfrm>
              <a:off x="0" y="-19050"/>
              <a:ext cx="3321101" cy="605790"/>
            </a:xfrm>
            <a:prstGeom prst="rect">
              <a:avLst/>
            </a:prstGeom>
          </p:spPr>
          <p:txBody>
            <a:bodyPr anchor="ctr" rtlCol="false" tIns="0" lIns="0" bIns="0" rIns="0"/>
            <a:lstStyle/>
            <a:p>
              <a:pPr algn="ctr">
                <a:lnSpc>
                  <a:spcPts val="1889"/>
                </a:lnSpc>
              </a:pPr>
              <a:r>
                <a:rPr lang="en-US" sz="1575" b="true">
                  <a:solidFill>
                    <a:srgbClr val="FFFFFF"/>
                  </a:solidFill>
                  <a:latin typeface="Calibri (MS) Bold"/>
                  <a:ea typeface="Calibri (MS) Bold"/>
                  <a:cs typeface="Calibri (MS) Bold"/>
                  <a:sym typeface="Calibri (MS) Bold"/>
                </a:rPr>
                <a:t>Tujuan 2</a:t>
              </a:r>
            </a:p>
          </p:txBody>
        </p:sp>
      </p:grpSp>
      <p:grpSp>
        <p:nvGrpSpPr>
          <p:cNvPr name="Group 48" id="48"/>
          <p:cNvGrpSpPr/>
          <p:nvPr/>
        </p:nvGrpSpPr>
        <p:grpSpPr>
          <a:xfrm rot="0">
            <a:off x="9763049" y="274320"/>
            <a:ext cx="1366076" cy="411480"/>
            <a:chOff x="0" y="0"/>
            <a:chExt cx="1821434" cy="548640"/>
          </a:xfrm>
        </p:grpSpPr>
        <p:sp>
          <p:nvSpPr>
            <p:cNvPr name="Freeform 49" id="49"/>
            <p:cNvSpPr/>
            <p:nvPr/>
          </p:nvSpPr>
          <p:spPr>
            <a:xfrm flipH="false" flipV="false" rot="0">
              <a:off x="0" y="0"/>
              <a:ext cx="1821434" cy="548640"/>
            </a:xfrm>
            <a:custGeom>
              <a:avLst/>
              <a:gdLst/>
              <a:ahLst/>
              <a:cxnLst/>
              <a:rect r="r" b="b" t="t" l="l"/>
              <a:pathLst>
                <a:path h="548640" w="1821434">
                  <a:moveTo>
                    <a:pt x="0" y="274320"/>
                  </a:moveTo>
                  <a:cubicBezTo>
                    <a:pt x="0" y="122809"/>
                    <a:pt x="122809" y="0"/>
                    <a:pt x="274320" y="0"/>
                  </a:cubicBezTo>
                  <a:lnTo>
                    <a:pt x="1547114" y="0"/>
                  </a:lnTo>
                  <a:cubicBezTo>
                    <a:pt x="1698625" y="0"/>
                    <a:pt x="1821434" y="122809"/>
                    <a:pt x="1821434" y="274320"/>
                  </a:cubicBezTo>
                  <a:cubicBezTo>
                    <a:pt x="1821434" y="425831"/>
                    <a:pt x="1698625" y="548640"/>
                    <a:pt x="1547114" y="548640"/>
                  </a:cubicBezTo>
                  <a:lnTo>
                    <a:pt x="274320" y="548640"/>
                  </a:lnTo>
                  <a:cubicBezTo>
                    <a:pt x="122809" y="548640"/>
                    <a:pt x="0" y="425831"/>
                    <a:pt x="0" y="274320"/>
                  </a:cubicBezTo>
                  <a:close/>
                </a:path>
              </a:pathLst>
            </a:custGeom>
            <a:solidFill>
              <a:srgbClr val="EAF8FA"/>
            </a:solidFill>
          </p:spPr>
          <p:txBody>
            <a:bodyPr/>
            <a:p/>
          </p:txBody>
        </p:sp>
      </p:grpSp>
      <p:grpSp>
        <p:nvGrpSpPr>
          <p:cNvPr name="Group 50" id="50"/>
          <p:cNvGrpSpPr/>
          <p:nvPr/>
        </p:nvGrpSpPr>
        <p:grpSpPr>
          <a:xfrm rot="0">
            <a:off x="9763049" y="274320"/>
            <a:ext cx="1366076" cy="411480"/>
            <a:chOff x="0" y="0"/>
            <a:chExt cx="1821434" cy="548640"/>
          </a:xfrm>
        </p:grpSpPr>
        <p:sp>
          <p:nvSpPr>
            <p:cNvPr name="Freeform 51" id="51"/>
            <p:cNvSpPr/>
            <p:nvPr/>
          </p:nvSpPr>
          <p:spPr>
            <a:xfrm flipH="false" flipV="false" rot="0">
              <a:off x="0" y="0"/>
              <a:ext cx="1821434" cy="548640"/>
            </a:xfrm>
            <a:custGeom>
              <a:avLst/>
              <a:gdLst/>
              <a:ahLst/>
              <a:cxnLst/>
              <a:rect r="r" b="b" t="t" l="l"/>
              <a:pathLst>
                <a:path h="548640" w="1821434">
                  <a:moveTo>
                    <a:pt x="0" y="0"/>
                  </a:moveTo>
                  <a:lnTo>
                    <a:pt x="1821434" y="0"/>
                  </a:lnTo>
                  <a:lnTo>
                    <a:pt x="1821434" y="548640"/>
                  </a:lnTo>
                  <a:lnTo>
                    <a:pt x="0" y="548640"/>
                  </a:lnTo>
                  <a:close/>
                </a:path>
              </a:pathLst>
            </a:custGeom>
            <a:blipFill>
              <a:blip r:embed="rId4">
                <a:alphaModFix amt="0"/>
              </a:blip>
              <a:stretch>
                <a:fillRect l="0" t="-14643" r="0" b="-14643"/>
              </a:stretch>
            </a:blipFill>
          </p:spPr>
          <p:txBody>
            <a:bodyPr/>
            <a:p/>
          </p:txBody>
        </p:sp>
      </p:grpSp>
      <p:grpSp>
        <p:nvGrpSpPr>
          <p:cNvPr name="Group 52" id="52"/>
          <p:cNvGrpSpPr/>
          <p:nvPr/>
        </p:nvGrpSpPr>
        <p:grpSpPr>
          <a:xfrm rot="0">
            <a:off x="9763049" y="260033"/>
            <a:ext cx="1366114" cy="425768"/>
            <a:chOff x="0" y="0"/>
            <a:chExt cx="1821485" cy="567690"/>
          </a:xfrm>
        </p:grpSpPr>
        <p:sp>
          <p:nvSpPr>
            <p:cNvPr name="Freeform 53" id="53"/>
            <p:cNvSpPr/>
            <p:nvPr/>
          </p:nvSpPr>
          <p:spPr>
            <a:xfrm flipH="false" flipV="false" rot="0">
              <a:off x="0" y="0"/>
              <a:ext cx="1821434" cy="567690"/>
            </a:xfrm>
            <a:custGeom>
              <a:avLst/>
              <a:gdLst/>
              <a:ahLst/>
              <a:cxnLst/>
              <a:rect r="r" b="b" t="t" l="l"/>
              <a:pathLst>
                <a:path h="567690" w="1821434">
                  <a:moveTo>
                    <a:pt x="0" y="0"/>
                  </a:moveTo>
                  <a:lnTo>
                    <a:pt x="1821434" y="0"/>
                  </a:lnTo>
                  <a:lnTo>
                    <a:pt x="1821434" y="567690"/>
                  </a:lnTo>
                  <a:lnTo>
                    <a:pt x="0" y="567690"/>
                  </a:lnTo>
                  <a:close/>
                </a:path>
              </a:pathLst>
            </a:custGeom>
            <a:blipFill>
              <a:blip r:embed="rId5">
                <a:alphaModFix amt="0"/>
              </a:blip>
              <a:stretch>
                <a:fillRect l="0" t="-12476" r="-2" b="-12476"/>
              </a:stretch>
            </a:blipFill>
          </p:spPr>
          <p:txBody>
            <a:bodyPr/>
            <a:p/>
          </p:txBody>
        </p:sp>
      </p:grpSp>
      <p:grpSp>
        <p:nvGrpSpPr>
          <p:cNvPr name="Group 54" id="54"/>
          <p:cNvGrpSpPr/>
          <p:nvPr/>
        </p:nvGrpSpPr>
        <p:grpSpPr>
          <a:xfrm rot="0">
            <a:off x="9763049" y="245745"/>
            <a:ext cx="1366114" cy="440055"/>
            <a:chOff x="0" y="0"/>
            <a:chExt cx="1821485" cy="586740"/>
          </a:xfrm>
        </p:grpSpPr>
        <p:sp>
          <p:nvSpPr>
            <p:cNvPr name="Freeform 55" id="55"/>
            <p:cNvSpPr/>
            <p:nvPr/>
          </p:nvSpPr>
          <p:spPr>
            <a:xfrm flipH="false" flipV="false" rot="0">
              <a:off x="0" y="0"/>
              <a:ext cx="1821485" cy="586741"/>
            </a:xfrm>
            <a:custGeom>
              <a:avLst/>
              <a:gdLst/>
              <a:ahLst/>
              <a:cxnLst/>
              <a:rect r="r" b="b" t="t" l="l"/>
              <a:pathLst>
                <a:path h="586741" w="1821485">
                  <a:moveTo>
                    <a:pt x="0" y="0"/>
                  </a:moveTo>
                  <a:lnTo>
                    <a:pt x="1821485" y="0"/>
                  </a:lnTo>
                  <a:lnTo>
                    <a:pt x="1821485" y="586741"/>
                  </a:lnTo>
                  <a:lnTo>
                    <a:pt x="0" y="586741"/>
                  </a:lnTo>
                  <a:close/>
                </a:path>
              </a:pathLst>
            </a:custGeom>
            <a:blipFill>
              <a:blip r:embed="rId6">
                <a:alphaModFix amt="0"/>
              </a:blip>
              <a:stretch>
                <a:fillRect l="0" t="-10489" r="0" b="-10489"/>
              </a:stretch>
            </a:blipFill>
          </p:spPr>
          <p:txBody>
            <a:bodyPr/>
            <a:p/>
          </p:txBody>
        </p:sp>
        <p:sp>
          <p:nvSpPr>
            <p:cNvPr name="TextBox 56" id="56"/>
            <p:cNvSpPr txBox="true"/>
            <p:nvPr/>
          </p:nvSpPr>
          <p:spPr>
            <a:xfrm>
              <a:off x="0" y="-19050"/>
              <a:ext cx="1821485"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Tujuan 3</a:t>
              </a:r>
            </a:p>
          </p:txBody>
        </p:sp>
      </p:grpSp>
      <p:grpSp>
        <p:nvGrpSpPr>
          <p:cNvPr name="Group 57" id="57"/>
          <p:cNvGrpSpPr/>
          <p:nvPr/>
        </p:nvGrpSpPr>
        <p:grpSpPr>
          <a:xfrm rot="0">
            <a:off x="11238890" y="274320"/>
            <a:ext cx="1253680" cy="411480"/>
            <a:chOff x="0" y="0"/>
            <a:chExt cx="1671574" cy="548640"/>
          </a:xfrm>
        </p:grpSpPr>
        <p:sp>
          <p:nvSpPr>
            <p:cNvPr name="Freeform 58" id="58"/>
            <p:cNvSpPr/>
            <p:nvPr/>
          </p:nvSpPr>
          <p:spPr>
            <a:xfrm flipH="false" flipV="false" rot="0">
              <a:off x="0" y="0"/>
              <a:ext cx="1671574" cy="548640"/>
            </a:xfrm>
            <a:custGeom>
              <a:avLst/>
              <a:gdLst/>
              <a:ahLst/>
              <a:cxnLst/>
              <a:rect r="r" b="b" t="t" l="l"/>
              <a:pathLst>
                <a:path h="548640" w="1671574">
                  <a:moveTo>
                    <a:pt x="0" y="274320"/>
                  </a:moveTo>
                  <a:cubicBezTo>
                    <a:pt x="0" y="122809"/>
                    <a:pt x="122809" y="0"/>
                    <a:pt x="274320" y="0"/>
                  </a:cubicBezTo>
                  <a:lnTo>
                    <a:pt x="1397254" y="0"/>
                  </a:lnTo>
                  <a:cubicBezTo>
                    <a:pt x="1548765" y="0"/>
                    <a:pt x="1671574" y="122809"/>
                    <a:pt x="1671574" y="274320"/>
                  </a:cubicBezTo>
                  <a:cubicBezTo>
                    <a:pt x="1671574" y="425831"/>
                    <a:pt x="1548765" y="548640"/>
                    <a:pt x="1397254" y="548640"/>
                  </a:cubicBezTo>
                  <a:lnTo>
                    <a:pt x="274320" y="548640"/>
                  </a:lnTo>
                  <a:cubicBezTo>
                    <a:pt x="122809" y="548640"/>
                    <a:pt x="0" y="425831"/>
                    <a:pt x="0" y="274320"/>
                  </a:cubicBezTo>
                  <a:close/>
                </a:path>
              </a:pathLst>
            </a:custGeom>
            <a:solidFill>
              <a:srgbClr val="EAF8FA"/>
            </a:solidFill>
          </p:spPr>
          <p:txBody>
            <a:bodyPr/>
            <a:p/>
          </p:txBody>
        </p:sp>
      </p:grpSp>
      <p:grpSp>
        <p:nvGrpSpPr>
          <p:cNvPr name="Group 59" id="59"/>
          <p:cNvGrpSpPr/>
          <p:nvPr/>
        </p:nvGrpSpPr>
        <p:grpSpPr>
          <a:xfrm rot="0">
            <a:off x="11238890" y="274320"/>
            <a:ext cx="1253680" cy="411480"/>
            <a:chOff x="0" y="0"/>
            <a:chExt cx="1671574" cy="548640"/>
          </a:xfrm>
        </p:grpSpPr>
        <p:sp>
          <p:nvSpPr>
            <p:cNvPr name="Freeform 60" id="60"/>
            <p:cNvSpPr/>
            <p:nvPr/>
          </p:nvSpPr>
          <p:spPr>
            <a:xfrm flipH="false" flipV="false" rot="0">
              <a:off x="0" y="0"/>
              <a:ext cx="1671574" cy="548640"/>
            </a:xfrm>
            <a:custGeom>
              <a:avLst/>
              <a:gdLst/>
              <a:ahLst/>
              <a:cxnLst/>
              <a:rect r="r" b="b" t="t" l="l"/>
              <a:pathLst>
                <a:path h="548640" w="1671574">
                  <a:moveTo>
                    <a:pt x="0" y="0"/>
                  </a:moveTo>
                  <a:lnTo>
                    <a:pt x="1671574" y="0"/>
                  </a:lnTo>
                  <a:lnTo>
                    <a:pt x="1671574" y="548640"/>
                  </a:lnTo>
                  <a:lnTo>
                    <a:pt x="0" y="548640"/>
                  </a:lnTo>
                  <a:close/>
                </a:path>
              </a:pathLst>
            </a:custGeom>
            <a:blipFill>
              <a:blip r:embed="rId4">
                <a:alphaModFix amt="0"/>
              </a:blip>
              <a:stretch>
                <a:fillRect l="0" t="-9324" r="0" b="-9326"/>
              </a:stretch>
            </a:blipFill>
          </p:spPr>
          <p:txBody>
            <a:bodyPr/>
            <a:p/>
          </p:txBody>
        </p:sp>
      </p:grpSp>
      <p:grpSp>
        <p:nvGrpSpPr>
          <p:cNvPr name="Group 61" id="61"/>
          <p:cNvGrpSpPr/>
          <p:nvPr/>
        </p:nvGrpSpPr>
        <p:grpSpPr>
          <a:xfrm rot="0">
            <a:off x="11238890" y="260033"/>
            <a:ext cx="1253642" cy="425768"/>
            <a:chOff x="0" y="0"/>
            <a:chExt cx="1671523" cy="567690"/>
          </a:xfrm>
        </p:grpSpPr>
        <p:sp>
          <p:nvSpPr>
            <p:cNvPr name="Freeform 62" id="62"/>
            <p:cNvSpPr/>
            <p:nvPr/>
          </p:nvSpPr>
          <p:spPr>
            <a:xfrm flipH="false" flipV="false" rot="0">
              <a:off x="0" y="0"/>
              <a:ext cx="1671574" cy="567690"/>
            </a:xfrm>
            <a:custGeom>
              <a:avLst/>
              <a:gdLst/>
              <a:ahLst/>
              <a:cxnLst/>
              <a:rect r="r" b="b" t="t" l="l"/>
              <a:pathLst>
                <a:path h="567690" w="1671574">
                  <a:moveTo>
                    <a:pt x="0" y="0"/>
                  </a:moveTo>
                  <a:lnTo>
                    <a:pt x="1671574" y="0"/>
                  </a:lnTo>
                  <a:lnTo>
                    <a:pt x="1671574" y="567690"/>
                  </a:lnTo>
                  <a:lnTo>
                    <a:pt x="0" y="567690"/>
                  </a:lnTo>
                  <a:close/>
                </a:path>
              </a:pathLst>
            </a:custGeom>
            <a:blipFill>
              <a:blip r:embed="rId5">
                <a:alphaModFix amt="0"/>
              </a:blip>
              <a:stretch>
                <a:fillRect l="0" t="-7333" r="3" b="-7331"/>
              </a:stretch>
            </a:blipFill>
          </p:spPr>
          <p:txBody>
            <a:bodyPr/>
            <a:p/>
          </p:txBody>
        </p:sp>
      </p:grpSp>
      <p:grpSp>
        <p:nvGrpSpPr>
          <p:cNvPr name="Group 63" id="63"/>
          <p:cNvGrpSpPr/>
          <p:nvPr/>
        </p:nvGrpSpPr>
        <p:grpSpPr>
          <a:xfrm rot="0">
            <a:off x="11238890" y="245745"/>
            <a:ext cx="1253642" cy="440055"/>
            <a:chOff x="0" y="0"/>
            <a:chExt cx="1671523" cy="586740"/>
          </a:xfrm>
        </p:grpSpPr>
        <p:sp>
          <p:nvSpPr>
            <p:cNvPr name="Freeform 64" id="64"/>
            <p:cNvSpPr/>
            <p:nvPr/>
          </p:nvSpPr>
          <p:spPr>
            <a:xfrm flipH="false" flipV="false" rot="0">
              <a:off x="0" y="0"/>
              <a:ext cx="1671523" cy="586741"/>
            </a:xfrm>
            <a:custGeom>
              <a:avLst/>
              <a:gdLst/>
              <a:ahLst/>
              <a:cxnLst/>
              <a:rect r="r" b="b" t="t" l="l"/>
              <a:pathLst>
                <a:path h="586741" w="1671523">
                  <a:moveTo>
                    <a:pt x="0" y="0"/>
                  </a:moveTo>
                  <a:lnTo>
                    <a:pt x="1671523" y="0"/>
                  </a:lnTo>
                  <a:lnTo>
                    <a:pt x="1671523" y="586741"/>
                  </a:lnTo>
                  <a:lnTo>
                    <a:pt x="0" y="586741"/>
                  </a:lnTo>
                  <a:close/>
                </a:path>
              </a:pathLst>
            </a:custGeom>
            <a:blipFill>
              <a:blip r:embed="rId6">
                <a:alphaModFix amt="0"/>
              </a:blip>
              <a:stretch>
                <a:fillRect l="0" t="-5509" r="0" b="-5509"/>
              </a:stretch>
            </a:blipFill>
          </p:spPr>
          <p:txBody>
            <a:bodyPr/>
            <a:p/>
          </p:txBody>
        </p:sp>
        <p:sp>
          <p:nvSpPr>
            <p:cNvPr name="TextBox 65" id="65"/>
            <p:cNvSpPr txBox="true"/>
            <p:nvPr/>
          </p:nvSpPr>
          <p:spPr>
            <a:xfrm>
              <a:off x="0" y="-19050"/>
              <a:ext cx="1671523"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Penutup</a:t>
              </a:r>
            </a:p>
          </p:txBody>
        </p:sp>
      </p:grpSp>
      <p:sp>
        <p:nvSpPr>
          <p:cNvPr name="TextBox 119" id="119"/>
          <p:cNvSpPr txBox="true"/>
          <p:nvPr/>
        </p:nvSpPr>
        <p:spPr>
          <a:xfrm rot="0">
            <a:off x="16550640" y="9642348"/>
            <a:ext cx="818388" cy="434340"/>
          </a:xfrm>
          <a:prstGeom prst="rect">
            <a:avLst/>
          </a:prstGeom>
        </p:spPr>
        <p:txBody>
          <a:bodyPr anchor="t" rtlCol="false" tIns="0" lIns="0" bIns="0" rIns="0">
            <a:spAutoFit/>
          </a:bodyPr>
          <a:lstStyle/>
          <a:p>
            <a:pPr algn="r">
              <a:lnSpc>
                <a:spcPts val="1800"/>
              </a:lnSpc>
            </a:pPr>
            <a:r>
              <a:rPr lang="en-US" sz="1500">
                <a:solidFill>
                  <a:srgbClr val="5E6E78"/>
                </a:solidFill>
                <a:latin typeface="Calibri (MS)"/>
                <a:ea typeface="Calibri (MS)"/>
                <a:cs typeface="Calibri (MS)"/>
                <a:sym typeface="Calibri (MS)"/>
              </a:rPr>
              <a:t/>
            </a:r>
          </a:p>
        </p:txBody>
      </p:sp>
      <p:grpSp>
        <p:nvGrpSpPr>
          <p:cNvPr name="Group 120" id="120"/>
          <p:cNvGrpSpPr/>
          <p:nvPr/>
        </p:nvGrpSpPr>
        <p:grpSpPr>
          <a:xfrm rot="0">
            <a:off x="12755880" y="274320"/>
            <a:ext cx="3931920" cy="411480"/>
            <a:chOff x="0" y="0"/>
            <a:chExt cx="5242560" cy="548640"/>
          </a:xfrm>
        </p:grpSpPr>
        <p:sp>
          <p:nvSpPr>
            <p:cNvPr name="Freeform 121" id="121"/>
            <p:cNvSpPr/>
            <p:nvPr/>
          </p:nvSpPr>
          <p:spPr>
            <a:xfrm flipH="false" flipV="false" rot="0">
              <a:off x="0" y="0"/>
              <a:ext cx="5242560" cy="548640"/>
            </a:xfrm>
            <a:custGeom>
              <a:avLst/>
              <a:gdLst/>
              <a:ahLst/>
              <a:cxnLst/>
              <a:rect r="r" b="b" t="t" l="l"/>
              <a:pathLst>
                <a:path h="548640" w="5242560">
                  <a:moveTo>
                    <a:pt x="0" y="0"/>
                  </a:moveTo>
                  <a:lnTo>
                    <a:pt x="5242560" y="0"/>
                  </a:lnTo>
                  <a:lnTo>
                    <a:pt x="5242560" y="548640"/>
                  </a:lnTo>
                  <a:lnTo>
                    <a:pt x="0" y="548640"/>
                  </a:lnTo>
                  <a:close/>
                </a:path>
              </a:pathLst>
            </a:custGeom>
            <a:blipFill>
              <a:blip r:embed="rId6">
                <a:alphaModFix amt="0"/>
              </a:blip>
              <a:stretch>
                <a:fillRect l="0" t="-136190" r="0" b="-136190"/>
              </a:stretch>
            </a:blipFill>
          </p:spPr>
          <p:txBody>
            <a:bodyPr/>
            <a:p/>
          </p:txBody>
        </p:sp>
        <p:sp>
          <p:nvSpPr>
            <p:cNvPr name="TextBox 122" id="122"/>
            <p:cNvSpPr txBox="true"/>
            <p:nvPr/>
          </p:nvSpPr>
          <p:spPr>
            <a:xfrm>
              <a:off x="0" y="-28575"/>
              <a:ext cx="5242560" cy="577215"/>
            </a:xfrm>
            <a:prstGeom prst="rect">
              <a:avLst/>
            </a:prstGeom>
          </p:spPr>
          <p:txBody>
            <a:bodyPr anchor="ctr" rtlCol="false" tIns="0" lIns="0" bIns="0" rIns="0"/>
            <a:lstStyle/>
            <a:p>
              <a:pPr algn="l">
                <a:lnSpc>
                  <a:spcPts val="1932"/>
                </a:lnSpc>
              </a:pPr>
              <a:r>
                <a:rPr lang="en-US" sz="1610" b="true">
                  <a:solidFill>
                    <a:srgbClr val="0B5E6E"/>
                  </a:solidFill>
                  <a:latin typeface="Calibri (MS) Bold"/>
                  <a:ea typeface="Calibri (MS) Bold"/>
                  <a:cs typeface="Calibri (MS) Bold"/>
                  <a:sym typeface="Calibri (MS) Bold"/>
                </a:rPr>
                <a:t>2D · Uji struktur</a:t>
              </a:r>
            </a:p>
          </p:txBody>
        </p:sp>
      </p:grpSp>
      <p:sp>
        <p:nvSpPr>
          <p:cNvPr id="123" name="Rounded Rectangle 122"/>
          <p:cNvSpPr/>
          <p:nvPr/>
        </p:nvSpPr>
        <p:spPr>
          <a:xfrm>
            <a:off x="822960" y="1783080"/>
            <a:ext cx="6949440" cy="457200"/>
          </a:xfrm>
          <a:prstGeom prst="roundRect">
            <a:avLst>
              <a:gd name="adj" fmla="val 8000"/>
            </a:avLst>
          </a:prstGeom>
          <a:solidFill>
            <a:srgbClr val="0B5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109728" bIns="109728"/>
          <a:lstStyle/>
          <a:p>
            <a:pPr algn="l">
              <a:spcAft>
                <a:spcPts val="300"/>
              </a:spcAft>
            </a:pPr>
            <a:r>
              <a:rPr sz="1550" b="1" i="0">
                <a:solidFill>
                  <a:srgbClr val="FFFFFF"/>
                </a:solidFill>
                <a:latin typeface="Calibri (MS) Bold"/>
              </a:rPr>
              <a:t>Uji kekekalan materi</a:t>
            </a:r>
          </a:p>
        </p:txBody>
      </p:sp>
      <p:sp>
        <p:nvSpPr>
          <p:cNvPr id="124" name="Rounded Rectangle 123"/>
          <p:cNvSpPr/>
          <p:nvPr/>
        </p:nvSpPr>
        <p:spPr>
          <a:xfrm>
            <a:off x="822960" y="2286000"/>
            <a:ext cx="6949440" cy="1097280"/>
          </a:xfrm>
          <a:prstGeom prst="roundRect">
            <a:avLst>
              <a:gd name="adj" fmla="val 8000"/>
            </a:avLst>
          </a:prstGeom>
          <a:solidFill>
            <a:srgbClr val="EAF8FA"/>
          </a:solidFill>
          <a:ln w="12700">
            <a:solidFill>
              <a:srgbClr val="CFE5E9"/>
            </a:solid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109728" bIns="109728"/>
          <a:lstStyle/>
          <a:p>
            <a:pPr algn="l">
              <a:spcAft>
                <a:spcPts val="300"/>
              </a:spcAft>
            </a:pPr>
            <a:r>
              <a:rPr sz="1320" b="1" i="0">
                <a:solidFill>
                  <a:srgbClr val="0B5E6E"/>
                </a:solidFill>
                <a:latin typeface="Calibri (MS) Bold"/>
              </a:rPr>
              <a:t>Pertanyaan  </a:t>
            </a:r>
            <a:r>
              <a:rPr sz="1320" b="0" i="0">
                <a:solidFill>
                  <a:srgbClr val="14313B"/>
                </a:solidFill>
                <a:latin typeface="Calibri (MS)"/>
              </a:rPr>
              <a:t>Apakah jumlah pada setiap stok hanya berubah karena yang bertambah dan yang berkurang, tanpa ada selisih yang tidak jelas asalnya?</a:t>
            </a:r>
          </a:p>
        </p:txBody>
      </p:sp>
      <p:sp>
        <p:nvSpPr>
          <p:cNvPr id="125" name="Rounded Rectangle 124"/>
          <p:cNvSpPr/>
          <p:nvPr/>
        </p:nvSpPr>
        <p:spPr>
          <a:xfrm>
            <a:off x="822960" y="3520440"/>
            <a:ext cx="6949440" cy="1371600"/>
          </a:xfrm>
          <a:prstGeom prst="roundRect">
            <a:avLst>
              <a:gd name="adj" fmla="val 8000"/>
            </a:avLst>
          </a:prstGeom>
          <a:solidFill>
            <a:srgbClr val="FFFFFF"/>
          </a:solidFill>
          <a:ln w="12700">
            <a:solidFill>
              <a:srgbClr val="CFE5E9"/>
            </a:solid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109728" bIns="109728"/>
          <a:lstStyle/>
          <a:p>
            <a:pPr algn="l">
              <a:spcAft>
                <a:spcPts val="300"/>
              </a:spcAft>
            </a:pPr>
            <a:r>
              <a:rPr sz="1320" b="1" i="0">
                <a:solidFill>
                  <a:srgbClr val="0B5E6E"/>
                </a:solidFill>
                <a:latin typeface="Calibri (MS) Bold"/>
              </a:rPr>
              <a:t>Jumlah tahun depan = jumlah tahun ini + yang bertambah − yang berkurang</a:t>
            </a:r>
          </a:p>
          <a:p>
            <a:pPr algn="l">
              <a:spcAft>
                <a:spcPts val="300"/>
              </a:spcAft>
            </a:pPr>
            <a:r>
              <a:rPr sz="1260" b="1" i="0">
                <a:solidFill>
                  <a:srgbClr val="14313B"/>
                </a:solidFill>
                <a:latin typeface="Calibri (MS) Bold"/>
              </a:rPr>
              <a:t>Contoh hotel 2025→2026:  </a:t>
            </a:r>
            <a:r>
              <a:rPr sz="1260" b="0" i="0">
                <a:solidFill>
                  <a:srgbClr val="14313B"/>
                </a:solidFill>
                <a:latin typeface="Calibri (MS)"/>
              </a:rPr>
              <a:t>2.291 + 158,18 (dibangun) − 114,55 (ditutup) = 2.334,63 unit</a:t>
            </a:r>
          </a:p>
          <a:p>
            <a:pPr algn="l">
              <a:spcAft>
                <a:spcPts val="300"/>
              </a:spcAft>
            </a:pPr>
            <a:r>
              <a:rPr sz="1260" b="1" i="0">
                <a:solidFill>
                  <a:srgbClr val="1E7A43"/>
                </a:solidFill>
                <a:latin typeface="Calibri (MS) Bold"/>
              </a:rPr>
              <a:t>= jumlah hotel 2026 pada hasil simulasi ✓</a:t>
            </a:r>
          </a:p>
        </p:txBody>
      </p:sp>
      <p:graphicFrame>
        <p:nvGraphicFramePr>
          <p:cNvPr id="126" name="Table 125"/>
          <p:cNvGraphicFramePr>
            <a:graphicFrameLocks noGrp="1"/>
          </p:cNvGraphicFramePr>
          <p:nvPr/>
        </p:nvGraphicFramePr>
        <p:xfrm>
          <a:off x="822960" y="5029200"/>
          <a:ext cx="6949439" cy="2743200"/>
        </p:xfrm>
        <a:graphic>
          <a:graphicData uri="http://schemas.openxmlformats.org/drawingml/2006/table">
            <a:tbl>
              <a:tblPr firstRow="1" bandRow="1">
                <a:tableStyleId>{5C22544A-7EE6-4342-B048-85BDC9FD1C3A}</a:tableStyleId>
              </a:tblPr>
              <a:tblGrid>
                <a:gridCol w="3185159"/>
                <a:gridCol w="2606040"/>
                <a:gridCol w="1158240"/>
              </a:tblGrid>
              <a:tr h="457200">
                <a:tc>
                  <a:txBody>
                    <a:bodyPr wrap="square"/>
                    <a:lstStyle/>
                    <a:p>
                      <a:r>
                        <a:rPr sz="1210" b="1" i="0">
                          <a:solidFill>
                            <a:srgbClr val="FFFFFF"/>
                          </a:solidFill>
                          <a:latin typeface="Calibri (MS) Bold"/>
                        </a:rPr>
                        <a:t>Stok</a:t>
                      </a:r>
                    </a:p>
                  </a:txBody>
                  <a:tcPr marL="73152" marR="73152" marT="36576" marB="36576" anchor="ctr">
                    <a:solidFill>
                      <a:srgbClr val="0B5E6E"/>
                    </a:solidFill>
                  </a:tcPr>
                </a:tc>
                <a:tc>
                  <a:txBody>
                    <a:bodyPr wrap="square"/>
                    <a:lstStyle/>
                    <a:p>
                      <a:pPr algn="ctr"/>
                      <a:r>
                        <a:rPr sz="1210" b="1" i="0">
                          <a:solidFill>
                            <a:srgbClr val="FFFFFF"/>
                          </a:solidFill>
                          <a:latin typeface="Calibri (MS) Bold"/>
                        </a:rPr>
                        <a:t>Selisih terbesar 2025–2049</a:t>
                      </a:r>
                    </a:p>
                  </a:txBody>
                  <a:tcPr marL="73152" marR="73152" marT="36576" marB="36576" anchor="ctr">
                    <a:solidFill>
                      <a:srgbClr val="0B5E6E"/>
                    </a:solidFill>
                  </a:tcPr>
                </a:tc>
                <a:tc>
                  <a:txBody>
                    <a:bodyPr wrap="square"/>
                    <a:lstStyle/>
                    <a:p>
                      <a:pPr algn="ctr"/>
                      <a:r>
                        <a:rPr sz="1210" b="1" i="0">
                          <a:solidFill>
                            <a:srgbClr val="FFFFFF"/>
                          </a:solidFill>
                          <a:latin typeface="Calibri (MS) Bold"/>
                        </a:rPr>
                        <a:t>Hasil</a:t>
                      </a:r>
                    </a:p>
                  </a:txBody>
                  <a:tcPr marL="73152" marR="73152" marT="36576" marB="36576" anchor="ctr">
                    <a:solidFill>
                      <a:srgbClr val="0B5E6E"/>
                    </a:solidFill>
                  </a:tcPr>
                </a:tc>
              </a:tr>
              <a:tr h="457200">
                <a:tc>
                  <a:txBody>
                    <a:bodyPr wrap="square"/>
                    <a:lstStyle/>
                    <a:p>
                      <a:r>
                        <a:rPr sz="1210" b="0" i="0">
                          <a:solidFill>
                            <a:srgbClr val="14313B"/>
                          </a:solidFill>
                          <a:latin typeface="Calibri (MS)"/>
                        </a:rPr>
                        <a:t>Jumlah Wisatawan</a:t>
                      </a:r>
                    </a:p>
                  </a:txBody>
                  <a:tcPr marL="73152" marR="73152" marT="36576" marB="36576" anchor="ctr">
                    <a:solidFill>
                      <a:srgbClr val="FFFFFF"/>
                    </a:solidFill>
                  </a:tcPr>
                </a:tc>
                <a:tc>
                  <a:txBody>
                    <a:bodyPr wrap="square"/>
                    <a:lstStyle/>
                    <a:p>
                      <a:pPr algn="ctr"/>
                      <a:r>
                        <a:rPr sz="1210" b="0" i="0">
                          <a:solidFill>
                            <a:srgbClr val="14313B"/>
                          </a:solidFill>
                          <a:latin typeface="Calibri (MS)"/>
                        </a:rPr>
                        <a:t>≈ 0</a:t>
                      </a:r>
                    </a:p>
                  </a:txBody>
                  <a:tcPr marL="73152" marR="73152" marT="36576" marB="36576" anchor="ctr">
                    <a:solidFill>
                      <a:srgbClr val="FFFFFF"/>
                    </a:solidFill>
                  </a:tcPr>
                </a:tc>
                <a:tc>
                  <a:txBody>
                    <a:bodyPr wrap="square"/>
                    <a:lstStyle/>
                    <a:p>
                      <a:pPr algn="ctr"/>
                      <a:r>
                        <a:rPr sz="1210" b="0" i="0">
                          <a:solidFill>
                            <a:srgbClr val="14313B"/>
                          </a:solidFill>
                          <a:latin typeface="Calibri (MS)"/>
                        </a:rPr>
                        <a:t>Sesuai</a:t>
                      </a:r>
                    </a:p>
                  </a:txBody>
                  <a:tcPr marL="73152" marR="73152" marT="36576" marB="36576" anchor="ctr">
                    <a:solidFill>
                      <a:srgbClr val="C9F0D6"/>
                    </a:solidFill>
                  </a:tcPr>
                </a:tc>
              </a:tr>
              <a:tr h="457200">
                <a:tc>
                  <a:txBody>
                    <a:bodyPr wrap="square"/>
                    <a:lstStyle/>
                    <a:p>
                      <a:r>
                        <a:rPr sz="1210" b="0" i="0">
                          <a:solidFill>
                            <a:srgbClr val="14313B"/>
                          </a:solidFill>
                          <a:latin typeface="Calibri (MS)"/>
                        </a:rPr>
                        <a:t>Jumlah Hotel dan Akomodasi</a:t>
                      </a:r>
                    </a:p>
                  </a:txBody>
                  <a:tcPr marL="73152" marR="73152" marT="36576" marB="36576" anchor="ctr">
                    <a:solidFill>
                      <a:srgbClr val="EAF8FA"/>
                    </a:solidFill>
                  </a:tcPr>
                </a:tc>
                <a:tc>
                  <a:txBody>
                    <a:bodyPr wrap="square"/>
                    <a:lstStyle/>
                    <a:p>
                      <a:pPr algn="ctr"/>
                      <a:r>
                        <a:rPr sz="1210" b="0" i="0">
                          <a:solidFill>
                            <a:srgbClr val="14313B"/>
                          </a:solidFill>
                          <a:latin typeface="Calibri (MS)"/>
                        </a:rPr>
                        <a:t>0</a:t>
                      </a:r>
                    </a:p>
                  </a:txBody>
                  <a:tcPr marL="73152" marR="73152" marT="36576" marB="36576" anchor="ctr">
                    <a:solidFill>
                      <a:srgbClr val="EAF8FA"/>
                    </a:solidFill>
                  </a:tcPr>
                </a:tc>
                <a:tc>
                  <a:txBody>
                    <a:bodyPr wrap="square"/>
                    <a:lstStyle/>
                    <a:p>
                      <a:pPr algn="ctr"/>
                      <a:r>
                        <a:rPr sz="1210" b="0" i="0">
                          <a:solidFill>
                            <a:srgbClr val="14313B"/>
                          </a:solidFill>
                          <a:latin typeface="Calibri (MS)"/>
                        </a:rPr>
                        <a:t>Sesuai</a:t>
                      </a:r>
                    </a:p>
                  </a:txBody>
                  <a:tcPr marL="73152" marR="73152" marT="36576" marB="36576" anchor="ctr">
                    <a:solidFill>
                      <a:srgbClr val="C9F0D6"/>
                    </a:solidFill>
                  </a:tcPr>
                </a:tc>
              </a:tr>
              <a:tr h="457200">
                <a:tc>
                  <a:txBody>
                    <a:bodyPr wrap="square"/>
                    <a:lstStyle/>
                    <a:p>
                      <a:r>
                        <a:rPr sz="1210" b="0" i="0">
                          <a:solidFill>
                            <a:srgbClr val="14313B"/>
                          </a:solidFill>
                          <a:latin typeface="Calibri (MS)"/>
                        </a:rPr>
                        <a:t>Jumlah ODTW</a:t>
                      </a:r>
                    </a:p>
                  </a:txBody>
                  <a:tcPr marL="73152" marR="73152" marT="36576" marB="36576" anchor="ctr">
                    <a:solidFill>
                      <a:srgbClr val="FFFFFF"/>
                    </a:solidFill>
                  </a:tcPr>
                </a:tc>
                <a:tc>
                  <a:txBody>
                    <a:bodyPr wrap="square"/>
                    <a:lstStyle/>
                    <a:p>
                      <a:pPr algn="ctr"/>
                      <a:r>
                        <a:rPr sz="1210" b="0" i="0">
                          <a:solidFill>
                            <a:srgbClr val="14313B"/>
                          </a:solidFill>
                          <a:latin typeface="Calibri (MS)"/>
                        </a:rPr>
                        <a:t>0</a:t>
                      </a:r>
                    </a:p>
                  </a:txBody>
                  <a:tcPr marL="73152" marR="73152" marT="36576" marB="36576" anchor="ctr">
                    <a:solidFill>
                      <a:srgbClr val="FFFFFF"/>
                    </a:solidFill>
                  </a:tcPr>
                </a:tc>
                <a:tc>
                  <a:txBody>
                    <a:bodyPr wrap="square"/>
                    <a:lstStyle/>
                    <a:p>
                      <a:pPr algn="ctr"/>
                      <a:r>
                        <a:rPr sz="1210" b="0" i="0">
                          <a:solidFill>
                            <a:srgbClr val="14313B"/>
                          </a:solidFill>
                          <a:latin typeface="Calibri (MS)"/>
                        </a:rPr>
                        <a:t>Sesuai</a:t>
                      </a:r>
                    </a:p>
                  </a:txBody>
                  <a:tcPr marL="73152" marR="73152" marT="36576" marB="36576" anchor="ctr">
                    <a:solidFill>
                      <a:srgbClr val="C9F0D6"/>
                    </a:solidFill>
                  </a:tcPr>
                </a:tc>
              </a:tr>
              <a:tr h="457200">
                <a:tc>
                  <a:txBody>
                    <a:bodyPr wrap="square"/>
                    <a:lstStyle/>
                    <a:p>
                      <a:r>
                        <a:rPr sz="1210" b="0" i="0">
                          <a:solidFill>
                            <a:srgbClr val="14313B"/>
                          </a:solidFill>
                          <a:latin typeface="Calibri (MS)"/>
                        </a:rPr>
                        <a:t>Tenaga Kerja Pariwisata</a:t>
                      </a:r>
                    </a:p>
                  </a:txBody>
                  <a:tcPr marL="73152" marR="73152" marT="36576" marB="36576" anchor="ctr">
                    <a:solidFill>
                      <a:srgbClr val="EAF8FA"/>
                    </a:solidFill>
                  </a:tcPr>
                </a:tc>
                <a:tc>
                  <a:txBody>
                    <a:bodyPr wrap="square"/>
                    <a:lstStyle/>
                    <a:p>
                      <a:pPr algn="ctr"/>
                      <a:r>
                        <a:rPr sz="1210" b="0" i="0">
                          <a:solidFill>
                            <a:srgbClr val="14313B"/>
                          </a:solidFill>
                          <a:latin typeface="Calibri (MS)"/>
                        </a:rPr>
                        <a:t>0</a:t>
                      </a:r>
                    </a:p>
                  </a:txBody>
                  <a:tcPr marL="73152" marR="73152" marT="36576" marB="36576" anchor="ctr">
                    <a:solidFill>
                      <a:srgbClr val="EAF8FA"/>
                    </a:solidFill>
                  </a:tcPr>
                </a:tc>
                <a:tc>
                  <a:txBody>
                    <a:bodyPr wrap="square"/>
                    <a:lstStyle/>
                    <a:p>
                      <a:pPr algn="ctr"/>
                      <a:r>
                        <a:rPr sz="1210" b="0" i="0">
                          <a:solidFill>
                            <a:srgbClr val="14313B"/>
                          </a:solidFill>
                          <a:latin typeface="Calibri (MS)"/>
                        </a:rPr>
                        <a:t>Sesuai</a:t>
                      </a:r>
                    </a:p>
                  </a:txBody>
                  <a:tcPr marL="73152" marR="73152" marT="36576" marB="36576" anchor="ctr">
                    <a:solidFill>
                      <a:srgbClr val="C9F0D6"/>
                    </a:solidFill>
                  </a:tcPr>
                </a:tc>
              </a:tr>
              <a:tr h="457200">
                <a:tc>
                  <a:txBody>
                    <a:bodyPr wrap="square"/>
                    <a:lstStyle/>
                    <a:p>
                      <a:r>
                        <a:rPr sz="1210" b="0" i="0">
                          <a:solidFill>
                            <a:srgbClr val="14313B"/>
                          </a:solidFill>
                          <a:latin typeface="Calibri (MS)"/>
                        </a:rPr>
                        <a:t>Lahan Terbangun</a:t>
                      </a:r>
                    </a:p>
                  </a:txBody>
                  <a:tcPr marL="73152" marR="73152" marT="36576" marB="36576" anchor="ctr">
                    <a:solidFill>
                      <a:srgbClr val="FFFFFF"/>
                    </a:solidFill>
                  </a:tcPr>
                </a:tc>
                <a:tc>
                  <a:txBody>
                    <a:bodyPr wrap="square"/>
                    <a:lstStyle/>
                    <a:p>
                      <a:pPr algn="ctr"/>
                      <a:r>
                        <a:rPr sz="1210" b="0" i="0">
                          <a:solidFill>
                            <a:srgbClr val="14313B"/>
                          </a:solidFill>
                          <a:latin typeface="Calibri (MS)"/>
                        </a:rPr>
                        <a:t>0</a:t>
                      </a:r>
                    </a:p>
                  </a:txBody>
                  <a:tcPr marL="73152" marR="73152" marT="36576" marB="36576" anchor="ctr">
                    <a:solidFill>
                      <a:srgbClr val="FFFFFF"/>
                    </a:solidFill>
                  </a:tcPr>
                </a:tc>
                <a:tc>
                  <a:txBody>
                    <a:bodyPr wrap="square"/>
                    <a:lstStyle/>
                    <a:p>
                      <a:pPr algn="ctr"/>
                      <a:r>
                        <a:rPr sz="1210" b="0" i="0">
                          <a:solidFill>
                            <a:srgbClr val="14313B"/>
                          </a:solidFill>
                          <a:latin typeface="Calibri (MS)"/>
                        </a:rPr>
                        <a:t>Sesuai</a:t>
                      </a:r>
                    </a:p>
                  </a:txBody>
                  <a:tcPr marL="73152" marR="73152" marT="36576" marB="36576" anchor="ctr">
                    <a:solidFill>
                      <a:srgbClr val="C9F0D6"/>
                    </a:solidFill>
                  </a:tcPr>
                </a:tc>
              </a:tr>
            </a:tbl>
          </a:graphicData>
        </a:graphic>
      </p:graphicFrame>
      <p:sp>
        <p:nvSpPr>
          <p:cNvPr id="127" name="TextBox 126"/>
          <p:cNvSpPr txBox="1"/>
          <p:nvPr/>
        </p:nvSpPr>
        <p:spPr>
          <a:xfrm>
            <a:off x="822960" y="7799831"/>
            <a:ext cx="6949440" cy="274320"/>
          </a:xfrm>
          <a:prstGeom prst="rect">
            <a:avLst/>
          </a:prstGeom>
          <a:noFill/>
        </p:spPr>
        <p:txBody>
          <a:bodyPr wrap="square" anchor="t" lIns="0" rIns="0" tIns="0" bIns="0">
            <a:spAutoFit/>
          </a:bodyPr>
          <a:lstStyle/>
          <a:p>
            <a:pPr algn="l">
              <a:spcAft>
                <a:spcPts val="400"/>
              </a:spcAft>
            </a:pPr>
            <a:r>
              <a:rPr sz="1090" b="0" i="1">
                <a:solidFill>
                  <a:srgbClr val="5E6E78"/>
                </a:solidFill>
                <a:latin typeface="Calibri (MS)"/>
              </a:rPr>
              <a:t>Selisih = hasil simulasi dikurangi hitungan tambah-kurang di atas</a:t>
            </a:r>
          </a:p>
        </p:txBody>
      </p:sp>
      <p:sp>
        <p:nvSpPr>
          <p:cNvPr id="128" name="Rounded Rectangle 127"/>
          <p:cNvSpPr/>
          <p:nvPr/>
        </p:nvSpPr>
        <p:spPr>
          <a:xfrm>
            <a:off x="8046720" y="1783080"/>
            <a:ext cx="9418320" cy="457200"/>
          </a:xfrm>
          <a:prstGeom prst="roundRect">
            <a:avLst>
              <a:gd name="adj" fmla="val 8000"/>
            </a:avLst>
          </a:prstGeom>
          <a:solidFill>
            <a:srgbClr val="0B5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109728" bIns="109728"/>
          <a:lstStyle/>
          <a:p>
            <a:pPr algn="l">
              <a:spcAft>
                <a:spcPts val="300"/>
              </a:spcAft>
            </a:pPr>
            <a:r>
              <a:rPr sz="1550" b="1" i="0">
                <a:solidFill>
                  <a:srgbClr val="FFFFFF"/>
                </a:solidFill>
                <a:latin typeface="Calibri (MS) Bold"/>
              </a:rPr>
              <a:t>Uji feedback loop</a:t>
            </a:r>
            <a:r>
              <a:rPr sz="1260" b="0" i="0">
                <a:solidFill>
                  <a:srgbClr val="D7EEF2"/>
                </a:solidFill>
                <a:latin typeface="Calibri (MS)"/>
              </a:rPr>
              <a:t>   satu loop dinonaktifkan, lalu hasilnya dibandingkan dengan simulasi dasar</a:t>
            </a:r>
          </a:p>
        </p:txBody>
      </p:sp>
      <p:sp>
        <p:nvSpPr>
          <p:cNvPr id="129" name="TextBox 128"/>
          <p:cNvSpPr txBox="1"/>
          <p:nvPr/>
        </p:nvSpPr>
        <p:spPr>
          <a:xfrm>
            <a:off x="8046720" y="2286000"/>
            <a:ext cx="9418320" cy="365760"/>
          </a:xfrm>
          <a:prstGeom prst="rect">
            <a:avLst/>
          </a:prstGeom>
          <a:noFill/>
        </p:spPr>
        <p:txBody>
          <a:bodyPr wrap="square" anchor="t" lIns="0" rIns="0" tIns="0" bIns="0">
            <a:spAutoFit/>
          </a:bodyPr>
          <a:lstStyle/>
          <a:p>
            <a:pPr algn="l">
              <a:spcAft>
                <a:spcPts val="400"/>
              </a:spcAft>
            </a:pPr>
            <a:r>
              <a:rPr sz="1320" b="1" i="0">
                <a:solidFill>
                  <a:srgbClr val="14313B"/>
                </a:solidFill>
                <a:latin typeface="Calibri (MS) Bold"/>
              </a:rPr>
              <a:t>Jumlah wisatawan tahun 2050 (juta)</a:t>
            </a:r>
            <a:r>
              <a:rPr sz="1210" b="0" i="0">
                <a:solidFill>
                  <a:srgbClr val="5E6E78"/>
                </a:solidFill>
                <a:latin typeface="Calibri (MS)"/>
              </a:rPr>
              <a:t>  · dinonaktifkan = variabel penghubung loop ditahan tetap pada nilai 2025</a:t>
            </a:r>
          </a:p>
        </p:txBody>
      </p:sp>
      <p:graphicFrame>
        <p:nvGraphicFramePr>
          <p:cNvPr id="130" name="Chart 129"/>
          <p:cNvGraphicFramePr>
            <a:graphicFrameLocks noGrp="1"/>
          </p:cNvGraphicFramePr>
          <p:nvPr/>
        </p:nvGraphicFramePr>
        <p:xfrm>
          <a:off x="8046720" y="2606040"/>
          <a:ext cx="9418320" cy="3154680"/>
        </p:xfrm>
        <a:graphic>
          <a:graphicData uri="http://schemas.openxmlformats.org/drawingml/2006/chart">
            <c:chart xmlns:c="http://schemas.openxmlformats.org/drawingml/2006/chart" r:id="rId9"/>
          </a:graphicData>
        </a:graphic>
      </p:graphicFrame>
      <p:sp>
        <p:nvSpPr>
          <p:cNvPr id="131" name="Rounded Rectangle 130"/>
          <p:cNvSpPr/>
          <p:nvPr/>
        </p:nvSpPr>
        <p:spPr>
          <a:xfrm>
            <a:off x="8046720" y="5806440"/>
            <a:ext cx="9418320" cy="2331720"/>
          </a:xfrm>
          <a:prstGeom prst="roundRect">
            <a:avLst>
              <a:gd name="adj" fmla="val 8000"/>
            </a:avLst>
          </a:prstGeom>
          <a:solidFill>
            <a:srgbClr val="EAF8FA"/>
          </a:solidFill>
          <a:ln w="12700">
            <a:solidFill>
              <a:srgbClr val="CFE5E9"/>
            </a:solid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109728" bIns="109728"/>
          <a:lstStyle/>
          <a:p>
            <a:pPr algn="l">
              <a:spcAft>
                <a:spcPts val="300"/>
              </a:spcAft>
            </a:pPr>
            <a:r>
              <a:rPr sz="1210" b="1" i="0">
                <a:solidFill>
                  <a:srgbClr val="14313B"/>
                </a:solidFill>
                <a:latin typeface="Calibri (MS) Bold"/>
              </a:rPr>
              <a:t>•  B1 kepadatan paling berpengaruh: </a:t>
            </a:r>
            <a:r>
              <a:rPr sz="1210" b="0" i="0">
                <a:solidFill>
                  <a:srgbClr val="14313B"/>
                </a:solidFill>
                <a:latin typeface="Calibri (MS)"/>
              </a:rPr>
              <a:t>tanpa B1, wisatawan 2050 naik 160,2% dan 5 dari 6 variabel utama* berubah &gt;1%.</a:t>
            </a:r>
          </a:p>
          <a:p>
            <a:pPr algn="l">
              <a:spcAft>
                <a:spcPts val="300"/>
              </a:spcAft>
            </a:pPr>
            <a:r>
              <a:rPr sz="1210" b="1" i="0">
                <a:solidFill>
                  <a:srgbClr val="14313B"/>
                </a:solidFill>
                <a:latin typeface="Calibri (MS) Bold"/>
              </a:rPr>
              <a:t>•  Daya dukung lahan: </a:t>
            </a:r>
            <a:r>
              <a:rPr sz="1210" b="0" i="0">
                <a:solidFill>
                  <a:srgbClr val="14313B"/>
                </a:solidFill>
                <a:latin typeface="Calibri (MS)"/>
              </a:rPr>
              <a:t>wisatawan naik 16,1%, tetapi memengaruhi keenam variabel utama. </a:t>
            </a:r>
            <a:r>
              <a:rPr sz="1210" b="1" i="0">
                <a:solidFill>
                  <a:srgbClr val="14313B"/>
                </a:solidFill>
                <a:latin typeface="Calibri (MS) Bold"/>
              </a:rPr>
              <a:t>R2: </a:t>
            </a:r>
            <a:r>
              <a:rPr sz="1210" b="0" i="0">
                <a:solidFill>
                  <a:srgbClr val="14313B"/>
                </a:solidFill>
                <a:latin typeface="Calibri (MS)"/>
              </a:rPr>
              <a:t>wisatawan turun 16,6%, ODTW turun 45,3%.</a:t>
            </a:r>
          </a:p>
          <a:p>
            <a:pPr algn="l">
              <a:spcAft>
                <a:spcPts val="300"/>
              </a:spcAft>
            </a:pPr>
            <a:r>
              <a:rPr sz="1210" b="1" i="0">
                <a:solidFill>
                  <a:srgbClr val="14313B"/>
                </a:solidFill>
                <a:latin typeface="Calibri (MS) Bold"/>
              </a:rPr>
              <a:t>•  Hanya memengaruhi satu variabel: </a:t>
            </a:r>
            <a:r>
              <a:rPr sz="1210" b="0" i="0">
                <a:solidFill>
                  <a:srgbClr val="14313B"/>
                </a:solidFill>
                <a:latin typeface="Calibri (MS)"/>
              </a:rPr>
              <a:t>okupansi akomodasi (jumlah hotel −10,0%) dan penyesuaian tenaga kerja (tenaga kerja −43,9%).</a:t>
            </a:r>
          </a:p>
          <a:p>
            <a:pPr algn="l">
              <a:spcAft>
                <a:spcPts val="300"/>
              </a:spcAft>
            </a:pPr>
            <a:r>
              <a:rPr sz="1210" b="1" i="0">
                <a:solidFill>
                  <a:srgbClr val="14313B"/>
                </a:solidFill>
                <a:latin typeface="Calibri (MS) Bold"/>
              </a:rPr>
              <a:t>•  Pengaruh loop tidak bisa dijumlahkan: </a:t>
            </a:r>
            <a:r>
              <a:rPr sz="1210" b="0" i="0">
                <a:solidFill>
                  <a:srgbClr val="14313B"/>
                </a:solidFill>
                <a:latin typeface="Calibri (MS)"/>
              </a:rPr>
              <a:t>menonaktifkan B1 saja (250,32 juta) lebih tinggi daripada menonaktifkan semua balancing loop (217,37 juta), karena R2 yang masih aktif terus menaikkan daya tarik hingga 1,0696.</a:t>
            </a:r>
          </a:p>
          <a:p>
            <a:pPr algn="l">
              <a:spcAft>
                <a:spcPts val="300"/>
              </a:spcAft>
            </a:pPr>
            <a:r>
              <a:rPr sz="1090" b="0" i="1">
                <a:solidFill>
                  <a:srgbClr val="5E6E78"/>
                </a:solidFill>
                <a:latin typeface="Calibri (MS)"/>
              </a:rPr>
              <a:t>* wisatawan, hotel, ODTW, tenaga kerja, lahan terbangun, daya tarik</a:t>
            </a:r>
          </a:p>
        </p:txBody>
      </p:sp>
      <p:sp>
        <p:nvSpPr>
          <p:cNvPr id="132" name="Rounded Rectangle 131"/>
          <p:cNvSpPr/>
          <p:nvPr/>
        </p:nvSpPr>
        <p:spPr>
          <a:xfrm>
            <a:off x="822960" y="8275320"/>
            <a:ext cx="16642080" cy="777240"/>
          </a:xfrm>
          <a:prstGeom prst="roundRect">
            <a:avLst>
              <a:gd name="adj" fmla="val 8000"/>
            </a:avLst>
          </a:prstGeom>
          <a:solidFill>
            <a:srgbClr val="FFF1BF"/>
          </a:solidFill>
          <a:ln w="12700">
            <a:solidFill>
              <a:srgbClr val="FFD23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300"/>
              </a:spcAft>
            </a:pPr>
            <a:r>
              <a:rPr sz="1610" b="1" i="0">
                <a:solidFill>
                  <a:srgbClr val="0B5E6E"/>
                </a:solidFill>
                <a:latin typeface="Calibri (MS) Bold"/>
              </a:rPr>
              <a:t>Intinya  </a:t>
            </a:r>
            <a:r>
              <a:rPr sz="1610" b="0" i="0">
                <a:solidFill>
                  <a:srgbClr val="14313B"/>
                </a:solidFill>
                <a:latin typeface="Calibri (MS)"/>
              </a:rPr>
              <a:t>Hitungan setiap stok cocok tanpa selisih, dan setiap balancing loop yang dinonaktifkan membuat pertumbuhan lebih cepat: keenam loop berpengaruh sesuai rancangan CLD.</a:t>
            </a:r>
          </a:p>
        </p:txBody>
      </p:sp>
      <p:sp>
        <p:nvSpPr>
          <p:cNvPr id="133" name="TextBox 132"/>
          <p:cNvSpPr txBox="1"/>
          <p:nvPr/>
        </p:nvSpPr>
        <p:spPr>
          <a:xfrm>
            <a:off x="822960" y="9253728"/>
            <a:ext cx="15544800" cy="274320"/>
          </a:xfrm>
          <a:prstGeom prst="rect">
            <a:avLst/>
          </a:prstGeom>
          <a:noFill/>
        </p:spPr>
        <p:txBody>
          <a:bodyPr wrap="square" anchor="t" lIns="0" rIns="0" tIns="0" bIns="0">
            <a:spAutoFit/>
          </a:bodyPr>
          <a:lstStyle/>
          <a:p>
            <a:pPr algn="l">
              <a:spcAft>
                <a:spcPts val="400"/>
              </a:spcAft>
            </a:pPr>
            <a:r>
              <a:rPr sz="1210" b="0" i="1">
                <a:solidFill>
                  <a:srgbClr val="5E6E78"/>
                </a:solidFill>
                <a:latin typeface="Calibri (MS)"/>
              </a:rPr>
              <a:t>Sumber: Buku Subbab 4.4.3–4.4.4, Tabel 40–42, Gambar 17.</a:t>
            </a:r>
          </a:p>
        </p:txBody>
      </p:sp>
    </p:spTree>
  </p:cSld>
  <p:clrMapOvr>
    <a:masterClrMapping/>
  </p:clrMapOvr>
</p:sld>
</file>

<file path=ppt/slides/slide3.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16870680" y="164592"/>
            <a:ext cx="713232" cy="713232"/>
            <a:chOff x="0" y="0"/>
            <a:chExt cx="950976" cy="950976"/>
          </a:xfrm>
        </p:grpSpPr>
        <p:sp>
          <p:nvSpPr>
            <p:cNvPr name="Freeform 3" id="3" descr="Logo Politeknik Statistika STIS"/>
            <p:cNvSpPr/>
            <p:nvPr/>
          </p:nvSpPr>
          <p:spPr>
            <a:xfrm flipH="false" flipV="false" rot="0">
              <a:off x="0" y="0"/>
              <a:ext cx="950976" cy="950976"/>
            </a:xfrm>
            <a:custGeom>
              <a:avLst/>
              <a:gdLst/>
              <a:ahLst/>
              <a:cxnLst/>
              <a:rect r="r" b="b" t="t" l="l"/>
              <a:pathLst>
                <a:path h="950976" w="950976">
                  <a:moveTo>
                    <a:pt x="0" y="0"/>
                  </a:moveTo>
                  <a:lnTo>
                    <a:pt x="950976" y="0"/>
                  </a:lnTo>
                  <a:lnTo>
                    <a:pt x="950976" y="950976"/>
                  </a:lnTo>
                  <a:lnTo>
                    <a:pt x="0" y="950976"/>
                  </a:lnTo>
                  <a:lnTo>
                    <a:pt x="0" y="0"/>
                  </a:lnTo>
                  <a:close/>
                </a:path>
              </a:pathLst>
            </a:custGeom>
            <a:blipFill>
              <a:blip r:embed="rId3"/>
              <a:stretch>
                <a:fillRect l="0" t="0" r="0" b="0"/>
              </a:stretch>
            </a:blipFill>
          </p:spPr>
          <p:txBody>
            <a:bodyPr/>
            <a:p/>
          </p:txBody>
        </p:sp>
      </p:grpSp>
      <p:grpSp>
        <p:nvGrpSpPr>
          <p:cNvPr name="Group 4" id="4"/>
          <p:cNvGrpSpPr/>
          <p:nvPr/>
        </p:nvGrpSpPr>
        <p:grpSpPr>
          <a:xfrm rot="0">
            <a:off x="822960" y="9738360"/>
            <a:ext cx="12344400" cy="384048"/>
            <a:chOff x="0" y="0"/>
            <a:chExt cx="16459200" cy="512064"/>
          </a:xfrm>
        </p:grpSpPr>
        <p:sp>
          <p:nvSpPr>
            <p:cNvPr name="Freeform 5" id="5"/>
            <p:cNvSpPr/>
            <p:nvPr/>
          </p:nvSpPr>
          <p:spPr>
            <a:xfrm flipH="false" flipV="false" rot="0">
              <a:off x="0" y="0"/>
              <a:ext cx="16459200" cy="512064"/>
            </a:xfrm>
            <a:custGeom>
              <a:avLst/>
              <a:gdLst/>
              <a:ahLst/>
              <a:cxnLst/>
              <a:rect r="r" b="b" t="t" l="l"/>
              <a:pathLst>
                <a:path h="512064" w="16459200">
                  <a:moveTo>
                    <a:pt x="0" y="0"/>
                  </a:moveTo>
                  <a:lnTo>
                    <a:pt x="16459200" y="0"/>
                  </a:lnTo>
                  <a:lnTo>
                    <a:pt x="16459200" y="512064"/>
                  </a:lnTo>
                  <a:lnTo>
                    <a:pt x="0" y="512064"/>
                  </a:lnTo>
                  <a:close/>
                </a:path>
              </a:pathLst>
            </a:custGeom>
            <a:blipFill>
              <a:blip r:embed="rId4">
                <a:alphaModFix amt="0"/>
              </a:blip>
              <a:stretch>
                <a:fillRect l="0" t="-575868" r="0" b="-575870"/>
              </a:stretch>
            </a:blipFill>
          </p:spPr>
          <p:txBody>
            <a:bodyPr/>
            <a:p/>
          </p:txBody>
        </p:sp>
      </p:grpSp>
      <p:grpSp>
        <p:nvGrpSpPr>
          <p:cNvPr name="Group 6" id="6"/>
          <p:cNvGrpSpPr/>
          <p:nvPr/>
        </p:nvGrpSpPr>
        <p:grpSpPr>
          <a:xfrm rot="0">
            <a:off x="822960" y="9716929"/>
            <a:ext cx="12344400" cy="405479"/>
            <a:chOff x="0" y="0"/>
            <a:chExt cx="16459200" cy="540639"/>
          </a:xfrm>
        </p:grpSpPr>
        <p:sp>
          <p:nvSpPr>
            <p:cNvPr name="Freeform 7" id="7"/>
            <p:cNvSpPr/>
            <p:nvPr/>
          </p:nvSpPr>
          <p:spPr>
            <a:xfrm flipH="false" flipV="false" rot="0">
              <a:off x="0" y="0"/>
              <a:ext cx="16459200" cy="540639"/>
            </a:xfrm>
            <a:custGeom>
              <a:avLst/>
              <a:gdLst/>
              <a:ahLst/>
              <a:cxnLst/>
              <a:rect r="r" b="b" t="t" l="l"/>
              <a:pathLst>
                <a:path h="540639" w="16459200">
                  <a:moveTo>
                    <a:pt x="0" y="0"/>
                  </a:moveTo>
                  <a:lnTo>
                    <a:pt x="16459200" y="0"/>
                  </a:lnTo>
                  <a:lnTo>
                    <a:pt x="16459200" y="540639"/>
                  </a:lnTo>
                  <a:lnTo>
                    <a:pt x="0" y="540639"/>
                  </a:lnTo>
                  <a:close/>
                </a:path>
              </a:pathLst>
            </a:custGeom>
            <a:blipFill>
              <a:blip r:embed="rId5">
                <a:alphaModFix amt="0"/>
              </a:blip>
              <a:stretch>
                <a:fillRect l="0" t="-542788" r="0" b="-542790"/>
              </a:stretch>
            </a:blipFill>
          </p:spPr>
          <p:txBody>
            <a:bodyPr/>
            <a:p/>
          </p:txBody>
        </p:sp>
      </p:grpSp>
      <p:grpSp>
        <p:nvGrpSpPr>
          <p:cNvPr name="Group 8" id="8"/>
          <p:cNvGrpSpPr/>
          <p:nvPr/>
        </p:nvGrpSpPr>
        <p:grpSpPr>
          <a:xfrm rot="0">
            <a:off x="822960" y="9695498"/>
            <a:ext cx="12344400" cy="426910"/>
            <a:chOff x="0" y="0"/>
            <a:chExt cx="16459200" cy="569214"/>
          </a:xfrm>
        </p:grpSpPr>
        <p:sp>
          <p:nvSpPr>
            <p:cNvPr name="Freeform 9" id="9"/>
            <p:cNvSpPr/>
            <p:nvPr/>
          </p:nvSpPr>
          <p:spPr>
            <a:xfrm flipH="false" flipV="false" rot="0">
              <a:off x="0" y="0"/>
              <a:ext cx="16459200" cy="569214"/>
            </a:xfrm>
            <a:custGeom>
              <a:avLst/>
              <a:gdLst/>
              <a:ahLst/>
              <a:cxnLst/>
              <a:rect r="r" b="b" t="t" l="l"/>
              <a:pathLst>
                <a:path h="569214" w="16459200">
                  <a:moveTo>
                    <a:pt x="0" y="0"/>
                  </a:moveTo>
                  <a:lnTo>
                    <a:pt x="16459200" y="0"/>
                  </a:lnTo>
                  <a:lnTo>
                    <a:pt x="16459200" y="569214"/>
                  </a:lnTo>
                  <a:lnTo>
                    <a:pt x="0" y="569214"/>
                  </a:lnTo>
                  <a:close/>
                </a:path>
              </a:pathLst>
            </a:custGeom>
            <a:blipFill>
              <a:blip r:embed="rId6">
                <a:alphaModFix amt="0"/>
              </a:blip>
              <a:stretch>
                <a:fillRect l="0" t="-513423" r="0" b="-513423"/>
              </a:stretch>
            </a:blipFill>
          </p:spPr>
          <p:txBody>
            <a:bodyPr/>
            <a:p/>
          </p:txBody>
        </p:sp>
        <p:sp>
          <p:nvSpPr>
            <p:cNvPr name="TextBox 10" id="10"/>
            <p:cNvSpPr txBox="true"/>
            <p:nvPr/>
          </p:nvSpPr>
          <p:spPr>
            <a:xfrm>
              <a:off x="0" y="-28575"/>
              <a:ext cx="16459200" cy="597789"/>
            </a:xfrm>
            <a:prstGeom prst="rect">
              <a:avLst/>
            </a:prstGeom>
          </p:spPr>
          <p:txBody>
            <a:bodyPr anchor="ctr" rtlCol="false" tIns="0" lIns="0" bIns="0" rIns="0"/>
            <a:lstStyle/>
            <a:p>
              <a:pPr algn="l">
                <a:lnSpc>
                  <a:spcPts val="1620"/>
                </a:lnSpc>
              </a:pPr>
              <a:r>
                <a:rPr lang="en-US" sz="1350">
                  <a:solidFill>
                    <a:srgbClr val="5E6E78"/>
                  </a:solidFill>
                  <a:latin typeface="Calibri (MS)"/>
                  <a:ea typeface="Calibri (MS)"/>
                  <a:cs typeface="Calibri (MS)"/>
                  <a:sym typeface="Calibri (MS)"/>
                </a:rPr>
                <a:t>Sidang Skripsi  |  Kevin Atha Fathoni Ramadha  |  Politeknik Statistika STIS</a:t>
              </a:r>
            </a:p>
          </p:txBody>
        </p:sp>
      </p:grpSp>
      <p:sp>
        <p:nvSpPr>
          <p:cNvPr name="TextBox 11" id="11"/>
          <p:cNvSpPr txBox="true"/>
          <p:nvPr/>
        </p:nvSpPr>
        <p:spPr>
          <a:xfrm rot="0">
            <a:off x="822960" y="713232"/>
            <a:ext cx="16637508" cy="1287780"/>
          </a:xfrm>
          <a:prstGeom prst="rect">
            <a:avLst/>
          </a:prstGeom>
        </p:spPr>
        <p:txBody>
          <a:bodyPr anchor="t" rtlCol="false" tIns="0" lIns="0" bIns="0" rIns="0">
            <a:spAutoFit/>
          </a:bodyPr>
          <a:lstStyle/>
          <a:p>
            <a:pPr algn="l">
              <a:lnSpc>
                <a:spcPct val="100000"/>
              </a:lnSpc>
              <a:spcBef>
                <a:spcPts val="0"/>
              </a:spcBef>
              <a:spcAft>
                <a:spcPts val="0"/>
              </a:spcAft>
            </a:pPr>
            <a:r>
              <a:rPr lang="en-US" sz="3200" b="1" i="0">
                <a:solidFill>
                  <a:srgbClr val="0B5E6E"/>
                </a:solidFill>
                <a:latin typeface="Calibri (MS) Bold"/>
                <a:ea typeface="Calibri (MS) Bold"/>
                <a:cs typeface="Calibri (MS) Bold"/>
                <a:sym typeface="Calibri (MS) Bold"/>
              </a:rPr>
              <a:t>Uji Struktur (3/3): Kondisi Ekstrem dan Error Integrasi</a:t>
            </a:r>
          </a:p>
          <a:p>
            <a:pPr algn="l">
              <a:lnSpc>
                <a:spcPct val="100000"/>
              </a:lnSpc>
              <a:spcBef>
                <a:spcPts val="300"/>
              </a:spcBef>
              <a:spcAft>
                <a:spcPts val="0"/>
              </a:spcAft>
            </a:pPr>
            <a:r>
              <a:rPr lang="en-US" sz="1900" b="0" i="0">
                <a:solidFill>
                  <a:srgbClr val="4A5A63"/>
                </a:solidFill>
                <a:latin typeface="Calibri (MS)"/>
                <a:ea typeface="Calibri (MS) Bold"/>
                <a:cs typeface="Calibri (MS) Bold"/>
                <a:sym typeface="Calibri (MS) Bold"/>
              </a:rPr>
              <a:t>Saat parameter diberi nilai ekstrem, hasil model tetap masuk akal; selisih kecil pada E15 berasal dari langkah hitung, bukan struktur</a:t>
            </a:r>
          </a:p>
        </p:txBody>
      </p:sp>
      <p:grpSp>
        <p:nvGrpSpPr>
          <p:cNvPr name="Group 12" id="12"/>
          <p:cNvGrpSpPr/>
          <p:nvPr/>
        </p:nvGrpSpPr>
        <p:grpSpPr>
          <a:xfrm rot="0">
            <a:off x="822960" y="274320"/>
            <a:ext cx="2040922" cy="411480"/>
            <a:chOff x="0" y="0"/>
            <a:chExt cx="2721229" cy="548640"/>
          </a:xfrm>
        </p:grpSpPr>
        <p:sp>
          <p:nvSpPr>
            <p:cNvPr name="Freeform 13" id="13"/>
            <p:cNvSpPr/>
            <p:nvPr/>
          </p:nvSpPr>
          <p:spPr>
            <a:xfrm flipH="false" flipV="false" rot="0">
              <a:off x="0" y="0"/>
              <a:ext cx="2721229" cy="548640"/>
            </a:xfrm>
            <a:custGeom>
              <a:avLst/>
              <a:gdLst/>
              <a:ahLst/>
              <a:cxnLst/>
              <a:rect r="r" b="b" t="t" l="l"/>
              <a:pathLst>
                <a:path h="548640" w="2721229">
                  <a:moveTo>
                    <a:pt x="0" y="274320"/>
                  </a:moveTo>
                  <a:cubicBezTo>
                    <a:pt x="0" y="122809"/>
                    <a:pt x="122809" y="0"/>
                    <a:pt x="274320" y="0"/>
                  </a:cubicBezTo>
                  <a:lnTo>
                    <a:pt x="2446909" y="0"/>
                  </a:lnTo>
                  <a:cubicBezTo>
                    <a:pt x="2598420" y="0"/>
                    <a:pt x="2721229" y="122809"/>
                    <a:pt x="2721229" y="274320"/>
                  </a:cubicBezTo>
                  <a:cubicBezTo>
                    <a:pt x="2721229" y="425831"/>
                    <a:pt x="2598420" y="548640"/>
                    <a:pt x="2446909" y="548640"/>
                  </a:cubicBezTo>
                  <a:lnTo>
                    <a:pt x="274320" y="548640"/>
                  </a:lnTo>
                  <a:cubicBezTo>
                    <a:pt x="122809" y="548640"/>
                    <a:pt x="0" y="425831"/>
                    <a:pt x="0" y="274320"/>
                  </a:cubicBezTo>
                  <a:close/>
                </a:path>
              </a:pathLst>
            </a:custGeom>
            <a:solidFill>
              <a:srgbClr val="EAF8FA"/>
            </a:solidFill>
          </p:spPr>
          <p:txBody>
            <a:bodyPr/>
            <a:p/>
          </p:txBody>
        </p:sp>
      </p:grpSp>
      <p:grpSp>
        <p:nvGrpSpPr>
          <p:cNvPr name="Group 14" id="14"/>
          <p:cNvGrpSpPr/>
          <p:nvPr/>
        </p:nvGrpSpPr>
        <p:grpSpPr>
          <a:xfrm rot="0">
            <a:off x="822960" y="274320"/>
            <a:ext cx="2040922" cy="411480"/>
            <a:chOff x="0" y="0"/>
            <a:chExt cx="2721229" cy="548640"/>
          </a:xfrm>
        </p:grpSpPr>
        <p:sp>
          <p:nvSpPr>
            <p:cNvPr name="Freeform 15" id="15"/>
            <p:cNvSpPr/>
            <p:nvPr/>
          </p:nvSpPr>
          <p:spPr>
            <a:xfrm flipH="false" flipV="false" rot="0">
              <a:off x="0" y="0"/>
              <a:ext cx="2721229" cy="548640"/>
            </a:xfrm>
            <a:custGeom>
              <a:avLst/>
              <a:gdLst/>
              <a:ahLst/>
              <a:cxnLst/>
              <a:rect r="r" b="b" t="t" l="l"/>
              <a:pathLst>
                <a:path h="548640" w="2721229">
                  <a:moveTo>
                    <a:pt x="0" y="0"/>
                  </a:moveTo>
                  <a:lnTo>
                    <a:pt x="2721229" y="0"/>
                  </a:lnTo>
                  <a:lnTo>
                    <a:pt x="2721229" y="548640"/>
                  </a:lnTo>
                  <a:lnTo>
                    <a:pt x="0" y="548640"/>
                  </a:lnTo>
                  <a:close/>
                </a:path>
              </a:pathLst>
            </a:custGeom>
            <a:blipFill>
              <a:blip r:embed="rId4">
                <a:alphaModFix amt="0"/>
              </a:blip>
              <a:stretch>
                <a:fillRect l="0" t="-46578" r="0" b="-46576"/>
              </a:stretch>
            </a:blipFill>
          </p:spPr>
          <p:txBody>
            <a:bodyPr/>
            <a:p/>
          </p:txBody>
        </p:sp>
      </p:grpSp>
      <p:grpSp>
        <p:nvGrpSpPr>
          <p:cNvPr name="Group 16" id="16"/>
          <p:cNvGrpSpPr/>
          <p:nvPr/>
        </p:nvGrpSpPr>
        <p:grpSpPr>
          <a:xfrm rot="0">
            <a:off x="822960" y="260033"/>
            <a:ext cx="2040941" cy="425768"/>
            <a:chOff x="0" y="0"/>
            <a:chExt cx="2721254" cy="567690"/>
          </a:xfrm>
        </p:grpSpPr>
        <p:sp>
          <p:nvSpPr>
            <p:cNvPr name="Freeform 17" id="17"/>
            <p:cNvSpPr/>
            <p:nvPr/>
          </p:nvSpPr>
          <p:spPr>
            <a:xfrm flipH="false" flipV="false" rot="0">
              <a:off x="0" y="0"/>
              <a:ext cx="2721229" cy="567690"/>
            </a:xfrm>
            <a:custGeom>
              <a:avLst/>
              <a:gdLst/>
              <a:ahLst/>
              <a:cxnLst/>
              <a:rect r="r" b="b" t="t" l="l"/>
              <a:pathLst>
                <a:path h="567690" w="2721229">
                  <a:moveTo>
                    <a:pt x="0" y="0"/>
                  </a:moveTo>
                  <a:lnTo>
                    <a:pt x="2721229" y="0"/>
                  </a:lnTo>
                  <a:lnTo>
                    <a:pt x="2721229" y="567690"/>
                  </a:lnTo>
                  <a:lnTo>
                    <a:pt x="0" y="567690"/>
                  </a:lnTo>
                  <a:close/>
                </a:path>
              </a:pathLst>
            </a:custGeom>
            <a:blipFill>
              <a:blip r:embed="rId5">
                <a:alphaModFix amt="0"/>
              </a:blip>
              <a:stretch>
                <a:fillRect l="0" t="-43337" r="0" b="-43337"/>
              </a:stretch>
            </a:blipFill>
          </p:spPr>
          <p:txBody>
            <a:bodyPr/>
            <a:p/>
          </p:txBody>
        </p:sp>
      </p:grpSp>
      <p:grpSp>
        <p:nvGrpSpPr>
          <p:cNvPr name="Group 18" id="18"/>
          <p:cNvGrpSpPr/>
          <p:nvPr/>
        </p:nvGrpSpPr>
        <p:grpSpPr>
          <a:xfrm rot="0">
            <a:off x="822960" y="245745"/>
            <a:ext cx="2040941" cy="440055"/>
            <a:chOff x="0" y="0"/>
            <a:chExt cx="2721254" cy="586740"/>
          </a:xfrm>
        </p:grpSpPr>
        <p:sp>
          <p:nvSpPr>
            <p:cNvPr name="Freeform 19" id="19"/>
            <p:cNvSpPr/>
            <p:nvPr/>
          </p:nvSpPr>
          <p:spPr>
            <a:xfrm flipH="false" flipV="false" rot="0">
              <a:off x="0" y="0"/>
              <a:ext cx="2721255" cy="586741"/>
            </a:xfrm>
            <a:custGeom>
              <a:avLst/>
              <a:gdLst/>
              <a:ahLst/>
              <a:cxnLst/>
              <a:rect r="r" b="b" t="t" l="l"/>
              <a:pathLst>
                <a:path h="586741" w="2721255">
                  <a:moveTo>
                    <a:pt x="0" y="0"/>
                  </a:moveTo>
                  <a:lnTo>
                    <a:pt x="2721255" y="0"/>
                  </a:lnTo>
                  <a:lnTo>
                    <a:pt x="2721255" y="586741"/>
                  </a:lnTo>
                  <a:lnTo>
                    <a:pt x="0" y="586741"/>
                  </a:lnTo>
                  <a:close/>
                </a:path>
              </a:pathLst>
            </a:custGeom>
            <a:blipFill>
              <a:blip r:embed="rId6">
                <a:alphaModFix amt="0"/>
              </a:blip>
              <a:stretch>
                <a:fillRect l="0" t="-40370" r="0" b="-40369"/>
              </a:stretch>
            </a:blipFill>
          </p:spPr>
          <p:txBody>
            <a:bodyPr/>
            <a:p/>
          </p:txBody>
        </p:sp>
        <p:sp>
          <p:nvSpPr>
            <p:cNvPr name="TextBox 20" id="20"/>
            <p:cNvSpPr txBox="true"/>
            <p:nvPr/>
          </p:nvSpPr>
          <p:spPr>
            <a:xfrm>
              <a:off x="0" y="-19050"/>
              <a:ext cx="2721254"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Pendahuluan</a:t>
              </a:r>
            </a:p>
          </p:txBody>
        </p:sp>
      </p:grpSp>
      <p:grpSp>
        <p:nvGrpSpPr>
          <p:cNvPr name="Group 21" id="21"/>
          <p:cNvGrpSpPr/>
          <p:nvPr/>
        </p:nvGrpSpPr>
        <p:grpSpPr>
          <a:xfrm rot="0">
            <a:off x="2973629" y="274320"/>
            <a:ext cx="2378392" cy="411480"/>
            <a:chOff x="0" y="0"/>
            <a:chExt cx="3171190" cy="548640"/>
          </a:xfrm>
        </p:grpSpPr>
        <p:sp>
          <p:nvSpPr>
            <p:cNvPr name="Freeform 22" id="22"/>
            <p:cNvSpPr/>
            <p:nvPr/>
          </p:nvSpPr>
          <p:spPr>
            <a:xfrm flipH="false" flipV="false" rot="0">
              <a:off x="0" y="0"/>
              <a:ext cx="3171190" cy="548640"/>
            </a:xfrm>
            <a:custGeom>
              <a:avLst/>
              <a:gdLst/>
              <a:ahLst/>
              <a:cxnLst/>
              <a:rect r="r" b="b" t="t" l="l"/>
              <a:pathLst>
                <a:path h="548640" w="3171190">
                  <a:moveTo>
                    <a:pt x="0" y="274320"/>
                  </a:moveTo>
                  <a:cubicBezTo>
                    <a:pt x="0" y="122809"/>
                    <a:pt x="122809" y="0"/>
                    <a:pt x="274320" y="0"/>
                  </a:cubicBezTo>
                  <a:lnTo>
                    <a:pt x="2896870" y="0"/>
                  </a:lnTo>
                  <a:cubicBezTo>
                    <a:pt x="3048381" y="0"/>
                    <a:pt x="3171190" y="122809"/>
                    <a:pt x="3171190" y="274320"/>
                  </a:cubicBezTo>
                  <a:cubicBezTo>
                    <a:pt x="3171190" y="425831"/>
                    <a:pt x="3048381" y="548640"/>
                    <a:pt x="2896870" y="548640"/>
                  </a:cubicBezTo>
                  <a:lnTo>
                    <a:pt x="274320" y="548640"/>
                  </a:lnTo>
                  <a:cubicBezTo>
                    <a:pt x="122809" y="548640"/>
                    <a:pt x="0" y="425831"/>
                    <a:pt x="0" y="274320"/>
                  </a:cubicBezTo>
                  <a:close/>
                </a:path>
              </a:pathLst>
            </a:custGeom>
            <a:solidFill>
              <a:srgbClr val="EAF8FA"/>
            </a:solidFill>
          </p:spPr>
          <p:txBody>
            <a:bodyPr/>
            <a:p/>
          </p:txBody>
        </p:sp>
      </p:grpSp>
      <p:grpSp>
        <p:nvGrpSpPr>
          <p:cNvPr name="Group 23" id="23"/>
          <p:cNvGrpSpPr/>
          <p:nvPr/>
        </p:nvGrpSpPr>
        <p:grpSpPr>
          <a:xfrm rot="0">
            <a:off x="2973629" y="274320"/>
            <a:ext cx="2378392" cy="411480"/>
            <a:chOff x="0" y="0"/>
            <a:chExt cx="3171190" cy="548640"/>
          </a:xfrm>
        </p:grpSpPr>
        <p:sp>
          <p:nvSpPr>
            <p:cNvPr name="Freeform 24" id="24"/>
            <p:cNvSpPr/>
            <p:nvPr/>
          </p:nvSpPr>
          <p:spPr>
            <a:xfrm flipH="false" flipV="false" rot="0">
              <a:off x="0" y="0"/>
              <a:ext cx="3171190" cy="548640"/>
            </a:xfrm>
            <a:custGeom>
              <a:avLst/>
              <a:gdLst/>
              <a:ahLst/>
              <a:cxnLst/>
              <a:rect r="r" b="b" t="t" l="l"/>
              <a:pathLst>
                <a:path h="548640" w="3171190">
                  <a:moveTo>
                    <a:pt x="0" y="0"/>
                  </a:moveTo>
                  <a:lnTo>
                    <a:pt x="3171190" y="0"/>
                  </a:lnTo>
                  <a:lnTo>
                    <a:pt x="3171190" y="548640"/>
                  </a:lnTo>
                  <a:lnTo>
                    <a:pt x="0" y="548640"/>
                  </a:lnTo>
                  <a:close/>
                </a:path>
              </a:pathLst>
            </a:custGeom>
            <a:blipFill>
              <a:blip r:embed="rId4">
                <a:alphaModFix amt="0"/>
              </a:blip>
              <a:stretch>
                <a:fillRect l="0" t="-62546" r="0" b="-62548"/>
              </a:stretch>
            </a:blipFill>
          </p:spPr>
          <p:txBody>
            <a:bodyPr/>
            <a:p/>
          </p:txBody>
        </p:sp>
      </p:grpSp>
      <p:grpSp>
        <p:nvGrpSpPr>
          <p:cNvPr name="Group 25" id="25"/>
          <p:cNvGrpSpPr/>
          <p:nvPr/>
        </p:nvGrpSpPr>
        <p:grpSpPr>
          <a:xfrm rot="0">
            <a:off x="2973629" y="260033"/>
            <a:ext cx="2378354" cy="425768"/>
            <a:chOff x="0" y="0"/>
            <a:chExt cx="3171139" cy="567690"/>
          </a:xfrm>
        </p:grpSpPr>
        <p:sp>
          <p:nvSpPr>
            <p:cNvPr name="Freeform 26" id="26"/>
            <p:cNvSpPr/>
            <p:nvPr/>
          </p:nvSpPr>
          <p:spPr>
            <a:xfrm flipH="false" flipV="false" rot="0">
              <a:off x="0" y="0"/>
              <a:ext cx="3171190" cy="567690"/>
            </a:xfrm>
            <a:custGeom>
              <a:avLst/>
              <a:gdLst/>
              <a:ahLst/>
              <a:cxnLst/>
              <a:rect r="r" b="b" t="t" l="l"/>
              <a:pathLst>
                <a:path h="567690" w="3171190">
                  <a:moveTo>
                    <a:pt x="0" y="0"/>
                  </a:moveTo>
                  <a:lnTo>
                    <a:pt x="3171190" y="0"/>
                  </a:lnTo>
                  <a:lnTo>
                    <a:pt x="3171190" y="567690"/>
                  </a:lnTo>
                  <a:lnTo>
                    <a:pt x="0" y="567690"/>
                  </a:lnTo>
                  <a:close/>
                </a:path>
              </a:pathLst>
            </a:custGeom>
            <a:blipFill>
              <a:blip r:embed="rId5">
                <a:alphaModFix amt="0"/>
              </a:blip>
              <a:stretch>
                <a:fillRect l="0" t="-58767" r="1" b="-58769"/>
              </a:stretch>
            </a:blipFill>
          </p:spPr>
          <p:txBody>
            <a:bodyPr/>
            <a:p/>
          </p:txBody>
        </p:sp>
      </p:grpSp>
      <p:grpSp>
        <p:nvGrpSpPr>
          <p:cNvPr name="Group 27" id="27"/>
          <p:cNvGrpSpPr/>
          <p:nvPr/>
        </p:nvGrpSpPr>
        <p:grpSpPr>
          <a:xfrm rot="0">
            <a:off x="2973629" y="245745"/>
            <a:ext cx="2378354" cy="440055"/>
            <a:chOff x="0" y="0"/>
            <a:chExt cx="3171139" cy="586740"/>
          </a:xfrm>
        </p:grpSpPr>
        <p:sp>
          <p:nvSpPr>
            <p:cNvPr name="Freeform 28" id="28"/>
            <p:cNvSpPr/>
            <p:nvPr/>
          </p:nvSpPr>
          <p:spPr>
            <a:xfrm flipH="false" flipV="false" rot="0">
              <a:off x="0" y="0"/>
              <a:ext cx="3171139" cy="586741"/>
            </a:xfrm>
            <a:custGeom>
              <a:avLst/>
              <a:gdLst/>
              <a:ahLst/>
              <a:cxnLst/>
              <a:rect r="r" b="b" t="t" l="l"/>
              <a:pathLst>
                <a:path h="586741" w="3171139">
                  <a:moveTo>
                    <a:pt x="0" y="0"/>
                  </a:moveTo>
                  <a:lnTo>
                    <a:pt x="3171139" y="0"/>
                  </a:lnTo>
                  <a:lnTo>
                    <a:pt x="3171139" y="586741"/>
                  </a:lnTo>
                  <a:lnTo>
                    <a:pt x="0" y="586741"/>
                  </a:lnTo>
                  <a:close/>
                </a:path>
              </a:pathLst>
            </a:custGeom>
            <a:blipFill>
              <a:blip r:embed="rId6">
                <a:alphaModFix amt="0"/>
              </a:blip>
              <a:stretch>
                <a:fillRect l="0" t="-55310" r="0" b="-55310"/>
              </a:stretch>
            </a:blipFill>
          </p:spPr>
          <p:txBody>
            <a:bodyPr/>
            <a:p/>
          </p:txBody>
        </p:sp>
        <p:sp>
          <p:nvSpPr>
            <p:cNvPr name="TextBox 29" id="29"/>
            <p:cNvSpPr txBox="true"/>
            <p:nvPr/>
          </p:nvSpPr>
          <p:spPr>
            <a:xfrm>
              <a:off x="0" y="-19050"/>
              <a:ext cx="3171139"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Metodologi</a:t>
              </a:r>
            </a:p>
          </p:txBody>
        </p:sp>
      </p:grpSp>
      <p:grpSp>
        <p:nvGrpSpPr>
          <p:cNvPr name="Group 30" id="30"/>
          <p:cNvGrpSpPr/>
          <p:nvPr/>
        </p:nvGrpSpPr>
        <p:grpSpPr>
          <a:xfrm rot="0">
            <a:off x="5461711" y="274320"/>
            <a:ext cx="1591056" cy="411480"/>
            <a:chOff x="0" y="0"/>
            <a:chExt cx="2121408" cy="548640"/>
          </a:xfrm>
        </p:grpSpPr>
        <p:sp>
          <p:nvSpPr>
            <p:cNvPr name="Freeform 31" id="31"/>
            <p:cNvSpPr/>
            <p:nvPr/>
          </p:nvSpPr>
          <p:spPr>
            <a:xfrm flipH="false" flipV="false" rot="0">
              <a:off x="0" y="0"/>
              <a:ext cx="2121408" cy="548640"/>
            </a:xfrm>
            <a:custGeom>
              <a:avLst/>
              <a:gdLst/>
              <a:ahLst/>
              <a:cxnLst/>
              <a:rect r="r" b="b" t="t" l="l"/>
              <a:pathLst>
                <a:path h="548640" w="2121408">
                  <a:moveTo>
                    <a:pt x="0" y="274320"/>
                  </a:moveTo>
                  <a:cubicBezTo>
                    <a:pt x="0" y="122809"/>
                    <a:pt x="122809" y="0"/>
                    <a:pt x="274320" y="0"/>
                  </a:cubicBezTo>
                  <a:lnTo>
                    <a:pt x="1847088" y="0"/>
                  </a:lnTo>
                  <a:cubicBezTo>
                    <a:pt x="1998599" y="0"/>
                    <a:pt x="2121408" y="122809"/>
                    <a:pt x="2121408" y="274320"/>
                  </a:cubicBezTo>
                  <a:cubicBezTo>
                    <a:pt x="2121408" y="425831"/>
                    <a:pt x="1998599" y="548640"/>
                    <a:pt x="1847088" y="548640"/>
                  </a:cubicBezTo>
                  <a:lnTo>
                    <a:pt x="274320" y="548640"/>
                  </a:lnTo>
                  <a:cubicBezTo>
                    <a:pt x="122809" y="548640"/>
                    <a:pt x="0" y="425831"/>
                    <a:pt x="0" y="274320"/>
                  </a:cubicBezTo>
                  <a:close/>
                </a:path>
              </a:pathLst>
            </a:custGeom>
            <a:solidFill>
              <a:srgbClr val="EAF8FA"/>
            </a:solidFill>
          </p:spPr>
          <p:txBody>
            <a:bodyPr/>
            <a:p/>
          </p:txBody>
        </p:sp>
      </p:grpSp>
      <p:grpSp>
        <p:nvGrpSpPr>
          <p:cNvPr name="Group 32" id="32"/>
          <p:cNvGrpSpPr/>
          <p:nvPr/>
        </p:nvGrpSpPr>
        <p:grpSpPr>
          <a:xfrm rot="0">
            <a:off x="5461711" y="274320"/>
            <a:ext cx="1591056" cy="411480"/>
            <a:chOff x="0" y="0"/>
            <a:chExt cx="2121408" cy="548640"/>
          </a:xfrm>
        </p:grpSpPr>
        <p:sp>
          <p:nvSpPr>
            <p:cNvPr name="Freeform 33" id="33"/>
            <p:cNvSpPr/>
            <p:nvPr/>
          </p:nvSpPr>
          <p:spPr>
            <a:xfrm flipH="false" flipV="false" rot="0">
              <a:off x="0" y="0"/>
              <a:ext cx="2121408" cy="548640"/>
            </a:xfrm>
            <a:custGeom>
              <a:avLst/>
              <a:gdLst/>
              <a:ahLst/>
              <a:cxnLst/>
              <a:rect r="r" b="b" t="t" l="l"/>
              <a:pathLst>
                <a:path h="548640" w="2121408">
                  <a:moveTo>
                    <a:pt x="0" y="0"/>
                  </a:moveTo>
                  <a:lnTo>
                    <a:pt x="2121408" y="0"/>
                  </a:lnTo>
                  <a:lnTo>
                    <a:pt x="2121408" y="548640"/>
                  </a:lnTo>
                  <a:lnTo>
                    <a:pt x="0" y="548640"/>
                  </a:lnTo>
                  <a:close/>
                </a:path>
              </a:pathLst>
            </a:custGeom>
            <a:blipFill>
              <a:blip r:embed="rId4">
                <a:alphaModFix amt="0"/>
              </a:blip>
              <a:stretch>
                <a:fillRect l="0" t="-25289" r="0" b="-25289"/>
              </a:stretch>
            </a:blipFill>
          </p:spPr>
          <p:txBody>
            <a:bodyPr/>
            <a:p/>
          </p:txBody>
        </p:sp>
      </p:grpSp>
      <p:grpSp>
        <p:nvGrpSpPr>
          <p:cNvPr name="Group 34" id="34"/>
          <p:cNvGrpSpPr/>
          <p:nvPr/>
        </p:nvGrpSpPr>
        <p:grpSpPr>
          <a:xfrm rot="0">
            <a:off x="5461711" y="260033"/>
            <a:ext cx="1591056" cy="425768"/>
            <a:chOff x="0" y="0"/>
            <a:chExt cx="2121408" cy="567690"/>
          </a:xfrm>
        </p:grpSpPr>
        <p:sp>
          <p:nvSpPr>
            <p:cNvPr name="Freeform 35" id="35"/>
            <p:cNvSpPr/>
            <p:nvPr/>
          </p:nvSpPr>
          <p:spPr>
            <a:xfrm flipH="false" flipV="false" rot="0">
              <a:off x="0" y="0"/>
              <a:ext cx="2121408" cy="567690"/>
            </a:xfrm>
            <a:custGeom>
              <a:avLst/>
              <a:gdLst/>
              <a:ahLst/>
              <a:cxnLst/>
              <a:rect r="r" b="b" t="t" l="l"/>
              <a:pathLst>
                <a:path h="567690" w="2121408">
                  <a:moveTo>
                    <a:pt x="0" y="0"/>
                  </a:moveTo>
                  <a:lnTo>
                    <a:pt x="2121408" y="0"/>
                  </a:lnTo>
                  <a:lnTo>
                    <a:pt x="2121408" y="567690"/>
                  </a:lnTo>
                  <a:lnTo>
                    <a:pt x="0" y="567690"/>
                  </a:lnTo>
                  <a:close/>
                </a:path>
              </a:pathLst>
            </a:custGeom>
            <a:blipFill>
              <a:blip r:embed="rId5">
                <a:alphaModFix amt="0"/>
              </a:blip>
              <a:stretch>
                <a:fillRect l="0" t="-22762" r="0" b="-22762"/>
              </a:stretch>
            </a:blipFill>
          </p:spPr>
          <p:txBody>
            <a:bodyPr/>
            <a:p/>
          </p:txBody>
        </p:sp>
      </p:grpSp>
      <p:grpSp>
        <p:nvGrpSpPr>
          <p:cNvPr name="Group 36" id="36"/>
          <p:cNvGrpSpPr/>
          <p:nvPr/>
        </p:nvGrpSpPr>
        <p:grpSpPr>
          <a:xfrm rot="0">
            <a:off x="5461711" y="245745"/>
            <a:ext cx="1591056" cy="440055"/>
            <a:chOff x="0" y="0"/>
            <a:chExt cx="2121408" cy="586740"/>
          </a:xfrm>
        </p:grpSpPr>
        <p:sp>
          <p:nvSpPr>
            <p:cNvPr name="Freeform 37" id="37"/>
            <p:cNvSpPr/>
            <p:nvPr/>
          </p:nvSpPr>
          <p:spPr>
            <a:xfrm flipH="false" flipV="false" rot="0">
              <a:off x="0" y="0"/>
              <a:ext cx="2121408" cy="586741"/>
            </a:xfrm>
            <a:custGeom>
              <a:avLst/>
              <a:gdLst/>
              <a:ahLst/>
              <a:cxnLst/>
              <a:rect r="r" b="b" t="t" l="l"/>
              <a:pathLst>
                <a:path h="586741" w="2121408">
                  <a:moveTo>
                    <a:pt x="0" y="0"/>
                  </a:moveTo>
                  <a:lnTo>
                    <a:pt x="2121408" y="0"/>
                  </a:lnTo>
                  <a:lnTo>
                    <a:pt x="2121408" y="586741"/>
                  </a:lnTo>
                  <a:lnTo>
                    <a:pt x="0" y="586741"/>
                  </a:lnTo>
                  <a:close/>
                </a:path>
              </a:pathLst>
            </a:custGeom>
            <a:blipFill>
              <a:blip r:embed="rId6">
                <a:alphaModFix amt="0"/>
              </a:blip>
              <a:stretch>
                <a:fillRect l="0" t="-20449" r="0" b="-20449"/>
              </a:stretch>
            </a:blipFill>
          </p:spPr>
          <p:txBody>
            <a:bodyPr/>
            <a:p/>
          </p:txBody>
        </p:sp>
        <p:sp>
          <p:nvSpPr>
            <p:cNvPr name="TextBox 38" id="38"/>
            <p:cNvSpPr txBox="true"/>
            <p:nvPr/>
          </p:nvSpPr>
          <p:spPr>
            <a:xfrm>
              <a:off x="0" y="-19050"/>
              <a:ext cx="2121408"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Tujuan 1</a:t>
              </a:r>
            </a:p>
          </p:txBody>
        </p:sp>
      </p:grpSp>
      <p:grpSp>
        <p:nvGrpSpPr>
          <p:cNvPr name="Group 39" id="39"/>
          <p:cNvGrpSpPr/>
          <p:nvPr/>
        </p:nvGrpSpPr>
        <p:grpSpPr>
          <a:xfrm rot="0">
            <a:off x="7162495" y="274320"/>
            <a:ext cx="2490788" cy="411480"/>
            <a:chOff x="0" y="0"/>
            <a:chExt cx="3321050" cy="548640"/>
          </a:xfrm>
        </p:grpSpPr>
        <p:sp>
          <p:nvSpPr>
            <p:cNvPr name="Freeform 40" id="40"/>
            <p:cNvSpPr/>
            <p:nvPr/>
          </p:nvSpPr>
          <p:spPr>
            <a:xfrm flipH="false" flipV="false" rot="0">
              <a:off x="0" y="0"/>
              <a:ext cx="3321050" cy="548640"/>
            </a:xfrm>
            <a:custGeom>
              <a:avLst/>
              <a:gdLst/>
              <a:ahLst/>
              <a:cxnLst/>
              <a:rect r="r" b="b" t="t" l="l"/>
              <a:pathLst>
                <a:path h="548640" w="3321050">
                  <a:moveTo>
                    <a:pt x="0" y="274320"/>
                  </a:moveTo>
                  <a:cubicBezTo>
                    <a:pt x="0" y="122809"/>
                    <a:pt x="122809" y="0"/>
                    <a:pt x="274320" y="0"/>
                  </a:cubicBezTo>
                  <a:lnTo>
                    <a:pt x="3046730" y="0"/>
                  </a:lnTo>
                  <a:cubicBezTo>
                    <a:pt x="3198241" y="0"/>
                    <a:pt x="3321050" y="122809"/>
                    <a:pt x="3321050" y="274320"/>
                  </a:cubicBezTo>
                  <a:cubicBezTo>
                    <a:pt x="3321050" y="425831"/>
                    <a:pt x="3198241" y="548640"/>
                    <a:pt x="3046730" y="548640"/>
                  </a:cubicBezTo>
                  <a:lnTo>
                    <a:pt x="274320" y="548640"/>
                  </a:lnTo>
                  <a:cubicBezTo>
                    <a:pt x="122809" y="548640"/>
                    <a:pt x="0" y="425831"/>
                    <a:pt x="0" y="274320"/>
                  </a:cubicBezTo>
                  <a:close/>
                </a:path>
              </a:pathLst>
            </a:custGeom>
            <a:solidFill>
              <a:srgbClr val="0B5E6E"/>
            </a:solidFill>
          </p:spPr>
          <p:txBody>
            <a:bodyPr/>
            <a:p/>
          </p:txBody>
        </p:sp>
      </p:grpSp>
      <p:grpSp>
        <p:nvGrpSpPr>
          <p:cNvPr name="Group 41" id="41"/>
          <p:cNvGrpSpPr/>
          <p:nvPr/>
        </p:nvGrpSpPr>
        <p:grpSpPr>
          <a:xfrm rot="0">
            <a:off x="7162495" y="274320"/>
            <a:ext cx="2490788" cy="411480"/>
            <a:chOff x="0" y="0"/>
            <a:chExt cx="3321050" cy="548640"/>
          </a:xfrm>
        </p:grpSpPr>
        <p:sp>
          <p:nvSpPr>
            <p:cNvPr name="Freeform 42" id="42"/>
            <p:cNvSpPr/>
            <p:nvPr/>
          </p:nvSpPr>
          <p:spPr>
            <a:xfrm flipH="false" flipV="false" rot="0">
              <a:off x="0" y="0"/>
              <a:ext cx="3321050" cy="548640"/>
            </a:xfrm>
            <a:custGeom>
              <a:avLst/>
              <a:gdLst/>
              <a:ahLst/>
              <a:cxnLst/>
              <a:rect r="r" b="b" t="t" l="l"/>
              <a:pathLst>
                <a:path h="548640" w="3321050">
                  <a:moveTo>
                    <a:pt x="0" y="0"/>
                  </a:moveTo>
                  <a:lnTo>
                    <a:pt x="3321050" y="0"/>
                  </a:lnTo>
                  <a:lnTo>
                    <a:pt x="3321050" y="548640"/>
                  </a:lnTo>
                  <a:lnTo>
                    <a:pt x="0" y="548640"/>
                  </a:lnTo>
                  <a:close/>
                </a:path>
              </a:pathLst>
            </a:custGeom>
            <a:blipFill>
              <a:blip r:embed="rId4">
                <a:alphaModFix amt="0"/>
              </a:blip>
              <a:stretch>
                <a:fillRect l="0" t="-67865" r="0" b="-67865"/>
              </a:stretch>
            </a:blipFill>
          </p:spPr>
          <p:txBody>
            <a:bodyPr/>
            <a:p/>
          </p:txBody>
        </p:sp>
      </p:grpSp>
      <p:grpSp>
        <p:nvGrpSpPr>
          <p:cNvPr name="Group 43" id="43"/>
          <p:cNvGrpSpPr/>
          <p:nvPr/>
        </p:nvGrpSpPr>
        <p:grpSpPr>
          <a:xfrm rot="0">
            <a:off x="7162495" y="260033"/>
            <a:ext cx="2490826" cy="425768"/>
            <a:chOff x="0" y="0"/>
            <a:chExt cx="3321101" cy="567690"/>
          </a:xfrm>
        </p:grpSpPr>
        <p:sp>
          <p:nvSpPr>
            <p:cNvPr name="Freeform 44" id="44"/>
            <p:cNvSpPr/>
            <p:nvPr/>
          </p:nvSpPr>
          <p:spPr>
            <a:xfrm flipH="false" flipV="false" rot="0">
              <a:off x="0" y="0"/>
              <a:ext cx="3321050" cy="567690"/>
            </a:xfrm>
            <a:custGeom>
              <a:avLst/>
              <a:gdLst/>
              <a:ahLst/>
              <a:cxnLst/>
              <a:rect r="r" b="b" t="t" l="l"/>
              <a:pathLst>
                <a:path h="567690" w="3321050">
                  <a:moveTo>
                    <a:pt x="0" y="0"/>
                  </a:moveTo>
                  <a:lnTo>
                    <a:pt x="3321050" y="0"/>
                  </a:lnTo>
                  <a:lnTo>
                    <a:pt x="3321050" y="567690"/>
                  </a:lnTo>
                  <a:lnTo>
                    <a:pt x="0" y="567690"/>
                  </a:lnTo>
                  <a:close/>
                </a:path>
              </a:pathLst>
            </a:custGeom>
            <a:blipFill>
              <a:blip r:embed="rId5">
                <a:alphaModFix amt="0"/>
              </a:blip>
              <a:stretch>
                <a:fillRect l="0" t="-63912" r="-1" b="-63910"/>
              </a:stretch>
            </a:blipFill>
          </p:spPr>
          <p:txBody>
            <a:bodyPr/>
            <a:p/>
          </p:txBody>
        </p:sp>
      </p:grpSp>
      <p:grpSp>
        <p:nvGrpSpPr>
          <p:cNvPr name="Group 45" id="45"/>
          <p:cNvGrpSpPr/>
          <p:nvPr/>
        </p:nvGrpSpPr>
        <p:grpSpPr>
          <a:xfrm rot="0">
            <a:off x="7162495" y="245745"/>
            <a:ext cx="2490826" cy="440055"/>
            <a:chOff x="0" y="0"/>
            <a:chExt cx="3321101" cy="586740"/>
          </a:xfrm>
        </p:grpSpPr>
        <p:sp>
          <p:nvSpPr>
            <p:cNvPr name="Freeform 46" id="46"/>
            <p:cNvSpPr/>
            <p:nvPr/>
          </p:nvSpPr>
          <p:spPr>
            <a:xfrm flipH="false" flipV="false" rot="0">
              <a:off x="0" y="0"/>
              <a:ext cx="3321101" cy="586741"/>
            </a:xfrm>
            <a:custGeom>
              <a:avLst/>
              <a:gdLst/>
              <a:ahLst/>
              <a:cxnLst/>
              <a:rect r="r" b="b" t="t" l="l"/>
              <a:pathLst>
                <a:path h="586741" w="3321101">
                  <a:moveTo>
                    <a:pt x="0" y="0"/>
                  </a:moveTo>
                  <a:lnTo>
                    <a:pt x="3321101" y="0"/>
                  </a:lnTo>
                  <a:lnTo>
                    <a:pt x="3321101" y="586741"/>
                  </a:lnTo>
                  <a:lnTo>
                    <a:pt x="0" y="586741"/>
                  </a:lnTo>
                  <a:close/>
                </a:path>
              </a:pathLst>
            </a:custGeom>
            <a:blipFill>
              <a:blip r:embed="rId6">
                <a:alphaModFix amt="0"/>
              </a:blip>
              <a:stretch>
                <a:fillRect l="0" t="-60290" r="0" b="-60290"/>
              </a:stretch>
            </a:blipFill>
          </p:spPr>
          <p:txBody>
            <a:bodyPr/>
            <a:p/>
          </p:txBody>
        </p:sp>
        <p:sp>
          <p:nvSpPr>
            <p:cNvPr name="TextBox 47" id="47"/>
            <p:cNvSpPr txBox="true"/>
            <p:nvPr/>
          </p:nvSpPr>
          <p:spPr>
            <a:xfrm>
              <a:off x="0" y="-19050"/>
              <a:ext cx="3321101" cy="605790"/>
            </a:xfrm>
            <a:prstGeom prst="rect">
              <a:avLst/>
            </a:prstGeom>
          </p:spPr>
          <p:txBody>
            <a:bodyPr anchor="ctr" rtlCol="false" tIns="0" lIns="0" bIns="0" rIns="0"/>
            <a:lstStyle/>
            <a:p>
              <a:pPr algn="ctr">
                <a:lnSpc>
                  <a:spcPts val="1889"/>
                </a:lnSpc>
              </a:pPr>
              <a:r>
                <a:rPr lang="en-US" sz="1575" b="true">
                  <a:solidFill>
                    <a:srgbClr val="FFFFFF"/>
                  </a:solidFill>
                  <a:latin typeface="Calibri (MS) Bold"/>
                  <a:ea typeface="Calibri (MS) Bold"/>
                  <a:cs typeface="Calibri (MS) Bold"/>
                  <a:sym typeface="Calibri (MS) Bold"/>
                </a:rPr>
                <a:t>Tujuan 2</a:t>
              </a:r>
            </a:p>
          </p:txBody>
        </p:sp>
      </p:grpSp>
      <p:grpSp>
        <p:nvGrpSpPr>
          <p:cNvPr name="Group 48" id="48"/>
          <p:cNvGrpSpPr/>
          <p:nvPr/>
        </p:nvGrpSpPr>
        <p:grpSpPr>
          <a:xfrm rot="0">
            <a:off x="9763049" y="274320"/>
            <a:ext cx="1366076" cy="411480"/>
            <a:chOff x="0" y="0"/>
            <a:chExt cx="1821434" cy="548640"/>
          </a:xfrm>
        </p:grpSpPr>
        <p:sp>
          <p:nvSpPr>
            <p:cNvPr name="Freeform 49" id="49"/>
            <p:cNvSpPr/>
            <p:nvPr/>
          </p:nvSpPr>
          <p:spPr>
            <a:xfrm flipH="false" flipV="false" rot="0">
              <a:off x="0" y="0"/>
              <a:ext cx="1821434" cy="548640"/>
            </a:xfrm>
            <a:custGeom>
              <a:avLst/>
              <a:gdLst/>
              <a:ahLst/>
              <a:cxnLst/>
              <a:rect r="r" b="b" t="t" l="l"/>
              <a:pathLst>
                <a:path h="548640" w="1821434">
                  <a:moveTo>
                    <a:pt x="0" y="274320"/>
                  </a:moveTo>
                  <a:cubicBezTo>
                    <a:pt x="0" y="122809"/>
                    <a:pt x="122809" y="0"/>
                    <a:pt x="274320" y="0"/>
                  </a:cubicBezTo>
                  <a:lnTo>
                    <a:pt x="1547114" y="0"/>
                  </a:lnTo>
                  <a:cubicBezTo>
                    <a:pt x="1698625" y="0"/>
                    <a:pt x="1821434" y="122809"/>
                    <a:pt x="1821434" y="274320"/>
                  </a:cubicBezTo>
                  <a:cubicBezTo>
                    <a:pt x="1821434" y="425831"/>
                    <a:pt x="1698625" y="548640"/>
                    <a:pt x="1547114" y="548640"/>
                  </a:cubicBezTo>
                  <a:lnTo>
                    <a:pt x="274320" y="548640"/>
                  </a:lnTo>
                  <a:cubicBezTo>
                    <a:pt x="122809" y="548640"/>
                    <a:pt x="0" y="425831"/>
                    <a:pt x="0" y="274320"/>
                  </a:cubicBezTo>
                  <a:close/>
                </a:path>
              </a:pathLst>
            </a:custGeom>
            <a:solidFill>
              <a:srgbClr val="EAF8FA"/>
            </a:solidFill>
          </p:spPr>
          <p:txBody>
            <a:bodyPr/>
            <a:p/>
          </p:txBody>
        </p:sp>
      </p:grpSp>
      <p:grpSp>
        <p:nvGrpSpPr>
          <p:cNvPr name="Group 50" id="50"/>
          <p:cNvGrpSpPr/>
          <p:nvPr/>
        </p:nvGrpSpPr>
        <p:grpSpPr>
          <a:xfrm rot="0">
            <a:off x="9763049" y="274320"/>
            <a:ext cx="1366076" cy="411480"/>
            <a:chOff x="0" y="0"/>
            <a:chExt cx="1821434" cy="548640"/>
          </a:xfrm>
        </p:grpSpPr>
        <p:sp>
          <p:nvSpPr>
            <p:cNvPr name="Freeform 51" id="51"/>
            <p:cNvSpPr/>
            <p:nvPr/>
          </p:nvSpPr>
          <p:spPr>
            <a:xfrm flipH="false" flipV="false" rot="0">
              <a:off x="0" y="0"/>
              <a:ext cx="1821434" cy="548640"/>
            </a:xfrm>
            <a:custGeom>
              <a:avLst/>
              <a:gdLst/>
              <a:ahLst/>
              <a:cxnLst/>
              <a:rect r="r" b="b" t="t" l="l"/>
              <a:pathLst>
                <a:path h="548640" w="1821434">
                  <a:moveTo>
                    <a:pt x="0" y="0"/>
                  </a:moveTo>
                  <a:lnTo>
                    <a:pt x="1821434" y="0"/>
                  </a:lnTo>
                  <a:lnTo>
                    <a:pt x="1821434" y="548640"/>
                  </a:lnTo>
                  <a:lnTo>
                    <a:pt x="0" y="548640"/>
                  </a:lnTo>
                  <a:close/>
                </a:path>
              </a:pathLst>
            </a:custGeom>
            <a:blipFill>
              <a:blip r:embed="rId4">
                <a:alphaModFix amt="0"/>
              </a:blip>
              <a:stretch>
                <a:fillRect l="0" t="-14643" r="0" b="-14643"/>
              </a:stretch>
            </a:blipFill>
          </p:spPr>
          <p:txBody>
            <a:bodyPr/>
            <a:p/>
          </p:txBody>
        </p:sp>
      </p:grpSp>
      <p:grpSp>
        <p:nvGrpSpPr>
          <p:cNvPr name="Group 52" id="52"/>
          <p:cNvGrpSpPr/>
          <p:nvPr/>
        </p:nvGrpSpPr>
        <p:grpSpPr>
          <a:xfrm rot="0">
            <a:off x="9763049" y="260033"/>
            <a:ext cx="1366114" cy="425768"/>
            <a:chOff x="0" y="0"/>
            <a:chExt cx="1821485" cy="567690"/>
          </a:xfrm>
        </p:grpSpPr>
        <p:sp>
          <p:nvSpPr>
            <p:cNvPr name="Freeform 53" id="53"/>
            <p:cNvSpPr/>
            <p:nvPr/>
          </p:nvSpPr>
          <p:spPr>
            <a:xfrm flipH="false" flipV="false" rot="0">
              <a:off x="0" y="0"/>
              <a:ext cx="1821434" cy="567690"/>
            </a:xfrm>
            <a:custGeom>
              <a:avLst/>
              <a:gdLst/>
              <a:ahLst/>
              <a:cxnLst/>
              <a:rect r="r" b="b" t="t" l="l"/>
              <a:pathLst>
                <a:path h="567690" w="1821434">
                  <a:moveTo>
                    <a:pt x="0" y="0"/>
                  </a:moveTo>
                  <a:lnTo>
                    <a:pt x="1821434" y="0"/>
                  </a:lnTo>
                  <a:lnTo>
                    <a:pt x="1821434" y="567690"/>
                  </a:lnTo>
                  <a:lnTo>
                    <a:pt x="0" y="567690"/>
                  </a:lnTo>
                  <a:close/>
                </a:path>
              </a:pathLst>
            </a:custGeom>
            <a:blipFill>
              <a:blip r:embed="rId5">
                <a:alphaModFix amt="0"/>
              </a:blip>
              <a:stretch>
                <a:fillRect l="0" t="-12476" r="-2" b="-12476"/>
              </a:stretch>
            </a:blipFill>
          </p:spPr>
          <p:txBody>
            <a:bodyPr/>
            <a:p/>
          </p:txBody>
        </p:sp>
      </p:grpSp>
      <p:grpSp>
        <p:nvGrpSpPr>
          <p:cNvPr name="Group 54" id="54"/>
          <p:cNvGrpSpPr/>
          <p:nvPr/>
        </p:nvGrpSpPr>
        <p:grpSpPr>
          <a:xfrm rot="0">
            <a:off x="9763049" y="245745"/>
            <a:ext cx="1366114" cy="440055"/>
            <a:chOff x="0" y="0"/>
            <a:chExt cx="1821485" cy="586740"/>
          </a:xfrm>
        </p:grpSpPr>
        <p:sp>
          <p:nvSpPr>
            <p:cNvPr name="Freeform 55" id="55"/>
            <p:cNvSpPr/>
            <p:nvPr/>
          </p:nvSpPr>
          <p:spPr>
            <a:xfrm flipH="false" flipV="false" rot="0">
              <a:off x="0" y="0"/>
              <a:ext cx="1821485" cy="586741"/>
            </a:xfrm>
            <a:custGeom>
              <a:avLst/>
              <a:gdLst/>
              <a:ahLst/>
              <a:cxnLst/>
              <a:rect r="r" b="b" t="t" l="l"/>
              <a:pathLst>
                <a:path h="586741" w="1821485">
                  <a:moveTo>
                    <a:pt x="0" y="0"/>
                  </a:moveTo>
                  <a:lnTo>
                    <a:pt x="1821485" y="0"/>
                  </a:lnTo>
                  <a:lnTo>
                    <a:pt x="1821485" y="586741"/>
                  </a:lnTo>
                  <a:lnTo>
                    <a:pt x="0" y="586741"/>
                  </a:lnTo>
                  <a:close/>
                </a:path>
              </a:pathLst>
            </a:custGeom>
            <a:blipFill>
              <a:blip r:embed="rId6">
                <a:alphaModFix amt="0"/>
              </a:blip>
              <a:stretch>
                <a:fillRect l="0" t="-10489" r="0" b="-10489"/>
              </a:stretch>
            </a:blipFill>
          </p:spPr>
          <p:txBody>
            <a:bodyPr/>
            <a:p/>
          </p:txBody>
        </p:sp>
        <p:sp>
          <p:nvSpPr>
            <p:cNvPr name="TextBox 56" id="56"/>
            <p:cNvSpPr txBox="true"/>
            <p:nvPr/>
          </p:nvSpPr>
          <p:spPr>
            <a:xfrm>
              <a:off x="0" y="-19050"/>
              <a:ext cx="1821485"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Tujuan 3</a:t>
              </a:r>
            </a:p>
          </p:txBody>
        </p:sp>
      </p:grpSp>
      <p:grpSp>
        <p:nvGrpSpPr>
          <p:cNvPr name="Group 57" id="57"/>
          <p:cNvGrpSpPr/>
          <p:nvPr/>
        </p:nvGrpSpPr>
        <p:grpSpPr>
          <a:xfrm rot="0">
            <a:off x="11238890" y="274320"/>
            <a:ext cx="1253680" cy="411480"/>
            <a:chOff x="0" y="0"/>
            <a:chExt cx="1671574" cy="548640"/>
          </a:xfrm>
        </p:grpSpPr>
        <p:sp>
          <p:nvSpPr>
            <p:cNvPr name="Freeform 58" id="58"/>
            <p:cNvSpPr/>
            <p:nvPr/>
          </p:nvSpPr>
          <p:spPr>
            <a:xfrm flipH="false" flipV="false" rot="0">
              <a:off x="0" y="0"/>
              <a:ext cx="1671574" cy="548640"/>
            </a:xfrm>
            <a:custGeom>
              <a:avLst/>
              <a:gdLst/>
              <a:ahLst/>
              <a:cxnLst/>
              <a:rect r="r" b="b" t="t" l="l"/>
              <a:pathLst>
                <a:path h="548640" w="1671574">
                  <a:moveTo>
                    <a:pt x="0" y="274320"/>
                  </a:moveTo>
                  <a:cubicBezTo>
                    <a:pt x="0" y="122809"/>
                    <a:pt x="122809" y="0"/>
                    <a:pt x="274320" y="0"/>
                  </a:cubicBezTo>
                  <a:lnTo>
                    <a:pt x="1397254" y="0"/>
                  </a:lnTo>
                  <a:cubicBezTo>
                    <a:pt x="1548765" y="0"/>
                    <a:pt x="1671574" y="122809"/>
                    <a:pt x="1671574" y="274320"/>
                  </a:cubicBezTo>
                  <a:cubicBezTo>
                    <a:pt x="1671574" y="425831"/>
                    <a:pt x="1548765" y="548640"/>
                    <a:pt x="1397254" y="548640"/>
                  </a:cubicBezTo>
                  <a:lnTo>
                    <a:pt x="274320" y="548640"/>
                  </a:lnTo>
                  <a:cubicBezTo>
                    <a:pt x="122809" y="548640"/>
                    <a:pt x="0" y="425831"/>
                    <a:pt x="0" y="274320"/>
                  </a:cubicBezTo>
                  <a:close/>
                </a:path>
              </a:pathLst>
            </a:custGeom>
            <a:solidFill>
              <a:srgbClr val="EAF8FA"/>
            </a:solidFill>
          </p:spPr>
          <p:txBody>
            <a:bodyPr/>
            <a:p/>
          </p:txBody>
        </p:sp>
      </p:grpSp>
      <p:grpSp>
        <p:nvGrpSpPr>
          <p:cNvPr name="Group 59" id="59"/>
          <p:cNvGrpSpPr/>
          <p:nvPr/>
        </p:nvGrpSpPr>
        <p:grpSpPr>
          <a:xfrm rot="0">
            <a:off x="11238890" y="274320"/>
            <a:ext cx="1253680" cy="411480"/>
            <a:chOff x="0" y="0"/>
            <a:chExt cx="1671574" cy="548640"/>
          </a:xfrm>
        </p:grpSpPr>
        <p:sp>
          <p:nvSpPr>
            <p:cNvPr name="Freeform 60" id="60"/>
            <p:cNvSpPr/>
            <p:nvPr/>
          </p:nvSpPr>
          <p:spPr>
            <a:xfrm flipH="false" flipV="false" rot="0">
              <a:off x="0" y="0"/>
              <a:ext cx="1671574" cy="548640"/>
            </a:xfrm>
            <a:custGeom>
              <a:avLst/>
              <a:gdLst/>
              <a:ahLst/>
              <a:cxnLst/>
              <a:rect r="r" b="b" t="t" l="l"/>
              <a:pathLst>
                <a:path h="548640" w="1671574">
                  <a:moveTo>
                    <a:pt x="0" y="0"/>
                  </a:moveTo>
                  <a:lnTo>
                    <a:pt x="1671574" y="0"/>
                  </a:lnTo>
                  <a:lnTo>
                    <a:pt x="1671574" y="548640"/>
                  </a:lnTo>
                  <a:lnTo>
                    <a:pt x="0" y="548640"/>
                  </a:lnTo>
                  <a:close/>
                </a:path>
              </a:pathLst>
            </a:custGeom>
            <a:blipFill>
              <a:blip r:embed="rId4">
                <a:alphaModFix amt="0"/>
              </a:blip>
              <a:stretch>
                <a:fillRect l="0" t="-9324" r="0" b="-9326"/>
              </a:stretch>
            </a:blipFill>
          </p:spPr>
          <p:txBody>
            <a:bodyPr/>
            <a:p/>
          </p:txBody>
        </p:sp>
      </p:grpSp>
      <p:grpSp>
        <p:nvGrpSpPr>
          <p:cNvPr name="Group 61" id="61"/>
          <p:cNvGrpSpPr/>
          <p:nvPr/>
        </p:nvGrpSpPr>
        <p:grpSpPr>
          <a:xfrm rot="0">
            <a:off x="11238890" y="260033"/>
            <a:ext cx="1253642" cy="425768"/>
            <a:chOff x="0" y="0"/>
            <a:chExt cx="1671523" cy="567690"/>
          </a:xfrm>
        </p:grpSpPr>
        <p:sp>
          <p:nvSpPr>
            <p:cNvPr name="Freeform 62" id="62"/>
            <p:cNvSpPr/>
            <p:nvPr/>
          </p:nvSpPr>
          <p:spPr>
            <a:xfrm flipH="false" flipV="false" rot="0">
              <a:off x="0" y="0"/>
              <a:ext cx="1671574" cy="567690"/>
            </a:xfrm>
            <a:custGeom>
              <a:avLst/>
              <a:gdLst/>
              <a:ahLst/>
              <a:cxnLst/>
              <a:rect r="r" b="b" t="t" l="l"/>
              <a:pathLst>
                <a:path h="567690" w="1671574">
                  <a:moveTo>
                    <a:pt x="0" y="0"/>
                  </a:moveTo>
                  <a:lnTo>
                    <a:pt x="1671574" y="0"/>
                  </a:lnTo>
                  <a:lnTo>
                    <a:pt x="1671574" y="567690"/>
                  </a:lnTo>
                  <a:lnTo>
                    <a:pt x="0" y="567690"/>
                  </a:lnTo>
                  <a:close/>
                </a:path>
              </a:pathLst>
            </a:custGeom>
            <a:blipFill>
              <a:blip r:embed="rId5">
                <a:alphaModFix amt="0"/>
              </a:blip>
              <a:stretch>
                <a:fillRect l="0" t="-7333" r="3" b="-7331"/>
              </a:stretch>
            </a:blipFill>
          </p:spPr>
          <p:txBody>
            <a:bodyPr/>
            <a:p/>
          </p:txBody>
        </p:sp>
      </p:grpSp>
      <p:grpSp>
        <p:nvGrpSpPr>
          <p:cNvPr name="Group 63" id="63"/>
          <p:cNvGrpSpPr/>
          <p:nvPr/>
        </p:nvGrpSpPr>
        <p:grpSpPr>
          <a:xfrm rot="0">
            <a:off x="11238890" y="245745"/>
            <a:ext cx="1253642" cy="440055"/>
            <a:chOff x="0" y="0"/>
            <a:chExt cx="1671523" cy="586740"/>
          </a:xfrm>
        </p:grpSpPr>
        <p:sp>
          <p:nvSpPr>
            <p:cNvPr name="Freeform 64" id="64"/>
            <p:cNvSpPr/>
            <p:nvPr/>
          </p:nvSpPr>
          <p:spPr>
            <a:xfrm flipH="false" flipV="false" rot="0">
              <a:off x="0" y="0"/>
              <a:ext cx="1671523" cy="586741"/>
            </a:xfrm>
            <a:custGeom>
              <a:avLst/>
              <a:gdLst/>
              <a:ahLst/>
              <a:cxnLst/>
              <a:rect r="r" b="b" t="t" l="l"/>
              <a:pathLst>
                <a:path h="586741" w="1671523">
                  <a:moveTo>
                    <a:pt x="0" y="0"/>
                  </a:moveTo>
                  <a:lnTo>
                    <a:pt x="1671523" y="0"/>
                  </a:lnTo>
                  <a:lnTo>
                    <a:pt x="1671523" y="586741"/>
                  </a:lnTo>
                  <a:lnTo>
                    <a:pt x="0" y="586741"/>
                  </a:lnTo>
                  <a:close/>
                </a:path>
              </a:pathLst>
            </a:custGeom>
            <a:blipFill>
              <a:blip r:embed="rId6">
                <a:alphaModFix amt="0"/>
              </a:blip>
              <a:stretch>
                <a:fillRect l="0" t="-5509" r="0" b="-5509"/>
              </a:stretch>
            </a:blipFill>
          </p:spPr>
          <p:txBody>
            <a:bodyPr/>
            <a:p/>
          </p:txBody>
        </p:sp>
        <p:sp>
          <p:nvSpPr>
            <p:cNvPr name="TextBox 65" id="65"/>
            <p:cNvSpPr txBox="true"/>
            <p:nvPr/>
          </p:nvSpPr>
          <p:spPr>
            <a:xfrm>
              <a:off x="0" y="-19050"/>
              <a:ext cx="1671523"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Penutup</a:t>
              </a:r>
            </a:p>
          </p:txBody>
        </p:sp>
      </p:grpSp>
      <p:sp>
        <p:nvSpPr>
          <p:cNvPr name="TextBox 97" id="97"/>
          <p:cNvSpPr txBox="true"/>
          <p:nvPr/>
        </p:nvSpPr>
        <p:spPr>
          <a:xfrm rot="0">
            <a:off x="16550640" y="9642348"/>
            <a:ext cx="818388" cy="434340"/>
          </a:xfrm>
          <a:prstGeom prst="rect">
            <a:avLst/>
          </a:prstGeom>
        </p:spPr>
        <p:txBody>
          <a:bodyPr anchor="t" rtlCol="false" tIns="0" lIns="0" bIns="0" rIns="0">
            <a:spAutoFit/>
          </a:bodyPr>
          <a:lstStyle/>
          <a:p>
            <a:pPr algn="r">
              <a:lnSpc>
                <a:spcPts val="1800"/>
              </a:lnSpc>
            </a:pPr>
            <a:r>
              <a:rPr lang="en-US" sz="1500">
                <a:solidFill>
                  <a:srgbClr val="5E6E78"/>
                </a:solidFill>
                <a:latin typeface="Calibri (MS)"/>
                <a:ea typeface="Calibri (MS)"/>
                <a:cs typeface="Calibri (MS)"/>
                <a:sym typeface="Calibri (MS)"/>
              </a:rPr>
              <a:t/>
            </a:r>
          </a:p>
        </p:txBody>
      </p:sp>
      <p:grpSp>
        <p:nvGrpSpPr>
          <p:cNvPr name="Group 100" id="100"/>
          <p:cNvGrpSpPr/>
          <p:nvPr/>
        </p:nvGrpSpPr>
        <p:grpSpPr>
          <a:xfrm rot="0">
            <a:off x="12755880" y="274320"/>
            <a:ext cx="3931920" cy="411480"/>
            <a:chOff x="0" y="0"/>
            <a:chExt cx="5242560" cy="548640"/>
          </a:xfrm>
        </p:grpSpPr>
        <p:sp>
          <p:nvSpPr>
            <p:cNvPr name="Freeform 101" id="101"/>
            <p:cNvSpPr/>
            <p:nvPr/>
          </p:nvSpPr>
          <p:spPr>
            <a:xfrm flipH="false" flipV="false" rot="0">
              <a:off x="0" y="0"/>
              <a:ext cx="5242560" cy="548640"/>
            </a:xfrm>
            <a:custGeom>
              <a:avLst/>
              <a:gdLst/>
              <a:ahLst/>
              <a:cxnLst/>
              <a:rect r="r" b="b" t="t" l="l"/>
              <a:pathLst>
                <a:path h="548640" w="5242560">
                  <a:moveTo>
                    <a:pt x="0" y="0"/>
                  </a:moveTo>
                  <a:lnTo>
                    <a:pt x="5242560" y="0"/>
                  </a:lnTo>
                  <a:lnTo>
                    <a:pt x="5242560" y="548640"/>
                  </a:lnTo>
                  <a:lnTo>
                    <a:pt x="0" y="548640"/>
                  </a:lnTo>
                  <a:close/>
                </a:path>
              </a:pathLst>
            </a:custGeom>
            <a:blipFill>
              <a:blip r:embed="rId6">
                <a:alphaModFix amt="0"/>
              </a:blip>
              <a:stretch>
                <a:fillRect l="0" t="-136190" r="0" b="-136190"/>
              </a:stretch>
            </a:blipFill>
          </p:spPr>
          <p:txBody>
            <a:bodyPr/>
            <a:p/>
          </p:txBody>
        </p:sp>
        <p:sp>
          <p:nvSpPr>
            <p:cNvPr name="TextBox 102" id="102"/>
            <p:cNvSpPr txBox="true"/>
            <p:nvPr/>
          </p:nvSpPr>
          <p:spPr>
            <a:xfrm>
              <a:off x="0" y="-28575"/>
              <a:ext cx="5242560" cy="577215"/>
            </a:xfrm>
            <a:prstGeom prst="rect">
              <a:avLst/>
            </a:prstGeom>
          </p:spPr>
          <p:txBody>
            <a:bodyPr anchor="ctr" rtlCol="false" tIns="0" lIns="0" bIns="0" rIns="0"/>
            <a:lstStyle/>
            <a:p>
              <a:pPr algn="l">
                <a:lnSpc>
                  <a:spcPts val="1932"/>
                </a:lnSpc>
              </a:pPr>
              <a:r>
                <a:rPr lang="en-US" sz="1610" b="true">
                  <a:solidFill>
                    <a:srgbClr val="0B5E6E"/>
                  </a:solidFill>
                  <a:latin typeface="Calibri (MS) Bold"/>
                  <a:ea typeface="Calibri (MS) Bold"/>
                  <a:cs typeface="Calibri (MS) Bold"/>
                  <a:sym typeface="Calibri (MS) Bold"/>
                </a:rPr>
                <a:t>2D · Uji struktur</a:t>
              </a:r>
            </a:p>
          </p:txBody>
        </p:sp>
      </p:grpSp>
      <p:sp>
        <p:nvSpPr>
          <p:cNvPr id="103" name="Rounded Rectangle 102"/>
          <p:cNvSpPr/>
          <p:nvPr/>
        </p:nvSpPr>
        <p:spPr>
          <a:xfrm>
            <a:off x="822960" y="1783080"/>
            <a:ext cx="10332720" cy="457200"/>
          </a:xfrm>
          <a:prstGeom prst="roundRect">
            <a:avLst>
              <a:gd name="adj" fmla="val 8000"/>
            </a:avLst>
          </a:prstGeom>
          <a:solidFill>
            <a:srgbClr val="0B5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109728" bIns="109728"/>
          <a:lstStyle/>
          <a:p>
            <a:pPr algn="l">
              <a:spcAft>
                <a:spcPts val="300"/>
              </a:spcAft>
            </a:pPr>
            <a:r>
              <a:rPr sz="1550" b="1" i="0">
                <a:solidFill>
                  <a:srgbClr val="FFFFFF"/>
                </a:solidFill>
                <a:latin typeface="Calibri (MS) Bold"/>
              </a:rPr>
              <a:t>Uji kondisi ekstrem</a:t>
            </a:r>
            <a:r>
              <a:rPr sz="1260" b="0" i="0">
                <a:solidFill>
                  <a:srgbClr val="D7EEF2"/>
                </a:solidFill>
                <a:latin typeface="Calibri (MS)"/>
              </a:rPr>
              <a:t>   17 uji: parameter diberi nilai ekstrem (mis. dinolkan, dikali 10), lalu dicek dengan 6 syarat logis</a:t>
            </a:r>
          </a:p>
        </p:txBody>
      </p:sp>
      <p:sp>
        <p:nvSpPr>
          <p:cNvPr id="104" name="Rounded Rectangle 103"/>
          <p:cNvSpPr/>
          <p:nvPr/>
        </p:nvSpPr>
        <p:spPr>
          <a:xfrm>
            <a:off x="822960" y="2331720"/>
            <a:ext cx="1645920" cy="457200"/>
          </a:xfrm>
          <a:prstGeom prst="roundRect">
            <a:avLst>
              <a:gd name="adj" fmla="val 8000"/>
            </a:avLst>
          </a:prstGeom>
          <a:solidFill>
            <a:srgbClr val="EAF8FA"/>
          </a:solidFill>
          <a:ln w="12700">
            <a:solidFill>
              <a:srgbClr val="CFE5E9"/>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spcAft>
                <a:spcPts val="300"/>
              </a:spcAft>
            </a:pPr>
            <a:r>
              <a:rPr sz="1150" b="1" i="0">
                <a:solidFill>
                  <a:srgbClr val="0B5E6E"/>
                </a:solidFill>
                <a:latin typeface="Calibri (MS) Bold"/>
              </a:rPr>
              <a:t>Stok tidak negatif</a:t>
            </a:r>
          </a:p>
        </p:txBody>
      </p:sp>
      <p:sp>
        <p:nvSpPr>
          <p:cNvPr id="105" name="Rounded Rectangle 104"/>
          <p:cNvSpPr/>
          <p:nvPr/>
        </p:nvSpPr>
        <p:spPr>
          <a:xfrm>
            <a:off x="2560320" y="2331720"/>
            <a:ext cx="1645920" cy="457200"/>
          </a:xfrm>
          <a:prstGeom prst="roundRect">
            <a:avLst>
              <a:gd name="adj" fmla="val 8000"/>
            </a:avLst>
          </a:prstGeom>
          <a:solidFill>
            <a:srgbClr val="EAF8FA"/>
          </a:solidFill>
          <a:ln w="12700">
            <a:solidFill>
              <a:srgbClr val="CFE5E9"/>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spcAft>
                <a:spcPts val="300"/>
              </a:spcAft>
            </a:pPr>
            <a:r>
              <a:rPr sz="1150" b="1" i="0">
                <a:solidFill>
                  <a:srgbClr val="0B5E6E"/>
                </a:solidFill>
                <a:latin typeface="Calibri (MS) Bold"/>
              </a:rPr>
              <a:t>TPK maks. 1 (100%)</a:t>
            </a:r>
          </a:p>
        </p:txBody>
      </p:sp>
      <p:sp>
        <p:nvSpPr>
          <p:cNvPr id="106" name="Rounded Rectangle 105"/>
          <p:cNvSpPr/>
          <p:nvPr/>
        </p:nvSpPr>
        <p:spPr>
          <a:xfrm>
            <a:off x="4297680" y="2331720"/>
            <a:ext cx="1645920" cy="457200"/>
          </a:xfrm>
          <a:prstGeom prst="roundRect">
            <a:avLst>
              <a:gd name="adj" fmla="val 8000"/>
            </a:avLst>
          </a:prstGeom>
          <a:solidFill>
            <a:srgbClr val="EAF8FA"/>
          </a:solidFill>
          <a:ln w="12700">
            <a:solidFill>
              <a:srgbClr val="CFE5E9"/>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spcAft>
                <a:spcPts val="300"/>
              </a:spcAft>
            </a:pPr>
            <a:r>
              <a:rPr sz="1150" b="1" i="0">
                <a:solidFill>
                  <a:srgbClr val="0B5E6E"/>
                </a:solidFill>
                <a:latin typeface="Calibri (MS) Bold"/>
              </a:rPr>
              <a:t>RDDL tidak negatif</a:t>
            </a:r>
          </a:p>
        </p:txBody>
      </p:sp>
      <p:sp>
        <p:nvSpPr>
          <p:cNvPr id="107" name="Rounded Rectangle 106"/>
          <p:cNvSpPr/>
          <p:nvPr/>
        </p:nvSpPr>
        <p:spPr>
          <a:xfrm>
            <a:off x="6035040" y="2331720"/>
            <a:ext cx="1645920" cy="457200"/>
          </a:xfrm>
          <a:prstGeom prst="roundRect">
            <a:avLst>
              <a:gd name="adj" fmla="val 8000"/>
            </a:avLst>
          </a:prstGeom>
          <a:solidFill>
            <a:srgbClr val="EAF8FA"/>
          </a:solidFill>
          <a:ln w="12700">
            <a:solidFill>
              <a:srgbClr val="CFE5E9"/>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spcAft>
                <a:spcPts val="300"/>
              </a:spcAft>
            </a:pPr>
            <a:r>
              <a:rPr sz="1150" b="1" i="0">
                <a:solidFill>
                  <a:srgbClr val="0B5E6E"/>
                </a:solidFill>
                <a:latin typeface="Calibri (MS) Bold"/>
              </a:rPr>
              <a:t>Lahan ≤ luas wilayah</a:t>
            </a:r>
          </a:p>
        </p:txBody>
      </p:sp>
      <p:sp>
        <p:nvSpPr>
          <p:cNvPr id="108" name="Rounded Rectangle 107"/>
          <p:cNvSpPr/>
          <p:nvPr/>
        </p:nvSpPr>
        <p:spPr>
          <a:xfrm>
            <a:off x="7772400" y="2331720"/>
            <a:ext cx="1645920" cy="457200"/>
          </a:xfrm>
          <a:prstGeom prst="roundRect">
            <a:avLst>
              <a:gd name="adj" fmla="val 8000"/>
            </a:avLst>
          </a:prstGeom>
          <a:solidFill>
            <a:srgbClr val="EAF8FA"/>
          </a:solidFill>
          <a:ln w="12700">
            <a:solidFill>
              <a:srgbClr val="CFE5E9"/>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spcAft>
                <a:spcPts val="300"/>
              </a:spcAft>
            </a:pPr>
            <a:r>
              <a:rPr sz="1150" b="1" i="0">
                <a:solidFill>
                  <a:srgbClr val="0B5E6E"/>
                </a:solidFill>
                <a:latin typeface="Calibri (MS) Bold"/>
              </a:rPr>
              <a:t>Daya tarik 0–3</a:t>
            </a:r>
          </a:p>
        </p:txBody>
      </p:sp>
      <p:sp>
        <p:nvSpPr>
          <p:cNvPr id="109" name="Rounded Rectangle 108"/>
          <p:cNvSpPr/>
          <p:nvPr/>
        </p:nvSpPr>
        <p:spPr>
          <a:xfrm>
            <a:off x="9509760" y="2331720"/>
            <a:ext cx="1645920" cy="457200"/>
          </a:xfrm>
          <a:prstGeom prst="roundRect">
            <a:avLst>
              <a:gd name="adj" fmla="val 8000"/>
            </a:avLst>
          </a:prstGeom>
          <a:solidFill>
            <a:srgbClr val="EAF8FA"/>
          </a:solidFill>
          <a:ln w="12700">
            <a:solidFill>
              <a:srgbClr val="CFE5E9"/>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spcAft>
                <a:spcPts val="300"/>
              </a:spcAft>
            </a:pPr>
            <a:r>
              <a:rPr sz="1150" b="1" i="0">
                <a:solidFill>
                  <a:srgbClr val="0B5E6E"/>
                </a:solidFill>
                <a:latin typeface="Calibri (MS) Bold"/>
              </a:rPr>
              <a:t>Wisatawan ≤ 5× dasar*</a:t>
            </a:r>
          </a:p>
        </p:txBody>
      </p:sp>
      <p:sp>
        <p:nvSpPr>
          <p:cNvPr id="110" name="Rounded Rectangle 109"/>
          <p:cNvSpPr/>
          <p:nvPr/>
        </p:nvSpPr>
        <p:spPr>
          <a:xfrm>
            <a:off x="822960" y="2926080"/>
            <a:ext cx="2377440" cy="731520"/>
          </a:xfrm>
          <a:prstGeom prst="roundRect">
            <a:avLst>
              <a:gd name="adj" fmla="val 8000"/>
            </a:avLst>
          </a:prstGeom>
          <a:solidFill>
            <a:srgbClr val="C9F0D6"/>
          </a:solidFill>
          <a:ln w="12700">
            <a:solidFill>
              <a:srgbClr val="9BD8AF"/>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a:spcAft>
                <a:spcPts val="300"/>
              </a:spcAft>
            </a:pPr>
            <a:r>
              <a:rPr sz="2530" b="1" i="0">
                <a:solidFill>
                  <a:srgbClr val="1E7A43"/>
                </a:solidFill>
                <a:latin typeface="Calibri (MS) Bold"/>
              </a:rPr>
              <a:t>15 </a:t>
            </a:r>
            <a:r>
              <a:rPr sz="1380" b="1" i="0">
                <a:solidFill>
                  <a:srgbClr val="1E7A43"/>
                </a:solidFill>
                <a:latin typeface="Calibri (MS) Bold"/>
              </a:rPr>
              <a:t>lolos</a:t>
            </a:r>
          </a:p>
        </p:txBody>
      </p:sp>
      <p:sp>
        <p:nvSpPr>
          <p:cNvPr id="111" name="Rounded Rectangle 110"/>
          <p:cNvSpPr/>
          <p:nvPr/>
        </p:nvSpPr>
        <p:spPr>
          <a:xfrm>
            <a:off x="3337560" y="2926080"/>
            <a:ext cx="4572000" cy="731520"/>
          </a:xfrm>
          <a:prstGeom prst="roundRect">
            <a:avLst>
              <a:gd name="adj" fmla="val 8000"/>
            </a:avLst>
          </a:prstGeom>
          <a:solidFill>
            <a:srgbClr val="FFF1BF"/>
          </a:solidFill>
          <a:ln w="12700">
            <a:solidFill>
              <a:srgbClr val="FFD23B"/>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a:spcAft>
                <a:spcPts val="300"/>
              </a:spcAft>
            </a:pPr>
            <a:r>
              <a:rPr sz="2530" b="1" i="0">
                <a:solidFill>
                  <a:srgbClr val="7A5A00"/>
                </a:solidFill>
                <a:latin typeface="Calibri (MS) Bold"/>
              </a:rPr>
              <a:t>2 </a:t>
            </a:r>
            <a:r>
              <a:rPr sz="1380" b="1" i="0">
                <a:solidFill>
                  <a:srgbClr val="7A5A00"/>
                </a:solidFill>
                <a:latin typeface="Calibri (MS) Bold"/>
              </a:rPr>
              <a:t>lolos dengan catatan (E02, E15)</a:t>
            </a:r>
          </a:p>
        </p:txBody>
      </p:sp>
      <p:sp>
        <p:nvSpPr>
          <p:cNvPr id="112" name="Rounded Rectangle 111"/>
          <p:cNvSpPr/>
          <p:nvPr/>
        </p:nvSpPr>
        <p:spPr>
          <a:xfrm>
            <a:off x="8046720" y="2926080"/>
            <a:ext cx="2377440" cy="731520"/>
          </a:xfrm>
          <a:prstGeom prst="roundRect">
            <a:avLst>
              <a:gd name="adj" fmla="val 8000"/>
            </a:avLst>
          </a:prstGeom>
          <a:solidFill>
            <a:srgbClr val="EAF8FA"/>
          </a:solidFill>
          <a:ln w="12700">
            <a:solidFill>
              <a:srgbClr val="CFE5E9"/>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a:spcAft>
                <a:spcPts val="300"/>
              </a:spcAft>
            </a:pPr>
            <a:r>
              <a:rPr sz="2530" b="1" i="0">
                <a:solidFill>
                  <a:srgbClr val="0B5E6E"/>
                </a:solidFill>
                <a:latin typeface="Calibri (MS) Bold"/>
              </a:rPr>
              <a:t>0 </a:t>
            </a:r>
            <a:r>
              <a:rPr sz="1380" b="1" i="0">
                <a:solidFill>
                  <a:srgbClr val="0B5E6E"/>
                </a:solidFill>
                <a:latin typeface="Calibri (MS) Bold"/>
              </a:rPr>
              <a:t>gagal</a:t>
            </a:r>
          </a:p>
        </p:txBody>
      </p:sp>
      <p:sp>
        <p:nvSpPr>
          <p:cNvPr id="113" name="Rounded Rectangle 112"/>
          <p:cNvSpPr/>
          <p:nvPr/>
        </p:nvSpPr>
        <p:spPr>
          <a:xfrm>
            <a:off x="822960" y="3749039"/>
            <a:ext cx="10332720" cy="566928"/>
          </a:xfrm>
          <a:prstGeom prst="roundRect">
            <a:avLst>
              <a:gd name="adj" fmla="val 8000"/>
            </a:avLst>
          </a:prstGeom>
          <a:solidFill>
            <a:srgbClr val="FFFFFF"/>
          </a:solidFill>
          <a:ln w="12700">
            <a:solidFill>
              <a:srgbClr val="CFE5E9"/>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300"/>
              </a:spcAft>
            </a:pPr>
            <a:r>
              <a:rPr sz="1210" b="1" i="0">
                <a:solidFill>
                  <a:srgbClr val="0B5E6E"/>
                </a:solidFill>
                <a:latin typeface="Calibri (MS) Bold"/>
              </a:rPr>
              <a:t>Uji awal menemukan 4 persamaan yang bisa tidak masuk akal, lalu diberi batas: </a:t>
            </a:r>
            <a:r>
              <a:rPr sz="1210" b="0" i="0">
                <a:solidFill>
                  <a:srgbClr val="14313B"/>
                </a:solidFill>
                <a:latin typeface="Calibri (MS)"/>
              </a:rPr>
              <a:t>TPK maks. 1, RDDL min. 0, dan nilai maksimum untuk komponen kepadatan dan ODTW pada daya tarik.</a:t>
            </a:r>
          </a:p>
        </p:txBody>
      </p:sp>
      <p:pic>
        <p:nvPicPr>
          <p:cNvPr id="114" name="Picture 113" descr="image21.png"/>
          <p:cNvPicPr>
            <a:picLocks noChangeAspect="1"/>
          </p:cNvPicPr>
          <p:nvPr/>
        </p:nvPicPr>
        <p:blipFill>
          <a:blip r:embed="rId9"/>
          <a:stretch>
            <a:fillRect/>
          </a:stretch>
        </p:blipFill>
        <p:spPr>
          <a:xfrm>
            <a:off x="822960" y="4434840"/>
            <a:ext cx="5074920" cy="1753154"/>
          </a:xfrm>
          <a:prstGeom prst="rect">
            <a:avLst/>
          </a:prstGeom>
          <a:ln w="12700">
            <a:solidFill>
              <a:srgbClr val="CFE5E9"/>
            </a:solidFill>
          </a:ln>
        </p:spPr>
      </p:pic>
      <p:sp>
        <p:nvSpPr>
          <p:cNvPr id="115" name="TextBox 114"/>
          <p:cNvSpPr txBox="1"/>
          <p:nvPr/>
        </p:nvSpPr>
        <p:spPr>
          <a:xfrm>
            <a:off x="822960" y="6233714"/>
            <a:ext cx="5074920" cy="685800"/>
          </a:xfrm>
          <a:prstGeom prst="rect">
            <a:avLst/>
          </a:prstGeom>
          <a:noFill/>
        </p:spPr>
        <p:txBody>
          <a:bodyPr wrap="square" anchor="t" lIns="0" rIns="0" tIns="0" bIns="0">
            <a:spAutoFit/>
          </a:bodyPr>
          <a:lstStyle/>
          <a:p>
            <a:pPr algn="l">
              <a:spcAft>
                <a:spcPts val="400"/>
              </a:spcAft>
            </a:pPr>
            <a:r>
              <a:rPr sz="1210" b="1" i="0">
                <a:solidFill>
                  <a:srgbClr val="0B5E6E"/>
                </a:solidFill>
                <a:latin typeface="Calibri (MS) Bold"/>
              </a:rPr>
              <a:t>E04 · </a:t>
            </a:r>
            <a:r>
              <a:rPr sz="1210" b="0" i="0">
                <a:solidFill>
                  <a:srgbClr val="14313B"/>
                </a:solidFill>
                <a:latin typeface="Calibri (MS)"/>
              </a:rPr>
              <a:t>investasi dinolkan → TPK naik lalu berhenti tepat di 1, padahal permintaan kamar mencapai 2,267× kapasitas</a:t>
            </a:r>
          </a:p>
        </p:txBody>
      </p:sp>
      <p:pic>
        <p:nvPicPr>
          <p:cNvPr id="116" name="Picture 115" descr="image22.png"/>
          <p:cNvPicPr>
            <a:picLocks noChangeAspect="1"/>
          </p:cNvPicPr>
          <p:nvPr/>
        </p:nvPicPr>
        <p:blipFill>
          <a:blip r:embed="rId10"/>
          <a:stretch>
            <a:fillRect/>
          </a:stretch>
        </p:blipFill>
        <p:spPr>
          <a:xfrm>
            <a:off x="6080760" y="4434840"/>
            <a:ext cx="5074920" cy="1753154"/>
          </a:xfrm>
          <a:prstGeom prst="rect">
            <a:avLst/>
          </a:prstGeom>
          <a:ln w="12700">
            <a:solidFill>
              <a:srgbClr val="CFE5E9"/>
            </a:solidFill>
          </a:ln>
        </p:spPr>
      </p:pic>
      <p:sp>
        <p:nvSpPr>
          <p:cNvPr id="117" name="TextBox 116"/>
          <p:cNvSpPr txBox="1"/>
          <p:nvPr/>
        </p:nvSpPr>
        <p:spPr>
          <a:xfrm>
            <a:off x="6080760" y="6233714"/>
            <a:ext cx="5074920" cy="685800"/>
          </a:xfrm>
          <a:prstGeom prst="rect">
            <a:avLst/>
          </a:prstGeom>
          <a:noFill/>
        </p:spPr>
        <p:txBody>
          <a:bodyPr wrap="square" anchor="t" lIns="0" rIns="0" tIns="0" bIns="0">
            <a:spAutoFit/>
          </a:bodyPr>
          <a:lstStyle/>
          <a:p>
            <a:pPr algn="l">
              <a:spcAft>
                <a:spcPts val="400"/>
              </a:spcAft>
            </a:pPr>
            <a:r>
              <a:rPr sz="1210" b="1" i="0">
                <a:solidFill>
                  <a:srgbClr val="0B5E6E"/>
                </a:solidFill>
                <a:latin typeface="Calibri (MS) Bold"/>
              </a:rPr>
              <a:t>E09 · </a:t>
            </a:r>
            <a:r>
              <a:rPr sz="1210" b="0" i="0">
                <a:solidFill>
                  <a:srgbClr val="14313B"/>
                </a:solidFill>
                <a:latin typeface="Calibri (MS)"/>
              </a:rPr>
              <a:t>konversi lahan non-pariwisata ×10 → RDDL turun tepat ke 0; lahan terbangun berhenti di luas wilayah</a:t>
            </a:r>
          </a:p>
        </p:txBody>
      </p:sp>
      <p:sp>
        <p:nvSpPr>
          <p:cNvPr id="118" name="TextBox 117"/>
          <p:cNvSpPr txBox="1"/>
          <p:nvPr/>
        </p:nvSpPr>
        <p:spPr>
          <a:xfrm>
            <a:off x="822960" y="6949440"/>
            <a:ext cx="10332720" cy="1234440"/>
          </a:xfrm>
          <a:prstGeom prst="rect">
            <a:avLst/>
          </a:prstGeom>
          <a:noFill/>
        </p:spPr>
        <p:txBody>
          <a:bodyPr wrap="square" anchor="t" lIns="0" rIns="0" tIns="0" bIns="0">
            <a:spAutoFit/>
          </a:bodyPr>
          <a:lstStyle/>
          <a:p>
            <a:pPr algn="l">
              <a:spcAft>
                <a:spcPts val="400"/>
              </a:spcAft>
            </a:pPr>
            <a:r>
              <a:rPr sz="1210" b="1" i="0">
                <a:solidFill>
                  <a:srgbClr val="0B5E6E"/>
                </a:solidFill>
                <a:latin typeface="Calibri (MS) Bold"/>
              </a:rPr>
              <a:t>Bukti lain: </a:t>
            </a:r>
            <a:r>
              <a:rPr sz="1210" b="0" i="0">
                <a:solidFill>
                  <a:srgbClr val="14313B"/>
                </a:solidFill>
                <a:latin typeface="Calibri (MS)"/>
              </a:rPr>
              <a:t>daya tarik tetap 0,60–1,00 pada E01 &amp; E15 (tidak melonjak); E10 dan E11 hasilnya sama persis sesuai dugaan; E12/E13 hanya mengubah tenaga kerja.</a:t>
            </a:r>
          </a:p>
          <a:p>
            <a:pPr algn="l">
              <a:spcAft>
                <a:spcPts val="400"/>
              </a:spcAft>
            </a:pPr>
            <a:r>
              <a:rPr sz="1210" b="1" i="0">
                <a:solidFill>
                  <a:srgbClr val="7A5A00"/>
                </a:solidFill>
                <a:latin typeface="Calibri (MS) Bold"/>
              </a:rPr>
              <a:t>* E02 &amp; E15 tidak dinilai dengan syarat 5×: </a:t>
            </a:r>
            <a:r>
              <a:rPr sz="1210" b="0" i="0">
                <a:solidFill>
                  <a:srgbClr val="14313B"/>
                </a:solidFill>
                <a:latin typeface="Calibri (MS)"/>
              </a:rPr>
              <a:t>keduanya sengaja menghapus pengurang wisatawan atau melipatgandakan pertumbuhan. Model berlaku selama laju pertumbuhan eksternal (LPE) tidak melebihi sekitar 0,336 (≈1,25× nilai dasar).</a:t>
            </a:r>
          </a:p>
        </p:txBody>
      </p:sp>
      <p:sp>
        <p:nvSpPr>
          <p:cNvPr id="119" name="Rounded Rectangle 118"/>
          <p:cNvSpPr/>
          <p:nvPr/>
        </p:nvSpPr>
        <p:spPr>
          <a:xfrm>
            <a:off x="11430000" y="1783080"/>
            <a:ext cx="6035040" cy="457200"/>
          </a:xfrm>
          <a:prstGeom prst="roundRect">
            <a:avLst>
              <a:gd name="adj" fmla="val 8000"/>
            </a:avLst>
          </a:prstGeom>
          <a:solidFill>
            <a:srgbClr val="0B5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109728" bIns="109728"/>
          <a:lstStyle/>
          <a:p>
            <a:pPr algn="l">
              <a:spcAft>
                <a:spcPts val="300"/>
              </a:spcAft>
            </a:pPr>
            <a:r>
              <a:rPr sz="1550" b="1" i="0">
                <a:solidFill>
                  <a:srgbClr val="FFFFFF"/>
                </a:solidFill>
                <a:latin typeface="Calibri (MS) Bold"/>
              </a:rPr>
              <a:t>Uji error integrasi</a:t>
            </a:r>
            <a:r>
              <a:rPr sz="1260" b="0" i="0">
                <a:solidFill>
                  <a:srgbClr val="D7EEF2"/>
                </a:solidFill>
                <a:latin typeface="Calibri (MS)"/>
              </a:rPr>
              <a:t>   ketelitian langkah hitung</a:t>
            </a:r>
          </a:p>
        </p:txBody>
      </p:sp>
      <p:sp>
        <p:nvSpPr>
          <p:cNvPr id="120" name="TextBox 119"/>
          <p:cNvSpPr txBox="1"/>
          <p:nvPr/>
        </p:nvSpPr>
        <p:spPr>
          <a:xfrm>
            <a:off x="11430000" y="2286000"/>
            <a:ext cx="6035040" cy="548640"/>
          </a:xfrm>
          <a:prstGeom prst="rect">
            <a:avLst/>
          </a:prstGeom>
          <a:noFill/>
        </p:spPr>
        <p:txBody>
          <a:bodyPr wrap="square" anchor="t" lIns="0" rIns="0" tIns="0" bIns="0">
            <a:spAutoFit/>
          </a:bodyPr>
          <a:lstStyle/>
          <a:p>
            <a:pPr algn="l">
              <a:spcAft>
                <a:spcPts val="400"/>
              </a:spcAft>
            </a:pPr>
            <a:r>
              <a:rPr sz="1150" b="0" i="0">
                <a:solidFill>
                  <a:srgbClr val="14313B"/>
                </a:solidFill>
                <a:latin typeface="Calibri (MS)"/>
              </a:rPr>
              <a:t>Model menghitung per langkah waktu 1 tahun. Pada E15 (LPE ×3), lahan sempat melewati luas wilayah. Salah struktur, atau langkahnya terlalu kasar?</a:t>
            </a:r>
          </a:p>
        </p:txBody>
      </p:sp>
      <p:pic>
        <p:nvPicPr>
          <p:cNvPr id="121" name="Picture 120" descr="image27.png"/>
          <p:cNvPicPr>
            <a:picLocks noChangeAspect="1"/>
          </p:cNvPicPr>
          <p:nvPr/>
        </p:nvPicPr>
        <p:blipFill>
          <a:blip r:embed="rId11"/>
          <a:stretch>
            <a:fillRect/>
          </a:stretch>
        </p:blipFill>
        <p:spPr>
          <a:xfrm>
            <a:off x="11887200" y="2880360"/>
            <a:ext cx="5120640" cy="2867558"/>
          </a:xfrm>
          <a:prstGeom prst="rect">
            <a:avLst/>
          </a:prstGeom>
          <a:ln w="12700">
            <a:solidFill>
              <a:srgbClr val="CFE5E9"/>
            </a:solidFill>
          </a:ln>
        </p:spPr>
      </p:pic>
      <p:graphicFrame>
        <p:nvGraphicFramePr>
          <p:cNvPr id="122" name="Table 121"/>
          <p:cNvGraphicFramePr>
            <a:graphicFrameLocks noGrp="1"/>
          </p:cNvGraphicFramePr>
          <p:nvPr/>
        </p:nvGraphicFramePr>
        <p:xfrm>
          <a:off x="11430000" y="5821070"/>
          <a:ext cx="6035040" cy="1554480"/>
        </p:xfrm>
        <a:graphic>
          <a:graphicData uri="http://schemas.openxmlformats.org/drawingml/2006/table">
            <a:tbl>
              <a:tblPr firstRow="1" bandRow="1">
                <a:tableStyleId>{5C22544A-7EE6-4342-B048-85BDC9FD1C3A}</a:tableStyleId>
              </a:tblPr>
              <a:tblGrid>
                <a:gridCol w="1828800"/>
                <a:gridCol w="4206240"/>
              </a:tblGrid>
              <a:tr h="310896">
                <a:tc>
                  <a:txBody>
                    <a:bodyPr wrap="square"/>
                    <a:lstStyle/>
                    <a:p>
                      <a:r>
                        <a:rPr sz="1150" b="1" i="0">
                          <a:solidFill>
                            <a:srgbClr val="FFFFFF"/>
                          </a:solidFill>
                          <a:latin typeface="Calibri (MS) Bold"/>
                        </a:rPr>
                        <a:t>Langkah hitung</a:t>
                      </a:r>
                    </a:p>
                  </a:txBody>
                  <a:tcPr marL="73152" marR="73152" marT="36576" marB="36576" anchor="ctr">
                    <a:solidFill>
                      <a:srgbClr val="0B5E6E"/>
                    </a:solidFill>
                  </a:tcPr>
                </a:tc>
                <a:tc>
                  <a:txBody>
                    <a:bodyPr wrap="square"/>
                    <a:lstStyle/>
                    <a:p>
                      <a:r>
                        <a:rPr sz="1150" b="1" i="0">
                          <a:solidFill>
                            <a:srgbClr val="FFFFFF"/>
                          </a:solidFill>
                          <a:latin typeface="Calibri (MS) Bold"/>
                        </a:rPr>
                        <a:t>Lahan terbangun vs luas wilayah</a:t>
                      </a:r>
                    </a:p>
                  </a:txBody>
                  <a:tcPr marL="73152" marR="73152" marT="36576" marB="36576" anchor="ctr">
                    <a:solidFill>
                      <a:srgbClr val="0B5E6E"/>
                    </a:solidFill>
                  </a:tcPr>
                </a:tc>
              </a:tr>
              <a:tr h="310896">
                <a:tc>
                  <a:txBody>
                    <a:bodyPr wrap="square"/>
                    <a:lstStyle/>
                    <a:p>
                      <a:r>
                        <a:rPr sz="1150" b="0" i="0">
                          <a:solidFill>
                            <a:srgbClr val="14313B"/>
                          </a:solidFill>
                          <a:latin typeface="Calibri (MS)"/>
                        </a:rPr>
                        <a:t>1 tahun</a:t>
                      </a:r>
                    </a:p>
                  </a:txBody>
                  <a:tcPr marL="73152" marR="73152" marT="36576" marB="36576" anchor="ctr">
                    <a:solidFill>
                      <a:srgbClr val="FFFFFF"/>
                    </a:solidFill>
                  </a:tcPr>
                </a:tc>
                <a:tc>
                  <a:txBody>
                    <a:bodyPr wrap="square"/>
                    <a:lstStyle/>
                    <a:p>
                      <a:r>
                        <a:rPr sz="1150" b="0" i="0">
                          <a:solidFill>
                            <a:srgbClr val="14313B"/>
                          </a:solidFill>
                          <a:latin typeface="Calibri (MS)"/>
                        </a:rPr>
                        <a:t>melewati 57,70 ha (0,018%)</a:t>
                      </a:r>
                    </a:p>
                  </a:txBody>
                  <a:tcPr marL="73152" marR="73152" marT="36576" marB="36576" anchor="ctr">
                    <a:solidFill>
                      <a:srgbClr val="FDE2DE"/>
                    </a:solidFill>
                  </a:tcPr>
                </a:tc>
              </a:tr>
              <a:tr h="310896">
                <a:tc>
                  <a:txBody>
                    <a:bodyPr wrap="square"/>
                    <a:lstStyle/>
                    <a:p>
                      <a:r>
                        <a:rPr sz="1150" b="0" i="0">
                          <a:solidFill>
                            <a:srgbClr val="14313B"/>
                          </a:solidFill>
                          <a:latin typeface="Calibri (MS)"/>
                        </a:rPr>
                        <a:t>0,5 tahun</a:t>
                      </a:r>
                    </a:p>
                  </a:txBody>
                  <a:tcPr marL="73152" marR="73152" marT="36576" marB="36576" anchor="ctr">
                    <a:solidFill>
                      <a:srgbClr val="EAF8FA"/>
                    </a:solidFill>
                  </a:tcPr>
                </a:tc>
                <a:tc>
                  <a:txBody>
                    <a:bodyPr wrap="square"/>
                    <a:lstStyle/>
                    <a:p>
                      <a:r>
                        <a:rPr sz="1150" b="0" i="0">
                          <a:solidFill>
                            <a:srgbClr val="14313B"/>
                          </a:solidFill>
                          <a:latin typeface="Calibri (MS)"/>
                        </a:rPr>
                        <a:t>melewati 0,01 ha</a:t>
                      </a:r>
                    </a:p>
                  </a:txBody>
                  <a:tcPr marL="73152" marR="73152" marT="36576" marB="36576" anchor="ctr">
                    <a:solidFill>
                      <a:srgbClr val="FFF1BF"/>
                    </a:solidFill>
                  </a:tcPr>
                </a:tc>
              </a:tr>
              <a:tr h="310896">
                <a:tc>
                  <a:txBody>
                    <a:bodyPr wrap="square"/>
                    <a:lstStyle/>
                    <a:p>
                      <a:r>
                        <a:rPr sz="1150" b="0" i="0">
                          <a:solidFill>
                            <a:srgbClr val="14313B"/>
                          </a:solidFill>
                          <a:latin typeface="Calibri (MS)"/>
                        </a:rPr>
                        <a:t>0,25 tahun</a:t>
                      </a:r>
                    </a:p>
                  </a:txBody>
                  <a:tcPr marL="73152" marR="73152" marT="36576" marB="36576" anchor="ctr">
                    <a:solidFill>
                      <a:srgbClr val="FFFFFF"/>
                    </a:solidFill>
                  </a:tcPr>
                </a:tc>
                <a:tc>
                  <a:txBody>
                    <a:bodyPr wrap="square"/>
                    <a:lstStyle/>
                    <a:p>
                      <a:r>
                        <a:rPr sz="1150" b="0" i="0">
                          <a:solidFill>
                            <a:srgbClr val="14313B"/>
                          </a:solidFill>
                          <a:latin typeface="Calibri (MS)"/>
                        </a:rPr>
                        <a:t>berhenti di 317.035,82 ha ✓</a:t>
                      </a:r>
                    </a:p>
                  </a:txBody>
                  <a:tcPr marL="73152" marR="73152" marT="36576" marB="36576" anchor="ctr">
                    <a:solidFill>
                      <a:srgbClr val="C9F0D6"/>
                    </a:solidFill>
                  </a:tcPr>
                </a:tc>
              </a:tr>
              <a:tr h="310896">
                <a:tc>
                  <a:txBody>
                    <a:bodyPr wrap="square"/>
                    <a:lstStyle/>
                    <a:p>
                      <a:r>
                        <a:rPr sz="1150" b="0" i="0">
                          <a:solidFill>
                            <a:srgbClr val="14313B"/>
                          </a:solidFill>
                          <a:latin typeface="Calibri (MS)"/>
                        </a:rPr>
                        <a:t>0,125 tahun</a:t>
                      </a:r>
                    </a:p>
                  </a:txBody>
                  <a:tcPr marL="73152" marR="73152" marT="36576" marB="36576" anchor="ctr">
                    <a:solidFill>
                      <a:srgbClr val="EAF8FA"/>
                    </a:solidFill>
                  </a:tcPr>
                </a:tc>
                <a:tc>
                  <a:txBody>
                    <a:bodyPr wrap="square"/>
                    <a:lstStyle/>
                    <a:p>
                      <a:r>
                        <a:rPr sz="1150" b="0" i="0">
                          <a:solidFill>
                            <a:srgbClr val="14313B"/>
                          </a:solidFill>
                          <a:latin typeface="Calibri (MS)"/>
                        </a:rPr>
                        <a:t>hanya beda 0,06 ha dari 0,25</a:t>
                      </a:r>
                    </a:p>
                  </a:txBody>
                  <a:tcPr marL="73152" marR="73152" marT="36576" marB="36576" anchor="ctr">
                    <a:solidFill>
                      <a:srgbClr val="C9F0D6"/>
                    </a:solidFill>
                  </a:tcPr>
                </a:tc>
              </a:tr>
            </a:tbl>
          </a:graphicData>
        </a:graphic>
      </p:graphicFrame>
      <p:sp>
        <p:nvSpPr>
          <p:cNvPr id="123" name="TextBox 122"/>
          <p:cNvSpPr txBox="1"/>
          <p:nvPr/>
        </p:nvSpPr>
        <p:spPr>
          <a:xfrm>
            <a:off x="11430000" y="7430414"/>
            <a:ext cx="6035040" cy="868680"/>
          </a:xfrm>
          <a:prstGeom prst="rect">
            <a:avLst/>
          </a:prstGeom>
          <a:noFill/>
        </p:spPr>
        <p:txBody>
          <a:bodyPr wrap="square" anchor="t" lIns="0" rIns="0" tIns="0" bIns="0">
            <a:spAutoFit/>
          </a:bodyPr>
          <a:lstStyle/>
          <a:p>
            <a:pPr algn="l">
              <a:spcAft>
                <a:spcPts val="400"/>
              </a:spcAft>
            </a:pPr>
            <a:r>
              <a:rPr sz="1090" b="0" i="0">
                <a:solidFill>
                  <a:srgbClr val="14313B"/>
                </a:solidFill>
                <a:latin typeface="Calibri (MS)"/>
              </a:rPr>
              <a:t>Selisih hilang saat langkah diperkecil → penyebabnya cara menghitung per langkah, bukan struktur. Simulasi dasar dengan langkah 1 vs 0,5 tahun hanya beda −0,27% s.d. +0,34%, jadi langkah 1 tahun sudah cukup.</a:t>
            </a:r>
          </a:p>
        </p:txBody>
      </p:sp>
      <p:sp>
        <p:nvSpPr>
          <p:cNvPr id="124" name="Rounded Rectangle 123"/>
          <p:cNvSpPr/>
          <p:nvPr/>
        </p:nvSpPr>
        <p:spPr>
          <a:xfrm>
            <a:off x="822960" y="8275320"/>
            <a:ext cx="16642080" cy="777240"/>
          </a:xfrm>
          <a:prstGeom prst="roundRect">
            <a:avLst>
              <a:gd name="adj" fmla="val 8000"/>
            </a:avLst>
          </a:prstGeom>
          <a:solidFill>
            <a:srgbClr val="FFF1BF"/>
          </a:solidFill>
          <a:ln w="12700">
            <a:solidFill>
              <a:srgbClr val="FFD23B"/>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l">
              <a:spcAft>
                <a:spcPts val="300"/>
              </a:spcAft>
            </a:pPr>
            <a:r>
              <a:rPr sz="1610" b="1" i="0">
                <a:solidFill>
                  <a:srgbClr val="0B5E6E"/>
                </a:solidFill>
                <a:latin typeface="Calibri (MS) Bold"/>
              </a:rPr>
              <a:t>Intinya  </a:t>
            </a:r>
            <a:r>
              <a:rPr sz="1610" b="0" i="0">
                <a:solidFill>
                  <a:srgbClr val="14313B"/>
                </a:solidFill>
                <a:latin typeface="Calibri (MS)"/>
              </a:rPr>
              <a:t>Keempat batas bekerja di seluruh 17 uji, dan selisih pada E15 hilang saat langkah hitung diperkecil: model valid secara struktural dan dapat lanjut ke uji perilaku.</a:t>
            </a:r>
          </a:p>
        </p:txBody>
      </p:sp>
      <p:sp>
        <p:nvSpPr>
          <p:cNvPr id="125" name="TextBox 124"/>
          <p:cNvSpPr txBox="1"/>
          <p:nvPr/>
        </p:nvSpPr>
        <p:spPr>
          <a:xfrm>
            <a:off x="822960" y="9253728"/>
            <a:ext cx="15544800" cy="274320"/>
          </a:xfrm>
          <a:prstGeom prst="rect">
            <a:avLst/>
          </a:prstGeom>
          <a:noFill/>
        </p:spPr>
        <p:txBody>
          <a:bodyPr wrap="square" anchor="t" lIns="0" rIns="0" tIns="0" bIns="0">
            <a:spAutoFit/>
          </a:bodyPr>
          <a:lstStyle/>
          <a:p>
            <a:pPr algn="l">
              <a:spcAft>
                <a:spcPts val="400"/>
              </a:spcAft>
            </a:pPr>
            <a:r>
              <a:rPr sz="1210" b="0" i="1">
                <a:solidFill>
                  <a:srgbClr val="5E6E78"/>
                </a:solidFill>
                <a:latin typeface="Calibri (MS)"/>
              </a:rPr>
              <a:t>Sumber: Buku Subbab 4.4.5–4.4.6, Tabel 43–44, Gambar 18, 19, dan 24.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xsi="http://www.w3.org/2001/XMLSchema-instance">
  <dcterms:created xsi:type="dcterms:W3CDTF">2006-08-16T00:00:00Z</dcterms:created>
  <dc:identifier>DAHXA7-drhs</dc:identifier>
  <dcterms:modified xsi:type="dcterms:W3CDTF">2011-08-01T06:04:30Z</dcterms:modified>
  <cp:revision>1</cp:revision>
  <dc:title>[Lengkap] PPT SIDANG FINAL</dc:title>
</cp:coreProperties>
</file>