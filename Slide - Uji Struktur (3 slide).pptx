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4.xml" ContentType="application/vnd.openxmlformats-officedocument.drawingml.chart+xml"/>
  <Override PartName="/ppt/media/image29.svg" ContentType="image/svg+xml"/>
  <Override PartName="/ppt/media/image31.svg" ContentType="image/svg+xml"/>
  <Override PartName="/ppt/media/image41.svg" ContentType="image/svg+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94" r:id="rId44"/>
    <p:sldId id="295" r:id="rId45"/>
    <p:sldId id="296" r:id="rId46"/>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44" Type="http://schemas.openxmlformats.org/officeDocument/2006/relationships/slide" Target="slides/slide1.xml"/><Relationship Id="rId45" Type="http://schemas.openxmlformats.org/officeDocument/2006/relationships/slide" Target="slides/slide2.xml"/><Relationship Id="rId46" Type="http://schemas.openxmlformats.org/officeDocument/2006/relationships/slide" Target="slides/slide3.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Wisatawan 2050 (juta)</c:v>
                </c:pt>
              </c:strCache>
            </c:strRef>
          </c:tx>
          <c:dPt>
            <c:idx val="0"/>
            <c:spPr>
              <a:solidFill>
                <a:srgbClr val="5E6E78"/>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0B5E6E"/>
              </a:solidFill>
            </c:spPr>
          </c:dPt>
          <c:cat>
            <c:strRef>
              <c:f>Sheet1!$A$2:$A$8</c:f>
              <c:strCache>
                <c:ptCount val="7"/>
                <c:pt idx="0">
                  <c:v>Semua rem dimatikan (R1 murni)</c:v>
                </c:pt>
                <c:pt idx="1">
                  <c:v>Goal-seeking tenaga kerja dimatikan</c:v>
                </c:pt>
                <c:pt idx="2">
                  <c:v>Okupansi akomodasi dimatikan</c:v>
                </c:pt>
                <c:pt idx="3">
                  <c:v>R2 ekonomi–objek wisata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0" sourceLinked="0"/>
          <c:txPr>
            <a:bodyPr/>
            <a:lstStyle/>
            <a:p>
              <a:pPr>
                <a:defRPr sz="1100" b="1"/>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1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14313B"/>
          </a:solidFill>
          <a:latin typeface="Calibri (M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Jumlah wisatawan 2050 (juta)</c:v>
                </c:pt>
              </c:strCache>
            </c:strRef>
          </c:tx>
          <c:dPt>
            <c:idx val="0"/>
            <c:spPr>
              <a:solidFill>
                <a:srgbClr val="39C0D3"/>
              </a:solidFill>
            </c:spPr>
          </c:dPt>
          <c:dPt>
            <c:idx val="1"/>
            <c:spPr>
              <a:solidFill>
                <a:srgbClr val="39C0D3"/>
              </a:solidFill>
            </c:spPr>
          </c:dPt>
          <c:dPt>
            <c:idx val="2"/>
            <c:spPr>
              <a:solidFill>
                <a:srgbClr val="39C0D3"/>
              </a:solidFill>
            </c:spPr>
          </c:dPt>
          <c:dPt>
            <c:idx val="3"/>
            <c:spPr>
              <a:solidFill>
                <a:srgbClr val="39C0D3"/>
              </a:solidFill>
            </c:spPr>
          </c:dPt>
          <c:dPt>
            <c:idx val="4"/>
            <c:spPr>
              <a:solidFill>
                <a:srgbClr val="39C0D3"/>
              </a:solidFill>
            </c:spPr>
          </c:dPt>
          <c:dPt>
            <c:idx val="5"/>
            <c:spPr>
              <a:solidFill>
                <a:srgbClr val="E4604F"/>
              </a:solidFill>
            </c:spPr>
          </c:dPt>
          <c:dPt>
            <c:idx val="6"/>
            <c:spPr>
              <a:solidFill>
                <a:srgbClr val="5E6E78"/>
              </a:solidFill>
            </c:spPr>
          </c:dPt>
          <c:cat>
            <c:strRef>
              <c:f>Sheet1!$A$2:$A$8</c:f>
              <c:strCache>
                <c:ptCount val="7"/>
                <c:pt idx="0">
                  <c:v>Semua balancing loop dimatikan (hanya R1)</c:v>
                </c:pt>
                <c:pt idx="1">
                  <c:v>Goal-seeking tenaga kerja dimatikan</c:v>
                </c:pt>
                <c:pt idx="2">
                  <c:v>Okupansi akomodasi dimatikan</c:v>
                </c:pt>
                <c:pt idx="3">
                  <c:v>R2 ekonomi–atraksi dimatikan</c:v>
                </c:pt>
                <c:pt idx="4">
                  <c:v>Daya dukung lahan dimatikan</c:v>
                </c:pt>
                <c:pt idx="5">
                  <c:v>B1 kepadatan dimatikan</c:v>
                </c:pt>
                <c:pt idx="6">
                  <c:v>Simulasi dasar (semua loop aktif)</c:v>
                </c:pt>
              </c:strCache>
            </c:strRef>
          </c:cat>
          <c:val>
            <c:numRef>
              <c:f>Sheet1!$B$2:$B$8</c:f>
              <c:numCache>
                <c:formatCode>General</c:formatCode>
                <c:ptCount val="7"/>
                <c:pt idx="0">
                  <c:v>217.37</c:v>
                </c:pt>
                <c:pt idx="1">
                  <c:v>96.2</c:v>
                </c:pt>
                <c:pt idx="2">
                  <c:v>96.23</c:v>
                </c:pt>
                <c:pt idx="3">
                  <c:v>80.24</c:v>
                </c:pt>
                <c:pt idx="4">
                  <c:v>111.66</c:v>
                </c:pt>
                <c:pt idx="5">
                  <c:v>250.32</c:v>
                </c:pt>
                <c:pt idx="6">
                  <c:v>96.2</c:v>
                </c:pt>
              </c:numCache>
            </c:numRef>
          </c:val>
        </c:ser>
        <c:dLbls>
          <c:numFmt formatCode="0.0" sourceLinked="0"/>
          <c:txPr>
            <a:bodyPr/>
            <a:lstStyle/>
            <a:p>
              <a:pPr>
                <a:defRPr sz="1200">
                  <a:solidFill>
                    <a:srgbClr val="14313B"/>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8C7CC"/>
            </a:solidFill>
          </a:ln>
        </c:spPr>
        <c:txPr>
          <a:bodyPr/>
          <a:lstStyle/>
          <a:p>
            <a:pPr>
              <a:defRPr sz="1200"/>
            </a:pPr>
          </a:p>
        </c:txPr>
        <c:crossAx val="-2113994440"/>
        <c:crosses val="autoZero"/>
        <c:auto val="1"/>
        <c:lblAlgn val="ctr"/>
        <c:lblOffset val="100"/>
        <c:noMultiLvlLbl val="0"/>
      </c:catAx>
      <c:valAx>
        <c:axId val="-2113994440"/>
        <c:scaling>
          <c:max val="300.0"/>
          <c:min val="0.0"/>
        </c:scaling>
        <c:delete val="0"/>
        <c:axPos val="b"/>
        <c:majorGridlines>
          <c:spPr>
            <a:ln>
              <a:solidFill>
                <a:srgbClr val="E3EEF1"/>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struktur saya mulai dari tiga pemeriksaan dasar. Pertama, kesesuaian struktur dan parameter: setiap variabel saya telusuri dan sumber serta landasannya saya catat, sehingga setiap hubungan sebab-akibat punya dasar teori atau bukti empiris. Kedua, konsistensi dimensi: Units Check dan Check Model di Vensim menampilkan "Units are OK" dan "Model is OK", artinya satuan seluruh persamaan konsisten. Ketiga, kecukupan batas model: model memuat 61 variabel, 26 dihitung di dalam model dan 35 merupakan input yang ditetapkan dari luar, serta 15 aspek sengaja dikeluarkan beserta konsekuensinya. Karena itu hasil model tidak dipakai untuk menjelaskan harga, promosi, musim, atau kejadian mendadak seperti pandemi dan bencana. Daftar lengkapnya ada di Lampiran 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kekekalan materi memeriksa apakah setiap stok benar-benar hasil akumulasi alirannya. Contohnya hotel: 2.291 ditambah konstruksi 158,18 dikurangi demolisi 114,55 menghasilkan 2.334,63, sama persis dengan nilai stok 2026 hasil simulasi. Pada kelima stok selisihnya nol sepanjang 2025 sampai 2049. Uji feedback loop dilakukan dengan mematikan satu loop pada satu waktu. Rem kepadatan B1 paling kuat: tanpa B1, wisatawan 2050 naik 160 persen. Daya dukung lahan dampaknya moderat tetapi menyentuh keenam variabel. Mematikan R2 justru menurunkan wisatawan dan paling besar menurunkan ODTW. Okupansi dan goal-seeking tenaga kerja hanya memengaruhi satu variabel. Menariknya, mematikan B1 saja menghasilkan angka lebih tinggi daripada mematikan semua rem, karena R2 tetap mendorong daya tarik naik. Jadi efek antarloop tidak bisa dijumlahkan begitu saja.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Uji kondisi ekstrem menguji 17 kombinasi nilai ekstrem pada lima subsistem dengan enam aturan fisik, misalnya TPK tidak boleh lebih dari satu dan lahan tidak boleh melebihi luas wilayah. Uji awal menemukan empat titik struktur yang bisa melanggar aturan, lalu diperbaiki dengan menambahkan pembatas. Setelah perbaikan, 15 uji lolos, 2 lolos dengan catatan, dan tidak ada yang gagal. Buktinya, pada E04 TPK mendatar tepat di satu meskipun rasio permintaan mencapai 2,27, dan pada E09 rasio daya dukung lahan turun tepat ke nol. E02 dan E15 diberi catatan karena sengaja mendorong model jauh di luar batas berlakunya, yaitu laju pertumbuhan eksternal sekitar 0,336. Pada E15, lahan sempat melewati luas wilayah 57,70 hektar dengan langkah waktu satu tahun. Ketika langkah waktu diperkecil, pelanggarannya menyusut lalu hilang pada 0,25 tahun. Artinya ini error hitungan numerik, bukan kesalahan struktur. Dengan demikian model valid secara struktural dan dapat dilanjutkan ke uji perilaku.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28.png"/><Relationship Id="rId8" Type="http://schemas.openxmlformats.org/officeDocument/2006/relationships/image" Target="../media/image29.sv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1.png"/><Relationship Id="rId1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0.png"/><Relationship Id="rId8" Type="http://schemas.openxmlformats.org/officeDocument/2006/relationships/image" Target="../media/image41.svg"/><Relationship Id="rId9"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42.png"/><Relationship Id="rId8" Type="http://schemas.openxmlformats.org/officeDocument/2006/relationships/chart" Target="../charts/chart4.xml"/><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(1/3): Kesesuaian Struktur, Dimensi, dan Batas Model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Setiap hubungan punya dasar, satuan konsisten, dan batas model dinyatakan secara terbuka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36" id="136"/>
          <p:cNvGrpSpPr/>
          <p:nvPr/>
        </p:nvGrpSpPr>
        <p:grpSpPr>
          <a:xfrm rot="0">
            <a:off x="12755880" y="274320"/>
            <a:ext cx="3931920" cy="411480"/>
            <a:chOff x="0" y="0"/>
            <a:chExt cx="5242560" cy="548640"/>
          </a:xfrm>
        </p:grpSpPr>
        <p:sp>
          <p:nvSpPr>
            <p:cNvPr name="Freeform 137" id="137"/>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38" id="138"/>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39" name="Rounded Rectangle 138"/>
          <p:cNvSpPr/>
          <p:nvPr/>
        </p:nvSpPr>
        <p:spPr>
          <a:xfrm>
            <a:off x="822960" y="1783080"/>
            <a:ext cx="58978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kesesuaian struktur dan parameter</a:t>
            </a:r>
          </a:p>
        </p:txBody>
      </p:sp>
      <p:sp>
        <p:nvSpPr>
          <p:cNvPr id="140" name="Rounded Rectangle 139"/>
          <p:cNvSpPr/>
          <p:nvPr/>
        </p:nvSpPr>
        <p:spPr>
          <a:xfrm>
            <a:off x="822960" y="2286000"/>
            <a:ext cx="5897880" cy="26974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Pertanyaan  </a:t>
            </a:r>
            <a:r>
              <a:rPr sz="1380" b="0" i="0">
                <a:solidFill>
                  <a:srgbClr val="14313B"/>
                </a:solidFill>
                <a:latin typeface="Calibri (MS)"/>
              </a:rPr>
              <a:t>Apakah setiap hubungan sebab-akibat dan parameter punya dasar?</a:t>
            </a:r>
          </a:p>
          <a:p>
            <a:pPr algn="l">
              <a:spcAft>
                <a:spcPts val="300"/>
              </a:spcAft>
            </a:pPr>
            <a:r>
              <a:rPr sz="1380" b="1" i="0">
                <a:solidFill>
                  <a:srgbClr val="0B5E6E"/>
                </a:solidFill>
                <a:latin typeface="Calibri (MS) Bold"/>
              </a:rPr>
              <a:t>Cara  </a:t>
            </a:r>
            <a:r>
              <a:rPr sz="1380" b="0" i="0">
                <a:solidFill>
                  <a:srgbClr val="14313B"/>
                </a:solidFill>
                <a:latin typeface="Calibri (MS)"/>
              </a:rPr>
              <a:t>Setiap variabel ditelusuri; sumber dan landasannya (teori, penelitian terdahulu, regulasi, atau data) dicatat dalam tabel parameter.</a:t>
            </a:r>
          </a:p>
          <a:p>
            <a:pPr algn="l">
              <a:spcAft>
                <a:spcPts val="300"/>
              </a:spcAft>
            </a:pPr>
            <a:r>
              <a:rPr sz="1380" b="1" i="0">
                <a:solidFill>
                  <a:srgbClr val="1E7A43"/>
                </a:solidFill>
                <a:latin typeface="Calibri (MS) Bold"/>
              </a:rPr>
              <a:t>Hasil  </a:t>
            </a:r>
            <a:r>
              <a:rPr sz="1380" b="0" i="0">
                <a:solidFill>
                  <a:srgbClr val="14313B"/>
                </a:solidFill>
                <a:latin typeface="Calibri (MS)"/>
              </a:rPr>
              <a:t>Seluruh hubungan memiliki dasar teori atau bukti empiris.</a:t>
            </a:r>
          </a:p>
        </p:txBody>
      </p:sp>
      <p:sp>
        <p:nvSpPr>
          <p:cNvPr id="141" name="Rounded Rectangle 140"/>
          <p:cNvSpPr/>
          <p:nvPr/>
        </p:nvSpPr>
        <p:spPr>
          <a:xfrm>
            <a:off x="822960" y="5120640"/>
            <a:ext cx="58978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konsistensi dimensi (satuan)</a:t>
            </a:r>
          </a:p>
        </p:txBody>
      </p:sp>
      <p:sp>
        <p:nvSpPr>
          <p:cNvPr id="142" name="Rounded Rectangle 141"/>
          <p:cNvSpPr/>
          <p:nvPr/>
        </p:nvSpPr>
        <p:spPr>
          <a:xfrm>
            <a:off x="822960" y="5623560"/>
            <a:ext cx="5897880" cy="2514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Pertanyaan  </a:t>
            </a:r>
            <a:r>
              <a:rPr sz="1380" b="0" i="0">
                <a:solidFill>
                  <a:srgbClr val="14313B"/>
                </a:solidFill>
                <a:latin typeface="Calibri (MS)"/>
              </a:rPr>
              <a:t>Apakah satuan dalam setiap persamaan sudah sesuai? Misalnya, jumlah wisatawan tidak boleh dijumlahkan dengan luas lahan.</a:t>
            </a:r>
          </a:p>
          <a:p>
            <a:pPr algn="l">
              <a:spcAft>
                <a:spcPts val="300"/>
              </a:spcAft>
            </a:pPr>
            <a:r>
              <a:rPr sz="1380" b="1" i="0">
                <a:solidFill>
                  <a:srgbClr val="0B5E6E"/>
                </a:solidFill>
                <a:latin typeface="Calibri (MS) Bold"/>
              </a:rPr>
              <a:t>Cara  </a:t>
            </a:r>
            <a:r>
              <a:rPr sz="1380" b="0" i="0">
                <a:solidFill>
                  <a:srgbClr val="14313B"/>
                </a:solidFill>
                <a:latin typeface="Calibri (MS)"/>
              </a:rPr>
              <a:t>Seluruh persamaan diperiksa otomatis dengan fitur Units Check dan Check Model di Vensim.</a:t>
            </a:r>
          </a:p>
          <a:p>
            <a:pPr algn="l">
              <a:spcAft>
                <a:spcPts val="300"/>
              </a:spcAft>
            </a:pPr>
            <a:r>
              <a:rPr sz="1380" b="1" i="0">
                <a:solidFill>
                  <a:srgbClr val="1E7A43"/>
                </a:solidFill>
                <a:latin typeface="Calibri (MS) Bold"/>
              </a:rPr>
              <a:t>Hasil  </a:t>
            </a:r>
            <a:r>
              <a:rPr sz="1380" b="0" i="0">
                <a:solidFill>
                  <a:srgbClr val="14313B"/>
                </a:solidFill>
                <a:latin typeface="Calibri (MS)"/>
              </a:rPr>
              <a:t>Tidak ditemukan satuan yang tidak sesuai (pesan Vensim: “Units are OK” dan “Model is OK.”).</a:t>
            </a:r>
          </a:p>
        </p:txBody>
      </p:sp>
      <p:pic>
        <p:nvPicPr>
          <p:cNvPr id="143" name="Picture 142" descr="dlg18.png"/>
          <p:cNvPicPr>
            <a:picLocks noChangeAspect="1"/>
          </p:cNvPicPr>
          <p:nvPr/>
        </p:nvPicPr>
        <p:blipFill>
          <a:blip r:embed="rId11"/>
          <a:stretch>
            <a:fillRect/>
          </a:stretch>
        </p:blipFill>
        <p:spPr>
          <a:xfrm>
            <a:off x="6949440" y="1783080"/>
            <a:ext cx="4160520" cy="2783991"/>
          </a:xfrm>
          <a:prstGeom prst="rect">
            <a:avLst/>
          </a:prstGeom>
          <a:ln w="12700">
            <a:solidFill>
              <a:srgbClr val="CFE5E9"/>
            </a:solidFill>
          </a:ln>
        </p:spPr>
      </p:pic>
      <p:sp>
        <p:nvSpPr>
          <p:cNvPr id="144" name="TextBox 143"/>
          <p:cNvSpPr txBox="1"/>
          <p:nvPr/>
        </p:nvSpPr>
        <p:spPr>
          <a:xfrm>
            <a:off x="6949440" y="4594503"/>
            <a:ext cx="4160520" cy="320040"/>
          </a:xfrm>
          <a:prstGeom prst="rect">
            <a:avLst/>
          </a:prstGeom>
          <a:noFill/>
        </p:spPr>
        <p:txBody>
          <a:bodyPr wrap="square" anchor="t" lIns="0" rIns="0" tIns="0" bIns="0">
            <a:spAutoFit/>
          </a:bodyPr>
          <a:lstStyle/>
          <a:p>
            <a:pPr algn="ctr">
              <a:spcAft>
                <a:spcPts val="400"/>
              </a:spcAft>
            </a:pPr>
            <a:r>
              <a:rPr sz="1260" b="1" i="0">
                <a:solidFill>
                  <a:srgbClr val="0B5E6E"/>
                </a:solidFill>
                <a:latin typeface="Calibri (MS) Bold"/>
              </a:rPr>
              <a:t>Units Check → “Units are OK”</a:t>
            </a:r>
          </a:p>
        </p:txBody>
      </p:sp>
      <p:pic>
        <p:nvPicPr>
          <p:cNvPr id="145" name="Picture 144" descr="dlg19.png"/>
          <p:cNvPicPr>
            <a:picLocks noChangeAspect="1"/>
          </p:cNvPicPr>
          <p:nvPr/>
        </p:nvPicPr>
        <p:blipFill>
          <a:blip r:embed="rId12"/>
          <a:stretch>
            <a:fillRect/>
          </a:stretch>
        </p:blipFill>
        <p:spPr>
          <a:xfrm>
            <a:off x="6949440" y="4978551"/>
            <a:ext cx="4160520" cy="2783991"/>
          </a:xfrm>
          <a:prstGeom prst="rect">
            <a:avLst/>
          </a:prstGeom>
          <a:ln w="12700">
            <a:solidFill>
              <a:srgbClr val="CFE5E9"/>
            </a:solidFill>
          </a:ln>
        </p:spPr>
      </p:pic>
      <p:sp>
        <p:nvSpPr>
          <p:cNvPr id="146" name="TextBox 145"/>
          <p:cNvSpPr txBox="1"/>
          <p:nvPr/>
        </p:nvSpPr>
        <p:spPr>
          <a:xfrm>
            <a:off x="6949440" y="7789974"/>
            <a:ext cx="4160520" cy="320040"/>
          </a:xfrm>
          <a:prstGeom prst="rect">
            <a:avLst/>
          </a:prstGeom>
          <a:noFill/>
        </p:spPr>
        <p:txBody>
          <a:bodyPr wrap="square" anchor="t" lIns="0" rIns="0" tIns="0" bIns="0">
            <a:spAutoFit/>
          </a:bodyPr>
          <a:lstStyle/>
          <a:p>
            <a:pPr algn="ctr">
              <a:spcAft>
                <a:spcPts val="400"/>
              </a:spcAft>
            </a:pPr>
            <a:r>
              <a:rPr sz="1260" b="1" i="0">
                <a:solidFill>
                  <a:srgbClr val="0B5E6E"/>
                </a:solidFill>
                <a:latin typeface="Calibri (MS) Bold"/>
              </a:rPr>
              <a:t>Check Model → “Model is OK.”</a:t>
            </a:r>
          </a:p>
        </p:txBody>
      </p:sp>
      <p:sp>
        <p:nvSpPr>
          <p:cNvPr id="147" name="Rounded Rectangle 146"/>
          <p:cNvSpPr/>
          <p:nvPr/>
        </p:nvSpPr>
        <p:spPr>
          <a:xfrm>
            <a:off x="11338560" y="1783080"/>
            <a:ext cx="61264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kecukupan batas model</a:t>
            </a:r>
          </a:p>
        </p:txBody>
      </p:sp>
      <p:sp>
        <p:nvSpPr>
          <p:cNvPr id="148" name="Rounded Rectangle 147"/>
          <p:cNvSpPr/>
          <p:nvPr/>
        </p:nvSpPr>
        <p:spPr>
          <a:xfrm>
            <a:off x="11338560" y="2331720"/>
            <a:ext cx="6126480"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2530" b="1" i="0">
                <a:solidFill>
                  <a:srgbClr val="0B5E6E"/>
                </a:solidFill>
                <a:latin typeface="Calibri (MS) Bold"/>
              </a:rPr>
              <a:t>26  </a:t>
            </a:r>
            <a:r>
              <a:rPr sz="1490" b="1" i="0">
                <a:solidFill>
                  <a:srgbClr val="0B5E6E"/>
                </a:solidFill>
                <a:latin typeface="Calibri (MS) Bold"/>
              </a:rPr>
              <a:t>variabel dihitung model</a:t>
            </a:r>
          </a:p>
          <a:p>
            <a:pPr algn="l">
              <a:spcAft>
                <a:spcPts val="300"/>
              </a:spcAft>
            </a:pPr>
            <a:r>
              <a:rPr sz="1210" b="0" i="0">
                <a:solidFill>
                  <a:srgbClr val="14313B"/>
                </a:solidFill>
                <a:latin typeface="Calibri (MS)"/>
              </a:rPr>
              <a:t>nilainya berubah mengikuti hubungan di dalam model</a:t>
            </a:r>
          </a:p>
        </p:txBody>
      </p:sp>
      <p:sp>
        <p:nvSpPr>
          <p:cNvPr id="149" name="Rounded Rectangle 148"/>
          <p:cNvSpPr/>
          <p:nvPr/>
        </p:nvSpPr>
        <p:spPr>
          <a:xfrm>
            <a:off x="11338560" y="3355848"/>
            <a:ext cx="6126480"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2530" b="1" i="0">
                <a:solidFill>
                  <a:srgbClr val="0B5E6E"/>
                </a:solidFill>
                <a:latin typeface="Calibri (MS) Bold"/>
              </a:rPr>
              <a:t>35  </a:t>
            </a:r>
            <a:r>
              <a:rPr sz="1490" b="1" i="0">
                <a:solidFill>
                  <a:srgbClr val="0B5E6E"/>
                </a:solidFill>
                <a:latin typeface="Calibri (MS) Bold"/>
              </a:rPr>
              <a:t>variabel input</a:t>
            </a:r>
          </a:p>
          <a:p>
            <a:pPr algn="l">
              <a:spcAft>
                <a:spcPts val="300"/>
              </a:spcAft>
            </a:pPr>
            <a:r>
              <a:rPr sz="1210" b="0" i="0">
                <a:solidFill>
                  <a:srgbClr val="14313B"/>
                </a:solidFill>
                <a:latin typeface="Calibri (MS)"/>
              </a:rPr>
              <a:t>nilainya ditetapkan dari luar: data, regulasi, asumsi, kebijakan</a:t>
            </a:r>
          </a:p>
        </p:txBody>
      </p:sp>
      <p:sp>
        <p:nvSpPr>
          <p:cNvPr id="150" name="Rounded Rectangle 149"/>
          <p:cNvSpPr/>
          <p:nvPr/>
        </p:nvSpPr>
        <p:spPr>
          <a:xfrm>
            <a:off x="11338560" y="4379976"/>
            <a:ext cx="61264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2530" b="1" i="0">
                <a:solidFill>
                  <a:srgbClr val="7A5A00"/>
                </a:solidFill>
                <a:latin typeface="Calibri (MS) Bold"/>
              </a:rPr>
              <a:t>15  </a:t>
            </a:r>
            <a:r>
              <a:rPr sz="1490" b="1" i="0">
                <a:solidFill>
                  <a:srgbClr val="7A5A00"/>
                </a:solidFill>
                <a:latin typeface="Calibri (MS) Bold"/>
              </a:rPr>
              <a:t>aspek di luar cakupan</a:t>
            </a:r>
          </a:p>
          <a:p>
            <a:pPr algn="l">
              <a:spcAft>
                <a:spcPts val="300"/>
              </a:spcAft>
            </a:pPr>
            <a:r>
              <a:rPr sz="1210" b="0" i="0">
                <a:solidFill>
                  <a:srgbClr val="14313B"/>
                </a:solidFill>
                <a:latin typeface="Calibri (MS)"/>
              </a:rPr>
              <a:t>alasan dan dampaknya terhadap hasil dicatat (Lampiran 9)</a:t>
            </a:r>
          </a:p>
        </p:txBody>
      </p:sp>
      <p:sp>
        <p:nvSpPr>
          <p:cNvPr id="151" name="Rounded Rectangle 150"/>
          <p:cNvSpPr/>
          <p:nvPr/>
        </p:nvSpPr>
        <p:spPr>
          <a:xfrm>
            <a:off x="11338560" y="5440680"/>
            <a:ext cx="6126480" cy="26974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Cara membaca hasil model</a:t>
            </a:r>
          </a:p>
          <a:p>
            <a:pPr algn="l">
              <a:spcAft>
                <a:spcPts val="300"/>
              </a:spcAft>
            </a:pPr>
            <a:r>
              <a:rPr sz="1260" b="0" i="0">
                <a:solidFill>
                  <a:srgbClr val="14313B"/>
                </a:solidFill>
                <a:latin typeface="Calibri (MS)"/>
              </a:rPr>
              <a:t>Hasil menggambarkan arah perkembangan jangka panjang dalam kondisi normal, dan </a:t>
            </a:r>
            <a:r>
              <a:rPr sz="1260" b="1" i="0">
                <a:solidFill>
                  <a:srgbClr val="E4604F"/>
                </a:solidFill>
                <a:latin typeface="Calibri (MS) Bold"/>
              </a:rPr>
              <a:t>tidak</a:t>
            </a:r>
            <a:r>
              <a:rPr sz="1260" b="0" i="0">
                <a:solidFill>
                  <a:srgbClr val="14313B"/>
                </a:solidFill>
                <a:latin typeface="Calibri (MS)"/>
              </a:rPr>
              <a:t> dapat dipakai untuk menjelaskan pengaruh:</a:t>
            </a:r>
          </a:p>
          <a:p>
            <a:pPr algn="l">
              <a:spcAft>
                <a:spcPts val="300"/>
              </a:spcAft>
            </a:pPr>
            <a:r>
              <a:rPr sz="1260" b="0" i="0">
                <a:solidFill>
                  <a:srgbClr val="14313B"/>
                </a:solidFill>
                <a:latin typeface="Calibri (MS)"/>
              </a:rPr>
              <a:t>•  harga dan daya saing harga</a:t>
            </a:r>
          </a:p>
          <a:p>
            <a:pPr algn="l">
              <a:spcAft>
                <a:spcPts val="300"/>
              </a:spcAft>
            </a:pPr>
            <a:r>
              <a:rPr sz="1260" b="0" i="0">
                <a:solidFill>
                  <a:srgbClr val="14313B"/>
                </a:solidFill>
                <a:latin typeface="Calibri (MS)"/>
              </a:rPr>
              <a:t>•  promosi dan citra destinasi</a:t>
            </a:r>
          </a:p>
          <a:p>
            <a:pPr algn="l">
              <a:spcAft>
                <a:spcPts val="300"/>
              </a:spcAft>
            </a:pPr>
            <a:r>
              <a:rPr sz="1260" b="0" i="0">
                <a:solidFill>
                  <a:srgbClr val="14313B"/>
                </a:solidFill>
                <a:latin typeface="Calibri (MS)"/>
              </a:rPr>
              <a:t>•  musim ramai/sepi dalam setahun</a:t>
            </a:r>
          </a:p>
          <a:p>
            <a:pPr algn="l">
              <a:spcAft>
                <a:spcPts val="300"/>
              </a:spcAft>
            </a:pPr>
            <a:r>
              <a:rPr sz="1260" b="0" i="0">
                <a:solidFill>
                  <a:srgbClr val="14313B"/>
                </a:solidFill>
                <a:latin typeface="Calibri (MS)"/>
              </a:rPr>
              <a:t>•  kejadian mendadak: pandemi, erupsi, gempa</a:t>
            </a:r>
          </a:p>
          <a:p>
            <a:pPr algn="l">
              <a:spcAft>
                <a:spcPts val="300"/>
              </a:spcAft>
            </a:pPr>
            <a:r>
              <a:rPr sz="1210" b="0" i="1">
                <a:solidFill>
                  <a:srgbClr val="5E6E78"/>
                </a:solidFill>
                <a:latin typeface="Calibri (MS)"/>
              </a:rPr>
              <a:t>Daftar lengkap 15 aspek: Lampiran 9</a:t>
            </a:r>
          </a:p>
        </p:txBody>
      </p:sp>
      <p:sp>
        <p:nvSpPr>
          <p:cNvPr id="152" name="Rounded Rectangle 151"/>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Struktur model dapat dipertanggungjawabkan secara teori dan matematis, dan hasilnya dibaca sebagai arah perkembangan jangka panjang dalam kondisi normal.</a:t>
            </a:r>
          </a:p>
        </p:txBody>
      </p:sp>
      <p:sp>
        <p:nvSpPr>
          <p:cNvPr id="153" name="TextBox 15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4.4.1–4.4.2, Gambar 16 (dipotong pada pesan Vensim), Tabel 38–39; rincian di Lampiran 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(2/3): Kekekalan Materi dan Feedback Loop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Tidak ada stok yang “bocor”, dan setiap loop dalam CLD bekerja sesuai rancangannya</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9" id="119"/>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20" id="120"/>
          <p:cNvGrpSpPr/>
          <p:nvPr/>
        </p:nvGrpSpPr>
        <p:grpSpPr>
          <a:xfrm rot="0">
            <a:off x="12755880" y="274320"/>
            <a:ext cx="3931920" cy="411480"/>
            <a:chOff x="0" y="0"/>
            <a:chExt cx="5242560" cy="548640"/>
          </a:xfrm>
        </p:grpSpPr>
        <p:sp>
          <p:nvSpPr>
            <p:cNvPr name="Freeform 121" id="12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2" id="12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23" name="Rounded Rectangle 122"/>
          <p:cNvSpPr/>
          <p:nvPr/>
        </p:nvSpPr>
        <p:spPr>
          <a:xfrm>
            <a:off x="822960" y="1783080"/>
            <a:ext cx="694944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kekekalan materi</a:t>
            </a:r>
          </a:p>
        </p:txBody>
      </p:sp>
      <p:sp>
        <p:nvSpPr>
          <p:cNvPr id="124" name="Rounded Rectangle 123"/>
          <p:cNvSpPr/>
          <p:nvPr/>
        </p:nvSpPr>
        <p:spPr>
          <a:xfrm>
            <a:off x="822960" y="2286000"/>
            <a:ext cx="6949440" cy="1051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Pertanyaan  </a:t>
            </a:r>
            <a:r>
              <a:rPr sz="1440" b="0" i="0">
                <a:solidFill>
                  <a:srgbClr val="14313B"/>
                </a:solidFill>
                <a:latin typeface="Calibri (MS)"/>
              </a:rPr>
              <a:t>Adakah wisatawan, hotel, ODTW, tenaga kerja, atau lahan yang muncul/hilang di luar aliran?</a:t>
            </a:r>
          </a:p>
        </p:txBody>
      </p:sp>
      <p:sp>
        <p:nvSpPr>
          <p:cNvPr id="125" name="Rounded Rectangle 124"/>
          <p:cNvSpPr/>
          <p:nvPr/>
        </p:nvSpPr>
        <p:spPr>
          <a:xfrm>
            <a:off x="822960" y="3474720"/>
            <a:ext cx="6949440" cy="13258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380" b="1" i="0">
                <a:solidFill>
                  <a:srgbClr val="0B5E6E"/>
                </a:solidFill>
                <a:latin typeface="Calibri (MS) Bold"/>
              </a:rPr>
              <a:t>Stok tahun depan = stok tahun ini + aliran masuk − aliran keluar</a:t>
            </a:r>
          </a:p>
          <a:p>
            <a:pPr algn="l">
              <a:spcAft>
                <a:spcPts val="300"/>
              </a:spcAft>
            </a:pPr>
            <a:r>
              <a:rPr sz="1260" b="1" i="0">
                <a:solidFill>
                  <a:srgbClr val="14313B"/>
                </a:solidFill>
                <a:latin typeface="Calibri (MS) Bold"/>
              </a:rPr>
              <a:t>Contoh hotel 2025→2026:  </a:t>
            </a:r>
            <a:r>
              <a:rPr sz="1260" b="0" i="0">
                <a:solidFill>
                  <a:srgbClr val="14313B"/>
                </a:solidFill>
                <a:latin typeface="Calibri (MS)"/>
              </a:rPr>
              <a:t>2.291 + 158,17937 − 114,55 = 2.334,62937 unit</a:t>
            </a:r>
          </a:p>
          <a:p>
            <a:pPr algn="l">
              <a:spcAft>
                <a:spcPts val="300"/>
              </a:spcAft>
            </a:pPr>
            <a:r>
              <a:rPr sz="1260" b="1" i="0">
                <a:solidFill>
                  <a:srgbClr val="1E7A43"/>
                </a:solidFill>
                <a:latin typeface="Calibri (MS) Bold"/>
              </a:rPr>
              <a:t>= nilai stok 2026 hasil simulasi ✓</a:t>
            </a:r>
          </a:p>
        </p:txBody>
      </p:sp>
      <p:graphicFrame>
        <p:nvGraphicFramePr>
          <p:cNvPr id="126" name="Table 125"/>
          <p:cNvGraphicFramePr>
            <a:graphicFrameLocks noGrp="1"/>
          </p:cNvGraphicFramePr>
          <p:nvPr/>
        </p:nvGraphicFramePr>
        <p:xfrm>
          <a:off x="822960" y="4937760"/>
          <a:ext cx="6949438" cy="2907792"/>
        </p:xfrm>
        <a:graphic>
          <a:graphicData uri="http://schemas.openxmlformats.org/drawingml/2006/table">
            <a:tbl>
              <a:tblPr firstRow="1" bandRow="1">
                <a:tableStyleId>{5C22544A-7EE6-4342-B048-85BDC9FD1C3A}</a:tableStyleId>
              </a:tblPr>
              <a:tblGrid>
                <a:gridCol w="3281679"/>
                <a:gridCol w="2413000"/>
                <a:gridCol w="1254759"/>
              </a:tblGrid>
              <a:tr h="484632">
                <a:tc>
                  <a:txBody>
                    <a:bodyPr wrap="square"/>
                    <a:lstStyle/>
                    <a:p>
                      <a:r>
                        <a:rPr sz="1210" b="1" i="0">
                          <a:solidFill>
                            <a:srgbClr val="FFFFFF"/>
                          </a:solidFill>
                          <a:latin typeface="Calibri (MS) Bold"/>
                        </a:rPr>
                        <a:t>Stok</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Selisih maks. 2025–2049</a:t>
                      </a:r>
                    </a:p>
                  </a:txBody>
                  <a:tcPr marL="73152" marR="73152" marT="36576" marB="36576" anchor="ctr">
                    <a:solidFill>
                      <a:srgbClr val="0B5E6E"/>
                    </a:solidFill>
                  </a:tcPr>
                </a:tc>
                <a:tc>
                  <a:txBody>
                    <a:bodyPr wrap="square"/>
                    <a:lstStyle/>
                    <a:p>
                      <a:pPr algn="ctr"/>
                      <a:r>
                        <a:rPr sz="1210" b="1" i="0">
                          <a:solidFill>
                            <a:srgbClr val="FFFFFF"/>
                          </a:solidFill>
                          <a:latin typeface="Calibri (MS) Bold"/>
                        </a:rPr>
                        <a:t>Status</a:t>
                      </a:r>
                    </a:p>
                  </a:txBody>
                  <a:tcPr marL="73152" marR="73152" marT="36576" marB="36576" anchor="ctr">
                    <a:solidFill>
                      <a:srgbClr val="0B5E6E"/>
                    </a:solidFill>
                  </a:tcPr>
                </a:tc>
              </a:tr>
              <a:tr h="484632">
                <a:tc>
                  <a:txBody>
                    <a:bodyPr wrap="square"/>
                    <a:lstStyle/>
                    <a:p>
                      <a:r>
                        <a:rPr sz="1210" b="0" i="0">
                          <a:solidFill>
                            <a:srgbClr val="14313B"/>
                          </a:solidFill>
                          <a:latin typeface="Calibri (MS)"/>
                        </a:rPr>
                        <a:t>Jumlah Wisatawan</a:t>
                      </a:r>
                    </a:p>
                  </a:txBody>
                  <a:tcPr marL="73152" marR="73152" marT="36576" marB="36576" anchor="ctr">
                    <a:solidFill>
                      <a:srgbClr val="FFFFFF"/>
                    </a:solidFill>
                  </a:tcPr>
                </a:tc>
                <a:tc>
                  <a:txBody>
                    <a:bodyPr wrap="square"/>
                    <a:lstStyle/>
                    <a:p>
                      <a:pPr algn="ctr"/>
                      <a:r>
                        <a:rPr sz="1210" b="0" i="0">
                          <a:solidFill>
                            <a:srgbClr val="14313B"/>
                          </a:solidFill>
                          <a:latin typeface="Calibri (MS)"/>
                        </a:rPr>
                        <a:t>≈ 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Jumlah Hotel dan Akomodasi</a:t>
                      </a:r>
                    </a:p>
                  </a:txBody>
                  <a:tcPr marL="73152" marR="73152" marT="36576" marB="36576" anchor="ctr">
                    <a:solidFill>
                      <a:srgbClr val="EAF8FA"/>
                    </a:solidFill>
                  </a:tcPr>
                </a:tc>
                <a:tc>
                  <a:txBody>
                    <a:bodyPr wrap="square"/>
                    <a:lstStyle/>
                    <a:p>
                      <a:pPr algn="ctr"/>
                      <a:r>
                        <a:rPr sz="1210" b="0" i="0">
                          <a:solidFill>
                            <a:srgbClr val="14313B"/>
                          </a:solidFill>
                          <a:latin typeface="Calibri (MS)"/>
                        </a:rPr>
                        <a:t>0</a:t>
                      </a:r>
                    </a:p>
                  </a:txBody>
                  <a:tcPr marL="73152" marR="73152" marT="36576" marB="36576" anchor="ctr">
                    <a:solidFill>
                      <a:srgbClr val="EAF8FA"/>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Jumlah ODTW</a:t>
                      </a:r>
                    </a:p>
                  </a:txBody>
                  <a:tcPr marL="73152" marR="73152" marT="36576" marB="36576" anchor="ctr">
                    <a:solidFill>
                      <a:srgbClr val="FFFFFF"/>
                    </a:solidFill>
                  </a:tcPr>
                </a:tc>
                <a:tc>
                  <a:txBody>
                    <a:bodyPr wrap="square"/>
                    <a:lstStyle/>
                    <a:p>
                      <a:pPr algn="ctr"/>
                      <a:r>
                        <a:rPr sz="1210" b="0" i="0">
                          <a:solidFill>
                            <a:srgbClr val="14313B"/>
                          </a:solidFill>
                          <a:latin typeface="Calibri (MS)"/>
                        </a:rPr>
                        <a:t>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Tenaga Kerja Pariwisata</a:t>
                      </a:r>
                    </a:p>
                  </a:txBody>
                  <a:tcPr marL="73152" marR="73152" marT="36576" marB="36576" anchor="ctr">
                    <a:solidFill>
                      <a:srgbClr val="EAF8FA"/>
                    </a:solidFill>
                  </a:tcPr>
                </a:tc>
                <a:tc>
                  <a:txBody>
                    <a:bodyPr wrap="square"/>
                    <a:lstStyle/>
                    <a:p>
                      <a:pPr algn="ctr"/>
                      <a:r>
                        <a:rPr sz="1210" b="0" i="0">
                          <a:solidFill>
                            <a:srgbClr val="14313B"/>
                          </a:solidFill>
                          <a:latin typeface="Calibri (MS)"/>
                        </a:rPr>
                        <a:t>0</a:t>
                      </a:r>
                    </a:p>
                  </a:txBody>
                  <a:tcPr marL="73152" marR="73152" marT="36576" marB="36576" anchor="ctr">
                    <a:solidFill>
                      <a:srgbClr val="EAF8FA"/>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r h="484632">
                <a:tc>
                  <a:txBody>
                    <a:bodyPr wrap="square"/>
                    <a:lstStyle/>
                    <a:p>
                      <a:r>
                        <a:rPr sz="1210" b="0" i="0">
                          <a:solidFill>
                            <a:srgbClr val="14313B"/>
                          </a:solidFill>
                          <a:latin typeface="Calibri (MS)"/>
                        </a:rPr>
                        <a:t>Lahan Terbangun</a:t>
                      </a:r>
                    </a:p>
                  </a:txBody>
                  <a:tcPr marL="73152" marR="73152" marT="36576" marB="36576" anchor="ctr">
                    <a:solidFill>
                      <a:srgbClr val="FFFFFF"/>
                    </a:solidFill>
                  </a:tcPr>
                </a:tc>
                <a:tc>
                  <a:txBody>
                    <a:bodyPr wrap="square"/>
                    <a:lstStyle/>
                    <a:p>
                      <a:pPr algn="ctr"/>
                      <a:r>
                        <a:rPr sz="1210" b="0" i="0">
                          <a:solidFill>
                            <a:srgbClr val="14313B"/>
                          </a:solidFill>
                          <a:latin typeface="Calibri (MS)"/>
                        </a:rPr>
                        <a:t>0</a:t>
                      </a:r>
                    </a:p>
                  </a:txBody>
                  <a:tcPr marL="73152" marR="73152" marT="36576" marB="36576" anchor="ctr">
                    <a:solidFill>
                      <a:srgbClr val="FFFFFF"/>
                    </a:solidFill>
                  </a:tcPr>
                </a:tc>
                <a:tc>
                  <a:txBody>
                    <a:bodyPr wrap="square"/>
                    <a:lstStyle/>
                    <a:p>
                      <a:pPr algn="ctr"/>
                      <a:r>
                        <a:rPr sz="1210" b="0" i="0">
                          <a:solidFill>
                            <a:srgbClr val="14313B"/>
                          </a:solidFill>
                          <a:latin typeface="Calibri (MS)"/>
                        </a:rPr>
                        <a:t>Kekal</a:t>
                      </a:r>
                    </a:p>
                  </a:txBody>
                  <a:tcPr marL="73152" marR="73152" marT="36576" marB="36576" anchor="ctr">
                    <a:solidFill>
                      <a:srgbClr val="C9F0D6"/>
                    </a:solidFill>
                  </a:tcPr>
                </a:tc>
              </a:tr>
            </a:tbl>
          </a:graphicData>
        </a:graphic>
      </p:graphicFrame>
      <p:sp>
        <p:nvSpPr>
          <p:cNvPr id="127" name="Rounded Rectangle 126"/>
          <p:cNvSpPr/>
          <p:nvPr/>
        </p:nvSpPr>
        <p:spPr>
          <a:xfrm>
            <a:off x="8046720" y="1783080"/>
            <a:ext cx="94183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feedback loop</a:t>
            </a:r>
            <a:r>
              <a:rPr sz="1260" b="0" i="0">
                <a:solidFill>
                  <a:srgbClr val="D7EEF2"/>
                </a:solidFill>
                <a:latin typeface="Calibri (MS)"/>
              </a:rPr>
              <a:t>   satu loop dimatikan, dibandingkan dengan simulasi dasar</a:t>
            </a:r>
          </a:p>
        </p:txBody>
      </p:sp>
      <p:sp>
        <p:nvSpPr>
          <p:cNvPr id="128" name="TextBox 127"/>
          <p:cNvSpPr txBox="1"/>
          <p:nvPr/>
        </p:nvSpPr>
        <p:spPr>
          <a:xfrm>
            <a:off x="8046720" y="2286000"/>
            <a:ext cx="9418320" cy="365760"/>
          </a:xfrm>
          <a:prstGeom prst="rect">
            <a:avLst/>
          </a:prstGeom>
          <a:noFill/>
        </p:spPr>
        <p:txBody>
          <a:bodyPr wrap="square" anchor="t" lIns="0" rIns="0" tIns="0" bIns="0">
            <a:spAutoFit/>
          </a:bodyPr>
          <a:lstStyle/>
          <a:p>
            <a:pPr algn="l">
              <a:spcAft>
                <a:spcPts val="400"/>
              </a:spcAft>
            </a:pPr>
            <a:r>
              <a:rPr sz="1320" b="1" i="0">
                <a:solidFill>
                  <a:srgbClr val="14313B"/>
                </a:solidFill>
                <a:latin typeface="Calibri (MS) Bold"/>
              </a:rPr>
              <a:t>Jumlah wisatawan tahun 2050 (juta)</a:t>
            </a:r>
            <a:r>
              <a:rPr sz="1210" b="0" i="0">
                <a:solidFill>
                  <a:srgbClr val="5E6E78"/>
                </a:solidFill>
                <a:latin typeface="Calibri (MS)"/>
              </a:rPr>
              <a:t>  · loop dimatikan = variabel penutup loop ditahan pada nilai 2025</a:t>
            </a:r>
          </a:p>
        </p:txBody>
      </p:sp>
      <p:graphicFrame>
        <p:nvGraphicFramePr>
          <p:cNvPr id="129" name="Chart 128"/>
          <p:cNvGraphicFramePr>
            <a:graphicFrameLocks noGrp="1"/>
          </p:cNvGraphicFramePr>
          <p:nvPr/>
        </p:nvGraphicFramePr>
        <p:xfrm>
          <a:off x="8046720" y="2606040"/>
          <a:ext cx="9418320" cy="3383280"/>
        </p:xfrm>
        <a:graphic>
          <a:graphicData uri="http://schemas.openxmlformats.org/drawingml/2006/chart">
            <c:chart xmlns:c="http://schemas.openxmlformats.org/drawingml/2006/chart" r:id="rId9"/>
          </a:graphicData>
        </a:graphic>
      </p:graphicFrame>
      <p:sp>
        <p:nvSpPr>
          <p:cNvPr id="130" name="Rounded Rectangle 129"/>
          <p:cNvSpPr/>
          <p:nvPr/>
        </p:nvSpPr>
        <p:spPr>
          <a:xfrm>
            <a:off x="8046720" y="6080760"/>
            <a:ext cx="94183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260" b="1" i="0">
                <a:solidFill>
                  <a:srgbClr val="14313B"/>
                </a:solidFill>
                <a:latin typeface="Calibri (MS) Bold"/>
              </a:rPr>
              <a:t>•  B1 kepadatan = rem terkuat: </a:t>
            </a:r>
            <a:r>
              <a:rPr sz="1260" b="0" i="0">
                <a:solidFill>
                  <a:srgbClr val="14313B"/>
                </a:solidFill>
                <a:latin typeface="Calibri (MS)"/>
              </a:rPr>
              <a:t>dimatikan → wisatawan +160,2%, 5 dari 6 variabel berubah &gt;1%.</a:t>
            </a:r>
          </a:p>
          <a:p>
            <a:pPr algn="l">
              <a:spcAft>
                <a:spcPts val="300"/>
              </a:spcAft>
            </a:pPr>
            <a:r>
              <a:rPr sz="1260" b="1" i="0">
                <a:solidFill>
                  <a:srgbClr val="14313B"/>
                </a:solidFill>
                <a:latin typeface="Calibri (MS) Bold"/>
              </a:rPr>
              <a:t>•  Daya dukung lahan: </a:t>
            </a:r>
            <a:r>
              <a:rPr sz="1260" b="0" i="0">
                <a:solidFill>
                  <a:srgbClr val="14313B"/>
                </a:solidFill>
                <a:latin typeface="Calibri (MS)"/>
              </a:rPr>
              <a:t>+16,1%, tetapi satu-satunya yang mengubah 6 dari 6 variabel. </a:t>
            </a:r>
            <a:r>
              <a:rPr sz="1260" b="1" i="0">
                <a:solidFill>
                  <a:srgbClr val="14313B"/>
                </a:solidFill>
                <a:latin typeface="Calibri (MS) Bold"/>
              </a:rPr>
              <a:t>R2: </a:t>
            </a:r>
            <a:r>
              <a:rPr sz="1260" b="0" i="0">
                <a:solidFill>
                  <a:srgbClr val="14313B"/>
                </a:solidFill>
                <a:latin typeface="Calibri (MS)"/>
              </a:rPr>
              <a:t>wisatawan −16,6%, ODTW −45,3%.</a:t>
            </a:r>
          </a:p>
          <a:p>
            <a:pPr algn="l">
              <a:spcAft>
                <a:spcPts val="300"/>
              </a:spcAft>
            </a:pPr>
            <a:r>
              <a:rPr sz="1260" b="1" i="0">
                <a:solidFill>
                  <a:srgbClr val="14313B"/>
                </a:solidFill>
                <a:latin typeface="Calibri (MS) Bold"/>
              </a:rPr>
              <a:t>•  Dampak terbatas: </a:t>
            </a:r>
            <a:r>
              <a:rPr sz="1260" b="0" i="0">
                <a:solidFill>
                  <a:srgbClr val="14313B"/>
                </a:solidFill>
                <a:latin typeface="Calibri (MS)"/>
              </a:rPr>
              <a:t>okupansi (hanya hotel −10,0%) dan goal-seeking tenaga kerja (hanya tenaga kerja −43,9%).</a:t>
            </a:r>
          </a:p>
          <a:p>
            <a:pPr algn="l">
              <a:spcAft>
                <a:spcPts val="300"/>
              </a:spcAft>
            </a:pPr>
            <a:r>
              <a:rPr sz="1260" b="1" i="0">
                <a:solidFill>
                  <a:srgbClr val="14313B"/>
                </a:solidFill>
                <a:latin typeface="Calibri (MS) Bold"/>
              </a:rPr>
              <a:t>•  Efek loop tidak bisa dijumlahkan: </a:t>
            </a:r>
            <a:r>
              <a:rPr sz="1260" b="0" i="0">
                <a:solidFill>
                  <a:srgbClr val="14313B"/>
                </a:solidFill>
                <a:latin typeface="Calibri (MS)"/>
              </a:rPr>
              <a:t>B1 saja dimatikan (250,32) &gt; semua rem dimatikan (217,37), karena R2 tetap menaikkan daya tarik hingga 1,0696.</a:t>
            </a:r>
          </a:p>
        </p:txBody>
      </p:sp>
      <p:sp>
        <p:nvSpPr>
          <p:cNvPr id="131" name="Rounded Rectangle 130"/>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Stok hanya berubah lewat alirannya, dan setiap balancing loop yang dimatikan mempercepat pertumbuhan: keenam loop CLD bekerja sesuai rancangan.</a:t>
            </a:r>
          </a:p>
        </p:txBody>
      </p:sp>
      <p:sp>
        <p:nvSpPr>
          <p:cNvPr id="132" name="TextBox 131"/>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4.4.3–4.4.4, Tabel 40–42, Gambar 17.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Uji Struktur (3/3): Kondisi Ekstrem dan Error Integrasi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Pada nilai ekstrem model tetap logis; pelanggaran kecil pada E15 hanya error hitungan numerik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97" id="9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00" id="100"/>
          <p:cNvGrpSpPr/>
          <p:nvPr/>
        </p:nvGrpSpPr>
        <p:grpSpPr>
          <a:xfrm rot="0">
            <a:off x="12755880" y="274320"/>
            <a:ext cx="3931920" cy="411480"/>
            <a:chOff x="0" y="0"/>
            <a:chExt cx="5242560" cy="548640"/>
          </a:xfrm>
        </p:grpSpPr>
        <p:sp>
          <p:nvSpPr>
            <p:cNvPr name="Freeform 101" id="101"/>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02" id="102"/>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2D · Uji struktur</a:t>
              </a:r>
            </a:p>
          </p:txBody>
        </p:sp>
      </p:grpSp>
      <p:sp>
        <p:nvSpPr>
          <p:cNvPr id="103" name="Rounded Rectangle 102"/>
          <p:cNvSpPr/>
          <p:nvPr/>
        </p:nvSpPr>
        <p:spPr>
          <a:xfrm>
            <a:off x="822960" y="1783080"/>
            <a:ext cx="1033272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kondisi ekstrem</a:t>
            </a:r>
            <a:r>
              <a:rPr sz="1260" b="0" i="0">
                <a:solidFill>
                  <a:srgbClr val="D7EEF2"/>
                </a:solidFill>
                <a:latin typeface="Calibri (MS)"/>
              </a:rPr>
              <a:t>   17 uji pada 5 subsistem, dinilai dengan 6 aturan fisik</a:t>
            </a:r>
          </a:p>
        </p:txBody>
      </p:sp>
      <p:sp>
        <p:nvSpPr>
          <p:cNvPr id="104" name="Rounded Rectangle 103"/>
          <p:cNvSpPr/>
          <p:nvPr/>
        </p:nvSpPr>
        <p:spPr>
          <a:xfrm>
            <a:off x="82296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Stok ≥ 0</a:t>
            </a:r>
          </a:p>
        </p:txBody>
      </p:sp>
      <p:sp>
        <p:nvSpPr>
          <p:cNvPr id="105" name="Rounded Rectangle 104"/>
          <p:cNvSpPr/>
          <p:nvPr/>
        </p:nvSpPr>
        <p:spPr>
          <a:xfrm>
            <a:off x="256032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TPK ≤ 1</a:t>
            </a:r>
          </a:p>
        </p:txBody>
      </p:sp>
      <p:sp>
        <p:nvSpPr>
          <p:cNvPr id="106" name="Rounded Rectangle 105"/>
          <p:cNvSpPr/>
          <p:nvPr/>
        </p:nvSpPr>
        <p:spPr>
          <a:xfrm>
            <a:off x="429768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RDDL ≥ 0</a:t>
            </a:r>
          </a:p>
        </p:txBody>
      </p:sp>
      <p:sp>
        <p:nvSpPr>
          <p:cNvPr id="107" name="Rounded Rectangle 106"/>
          <p:cNvSpPr/>
          <p:nvPr/>
        </p:nvSpPr>
        <p:spPr>
          <a:xfrm>
            <a:off x="603504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Lahan ≤ luas wilayah</a:t>
            </a:r>
          </a:p>
        </p:txBody>
      </p:sp>
      <p:sp>
        <p:nvSpPr>
          <p:cNvPr id="108" name="Rounded Rectangle 107"/>
          <p:cNvSpPr/>
          <p:nvPr/>
        </p:nvSpPr>
        <p:spPr>
          <a:xfrm>
            <a:off x="777240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Daya tarik 0–3</a:t>
            </a:r>
          </a:p>
        </p:txBody>
      </p:sp>
      <p:sp>
        <p:nvSpPr>
          <p:cNvPr id="109" name="Rounded Rectangle 108"/>
          <p:cNvSpPr/>
          <p:nvPr/>
        </p:nvSpPr>
        <p:spPr>
          <a:xfrm>
            <a:off x="9509760" y="2331720"/>
            <a:ext cx="1645920" cy="457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0B5E6E"/>
                </a:solidFill>
                <a:latin typeface="Calibri (MS) Bold"/>
              </a:rPr>
              <a:t>Wisatawan ≤ 5× dasar*</a:t>
            </a:r>
          </a:p>
        </p:txBody>
      </p:sp>
      <p:sp>
        <p:nvSpPr>
          <p:cNvPr id="110" name="Rounded Rectangle 109"/>
          <p:cNvSpPr/>
          <p:nvPr/>
        </p:nvSpPr>
        <p:spPr>
          <a:xfrm>
            <a:off x="822960" y="2926080"/>
            <a:ext cx="2377440" cy="731520"/>
          </a:xfrm>
          <a:prstGeom prst="roundRect">
            <a:avLst>
              <a:gd name="adj" fmla="val 8000"/>
            </a:avLst>
          </a:prstGeom>
          <a:solidFill>
            <a:srgbClr val="C9F0D6"/>
          </a:solidFill>
          <a:ln w="12700">
            <a:solidFill>
              <a:srgbClr val="9BD8A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1E7A43"/>
                </a:solidFill>
                <a:latin typeface="Calibri (MS) Bold"/>
              </a:rPr>
              <a:t>15 </a:t>
            </a:r>
            <a:r>
              <a:rPr sz="1380" b="1" i="0">
                <a:solidFill>
                  <a:srgbClr val="1E7A43"/>
                </a:solidFill>
                <a:latin typeface="Calibri (MS) Bold"/>
              </a:rPr>
              <a:t>lolos</a:t>
            </a:r>
          </a:p>
        </p:txBody>
      </p:sp>
      <p:sp>
        <p:nvSpPr>
          <p:cNvPr id="111" name="Rounded Rectangle 110"/>
          <p:cNvSpPr/>
          <p:nvPr/>
        </p:nvSpPr>
        <p:spPr>
          <a:xfrm>
            <a:off x="3337560" y="2926080"/>
            <a:ext cx="457200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7A5A00"/>
                </a:solidFill>
                <a:latin typeface="Calibri (MS) Bold"/>
              </a:rPr>
              <a:t>2 </a:t>
            </a:r>
            <a:r>
              <a:rPr sz="1380" b="1" i="0">
                <a:solidFill>
                  <a:srgbClr val="7A5A00"/>
                </a:solidFill>
                <a:latin typeface="Calibri (MS) Bold"/>
              </a:rPr>
              <a:t>lolos dengan catatan (E02, E15)</a:t>
            </a:r>
          </a:p>
        </p:txBody>
      </p:sp>
      <p:sp>
        <p:nvSpPr>
          <p:cNvPr id="112" name="Rounded Rectangle 111"/>
          <p:cNvSpPr/>
          <p:nvPr/>
        </p:nvSpPr>
        <p:spPr>
          <a:xfrm>
            <a:off x="8046720" y="2926080"/>
            <a:ext cx="2377440" cy="731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2530" b="1" i="0">
                <a:solidFill>
                  <a:srgbClr val="0B5E6E"/>
                </a:solidFill>
                <a:latin typeface="Calibri (MS) Bold"/>
              </a:rPr>
              <a:t>0 </a:t>
            </a:r>
            <a:r>
              <a:rPr sz="1380" b="1" i="0">
                <a:solidFill>
                  <a:srgbClr val="0B5E6E"/>
                </a:solidFill>
                <a:latin typeface="Calibri (MS) Bold"/>
              </a:rPr>
              <a:t>gagal</a:t>
            </a:r>
          </a:p>
        </p:txBody>
      </p:sp>
      <p:sp>
        <p:nvSpPr>
          <p:cNvPr id="113" name="Rounded Rectangle 112"/>
          <p:cNvSpPr/>
          <p:nvPr/>
        </p:nvSpPr>
        <p:spPr>
          <a:xfrm>
            <a:off x="822960" y="3749039"/>
            <a:ext cx="10332720" cy="566928"/>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260" b="1" i="0">
                <a:solidFill>
                  <a:srgbClr val="0B5E6E"/>
                </a:solidFill>
                <a:latin typeface="Calibri (MS) Bold"/>
              </a:rPr>
              <a:t>4 pembatas ditambahkan setelah uji awal: </a:t>
            </a:r>
            <a:r>
              <a:rPr sz="1260" b="0" i="0">
                <a:solidFill>
                  <a:srgbClr val="14313B"/>
                </a:solidFill>
                <a:latin typeface="Calibri (MS)"/>
              </a:rPr>
              <a:t>TPK ≤ 1 · RDDL ≥ 0 · batas atas komponen kepadatan dan ODTW pada indeks daya tarik</a:t>
            </a:r>
          </a:p>
        </p:txBody>
      </p:sp>
      <p:pic>
        <p:nvPicPr>
          <p:cNvPr id="114" name="Picture 113" descr="image21.png"/>
          <p:cNvPicPr>
            <a:picLocks noChangeAspect="1"/>
          </p:cNvPicPr>
          <p:nvPr/>
        </p:nvPicPr>
        <p:blipFill>
          <a:blip r:embed="rId9"/>
          <a:stretch>
            <a:fillRect/>
          </a:stretch>
        </p:blipFill>
        <p:spPr>
          <a:xfrm>
            <a:off x="822960" y="4434840"/>
            <a:ext cx="5074920" cy="1753154"/>
          </a:xfrm>
          <a:prstGeom prst="rect">
            <a:avLst/>
          </a:prstGeom>
          <a:ln w="12700">
            <a:solidFill>
              <a:srgbClr val="CFE5E9"/>
            </a:solidFill>
          </a:ln>
        </p:spPr>
      </p:pic>
      <p:sp>
        <p:nvSpPr>
          <p:cNvPr id="115" name="TextBox 114"/>
          <p:cNvSpPr txBox="1"/>
          <p:nvPr/>
        </p:nvSpPr>
        <p:spPr>
          <a:xfrm>
            <a:off x="822960" y="6233714"/>
            <a:ext cx="5074920" cy="6858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E04 · </a:t>
            </a:r>
            <a:r>
              <a:rPr sz="1210" b="0" i="0">
                <a:solidFill>
                  <a:srgbClr val="14313B"/>
                </a:solidFill>
                <a:latin typeface="Calibri (MS)"/>
              </a:rPr>
              <a:t>rasio investasi/PDRB = 0 → TPK naik lalu mendatar tepat di 1,000 (rasio permintaan sampai 2,267)</a:t>
            </a:r>
          </a:p>
        </p:txBody>
      </p:sp>
      <p:pic>
        <p:nvPicPr>
          <p:cNvPr id="116" name="Picture 115" descr="image22.png"/>
          <p:cNvPicPr>
            <a:picLocks noChangeAspect="1"/>
          </p:cNvPicPr>
          <p:nvPr/>
        </p:nvPicPr>
        <p:blipFill>
          <a:blip r:embed="rId10"/>
          <a:stretch>
            <a:fillRect/>
          </a:stretch>
        </p:blipFill>
        <p:spPr>
          <a:xfrm>
            <a:off x="6080760" y="4434840"/>
            <a:ext cx="5074920" cy="1753154"/>
          </a:xfrm>
          <a:prstGeom prst="rect">
            <a:avLst/>
          </a:prstGeom>
          <a:ln w="12700">
            <a:solidFill>
              <a:srgbClr val="CFE5E9"/>
            </a:solidFill>
          </a:ln>
        </p:spPr>
      </p:pic>
      <p:sp>
        <p:nvSpPr>
          <p:cNvPr id="117" name="TextBox 116"/>
          <p:cNvSpPr txBox="1"/>
          <p:nvPr/>
        </p:nvSpPr>
        <p:spPr>
          <a:xfrm>
            <a:off x="6080760" y="6233714"/>
            <a:ext cx="5074920" cy="6858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E09 · </a:t>
            </a:r>
            <a:r>
              <a:rPr sz="1210" b="0" i="0">
                <a:solidFill>
                  <a:srgbClr val="14313B"/>
                </a:solidFill>
                <a:latin typeface="Calibri (MS)"/>
              </a:rPr>
              <a:t>laju konversi ×10 → RDDL turun tepat ke 0; lahan berhenti di luas wilayah</a:t>
            </a:r>
          </a:p>
        </p:txBody>
      </p:sp>
      <p:sp>
        <p:nvSpPr>
          <p:cNvPr id="118" name="TextBox 117"/>
          <p:cNvSpPr txBox="1"/>
          <p:nvPr/>
        </p:nvSpPr>
        <p:spPr>
          <a:xfrm>
            <a:off x="822960" y="6903720"/>
            <a:ext cx="10332720" cy="1188720"/>
          </a:xfrm>
          <a:prstGeom prst="rect">
            <a:avLst/>
          </a:prstGeom>
          <a:noFill/>
        </p:spPr>
        <p:txBody>
          <a:bodyPr wrap="square" anchor="t" lIns="0" rIns="0" tIns="0" bIns="0">
            <a:spAutoFit/>
          </a:bodyPr>
          <a:lstStyle/>
          <a:p>
            <a:pPr algn="l">
              <a:spcAft>
                <a:spcPts val="400"/>
              </a:spcAft>
            </a:pPr>
            <a:r>
              <a:rPr sz="1320" b="1" i="0">
                <a:solidFill>
                  <a:srgbClr val="0B5E6E"/>
                </a:solidFill>
                <a:latin typeface="Calibri (MS) Bold"/>
              </a:rPr>
              <a:t>Bukti lain: </a:t>
            </a:r>
            <a:r>
              <a:rPr sz="1320" b="0" i="0">
                <a:solidFill>
                  <a:srgbClr val="14313B"/>
                </a:solidFill>
                <a:latin typeface="Calibri (MS)"/>
              </a:rPr>
              <a:t>daya tarik tetap 0,60–1,00 pada E01 &amp; E15; E10 = E11 identik; E12/E13 hanya mengubah tenaga kerja. </a:t>
            </a:r>
            <a:r>
              <a:rPr sz="1320" b="1" i="0">
                <a:solidFill>
                  <a:srgbClr val="7A5A00"/>
                </a:solidFill>
                <a:latin typeface="Calibri (MS) Bold"/>
              </a:rPr>
              <a:t>* E02 &amp; E15 dikecualikan dari aturan 5×: </a:t>
            </a:r>
            <a:r>
              <a:rPr sz="1320" b="0" i="0">
                <a:solidFill>
                  <a:srgbClr val="14313B"/>
                </a:solidFill>
                <a:latin typeface="Calibri (MS)"/>
              </a:rPr>
              <a:t>rem sengaja dihilangkan/pendorong diperbesar. Batas berlaku model: LPE ≲ 0,336 (≈1,25× nilai dasar).</a:t>
            </a:r>
          </a:p>
        </p:txBody>
      </p:sp>
      <p:sp>
        <p:nvSpPr>
          <p:cNvPr id="119" name="Rounded Rectangle 118"/>
          <p:cNvSpPr/>
          <p:nvPr/>
        </p:nvSpPr>
        <p:spPr>
          <a:xfrm>
            <a:off x="11430000" y="1783080"/>
            <a:ext cx="603504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Uji error integrasi</a:t>
            </a:r>
            <a:r>
              <a:rPr sz="1260" b="0" i="0">
                <a:solidFill>
                  <a:srgbClr val="D7EEF2"/>
                </a:solidFill>
                <a:latin typeface="Calibri (MS)"/>
              </a:rPr>
              <a:t>   lanjutan E15</a:t>
            </a:r>
          </a:p>
        </p:txBody>
      </p:sp>
      <p:sp>
        <p:nvSpPr>
          <p:cNvPr id="120" name="TextBox 119"/>
          <p:cNvSpPr txBox="1"/>
          <p:nvPr/>
        </p:nvSpPr>
        <p:spPr>
          <a:xfrm>
            <a:off x="11430000" y="2286000"/>
            <a:ext cx="6035040" cy="548640"/>
          </a:xfrm>
          <a:prstGeom prst="rect">
            <a:avLst/>
          </a:prstGeom>
          <a:noFill/>
        </p:spPr>
        <p:txBody>
          <a:bodyPr wrap="square" anchor="t" lIns="0" rIns="0" tIns="0" bIns="0">
            <a:spAutoFit/>
          </a:bodyPr>
          <a:lstStyle/>
          <a:p>
            <a:pPr algn="l">
              <a:spcAft>
                <a:spcPts val="400"/>
              </a:spcAft>
            </a:pPr>
            <a:r>
              <a:rPr sz="1210" b="0" i="0">
                <a:solidFill>
                  <a:srgbClr val="14313B"/>
                </a:solidFill>
                <a:latin typeface="Calibri (MS)"/>
              </a:rPr>
              <a:t>Pada E15 (LPE ×3), dt 1 tahun, lahan sempat melewati luas wilayah. Salah struktur atau error hitungan?</a:t>
            </a:r>
          </a:p>
        </p:txBody>
      </p:sp>
      <p:pic>
        <p:nvPicPr>
          <p:cNvPr id="121" name="Picture 120" descr="image27.png"/>
          <p:cNvPicPr>
            <a:picLocks noChangeAspect="1"/>
          </p:cNvPicPr>
          <p:nvPr/>
        </p:nvPicPr>
        <p:blipFill>
          <a:blip r:embed="rId11"/>
          <a:stretch>
            <a:fillRect/>
          </a:stretch>
        </p:blipFill>
        <p:spPr>
          <a:xfrm>
            <a:off x="11887200" y="2834640"/>
            <a:ext cx="5120640" cy="2867558"/>
          </a:xfrm>
          <a:prstGeom prst="rect">
            <a:avLst/>
          </a:prstGeom>
          <a:ln w="12700">
            <a:solidFill>
              <a:srgbClr val="CFE5E9"/>
            </a:solidFill>
          </a:ln>
        </p:spPr>
      </p:pic>
      <p:graphicFrame>
        <p:nvGraphicFramePr>
          <p:cNvPr id="122" name="Table 121"/>
          <p:cNvGraphicFramePr>
            <a:graphicFrameLocks noGrp="1"/>
          </p:cNvGraphicFramePr>
          <p:nvPr/>
        </p:nvGraphicFramePr>
        <p:xfrm>
          <a:off x="11430000" y="5775350"/>
          <a:ext cx="6035040" cy="1554480"/>
        </p:xfrm>
        <a:graphic>
          <a:graphicData uri="http://schemas.openxmlformats.org/drawingml/2006/table">
            <a:tbl>
              <a:tblPr firstRow="1" bandRow="1">
                <a:tableStyleId>{5C22544A-7EE6-4342-B048-85BDC9FD1C3A}</a:tableStyleId>
              </a:tblPr>
              <a:tblGrid>
                <a:gridCol w="2103120"/>
                <a:gridCol w="3931920"/>
              </a:tblGrid>
              <a:tr h="310896">
                <a:tc>
                  <a:txBody>
                    <a:bodyPr wrap="square"/>
                    <a:lstStyle/>
                    <a:p>
                      <a:r>
                        <a:rPr sz="1150" b="1" i="0">
                          <a:solidFill>
                            <a:srgbClr val="FFFFFF"/>
                          </a:solidFill>
                          <a:latin typeface="Calibri (MS) Bold"/>
                        </a:rPr>
                        <a:t>Langkah waktu (dt)</a:t>
                      </a:r>
                    </a:p>
                  </a:txBody>
                  <a:tcPr marL="73152" marR="73152" marT="36576" marB="36576" anchor="ctr">
                    <a:solidFill>
                      <a:srgbClr val="0B5E6E"/>
                    </a:solidFill>
                  </a:tcPr>
                </a:tc>
                <a:tc>
                  <a:txBody>
                    <a:bodyPr wrap="square"/>
                    <a:lstStyle/>
                    <a:p>
                      <a:r>
                        <a:rPr sz="1150" b="1" i="0">
                          <a:solidFill>
                            <a:srgbClr val="FFFFFF"/>
                          </a:solidFill>
                          <a:latin typeface="Calibri (MS) Bold"/>
                        </a:rPr>
                        <a:t>Lahan vs luas wilayah</a:t>
                      </a:r>
                    </a:p>
                  </a:txBody>
                  <a:tcPr marL="73152" marR="73152" marT="36576" marB="36576" anchor="ctr">
                    <a:solidFill>
                      <a:srgbClr val="0B5E6E"/>
                    </a:solidFill>
                  </a:tcPr>
                </a:tc>
              </a:tr>
              <a:tr h="310896">
                <a:tc>
                  <a:txBody>
                    <a:bodyPr wrap="square"/>
                    <a:lstStyle/>
                    <a:p>
                      <a:r>
                        <a:rPr sz="1150" b="0" i="0">
                          <a:solidFill>
                            <a:srgbClr val="14313B"/>
                          </a:solidFill>
                          <a:latin typeface="Calibri (MS)"/>
                        </a:rPr>
                        <a:t>1 tahun</a:t>
                      </a:r>
                    </a:p>
                  </a:txBody>
                  <a:tcPr marL="73152" marR="73152" marT="36576" marB="36576" anchor="ctr">
                    <a:solidFill>
                      <a:srgbClr val="FFFFFF"/>
                    </a:solidFill>
                  </a:tcPr>
                </a:tc>
                <a:tc>
                  <a:txBody>
                    <a:bodyPr wrap="square"/>
                    <a:lstStyle/>
                    <a:p>
                      <a:r>
                        <a:rPr sz="1150" b="0" i="0">
                          <a:solidFill>
                            <a:srgbClr val="14313B"/>
                          </a:solidFill>
                          <a:latin typeface="Calibri (MS)"/>
                        </a:rPr>
                        <a:t>lewat 57,70 ha (0,018%)</a:t>
                      </a:r>
                    </a:p>
                  </a:txBody>
                  <a:tcPr marL="73152" marR="73152" marT="36576" marB="36576" anchor="ctr">
                    <a:solidFill>
                      <a:srgbClr val="FDE2DE"/>
                    </a:solidFill>
                  </a:tcPr>
                </a:tc>
              </a:tr>
              <a:tr h="310896">
                <a:tc>
                  <a:txBody>
                    <a:bodyPr wrap="square"/>
                    <a:lstStyle/>
                    <a:p>
                      <a:r>
                        <a:rPr sz="1150" b="0" i="0">
                          <a:solidFill>
                            <a:srgbClr val="14313B"/>
                          </a:solidFill>
                          <a:latin typeface="Calibri (MS)"/>
                        </a:rPr>
                        <a:t>0,5 tahun</a:t>
                      </a:r>
                    </a:p>
                  </a:txBody>
                  <a:tcPr marL="73152" marR="73152" marT="36576" marB="36576" anchor="ctr">
                    <a:solidFill>
                      <a:srgbClr val="EAF8FA"/>
                    </a:solidFill>
                  </a:tcPr>
                </a:tc>
                <a:tc>
                  <a:txBody>
                    <a:bodyPr wrap="square"/>
                    <a:lstStyle/>
                    <a:p>
                      <a:r>
                        <a:rPr sz="1150" b="0" i="0">
                          <a:solidFill>
                            <a:srgbClr val="14313B"/>
                          </a:solidFill>
                          <a:latin typeface="Calibri (MS)"/>
                        </a:rPr>
                        <a:t>lewat 0,01 ha</a:t>
                      </a:r>
                    </a:p>
                  </a:txBody>
                  <a:tcPr marL="73152" marR="73152" marT="36576" marB="36576" anchor="ctr">
                    <a:solidFill>
                      <a:srgbClr val="FFF1BF"/>
                    </a:solidFill>
                  </a:tcPr>
                </a:tc>
              </a:tr>
              <a:tr h="310896">
                <a:tc>
                  <a:txBody>
                    <a:bodyPr wrap="square"/>
                    <a:lstStyle/>
                    <a:p>
                      <a:r>
                        <a:rPr sz="1150" b="0" i="0">
                          <a:solidFill>
                            <a:srgbClr val="14313B"/>
                          </a:solidFill>
                          <a:latin typeface="Calibri (MS)"/>
                        </a:rPr>
                        <a:t>0,25 tahun</a:t>
                      </a:r>
                    </a:p>
                  </a:txBody>
                  <a:tcPr marL="73152" marR="73152" marT="36576" marB="36576" anchor="ctr">
                    <a:solidFill>
                      <a:srgbClr val="FFFFFF"/>
                    </a:solidFill>
                  </a:tcPr>
                </a:tc>
                <a:tc>
                  <a:txBody>
                    <a:bodyPr wrap="square"/>
                    <a:lstStyle/>
                    <a:p>
                      <a:r>
                        <a:rPr sz="1150" b="0" i="0">
                          <a:solidFill>
                            <a:srgbClr val="14313B"/>
                          </a:solidFill>
                          <a:latin typeface="Calibri (MS)"/>
                        </a:rPr>
                        <a:t>berhenti 317.035,82 ha ✓</a:t>
                      </a:r>
                    </a:p>
                  </a:txBody>
                  <a:tcPr marL="73152" marR="73152" marT="36576" marB="36576" anchor="ctr">
                    <a:solidFill>
                      <a:srgbClr val="C9F0D6"/>
                    </a:solidFill>
                  </a:tcPr>
                </a:tc>
              </a:tr>
              <a:tr h="310896">
                <a:tc>
                  <a:txBody>
                    <a:bodyPr wrap="square"/>
                    <a:lstStyle/>
                    <a:p>
                      <a:r>
                        <a:rPr sz="1150" b="0" i="0">
                          <a:solidFill>
                            <a:srgbClr val="14313B"/>
                          </a:solidFill>
                          <a:latin typeface="Calibri (MS)"/>
                        </a:rPr>
                        <a:t>0,125 tahun</a:t>
                      </a:r>
                    </a:p>
                  </a:txBody>
                  <a:tcPr marL="73152" marR="73152" marT="36576" marB="36576" anchor="ctr">
                    <a:solidFill>
                      <a:srgbClr val="EAF8FA"/>
                    </a:solidFill>
                  </a:tcPr>
                </a:tc>
                <a:tc>
                  <a:txBody>
                    <a:bodyPr wrap="square"/>
                    <a:lstStyle/>
                    <a:p>
                      <a:r>
                        <a:rPr sz="1150" b="0" i="0">
                          <a:solidFill>
                            <a:srgbClr val="14313B"/>
                          </a:solidFill>
                          <a:latin typeface="Calibri (MS)"/>
                        </a:rPr>
                        <a:t>beda 0,06 ha dari dt 0,25</a:t>
                      </a:r>
                    </a:p>
                  </a:txBody>
                  <a:tcPr marL="73152" marR="73152" marT="36576" marB="36576" anchor="ctr">
                    <a:solidFill>
                      <a:srgbClr val="C9F0D6"/>
                    </a:solidFill>
                  </a:tcPr>
                </a:tc>
              </a:tr>
            </a:tbl>
          </a:graphicData>
        </a:graphic>
      </p:graphicFrame>
      <p:sp>
        <p:nvSpPr>
          <p:cNvPr id="123" name="TextBox 122"/>
          <p:cNvSpPr txBox="1"/>
          <p:nvPr/>
        </p:nvSpPr>
        <p:spPr>
          <a:xfrm>
            <a:off x="11430000" y="7384694"/>
            <a:ext cx="6035040" cy="822960"/>
          </a:xfrm>
          <a:prstGeom prst="rect">
            <a:avLst/>
          </a:prstGeom>
          <a:noFill/>
        </p:spPr>
        <p:txBody>
          <a:bodyPr wrap="square" anchor="t" lIns="0" rIns="0" tIns="0" bIns="0">
            <a:spAutoFit/>
          </a:bodyPr>
          <a:lstStyle/>
          <a:p>
            <a:pPr algn="l">
              <a:spcAft>
                <a:spcPts val="400"/>
              </a:spcAft>
            </a:pPr>
            <a:r>
              <a:rPr sz="1150" b="0" i="0">
                <a:solidFill>
                  <a:srgbClr val="14313B"/>
                </a:solidFill>
                <a:latin typeface="Calibri (MS)"/>
              </a:rPr>
              <a:t>Selisih mengecil seiring dt diperkecil → error numerik (metode Euler), bukan struktur. Simulasi dasar dt 1 vs 0,5: −0,27% s.d. +0,34% → dt 1 tahun memadai.</a:t>
            </a:r>
          </a:p>
        </p:txBody>
      </p:sp>
      <p:sp>
        <p:nvSpPr>
          <p:cNvPr id="124" name="Rounded Rectangle 123"/>
          <p:cNvSpPr/>
          <p:nvPr/>
        </p:nvSpPr>
        <p:spPr>
          <a:xfrm>
            <a:off x="822960" y="827532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Keempat pembatas bekerja di seluruh 17 uji ekstrem, dan model valid secara struktural sehingga dapat dilanjutkan ke uji perilaku.</a:t>
            </a:r>
          </a:p>
        </p:txBody>
      </p:sp>
      <p:sp>
        <p:nvSpPr>
          <p:cNvPr id="125" name="TextBox 12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4.4.5–4.4.6, Tabel 43–44, Gambar 18, 19, dan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