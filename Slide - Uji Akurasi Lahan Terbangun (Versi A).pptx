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29.xml" ContentType="application/vnd.openxmlformats-officedocument.presentationml.notesSlide+xml"/>
  <Override PartName="/ppt/notesSlides/notesSlide9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96"/>
  </p:notesMasterIdLst>
  <p:sldIdLst>
    <p:sldId id="284" r:id="rId34"/>
    <p:sldId id="346" r:id="rId194"/>
  </p:sldIdLst>
  <p:sldSz cx="18288000" cy="10287000"/>
  <p:notesSz cx="6858000" cy="9144000"/>
  <p:embeddedFontLst>
    <p:embeddedFont>
      <p:font typeface="Calibri (MS) Bold" charset="1" panose="020F0702030404030204"/>
      <p:regular r:id="rId99"/>
    </p:embeddedFont>
    <p:embeddedFont>
      <p:font typeface="Calibri (MS) Bold Italics" charset="1" panose="020F07020304040A0204"/>
      <p:regular r:id="rId100"/>
    </p:embeddedFont>
    <p:embeddedFont>
      <p:font typeface="Calibri (MS)" charset="1" panose="020F0502020204030204"/>
      <p:regular r:id="rId101"/>
    </p:embeddedFont>
    <p:embeddedFont>
      <p:font typeface="Montserrat" charset="1" panose="00000500000000000000"/>
      <p:regular r:id="rId105"/>
    </p:embeddedFont>
    <p:embeddedFont>
      <p:font typeface="Calibri (MS) Italics" charset="1" panose="020F05020202040A0204"/>
      <p:regular r:id="rId108"/>
    </p:embeddedFont>
    <p:embeddedFont>
      <p:font typeface="Cambria Italics" charset="1" panose="020405030504060A0204"/>
      <p:regular r:id="rId1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34" Type="http://schemas.openxmlformats.org/officeDocument/2006/relationships/slide" Target="slides/slide1.xml"/><Relationship Id="rId96" Type="http://schemas.openxmlformats.org/officeDocument/2006/relationships/notesMaster" Target="notesMasters/notesMaster1.xml"/><Relationship Id="rId97" Type="http://schemas.openxmlformats.org/officeDocument/2006/relationships/theme" Target="theme/theme2.xml"/><Relationship Id="rId99" Type="http://schemas.openxmlformats.org/officeDocument/2006/relationships/font" Target="fonts/font99.fntdata"/><Relationship Id="rId100" Type="http://schemas.openxmlformats.org/officeDocument/2006/relationships/font" Target="fonts/font100.fntdata"/><Relationship Id="rId101" Type="http://schemas.openxmlformats.org/officeDocument/2006/relationships/font" Target="fonts/font101.fntdata"/><Relationship Id="rId105" Type="http://schemas.openxmlformats.org/officeDocument/2006/relationships/font" Target="fonts/font105.fntdata"/><Relationship Id="rId108" Type="http://schemas.openxmlformats.org/officeDocument/2006/relationships/font" Target="fonts/font108.fntdata"/><Relationship Id="rId128" Type="http://schemas.openxmlformats.org/officeDocument/2006/relationships/font" Target="fonts/font128.fntdata"/><Relationship Id="rId194"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Akurasi kelas terbangun Dynamic World 2025 diuji dengan 200 titik acak berstrata, dibandingkan dengan interpretasi visual citra resolusi tinggi. Karena sampel dibuat 50:50 padahal luas lahan terbangun jauh lebih kecil, ukuran utamanya adalah akurasi tertimbang luas mengikuti Olofsson dkk.: 89,95 persen. Kappa 0,61 termasuk kesepakatan kuat. Kesalahan didominasi commission error, 34 titik, artinya peta cenderung sedikit melebihkan lahan terbangun.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Validasi spasial: titik-titik dari uji akurasi saya cek ulang di citra resolusi tinggi. Titik yang benar berada di kawasan yang jelas terbangun atau jelas bervegetasi. Titik yang salah umumnya di tepi objek, misalnya tepi jalan yang hanya menutupi sekitar 7 dari 10 meter piksel. Ini didukung angka: akurasi pada probabilitas rendah 97,7 persen, tetapi pada probabilitas dekat 0,5 hanya 52 persen. Jadi kesalahannya sistematis, bukan acak.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3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3.png"/><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35.png"/><Relationship Id="rId8" Type="http://schemas.openxmlformats.org/officeDocument/2006/relationships/image" Target="../media/image104.png"/><Relationship Id="rId9" Type="http://schemas.openxmlformats.org/officeDocument/2006/relationships/notesSlide" Target="../notesSlides/notesSlide91.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Lahan Terbangun — Uji Akurasi (1/2): Metrik Evaluasi</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Dynamic World cukup akurat untuk data lahan terbangun: akurasi 89,95%, Kappa 0,61</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110" id="110"/>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
            </a:r>
          </a:p>
        </p:txBody>
      </p:sp>
      <p:grpSp>
        <p:nvGrpSpPr>
          <p:cNvPr name="Group 111" id="111"/>
          <p:cNvGrpSpPr/>
          <p:nvPr/>
        </p:nvGrpSpPr>
        <p:grpSpPr>
          <a:xfrm rot="0">
            <a:off x="12755880" y="274320"/>
            <a:ext cx="3931920" cy="411480"/>
            <a:chOff x="0" y="0"/>
            <a:chExt cx="5242560" cy="548640"/>
          </a:xfrm>
        </p:grpSpPr>
        <p:sp>
          <p:nvSpPr>
            <p:cNvPr name="Freeform 112" id="112"/>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113" id="113"/>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2A · Integrasi citra satelit</a:t>
              </a:r>
            </a:p>
          </p:txBody>
        </p:sp>
      </p:grpSp>
      <p:sp>
        <p:nvSpPr>
          <p:cNvPr id="114" name="Rounded Rectangle 113"/>
          <p:cNvSpPr/>
          <p:nvPr/>
        </p:nvSpPr>
        <p:spPr>
          <a:xfrm>
            <a:off x="822960" y="1783080"/>
            <a:ext cx="16642080" cy="566928"/>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550" b="1" i="0">
                <a:solidFill>
                  <a:srgbClr val="FFD23B"/>
                </a:solidFill>
                <a:latin typeface="Calibri (MS) Bold"/>
              </a:rPr>
              <a:t>Desain uji  </a:t>
            </a:r>
            <a:r>
              <a:rPr sz="1490" b="1" i="0">
                <a:solidFill>
                  <a:srgbClr val="FFFFFF"/>
                </a:solidFill>
                <a:latin typeface="Calibri (MS) Bold"/>
              </a:rPr>
              <a:t>Peta Dynamic World 2025 (kelas built, probabilitas ≥ 0,5) · 200 titik acak berstrata (100 terbangun, 100 bukan) · rujukan: interpretasi visual citra resolusi tinggi Google Earth</a:t>
            </a:r>
          </a:p>
        </p:txBody>
      </p:sp>
      <p:graphicFrame>
        <p:nvGraphicFramePr>
          <p:cNvPr id="115" name="Table 114"/>
          <p:cNvGraphicFramePr>
            <a:graphicFrameLocks noGrp="1"/>
          </p:cNvGraphicFramePr>
          <p:nvPr/>
        </p:nvGraphicFramePr>
        <p:xfrm>
          <a:off x="822960" y="2487168"/>
          <a:ext cx="16642075" cy="3840480"/>
        </p:xfrm>
        <a:graphic>
          <a:graphicData uri="http://schemas.openxmlformats.org/drawingml/2006/table">
            <a:tbl>
              <a:tblPr firstRow="1" bandRow="1">
                <a:tableStyleId>{5C22544A-7EE6-4342-B048-85BDC9FD1C3A}</a:tableStyleId>
              </a:tblPr>
              <a:tblGrid>
                <a:gridCol w="3566159"/>
                <a:gridCol w="3931919"/>
                <a:gridCol w="5486399"/>
                <a:gridCol w="1554479"/>
                <a:gridCol w="2103119"/>
              </a:tblGrid>
              <a:tr h="548640">
                <a:tc>
                  <a:txBody>
                    <a:bodyPr wrap="square"/>
                    <a:lstStyle/>
                    <a:p>
                      <a:r>
                        <a:rPr sz="1320" b="1" i="0">
                          <a:solidFill>
                            <a:srgbClr val="FFFFFF"/>
                          </a:solidFill>
                          <a:latin typeface="Calibri (MS) Bold"/>
                        </a:rPr>
                        <a:t>Metrik</a:t>
                      </a:r>
                    </a:p>
                  </a:txBody>
                  <a:tcPr marL="73152" marR="73152" marT="36576" marB="36576" anchor="ctr">
                    <a:solidFill>
                      <a:srgbClr val="0B5E6E"/>
                    </a:solidFill>
                  </a:tcPr>
                </a:tc>
                <a:tc>
                  <a:txBody>
                    <a:bodyPr wrap="square"/>
                    <a:lstStyle/>
                    <a:p>
                      <a:r>
                        <a:rPr sz="1320" b="1" i="0">
                          <a:solidFill>
                            <a:srgbClr val="FFFFFF"/>
                          </a:solidFill>
                          <a:latin typeface="Calibri (MS) Bold"/>
                        </a:rPr>
                        <a:t>Rumus</a:t>
                      </a:r>
                    </a:p>
                  </a:txBody>
                  <a:tcPr marL="73152" marR="73152" marT="36576" marB="36576" anchor="ctr">
                    <a:solidFill>
                      <a:srgbClr val="0B5E6E"/>
                    </a:solidFill>
                  </a:tcPr>
                </a:tc>
                <a:tc>
                  <a:txBody>
                    <a:bodyPr wrap="square"/>
                    <a:lstStyle/>
                    <a:p>
                      <a:r>
                        <a:rPr sz="1320" b="1" i="0">
                          <a:solidFill>
                            <a:srgbClr val="FFFFFF"/>
                          </a:solidFill>
                          <a:latin typeface="Calibri (MS) Bold"/>
                        </a:rPr>
                        <a:t>Cara membaca / kriteria</a:t>
                      </a:r>
                    </a:p>
                  </a:txBody>
                  <a:tcPr marL="73152" marR="73152" marT="36576" marB="36576" anchor="ctr">
                    <a:solidFill>
                      <a:srgbClr val="0B5E6E"/>
                    </a:solidFill>
                  </a:tcPr>
                </a:tc>
                <a:tc>
                  <a:txBody>
                    <a:bodyPr wrap="square"/>
                    <a:lstStyle/>
                    <a:p>
                      <a:r>
                        <a:rPr sz="1320" b="1" i="0">
                          <a:solidFill>
                            <a:srgbClr val="FFFFFF"/>
                          </a:solidFill>
                          <a:latin typeface="Calibri (MS) Bold"/>
                        </a:rPr>
                        <a:t>Hasil</a:t>
                      </a:r>
                    </a:p>
                  </a:txBody>
                  <a:tcPr marL="73152" marR="73152" marT="36576" marB="36576" anchor="ctr">
                    <a:solidFill>
                      <a:srgbClr val="0B5E6E"/>
                    </a:solidFill>
                  </a:tcPr>
                </a:tc>
                <a:tc>
                  <a:txBody>
                    <a:bodyPr wrap="square"/>
                    <a:lstStyle/>
                    <a:p>
                      <a:r>
                        <a:rPr sz="1320" b="1" i="0">
                          <a:solidFill>
                            <a:srgbClr val="FFFFFF"/>
                          </a:solidFill>
                          <a:latin typeface="Calibri (MS) Bold"/>
                        </a:rPr>
                        <a:t>IK 95%</a:t>
                      </a:r>
                    </a:p>
                  </a:txBody>
                  <a:tcPr marL="73152" marR="73152" marT="36576" marB="36576" anchor="ctr">
                    <a:solidFill>
                      <a:srgbClr val="0B5E6E"/>
                    </a:solidFill>
                  </a:tcPr>
                </a:tc>
              </a:tr>
              <a:tr h="548640">
                <a:tc>
                  <a:txBody>
                    <a:bodyPr wrap="square"/>
                    <a:lstStyle/>
                    <a:p>
                      <a:r>
                        <a:rPr sz="1320" b="1" i="0">
                          <a:solidFill>
                            <a:srgbClr val="14313B"/>
                          </a:solidFill>
                          <a:latin typeface="Calibri (MS) Bold"/>
                        </a:rPr>
                        <a:t>Overall accuracy (accuracy)</a:t>
                      </a:r>
                    </a:p>
                  </a:txBody>
                  <a:tcPr marL="73152" marR="73152" marT="36576" marB="36576" anchor="ctr">
                    <a:solidFill>
                      <a:srgbClr val="FFFFFF"/>
                    </a:solidFill>
                  </a:tcPr>
                </a:tc>
                <a:tc>
                  <a:txBody>
                    <a:bodyPr wrap="square"/>
                    <a:lstStyle/>
                    <a:p>
                      <a:r>
                        <a:rPr sz="1320" b="0" i="0">
                          <a:solidFill>
                            <a:srgbClr val="14313B"/>
                          </a:solidFill>
                          <a:latin typeface="Calibri (MS)"/>
                        </a:rPr>
                        <a:t>OA = (n₁₁ + n₀₀) / n</a:t>
                      </a:r>
                    </a:p>
                  </a:txBody>
                  <a:tcPr marL="73152" marR="73152" marT="36576" marB="36576" anchor="ctr">
                    <a:solidFill>
                      <a:srgbClr val="FFFFFF"/>
                    </a:solidFill>
                  </a:tcPr>
                </a:tc>
                <a:tc>
                  <a:txBody>
                    <a:bodyPr wrap="square"/>
                    <a:lstStyle/>
                    <a:p>
                      <a:r>
                        <a:rPr sz="1260" b="0" i="0">
                          <a:solidFill>
                            <a:srgbClr val="14313B"/>
                          </a:solidFill>
                          <a:latin typeface="Calibri (MS)"/>
                        </a:rPr>
                        <a:t>Persentase seluruh titik yang kelasnya benar. Belum ditimbang, sehingga bisa bias karena sampel dibuat 50:50</a:t>
                      </a:r>
                    </a:p>
                  </a:txBody>
                  <a:tcPr marL="73152" marR="73152" marT="36576" marB="36576" anchor="ctr">
                    <a:solidFill>
                      <a:srgbClr val="FFFFFF"/>
                    </a:solidFill>
                  </a:tcPr>
                </a:tc>
                <a:tc>
                  <a:txBody>
                    <a:bodyPr wrap="square"/>
                    <a:lstStyle/>
                    <a:p>
                      <a:pPr algn="ctr"/>
                      <a:r>
                        <a:rPr sz="1320" b="0" i="0">
                          <a:solidFill>
                            <a:srgbClr val="14313B"/>
                          </a:solidFill>
                          <a:latin typeface="Calibri (MS)"/>
                        </a:rPr>
                        <a:t>80,50%</a:t>
                      </a:r>
                    </a:p>
                  </a:txBody>
                  <a:tcPr marL="73152" marR="73152" marT="36576" marB="36576" anchor="ctr">
                    <a:solidFill>
                      <a:srgbClr val="FFFFFF"/>
                    </a:solidFill>
                  </a:tcPr>
                </a:tc>
                <a:tc>
                  <a:txBody>
                    <a:bodyPr wrap="square"/>
                    <a:lstStyle/>
                    <a:p>
                      <a:pPr algn="ctr"/>
                      <a:r>
                        <a:rPr sz="1320" b="0" i="0">
                          <a:solidFill>
                            <a:srgbClr val="14313B"/>
                          </a:solidFill>
                          <a:latin typeface="Calibri (MS)"/>
                        </a:rPr>
                        <a:t>74,46–85,39%</a:t>
                      </a:r>
                    </a:p>
                  </a:txBody>
                  <a:tcPr marL="73152" marR="73152" marT="36576" marB="36576" anchor="ctr">
                    <a:solidFill>
                      <a:srgbClr val="FFFFFF"/>
                    </a:solidFill>
                  </a:tcPr>
                </a:tc>
              </a:tr>
              <a:tr h="548640">
                <a:tc>
                  <a:txBody>
                    <a:bodyPr wrap="square"/>
                    <a:lstStyle/>
                    <a:p>
                      <a:r>
                        <a:rPr sz="1320" b="1" i="0">
                          <a:solidFill>
                            <a:srgbClr val="14313B"/>
                          </a:solidFill>
                          <a:latin typeface="Calibri (MS) Bold"/>
                        </a:rPr>
                        <a:t>Overall accuracy tertimbang luas (area-weighted accuracy)</a:t>
                      </a:r>
                    </a:p>
                  </a:txBody>
                  <a:tcPr marL="73152" marR="73152" marT="36576" marB="36576" anchor="ctr">
                    <a:solidFill>
                      <a:srgbClr val="EAF8FA"/>
                    </a:solidFill>
                  </a:tcPr>
                </a:tc>
                <a:tc>
                  <a:txBody>
                    <a:bodyPr wrap="square"/>
                    <a:lstStyle/>
                    <a:p>
                      <a:r>
                        <a:rPr sz="1320" b="0" i="0">
                          <a:solidFill>
                            <a:srgbClr val="14313B"/>
                          </a:solidFill>
                          <a:latin typeface="Calibri (MS)"/>
                        </a:rPr>
                        <a:t>ÔA = Σ Wᵢ · (nᵢᵢ / nᵢ.) ;  Wᵢ = Aᵢ / A_total</a:t>
                      </a:r>
                    </a:p>
                  </a:txBody>
                  <a:tcPr marL="73152" marR="73152" marT="36576" marB="36576" anchor="ctr">
                    <a:solidFill>
                      <a:srgbClr val="EAF8FA"/>
                    </a:solidFill>
                  </a:tcPr>
                </a:tc>
                <a:tc>
                  <a:txBody>
                    <a:bodyPr wrap="square"/>
                    <a:lstStyle/>
                    <a:p>
                      <a:r>
                        <a:rPr sz="1260" b="0" i="0">
                          <a:solidFill>
                            <a:srgbClr val="14313B"/>
                          </a:solidFill>
                          <a:latin typeface="Calibri (MS)"/>
                        </a:rPr>
                        <a:t>Accuracy yang ditimbang sesuai luas tiap kelas di peta, sehingga tidak bias. Ukuran utama (Olofsson dkk., 2014)</a:t>
                      </a:r>
                    </a:p>
                  </a:txBody>
                  <a:tcPr marL="73152" marR="73152" marT="36576" marB="36576" anchor="ctr">
                    <a:solidFill>
                      <a:srgbClr val="EAF8FA"/>
                    </a:solidFill>
                  </a:tcPr>
                </a:tc>
                <a:tc>
                  <a:txBody>
                    <a:bodyPr wrap="square"/>
                    <a:lstStyle/>
                    <a:p>
                      <a:pPr algn="ctr"/>
                      <a:r>
                        <a:rPr sz="1320" b="1" i="0">
                          <a:solidFill>
                            <a:srgbClr val="14313B"/>
                          </a:solidFill>
                          <a:latin typeface="Calibri (MS)"/>
                        </a:rPr>
                        <a:t>89,95%</a:t>
                      </a:r>
                    </a:p>
                  </a:txBody>
                  <a:tcPr marL="73152" marR="73152" marT="36576" marB="36576" anchor="ctr">
                    <a:solidFill>
                      <a:srgbClr val="C9F0D6"/>
                    </a:solidFill>
                  </a:tcPr>
                </a:tc>
                <a:tc>
                  <a:txBody>
                    <a:bodyPr wrap="square"/>
                    <a:lstStyle/>
                    <a:p>
                      <a:pPr algn="ctr"/>
                      <a:r>
                        <a:rPr sz="1320" b="0" i="0">
                          <a:solidFill>
                            <a:srgbClr val="14313B"/>
                          </a:solidFill>
                          <a:latin typeface="Calibri (MS)"/>
                        </a:rPr>
                        <a:t>86,05–93,85%</a:t>
                      </a:r>
                    </a:p>
                  </a:txBody>
                  <a:tcPr marL="73152" marR="73152" marT="36576" marB="36576" anchor="ctr">
                    <a:solidFill>
                      <a:srgbClr val="EAF8FA"/>
                    </a:solidFill>
                  </a:tcPr>
                </a:tc>
              </a:tr>
              <a:tr h="548640">
                <a:tc>
                  <a:txBody>
                    <a:bodyPr wrap="square"/>
                    <a:lstStyle/>
                    <a:p>
                      <a:r>
                        <a:rPr sz="1320" b="1" i="0">
                          <a:solidFill>
                            <a:srgbClr val="14313B"/>
                          </a:solidFill>
                          <a:latin typeface="Calibri (MS) Bold"/>
                        </a:rPr>
                        <a:t>User's accuracy (precision)</a:t>
                      </a:r>
                    </a:p>
                  </a:txBody>
                  <a:tcPr marL="73152" marR="73152" marT="36576" marB="36576" anchor="ctr">
                    <a:solidFill>
                      <a:srgbClr val="FFFFFF"/>
                    </a:solidFill>
                  </a:tcPr>
                </a:tc>
                <a:tc>
                  <a:txBody>
                    <a:bodyPr wrap="square"/>
                    <a:lstStyle/>
                    <a:p>
                      <a:r>
                        <a:rPr sz="1320" b="0" i="0">
                          <a:solidFill>
                            <a:srgbClr val="14313B"/>
                          </a:solidFill>
                          <a:latin typeface="Calibri (MS)"/>
                        </a:rPr>
                        <a:t>UA = n₁₁ / (n₁₁ + n₁₀)</a:t>
                      </a:r>
                    </a:p>
                  </a:txBody>
                  <a:tcPr marL="73152" marR="73152" marT="36576" marB="36576" anchor="ctr">
                    <a:solidFill>
                      <a:srgbClr val="FFFFFF"/>
                    </a:solidFill>
                  </a:tcPr>
                </a:tc>
                <a:tc>
                  <a:txBody>
                    <a:bodyPr wrap="square"/>
                    <a:lstStyle/>
                    <a:p>
                      <a:r>
                        <a:rPr sz="1260" b="0" i="0">
                          <a:solidFill>
                            <a:srgbClr val="14313B"/>
                          </a:solidFill>
                          <a:latin typeface="Calibri (MS)"/>
                        </a:rPr>
                        <a:t>Dari titik yang dipetakan terbangun, berapa persen yang benar terbangun. Makin tinggi, makin sedikit salah tanda</a:t>
                      </a:r>
                    </a:p>
                  </a:txBody>
                  <a:tcPr marL="73152" marR="73152" marT="36576" marB="36576" anchor="ctr">
                    <a:solidFill>
                      <a:srgbClr val="FFFFFF"/>
                    </a:solidFill>
                  </a:tcPr>
                </a:tc>
                <a:tc>
                  <a:txBody>
                    <a:bodyPr wrap="square"/>
                    <a:lstStyle/>
                    <a:p>
                      <a:pPr algn="ctr"/>
                      <a:r>
                        <a:rPr sz="1320" b="0" i="0">
                          <a:solidFill>
                            <a:srgbClr val="14313B"/>
                          </a:solidFill>
                          <a:latin typeface="Calibri (MS)"/>
                        </a:rPr>
                        <a:t>66,00%</a:t>
                      </a:r>
                    </a:p>
                  </a:txBody>
                  <a:tcPr marL="73152" marR="73152" marT="36576" marB="36576" anchor="ctr">
                    <a:solidFill>
                      <a:srgbClr val="FFFFFF"/>
                    </a:solidFill>
                  </a:tcPr>
                </a:tc>
                <a:tc>
                  <a:txBody>
                    <a:bodyPr wrap="square"/>
                    <a:lstStyle/>
                    <a:p>
                      <a:pPr algn="ctr"/>
                      <a:r>
                        <a:rPr sz="1320" b="0" i="0">
                          <a:solidFill>
                            <a:srgbClr val="14313B"/>
                          </a:solidFill>
                          <a:latin typeface="Calibri (MS)"/>
                        </a:rPr>
                        <a:t>56,67–75,33%</a:t>
                      </a:r>
                    </a:p>
                  </a:txBody>
                  <a:tcPr marL="73152" marR="73152" marT="36576" marB="36576" anchor="ctr">
                    <a:solidFill>
                      <a:srgbClr val="FFFFFF"/>
                    </a:solidFill>
                  </a:tcPr>
                </a:tc>
              </a:tr>
              <a:tr h="548640">
                <a:tc>
                  <a:txBody>
                    <a:bodyPr wrap="square"/>
                    <a:lstStyle/>
                    <a:p>
                      <a:r>
                        <a:rPr sz="1320" b="1" i="0">
                          <a:solidFill>
                            <a:srgbClr val="14313B"/>
                          </a:solidFill>
                          <a:latin typeface="Calibri (MS) Bold"/>
                        </a:rPr>
                        <a:t>Producer's accuracy (recall)</a:t>
                      </a:r>
                    </a:p>
                  </a:txBody>
                  <a:tcPr marL="73152" marR="73152" marT="36576" marB="36576" anchor="ctr">
                    <a:solidFill>
                      <a:srgbClr val="EAF8FA"/>
                    </a:solidFill>
                  </a:tcPr>
                </a:tc>
                <a:tc>
                  <a:txBody>
                    <a:bodyPr wrap="square"/>
                    <a:lstStyle/>
                    <a:p>
                      <a:r>
                        <a:rPr sz="1320" b="0" i="0">
                          <a:solidFill>
                            <a:srgbClr val="14313B"/>
                          </a:solidFill>
                          <a:latin typeface="Calibri (MS)"/>
                        </a:rPr>
                        <a:t>PA = n₁₁ / (n₁₁ + n₀₁)</a:t>
                      </a:r>
                    </a:p>
                  </a:txBody>
                  <a:tcPr marL="73152" marR="73152" marT="36576" marB="36576" anchor="ctr">
                    <a:solidFill>
                      <a:srgbClr val="EAF8FA"/>
                    </a:solidFill>
                  </a:tcPr>
                </a:tc>
                <a:tc>
                  <a:txBody>
                    <a:bodyPr wrap="square"/>
                    <a:lstStyle/>
                    <a:p>
                      <a:r>
                        <a:rPr sz="1260" b="0" i="0">
                          <a:solidFill>
                            <a:srgbClr val="14313B"/>
                          </a:solidFill>
                          <a:latin typeface="Calibri (MS)"/>
                        </a:rPr>
                        <a:t>Dari titik yang benar terbangun di lapangan, berapa persen yang ikut terpetakan. Makin tinggi, makin sedikit yang terlewat</a:t>
                      </a:r>
                    </a:p>
                  </a:txBody>
                  <a:tcPr marL="73152" marR="73152" marT="36576" marB="36576" anchor="ctr">
                    <a:solidFill>
                      <a:srgbClr val="EAF8FA"/>
                    </a:solidFill>
                  </a:tcPr>
                </a:tc>
                <a:tc>
                  <a:txBody>
                    <a:bodyPr wrap="square"/>
                    <a:lstStyle/>
                    <a:p>
                      <a:pPr algn="ctr"/>
                      <a:r>
                        <a:rPr sz="1320" b="0" i="0">
                          <a:solidFill>
                            <a:srgbClr val="14313B"/>
                          </a:solidFill>
                          <a:latin typeface="Calibri (MS)"/>
                        </a:rPr>
                        <a:t>73,58%</a:t>
                      </a:r>
                    </a:p>
                  </a:txBody>
                  <a:tcPr marL="73152" marR="73152" marT="36576" marB="36576" anchor="ctr">
                    <a:solidFill>
                      <a:srgbClr val="EAF8FA"/>
                    </a:solidFill>
                  </a:tcPr>
                </a:tc>
                <a:tc>
                  <a:txBody>
                    <a:bodyPr wrap="square"/>
                    <a:lstStyle/>
                    <a:p>
                      <a:pPr algn="ctr"/>
                      <a:r>
                        <a:rPr sz="1320" b="0" i="0">
                          <a:solidFill>
                            <a:srgbClr val="14313B"/>
                          </a:solidFill>
                          <a:latin typeface="Calibri (MS)"/>
                        </a:rPr>
                        <a:t>56,66–90,50%</a:t>
                      </a:r>
                    </a:p>
                  </a:txBody>
                  <a:tcPr marL="73152" marR="73152" marT="36576" marB="36576" anchor="ctr">
                    <a:solidFill>
                      <a:srgbClr val="EAF8FA"/>
                    </a:solidFill>
                  </a:tcPr>
                </a:tc>
              </a:tr>
              <a:tr h="548640">
                <a:tc>
                  <a:txBody>
                    <a:bodyPr wrap="square"/>
                    <a:lstStyle/>
                    <a:p>
                      <a:r>
                        <a:rPr sz="1320" b="1" i="0">
                          <a:solidFill>
                            <a:srgbClr val="14313B"/>
                          </a:solidFill>
                          <a:latin typeface="Calibri (MS) Bold"/>
                        </a:rPr>
                        <a:t>F1-score (F-measure)</a:t>
                      </a:r>
                    </a:p>
                  </a:txBody>
                  <a:tcPr marL="73152" marR="73152" marT="36576" marB="36576" anchor="ctr">
                    <a:solidFill>
                      <a:srgbClr val="FFFFFF"/>
                    </a:solidFill>
                  </a:tcPr>
                </a:tc>
                <a:tc>
                  <a:txBody>
                    <a:bodyPr wrap="square"/>
                    <a:lstStyle/>
                    <a:p>
                      <a:r>
                        <a:rPr sz="1320" b="0" i="0">
                          <a:solidFill>
                            <a:srgbClr val="14313B"/>
                          </a:solidFill>
                          <a:latin typeface="Calibri (MS)"/>
                        </a:rPr>
                        <a:t>F1 = 2 · UA · PA / (UA + PA)</a:t>
                      </a:r>
                    </a:p>
                  </a:txBody>
                  <a:tcPr marL="73152" marR="73152" marT="36576" marB="36576" anchor="ctr">
                    <a:solidFill>
                      <a:srgbClr val="FFFFFF"/>
                    </a:solidFill>
                  </a:tcPr>
                </a:tc>
                <a:tc>
                  <a:txBody>
                    <a:bodyPr wrap="square"/>
                    <a:lstStyle/>
                    <a:p>
                      <a:r>
                        <a:rPr sz="1260" b="0" i="0">
                          <a:solidFill>
                            <a:srgbClr val="14313B"/>
                          </a:solidFill>
                          <a:latin typeface="Calibri (MS)"/>
                        </a:rPr>
                        <a:t>Gabungan precision dan recall dalam satu angka. Makin mendekati 100%, makin baik</a:t>
                      </a:r>
                    </a:p>
                  </a:txBody>
                  <a:tcPr marL="73152" marR="73152" marT="36576" marB="36576" anchor="ctr">
                    <a:solidFill>
                      <a:srgbClr val="FFFFFF"/>
                    </a:solidFill>
                  </a:tcPr>
                </a:tc>
                <a:tc>
                  <a:txBody>
                    <a:bodyPr wrap="square"/>
                    <a:lstStyle/>
                    <a:p>
                      <a:pPr algn="ctr"/>
                      <a:r>
                        <a:rPr sz="1320" b="0" i="0">
                          <a:solidFill>
                            <a:srgbClr val="14313B"/>
                          </a:solidFill>
                          <a:latin typeface="Calibri (MS)"/>
                        </a:rPr>
                        <a:t>77,19%</a:t>
                      </a:r>
                    </a:p>
                  </a:txBody>
                  <a:tcPr marL="73152" marR="73152" marT="36576" marB="36576" anchor="ctr">
                    <a:solidFill>
                      <a:srgbClr val="FFFFFF"/>
                    </a:solidFill>
                  </a:tcPr>
                </a:tc>
                <a:tc>
                  <a:txBody>
                    <a:bodyPr wrap="square"/>
                    <a:lstStyle/>
                    <a:p>
                      <a:pPr algn="ctr"/>
                      <a:r>
                        <a:rPr sz="1320" b="0" i="0">
                          <a:solidFill>
                            <a:srgbClr val="14313B"/>
                          </a:solidFill>
                          <a:latin typeface="Calibri (MS)"/>
                        </a:rPr>
                        <a:t>—</a:t>
                      </a:r>
                    </a:p>
                  </a:txBody>
                  <a:tcPr marL="73152" marR="73152" marT="36576" marB="36576" anchor="ctr">
                    <a:solidFill>
                      <a:srgbClr val="FFFFFF"/>
                    </a:solidFill>
                  </a:tcPr>
                </a:tc>
              </a:tr>
              <a:tr h="548640">
                <a:tc>
                  <a:txBody>
                    <a:bodyPr wrap="square"/>
                    <a:lstStyle/>
                    <a:p>
                      <a:r>
                        <a:rPr sz="1320" b="1" i="0">
                          <a:solidFill>
                            <a:srgbClr val="14313B"/>
                          </a:solidFill>
                          <a:latin typeface="Calibri (MS) Bold"/>
                        </a:rPr>
                        <a:t>Koefisien Kappa (Cohen's Kappa)</a:t>
                      </a:r>
                    </a:p>
                  </a:txBody>
                  <a:tcPr marL="73152" marR="73152" marT="36576" marB="36576" anchor="ctr">
                    <a:solidFill>
                      <a:srgbClr val="EAF8FA"/>
                    </a:solidFill>
                  </a:tcPr>
                </a:tc>
                <a:tc>
                  <a:txBody>
                    <a:bodyPr wrap="square"/>
                    <a:lstStyle/>
                    <a:p>
                      <a:r>
                        <a:rPr sz="1320" b="0" i="0">
                          <a:solidFill>
                            <a:srgbClr val="14313B"/>
                          </a:solidFill>
                          <a:latin typeface="Calibri (MS)"/>
                        </a:rPr>
                        <a:t>κ = (pₒ − pₑ) / (1 − pₑ)</a:t>
                      </a:r>
                    </a:p>
                  </a:txBody>
                  <a:tcPr marL="73152" marR="73152" marT="36576" marB="36576" anchor="ctr">
                    <a:solidFill>
                      <a:srgbClr val="EAF8FA"/>
                    </a:solidFill>
                  </a:tcPr>
                </a:tc>
                <a:tc>
                  <a:txBody>
                    <a:bodyPr wrap="square"/>
                    <a:lstStyle/>
                    <a:p>
                      <a:r>
                        <a:rPr sz="1260" b="0" i="0">
                          <a:solidFill>
                            <a:srgbClr val="14313B"/>
                          </a:solidFill>
                          <a:latin typeface="Calibri (MS)"/>
                        </a:rPr>
                        <a:t>Kesesuaian peta dengan rujukan setelah dikurangi kecocokan karena kebetulan. 0,61–0,80 = kesepakatan kuat (Landis &amp; Koch, 1977)</a:t>
                      </a:r>
                    </a:p>
                  </a:txBody>
                  <a:tcPr marL="73152" marR="73152" marT="36576" marB="36576" anchor="ctr">
                    <a:solidFill>
                      <a:srgbClr val="EAF8FA"/>
                    </a:solidFill>
                  </a:tcPr>
                </a:tc>
                <a:tc>
                  <a:txBody>
                    <a:bodyPr wrap="square"/>
                    <a:lstStyle/>
                    <a:p>
                      <a:pPr algn="ctr"/>
                      <a:r>
                        <a:rPr sz="1320" b="1" i="0">
                          <a:solidFill>
                            <a:srgbClr val="14313B"/>
                          </a:solidFill>
                          <a:latin typeface="Calibri (MS)"/>
                        </a:rPr>
                        <a:t>0,61</a:t>
                      </a:r>
                    </a:p>
                  </a:txBody>
                  <a:tcPr marL="73152" marR="73152" marT="36576" marB="36576" anchor="ctr">
                    <a:solidFill>
                      <a:srgbClr val="C9F0D6"/>
                    </a:solidFill>
                  </a:tcPr>
                </a:tc>
                <a:tc>
                  <a:txBody>
                    <a:bodyPr wrap="square"/>
                    <a:lstStyle/>
                    <a:p>
                      <a:pPr algn="ctr"/>
                      <a:r>
                        <a:rPr sz="1320" b="0" i="0">
                          <a:solidFill>
                            <a:srgbClr val="14313B"/>
                          </a:solidFill>
                          <a:latin typeface="Calibri (MS)"/>
                        </a:rPr>
                        <a:t>0,50–0,72</a:t>
                      </a:r>
                    </a:p>
                  </a:txBody>
                  <a:tcPr marL="73152" marR="73152" marT="36576" marB="36576" anchor="ctr">
                    <a:solidFill>
                      <a:srgbClr val="EAF8FA"/>
                    </a:solidFill>
                  </a:tcPr>
                </a:tc>
              </a:tr>
            </a:tbl>
          </a:graphicData>
        </a:graphic>
      </p:graphicFrame>
      <p:sp>
        <p:nvSpPr>
          <p:cNvPr id="116" name="TextBox 115"/>
          <p:cNvSpPr txBox="1"/>
          <p:nvPr/>
        </p:nvSpPr>
        <p:spPr>
          <a:xfrm>
            <a:off x="822960" y="6537960"/>
            <a:ext cx="16642080" cy="32004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User's accuracy, producer's accuracy, dan F1-score dihitung untuk kelas terbangun · n₁₁ = terbangun benar · n₀₀ = bukan terbangun benar · n₁₀ = commission error · n₀₁ = omission error · Aᵢ = luas kelas i di peta · pₒ = kesepakatan teramati · pₑ = kesepakatan karena kebetulan</a:t>
            </a:r>
          </a:p>
        </p:txBody>
      </p:sp>
      <p:graphicFrame>
        <p:nvGraphicFramePr>
          <p:cNvPr id="117" name="Table 116"/>
          <p:cNvGraphicFramePr>
            <a:graphicFrameLocks noGrp="1"/>
          </p:cNvGraphicFramePr>
          <p:nvPr/>
        </p:nvGraphicFramePr>
        <p:xfrm>
          <a:off x="822960" y="7086600"/>
          <a:ext cx="6035040" cy="1316736"/>
        </p:xfrm>
        <a:graphic>
          <a:graphicData uri="http://schemas.openxmlformats.org/drawingml/2006/table">
            <a:tbl>
              <a:tblPr firstRow="1" bandRow="1">
                <a:tableStyleId>{5C22544A-7EE6-4342-B048-85BDC9FD1C3A}</a:tableStyleId>
              </a:tblPr>
              <a:tblGrid>
                <a:gridCol w="2194560"/>
                <a:gridCol w="1920240"/>
                <a:gridCol w="1920240"/>
              </a:tblGrid>
              <a:tr h="438912">
                <a:tc>
                  <a:txBody>
                    <a:bodyPr wrap="square"/>
                    <a:lstStyle/>
                    <a:p>
                      <a:r>
                        <a:rPr sz="1440" b="1" i="0">
                          <a:solidFill>
                            <a:srgbClr val="FFFFFF"/>
                          </a:solidFill>
                          <a:latin typeface="Calibri (MS) Bold"/>
                        </a:rPr>
                        <a:t>Peta \ Rujukan</a:t>
                      </a:r>
                    </a:p>
                  </a:txBody>
                  <a:tcPr marL="73152" marR="73152" marT="36576" marB="36576" anchor="ctr">
                    <a:solidFill>
                      <a:srgbClr val="0B5E6E"/>
                    </a:solidFill>
                  </a:tcPr>
                </a:tc>
                <a:tc>
                  <a:txBody>
                    <a:bodyPr wrap="square"/>
                    <a:lstStyle/>
                    <a:p>
                      <a:pPr algn="ctr"/>
                      <a:r>
                        <a:rPr sz="1440" b="1" i="0">
                          <a:solidFill>
                            <a:srgbClr val="FFFFFF"/>
                          </a:solidFill>
                          <a:latin typeface="Calibri (MS) Bold"/>
                        </a:rPr>
                        <a:t>Bukan terbangun</a:t>
                      </a:r>
                    </a:p>
                  </a:txBody>
                  <a:tcPr marL="73152" marR="73152" marT="36576" marB="36576" anchor="ctr">
                    <a:solidFill>
                      <a:srgbClr val="0B5E6E"/>
                    </a:solidFill>
                  </a:tcPr>
                </a:tc>
                <a:tc>
                  <a:txBody>
                    <a:bodyPr wrap="square"/>
                    <a:lstStyle/>
                    <a:p>
                      <a:pPr algn="ctr"/>
                      <a:r>
                        <a:rPr sz="1440" b="1" i="0">
                          <a:solidFill>
                            <a:srgbClr val="FFFFFF"/>
                          </a:solidFill>
                          <a:latin typeface="Calibri (MS) Bold"/>
                        </a:rPr>
                        <a:t>Terbangun</a:t>
                      </a:r>
                    </a:p>
                  </a:txBody>
                  <a:tcPr marL="73152" marR="73152" marT="36576" marB="36576" anchor="ctr">
                    <a:solidFill>
                      <a:srgbClr val="0B5E6E"/>
                    </a:solidFill>
                  </a:tcPr>
                </a:tc>
              </a:tr>
              <a:tr h="438912">
                <a:tc>
                  <a:txBody>
                    <a:bodyPr wrap="square"/>
                    <a:lstStyle/>
                    <a:p>
                      <a:r>
                        <a:rPr sz="1440" b="1" i="0">
                          <a:solidFill>
                            <a:srgbClr val="14313B"/>
                          </a:solidFill>
                          <a:latin typeface="Calibri (MS) Bold"/>
                        </a:rPr>
                        <a:t>Bukan terbangun</a:t>
                      </a:r>
                    </a:p>
                  </a:txBody>
                  <a:tcPr marL="73152" marR="73152" marT="36576" marB="36576" anchor="ctr">
                    <a:solidFill>
                      <a:srgbClr val="FFFFFF"/>
                    </a:solidFill>
                  </a:tcPr>
                </a:tc>
                <a:tc>
                  <a:txBody>
                    <a:bodyPr wrap="square"/>
                    <a:lstStyle/>
                    <a:p>
                      <a:pPr algn="ctr"/>
                      <a:r>
                        <a:rPr sz="1440" b="0" i="0">
                          <a:solidFill>
                            <a:srgbClr val="14313B"/>
                          </a:solidFill>
                          <a:latin typeface="Calibri (MS)"/>
                        </a:rPr>
                        <a:t>95</a:t>
                      </a:r>
                    </a:p>
                  </a:txBody>
                  <a:tcPr marL="73152" marR="73152" marT="36576" marB="36576" anchor="ctr">
                    <a:solidFill>
                      <a:srgbClr val="C9F0D6"/>
                    </a:solidFill>
                  </a:tcPr>
                </a:tc>
                <a:tc>
                  <a:txBody>
                    <a:bodyPr wrap="square"/>
                    <a:lstStyle/>
                    <a:p>
                      <a:pPr algn="ctr"/>
                      <a:r>
                        <a:rPr sz="1440" b="0" i="0">
                          <a:solidFill>
                            <a:srgbClr val="14313B"/>
                          </a:solidFill>
                          <a:latin typeface="Calibri (MS)"/>
                        </a:rPr>
                        <a:t>5</a:t>
                      </a:r>
                    </a:p>
                  </a:txBody>
                  <a:tcPr marL="73152" marR="73152" marT="36576" marB="36576" anchor="ctr">
                    <a:solidFill>
                      <a:srgbClr val="EAF8FA"/>
                    </a:solidFill>
                  </a:tcPr>
                </a:tc>
              </a:tr>
              <a:tr h="438912">
                <a:tc>
                  <a:txBody>
                    <a:bodyPr wrap="square"/>
                    <a:lstStyle/>
                    <a:p>
                      <a:r>
                        <a:rPr sz="1440" b="1" i="0">
                          <a:solidFill>
                            <a:srgbClr val="14313B"/>
                          </a:solidFill>
                          <a:latin typeface="Calibri (MS) Bold"/>
                        </a:rPr>
                        <a:t>Terbangun</a:t>
                      </a:r>
                    </a:p>
                  </a:txBody>
                  <a:tcPr marL="73152" marR="73152" marT="36576" marB="36576" anchor="ctr">
                    <a:solidFill>
                      <a:srgbClr val="EAF8FA"/>
                    </a:solidFill>
                  </a:tcPr>
                </a:tc>
                <a:tc>
                  <a:txBody>
                    <a:bodyPr wrap="square"/>
                    <a:lstStyle/>
                    <a:p>
                      <a:pPr algn="ctr"/>
                      <a:r>
                        <a:rPr sz="1440" b="0" i="0">
                          <a:solidFill>
                            <a:srgbClr val="14313B"/>
                          </a:solidFill>
                          <a:latin typeface="Calibri (MS)"/>
                        </a:rPr>
                        <a:t>34</a:t>
                      </a:r>
                    </a:p>
                  </a:txBody>
                  <a:tcPr marL="73152" marR="73152" marT="36576" marB="36576" anchor="ctr">
                    <a:solidFill>
                      <a:srgbClr val="FDE2DE"/>
                    </a:solidFill>
                  </a:tcPr>
                </a:tc>
                <a:tc>
                  <a:txBody>
                    <a:bodyPr wrap="square"/>
                    <a:lstStyle/>
                    <a:p>
                      <a:pPr algn="ctr"/>
                      <a:r>
                        <a:rPr sz="1440" b="0" i="0">
                          <a:solidFill>
                            <a:srgbClr val="14313B"/>
                          </a:solidFill>
                          <a:latin typeface="Calibri (MS)"/>
                        </a:rPr>
                        <a:t>66</a:t>
                      </a:r>
                    </a:p>
                  </a:txBody>
                  <a:tcPr marL="73152" marR="73152" marT="36576" marB="36576" anchor="ctr">
                    <a:solidFill>
                      <a:srgbClr val="C9F0D6"/>
                    </a:solidFill>
                  </a:tcPr>
                </a:tc>
              </a:tr>
            </a:tbl>
          </a:graphicData>
        </a:graphic>
      </p:graphicFrame>
      <p:sp>
        <p:nvSpPr>
          <p:cNvPr id="118" name="TextBox 117"/>
          <p:cNvSpPr txBox="1"/>
          <p:nvPr/>
        </p:nvSpPr>
        <p:spPr>
          <a:xfrm>
            <a:off x="822960" y="8613648"/>
            <a:ext cx="6035040" cy="274320"/>
          </a:xfrm>
          <a:prstGeom prst="rect">
            <a:avLst/>
          </a:prstGeom>
          <a:noFill/>
        </p:spPr>
        <p:txBody>
          <a:bodyPr wrap="square" anchor="t" lIns="0" rIns="0" tIns="0" bIns="0">
            <a:spAutoFit/>
          </a:bodyPr>
          <a:lstStyle/>
          <a:p>
            <a:pPr algn="l">
              <a:spcAft>
                <a:spcPts val="400"/>
              </a:spcAft>
            </a:pPr>
            <a:r>
              <a:rPr sz="1260" b="1" i="0">
                <a:solidFill>
                  <a:srgbClr val="0B5E6E"/>
                </a:solidFill>
                <a:latin typeface="Calibri (MS) Bold"/>
              </a:rPr>
              <a:t>Matriks konfusi (jumlah titik)</a:t>
            </a:r>
          </a:p>
        </p:txBody>
      </p:sp>
      <p:sp>
        <p:nvSpPr>
          <p:cNvPr id="119" name="Rounded Rectangle 118"/>
          <p:cNvSpPr/>
          <p:nvPr/>
        </p:nvSpPr>
        <p:spPr>
          <a:xfrm>
            <a:off x="7132320" y="7086600"/>
            <a:ext cx="5074920" cy="16002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490" b="1" i="0">
                <a:solidFill>
                  <a:srgbClr val="0B5E6E"/>
                </a:solidFill>
                <a:latin typeface="Calibri (MS) Bold"/>
              </a:rPr>
              <a:t>Kesalahan utama: commission error</a:t>
            </a:r>
          </a:p>
          <a:p>
            <a:pPr algn="l">
              <a:spcAft>
                <a:spcPts val="300"/>
              </a:spcAft>
            </a:pPr>
            <a:r>
              <a:rPr sz="1320" b="0" i="0">
                <a:solidFill>
                  <a:srgbClr val="14313B"/>
                </a:solidFill>
                <a:latin typeface="Calibri (MS)"/>
              </a:rPr>
              <a:t>34 titik dipetakan terbangun padahal bukan, dibanding 5 omission error. Peta cenderung sedikit melebihkan lahan terbangun.</a:t>
            </a:r>
          </a:p>
        </p:txBody>
      </p:sp>
      <p:sp>
        <p:nvSpPr>
          <p:cNvPr id="120" name="Rounded Rectangle 119"/>
          <p:cNvSpPr/>
          <p:nvPr/>
        </p:nvSpPr>
        <p:spPr>
          <a:xfrm>
            <a:off x="12390120" y="7086600"/>
            <a:ext cx="5074920" cy="160020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490" b="1" i="0">
                <a:solidFill>
                  <a:srgbClr val="0B5E6E"/>
                </a:solidFill>
                <a:latin typeface="Calibri (MS) Bold"/>
              </a:rPr>
              <a:t>Cek batas probabilitas</a:t>
            </a:r>
          </a:p>
          <a:p>
            <a:pPr algn="l">
              <a:spcAft>
                <a:spcPts val="300"/>
              </a:spcAft>
            </a:pPr>
            <a:r>
              <a:rPr sz="1320" b="0" i="0">
                <a:solidFill>
                  <a:srgbClr val="14313B"/>
                </a:solidFill>
                <a:latin typeface="Calibri (MS)"/>
              </a:rPr>
              <a:t>F1 tertinggi pada batas 0,40–0,45, dekat dengan batas baku 0,5. Batas 0,5 tetap dipakai agar tidak terlalu menyesuaikan sampel.</a:t>
            </a:r>
          </a:p>
        </p:txBody>
      </p:sp>
      <p:sp>
        <p:nvSpPr>
          <p:cNvPr id="121" name="TextBox 120"/>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3.5.2 dan 4.2.2, Tabel 31–32; Olofsson dkk. (2014); Landis &amp; Koch (1977).</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85725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Lahan Terbangun — Uji Akurasi (2/2): Letak Kesalahan</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Pemeriksaan visual titik sampel (validasi spasial): kesalahan terkumpul di tepi objek</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
            </a:r>
          </a:p>
        </p:txBody>
      </p:sp>
      <p:grpSp>
        <p:nvGrpSpPr>
          <p:cNvPr name="Group 67" id="67"/>
          <p:cNvGrpSpPr/>
          <p:nvPr/>
        </p:nvGrpSpPr>
        <p:grpSpPr>
          <a:xfrm rot="0">
            <a:off x="12755880" y="274320"/>
            <a:ext cx="3931920" cy="411480"/>
            <a:chOff x="0" y="0"/>
            <a:chExt cx="5242560" cy="548640"/>
          </a:xfrm>
        </p:grpSpPr>
        <p:sp>
          <p:nvSpPr>
            <p:cNvPr name="Freeform 68" id="68"/>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69" id="69"/>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2A · Integrasi citra satelit</a:t>
              </a:r>
            </a:p>
          </p:txBody>
        </p:sp>
      </p:grpSp>
      <p:pic>
        <p:nvPicPr>
          <p:cNvPr id="70" name="Picture 69" descr="image.png"/>
          <p:cNvPicPr>
            <a:picLocks noChangeAspect="1"/>
          </p:cNvPicPr>
          <p:nvPr/>
        </p:nvPicPr>
        <p:blipFill>
          <a:blip r:embed="rId2"/>
          <a:stretch>
            <a:fillRect/>
          </a:stretch>
        </p:blipFill>
        <p:spPr>
          <a:xfrm>
            <a:off x="822960" y="1853581"/>
            <a:ext cx="5394959" cy="3150837"/>
          </a:xfrm>
          <a:prstGeom prst="rect">
            <a:avLst/>
          </a:prstGeom>
        </p:spPr>
      </p:pic>
      <p:pic>
        <p:nvPicPr>
          <p:cNvPr id="71" name="Picture 70" descr="image.png"/>
          <p:cNvPicPr>
            <a:picLocks noChangeAspect="1"/>
          </p:cNvPicPr>
          <p:nvPr/>
        </p:nvPicPr>
        <p:blipFill>
          <a:blip r:embed="rId8"/>
          <a:stretch>
            <a:fillRect/>
          </a:stretch>
        </p:blipFill>
        <p:spPr>
          <a:xfrm>
            <a:off x="6511003" y="1783080"/>
            <a:ext cx="5083113" cy="3291839"/>
          </a:xfrm>
          <a:prstGeom prst="rect">
            <a:avLst/>
          </a:prstGeom>
        </p:spPr>
      </p:pic>
      <p:sp>
        <p:nvSpPr>
          <p:cNvPr id="72" name="TextBox 71"/>
          <p:cNvSpPr txBox="1"/>
          <p:nvPr/>
        </p:nvSpPr>
        <p:spPr>
          <a:xfrm>
            <a:off x="822960" y="5120640"/>
            <a:ext cx="5394960" cy="320040"/>
          </a:xfrm>
          <a:prstGeom prst="rect">
            <a:avLst/>
          </a:prstGeom>
          <a:noFill/>
        </p:spPr>
        <p:txBody>
          <a:bodyPr wrap="square" anchor="t" lIns="0" rIns="0" tIns="0" bIns="0">
            <a:spAutoFit/>
          </a:bodyPr>
          <a:lstStyle/>
          <a:p>
            <a:pPr algn="ctr">
              <a:spcAft>
                <a:spcPts val="400"/>
              </a:spcAft>
            </a:pPr>
            <a:r>
              <a:rPr sz="1320" b="1" i="0">
                <a:solidFill>
                  <a:srgbClr val="0B5E6E"/>
                </a:solidFill>
                <a:latin typeface="Calibri (MS) Bold"/>
              </a:rPr>
              <a:t>Titik 8: bukan terbangun (vegetasi)</a:t>
            </a:r>
          </a:p>
        </p:txBody>
      </p:sp>
      <p:sp>
        <p:nvSpPr>
          <p:cNvPr id="73" name="TextBox 72"/>
          <p:cNvSpPr txBox="1"/>
          <p:nvPr/>
        </p:nvSpPr>
        <p:spPr>
          <a:xfrm>
            <a:off x="6355080" y="5120640"/>
            <a:ext cx="5394960" cy="320040"/>
          </a:xfrm>
          <a:prstGeom prst="rect">
            <a:avLst/>
          </a:prstGeom>
          <a:noFill/>
        </p:spPr>
        <p:txBody>
          <a:bodyPr wrap="square" anchor="t" lIns="0" rIns="0" tIns="0" bIns="0">
            <a:spAutoFit/>
          </a:bodyPr>
          <a:lstStyle/>
          <a:p>
            <a:pPr algn="ctr">
              <a:spcAft>
                <a:spcPts val="400"/>
              </a:spcAft>
            </a:pPr>
            <a:r>
              <a:rPr sz="1320" b="1" i="0">
                <a:solidFill>
                  <a:srgbClr val="0B5E6E"/>
                </a:solidFill>
                <a:latin typeface="Calibri (MS) Bold"/>
              </a:rPr>
              <a:t>Titik 69: terbangun (atap bangunan)</a:t>
            </a:r>
          </a:p>
        </p:txBody>
      </p:sp>
      <p:graphicFrame>
        <p:nvGraphicFramePr>
          <p:cNvPr id="74" name="Table 73"/>
          <p:cNvGraphicFramePr>
            <a:graphicFrameLocks noGrp="1"/>
          </p:cNvGraphicFramePr>
          <p:nvPr/>
        </p:nvGraphicFramePr>
        <p:xfrm>
          <a:off x="12070080" y="1783080"/>
          <a:ext cx="5394960" cy="2834640"/>
        </p:xfrm>
        <a:graphic>
          <a:graphicData uri="http://schemas.openxmlformats.org/drawingml/2006/table">
            <a:tbl>
              <a:tblPr firstRow="1" bandRow="1">
                <a:tableStyleId>{5C22544A-7EE6-4342-B048-85BDC9FD1C3A}</a:tableStyleId>
              </a:tblPr>
              <a:tblGrid>
                <a:gridCol w="4023360"/>
                <a:gridCol w="1371600"/>
              </a:tblGrid>
              <a:tr h="566928">
                <a:tc>
                  <a:txBody>
                    <a:bodyPr wrap="square"/>
                    <a:lstStyle/>
                    <a:p>
                      <a:r>
                        <a:rPr sz="1380" b="1" i="0">
                          <a:solidFill>
                            <a:srgbClr val="FFFFFF"/>
                          </a:solidFill>
                          <a:latin typeface="Calibri (MS) Bold"/>
                        </a:rPr>
                        <a:t>Kelompok titik</a:t>
                      </a:r>
                    </a:p>
                  </a:txBody>
                  <a:tcPr marL="73152" marR="73152" marT="36576" marB="36576" anchor="ctr">
                    <a:solidFill>
                      <a:srgbClr val="0B5E6E"/>
                    </a:solidFill>
                  </a:tcPr>
                </a:tc>
                <a:tc>
                  <a:txBody>
                    <a:bodyPr wrap="square"/>
                    <a:lstStyle/>
                    <a:p>
                      <a:pPr algn="ctr"/>
                      <a:r>
                        <a:rPr sz="1380" b="1" i="0">
                          <a:solidFill>
                            <a:srgbClr val="FFFFFF"/>
                          </a:solidFill>
                          <a:latin typeface="Calibri (MS) Bold"/>
                        </a:rPr>
                        <a:t>Nilai</a:t>
                      </a:r>
                    </a:p>
                  </a:txBody>
                  <a:tcPr marL="73152" marR="73152" marT="36576" marB="36576" anchor="ctr">
                    <a:solidFill>
                      <a:srgbClr val="0B5E6E"/>
                    </a:solidFill>
                  </a:tcPr>
                </a:tc>
              </a:tr>
              <a:tr h="566928">
                <a:tc>
                  <a:txBody>
                    <a:bodyPr wrap="square"/>
                    <a:lstStyle/>
                    <a:p>
                      <a:r>
                        <a:rPr sz="1380" b="1" i="0">
                          <a:solidFill>
                            <a:srgbClr val="14313B"/>
                          </a:solidFill>
                          <a:latin typeface="Calibri (MS) Bold"/>
                        </a:rPr>
                        <a:t>Rata-rata probabilitas "built" — titik benar</a:t>
                      </a:r>
                    </a:p>
                  </a:txBody>
                  <a:tcPr marL="73152" marR="73152" marT="36576" marB="36576" anchor="ctr">
                    <a:solidFill>
                      <a:srgbClr val="FFFFFF"/>
                    </a:solidFill>
                  </a:tcPr>
                </a:tc>
                <a:tc>
                  <a:txBody>
                    <a:bodyPr wrap="square"/>
                    <a:lstStyle/>
                    <a:p>
                      <a:pPr algn="ctr"/>
                      <a:r>
                        <a:rPr sz="1380" b="0" i="0">
                          <a:solidFill>
                            <a:srgbClr val="14313B"/>
                          </a:solidFill>
                          <a:latin typeface="Calibri (MS)"/>
                        </a:rPr>
                        <a:t>0,330</a:t>
                      </a:r>
                    </a:p>
                  </a:txBody>
                  <a:tcPr marL="73152" marR="73152" marT="36576" marB="36576" anchor="ctr">
                    <a:solidFill>
                      <a:srgbClr val="FFFFFF"/>
                    </a:solidFill>
                  </a:tcPr>
                </a:tc>
              </a:tr>
              <a:tr h="566928">
                <a:tc>
                  <a:txBody>
                    <a:bodyPr wrap="square"/>
                    <a:lstStyle/>
                    <a:p>
                      <a:r>
                        <a:rPr sz="1380" b="1" i="0">
                          <a:solidFill>
                            <a:srgbClr val="14313B"/>
                          </a:solidFill>
                          <a:latin typeface="Calibri (MS) Bold"/>
                        </a:rPr>
                        <a:t>Rata-rata probabilitas "built" — titik salah</a:t>
                      </a:r>
                    </a:p>
                  </a:txBody>
                  <a:tcPr marL="73152" marR="73152" marT="36576" marB="36576" anchor="ctr">
                    <a:solidFill>
                      <a:srgbClr val="EAF8FA"/>
                    </a:solidFill>
                  </a:tcPr>
                </a:tc>
                <a:tc>
                  <a:txBody>
                    <a:bodyPr wrap="square"/>
                    <a:lstStyle/>
                    <a:p>
                      <a:pPr algn="ctr"/>
                      <a:r>
                        <a:rPr sz="1380" b="0" i="0">
                          <a:solidFill>
                            <a:srgbClr val="14313B"/>
                          </a:solidFill>
                          <a:latin typeface="Calibri (MS)"/>
                        </a:rPr>
                        <a:t>0,574</a:t>
                      </a:r>
                    </a:p>
                  </a:txBody>
                  <a:tcPr marL="73152" marR="73152" marT="36576" marB="36576" anchor="ctr">
                    <a:solidFill>
                      <a:srgbClr val="FDE2DE"/>
                    </a:solidFill>
                  </a:tcPr>
                </a:tc>
              </a:tr>
              <a:tr h="566928">
                <a:tc>
                  <a:txBody>
                    <a:bodyPr wrap="square"/>
                    <a:lstStyle/>
                    <a:p>
                      <a:r>
                        <a:rPr sz="1380" b="1" i="0">
                          <a:solidFill>
                            <a:srgbClr val="14313B"/>
                          </a:solidFill>
                          <a:latin typeface="Calibri (MS) Bold"/>
                        </a:rPr>
                        <a:t>Akurasi pada probabilitas 0–0,25</a:t>
                      </a:r>
                    </a:p>
                  </a:txBody>
                  <a:tcPr marL="73152" marR="73152" marT="36576" marB="36576" anchor="ctr">
                    <a:solidFill>
                      <a:srgbClr val="FFFFFF"/>
                    </a:solidFill>
                  </a:tcPr>
                </a:tc>
                <a:tc>
                  <a:txBody>
                    <a:bodyPr wrap="square"/>
                    <a:lstStyle/>
                    <a:p>
                      <a:pPr algn="ctr"/>
                      <a:r>
                        <a:rPr sz="1380" b="0" i="0">
                          <a:solidFill>
                            <a:srgbClr val="14313B"/>
                          </a:solidFill>
                          <a:latin typeface="Calibri (MS)"/>
                        </a:rPr>
                        <a:t>97,7%</a:t>
                      </a:r>
                    </a:p>
                  </a:txBody>
                  <a:tcPr marL="73152" marR="73152" marT="36576" marB="36576" anchor="ctr">
                    <a:solidFill>
                      <a:srgbClr val="C9F0D6"/>
                    </a:solidFill>
                  </a:tcPr>
                </a:tc>
              </a:tr>
              <a:tr h="566928">
                <a:tc>
                  <a:txBody>
                    <a:bodyPr wrap="square"/>
                    <a:lstStyle/>
                    <a:p>
                      <a:r>
                        <a:rPr sz="1380" b="1" i="0">
                          <a:solidFill>
                            <a:srgbClr val="14313B"/>
                          </a:solidFill>
                          <a:latin typeface="Calibri (MS) Bold"/>
                        </a:rPr>
                        <a:t>Akurasi pada probabilitas 0,5–0,6</a:t>
                      </a:r>
                    </a:p>
                  </a:txBody>
                  <a:tcPr marL="73152" marR="73152" marT="36576" marB="36576" anchor="ctr">
                    <a:solidFill>
                      <a:srgbClr val="EAF8FA"/>
                    </a:solidFill>
                  </a:tcPr>
                </a:tc>
                <a:tc>
                  <a:txBody>
                    <a:bodyPr wrap="square"/>
                    <a:lstStyle/>
                    <a:p>
                      <a:pPr algn="ctr"/>
                      <a:r>
                        <a:rPr sz="1380" b="0" i="0">
                          <a:solidFill>
                            <a:srgbClr val="14313B"/>
                          </a:solidFill>
                          <a:latin typeface="Calibri (MS)"/>
                        </a:rPr>
                        <a:t>52,0%</a:t>
                      </a:r>
                    </a:p>
                  </a:txBody>
                  <a:tcPr marL="73152" marR="73152" marT="36576" marB="36576" anchor="ctr">
                    <a:solidFill>
                      <a:srgbClr val="FDE2DE"/>
                    </a:solidFill>
                  </a:tcPr>
                </a:tc>
              </a:tr>
            </a:tbl>
          </a:graphicData>
        </a:graphic>
      </p:graphicFrame>
      <p:sp>
        <p:nvSpPr>
          <p:cNvPr id="75" name="TextBox 74"/>
          <p:cNvSpPr txBox="1"/>
          <p:nvPr/>
        </p:nvSpPr>
        <p:spPr>
          <a:xfrm>
            <a:off x="12070080" y="4709160"/>
            <a:ext cx="5394960" cy="457200"/>
          </a:xfrm>
          <a:prstGeom prst="rect">
            <a:avLst/>
          </a:prstGeom>
          <a:noFill/>
        </p:spPr>
        <p:txBody>
          <a:bodyPr wrap="square" anchor="t" lIns="0" rIns="0" tIns="0" bIns="0">
            <a:spAutoFit/>
          </a:bodyPr>
          <a:lstStyle/>
          <a:p>
            <a:pPr algn="l">
              <a:spcAft>
                <a:spcPts val="400"/>
              </a:spcAft>
            </a:pPr>
            <a:r>
              <a:rPr sz="1260" b="0" i="1">
                <a:solidFill>
                  <a:srgbClr val="5E6E78"/>
                </a:solidFill>
                <a:latin typeface="Calibri (MS)"/>
              </a:rPr>
              <a:t>Dihitung dari 200 titik yang sama dengan slide 1/2, dikelompokkan menurut probabilitas "built"</a:t>
            </a:r>
          </a:p>
        </p:txBody>
      </p:sp>
      <p:sp>
        <p:nvSpPr>
          <p:cNvPr id="76" name="Rounded Rectangle 75"/>
          <p:cNvSpPr/>
          <p:nvPr/>
        </p:nvSpPr>
        <p:spPr>
          <a:xfrm>
            <a:off x="822960" y="5623560"/>
            <a:ext cx="5440680" cy="16002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550" b="1" i="0">
                <a:solidFill>
                  <a:srgbClr val="0B5E6E"/>
                </a:solidFill>
                <a:latin typeface="Calibri (MS) Bold"/>
              </a:rPr>
              <a:t>Cara</a:t>
            </a:r>
          </a:p>
          <a:p>
            <a:pPr algn="l">
              <a:spcAft>
                <a:spcPts val="300"/>
              </a:spcAft>
            </a:pPr>
            <a:r>
              <a:rPr sz="1380" b="0" i="0">
                <a:solidFill>
                  <a:srgbClr val="14313B"/>
                </a:solidFill>
                <a:latin typeface="Calibri (MS)"/>
              </a:rPr>
              <a:t>Beberapa dari 200 titik sampel uji akurasi dilihat ulang pada citra resolusi tinggi Google Earth untuk melihat di mana kesalahan terjadi.</a:t>
            </a:r>
          </a:p>
        </p:txBody>
      </p:sp>
      <p:sp>
        <p:nvSpPr>
          <p:cNvPr id="77" name="Rounded Rectangle 76"/>
          <p:cNvSpPr/>
          <p:nvPr/>
        </p:nvSpPr>
        <p:spPr>
          <a:xfrm>
            <a:off x="6428232" y="5623560"/>
            <a:ext cx="5440680" cy="16002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550" b="1" i="0">
                <a:solidFill>
                  <a:srgbClr val="0B5E6E"/>
                </a:solidFill>
                <a:latin typeface="Calibri (MS) Bold"/>
              </a:rPr>
              <a:t>Titik yang tepat</a:t>
            </a:r>
          </a:p>
          <a:p>
            <a:pPr algn="l">
              <a:spcAft>
                <a:spcPts val="300"/>
              </a:spcAft>
            </a:pPr>
            <a:r>
              <a:rPr sz="1380" b="0" i="0">
                <a:solidFill>
                  <a:srgbClr val="14313B"/>
                </a:solidFill>
                <a:latin typeface="Calibri (MS)"/>
              </a:rPr>
              <a:t>Kawasan yang jelas terbangun atau jelas bervegetasi: kelas prediksi sesuai kondisi lapangan.</a:t>
            </a:r>
          </a:p>
        </p:txBody>
      </p:sp>
      <p:sp>
        <p:nvSpPr>
          <p:cNvPr id="78" name="Rounded Rectangle 77"/>
          <p:cNvSpPr/>
          <p:nvPr/>
        </p:nvSpPr>
        <p:spPr>
          <a:xfrm>
            <a:off x="12033504" y="5623560"/>
            <a:ext cx="5440680" cy="16002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550" b="1" i="0">
                <a:solidFill>
                  <a:srgbClr val="0B5E6E"/>
                </a:solidFill>
                <a:latin typeface="Calibri (MS) Bold"/>
              </a:rPr>
              <a:t>Titik yang salah</a:t>
            </a:r>
          </a:p>
          <a:p>
            <a:pPr algn="l">
              <a:spcAft>
                <a:spcPts val="300"/>
              </a:spcAft>
            </a:pPr>
            <a:r>
              <a:rPr sz="1380" b="0" i="0">
                <a:solidFill>
                  <a:srgbClr val="14313B"/>
                </a:solidFill>
                <a:latin typeface="Calibri (MS)"/>
              </a:rPr>
              <a:t>Di tepi objek, misalnya tepi jalan yang perkerasannya hanya menutupi ±7 dari 10 m piksel (piksel campuran).</a:t>
            </a:r>
          </a:p>
        </p:txBody>
      </p:sp>
      <p:sp>
        <p:nvSpPr>
          <p:cNvPr id="79" name="Rounded Rectangle 78"/>
          <p:cNvSpPr/>
          <p:nvPr/>
        </p:nvSpPr>
        <p:spPr>
          <a:xfrm>
            <a:off x="822960" y="7406640"/>
            <a:ext cx="16642080" cy="91440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550" b="1" i="0">
                <a:solidFill>
                  <a:srgbClr val="0B5E6E"/>
                </a:solidFill>
                <a:latin typeface="Calibri (MS) Bold"/>
              </a:rPr>
              <a:t>Kesimpulan  </a:t>
            </a:r>
            <a:r>
              <a:rPr sz="1440" b="0" i="0">
                <a:solidFill>
                  <a:srgbClr val="14313B"/>
                </a:solidFill>
                <a:latin typeface="Calibri (MS)"/>
              </a:rPr>
              <a:t>Kesalahan bersifat sistematis di tepi objek dan pada piksel campuran, bukan acak di seluruh wilayah; data tetap layak dipakai.</a:t>
            </a:r>
          </a:p>
        </p:txBody>
      </p:sp>
      <p:sp>
        <p:nvSpPr>
          <p:cNvPr id="80" name="TextBox 79"/>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3.5.2 dan 4.2.2, Gambar 14–15; sampel uji akurasi Dynamic World 2025 (Google Earth).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DAHXA7-drhs</dc:identifier>
  <dcterms:modified xsi:type="dcterms:W3CDTF">2011-08-01T06:04:30Z</dcterms:modified>
  <cp:revision>1</cp:revision>
  <dc:title>[Lengkap] PPT SIDANG FINAL</dc:title>
</cp:coreProperties>
</file>