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68.svg" ContentType="image/svg+xml"/>
  <Override PartName="/ppt/notesMasters/notesMaster1.xml" ContentType="application/vnd.openxmlformats-officedocument.presentationml.notesMaster+xml"/>
  <Override PartName="/ppt/notesSlides/notesSlide6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96"/>
  </p:notesMasterIdLst>
  <p:sldIdLst>
    <p:sldId id="316" r:id="rId66"/>
  </p:sldIdLst>
  <p:sldSz cx="18288000" cy="10287000"/>
  <p:notesSz cx="6858000" cy="9144000"/>
  <p:embeddedFontLst>
    <p:embeddedFont>
      <p:font typeface="Calibri (MS) Bold" charset="1" panose="020F0702030404030204"/>
      <p:regular r:id="rId99"/>
    </p:embeddedFont>
    <p:embeddedFont>
      <p:font typeface="Calibri (MS) Bold Italics" charset="1" panose="020F07020304040A0204"/>
      <p:regular r:id="rId100"/>
    </p:embeddedFont>
    <p:embeddedFont>
      <p:font typeface="Calibri (MS)" charset="1" panose="020F0502020204030204"/>
      <p:regular r:id="rId101"/>
    </p:embeddedFont>
    <p:embeddedFont>
      <p:font typeface="Montserrat" charset="1" panose="00000500000000000000"/>
      <p:regular r:id="rId105"/>
    </p:embeddedFont>
    <p:embeddedFont>
      <p:font typeface="Calibri (MS) Italics" charset="1" panose="020F05020202040A0204"/>
      <p:regular r:id="rId108"/>
    </p:embeddedFont>
    <p:embeddedFont>
      <p:font typeface="Cambria Italics" charset="1" panose="020405030504060A0204"/>
      <p:regular r:id="rId1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6" Type="http://schemas.openxmlformats.org/officeDocument/2006/relationships/slide" Target="slides/slide1.xml"/><Relationship Id="rId96" Type="http://schemas.openxmlformats.org/officeDocument/2006/relationships/notesMaster" Target="notesMasters/notesMaster1.xml"/><Relationship Id="rId97" Type="http://schemas.openxmlformats.org/officeDocument/2006/relationships/theme" Target="theme/theme2.xml"/><Relationship Id="rId99" Type="http://schemas.openxmlformats.org/officeDocument/2006/relationships/font" Target="fonts/font99.fntdata"/><Relationship Id="rId100" Type="http://schemas.openxmlformats.org/officeDocument/2006/relationships/font" Target="fonts/font100.fntdata"/><Relationship Id="rId101" Type="http://schemas.openxmlformats.org/officeDocument/2006/relationships/font" Target="fonts/font101.fntdata"/><Relationship Id="rId105" Type="http://schemas.openxmlformats.org/officeDocument/2006/relationships/font" Target="fonts/font105.fntdata"/><Relationship Id="rId108" Type="http://schemas.openxmlformats.org/officeDocument/2006/relationships/font" Target="fonts/font108.fntdata"/><Relationship Id="rId128" Type="http://schemas.openxmlformats.org/officeDocument/2006/relationships/font" Target="fonts/font12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6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Dari simulasi ini ada empat hal yang bisa dibawa ke pemerintah. Pertama, pemerintah harus memilih prioritas: mengejar ekonomi berarti lebih banyak lahan dibuka dan lebih padat, sedangkan Sustainable menjaga lahan tetapi ekonominya tetap tumbuh di atas BAU. Kedua, menjaga lahan tidak cukup dari sektor pariwisata saja, karena total lahan terbangun hanya turun 0,91 persen. Ketiga, kepadatan tidak bisa diatasi dengan dua kebijakan ini, karena kepadatan datang dari jumlah wisatawan; perlu pengaturan sebaran kunjungan. Keempat, dua Perda DIY perlu diselaraskan, karena yang satu membuka lahan bagi investor dan yang lain melarang alih fungsi lahan pangan. Jadi hasil ini adalah bahan diskusi kebijakan, dengan angka yang dibaca sebagai perbandingan, bukan ramalan.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7.png"/><Relationship Id="rId8" Type="http://schemas.openxmlformats.org/officeDocument/2006/relationships/image" Target="../media/image68.sv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Implikasi Kebijakan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Simulasi tidak memberi satu jawaban terbaik, tetapi menunjukkan apa yang dikorbankan dari tiap pilihan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138" id="138"/>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139" id="139"/>
          <p:cNvGrpSpPr/>
          <p:nvPr/>
        </p:nvGrpSpPr>
        <p:grpSpPr>
          <a:xfrm rot="0">
            <a:off x="12755880" y="274320"/>
            <a:ext cx="3931920" cy="411480"/>
            <a:chOff x="0" y="0"/>
            <a:chExt cx="5242560" cy="548640"/>
          </a:xfrm>
        </p:grpSpPr>
        <p:sp>
          <p:nvSpPr>
            <p:cNvPr name="Freeform 140" id="140"/>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41" id="141"/>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2G · Skenario kebijakan</a:t>
              </a:r>
            </a:p>
          </p:txBody>
        </p:sp>
      </p:grpSp>
      <p:sp>
        <p:nvSpPr>
          <p:cNvPr id="142" name="Rounded Rectangle 141"/>
          <p:cNvSpPr/>
          <p:nvPr/>
        </p:nvSpPr>
        <p:spPr>
          <a:xfrm>
            <a:off x="822960" y="1783080"/>
            <a:ext cx="8183879" cy="2697480"/>
          </a:xfrm>
          <a:prstGeom prst="roundRect">
            <a:avLst>
              <a:gd name="adj" fmla="val 4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43" name="Oval 142"/>
          <p:cNvSpPr/>
          <p:nvPr/>
        </p:nvSpPr>
        <p:spPr>
          <a:xfrm>
            <a:off x="1097280" y="2057400"/>
            <a:ext cx="594360" cy="59436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839" b="1" i="0">
                <a:solidFill>
                  <a:srgbClr val="FFFFFF"/>
                </a:solidFill>
                <a:latin typeface="Calibri (MS) Bold"/>
              </a:rPr>
              <a:t>1</a:t>
            </a:r>
          </a:p>
        </p:txBody>
      </p:sp>
      <p:sp>
        <p:nvSpPr>
          <p:cNvPr id="144" name="TextBox 143"/>
          <p:cNvSpPr txBox="1"/>
          <p:nvPr/>
        </p:nvSpPr>
        <p:spPr>
          <a:xfrm>
            <a:off x="1874519" y="2084831"/>
            <a:ext cx="6903719" cy="548640"/>
          </a:xfrm>
          <a:prstGeom prst="rect">
            <a:avLst/>
          </a:prstGeom>
          <a:noFill/>
        </p:spPr>
        <p:txBody>
          <a:bodyPr wrap="square" anchor="t" lIns="0" rIns="0" tIns="0" bIns="0">
            <a:spAutoFit/>
          </a:bodyPr>
          <a:lstStyle/>
          <a:p>
            <a:pPr algn="l">
              <a:spcAft>
                <a:spcPts val="400"/>
              </a:spcAft>
            </a:pPr>
            <a:r>
              <a:rPr sz="1720" b="1" i="0">
                <a:solidFill>
                  <a:srgbClr val="0B5E6E"/>
                </a:solidFill>
                <a:latin typeface="Calibri (MS) Bold"/>
              </a:rPr>
              <a:t>Pemerintah harus memilih prioritas</a:t>
            </a:r>
          </a:p>
        </p:txBody>
      </p:sp>
      <p:sp>
        <p:nvSpPr>
          <p:cNvPr id="145" name="TextBox 144"/>
          <p:cNvSpPr txBox="1"/>
          <p:nvPr/>
        </p:nvSpPr>
        <p:spPr>
          <a:xfrm>
            <a:off x="1874519" y="2651760"/>
            <a:ext cx="6903719" cy="1783080"/>
          </a:xfrm>
          <a:prstGeom prst="rect">
            <a:avLst/>
          </a:prstGeom>
          <a:noFill/>
        </p:spPr>
        <p:txBody>
          <a:bodyPr wrap="square" anchor="t" lIns="0" rIns="0" tIns="0" bIns="0">
            <a:spAutoFit/>
          </a:bodyPr>
          <a:lstStyle/>
          <a:p>
            <a:pPr algn="l">
              <a:spcAft>
                <a:spcPts val="400"/>
              </a:spcAft>
            </a:pPr>
            <a:r>
              <a:rPr sz="1610" b="0" i="0">
                <a:solidFill>
                  <a:srgbClr val="14313B"/>
                </a:solidFill>
                <a:latin typeface="Calibri (MS)"/>
              </a:rPr>
              <a:t>Mengejar lapangan kerja dan PDRB (Development Priority) berarti 15,64% lebih banyak lahan dibuka untuk pariwisata dan kunjungan paling padat. Sustainable tidak membuka lahan baru untuk pariwisata, dan ekonominya tetap tumbuh di atas BAU.</a:t>
            </a:r>
          </a:p>
        </p:txBody>
      </p:sp>
      <p:sp>
        <p:nvSpPr>
          <p:cNvPr id="146" name="Rounded Rectangle 145"/>
          <p:cNvSpPr/>
          <p:nvPr/>
        </p:nvSpPr>
        <p:spPr>
          <a:xfrm>
            <a:off x="9281160" y="1783080"/>
            <a:ext cx="8183879" cy="2697480"/>
          </a:xfrm>
          <a:prstGeom prst="roundRect">
            <a:avLst>
              <a:gd name="adj" fmla="val 4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47" name="Oval 146"/>
          <p:cNvSpPr/>
          <p:nvPr/>
        </p:nvSpPr>
        <p:spPr>
          <a:xfrm>
            <a:off x="9555480" y="2057400"/>
            <a:ext cx="594360" cy="59436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839" b="1" i="0">
                <a:solidFill>
                  <a:srgbClr val="FFFFFF"/>
                </a:solidFill>
                <a:latin typeface="Calibri (MS) Bold"/>
              </a:rPr>
              <a:t>2</a:t>
            </a:r>
          </a:p>
        </p:txBody>
      </p:sp>
      <p:sp>
        <p:nvSpPr>
          <p:cNvPr id="148" name="TextBox 147"/>
          <p:cNvSpPr txBox="1"/>
          <p:nvPr/>
        </p:nvSpPr>
        <p:spPr>
          <a:xfrm>
            <a:off x="10332720" y="2084831"/>
            <a:ext cx="6903719" cy="548640"/>
          </a:xfrm>
          <a:prstGeom prst="rect">
            <a:avLst/>
          </a:prstGeom>
          <a:noFill/>
        </p:spPr>
        <p:txBody>
          <a:bodyPr wrap="square" anchor="t" lIns="0" rIns="0" tIns="0" bIns="0">
            <a:spAutoFit/>
          </a:bodyPr>
          <a:lstStyle/>
          <a:p>
            <a:pPr algn="l">
              <a:spcAft>
                <a:spcPts val="400"/>
              </a:spcAft>
            </a:pPr>
            <a:r>
              <a:rPr sz="1720" b="1" i="0">
                <a:solidFill>
                  <a:srgbClr val="0B5E6E"/>
                </a:solidFill>
                <a:latin typeface="Calibri (MS) Bold"/>
              </a:rPr>
              <a:t>Menjaga lahan tidak cukup dari sektor pariwisata saja</a:t>
            </a:r>
          </a:p>
        </p:txBody>
      </p:sp>
      <p:sp>
        <p:nvSpPr>
          <p:cNvPr id="149" name="TextBox 148"/>
          <p:cNvSpPr txBox="1"/>
          <p:nvPr/>
        </p:nvSpPr>
        <p:spPr>
          <a:xfrm>
            <a:off x="10332720" y="2651760"/>
            <a:ext cx="6903719" cy="1783080"/>
          </a:xfrm>
          <a:prstGeom prst="rect">
            <a:avLst/>
          </a:prstGeom>
          <a:noFill/>
        </p:spPr>
        <p:txBody>
          <a:bodyPr wrap="square" anchor="t" lIns="0" rIns="0" tIns="0" bIns="0">
            <a:spAutoFit/>
          </a:bodyPr>
          <a:lstStyle/>
          <a:p>
            <a:pPr algn="l">
              <a:spcAft>
                <a:spcPts val="400"/>
              </a:spcAft>
            </a:pPr>
            <a:r>
              <a:rPr sz="1610" b="0" i="0">
                <a:solidFill>
                  <a:srgbClr val="14313B"/>
                </a:solidFill>
                <a:latin typeface="Calibri (MS)"/>
              </a:rPr>
              <a:t>Walaupun tidak ada lahan baru untuk pariwisata, total lahan terbangun hanya turun 0,91%, karena pembukaan lahan untuk keperluan lain tetap berjalan. Perlu pengendalian lahan lintas sektor.</a:t>
            </a:r>
          </a:p>
        </p:txBody>
      </p:sp>
      <p:sp>
        <p:nvSpPr>
          <p:cNvPr id="150" name="Rounded Rectangle 149"/>
          <p:cNvSpPr/>
          <p:nvPr/>
        </p:nvSpPr>
        <p:spPr>
          <a:xfrm>
            <a:off x="822960" y="4709160"/>
            <a:ext cx="8183879" cy="2697480"/>
          </a:xfrm>
          <a:prstGeom prst="roundRect">
            <a:avLst>
              <a:gd name="adj" fmla="val 4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1" name="Oval 150"/>
          <p:cNvSpPr/>
          <p:nvPr/>
        </p:nvSpPr>
        <p:spPr>
          <a:xfrm>
            <a:off x="1097280" y="4983480"/>
            <a:ext cx="594360" cy="59436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839" b="1" i="0">
                <a:solidFill>
                  <a:srgbClr val="FFFFFF"/>
                </a:solidFill>
                <a:latin typeface="Calibri (MS) Bold"/>
              </a:rPr>
              <a:t>3</a:t>
            </a:r>
          </a:p>
        </p:txBody>
      </p:sp>
      <p:sp>
        <p:nvSpPr>
          <p:cNvPr id="152" name="TextBox 151"/>
          <p:cNvSpPr txBox="1"/>
          <p:nvPr/>
        </p:nvSpPr>
        <p:spPr>
          <a:xfrm>
            <a:off x="1874519" y="5010912"/>
            <a:ext cx="6903719" cy="548640"/>
          </a:xfrm>
          <a:prstGeom prst="rect">
            <a:avLst/>
          </a:prstGeom>
          <a:noFill/>
        </p:spPr>
        <p:txBody>
          <a:bodyPr wrap="square" anchor="t" lIns="0" rIns="0" tIns="0" bIns="0">
            <a:spAutoFit/>
          </a:bodyPr>
          <a:lstStyle/>
          <a:p>
            <a:pPr algn="l">
              <a:spcAft>
                <a:spcPts val="400"/>
              </a:spcAft>
            </a:pPr>
            <a:r>
              <a:rPr sz="1720" b="1" i="0">
                <a:solidFill>
                  <a:srgbClr val="0B5E6E"/>
                </a:solidFill>
                <a:latin typeface="Calibri (MS) Bold"/>
              </a:rPr>
              <a:t>Kepadatan butuh kebijakan yang berbeda</a:t>
            </a:r>
          </a:p>
        </p:txBody>
      </p:sp>
      <p:sp>
        <p:nvSpPr>
          <p:cNvPr id="153" name="TextBox 152"/>
          <p:cNvSpPr txBox="1"/>
          <p:nvPr/>
        </p:nvSpPr>
        <p:spPr>
          <a:xfrm>
            <a:off x="1874519" y="5577840"/>
            <a:ext cx="6903719" cy="1783080"/>
          </a:xfrm>
          <a:prstGeom prst="rect">
            <a:avLst/>
          </a:prstGeom>
          <a:noFill/>
        </p:spPr>
        <p:txBody>
          <a:bodyPr wrap="square" anchor="t" lIns="0" rIns="0" tIns="0" bIns="0">
            <a:spAutoFit/>
          </a:bodyPr>
          <a:lstStyle/>
          <a:p>
            <a:pPr algn="l">
              <a:spcAft>
                <a:spcPts val="400"/>
              </a:spcAft>
            </a:pPr>
            <a:r>
              <a:rPr sz="1610" b="0" i="0">
                <a:solidFill>
                  <a:srgbClr val="14313B"/>
                </a:solidFill>
                <a:latin typeface="Calibri (MS)"/>
              </a:rPr>
              <a:t>Kedua kebijakan mengatur investasi dan lahan, sedangkan kepadatan datang dari jumlah wisatawan. Perlu pengaturan sebaran kunjungan, misalnya antarwaktu dan antarlokasi.</a:t>
            </a:r>
          </a:p>
        </p:txBody>
      </p:sp>
      <p:sp>
        <p:nvSpPr>
          <p:cNvPr id="154" name="Rounded Rectangle 153"/>
          <p:cNvSpPr/>
          <p:nvPr/>
        </p:nvSpPr>
        <p:spPr>
          <a:xfrm>
            <a:off x="9281160" y="4709160"/>
            <a:ext cx="8183879" cy="2697480"/>
          </a:xfrm>
          <a:prstGeom prst="roundRect">
            <a:avLst>
              <a:gd name="adj" fmla="val 4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5" name="Oval 154"/>
          <p:cNvSpPr/>
          <p:nvPr/>
        </p:nvSpPr>
        <p:spPr>
          <a:xfrm>
            <a:off x="9555480" y="4983480"/>
            <a:ext cx="594360" cy="59436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839" b="1" i="0">
                <a:solidFill>
                  <a:srgbClr val="FFFFFF"/>
                </a:solidFill>
                <a:latin typeface="Calibri (MS) Bold"/>
              </a:rPr>
              <a:t>4</a:t>
            </a:r>
          </a:p>
        </p:txBody>
      </p:sp>
      <p:sp>
        <p:nvSpPr>
          <p:cNvPr id="156" name="TextBox 155"/>
          <p:cNvSpPr txBox="1"/>
          <p:nvPr/>
        </p:nvSpPr>
        <p:spPr>
          <a:xfrm>
            <a:off x="10332720" y="5010912"/>
            <a:ext cx="6903719" cy="548640"/>
          </a:xfrm>
          <a:prstGeom prst="rect">
            <a:avLst/>
          </a:prstGeom>
          <a:noFill/>
        </p:spPr>
        <p:txBody>
          <a:bodyPr wrap="square" anchor="t" lIns="0" rIns="0" tIns="0" bIns="0">
            <a:spAutoFit/>
          </a:bodyPr>
          <a:lstStyle/>
          <a:p>
            <a:pPr algn="l">
              <a:spcAft>
                <a:spcPts val="400"/>
              </a:spcAft>
            </a:pPr>
            <a:r>
              <a:rPr sz="1720" b="1" i="0">
                <a:solidFill>
                  <a:srgbClr val="0B5E6E"/>
                </a:solidFill>
                <a:latin typeface="Calibri (MS) Bold"/>
              </a:rPr>
              <a:t>Dua Perda DIY perlu diselaraskan</a:t>
            </a:r>
          </a:p>
        </p:txBody>
      </p:sp>
      <p:sp>
        <p:nvSpPr>
          <p:cNvPr id="157" name="TextBox 156"/>
          <p:cNvSpPr txBox="1"/>
          <p:nvPr/>
        </p:nvSpPr>
        <p:spPr>
          <a:xfrm>
            <a:off x="10332720" y="5577840"/>
            <a:ext cx="6903719" cy="1783080"/>
          </a:xfrm>
          <a:prstGeom prst="rect">
            <a:avLst/>
          </a:prstGeom>
          <a:noFill/>
        </p:spPr>
        <p:txBody>
          <a:bodyPr wrap="square" anchor="t" lIns="0" rIns="0" tIns="0" bIns="0">
            <a:spAutoFit/>
          </a:bodyPr>
          <a:lstStyle/>
          <a:p>
            <a:pPr algn="l">
              <a:spcAft>
                <a:spcPts val="400"/>
              </a:spcAft>
            </a:pPr>
            <a:r>
              <a:rPr sz="1610" b="0" i="0">
                <a:solidFill>
                  <a:srgbClr val="14313B"/>
                </a:solidFill>
                <a:latin typeface="Calibri (MS)"/>
              </a:rPr>
              <a:t>Perda 1/2012 membuka lahan baru bagi investor, sementara Perda 6/2021 melarang alih fungsi lahan pangan. Perbedaan Development Priority dan Sustainable menunjukkan tarik-menarik ini dalam angka.</a:t>
            </a:r>
          </a:p>
        </p:txBody>
      </p:sp>
      <p:sp>
        <p:nvSpPr>
          <p:cNvPr id="158" name="Rounded Rectangle 157"/>
          <p:cNvSpPr/>
          <p:nvPr/>
        </p:nvSpPr>
        <p:spPr>
          <a:xfrm>
            <a:off x="822960" y="7863840"/>
            <a:ext cx="16642080" cy="105156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320040" tIns="109728" bIns="109728"/>
          <a:lstStyle/>
          <a:p>
            <a:pPr algn="l">
              <a:spcAft>
                <a:spcPts val="300"/>
              </a:spcAft>
            </a:pPr>
            <a:r>
              <a:rPr sz="1550" b="1" i="0">
                <a:solidFill>
                  <a:srgbClr val="FFFFFF"/>
                </a:solidFill>
                <a:latin typeface="Calibri (MS) Bold"/>
              </a:rPr>
              <a:t>Hasil simulasi ini bisa menjadi bahan diskusi bagi Pemda DIY dan Dinas Pariwisata, dengan angka yang dibaca sebagai perbandingan, bukan ramalan.</a:t>
            </a:r>
          </a:p>
        </p:txBody>
      </p:sp>
      <p:sp>
        <p:nvSpPr>
          <p:cNvPr id="159" name="TextBox 158"/>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4.8 (Implikasi Kebijakan).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DAHXA7-drhs</dc:identifier>
  <dcterms:modified xsi:type="dcterms:W3CDTF">2011-08-01T06:04:30Z</dcterms:modified>
  <cp:revision>1</cp:revision>
  <dc:title>[Lengkap] PPT SIDANG FINAL</dc:title>
</cp:coreProperties>
</file>