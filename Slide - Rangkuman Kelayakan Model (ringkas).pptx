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5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306" r:id="rId56"/>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56" Type="http://schemas.openxmlformats.org/officeDocument/2006/relationships/slide" Target="slides/slide1.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Jadi, apakah model ini layak dipakai? Ada tiga hal yang saya periksa. Dari uji struktur, persamaan dan satuannya konsisten, dan model tetap masuk akal walaupun diberi nilai ekstrem. Dari uji perilaku, hasil simulasi cukup dekat dengan data. Selisih terbesar ada pada jumlah wisatawan. Dari kalibrasi, tidak ada nilai parameter yang perlu diganti; selisih wisatawan itu muncul karena lonjakan wisatawan setelah pandemi, yang memang tidak dimodelkan. Ada beberapa hal yang perlu diingat: hasilnya dibaca sebagai arah dan perbandingan, bukan angka pasti; model belum diuji dengan data baru; pandemi dan bencana tidak dimodelkan; dan laju pertumbuhan serta penurunan wisatawan belum bisa dipisahkan oleh data. Dengan catatan itu, model dapat dipakai untuk membandingkan skenario kebijakan sampai 2050.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Rangkuman Kelayakan Model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Model sudah cukup layak untuk membandingkan skenario kebijakan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sp>
        <p:nvSpPr>
          <p:cNvPr id="70" name="Rounded Rectangle 69"/>
          <p:cNvSpPr/>
          <p:nvPr/>
        </p:nvSpPr>
        <p:spPr>
          <a:xfrm>
            <a:off x="822960" y="1920240"/>
            <a:ext cx="5394960" cy="2331720"/>
          </a:xfrm>
          <a:prstGeom prst="roundRect">
            <a:avLst>
              <a:gd name="adj" fmla="val 5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71" name="Rounded Rectangle 70"/>
          <p:cNvSpPr/>
          <p:nvPr/>
        </p:nvSpPr>
        <p:spPr>
          <a:xfrm>
            <a:off x="822960" y="1920240"/>
            <a:ext cx="5394960" cy="960120"/>
          </a:xfrm>
          <a:prstGeom prst="roundRect">
            <a:avLst>
              <a:gd name="adj" fmla="val 10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440" b="1" i="0">
                <a:solidFill>
                  <a:srgbClr val="D7EEF2"/>
                </a:solidFill>
                <a:latin typeface="Calibri (MS) Bold"/>
              </a:rPr>
              <a:t>Uji struktur</a:t>
            </a:r>
          </a:p>
          <a:p>
            <a:pPr algn="l">
              <a:spcAft>
                <a:spcPts val="300"/>
              </a:spcAft>
            </a:pPr>
            <a:r>
              <a:rPr sz="2300" b="1" i="0">
                <a:solidFill>
                  <a:srgbClr val="FFFFFF"/>
                </a:solidFill>
                <a:latin typeface="Calibri (MS) Bold"/>
              </a:rPr>
              <a:t>Lolos</a:t>
            </a:r>
          </a:p>
        </p:txBody>
      </p:sp>
      <p:sp>
        <p:nvSpPr>
          <p:cNvPr id="72" name="TextBox 71"/>
          <p:cNvSpPr txBox="1"/>
          <p:nvPr/>
        </p:nvSpPr>
        <p:spPr>
          <a:xfrm>
            <a:off x="1097280" y="3108960"/>
            <a:ext cx="4937760" cy="1371600"/>
          </a:xfrm>
          <a:prstGeom prst="rect">
            <a:avLst/>
          </a:prstGeom>
          <a:noFill/>
        </p:spPr>
        <p:txBody>
          <a:bodyPr wrap="square" anchor="t" lIns="0" rIns="0" tIns="0" bIns="0">
            <a:spAutoFit/>
          </a:bodyPr>
          <a:lstStyle/>
          <a:p>
            <a:pPr algn="l">
              <a:spcAft>
                <a:spcPts val="400"/>
              </a:spcAft>
            </a:pPr>
            <a:r>
              <a:rPr sz="1610" b="1" i="0">
                <a:solidFill>
                  <a:srgbClr val="1E7A43"/>
                </a:solidFill>
                <a:latin typeface="Calibri (MS) Bold"/>
              </a:rPr>
              <a:t>✓  </a:t>
            </a:r>
            <a:r>
              <a:rPr sz="1610" b="0" i="0">
                <a:solidFill>
                  <a:srgbClr val="14313B"/>
                </a:solidFill>
                <a:latin typeface="Calibri (MS)"/>
              </a:rPr>
              <a:t>Persamaan dan satuannya konsisten</a:t>
            </a:r>
          </a:p>
          <a:p>
            <a:pPr algn="l">
              <a:spcAft>
                <a:spcPts val="400"/>
              </a:spcAft>
            </a:pPr>
            <a:r>
              <a:rPr sz="1610" b="1" i="0">
                <a:solidFill>
                  <a:srgbClr val="1E7A43"/>
                </a:solidFill>
                <a:latin typeface="Calibri (MS) Bold"/>
              </a:rPr>
              <a:t>✓  </a:t>
            </a:r>
            <a:r>
              <a:rPr sz="1610" b="0" i="0">
                <a:solidFill>
                  <a:srgbClr val="14313B"/>
                </a:solidFill>
                <a:latin typeface="Calibri (MS)"/>
              </a:rPr>
              <a:t>Tetap masuk akal saat diberi nilai ekstrem</a:t>
            </a:r>
          </a:p>
        </p:txBody>
      </p:sp>
      <p:sp>
        <p:nvSpPr>
          <p:cNvPr id="73" name="Right Arrow 72"/>
          <p:cNvSpPr/>
          <p:nvPr/>
        </p:nvSpPr>
        <p:spPr>
          <a:xfrm>
            <a:off x="6236208" y="3108960"/>
            <a:ext cx="192024" cy="27432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6446520" y="1920240"/>
            <a:ext cx="5394960" cy="2331720"/>
          </a:xfrm>
          <a:prstGeom prst="roundRect">
            <a:avLst>
              <a:gd name="adj" fmla="val 5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75" name="Rounded Rectangle 74"/>
          <p:cNvSpPr/>
          <p:nvPr/>
        </p:nvSpPr>
        <p:spPr>
          <a:xfrm>
            <a:off x="6446520" y="1920240"/>
            <a:ext cx="5394960" cy="960120"/>
          </a:xfrm>
          <a:prstGeom prst="roundRect">
            <a:avLst>
              <a:gd name="adj" fmla="val 10000"/>
            </a:avLst>
          </a:prstGeom>
          <a:solidFill>
            <a:srgbClr val="2A9D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440" b="1" i="0">
                <a:solidFill>
                  <a:srgbClr val="D7EEF2"/>
                </a:solidFill>
                <a:latin typeface="Calibri (MS) Bold"/>
              </a:rPr>
              <a:t>Uji perilaku</a:t>
            </a:r>
          </a:p>
          <a:p>
            <a:pPr algn="l">
              <a:spcAft>
                <a:spcPts val="300"/>
              </a:spcAft>
            </a:pPr>
            <a:r>
              <a:rPr sz="2300" b="1" i="0">
                <a:solidFill>
                  <a:srgbClr val="FFFFFF"/>
                </a:solidFill>
                <a:latin typeface="Calibri (MS) Bold"/>
              </a:rPr>
              <a:t>Cukup baik</a:t>
            </a:r>
          </a:p>
        </p:txBody>
      </p:sp>
      <p:sp>
        <p:nvSpPr>
          <p:cNvPr id="76" name="TextBox 75"/>
          <p:cNvSpPr txBox="1"/>
          <p:nvPr/>
        </p:nvSpPr>
        <p:spPr>
          <a:xfrm>
            <a:off x="6720840" y="3108960"/>
            <a:ext cx="4937760" cy="1371600"/>
          </a:xfrm>
          <a:prstGeom prst="rect">
            <a:avLst/>
          </a:prstGeom>
          <a:noFill/>
        </p:spPr>
        <p:txBody>
          <a:bodyPr wrap="square" anchor="t" lIns="0" rIns="0" tIns="0" bIns="0">
            <a:spAutoFit/>
          </a:bodyPr>
          <a:lstStyle/>
          <a:p>
            <a:pPr algn="l">
              <a:spcAft>
                <a:spcPts val="400"/>
              </a:spcAft>
            </a:pPr>
            <a:r>
              <a:rPr sz="1610" b="1" i="0">
                <a:solidFill>
                  <a:srgbClr val="1E7A43"/>
                </a:solidFill>
                <a:latin typeface="Calibri (MS) Bold"/>
              </a:rPr>
              <a:t>✓  </a:t>
            </a:r>
            <a:r>
              <a:rPr sz="1610" b="0" i="0">
                <a:solidFill>
                  <a:srgbClr val="14313B"/>
                </a:solidFill>
                <a:latin typeface="Calibri (MS)"/>
              </a:rPr>
              <a:t>Simulasi cukup dekat dengan data</a:t>
            </a:r>
          </a:p>
          <a:p>
            <a:pPr algn="l">
              <a:spcAft>
                <a:spcPts val="400"/>
              </a:spcAft>
            </a:pPr>
            <a:r>
              <a:rPr sz="1610" b="1" i="0">
                <a:solidFill>
                  <a:srgbClr val="1E7A43"/>
                </a:solidFill>
                <a:latin typeface="Calibri (MS) Bold"/>
              </a:rPr>
              <a:t>✓  </a:t>
            </a:r>
            <a:r>
              <a:rPr sz="1610" b="0" i="0">
                <a:solidFill>
                  <a:srgbClr val="14313B"/>
                </a:solidFill>
                <a:latin typeface="Calibri (MS)"/>
              </a:rPr>
              <a:t>Selisih terbesar ada pada jumlah wisatawan</a:t>
            </a:r>
          </a:p>
        </p:txBody>
      </p:sp>
      <p:sp>
        <p:nvSpPr>
          <p:cNvPr id="77" name="Right Arrow 76"/>
          <p:cNvSpPr/>
          <p:nvPr/>
        </p:nvSpPr>
        <p:spPr>
          <a:xfrm>
            <a:off x="11859768" y="3108960"/>
            <a:ext cx="192024" cy="27432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12070080" y="1920240"/>
            <a:ext cx="5394960" cy="2331720"/>
          </a:xfrm>
          <a:prstGeom prst="roundRect">
            <a:avLst>
              <a:gd name="adj" fmla="val 5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79" name="Rounded Rectangle 78"/>
          <p:cNvSpPr/>
          <p:nvPr/>
        </p:nvSpPr>
        <p:spPr>
          <a:xfrm>
            <a:off x="12070080" y="1920240"/>
            <a:ext cx="5394960" cy="960120"/>
          </a:xfrm>
          <a:prstGeom prst="roundRect">
            <a:avLst>
              <a:gd name="adj" fmla="val 10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440" b="1" i="0">
                <a:solidFill>
                  <a:srgbClr val="D7EEF2"/>
                </a:solidFill>
                <a:latin typeface="Calibri (MS) Bold"/>
              </a:rPr>
              <a:t>Kalibrasi</a:t>
            </a:r>
          </a:p>
          <a:p>
            <a:pPr algn="l">
              <a:spcAft>
                <a:spcPts val="300"/>
              </a:spcAft>
            </a:pPr>
            <a:r>
              <a:rPr sz="2300" b="1" i="0">
                <a:solidFill>
                  <a:srgbClr val="FFFFFF"/>
                </a:solidFill>
                <a:latin typeface="Calibri (MS) Bold"/>
              </a:rPr>
              <a:t>Nilai tetap</a:t>
            </a:r>
          </a:p>
        </p:txBody>
      </p:sp>
      <p:sp>
        <p:nvSpPr>
          <p:cNvPr id="80" name="TextBox 79"/>
          <p:cNvSpPr txBox="1"/>
          <p:nvPr/>
        </p:nvSpPr>
        <p:spPr>
          <a:xfrm>
            <a:off x="12344400" y="3108960"/>
            <a:ext cx="4937760" cy="1371600"/>
          </a:xfrm>
          <a:prstGeom prst="rect">
            <a:avLst/>
          </a:prstGeom>
          <a:noFill/>
        </p:spPr>
        <p:txBody>
          <a:bodyPr wrap="square" anchor="t" lIns="0" rIns="0" tIns="0" bIns="0">
            <a:spAutoFit/>
          </a:bodyPr>
          <a:lstStyle/>
          <a:p>
            <a:pPr algn="l">
              <a:spcAft>
                <a:spcPts val="400"/>
              </a:spcAft>
            </a:pPr>
            <a:r>
              <a:rPr sz="1610" b="1" i="0">
                <a:solidFill>
                  <a:srgbClr val="1E7A43"/>
                </a:solidFill>
                <a:latin typeface="Calibri (MS) Bold"/>
              </a:rPr>
              <a:t>✓  </a:t>
            </a:r>
            <a:r>
              <a:rPr sz="1610" b="0" i="0">
                <a:solidFill>
                  <a:srgbClr val="14313B"/>
                </a:solidFill>
                <a:latin typeface="Calibri (MS)"/>
              </a:rPr>
              <a:t>Tidak ada parameter yang perlu diganti</a:t>
            </a:r>
          </a:p>
          <a:p>
            <a:pPr algn="l">
              <a:spcAft>
                <a:spcPts val="400"/>
              </a:spcAft>
            </a:pPr>
            <a:r>
              <a:rPr sz="1610" b="1" i="0">
                <a:solidFill>
                  <a:srgbClr val="1E7A43"/>
                </a:solidFill>
                <a:latin typeface="Calibri (MS) Bold"/>
              </a:rPr>
              <a:t>✓  </a:t>
            </a:r>
            <a:r>
              <a:rPr sz="1610" b="0" i="0">
                <a:solidFill>
                  <a:srgbClr val="14313B"/>
                </a:solidFill>
                <a:latin typeface="Calibri (MS)"/>
              </a:rPr>
              <a:t>Selisih wisatawan karena lonjakan setelah pandemi</a:t>
            </a:r>
          </a:p>
        </p:txBody>
      </p:sp>
      <p:sp>
        <p:nvSpPr>
          <p:cNvPr id="81" name="TextBox 80"/>
          <p:cNvSpPr txBox="1"/>
          <p:nvPr/>
        </p:nvSpPr>
        <p:spPr>
          <a:xfrm>
            <a:off x="822960" y="4709160"/>
            <a:ext cx="16642080" cy="457200"/>
          </a:xfrm>
          <a:prstGeom prst="rect">
            <a:avLst/>
          </a:prstGeom>
          <a:noFill/>
        </p:spPr>
        <p:txBody>
          <a:bodyPr wrap="square" anchor="t" lIns="0" rIns="0" tIns="0" bIns="0">
            <a:spAutoFit/>
          </a:bodyPr>
          <a:lstStyle/>
          <a:p>
            <a:pPr algn="l">
              <a:spcAft>
                <a:spcPts val="400"/>
              </a:spcAft>
            </a:pPr>
            <a:r>
              <a:rPr sz="1610" b="1" i="0">
                <a:solidFill>
                  <a:srgbClr val="0B5E6E"/>
                </a:solidFill>
                <a:latin typeface="Calibri (MS) Bold"/>
              </a:rPr>
              <a:t>Yang perlu diingat saat membaca hasil</a:t>
            </a:r>
          </a:p>
        </p:txBody>
      </p:sp>
      <p:sp>
        <p:nvSpPr>
          <p:cNvPr id="82" name="Rounded Rectangle 81"/>
          <p:cNvSpPr/>
          <p:nvPr/>
        </p:nvSpPr>
        <p:spPr>
          <a:xfrm>
            <a:off x="822960" y="5257800"/>
            <a:ext cx="8229600" cy="658368"/>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490" b="1" i="0">
                <a:solidFill>
                  <a:srgbClr val="9B2C1F"/>
                </a:solidFill>
                <a:latin typeface="Calibri (MS) Bold"/>
              </a:rPr>
              <a:t>!  </a:t>
            </a:r>
            <a:r>
              <a:rPr sz="1490" b="0" i="0">
                <a:solidFill>
                  <a:srgbClr val="14313B"/>
                </a:solidFill>
                <a:latin typeface="Calibri (MS)"/>
              </a:rPr>
              <a:t>Dibaca sebagai arah dan perbandingan, bukan angka pasti</a:t>
            </a:r>
          </a:p>
        </p:txBody>
      </p:sp>
      <p:sp>
        <p:nvSpPr>
          <p:cNvPr id="83" name="Rounded Rectangle 82"/>
          <p:cNvSpPr/>
          <p:nvPr/>
        </p:nvSpPr>
        <p:spPr>
          <a:xfrm>
            <a:off x="9235440" y="5257800"/>
            <a:ext cx="8229600" cy="658368"/>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490" b="1" i="0">
                <a:solidFill>
                  <a:srgbClr val="9B2C1F"/>
                </a:solidFill>
                <a:latin typeface="Calibri (MS) Bold"/>
              </a:rPr>
              <a:t>!  </a:t>
            </a:r>
            <a:r>
              <a:rPr sz="1490" b="0" i="0">
                <a:solidFill>
                  <a:srgbClr val="14313B"/>
                </a:solidFill>
                <a:latin typeface="Calibri (MS)"/>
              </a:rPr>
              <a:t>Belum diuji dengan data baru</a:t>
            </a:r>
          </a:p>
        </p:txBody>
      </p:sp>
      <p:sp>
        <p:nvSpPr>
          <p:cNvPr id="84" name="Rounded Rectangle 83"/>
          <p:cNvSpPr/>
          <p:nvPr/>
        </p:nvSpPr>
        <p:spPr>
          <a:xfrm>
            <a:off x="822960" y="6126480"/>
            <a:ext cx="8229600" cy="658368"/>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490" b="1" i="0">
                <a:solidFill>
                  <a:srgbClr val="9B2C1F"/>
                </a:solidFill>
                <a:latin typeface="Calibri (MS) Bold"/>
              </a:rPr>
              <a:t>!  </a:t>
            </a:r>
            <a:r>
              <a:rPr sz="1490" b="0" i="0">
                <a:solidFill>
                  <a:srgbClr val="14313B"/>
                </a:solidFill>
                <a:latin typeface="Calibri (MS)"/>
              </a:rPr>
              <a:t>Tidak memuat pandemi atau bencana</a:t>
            </a:r>
          </a:p>
        </p:txBody>
      </p:sp>
      <p:sp>
        <p:nvSpPr>
          <p:cNvPr id="85" name="Rounded Rectangle 84"/>
          <p:cNvSpPr/>
          <p:nvPr/>
        </p:nvSpPr>
        <p:spPr>
          <a:xfrm>
            <a:off x="9235440" y="6126480"/>
            <a:ext cx="8229600" cy="658368"/>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490" b="1" i="0">
                <a:solidFill>
                  <a:srgbClr val="9B2C1F"/>
                </a:solidFill>
                <a:latin typeface="Calibri (MS) Bold"/>
              </a:rPr>
              <a:t>!  </a:t>
            </a:r>
            <a:r>
              <a:rPr sz="1490" b="0" i="0">
                <a:solidFill>
                  <a:srgbClr val="14313B"/>
                </a:solidFill>
                <a:latin typeface="Calibri (MS)"/>
              </a:rPr>
              <a:t>Laju pertumbuhan dan penurunan wisatawan belum bisa dipisahkan</a:t>
            </a:r>
          </a:p>
        </p:txBody>
      </p:sp>
      <p:sp>
        <p:nvSpPr>
          <p:cNvPr id="86" name="Rounded Rectangle 85"/>
          <p:cNvSpPr/>
          <p:nvPr/>
        </p:nvSpPr>
        <p:spPr>
          <a:xfrm>
            <a:off x="822960" y="7269480"/>
            <a:ext cx="16642080" cy="128016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109728" bIns="109728"/>
          <a:lstStyle/>
          <a:p>
            <a:pPr algn="l">
              <a:spcAft>
                <a:spcPts val="300"/>
              </a:spcAft>
            </a:pPr>
            <a:r>
              <a:rPr sz="1440" b="1" i="0">
                <a:solidFill>
                  <a:srgbClr val="FFD23B"/>
                </a:solidFill>
                <a:latin typeface="Calibri (MS) Bold"/>
              </a:rPr>
              <a:t>Kesimpulan</a:t>
            </a:r>
          </a:p>
          <a:p>
            <a:pPr algn="l">
              <a:spcAft>
                <a:spcPts val="300"/>
              </a:spcAft>
            </a:pPr>
            <a:r>
              <a:rPr sz="1670" b="1" i="0">
                <a:solidFill>
                  <a:srgbClr val="FFFFFF"/>
                </a:solidFill>
                <a:latin typeface="Calibri (MS) Bold"/>
              </a:rPr>
              <a:t>Model dapat dipakai untuk membandingkan skenario kebijakan 2025–2050: mana yang arahnya lebih baik, dan seberapa besar bedanya.</a:t>
            </a:r>
          </a:p>
        </p:txBody>
      </p:sp>
      <p:sp>
        <p:nvSpPr>
          <p:cNvPr id="87" name="TextBox 86"/>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4.4–4.6.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