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06" r:id="rId56"/>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56" Type="http://schemas.openxmlformats.org/officeDocument/2006/relationships/slide" Target="slides/slide1.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5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Sebagai rangkuman, ada tiga bukti kelayakan model. Pertama, uji struktur lolos seluruhnya: satuan konsisten, stok cocok, enam loop bekerja, dan 17 uji ekstrem tidak ada yang gagal. Kedua, uji perilaku cukup baik: saat diuji terpisah semua MAPE di bawah 20 persen, saat dijalankan bersama tidak ada MAPE buruk, dan selisihnya berasal dari satu sumber, yaitu pertumbuhan wisatawan. Ketiga, kalibrasi tidak mengganti satu pun nilai parameter. Ada empat batas pemakaian: model bukan alat ramal angka pasti, belum diuji dengan data baru, tidak memuat kejadian mendadak, dan laju pertumbuhan serta penurunan wisatawan tidak bisa dipisahkan oleh data. Jadi model layak dipakai untuk membandingkan arah dan besar perbedaan antarskenario kebijakan 2025 sampai 2050.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Rangkuman Kelayakan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layak dipakai untuk simulasi skenario, dengan batas pemakaian yang jelas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sp>
        <p:nvSpPr>
          <p:cNvPr id="70" name="Rounded Rectangle 69"/>
          <p:cNvSpPr/>
          <p:nvPr/>
        </p:nvSpPr>
        <p:spPr>
          <a:xfrm>
            <a:off x="822960" y="1783080"/>
            <a:ext cx="5394960" cy="2971800"/>
          </a:xfrm>
          <a:prstGeom prst="roundRect">
            <a:avLst>
              <a:gd name="adj" fmla="val 5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71" name="Rounded Rectangle 70"/>
          <p:cNvSpPr/>
          <p:nvPr/>
        </p:nvSpPr>
        <p:spPr>
          <a:xfrm>
            <a:off x="822960" y="1783080"/>
            <a:ext cx="5394960" cy="914400"/>
          </a:xfrm>
          <a:prstGeom prst="roundRect">
            <a:avLst>
              <a:gd name="adj" fmla="val 10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380" b="1" i="0">
                <a:solidFill>
                  <a:srgbClr val="D7EEF2"/>
                </a:solidFill>
                <a:latin typeface="Calibri (MS) Bold"/>
              </a:rPr>
              <a:t>1  Uji struktur</a:t>
            </a:r>
          </a:p>
          <a:p>
            <a:pPr algn="l">
              <a:spcAft>
                <a:spcPts val="300"/>
              </a:spcAft>
            </a:pPr>
            <a:r>
              <a:rPr sz="1950" b="1" i="0">
                <a:solidFill>
                  <a:srgbClr val="FFFFFF"/>
                </a:solidFill>
                <a:latin typeface="Calibri (MS) Bold"/>
              </a:rPr>
              <a:t>LOLOS</a:t>
            </a:r>
          </a:p>
        </p:txBody>
      </p:sp>
      <p:sp>
        <p:nvSpPr>
          <p:cNvPr id="72" name="TextBox 71"/>
          <p:cNvSpPr txBox="1"/>
          <p:nvPr/>
        </p:nvSpPr>
        <p:spPr>
          <a:xfrm>
            <a:off x="1051560" y="2852928"/>
            <a:ext cx="4983480" cy="1828800"/>
          </a:xfrm>
          <a:prstGeom prst="rect">
            <a:avLst/>
          </a:prstGeom>
          <a:noFill/>
        </p:spPr>
        <p:txBody>
          <a:bodyPr wrap="square" anchor="t" lIns="0" rIns="0" tIns="0" bIns="0">
            <a:spAutoFit/>
          </a:bodyPr>
          <a:lstStyle/>
          <a:p>
            <a:pPr algn="l">
              <a:spcAft>
                <a:spcPts val="400"/>
              </a:spcAft>
            </a:pPr>
            <a:r>
              <a:rPr sz="1550" b="1" i="0">
                <a:solidFill>
                  <a:srgbClr val="1E7A43"/>
                </a:solidFill>
                <a:latin typeface="Calibri (MS) Bold"/>
              </a:rPr>
              <a:t>✓  </a:t>
            </a:r>
            <a:r>
              <a:rPr sz="1550" b="0" i="0">
                <a:solidFill>
                  <a:srgbClr val="14313B"/>
                </a:solidFill>
                <a:latin typeface="Calibri (MS)"/>
              </a:rPr>
              <a:t>Satuan seluruh persamaan konsisten</a:t>
            </a:r>
          </a:p>
          <a:p>
            <a:pPr algn="l">
              <a:spcAft>
                <a:spcPts val="400"/>
              </a:spcAft>
            </a:pPr>
            <a:r>
              <a:rPr sz="1550" b="1" i="0">
                <a:solidFill>
                  <a:srgbClr val="1E7A43"/>
                </a:solidFill>
                <a:latin typeface="Calibri (MS) Bold"/>
              </a:rPr>
              <a:t>✓  </a:t>
            </a:r>
            <a:r>
              <a:rPr sz="1550" b="0" i="0">
                <a:solidFill>
                  <a:srgbClr val="14313B"/>
                </a:solidFill>
                <a:latin typeface="Calibri (MS)"/>
              </a:rPr>
              <a:t>Jumlah tiap stok cocok, tidak ada selisih</a:t>
            </a:r>
          </a:p>
          <a:p>
            <a:pPr algn="l">
              <a:spcAft>
                <a:spcPts val="400"/>
              </a:spcAft>
            </a:pPr>
            <a:r>
              <a:rPr sz="1550" b="1" i="0">
                <a:solidFill>
                  <a:srgbClr val="1E7A43"/>
                </a:solidFill>
                <a:latin typeface="Calibri (MS) Bold"/>
              </a:rPr>
              <a:t>✓  </a:t>
            </a:r>
            <a:r>
              <a:rPr sz="1550" b="0" i="0">
                <a:solidFill>
                  <a:srgbClr val="14313B"/>
                </a:solidFill>
                <a:latin typeface="Calibri (MS)"/>
              </a:rPr>
              <a:t>6 loop bekerja sesuai rancangan</a:t>
            </a:r>
          </a:p>
          <a:p>
            <a:pPr algn="l">
              <a:spcAft>
                <a:spcPts val="400"/>
              </a:spcAft>
            </a:pPr>
            <a:r>
              <a:rPr sz="1550" b="1" i="0">
                <a:solidFill>
                  <a:srgbClr val="1E7A43"/>
                </a:solidFill>
                <a:latin typeface="Calibri (MS) Bold"/>
              </a:rPr>
              <a:t>✓  </a:t>
            </a:r>
            <a:r>
              <a:rPr sz="1550" b="0" i="0">
                <a:solidFill>
                  <a:srgbClr val="14313B"/>
                </a:solidFill>
                <a:latin typeface="Calibri (MS)"/>
              </a:rPr>
              <a:t>17 uji kondisi ekstrem: 0 gagal</a:t>
            </a:r>
          </a:p>
        </p:txBody>
      </p:sp>
      <p:sp>
        <p:nvSpPr>
          <p:cNvPr id="73" name="Right Arrow 72"/>
          <p:cNvSpPr/>
          <p:nvPr/>
        </p:nvSpPr>
        <p:spPr>
          <a:xfrm>
            <a:off x="6236208" y="3246120"/>
            <a:ext cx="192024"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6446520" y="1783080"/>
            <a:ext cx="5394960" cy="2971800"/>
          </a:xfrm>
          <a:prstGeom prst="roundRect">
            <a:avLst>
              <a:gd name="adj" fmla="val 5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75" name="Rounded Rectangle 74"/>
          <p:cNvSpPr/>
          <p:nvPr/>
        </p:nvSpPr>
        <p:spPr>
          <a:xfrm>
            <a:off x="6446520" y="1783080"/>
            <a:ext cx="5394960" cy="914400"/>
          </a:xfrm>
          <a:prstGeom prst="roundRect">
            <a:avLst>
              <a:gd name="adj" fmla="val 10000"/>
            </a:avLst>
          </a:prstGeom>
          <a:solidFill>
            <a:srgbClr val="2A9D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380" b="1" i="0">
                <a:solidFill>
                  <a:srgbClr val="D7EEF2"/>
                </a:solidFill>
                <a:latin typeface="Calibri (MS) Bold"/>
              </a:rPr>
              <a:t>2  Uji perilaku</a:t>
            </a:r>
          </a:p>
          <a:p>
            <a:pPr algn="l">
              <a:spcAft>
                <a:spcPts val="300"/>
              </a:spcAft>
            </a:pPr>
            <a:r>
              <a:rPr sz="1950" b="1" i="0">
                <a:solidFill>
                  <a:srgbClr val="FFFFFF"/>
                </a:solidFill>
                <a:latin typeface="Calibri (MS) Bold"/>
              </a:rPr>
              <a:t>CUKUP BAIK</a:t>
            </a:r>
          </a:p>
        </p:txBody>
      </p:sp>
      <p:sp>
        <p:nvSpPr>
          <p:cNvPr id="76" name="TextBox 75"/>
          <p:cNvSpPr txBox="1"/>
          <p:nvPr/>
        </p:nvSpPr>
        <p:spPr>
          <a:xfrm>
            <a:off x="6675120" y="2852928"/>
            <a:ext cx="4983480" cy="1828800"/>
          </a:xfrm>
          <a:prstGeom prst="rect">
            <a:avLst/>
          </a:prstGeom>
          <a:noFill/>
        </p:spPr>
        <p:txBody>
          <a:bodyPr wrap="square" anchor="t" lIns="0" rIns="0" tIns="0" bIns="0">
            <a:spAutoFit/>
          </a:bodyPr>
          <a:lstStyle/>
          <a:p>
            <a:pPr algn="l">
              <a:spcAft>
                <a:spcPts val="400"/>
              </a:spcAft>
            </a:pPr>
            <a:r>
              <a:rPr sz="1550" b="1" i="0">
                <a:solidFill>
                  <a:srgbClr val="1E7A43"/>
                </a:solidFill>
                <a:latin typeface="Calibri (MS) Bold"/>
              </a:rPr>
              <a:t>✓  </a:t>
            </a:r>
            <a:r>
              <a:rPr sz="1550" b="0" i="0">
                <a:solidFill>
                  <a:srgbClr val="14313B"/>
                </a:solidFill>
                <a:latin typeface="Calibri (MS)"/>
              </a:rPr>
              <a:t>Diuji terpisah: semua MAPE &lt; 20%</a:t>
            </a:r>
          </a:p>
          <a:p>
            <a:pPr algn="l">
              <a:spcAft>
                <a:spcPts val="400"/>
              </a:spcAft>
            </a:pPr>
            <a:r>
              <a:rPr sz="1550" b="1" i="0">
                <a:solidFill>
                  <a:srgbClr val="1E7A43"/>
                </a:solidFill>
                <a:latin typeface="Calibri (MS) Bold"/>
              </a:rPr>
              <a:t>✓  </a:t>
            </a:r>
            <a:r>
              <a:rPr sz="1550" b="0" i="0">
                <a:solidFill>
                  <a:srgbClr val="14313B"/>
                </a:solidFill>
                <a:latin typeface="Calibri (MS)"/>
              </a:rPr>
              <a:t>Dijalankan bersama: tidak ada MAPE buruk</a:t>
            </a:r>
          </a:p>
          <a:p>
            <a:pPr algn="l">
              <a:spcAft>
                <a:spcPts val="400"/>
              </a:spcAft>
            </a:pPr>
            <a:r>
              <a:rPr sz="1550" b="1" i="0">
                <a:solidFill>
                  <a:srgbClr val="1E7A43"/>
                </a:solidFill>
                <a:latin typeface="Calibri (MS) Bold"/>
              </a:rPr>
              <a:t>✓  </a:t>
            </a:r>
            <a:r>
              <a:rPr sz="1550" b="0" i="0">
                <a:solidFill>
                  <a:srgbClr val="14313B"/>
                </a:solidFill>
                <a:latin typeface="Calibri (MS)"/>
              </a:rPr>
              <a:t>Selisih berasal dari satu sumber: pertumbuhan wisatawan</a:t>
            </a:r>
          </a:p>
        </p:txBody>
      </p:sp>
      <p:sp>
        <p:nvSpPr>
          <p:cNvPr id="77" name="Right Arrow 76"/>
          <p:cNvSpPr/>
          <p:nvPr/>
        </p:nvSpPr>
        <p:spPr>
          <a:xfrm>
            <a:off x="11859768" y="3246120"/>
            <a:ext cx="192024"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2070080" y="1783080"/>
            <a:ext cx="5394960" cy="2971800"/>
          </a:xfrm>
          <a:prstGeom prst="roundRect">
            <a:avLst>
              <a:gd name="adj" fmla="val 5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ctr"/>
          </a:p>
        </p:txBody>
      </p:sp>
      <p:sp>
        <p:nvSpPr>
          <p:cNvPr id="79" name="Rounded Rectangle 78"/>
          <p:cNvSpPr/>
          <p:nvPr/>
        </p:nvSpPr>
        <p:spPr>
          <a:xfrm>
            <a:off x="12070080" y="1783080"/>
            <a:ext cx="5394960" cy="914400"/>
          </a:xfrm>
          <a:prstGeom prst="roundRect">
            <a:avLst>
              <a:gd name="adj" fmla="val 10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380" b="1" i="0">
                <a:solidFill>
                  <a:srgbClr val="D7EEF2"/>
                </a:solidFill>
                <a:latin typeface="Calibri (MS) Bold"/>
              </a:rPr>
              <a:t>3  Kalibrasi</a:t>
            </a:r>
          </a:p>
          <a:p>
            <a:pPr algn="l">
              <a:spcAft>
                <a:spcPts val="300"/>
              </a:spcAft>
            </a:pPr>
            <a:r>
              <a:rPr sz="1950" b="1" i="0">
                <a:solidFill>
                  <a:srgbClr val="FFFFFF"/>
                </a:solidFill>
                <a:latin typeface="Calibri (MS) Bold"/>
              </a:rPr>
              <a:t>NILAI DARI DATA DIPAKAI</a:t>
            </a:r>
          </a:p>
        </p:txBody>
      </p:sp>
      <p:sp>
        <p:nvSpPr>
          <p:cNvPr id="80" name="TextBox 79"/>
          <p:cNvSpPr txBox="1"/>
          <p:nvPr/>
        </p:nvSpPr>
        <p:spPr>
          <a:xfrm>
            <a:off x="12298680" y="2852928"/>
            <a:ext cx="4983480" cy="1828800"/>
          </a:xfrm>
          <a:prstGeom prst="rect">
            <a:avLst/>
          </a:prstGeom>
          <a:noFill/>
        </p:spPr>
        <p:txBody>
          <a:bodyPr wrap="square" anchor="t" lIns="0" rIns="0" tIns="0" bIns="0">
            <a:spAutoFit/>
          </a:bodyPr>
          <a:lstStyle/>
          <a:p>
            <a:pPr algn="l">
              <a:spcAft>
                <a:spcPts val="400"/>
              </a:spcAft>
            </a:pPr>
            <a:r>
              <a:rPr sz="1550" b="1" i="0">
                <a:solidFill>
                  <a:srgbClr val="1E7A43"/>
                </a:solidFill>
                <a:latin typeface="Calibri (MS) Bold"/>
              </a:rPr>
              <a:t>✓  </a:t>
            </a:r>
            <a:r>
              <a:rPr sz="1550" b="0" i="0">
                <a:solidFill>
                  <a:srgbClr val="14313B"/>
                </a:solidFill>
                <a:latin typeface="Calibri (MS)"/>
              </a:rPr>
              <a:t>3 parameter dikalibrasi, 0 diganti</a:t>
            </a:r>
          </a:p>
          <a:p>
            <a:pPr algn="l">
              <a:spcAft>
                <a:spcPts val="400"/>
              </a:spcAft>
            </a:pPr>
            <a:r>
              <a:rPr sz="1550" b="1" i="0">
                <a:solidFill>
                  <a:srgbClr val="1E7A43"/>
                </a:solidFill>
                <a:latin typeface="Calibri (MS) Bold"/>
              </a:rPr>
              <a:t>✓  </a:t>
            </a:r>
            <a:r>
              <a:rPr sz="1550" b="0" i="0">
                <a:solidFill>
                  <a:srgbClr val="14313B"/>
                </a:solidFill>
                <a:latin typeface="Calibri (MS)"/>
              </a:rPr>
              <a:t>Selisih wisatawan karena lonjakan setelah pandemi, di luar cakupan model</a:t>
            </a:r>
          </a:p>
        </p:txBody>
      </p:sp>
      <p:sp>
        <p:nvSpPr>
          <p:cNvPr id="81" name="Rounded Rectangle 80"/>
          <p:cNvSpPr/>
          <p:nvPr/>
        </p:nvSpPr>
        <p:spPr>
          <a:xfrm>
            <a:off x="822960" y="4983480"/>
            <a:ext cx="166420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Batas pemakaian</a:t>
            </a:r>
            <a:r>
              <a:rPr sz="1260" b="0" i="0">
                <a:solidFill>
                  <a:srgbClr val="D7EEF2"/>
                </a:solidFill>
                <a:latin typeface="Calibri (MS)"/>
              </a:rPr>
              <a:t>   hal yang perlu diingat saat membaca hasil model</a:t>
            </a:r>
          </a:p>
        </p:txBody>
      </p:sp>
      <p:sp>
        <p:nvSpPr>
          <p:cNvPr id="82" name="Rounded Rectangle 81"/>
          <p:cNvSpPr/>
          <p:nvPr/>
        </p:nvSpPr>
        <p:spPr>
          <a:xfrm>
            <a:off x="822960" y="5532120"/>
            <a:ext cx="8229600" cy="932688"/>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40" b="1" i="0">
                <a:solidFill>
                  <a:srgbClr val="9B2C1F"/>
                </a:solidFill>
                <a:latin typeface="Calibri (MS) Bold"/>
              </a:rPr>
              <a:t>Bukan alat ramal angka pasti</a:t>
            </a:r>
          </a:p>
          <a:p>
            <a:pPr algn="l">
              <a:spcAft>
                <a:spcPts val="300"/>
              </a:spcAft>
            </a:pPr>
            <a:r>
              <a:rPr sz="1320" b="0" i="0">
                <a:solidFill>
                  <a:srgbClr val="14313B"/>
                </a:solidFill>
                <a:latin typeface="Calibri (MS)"/>
              </a:rPr>
              <a:t>Hasil dibaca sebagai arah dan perbandingan antarskenario, bukan angka tepat untuk tahun tertentu.</a:t>
            </a:r>
          </a:p>
        </p:txBody>
      </p:sp>
      <p:sp>
        <p:nvSpPr>
          <p:cNvPr id="83" name="Rounded Rectangle 82"/>
          <p:cNvSpPr/>
          <p:nvPr/>
        </p:nvSpPr>
        <p:spPr>
          <a:xfrm>
            <a:off x="9235440" y="5532120"/>
            <a:ext cx="8229600" cy="932688"/>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40" b="1" i="0">
                <a:solidFill>
                  <a:srgbClr val="9B2C1F"/>
                </a:solidFill>
                <a:latin typeface="Calibri (MS) Bold"/>
              </a:rPr>
              <a:t>Belum diuji dengan data baru</a:t>
            </a:r>
          </a:p>
          <a:p>
            <a:pPr algn="l">
              <a:spcAft>
                <a:spcPts val="300"/>
              </a:spcAft>
            </a:pPr>
            <a:r>
              <a:rPr sz="1320" b="0" i="0">
                <a:solidFill>
                  <a:srgbClr val="14313B"/>
                </a:solidFill>
                <a:latin typeface="Calibri (MS)"/>
              </a:rPr>
              <a:t>Kecocokan setelah kalibrasi dihitung dengan data yang sama, jadi bukan validasi dengan data terpisah.</a:t>
            </a:r>
          </a:p>
        </p:txBody>
      </p:sp>
      <p:sp>
        <p:nvSpPr>
          <p:cNvPr id="84" name="Rounded Rectangle 83"/>
          <p:cNvSpPr/>
          <p:nvPr/>
        </p:nvSpPr>
        <p:spPr>
          <a:xfrm>
            <a:off x="822960" y="6583679"/>
            <a:ext cx="8229600" cy="932688"/>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40" b="1" i="0">
                <a:solidFill>
                  <a:srgbClr val="9B2C1F"/>
                </a:solidFill>
                <a:latin typeface="Calibri (MS) Bold"/>
              </a:rPr>
              <a:t>Tanpa kejadian mendadak</a:t>
            </a:r>
          </a:p>
          <a:p>
            <a:pPr algn="l">
              <a:spcAft>
                <a:spcPts val="300"/>
              </a:spcAft>
            </a:pPr>
            <a:r>
              <a:rPr sz="1320" b="0" i="0">
                <a:solidFill>
                  <a:srgbClr val="14313B"/>
                </a:solidFill>
                <a:latin typeface="Calibri (MS)"/>
              </a:rPr>
              <a:t>Pandemi, bencana, dan guncangan sejenis tidak dimodelkan.</a:t>
            </a:r>
          </a:p>
        </p:txBody>
      </p:sp>
      <p:sp>
        <p:nvSpPr>
          <p:cNvPr id="85" name="Rounded Rectangle 84"/>
          <p:cNvSpPr/>
          <p:nvPr/>
        </p:nvSpPr>
        <p:spPr>
          <a:xfrm>
            <a:off x="9235440" y="6583679"/>
            <a:ext cx="8229600" cy="932688"/>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40" b="1" i="0">
                <a:solidFill>
                  <a:srgbClr val="9B2C1F"/>
                </a:solidFill>
                <a:latin typeface="Calibri (MS) Bold"/>
              </a:rPr>
              <a:t>LPE dan LPD tidak bisa dipisahkan</a:t>
            </a:r>
          </a:p>
          <a:p>
            <a:pPr algn="l">
              <a:spcAft>
                <a:spcPts val="300"/>
              </a:spcAft>
            </a:pPr>
            <a:r>
              <a:rPr sz="1320" b="0" i="0">
                <a:solidFill>
                  <a:srgbClr val="14313B"/>
                </a:solidFill>
                <a:latin typeface="Calibri (MS)"/>
              </a:rPr>
              <a:t>Data hanya bisa menentukan selisih laju pertumbuhan dan penurunan wisatawan.</a:t>
            </a:r>
          </a:p>
        </p:txBody>
      </p:sp>
      <p:sp>
        <p:nvSpPr>
          <p:cNvPr id="86" name="Rounded Rectangle 85"/>
          <p:cNvSpPr/>
          <p:nvPr/>
        </p:nvSpPr>
        <p:spPr>
          <a:xfrm>
            <a:off x="822960" y="7818120"/>
            <a:ext cx="16642080" cy="11430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728" bIns="109728"/>
          <a:lstStyle/>
          <a:p>
            <a:pPr algn="l">
              <a:spcAft>
                <a:spcPts val="300"/>
              </a:spcAft>
            </a:pPr>
            <a:r>
              <a:rPr sz="1610" b="1" i="0">
                <a:solidFill>
                  <a:srgbClr val="FFD23B"/>
                </a:solidFill>
                <a:latin typeface="Calibri (MS) Bold"/>
              </a:rPr>
              <a:t>Keputusan  </a:t>
            </a:r>
            <a:r>
              <a:rPr sz="1610" b="1" i="0">
                <a:solidFill>
                  <a:srgbClr val="FFFFFF"/>
                </a:solidFill>
                <a:latin typeface="Calibri (MS) Bold"/>
              </a:rPr>
              <a:t>Model layak dipakai untuk membandingkan arah dan besar perbedaan antarskenario kebijakan 2025–2050.</a:t>
            </a:r>
          </a:p>
        </p:txBody>
      </p:sp>
      <p:sp>
        <p:nvSpPr>
          <p:cNvPr id="87" name="TextBox 86"/>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