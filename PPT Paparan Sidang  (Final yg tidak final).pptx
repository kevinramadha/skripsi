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notesSlide+xml" PartName="/ppt/notesSlides/notesSlide62.xml"/>
  <Override ContentType="application/vnd.openxmlformats-officedocument.presentationml.notesSlide+xml" PartName="/ppt/notesSlides/notesSlide63.xml"/>
  <Override ContentType="application/vnd.openxmlformats-officedocument.presentationml.notesSlide+xml" PartName="/ppt/notesSlides/notesSlide64.xml"/>
  <Override ContentType="application/vnd.openxmlformats-officedocument.presentationml.notesSlide+xml" PartName="/ppt/notesSlides/notesSlide65.xml"/>
  <Override ContentType="application/vnd.openxmlformats-officedocument.presentationml.notesSlide+xml" PartName="/ppt/notesSlides/notesSlide66.xml"/>
  <Override ContentType="application/vnd.openxmlformats-officedocument.presentationml.notesSlide+xml" PartName="/ppt/notesSlides/notesSlide67.xml"/>
  <Override ContentType="application/vnd.openxmlformats-officedocument.presentationml.notesSlide+xml" PartName="/ppt/notesSlides/notesSlide6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x="18288000" cy="10287000"/>
  <p:notesSz cx="6858000" cy="9144000"/>
  <p:embeddedFontLst>
    <p:embeddedFont>
      <p:font typeface="Calibri (MS) Bold" charset="1" panose="020F0702030404030204"/>
      <p:regular r:id="rId77"/>
    </p:embeddedFont>
    <p:embeddedFont>
      <p:font typeface="Calibri (MS) Bold Italics" charset="1" panose="020F07020304040A0204"/>
      <p:regular r:id="rId78"/>
    </p:embeddedFont>
    <p:embeddedFont>
      <p:font typeface="Calibri (MS)" charset="1" panose="020F0502020204030204"/>
      <p:regular r:id="rId79"/>
    </p:embeddedFont>
    <p:embeddedFont>
      <p:font typeface="Calibri (MS) Italics" charset="1" panose="020F05020202040A0204"/>
      <p:regular r:id="rId86"/>
    </p:embeddedFont>
    <p:embeddedFont>
      <p:font typeface="Montserrat Bold" charset="1" panose="00000800000000000000"/>
      <p:regular r:id="rId89"/>
    </p:embeddedFont>
    <p:embeddedFont>
      <p:font typeface="Cambria Italics" charset="1" panose="020405030504060A02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19.xml" Type="http://schemas.openxmlformats.org/officeDocument/2006/relationships/notesSlide"/><Relationship Id="rId101" Target="notesSlides/notesSlide20.xml" Type="http://schemas.openxmlformats.org/officeDocument/2006/relationships/notesSlide"/><Relationship Id="rId102" Target="notesSlides/notesSlide21.xml" Type="http://schemas.openxmlformats.org/officeDocument/2006/relationships/notesSlide"/><Relationship Id="rId103" Target="notesSlides/notesSlide22.xml" Type="http://schemas.openxmlformats.org/officeDocument/2006/relationships/notesSlide"/><Relationship Id="rId104" Target="notesSlides/notesSlide23.xml" Type="http://schemas.openxmlformats.org/officeDocument/2006/relationships/notesSlide"/><Relationship Id="rId105" Target="notesSlides/notesSlide24.xml" Type="http://schemas.openxmlformats.org/officeDocument/2006/relationships/notesSlide"/><Relationship Id="rId106" Target="notesSlides/notesSlide25.xml" Type="http://schemas.openxmlformats.org/officeDocument/2006/relationships/notesSlide"/><Relationship Id="rId107" Target="notesSlides/notesSlide26.xml" Type="http://schemas.openxmlformats.org/officeDocument/2006/relationships/notesSlide"/><Relationship Id="rId108" Target="notesSlides/notesSlide27.xml" Type="http://schemas.openxmlformats.org/officeDocument/2006/relationships/notesSlide"/><Relationship Id="rId109" Target="notesSlides/notesSlide28.xml" Type="http://schemas.openxmlformats.org/officeDocument/2006/relationships/notesSlide"/><Relationship Id="rId11" Target="slides/slide6.xml" Type="http://schemas.openxmlformats.org/officeDocument/2006/relationships/slide"/><Relationship Id="rId110" Target="notesSlides/notesSlide29.xml" Type="http://schemas.openxmlformats.org/officeDocument/2006/relationships/notesSlide"/><Relationship Id="rId111" Target="notesSlides/notesSlide30.xml" Type="http://schemas.openxmlformats.org/officeDocument/2006/relationships/notesSlide"/><Relationship Id="rId112" Target="notesSlides/notesSlide31.xml" Type="http://schemas.openxmlformats.org/officeDocument/2006/relationships/notesSlide"/><Relationship Id="rId113" Target="notesSlides/notesSlide32.xml" Type="http://schemas.openxmlformats.org/officeDocument/2006/relationships/notesSlide"/><Relationship Id="rId114" Target="notesSlides/notesSlide33.xml" Type="http://schemas.openxmlformats.org/officeDocument/2006/relationships/notesSlide"/><Relationship Id="rId115" Target="notesSlides/notesSlide34.xml" Type="http://schemas.openxmlformats.org/officeDocument/2006/relationships/notesSlide"/><Relationship Id="rId116" Target="notesSlides/notesSlide35.xml" Type="http://schemas.openxmlformats.org/officeDocument/2006/relationships/notesSlide"/><Relationship Id="rId117" Target="notesSlides/notesSlide36.xml" Type="http://schemas.openxmlformats.org/officeDocument/2006/relationships/notesSlide"/><Relationship Id="rId118" Target="notesSlides/notesSlide37.xml" Type="http://schemas.openxmlformats.org/officeDocument/2006/relationships/notesSlide"/><Relationship Id="rId119" Target="notesSlides/notesSlide38.xml" Type="http://schemas.openxmlformats.org/officeDocument/2006/relationships/notesSlide"/><Relationship Id="rId12" Target="slides/slide7.xml" Type="http://schemas.openxmlformats.org/officeDocument/2006/relationships/slide"/><Relationship Id="rId120" Target="notesSlides/notesSlide39.xml" Type="http://schemas.openxmlformats.org/officeDocument/2006/relationships/notesSlide"/><Relationship Id="rId121" Target="notesSlides/notesSlide40.xml" Type="http://schemas.openxmlformats.org/officeDocument/2006/relationships/notesSlide"/><Relationship Id="rId122" Target="notesSlides/notesSlide41.xml" Type="http://schemas.openxmlformats.org/officeDocument/2006/relationships/notesSlide"/><Relationship Id="rId123" Target="notesSlides/notesSlide42.xml" Type="http://schemas.openxmlformats.org/officeDocument/2006/relationships/notesSlide"/><Relationship Id="rId124" Target="notesSlides/notesSlide43.xml" Type="http://schemas.openxmlformats.org/officeDocument/2006/relationships/notesSlide"/><Relationship Id="rId125" Target="notesSlides/notesSlide44.xml" Type="http://schemas.openxmlformats.org/officeDocument/2006/relationships/notesSlide"/><Relationship Id="rId126" Target="notesSlides/notesSlide45.xml" Type="http://schemas.openxmlformats.org/officeDocument/2006/relationships/notesSlide"/><Relationship Id="rId127" Target="notesSlides/notesSlide46.xml" Type="http://schemas.openxmlformats.org/officeDocument/2006/relationships/notesSlide"/><Relationship Id="rId128" Target="notesSlides/notesSlide47.xml" Type="http://schemas.openxmlformats.org/officeDocument/2006/relationships/notesSlide"/><Relationship Id="rId129" Target="notesSlides/notesSlide48.xml" Type="http://schemas.openxmlformats.org/officeDocument/2006/relationships/notesSlide"/><Relationship Id="rId13" Target="slides/slide8.xml" Type="http://schemas.openxmlformats.org/officeDocument/2006/relationships/slide"/><Relationship Id="rId130" Target="notesSlides/notesSlide49.xml" Type="http://schemas.openxmlformats.org/officeDocument/2006/relationships/notesSlide"/><Relationship Id="rId131" Target="notesSlides/notesSlide50.xml" Type="http://schemas.openxmlformats.org/officeDocument/2006/relationships/notesSlide"/><Relationship Id="rId132" Target="notesSlides/notesSlide51.xml" Type="http://schemas.openxmlformats.org/officeDocument/2006/relationships/notesSlide"/><Relationship Id="rId133" Target="notesSlides/notesSlide52.xml" Type="http://schemas.openxmlformats.org/officeDocument/2006/relationships/notesSlide"/><Relationship Id="rId134" Target="notesSlides/notesSlide53.xml" Type="http://schemas.openxmlformats.org/officeDocument/2006/relationships/notesSlide"/><Relationship Id="rId135" Target="notesSlides/notesSlide54.xml" Type="http://schemas.openxmlformats.org/officeDocument/2006/relationships/notesSlide"/><Relationship Id="rId136" Target="notesSlides/notesSlide55.xml" Type="http://schemas.openxmlformats.org/officeDocument/2006/relationships/notesSlide"/><Relationship Id="rId137" Target="notesSlides/notesSlide56.xml" Type="http://schemas.openxmlformats.org/officeDocument/2006/relationships/notesSlide"/><Relationship Id="rId138" Target="notesSlides/notesSlide57.xml" Type="http://schemas.openxmlformats.org/officeDocument/2006/relationships/notesSlide"/><Relationship Id="rId139" Target="notesSlides/notesSlide58.xml" Type="http://schemas.openxmlformats.org/officeDocument/2006/relationships/notesSlide"/><Relationship Id="rId14" Target="slides/slide9.xml" Type="http://schemas.openxmlformats.org/officeDocument/2006/relationships/slide"/><Relationship Id="rId140" Target="notesSlides/notesSlide59.xml" Type="http://schemas.openxmlformats.org/officeDocument/2006/relationships/notesSlide"/><Relationship Id="rId141" Target="notesSlides/notesSlide60.xml" Type="http://schemas.openxmlformats.org/officeDocument/2006/relationships/notesSlide"/><Relationship Id="rId142" Target="notesSlides/notesSlide61.xml" Type="http://schemas.openxmlformats.org/officeDocument/2006/relationships/notesSlide"/><Relationship Id="rId143" Target="notesSlides/notesSlide62.xml" Type="http://schemas.openxmlformats.org/officeDocument/2006/relationships/notesSlide"/><Relationship Id="rId144" Target="notesSlides/notesSlide63.xml" Type="http://schemas.openxmlformats.org/officeDocument/2006/relationships/notesSlide"/><Relationship Id="rId145" Target="notesSlides/notesSlide64.xml" Type="http://schemas.openxmlformats.org/officeDocument/2006/relationships/notesSlide"/><Relationship Id="rId146" Target="notesSlides/notesSlide65.xml" Type="http://schemas.openxmlformats.org/officeDocument/2006/relationships/notesSlide"/><Relationship Id="rId147" Target="notesSlides/notesSlide66.xml" Type="http://schemas.openxmlformats.org/officeDocument/2006/relationships/notesSlide"/><Relationship Id="rId148" Target="notesSlides/notesSlide67.xml" Type="http://schemas.openxmlformats.org/officeDocument/2006/relationships/notesSlide"/><Relationship Id="rId149" Target="notesSlides/notesSlide68.xml" Type="http://schemas.openxmlformats.org/officeDocument/2006/relationships/note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slides/slide68.xml" Type="http://schemas.openxmlformats.org/officeDocument/2006/relationships/slide"/><Relationship Id="rId74" Target="notesMasters/notesMaster1.xml" Type="http://schemas.openxmlformats.org/officeDocument/2006/relationships/notesMaster"/><Relationship Id="rId75" Target="theme/theme2.xml" Type="http://schemas.openxmlformats.org/officeDocument/2006/relationships/theme"/><Relationship Id="rId76" Target="notesSlides/notesSlide1.xml" Type="http://schemas.openxmlformats.org/officeDocument/2006/relationships/notesSlide"/><Relationship Id="rId77" Target="fonts/font77.fntdata" Type="http://schemas.openxmlformats.org/officeDocument/2006/relationships/font"/><Relationship Id="rId78" Target="fonts/font78.fntdata" Type="http://schemas.openxmlformats.org/officeDocument/2006/relationships/font"/><Relationship Id="rId79" Target="fonts/font79.fntdata" Type="http://schemas.openxmlformats.org/officeDocument/2006/relationships/font"/><Relationship Id="rId8" Target="slides/slide3.xml" Type="http://schemas.openxmlformats.org/officeDocument/2006/relationships/slide"/><Relationship Id="rId80" Target="notesSlides/notesSlide2.xml" Type="http://schemas.openxmlformats.org/officeDocument/2006/relationships/notesSlide"/><Relationship Id="rId81" Target="notesSlides/notesSlide3.xml" Type="http://schemas.openxmlformats.org/officeDocument/2006/relationships/notesSlide"/><Relationship Id="rId82" Target="notesSlides/notesSlide4.xml" Type="http://schemas.openxmlformats.org/officeDocument/2006/relationships/notesSlide"/><Relationship Id="rId83" Target="notesSlides/notesSlide5.xml" Type="http://schemas.openxmlformats.org/officeDocument/2006/relationships/notesSlide"/><Relationship Id="rId84" Target="notesSlides/notesSlide6.xml" Type="http://schemas.openxmlformats.org/officeDocument/2006/relationships/notesSlide"/><Relationship Id="rId85" Target="notesSlides/notesSlide7.xml" Type="http://schemas.openxmlformats.org/officeDocument/2006/relationships/notesSlide"/><Relationship Id="rId86" Target="fonts/font86.fntdata" Type="http://schemas.openxmlformats.org/officeDocument/2006/relationships/font"/><Relationship Id="rId87" Target="notesSlides/notesSlide8.xml" Type="http://schemas.openxmlformats.org/officeDocument/2006/relationships/notesSlide"/><Relationship Id="rId88" Target="notesSlides/notesSlide9.xml" Type="http://schemas.openxmlformats.org/officeDocument/2006/relationships/notesSlide"/><Relationship Id="rId89" Target="fonts/font89.fntdata" Type="http://schemas.openxmlformats.org/officeDocument/2006/relationships/font"/><Relationship Id="rId9" Target="slides/slide4.xml" Type="http://schemas.openxmlformats.org/officeDocument/2006/relationships/slide"/><Relationship Id="rId90" Target="notesSlides/notesSlide10.xml" Type="http://schemas.openxmlformats.org/officeDocument/2006/relationships/notesSlide"/><Relationship Id="rId91" Target="notesSlides/notesSlide11.xml" Type="http://schemas.openxmlformats.org/officeDocument/2006/relationships/notesSlide"/><Relationship Id="rId92" Target="notesSlides/notesSlide12.xml" Type="http://schemas.openxmlformats.org/officeDocument/2006/relationships/notesSlide"/><Relationship Id="rId93" Target="notesSlides/notesSlide13.xml" Type="http://schemas.openxmlformats.org/officeDocument/2006/relationships/notesSlide"/><Relationship Id="rId94" Target="notesSlides/notesSlide14.xml" Type="http://schemas.openxmlformats.org/officeDocument/2006/relationships/notesSlide"/><Relationship Id="rId95" Target="notesSlides/notesSlide15.xml" Type="http://schemas.openxmlformats.org/officeDocument/2006/relationships/notesSlide"/><Relationship Id="rId96" Target="notesSlides/notesSlide16.xml" Type="http://schemas.openxmlformats.org/officeDocument/2006/relationships/notesSlide"/><Relationship Id="rId97" Target="notesSlides/notesSlide17.xml" Type="http://schemas.openxmlformats.org/officeDocument/2006/relationships/notesSlide"/><Relationship Id="rId98" Target="notesSlides/notesSlide18.xml" Type="http://schemas.openxmlformats.org/officeDocument/2006/relationships/notesSlide"/><Relationship Id="rId99" Target="fonts/font99.fntdata" Type="http://schemas.openxmlformats.org/officeDocument/2006/relationships/font"/></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6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6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6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6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_rels/notesSlide6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7.xml" Type="http://schemas.openxmlformats.org/officeDocument/2006/relationships/slide"/></Relationships>
</file>

<file path=ppt/notesSlides/_rels/notesSlide6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Paparan terdiri atas enam bagian. Latar belakang menjelaskan alasan memakai sistem dinamis dan citra satelit; tujuan dan kebaruan; metodologi; hasil dan pembahasan (porsi terbesar); aplikasi web; lalu penutup. Lampiran disiapkan sebagai bahan cadangan untuk pertanyaan penguji.</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menit. Mulai dari konteks global dan nasional secara singkat, lalu fokus ke DIY. Tekankan kalimat terakhir: kompleksitas dan tekanan daya dukung adalah alasan perlunya pendekatan sistem.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Ada tiga celah. Pertama, model sistem dinamis pariwisata umumnya diadaptasi langsung dari kerangka luar negeri; variabel seperti populasi, limbah, dan air tanah per sektor tidak punya padanan data tahunan provinsi di Indonesia. Kedua, statistik agregat terbit dengan jeda waktu, dan integrasi sistem dinamis dengan remote sensing masih jarang. Ketiga, hasil pemodelan sering berhenti pada grafik statis. Responsnya: struktur model dirumuskan ulang berbasis klasifikasi resmi, citra satelit diposisikan sebagai estimator pemutakhir data, dan hasil diimplementasikan sebagai aplikasi web.</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mengikuti kerangka Barlas (1989, 1996) dan Sterman (2000): uji struktur didahulukan karena kesesuaian terhadap data historis tidak bermakna bila struktur tidak dapat dipertanggungjawabkan. Uji perilaku memakai lima uji parsial dan satu uji penuh dengan tren, E1, E2, DC, MAPE, dan dekomposisi galat U1-U3. Kalibrasi lima tahap dengan aturan keputusan yang ditetapkan sebelum pencarian. Sensitivitas mencakup perubahan 10 persen dan rentang penuh, lalu kekokohan peringkat skenario diuji pada tujuh kondisi.</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untuk pertanyaan struktur model: SFD lengkap 61 variabel (5 stock, 10 flow, 11 auxiliary, 35 parameter). Persamaan kuncinya ada di Lampiran 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Tornado untuk lima variabel keluaran selain jumlah wisatawan, serta lebar rentang ketidakpastian pada pengujian rentang penuh. Rasio LPD/LPE tetap menjadi sumber ketidakpastian terbesar; pada lahan terbangun, laju konversi dasar paling menentukan.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diambil dari model Vensim final yang dipakai pada simulasi skenario. Stok diintegrasikan dengan metode Euler pada langkah waktu satu tahun. Pembatas MIN dan MAX adalah hasil perbaikan struktur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tahunan yang menjadi dasar penurunan parameter dan uji perilaku. Wisatawan 2015–2018 ditampilkan sebelum penyambungan (patahan metode 2018→2019). ODTW 2015–2017 dan 2025 adalah estimasi NTL; lahan terbangun berasal dari Dynamic World.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notesSlides/notesSlide3.xml" Type="http://schemas.openxmlformats.org/officeDocument/2006/relationships/notesSlide"/><Relationship Id="rId3" Target="../media/image6.jpeg" Type="http://schemas.openxmlformats.org/officeDocument/2006/relationships/image"/><Relationship Id="rId4" Target="../media/image4.jpe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0.png" Type="http://schemas.openxmlformats.org/officeDocument/2006/relationships/image"/><Relationship Id="rId4"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29.png" Type="http://schemas.openxmlformats.org/officeDocument/2006/relationships/image"/><Relationship Id="rId12" Target="../media/image30.svg" Type="http://schemas.openxmlformats.org/officeDocument/2006/relationships/image"/><Relationship Id="rId13" Target="../media/image31.png" Type="http://schemas.openxmlformats.org/officeDocument/2006/relationships/image"/><Relationship Id="rId2" Target="../notesSlides/notesSlide9.xml" Type="http://schemas.openxmlformats.org/officeDocument/2006/relationships/notesSlide"/><Relationship Id="rId3" Target="../media/image20.png" Type="http://schemas.openxmlformats.org/officeDocument/2006/relationships/image"/><Relationship Id="rId4" Target="../media/image4.jpe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0.png" Type="http://schemas.openxmlformats.org/officeDocument/2006/relationships/image"/><Relationship Id="rId4"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3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png" Type="http://schemas.openxmlformats.org/officeDocument/2006/relationships/image"/><Relationship Id="rId2" Target="../notesSlides/notesSlide15.xml" Type="http://schemas.openxmlformats.org/officeDocument/2006/relationships/notesSlide"/><Relationship Id="rId3" Target="../media/image20.png" Type="http://schemas.openxmlformats.org/officeDocument/2006/relationships/image"/><Relationship Id="rId4" Target="../media/image4.jpe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0.png" Type="http://schemas.openxmlformats.org/officeDocument/2006/relationships/image"/><Relationship Id="rId4"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4.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2.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3.png" Type="http://schemas.openxmlformats.org/officeDocument/2006/relationships/image"/><Relationship Id="rId7" Target="../media/image54.png" Type="http://schemas.openxmlformats.org/officeDocument/2006/relationships/image"/><Relationship Id="rId8" Target="../media/image5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7.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8.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9.png" Type="http://schemas.openxmlformats.org/officeDocument/2006/relationships/image"/><Relationship Id="rId7" Target="../media/image60.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1.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4.png" Type="http://schemas.openxmlformats.org/officeDocument/2006/relationships/image"/><Relationship Id="rId7" Target="../media/image65.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7.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68.png" Type="http://schemas.openxmlformats.org/officeDocument/2006/relationships/image"/><Relationship Id="rId7" Target="../media/image69.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1.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45.png" Type="http://schemas.openxmlformats.org/officeDocument/2006/relationships/imag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2.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3.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4.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70.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5.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71.png" Type="http://schemas.openxmlformats.org/officeDocument/2006/relationships/image"/><Relationship Id="rId7" Target="../media/image72.png" Type="http://schemas.openxmlformats.org/officeDocument/2006/relationships/image"/><Relationship Id="rId8" Target="../media/image73.png" Type="http://schemas.openxmlformats.org/officeDocument/2006/relationships/image"/><Relationship Id="rId9" Target="../media/image74.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2" Target="../notesSlides/notesSlide66.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75.png" Type="http://schemas.openxmlformats.org/officeDocument/2006/relationships/image"/><Relationship Id="rId7" Target="../media/image76.png" Type="http://schemas.openxmlformats.org/officeDocument/2006/relationships/image"/><Relationship Id="rId8" Target="../media/image77.png" Type="http://schemas.openxmlformats.org/officeDocument/2006/relationships/image"/><Relationship Id="rId9" Target="../media/image78.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7.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_rels/slide6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8.xml" Type="http://schemas.openxmlformats.org/officeDocument/2006/relationships/notesSlide"/><Relationship Id="rId3" Target="../media/image5.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4118"/>
              </a:srgbClr>
            </a:solidFill>
          </p:spPr>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347" r="0" b="-347"/>
              </a:stretch>
            </a:blipFill>
          </p:spPr>
        </p:sp>
      </p:grpSp>
      <p:grpSp>
        <p:nvGrpSpPr>
          <p:cNvPr name="Group 8" id="8"/>
          <p:cNvGrpSpPr/>
          <p:nvPr/>
        </p:nvGrpSpPr>
        <p:grpSpPr>
          <a:xfrm rot="0">
            <a:off x="1645920" y="712041"/>
            <a:ext cx="4114800" cy="453819"/>
            <a:chOff x="0" y="0"/>
            <a:chExt cx="5486400" cy="605092"/>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5" r="0" b="-126526"/>
              </a:stretch>
            </a:blipFill>
          </p:spPr>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247"/>
            </a:xfrm>
            <a:custGeom>
              <a:avLst/>
              <a:gdLst/>
              <a:ahLst/>
              <a:cxnLst/>
              <a:rect r="r" b="b" t="t" l="l"/>
              <a:pathLst>
                <a:path h="662247" w="5486400">
                  <a:moveTo>
                    <a:pt x="0" y="0"/>
                  </a:moveTo>
                  <a:lnTo>
                    <a:pt x="5486400" y="0"/>
                  </a:lnTo>
                  <a:lnTo>
                    <a:pt x="5486400" y="662247"/>
                  </a:lnTo>
                  <a:lnTo>
                    <a:pt x="0" y="662247"/>
                  </a:lnTo>
                  <a:close/>
                </a:path>
              </a:pathLst>
            </a:custGeom>
            <a:blipFill>
              <a:blip r:embed="rId6">
                <a:alphaModFix amt="0"/>
              </a:blip>
              <a:stretch>
                <a:fillRect l="0" t="-111424" r="0" b="-111423"/>
              </a:stretch>
            </a:blipFill>
          </p:spPr>
        </p:sp>
        <p:sp>
          <p:nvSpPr>
            <p:cNvPr name="TextBox 12" id="12"/>
            <p:cNvSpPr txBox="true"/>
            <p:nvPr/>
          </p:nvSpPr>
          <p:spPr>
            <a:xfrm>
              <a:off x="0" y="-57150"/>
              <a:ext cx="5486400" cy="71939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3" id="13"/>
          <p:cNvGrpSpPr/>
          <p:nvPr/>
        </p:nvGrpSpPr>
        <p:grpSpPr>
          <a:xfrm rot="0">
            <a:off x="8462772" y="548640"/>
            <a:ext cx="1371600" cy="1371600"/>
            <a:chOff x="0" y="0"/>
            <a:chExt cx="1828800" cy="1828800"/>
          </a:xfrm>
        </p:grpSpPr>
        <p:sp>
          <p:nvSpPr>
            <p:cNvPr name="Freeform 14" id="14"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7"/>
              <a:stretch>
                <a:fillRect l="0" t="0" r="0" b="0"/>
              </a:stretch>
            </a:blipFill>
          </p:spPr>
        </p:sp>
      </p:grpSp>
      <p:grpSp>
        <p:nvGrpSpPr>
          <p:cNvPr name="Group 15" id="15"/>
          <p:cNvGrpSpPr/>
          <p:nvPr/>
        </p:nvGrpSpPr>
        <p:grpSpPr>
          <a:xfrm rot="0">
            <a:off x="822960" y="2221992"/>
            <a:ext cx="16637508" cy="822960"/>
            <a:chOff x="0" y="0"/>
            <a:chExt cx="22183344" cy="1097280"/>
          </a:xfrm>
        </p:grpSpPr>
        <p:sp>
          <p:nvSpPr>
            <p:cNvPr name="Freeform 16" id="16"/>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sp>
      </p:grpSp>
      <p:grpSp>
        <p:nvGrpSpPr>
          <p:cNvPr name="Group 17" id="17"/>
          <p:cNvGrpSpPr/>
          <p:nvPr/>
        </p:nvGrpSpPr>
        <p:grpSpPr>
          <a:xfrm rot="0">
            <a:off x="822960" y="2157698"/>
            <a:ext cx="16637508" cy="887254"/>
            <a:chOff x="0" y="0"/>
            <a:chExt cx="22183344" cy="1183005"/>
          </a:xfrm>
        </p:grpSpPr>
        <p:sp>
          <p:nvSpPr>
            <p:cNvPr name="Freeform 18" id="18"/>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377" r="0" b="-315377"/>
              </a:stretch>
            </a:blipFill>
          </p:spPr>
        </p:sp>
        <p:sp>
          <p:nvSpPr>
            <p:cNvPr name="TextBox 19" id="19"/>
            <p:cNvSpPr txBox="true"/>
            <p:nvPr/>
          </p:nvSpPr>
          <p:spPr>
            <a:xfrm>
              <a:off x="0" y="-85725"/>
              <a:ext cx="22183344" cy="1268730"/>
            </a:xfrm>
            <a:prstGeom prst="rect">
              <a:avLst/>
            </a:prstGeom>
          </p:spPr>
          <p:txBody>
            <a:bodyPr anchor="ctr" rtlCol="false" tIns="0" lIns="0" bIns="0" rIns="0"/>
            <a:lstStyle/>
            <a:p>
              <a:pPr algn="ctr">
                <a:lnSpc>
                  <a:spcPts val="5758"/>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0" id="20"/>
          <p:cNvGrpSpPr/>
          <p:nvPr/>
        </p:nvGrpSpPr>
        <p:grpSpPr>
          <a:xfrm rot="0">
            <a:off x="822960" y="3017520"/>
            <a:ext cx="16637508" cy="1097280"/>
            <a:chOff x="0" y="0"/>
            <a:chExt cx="22183344" cy="1463040"/>
          </a:xfrm>
        </p:grpSpPr>
        <p:sp>
          <p:nvSpPr>
            <p:cNvPr name="Freeform 21" id="21"/>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sp>
      </p:grpSp>
      <p:grpSp>
        <p:nvGrpSpPr>
          <p:cNvPr name="Group 22" id="22"/>
          <p:cNvGrpSpPr/>
          <p:nvPr/>
        </p:nvGrpSpPr>
        <p:grpSpPr>
          <a:xfrm rot="0">
            <a:off x="822960" y="2917508"/>
            <a:ext cx="16637508" cy="1197292"/>
            <a:chOff x="0" y="0"/>
            <a:chExt cx="22183344" cy="1596390"/>
          </a:xfrm>
        </p:grpSpPr>
        <p:sp>
          <p:nvSpPr>
            <p:cNvPr name="Freeform 23" id="23"/>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762" r="0" b="-220762"/>
              </a:stretch>
            </a:blipFill>
          </p:spPr>
        </p:sp>
        <p:sp>
          <p:nvSpPr>
            <p:cNvPr name="TextBox 24" id="24"/>
            <p:cNvSpPr txBox="true"/>
            <p:nvPr/>
          </p:nvSpPr>
          <p:spPr>
            <a:xfrm>
              <a:off x="0" y="-133350"/>
              <a:ext cx="22183344" cy="1729740"/>
            </a:xfrm>
            <a:prstGeom prst="rect">
              <a:avLst/>
            </a:prstGeom>
          </p:spPr>
          <p:txBody>
            <a:bodyPr anchor="ctr" rtlCol="false" tIns="0" lIns="0" bIns="0" rIns="0"/>
            <a:lstStyle/>
            <a:p>
              <a:pPr algn="ctr">
                <a:lnSpc>
                  <a:spcPts val="7558"/>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25" id="25"/>
          <p:cNvGrpSpPr/>
          <p:nvPr/>
        </p:nvGrpSpPr>
        <p:grpSpPr>
          <a:xfrm rot="0">
            <a:off x="822960" y="4142232"/>
            <a:ext cx="16637508" cy="685800"/>
            <a:chOff x="0" y="0"/>
            <a:chExt cx="22183344" cy="914400"/>
          </a:xfrm>
        </p:grpSpPr>
        <p:sp>
          <p:nvSpPr>
            <p:cNvPr name="Freeform 26" id="26"/>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sp>
      </p:grpSp>
      <p:grpSp>
        <p:nvGrpSpPr>
          <p:cNvPr name="Group 27" id="27"/>
          <p:cNvGrpSpPr/>
          <p:nvPr/>
        </p:nvGrpSpPr>
        <p:grpSpPr>
          <a:xfrm rot="0">
            <a:off x="822960" y="4092226"/>
            <a:ext cx="16637508" cy="735806"/>
            <a:chOff x="0" y="0"/>
            <a:chExt cx="22183344" cy="981075"/>
          </a:xfrm>
        </p:grpSpPr>
        <p:sp>
          <p:nvSpPr>
            <p:cNvPr name="Freeform 28" id="28"/>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581" r="0" b="-390581"/>
              </a:stretch>
            </a:blipFill>
          </p:spPr>
        </p:sp>
        <p:sp>
          <p:nvSpPr>
            <p:cNvPr name="TextBox 29" id="29"/>
            <p:cNvSpPr txBox="true"/>
            <p:nvPr/>
          </p:nvSpPr>
          <p:spPr>
            <a:xfrm>
              <a:off x="0" y="-66675"/>
              <a:ext cx="22183344" cy="1047750"/>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0" id="30"/>
          <p:cNvGrpSpPr/>
          <p:nvPr/>
        </p:nvGrpSpPr>
        <p:grpSpPr>
          <a:xfrm rot="0">
            <a:off x="822960" y="4869180"/>
            <a:ext cx="16637508" cy="548640"/>
            <a:chOff x="0" y="0"/>
            <a:chExt cx="22183344" cy="731520"/>
          </a:xfrm>
        </p:grpSpPr>
        <p:sp>
          <p:nvSpPr>
            <p:cNvPr name="Freeform 31" id="31"/>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sp>
      </p:grpSp>
      <p:grpSp>
        <p:nvGrpSpPr>
          <p:cNvPr name="Group 32" id="32"/>
          <p:cNvGrpSpPr/>
          <p:nvPr/>
        </p:nvGrpSpPr>
        <p:grpSpPr>
          <a:xfrm rot="0">
            <a:off x="822960" y="4840605"/>
            <a:ext cx="16637508" cy="577215"/>
            <a:chOff x="0" y="0"/>
            <a:chExt cx="22183344" cy="769620"/>
          </a:xfrm>
        </p:grpSpPr>
        <p:sp>
          <p:nvSpPr>
            <p:cNvPr name="Freeform 33" id="33"/>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632" r="0" b="-511632"/>
              </a:stretch>
            </a:blipFill>
          </p:spPr>
        </p:sp>
        <p:sp>
          <p:nvSpPr>
            <p:cNvPr name="TextBox 34" id="34"/>
            <p:cNvSpPr txBox="true"/>
            <p:nvPr/>
          </p:nvSpPr>
          <p:spPr>
            <a:xfrm>
              <a:off x="0" y="-38100"/>
              <a:ext cx="22183344" cy="8077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35" id="35"/>
          <p:cNvGrpSpPr/>
          <p:nvPr/>
        </p:nvGrpSpPr>
        <p:grpSpPr>
          <a:xfrm rot="0">
            <a:off x="3017520" y="5966460"/>
            <a:ext cx="12248388" cy="2948940"/>
            <a:chOff x="0" y="0"/>
            <a:chExt cx="16331184" cy="3931920"/>
          </a:xfrm>
        </p:grpSpPr>
        <p:sp>
          <p:nvSpPr>
            <p:cNvPr name="Freeform 36" id="3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sp>
      </p:grpSp>
      <p:grpSp>
        <p:nvGrpSpPr>
          <p:cNvPr name="Group 37" id="37"/>
          <p:cNvGrpSpPr/>
          <p:nvPr/>
        </p:nvGrpSpPr>
        <p:grpSpPr>
          <a:xfrm rot="0">
            <a:off x="3566160" y="6281928"/>
            <a:ext cx="3566160" cy="493776"/>
            <a:chOff x="0" y="0"/>
            <a:chExt cx="4754880" cy="658368"/>
          </a:xfrm>
        </p:grpSpPr>
        <p:sp>
          <p:nvSpPr>
            <p:cNvPr name="Freeform 38" id="3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39" id="39"/>
          <p:cNvGrpSpPr/>
          <p:nvPr/>
        </p:nvGrpSpPr>
        <p:grpSpPr>
          <a:xfrm rot="0">
            <a:off x="3566160" y="6239066"/>
            <a:ext cx="3566160" cy="536638"/>
            <a:chOff x="0" y="0"/>
            <a:chExt cx="4754880" cy="715518"/>
          </a:xfrm>
        </p:grpSpPr>
        <p:sp>
          <p:nvSpPr>
            <p:cNvPr name="Freeform 40" id="4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41" id="4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42" id="42"/>
          <p:cNvGrpSpPr/>
          <p:nvPr/>
        </p:nvGrpSpPr>
        <p:grpSpPr>
          <a:xfrm rot="0">
            <a:off x="7132320" y="6281928"/>
            <a:ext cx="274320" cy="493776"/>
            <a:chOff x="0" y="0"/>
            <a:chExt cx="365760" cy="658368"/>
          </a:xfrm>
        </p:grpSpPr>
        <p:sp>
          <p:nvSpPr>
            <p:cNvPr name="Freeform 43" id="4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44" id="44"/>
          <p:cNvGrpSpPr/>
          <p:nvPr/>
        </p:nvGrpSpPr>
        <p:grpSpPr>
          <a:xfrm rot="0">
            <a:off x="7132320" y="6239066"/>
            <a:ext cx="274320" cy="536638"/>
            <a:chOff x="0" y="0"/>
            <a:chExt cx="365760" cy="715518"/>
          </a:xfrm>
        </p:grpSpPr>
        <p:sp>
          <p:nvSpPr>
            <p:cNvPr name="Freeform 45" id="4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46" id="4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47" id="47"/>
          <p:cNvGrpSpPr/>
          <p:nvPr/>
        </p:nvGrpSpPr>
        <p:grpSpPr>
          <a:xfrm rot="0">
            <a:off x="7543800" y="6281928"/>
            <a:ext cx="7406640" cy="493776"/>
            <a:chOff x="0" y="0"/>
            <a:chExt cx="9875520" cy="658368"/>
          </a:xfrm>
        </p:grpSpPr>
        <p:sp>
          <p:nvSpPr>
            <p:cNvPr name="Freeform 48" id="4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49" id="49"/>
          <p:cNvGrpSpPr/>
          <p:nvPr/>
        </p:nvGrpSpPr>
        <p:grpSpPr>
          <a:xfrm rot="0">
            <a:off x="7543800" y="6239066"/>
            <a:ext cx="7406640" cy="536638"/>
            <a:chOff x="0" y="0"/>
            <a:chExt cx="9875520" cy="715518"/>
          </a:xfrm>
        </p:grpSpPr>
        <p:sp>
          <p:nvSpPr>
            <p:cNvPr name="Freeform 50" id="5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51" id="5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52" id="52"/>
          <p:cNvGrpSpPr/>
          <p:nvPr/>
        </p:nvGrpSpPr>
        <p:grpSpPr>
          <a:xfrm rot="0">
            <a:off x="3566160" y="6926580"/>
            <a:ext cx="3566160" cy="493776"/>
            <a:chOff x="0" y="0"/>
            <a:chExt cx="4754880" cy="658368"/>
          </a:xfrm>
        </p:grpSpPr>
        <p:sp>
          <p:nvSpPr>
            <p:cNvPr name="Freeform 53" id="5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54" id="54"/>
          <p:cNvGrpSpPr/>
          <p:nvPr/>
        </p:nvGrpSpPr>
        <p:grpSpPr>
          <a:xfrm rot="0">
            <a:off x="3566160" y="6883718"/>
            <a:ext cx="3566160" cy="536638"/>
            <a:chOff x="0" y="0"/>
            <a:chExt cx="4754880" cy="715518"/>
          </a:xfrm>
        </p:grpSpPr>
        <p:sp>
          <p:nvSpPr>
            <p:cNvPr name="Freeform 55" id="5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56" id="5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57" id="57"/>
          <p:cNvGrpSpPr/>
          <p:nvPr/>
        </p:nvGrpSpPr>
        <p:grpSpPr>
          <a:xfrm rot="0">
            <a:off x="7132320" y="6926580"/>
            <a:ext cx="274320" cy="493776"/>
            <a:chOff x="0" y="0"/>
            <a:chExt cx="365760" cy="658368"/>
          </a:xfrm>
        </p:grpSpPr>
        <p:sp>
          <p:nvSpPr>
            <p:cNvPr name="Freeform 58" id="5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59" id="59"/>
          <p:cNvGrpSpPr/>
          <p:nvPr/>
        </p:nvGrpSpPr>
        <p:grpSpPr>
          <a:xfrm rot="0">
            <a:off x="7132320" y="6883718"/>
            <a:ext cx="274320" cy="536638"/>
            <a:chOff x="0" y="0"/>
            <a:chExt cx="365760" cy="715518"/>
          </a:xfrm>
        </p:grpSpPr>
        <p:sp>
          <p:nvSpPr>
            <p:cNvPr name="Freeform 60" id="6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61" id="6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2" id="62"/>
          <p:cNvGrpSpPr/>
          <p:nvPr/>
        </p:nvGrpSpPr>
        <p:grpSpPr>
          <a:xfrm rot="0">
            <a:off x="7543800" y="6926580"/>
            <a:ext cx="7406640" cy="493776"/>
            <a:chOff x="0" y="0"/>
            <a:chExt cx="9875520" cy="658368"/>
          </a:xfrm>
        </p:grpSpPr>
        <p:sp>
          <p:nvSpPr>
            <p:cNvPr name="Freeform 63" id="6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64" id="64"/>
          <p:cNvGrpSpPr/>
          <p:nvPr/>
        </p:nvGrpSpPr>
        <p:grpSpPr>
          <a:xfrm rot="0">
            <a:off x="7543800" y="6883718"/>
            <a:ext cx="7406640" cy="536638"/>
            <a:chOff x="0" y="0"/>
            <a:chExt cx="9875520" cy="715518"/>
          </a:xfrm>
        </p:grpSpPr>
        <p:sp>
          <p:nvSpPr>
            <p:cNvPr name="Freeform 65" id="6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66" id="6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67" id="67"/>
          <p:cNvGrpSpPr/>
          <p:nvPr/>
        </p:nvGrpSpPr>
        <p:grpSpPr>
          <a:xfrm rot="0">
            <a:off x="3566160" y="7571232"/>
            <a:ext cx="3566160" cy="493776"/>
            <a:chOff x="0" y="0"/>
            <a:chExt cx="4754880" cy="658368"/>
          </a:xfrm>
        </p:grpSpPr>
        <p:sp>
          <p:nvSpPr>
            <p:cNvPr name="Freeform 68" id="6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69" id="69"/>
          <p:cNvGrpSpPr/>
          <p:nvPr/>
        </p:nvGrpSpPr>
        <p:grpSpPr>
          <a:xfrm rot="0">
            <a:off x="3566160" y="7528370"/>
            <a:ext cx="3566160" cy="536638"/>
            <a:chOff x="0" y="0"/>
            <a:chExt cx="4754880" cy="715518"/>
          </a:xfrm>
        </p:grpSpPr>
        <p:sp>
          <p:nvSpPr>
            <p:cNvPr name="Freeform 70" id="7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71" id="7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72" id="72"/>
          <p:cNvGrpSpPr/>
          <p:nvPr/>
        </p:nvGrpSpPr>
        <p:grpSpPr>
          <a:xfrm rot="0">
            <a:off x="7132320" y="7571232"/>
            <a:ext cx="274320" cy="493776"/>
            <a:chOff x="0" y="0"/>
            <a:chExt cx="365760" cy="658368"/>
          </a:xfrm>
        </p:grpSpPr>
        <p:sp>
          <p:nvSpPr>
            <p:cNvPr name="Freeform 73" id="7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74" id="74"/>
          <p:cNvGrpSpPr/>
          <p:nvPr/>
        </p:nvGrpSpPr>
        <p:grpSpPr>
          <a:xfrm rot="0">
            <a:off x="7132320" y="7528370"/>
            <a:ext cx="274320" cy="536638"/>
            <a:chOff x="0" y="0"/>
            <a:chExt cx="365760" cy="715518"/>
          </a:xfrm>
        </p:grpSpPr>
        <p:sp>
          <p:nvSpPr>
            <p:cNvPr name="Freeform 75" id="7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76" id="7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77" id="77"/>
          <p:cNvGrpSpPr/>
          <p:nvPr/>
        </p:nvGrpSpPr>
        <p:grpSpPr>
          <a:xfrm rot="0">
            <a:off x="7543800" y="7571232"/>
            <a:ext cx="7406640" cy="493776"/>
            <a:chOff x="0" y="0"/>
            <a:chExt cx="9875520" cy="658368"/>
          </a:xfrm>
        </p:grpSpPr>
        <p:sp>
          <p:nvSpPr>
            <p:cNvPr name="Freeform 78" id="7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79" id="79"/>
          <p:cNvGrpSpPr/>
          <p:nvPr/>
        </p:nvGrpSpPr>
        <p:grpSpPr>
          <a:xfrm rot="0">
            <a:off x="7543800" y="7528370"/>
            <a:ext cx="7406640" cy="536638"/>
            <a:chOff x="0" y="0"/>
            <a:chExt cx="9875520" cy="715518"/>
          </a:xfrm>
        </p:grpSpPr>
        <p:sp>
          <p:nvSpPr>
            <p:cNvPr name="Freeform 80" id="8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81" id="8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82" id="82"/>
          <p:cNvGrpSpPr/>
          <p:nvPr/>
        </p:nvGrpSpPr>
        <p:grpSpPr>
          <a:xfrm rot="0">
            <a:off x="3566160" y="8215884"/>
            <a:ext cx="3566160" cy="493776"/>
            <a:chOff x="0" y="0"/>
            <a:chExt cx="4754880" cy="658368"/>
          </a:xfrm>
        </p:grpSpPr>
        <p:sp>
          <p:nvSpPr>
            <p:cNvPr name="Freeform 83" id="8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84" id="84"/>
          <p:cNvGrpSpPr/>
          <p:nvPr/>
        </p:nvGrpSpPr>
        <p:grpSpPr>
          <a:xfrm rot="0">
            <a:off x="3566160" y="8173021"/>
            <a:ext cx="3566160" cy="536638"/>
            <a:chOff x="0" y="0"/>
            <a:chExt cx="4754880" cy="715518"/>
          </a:xfrm>
        </p:grpSpPr>
        <p:sp>
          <p:nvSpPr>
            <p:cNvPr name="Freeform 85" id="8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86" id="8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87" id="87"/>
          <p:cNvGrpSpPr/>
          <p:nvPr/>
        </p:nvGrpSpPr>
        <p:grpSpPr>
          <a:xfrm rot="0">
            <a:off x="7132320" y="8215884"/>
            <a:ext cx="274320" cy="493776"/>
            <a:chOff x="0" y="0"/>
            <a:chExt cx="365760" cy="658368"/>
          </a:xfrm>
        </p:grpSpPr>
        <p:sp>
          <p:nvSpPr>
            <p:cNvPr name="Freeform 88" id="8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89" id="89"/>
          <p:cNvGrpSpPr/>
          <p:nvPr/>
        </p:nvGrpSpPr>
        <p:grpSpPr>
          <a:xfrm rot="0">
            <a:off x="7132320" y="8173021"/>
            <a:ext cx="274320" cy="536638"/>
            <a:chOff x="0" y="0"/>
            <a:chExt cx="365760" cy="715518"/>
          </a:xfrm>
        </p:grpSpPr>
        <p:sp>
          <p:nvSpPr>
            <p:cNvPr name="Freeform 90" id="9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91" id="9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92" id="92"/>
          <p:cNvGrpSpPr/>
          <p:nvPr/>
        </p:nvGrpSpPr>
        <p:grpSpPr>
          <a:xfrm rot="0">
            <a:off x="7543800" y="8215884"/>
            <a:ext cx="7406640" cy="493776"/>
            <a:chOff x="0" y="0"/>
            <a:chExt cx="9875520" cy="658368"/>
          </a:xfrm>
        </p:grpSpPr>
        <p:sp>
          <p:nvSpPr>
            <p:cNvPr name="Freeform 93" id="9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94" id="94"/>
          <p:cNvGrpSpPr/>
          <p:nvPr/>
        </p:nvGrpSpPr>
        <p:grpSpPr>
          <a:xfrm rot="0">
            <a:off x="7543800" y="8173021"/>
            <a:ext cx="7406640" cy="536638"/>
            <a:chOff x="0" y="0"/>
            <a:chExt cx="9875520" cy="715518"/>
          </a:xfrm>
        </p:grpSpPr>
        <p:sp>
          <p:nvSpPr>
            <p:cNvPr name="Freeform 95" id="9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96" id="9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a:t>
            </a:r>
          </a:p>
        </p:txBody>
      </p:sp>
      <p:grpSp>
        <p:nvGrpSpPr>
          <p:cNvPr name="Group 10" id="10"/>
          <p:cNvGrpSpPr/>
          <p:nvPr/>
        </p:nvGrpSpPr>
        <p:grpSpPr>
          <a:xfrm rot="0">
            <a:off x="822960" y="2743200"/>
            <a:ext cx="2537460" cy="4251960"/>
            <a:chOff x="0" y="0"/>
            <a:chExt cx="3383280" cy="5669280"/>
          </a:xfrm>
        </p:grpSpPr>
        <p:sp>
          <p:nvSpPr>
            <p:cNvPr name="Freeform 11" id="11"/>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12" id="12"/>
          <p:cNvGrpSpPr/>
          <p:nvPr/>
        </p:nvGrpSpPr>
        <p:grpSpPr>
          <a:xfrm rot="0">
            <a:off x="1097280" y="308610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16" id="16"/>
          <p:cNvGrpSpPr/>
          <p:nvPr/>
        </p:nvGrpSpPr>
        <p:grpSpPr>
          <a:xfrm rot="0">
            <a:off x="1097280" y="3057525"/>
            <a:ext cx="822960" cy="851535"/>
            <a:chOff x="0" y="0"/>
            <a:chExt cx="1097280" cy="1135380"/>
          </a:xfrm>
        </p:grpSpPr>
        <p:sp>
          <p:nvSpPr>
            <p:cNvPr name="Freeform 17" id="17"/>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18" id="18"/>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19" id="19"/>
          <p:cNvSpPr txBox="true"/>
          <p:nvPr/>
        </p:nvSpPr>
        <p:spPr>
          <a:xfrm rot="0">
            <a:off x="1097280"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Latar Belakang</a:t>
            </a:r>
          </a:p>
        </p:txBody>
      </p:sp>
      <p:sp>
        <p:nvSpPr>
          <p:cNvPr name="TextBox 20" id="20"/>
          <p:cNvSpPr txBox="true"/>
          <p:nvPr/>
        </p:nvSpPr>
        <p:spPr>
          <a:xfrm rot="0">
            <a:off x="109728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Mengapa sistem dinamis dan citra satelit</a:t>
            </a:r>
          </a:p>
        </p:txBody>
      </p:sp>
      <p:grpSp>
        <p:nvGrpSpPr>
          <p:cNvPr name="Group 21" id="21"/>
          <p:cNvGrpSpPr/>
          <p:nvPr/>
        </p:nvGrpSpPr>
        <p:grpSpPr>
          <a:xfrm rot="0">
            <a:off x="3642970" y="2743200"/>
            <a:ext cx="2537460" cy="4251960"/>
            <a:chOff x="0" y="0"/>
            <a:chExt cx="3383280" cy="5669280"/>
          </a:xfrm>
        </p:grpSpPr>
        <p:sp>
          <p:nvSpPr>
            <p:cNvPr name="Freeform 22" id="2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23" id="23"/>
          <p:cNvGrpSpPr/>
          <p:nvPr/>
        </p:nvGrpSpPr>
        <p:grpSpPr>
          <a:xfrm rot="0">
            <a:off x="3917290" y="308610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sp>
      </p:grpSp>
      <p:grpSp>
        <p:nvGrpSpPr>
          <p:cNvPr name="Group 25" id="25"/>
          <p:cNvGrpSpPr/>
          <p:nvPr/>
        </p:nvGrpSpPr>
        <p:grpSpPr>
          <a:xfrm rot="0">
            <a:off x="3917290" y="308610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27" id="27"/>
          <p:cNvGrpSpPr/>
          <p:nvPr/>
        </p:nvGrpSpPr>
        <p:grpSpPr>
          <a:xfrm rot="0">
            <a:off x="3917290" y="3057525"/>
            <a:ext cx="822960" cy="851535"/>
            <a:chOff x="0" y="0"/>
            <a:chExt cx="1097280" cy="1135380"/>
          </a:xfrm>
        </p:grpSpPr>
        <p:sp>
          <p:nvSpPr>
            <p:cNvPr name="Freeform 28" id="2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29" id="29"/>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0" id="30"/>
          <p:cNvSpPr txBox="true"/>
          <p:nvPr/>
        </p:nvSpPr>
        <p:spPr>
          <a:xfrm rot="0">
            <a:off x="3917290"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Tujuan &amp; Kebaruan</a:t>
            </a:r>
          </a:p>
        </p:txBody>
      </p:sp>
      <p:sp>
        <p:nvSpPr>
          <p:cNvPr name="TextBox 31" id="31"/>
          <p:cNvSpPr txBox="true"/>
          <p:nvPr/>
        </p:nvSpPr>
        <p:spPr>
          <a:xfrm rot="0">
            <a:off x="391729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tujuan, ruang lingkup, kontribusi</a:t>
            </a:r>
          </a:p>
        </p:txBody>
      </p:sp>
      <p:grpSp>
        <p:nvGrpSpPr>
          <p:cNvPr name="Group 32" id="32"/>
          <p:cNvGrpSpPr/>
          <p:nvPr/>
        </p:nvGrpSpPr>
        <p:grpSpPr>
          <a:xfrm rot="0">
            <a:off x="6462979" y="2743200"/>
            <a:ext cx="2537460" cy="4251960"/>
            <a:chOff x="0" y="0"/>
            <a:chExt cx="3383280" cy="5669280"/>
          </a:xfrm>
        </p:grpSpPr>
        <p:sp>
          <p:nvSpPr>
            <p:cNvPr name="Freeform 33" id="3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34" id="34"/>
          <p:cNvGrpSpPr/>
          <p:nvPr/>
        </p:nvGrpSpPr>
        <p:grpSpPr>
          <a:xfrm rot="0">
            <a:off x="6737299" y="3086100"/>
            <a:ext cx="822960" cy="822960"/>
            <a:chOff x="0" y="0"/>
            <a:chExt cx="1097280" cy="1097280"/>
          </a:xfrm>
        </p:grpSpPr>
        <p:sp>
          <p:nvSpPr>
            <p:cNvPr name="Freeform 35" id="3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sp>
      </p:grpSp>
      <p:grpSp>
        <p:nvGrpSpPr>
          <p:cNvPr name="Group 36" id="36"/>
          <p:cNvGrpSpPr/>
          <p:nvPr/>
        </p:nvGrpSpPr>
        <p:grpSpPr>
          <a:xfrm rot="0">
            <a:off x="6737299" y="3086100"/>
            <a:ext cx="822960" cy="822960"/>
            <a:chOff x="0" y="0"/>
            <a:chExt cx="1097280" cy="1097280"/>
          </a:xfrm>
        </p:grpSpPr>
        <p:sp>
          <p:nvSpPr>
            <p:cNvPr name="Freeform 37" id="3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38" id="38"/>
          <p:cNvGrpSpPr/>
          <p:nvPr/>
        </p:nvGrpSpPr>
        <p:grpSpPr>
          <a:xfrm rot="0">
            <a:off x="6737299" y="3057525"/>
            <a:ext cx="822960" cy="851535"/>
            <a:chOff x="0" y="0"/>
            <a:chExt cx="1097280" cy="1135380"/>
          </a:xfrm>
        </p:grpSpPr>
        <p:sp>
          <p:nvSpPr>
            <p:cNvPr name="Freeform 39" id="3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40" id="40"/>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1" id="41"/>
          <p:cNvSpPr txBox="true"/>
          <p:nvPr/>
        </p:nvSpPr>
        <p:spPr>
          <a:xfrm rot="0">
            <a:off x="6737299"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Metodologi</a:t>
            </a:r>
          </a:p>
        </p:txBody>
      </p:sp>
      <p:sp>
        <p:nvSpPr>
          <p:cNvPr name="TextBox 42" id="42"/>
          <p:cNvSpPr txBox="true"/>
          <p:nvPr/>
        </p:nvSpPr>
        <p:spPr>
          <a:xfrm rot="0">
            <a:off x="673729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tahapan, pengujian, desain skenario</a:t>
            </a:r>
          </a:p>
        </p:txBody>
      </p:sp>
      <p:grpSp>
        <p:nvGrpSpPr>
          <p:cNvPr name="Group 43" id="43"/>
          <p:cNvGrpSpPr/>
          <p:nvPr/>
        </p:nvGrpSpPr>
        <p:grpSpPr>
          <a:xfrm rot="0">
            <a:off x="9282989" y="2743200"/>
            <a:ext cx="2537460" cy="4251960"/>
            <a:chOff x="0" y="0"/>
            <a:chExt cx="3383280" cy="5669280"/>
          </a:xfrm>
        </p:grpSpPr>
        <p:sp>
          <p:nvSpPr>
            <p:cNvPr name="Freeform 44" id="44"/>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45" id="45"/>
          <p:cNvGrpSpPr/>
          <p:nvPr/>
        </p:nvGrpSpPr>
        <p:grpSpPr>
          <a:xfrm rot="0">
            <a:off x="9557309" y="3086100"/>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sp>
      </p:grpSp>
      <p:grpSp>
        <p:nvGrpSpPr>
          <p:cNvPr name="Group 47" id="47"/>
          <p:cNvGrpSpPr/>
          <p:nvPr/>
        </p:nvGrpSpPr>
        <p:grpSpPr>
          <a:xfrm rot="0">
            <a:off x="9557309" y="3086100"/>
            <a:ext cx="822960" cy="822960"/>
            <a:chOff x="0" y="0"/>
            <a:chExt cx="1097280" cy="1097280"/>
          </a:xfrm>
        </p:grpSpPr>
        <p:sp>
          <p:nvSpPr>
            <p:cNvPr name="Freeform 48" id="4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49" id="49"/>
          <p:cNvGrpSpPr/>
          <p:nvPr/>
        </p:nvGrpSpPr>
        <p:grpSpPr>
          <a:xfrm rot="0">
            <a:off x="9557309" y="3057525"/>
            <a:ext cx="822960" cy="851535"/>
            <a:chOff x="0" y="0"/>
            <a:chExt cx="1097280" cy="1135380"/>
          </a:xfrm>
        </p:grpSpPr>
        <p:sp>
          <p:nvSpPr>
            <p:cNvPr name="Freeform 50" id="50"/>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51" id="51"/>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52" id="52"/>
          <p:cNvSpPr txBox="true"/>
          <p:nvPr/>
        </p:nvSpPr>
        <p:spPr>
          <a:xfrm rot="0">
            <a:off x="9557309"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Hasil &amp; Pembahasan</a:t>
            </a:r>
          </a:p>
        </p:txBody>
      </p:sp>
      <p:sp>
        <p:nvSpPr>
          <p:cNvPr name="TextBox 53" id="53"/>
          <p:cNvSpPr txBox="true"/>
          <p:nvPr/>
        </p:nvSpPr>
        <p:spPr>
          <a:xfrm rot="0">
            <a:off x="955730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citra, validasi, skenario, implikasi</a:t>
            </a:r>
          </a:p>
        </p:txBody>
      </p:sp>
      <p:grpSp>
        <p:nvGrpSpPr>
          <p:cNvPr name="Group 54" id="54"/>
          <p:cNvGrpSpPr/>
          <p:nvPr/>
        </p:nvGrpSpPr>
        <p:grpSpPr>
          <a:xfrm rot="0">
            <a:off x="12102998" y="2743200"/>
            <a:ext cx="2537460" cy="4251960"/>
            <a:chOff x="0" y="0"/>
            <a:chExt cx="3383280" cy="5669280"/>
          </a:xfrm>
        </p:grpSpPr>
        <p:sp>
          <p:nvSpPr>
            <p:cNvPr name="Freeform 55" id="5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56" id="56"/>
          <p:cNvGrpSpPr/>
          <p:nvPr/>
        </p:nvGrpSpPr>
        <p:grpSpPr>
          <a:xfrm rot="0">
            <a:off x="12377318" y="3086100"/>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sp>
      </p:grpSp>
      <p:grpSp>
        <p:nvGrpSpPr>
          <p:cNvPr name="Group 58" id="58"/>
          <p:cNvGrpSpPr/>
          <p:nvPr/>
        </p:nvGrpSpPr>
        <p:grpSpPr>
          <a:xfrm rot="0">
            <a:off x="12377318" y="3086100"/>
            <a:ext cx="822960" cy="822960"/>
            <a:chOff x="0" y="0"/>
            <a:chExt cx="1097280" cy="1097280"/>
          </a:xfrm>
        </p:grpSpPr>
        <p:sp>
          <p:nvSpPr>
            <p:cNvPr name="Freeform 59" id="5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60" id="60"/>
          <p:cNvGrpSpPr/>
          <p:nvPr/>
        </p:nvGrpSpPr>
        <p:grpSpPr>
          <a:xfrm rot="0">
            <a:off x="12377318" y="3057525"/>
            <a:ext cx="822960" cy="851535"/>
            <a:chOff x="0" y="0"/>
            <a:chExt cx="1097280" cy="1135380"/>
          </a:xfrm>
        </p:grpSpPr>
        <p:sp>
          <p:nvSpPr>
            <p:cNvPr name="Freeform 61" id="6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62" id="62"/>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63" id="63"/>
          <p:cNvSpPr txBox="true"/>
          <p:nvPr/>
        </p:nvSpPr>
        <p:spPr>
          <a:xfrm rot="0">
            <a:off x="12377318"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Aplikasi</a:t>
            </a:r>
          </a:p>
        </p:txBody>
      </p:sp>
      <p:sp>
        <p:nvSpPr>
          <p:cNvPr name="TextBox 64" id="64"/>
          <p:cNvSpPr txBox="true"/>
          <p:nvPr/>
        </p:nvSpPr>
        <p:spPr>
          <a:xfrm rot="0">
            <a:off x="1237731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65" id="65"/>
          <p:cNvGrpSpPr/>
          <p:nvPr/>
        </p:nvGrpSpPr>
        <p:grpSpPr>
          <a:xfrm rot="0">
            <a:off x="14923008" y="2743200"/>
            <a:ext cx="2537460" cy="4251960"/>
            <a:chOff x="0" y="0"/>
            <a:chExt cx="3383280" cy="5669280"/>
          </a:xfrm>
        </p:grpSpPr>
        <p:sp>
          <p:nvSpPr>
            <p:cNvPr name="Freeform 66" id="6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sp>
      </p:grpSp>
      <p:grpSp>
        <p:nvGrpSpPr>
          <p:cNvPr name="Group 67" id="67"/>
          <p:cNvGrpSpPr/>
          <p:nvPr/>
        </p:nvGrpSpPr>
        <p:grpSpPr>
          <a:xfrm rot="0">
            <a:off x="15197328" y="3086100"/>
            <a:ext cx="822960" cy="822960"/>
            <a:chOff x="0" y="0"/>
            <a:chExt cx="1097280" cy="1097280"/>
          </a:xfrm>
        </p:grpSpPr>
        <p:sp>
          <p:nvSpPr>
            <p:cNvPr name="Freeform 68" id="6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sp>
      </p:grpSp>
      <p:grpSp>
        <p:nvGrpSpPr>
          <p:cNvPr name="Group 69" id="69"/>
          <p:cNvGrpSpPr/>
          <p:nvPr/>
        </p:nvGrpSpPr>
        <p:grpSpPr>
          <a:xfrm rot="0">
            <a:off x="15197328" y="3086100"/>
            <a:ext cx="822960" cy="822960"/>
            <a:chOff x="0" y="0"/>
            <a:chExt cx="1097280" cy="1097280"/>
          </a:xfrm>
        </p:grpSpPr>
        <p:sp>
          <p:nvSpPr>
            <p:cNvPr name="Freeform 70" id="7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sp>
      </p:grpSp>
      <p:grpSp>
        <p:nvGrpSpPr>
          <p:cNvPr name="Group 71" id="71"/>
          <p:cNvGrpSpPr/>
          <p:nvPr/>
        </p:nvGrpSpPr>
        <p:grpSpPr>
          <a:xfrm rot="0">
            <a:off x="15197328" y="3057525"/>
            <a:ext cx="822960" cy="851535"/>
            <a:chOff x="0" y="0"/>
            <a:chExt cx="1097280" cy="1135380"/>
          </a:xfrm>
        </p:grpSpPr>
        <p:sp>
          <p:nvSpPr>
            <p:cNvPr name="Freeform 72" id="7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sp>
        <p:sp>
          <p:nvSpPr>
            <p:cNvPr name="TextBox 73" id="73"/>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74" id="74"/>
          <p:cNvSpPr txBox="true"/>
          <p:nvPr/>
        </p:nvSpPr>
        <p:spPr>
          <a:xfrm rot="0">
            <a:off x="15197328" y="4175760"/>
            <a:ext cx="2057400" cy="110490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Penutup</a:t>
            </a:r>
          </a:p>
        </p:txBody>
      </p:sp>
      <p:sp>
        <p:nvSpPr>
          <p:cNvPr name="TextBox 75" id="75"/>
          <p:cNvSpPr txBox="true"/>
          <p:nvPr/>
        </p:nvSpPr>
        <p:spPr>
          <a:xfrm rot="0">
            <a:off x="1519732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Keterbatasan, kesimpulan, saran</a:t>
            </a:r>
          </a:p>
        </p:txBody>
      </p:sp>
      <p:sp>
        <p:nvSpPr>
          <p:cNvPr name="TextBox 76" id="76"/>
          <p:cNvSpPr txBox="true"/>
          <p:nvPr/>
        </p:nvSpPr>
        <p:spPr>
          <a:xfrm rot="0">
            <a:off x="822960" y="7585710"/>
            <a:ext cx="16637508" cy="643890"/>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Lampiran: parameter · LOOCV NTL · akurasi Dynamic World · indikator · uji perilaku · aplikasi · SFD · batas model · kondisi ekstrem · uji loop · kalibrasi · sensitivitas · persamaan · data historis</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666" r="0" b="-16666"/>
            </a:stretch>
          </a:blipFill>
        </p:spPr>
      </p:sp>
      <p:grpSp>
        <p:nvGrpSpPr>
          <p:cNvPr name="Group 3" id="3"/>
          <p:cNvGrpSpPr/>
          <p:nvPr/>
        </p:nvGrpSpPr>
        <p:grpSpPr>
          <a:xfrm rot="0">
            <a:off x="-192024" y="186407"/>
            <a:ext cx="2441448" cy="411480"/>
            <a:chOff x="0" y="0"/>
            <a:chExt cx="3255264" cy="548640"/>
          </a:xfrm>
        </p:grpSpPr>
        <p:sp>
          <p:nvSpPr>
            <p:cNvPr name="Freeform 4" id="4"/>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sp>
      </p:grpSp>
      <p:grpSp>
        <p:nvGrpSpPr>
          <p:cNvPr name="Group 5" id="5"/>
          <p:cNvGrpSpPr/>
          <p:nvPr/>
        </p:nvGrpSpPr>
        <p:grpSpPr>
          <a:xfrm rot="0">
            <a:off x="-192024" y="186407"/>
            <a:ext cx="2441448" cy="411480"/>
            <a:chOff x="0" y="0"/>
            <a:chExt cx="3255264" cy="548640"/>
          </a:xfrm>
        </p:grpSpPr>
        <p:sp>
          <p:nvSpPr>
            <p:cNvPr name="Freeform 6" id="6"/>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611" r="0" b="-65611"/>
              </a:stretch>
            </a:blipFill>
          </p:spPr>
        </p:sp>
        <p:sp>
          <p:nvSpPr>
            <p:cNvPr name="TextBox 7" id="7"/>
            <p:cNvSpPr txBox="true"/>
            <p:nvPr/>
          </p:nvSpPr>
          <p:spPr>
            <a:xfrm>
              <a:off x="0" y="-28575"/>
              <a:ext cx="3255264"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Latar Belakang</a:t>
              </a:r>
            </a:p>
          </p:txBody>
        </p:sp>
      </p:grpSp>
      <p:grpSp>
        <p:nvGrpSpPr>
          <p:cNvPr name="Group 8" id="8"/>
          <p:cNvGrpSpPr/>
          <p:nvPr/>
        </p:nvGrpSpPr>
        <p:grpSpPr>
          <a:xfrm rot="0">
            <a:off x="-516212" y="822075"/>
            <a:ext cx="11869757" cy="935567"/>
            <a:chOff x="0" y="0"/>
            <a:chExt cx="3126191" cy="246404"/>
          </a:xfrm>
        </p:grpSpPr>
        <p:sp>
          <p:nvSpPr>
            <p:cNvPr name="Freeform 9" id="9"/>
            <p:cNvSpPr/>
            <p:nvPr/>
          </p:nvSpPr>
          <p:spPr>
            <a:xfrm flipH="false" flipV="false" rot="0">
              <a:off x="0" y="0"/>
              <a:ext cx="3126191" cy="246404"/>
            </a:xfrm>
            <a:custGeom>
              <a:avLst/>
              <a:gdLst/>
              <a:ahLst/>
              <a:cxnLst/>
              <a:rect r="r" b="b" t="t" l="l"/>
              <a:pathLst>
                <a:path h="246404" w="3126191">
                  <a:moveTo>
                    <a:pt x="26090" y="0"/>
                  </a:moveTo>
                  <a:lnTo>
                    <a:pt x="3100102" y="0"/>
                  </a:lnTo>
                  <a:cubicBezTo>
                    <a:pt x="3114510" y="0"/>
                    <a:pt x="3126191" y="11681"/>
                    <a:pt x="3126191" y="26090"/>
                  </a:cubicBezTo>
                  <a:lnTo>
                    <a:pt x="3126191" y="220315"/>
                  </a:lnTo>
                  <a:cubicBezTo>
                    <a:pt x="3126191" y="234724"/>
                    <a:pt x="3114510" y="246404"/>
                    <a:pt x="3100102" y="246404"/>
                  </a:cubicBezTo>
                  <a:lnTo>
                    <a:pt x="26090" y="246404"/>
                  </a:lnTo>
                  <a:cubicBezTo>
                    <a:pt x="11681" y="246404"/>
                    <a:pt x="0" y="234724"/>
                    <a:pt x="0" y="220315"/>
                  </a:cubicBezTo>
                  <a:lnTo>
                    <a:pt x="0" y="26090"/>
                  </a:lnTo>
                  <a:cubicBezTo>
                    <a:pt x="0" y="11681"/>
                    <a:pt x="11681" y="0"/>
                    <a:pt x="26090" y="0"/>
                  </a:cubicBezTo>
                  <a:close/>
                </a:path>
              </a:pathLst>
            </a:custGeom>
            <a:solidFill>
              <a:srgbClr val="FFD230"/>
            </a:solidFill>
          </p:spPr>
        </p:sp>
        <p:sp>
          <p:nvSpPr>
            <p:cNvPr name="TextBox 10" id="10"/>
            <p:cNvSpPr txBox="true"/>
            <p:nvPr/>
          </p:nvSpPr>
          <p:spPr>
            <a:xfrm>
              <a:off x="0" y="-47625"/>
              <a:ext cx="3126191" cy="294029"/>
            </a:xfrm>
            <a:prstGeom prst="rect">
              <a:avLst/>
            </a:prstGeom>
          </p:spPr>
          <p:txBody>
            <a:bodyPr anchor="ctr" rtlCol="false" tIns="50800" lIns="50800" bIns="50800" rIns="50800"/>
            <a:lstStyle/>
            <a:p>
              <a:pPr algn="ctr">
                <a:lnSpc>
                  <a:spcPts val="2340"/>
                </a:lnSpc>
              </a:pPr>
            </a:p>
          </p:txBody>
        </p:sp>
      </p:grpSp>
      <p:sp>
        <p:nvSpPr>
          <p:cNvPr name="TextBox 11" id="11"/>
          <p:cNvSpPr txBox="true"/>
          <p:nvPr/>
        </p:nvSpPr>
        <p:spPr>
          <a:xfrm rot="0">
            <a:off x="250704" y="1011107"/>
            <a:ext cx="10988422" cy="603885"/>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2" id="12"/>
          <p:cNvGrpSpPr/>
          <p:nvPr/>
        </p:nvGrpSpPr>
        <p:grpSpPr>
          <a:xfrm rot="0">
            <a:off x="1028700" y="2569234"/>
            <a:ext cx="15990827" cy="6520414"/>
            <a:chOff x="0" y="0"/>
            <a:chExt cx="21321103" cy="8693885"/>
          </a:xfrm>
        </p:grpSpPr>
        <p:sp>
          <p:nvSpPr>
            <p:cNvPr name="Freeform 13" id="13"/>
            <p:cNvSpPr/>
            <p:nvPr/>
          </p:nvSpPr>
          <p:spPr>
            <a:xfrm flipH="false" flipV="false" rot="0">
              <a:off x="0" y="7601179"/>
              <a:ext cx="21321103" cy="1092707"/>
            </a:xfrm>
            <a:custGeom>
              <a:avLst/>
              <a:gdLst/>
              <a:ahLst/>
              <a:cxnLst/>
              <a:rect r="r" b="b" t="t" l="l"/>
              <a:pathLst>
                <a:path h="1092707" w="21321103">
                  <a:moveTo>
                    <a:pt x="0" y="0"/>
                  </a:moveTo>
                  <a:lnTo>
                    <a:pt x="21321103" y="0"/>
                  </a:lnTo>
                  <a:lnTo>
                    <a:pt x="21321103" y="1092706"/>
                  </a:lnTo>
                  <a:lnTo>
                    <a:pt x="0" y="1092706"/>
                  </a:lnTo>
                  <a:lnTo>
                    <a:pt x="0" y="0"/>
                  </a:lnTo>
                  <a:close/>
                </a:path>
              </a:pathLst>
            </a:custGeom>
            <a:blipFill>
              <a:blip r:embed="rId5"/>
              <a:stretch>
                <a:fillRect l="0" t="0" r="0" b="0"/>
              </a:stretch>
            </a:blipFill>
          </p:spPr>
        </p:sp>
        <p:grpSp>
          <p:nvGrpSpPr>
            <p:cNvPr name="Group 14" id="14"/>
            <p:cNvGrpSpPr/>
            <p:nvPr/>
          </p:nvGrpSpPr>
          <p:grpSpPr>
            <a:xfrm rot="0">
              <a:off x="0" y="2971525"/>
              <a:ext cx="21321103" cy="4908152"/>
              <a:chOff x="0" y="0"/>
              <a:chExt cx="4211576" cy="969512"/>
            </a:xfrm>
          </p:grpSpPr>
          <p:sp>
            <p:nvSpPr>
              <p:cNvPr name="Freeform 15" id="15"/>
              <p:cNvSpPr/>
              <p:nvPr/>
            </p:nvSpPr>
            <p:spPr>
              <a:xfrm flipH="false" flipV="false" rot="0">
                <a:off x="0" y="0"/>
                <a:ext cx="4211576" cy="969512"/>
              </a:xfrm>
              <a:custGeom>
                <a:avLst/>
                <a:gdLst/>
                <a:ahLst/>
                <a:cxnLst/>
                <a:rect r="r" b="b" t="t" l="l"/>
                <a:pathLst>
                  <a:path h="969512" w="4211576">
                    <a:moveTo>
                      <a:pt x="23723" y="0"/>
                    </a:moveTo>
                    <a:lnTo>
                      <a:pt x="4187853" y="0"/>
                    </a:lnTo>
                    <a:cubicBezTo>
                      <a:pt x="4194144" y="0"/>
                      <a:pt x="4200179" y="2499"/>
                      <a:pt x="4204627" y="6948"/>
                    </a:cubicBezTo>
                    <a:cubicBezTo>
                      <a:pt x="4209076" y="11397"/>
                      <a:pt x="4211576" y="17431"/>
                      <a:pt x="4211576" y="23723"/>
                    </a:cubicBezTo>
                    <a:lnTo>
                      <a:pt x="4211576" y="945788"/>
                    </a:lnTo>
                    <a:cubicBezTo>
                      <a:pt x="4211576" y="958890"/>
                      <a:pt x="4200955" y="969512"/>
                      <a:pt x="4187853" y="969512"/>
                    </a:cubicBezTo>
                    <a:lnTo>
                      <a:pt x="23723" y="969512"/>
                    </a:lnTo>
                    <a:cubicBezTo>
                      <a:pt x="10621" y="969512"/>
                      <a:pt x="0" y="958890"/>
                      <a:pt x="0" y="945788"/>
                    </a:cubicBezTo>
                    <a:lnTo>
                      <a:pt x="0" y="23723"/>
                    </a:lnTo>
                    <a:cubicBezTo>
                      <a:pt x="0" y="10621"/>
                      <a:pt x="10621" y="0"/>
                      <a:pt x="23723" y="0"/>
                    </a:cubicBezTo>
                    <a:close/>
                  </a:path>
                </a:pathLst>
              </a:custGeom>
              <a:solidFill>
                <a:srgbClr val="0B5563"/>
              </a:solidFill>
            </p:spPr>
          </p:sp>
          <p:sp>
            <p:nvSpPr>
              <p:cNvPr name="TextBox 16" id="16"/>
              <p:cNvSpPr txBox="true"/>
              <p:nvPr/>
            </p:nvSpPr>
            <p:spPr>
              <a:xfrm>
                <a:off x="0" y="-104775"/>
                <a:ext cx="4211576" cy="1074287"/>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1907418" y="0"/>
              <a:ext cx="3603413" cy="3603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sp>
          <p:sp>
            <p:nvSpPr>
              <p:cNvPr name="TextBox 19" id="19"/>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9018694" y="0"/>
              <a:ext cx="3603413" cy="360341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sp>
          <p:sp>
            <p:nvSpPr>
              <p:cNvPr name="TextBox 22" id="22"/>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16123554" y="0"/>
              <a:ext cx="3603413" cy="360341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sp>
          <p:sp>
            <p:nvSpPr>
              <p:cNvPr name="TextBox 25" id="25"/>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sp>
          <p:nvSpPr>
            <p:cNvPr name="Freeform 26" id="26"/>
            <p:cNvSpPr/>
            <p:nvPr/>
          </p:nvSpPr>
          <p:spPr>
            <a:xfrm flipH="false" flipV="false" rot="-5400000">
              <a:off x="4870787" y="5302900"/>
              <a:ext cx="4788313" cy="245401"/>
            </a:xfrm>
            <a:custGeom>
              <a:avLst/>
              <a:gdLst/>
              <a:ahLst/>
              <a:cxnLst/>
              <a:rect r="r" b="b" t="t" l="l"/>
              <a:pathLst>
                <a:path h="245401" w="4788313">
                  <a:moveTo>
                    <a:pt x="0" y="0"/>
                  </a:moveTo>
                  <a:lnTo>
                    <a:pt x="4788313" y="0"/>
                  </a:lnTo>
                  <a:lnTo>
                    <a:pt x="4788313" y="245401"/>
                  </a:lnTo>
                  <a:lnTo>
                    <a:pt x="0" y="245401"/>
                  </a:lnTo>
                  <a:lnTo>
                    <a:pt x="0" y="0"/>
                  </a:lnTo>
                  <a:close/>
                </a:path>
              </a:pathLst>
            </a:custGeom>
            <a:blipFill>
              <a:blip r:embed="rId5"/>
              <a:stretch>
                <a:fillRect l="0" t="0" r="0" b="0"/>
              </a:stretch>
            </a:blipFill>
          </p:spPr>
        </p:sp>
        <p:sp>
          <p:nvSpPr>
            <p:cNvPr name="Freeform 27" id="27"/>
            <p:cNvSpPr/>
            <p:nvPr/>
          </p:nvSpPr>
          <p:spPr>
            <a:xfrm flipH="false" flipV="false" rot="-5400000">
              <a:off x="12217097" y="5302900"/>
              <a:ext cx="4788313" cy="245401"/>
            </a:xfrm>
            <a:custGeom>
              <a:avLst/>
              <a:gdLst/>
              <a:ahLst/>
              <a:cxnLst/>
              <a:rect r="r" b="b" t="t" l="l"/>
              <a:pathLst>
                <a:path h="245401" w="4788313">
                  <a:moveTo>
                    <a:pt x="0" y="0"/>
                  </a:moveTo>
                  <a:lnTo>
                    <a:pt x="4788314" y="0"/>
                  </a:lnTo>
                  <a:lnTo>
                    <a:pt x="4788314" y="245401"/>
                  </a:lnTo>
                  <a:lnTo>
                    <a:pt x="0" y="245401"/>
                  </a:lnTo>
                  <a:lnTo>
                    <a:pt x="0" y="0"/>
                  </a:lnTo>
                  <a:close/>
                </a:path>
              </a:pathLst>
            </a:custGeom>
            <a:blipFill>
              <a:blip r:embed="rId5"/>
              <a:stretch>
                <a:fillRect l="0" t="0" r="0" b="0"/>
              </a:stretch>
            </a:blipFill>
          </p:spPr>
        </p:sp>
        <p:sp>
          <p:nvSpPr>
            <p:cNvPr name="Freeform 28" id="28"/>
            <p:cNvSpPr/>
            <p:nvPr/>
          </p:nvSpPr>
          <p:spPr>
            <a:xfrm flipH="false" flipV="false" rot="0">
              <a:off x="2638675" y="703809"/>
              <a:ext cx="2140899" cy="2195794"/>
            </a:xfrm>
            <a:custGeom>
              <a:avLst/>
              <a:gdLst/>
              <a:ahLst/>
              <a:cxnLst/>
              <a:rect r="r" b="b" t="t" l="l"/>
              <a:pathLst>
                <a:path h="2195794" w="2140899">
                  <a:moveTo>
                    <a:pt x="0" y="0"/>
                  </a:moveTo>
                  <a:lnTo>
                    <a:pt x="2140899" y="0"/>
                  </a:lnTo>
                  <a:lnTo>
                    <a:pt x="2140899" y="2195794"/>
                  </a:lnTo>
                  <a:lnTo>
                    <a:pt x="0" y="2195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9674226" y="865021"/>
              <a:ext cx="2470872" cy="1873370"/>
            </a:xfrm>
            <a:custGeom>
              <a:avLst/>
              <a:gdLst/>
              <a:ahLst/>
              <a:cxnLst/>
              <a:rect r="r" b="b" t="t" l="l"/>
              <a:pathLst>
                <a:path h="1873370" w="2470872">
                  <a:moveTo>
                    <a:pt x="0" y="0"/>
                  </a:moveTo>
                  <a:lnTo>
                    <a:pt x="2470872" y="0"/>
                  </a:lnTo>
                  <a:lnTo>
                    <a:pt x="2470872" y="1873370"/>
                  </a:lnTo>
                  <a:lnTo>
                    <a:pt x="0" y="18733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16781573" y="658019"/>
              <a:ext cx="2287374" cy="2287374"/>
            </a:xfrm>
            <a:custGeom>
              <a:avLst/>
              <a:gdLst/>
              <a:ahLst/>
              <a:cxnLst/>
              <a:rect r="r" b="b" t="t" l="l"/>
              <a:pathLst>
                <a:path h="2287374" w="2287374">
                  <a:moveTo>
                    <a:pt x="0" y="0"/>
                  </a:moveTo>
                  <a:lnTo>
                    <a:pt x="2287375" y="0"/>
                  </a:lnTo>
                  <a:lnTo>
                    <a:pt x="2287375" y="2287374"/>
                  </a:lnTo>
                  <a:lnTo>
                    <a:pt x="0" y="2287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1392471" y="3990104"/>
              <a:ext cx="463330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32" id="32"/>
            <p:cNvSpPr txBox="true"/>
            <p:nvPr/>
          </p:nvSpPr>
          <p:spPr>
            <a:xfrm rot="0">
              <a:off x="8027623" y="3990104"/>
              <a:ext cx="557408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3" id="33"/>
            <p:cNvSpPr txBox="true"/>
            <p:nvPr/>
          </p:nvSpPr>
          <p:spPr>
            <a:xfrm rot="0">
              <a:off x="15615746" y="3653554"/>
              <a:ext cx="4633307" cy="14911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4" id="34"/>
            <p:cNvSpPr txBox="true"/>
            <p:nvPr/>
          </p:nvSpPr>
          <p:spPr>
            <a:xfrm rot="0">
              <a:off x="915986"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5" id="35"/>
            <p:cNvSpPr txBox="true"/>
            <p:nvPr/>
          </p:nvSpPr>
          <p:spPr>
            <a:xfrm rot="0">
              <a:off x="8027623"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6" id="36"/>
            <p:cNvSpPr txBox="true"/>
            <p:nvPr/>
          </p:nvSpPr>
          <p:spPr>
            <a:xfrm rot="0">
              <a:off x="15139261" y="5128213"/>
              <a:ext cx="5586278" cy="18880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grpSp>
        <p:nvGrpSpPr>
          <p:cNvPr name="Group 37" id="37"/>
          <p:cNvGrpSpPr/>
          <p:nvPr/>
        </p:nvGrpSpPr>
        <p:grpSpPr>
          <a:xfrm rot="0">
            <a:off x="822960" y="966978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700" r="0" b="-339700"/>
              </a:stretch>
            </a:blipFill>
          </p:spPr>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0" id="40"/>
          <p:cNvSpPr txBox="true"/>
          <p:nvPr/>
        </p:nvSpPr>
        <p:spPr>
          <a:xfrm rot="0">
            <a:off x="1148586" y="8611614"/>
            <a:ext cx="15990827" cy="323850"/>
          </a:xfrm>
          <a:prstGeom prst="rect">
            <a:avLst/>
          </a:prstGeom>
        </p:spPr>
        <p:txBody>
          <a:bodyPr anchor="t" rtlCol="false" tIns="0" lIns="0" bIns="0" rIns="0">
            <a:spAutoFit/>
          </a:bodyPr>
          <a:lstStyle/>
          <a:p>
            <a:pPr algn="ctr">
              <a:lnSpc>
                <a:spcPts val="2250"/>
              </a:lnSpc>
              <a:spcBef>
                <a:spcPct val="0"/>
              </a:spcBef>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1" id="41"/>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
        <p:nvSpPr>
          <p:cNvPr name="TextBox 42" id="4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Pariwisata adalah sektor strategis yang terus tumbuh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grpSp>
        <p:nvGrpSpPr>
          <p:cNvPr name="Group 53" id="53"/>
          <p:cNvGrpSpPr/>
          <p:nvPr/>
        </p:nvGrpSpPr>
        <p:grpSpPr>
          <a:xfrm rot="0">
            <a:off x="-60074" y="1576321"/>
            <a:ext cx="10596429" cy="7790183"/>
            <a:chOff x="0" y="0"/>
            <a:chExt cx="14128572" cy="10386911"/>
          </a:xfrm>
        </p:grpSpPr>
        <p:sp>
          <p:nvSpPr>
            <p:cNvPr name="Freeform 54" id="54"/>
            <p:cNvSpPr/>
            <p:nvPr/>
          </p:nvSpPr>
          <p:spPr>
            <a:xfrm flipH="false" flipV="false" rot="0">
              <a:off x="0" y="0"/>
              <a:ext cx="14128623" cy="10386949"/>
            </a:xfrm>
            <a:custGeom>
              <a:avLst/>
              <a:gdLst/>
              <a:ahLst/>
              <a:cxnLst/>
              <a:rect r="r" b="b" t="t" l="l"/>
              <a:pathLst>
                <a:path h="10386949" w="14128623">
                  <a:moveTo>
                    <a:pt x="0" y="0"/>
                  </a:moveTo>
                  <a:lnTo>
                    <a:pt x="14128623" y="0"/>
                  </a:lnTo>
                  <a:lnTo>
                    <a:pt x="14128623" y="10386949"/>
                  </a:lnTo>
                  <a:lnTo>
                    <a:pt x="0" y="10386949"/>
                  </a:lnTo>
                  <a:lnTo>
                    <a:pt x="0" y="0"/>
                  </a:lnTo>
                  <a:close/>
                </a:path>
              </a:pathLst>
            </a:custGeom>
            <a:blipFill>
              <a:blip r:embed="rId6"/>
              <a:stretch>
                <a:fillRect l="0" t="-30" r="0" b="-29"/>
              </a:stretch>
            </a:blipFill>
          </p:spPr>
        </p:sp>
      </p:grpSp>
      <p:sp>
        <p:nvSpPr>
          <p:cNvPr name="TextBox 55" id="55"/>
          <p:cNvSpPr txBox="true"/>
          <p:nvPr/>
        </p:nvSpPr>
        <p:spPr>
          <a:xfrm rot="0">
            <a:off x="822960" y="8671560"/>
            <a:ext cx="8229600" cy="44958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56" id="56"/>
          <p:cNvGrpSpPr/>
          <p:nvPr/>
        </p:nvGrpSpPr>
        <p:grpSpPr>
          <a:xfrm rot="0">
            <a:off x="9780365" y="2199132"/>
            <a:ext cx="3652771" cy="3011243"/>
            <a:chOff x="0" y="0"/>
            <a:chExt cx="4870361" cy="4014991"/>
          </a:xfrm>
        </p:grpSpPr>
        <p:sp>
          <p:nvSpPr>
            <p:cNvPr name="Freeform 57" id="57"/>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58" id="58"/>
          <p:cNvSpPr txBox="true"/>
          <p:nvPr/>
        </p:nvSpPr>
        <p:spPr>
          <a:xfrm rot="0">
            <a:off x="10042217"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59" id="59"/>
          <p:cNvGrpSpPr/>
          <p:nvPr/>
        </p:nvGrpSpPr>
        <p:grpSpPr>
          <a:xfrm rot="0">
            <a:off x="10042217" y="2788291"/>
            <a:ext cx="3142164" cy="916467"/>
            <a:chOff x="0" y="0"/>
            <a:chExt cx="4189552" cy="1221956"/>
          </a:xfrm>
        </p:grpSpPr>
        <p:sp>
          <p:nvSpPr>
            <p:cNvPr name="Freeform 60" id="60"/>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61" id="61"/>
          <p:cNvGrpSpPr/>
          <p:nvPr/>
        </p:nvGrpSpPr>
        <p:grpSpPr>
          <a:xfrm rot="0">
            <a:off x="10042217" y="2726922"/>
            <a:ext cx="3142164" cy="977836"/>
            <a:chOff x="0" y="0"/>
            <a:chExt cx="4189552" cy="1303782"/>
          </a:xfrm>
        </p:grpSpPr>
        <p:sp>
          <p:nvSpPr>
            <p:cNvPr name="Freeform 62" id="62"/>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63" id="63"/>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 miliar</a:t>
              </a:r>
            </a:p>
          </p:txBody>
        </p:sp>
      </p:grpSp>
      <p:sp>
        <p:nvSpPr>
          <p:cNvPr name="TextBox 64" id="64"/>
          <p:cNvSpPr txBox="true"/>
          <p:nvPr/>
        </p:nvSpPr>
        <p:spPr>
          <a:xfrm rot="0">
            <a:off x="10042217"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65" id="65"/>
          <p:cNvGrpSpPr/>
          <p:nvPr/>
        </p:nvGrpSpPr>
        <p:grpSpPr>
          <a:xfrm rot="0">
            <a:off x="13694978" y="2199132"/>
            <a:ext cx="3652771" cy="3011243"/>
            <a:chOff x="0" y="0"/>
            <a:chExt cx="4870361" cy="4014991"/>
          </a:xfrm>
        </p:grpSpPr>
        <p:sp>
          <p:nvSpPr>
            <p:cNvPr name="Freeform 66" id="66"/>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67" id="67"/>
          <p:cNvSpPr txBox="true"/>
          <p:nvPr/>
        </p:nvSpPr>
        <p:spPr>
          <a:xfrm rot="0">
            <a:off x="13956830"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68" id="68"/>
          <p:cNvGrpSpPr/>
          <p:nvPr/>
        </p:nvGrpSpPr>
        <p:grpSpPr>
          <a:xfrm rot="0">
            <a:off x="13956830" y="2788291"/>
            <a:ext cx="3142164" cy="916467"/>
            <a:chOff x="0" y="0"/>
            <a:chExt cx="4189552" cy="1221956"/>
          </a:xfrm>
        </p:grpSpPr>
        <p:sp>
          <p:nvSpPr>
            <p:cNvPr name="Freeform 69" id="69"/>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0" id="70"/>
          <p:cNvGrpSpPr/>
          <p:nvPr/>
        </p:nvGrpSpPr>
        <p:grpSpPr>
          <a:xfrm rot="0">
            <a:off x="13956830" y="2726922"/>
            <a:ext cx="3142164" cy="977836"/>
            <a:chOff x="0" y="0"/>
            <a:chExt cx="4189552" cy="1303782"/>
          </a:xfrm>
        </p:grpSpPr>
        <p:sp>
          <p:nvSpPr>
            <p:cNvPr name="Freeform 71" id="71"/>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72" id="72"/>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10%</a:t>
              </a:r>
            </a:p>
          </p:txBody>
        </p:sp>
      </p:grpSp>
      <p:sp>
        <p:nvSpPr>
          <p:cNvPr name="TextBox 73" id="73"/>
          <p:cNvSpPr txBox="true"/>
          <p:nvPr/>
        </p:nvSpPr>
        <p:spPr>
          <a:xfrm rot="0">
            <a:off x="13956830"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74" id="74"/>
          <p:cNvGrpSpPr/>
          <p:nvPr/>
        </p:nvGrpSpPr>
        <p:grpSpPr>
          <a:xfrm rot="0">
            <a:off x="9780365" y="5472217"/>
            <a:ext cx="3652771" cy="3011243"/>
            <a:chOff x="0" y="0"/>
            <a:chExt cx="4870361" cy="4014991"/>
          </a:xfrm>
        </p:grpSpPr>
        <p:sp>
          <p:nvSpPr>
            <p:cNvPr name="Freeform 75" id="75"/>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76" id="76"/>
          <p:cNvSpPr txBox="true"/>
          <p:nvPr/>
        </p:nvSpPr>
        <p:spPr>
          <a:xfrm rot="0">
            <a:off x="10042217" y="5661450"/>
            <a:ext cx="3142164" cy="26972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77" id="77"/>
          <p:cNvGrpSpPr/>
          <p:nvPr/>
        </p:nvGrpSpPr>
        <p:grpSpPr>
          <a:xfrm rot="0">
            <a:off x="10042217" y="6061377"/>
            <a:ext cx="3142164" cy="916467"/>
            <a:chOff x="0" y="0"/>
            <a:chExt cx="4189552" cy="1221956"/>
          </a:xfrm>
        </p:grpSpPr>
        <p:sp>
          <p:nvSpPr>
            <p:cNvPr name="Freeform 78" id="78"/>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9" id="79"/>
          <p:cNvGrpSpPr/>
          <p:nvPr/>
        </p:nvGrpSpPr>
        <p:grpSpPr>
          <a:xfrm rot="0">
            <a:off x="10042217" y="6000007"/>
            <a:ext cx="3142164" cy="977836"/>
            <a:chOff x="0" y="0"/>
            <a:chExt cx="4189552" cy="1303782"/>
          </a:xfrm>
        </p:grpSpPr>
        <p:sp>
          <p:nvSpPr>
            <p:cNvPr name="Freeform 80" id="80"/>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81" id="81"/>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2,2% → 4,9%</a:t>
              </a:r>
            </a:p>
          </p:txBody>
        </p:sp>
      </p:grpSp>
      <p:sp>
        <p:nvSpPr>
          <p:cNvPr name="TextBox 82" id="82"/>
          <p:cNvSpPr txBox="true"/>
          <p:nvPr/>
        </p:nvSpPr>
        <p:spPr>
          <a:xfrm rot="0">
            <a:off x="10042217" y="7042090"/>
            <a:ext cx="3142164" cy="612191"/>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terhadap PDB, 2020 → 2025</a:t>
            </a:r>
          </a:p>
        </p:txBody>
      </p:sp>
      <p:grpSp>
        <p:nvGrpSpPr>
          <p:cNvPr name="Group 83" id="83"/>
          <p:cNvGrpSpPr/>
          <p:nvPr/>
        </p:nvGrpSpPr>
        <p:grpSpPr>
          <a:xfrm rot="0">
            <a:off x="13694978" y="5472217"/>
            <a:ext cx="3652771" cy="3011243"/>
            <a:chOff x="0" y="0"/>
            <a:chExt cx="4870361" cy="4014991"/>
          </a:xfrm>
        </p:grpSpPr>
        <p:sp>
          <p:nvSpPr>
            <p:cNvPr name="Freeform 84" id="8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85" id="85"/>
          <p:cNvSpPr txBox="true"/>
          <p:nvPr/>
        </p:nvSpPr>
        <p:spPr>
          <a:xfrm rot="0">
            <a:off x="13956830" y="5661450"/>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86" id="86"/>
          <p:cNvGrpSpPr/>
          <p:nvPr/>
        </p:nvGrpSpPr>
        <p:grpSpPr>
          <a:xfrm rot="0">
            <a:off x="13956830" y="6061377"/>
            <a:ext cx="3142164" cy="916467"/>
            <a:chOff x="0" y="0"/>
            <a:chExt cx="4189552" cy="1221956"/>
          </a:xfrm>
        </p:grpSpPr>
        <p:sp>
          <p:nvSpPr>
            <p:cNvPr name="Freeform 87" id="8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88" id="88"/>
          <p:cNvGrpSpPr/>
          <p:nvPr/>
        </p:nvGrpSpPr>
        <p:grpSpPr>
          <a:xfrm rot="0">
            <a:off x="13956830" y="6000007"/>
            <a:ext cx="3142164" cy="977836"/>
            <a:chOff x="0" y="0"/>
            <a:chExt cx="4189552" cy="1303782"/>
          </a:xfrm>
        </p:grpSpPr>
        <p:sp>
          <p:nvSpPr>
            <p:cNvPr name="Freeform 89" id="89"/>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90" id="90"/>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15,38 juta</a:t>
              </a:r>
            </a:p>
          </p:txBody>
        </p:sp>
      </p:grpSp>
      <p:sp>
        <p:nvSpPr>
          <p:cNvPr name="TextBox 91" id="91"/>
          <p:cNvSpPr txBox="true"/>
          <p:nvPr/>
        </p:nvSpPr>
        <p:spPr>
          <a:xfrm rot="0">
            <a:off x="13956830" y="7042090"/>
            <a:ext cx="3142164" cy="884949"/>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Peran strategis pariwisata di Indonesia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53" id="53"/>
          <p:cNvSpPr txBox="true"/>
          <p:nvPr/>
        </p:nvSpPr>
        <p:spPr>
          <a:xfrm rot="0">
            <a:off x="822960"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sp>
        <p:nvSpPr>
          <p:cNvPr name="TextBox 55" id="55"/>
          <p:cNvSpPr txBox="true"/>
          <p:nvPr/>
        </p:nvSpPr>
        <p:spPr>
          <a:xfrm rot="0">
            <a:off x="9354312"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56" id="56"/>
          <p:cNvSpPr txBox="true"/>
          <p:nvPr/>
        </p:nvSpPr>
        <p:spPr>
          <a:xfrm rot="0">
            <a:off x="9354312"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pic>
        <p:nvPicPr>
          <p:cNvPr name="Picture 57" id="57"/>
          <p:cNvPicPr>
            <a:picLocks noChangeAspect="true"/>
          </p:cNvPicPr>
          <p:nvPr/>
        </p:nvPicPr>
        <p:blipFill>
          <a:blip r:embed="rId6"/>
          <a:stretch>
            <a:fillRect/>
          </a:stretch>
        </p:blipFill>
        <p:spPr>
          <a:xfrm rot="0">
            <a:off x="18288" y="1618488"/>
            <a:ext cx="9656064" cy="7735824"/>
          </a:xfrm>
          <a:prstGeom prst="rect">
            <a:avLst/>
          </a:prstGeom>
        </p:spPr>
      </p:pic>
      <p:pic>
        <p:nvPicPr>
          <p:cNvPr name="Picture 58" id="58"/>
          <p:cNvPicPr>
            <a:picLocks noChangeAspect="true"/>
          </p:cNvPicPr>
          <p:nvPr/>
        </p:nvPicPr>
        <p:blipFill>
          <a:blip r:embed="rId7"/>
          <a:stretch>
            <a:fillRect/>
          </a:stretch>
        </p:blipFill>
        <p:spPr>
          <a:xfrm rot="0">
            <a:off x="8009735" y="1722083"/>
            <a:ext cx="10369742" cy="7408544"/>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8042148"/>
            <a:ext cx="16642080" cy="1533935"/>
            <a:chOff x="0" y="0"/>
            <a:chExt cx="22189440" cy="2045246"/>
          </a:xfrm>
        </p:grpSpPr>
        <p:sp>
          <p:nvSpPr>
            <p:cNvPr name="Freeform 52" id="52"/>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sp>
      </p:grpSp>
      <p:grpSp>
        <p:nvGrpSpPr>
          <p:cNvPr name="Group 53" id="53"/>
          <p:cNvGrpSpPr/>
          <p:nvPr/>
        </p:nvGrpSpPr>
        <p:grpSpPr>
          <a:xfrm rot="0">
            <a:off x="1303153" y="8250765"/>
            <a:ext cx="15681693" cy="674932"/>
            <a:chOff x="0" y="0"/>
            <a:chExt cx="20908924" cy="899909"/>
          </a:xfrm>
        </p:grpSpPr>
        <p:sp>
          <p:nvSpPr>
            <p:cNvPr name="Freeform 54" id="54"/>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4" r="0" b="-402401"/>
              </a:stretch>
            </a:blipFill>
          </p:spPr>
        </p:sp>
      </p:grpSp>
      <p:grpSp>
        <p:nvGrpSpPr>
          <p:cNvPr name="Group 55" id="55"/>
          <p:cNvGrpSpPr/>
          <p:nvPr/>
        </p:nvGrpSpPr>
        <p:grpSpPr>
          <a:xfrm rot="0">
            <a:off x="1303153" y="8215046"/>
            <a:ext cx="15681693" cy="710651"/>
            <a:chOff x="0" y="0"/>
            <a:chExt cx="20908924" cy="947534"/>
          </a:xfrm>
        </p:grpSpPr>
        <p:sp>
          <p:nvSpPr>
            <p:cNvPr name="Freeform 56" id="56"/>
            <p:cNvSpPr/>
            <p:nvPr/>
          </p:nvSpPr>
          <p:spPr>
            <a:xfrm flipH="false" flipV="false" rot="0">
              <a:off x="0" y="0"/>
              <a:ext cx="20908928" cy="947534"/>
            </a:xfrm>
            <a:custGeom>
              <a:avLst/>
              <a:gdLst/>
              <a:ahLst/>
              <a:cxnLst/>
              <a:rect r="r" b="b" t="t" l="l"/>
              <a:pathLst>
                <a:path h="947534" w="20908928">
                  <a:moveTo>
                    <a:pt x="0" y="0"/>
                  </a:moveTo>
                  <a:lnTo>
                    <a:pt x="20908928" y="0"/>
                  </a:lnTo>
                  <a:lnTo>
                    <a:pt x="20908928" y="947534"/>
                  </a:lnTo>
                  <a:lnTo>
                    <a:pt x="0" y="947534"/>
                  </a:lnTo>
                  <a:close/>
                </a:path>
              </a:pathLst>
            </a:custGeom>
            <a:blipFill>
              <a:blip r:embed="rId5">
                <a:alphaModFix amt="0"/>
              </a:blip>
              <a:stretch>
                <a:fillRect l="0" t="-379969" r="0" b="-379970"/>
              </a:stretch>
            </a:blipFill>
          </p:spPr>
        </p:sp>
        <p:sp>
          <p:nvSpPr>
            <p:cNvPr name="TextBox 57" id="57"/>
            <p:cNvSpPr txBox="true"/>
            <p:nvPr/>
          </p:nvSpPr>
          <p:spPr>
            <a:xfrm>
              <a:off x="0" y="-47625"/>
              <a:ext cx="20908924" cy="995159"/>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58" id="58"/>
          <p:cNvGrpSpPr/>
          <p:nvPr/>
        </p:nvGrpSpPr>
        <p:grpSpPr>
          <a:xfrm rot="0">
            <a:off x="1303153" y="8962511"/>
            <a:ext cx="15681693" cy="429501"/>
            <a:chOff x="0" y="0"/>
            <a:chExt cx="20908924" cy="572668"/>
          </a:xfrm>
        </p:grpSpPr>
        <p:sp>
          <p:nvSpPr>
            <p:cNvPr name="Freeform 59" id="59"/>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0" r="0" b="-660964"/>
              </a:stretch>
            </a:blipFill>
          </p:spPr>
        </p:sp>
      </p:grpSp>
      <p:grpSp>
        <p:nvGrpSpPr>
          <p:cNvPr name="Group 60" id="60"/>
          <p:cNvGrpSpPr/>
          <p:nvPr/>
        </p:nvGrpSpPr>
        <p:grpSpPr>
          <a:xfrm rot="0">
            <a:off x="1303153" y="8926792"/>
            <a:ext cx="15681693" cy="465220"/>
            <a:chOff x="0" y="0"/>
            <a:chExt cx="20908924" cy="620293"/>
          </a:xfrm>
        </p:grpSpPr>
        <p:sp>
          <p:nvSpPr>
            <p:cNvPr name="Freeform 61" id="61"/>
            <p:cNvSpPr/>
            <p:nvPr/>
          </p:nvSpPr>
          <p:spPr>
            <a:xfrm flipH="false" flipV="false" rot="0">
              <a:off x="0" y="0"/>
              <a:ext cx="20908928" cy="620294"/>
            </a:xfrm>
            <a:custGeom>
              <a:avLst/>
              <a:gdLst/>
              <a:ahLst/>
              <a:cxnLst/>
              <a:rect r="r" b="b" t="t" l="l"/>
              <a:pathLst>
                <a:path h="620294" w="20908928">
                  <a:moveTo>
                    <a:pt x="0" y="0"/>
                  </a:moveTo>
                  <a:lnTo>
                    <a:pt x="20908928" y="0"/>
                  </a:lnTo>
                  <a:lnTo>
                    <a:pt x="20908928" y="620294"/>
                  </a:lnTo>
                  <a:lnTo>
                    <a:pt x="0" y="620294"/>
                  </a:lnTo>
                  <a:close/>
                </a:path>
              </a:pathLst>
            </a:custGeom>
            <a:blipFill>
              <a:blip r:embed="rId5">
                <a:alphaModFix amt="0"/>
              </a:blip>
              <a:stretch>
                <a:fillRect l="0" t="-606803" r="0" b="-606803"/>
              </a:stretch>
            </a:blipFill>
          </p:spPr>
        </p:sp>
        <p:sp>
          <p:nvSpPr>
            <p:cNvPr name="TextBox 62" id="62"/>
            <p:cNvSpPr txBox="true"/>
            <p:nvPr/>
          </p:nvSpPr>
          <p:spPr>
            <a:xfrm>
              <a:off x="0" y="-47625"/>
              <a:ext cx="20908924" cy="667918"/>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63" id="63"/>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DIY menjadi destinasi utama dengan posisi kebijakan yang kuat</a:t>
            </a:r>
          </a:p>
        </p:txBody>
      </p:sp>
      <p:sp>
        <p:nvSpPr>
          <p:cNvPr name="Freeform 64" id="64"/>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5" id="65"/>
          <p:cNvGrpSpPr/>
          <p:nvPr/>
        </p:nvGrpSpPr>
        <p:grpSpPr>
          <a:xfrm rot="0">
            <a:off x="9825304" y="2117550"/>
            <a:ext cx="3241434" cy="1190730"/>
            <a:chOff x="0" y="0"/>
            <a:chExt cx="4321912" cy="1587640"/>
          </a:xfrm>
        </p:grpSpPr>
        <p:sp>
          <p:nvSpPr>
            <p:cNvPr name="Freeform 66" id="66"/>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67" id="67"/>
          <p:cNvGrpSpPr/>
          <p:nvPr/>
        </p:nvGrpSpPr>
        <p:grpSpPr>
          <a:xfrm rot="0">
            <a:off x="9825304" y="2055533"/>
            <a:ext cx="3241434" cy="1252747"/>
            <a:chOff x="0" y="0"/>
            <a:chExt cx="4321912" cy="1670329"/>
          </a:xfrm>
        </p:grpSpPr>
        <p:sp>
          <p:nvSpPr>
            <p:cNvPr name="Freeform 68" id="68"/>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69" id="69"/>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&gt;40 juta</a:t>
              </a:r>
            </a:p>
          </p:txBody>
        </p:sp>
      </p:grpSp>
      <p:sp>
        <p:nvSpPr>
          <p:cNvPr name="TextBox 70" id="70"/>
          <p:cNvSpPr txBox="true"/>
          <p:nvPr/>
        </p:nvSpPr>
        <p:spPr>
          <a:xfrm rot="0">
            <a:off x="9825304"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71" id="7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9825304" y="5258972"/>
            <a:ext cx="3241434" cy="1190730"/>
            <a:chOff x="0" y="0"/>
            <a:chExt cx="4321912" cy="1587640"/>
          </a:xfrm>
        </p:grpSpPr>
        <p:sp>
          <p:nvSpPr>
            <p:cNvPr name="Freeform 73" id="7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74" id="74"/>
          <p:cNvGrpSpPr/>
          <p:nvPr/>
        </p:nvGrpSpPr>
        <p:grpSpPr>
          <a:xfrm rot="0">
            <a:off x="9825304" y="5190058"/>
            <a:ext cx="3241434" cy="1259643"/>
            <a:chOff x="0" y="0"/>
            <a:chExt cx="4321912" cy="1679524"/>
          </a:xfrm>
        </p:grpSpPr>
        <p:sp>
          <p:nvSpPr>
            <p:cNvPr name="Freeform 75" id="75"/>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76" id="76"/>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77" id="77"/>
          <p:cNvSpPr txBox="true"/>
          <p:nvPr/>
        </p:nvSpPr>
        <p:spPr>
          <a:xfrm rot="0">
            <a:off x="9816484" y="6429880"/>
            <a:ext cx="3241434" cy="12794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78" id="78"/>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9" id="79"/>
          <p:cNvGrpSpPr/>
          <p:nvPr/>
        </p:nvGrpSpPr>
        <p:grpSpPr>
          <a:xfrm rot="0">
            <a:off x="13800877" y="5239922"/>
            <a:ext cx="3241434" cy="1190730"/>
            <a:chOff x="0" y="0"/>
            <a:chExt cx="4321912" cy="1587640"/>
          </a:xfrm>
        </p:grpSpPr>
        <p:sp>
          <p:nvSpPr>
            <p:cNvPr name="Freeform 80" id="80"/>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1" id="81"/>
          <p:cNvGrpSpPr/>
          <p:nvPr/>
        </p:nvGrpSpPr>
        <p:grpSpPr>
          <a:xfrm rot="0">
            <a:off x="13800877" y="5177904"/>
            <a:ext cx="3241434" cy="1252747"/>
            <a:chOff x="0" y="0"/>
            <a:chExt cx="4321912" cy="1670329"/>
          </a:xfrm>
        </p:grpSpPr>
        <p:sp>
          <p:nvSpPr>
            <p:cNvPr name="Freeform 82" id="82"/>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83" id="83"/>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Peringkat 1</a:t>
              </a:r>
            </a:p>
          </p:txBody>
        </p:sp>
      </p:grpSp>
      <p:sp>
        <p:nvSpPr>
          <p:cNvPr name="TextBox 84" id="84"/>
          <p:cNvSpPr txBox="true"/>
          <p:nvPr/>
        </p:nvSpPr>
        <p:spPr>
          <a:xfrm rot="0">
            <a:off x="13800877" y="6562430"/>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85" id="85"/>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6" id="86"/>
          <p:cNvGrpSpPr/>
          <p:nvPr/>
        </p:nvGrpSpPr>
        <p:grpSpPr>
          <a:xfrm rot="0">
            <a:off x="13800877" y="2117550"/>
            <a:ext cx="3241434" cy="1190730"/>
            <a:chOff x="0" y="0"/>
            <a:chExt cx="4321912" cy="1587640"/>
          </a:xfrm>
        </p:grpSpPr>
        <p:sp>
          <p:nvSpPr>
            <p:cNvPr name="Freeform 87" id="87"/>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8" id="88"/>
          <p:cNvGrpSpPr/>
          <p:nvPr/>
        </p:nvGrpSpPr>
        <p:grpSpPr>
          <a:xfrm rot="0">
            <a:off x="13800877" y="2048647"/>
            <a:ext cx="3241434" cy="1259643"/>
            <a:chOff x="0" y="0"/>
            <a:chExt cx="4321912" cy="1679524"/>
          </a:xfrm>
        </p:grpSpPr>
        <p:sp>
          <p:nvSpPr>
            <p:cNvPr name="Freeform 89" id="89"/>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90" id="90"/>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91" id="91"/>
          <p:cNvSpPr txBox="true"/>
          <p:nvPr/>
        </p:nvSpPr>
        <p:spPr>
          <a:xfrm rot="0">
            <a:off x="13800877"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grpSp>
        <p:nvGrpSpPr>
          <p:cNvPr name="Group 93" id="93"/>
          <p:cNvGrpSpPr/>
          <p:nvPr/>
        </p:nvGrpSpPr>
        <p:grpSpPr>
          <a:xfrm rot="0">
            <a:off x="822960" y="1711452"/>
            <a:ext cx="7584948" cy="6169628"/>
            <a:chOff x="0" y="0"/>
            <a:chExt cx="10113264" cy="8226171"/>
          </a:xfrm>
        </p:grpSpPr>
        <p:sp>
          <p:nvSpPr>
            <p:cNvPr name="Freeform 94" id="94"/>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8"/>
              <a:stretch>
                <a:fillRect l="-4384" t="0" r="-4384"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pesat menekan daya dukung destinasi</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743200"/>
            <a:ext cx="2125980" cy="1645920"/>
            <a:chOff x="0" y="0"/>
            <a:chExt cx="2834640" cy="2194560"/>
          </a:xfrm>
        </p:grpSpPr>
        <p:sp>
          <p:nvSpPr>
            <p:cNvPr name="Freeform 39" id="3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0" id="40"/>
          <p:cNvGrpSpPr/>
          <p:nvPr/>
        </p:nvGrpSpPr>
        <p:grpSpPr>
          <a:xfrm rot="0">
            <a:off x="960120" y="2743200"/>
            <a:ext cx="1851660" cy="1645920"/>
            <a:chOff x="0" y="0"/>
            <a:chExt cx="2468880" cy="2194560"/>
          </a:xfrm>
        </p:grpSpPr>
        <p:sp>
          <p:nvSpPr>
            <p:cNvPr name="Freeform 41" id="4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2" id="4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43" id="43"/>
          <p:cNvGrpSpPr/>
          <p:nvPr/>
        </p:nvGrpSpPr>
        <p:grpSpPr>
          <a:xfrm rot="0">
            <a:off x="3429000" y="2743200"/>
            <a:ext cx="2125980" cy="1645920"/>
            <a:chOff x="0" y="0"/>
            <a:chExt cx="2834640" cy="2194560"/>
          </a:xfrm>
        </p:grpSpPr>
        <p:sp>
          <p:nvSpPr>
            <p:cNvPr name="Freeform 44" id="4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5" id="45"/>
          <p:cNvGrpSpPr/>
          <p:nvPr/>
        </p:nvGrpSpPr>
        <p:grpSpPr>
          <a:xfrm rot="0">
            <a:off x="3566160" y="2743200"/>
            <a:ext cx="1851660" cy="1645920"/>
            <a:chOff x="0" y="0"/>
            <a:chExt cx="2468880" cy="2194560"/>
          </a:xfrm>
        </p:grpSpPr>
        <p:sp>
          <p:nvSpPr>
            <p:cNvPr name="Freeform 46" id="4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7" id="4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48" id="48"/>
          <p:cNvGrpSpPr/>
          <p:nvPr/>
        </p:nvGrpSpPr>
        <p:grpSpPr>
          <a:xfrm rot="0">
            <a:off x="6035040" y="2743200"/>
            <a:ext cx="2125980" cy="1645920"/>
            <a:chOff x="0" y="0"/>
            <a:chExt cx="2834640" cy="2194560"/>
          </a:xfrm>
        </p:grpSpPr>
        <p:sp>
          <p:nvSpPr>
            <p:cNvPr name="Freeform 49" id="4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50" id="50"/>
          <p:cNvGrpSpPr/>
          <p:nvPr/>
        </p:nvGrpSpPr>
        <p:grpSpPr>
          <a:xfrm rot="0">
            <a:off x="6172200" y="2743200"/>
            <a:ext cx="1851660" cy="1645920"/>
            <a:chOff x="0" y="0"/>
            <a:chExt cx="2468880" cy="2194560"/>
          </a:xfrm>
        </p:grpSpPr>
        <p:sp>
          <p:nvSpPr>
            <p:cNvPr name="Freeform 51" id="5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2" id="5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53" id="53"/>
          <p:cNvGrpSpPr/>
          <p:nvPr/>
        </p:nvGrpSpPr>
        <p:grpSpPr>
          <a:xfrm rot="0">
            <a:off x="8641080" y="2743200"/>
            <a:ext cx="2125980" cy="1645920"/>
            <a:chOff x="0" y="0"/>
            <a:chExt cx="2834640" cy="2194560"/>
          </a:xfrm>
        </p:grpSpPr>
        <p:sp>
          <p:nvSpPr>
            <p:cNvPr name="Freeform 54" id="5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sp>
      </p:grpSp>
      <p:grpSp>
        <p:nvGrpSpPr>
          <p:cNvPr name="Group 55" id="55"/>
          <p:cNvGrpSpPr/>
          <p:nvPr/>
        </p:nvGrpSpPr>
        <p:grpSpPr>
          <a:xfrm rot="0">
            <a:off x="8778240" y="2743200"/>
            <a:ext cx="1851660" cy="1645920"/>
            <a:chOff x="0" y="0"/>
            <a:chExt cx="2468880" cy="2194560"/>
          </a:xfrm>
        </p:grpSpPr>
        <p:sp>
          <p:nvSpPr>
            <p:cNvPr name="Freeform 56" id="5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7" id="5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58" id="58"/>
          <p:cNvGrpSpPr/>
          <p:nvPr/>
        </p:nvGrpSpPr>
        <p:grpSpPr>
          <a:xfrm rot="0">
            <a:off x="2331720" y="5650992"/>
            <a:ext cx="6583680" cy="1042416"/>
            <a:chOff x="0" y="0"/>
            <a:chExt cx="8778240" cy="1389888"/>
          </a:xfrm>
        </p:grpSpPr>
        <p:sp>
          <p:nvSpPr>
            <p:cNvPr name="Freeform 59" id="59"/>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sp>
      </p:grpSp>
      <p:grpSp>
        <p:nvGrpSpPr>
          <p:cNvPr name="Group 60" id="60"/>
          <p:cNvGrpSpPr/>
          <p:nvPr/>
        </p:nvGrpSpPr>
        <p:grpSpPr>
          <a:xfrm rot="0">
            <a:off x="2468880" y="5650992"/>
            <a:ext cx="6309360" cy="1042416"/>
            <a:chOff x="0" y="0"/>
            <a:chExt cx="8412480" cy="1389888"/>
          </a:xfrm>
        </p:grpSpPr>
        <p:sp>
          <p:nvSpPr>
            <p:cNvPr name="Freeform 61" id="61"/>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sp>
        <p:sp>
          <p:nvSpPr>
            <p:cNvPr name="TextBox 62" id="62"/>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63" id="63"/>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Interaksi bersifat non-linear dan berjeda waktu (Mai &amp; Smith, 2018)</a:t>
            </a:r>
          </a:p>
        </p:txBody>
      </p:sp>
      <p:sp>
        <p:nvSpPr>
          <p:cNvPr name="TextBox 64" id="64"/>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65" id="65"/>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66" id="66"/>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67" id="67"/>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68" id="68"/>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69" id="69"/>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TextBox 70" id="70"/>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sp>
        <p:nvSpPr>
          <p:cNvPr name="Freeform 71" id="71"/>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sp>
      <p:sp>
        <p:nvSpPr>
          <p:cNvPr name="Freeform 72" id="72"/>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sp>
      <p:sp>
        <p:nvSpPr>
          <p:cNvPr name="Freeform 73" id="73"/>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sp>
      <p:sp>
        <p:nvSpPr>
          <p:cNvPr name="Freeform 74" id="74"/>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sp>
      <p:sp>
        <p:nvSpPr>
          <p:cNvPr name="Freeform 75" id="75"/>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Peramalan konvensional kurang memadai untuk perencanaan strategis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9258300" y="2468880"/>
            <a:ext cx="8202168" cy="6240780"/>
            <a:chOff x="0" y="0"/>
            <a:chExt cx="10936224" cy="8321040"/>
          </a:xfrm>
        </p:grpSpPr>
        <p:sp>
          <p:nvSpPr>
            <p:cNvPr name="Freeform 53" id="53"/>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sp>
      </p:grpSp>
      <p:sp>
        <p:nvSpPr>
          <p:cNvPr name="TextBox 54" id="54"/>
          <p:cNvSpPr txBox="true"/>
          <p:nvPr/>
        </p:nvSpPr>
        <p:spPr>
          <a:xfrm rot="0">
            <a:off x="9738360" y="2678430"/>
            <a:ext cx="7269480" cy="681990"/>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55" id="55"/>
          <p:cNvSpPr txBox="true"/>
          <p:nvPr/>
        </p:nvSpPr>
        <p:spPr>
          <a:xfrm rot="0">
            <a:off x="9738360" y="3352800"/>
            <a:ext cx="7269480" cy="3619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56" id="56"/>
          <p:cNvSpPr txBox="true"/>
          <p:nvPr/>
        </p:nvSpPr>
        <p:spPr>
          <a:xfrm rot="0">
            <a:off x="9738360" y="4274820"/>
            <a:ext cx="7269480" cy="2171700"/>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57" id="57"/>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462772" y="4869180"/>
            <a:ext cx="960120" cy="960120"/>
            <a:chOff x="0" y="0"/>
            <a:chExt cx="1280160" cy="1280160"/>
          </a:xfrm>
        </p:grpSpPr>
        <p:sp>
          <p:nvSpPr>
            <p:cNvPr name="Freeform 59" id="59"/>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sp>
      </p:grpSp>
      <p:grpSp>
        <p:nvGrpSpPr>
          <p:cNvPr name="Group 60" id="60"/>
          <p:cNvGrpSpPr/>
          <p:nvPr/>
        </p:nvGrpSpPr>
        <p:grpSpPr>
          <a:xfrm rot="0">
            <a:off x="8462772" y="4819174"/>
            <a:ext cx="960120" cy="1010126"/>
            <a:chOff x="0" y="0"/>
            <a:chExt cx="1280160" cy="1346835"/>
          </a:xfrm>
        </p:grpSpPr>
        <p:sp>
          <p:nvSpPr>
            <p:cNvPr name="Freeform 61" id="61"/>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4986" t="0" r="-84986" b="0"/>
              </a:stretch>
            </a:blipFill>
          </p:spPr>
        </p:sp>
        <p:sp>
          <p:nvSpPr>
            <p:cNvPr name="TextBox 62" id="62"/>
            <p:cNvSpPr txBox="true"/>
            <p:nvPr/>
          </p:nvSpPr>
          <p:spPr>
            <a:xfrm>
              <a:off x="0" y="-66675"/>
              <a:ext cx="1280160" cy="1413510"/>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63" id="63"/>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grpSp>
        <p:nvGrpSpPr>
          <p:cNvPr name="Group 64" id="64"/>
          <p:cNvGrpSpPr/>
          <p:nvPr/>
        </p:nvGrpSpPr>
        <p:grpSpPr>
          <a:xfrm rot="0">
            <a:off x="822960" y="2468880"/>
            <a:ext cx="7749540" cy="6240780"/>
            <a:chOff x="0" y="0"/>
            <a:chExt cx="10332720" cy="8321040"/>
          </a:xfrm>
        </p:grpSpPr>
        <p:sp>
          <p:nvSpPr>
            <p:cNvPr name="Freeform 65" id="65"/>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sp>
      </p:grpSp>
      <p:sp>
        <p:nvSpPr>
          <p:cNvPr name="TextBox 66" id="66"/>
          <p:cNvSpPr txBox="true"/>
          <p:nvPr/>
        </p:nvSpPr>
        <p:spPr>
          <a:xfrm rot="0">
            <a:off x="1303020" y="2695099"/>
            <a:ext cx="6858000" cy="665321"/>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67" id="67"/>
          <p:cNvSpPr txBox="true"/>
          <p:nvPr/>
        </p:nvSpPr>
        <p:spPr>
          <a:xfrm rot="0">
            <a:off x="1303020" y="3362325"/>
            <a:ext cx="6858000" cy="3524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68" id="68"/>
          <p:cNvSpPr txBox="true"/>
          <p:nvPr/>
        </p:nvSpPr>
        <p:spPr>
          <a:xfrm rot="0">
            <a:off x="1303020" y="4289108"/>
            <a:ext cx="6789420" cy="2500312"/>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Andal memproyeksikan satu atau beberapa variabel, tidak andal dalam perencanaan strategis jangka panjang yang dikendalikan oleh feedback loop (Umpan balik)</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69" id="69"/>
          <p:cNvSpPr txBox="true"/>
          <p:nvPr/>
        </p:nvSpPr>
        <p:spPr>
          <a:xfrm rot="0">
            <a:off x="1028700" y="8333422"/>
            <a:ext cx="5547465" cy="27146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70" id="70"/>
          <p:cNvSpPr txBox="true"/>
          <p:nvPr/>
        </p:nvSpPr>
        <p:spPr>
          <a:xfrm rot="0">
            <a:off x="9451467" y="8328660"/>
            <a:ext cx="5547465" cy="27622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11734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Setiap celah dijawab dengan keputusan desain yang spesifik</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Latar Belakang</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7680960" cy="1510665"/>
            <a:chOff x="0" y="0"/>
            <a:chExt cx="10241280" cy="2014220"/>
          </a:xfrm>
        </p:grpSpPr>
        <p:sp>
          <p:nvSpPr>
            <p:cNvPr name="Freeform 39" id="39"/>
            <p:cNvSpPr/>
            <p:nvPr/>
          </p:nvSpPr>
          <p:spPr>
            <a:xfrm flipH="false" flipV="false" rot="0">
              <a:off x="0" y="0"/>
              <a:ext cx="10241280" cy="2014220"/>
            </a:xfrm>
            <a:custGeom>
              <a:avLst/>
              <a:gdLst/>
              <a:ahLst/>
              <a:cxnLst/>
              <a:rect r="r" b="b" t="t" l="l"/>
              <a:pathLst>
                <a:path h="2014220" w="10241280">
                  <a:moveTo>
                    <a:pt x="0" y="134281"/>
                  </a:moveTo>
                  <a:cubicBezTo>
                    <a:pt x="0" y="60147"/>
                    <a:pt x="81915" y="0"/>
                    <a:pt x="182880" y="0"/>
                  </a:cubicBezTo>
                  <a:lnTo>
                    <a:pt x="10058400" y="0"/>
                  </a:lnTo>
                  <a:cubicBezTo>
                    <a:pt x="10159365" y="0"/>
                    <a:pt x="10241280" y="60147"/>
                    <a:pt x="10241280" y="134281"/>
                  </a:cubicBezTo>
                  <a:lnTo>
                    <a:pt x="10241280" y="1879939"/>
                  </a:lnTo>
                  <a:cubicBezTo>
                    <a:pt x="10241280" y="1954073"/>
                    <a:pt x="10159365" y="2014220"/>
                    <a:pt x="10058400" y="2014220"/>
                  </a:cubicBezTo>
                  <a:lnTo>
                    <a:pt x="182880" y="2014220"/>
                  </a:lnTo>
                  <a:cubicBezTo>
                    <a:pt x="81915" y="2014220"/>
                    <a:pt x="0" y="1954073"/>
                    <a:pt x="0" y="1879939"/>
                  </a:cubicBezTo>
                  <a:close/>
                </a:path>
              </a:pathLst>
            </a:custGeom>
            <a:solidFill>
              <a:srgbClr val="FFF1BF"/>
            </a:solidFill>
          </p:spPr>
        </p:sp>
      </p:grpSp>
      <p:sp>
        <p:nvSpPr>
          <p:cNvPr name="TextBox 40" id="40"/>
          <p:cNvSpPr txBox="true"/>
          <p:nvPr/>
        </p:nvSpPr>
        <p:spPr>
          <a:xfrm rot="0">
            <a:off x="1165860" y="2586990"/>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1 · STRUKTUR DATA</a:t>
            </a:r>
          </a:p>
        </p:txBody>
      </p:sp>
      <p:sp>
        <p:nvSpPr>
          <p:cNvPr name="TextBox 41" id="41"/>
          <p:cNvSpPr txBox="true"/>
          <p:nvPr/>
        </p:nvSpPr>
        <p:spPr>
          <a:xfrm rot="0">
            <a:off x="1165860" y="2951988"/>
            <a:ext cx="69951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SD pariwisata diadaptasi dari kerangka luar negeri. Banyak variabelnya (populasi, limbah, air tanah per sektor) tak punya padanan data tahunan provinsi di Indonesia.</a:t>
            </a:r>
          </a:p>
        </p:txBody>
      </p:sp>
      <p:grpSp>
        <p:nvGrpSpPr>
          <p:cNvPr name="Group 42" id="42"/>
          <p:cNvGrpSpPr/>
          <p:nvPr/>
        </p:nvGrpSpPr>
        <p:grpSpPr>
          <a:xfrm rot="0">
            <a:off x="9464040" y="2400300"/>
            <a:ext cx="7996428" cy="1510665"/>
            <a:chOff x="0" y="0"/>
            <a:chExt cx="10661904" cy="2014220"/>
          </a:xfrm>
        </p:grpSpPr>
        <p:sp>
          <p:nvSpPr>
            <p:cNvPr name="Freeform 43" id="43"/>
            <p:cNvSpPr/>
            <p:nvPr/>
          </p:nvSpPr>
          <p:spPr>
            <a:xfrm flipH="false" flipV="false" rot="0">
              <a:off x="0" y="0"/>
              <a:ext cx="10661904" cy="2014220"/>
            </a:xfrm>
            <a:custGeom>
              <a:avLst/>
              <a:gdLst/>
              <a:ahLst/>
              <a:cxnLst/>
              <a:rect r="r" b="b" t="t" l="l"/>
              <a:pathLst>
                <a:path h="2014220" w="10661904">
                  <a:moveTo>
                    <a:pt x="0" y="134281"/>
                  </a:moveTo>
                  <a:cubicBezTo>
                    <a:pt x="0" y="60147"/>
                    <a:pt x="81915" y="0"/>
                    <a:pt x="182880" y="0"/>
                  </a:cubicBezTo>
                  <a:lnTo>
                    <a:pt x="10479024" y="0"/>
                  </a:lnTo>
                  <a:cubicBezTo>
                    <a:pt x="10579989" y="0"/>
                    <a:pt x="10661904" y="60147"/>
                    <a:pt x="10661904" y="134281"/>
                  </a:cubicBezTo>
                  <a:lnTo>
                    <a:pt x="10661904" y="1879939"/>
                  </a:lnTo>
                  <a:cubicBezTo>
                    <a:pt x="10661904" y="1954073"/>
                    <a:pt x="10579989" y="2014220"/>
                    <a:pt x="10479024" y="2014220"/>
                  </a:cubicBezTo>
                  <a:lnTo>
                    <a:pt x="182880" y="2014220"/>
                  </a:lnTo>
                  <a:cubicBezTo>
                    <a:pt x="81915" y="2014220"/>
                    <a:pt x="0" y="1954073"/>
                    <a:pt x="0" y="1879939"/>
                  </a:cubicBezTo>
                  <a:close/>
                </a:path>
              </a:pathLst>
            </a:custGeom>
            <a:solidFill>
              <a:srgbClr val="EAF8FA"/>
            </a:solidFill>
          </p:spPr>
        </p:sp>
      </p:grpSp>
      <p:sp>
        <p:nvSpPr>
          <p:cNvPr name="TextBox 44" id="44"/>
          <p:cNvSpPr txBox="true"/>
          <p:nvPr/>
        </p:nvSpPr>
        <p:spPr>
          <a:xfrm rot="0">
            <a:off x="9806940" y="2586990"/>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45" id="45"/>
          <p:cNvSpPr txBox="true"/>
          <p:nvPr/>
        </p:nvSpPr>
        <p:spPr>
          <a:xfrm rot="0">
            <a:off x="9806940" y="2951988"/>
            <a:ext cx="73380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Struktur model dirumuskan ulang: setiap variabel dipetakan ke UU No. 10/2009, KBLI 2020, indikator BPS, dan Tourism Satellite Account Indonesia.</a:t>
            </a:r>
          </a:p>
        </p:txBody>
      </p:sp>
      <p:grpSp>
        <p:nvGrpSpPr>
          <p:cNvPr name="Group 46" id="46"/>
          <p:cNvGrpSpPr/>
          <p:nvPr/>
        </p:nvGrpSpPr>
        <p:grpSpPr>
          <a:xfrm rot="0">
            <a:off x="822960" y="4177665"/>
            <a:ext cx="7680960" cy="1353804"/>
            <a:chOff x="0" y="0"/>
            <a:chExt cx="10241280" cy="1805072"/>
          </a:xfrm>
        </p:grpSpPr>
        <p:sp>
          <p:nvSpPr>
            <p:cNvPr name="Freeform 47" id="47"/>
            <p:cNvSpPr/>
            <p:nvPr/>
          </p:nvSpPr>
          <p:spPr>
            <a:xfrm flipH="false" flipV="false" rot="0">
              <a:off x="0" y="0"/>
              <a:ext cx="10241280" cy="1805072"/>
            </a:xfrm>
            <a:custGeom>
              <a:avLst/>
              <a:gdLst/>
              <a:ahLst/>
              <a:cxnLst/>
              <a:rect r="r" b="b" t="t" l="l"/>
              <a:pathLst>
                <a:path h="1805072" w="10241280">
                  <a:moveTo>
                    <a:pt x="0" y="120338"/>
                  </a:moveTo>
                  <a:cubicBezTo>
                    <a:pt x="0" y="53901"/>
                    <a:pt x="81915" y="0"/>
                    <a:pt x="182880" y="0"/>
                  </a:cubicBezTo>
                  <a:lnTo>
                    <a:pt x="10058400" y="0"/>
                  </a:lnTo>
                  <a:cubicBezTo>
                    <a:pt x="10159365" y="0"/>
                    <a:pt x="10241280" y="53901"/>
                    <a:pt x="10241280" y="120338"/>
                  </a:cubicBezTo>
                  <a:lnTo>
                    <a:pt x="10241280" y="1684734"/>
                  </a:lnTo>
                  <a:cubicBezTo>
                    <a:pt x="10241280" y="1751171"/>
                    <a:pt x="10159365" y="1805072"/>
                    <a:pt x="10058400" y="1805072"/>
                  </a:cubicBezTo>
                  <a:lnTo>
                    <a:pt x="182880" y="1805072"/>
                  </a:lnTo>
                  <a:cubicBezTo>
                    <a:pt x="81915" y="1805072"/>
                    <a:pt x="0" y="1751171"/>
                    <a:pt x="0" y="1684734"/>
                  </a:cubicBezTo>
                  <a:close/>
                </a:path>
              </a:pathLst>
            </a:custGeom>
            <a:solidFill>
              <a:srgbClr val="FFF1BF"/>
            </a:solidFill>
          </p:spPr>
        </p:sp>
      </p:grpSp>
      <p:sp>
        <p:nvSpPr>
          <p:cNvPr name="TextBox 48" id="48"/>
          <p:cNvSpPr txBox="true"/>
          <p:nvPr/>
        </p:nvSpPr>
        <p:spPr>
          <a:xfrm rot="0">
            <a:off x="1165860" y="4364355"/>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2 · KEMUTAKHIRAN DATA</a:t>
            </a:r>
          </a:p>
        </p:txBody>
      </p:sp>
      <p:sp>
        <p:nvSpPr>
          <p:cNvPr name="TextBox 49" id="49"/>
          <p:cNvSpPr txBox="true"/>
          <p:nvPr/>
        </p:nvSpPr>
        <p:spPr>
          <a:xfrm rot="0">
            <a:off x="1165860" y="4729353"/>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Statistik agregat terbit dengan jeda waktu, padahal perencanaan butuh kondisi terkini, Integrasi SD dan remote sensing masih jarang.</a:t>
            </a:r>
          </a:p>
        </p:txBody>
      </p:sp>
      <p:grpSp>
        <p:nvGrpSpPr>
          <p:cNvPr name="Group 50" id="50"/>
          <p:cNvGrpSpPr/>
          <p:nvPr/>
        </p:nvGrpSpPr>
        <p:grpSpPr>
          <a:xfrm rot="0">
            <a:off x="9464040" y="4177665"/>
            <a:ext cx="7996428" cy="1353804"/>
            <a:chOff x="0" y="0"/>
            <a:chExt cx="10661904" cy="1805072"/>
          </a:xfrm>
        </p:grpSpPr>
        <p:sp>
          <p:nvSpPr>
            <p:cNvPr name="Freeform 51" id="51"/>
            <p:cNvSpPr/>
            <p:nvPr/>
          </p:nvSpPr>
          <p:spPr>
            <a:xfrm flipH="false" flipV="false" rot="0">
              <a:off x="0" y="0"/>
              <a:ext cx="10661904" cy="1805072"/>
            </a:xfrm>
            <a:custGeom>
              <a:avLst/>
              <a:gdLst/>
              <a:ahLst/>
              <a:cxnLst/>
              <a:rect r="r" b="b" t="t" l="l"/>
              <a:pathLst>
                <a:path h="1805072" w="10661904">
                  <a:moveTo>
                    <a:pt x="0" y="120338"/>
                  </a:moveTo>
                  <a:cubicBezTo>
                    <a:pt x="0" y="53901"/>
                    <a:pt x="81915" y="0"/>
                    <a:pt x="182880" y="0"/>
                  </a:cubicBezTo>
                  <a:lnTo>
                    <a:pt x="10479024" y="0"/>
                  </a:lnTo>
                  <a:cubicBezTo>
                    <a:pt x="10579989" y="0"/>
                    <a:pt x="10661904" y="53901"/>
                    <a:pt x="10661904" y="120338"/>
                  </a:cubicBezTo>
                  <a:lnTo>
                    <a:pt x="10661904" y="1684734"/>
                  </a:lnTo>
                  <a:cubicBezTo>
                    <a:pt x="10661904" y="1751171"/>
                    <a:pt x="10579989" y="1805072"/>
                    <a:pt x="10479024" y="1805072"/>
                  </a:cubicBezTo>
                  <a:lnTo>
                    <a:pt x="182880" y="1805072"/>
                  </a:lnTo>
                  <a:cubicBezTo>
                    <a:pt x="81915" y="1805072"/>
                    <a:pt x="0" y="1751171"/>
                    <a:pt x="0" y="1684734"/>
                  </a:cubicBezTo>
                  <a:close/>
                </a:path>
              </a:pathLst>
            </a:custGeom>
            <a:solidFill>
              <a:srgbClr val="EAF8FA"/>
            </a:solidFill>
          </p:spPr>
        </p:sp>
      </p:grpSp>
      <p:sp>
        <p:nvSpPr>
          <p:cNvPr name="TextBox 52" id="52"/>
          <p:cNvSpPr txBox="true"/>
          <p:nvPr/>
        </p:nvSpPr>
        <p:spPr>
          <a:xfrm rot="0">
            <a:off x="9806940" y="4364355"/>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53" id="53"/>
          <p:cNvSpPr txBox="true"/>
          <p:nvPr/>
        </p:nvSpPr>
        <p:spPr>
          <a:xfrm rot="0">
            <a:off x="9806940" y="4729353"/>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dipakai sebagai estimator pemutakhir data (nowcasting) untuk variabel berdata resmi, bukan variabel endogen, bukan pengganti statistik.</a:t>
            </a:r>
          </a:p>
        </p:txBody>
      </p:sp>
      <p:grpSp>
        <p:nvGrpSpPr>
          <p:cNvPr name="Group 54" id="54"/>
          <p:cNvGrpSpPr/>
          <p:nvPr/>
        </p:nvGrpSpPr>
        <p:grpSpPr>
          <a:xfrm rot="0">
            <a:off x="822960" y="5798169"/>
            <a:ext cx="7680960" cy="1365990"/>
            <a:chOff x="0" y="0"/>
            <a:chExt cx="10241280" cy="1821320"/>
          </a:xfrm>
        </p:grpSpPr>
        <p:sp>
          <p:nvSpPr>
            <p:cNvPr name="Freeform 55" id="55"/>
            <p:cNvSpPr/>
            <p:nvPr/>
          </p:nvSpPr>
          <p:spPr>
            <a:xfrm flipH="false" flipV="false" rot="0">
              <a:off x="0" y="0"/>
              <a:ext cx="10241280" cy="1821320"/>
            </a:xfrm>
            <a:custGeom>
              <a:avLst/>
              <a:gdLst/>
              <a:ahLst/>
              <a:cxnLst/>
              <a:rect r="r" b="b" t="t" l="l"/>
              <a:pathLst>
                <a:path h="1821320" w="10241280">
                  <a:moveTo>
                    <a:pt x="0" y="121421"/>
                  </a:moveTo>
                  <a:cubicBezTo>
                    <a:pt x="0" y="54387"/>
                    <a:pt x="81915" y="0"/>
                    <a:pt x="182880" y="0"/>
                  </a:cubicBezTo>
                  <a:lnTo>
                    <a:pt x="10058400" y="0"/>
                  </a:lnTo>
                  <a:cubicBezTo>
                    <a:pt x="10159365" y="0"/>
                    <a:pt x="10241280" y="54387"/>
                    <a:pt x="10241280" y="121421"/>
                  </a:cubicBezTo>
                  <a:lnTo>
                    <a:pt x="10241280" y="1699898"/>
                  </a:lnTo>
                  <a:cubicBezTo>
                    <a:pt x="10241280" y="1766933"/>
                    <a:pt x="10159365" y="1821320"/>
                    <a:pt x="10058400" y="1821320"/>
                  </a:cubicBezTo>
                  <a:lnTo>
                    <a:pt x="182880" y="1821320"/>
                  </a:lnTo>
                  <a:cubicBezTo>
                    <a:pt x="81915" y="1821320"/>
                    <a:pt x="0" y="1766933"/>
                    <a:pt x="0" y="1699898"/>
                  </a:cubicBezTo>
                  <a:close/>
                </a:path>
              </a:pathLst>
            </a:custGeom>
            <a:solidFill>
              <a:srgbClr val="FFF1BF"/>
            </a:solidFill>
          </p:spPr>
        </p:sp>
      </p:grpSp>
      <p:sp>
        <p:nvSpPr>
          <p:cNvPr name="TextBox 56" id="56"/>
          <p:cNvSpPr txBox="true"/>
          <p:nvPr/>
        </p:nvSpPr>
        <p:spPr>
          <a:xfrm rot="0">
            <a:off x="1165860" y="5984859"/>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3 · PEMANFAATAN HASIL</a:t>
            </a:r>
          </a:p>
        </p:txBody>
      </p:sp>
      <p:sp>
        <p:nvSpPr>
          <p:cNvPr name="TextBox 57" id="57"/>
          <p:cNvSpPr txBox="true"/>
          <p:nvPr/>
        </p:nvSpPr>
        <p:spPr>
          <a:xfrm rot="0">
            <a:off x="1165860" y="6349857"/>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Hasil pemodelan sering terbatas pada grafik statis dan laporan tertulis yang kurang interaktif.</a:t>
            </a:r>
          </a:p>
        </p:txBody>
      </p:sp>
      <p:grpSp>
        <p:nvGrpSpPr>
          <p:cNvPr name="Group 58" id="58"/>
          <p:cNvGrpSpPr/>
          <p:nvPr/>
        </p:nvGrpSpPr>
        <p:grpSpPr>
          <a:xfrm rot="0">
            <a:off x="9464040" y="5798169"/>
            <a:ext cx="7996428" cy="1365990"/>
            <a:chOff x="0" y="0"/>
            <a:chExt cx="10661904" cy="1821320"/>
          </a:xfrm>
        </p:grpSpPr>
        <p:sp>
          <p:nvSpPr>
            <p:cNvPr name="Freeform 59" id="59"/>
            <p:cNvSpPr/>
            <p:nvPr/>
          </p:nvSpPr>
          <p:spPr>
            <a:xfrm flipH="false" flipV="false" rot="0">
              <a:off x="0" y="0"/>
              <a:ext cx="10661904" cy="1821320"/>
            </a:xfrm>
            <a:custGeom>
              <a:avLst/>
              <a:gdLst/>
              <a:ahLst/>
              <a:cxnLst/>
              <a:rect r="r" b="b" t="t" l="l"/>
              <a:pathLst>
                <a:path h="1821320" w="10661904">
                  <a:moveTo>
                    <a:pt x="0" y="121421"/>
                  </a:moveTo>
                  <a:cubicBezTo>
                    <a:pt x="0" y="54387"/>
                    <a:pt x="81915" y="0"/>
                    <a:pt x="182880" y="0"/>
                  </a:cubicBezTo>
                  <a:lnTo>
                    <a:pt x="10479024" y="0"/>
                  </a:lnTo>
                  <a:cubicBezTo>
                    <a:pt x="10579989" y="0"/>
                    <a:pt x="10661904" y="54387"/>
                    <a:pt x="10661904" y="121421"/>
                  </a:cubicBezTo>
                  <a:lnTo>
                    <a:pt x="10661904" y="1699898"/>
                  </a:lnTo>
                  <a:cubicBezTo>
                    <a:pt x="10661904" y="1766933"/>
                    <a:pt x="10579989" y="1821320"/>
                    <a:pt x="10479024" y="1821320"/>
                  </a:cubicBezTo>
                  <a:lnTo>
                    <a:pt x="182880" y="1821320"/>
                  </a:lnTo>
                  <a:cubicBezTo>
                    <a:pt x="81915" y="1821320"/>
                    <a:pt x="0" y="1766933"/>
                    <a:pt x="0" y="1699898"/>
                  </a:cubicBezTo>
                  <a:close/>
                </a:path>
              </a:pathLst>
            </a:custGeom>
            <a:solidFill>
              <a:srgbClr val="EAF8FA"/>
            </a:solidFill>
          </p:spPr>
        </p:sp>
      </p:grpSp>
      <p:sp>
        <p:nvSpPr>
          <p:cNvPr name="TextBox 60" id="60"/>
          <p:cNvSpPr txBox="true"/>
          <p:nvPr/>
        </p:nvSpPr>
        <p:spPr>
          <a:xfrm rot="0">
            <a:off x="9806940" y="5984859"/>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61" id="61"/>
          <p:cNvSpPr txBox="true"/>
          <p:nvPr/>
        </p:nvSpPr>
        <p:spPr>
          <a:xfrm rot="0">
            <a:off x="9806940" y="6349857"/>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decision support tool yang dapat dipakai pemangku kepentingan tanpa keahlian pemodelan.</a:t>
            </a:r>
          </a:p>
        </p:txBody>
      </p:sp>
      <p:sp>
        <p:nvSpPr>
          <p:cNvPr name="TextBox 62" id="6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sp>
        <p:nvSpPr>
          <p:cNvPr name="AutoShape 63" id="63"/>
          <p:cNvSpPr/>
          <p:nvPr/>
        </p:nvSpPr>
        <p:spPr>
          <a:xfrm>
            <a:off x="8503920" y="3155633"/>
            <a:ext cx="960120" cy="0"/>
          </a:xfrm>
          <a:prstGeom prst="line">
            <a:avLst/>
          </a:prstGeom>
          <a:ln cap="flat" w="38100">
            <a:solidFill>
              <a:srgbClr val="39C0D3"/>
            </a:solidFill>
            <a:prstDash val="solid"/>
            <a:headEnd type="none" len="sm" w="sm"/>
            <a:tailEnd type="triangle" len="med" w="lg"/>
          </a:ln>
        </p:spPr>
      </p:sp>
      <p:sp>
        <p:nvSpPr>
          <p:cNvPr name="AutoShape 64" id="64"/>
          <p:cNvSpPr/>
          <p:nvPr/>
        </p:nvSpPr>
        <p:spPr>
          <a:xfrm>
            <a:off x="8503920" y="4854567"/>
            <a:ext cx="960120" cy="0"/>
          </a:xfrm>
          <a:prstGeom prst="line">
            <a:avLst/>
          </a:prstGeom>
          <a:ln cap="flat" w="38100">
            <a:solidFill>
              <a:srgbClr val="39C0D3"/>
            </a:solidFill>
            <a:prstDash val="solid"/>
            <a:headEnd type="none" len="sm" w="sm"/>
            <a:tailEnd type="triangle" len="med" w="lg"/>
          </a:ln>
        </p:spPr>
      </p:sp>
      <p:sp>
        <p:nvSpPr>
          <p:cNvPr name="AutoShape 65" id="65"/>
          <p:cNvSpPr/>
          <p:nvPr/>
        </p:nvSpPr>
        <p:spPr>
          <a:xfrm>
            <a:off x="8503920" y="6481164"/>
            <a:ext cx="960120" cy="0"/>
          </a:xfrm>
          <a:prstGeom prst="line">
            <a:avLst/>
          </a:prstGeom>
          <a:ln cap="flat" w="38100">
            <a:solidFill>
              <a:srgbClr val="39C0D3"/>
            </a:solidFill>
            <a:prstDash val="solid"/>
            <a:headEnd type="none" len="sm" w="sm"/>
            <a:tailEnd type="triangle" len="med" w="lg"/>
          </a:ln>
        </p:spPr>
      </p:sp>
      <p:grpSp>
        <p:nvGrpSpPr>
          <p:cNvPr name="Group 66" id="66"/>
          <p:cNvGrpSpPr/>
          <p:nvPr/>
        </p:nvGrpSpPr>
        <p:grpSpPr>
          <a:xfrm rot="0">
            <a:off x="4733983" y="7858874"/>
            <a:ext cx="8820033" cy="1582509"/>
            <a:chOff x="0" y="0"/>
            <a:chExt cx="11760044" cy="2110012"/>
          </a:xfrm>
        </p:grpSpPr>
        <p:sp>
          <p:nvSpPr>
            <p:cNvPr name="Freeform 67" id="67"/>
            <p:cNvSpPr/>
            <p:nvPr/>
          </p:nvSpPr>
          <p:spPr>
            <a:xfrm flipH="false" flipV="false" rot="0">
              <a:off x="728290" y="69415"/>
              <a:ext cx="1258703" cy="1249263"/>
            </a:xfrm>
            <a:custGeom>
              <a:avLst/>
              <a:gdLst/>
              <a:ahLst/>
              <a:cxnLst/>
              <a:rect r="r" b="b" t="t" l="l"/>
              <a:pathLst>
                <a:path h="1249263" w="1258703">
                  <a:moveTo>
                    <a:pt x="0" y="0"/>
                  </a:moveTo>
                  <a:lnTo>
                    <a:pt x="1258703" y="0"/>
                  </a:lnTo>
                  <a:lnTo>
                    <a:pt x="1258703" y="1249263"/>
                  </a:lnTo>
                  <a:lnTo>
                    <a:pt x="0" y="1249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8" id="68"/>
            <p:cNvSpPr/>
            <p:nvPr/>
          </p:nvSpPr>
          <p:spPr>
            <a:xfrm flipH="false" flipV="false" rot="4345877">
              <a:off x="632350" y="810007"/>
              <a:ext cx="831086" cy="802690"/>
            </a:xfrm>
            <a:custGeom>
              <a:avLst/>
              <a:gdLst/>
              <a:ahLst/>
              <a:cxnLst/>
              <a:rect r="r" b="b" t="t" l="l"/>
              <a:pathLst>
                <a:path h="802690" w="831086">
                  <a:moveTo>
                    <a:pt x="0" y="0"/>
                  </a:moveTo>
                  <a:lnTo>
                    <a:pt x="831086" y="0"/>
                  </a:lnTo>
                  <a:lnTo>
                    <a:pt x="831086" y="802691"/>
                  </a:lnTo>
                  <a:lnTo>
                    <a:pt x="0" y="8026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9" id="69"/>
            <p:cNvSpPr txBox="true"/>
            <p:nvPr/>
          </p:nvSpPr>
          <p:spPr>
            <a:xfrm rot="0">
              <a:off x="0" y="1549956"/>
              <a:ext cx="2526830" cy="560056"/>
            </a:xfrm>
            <a:prstGeom prst="rect">
              <a:avLst/>
            </a:prstGeom>
          </p:spPr>
          <p:txBody>
            <a:bodyPr anchor="t" rtlCol="false" tIns="0" lIns="0" bIns="0" rIns="0">
              <a:spAutoFit/>
            </a:bodyPr>
            <a:lstStyle/>
            <a:p>
              <a:pPr algn="ctr">
                <a:lnSpc>
                  <a:spcPts val="1702"/>
                </a:lnSpc>
              </a:pPr>
              <a:r>
                <a:rPr lang="en-US" b="true" sz="1215">
                  <a:solidFill>
                    <a:srgbClr val="FF4954"/>
                  </a:solidFill>
                  <a:latin typeface="Montserrat Bold"/>
                  <a:ea typeface="Montserrat Bold"/>
                  <a:cs typeface="Montserrat Bold"/>
                  <a:sym typeface="Montserrat Bold"/>
                </a:rPr>
                <a:t>Kekurangan </a:t>
              </a:r>
            </a:p>
            <a:p>
              <a:pPr algn="ctr">
                <a:lnSpc>
                  <a:spcPts val="1702"/>
                </a:lnSpc>
                <a:spcBef>
                  <a:spcPct val="0"/>
                </a:spcBef>
              </a:pPr>
              <a:r>
                <a:rPr lang="en-US" b="true" sz="1215">
                  <a:solidFill>
                    <a:srgbClr val="FF4954"/>
                  </a:solidFill>
                  <a:latin typeface="Montserrat Bold"/>
                  <a:ea typeface="Montserrat Bold"/>
                  <a:cs typeface="Montserrat Bold"/>
                  <a:sym typeface="Montserrat Bold"/>
                </a:rPr>
                <a:t>Metode Konvensional</a:t>
              </a:r>
            </a:p>
          </p:txBody>
        </p:sp>
        <p:grpSp>
          <p:nvGrpSpPr>
            <p:cNvPr name="Group 70" id="70"/>
            <p:cNvGrpSpPr/>
            <p:nvPr/>
          </p:nvGrpSpPr>
          <p:grpSpPr>
            <a:xfrm rot="0">
              <a:off x="4081159" y="170751"/>
              <a:ext cx="1844355" cy="1837925"/>
              <a:chOff x="0" y="0"/>
              <a:chExt cx="812800" cy="809966"/>
            </a:xfrm>
          </p:grpSpPr>
          <p:sp>
            <p:nvSpPr>
              <p:cNvPr name="Freeform 71" id="71"/>
              <p:cNvSpPr/>
              <p:nvPr/>
            </p:nvSpPr>
            <p:spPr>
              <a:xfrm flipH="false" flipV="false" rot="0">
                <a:off x="0" y="0"/>
                <a:ext cx="812800" cy="809966"/>
              </a:xfrm>
              <a:custGeom>
                <a:avLst/>
                <a:gdLst/>
                <a:ahLst/>
                <a:cxnLst/>
                <a:rect r="r" b="b" t="t" l="l"/>
                <a:pathLst>
                  <a:path h="809966" w="812800">
                    <a:moveTo>
                      <a:pt x="406400" y="0"/>
                    </a:moveTo>
                    <a:cubicBezTo>
                      <a:pt x="181951" y="0"/>
                      <a:pt x="0" y="181317"/>
                      <a:pt x="0" y="404983"/>
                    </a:cubicBezTo>
                    <a:cubicBezTo>
                      <a:pt x="0" y="628649"/>
                      <a:pt x="181951" y="809966"/>
                      <a:pt x="406400" y="809966"/>
                    </a:cubicBezTo>
                    <a:cubicBezTo>
                      <a:pt x="630849" y="809966"/>
                      <a:pt x="812800" y="628649"/>
                      <a:pt x="812800" y="404983"/>
                    </a:cubicBezTo>
                    <a:cubicBezTo>
                      <a:pt x="812800" y="181317"/>
                      <a:pt x="630849" y="0"/>
                      <a:pt x="406400" y="0"/>
                    </a:cubicBezTo>
                    <a:close/>
                  </a:path>
                </a:pathLst>
              </a:custGeom>
              <a:solidFill>
                <a:srgbClr val="FFFBD7"/>
              </a:solidFill>
            </p:spPr>
          </p:sp>
          <p:sp>
            <p:nvSpPr>
              <p:cNvPr name="TextBox 72" id="72"/>
              <p:cNvSpPr txBox="true"/>
              <p:nvPr/>
            </p:nvSpPr>
            <p:spPr>
              <a:xfrm>
                <a:off x="76200" y="28309"/>
                <a:ext cx="660400" cy="705723"/>
              </a:xfrm>
              <a:prstGeom prst="rect">
                <a:avLst/>
              </a:prstGeom>
            </p:spPr>
            <p:txBody>
              <a:bodyPr anchor="ctr" rtlCol="false" tIns="54379" lIns="54379" bIns="54379" rIns="54379"/>
              <a:lstStyle/>
              <a:p>
                <a:pPr algn="ctr">
                  <a:lnSpc>
                    <a:spcPts val="3020"/>
                  </a:lnSpc>
                </a:pPr>
              </a:p>
            </p:txBody>
          </p:sp>
        </p:grpSp>
        <p:sp>
          <p:nvSpPr>
            <p:cNvPr name="Freeform 73" id="73"/>
            <p:cNvSpPr/>
            <p:nvPr/>
          </p:nvSpPr>
          <p:spPr>
            <a:xfrm flipH="false" flipV="false" rot="0">
              <a:off x="4626524" y="404725"/>
              <a:ext cx="753624" cy="753624"/>
            </a:xfrm>
            <a:custGeom>
              <a:avLst/>
              <a:gdLst/>
              <a:ahLst/>
              <a:cxnLst/>
              <a:rect r="r" b="b" t="t" l="l"/>
              <a:pathLst>
                <a:path h="753624" w="753624">
                  <a:moveTo>
                    <a:pt x="0" y="0"/>
                  </a:moveTo>
                  <a:lnTo>
                    <a:pt x="753624" y="0"/>
                  </a:lnTo>
                  <a:lnTo>
                    <a:pt x="753624" y="753624"/>
                  </a:lnTo>
                  <a:lnTo>
                    <a:pt x="0" y="753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4" id="74"/>
            <p:cNvSpPr txBox="true"/>
            <p:nvPr/>
          </p:nvSpPr>
          <p:spPr>
            <a:xfrm rot="0">
              <a:off x="4373977" y="1200577"/>
              <a:ext cx="1258719" cy="574125"/>
            </a:xfrm>
            <a:prstGeom prst="rect">
              <a:avLst/>
            </a:prstGeom>
          </p:spPr>
          <p:txBody>
            <a:bodyPr anchor="t" rtlCol="false" tIns="0" lIns="0" bIns="0" rIns="0">
              <a:spAutoFit/>
            </a:bodyPr>
            <a:lstStyle/>
            <a:p>
              <a:pPr algn="ctr">
                <a:lnSpc>
                  <a:spcPts val="1785"/>
                </a:lnSpc>
                <a:spcBef>
                  <a:spcPct val="0"/>
                </a:spcBef>
              </a:pPr>
              <a:r>
                <a:rPr lang="en-US" b="true" sz="1275">
                  <a:solidFill>
                    <a:srgbClr val="3AC1D1"/>
                  </a:solidFill>
                  <a:latin typeface="Montserrat Bold"/>
                  <a:ea typeface="Montserrat Bold"/>
                  <a:cs typeface="Montserrat Bold"/>
                  <a:sym typeface="Montserrat Bold"/>
                </a:rPr>
                <a:t>Sistem</a:t>
              </a:r>
            </a:p>
            <a:p>
              <a:pPr algn="ctr">
                <a:lnSpc>
                  <a:spcPts val="1785"/>
                </a:lnSpc>
                <a:spcBef>
                  <a:spcPct val="0"/>
                </a:spcBef>
              </a:pPr>
              <a:r>
                <a:rPr lang="en-US" b="true" sz="1275">
                  <a:solidFill>
                    <a:srgbClr val="3AC1D1"/>
                  </a:solidFill>
                  <a:latin typeface="Montserrat Bold"/>
                  <a:ea typeface="Montserrat Bold"/>
                  <a:cs typeface="Montserrat Bold"/>
                  <a:sym typeface="Montserrat Bold"/>
                </a:rPr>
                <a:t>Dinamis</a:t>
              </a:r>
            </a:p>
          </p:txBody>
        </p:sp>
        <p:sp>
          <p:nvSpPr>
            <p:cNvPr name="AutoShape 75" id="75"/>
            <p:cNvSpPr/>
            <p:nvPr/>
          </p:nvSpPr>
          <p:spPr>
            <a:xfrm>
              <a:off x="2526830" y="1089714"/>
              <a:ext cx="1554329" cy="0"/>
            </a:xfrm>
            <a:prstGeom prst="line">
              <a:avLst/>
            </a:prstGeom>
            <a:ln cap="flat" w="39921">
              <a:solidFill>
                <a:srgbClr val="000000"/>
              </a:solidFill>
              <a:prstDash val="solid"/>
              <a:headEnd type="none" len="sm" w="sm"/>
              <a:tailEnd type="arrow" len="sm" w="med"/>
            </a:ln>
          </p:spPr>
        </p:sp>
        <p:sp>
          <p:nvSpPr>
            <p:cNvPr name="AutoShape 76" id="76"/>
            <p:cNvSpPr/>
            <p:nvPr/>
          </p:nvSpPr>
          <p:spPr>
            <a:xfrm flipV="true">
              <a:off x="5925513" y="1078503"/>
              <a:ext cx="1523414" cy="11211"/>
            </a:xfrm>
            <a:prstGeom prst="line">
              <a:avLst/>
            </a:prstGeom>
            <a:ln cap="flat" w="39921">
              <a:solidFill>
                <a:srgbClr val="000000"/>
              </a:solidFill>
              <a:prstDash val="solid"/>
              <a:headEnd type="none" len="sm" w="sm"/>
              <a:tailEnd type="arrow" len="sm" w="med"/>
            </a:ln>
          </p:spPr>
        </p:sp>
        <p:grpSp>
          <p:nvGrpSpPr>
            <p:cNvPr name="Group 77" id="77"/>
            <p:cNvGrpSpPr/>
            <p:nvPr/>
          </p:nvGrpSpPr>
          <p:grpSpPr>
            <a:xfrm rot="0">
              <a:off x="7448927" y="69415"/>
              <a:ext cx="2018175" cy="2018175"/>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AAE1"/>
              </a:solidFill>
            </p:spPr>
          </p:sp>
          <p:sp>
            <p:nvSpPr>
              <p:cNvPr name="TextBox 79" id="79"/>
              <p:cNvSpPr txBox="true"/>
              <p:nvPr/>
            </p:nvSpPr>
            <p:spPr>
              <a:xfrm>
                <a:off x="76200" y="28575"/>
                <a:ext cx="660400" cy="708025"/>
              </a:xfrm>
              <a:prstGeom prst="rect">
                <a:avLst/>
              </a:prstGeom>
            </p:spPr>
            <p:txBody>
              <a:bodyPr anchor="ctr" rtlCol="false" tIns="62588" lIns="62588" bIns="62588" rIns="62588"/>
              <a:lstStyle/>
              <a:p>
                <a:pPr algn="ctr">
                  <a:lnSpc>
                    <a:spcPts val="3020"/>
                  </a:lnSpc>
                </a:pPr>
              </a:p>
            </p:txBody>
          </p:sp>
        </p:grpSp>
        <p:sp>
          <p:nvSpPr>
            <p:cNvPr name="Freeform 80" id="80"/>
            <p:cNvSpPr/>
            <p:nvPr/>
          </p:nvSpPr>
          <p:spPr>
            <a:xfrm flipH="false" flipV="false" rot="0">
              <a:off x="8077866" y="476807"/>
              <a:ext cx="760297" cy="760297"/>
            </a:xfrm>
            <a:custGeom>
              <a:avLst/>
              <a:gdLst/>
              <a:ahLst/>
              <a:cxnLst/>
              <a:rect r="r" b="b" t="t" l="l"/>
              <a:pathLst>
                <a:path h="760297" w="760297">
                  <a:moveTo>
                    <a:pt x="0" y="0"/>
                  </a:moveTo>
                  <a:lnTo>
                    <a:pt x="760297" y="0"/>
                  </a:lnTo>
                  <a:lnTo>
                    <a:pt x="760297" y="760297"/>
                  </a:lnTo>
                  <a:lnTo>
                    <a:pt x="0" y="760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1" id="81"/>
            <p:cNvSpPr txBox="true"/>
            <p:nvPr/>
          </p:nvSpPr>
          <p:spPr>
            <a:xfrm rot="0">
              <a:off x="7693108" y="1208529"/>
              <a:ext cx="1529813" cy="471670"/>
            </a:xfrm>
            <a:prstGeom prst="rect">
              <a:avLst/>
            </a:prstGeom>
          </p:spPr>
          <p:txBody>
            <a:bodyPr anchor="t" rtlCol="false" tIns="0" lIns="0" bIns="0" rIns="0">
              <a:spAutoFit/>
            </a:bodyPr>
            <a:lstStyle/>
            <a:p>
              <a:pPr algn="ctr">
                <a:lnSpc>
                  <a:spcPts val="1419"/>
                </a:lnSpc>
              </a:pPr>
              <a:r>
                <a:rPr lang="en-US" sz="1013" b="true">
                  <a:solidFill>
                    <a:srgbClr val="000000"/>
                  </a:solidFill>
                  <a:latin typeface="Montserrat Bold"/>
                  <a:ea typeface="Montserrat Bold"/>
                  <a:cs typeface="Montserrat Bold"/>
                  <a:sym typeface="Montserrat Bold"/>
                </a:rPr>
                <a:t>Integrasi </a:t>
              </a:r>
            </a:p>
            <a:p>
              <a:pPr algn="ctr">
                <a:lnSpc>
                  <a:spcPts val="1419"/>
                </a:lnSpc>
                <a:spcBef>
                  <a:spcPct val="0"/>
                </a:spcBef>
              </a:pPr>
              <a:r>
                <a:rPr lang="en-US" b="true" sz="1013">
                  <a:solidFill>
                    <a:srgbClr val="000000"/>
                  </a:solidFill>
                  <a:latin typeface="Montserrat Bold"/>
                  <a:ea typeface="Montserrat Bold"/>
                  <a:cs typeface="Montserrat Bold"/>
                  <a:sym typeface="Montserrat Bold"/>
                </a:rPr>
                <a:t>Data Citra Satelit</a:t>
              </a:r>
            </a:p>
          </p:txBody>
        </p:sp>
        <p:grpSp>
          <p:nvGrpSpPr>
            <p:cNvPr name="Group 82" id="82"/>
            <p:cNvGrpSpPr/>
            <p:nvPr/>
          </p:nvGrpSpPr>
          <p:grpSpPr>
            <a:xfrm rot="0">
              <a:off x="9650032" y="0"/>
              <a:ext cx="2110012" cy="2110012"/>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D5F5"/>
              </a:solidFill>
            </p:spPr>
          </p:sp>
          <p:sp>
            <p:nvSpPr>
              <p:cNvPr name="TextBox 84" id="84"/>
              <p:cNvSpPr txBox="true"/>
              <p:nvPr/>
            </p:nvSpPr>
            <p:spPr>
              <a:xfrm>
                <a:off x="76200" y="28575"/>
                <a:ext cx="660400" cy="708025"/>
              </a:xfrm>
              <a:prstGeom prst="rect">
                <a:avLst/>
              </a:prstGeom>
            </p:spPr>
            <p:txBody>
              <a:bodyPr anchor="ctr" rtlCol="false" tIns="63083" lIns="63083" bIns="63083" rIns="63083"/>
              <a:lstStyle/>
              <a:p>
                <a:pPr algn="ctr">
                  <a:lnSpc>
                    <a:spcPts val="3020"/>
                  </a:lnSpc>
                </a:pPr>
              </a:p>
            </p:txBody>
          </p:sp>
        </p:grpSp>
        <p:sp>
          <p:nvSpPr>
            <p:cNvPr name="Freeform 85" id="85"/>
            <p:cNvSpPr/>
            <p:nvPr/>
          </p:nvSpPr>
          <p:spPr>
            <a:xfrm flipH="false" flipV="false" rot="0">
              <a:off x="10127387" y="440528"/>
              <a:ext cx="1155302" cy="860700"/>
            </a:xfrm>
            <a:custGeom>
              <a:avLst/>
              <a:gdLst/>
              <a:ahLst/>
              <a:cxnLst/>
              <a:rect r="r" b="b" t="t" l="l"/>
              <a:pathLst>
                <a:path h="860700" w="1155302">
                  <a:moveTo>
                    <a:pt x="0" y="0"/>
                  </a:moveTo>
                  <a:lnTo>
                    <a:pt x="1155302" y="0"/>
                  </a:lnTo>
                  <a:lnTo>
                    <a:pt x="1155302" y="860700"/>
                  </a:lnTo>
                  <a:lnTo>
                    <a:pt x="0" y="860700"/>
                  </a:lnTo>
                  <a:lnTo>
                    <a:pt x="0" y="0"/>
                  </a:lnTo>
                  <a:close/>
                </a:path>
              </a:pathLst>
            </a:custGeom>
            <a:blipFill>
              <a:blip r:embed="rId13"/>
              <a:stretch>
                <a:fillRect l="0" t="0" r="0" b="0"/>
              </a:stretch>
            </a:blipFill>
          </p:spPr>
        </p:sp>
        <p:sp>
          <p:nvSpPr>
            <p:cNvPr name="TextBox 86" id="86"/>
            <p:cNvSpPr txBox="true"/>
            <p:nvPr/>
          </p:nvSpPr>
          <p:spPr>
            <a:xfrm rot="0">
              <a:off x="9862686" y="1291703"/>
              <a:ext cx="1684704" cy="377781"/>
            </a:xfrm>
            <a:prstGeom prst="rect">
              <a:avLst/>
            </a:prstGeom>
          </p:spPr>
          <p:txBody>
            <a:bodyPr anchor="t" rtlCol="false" tIns="0" lIns="0" bIns="0" rIns="0">
              <a:spAutoFit/>
            </a:bodyPr>
            <a:lstStyle/>
            <a:p>
              <a:pPr algn="ctr">
                <a:lnSpc>
                  <a:spcPts val="1171"/>
                </a:lnSpc>
              </a:pPr>
              <a:r>
                <a:rPr lang="en-US" sz="836" b="true">
                  <a:solidFill>
                    <a:srgbClr val="000000"/>
                  </a:solidFill>
                  <a:latin typeface="Montserrat Bold"/>
                  <a:ea typeface="Montserrat Bold"/>
                  <a:cs typeface="Montserrat Bold"/>
                  <a:sym typeface="Montserrat Bold"/>
                </a:rPr>
                <a:t>Decision-Support Tool </a:t>
              </a:r>
            </a:p>
            <a:p>
              <a:pPr algn="ctr">
                <a:lnSpc>
                  <a:spcPts val="1171"/>
                </a:lnSpc>
                <a:spcBef>
                  <a:spcPct val="0"/>
                </a:spcBef>
              </a:pPr>
              <a:r>
                <a:rPr lang="en-US" b="true" sz="836">
                  <a:solidFill>
                    <a:srgbClr val="000000"/>
                  </a:solidFill>
                  <a:latin typeface="Montserrat Bold"/>
                  <a:ea typeface="Montserrat Bold"/>
                  <a:cs typeface="Montserrat Bold"/>
                  <a:sym typeface="Montserrat Bold"/>
                </a:rPr>
                <a:t>Berbasis Web</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permasalahan dijawab oleh tiga tujuan penelitian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&amp; Kebaruan</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331720"/>
            <a:ext cx="16637508" cy="1234440"/>
            <a:chOff x="0" y="0"/>
            <a:chExt cx="22183344" cy="1645920"/>
          </a:xfrm>
        </p:grpSpPr>
        <p:sp>
          <p:nvSpPr>
            <p:cNvPr name="Freeform 39" id="39"/>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sp>
      </p:grpSp>
      <p:grpSp>
        <p:nvGrpSpPr>
          <p:cNvPr name="Group 40" id="40"/>
          <p:cNvGrpSpPr/>
          <p:nvPr/>
        </p:nvGrpSpPr>
        <p:grpSpPr>
          <a:xfrm rot="0">
            <a:off x="1234440" y="2331720"/>
            <a:ext cx="15814548" cy="1234440"/>
            <a:chOff x="0" y="0"/>
            <a:chExt cx="21086064" cy="1645920"/>
          </a:xfrm>
        </p:grpSpPr>
        <p:sp>
          <p:nvSpPr>
            <p:cNvPr name="Freeform 41" id="41"/>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sp>
        <p:sp>
          <p:nvSpPr>
            <p:cNvPr name="TextBox 42" id="42"/>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terintegrasi dengan data citra satelit untuk pemutakhiran data, guna mendukung simulasi kebijakan pariwisata di Provinsi DIY.</a:t>
              </a:r>
            </a:p>
          </p:txBody>
        </p:sp>
      </p:grpSp>
      <p:grpSp>
        <p:nvGrpSpPr>
          <p:cNvPr name="Group 43" id="43"/>
          <p:cNvGrpSpPr/>
          <p:nvPr/>
        </p:nvGrpSpPr>
        <p:grpSpPr>
          <a:xfrm rot="0">
            <a:off x="891540" y="4197096"/>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45" id="45"/>
          <p:cNvGrpSpPr/>
          <p:nvPr/>
        </p:nvGrpSpPr>
        <p:grpSpPr>
          <a:xfrm rot="0">
            <a:off x="891540" y="4197096"/>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48" id="48"/>
          <p:cNvGrpSpPr/>
          <p:nvPr/>
        </p:nvGrpSpPr>
        <p:grpSpPr>
          <a:xfrm rot="0">
            <a:off x="1851660" y="3909060"/>
            <a:ext cx="7269480" cy="1234440"/>
            <a:chOff x="0" y="0"/>
            <a:chExt cx="9692640" cy="1645920"/>
          </a:xfrm>
        </p:grpSpPr>
        <p:sp>
          <p:nvSpPr>
            <p:cNvPr name="Freeform 49" id="49"/>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sp>
      </p:grpSp>
      <p:sp>
        <p:nvSpPr>
          <p:cNvPr name="TextBox 50" id="50"/>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51" id="51"/>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52" id="52"/>
          <p:cNvGrpSpPr/>
          <p:nvPr/>
        </p:nvGrpSpPr>
        <p:grpSpPr>
          <a:xfrm rot="0">
            <a:off x="10012680" y="3909060"/>
            <a:ext cx="7447788" cy="1234440"/>
            <a:chOff x="0" y="0"/>
            <a:chExt cx="9930384" cy="1645920"/>
          </a:xfrm>
        </p:grpSpPr>
        <p:sp>
          <p:nvSpPr>
            <p:cNvPr name="Freeform 53" id="53"/>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sp>
      </p:grpSp>
      <p:sp>
        <p:nvSpPr>
          <p:cNvPr name="TextBox 54" id="54"/>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55" id="55"/>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56" id="56"/>
          <p:cNvGrpSpPr/>
          <p:nvPr/>
        </p:nvGrpSpPr>
        <p:grpSpPr>
          <a:xfrm rot="0">
            <a:off x="891540" y="5634228"/>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8" id="58"/>
          <p:cNvGrpSpPr/>
          <p:nvPr/>
        </p:nvGrpSpPr>
        <p:grpSpPr>
          <a:xfrm rot="0">
            <a:off x="891540" y="5634228"/>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60" id="60"/>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61" id="61"/>
          <p:cNvGrpSpPr/>
          <p:nvPr/>
        </p:nvGrpSpPr>
        <p:grpSpPr>
          <a:xfrm rot="0">
            <a:off x="1851660" y="5295900"/>
            <a:ext cx="7269480" cy="1449705"/>
            <a:chOff x="0" y="0"/>
            <a:chExt cx="9692640" cy="1932940"/>
          </a:xfrm>
        </p:grpSpPr>
        <p:sp>
          <p:nvSpPr>
            <p:cNvPr name="Freeform 62" id="62"/>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sp>
      </p:grpSp>
      <p:sp>
        <p:nvSpPr>
          <p:cNvPr name="TextBox 63" id="63"/>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64" id="64"/>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65" id="65"/>
          <p:cNvGrpSpPr/>
          <p:nvPr/>
        </p:nvGrpSpPr>
        <p:grpSpPr>
          <a:xfrm rot="0">
            <a:off x="10012680" y="5295900"/>
            <a:ext cx="7447788" cy="1449705"/>
            <a:chOff x="0" y="0"/>
            <a:chExt cx="9930384" cy="1932940"/>
          </a:xfrm>
        </p:grpSpPr>
        <p:sp>
          <p:nvSpPr>
            <p:cNvPr name="Freeform 66" id="66"/>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sp>
      </p:grpSp>
      <p:sp>
        <p:nvSpPr>
          <p:cNvPr name="TextBox 67" id="67"/>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68" id="68"/>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memutakhirkan variabel berjeda data, lalu menguji validitas struktur dan kesesuaiannya terhadap data historis.</a:t>
            </a:r>
          </a:p>
        </p:txBody>
      </p:sp>
      <p:grpSp>
        <p:nvGrpSpPr>
          <p:cNvPr name="Group 69" id="69"/>
          <p:cNvGrpSpPr/>
          <p:nvPr/>
        </p:nvGrpSpPr>
        <p:grpSpPr>
          <a:xfrm rot="0">
            <a:off x="891540" y="7138035"/>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1" id="71"/>
          <p:cNvGrpSpPr/>
          <p:nvPr/>
        </p:nvGrpSpPr>
        <p:grpSpPr>
          <a:xfrm rot="0">
            <a:off x="891540" y="7138035"/>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73" id="7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1851660" y="6898005"/>
            <a:ext cx="7269480" cy="1165860"/>
            <a:chOff x="0" y="0"/>
            <a:chExt cx="9692640" cy="1554480"/>
          </a:xfrm>
        </p:grpSpPr>
        <p:sp>
          <p:nvSpPr>
            <p:cNvPr name="Freeform 75" id="75"/>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sp>
      </p:grpSp>
      <p:sp>
        <p:nvSpPr>
          <p:cNvPr name="TextBox 76" id="76"/>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77" id="77"/>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78" id="78"/>
          <p:cNvGrpSpPr/>
          <p:nvPr/>
        </p:nvGrpSpPr>
        <p:grpSpPr>
          <a:xfrm rot="0">
            <a:off x="10012680" y="6898005"/>
            <a:ext cx="7447788" cy="1165860"/>
            <a:chOff x="0" y="0"/>
            <a:chExt cx="9930384" cy="1554480"/>
          </a:xfrm>
        </p:grpSpPr>
        <p:sp>
          <p:nvSpPr>
            <p:cNvPr name="Freeform 79" id="79"/>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sp>
      </p:grpSp>
      <p:sp>
        <p:nvSpPr>
          <p:cNvPr name="TextBox 80" id="80"/>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81" id="81"/>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TextBox 82" id="8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sp>
        <p:nvSpPr>
          <p:cNvPr name="AutoShape 83" id="83"/>
          <p:cNvSpPr/>
          <p:nvPr/>
        </p:nvSpPr>
        <p:spPr>
          <a:xfrm>
            <a:off x="9121140" y="4526280"/>
            <a:ext cx="891540" cy="0"/>
          </a:xfrm>
          <a:prstGeom prst="line">
            <a:avLst/>
          </a:prstGeom>
          <a:ln cap="flat" w="38100">
            <a:solidFill>
              <a:srgbClr val="39C0D3"/>
            </a:solidFill>
            <a:prstDash val="solid"/>
            <a:headEnd type="none" len="sm" w="sm"/>
            <a:tailEnd type="triangle" len="med" w="lg"/>
          </a:ln>
        </p:spPr>
      </p:sp>
      <p:sp>
        <p:nvSpPr>
          <p:cNvPr name="AutoShape 84" id="84"/>
          <p:cNvSpPr/>
          <p:nvPr/>
        </p:nvSpPr>
        <p:spPr>
          <a:xfrm>
            <a:off x="9121140" y="6020752"/>
            <a:ext cx="891540" cy="0"/>
          </a:xfrm>
          <a:prstGeom prst="line">
            <a:avLst/>
          </a:prstGeom>
          <a:ln cap="flat" w="38100">
            <a:solidFill>
              <a:srgbClr val="39C0D3"/>
            </a:solidFill>
            <a:prstDash val="solid"/>
            <a:headEnd type="none" len="sm" w="sm"/>
            <a:tailEnd type="triangle" len="med" w="lg"/>
          </a:ln>
        </p:spPr>
      </p:sp>
      <p:sp>
        <p:nvSpPr>
          <p:cNvPr name="AutoShape 85" id="85"/>
          <p:cNvSpPr/>
          <p:nvPr/>
        </p:nvSpPr>
        <p:spPr>
          <a:xfrm>
            <a:off x="9121140" y="7480935"/>
            <a:ext cx="891540" cy="0"/>
          </a:xfrm>
          <a:prstGeom prst="line">
            <a:avLst/>
          </a:prstGeom>
          <a:ln cap="flat" w="38100">
            <a:solidFill>
              <a:srgbClr val="39C0D3"/>
            </a:solidFill>
            <a:prstDash val="solid"/>
            <a:headEnd type="none" len="sm" w="sm"/>
            <a:tailEnd type="triangle" len="med" w="lg"/>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Ruang lingkup: model untuk membandingkan skenario, bukan meramal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261872"/>
            <a:chOff x="0" y="0"/>
            <a:chExt cx="22183344" cy="1682496"/>
          </a:xfrm>
        </p:grpSpPr>
        <p:sp>
          <p:nvSpPr>
            <p:cNvPr name="Freeform 53" id="53"/>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54" id="54"/>
          <p:cNvGrpSpPr/>
          <p:nvPr/>
        </p:nvGrpSpPr>
        <p:grpSpPr>
          <a:xfrm rot="0">
            <a:off x="1097280" y="2619756"/>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6" id="56"/>
          <p:cNvGrpSpPr/>
          <p:nvPr/>
        </p:nvGrpSpPr>
        <p:grpSpPr>
          <a:xfrm rot="0">
            <a:off x="1097280" y="2619756"/>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8" id="58"/>
          <p:cNvGrpSpPr/>
          <p:nvPr/>
        </p:nvGrpSpPr>
        <p:grpSpPr>
          <a:xfrm rot="0">
            <a:off x="1097280" y="2591181"/>
            <a:ext cx="685800" cy="714375"/>
            <a:chOff x="0" y="0"/>
            <a:chExt cx="914400" cy="952500"/>
          </a:xfrm>
        </p:grpSpPr>
        <p:sp>
          <p:nvSpPr>
            <p:cNvPr name="Freeform 59" id="59"/>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60" id="60"/>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1" id="61"/>
          <p:cNvGrpSpPr/>
          <p:nvPr/>
        </p:nvGrpSpPr>
        <p:grpSpPr>
          <a:xfrm rot="0">
            <a:off x="2125980" y="2331720"/>
            <a:ext cx="3566160" cy="1261872"/>
            <a:chOff x="0" y="0"/>
            <a:chExt cx="4754880" cy="1682496"/>
          </a:xfrm>
        </p:grpSpPr>
        <p:sp>
          <p:nvSpPr>
            <p:cNvPr name="Freeform 62" id="62"/>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63" id="63"/>
          <p:cNvGrpSpPr/>
          <p:nvPr/>
        </p:nvGrpSpPr>
        <p:grpSpPr>
          <a:xfrm rot="0">
            <a:off x="2125980" y="2288858"/>
            <a:ext cx="3566160" cy="1304734"/>
            <a:chOff x="0" y="0"/>
            <a:chExt cx="4754880" cy="1739646"/>
          </a:xfrm>
        </p:grpSpPr>
        <p:sp>
          <p:nvSpPr>
            <p:cNvPr name="Freeform 64" id="64"/>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65" id="65"/>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66" id="66"/>
          <p:cNvGrpSpPr/>
          <p:nvPr/>
        </p:nvGrpSpPr>
        <p:grpSpPr>
          <a:xfrm rot="0">
            <a:off x="5760720" y="2331720"/>
            <a:ext cx="11452860" cy="1261872"/>
            <a:chOff x="0" y="0"/>
            <a:chExt cx="15270480" cy="1682496"/>
          </a:xfrm>
        </p:grpSpPr>
        <p:sp>
          <p:nvSpPr>
            <p:cNvPr name="Freeform 67" id="67"/>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68" id="68"/>
          <p:cNvGrpSpPr/>
          <p:nvPr/>
        </p:nvGrpSpPr>
        <p:grpSpPr>
          <a:xfrm rot="0">
            <a:off x="5760720" y="2303145"/>
            <a:ext cx="11452860" cy="1290447"/>
            <a:chOff x="0" y="0"/>
            <a:chExt cx="15270480" cy="1720596"/>
          </a:xfrm>
        </p:grpSpPr>
        <p:sp>
          <p:nvSpPr>
            <p:cNvPr name="Freeform 69" id="69"/>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70" id="70"/>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71" id="71"/>
          <p:cNvGrpSpPr/>
          <p:nvPr/>
        </p:nvGrpSpPr>
        <p:grpSpPr>
          <a:xfrm rot="0">
            <a:off x="822960" y="3730752"/>
            <a:ext cx="16637508" cy="1261872"/>
            <a:chOff x="0" y="0"/>
            <a:chExt cx="22183344" cy="1682496"/>
          </a:xfrm>
        </p:grpSpPr>
        <p:sp>
          <p:nvSpPr>
            <p:cNvPr name="Freeform 72" id="7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73" id="73"/>
          <p:cNvGrpSpPr/>
          <p:nvPr/>
        </p:nvGrpSpPr>
        <p:grpSpPr>
          <a:xfrm rot="0">
            <a:off x="1097280" y="4018788"/>
            <a:ext cx="685800" cy="685800"/>
            <a:chOff x="0" y="0"/>
            <a:chExt cx="914400" cy="914400"/>
          </a:xfrm>
        </p:grpSpPr>
        <p:sp>
          <p:nvSpPr>
            <p:cNvPr name="Freeform 74" id="7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5" id="75"/>
          <p:cNvGrpSpPr/>
          <p:nvPr/>
        </p:nvGrpSpPr>
        <p:grpSpPr>
          <a:xfrm rot="0">
            <a:off x="1097280" y="4018788"/>
            <a:ext cx="685800" cy="685800"/>
            <a:chOff x="0" y="0"/>
            <a:chExt cx="914400" cy="914400"/>
          </a:xfrm>
        </p:grpSpPr>
        <p:sp>
          <p:nvSpPr>
            <p:cNvPr name="Freeform 76" id="7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7" id="77"/>
          <p:cNvGrpSpPr/>
          <p:nvPr/>
        </p:nvGrpSpPr>
        <p:grpSpPr>
          <a:xfrm rot="0">
            <a:off x="1097280" y="3990213"/>
            <a:ext cx="685800" cy="714375"/>
            <a:chOff x="0" y="0"/>
            <a:chExt cx="914400" cy="952500"/>
          </a:xfrm>
        </p:grpSpPr>
        <p:sp>
          <p:nvSpPr>
            <p:cNvPr name="Freeform 78" id="7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9" id="7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80" id="80"/>
          <p:cNvGrpSpPr/>
          <p:nvPr/>
        </p:nvGrpSpPr>
        <p:grpSpPr>
          <a:xfrm rot="0">
            <a:off x="2125980" y="3730752"/>
            <a:ext cx="3566160" cy="1261872"/>
            <a:chOff x="0" y="0"/>
            <a:chExt cx="4754880" cy="1682496"/>
          </a:xfrm>
        </p:grpSpPr>
        <p:sp>
          <p:nvSpPr>
            <p:cNvPr name="Freeform 81" id="81"/>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82" id="82"/>
          <p:cNvGrpSpPr/>
          <p:nvPr/>
        </p:nvGrpSpPr>
        <p:grpSpPr>
          <a:xfrm rot="0">
            <a:off x="2125980" y="3687890"/>
            <a:ext cx="3566160" cy="1304734"/>
            <a:chOff x="0" y="0"/>
            <a:chExt cx="4754880" cy="1739646"/>
          </a:xfrm>
        </p:grpSpPr>
        <p:sp>
          <p:nvSpPr>
            <p:cNvPr name="Freeform 83" id="83"/>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84" id="84"/>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85" id="85"/>
          <p:cNvGrpSpPr/>
          <p:nvPr/>
        </p:nvGrpSpPr>
        <p:grpSpPr>
          <a:xfrm rot="0">
            <a:off x="5760720" y="3730752"/>
            <a:ext cx="11452860" cy="1261872"/>
            <a:chOff x="0" y="0"/>
            <a:chExt cx="15270480" cy="1682496"/>
          </a:xfrm>
        </p:grpSpPr>
        <p:sp>
          <p:nvSpPr>
            <p:cNvPr name="Freeform 86" id="86"/>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87" id="87"/>
          <p:cNvGrpSpPr/>
          <p:nvPr/>
        </p:nvGrpSpPr>
        <p:grpSpPr>
          <a:xfrm rot="0">
            <a:off x="5760720" y="3702177"/>
            <a:ext cx="11452860" cy="1290447"/>
            <a:chOff x="0" y="0"/>
            <a:chExt cx="15270480" cy="1720596"/>
          </a:xfrm>
        </p:grpSpPr>
        <p:sp>
          <p:nvSpPr>
            <p:cNvPr name="Freeform 88" id="88"/>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89" id="89"/>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inti: wisatawan, hotel &amp; akomodasi, ODTW, tenaga kerja, lahan terbangun. Tanpa guncangan eksternal (pandemi, bencana, krisis), serta tanpa faktor harga, promosi, dan musim.</a:t>
              </a:r>
            </a:p>
          </p:txBody>
        </p:sp>
      </p:grpSp>
      <p:grpSp>
        <p:nvGrpSpPr>
          <p:cNvPr name="Group 90" id="90"/>
          <p:cNvGrpSpPr/>
          <p:nvPr/>
        </p:nvGrpSpPr>
        <p:grpSpPr>
          <a:xfrm rot="0">
            <a:off x="822960" y="5129784"/>
            <a:ext cx="16637508" cy="1261872"/>
            <a:chOff x="0" y="0"/>
            <a:chExt cx="22183344" cy="1682496"/>
          </a:xfrm>
        </p:grpSpPr>
        <p:sp>
          <p:nvSpPr>
            <p:cNvPr name="Freeform 91" id="91"/>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92" id="92"/>
          <p:cNvGrpSpPr/>
          <p:nvPr/>
        </p:nvGrpSpPr>
        <p:grpSpPr>
          <a:xfrm rot="0">
            <a:off x="1097280" y="5417820"/>
            <a:ext cx="685800" cy="685800"/>
            <a:chOff x="0" y="0"/>
            <a:chExt cx="914400" cy="914400"/>
          </a:xfrm>
        </p:grpSpPr>
        <p:sp>
          <p:nvSpPr>
            <p:cNvPr name="Freeform 93" id="9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4" id="94"/>
          <p:cNvGrpSpPr/>
          <p:nvPr/>
        </p:nvGrpSpPr>
        <p:grpSpPr>
          <a:xfrm rot="0">
            <a:off x="1097280" y="5417820"/>
            <a:ext cx="685800" cy="685800"/>
            <a:chOff x="0" y="0"/>
            <a:chExt cx="914400" cy="914400"/>
          </a:xfrm>
        </p:grpSpPr>
        <p:sp>
          <p:nvSpPr>
            <p:cNvPr name="Freeform 95" id="9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6" id="96"/>
          <p:cNvGrpSpPr/>
          <p:nvPr/>
        </p:nvGrpSpPr>
        <p:grpSpPr>
          <a:xfrm rot="0">
            <a:off x="1097280" y="5389245"/>
            <a:ext cx="685800" cy="714375"/>
            <a:chOff x="0" y="0"/>
            <a:chExt cx="914400" cy="952500"/>
          </a:xfrm>
        </p:grpSpPr>
        <p:sp>
          <p:nvSpPr>
            <p:cNvPr name="Freeform 97" id="97"/>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98" id="98"/>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99" id="99"/>
          <p:cNvGrpSpPr/>
          <p:nvPr/>
        </p:nvGrpSpPr>
        <p:grpSpPr>
          <a:xfrm rot="0">
            <a:off x="2125980" y="5129784"/>
            <a:ext cx="3566160" cy="1261872"/>
            <a:chOff x="0" y="0"/>
            <a:chExt cx="4754880" cy="1682496"/>
          </a:xfrm>
        </p:grpSpPr>
        <p:sp>
          <p:nvSpPr>
            <p:cNvPr name="Freeform 100" id="100"/>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01" id="101"/>
          <p:cNvGrpSpPr/>
          <p:nvPr/>
        </p:nvGrpSpPr>
        <p:grpSpPr>
          <a:xfrm rot="0">
            <a:off x="2125980" y="5086921"/>
            <a:ext cx="3566160" cy="1304734"/>
            <a:chOff x="0" y="0"/>
            <a:chExt cx="4754880" cy="1739646"/>
          </a:xfrm>
        </p:grpSpPr>
        <p:sp>
          <p:nvSpPr>
            <p:cNvPr name="Freeform 102" id="102"/>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03" id="103"/>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04" id="104"/>
          <p:cNvGrpSpPr/>
          <p:nvPr/>
        </p:nvGrpSpPr>
        <p:grpSpPr>
          <a:xfrm rot="0">
            <a:off x="5760720" y="5129784"/>
            <a:ext cx="11452860" cy="1261872"/>
            <a:chOff x="0" y="0"/>
            <a:chExt cx="15270480" cy="1682496"/>
          </a:xfrm>
        </p:grpSpPr>
        <p:sp>
          <p:nvSpPr>
            <p:cNvPr name="Freeform 105" id="10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06" id="106"/>
          <p:cNvGrpSpPr/>
          <p:nvPr/>
        </p:nvGrpSpPr>
        <p:grpSpPr>
          <a:xfrm rot="0">
            <a:off x="5760720" y="5101209"/>
            <a:ext cx="11452860" cy="1290447"/>
            <a:chOff x="0" y="0"/>
            <a:chExt cx="15270480" cy="1720596"/>
          </a:xfrm>
        </p:grpSpPr>
        <p:sp>
          <p:nvSpPr>
            <p:cNvPr name="Freeform 107" id="10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08" id="108"/>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Estimator pemutakhir untuk lahan terbangun dan jumlah ODTW, bukan variabel dalam struktur model</a:t>
              </a:r>
            </a:p>
          </p:txBody>
        </p:sp>
      </p:grpSp>
      <p:grpSp>
        <p:nvGrpSpPr>
          <p:cNvPr name="Group 109" id="109"/>
          <p:cNvGrpSpPr/>
          <p:nvPr/>
        </p:nvGrpSpPr>
        <p:grpSpPr>
          <a:xfrm rot="0">
            <a:off x="822960" y="6528816"/>
            <a:ext cx="16637508" cy="1261872"/>
            <a:chOff x="0" y="0"/>
            <a:chExt cx="22183344" cy="1682496"/>
          </a:xfrm>
        </p:grpSpPr>
        <p:sp>
          <p:nvSpPr>
            <p:cNvPr name="Freeform 110" id="110"/>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111" id="111"/>
          <p:cNvGrpSpPr/>
          <p:nvPr/>
        </p:nvGrpSpPr>
        <p:grpSpPr>
          <a:xfrm rot="0">
            <a:off x="1097280" y="6816852"/>
            <a:ext cx="685800" cy="685800"/>
            <a:chOff x="0" y="0"/>
            <a:chExt cx="914400" cy="914400"/>
          </a:xfrm>
        </p:grpSpPr>
        <p:sp>
          <p:nvSpPr>
            <p:cNvPr name="Freeform 112" id="1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113" id="113"/>
          <p:cNvGrpSpPr/>
          <p:nvPr/>
        </p:nvGrpSpPr>
        <p:grpSpPr>
          <a:xfrm rot="0">
            <a:off x="1097280" y="6816852"/>
            <a:ext cx="685800" cy="685800"/>
            <a:chOff x="0" y="0"/>
            <a:chExt cx="914400" cy="914400"/>
          </a:xfrm>
        </p:grpSpPr>
        <p:sp>
          <p:nvSpPr>
            <p:cNvPr name="Freeform 114" id="1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15" id="115"/>
          <p:cNvGrpSpPr/>
          <p:nvPr/>
        </p:nvGrpSpPr>
        <p:grpSpPr>
          <a:xfrm rot="0">
            <a:off x="1097280" y="6788277"/>
            <a:ext cx="685800" cy="714375"/>
            <a:chOff x="0" y="0"/>
            <a:chExt cx="914400" cy="952500"/>
          </a:xfrm>
        </p:grpSpPr>
        <p:sp>
          <p:nvSpPr>
            <p:cNvPr name="Freeform 116" id="11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17" id="11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18" id="118"/>
          <p:cNvGrpSpPr/>
          <p:nvPr/>
        </p:nvGrpSpPr>
        <p:grpSpPr>
          <a:xfrm rot="0">
            <a:off x="2125980" y="6528816"/>
            <a:ext cx="3566160" cy="1261872"/>
            <a:chOff x="0" y="0"/>
            <a:chExt cx="4754880" cy="1682496"/>
          </a:xfrm>
        </p:grpSpPr>
        <p:sp>
          <p:nvSpPr>
            <p:cNvPr name="Freeform 119" id="119"/>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20" id="120"/>
          <p:cNvGrpSpPr/>
          <p:nvPr/>
        </p:nvGrpSpPr>
        <p:grpSpPr>
          <a:xfrm rot="0">
            <a:off x="2125980" y="6485954"/>
            <a:ext cx="3566160" cy="1304734"/>
            <a:chOff x="0" y="0"/>
            <a:chExt cx="4754880" cy="1739646"/>
          </a:xfrm>
        </p:grpSpPr>
        <p:sp>
          <p:nvSpPr>
            <p:cNvPr name="Freeform 121" id="121"/>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22" id="122"/>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23" id="123"/>
          <p:cNvGrpSpPr/>
          <p:nvPr/>
        </p:nvGrpSpPr>
        <p:grpSpPr>
          <a:xfrm rot="0">
            <a:off x="5760720" y="6528816"/>
            <a:ext cx="11452860" cy="1261872"/>
            <a:chOff x="0" y="0"/>
            <a:chExt cx="15270480" cy="1682496"/>
          </a:xfrm>
        </p:grpSpPr>
        <p:sp>
          <p:nvSpPr>
            <p:cNvPr name="Freeform 124" id="124"/>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25" id="125"/>
          <p:cNvGrpSpPr/>
          <p:nvPr/>
        </p:nvGrpSpPr>
        <p:grpSpPr>
          <a:xfrm rot="0">
            <a:off x="5760720" y="6500241"/>
            <a:ext cx="11452860" cy="1290447"/>
            <a:chOff x="0" y="0"/>
            <a:chExt cx="15270480" cy="1720596"/>
          </a:xfrm>
        </p:grpSpPr>
        <p:sp>
          <p:nvSpPr>
            <p:cNvPr name="Freeform 126" id="126"/>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27" id="127"/>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tuas (insentif investasi, konservasi lahan) dengan tiga skenario yang disusun dari analisis sensitivitas dan dokumen kebijakan, tanpa lokakarya pemangku kepentingan</a:t>
              </a:r>
            </a:p>
          </p:txBody>
        </p:sp>
      </p:grpSp>
      <p:grpSp>
        <p:nvGrpSpPr>
          <p:cNvPr name="Group 128" id="128"/>
          <p:cNvGrpSpPr/>
          <p:nvPr/>
        </p:nvGrpSpPr>
        <p:grpSpPr>
          <a:xfrm rot="0">
            <a:off x="822960" y="7927848"/>
            <a:ext cx="16637508" cy="1261872"/>
            <a:chOff x="0" y="0"/>
            <a:chExt cx="22183344" cy="1682496"/>
          </a:xfrm>
        </p:grpSpPr>
        <p:sp>
          <p:nvSpPr>
            <p:cNvPr name="Freeform 129" id="129"/>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sp>
      </p:grpSp>
      <p:grpSp>
        <p:nvGrpSpPr>
          <p:cNvPr name="Group 130" id="130"/>
          <p:cNvGrpSpPr/>
          <p:nvPr/>
        </p:nvGrpSpPr>
        <p:grpSpPr>
          <a:xfrm rot="0">
            <a:off x="1097280" y="8215884"/>
            <a:ext cx="685800" cy="685800"/>
            <a:chOff x="0" y="0"/>
            <a:chExt cx="914400" cy="914400"/>
          </a:xfrm>
        </p:grpSpPr>
        <p:sp>
          <p:nvSpPr>
            <p:cNvPr name="Freeform 131" id="1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sp>
      </p:grpSp>
      <p:grpSp>
        <p:nvGrpSpPr>
          <p:cNvPr name="Group 132" id="132"/>
          <p:cNvGrpSpPr/>
          <p:nvPr/>
        </p:nvGrpSpPr>
        <p:grpSpPr>
          <a:xfrm rot="0">
            <a:off x="1097280" y="8215884"/>
            <a:ext cx="685800" cy="685800"/>
            <a:chOff x="0" y="0"/>
            <a:chExt cx="914400" cy="914400"/>
          </a:xfrm>
        </p:grpSpPr>
        <p:sp>
          <p:nvSpPr>
            <p:cNvPr name="Freeform 133" id="1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34" id="134"/>
          <p:cNvGrpSpPr/>
          <p:nvPr/>
        </p:nvGrpSpPr>
        <p:grpSpPr>
          <a:xfrm rot="0">
            <a:off x="1097280" y="8187309"/>
            <a:ext cx="685800" cy="714375"/>
            <a:chOff x="0" y="0"/>
            <a:chExt cx="914400" cy="952500"/>
          </a:xfrm>
        </p:grpSpPr>
        <p:sp>
          <p:nvSpPr>
            <p:cNvPr name="Freeform 135" id="135"/>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36" id="136"/>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37" id="137"/>
          <p:cNvGrpSpPr/>
          <p:nvPr/>
        </p:nvGrpSpPr>
        <p:grpSpPr>
          <a:xfrm rot="0">
            <a:off x="2125980" y="7927848"/>
            <a:ext cx="3566160" cy="1261872"/>
            <a:chOff x="0" y="0"/>
            <a:chExt cx="4754880" cy="1682496"/>
          </a:xfrm>
        </p:grpSpPr>
        <p:sp>
          <p:nvSpPr>
            <p:cNvPr name="Freeform 138" id="13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39" id="139"/>
          <p:cNvGrpSpPr/>
          <p:nvPr/>
        </p:nvGrpSpPr>
        <p:grpSpPr>
          <a:xfrm rot="0">
            <a:off x="2125980" y="7884986"/>
            <a:ext cx="3566160" cy="1304734"/>
            <a:chOff x="0" y="0"/>
            <a:chExt cx="4754880" cy="1739646"/>
          </a:xfrm>
        </p:grpSpPr>
        <p:sp>
          <p:nvSpPr>
            <p:cNvPr name="Freeform 140" id="14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41" id="141"/>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42" id="142"/>
          <p:cNvGrpSpPr/>
          <p:nvPr/>
        </p:nvGrpSpPr>
        <p:grpSpPr>
          <a:xfrm rot="0">
            <a:off x="5760720" y="7927848"/>
            <a:ext cx="11452860" cy="1261872"/>
            <a:chOff x="0" y="0"/>
            <a:chExt cx="15270480" cy="1682496"/>
          </a:xfrm>
        </p:grpSpPr>
        <p:sp>
          <p:nvSpPr>
            <p:cNvPr name="Freeform 143" id="143"/>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44" id="144"/>
          <p:cNvGrpSpPr/>
          <p:nvPr/>
        </p:nvGrpSpPr>
        <p:grpSpPr>
          <a:xfrm rot="0">
            <a:off x="5760720" y="7899273"/>
            <a:ext cx="11452860" cy="1290447"/>
            <a:chOff x="0" y="0"/>
            <a:chExt cx="15270480" cy="1720596"/>
          </a:xfrm>
        </p:grpSpPr>
        <p:sp>
          <p:nvSpPr>
            <p:cNvPr name="Freeform 145" id="145"/>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46" id="146"/>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Dibanding 9 studi terdahulu, penelitian ini memadukan tiga unsur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0795000" cy="6286500"/>
        </p:xfrm>
        <a:graphic>
          <a:graphicData uri="http://schemas.openxmlformats.org/drawingml/2006/table">
            <a:tbl>
              <a:tblPr/>
              <a:tblGrid>
                <a:gridCol w="3188416"/>
                <a:gridCol w="3322107"/>
                <a:gridCol w="1383595"/>
                <a:gridCol w="1383595"/>
                <a:gridCol w="1517286"/>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53" id="53"/>
          <p:cNvGrpSpPr/>
          <p:nvPr/>
        </p:nvGrpSpPr>
        <p:grpSpPr>
          <a:xfrm rot="0">
            <a:off x="12070080" y="2331720"/>
            <a:ext cx="5390388" cy="2125980"/>
            <a:chOff x="0" y="0"/>
            <a:chExt cx="7187184" cy="2834640"/>
          </a:xfrm>
        </p:grpSpPr>
        <p:sp>
          <p:nvSpPr>
            <p:cNvPr name="Freeform 54" id="5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2316968" y="2578608"/>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57" id="57"/>
          <p:cNvGrpSpPr/>
          <p:nvPr/>
        </p:nvGrpSpPr>
        <p:grpSpPr>
          <a:xfrm rot="0">
            <a:off x="12316968" y="2578608"/>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59" id="59"/>
          <p:cNvGrpSpPr/>
          <p:nvPr/>
        </p:nvGrpSpPr>
        <p:grpSpPr>
          <a:xfrm rot="0">
            <a:off x="12316968" y="2542889"/>
            <a:ext cx="576072" cy="611791"/>
            <a:chOff x="0" y="0"/>
            <a:chExt cx="768096" cy="815721"/>
          </a:xfrm>
        </p:grpSpPr>
        <p:sp>
          <p:nvSpPr>
            <p:cNvPr name="Freeform 60" id="6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61" id="61"/>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62" id="62"/>
          <p:cNvGrpSpPr/>
          <p:nvPr/>
        </p:nvGrpSpPr>
        <p:grpSpPr>
          <a:xfrm rot="0">
            <a:off x="13098780" y="2537460"/>
            <a:ext cx="4114800" cy="1783080"/>
            <a:chOff x="0" y="0"/>
            <a:chExt cx="5486400" cy="2377440"/>
          </a:xfrm>
        </p:grpSpPr>
        <p:sp>
          <p:nvSpPr>
            <p:cNvPr name="Freeform 63" id="63"/>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64" id="64"/>
          <p:cNvGrpSpPr/>
          <p:nvPr/>
        </p:nvGrpSpPr>
        <p:grpSpPr>
          <a:xfrm rot="0">
            <a:off x="13098780" y="2508885"/>
            <a:ext cx="4114800" cy="1811655"/>
            <a:chOff x="0" y="0"/>
            <a:chExt cx="5486400" cy="2415540"/>
          </a:xfrm>
        </p:grpSpPr>
        <p:sp>
          <p:nvSpPr>
            <p:cNvPr name="Freeform 65" id="65"/>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66" id="66"/>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67" id="67"/>
          <p:cNvGrpSpPr/>
          <p:nvPr/>
        </p:nvGrpSpPr>
        <p:grpSpPr>
          <a:xfrm rot="0">
            <a:off x="12070080" y="466344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69" id="69"/>
          <p:cNvGrpSpPr/>
          <p:nvPr/>
        </p:nvGrpSpPr>
        <p:grpSpPr>
          <a:xfrm rot="0">
            <a:off x="12316968" y="491032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71" id="71"/>
          <p:cNvGrpSpPr/>
          <p:nvPr/>
        </p:nvGrpSpPr>
        <p:grpSpPr>
          <a:xfrm rot="0">
            <a:off x="12316968" y="491032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73" id="73"/>
          <p:cNvGrpSpPr/>
          <p:nvPr/>
        </p:nvGrpSpPr>
        <p:grpSpPr>
          <a:xfrm rot="0">
            <a:off x="12316968" y="487460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75" id="75"/>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6" id="76"/>
          <p:cNvGrpSpPr/>
          <p:nvPr/>
        </p:nvGrpSpPr>
        <p:grpSpPr>
          <a:xfrm rot="0">
            <a:off x="13098780" y="4869180"/>
            <a:ext cx="4114800" cy="1783080"/>
            <a:chOff x="0" y="0"/>
            <a:chExt cx="5486400" cy="2377440"/>
          </a:xfrm>
        </p:grpSpPr>
        <p:sp>
          <p:nvSpPr>
            <p:cNvPr name="Freeform 77" id="7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78" id="78"/>
          <p:cNvGrpSpPr/>
          <p:nvPr/>
        </p:nvGrpSpPr>
        <p:grpSpPr>
          <a:xfrm rot="0">
            <a:off x="13098780" y="4840605"/>
            <a:ext cx="4114800" cy="1811655"/>
            <a:chOff x="0" y="0"/>
            <a:chExt cx="5486400" cy="2415540"/>
          </a:xfrm>
        </p:grpSpPr>
        <p:sp>
          <p:nvSpPr>
            <p:cNvPr name="Freeform 79" id="7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80" id="80"/>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81" id="81"/>
          <p:cNvGrpSpPr/>
          <p:nvPr/>
        </p:nvGrpSpPr>
        <p:grpSpPr>
          <a:xfrm rot="0">
            <a:off x="12070080" y="6995160"/>
            <a:ext cx="5390388" cy="2125980"/>
            <a:chOff x="0" y="0"/>
            <a:chExt cx="7187184" cy="2834640"/>
          </a:xfrm>
        </p:grpSpPr>
        <p:sp>
          <p:nvSpPr>
            <p:cNvPr name="Freeform 82" id="82"/>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2316968" y="7242048"/>
            <a:ext cx="576072" cy="576072"/>
            <a:chOff x="0" y="0"/>
            <a:chExt cx="768096" cy="768096"/>
          </a:xfrm>
        </p:grpSpPr>
        <p:sp>
          <p:nvSpPr>
            <p:cNvPr name="Freeform 84" id="8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85" id="85"/>
          <p:cNvGrpSpPr/>
          <p:nvPr/>
        </p:nvGrpSpPr>
        <p:grpSpPr>
          <a:xfrm rot="0">
            <a:off x="12316968" y="7242048"/>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87" id="87"/>
          <p:cNvGrpSpPr/>
          <p:nvPr/>
        </p:nvGrpSpPr>
        <p:grpSpPr>
          <a:xfrm rot="0">
            <a:off x="12316968" y="7206329"/>
            <a:ext cx="576072" cy="611791"/>
            <a:chOff x="0" y="0"/>
            <a:chExt cx="768096" cy="815721"/>
          </a:xfrm>
        </p:grpSpPr>
        <p:sp>
          <p:nvSpPr>
            <p:cNvPr name="Freeform 88" id="8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89" id="8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90" id="90"/>
          <p:cNvGrpSpPr/>
          <p:nvPr/>
        </p:nvGrpSpPr>
        <p:grpSpPr>
          <a:xfrm rot="0">
            <a:off x="13098780" y="7200900"/>
            <a:ext cx="4114800" cy="1783080"/>
            <a:chOff x="0" y="0"/>
            <a:chExt cx="5486400" cy="2377440"/>
          </a:xfrm>
        </p:grpSpPr>
        <p:sp>
          <p:nvSpPr>
            <p:cNvPr name="Freeform 91" id="91"/>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92" id="92"/>
          <p:cNvGrpSpPr/>
          <p:nvPr/>
        </p:nvGrpSpPr>
        <p:grpSpPr>
          <a:xfrm rot="0">
            <a:off x="13098780" y="7172325"/>
            <a:ext cx="4114800" cy="1811655"/>
            <a:chOff x="0" y="0"/>
            <a:chExt cx="5486400" cy="2415540"/>
          </a:xfrm>
        </p:grpSpPr>
        <p:sp>
          <p:nvSpPr>
            <p:cNvPr name="Freeform 93" id="93"/>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94" id="94"/>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95" id="9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&amp; Kebaruan</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1" id="51"/>
          <p:cNvGrpSpPr/>
          <p:nvPr/>
        </p:nvGrpSpPr>
        <p:grpSpPr>
          <a:xfrm rot="0">
            <a:off x="2694203" y="1536192"/>
            <a:ext cx="12899593" cy="8019821"/>
            <a:chOff x="0" y="0"/>
            <a:chExt cx="17199458" cy="10693095"/>
          </a:xfrm>
        </p:grpSpPr>
        <p:sp>
          <p:nvSpPr>
            <p:cNvPr name="Freeform 52" id="52"/>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6"/>
              <a:stretch>
                <a:fillRect l="0" t="-11325" r="0" b="-11324"/>
              </a:stretch>
            </a:blipFill>
          </p:spPr>
        </p:sp>
      </p:grpSp>
      <p:sp>
        <p:nvSpPr>
          <p:cNvPr name="TextBox 53" id="53"/>
          <p:cNvSpPr txBox="true"/>
          <p:nvPr/>
        </p:nvSpPr>
        <p:spPr>
          <a:xfrm rot="0">
            <a:off x="825246"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Kerangka pikir: dari masalah ke keluaran yang terukur</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Data resmi 2015–2025 menjadi fondasi model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097280" y="2523744"/>
            <a:ext cx="3401568" cy="822960"/>
            <a:chOff x="0" y="0"/>
            <a:chExt cx="4535424" cy="1097280"/>
          </a:xfrm>
        </p:grpSpPr>
        <p:sp>
          <p:nvSpPr>
            <p:cNvPr name="Freeform 54" id="5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55" id="55"/>
          <p:cNvGrpSpPr/>
          <p:nvPr/>
        </p:nvGrpSpPr>
        <p:grpSpPr>
          <a:xfrm rot="0">
            <a:off x="1097280" y="2452306"/>
            <a:ext cx="3401568" cy="894398"/>
            <a:chOff x="0" y="0"/>
            <a:chExt cx="4535424" cy="1192530"/>
          </a:xfrm>
        </p:grpSpPr>
        <p:sp>
          <p:nvSpPr>
            <p:cNvPr name="Freeform 56" id="56"/>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57" id="57"/>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58" id="58"/>
          <p:cNvSpPr txBox="true"/>
          <p:nvPr/>
        </p:nvSpPr>
        <p:spPr>
          <a:xfrm rot="0">
            <a:off x="1097280"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59" id="59"/>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5321808" y="2523744"/>
            <a:ext cx="3401568" cy="822960"/>
            <a:chOff x="0" y="0"/>
            <a:chExt cx="4535424" cy="1097280"/>
          </a:xfrm>
        </p:grpSpPr>
        <p:sp>
          <p:nvSpPr>
            <p:cNvPr name="Freeform 61" id="61"/>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2" id="62"/>
          <p:cNvGrpSpPr/>
          <p:nvPr/>
        </p:nvGrpSpPr>
        <p:grpSpPr>
          <a:xfrm rot="0">
            <a:off x="5321808" y="2452306"/>
            <a:ext cx="3401568" cy="894398"/>
            <a:chOff x="0" y="0"/>
            <a:chExt cx="4535424" cy="1192530"/>
          </a:xfrm>
        </p:grpSpPr>
        <p:sp>
          <p:nvSpPr>
            <p:cNvPr name="Freeform 63" id="63"/>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64" id="64"/>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65" id="65"/>
          <p:cNvSpPr txBox="true"/>
          <p:nvPr/>
        </p:nvSpPr>
        <p:spPr>
          <a:xfrm rot="0">
            <a:off x="5321808"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66" id="66"/>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546336"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9" id="69"/>
          <p:cNvGrpSpPr/>
          <p:nvPr/>
        </p:nvGrpSpPr>
        <p:grpSpPr>
          <a:xfrm rot="0">
            <a:off x="9546336"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1" id="71"/>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72" id="72"/>
          <p:cNvSpPr txBox="true"/>
          <p:nvPr/>
        </p:nvSpPr>
        <p:spPr>
          <a:xfrm rot="0">
            <a:off x="9546336"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73" id="7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4" id="74"/>
          <p:cNvGrpSpPr/>
          <p:nvPr/>
        </p:nvGrpSpPr>
        <p:grpSpPr>
          <a:xfrm rot="0">
            <a:off x="13770864" y="2523744"/>
            <a:ext cx="3401568" cy="822960"/>
            <a:chOff x="0" y="0"/>
            <a:chExt cx="4535424" cy="1097280"/>
          </a:xfrm>
        </p:grpSpPr>
        <p:sp>
          <p:nvSpPr>
            <p:cNvPr name="Freeform 75" id="7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76" id="76"/>
          <p:cNvGrpSpPr/>
          <p:nvPr/>
        </p:nvGrpSpPr>
        <p:grpSpPr>
          <a:xfrm rot="0">
            <a:off x="13770864" y="2452306"/>
            <a:ext cx="3401568" cy="894398"/>
            <a:chOff x="0" y="0"/>
            <a:chExt cx="4535424" cy="1192530"/>
          </a:xfrm>
        </p:grpSpPr>
        <p:sp>
          <p:nvSpPr>
            <p:cNvPr name="Freeform 77" id="7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8" id="78"/>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79" id="79"/>
          <p:cNvSpPr txBox="true"/>
          <p:nvPr/>
        </p:nvSpPr>
        <p:spPr>
          <a:xfrm rot="0">
            <a:off x="13770864"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80" id="80"/>
          <p:cNvGrpSpPr/>
          <p:nvPr/>
        </p:nvGrpSpPr>
        <p:grpSpPr>
          <a:xfrm rot="0">
            <a:off x="822960" y="4663440"/>
            <a:ext cx="5349240" cy="1714500"/>
            <a:chOff x="0" y="0"/>
            <a:chExt cx="7132320" cy="2286000"/>
          </a:xfrm>
        </p:grpSpPr>
        <p:sp>
          <p:nvSpPr>
            <p:cNvPr name="Freeform 81" id="8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2" id="82"/>
          <p:cNvSpPr txBox="true"/>
          <p:nvPr/>
        </p:nvSpPr>
        <p:spPr>
          <a:xfrm rot="0">
            <a:off x="1097280"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83" id="83"/>
          <p:cNvSpPr txBox="true"/>
          <p:nvPr/>
        </p:nvSpPr>
        <p:spPr>
          <a:xfrm rot="0">
            <a:off x="1097280"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84" id="84"/>
          <p:cNvGrpSpPr/>
          <p:nvPr/>
        </p:nvGrpSpPr>
        <p:grpSpPr>
          <a:xfrm rot="0">
            <a:off x="6467094" y="4663440"/>
            <a:ext cx="5349240" cy="1714500"/>
            <a:chOff x="0" y="0"/>
            <a:chExt cx="7132320" cy="2286000"/>
          </a:xfrm>
        </p:grpSpPr>
        <p:sp>
          <p:nvSpPr>
            <p:cNvPr name="Freeform 85" id="8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6" id="86"/>
          <p:cNvSpPr txBox="true"/>
          <p:nvPr/>
        </p:nvSpPr>
        <p:spPr>
          <a:xfrm rot="0">
            <a:off x="6741414"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87" id="87"/>
          <p:cNvSpPr txBox="true"/>
          <p:nvPr/>
        </p:nvSpPr>
        <p:spPr>
          <a:xfrm rot="0">
            <a:off x="6741414" y="527304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88" id="88"/>
          <p:cNvGrpSpPr/>
          <p:nvPr/>
        </p:nvGrpSpPr>
        <p:grpSpPr>
          <a:xfrm rot="0">
            <a:off x="12111228" y="4663440"/>
            <a:ext cx="5349240" cy="1714500"/>
            <a:chOff x="0" y="0"/>
            <a:chExt cx="7132320" cy="2286000"/>
          </a:xfrm>
        </p:grpSpPr>
        <p:sp>
          <p:nvSpPr>
            <p:cNvPr name="Freeform 89" id="8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90" id="90"/>
          <p:cNvSpPr txBox="true"/>
          <p:nvPr/>
        </p:nvSpPr>
        <p:spPr>
          <a:xfrm rot="0">
            <a:off x="12385548"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91" id="91"/>
          <p:cNvSpPr txBox="true"/>
          <p:nvPr/>
        </p:nvSpPr>
        <p:spPr>
          <a:xfrm rot="0">
            <a:off x="12385548"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92" id="92"/>
          <p:cNvGrpSpPr/>
          <p:nvPr/>
        </p:nvGrpSpPr>
        <p:grpSpPr>
          <a:xfrm rot="0">
            <a:off x="822960" y="6583680"/>
            <a:ext cx="5349240" cy="1714500"/>
            <a:chOff x="0" y="0"/>
            <a:chExt cx="7132320" cy="2286000"/>
          </a:xfrm>
        </p:grpSpPr>
        <p:sp>
          <p:nvSpPr>
            <p:cNvPr name="Freeform 93" id="9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4" id="94"/>
          <p:cNvSpPr txBox="true"/>
          <p:nvPr/>
        </p:nvSpPr>
        <p:spPr>
          <a:xfrm rot="0">
            <a:off x="1097280"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95" id="95"/>
          <p:cNvSpPr txBox="true"/>
          <p:nvPr/>
        </p:nvSpPr>
        <p:spPr>
          <a:xfrm rot="0">
            <a:off x="1097280" y="7193280"/>
            <a:ext cx="4800600"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96" id="96"/>
          <p:cNvGrpSpPr/>
          <p:nvPr/>
        </p:nvGrpSpPr>
        <p:grpSpPr>
          <a:xfrm rot="0">
            <a:off x="6467094" y="6583680"/>
            <a:ext cx="5349240" cy="1714500"/>
            <a:chOff x="0" y="0"/>
            <a:chExt cx="7132320" cy="2286000"/>
          </a:xfrm>
        </p:grpSpPr>
        <p:sp>
          <p:nvSpPr>
            <p:cNvPr name="Freeform 97" id="9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8" id="98"/>
          <p:cNvSpPr txBox="true"/>
          <p:nvPr/>
        </p:nvSpPr>
        <p:spPr>
          <a:xfrm rot="0">
            <a:off x="6741414"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99" id="99"/>
          <p:cNvSpPr txBox="true"/>
          <p:nvPr/>
        </p:nvSpPr>
        <p:spPr>
          <a:xfrm rot="0">
            <a:off x="6741414"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00" id="100"/>
          <p:cNvGrpSpPr/>
          <p:nvPr/>
        </p:nvGrpSpPr>
        <p:grpSpPr>
          <a:xfrm rot="0">
            <a:off x="12111228" y="6583680"/>
            <a:ext cx="5349240" cy="1714500"/>
            <a:chOff x="0" y="0"/>
            <a:chExt cx="7132320" cy="2286000"/>
          </a:xfrm>
        </p:grpSpPr>
        <p:sp>
          <p:nvSpPr>
            <p:cNvPr name="Freeform 101" id="10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102" id="102"/>
          <p:cNvSpPr txBox="true"/>
          <p:nvPr/>
        </p:nvSpPr>
        <p:spPr>
          <a:xfrm rot="0">
            <a:off x="12385548"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03" id="103"/>
          <p:cNvSpPr txBox="true"/>
          <p:nvPr/>
        </p:nvSpPr>
        <p:spPr>
          <a:xfrm rot="0">
            <a:off x="12385548"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04" id="104"/>
          <p:cNvSpPr txBox="true"/>
          <p:nvPr/>
        </p:nvSpPr>
        <p:spPr>
          <a:xfrm rot="0">
            <a:off x="822960" y="8564880"/>
            <a:ext cx="16637508" cy="8763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05" id="10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
            <a:ext cx="2040941" cy="411480"/>
            <a:chOff x="0" y="0"/>
            <a:chExt cx="2721254" cy="548640"/>
          </a:xfrm>
        </p:grpSpPr>
        <p:sp>
          <p:nvSpPr>
            <p:cNvPr name="Freeform 8" id="8"/>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9" id="9"/>
          <p:cNvGrpSpPr/>
          <p:nvPr/>
        </p:nvGrpSpPr>
        <p:grpSpPr>
          <a:xfrm rot="0">
            <a:off x="822960" y="274320"/>
            <a:ext cx="2040941" cy="411480"/>
            <a:chOff x="0" y="0"/>
            <a:chExt cx="2721254" cy="548640"/>
          </a:xfrm>
        </p:grpSpPr>
        <p:sp>
          <p:nvSpPr>
            <p:cNvPr name="Freeform 10" id="10"/>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sp>
        <p:sp>
          <p:nvSpPr>
            <p:cNvPr name="TextBox 11" id="11"/>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2" id="12"/>
          <p:cNvGrpSpPr/>
          <p:nvPr/>
        </p:nvGrpSpPr>
        <p:grpSpPr>
          <a:xfrm rot="0">
            <a:off x="2973629" y="274320"/>
            <a:ext cx="2378354" cy="411480"/>
            <a:chOff x="0" y="0"/>
            <a:chExt cx="3171139" cy="548640"/>
          </a:xfrm>
        </p:grpSpPr>
        <p:sp>
          <p:nvSpPr>
            <p:cNvPr name="Freeform 13" id="13"/>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4" id="14"/>
          <p:cNvGrpSpPr/>
          <p:nvPr/>
        </p:nvGrpSpPr>
        <p:grpSpPr>
          <a:xfrm rot="0">
            <a:off x="2973629" y="274320"/>
            <a:ext cx="2378354" cy="411480"/>
            <a:chOff x="0" y="0"/>
            <a:chExt cx="3171139" cy="548640"/>
          </a:xfrm>
        </p:grpSpPr>
        <p:sp>
          <p:nvSpPr>
            <p:cNvPr name="Freeform 15" id="15"/>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sp>
        <p:sp>
          <p:nvSpPr>
            <p:cNvPr name="TextBox 16" id="16"/>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17" id="17"/>
          <p:cNvGrpSpPr/>
          <p:nvPr/>
        </p:nvGrpSpPr>
        <p:grpSpPr>
          <a:xfrm rot="0">
            <a:off x="5461711" y="274320"/>
            <a:ext cx="1591056" cy="411480"/>
            <a:chOff x="0" y="0"/>
            <a:chExt cx="2121408" cy="548640"/>
          </a:xfrm>
        </p:grpSpPr>
        <p:sp>
          <p:nvSpPr>
            <p:cNvPr name="Freeform 18" id="18"/>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19" id="19"/>
          <p:cNvGrpSpPr/>
          <p:nvPr/>
        </p:nvGrpSpPr>
        <p:grpSpPr>
          <a:xfrm rot="0">
            <a:off x="5461711" y="274320"/>
            <a:ext cx="1591056" cy="411480"/>
            <a:chOff x="0" y="0"/>
            <a:chExt cx="2121408" cy="548640"/>
          </a:xfrm>
        </p:grpSpPr>
        <p:sp>
          <p:nvSpPr>
            <p:cNvPr name="Freeform 20" id="20"/>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sp>
        <p:sp>
          <p:nvSpPr>
            <p:cNvPr name="TextBox 21" id="21"/>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22" id="22"/>
          <p:cNvGrpSpPr/>
          <p:nvPr/>
        </p:nvGrpSpPr>
        <p:grpSpPr>
          <a:xfrm rot="0">
            <a:off x="7162495" y="274320"/>
            <a:ext cx="2490826" cy="411480"/>
            <a:chOff x="0" y="0"/>
            <a:chExt cx="3321101" cy="548640"/>
          </a:xfrm>
        </p:grpSpPr>
        <p:sp>
          <p:nvSpPr>
            <p:cNvPr name="Freeform 23" id="23"/>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24" id="24"/>
          <p:cNvGrpSpPr/>
          <p:nvPr/>
        </p:nvGrpSpPr>
        <p:grpSpPr>
          <a:xfrm rot="0">
            <a:off x="7162495" y="274320"/>
            <a:ext cx="2490826" cy="411480"/>
            <a:chOff x="0" y="0"/>
            <a:chExt cx="3321101" cy="548640"/>
          </a:xfrm>
        </p:grpSpPr>
        <p:sp>
          <p:nvSpPr>
            <p:cNvPr name="Freeform 25" id="25"/>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sp>
        <p:sp>
          <p:nvSpPr>
            <p:cNvPr name="TextBox 26" id="26"/>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27" id="27"/>
          <p:cNvGrpSpPr/>
          <p:nvPr/>
        </p:nvGrpSpPr>
        <p:grpSpPr>
          <a:xfrm rot="0">
            <a:off x="9763049" y="274320"/>
            <a:ext cx="1366114" cy="411480"/>
            <a:chOff x="0" y="0"/>
            <a:chExt cx="1821485" cy="548640"/>
          </a:xfrm>
        </p:grpSpPr>
        <p:sp>
          <p:nvSpPr>
            <p:cNvPr name="Freeform 28" id="2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29" id="29"/>
          <p:cNvGrpSpPr/>
          <p:nvPr/>
        </p:nvGrpSpPr>
        <p:grpSpPr>
          <a:xfrm rot="0">
            <a:off x="9763049" y="274320"/>
            <a:ext cx="1366114" cy="411480"/>
            <a:chOff x="0" y="0"/>
            <a:chExt cx="1821485" cy="548640"/>
          </a:xfrm>
        </p:grpSpPr>
        <p:sp>
          <p:nvSpPr>
            <p:cNvPr name="Freeform 30" id="30"/>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sp>
        <p:sp>
          <p:nvSpPr>
            <p:cNvPr name="TextBox 31" id="31"/>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32" id="32"/>
          <p:cNvGrpSpPr/>
          <p:nvPr/>
        </p:nvGrpSpPr>
        <p:grpSpPr>
          <a:xfrm rot="0">
            <a:off x="11238890" y="274320"/>
            <a:ext cx="1253642" cy="411480"/>
            <a:chOff x="0" y="0"/>
            <a:chExt cx="1671523" cy="548640"/>
          </a:xfrm>
        </p:grpSpPr>
        <p:sp>
          <p:nvSpPr>
            <p:cNvPr name="Freeform 33" id="33"/>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34" id="34"/>
          <p:cNvGrpSpPr/>
          <p:nvPr/>
        </p:nvGrpSpPr>
        <p:grpSpPr>
          <a:xfrm rot="0">
            <a:off x="11238890" y="274320"/>
            <a:ext cx="1253642" cy="411480"/>
            <a:chOff x="0" y="0"/>
            <a:chExt cx="1671523" cy="548640"/>
          </a:xfrm>
        </p:grpSpPr>
        <p:sp>
          <p:nvSpPr>
            <p:cNvPr name="Freeform 35" id="35"/>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sp>
        <p:sp>
          <p:nvSpPr>
            <p:cNvPr name="TextBox 36" id="36"/>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37" id="37"/>
          <p:cNvGrpSpPr/>
          <p:nvPr/>
        </p:nvGrpSpPr>
        <p:grpSpPr>
          <a:xfrm rot="0">
            <a:off x="5223322" y="2016371"/>
            <a:ext cx="3920678" cy="3527596"/>
            <a:chOff x="0" y="0"/>
            <a:chExt cx="5227570" cy="4703461"/>
          </a:xfrm>
        </p:grpSpPr>
        <p:grpSp>
          <p:nvGrpSpPr>
            <p:cNvPr name="Group 38" id="38"/>
            <p:cNvGrpSpPr/>
            <p:nvPr/>
          </p:nvGrpSpPr>
          <p:grpSpPr>
            <a:xfrm rot="0">
              <a:off x="0" y="0"/>
              <a:ext cx="5227570" cy="4703461"/>
              <a:chOff x="0" y="0"/>
              <a:chExt cx="1032607" cy="929079"/>
            </a:xfrm>
          </p:grpSpPr>
          <p:sp>
            <p:nvSpPr>
              <p:cNvPr name="Freeform 39" id="3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0" id="4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1" id="4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sp>
        <p:sp>
          <p:nvSpPr>
            <p:cNvPr name="TextBox 42" id="4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43" id="43"/>
            <p:cNvGrpSpPr/>
            <p:nvPr/>
          </p:nvGrpSpPr>
          <p:grpSpPr>
            <a:xfrm rot="0">
              <a:off x="317852" y="1955255"/>
              <a:ext cx="4535424" cy="1097280"/>
              <a:chOff x="0" y="0"/>
              <a:chExt cx="4535424" cy="1097280"/>
            </a:xfrm>
          </p:grpSpPr>
          <p:sp>
            <p:nvSpPr>
              <p:cNvPr name="Freeform 44" id="4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45" id="4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46" id="46"/>
          <p:cNvGrpSpPr/>
          <p:nvPr/>
        </p:nvGrpSpPr>
        <p:grpSpPr>
          <a:xfrm rot="0">
            <a:off x="14017178" y="2016371"/>
            <a:ext cx="3920678" cy="3527596"/>
            <a:chOff x="0" y="0"/>
            <a:chExt cx="5227570" cy="4703461"/>
          </a:xfrm>
        </p:grpSpPr>
        <p:grpSp>
          <p:nvGrpSpPr>
            <p:cNvPr name="Group 47" id="47"/>
            <p:cNvGrpSpPr/>
            <p:nvPr/>
          </p:nvGrpSpPr>
          <p:grpSpPr>
            <a:xfrm rot="0">
              <a:off x="0" y="0"/>
              <a:ext cx="5227570" cy="4703461"/>
              <a:chOff x="0" y="0"/>
              <a:chExt cx="1032607" cy="929079"/>
            </a:xfrm>
          </p:grpSpPr>
          <p:sp>
            <p:nvSpPr>
              <p:cNvPr name="Freeform 48" id="4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9" id="4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50" id="5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51" id="51"/>
            <p:cNvGrpSpPr/>
            <p:nvPr/>
          </p:nvGrpSpPr>
          <p:grpSpPr>
            <a:xfrm rot="0">
              <a:off x="317852" y="1955255"/>
              <a:ext cx="4535424" cy="1097280"/>
              <a:chOff x="0" y="0"/>
              <a:chExt cx="4535424" cy="1097280"/>
            </a:xfrm>
          </p:grpSpPr>
          <p:sp>
            <p:nvSpPr>
              <p:cNvPr name="Freeform 52" id="5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53" id="5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54" id="5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sp>
      </p:grpSp>
      <p:grpSp>
        <p:nvGrpSpPr>
          <p:cNvPr name="Group 55" id="55"/>
          <p:cNvGrpSpPr/>
          <p:nvPr/>
        </p:nvGrpSpPr>
        <p:grpSpPr>
          <a:xfrm rot="0">
            <a:off x="9620250" y="2016371"/>
            <a:ext cx="3920678" cy="3527596"/>
            <a:chOff x="0" y="0"/>
            <a:chExt cx="5227570" cy="4703461"/>
          </a:xfrm>
        </p:grpSpPr>
        <p:grpSp>
          <p:nvGrpSpPr>
            <p:cNvPr name="Group 56" id="56"/>
            <p:cNvGrpSpPr/>
            <p:nvPr/>
          </p:nvGrpSpPr>
          <p:grpSpPr>
            <a:xfrm rot="0">
              <a:off x="0" y="0"/>
              <a:ext cx="5227570" cy="4703461"/>
              <a:chOff x="0" y="0"/>
              <a:chExt cx="1032607" cy="929079"/>
            </a:xfrm>
          </p:grpSpPr>
          <p:sp>
            <p:nvSpPr>
              <p:cNvPr name="Freeform 57" id="5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sp>
          <p:sp>
            <p:nvSpPr>
              <p:cNvPr name="TextBox 58" id="5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59" id="5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60" id="60"/>
            <p:cNvGrpSpPr/>
            <p:nvPr/>
          </p:nvGrpSpPr>
          <p:grpSpPr>
            <a:xfrm rot="0">
              <a:off x="317852" y="1904162"/>
              <a:ext cx="4563645" cy="1199467"/>
              <a:chOff x="0" y="0"/>
              <a:chExt cx="4563645" cy="1199467"/>
            </a:xfrm>
          </p:grpSpPr>
          <p:sp>
            <p:nvSpPr>
              <p:cNvPr name="Freeform 61" id="6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sp>
          <p:sp>
            <p:nvSpPr>
              <p:cNvPr name="TextBox 62" id="6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63" id="6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sp>
        <p:sp>
          <p:nvSpPr>
            <p:cNvPr name="Freeform 64" id="6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sp>
      </p:grpSp>
      <p:grpSp>
        <p:nvGrpSpPr>
          <p:cNvPr name="Group 65" id="65"/>
          <p:cNvGrpSpPr/>
          <p:nvPr/>
        </p:nvGrpSpPr>
        <p:grpSpPr>
          <a:xfrm rot="0">
            <a:off x="5223322" y="5886510"/>
            <a:ext cx="3920678" cy="3527596"/>
            <a:chOff x="0" y="0"/>
            <a:chExt cx="5227570" cy="4703461"/>
          </a:xfrm>
        </p:grpSpPr>
        <p:grpSp>
          <p:nvGrpSpPr>
            <p:cNvPr name="Group 66" id="66"/>
            <p:cNvGrpSpPr/>
            <p:nvPr/>
          </p:nvGrpSpPr>
          <p:grpSpPr>
            <a:xfrm rot="0">
              <a:off x="0" y="0"/>
              <a:ext cx="5227570" cy="4703461"/>
              <a:chOff x="0" y="0"/>
              <a:chExt cx="1032607" cy="929079"/>
            </a:xfrm>
          </p:grpSpPr>
          <p:sp>
            <p:nvSpPr>
              <p:cNvPr name="Freeform 67" id="6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68" id="6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69" id="69"/>
            <p:cNvGrpSpPr/>
            <p:nvPr/>
          </p:nvGrpSpPr>
          <p:grpSpPr>
            <a:xfrm rot="0">
              <a:off x="317852" y="1955255"/>
              <a:ext cx="4535424" cy="1097280"/>
              <a:chOff x="0" y="0"/>
              <a:chExt cx="4535424" cy="1097280"/>
            </a:xfrm>
          </p:grpSpPr>
          <p:sp>
            <p:nvSpPr>
              <p:cNvPr name="Freeform 70" id="7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71" id="7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72" id="7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sp>
        <p:sp>
          <p:nvSpPr>
            <p:cNvPr name="TextBox 73" id="7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sp>
        <p:nvSpPr>
          <p:cNvPr name="TextBox 74" id="74"/>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Alat dan Perangkat yang digunakan</a:t>
            </a:r>
          </a:p>
        </p:txBody>
      </p:sp>
      <p:sp>
        <p:nvSpPr>
          <p:cNvPr name="TextBox 75" id="75"/>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76" id="76"/>
          <p:cNvGrpSpPr/>
          <p:nvPr/>
        </p:nvGrpSpPr>
        <p:grpSpPr>
          <a:xfrm rot="0">
            <a:off x="822960" y="2016371"/>
            <a:ext cx="3920678" cy="3527596"/>
            <a:chOff x="0" y="0"/>
            <a:chExt cx="5227570" cy="4703461"/>
          </a:xfrm>
        </p:grpSpPr>
        <p:grpSp>
          <p:nvGrpSpPr>
            <p:cNvPr name="Group 77" id="77"/>
            <p:cNvGrpSpPr/>
            <p:nvPr/>
          </p:nvGrpSpPr>
          <p:grpSpPr>
            <a:xfrm rot="0">
              <a:off x="0" y="0"/>
              <a:ext cx="5227570" cy="4703461"/>
              <a:chOff x="0" y="0"/>
              <a:chExt cx="1032607" cy="929079"/>
            </a:xfrm>
          </p:grpSpPr>
          <p:sp>
            <p:nvSpPr>
              <p:cNvPr name="Freeform 78" id="7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79" id="7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80" id="80"/>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sp>
        <p:grpSp>
          <p:nvGrpSpPr>
            <p:cNvPr name="Group 81" id="81"/>
            <p:cNvGrpSpPr/>
            <p:nvPr/>
          </p:nvGrpSpPr>
          <p:grpSpPr>
            <a:xfrm rot="0">
              <a:off x="346073" y="1955255"/>
              <a:ext cx="4535424" cy="1097280"/>
              <a:chOff x="0" y="0"/>
              <a:chExt cx="4535424" cy="1097280"/>
            </a:xfrm>
          </p:grpSpPr>
          <p:sp>
            <p:nvSpPr>
              <p:cNvPr name="Freeform 82" id="8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83" id="83"/>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84" id="84"/>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85" id="85"/>
          <p:cNvGrpSpPr/>
          <p:nvPr/>
        </p:nvGrpSpPr>
        <p:grpSpPr>
          <a:xfrm rot="0">
            <a:off x="9653321" y="5886510"/>
            <a:ext cx="3920678" cy="3527596"/>
            <a:chOff x="0" y="0"/>
            <a:chExt cx="5227570" cy="4703461"/>
          </a:xfrm>
        </p:grpSpPr>
        <p:grpSp>
          <p:nvGrpSpPr>
            <p:cNvPr name="Group 86" id="86"/>
            <p:cNvGrpSpPr/>
            <p:nvPr/>
          </p:nvGrpSpPr>
          <p:grpSpPr>
            <a:xfrm rot="0">
              <a:off x="0" y="0"/>
              <a:ext cx="5227570" cy="4703461"/>
              <a:chOff x="0" y="0"/>
              <a:chExt cx="1032607" cy="929079"/>
            </a:xfrm>
          </p:grpSpPr>
          <p:sp>
            <p:nvSpPr>
              <p:cNvPr name="Freeform 87" id="87"/>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sp>
          <p:sp>
            <p:nvSpPr>
              <p:cNvPr name="TextBox 88" id="88"/>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89" id="89"/>
            <p:cNvGrpSpPr/>
            <p:nvPr/>
          </p:nvGrpSpPr>
          <p:grpSpPr>
            <a:xfrm rot="0">
              <a:off x="346073" y="1701455"/>
              <a:ext cx="4535424" cy="1269680"/>
              <a:chOff x="0" y="0"/>
              <a:chExt cx="4535424" cy="1269680"/>
            </a:xfrm>
          </p:grpSpPr>
          <p:sp>
            <p:nvSpPr>
              <p:cNvPr name="Freeform 90" id="90"/>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sp>
          <p:sp>
            <p:nvSpPr>
              <p:cNvPr name="TextBox 91" id="91"/>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92" id="92"/>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93" id="93"/>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sp>
        <p:sp>
          <p:nvSpPr>
            <p:cNvPr name="Freeform 94" id="94"/>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sp>
        <p:sp>
          <p:nvSpPr>
            <p:cNvPr name="Freeform 95" id="95"/>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Enam tahap penelitian, diperluas dari kerangka Mai &amp; Smith (2018)</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2537460" cy="3360420"/>
            <a:chOff x="0" y="0"/>
            <a:chExt cx="3383280" cy="4480560"/>
          </a:xfrm>
        </p:grpSpPr>
        <p:sp>
          <p:nvSpPr>
            <p:cNvPr name="Freeform 39" id="39"/>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40" id="40"/>
          <p:cNvGrpSpPr/>
          <p:nvPr/>
        </p:nvGrpSpPr>
        <p:grpSpPr>
          <a:xfrm rot="0">
            <a:off x="1776222" y="2647188"/>
            <a:ext cx="630936" cy="630936"/>
            <a:chOff x="0" y="0"/>
            <a:chExt cx="841248" cy="841248"/>
          </a:xfrm>
        </p:grpSpPr>
        <p:grpSp>
          <p:nvGrpSpPr>
            <p:cNvPr name="Group 41" id="41"/>
            <p:cNvGrpSpPr/>
            <p:nvPr/>
          </p:nvGrpSpPr>
          <p:grpSpPr>
            <a:xfrm rot="0">
              <a:off x="0" y="0"/>
              <a:ext cx="841248" cy="841248"/>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43" id="43"/>
            <p:cNvGrpSpPr/>
            <p:nvPr/>
          </p:nvGrpSpPr>
          <p:grpSpPr>
            <a:xfrm rot="0">
              <a:off x="0" y="0"/>
              <a:ext cx="841248" cy="841248"/>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sp>
        <p:nvSpPr>
          <p:cNvPr name="TextBox 46" id="46"/>
          <p:cNvSpPr txBox="true"/>
          <p:nvPr/>
        </p:nvSpPr>
        <p:spPr>
          <a:xfrm rot="0">
            <a:off x="1069848"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47" id="47"/>
          <p:cNvSpPr txBox="true"/>
          <p:nvPr/>
        </p:nvSpPr>
        <p:spPr>
          <a:xfrm rot="0">
            <a:off x="1069848"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 Master Data 2015–2025</a:t>
            </a:r>
          </a:p>
        </p:txBody>
      </p:sp>
      <p:grpSp>
        <p:nvGrpSpPr>
          <p:cNvPr name="Group 48" id="48"/>
          <p:cNvGrpSpPr/>
          <p:nvPr/>
        </p:nvGrpSpPr>
        <p:grpSpPr>
          <a:xfrm rot="0">
            <a:off x="1405890" y="2194560"/>
            <a:ext cx="1371600" cy="411480"/>
            <a:chOff x="0" y="0"/>
            <a:chExt cx="1828800" cy="548640"/>
          </a:xfrm>
        </p:grpSpPr>
        <p:grpSp>
          <p:nvGrpSpPr>
            <p:cNvPr name="Group 49" id="49"/>
            <p:cNvGrpSpPr/>
            <p:nvPr/>
          </p:nvGrpSpPr>
          <p:grpSpPr>
            <a:xfrm rot="0">
              <a:off x="0" y="0"/>
              <a:ext cx="1828800" cy="548640"/>
              <a:chOff x="0" y="0"/>
              <a:chExt cx="1828800" cy="548640"/>
            </a:xfrm>
          </p:grpSpPr>
          <p:sp>
            <p:nvSpPr>
              <p:cNvPr name="Freeform 50" id="5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51" id="51"/>
            <p:cNvGrpSpPr/>
            <p:nvPr/>
          </p:nvGrpSpPr>
          <p:grpSpPr>
            <a:xfrm rot="0">
              <a:off x="236673" y="71002"/>
              <a:ext cx="1355454" cy="406636"/>
              <a:chOff x="0" y="0"/>
              <a:chExt cx="1828800" cy="548640"/>
            </a:xfrm>
          </p:grpSpPr>
          <p:sp>
            <p:nvSpPr>
              <p:cNvPr name="Freeform 52" id="5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53" id="5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54" id="54"/>
          <p:cNvGrpSpPr/>
          <p:nvPr/>
        </p:nvGrpSpPr>
        <p:grpSpPr>
          <a:xfrm rot="0">
            <a:off x="3642970" y="2400300"/>
            <a:ext cx="2537460" cy="3360420"/>
            <a:chOff x="0" y="0"/>
            <a:chExt cx="3383280" cy="4480560"/>
          </a:xfrm>
        </p:grpSpPr>
        <p:sp>
          <p:nvSpPr>
            <p:cNvPr name="Freeform 55" id="5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56" id="56"/>
          <p:cNvGrpSpPr/>
          <p:nvPr/>
        </p:nvGrpSpPr>
        <p:grpSpPr>
          <a:xfrm rot="0">
            <a:off x="4596232" y="2647188"/>
            <a:ext cx="630936" cy="630936"/>
            <a:chOff x="0" y="0"/>
            <a:chExt cx="841248" cy="841248"/>
          </a:xfrm>
        </p:grpSpPr>
        <p:grpSp>
          <p:nvGrpSpPr>
            <p:cNvPr name="Group 57" id="57"/>
            <p:cNvGrpSpPr/>
            <p:nvPr/>
          </p:nvGrpSpPr>
          <p:grpSpPr>
            <a:xfrm rot="0">
              <a:off x="0" y="0"/>
              <a:ext cx="841248" cy="841248"/>
              <a:chOff x="0" y="0"/>
              <a:chExt cx="841248" cy="841248"/>
            </a:xfrm>
          </p:grpSpPr>
          <p:sp>
            <p:nvSpPr>
              <p:cNvPr name="Freeform 58" id="5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59" id="59"/>
            <p:cNvGrpSpPr/>
            <p:nvPr/>
          </p:nvGrpSpPr>
          <p:grpSpPr>
            <a:xfrm rot="0">
              <a:off x="0" y="0"/>
              <a:ext cx="841248" cy="841248"/>
              <a:chOff x="0" y="0"/>
              <a:chExt cx="841248" cy="841248"/>
            </a:xfrm>
          </p:grpSpPr>
          <p:sp>
            <p:nvSpPr>
              <p:cNvPr name="Freeform 60" id="6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61" id="6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grpSp>
      <p:sp>
        <p:nvSpPr>
          <p:cNvPr name="TextBox 62" id="62"/>
          <p:cNvSpPr txBox="true"/>
          <p:nvPr/>
        </p:nvSpPr>
        <p:spPr>
          <a:xfrm rot="0">
            <a:off x="3889858" y="3390900"/>
            <a:ext cx="2057400" cy="9525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63" id="63"/>
          <p:cNvSpPr txBox="true"/>
          <p:nvPr/>
        </p:nvSpPr>
        <p:spPr>
          <a:xfrm rot="0">
            <a:off x="3889858"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64" id="64"/>
          <p:cNvGrpSpPr/>
          <p:nvPr/>
        </p:nvGrpSpPr>
        <p:grpSpPr>
          <a:xfrm rot="0">
            <a:off x="6462979" y="2400300"/>
            <a:ext cx="2537460" cy="3360420"/>
            <a:chOff x="0" y="0"/>
            <a:chExt cx="3383280" cy="4480560"/>
          </a:xfrm>
        </p:grpSpPr>
        <p:sp>
          <p:nvSpPr>
            <p:cNvPr name="Freeform 65" id="6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66" id="66"/>
          <p:cNvGrpSpPr/>
          <p:nvPr/>
        </p:nvGrpSpPr>
        <p:grpSpPr>
          <a:xfrm rot="0">
            <a:off x="7416241" y="2647188"/>
            <a:ext cx="630936" cy="630936"/>
            <a:chOff x="0" y="0"/>
            <a:chExt cx="841248" cy="841248"/>
          </a:xfrm>
        </p:grpSpPr>
        <p:grpSp>
          <p:nvGrpSpPr>
            <p:cNvPr name="Group 67" id="67"/>
            <p:cNvGrpSpPr/>
            <p:nvPr/>
          </p:nvGrpSpPr>
          <p:grpSpPr>
            <a:xfrm rot="0">
              <a:off x="0" y="0"/>
              <a:ext cx="841248" cy="841248"/>
              <a:chOff x="0" y="0"/>
              <a:chExt cx="841248" cy="841248"/>
            </a:xfrm>
          </p:grpSpPr>
          <p:sp>
            <p:nvSpPr>
              <p:cNvPr name="Freeform 68" id="6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69" id="69"/>
            <p:cNvGrpSpPr/>
            <p:nvPr/>
          </p:nvGrpSpPr>
          <p:grpSpPr>
            <a:xfrm rot="0">
              <a:off x="0" y="0"/>
              <a:ext cx="841248" cy="841248"/>
              <a:chOff x="0" y="0"/>
              <a:chExt cx="841248" cy="841248"/>
            </a:xfrm>
          </p:grpSpPr>
          <p:sp>
            <p:nvSpPr>
              <p:cNvPr name="Freeform 70" id="7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71" id="7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grpSp>
      <p:sp>
        <p:nvSpPr>
          <p:cNvPr name="TextBox 72" id="72"/>
          <p:cNvSpPr txBox="true"/>
          <p:nvPr/>
        </p:nvSpPr>
        <p:spPr>
          <a:xfrm rot="0">
            <a:off x="6709867"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73" id="73"/>
          <p:cNvSpPr txBox="true"/>
          <p:nvPr/>
        </p:nvSpPr>
        <p:spPr>
          <a:xfrm rot="0">
            <a:off x="6709867" y="46939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74" id="74"/>
          <p:cNvGrpSpPr/>
          <p:nvPr/>
        </p:nvGrpSpPr>
        <p:grpSpPr>
          <a:xfrm rot="0">
            <a:off x="9282989" y="2400300"/>
            <a:ext cx="2537460" cy="3360420"/>
            <a:chOff x="0" y="0"/>
            <a:chExt cx="3383280" cy="4480560"/>
          </a:xfrm>
        </p:grpSpPr>
        <p:sp>
          <p:nvSpPr>
            <p:cNvPr name="Freeform 75" id="7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76" id="76"/>
          <p:cNvGrpSpPr/>
          <p:nvPr/>
        </p:nvGrpSpPr>
        <p:grpSpPr>
          <a:xfrm rot="0">
            <a:off x="10122408" y="2647188"/>
            <a:ext cx="630936" cy="630936"/>
            <a:chOff x="0" y="0"/>
            <a:chExt cx="841248" cy="841248"/>
          </a:xfrm>
        </p:grpSpPr>
        <p:grpSp>
          <p:nvGrpSpPr>
            <p:cNvPr name="Group 77" id="77"/>
            <p:cNvGrpSpPr/>
            <p:nvPr/>
          </p:nvGrpSpPr>
          <p:grpSpPr>
            <a:xfrm rot="0">
              <a:off x="0" y="0"/>
              <a:ext cx="841248" cy="841248"/>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79" id="79"/>
            <p:cNvGrpSpPr/>
            <p:nvPr/>
          </p:nvGrpSpPr>
          <p:grpSpPr>
            <a:xfrm rot="0">
              <a:off x="0" y="0"/>
              <a:ext cx="841248" cy="841248"/>
              <a:chOff x="0" y="0"/>
              <a:chExt cx="841248" cy="841248"/>
            </a:xfrm>
          </p:grpSpPr>
          <p:sp>
            <p:nvSpPr>
              <p:cNvPr name="Freeform 80" id="8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81" id="8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grpSp>
      <p:sp>
        <p:nvSpPr>
          <p:cNvPr name="TextBox 82" id="82"/>
          <p:cNvSpPr txBox="true"/>
          <p:nvPr/>
        </p:nvSpPr>
        <p:spPr>
          <a:xfrm rot="0">
            <a:off x="9529877" y="3390900"/>
            <a:ext cx="2057400" cy="3429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83" id="83"/>
          <p:cNvSpPr txBox="true"/>
          <p:nvPr/>
        </p:nvSpPr>
        <p:spPr>
          <a:xfrm rot="0">
            <a:off x="9529877"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84" id="84"/>
          <p:cNvGrpSpPr/>
          <p:nvPr/>
        </p:nvGrpSpPr>
        <p:grpSpPr>
          <a:xfrm rot="0">
            <a:off x="12102998"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86" id="86"/>
          <p:cNvGrpSpPr/>
          <p:nvPr/>
        </p:nvGrpSpPr>
        <p:grpSpPr>
          <a:xfrm rot="0">
            <a:off x="13056260" y="2647188"/>
            <a:ext cx="630936" cy="630936"/>
            <a:chOff x="0" y="0"/>
            <a:chExt cx="841248" cy="841248"/>
          </a:xfrm>
        </p:grpSpPr>
        <p:grpSp>
          <p:nvGrpSpPr>
            <p:cNvPr name="Group 87" id="87"/>
            <p:cNvGrpSpPr/>
            <p:nvPr/>
          </p:nvGrpSpPr>
          <p:grpSpPr>
            <a:xfrm rot="0">
              <a:off x="0" y="0"/>
              <a:ext cx="841248" cy="841248"/>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89" id="89"/>
            <p:cNvGrpSpPr/>
            <p:nvPr/>
          </p:nvGrpSpPr>
          <p:grpSpPr>
            <a:xfrm rot="0">
              <a:off x="0" y="0"/>
              <a:ext cx="841248" cy="841248"/>
              <a:chOff x="0" y="0"/>
              <a:chExt cx="841248" cy="841248"/>
            </a:xfrm>
          </p:grpSpPr>
          <p:sp>
            <p:nvSpPr>
              <p:cNvPr name="Freeform 90" id="9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91" id="9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grpSp>
      <p:sp>
        <p:nvSpPr>
          <p:cNvPr name="TextBox 92" id="92"/>
          <p:cNvSpPr txBox="true"/>
          <p:nvPr/>
        </p:nvSpPr>
        <p:spPr>
          <a:xfrm rot="0">
            <a:off x="12349886"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93" id="93"/>
          <p:cNvSpPr txBox="true"/>
          <p:nvPr/>
        </p:nvSpPr>
        <p:spPr>
          <a:xfrm rot="0">
            <a:off x="12349886"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94" id="94"/>
          <p:cNvGrpSpPr/>
          <p:nvPr/>
        </p:nvGrpSpPr>
        <p:grpSpPr>
          <a:xfrm rot="0">
            <a:off x="14923008" y="2400300"/>
            <a:ext cx="2537460" cy="3360420"/>
            <a:chOff x="0" y="0"/>
            <a:chExt cx="3383280" cy="4480560"/>
          </a:xfrm>
        </p:grpSpPr>
        <p:sp>
          <p:nvSpPr>
            <p:cNvPr name="Freeform 95" id="9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96" id="96"/>
          <p:cNvGrpSpPr/>
          <p:nvPr/>
        </p:nvGrpSpPr>
        <p:grpSpPr>
          <a:xfrm rot="0">
            <a:off x="15876270" y="2647188"/>
            <a:ext cx="630936" cy="630936"/>
            <a:chOff x="0" y="0"/>
            <a:chExt cx="841248" cy="841248"/>
          </a:xfrm>
        </p:grpSpPr>
        <p:grpSp>
          <p:nvGrpSpPr>
            <p:cNvPr name="Group 97" id="97"/>
            <p:cNvGrpSpPr/>
            <p:nvPr/>
          </p:nvGrpSpPr>
          <p:grpSpPr>
            <a:xfrm rot="0">
              <a:off x="0" y="0"/>
              <a:ext cx="841248" cy="841248"/>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99" id="99"/>
            <p:cNvGrpSpPr/>
            <p:nvPr/>
          </p:nvGrpSpPr>
          <p:grpSpPr>
            <a:xfrm rot="0">
              <a:off x="0" y="0"/>
              <a:ext cx="841248" cy="841248"/>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101" id="10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grpSp>
      <p:sp>
        <p:nvSpPr>
          <p:cNvPr name="TextBox 102" id="102"/>
          <p:cNvSpPr txBox="true"/>
          <p:nvPr/>
        </p:nvSpPr>
        <p:spPr>
          <a:xfrm rot="0">
            <a:off x="15169896" y="3390900"/>
            <a:ext cx="2057400" cy="13411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03" id="103"/>
          <p:cNvSpPr txBox="true"/>
          <p:nvPr/>
        </p:nvSpPr>
        <p:spPr>
          <a:xfrm rot="0">
            <a:off x="15169896"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04" id="104"/>
          <p:cNvSpPr txBox="true"/>
          <p:nvPr/>
        </p:nvSpPr>
        <p:spPr>
          <a:xfrm rot="0">
            <a:off x="822960" y="6124575"/>
            <a:ext cx="8229600" cy="36195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05" id="105"/>
          <p:cNvGrpSpPr/>
          <p:nvPr/>
        </p:nvGrpSpPr>
        <p:grpSpPr>
          <a:xfrm rot="0">
            <a:off x="822960" y="6720840"/>
            <a:ext cx="3703320" cy="1097280"/>
            <a:chOff x="0" y="0"/>
            <a:chExt cx="4937760" cy="1463040"/>
          </a:xfrm>
        </p:grpSpPr>
        <p:sp>
          <p:nvSpPr>
            <p:cNvPr name="Freeform 106" id="10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07" id="107"/>
          <p:cNvGrpSpPr/>
          <p:nvPr/>
        </p:nvGrpSpPr>
        <p:grpSpPr>
          <a:xfrm rot="0">
            <a:off x="822960" y="6720840"/>
            <a:ext cx="3703320" cy="1097280"/>
            <a:chOff x="0" y="0"/>
            <a:chExt cx="4937760" cy="1463040"/>
          </a:xfrm>
        </p:grpSpPr>
        <p:sp>
          <p:nvSpPr>
            <p:cNvPr name="Freeform 108" id="10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09" id="10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10" id="110"/>
          <p:cNvGrpSpPr/>
          <p:nvPr/>
        </p:nvGrpSpPr>
        <p:grpSpPr>
          <a:xfrm rot="0">
            <a:off x="5047488" y="6720840"/>
            <a:ext cx="3703320" cy="1097280"/>
            <a:chOff x="0" y="0"/>
            <a:chExt cx="4937760" cy="1463040"/>
          </a:xfrm>
        </p:grpSpPr>
        <p:sp>
          <p:nvSpPr>
            <p:cNvPr name="Freeform 111" id="111"/>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12" id="112"/>
          <p:cNvGrpSpPr/>
          <p:nvPr/>
        </p:nvGrpSpPr>
        <p:grpSpPr>
          <a:xfrm rot="0">
            <a:off x="5047488" y="6720840"/>
            <a:ext cx="3703320" cy="1097280"/>
            <a:chOff x="0" y="0"/>
            <a:chExt cx="4937760" cy="1463040"/>
          </a:xfrm>
        </p:grpSpPr>
        <p:sp>
          <p:nvSpPr>
            <p:cNvPr name="Freeform 113" id="113"/>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4" id="114"/>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15" id="115"/>
          <p:cNvGrpSpPr/>
          <p:nvPr/>
        </p:nvGrpSpPr>
        <p:grpSpPr>
          <a:xfrm rot="0">
            <a:off x="9272016" y="6720840"/>
            <a:ext cx="3703320" cy="1097280"/>
            <a:chOff x="0" y="0"/>
            <a:chExt cx="4937760" cy="1463040"/>
          </a:xfrm>
        </p:grpSpPr>
        <p:sp>
          <p:nvSpPr>
            <p:cNvPr name="Freeform 116" id="11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sp>
      </p:grpSp>
      <p:grpSp>
        <p:nvGrpSpPr>
          <p:cNvPr name="Group 117" id="117"/>
          <p:cNvGrpSpPr/>
          <p:nvPr/>
        </p:nvGrpSpPr>
        <p:grpSpPr>
          <a:xfrm rot="0">
            <a:off x="9272016" y="6720840"/>
            <a:ext cx="3703320" cy="1097280"/>
            <a:chOff x="0" y="0"/>
            <a:chExt cx="4937760" cy="1463040"/>
          </a:xfrm>
        </p:grpSpPr>
        <p:sp>
          <p:nvSpPr>
            <p:cNvPr name="Freeform 118" id="11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9" id="11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20" id="120"/>
          <p:cNvGrpSpPr/>
          <p:nvPr/>
        </p:nvGrpSpPr>
        <p:grpSpPr>
          <a:xfrm rot="0">
            <a:off x="10437876" y="6560820"/>
            <a:ext cx="1371600" cy="384048"/>
            <a:chOff x="0" y="0"/>
            <a:chExt cx="1828800" cy="512064"/>
          </a:xfrm>
        </p:grpSpPr>
        <p:grpSp>
          <p:nvGrpSpPr>
            <p:cNvPr name="Group 121" id="121"/>
            <p:cNvGrpSpPr/>
            <p:nvPr/>
          </p:nvGrpSpPr>
          <p:grpSpPr>
            <a:xfrm rot="0">
              <a:off x="0" y="0"/>
              <a:ext cx="1828800" cy="512064"/>
              <a:chOff x="0" y="0"/>
              <a:chExt cx="1828800" cy="512064"/>
            </a:xfrm>
          </p:grpSpPr>
          <p:sp>
            <p:nvSpPr>
              <p:cNvPr name="Freeform 122" id="122"/>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sp>
        </p:grpSp>
        <p:grpSp>
          <p:nvGrpSpPr>
            <p:cNvPr name="Group 123" id="123"/>
            <p:cNvGrpSpPr/>
            <p:nvPr/>
          </p:nvGrpSpPr>
          <p:grpSpPr>
            <a:xfrm rot="0">
              <a:off x="0" y="0"/>
              <a:ext cx="1828800" cy="512064"/>
              <a:chOff x="0" y="0"/>
              <a:chExt cx="1828800" cy="512064"/>
            </a:xfrm>
          </p:grpSpPr>
          <p:sp>
            <p:nvSpPr>
              <p:cNvPr name="Freeform 124" id="124"/>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4">
                  <a:alphaModFix amt="0"/>
                </a:blip>
                <a:stretch>
                  <a:fillRect l="0" t="-19589" r="0" b="-19589"/>
                </a:stretch>
              </a:blipFill>
            </p:spPr>
          </p:sp>
          <p:sp>
            <p:nvSpPr>
              <p:cNvPr name="TextBox 125" id="125"/>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26" id="126"/>
          <p:cNvGrpSpPr/>
          <p:nvPr/>
        </p:nvGrpSpPr>
        <p:grpSpPr>
          <a:xfrm rot="0">
            <a:off x="13496544" y="6720840"/>
            <a:ext cx="3703320" cy="1097280"/>
            <a:chOff x="0" y="0"/>
            <a:chExt cx="4937760" cy="1463040"/>
          </a:xfrm>
        </p:grpSpPr>
        <p:sp>
          <p:nvSpPr>
            <p:cNvPr name="Freeform 127" id="127"/>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28" id="128"/>
          <p:cNvGrpSpPr/>
          <p:nvPr/>
        </p:nvGrpSpPr>
        <p:grpSpPr>
          <a:xfrm rot="0">
            <a:off x="13496544" y="6720840"/>
            <a:ext cx="3703320" cy="1097280"/>
            <a:chOff x="0" y="0"/>
            <a:chExt cx="4937760" cy="1463040"/>
          </a:xfrm>
        </p:grpSpPr>
        <p:sp>
          <p:nvSpPr>
            <p:cNvPr name="Freeform 129" id="129"/>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30" id="130"/>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31" id="131"/>
          <p:cNvSpPr txBox="true"/>
          <p:nvPr/>
        </p:nvSpPr>
        <p:spPr>
          <a:xfrm rot="0">
            <a:off x="822960" y="8602980"/>
            <a:ext cx="16637508" cy="3048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Alat: Google Earth Engine , Vensim PLE, Python (PySD), Excel/Google Sheets, SDEverywhere, Next.js</a:t>
            </a:r>
          </a:p>
        </p:txBody>
      </p:sp>
      <p:sp>
        <p:nvSpPr>
          <p:cNvPr name="TextBox 132" id="13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a:t>
            </a:r>
          </a:p>
        </p:txBody>
      </p:sp>
      <p:sp>
        <p:nvSpPr>
          <p:cNvPr name="AutoShape 133" id="133"/>
          <p:cNvSpPr/>
          <p:nvPr/>
        </p:nvSpPr>
        <p:spPr>
          <a:xfrm>
            <a:off x="3360420" y="4080510"/>
            <a:ext cx="326005" cy="98495"/>
          </a:xfrm>
          <a:prstGeom prst="line">
            <a:avLst/>
          </a:prstGeom>
          <a:ln cap="flat" w="38100">
            <a:solidFill>
              <a:srgbClr val="39C0D3"/>
            </a:solidFill>
            <a:prstDash val="solid"/>
            <a:headEnd type="none" len="sm" w="sm"/>
            <a:tailEnd type="triangle" len="med" w="lg"/>
          </a:ln>
        </p:spPr>
      </p:sp>
      <p:grpSp>
        <p:nvGrpSpPr>
          <p:cNvPr name="Group 134" id="134"/>
          <p:cNvGrpSpPr/>
          <p:nvPr/>
        </p:nvGrpSpPr>
        <p:grpSpPr>
          <a:xfrm rot="0">
            <a:off x="15512796" y="2194560"/>
            <a:ext cx="1371600" cy="411480"/>
            <a:chOff x="0" y="0"/>
            <a:chExt cx="1828800" cy="548640"/>
          </a:xfrm>
        </p:grpSpPr>
        <p:grpSp>
          <p:nvGrpSpPr>
            <p:cNvPr name="Group 135" id="135"/>
            <p:cNvGrpSpPr/>
            <p:nvPr/>
          </p:nvGrpSpPr>
          <p:grpSpPr>
            <a:xfrm rot="0">
              <a:off x="0" y="0"/>
              <a:ext cx="1828800" cy="548640"/>
              <a:chOff x="0" y="0"/>
              <a:chExt cx="1828800" cy="548640"/>
            </a:xfrm>
          </p:grpSpPr>
          <p:sp>
            <p:nvSpPr>
              <p:cNvPr name="Freeform 136" id="136"/>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137" id="137"/>
            <p:cNvGrpSpPr/>
            <p:nvPr/>
          </p:nvGrpSpPr>
          <p:grpSpPr>
            <a:xfrm rot="0">
              <a:off x="236673" y="71002"/>
              <a:ext cx="1355454" cy="406636"/>
              <a:chOff x="0" y="0"/>
              <a:chExt cx="1828800" cy="548640"/>
            </a:xfrm>
          </p:grpSpPr>
          <p:sp>
            <p:nvSpPr>
              <p:cNvPr name="Freeform 138" id="13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39" id="139"/>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AutoShape 140" id="140"/>
          <p:cNvSpPr/>
          <p:nvPr/>
        </p:nvSpPr>
        <p:spPr>
          <a:xfrm>
            <a:off x="8750808" y="7269480"/>
            <a:ext cx="624913" cy="23811"/>
          </a:xfrm>
          <a:prstGeom prst="line">
            <a:avLst/>
          </a:prstGeom>
          <a:ln cap="flat" w="38100">
            <a:solidFill>
              <a:srgbClr val="39C0D3"/>
            </a:solidFill>
            <a:prstDash val="solid"/>
            <a:headEnd type="none" len="sm" w="sm"/>
            <a:tailEnd type="triangle" len="med" w="lg"/>
          </a:ln>
        </p:spPr>
      </p:sp>
      <p:sp>
        <p:nvSpPr>
          <p:cNvPr name="AutoShape 141" id="141"/>
          <p:cNvSpPr/>
          <p:nvPr/>
        </p:nvSpPr>
        <p:spPr>
          <a:xfrm>
            <a:off x="9000439" y="4080510"/>
            <a:ext cx="219975" cy="25909"/>
          </a:xfrm>
          <a:prstGeom prst="line">
            <a:avLst/>
          </a:prstGeom>
          <a:ln cap="flat" w="38100">
            <a:solidFill>
              <a:srgbClr val="39C0D3"/>
            </a:solidFill>
            <a:prstDash val="solid"/>
            <a:headEnd type="none" len="sm" w="sm"/>
            <a:tailEnd type="triangle" len="med" w="lg"/>
          </a:ln>
        </p:spPr>
      </p:sp>
      <p:sp>
        <p:nvSpPr>
          <p:cNvPr name="AutoShape 142" id="142"/>
          <p:cNvSpPr/>
          <p:nvPr/>
        </p:nvSpPr>
        <p:spPr>
          <a:xfrm>
            <a:off x="11820449" y="4080510"/>
            <a:ext cx="318026" cy="25909"/>
          </a:xfrm>
          <a:prstGeom prst="line">
            <a:avLst/>
          </a:prstGeom>
          <a:ln cap="flat" w="38100">
            <a:solidFill>
              <a:srgbClr val="39C0D3"/>
            </a:solidFill>
            <a:prstDash val="solid"/>
            <a:headEnd type="none" len="sm" w="sm"/>
            <a:tailEnd type="triangle" len="med" w="lg"/>
          </a:ln>
        </p:spPr>
      </p:sp>
      <p:sp>
        <p:nvSpPr>
          <p:cNvPr name="AutoShape 143" id="143"/>
          <p:cNvSpPr/>
          <p:nvPr/>
        </p:nvSpPr>
        <p:spPr>
          <a:xfrm flipV="true">
            <a:off x="14640458" y="4061271"/>
            <a:ext cx="311492" cy="19239"/>
          </a:xfrm>
          <a:prstGeom prst="line">
            <a:avLst/>
          </a:prstGeom>
          <a:ln cap="flat" w="38100">
            <a:solidFill>
              <a:srgbClr val="39C0D3"/>
            </a:solidFill>
            <a:prstDash val="solid"/>
            <a:headEnd type="none" len="sm" w="sm"/>
            <a:tailEnd type="triangle" len="med" w="lg"/>
          </a:ln>
        </p:spPr>
      </p:sp>
      <p:sp>
        <p:nvSpPr>
          <p:cNvPr name="AutoShape 144" id="144"/>
          <p:cNvSpPr/>
          <p:nvPr/>
        </p:nvSpPr>
        <p:spPr>
          <a:xfrm>
            <a:off x="4526280" y="7269480"/>
            <a:ext cx="521208" cy="0"/>
          </a:xfrm>
          <a:prstGeom prst="line">
            <a:avLst/>
          </a:prstGeom>
          <a:ln cap="flat" w="38100">
            <a:solidFill>
              <a:srgbClr val="39C0D3"/>
            </a:solidFill>
            <a:prstDash val="solid"/>
            <a:headEnd type="none" len="sm" w="sm"/>
            <a:tailEnd type="triangle" len="med" w="lg"/>
          </a:ln>
        </p:spPr>
      </p:sp>
      <p:sp>
        <p:nvSpPr>
          <p:cNvPr name="AutoShape 145" id="145"/>
          <p:cNvSpPr/>
          <p:nvPr/>
        </p:nvSpPr>
        <p:spPr>
          <a:xfrm flipV="true">
            <a:off x="12975336" y="7249641"/>
            <a:ext cx="521208" cy="19839"/>
          </a:xfrm>
          <a:prstGeom prst="line">
            <a:avLst/>
          </a:prstGeom>
          <a:ln cap="flat" w="38100">
            <a:solidFill>
              <a:srgbClr val="39C0D3"/>
            </a:solidFill>
            <a:prstDash val="solid"/>
            <a:headEnd type="none" len="sm" w="sm"/>
            <a:tailEnd type="triangle" len="med" w="lg"/>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Citra satelit menjadi estimator pemutakhir data, bukan pengganti statistik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5074920" cy="2400300"/>
            <a:chOff x="0" y="0"/>
            <a:chExt cx="6766560" cy="3200400"/>
          </a:xfrm>
        </p:grpSpPr>
        <p:sp>
          <p:nvSpPr>
            <p:cNvPr name="Freeform 53" id="53"/>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54" id="54"/>
          <p:cNvSpPr txBox="true"/>
          <p:nvPr/>
        </p:nvSpPr>
        <p:spPr>
          <a:xfrm rot="0">
            <a:off x="109728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55" id="55"/>
          <p:cNvSpPr txBox="true"/>
          <p:nvPr/>
        </p:nvSpPr>
        <p:spPr>
          <a:xfrm rot="0">
            <a:off x="1097280" y="284530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56" id="56"/>
          <p:cNvSpPr txBox="true"/>
          <p:nvPr/>
        </p:nvSpPr>
        <p:spPr>
          <a:xfrm rot="0">
            <a:off x="1097280" y="3421380"/>
            <a:ext cx="452628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57" id="57"/>
          <p:cNvSpPr/>
          <p:nvPr/>
        </p:nvSpPr>
        <p:spPr>
          <a:xfrm rot="175740">
            <a:off x="5926922" y="3569779"/>
            <a:ext cx="559137" cy="0"/>
          </a:xfrm>
          <a:prstGeom prst="line">
            <a:avLst/>
          </a:prstGeom>
          <a:ln cap="rnd" w="19050">
            <a:solidFill>
              <a:srgbClr val="39C0D3"/>
            </a:solidFill>
            <a:prstDash val="solid"/>
            <a:headEnd type="none" len="sm" w="sm"/>
            <a:tailEnd type="triangle" len="med" w="lg"/>
          </a:ln>
        </p:spPr>
      </p:sp>
      <p:grpSp>
        <p:nvGrpSpPr>
          <p:cNvPr name="Group 58" id="58"/>
          <p:cNvGrpSpPr/>
          <p:nvPr/>
        </p:nvGrpSpPr>
        <p:grpSpPr>
          <a:xfrm rot="0">
            <a:off x="6515100" y="2400300"/>
            <a:ext cx="5623560" cy="2400300"/>
            <a:chOff x="0" y="0"/>
            <a:chExt cx="7498080" cy="3200400"/>
          </a:xfrm>
        </p:grpSpPr>
        <p:sp>
          <p:nvSpPr>
            <p:cNvPr name="Freeform 59" id="59"/>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60" id="60"/>
          <p:cNvSpPr txBox="true"/>
          <p:nvPr/>
        </p:nvSpPr>
        <p:spPr>
          <a:xfrm rot="0">
            <a:off x="678942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61" id="61"/>
          <p:cNvSpPr txBox="true"/>
          <p:nvPr/>
        </p:nvSpPr>
        <p:spPr>
          <a:xfrm rot="0">
            <a:off x="6789420" y="284530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62" id="62"/>
          <p:cNvSpPr txBox="true"/>
          <p:nvPr/>
        </p:nvSpPr>
        <p:spPr>
          <a:xfrm rot="0">
            <a:off x="6789420" y="3421380"/>
            <a:ext cx="507492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63" id="63"/>
          <p:cNvSpPr/>
          <p:nvPr/>
        </p:nvSpPr>
        <p:spPr>
          <a:xfrm rot="175740">
            <a:off x="12167702" y="3569779"/>
            <a:ext cx="559137" cy="0"/>
          </a:xfrm>
          <a:prstGeom prst="line">
            <a:avLst/>
          </a:prstGeom>
          <a:ln cap="rnd" w="19050">
            <a:solidFill>
              <a:srgbClr val="39C0D3"/>
            </a:solidFill>
            <a:prstDash val="solid"/>
            <a:headEnd type="none" len="sm" w="sm"/>
            <a:tailEnd type="triangle" len="med" w="lg"/>
          </a:ln>
        </p:spPr>
      </p:sp>
      <p:grpSp>
        <p:nvGrpSpPr>
          <p:cNvPr name="Group 64" id="64"/>
          <p:cNvGrpSpPr/>
          <p:nvPr/>
        </p:nvGrpSpPr>
        <p:grpSpPr>
          <a:xfrm rot="0">
            <a:off x="12755880" y="2400300"/>
            <a:ext cx="4704588" cy="2400300"/>
            <a:chOff x="0" y="0"/>
            <a:chExt cx="6272784" cy="3200400"/>
          </a:xfrm>
        </p:grpSpPr>
        <p:sp>
          <p:nvSpPr>
            <p:cNvPr name="Freeform 65" id="65"/>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66" id="66"/>
          <p:cNvSpPr txBox="true"/>
          <p:nvPr/>
        </p:nvSpPr>
        <p:spPr>
          <a:xfrm rot="0">
            <a:off x="1303020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67" id="67"/>
          <p:cNvSpPr txBox="true"/>
          <p:nvPr/>
        </p:nvSpPr>
        <p:spPr>
          <a:xfrm rot="0">
            <a:off x="13030200" y="284530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68" id="68"/>
          <p:cNvSpPr txBox="true"/>
          <p:nvPr/>
        </p:nvSpPr>
        <p:spPr>
          <a:xfrm rot="0">
            <a:off x="13030200" y="376428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69" id="69"/>
          <p:cNvGrpSpPr/>
          <p:nvPr/>
        </p:nvGrpSpPr>
        <p:grpSpPr>
          <a:xfrm rot="0">
            <a:off x="822960" y="5074920"/>
            <a:ext cx="5074920" cy="2400300"/>
            <a:chOff x="0" y="0"/>
            <a:chExt cx="6766560" cy="3200400"/>
          </a:xfrm>
        </p:grpSpPr>
        <p:sp>
          <p:nvSpPr>
            <p:cNvPr name="Freeform 70" id="70"/>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71" id="71"/>
          <p:cNvSpPr txBox="true"/>
          <p:nvPr/>
        </p:nvSpPr>
        <p:spPr>
          <a:xfrm rot="0">
            <a:off x="109728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72" id="72"/>
          <p:cNvSpPr txBox="true"/>
          <p:nvPr/>
        </p:nvSpPr>
        <p:spPr>
          <a:xfrm rot="0">
            <a:off x="1097280" y="551992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73" id="73"/>
          <p:cNvSpPr txBox="true"/>
          <p:nvPr/>
        </p:nvSpPr>
        <p:spPr>
          <a:xfrm rot="0">
            <a:off x="1097280" y="6096000"/>
            <a:ext cx="452628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74" id="74"/>
          <p:cNvSpPr/>
          <p:nvPr/>
        </p:nvSpPr>
        <p:spPr>
          <a:xfrm rot="175740">
            <a:off x="5926922" y="6244400"/>
            <a:ext cx="559137" cy="0"/>
          </a:xfrm>
          <a:prstGeom prst="line">
            <a:avLst/>
          </a:prstGeom>
          <a:ln cap="rnd" w="19050">
            <a:solidFill>
              <a:srgbClr val="39C0D3"/>
            </a:solidFill>
            <a:prstDash val="solid"/>
            <a:headEnd type="none" len="sm" w="sm"/>
            <a:tailEnd type="triangle" len="med" w="lg"/>
          </a:ln>
        </p:spPr>
      </p:sp>
      <p:grpSp>
        <p:nvGrpSpPr>
          <p:cNvPr name="Group 75" id="75"/>
          <p:cNvGrpSpPr/>
          <p:nvPr/>
        </p:nvGrpSpPr>
        <p:grpSpPr>
          <a:xfrm rot="0">
            <a:off x="6515100" y="5074920"/>
            <a:ext cx="5623560" cy="2400300"/>
            <a:chOff x="0" y="0"/>
            <a:chExt cx="7498080" cy="3200400"/>
          </a:xfrm>
        </p:grpSpPr>
        <p:sp>
          <p:nvSpPr>
            <p:cNvPr name="Freeform 76" id="76"/>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77" id="77"/>
          <p:cNvSpPr txBox="true"/>
          <p:nvPr/>
        </p:nvSpPr>
        <p:spPr>
          <a:xfrm rot="0">
            <a:off x="678942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8" id="78"/>
          <p:cNvSpPr txBox="true"/>
          <p:nvPr/>
        </p:nvSpPr>
        <p:spPr>
          <a:xfrm rot="0">
            <a:off x="6798945" y="551992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79" id="79"/>
          <p:cNvSpPr txBox="true"/>
          <p:nvPr/>
        </p:nvSpPr>
        <p:spPr>
          <a:xfrm rot="0">
            <a:off x="6789420" y="6096000"/>
            <a:ext cx="507492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80" id="80"/>
          <p:cNvSpPr/>
          <p:nvPr/>
        </p:nvSpPr>
        <p:spPr>
          <a:xfrm rot="175740">
            <a:off x="12167702" y="6244400"/>
            <a:ext cx="559137"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12755880" y="5074920"/>
            <a:ext cx="4704588" cy="2400300"/>
            <a:chOff x="0" y="0"/>
            <a:chExt cx="6272784" cy="3200400"/>
          </a:xfrm>
        </p:grpSpPr>
        <p:sp>
          <p:nvSpPr>
            <p:cNvPr name="Freeform 82" id="82"/>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83" id="83"/>
          <p:cNvSpPr txBox="true"/>
          <p:nvPr/>
        </p:nvSpPr>
        <p:spPr>
          <a:xfrm rot="0">
            <a:off x="1303020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4" id="84"/>
          <p:cNvSpPr txBox="true"/>
          <p:nvPr/>
        </p:nvSpPr>
        <p:spPr>
          <a:xfrm rot="0">
            <a:off x="13030200" y="551992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85" id="85"/>
          <p:cNvSpPr txBox="true"/>
          <p:nvPr/>
        </p:nvSpPr>
        <p:spPr>
          <a:xfrm rot="0">
            <a:off x="13030200" y="643890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86" id="86"/>
          <p:cNvGrpSpPr/>
          <p:nvPr/>
        </p:nvGrpSpPr>
        <p:grpSpPr>
          <a:xfrm rot="0">
            <a:off x="822960" y="7886700"/>
            <a:ext cx="16637508" cy="1303020"/>
            <a:chOff x="0" y="0"/>
            <a:chExt cx="22183344" cy="1737360"/>
          </a:xfrm>
        </p:grpSpPr>
        <p:sp>
          <p:nvSpPr>
            <p:cNvPr name="Freeform 87" id="87"/>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sp>
      </p:grpSp>
      <p:grpSp>
        <p:nvGrpSpPr>
          <p:cNvPr name="Group 88" id="88"/>
          <p:cNvGrpSpPr/>
          <p:nvPr/>
        </p:nvGrpSpPr>
        <p:grpSpPr>
          <a:xfrm rot="0">
            <a:off x="1234440" y="7886700"/>
            <a:ext cx="10149840" cy="1303020"/>
            <a:chOff x="0" y="0"/>
            <a:chExt cx="13533120" cy="1737360"/>
          </a:xfrm>
        </p:grpSpPr>
        <p:sp>
          <p:nvSpPr>
            <p:cNvPr name="Freeform 89" id="89"/>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sp>
      </p:grpSp>
      <p:grpSp>
        <p:nvGrpSpPr>
          <p:cNvPr name="Group 90" id="90"/>
          <p:cNvGrpSpPr/>
          <p:nvPr/>
        </p:nvGrpSpPr>
        <p:grpSpPr>
          <a:xfrm rot="0">
            <a:off x="1234440" y="7850981"/>
            <a:ext cx="10149840" cy="1338739"/>
            <a:chOff x="0" y="0"/>
            <a:chExt cx="13533120" cy="1784985"/>
          </a:xfrm>
        </p:grpSpPr>
        <p:sp>
          <p:nvSpPr>
            <p:cNvPr name="Freeform 91" id="91"/>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728" r="0" b="-97728"/>
              </a:stretch>
            </a:blipFill>
          </p:spPr>
        </p:sp>
        <p:sp>
          <p:nvSpPr>
            <p:cNvPr name="TextBox 92" id="92"/>
            <p:cNvSpPr txBox="true"/>
            <p:nvPr/>
          </p:nvSpPr>
          <p:spPr>
            <a:xfrm>
              <a:off x="0" y="-47625"/>
              <a:ext cx="13533120" cy="1832610"/>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93" id="93"/>
          <p:cNvGrpSpPr/>
          <p:nvPr/>
        </p:nvGrpSpPr>
        <p:grpSpPr>
          <a:xfrm rot="0">
            <a:off x="11795760" y="7886700"/>
            <a:ext cx="5623560" cy="1303020"/>
            <a:chOff x="0" y="0"/>
            <a:chExt cx="7498080" cy="1737360"/>
          </a:xfrm>
        </p:grpSpPr>
        <p:sp>
          <p:nvSpPr>
            <p:cNvPr name="Freeform 94" id="94"/>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sp>
      </p:grpSp>
      <p:grpSp>
        <p:nvGrpSpPr>
          <p:cNvPr name="Group 95" id="95"/>
          <p:cNvGrpSpPr/>
          <p:nvPr/>
        </p:nvGrpSpPr>
        <p:grpSpPr>
          <a:xfrm rot="0">
            <a:off x="11795760" y="7858125"/>
            <a:ext cx="5623560" cy="1331595"/>
            <a:chOff x="0" y="0"/>
            <a:chExt cx="7498080" cy="1775460"/>
          </a:xfrm>
        </p:grpSpPr>
        <p:sp>
          <p:nvSpPr>
            <p:cNvPr name="Freeform 96" id="96"/>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88" r="0" b="-32288"/>
              </a:stretch>
            </a:blipFill>
          </p:spPr>
        </p:sp>
        <p:sp>
          <p:nvSpPr>
            <p:cNvPr name="TextBox 97" id="97"/>
            <p:cNvSpPr txBox="true"/>
            <p:nvPr/>
          </p:nvSpPr>
          <p:spPr>
            <a:xfrm>
              <a:off x="0" y="-38100"/>
              <a:ext cx="7498080" cy="18135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98" id="9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Estimasi ODTW: dari citra VIIRS hingga regresi dan selang prediksi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59" id="59"/>
          <p:cNvSpPr txBox="true"/>
          <p:nvPr/>
        </p:nvSpPr>
        <p:spPr>
          <a:xfrm rot="0">
            <a:off x="105156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66" id="66"/>
          <p:cNvSpPr txBox="true"/>
          <p:nvPr/>
        </p:nvSpPr>
        <p:spPr>
          <a:xfrm rot="0">
            <a:off x="525780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VIIRS Day/Night Band (NOAA): komposit radiansi bulanan 2015–2025, satuan nW/cm²/sr.</a:t>
            </a:r>
          </a:p>
        </p:txBody>
      </p:sp>
      <p:grpSp>
        <p:nvGrpSpPr>
          <p:cNvPr name="Group 67" id="67"/>
          <p:cNvGrpSpPr/>
          <p:nvPr/>
        </p:nvGrpSpPr>
        <p:grpSpPr>
          <a:xfrm rot="0">
            <a:off x="9225915" y="2230755"/>
            <a:ext cx="4042410" cy="3434334"/>
            <a:chOff x="0" y="0"/>
            <a:chExt cx="5389880" cy="4579112"/>
          </a:xfrm>
        </p:grpSpPr>
        <p:sp>
          <p:nvSpPr>
            <p:cNvPr name="Freeform 68" id="68"/>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9464040" y="246888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013155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temporal</a:t>
            </a:r>
          </a:p>
        </p:txBody>
      </p:sp>
      <p:sp>
        <p:nvSpPr>
          <p:cNvPr name="TextBox 73" id="73"/>
          <p:cNvSpPr txBox="true"/>
          <p:nvPr/>
        </p:nvSpPr>
        <p:spPr>
          <a:xfrm rot="0">
            <a:off x="9464040" y="3088767"/>
            <a:ext cx="356616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74" id="74"/>
          <p:cNvGrpSpPr/>
          <p:nvPr/>
        </p:nvGrpSpPr>
        <p:grpSpPr>
          <a:xfrm rot="0">
            <a:off x="9400032" y="3810610"/>
            <a:ext cx="3694176" cy="571805"/>
            <a:chOff x="0" y="0"/>
            <a:chExt cx="4925568" cy="762406"/>
          </a:xfrm>
        </p:grpSpPr>
        <p:sp>
          <p:nvSpPr>
            <p:cNvPr name="Freeform 75" id="75"/>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76" id="76"/>
          <p:cNvSpPr txBox="true"/>
          <p:nvPr/>
        </p:nvSpPr>
        <p:spPr>
          <a:xfrm rot="0">
            <a:off x="9537192" y="38826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77" id="77"/>
          <p:cNvSpPr txBox="true"/>
          <p:nvPr/>
        </p:nvSpPr>
        <p:spPr>
          <a:xfrm rot="0">
            <a:off x="9464040" y="4416704"/>
            <a:ext cx="356616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grpSp>
        <p:nvGrpSpPr>
          <p:cNvPr name="Group 78" id="78"/>
          <p:cNvGrpSpPr/>
          <p:nvPr/>
        </p:nvGrpSpPr>
        <p:grpSpPr>
          <a:xfrm rot="0">
            <a:off x="13432155" y="2230755"/>
            <a:ext cx="4042410" cy="3434334"/>
            <a:chOff x="0" y="0"/>
            <a:chExt cx="5389880" cy="4579112"/>
          </a:xfrm>
        </p:grpSpPr>
        <p:sp>
          <p:nvSpPr>
            <p:cNvPr name="Freeform 79" id="7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0" id="80"/>
          <p:cNvGrpSpPr/>
          <p:nvPr/>
        </p:nvGrpSpPr>
        <p:grpSpPr>
          <a:xfrm rot="0">
            <a:off x="136702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2" id="8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3" id="83"/>
          <p:cNvSpPr txBox="true"/>
          <p:nvPr/>
        </p:nvSpPr>
        <p:spPr>
          <a:xfrm rot="0">
            <a:off x="1433779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spasial</a:t>
            </a:r>
          </a:p>
        </p:txBody>
      </p:sp>
      <p:sp>
        <p:nvSpPr>
          <p:cNvPr name="TextBox 84" id="84"/>
          <p:cNvSpPr txBox="true"/>
          <p:nvPr/>
        </p:nvSpPr>
        <p:spPr>
          <a:xfrm rot="0">
            <a:off x="1367028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Rata-rata zonal seluruh piksel dalam batas DIY → satu nilai NTL per tahun.</a:t>
            </a:r>
          </a:p>
        </p:txBody>
      </p:sp>
      <p:grpSp>
        <p:nvGrpSpPr>
          <p:cNvPr name="Group 85" id="85"/>
          <p:cNvGrpSpPr/>
          <p:nvPr/>
        </p:nvGrpSpPr>
        <p:grpSpPr>
          <a:xfrm rot="0">
            <a:off x="13606272" y="4083710"/>
            <a:ext cx="3694176" cy="571805"/>
            <a:chOff x="0" y="0"/>
            <a:chExt cx="4925568" cy="762406"/>
          </a:xfrm>
        </p:grpSpPr>
        <p:sp>
          <p:nvSpPr>
            <p:cNvPr name="Freeform 86" id="8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87" id="87"/>
          <p:cNvSpPr txBox="true"/>
          <p:nvPr/>
        </p:nvSpPr>
        <p:spPr>
          <a:xfrm rot="0">
            <a:off x="13743432" y="41557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88" id="88"/>
          <p:cNvSpPr txBox="true"/>
          <p:nvPr/>
        </p:nvSpPr>
        <p:spPr>
          <a:xfrm rot="0">
            <a:off x="13670280" y="4689805"/>
            <a:ext cx="356616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grpSp>
        <p:nvGrpSpPr>
          <p:cNvPr name="Group 89" id="89"/>
          <p:cNvGrpSpPr/>
          <p:nvPr/>
        </p:nvGrpSpPr>
        <p:grpSpPr>
          <a:xfrm rot="0">
            <a:off x="813435" y="5828919"/>
            <a:ext cx="5444490" cy="3434334"/>
            <a:chOff x="0" y="0"/>
            <a:chExt cx="7259320" cy="4579112"/>
          </a:xfrm>
        </p:grpSpPr>
        <p:sp>
          <p:nvSpPr>
            <p:cNvPr name="Freeform 90" id="90"/>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1" id="91"/>
          <p:cNvGrpSpPr/>
          <p:nvPr/>
        </p:nvGrpSpPr>
        <p:grpSpPr>
          <a:xfrm rot="0">
            <a:off x="1051560" y="6067044"/>
            <a:ext cx="530352" cy="530352"/>
            <a:chOff x="0" y="0"/>
            <a:chExt cx="707136" cy="707136"/>
          </a:xfrm>
        </p:grpSpPr>
        <p:sp>
          <p:nvSpPr>
            <p:cNvPr name="Freeform 92" id="9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3" id="93"/>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4" id="94"/>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95" id="95"/>
          <p:cNvSpPr txBox="true"/>
          <p:nvPr/>
        </p:nvSpPr>
        <p:spPr>
          <a:xfrm rot="0">
            <a:off x="1051560" y="668693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96" id="96"/>
          <p:cNvGrpSpPr/>
          <p:nvPr/>
        </p:nvGrpSpPr>
        <p:grpSpPr>
          <a:xfrm rot="0">
            <a:off x="987552" y="7408774"/>
            <a:ext cx="5096256" cy="942442"/>
            <a:chOff x="0" y="0"/>
            <a:chExt cx="6795008" cy="1256589"/>
          </a:xfrm>
        </p:grpSpPr>
        <p:sp>
          <p:nvSpPr>
            <p:cNvPr name="Freeform 97" id="97"/>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98" id="98"/>
          <p:cNvSpPr txBox="true"/>
          <p:nvPr/>
        </p:nvSpPr>
        <p:spPr>
          <a:xfrm rot="0">
            <a:off x="1124712" y="74807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ODTWₜ = a + b · NTLₜ</a:t>
            </a:r>
          </a:p>
          <a:p>
            <a:pPr algn="l">
              <a:lnSpc>
                <a:spcPts val="2486"/>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99" id="99"/>
          <p:cNvSpPr txBox="true"/>
          <p:nvPr/>
        </p:nvSpPr>
        <p:spPr>
          <a:xfrm rot="0">
            <a:off x="1051560" y="8385505"/>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grpSp>
        <p:nvGrpSpPr>
          <p:cNvPr name="Group 100" id="100"/>
          <p:cNvGrpSpPr/>
          <p:nvPr/>
        </p:nvGrpSpPr>
        <p:grpSpPr>
          <a:xfrm rot="0">
            <a:off x="6421755" y="5828919"/>
            <a:ext cx="5444490" cy="3434334"/>
            <a:chOff x="0" y="0"/>
            <a:chExt cx="7259320" cy="4579112"/>
          </a:xfrm>
        </p:grpSpPr>
        <p:sp>
          <p:nvSpPr>
            <p:cNvPr name="Freeform 101" id="10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2" id="102"/>
          <p:cNvGrpSpPr/>
          <p:nvPr/>
        </p:nvGrpSpPr>
        <p:grpSpPr>
          <a:xfrm rot="0">
            <a:off x="6659880" y="6067044"/>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4" id="10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5" id="10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Uji kelayakan estimator</a:t>
            </a:r>
          </a:p>
        </p:txBody>
      </p:sp>
      <p:sp>
        <p:nvSpPr>
          <p:cNvPr name="TextBox 106" id="106"/>
          <p:cNvSpPr txBox="true"/>
          <p:nvPr/>
        </p:nvSpPr>
        <p:spPr>
          <a:xfrm rot="0">
            <a:off x="6659880" y="6686931"/>
            <a:ext cx="496824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Korelasi pada level dan selisih tahunan (menghindari regresi lancung akibat tren bersama), lalu LOOCV.</a:t>
            </a:r>
          </a:p>
        </p:txBody>
      </p:sp>
      <p:grpSp>
        <p:nvGrpSpPr>
          <p:cNvPr name="Group 107" id="107"/>
          <p:cNvGrpSpPr/>
          <p:nvPr/>
        </p:nvGrpSpPr>
        <p:grpSpPr>
          <a:xfrm rot="0">
            <a:off x="6595872" y="7681874"/>
            <a:ext cx="5096256" cy="942442"/>
            <a:chOff x="0" y="0"/>
            <a:chExt cx="6795008" cy="1256589"/>
          </a:xfrm>
        </p:grpSpPr>
        <p:sp>
          <p:nvSpPr>
            <p:cNvPr name="Freeform 108" id="10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09" id="109"/>
          <p:cNvSpPr txBox="true"/>
          <p:nvPr/>
        </p:nvSpPr>
        <p:spPr>
          <a:xfrm rot="0">
            <a:off x="6733032" y="77538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R²(ΔNTL, ΔODTW) ≥ 0,30</a:t>
            </a:r>
          </a:p>
          <a:p>
            <a:pPr algn="l">
              <a:lnSpc>
                <a:spcPts val="2486"/>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10" id="110"/>
          <p:cNvSpPr txBox="true"/>
          <p:nvPr/>
        </p:nvSpPr>
        <p:spPr>
          <a:xfrm rot="0">
            <a:off x="6659880" y="8658606"/>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grpSp>
        <p:nvGrpSpPr>
          <p:cNvPr name="Group 111" id="111"/>
          <p:cNvGrpSpPr/>
          <p:nvPr/>
        </p:nvGrpSpPr>
        <p:grpSpPr>
          <a:xfrm rot="0">
            <a:off x="12030075" y="5828919"/>
            <a:ext cx="5444490" cy="3434334"/>
            <a:chOff x="0" y="0"/>
            <a:chExt cx="7259320" cy="4579112"/>
          </a:xfrm>
        </p:grpSpPr>
        <p:sp>
          <p:nvSpPr>
            <p:cNvPr name="Freeform 112" id="112"/>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13" id="113"/>
          <p:cNvGrpSpPr/>
          <p:nvPr/>
        </p:nvGrpSpPr>
        <p:grpSpPr>
          <a:xfrm rot="0">
            <a:off x="12268200" y="6067044"/>
            <a:ext cx="530352" cy="530352"/>
            <a:chOff x="0" y="0"/>
            <a:chExt cx="707136" cy="707136"/>
          </a:xfrm>
        </p:grpSpPr>
        <p:sp>
          <p:nvSpPr>
            <p:cNvPr name="Freeform 114" id="11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15" id="115"/>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6" id="116"/>
          <p:cNvSpPr txBox="true"/>
          <p:nvPr/>
        </p:nvSpPr>
        <p:spPr>
          <a:xfrm rot="0">
            <a:off x="12935712" y="6028182"/>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17" id="117"/>
          <p:cNvSpPr txBox="true"/>
          <p:nvPr/>
        </p:nvSpPr>
        <p:spPr>
          <a:xfrm rot="0">
            <a:off x="12268200" y="682470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18" id="118"/>
          <p:cNvGrpSpPr/>
          <p:nvPr/>
        </p:nvGrpSpPr>
        <p:grpSpPr>
          <a:xfrm rot="0">
            <a:off x="12204192" y="7546543"/>
            <a:ext cx="5096256" cy="887578"/>
            <a:chOff x="0" y="0"/>
            <a:chExt cx="6795008" cy="1183437"/>
          </a:xfrm>
        </p:grpSpPr>
        <p:sp>
          <p:nvSpPr>
            <p:cNvPr name="Freeform 119" id="119"/>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20" id="120"/>
          <p:cNvSpPr txBox="true"/>
          <p:nvPr/>
        </p:nvSpPr>
        <p:spPr>
          <a:xfrm rot="0">
            <a:off x="12341352" y="7618552"/>
            <a:ext cx="4693920" cy="733273"/>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21" id="121"/>
          <p:cNvSpPr txBox="true"/>
          <p:nvPr/>
        </p:nvSpPr>
        <p:spPr>
          <a:xfrm rot="0">
            <a:off x="12268200" y="8468411"/>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Metrik evaluasi kelayakan data citra: NTL dan Dynamic World</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grpSp>
        <p:nvGrpSpPr>
          <p:cNvPr name="Group 53" id="53"/>
          <p:cNvGrpSpPr/>
          <p:nvPr/>
        </p:nvGrpSpPr>
        <p:grpSpPr>
          <a:xfrm rot="0">
            <a:off x="822960" y="2240280"/>
            <a:ext cx="8183880" cy="566928"/>
            <a:chOff x="0" y="0"/>
            <a:chExt cx="10911840" cy="755904"/>
          </a:xfrm>
        </p:grpSpPr>
        <p:sp>
          <p:nvSpPr>
            <p:cNvPr name="Freeform 54" id="54"/>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sp>
      </p:grpSp>
      <p:grpSp>
        <p:nvGrpSpPr>
          <p:cNvPr name="Group 55" id="55"/>
          <p:cNvGrpSpPr/>
          <p:nvPr/>
        </p:nvGrpSpPr>
        <p:grpSpPr>
          <a:xfrm rot="0">
            <a:off x="822960" y="2240280"/>
            <a:ext cx="8183880" cy="566928"/>
            <a:chOff x="0" y="0"/>
            <a:chExt cx="10911840" cy="755904"/>
          </a:xfrm>
        </p:grpSpPr>
        <p:sp>
          <p:nvSpPr>
            <p:cNvPr name="Freeform 56" id="56"/>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57" id="57"/>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58" id="58"/>
          <p:cNvGrpSpPr/>
          <p:nvPr/>
        </p:nvGrpSpPr>
        <p:grpSpPr>
          <a:xfrm rot="0">
            <a:off x="822960" y="2926080"/>
            <a:ext cx="8183880" cy="1485900"/>
            <a:chOff x="0" y="0"/>
            <a:chExt cx="10911840" cy="1981200"/>
          </a:xfrm>
        </p:grpSpPr>
        <p:sp>
          <p:nvSpPr>
            <p:cNvPr name="Freeform 59" id="5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0" id="60"/>
          <p:cNvSpPr txBox="true"/>
          <p:nvPr/>
        </p:nvSpPr>
        <p:spPr>
          <a:xfrm rot="0">
            <a:off x="10515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61" id="61"/>
          <p:cNvSpPr txBox="true"/>
          <p:nvPr/>
        </p:nvSpPr>
        <p:spPr>
          <a:xfrm rot="0">
            <a:off x="10515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62" id="62"/>
          <p:cNvSpPr txBox="true"/>
          <p:nvPr/>
        </p:nvSpPr>
        <p:spPr>
          <a:xfrm rot="0">
            <a:off x="10515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63" id="63"/>
          <p:cNvSpPr txBox="true"/>
          <p:nvPr/>
        </p:nvSpPr>
        <p:spPr>
          <a:xfrm rot="0">
            <a:off x="10515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64" id="64"/>
          <p:cNvGrpSpPr/>
          <p:nvPr/>
        </p:nvGrpSpPr>
        <p:grpSpPr>
          <a:xfrm rot="0">
            <a:off x="822960" y="4539996"/>
            <a:ext cx="8183880" cy="1485900"/>
            <a:chOff x="0" y="0"/>
            <a:chExt cx="10911840" cy="1981200"/>
          </a:xfrm>
        </p:grpSpPr>
        <p:sp>
          <p:nvSpPr>
            <p:cNvPr name="Freeform 65" id="6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6" id="66"/>
          <p:cNvSpPr txBox="true"/>
          <p:nvPr/>
        </p:nvSpPr>
        <p:spPr>
          <a:xfrm rot="0">
            <a:off x="10515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67" id="67"/>
          <p:cNvSpPr txBox="true"/>
          <p:nvPr/>
        </p:nvSpPr>
        <p:spPr>
          <a:xfrm rot="0">
            <a:off x="10515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68" id="68"/>
          <p:cNvSpPr txBox="true"/>
          <p:nvPr/>
        </p:nvSpPr>
        <p:spPr>
          <a:xfrm rot="0">
            <a:off x="10515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69" id="69"/>
          <p:cNvSpPr txBox="true"/>
          <p:nvPr/>
        </p:nvSpPr>
        <p:spPr>
          <a:xfrm rot="0">
            <a:off x="10515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70" id="70"/>
          <p:cNvGrpSpPr/>
          <p:nvPr/>
        </p:nvGrpSpPr>
        <p:grpSpPr>
          <a:xfrm rot="0">
            <a:off x="822960" y="6153912"/>
            <a:ext cx="8183880" cy="1485900"/>
            <a:chOff x="0" y="0"/>
            <a:chExt cx="10911840" cy="1981200"/>
          </a:xfrm>
        </p:grpSpPr>
        <p:sp>
          <p:nvSpPr>
            <p:cNvPr name="Freeform 71" id="7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2" id="72"/>
          <p:cNvSpPr txBox="true"/>
          <p:nvPr/>
        </p:nvSpPr>
        <p:spPr>
          <a:xfrm rot="0">
            <a:off x="10515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73" id="73"/>
          <p:cNvSpPr txBox="true"/>
          <p:nvPr/>
        </p:nvSpPr>
        <p:spPr>
          <a:xfrm rot="0">
            <a:off x="10515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74" id="74"/>
          <p:cNvSpPr txBox="true"/>
          <p:nvPr/>
        </p:nvSpPr>
        <p:spPr>
          <a:xfrm rot="0">
            <a:off x="1051560" y="6965823"/>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 galat baku sisaan; Sₓₓ jumlah kuadrat simpangan NTL. 2016 terlebar (≈ 58 unit) karena di luar rentang latih</a:t>
            </a:r>
          </a:p>
        </p:txBody>
      </p:sp>
      <p:grpSp>
        <p:nvGrpSpPr>
          <p:cNvPr name="Group 75" id="75"/>
          <p:cNvGrpSpPr/>
          <p:nvPr/>
        </p:nvGrpSpPr>
        <p:grpSpPr>
          <a:xfrm rot="0">
            <a:off x="822960" y="7767828"/>
            <a:ext cx="8183880" cy="1485900"/>
            <a:chOff x="0" y="0"/>
            <a:chExt cx="10911840" cy="1981200"/>
          </a:xfrm>
        </p:grpSpPr>
        <p:sp>
          <p:nvSpPr>
            <p:cNvPr name="Freeform 76" id="76"/>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7" id="77"/>
          <p:cNvSpPr txBox="true"/>
          <p:nvPr/>
        </p:nvSpPr>
        <p:spPr>
          <a:xfrm rot="0">
            <a:off x="10515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78" id="78"/>
          <p:cNvSpPr txBox="true"/>
          <p:nvPr/>
        </p:nvSpPr>
        <p:spPr>
          <a:xfrm rot="0">
            <a:off x="1051560" y="8241411"/>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79" id="79"/>
          <p:cNvGrpSpPr/>
          <p:nvPr/>
        </p:nvGrpSpPr>
        <p:grpSpPr>
          <a:xfrm rot="0">
            <a:off x="9281160" y="2240280"/>
            <a:ext cx="8183880" cy="566928"/>
            <a:chOff x="0" y="0"/>
            <a:chExt cx="10911840" cy="755904"/>
          </a:xfrm>
        </p:grpSpPr>
        <p:sp>
          <p:nvSpPr>
            <p:cNvPr name="Freeform 80" id="80"/>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sp>
      </p:grpSp>
      <p:grpSp>
        <p:nvGrpSpPr>
          <p:cNvPr name="Group 81" id="81"/>
          <p:cNvGrpSpPr/>
          <p:nvPr/>
        </p:nvGrpSpPr>
        <p:grpSpPr>
          <a:xfrm rot="0">
            <a:off x="9281160" y="2240280"/>
            <a:ext cx="8183880" cy="566928"/>
            <a:chOff x="0" y="0"/>
            <a:chExt cx="10911840" cy="755904"/>
          </a:xfrm>
        </p:grpSpPr>
        <p:sp>
          <p:nvSpPr>
            <p:cNvPr name="Freeform 82" id="82"/>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83" id="83"/>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84" id="84"/>
          <p:cNvGrpSpPr/>
          <p:nvPr/>
        </p:nvGrpSpPr>
        <p:grpSpPr>
          <a:xfrm rot="0">
            <a:off x="9281160" y="2926080"/>
            <a:ext cx="8183880" cy="1485900"/>
            <a:chOff x="0" y="0"/>
            <a:chExt cx="10911840" cy="1981200"/>
          </a:xfrm>
        </p:grpSpPr>
        <p:sp>
          <p:nvSpPr>
            <p:cNvPr name="Freeform 85" id="8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86" id="86"/>
          <p:cNvSpPr txBox="true"/>
          <p:nvPr/>
        </p:nvSpPr>
        <p:spPr>
          <a:xfrm rot="0">
            <a:off x="95097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87" id="87"/>
          <p:cNvSpPr txBox="true"/>
          <p:nvPr/>
        </p:nvSpPr>
        <p:spPr>
          <a:xfrm rot="0">
            <a:off x="95097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88" id="88"/>
          <p:cNvSpPr txBox="true"/>
          <p:nvPr/>
        </p:nvSpPr>
        <p:spPr>
          <a:xfrm rot="0">
            <a:off x="95097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89" id="89"/>
          <p:cNvSpPr txBox="true"/>
          <p:nvPr/>
        </p:nvSpPr>
        <p:spPr>
          <a:xfrm rot="0">
            <a:off x="95097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n₁₁, n₀₀ benar; n₁₀ komisi; n₀₁ omisi. Hasil: OA 80,50% · UA 66,00% · PA 73,58%</a:t>
            </a:r>
          </a:p>
        </p:txBody>
      </p:sp>
      <p:grpSp>
        <p:nvGrpSpPr>
          <p:cNvPr name="Group 90" id="90"/>
          <p:cNvGrpSpPr/>
          <p:nvPr/>
        </p:nvGrpSpPr>
        <p:grpSpPr>
          <a:xfrm rot="0">
            <a:off x="9281160" y="4539996"/>
            <a:ext cx="8183880" cy="1485900"/>
            <a:chOff x="0" y="0"/>
            <a:chExt cx="10911840" cy="1981200"/>
          </a:xfrm>
        </p:grpSpPr>
        <p:sp>
          <p:nvSpPr>
            <p:cNvPr name="Freeform 91" id="9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2" id="92"/>
          <p:cNvSpPr txBox="true"/>
          <p:nvPr/>
        </p:nvSpPr>
        <p:spPr>
          <a:xfrm rot="0">
            <a:off x="95097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93" id="93"/>
          <p:cNvSpPr txBox="true"/>
          <p:nvPr/>
        </p:nvSpPr>
        <p:spPr>
          <a:xfrm rot="0">
            <a:off x="95097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94" id="94"/>
          <p:cNvSpPr txBox="true"/>
          <p:nvPr/>
        </p:nvSpPr>
        <p:spPr>
          <a:xfrm rot="0">
            <a:off x="95097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95" id="95"/>
          <p:cNvSpPr txBox="true"/>
          <p:nvPr/>
        </p:nvSpPr>
        <p:spPr>
          <a:xfrm rot="0">
            <a:off x="95097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96" id="96"/>
          <p:cNvGrpSpPr/>
          <p:nvPr/>
        </p:nvGrpSpPr>
        <p:grpSpPr>
          <a:xfrm rot="0">
            <a:off x="9281160" y="6153912"/>
            <a:ext cx="8183880" cy="1485900"/>
            <a:chOff x="0" y="0"/>
            <a:chExt cx="10911840" cy="1981200"/>
          </a:xfrm>
        </p:grpSpPr>
        <p:sp>
          <p:nvSpPr>
            <p:cNvPr name="Freeform 97" id="9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8" id="98"/>
          <p:cNvSpPr txBox="true"/>
          <p:nvPr/>
        </p:nvSpPr>
        <p:spPr>
          <a:xfrm rot="0">
            <a:off x="95097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99" id="99"/>
          <p:cNvSpPr txBox="true"/>
          <p:nvPr/>
        </p:nvSpPr>
        <p:spPr>
          <a:xfrm rot="0">
            <a:off x="95097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00" id="100"/>
          <p:cNvSpPr txBox="true"/>
          <p:nvPr/>
        </p:nvSpPr>
        <p:spPr>
          <a:xfrm rot="0">
            <a:off x="9509760" y="6965823"/>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01" id="101"/>
          <p:cNvGrpSpPr/>
          <p:nvPr/>
        </p:nvGrpSpPr>
        <p:grpSpPr>
          <a:xfrm rot="0">
            <a:off x="9281160" y="7767828"/>
            <a:ext cx="8183880" cy="1485900"/>
            <a:chOff x="0" y="0"/>
            <a:chExt cx="10911840" cy="1981200"/>
          </a:xfrm>
        </p:grpSpPr>
        <p:sp>
          <p:nvSpPr>
            <p:cNvPr name="Freeform 102" id="10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103" id="103"/>
          <p:cNvSpPr txBox="true"/>
          <p:nvPr/>
        </p:nvSpPr>
        <p:spPr>
          <a:xfrm rot="0">
            <a:off x="95097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04" id="104"/>
          <p:cNvSpPr txBox="true"/>
          <p:nvPr/>
        </p:nvSpPr>
        <p:spPr>
          <a:xfrm rot="0">
            <a:off x="9509760" y="823264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05" id="105"/>
          <p:cNvSpPr txBox="true"/>
          <p:nvPr/>
        </p:nvSpPr>
        <p:spPr>
          <a:xfrm rot="0">
            <a:off x="9509760" y="857097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06" id="106"/>
          <p:cNvSpPr txBox="true"/>
          <p:nvPr/>
        </p:nvSpPr>
        <p:spPr>
          <a:xfrm rot="0">
            <a:off x="9509760" y="8918067"/>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Pengujian model berjenjang: struktur lebih dulu, lalu perilaku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977640" cy="6789420"/>
            <a:chOff x="0" y="0"/>
            <a:chExt cx="5303520" cy="9052560"/>
          </a:xfrm>
        </p:grpSpPr>
        <p:sp>
          <p:nvSpPr>
            <p:cNvPr name="Freeform 53" id="53"/>
            <p:cNvSpPr/>
            <p:nvPr/>
          </p:nvSpPr>
          <p:spPr>
            <a:xfrm flipH="false" flipV="false" rot="0">
              <a:off x="0" y="0"/>
              <a:ext cx="5303520" cy="9052560"/>
            </a:xfrm>
            <a:custGeom>
              <a:avLst/>
              <a:gdLst/>
              <a:ahLst/>
              <a:cxnLst/>
              <a:rect r="r" b="b" t="t" l="l"/>
              <a:pathLst>
                <a:path h="9052560" w="5303520">
                  <a:moveTo>
                    <a:pt x="0" y="182880"/>
                  </a:moveTo>
                  <a:cubicBezTo>
                    <a:pt x="0" y="81915"/>
                    <a:pt x="81915" y="0"/>
                    <a:pt x="182880" y="0"/>
                  </a:cubicBezTo>
                  <a:lnTo>
                    <a:pt x="5120640" y="0"/>
                  </a:lnTo>
                  <a:cubicBezTo>
                    <a:pt x="5221605" y="0"/>
                    <a:pt x="5303520" y="81915"/>
                    <a:pt x="5303520" y="182880"/>
                  </a:cubicBezTo>
                  <a:lnTo>
                    <a:pt x="5303520" y="8869680"/>
                  </a:lnTo>
                  <a:cubicBezTo>
                    <a:pt x="5303520" y="8970645"/>
                    <a:pt x="5221605" y="9052560"/>
                    <a:pt x="5120640" y="9052560"/>
                  </a:cubicBezTo>
                  <a:lnTo>
                    <a:pt x="182880" y="9052560"/>
                  </a:lnTo>
                  <a:cubicBezTo>
                    <a:pt x="81915" y="9052560"/>
                    <a:pt x="0" y="8970645"/>
                    <a:pt x="0" y="8869680"/>
                  </a:cubicBezTo>
                  <a:close/>
                </a:path>
              </a:pathLst>
            </a:custGeom>
            <a:solidFill>
              <a:srgbClr val="EAF8FA"/>
            </a:solidFill>
          </p:spPr>
        </p:sp>
      </p:grpSp>
      <p:grpSp>
        <p:nvGrpSpPr>
          <p:cNvPr name="Group 54" id="54"/>
          <p:cNvGrpSpPr/>
          <p:nvPr/>
        </p:nvGrpSpPr>
        <p:grpSpPr>
          <a:xfrm rot="0">
            <a:off x="822960" y="2400300"/>
            <a:ext cx="3977640" cy="1028700"/>
            <a:chOff x="0" y="0"/>
            <a:chExt cx="5303520" cy="1371600"/>
          </a:xfrm>
        </p:grpSpPr>
        <p:sp>
          <p:nvSpPr>
            <p:cNvPr name="Freeform 55" id="55"/>
            <p:cNvSpPr/>
            <p:nvPr/>
          </p:nvSpPr>
          <p:spPr>
            <a:xfrm flipH="false" flipV="false" rot="0">
              <a:off x="0" y="0"/>
              <a:ext cx="5303520" cy="1371600"/>
            </a:xfrm>
            <a:custGeom>
              <a:avLst/>
              <a:gdLst/>
              <a:ahLst/>
              <a:cxnLst/>
              <a:rect r="r" b="b" t="t" l="l"/>
              <a:pathLst>
                <a:path h="1371600" w="5303520">
                  <a:moveTo>
                    <a:pt x="0" y="182880"/>
                  </a:moveTo>
                  <a:cubicBezTo>
                    <a:pt x="0" y="81915"/>
                    <a:pt x="81915" y="0"/>
                    <a:pt x="182880" y="0"/>
                  </a:cubicBezTo>
                  <a:lnTo>
                    <a:pt x="5120640" y="0"/>
                  </a:lnTo>
                  <a:cubicBezTo>
                    <a:pt x="5221605" y="0"/>
                    <a:pt x="5303520" y="81915"/>
                    <a:pt x="5303520" y="182880"/>
                  </a:cubicBezTo>
                  <a:lnTo>
                    <a:pt x="5303520" y="1188720"/>
                  </a:lnTo>
                  <a:cubicBezTo>
                    <a:pt x="5303520" y="1289685"/>
                    <a:pt x="5221605" y="1371600"/>
                    <a:pt x="5120640" y="1371600"/>
                  </a:cubicBezTo>
                  <a:lnTo>
                    <a:pt x="182880" y="1371600"/>
                  </a:lnTo>
                  <a:cubicBezTo>
                    <a:pt x="81915" y="1371600"/>
                    <a:pt x="0" y="1289685"/>
                    <a:pt x="0" y="1188720"/>
                  </a:cubicBezTo>
                  <a:close/>
                </a:path>
              </a:pathLst>
            </a:custGeom>
            <a:solidFill>
              <a:srgbClr val="0B5E6E"/>
            </a:solidFill>
          </p:spPr>
        </p:sp>
      </p:grpSp>
      <p:grpSp>
        <p:nvGrpSpPr>
          <p:cNvPr name="Group 56" id="56"/>
          <p:cNvGrpSpPr/>
          <p:nvPr/>
        </p:nvGrpSpPr>
        <p:grpSpPr>
          <a:xfrm rot="0">
            <a:off x="1028700" y="2606040"/>
            <a:ext cx="617220" cy="617220"/>
            <a:chOff x="0" y="0"/>
            <a:chExt cx="822960" cy="822960"/>
          </a:xfrm>
        </p:grpSpPr>
        <p:sp>
          <p:nvSpPr>
            <p:cNvPr name="Freeform 57" id="57"/>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FFD23B"/>
            </a:solidFill>
          </p:spPr>
        </p:sp>
      </p:grpSp>
      <p:grpSp>
        <p:nvGrpSpPr>
          <p:cNvPr name="Group 58" id="58"/>
          <p:cNvGrpSpPr/>
          <p:nvPr/>
        </p:nvGrpSpPr>
        <p:grpSpPr>
          <a:xfrm rot="0">
            <a:off x="1028700" y="2606040"/>
            <a:ext cx="617220" cy="617220"/>
            <a:chOff x="0" y="0"/>
            <a:chExt cx="822960" cy="822960"/>
          </a:xfrm>
        </p:grpSpPr>
        <p:sp>
          <p:nvSpPr>
            <p:cNvPr name="Freeform 59" id="59"/>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4">
                <a:alphaModFix amt="0"/>
              </a:blip>
              <a:stretch>
                <a:fillRect l="-78393" t="0" r="-78391" b="0"/>
              </a:stretch>
            </a:blipFill>
          </p:spPr>
        </p:sp>
      </p:grpSp>
      <p:grpSp>
        <p:nvGrpSpPr>
          <p:cNvPr name="Group 60" id="60"/>
          <p:cNvGrpSpPr/>
          <p:nvPr/>
        </p:nvGrpSpPr>
        <p:grpSpPr>
          <a:xfrm rot="0">
            <a:off x="1028700" y="2563178"/>
            <a:ext cx="617220" cy="660082"/>
            <a:chOff x="0" y="0"/>
            <a:chExt cx="822960" cy="880110"/>
          </a:xfrm>
        </p:grpSpPr>
        <p:sp>
          <p:nvSpPr>
            <p:cNvPr name="Freeform 61" id="61"/>
            <p:cNvSpPr/>
            <p:nvPr/>
          </p:nvSpPr>
          <p:spPr>
            <a:xfrm flipH="false" flipV="false" rot="0">
              <a:off x="0" y="0"/>
              <a:ext cx="822960" cy="880110"/>
            </a:xfrm>
            <a:custGeom>
              <a:avLst/>
              <a:gdLst/>
              <a:ahLst/>
              <a:cxnLst/>
              <a:rect r="r" b="b" t="t" l="l"/>
              <a:pathLst>
                <a:path h="880110" w="822960">
                  <a:moveTo>
                    <a:pt x="0" y="0"/>
                  </a:moveTo>
                  <a:lnTo>
                    <a:pt x="822960" y="0"/>
                  </a:lnTo>
                  <a:lnTo>
                    <a:pt x="822960" y="880110"/>
                  </a:lnTo>
                  <a:lnTo>
                    <a:pt x="0" y="880110"/>
                  </a:lnTo>
                  <a:close/>
                </a:path>
              </a:pathLst>
            </a:custGeom>
            <a:blipFill>
              <a:blip r:embed="rId5">
                <a:alphaModFix amt="0"/>
              </a:blip>
              <a:stretch>
                <a:fillRect l="-87213" t="0" r="-87213" b="0"/>
              </a:stretch>
            </a:blipFill>
          </p:spPr>
        </p:sp>
        <p:sp>
          <p:nvSpPr>
            <p:cNvPr name="TextBox 62" id="62"/>
            <p:cNvSpPr txBox="true"/>
            <p:nvPr/>
          </p:nvSpPr>
          <p:spPr>
            <a:xfrm>
              <a:off x="0" y="-57150"/>
              <a:ext cx="822960" cy="93726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nvGrpSpPr>
          <p:cNvPr name="Group 63" id="63"/>
          <p:cNvGrpSpPr/>
          <p:nvPr/>
        </p:nvGrpSpPr>
        <p:grpSpPr>
          <a:xfrm rot="0">
            <a:off x="1810512" y="2400300"/>
            <a:ext cx="2880360" cy="1028700"/>
            <a:chOff x="0" y="0"/>
            <a:chExt cx="3840480" cy="1371600"/>
          </a:xfrm>
        </p:grpSpPr>
        <p:sp>
          <p:nvSpPr>
            <p:cNvPr name="Freeform 64" id="64"/>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4">
                <a:alphaModFix amt="0"/>
              </a:blip>
              <a:stretch>
                <a:fillRect l="0" t="-4520" r="0" b="-4520"/>
              </a:stretch>
            </a:blipFill>
          </p:spPr>
        </p:sp>
      </p:grpSp>
      <p:grpSp>
        <p:nvGrpSpPr>
          <p:cNvPr name="Group 65" id="65"/>
          <p:cNvGrpSpPr/>
          <p:nvPr/>
        </p:nvGrpSpPr>
        <p:grpSpPr>
          <a:xfrm rot="0">
            <a:off x="1810512" y="2357438"/>
            <a:ext cx="2880360" cy="1071562"/>
            <a:chOff x="0" y="0"/>
            <a:chExt cx="3840480" cy="1428750"/>
          </a:xfrm>
        </p:grpSpPr>
        <p:sp>
          <p:nvSpPr>
            <p:cNvPr name="Freeform 66" id="66"/>
            <p:cNvSpPr/>
            <p:nvPr/>
          </p:nvSpPr>
          <p:spPr>
            <a:xfrm flipH="false" flipV="false" rot="0">
              <a:off x="0" y="0"/>
              <a:ext cx="3840480" cy="1428750"/>
            </a:xfrm>
            <a:custGeom>
              <a:avLst/>
              <a:gdLst/>
              <a:ahLst/>
              <a:cxnLst/>
              <a:rect r="r" b="b" t="t" l="l"/>
              <a:pathLst>
                <a:path h="1428750" w="3840480">
                  <a:moveTo>
                    <a:pt x="0" y="0"/>
                  </a:moveTo>
                  <a:lnTo>
                    <a:pt x="3840480" y="0"/>
                  </a:lnTo>
                  <a:lnTo>
                    <a:pt x="3840480" y="1428750"/>
                  </a:lnTo>
                  <a:lnTo>
                    <a:pt x="0" y="1428750"/>
                  </a:lnTo>
                  <a:close/>
                </a:path>
              </a:pathLst>
            </a:custGeom>
            <a:blipFill>
              <a:blip r:embed="rId5">
                <a:alphaModFix amt="0"/>
              </a:blip>
              <a:stretch>
                <a:fillRect l="0" t="-2375" r="0" b="-2375"/>
              </a:stretch>
            </a:blipFill>
          </p:spPr>
        </p:sp>
        <p:sp>
          <p:nvSpPr>
            <p:cNvPr name="TextBox 67" id="67"/>
            <p:cNvSpPr txBox="true"/>
            <p:nvPr/>
          </p:nvSpPr>
          <p:spPr>
            <a:xfrm>
              <a:off x="0" y="-57150"/>
              <a:ext cx="3840480" cy="148590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Uji struktur</a:t>
              </a:r>
            </a:p>
          </p:txBody>
        </p:sp>
      </p:grpSp>
      <p:sp>
        <p:nvSpPr>
          <p:cNvPr name="TextBox 68" id="68"/>
          <p:cNvSpPr txBox="true"/>
          <p:nvPr/>
        </p:nvSpPr>
        <p:spPr>
          <a:xfrm rot="0">
            <a:off x="1069848" y="3608070"/>
            <a:ext cx="3566160" cy="5444490"/>
          </a:xfrm>
          <a:prstGeom prst="rect">
            <a:avLst/>
          </a:prstGeom>
        </p:spPr>
        <p:txBody>
          <a:bodyPr anchor="t" rtlCol="false" tIns="0" lIns="0" bIns="0" rIns="0">
            <a:spAutoFit/>
          </a:bodyPr>
          <a:lstStyle/>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Kesesuaian struktur dan konsistensi dimensi (Vensim Units Check)</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Kecukupan batas model</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Kekekalan materi stok</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Loop umpan balik: melumpuhkan satu loop per kali</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Kondisi ekstrem: 17 uji, 6 aturan fisik</a:t>
            </a:r>
          </a:p>
        </p:txBody>
      </p:sp>
      <p:grpSp>
        <p:nvGrpSpPr>
          <p:cNvPr name="Group 69" id="69"/>
          <p:cNvGrpSpPr/>
          <p:nvPr/>
        </p:nvGrpSpPr>
        <p:grpSpPr>
          <a:xfrm rot="0">
            <a:off x="5043373" y="2400300"/>
            <a:ext cx="3977640" cy="6789420"/>
            <a:chOff x="0" y="0"/>
            <a:chExt cx="5303520" cy="9052560"/>
          </a:xfrm>
        </p:grpSpPr>
        <p:sp>
          <p:nvSpPr>
            <p:cNvPr name="Freeform 70" id="70"/>
            <p:cNvSpPr/>
            <p:nvPr/>
          </p:nvSpPr>
          <p:spPr>
            <a:xfrm flipH="false" flipV="false" rot="0">
              <a:off x="0" y="0"/>
              <a:ext cx="5303520" cy="9052560"/>
            </a:xfrm>
            <a:custGeom>
              <a:avLst/>
              <a:gdLst/>
              <a:ahLst/>
              <a:cxnLst/>
              <a:rect r="r" b="b" t="t" l="l"/>
              <a:pathLst>
                <a:path h="9052560" w="5303520">
                  <a:moveTo>
                    <a:pt x="0" y="182880"/>
                  </a:moveTo>
                  <a:cubicBezTo>
                    <a:pt x="0" y="81915"/>
                    <a:pt x="81915" y="0"/>
                    <a:pt x="182880" y="0"/>
                  </a:cubicBezTo>
                  <a:lnTo>
                    <a:pt x="5120640" y="0"/>
                  </a:lnTo>
                  <a:cubicBezTo>
                    <a:pt x="5221605" y="0"/>
                    <a:pt x="5303520" y="81915"/>
                    <a:pt x="5303520" y="182880"/>
                  </a:cubicBezTo>
                  <a:lnTo>
                    <a:pt x="5303520" y="8869680"/>
                  </a:lnTo>
                  <a:cubicBezTo>
                    <a:pt x="5303520" y="8970645"/>
                    <a:pt x="5221605" y="9052560"/>
                    <a:pt x="5120640" y="9052560"/>
                  </a:cubicBezTo>
                  <a:lnTo>
                    <a:pt x="182880" y="9052560"/>
                  </a:lnTo>
                  <a:cubicBezTo>
                    <a:pt x="81915" y="9052560"/>
                    <a:pt x="0" y="8970645"/>
                    <a:pt x="0" y="8869680"/>
                  </a:cubicBezTo>
                  <a:close/>
                </a:path>
              </a:pathLst>
            </a:custGeom>
            <a:solidFill>
              <a:srgbClr val="EAF8FA"/>
            </a:solidFill>
          </p:spPr>
        </p:sp>
      </p:grpSp>
      <p:grpSp>
        <p:nvGrpSpPr>
          <p:cNvPr name="Group 71" id="71"/>
          <p:cNvGrpSpPr/>
          <p:nvPr/>
        </p:nvGrpSpPr>
        <p:grpSpPr>
          <a:xfrm rot="0">
            <a:off x="5043373" y="2400300"/>
            <a:ext cx="3977640" cy="1028700"/>
            <a:chOff x="0" y="0"/>
            <a:chExt cx="5303520" cy="1371600"/>
          </a:xfrm>
        </p:grpSpPr>
        <p:sp>
          <p:nvSpPr>
            <p:cNvPr name="Freeform 72" id="72"/>
            <p:cNvSpPr/>
            <p:nvPr/>
          </p:nvSpPr>
          <p:spPr>
            <a:xfrm flipH="false" flipV="false" rot="0">
              <a:off x="0" y="0"/>
              <a:ext cx="5303520" cy="1371600"/>
            </a:xfrm>
            <a:custGeom>
              <a:avLst/>
              <a:gdLst/>
              <a:ahLst/>
              <a:cxnLst/>
              <a:rect r="r" b="b" t="t" l="l"/>
              <a:pathLst>
                <a:path h="1371600" w="5303520">
                  <a:moveTo>
                    <a:pt x="0" y="182880"/>
                  </a:moveTo>
                  <a:cubicBezTo>
                    <a:pt x="0" y="81915"/>
                    <a:pt x="81915" y="0"/>
                    <a:pt x="182880" y="0"/>
                  </a:cubicBezTo>
                  <a:lnTo>
                    <a:pt x="5120640" y="0"/>
                  </a:lnTo>
                  <a:cubicBezTo>
                    <a:pt x="5221605" y="0"/>
                    <a:pt x="5303520" y="81915"/>
                    <a:pt x="5303520" y="182880"/>
                  </a:cubicBezTo>
                  <a:lnTo>
                    <a:pt x="5303520" y="1188720"/>
                  </a:lnTo>
                  <a:cubicBezTo>
                    <a:pt x="5303520" y="1289685"/>
                    <a:pt x="5221605" y="1371600"/>
                    <a:pt x="5120640" y="1371600"/>
                  </a:cubicBezTo>
                  <a:lnTo>
                    <a:pt x="182880" y="1371600"/>
                  </a:lnTo>
                  <a:cubicBezTo>
                    <a:pt x="81915" y="1371600"/>
                    <a:pt x="0" y="1289685"/>
                    <a:pt x="0" y="1188720"/>
                  </a:cubicBezTo>
                  <a:close/>
                </a:path>
              </a:pathLst>
            </a:custGeom>
            <a:solidFill>
              <a:srgbClr val="0B5E6E"/>
            </a:solidFill>
          </p:spPr>
        </p:sp>
      </p:grpSp>
      <p:grpSp>
        <p:nvGrpSpPr>
          <p:cNvPr name="Group 73" id="73"/>
          <p:cNvGrpSpPr/>
          <p:nvPr/>
        </p:nvGrpSpPr>
        <p:grpSpPr>
          <a:xfrm rot="0">
            <a:off x="5249113" y="2606040"/>
            <a:ext cx="617220" cy="617220"/>
            <a:chOff x="0" y="0"/>
            <a:chExt cx="822960" cy="822960"/>
          </a:xfrm>
        </p:grpSpPr>
        <p:sp>
          <p:nvSpPr>
            <p:cNvPr name="Freeform 74" id="7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FFD23B"/>
            </a:solidFill>
          </p:spPr>
        </p:sp>
      </p:grpSp>
      <p:grpSp>
        <p:nvGrpSpPr>
          <p:cNvPr name="Group 75" id="75"/>
          <p:cNvGrpSpPr/>
          <p:nvPr/>
        </p:nvGrpSpPr>
        <p:grpSpPr>
          <a:xfrm rot="0">
            <a:off x="5249113" y="2606040"/>
            <a:ext cx="617220" cy="617220"/>
            <a:chOff x="0" y="0"/>
            <a:chExt cx="822960" cy="822960"/>
          </a:xfrm>
        </p:grpSpPr>
        <p:sp>
          <p:nvSpPr>
            <p:cNvPr name="Freeform 76" id="7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4">
                <a:alphaModFix amt="0"/>
              </a:blip>
              <a:stretch>
                <a:fillRect l="-78393" t="0" r="-78391" b="0"/>
              </a:stretch>
            </a:blipFill>
          </p:spPr>
        </p:sp>
      </p:grpSp>
      <p:grpSp>
        <p:nvGrpSpPr>
          <p:cNvPr name="Group 77" id="77"/>
          <p:cNvGrpSpPr/>
          <p:nvPr/>
        </p:nvGrpSpPr>
        <p:grpSpPr>
          <a:xfrm rot="0">
            <a:off x="5249113" y="2563178"/>
            <a:ext cx="617220" cy="660082"/>
            <a:chOff x="0" y="0"/>
            <a:chExt cx="822960" cy="880110"/>
          </a:xfrm>
        </p:grpSpPr>
        <p:sp>
          <p:nvSpPr>
            <p:cNvPr name="Freeform 78" id="78"/>
            <p:cNvSpPr/>
            <p:nvPr/>
          </p:nvSpPr>
          <p:spPr>
            <a:xfrm flipH="false" flipV="false" rot="0">
              <a:off x="0" y="0"/>
              <a:ext cx="822960" cy="880110"/>
            </a:xfrm>
            <a:custGeom>
              <a:avLst/>
              <a:gdLst/>
              <a:ahLst/>
              <a:cxnLst/>
              <a:rect r="r" b="b" t="t" l="l"/>
              <a:pathLst>
                <a:path h="880110" w="822960">
                  <a:moveTo>
                    <a:pt x="0" y="0"/>
                  </a:moveTo>
                  <a:lnTo>
                    <a:pt x="822960" y="0"/>
                  </a:lnTo>
                  <a:lnTo>
                    <a:pt x="822960" y="880110"/>
                  </a:lnTo>
                  <a:lnTo>
                    <a:pt x="0" y="880110"/>
                  </a:lnTo>
                  <a:close/>
                </a:path>
              </a:pathLst>
            </a:custGeom>
            <a:blipFill>
              <a:blip r:embed="rId5">
                <a:alphaModFix amt="0"/>
              </a:blip>
              <a:stretch>
                <a:fillRect l="-87213" t="0" r="-87213" b="0"/>
              </a:stretch>
            </a:blipFill>
          </p:spPr>
        </p:sp>
        <p:sp>
          <p:nvSpPr>
            <p:cNvPr name="TextBox 79" id="79"/>
            <p:cNvSpPr txBox="true"/>
            <p:nvPr/>
          </p:nvSpPr>
          <p:spPr>
            <a:xfrm>
              <a:off x="0" y="-57150"/>
              <a:ext cx="822960" cy="93726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2</a:t>
              </a:r>
            </a:p>
          </p:txBody>
        </p:sp>
      </p:grpSp>
      <p:grpSp>
        <p:nvGrpSpPr>
          <p:cNvPr name="Group 80" id="80"/>
          <p:cNvGrpSpPr/>
          <p:nvPr/>
        </p:nvGrpSpPr>
        <p:grpSpPr>
          <a:xfrm rot="0">
            <a:off x="6030925" y="2400300"/>
            <a:ext cx="2880360" cy="1028700"/>
            <a:chOff x="0" y="0"/>
            <a:chExt cx="3840480" cy="1371600"/>
          </a:xfrm>
        </p:grpSpPr>
        <p:sp>
          <p:nvSpPr>
            <p:cNvPr name="Freeform 81" id="81"/>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4">
                <a:alphaModFix amt="0"/>
              </a:blip>
              <a:stretch>
                <a:fillRect l="0" t="-4520" r="0" b="-4520"/>
              </a:stretch>
            </a:blipFill>
          </p:spPr>
        </p:sp>
      </p:grpSp>
      <p:grpSp>
        <p:nvGrpSpPr>
          <p:cNvPr name="Group 82" id="82"/>
          <p:cNvGrpSpPr/>
          <p:nvPr/>
        </p:nvGrpSpPr>
        <p:grpSpPr>
          <a:xfrm rot="0">
            <a:off x="6030925" y="2357438"/>
            <a:ext cx="2880360" cy="1071562"/>
            <a:chOff x="0" y="0"/>
            <a:chExt cx="3840480" cy="1428750"/>
          </a:xfrm>
        </p:grpSpPr>
        <p:sp>
          <p:nvSpPr>
            <p:cNvPr name="Freeform 83" id="83"/>
            <p:cNvSpPr/>
            <p:nvPr/>
          </p:nvSpPr>
          <p:spPr>
            <a:xfrm flipH="false" flipV="false" rot="0">
              <a:off x="0" y="0"/>
              <a:ext cx="3840480" cy="1428750"/>
            </a:xfrm>
            <a:custGeom>
              <a:avLst/>
              <a:gdLst/>
              <a:ahLst/>
              <a:cxnLst/>
              <a:rect r="r" b="b" t="t" l="l"/>
              <a:pathLst>
                <a:path h="1428750" w="3840480">
                  <a:moveTo>
                    <a:pt x="0" y="0"/>
                  </a:moveTo>
                  <a:lnTo>
                    <a:pt x="3840480" y="0"/>
                  </a:lnTo>
                  <a:lnTo>
                    <a:pt x="3840480" y="1428750"/>
                  </a:lnTo>
                  <a:lnTo>
                    <a:pt x="0" y="1428750"/>
                  </a:lnTo>
                  <a:close/>
                </a:path>
              </a:pathLst>
            </a:custGeom>
            <a:blipFill>
              <a:blip r:embed="rId5">
                <a:alphaModFix amt="0"/>
              </a:blip>
              <a:stretch>
                <a:fillRect l="0" t="-2375" r="0" b="-2375"/>
              </a:stretch>
            </a:blipFill>
          </p:spPr>
        </p:sp>
        <p:sp>
          <p:nvSpPr>
            <p:cNvPr name="TextBox 84" id="84"/>
            <p:cNvSpPr txBox="true"/>
            <p:nvPr/>
          </p:nvSpPr>
          <p:spPr>
            <a:xfrm>
              <a:off x="0" y="-57150"/>
              <a:ext cx="3840480" cy="148590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Uji perilaku</a:t>
              </a:r>
            </a:p>
          </p:txBody>
        </p:sp>
      </p:grpSp>
      <p:sp>
        <p:nvSpPr>
          <p:cNvPr name="TextBox 85" id="85"/>
          <p:cNvSpPr txBox="true"/>
          <p:nvPr/>
        </p:nvSpPr>
        <p:spPr>
          <a:xfrm rot="0">
            <a:off x="5290261" y="3608070"/>
            <a:ext cx="3566160" cy="5444490"/>
          </a:xfrm>
          <a:prstGeom prst="rect">
            <a:avLst/>
          </a:prstGeom>
        </p:spPr>
        <p:txBody>
          <a:bodyPr anchor="t" rtlCol="false" tIns="0" lIns="0" bIns="0" rIns="0">
            <a:spAutoFit/>
          </a:bodyPr>
          <a:lstStyle/>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5 uji parsial + 1 uji penuh</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Tren, E1 (&lt; 0,05), E2 (&lt; 0,30) sebagai pedoman empiris</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DC 0,4–0,7 = rata-rata sampai baik</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MAPE: &lt;10% sangat baik · 10–20% baik · 20–50% layak · &gt;50% buruk</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Dekomposisi galat U1–U3</a:t>
            </a:r>
          </a:p>
        </p:txBody>
      </p:sp>
      <p:grpSp>
        <p:nvGrpSpPr>
          <p:cNvPr name="Group 86" id="86"/>
          <p:cNvGrpSpPr/>
          <p:nvPr/>
        </p:nvGrpSpPr>
        <p:grpSpPr>
          <a:xfrm rot="0">
            <a:off x="9263786" y="2400300"/>
            <a:ext cx="3977640" cy="6789420"/>
            <a:chOff x="0" y="0"/>
            <a:chExt cx="5303520" cy="9052560"/>
          </a:xfrm>
        </p:grpSpPr>
        <p:sp>
          <p:nvSpPr>
            <p:cNvPr name="Freeform 87" id="87"/>
            <p:cNvSpPr/>
            <p:nvPr/>
          </p:nvSpPr>
          <p:spPr>
            <a:xfrm flipH="false" flipV="false" rot="0">
              <a:off x="0" y="0"/>
              <a:ext cx="5303520" cy="9052560"/>
            </a:xfrm>
            <a:custGeom>
              <a:avLst/>
              <a:gdLst/>
              <a:ahLst/>
              <a:cxnLst/>
              <a:rect r="r" b="b" t="t" l="l"/>
              <a:pathLst>
                <a:path h="9052560" w="5303520">
                  <a:moveTo>
                    <a:pt x="0" y="182880"/>
                  </a:moveTo>
                  <a:cubicBezTo>
                    <a:pt x="0" y="81915"/>
                    <a:pt x="81915" y="0"/>
                    <a:pt x="182880" y="0"/>
                  </a:cubicBezTo>
                  <a:lnTo>
                    <a:pt x="5120640" y="0"/>
                  </a:lnTo>
                  <a:cubicBezTo>
                    <a:pt x="5221605" y="0"/>
                    <a:pt x="5303520" y="81915"/>
                    <a:pt x="5303520" y="182880"/>
                  </a:cubicBezTo>
                  <a:lnTo>
                    <a:pt x="5303520" y="8869680"/>
                  </a:lnTo>
                  <a:cubicBezTo>
                    <a:pt x="5303520" y="8970645"/>
                    <a:pt x="5221605" y="9052560"/>
                    <a:pt x="5120640" y="9052560"/>
                  </a:cubicBezTo>
                  <a:lnTo>
                    <a:pt x="182880" y="9052560"/>
                  </a:lnTo>
                  <a:cubicBezTo>
                    <a:pt x="81915" y="9052560"/>
                    <a:pt x="0" y="8970645"/>
                    <a:pt x="0" y="8869680"/>
                  </a:cubicBezTo>
                  <a:close/>
                </a:path>
              </a:pathLst>
            </a:custGeom>
            <a:solidFill>
              <a:srgbClr val="EAF8FA"/>
            </a:solidFill>
          </p:spPr>
        </p:sp>
      </p:grpSp>
      <p:grpSp>
        <p:nvGrpSpPr>
          <p:cNvPr name="Group 88" id="88"/>
          <p:cNvGrpSpPr/>
          <p:nvPr/>
        </p:nvGrpSpPr>
        <p:grpSpPr>
          <a:xfrm rot="0">
            <a:off x="9263786" y="2400300"/>
            <a:ext cx="3977640" cy="1028700"/>
            <a:chOff x="0" y="0"/>
            <a:chExt cx="5303520" cy="1371600"/>
          </a:xfrm>
        </p:grpSpPr>
        <p:sp>
          <p:nvSpPr>
            <p:cNvPr name="Freeform 89" id="89"/>
            <p:cNvSpPr/>
            <p:nvPr/>
          </p:nvSpPr>
          <p:spPr>
            <a:xfrm flipH="false" flipV="false" rot="0">
              <a:off x="0" y="0"/>
              <a:ext cx="5303520" cy="1371600"/>
            </a:xfrm>
            <a:custGeom>
              <a:avLst/>
              <a:gdLst/>
              <a:ahLst/>
              <a:cxnLst/>
              <a:rect r="r" b="b" t="t" l="l"/>
              <a:pathLst>
                <a:path h="1371600" w="5303520">
                  <a:moveTo>
                    <a:pt x="0" y="182880"/>
                  </a:moveTo>
                  <a:cubicBezTo>
                    <a:pt x="0" y="81915"/>
                    <a:pt x="81915" y="0"/>
                    <a:pt x="182880" y="0"/>
                  </a:cubicBezTo>
                  <a:lnTo>
                    <a:pt x="5120640" y="0"/>
                  </a:lnTo>
                  <a:cubicBezTo>
                    <a:pt x="5221605" y="0"/>
                    <a:pt x="5303520" y="81915"/>
                    <a:pt x="5303520" y="182880"/>
                  </a:cubicBezTo>
                  <a:lnTo>
                    <a:pt x="5303520" y="1188720"/>
                  </a:lnTo>
                  <a:cubicBezTo>
                    <a:pt x="5303520" y="1289685"/>
                    <a:pt x="5221605" y="1371600"/>
                    <a:pt x="5120640" y="1371600"/>
                  </a:cubicBezTo>
                  <a:lnTo>
                    <a:pt x="182880" y="1371600"/>
                  </a:lnTo>
                  <a:cubicBezTo>
                    <a:pt x="81915" y="1371600"/>
                    <a:pt x="0" y="1289685"/>
                    <a:pt x="0" y="1188720"/>
                  </a:cubicBezTo>
                  <a:close/>
                </a:path>
              </a:pathLst>
            </a:custGeom>
            <a:solidFill>
              <a:srgbClr val="0B5E6E"/>
            </a:solidFill>
          </p:spPr>
        </p:sp>
      </p:grpSp>
      <p:grpSp>
        <p:nvGrpSpPr>
          <p:cNvPr name="Group 90" id="90"/>
          <p:cNvGrpSpPr/>
          <p:nvPr/>
        </p:nvGrpSpPr>
        <p:grpSpPr>
          <a:xfrm rot="0">
            <a:off x="9469526" y="2606040"/>
            <a:ext cx="617220" cy="617220"/>
            <a:chOff x="0" y="0"/>
            <a:chExt cx="822960" cy="822960"/>
          </a:xfrm>
        </p:grpSpPr>
        <p:sp>
          <p:nvSpPr>
            <p:cNvPr name="Freeform 91" id="91"/>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FFD23B"/>
            </a:solidFill>
          </p:spPr>
        </p:sp>
      </p:grpSp>
      <p:grpSp>
        <p:nvGrpSpPr>
          <p:cNvPr name="Group 92" id="92"/>
          <p:cNvGrpSpPr/>
          <p:nvPr/>
        </p:nvGrpSpPr>
        <p:grpSpPr>
          <a:xfrm rot="0">
            <a:off x="9469526" y="2606040"/>
            <a:ext cx="617220" cy="617220"/>
            <a:chOff x="0" y="0"/>
            <a:chExt cx="822960" cy="822960"/>
          </a:xfrm>
        </p:grpSpPr>
        <p:sp>
          <p:nvSpPr>
            <p:cNvPr name="Freeform 93" id="93"/>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4">
                <a:alphaModFix amt="0"/>
              </a:blip>
              <a:stretch>
                <a:fillRect l="-78393" t="0" r="-78391" b="0"/>
              </a:stretch>
            </a:blipFill>
          </p:spPr>
        </p:sp>
      </p:grpSp>
      <p:grpSp>
        <p:nvGrpSpPr>
          <p:cNvPr name="Group 94" id="94"/>
          <p:cNvGrpSpPr/>
          <p:nvPr/>
        </p:nvGrpSpPr>
        <p:grpSpPr>
          <a:xfrm rot="0">
            <a:off x="9469526" y="2563178"/>
            <a:ext cx="617220" cy="660082"/>
            <a:chOff x="0" y="0"/>
            <a:chExt cx="822960" cy="880110"/>
          </a:xfrm>
        </p:grpSpPr>
        <p:sp>
          <p:nvSpPr>
            <p:cNvPr name="Freeform 95" id="95"/>
            <p:cNvSpPr/>
            <p:nvPr/>
          </p:nvSpPr>
          <p:spPr>
            <a:xfrm flipH="false" flipV="false" rot="0">
              <a:off x="0" y="0"/>
              <a:ext cx="822960" cy="880110"/>
            </a:xfrm>
            <a:custGeom>
              <a:avLst/>
              <a:gdLst/>
              <a:ahLst/>
              <a:cxnLst/>
              <a:rect r="r" b="b" t="t" l="l"/>
              <a:pathLst>
                <a:path h="880110" w="822960">
                  <a:moveTo>
                    <a:pt x="0" y="0"/>
                  </a:moveTo>
                  <a:lnTo>
                    <a:pt x="822960" y="0"/>
                  </a:lnTo>
                  <a:lnTo>
                    <a:pt x="822960" y="880110"/>
                  </a:lnTo>
                  <a:lnTo>
                    <a:pt x="0" y="880110"/>
                  </a:lnTo>
                  <a:close/>
                </a:path>
              </a:pathLst>
            </a:custGeom>
            <a:blipFill>
              <a:blip r:embed="rId5">
                <a:alphaModFix amt="0"/>
              </a:blip>
              <a:stretch>
                <a:fillRect l="-87213" t="0" r="-87213" b="0"/>
              </a:stretch>
            </a:blipFill>
          </p:spPr>
        </p:sp>
        <p:sp>
          <p:nvSpPr>
            <p:cNvPr name="TextBox 96" id="96"/>
            <p:cNvSpPr txBox="true"/>
            <p:nvPr/>
          </p:nvSpPr>
          <p:spPr>
            <a:xfrm>
              <a:off x="0" y="-57150"/>
              <a:ext cx="822960" cy="93726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3</a:t>
              </a:r>
            </a:p>
          </p:txBody>
        </p:sp>
      </p:grpSp>
      <p:grpSp>
        <p:nvGrpSpPr>
          <p:cNvPr name="Group 97" id="97"/>
          <p:cNvGrpSpPr/>
          <p:nvPr/>
        </p:nvGrpSpPr>
        <p:grpSpPr>
          <a:xfrm rot="0">
            <a:off x="10251338" y="2400300"/>
            <a:ext cx="2880360" cy="1028700"/>
            <a:chOff x="0" y="0"/>
            <a:chExt cx="3840480" cy="1371600"/>
          </a:xfrm>
        </p:grpSpPr>
        <p:sp>
          <p:nvSpPr>
            <p:cNvPr name="Freeform 98" id="98"/>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4">
                <a:alphaModFix amt="0"/>
              </a:blip>
              <a:stretch>
                <a:fillRect l="0" t="-4520" r="0" b="-4520"/>
              </a:stretch>
            </a:blipFill>
          </p:spPr>
        </p:sp>
      </p:grpSp>
      <p:grpSp>
        <p:nvGrpSpPr>
          <p:cNvPr name="Group 99" id="99"/>
          <p:cNvGrpSpPr/>
          <p:nvPr/>
        </p:nvGrpSpPr>
        <p:grpSpPr>
          <a:xfrm rot="0">
            <a:off x="10251338" y="2357438"/>
            <a:ext cx="2880360" cy="1071562"/>
            <a:chOff x="0" y="0"/>
            <a:chExt cx="3840480" cy="1428750"/>
          </a:xfrm>
        </p:grpSpPr>
        <p:sp>
          <p:nvSpPr>
            <p:cNvPr name="Freeform 100" id="100"/>
            <p:cNvSpPr/>
            <p:nvPr/>
          </p:nvSpPr>
          <p:spPr>
            <a:xfrm flipH="false" flipV="false" rot="0">
              <a:off x="0" y="0"/>
              <a:ext cx="3840480" cy="1428750"/>
            </a:xfrm>
            <a:custGeom>
              <a:avLst/>
              <a:gdLst/>
              <a:ahLst/>
              <a:cxnLst/>
              <a:rect r="r" b="b" t="t" l="l"/>
              <a:pathLst>
                <a:path h="1428750" w="3840480">
                  <a:moveTo>
                    <a:pt x="0" y="0"/>
                  </a:moveTo>
                  <a:lnTo>
                    <a:pt x="3840480" y="0"/>
                  </a:lnTo>
                  <a:lnTo>
                    <a:pt x="3840480" y="1428750"/>
                  </a:lnTo>
                  <a:lnTo>
                    <a:pt x="0" y="1428750"/>
                  </a:lnTo>
                  <a:close/>
                </a:path>
              </a:pathLst>
            </a:custGeom>
            <a:blipFill>
              <a:blip r:embed="rId5">
                <a:alphaModFix amt="0"/>
              </a:blip>
              <a:stretch>
                <a:fillRect l="0" t="-2375" r="0" b="-2375"/>
              </a:stretch>
            </a:blipFill>
          </p:spPr>
        </p:sp>
        <p:sp>
          <p:nvSpPr>
            <p:cNvPr name="TextBox 101" id="101"/>
            <p:cNvSpPr txBox="true"/>
            <p:nvPr/>
          </p:nvSpPr>
          <p:spPr>
            <a:xfrm>
              <a:off x="0" y="-57150"/>
              <a:ext cx="3840480" cy="148590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Kalibrasi (5 tahap)</a:t>
              </a:r>
            </a:p>
          </p:txBody>
        </p:sp>
      </p:grpSp>
      <p:sp>
        <p:nvSpPr>
          <p:cNvPr name="TextBox 102" id="102"/>
          <p:cNvSpPr txBox="true"/>
          <p:nvPr/>
        </p:nvSpPr>
        <p:spPr>
          <a:xfrm rot="0">
            <a:off x="9510674" y="3608070"/>
            <a:ext cx="3566160" cy="5444490"/>
          </a:xfrm>
          <a:prstGeom prst="rect">
            <a:avLst/>
          </a:prstGeom>
        </p:spPr>
        <p:txBody>
          <a:bodyPr anchor="t" rtlCol="false" tIns="0" lIns="0" bIns="0" rIns="0">
            <a:spAutoFit/>
          </a:bodyPr>
          <a:lstStyle/>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Tahap 0: koreksi penurunan parameter</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Tahap 1–2: pencarian menyeluruh akomodasi dan lahan</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Tahap 3: diagnostik subsistem wisatawan</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Tahap 4: uji kompatibilitas pada model penuh</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Aturan keputusan ditetapkan sebelum pencarian</a:t>
            </a:r>
          </a:p>
        </p:txBody>
      </p:sp>
      <p:grpSp>
        <p:nvGrpSpPr>
          <p:cNvPr name="Group 103" id="103"/>
          <p:cNvGrpSpPr/>
          <p:nvPr/>
        </p:nvGrpSpPr>
        <p:grpSpPr>
          <a:xfrm rot="0">
            <a:off x="13484200" y="2400300"/>
            <a:ext cx="3977640" cy="6789420"/>
            <a:chOff x="0" y="0"/>
            <a:chExt cx="5303520" cy="9052560"/>
          </a:xfrm>
        </p:grpSpPr>
        <p:sp>
          <p:nvSpPr>
            <p:cNvPr name="Freeform 104" id="104"/>
            <p:cNvSpPr/>
            <p:nvPr/>
          </p:nvSpPr>
          <p:spPr>
            <a:xfrm flipH="false" flipV="false" rot="0">
              <a:off x="0" y="0"/>
              <a:ext cx="5303520" cy="9052560"/>
            </a:xfrm>
            <a:custGeom>
              <a:avLst/>
              <a:gdLst/>
              <a:ahLst/>
              <a:cxnLst/>
              <a:rect r="r" b="b" t="t" l="l"/>
              <a:pathLst>
                <a:path h="9052560" w="5303520">
                  <a:moveTo>
                    <a:pt x="0" y="182880"/>
                  </a:moveTo>
                  <a:cubicBezTo>
                    <a:pt x="0" y="81915"/>
                    <a:pt x="81915" y="0"/>
                    <a:pt x="182880" y="0"/>
                  </a:cubicBezTo>
                  <a:lnTo>
                    <a:pt x="5120640" y="0"/>
                  </a:lnTo>
                  <a:cubicBezTo>
                    <a:pt x="5221605" y="0"/>
                    <a:pt x="5303520" y="81915"/>
                    <a:pt x="5303520" y="182880"/>
                  </a:cubicBezTo>
                  <a:lnTo>
                    <a:pt x="5303520" y="8869680"/>
                  </a:lnTo>
                  <a:cubicBezTo>
                    <a:pt x="5303520" y="8970645"/>
                    <a:pt x="5221605" y="9052560"/>
                    <a:pt x="5120640" y="9052560"/>
                  </a:cubicBezTo>
                  <a:lnTo>
                    <a:pt x="182880" y="9052560"/>
                  </a:lnTo>
                  <a:cubicBezTo>
                    <a:pt x="81915" y="9052560"/>
                    <a:pt x="0" y="8970645"/>
                    <a:pt x="0" y="8869680"/>
                  </a:cubicBezTo>
                  <a:close/>
                </a:path>
              </a:pathLst>
            </a:custGeom>
            <a:solidFill>
              <a:srgbClr val="EAF8FA"/>
            </a:solidFill>
          </p:spPr>
        </p:sp>
      </p:grpSp>
      <p:grpSp>
        <p:nvGrpSpPr>
          <p:cNvPr name="Group 105" id="105"/>
          <p:cNvGrpSpPr/>
          <p:nvPr/>
        </p:nvGrpSpPr>
        <p:grpSpPr>
          <a:xfrm rot="0">
            <a:off x="13484200" y="2400300"/>
            <a:ext cx="3977640" cy="1028700"/>
            <a:chOff x="0" y="0"/>
            <a:chExt cx="5303520" cy="1371600"/>
          </a:xfrm>
        </p:grpSpPr>
        <p:sp>
          <p:nvSpPr>
            <p:cNvPr name="Freeform 106" id="106"/>
            <p:cNvSpPr/>
            <p:nvPr/>
          </p:nvSpPr>
          <p:spPr>
            <a:xfrm flipH="false" flipV="false" rot="0">
              <a:off x="0" y="0"/>
              <a:ext cx="5303520" cy="1371600"/>
            </a:xfrm>
            <a:custGeom>
              <a:avLst/>
              <a:gdLst/>
              <a:ahLst/>
              <a:cxnLst/>
              <a:rect r="r" b="b" t="t" l="l"/>
              <a:pathLst>
                <a:path h="1371600" w="5303520">
                  <a:moveTo>
                    <a:pt x="0" y="182880"/>
                  </a:moveTo>
                  <a:cubicBezTo>
                    <a:pt x="0" y="81915"/>
                    <a:pt x="81915" y="0"/>
                    <a:pt x="182880" y="0"/>
                  </a:cubicBezTo>
                  <a:lnTo>
                    <a:pt x="5120640" y="0"/>
                  </a:lnTo>
                  <a:cubicBezTo>
                    <a:pt x="5221605" y="0"/>
                    <a:pt x="5303520" y="81915"/>
                    <a:pt x="5303520" y="182880"/>
                  </a:cubicBezTo>
                  <a:lnTo>
                    <a:pt x="5303520" y="1188720"/>
                  </a:lnTo>
                  <a:cubicBezTo>
                    <a:pt x="5303520" y="1289685"/>
                    <a:pt x="5221605" y="1371600"/>
                    <a:pt x="5120640" y="1371600"/>
                  </a:cubicBezTo>
                  <a:lnTo>
                    <a:pt x="182880" y="1371600"/>
                  </a:lnTo>
                  <a:cubicBezTo>
                    <a:pt x="81915" y="1371600"/>
                    <a:pt x="0" y="1289685"/>
                    <a:pt x="0" y="1188720"/>
                  </a:cubicBezTo>
                  <a:close/>
                </a:path>
              </a:pathLst>
            </a:custGeom>
            <a:solidFill>
              <a:srgbClr val="0B5E6E"/>
            </a:solidFill>
          </p:spPr>
        </p:sp>
      </p:grpSp>
      <p:grpSp>
        <p:nvGrpSpPr>
          <p:cNvPr name="Group 107" id="107"/>
          <p:cNvGrpSpPr/>
          <p:nvPr/>
        </p:nvGrpSpPr>
        <p:grpSpPr>
          <a:xfrm rot="0">
            <a:off x="13689940" y="2606040"/>
            <a:ext cx="617220" cy="617220"/>
            <a:chOff x="0" y="0"/>
            <a:chExt cx="822960" cy="822960"/>
          </a:xfrm>
        </p:grpSpPr>
        <p:sp>
          <p:nvSpPr>
            <p:cNvPr name="Freeform 108" id="108"/>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FFD23B"/>
            </a:solidFill>
          </p:spPr>
        </p:sp>
      </p:grpSp>
      <p:grpSp>
        <p:nvGrpSpPr>
          <p:cNvPr name="Group 109" id="109"/>
          <p:cNvGrpSpPr/>
          <p:nvPr/>
        </p:nvGrpSpPr>
        <p:grpSpPr>
          <a:xfrm rot="0">
            <a:off x="13689940" y="2606040"/>
            <a:ext cx="617220" cy="617220"/>
            <a:chOff x="0" y="0"/>
            <a:chExt cx="822960" cy="822960"/>
          </a:xfrm>
        </p:grpSpPr>
        <p:sp>
          <p:nvSpPr>
            <p:cNvPr name="Freeform 110" id="110"/>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4">
                <a:alphaModFix amt="0"/>
              </a:blip>
              <a:stretch>
                <a:fillRect l="-78393" t="0" r="-78391" b="0"/>
              </a:stretch>
            </a:blipFill>
          </p:spPr>
        </p:sp>
      </p:grpSp>
      <p:grpSp>
        <p:nvGrpSpPr>
          <p:cNvPr name="Group 111" id="111"/>
          <p:cNvGrpSpPr/>
          <p:nvPr/>
        </p:nvGrpSpPr>
        <p:grpSpPr>
          <a:xfrm rot="0">
            <a:off x="13689940" y="2563178"/>
            <a:ext cx="617220" cy="660082"/>
            <a:chOff x="0" y="0"/>
            <a:chExt cx="822960" cy="880110"/>
          </a:xfrm>
        </p:grpSpPr>
        <p:sp>
          <p:nvSpPr>
            <p:cNvPr name="Freeform 112" id="112"/>
            <p:cNvSpPr/>
            <p:nvPr/>
          </p:nvSpPr>
          <p:spPr>
            <a:xfrm flipH="false" flipV="false" rot="0">
              <a:off x="0" y="0"/>
              <a:ext cx="822960" cy="880110"/>
            </a:xfrm>
            <a:custGeom>
              <a:avLst/>
              <a:gdLst/>
              <a:ahLst/>
              <a:cxnLst/>
              <a:rect r="r" b="b" t="t" l="l"/>
              <a:pathLst>
                <a:path h="880110" w="822960">
                  <a:moveTo>
                    <a:pt x="0" y="0"/>
                  </a:moveTo>
                  <a:lnTo>
                    <a:pt x="822960" y="0"/>
                  </a:lnTo>
                  <a:lnTo>
                    <a:pt x="822960" y="880110"/>
                  </a:lnTo>
                  <a:lnTo>
                    <a:pt x="0" y="880110"/>
                  </a:lnTo>
                  <a:close/>
                </a:path>
              </a:pathLst>
            </a:custGeom>
            <a:blipFill>
              <a:blip r:embed="rId5">
                <a:alphaModFix amt="0"/>
              </a:blip>
              <a:stretch>
                <a:fillRect l="-87213" t="0" r="-87213" b="0"/>
              </a:stretch>
            </a:blipFill>
          </p:spPr>
        </p:sp>
        <p:sp>
          <p:nvSpPr>
            <p:cNvPr name="TextBox 113" id="113"/>
            <p:cNvSpPr txBox="true"/>
            <p:nvPr/>
          </p:nvSpPr>
          <p:spPr>
            <a:xfrm>
              <a:off x="0" y="-57150"/>
              <a:ext cx="822960" cy="93726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4</a:t>
              </a:r>
            </a:p>
          </p:txBody>
        </p:sp>
      </p:grpSp>
      <p:grpSp>
        <p:nvGrpSpPr>
          <p:cNvPr name="Group 114" id="114"/>
          <p:cNvGrpSpPr/>
          <p:nvPr/>
        </p:nvGrpSpPr>
        <p:grpSpPr>
          <a:xfrm rot="0">
            <a:off x="14471752" y="2400300"/>
            <a:ext cx="2880360" cy="1028700"/>
            <a:chOff x="0" y="0"/>
            <a:chExt cx="3840480" cy="1371600"/>
          </a:xfrm>
        </p:grpSpPr>
        <p:sp>
          <p:nvSpPr>
            <p:cNvPr name="Freeform 115" id="115"/>
            <p:cNvSpPr/>
            <p:nvPr/>
          </p:nvSpPr>
          <p:spPr>
            <a:xfrm flipH="false" flipV="false" rot="0">
              <a:off x="0" y="0"/>
              <a:ext cx="3840480" cy="1371600"/>
            </a:xfrm>
            <a:custGeom>
              <a:avLst/>
              <a:gdLst/>
              <a:ahLst/>
              <a:cxnLst/>
              <a:rect r="r" b="b" t="t" l="l"/>
              <a:pathLst>
                <a:path h="1371600" w="3840480">
                  <a:moveTo>
                    <a:pt x="0" y="0"/>
                  </a:moveTo>
                  <a:lnTo>
                    <a:pt x="3840480" y="0"/>
                  </a:lnTo>
                  <a:lnTo>
                    <a:pt x="3840480" y="1371600"/>
                  </a:lnTo>
                  <a:lnTo>
                    <a:pt x="0" y="1371600"/>
                  </a:lnTo>
                  <a:close/>
                </a:path>
              </a:pathLst>
            </a:custGeom>
            <a:blipFill>
              <a:blip r:embed="rId4">
                <a:alphaModFix amt="0"/>
              </a:blip>
              <a:stretch>
                <a:fillRect l="0" t="-4520" r="0" b="-4520"/>
              </a:stretch>
            </a:blipFill>
          </p:spPr>
        </p:sp>
      </p:grpSp>
      <p:grpSp>
        <p:nvGrpSpPr>
          <p:cNvPr name="Group 116" id="116"/>
          <p:cNvGrpSpPr/>
          <p:nvPr/>
        </p:nvGrpSpPr>
        <p:grpSpPr>
          <a:xfrm rot="0">
            <a:off x="14471752" y="2357438"/>
            <a:ext cx="2880360" cy="1071562"/>
            <a:chOff x="0" y="0"/>
            <a:chExt cx="3840480" cy="1428750"/>
          </a:xfrm>
        </p:grpSpPr>
        <p:sp>
          <p:nvSpPr>
            <p:cNvPr name="Freeform 117" id="117"/>
            <p:cNvSpPr/>
            <p:nvPr/>
          </p:nvSpPr>
          <p:spPr>
            <a:xfrm flipH="false" flipV="false" rot="0">
              <a:off x="0" y="0"/>
              <a:ext cx="3840480" cy="1428750"/>
            </a:xfrm>
            <a:custGeom>
              <a:avLst/>
              <a:gdLst/>
              <a:ahLst/>
              <a:cxnLst/>
              <a:rect r="r" b="b" t="t" l="l"/>
              <a:pathLst>
                <a:path h="1428750" w="3840480">
                  <a:moveTo>
                    <a:pt x="0" y="0"/>
                  </a:moveTo>
                  <a:lnTo>
                    <a:pt x="3840480" y="0"/>
                  </a:lnTo>
                  <a:lnTo>
                    <a:pt x="3840480" y="1428750"/>
                  </a:lnTo>
                  <a:lnTo>
                    <a:pt x="0" y="1428750"/>
                  </a:lnTo>
                  <a:close/>
                </a:path>
              </a:pathLst>
            </a:custGeom>
            <a:blipFill>
              <a:blip r:embed="rId5">
                <a:alphaModFix amt="0"/>
              </a:blip>
              <a:stretch>
                <a:fillRect l="0" t="-2375" r="0" b="-2375"/>
              </a:stretch>
            </a:blipFill>
          </p:spPr>
        </p:sp>
        <p:sp>
          <p:nvSpPr>
            <p:cNvPr name="TextBox 118" id="118"/>
            <p:cNvSpPr txBox="true"/>
            <p:nvPr/>
          </p:nvSpPr>
          <p:spPr>
            <a:xfrm>
              <a:off x="0" y="-57150"/>
              <a:ext cx="3840480" cy="1485900"/>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Sensitivitas &amp; kekokohan</a:t>
              </a:r>
            </a:p>
          </p:txBody>
        </p:sp>
      </p:grpSp>
      <p:sp>
        <p:nvSpPr>
          <p:cNvPr name="TextBox 119" id="119"/>
          <p:cNvSpPr txBox="true"/>
          <p:nvPr/>
        </p:nvSpPr>
        <p:spPr>
          <a:xfrm rot="0">
            <a:off x="13731088" y="3608070"/>
            <a:ext cx="3566160" cy="5444490"/>
          </a:xfrm>
          <a:prstGeom prst="rect">
            <a:avLst/>
          </a:prstGeom>
        </p:spPr>
        <p:txBody>
          <a:bodyPr anchor="t" rtlCol="false" tIns="0" lIns="0" bIns="0" rIns="0">
            <a:spAutoFit/>
          </a:bodyPr>
          <a:lstStyle/>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Perubahan ±10% pada 6 variabel keluaran</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Pengujian rentang penuh</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Dasar penetapan tuas kebijakan</a:t>
            </a:r>
          </a:p>
          <a:p>
            <a:pPr algn="l" marL="411718" indent="-137239" lvl="2">
              <a:lnSpc>
                <a:spcPts val="2340"/>
              </a:lnSpc>
              <a:buFont typeface="Arial"/>
              <a:buChar char="⚬"/>
            </a:pPr>
            <a:r>
              <a:rPr lang="en-US" sz="1950">
                <a:solidFill>
                  <a:srgbClr val="14313B"/>
                </a:solidFill>
                <a:latin typeface="Calibri (MS)"/>
                <a:ea typeface="Calibri (MS)"/>
                <a:cs typeface="Calibri (MS)"/>
                <a:sym typeface="Calibri (MS)"/>
              </a:rPr>
              <a:t>Kekokohan peringkat skenario pada 7 kondisi parameter</a:t>
            </a:r>
          </a:p>
        </p:txBody>
      </p:sp>
      <p:sp>
        <p:nvSpPr>
          <p:cNvPr name="TextBox 120" id="120"/>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struktur: memastikan struktur logis sebelum dibandingkan dengan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20493"/>
            <a:ext cx="2971800" cy="736016"/>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59" id="59"/>
          <p:cNvSpPr txBox="true"/>
          <p:nvPr/>
        </p:nvSpPr>
        <p:spPr>
          <a:xfrm rot="0">
            <a:off x="1051560" y="3218993"/>
            <a:ext cx="3566160" cy="16803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ditelusuri terhadap kriteria evaluasi CLD; setiap parameter harus jelas masuk salah satu kategori sumber (data resmi, identitas stok-aliran, regulasi, asumsi, normalisasi/tuas).</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dimensi</a:t>
            </a:r>
          </a:p>
        </p:txBody>
      </p:sp>
      <p:sp>
        <p:nvSpPr>
          <p:cNvPr name="TextBox 66" id="66"/>
          <p:cNvSpPr txBox="true"/>
          <p:nvPr/>
        </p:nvSpPr>
        <p:spPr>
          <a:xfrm rot="0">
            <a:off x="5257800" y="3098292"/>
            <a:ext cx="3566160" cy="6220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67" id="67"/>
          <p:cNvSpPr txBox="true"/>
          <p:nvPr/>
        </p:nvSpPr>
        <p:spPr>
          <a:xfrm rot="0">
            <a:off x="5257800" y="3745916"/>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grpSp>
        <p:nvGrpSpPr>
          <p:cNvPr name="Group 68" id="68"/>
          <p:cNvGrpSpPr/>
          <p:nvPr/>
        </p:nvGrpSpPr>
        <p:grpSpPr>
          <a:xfrm rot="0">
            <a:off x="9225915" y="2230755"/>
            <a:ext cx="4042410" cy="3434334"/>
            <a:chOff x="0" y="0"/>
            <a:chExt cx="5389880" cy="4579112"/>
          </a:xfrm>
        </p:grpSpPr>
        <p:sp>
          <p:nvSpPr>
            <p:cNvPr name="Freeform 69" id="6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0" id="70"/>
          <p:cNvGrpSpPr/>
          <p:nvPr/>
        </p:nvGrpSpPr>
        <p:grpSpPr>
          <a:xfrm rot="0">
            <a:off x="9464040" y="2468880"/>
            <a:ext cx="530352" cy="530352"/>
            <a:chOff x="0" y="0"/>
            <a:chExt cx="707136" cy="707136"/>
          </a:xfrm>
        </p:grpSpPr>
        <p:sp>
          <p:nvSpPr>
            <p:cNvPr name="Freeform 71" id="7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2" id="7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013155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74" id="74"/>
          <p:cNvSpPr txBox="true"/>
          <p:nvPr/>
        </p:nvSpPr>
        <p:spPr>
          <a:xfrm rot="0">
            <a:off x="9464040" y="3098292"/>
            <a:ext cx="356616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endogen, 35 eksogen, dan aspek yang dikeluarkan beserta konsekuensinya → menetapkan ranah tafsir hasil.</a:t>
            </a:r>
          </a:p>
        </p:txBody>
      </p:sp>
      <p:grpSp>
        <p:nvGrpSpPr>
          <p:cNvPr name="Group 75" id="75"/>
          <p:cNvGrpSpPr/>
          <p:nvPr/>
        </p:nvGrpSpPr>
        <p:grpSpPr>
          <a:xfrm rot="0">
            <a:off x="13432155" y="2230755"/>
            <a:ext cx="4042410" cy="3434334"/>
            <a:chOff x="0" y="0"/>
            <a:chExt cx="5389880" cy="4579112"/>
          </a:xfrm>
        </p:grpSpPr>
        <p:sp>
          <p:nvSpPr>
            <p:cNvPr name="Freeform 76" id="76"/>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367028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433779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Kekekalan materi</a:t>
            </a:r>
          </a:p>
        </p:txBody>
      </p:sp>
      <p:sp>
        <p:nvSpPr>
          <p:cNvPr name="TextBox 81" id="81"/>
          <p:cNvSpPr txBox="true"/>
          <p:nvPr/>
        </p:nvSpPr>
        <p:spPr>
          <a:xfrm rot="0">
            <a:off x="13670280" y="3098292"/>
            <a:ext cx="356616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dibandingkan dengan identitas Euler pada 5 stok, 2025–2049.</a:t>
            </a:r>
          </a:p>
        </p:txBody>
      </p:sp>
      <p:grpSp>
        <p:nvGrpSpPr>
          <p:cNvPr name="Group 82" id="82"/>
          <p:cNvGrpSpPr/>
          <p:nvPr/>
        </p:nvGrpSpPr>
        <p:grpSpPr>
          <a:xfrm rot="0">
            <a:off x="13606272" y="4058107"/>
            <a:ext cx="3694176" cy="819302"/>
            <a:chOff x="0" y="0"/>
            <a:chExt cx="4925568" cy="1092403"/>
          </a:xfrm>
        </p:grpSpPr>
        <p:sp>
          <p:nvSpPr>
            <p:cNvPr name="Freeform 83" id="83"/>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sp>
      </p:grpSp>
      <p:sp>
        <p:nvSpPr>
          <p:cNvPr name="TextBox 84" id="84"/>
          <p:cNvSpPr txBox="true"/>
          <p:nvPr/>
        </p:nvSpPr>
        <p:spPr>
          <a:xfrm rot="0">
            <a:off x="13743432" y="4120591"/>
            <a:ext cx="329184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85" id="85"/>
          <p:cNvSpPr txBox="true"/>
          <p:nvPr/>
        </p:nvSpPr>
        <p:spPr>
          <a:xfrm rot="0">
            <a:off x="13670280" y="4921225"/>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grpSp>
        <p:nvGrpSpPr>
          <p:cNvPr name="Group 86" id="86"/>
          <p:cNvGrpSpPr/>
          <p:nvPr/>
        </p:nvGrpSpPr>
        <p:grpSpPr>
          <a:xfrm rot="0">
            <a:off x="813435" y="5828919"/>
            <a:ext cx="5444490" cy="3434334"/>
            <a:chOff x="0" y="0"/>
            <a:chExt cx="7259320" cy="4579112"/>
          </a:xfrm>
        </p:grpSpPr>
        <p:sp>
          <p:nvSpPr>
            <p:cNvPr name="Freeform 87" id="87"/>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8" id="88"/>
          <p:cNvGrpSpPr/>
          <p:nvPr/>
        </p:nvGrpSpPr>
        <p:grpSpPr>
          <a:xfrm rot="0">
            <a:off x="1051560" y="6067044"/>
            <a:ext cx="530352" cy="530352"/>
            <a:chOff x="0" y="0"/>
            <a:chExt cx="707136" cy="707136"/>
          </a:xfrm>
        </p:grpSpPr>
        <p:sp>
          <p:nvSpPr>
            <p:cNvPr name="Freeform 89" id="8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0" id="90"/>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1" id="91"/>
          <p:cNvSpPr txBox="true"/>
          <p:nvPr/>
        </p:nvSpPr>
        <p:spPr>
          <a:xfrm rot="0">
            <a:off x="171907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Loop umpan balik (loop knockout)</a:t>
            </a:r>
          </a:p>
        </p:txBody>
      </p:sp>
      <p:sp>
        <p:nvSpPr>
          <p:cNvPr name="TextBox 92" id="92"/>
          <p:cNvSpPr txBox="true"/>
          <p:nvPr/>
        </p:nvSpPr>
        <p:spPr>
          <a:xfrm rot="0">
            <a:off x="105156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dilumpuhkan per kali dengan menahan variabel penutupnya pada nilai tahun dasar (6 kasus: B1, B2, R2, okupansi, goal-seeking TK, semua rem).</a:t>
            </a:r>
          </a:p>
        </p:txBody>
      </p:sp>
      <p:grpSp>
        <p:nvGrpSpPr>
          <p:cNvPr name="Group 93" id="93"/>
          <p:cNvGrpSpPr/>
          <p:nvPr/>
        </p:nvGrpSpPr>
        <p:grpSpPr>
          <a:xfrm rot="0">
            <a:off x="987552" y="7656271"/>
            <a:ext cx="5096256" cy="819302"/>
            <a:chOff x="0" y="0"/>
            <a:chExt cx="6795008" cy="1092403"/>
          </a:xfrm>
        </p:grpSpPr>
        <p:sp>
          <p:nvSpPr>
            <p:cNvPr name="Freeform 94" id="94"/>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sp>
      </p:grpSp>
      <p:sp>
        <p:nvSpPr>
          <p:cNvPr name="TextBox 95" id="95"/>
          <p:cNvSpPr txBox="true"/>
          <p:nvPr/>
        </p:nvSpPr>
        <p:spPr>
          <a:xfrm rot="0">
            <a:off x="1124712" y="7718755"/>
            <a:ext cx="469392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96" id="96"/>
          <p:cNvSpPr txBox="true"/>
          <p:nvPr/>
        </p:nvSpPr>
        <p:spPr>
          <a:xfrm rot="0">
            <a:off x="1051560" y="851938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polaritas loop</a:t>
            </a:r>
          </a:p>
        </p:txBody>
      </p:sp>
      <p:grpSp>
        <p:nvGrpSpPr>
          <p:cNvPr name="Group 97" id="97"/>
          <p:cNvGrpSpPr/>
          <p:nvPr/>
        </p:nvGrpSpPr>
        <p:grpSpPr>
          <a:xfrm rot="0">
            <a:off x="642175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665988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732739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03" id="103"/>
          <p:cNvSpPr txBox="true"/>
          <p:nvPr/>
        </p:nvSpPr>
        <p:spPr>
          <a:xfrm rot="0">
            <a:off x="6659880" y="6696456"/>
            <a:ext cx="496824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04" id="104"/>
          <p:cNvSpPr txBox="true"/>
          <p:nvPr/>
        </p:nvSpPr>
        <p:spPr>
          <a:xfrm rot="0">
            <a:off x="6659880" y="813777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grpSp>
        <p:nvGrpSpPr>
          <p:cNvPr name="Group 105" id="105"/>
          <p:cNvGrpSpPr/>
          <p:nvPr/>
        </p:nvGrpSpPr>
        <p:grpSpPr>
          <a:xfrm rot="0">
            <a:off x="12030075" y="5828919"/>
            <a:ext cx="5444490" cy="3434334"/>
            <a:chOff x="0" y="0"/>
            <a:chExt cx="7259320" cy="4579112"/>
          </a:xfrm>
        </p:grpSpPr>
        <p:sp>
          <p:nvSpPr>
            <p:cNvPr name="Freeform 106" id="10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7" id="107"/>
          <p:cNvGrpSpPr/>
          <p:nvPr/>
        </p:nvGrpSpPr>
        <p:grpSpPr>
          <a:xfrm rot="0">
            <a:off x="12268200" y="6067044"/>
            <a:ext cx="530352" cy="530352"/>
            <a:chOff x="0" y="0"/>
            <a:chExt cx="707136" cy="707136"/>
          </a:xfrm>
        </p:grpSpPr>
        <p:sp>
          <p:nvSpPr>
            <p:cNvPr name="Freeform 108" id="10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9" id="10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0" id="110"/>
          <p:cNvSpPr txBox="true"/>
          <p:nvPr/>
        </p:nvSpPr>
        <p:spPr>
          <a:xfrm rot="0">
            <a:off x="1293571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Galat integrasi</a:t>
            </a:r>
          </a:p>
        </p:txBody>
      </p:sp>
      <p:sp>
        <p:nvSpPr>
          <p:cNvPr name="TextBox 111" id="111"/>
          <p:cNvSpPr txBox="true"/>
          <p:nvPr/>
        </p:nvSpPr>
        <p:spPr>
          <a:xfrm rot="0">
            <a:off x="1226820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12" id="112"/>
          <p:cNvGrpSpPr/>
          <p:nvPr/>
        </p:nvGrpSpPr>
        <p:grpSpPr>
          <a:xfrm rot="0">
            <a:off x="12204192" y="7656271"/>
            <a:ext cx="5096256" cy="1155802"/>
            <a:chOff x="0" y="0"/>
            <a:chExt cx="6795008" cy="1541069"/>
          </a:xfrm>
        </p:grpSpPr>
        <p:sp>
          <p:nvSpPr>
            <p:cNvPr name="Freeform 113" id="113"/>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sp>
      </p:grpSp>
      <p:sp>
        <p:nvSpPr>
          <p:cNvPr name="TextBox 114" id="114"/>
          <p:cNvSpPr txBox="true"/>
          <p:nvPr/>
        </p:nvSpPr>
        <p:spPr>
          <a:xfrm rot="0">
            <a:off x="12341352" y="7718755"/>
            <a:ext cx="4693920" cy="10110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perilaku: pola simulasi dibandingkan data, mengikuti urutan Barlas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grpSp>
        <p:nvGrpSpPr>
          <p:cNvPr name="Group 53" id="53"/>
          <p:cNvGrpSpPr/>
          <p:nvPr/>
        </p:nvGrpSpPr>
        <p:grpSpPr>
          <a:xfrm rot="0">
            <a:off x="813435" y="2230755"/>
            <a:ext cx="5779770" cy="2350770"/>
            <a:chOff x="0" y="0"/>
            <a:chExt cx="7706360" cy="3134360"/>
          </a:xfrm>
        </p:grpSpPr>
        <p:sp>
          <p:nvSpPr>
            <p:cNvPr name="Freeform 54" id="54"/>
            <p:cNvSpPr/>
            <p:nvPr/>
          </p:nvSpPr>
          <p:spPr>
            <a:xfrm flipH="false" flipV="false" rot="0">
              <a:off x="0" y="0"/>
              <a:ext cx="7706360" cy="3134360"/>
            </a:xfrm>
            <a:custGeom>
              <a:avLst/>
              <a:gdLst/>
              <a:ahLst/>
              <a:cxnLst/>
              <a:rect r="r" b="b" t="t" l="l"/>
              <a:pathLst>
                <a:path h="3134360" w="7706360">
                  <a:moveTo>
                    <a:pt x="0" y="172085"/>
                  </a:moveTo>
                  <a:cubicBezTo>
                    <a:pt x="0" y="77089"/>
                    <a:pt x="77089" y="0"/>
                    <a:pt x="172085" y="0"/>
                  </a:cubicBezTo>
                  <a:lnTo>
                    <a:pt x="7534275" y="0"/>
                  </a:lnTo>
                  <a:cubicBezTo>
                    <a:pt x="7629272" y="0"/>
                    <a:pt x="7706360" y="77089"/>
                    <a:pt x="7706360" y="172085"/>
                  </a:cubicBezTo>
                  <a:lnTo>
                    <a:pt x="7706360" y="2962275"/>
                  </a:lnTo>
                  <a:cubicBezTo>
                    <a:pt x="7706360" y="3057271"/>
                    <a:pt x="7629272" y="3134360"/>
                    <a:pt x="7534275" y="3134360"/>
                  </a:cubicBezTo>
                  <a:lnTo>
                    <a:pt x="172085" y="3134360"/>
                  </a:lnTo>
                  <a:cubicBezTo>
                    <a:pt x="77089" y="3134360"/>
                    <a:pt x="0" y="3057271"/>
                    <a:pt x="0" y="296227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58" id="58"/>
          <p:cNvSpPr txBox="true"/>
          <p:nvPr/>
        </p:nvSpPr>
        <p:spPr>
          <a:xfrm rot="0">
            <a:off x="1719072" y="243001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59" id="59"/>
          <p:cNvSpPr txBox="true"/>
          <p:nvPr/>
        </p:nvSpPr>
        <p:spPr>
          <a:xfrm rot="0">
            <a:off x="1051560" y="3079242"/>
            <a:ext cx="5303520" cy="110200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grpSp>
        <p:nvGrpSpPr>
          <p:cNvPr name="Group 60" id="60"/>
          <p:cNvGrpSpPr/>
          <p:nvPr/>
        </p:nvGrpSpPr>
        <p:grpSpPr>
          <a:xfrm rot="0">
            <a:off x="813435" y="4699635"/>
            <a:ext cx="5779770" cy="1847850"/>
            <a:chOff x="0" y="0"/>
            <a:chExt cx="7706360" cy="2463800"/>
          </a:xfrm>
        </p:grpSpPr>
        <p:sp>
          <p:nvSpPr>
            <p:cNvPr name="Freeform 61" id="61"/>
            <p:cNvSpPr/>
            <p:nvPr/>
          </p:nvSpPr>
          <p:spPr>
            <a:xfrm flipH="false" flipV="false" rot="0">
              <a:off x="0" y="0"/>
              <a:ext cx="7706360" cy="2463800"/>
            </a:xfrm>
            <a:custGeom>
              <a:avLst/>
              <a:gdLst/>
              <a:ahLst/>
              <a:cxnLst/>
              <a:rect r="r" b="b" t="t" l="l"/>
              <a:pathLst>
                <a:path h="2463800" w="7706360">
                  <a:moveTo>
                    <a:pt x="0" y="172466"/>
                  </a:moveTo>
                  <a:cubicBezTo>
                    <a:pt x="0" y="77216"/>
                    <a:pt x="77216" y="0"/>
                    <a:pt x="172466" y="0"/>
                  </a:cubicBezTo>
                  <a:lnTo>
                    <a:pt x="7533894" y="0"/>
                  </a:lnTo>
                  <a:cubicBezTo>
                    <a:pt x="7629144" y="0"/>
                    <a:pt x="7706360" y="77216"/>
                    <a:pt x="7706360" y="172466"/>
                  </a:cubicBezTo>
                  <a:lnTo>
                    <a:pt x="7706360" y="2291334"/>
                  </a:lnTo>
                  <a:cubicBezTo>
                    <a:pt x="7706360" y="2386584"/>
                    <a:pt x="7629144" y="2463800"/>
                    <a:pt x="7533894" y="2463800"/>
                  </a:cubicBezTo>
                  <a:lnTo>
                    <a:pt x="172466" y="2463800"/>
                  </a:lnTo>
                  <a:cubicBezTo>
                    <a:pt x="77216" y="2463800"/>
                    <a:pt x="0" y="2386584"/>
                    <a:pt x="0" y="229133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1051560" y="493776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65" id="65"/>
          <p:cNvSpPr txBox="true"/>
          <p:nvPr/>
        </p:nvSpPr>
        <p:spPr>
          <a:xfrm rot="0">
            <a:off x="1719072" y="489889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66" id="66"/>
          <p:cNvSpPr txBox="true"/>
          <p:nvPr/>
        </p:nvSpPr>
        <p:spPr>
          <a:xfrm rot="0">
            <a:off x="1051560" y="5548122"/>
            <a:ext cx="5303520" cy="85450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seluruh umpan balik aktif; 9 variabel dinilai. Angka utama: dengan 2020–2021 (jendela hanya 7 tahun).</a:t>
            </a:r>
          </a:p>
        </p:txBody>
      </p:sp>
      <p:grpSp>
        <p:nvGrpSpPr>
          <p:cNvPr name="Group 67" id="67"/>
          <p:cNvGrpSpPr/>
          <p:nvPr/>
        </p:nvGrpSpPr>
        <p:grpSpPr>
          <a:xfrm rot="0">
            <a:off x="813435" y="6665595"/>
            <a:ext cx="5779770" cy="2597658"/>
            <a:chOff x="0" y="0"/>
            <a:chExt cx="7706360" cy="3463544"/>
          </a:xfrm>
        </p:grpSpPr>
        <p:sp>
          <p:nvSpPr>
            <p:cNvPr name="Freeform 68" id="68"/>
            <p:cNvSpPr/>
            <p:nvPr/>
          </p:nvSpPr>
          <p:spPr>
            <a:xfrm flipH="false" flipV="false" rot="0">
              <a:off x="0" y="0"/>
              <a:ext cx="7706360" cy="3463544"/>
            </a:xfrm>
            <a:custGeom>
              <a:avLst/>
              <a:gdLst/>
              <a:ahLst/>
              <a:cxnLst/>
              <a:rect r="r" b="b" t="t" l="l"/>
              <a:pathLst>
                <a:path h="3463544" w="7706360">
                  <a:moveTo>
                    <a:pt x="0" y="171958"/>
                  </a:moveTo>
                  <a:cubicBezTo>
                    <a:pt x="0" y="76962"/>
                    <a:pt x="76962" y="0"/>
                    <a:pt x="171958" y="0"/>
                  </a:cubicBezTo>
                  <a:lnTo>
                    <a:pt x="7534402" y="0"/>
                  </a:lnTo>
                  <a:cubicBezTo>
                    <a:pt x="7629398" y="0"/>
                    <a:pt x="7706360" y="76962"/>
                    <a:pt x="7706360" y="171958"/>
                  </a:cubicBezTo>
                  <a:lnTo>
                    <a:pt x="7706360" y="3291586"/>
                  </a:lnTo>
                  <a:cubicBezTo>
                    <a:pt x="7706360" y="3386582"/>
                    <a:pt x="7629398" y="3463544"/>
                    <a:pt x="7534402" y="3463544"/>
                  </a:cubicBezTo>
                  <a:lnTo>
                    <a:pt x="171958" y="3463544"/>
                  </a:lnTo>
                  <a:cubicBezTo>
                    <a:pt x="76962" y="3463544"/>
                    <a:pt x="0" y="3386582"/>
                    <a:pt x="0" y="3291586"/>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051560" y="690372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72" id="72"/>
          <p:cNvSpPr txBox="true"/>
          <p:nvPr/>
        </p:nvSpPr>
        <p:spPr>
          <a:xfrm rot="0">
            <a:off x="1719072" y="686485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Penyambungan wisnus (untuk P5)</a:t>
            </a:r>
          </a:p>
        </p:txBody>
      </p:sp>
      <p:grpSp>
        <p:nvGrpSpPr>
          <p:cNvPr name="Group 73" id="73"/>
          <p:cNvGrpSpPr/>
          <p:nvPr/>
        </p:nvGrpSpPr>
        <p:grpSpPr>
          <a:xfrm rot="0">
            <a:off x="987552" y="7571232"/>
            <a:ext cx="5431536" cy="1159459"/>
            <a:chOff x="0" y="0"/>
            <a:chExt cx="7242048" cy="1545946"/>
          </a:xfrm>
        </p:grpSpPr>
        <p:sp>
          <p:nvSpPr>
            <p:cNvPr name="Freeform 74" id="74"/>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sp>
      </p:grpSp>
      <p:sp>
        <p:nvSpPr>
          <p:cNvPr name="TextBox 75" id="75"/>
          <p:cNvSpPr txBox="true"/>
          <p:nvPr/>
        </p:nvSpPr>
        <p:spPr>
          <a:xfrm rot="0">
            <a:off x="1124712" y="7643241"/>
            <a:ext cx="5029200" cy="1005154"/>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76" id="76"/>
          <p:cNvSpPr txBox="true"/>
          <p:nvPr/>
        </p:nvSpPr>
        <p:spPr>
          <a:xfrm rot="0">
            <a:off x="1051560" y="8774506"/>
            <a:ext cx="530352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77" id="77"/>
          <p:cNvGraphicFramePr>
            <a:graphicFrameLocks noGrp="true"/>
          </p:cNvGraphicFramePr>
          <p:nvPr/>
        </p:nvGraphicFramePr>
        <p:xfrm>
          <a:off x="6812280" y="2240280"/>
          <a:ext cx="10629900" cy="6413500"/>
        </p:xfrm>
        <a:graphic>
          <a:graphicData uri="http://schemas.openxmlformats.org/drawingml/2006/table">
            <a:tbl>
              <a:tblPr/>
              <a:tblGrid>
                <a:gridCol w="2189851"/>
                <a:gridCol w="4744676"/>
                <a:gridCol w="3695373"/>
              </a:tblGrid>
              <a:tr h="537194">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ditafsirkan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galat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galat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galat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ambang: U1/U2 dominan → galat sistematis (dasar kalibrasi); U3 dominan → derau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protokol dan aturan keputusan ditetapkan sebelum pencarian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grpSp>
        <p:nvGrpSpPr>
          <p:cNvPr name="Group 53" id="53"/>
          <p:cNvGrpSpPr/>
          <p:nvPr/>
        </p:nvGrpSpPr>
        <p:grpSpPr>
          <a:xfrm rot="0">
            <a:off x="822960" y="2240280"/>
            <a:ext cx="8229600" cy="1024128"/>
            <a:chOff x="0" y="0"/>
            <a:chExt cx="10972800" cy="1365504"/>
          </a:xfrm>
        </p:grpSpPr>
        <p:sp>
          <p:nvSpPr>
            <p:cNvPr name="Freeform 54" id="54"/>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55" id="55"/>
          <p:cNvGrpSpPr/>
          <p:nvPr/>
        </p:nvGrpSpPr>
        <p:grpSpPr>
          <a:xfrm rot="0">
            <a:off x="1005840" y="2404872"/>
            <a:ext cx="457200" cy="457200"/>
            <a:chOff x="0" y="0"/>
            <a:chExt cx="609600" cy="609600"/>
          </a:xfrm>
        </p:grpSpPr>
        <p:sp>
          <p:nvSpPr>
            <p:cNvPr name="Freeform 56" id="5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57" id="5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600200" y="2311146"/>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59" id="59"/>
          <p:cNvSpPr txBox="true"/>
          <p:nvPr/>
        </p:nvSpPr>
        <p:spPr>
          <a:xfrm rot="0">
            <a:off x="1600200" y="2649855"/>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tidak pasti (asumsi/estimasi). Data resmi, identitas stok-aliran, dan nilai referensi tidak dikalibrasi.</a:t>
            </a:r>
          </a:p>
        </p:txBody>
      </p:sp>
      <p:grpSp>
        <p:nvGrpSpPr>
          <p:cNvPr name="Group 60" id="60"/>
          <p:cNvGrpSpPr/>
          <p:nvPr/>
        </p:nvGrpSpPr>
        <p:grpSpPr>
          <a:xfrm rot="0">
            <a:off x="822960" y="3374136"/>
            <a:ext cx="8229600" cy="1298448"/>
            <a:chOff x="0" y="0"/>
            <a:chExt cx="10972800" cy="1731264"/>
          </a:xfrm>
        </p:grpSpPr>
        <p:sp>
          <p:nvSpPr>
            <p:cNvPr name="Freeform 61" id="61"/>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62" id="62"/>
          <p:cNvGrpSpPr/>
          <p:nvPr/>
        </p:nvGrpSpPr>
        <p:grpSpPr>
          <a:xfrm rot="0">
            <a:off x="1005840" y="3538728"/>
            <a:ext cx="457200" cy="457200"/>
            <a:chOff x="0" y="0"/>
            <a:chExt cx="609600" cy="609600"/>
          </a:xfrm>
        </p:grpSpPr>
        <p:sp>
          <p:nvSpPr>
            <p:cNvPr name="Freeform 63" id="6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64" id="64"/>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1600200" y="3445002"/>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66" id="66"/>
          <p:cNvSpPr txBox="true"/>
          <p:nvPr/>
        </p:nvSpPr>
        <p:spPr>
          <a:xfrm rot="0">
            <a:off x="1600200" y="3783711"/>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Triangulasi rujukan, atau selang kepercayaan 95% tren log-linear:</a:t>
            </a:r>
          </a:p>
        </p:txBody>
      </p:sp>
      <p:sp>
        <p:nvSpPr>
          <p:cNvPr name="TextBox 67" id="67"/>
          <p:cNvSpPr txBox="true"/>
          <p:nvPr/>
        </p:nvSpPr>
        <p:spPr>
          <a:xfrm rot="0">
            <a:off x="1600200" y="4259961"/>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68" id="68"/>
          <p:cNvGrpSpPr/>
          <p:nvPr/>
        </p:nvGrpSpPr>
        <p:grpSpPr>
          <a:xfrm rot="0">
            <a:off x="822960" y="4782312"/>
            <a:ext cx="8229600" cy="1024128"/>
            <a:chOff x="0" y="0"/>
            <a:chExt cx="10972800" cy="1365504"/>
          </a:xfrm>
        </p:grpSpPr>
        <p:sp>
          <p:nvSpPr>
            <p:cNvPr name="Freeform 69" id="69"/>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70" id="70"/>
          <p:cNvGrpSpPr/>
          <p:nvPr/>
        </p:nvGrpSpPr>
        <p:grpSpPr>
          <a:xfrm rot="0">
            <a:off x="1005840" y="4946904"/>
            <a:ext cx="457200" cy="457200"/>
            <a:chOff x="0" y="0"/>
            <a:chExt cx="609600" cy="609600"/>
          </a:xfrm>
        </p:grpSpPr>
        <p:sp>
          <p:nvSpPr>
            <p:cNvPr name="Freeform 71" id="7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2" id="72"/>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600200" y="4853178"/>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berpasangan dihitung ulang</a:t>
            </a:r>
          </a:p>
        </p:txBody>
      </p:sp>
      <p:sp>
        <p:nvSpPr>
          <p:cNvPr name="TextBox 74" id="74"/>
          <p:cNvSpPr txBox="true"/>
          <p:nvPr/>
        </p:nvSpPr>
        <p:spPr>
          <a:xfrm rot="0">
            <a:off x="1600200" y="5191887"/>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titik pencarian mengikuti identitas stok-aliran agar konsisten dengan data historis.</a:t>
            </a:r>
          </a:p>
        </p:txBody>
      </p:sp>
      <p:grpSp>
        <p:nvGrpSpPr>
          <p:cNvPr name="Group 75" id="75"/>
          <p:cNvGrpSpPr/>
          <p:nvPr/>
        </p:nvGrpSpPr>
        <p:grpSpPr>
          <a:xfrm rot="0">
            <a:off x="822960" y="5916168"/>
            <a:ext cx="8229600" cy="1298448"/>
            <a:chOff x="0" y="0"/>
            <a:chExt cx="10972800" cy="1731264"/>
          </a:xfrm>
        </p:grpSpPr>
        <p:sp>
          <p:nvSpPr>
            <p:cNvPr name="Freeform 76" id="7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77" id="77"/>
          <p:cNvGrpSpPr/>
          <p:nvPr/>
        </p:nvGrpSpPr>
        <p:grpSpPr>
          <a:xfrm rot="0">
            <a:off x="1005840" y="6080760"/>
            <a:ext cx="457200" cy="457200"/>
            <a:chOff x="0" y="0"/>
            <a:chExt cx="609600" cy="609600"/>
          </a:xfrm>
        </p:grpSpPr>
        <p:sp>
          <p:nvSpPr>
            <p:cNvPr name="Freeform 78" id="7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9" id="79"/>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600200" y="5987034"/>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81" id="81"/>
          <p:cNvSpPr txBox="true"/>
          <p:nvPr/>
        </p:nvSpPr>
        <p:spPr>
          <a:xfrm rot="0">
            <a:off x="1600200" y="6325743"/>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82" id="82"/>
          <p:cNvSpPr txBox="true"/>
          <p:nvPr/>
        </p:nvSpPr>
        <p:spPr>
          <a:xfrm rot="0">
            <a:off x="1600200" y="6801993"/>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83" id="83"/>
          <p:cNvGrpSpPr/>
          <p:nvPr/>
        </p:nvGrpSpPr>
        <p:grpSpPr>
          <a:xfrm rot="0">
            <a:off x="822960" y="7324344"/>
            <a:ext cx="8229600" cy="1298448"/>
            <a:chOff x="0" y="0"/>
            <a:chExt cx="10972800" cy="1731264"/>
          </a:xfrm>
        </p:grpSpPr>
        <p:sp>
          <p:nvSpPr>
            <p:cNvPr name="Freeform 84" id="84"/>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85" id="85"/>
          <p:cNvGrpSpPr/>
          <p:nvPr/>
        </p:nvGrpSpPr>
        <p:grpSpPr>
          <a:xfrm rot="0">
            <a:off x="1005840" y="7488936"/>
            <a:ext cx="457200" cy="457200"/>
            <a:chOff x="0" y="0"/>
            <a:chExt cx="609600" cy="609600"/>
          </a:xfrm>
        </p:grpSpPr>
        <p:sp>
          <p:nvSpPr>
            <p:cNvPr name="Freeform 86" id="8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87" id="8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88" id="88"/>
          <p:cNvSpPr txBox="true"/>
          <p:nvPr/>
        </p:nvSpPr>
        <p:spPr>
          <a:xfrm rot="0">
            <a:off x="1600200" y="7395210"/>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Himpunan indiferen</a:t>
            </a:r>
          </a:p>
        </p:txBody>
      </p:sp>
      <p:sp>
        <p:nvSpPr>
          <p:cNvPr name="TextBox 89" id="89"/>
          <p:cNvSpPr txBox="true"/>
          <p:nvPr/>
        </p:nvSpPr>
        <p:spPr>
          <a:xfrm rot="0">
            <a:off x="1600200" y="7733919"/>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90" id="90"/>
          <p:cNvSpPr txBox="true"/>
          <p:nvPr/>
        </p:nvSpPr>
        <p:spPr>
          <a:xfrm rot="0">
            <a:off x="1600200" y="8210169"/>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91" id="91"/>
          <p:cNvGraphicFramePr>
            <a:graphicFrameLocks noGrp="true"/>
          </p:cNvGraphicFramePr>
          <p:nvPr/>
        </p:nvGraphicFramePr>
        <p:xfrm>
          <a:off x="9281160" y="2240280"/>
          <a:ext cx="8166100" cy="2540000"/>
        </p:xfrm>
        <a:graphic>
          <a:graphicData uri="http://schemas.openxmlformats.org/drawingml/2006/table">
            <a:tbl>
              <a:tblPr/>
              <a:tblGrid>
                <a:gridCol w="729930"/>
                <a:gridCol w="3010964"/>
                <a:gridCol w="4425206"/>
              </a:tblGrid>
              <a:tr h="44165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turunan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teridentifikasi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2" id="92"/>
          <p:cNvGrpSpPr/>
          <p:nvPr/>
        </p:nvGrpSpPr>
        <p:grpSpPr>
          <a:xfrm rot="0">
            <a:off x="9271635" y="4882515"/>
            <a:ext cx="8202930" cy="4380738"/>
            <a:chOff x="0" y="0"/>
            <a:chExt cx="10937240" cy="5840984"/>
          </a:xfrm>
        </p:grpSpPr>
        <p:sp>
          <p:nvSpPr>
            <p:cNvPr name="Freeform 93" id="93"/>
            <p:cNvSpPr/>
            <p:nvPr/>
          </p:nvSpPr>
          <p:spPr>
            <a:xfrm flipH="false" flipV="false" rot="0">
              <a:off x="0" y="0"/>
              <a:ext cx="10937240" cy="5840984"/>
            </a:xfrm>
            <a:custGeom>
              <a:avLst/>
              <a:gdLst/>
              <a:ahLst/>
              <a:cxnLst/>
              <a:rect r="r" b="b" t="t" l="l"/>
              <a:pathLst>
                <a:path h="5840984" w="10937240">
                  <a:moveTo>
                    <a:pt x="0" y="171450"/>
                  </a:moveTo>
                  <a:cubicBezTo>
                    <a:pt x="0" y="76708"/>
                    <a:pt x="76708" y="0"/>
                    <a:pt x="171450" y="0"/>
                  </a:cubicBezTo>
                  <a:lnTo>
                    <a:pt x="10765790" y="0"/>
                  </a:lnTo>
                  <a:cubicBezTo>
                    <a:pt x="10860532" y="0"/>
                    <a:pt x="10937240" y="76708"/>
                    <a:pt x="10937240" y="171450"/>
                  </a:cubicBezTo>
                  <a:lnTo>
                    <a:pt x="10937240" y="5669534"/>
                  </a:lnTo>
                  <a:cubicBezTo>
                    <a:pt x="10937240" y="5764276"/>
                    <a:pt x="10860532" y="5840984"/>
                    <a:pt x="10765790" y="5840984"/>
                  </a:cubicBezTo>
                  <a:lnTo>
                    <a:pt x="171450" y="5840984"/>
                  </a:lnTo>
                  <a:cubicBezTo>
                    <a:pt x="76708" y="5840984"/>
                    <a:pt x="0" y="5764276"/>
                    <a:pt x="0" y="5669534"/>
                  </a:cubicBezTo>
                  <a:close/>
                </a:path>
              </a:pathLst>
            </a:custGeom>
            <a:solidFill>
              <a:srgbClr val="FFFFFF"/>
            </a:solidFill>
            <a:ln w="19050" cap="sq">
              <a:solidFill>
                <a:srgbClr val="CFE5E9"/>
              </a:solidFill>
              <a:prstDash val="solid"/>
              <a:miter/>
            </a:ln>
          </p:spPr>
        </p:sp>
      </p:grpSp>
      <p:sp>
        <p:nvSpPr>
          <p:cNvPr name="TextBox 94" id="94"/>
          <p:cNvSpPr txBox="true"/>
          <p:nvPr/>
        </p:nvSpPr>
        <p:spPr>
          <a:xfrm rot="0">
            <a:off x="9555480" y="4972050"/>
            <a:ext cx="768096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95" id="95"/>
          <p:cNvSpPr txBox="true"/>
          <p:nvPr/>
        </p:nvSpPr>
        <p:spPr>
          <a:xfrm rot="0">
            <a:off x="9555480" y="5356098"/>
            <a:ext cx="7680960" cy="197739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TPK ambang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96" id="96"/>
          <p:cNvSpPr txBox="true"/>
          <p:nvPr/>
        </p:nvSpPr>
        <p:spPr>
          <a:xfrm rot="0">
            <a:off x="9555480" y="7267575"/>
            <a:ext cx="7680960" cy="367665"/>
          </a:xfrm>
          <a:prstGeom prst="rect">
            <a:avLst/>
          </a:prstGeom>
        </p:spPr>
        <p:txBody>
          <a:bodyPr anchor="t" rtlCol="false" tIns="0" lIns="0" bIns="0" rIns="0">
            <a:spAutoFit/>
          </a:bodyPr>
          <a:lstStyle/>
          <a:p>
            <a:pPr algn="l">
              <a:lnSpc>
                <a:spcPts val="1814"/>
              </a:lnSpc>
            </a:pPr>
            <a:r>
              <a:rPr lang="en-US" sz="1350" b="true">
                <a:solidFill>
                  <a:srgbClr val="0B5E6E"/>
                </a:solidFill>
                <a:latin typeface="Calibri (MS) Bold"/>
                <a:ea typeface="Calibri (MS) Bold"/>
                <a:cs typeface="Calibri (MS) Bold"/>
                <a:sym typeface="Calibri (MS) Bold"/>
              </a:rPr>
              <a:t>Pemicu penolakan pada Tahap 4 (ambang 1,05)</a:t>
            </a:r>
          </a:p>
        </p:txBody>
      </p:sp>
      <p:sp>
        <p:nvSpPr>
          <p:cNvPr name="TextBox 97" id="97"/>
          <p:cNvSpPr txBox="true"/>
          <p:nvPr/>
        </p:nvSpPr>
        <p:spPr>
          <a:xfrm rot="0">
            <a:off x="9555480" y="7615047"/>
            <a:ext cx="7680960" cy="1602105"/>
          </a:xfrm>
          <a:prstGeom prst="rect">
            <a:avLst/>
          </a:prstGeom>
        </p:spPr>
        <p:txBody>
          <a:bodyPr anchor="t" rtlCol="false" tIns="0" lIns="0" bIns="0" rIns="0">
            <a:spAutoFit/>
          </a:bodyPr>
          <a:lstStyle/>
          <a:p>
            <a:pPr algn="l">
              <a:lnSpc>
                <a:spcPts val="1814"/>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4"/>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4"/>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4"/>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Analisis sensitivitas dan kekokohan: dari ±10% hingga rentang penuh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24</a:t>
            </a:r>
          </a:p>
        </p:txBody>
      </p:sp>
      <p:grpSp>
        <p:nvGrpSpPr>
          <p:cNvPr name="Group 53" id="53"/>
          <p:cNvGrpSpPr/>
          <p:nvPr/>
        </p:nvGrpSpPr>
        <p:grpSpPr>
          <a:xfrm rot="0">
            <a:off x="813435" y="2230755"/>
            <a:ext cx="5444490" cy="3434334"/>
            <a:chOff x="0" y="0"/>
            <a:chExt cx="7259320" cy="4579112"/>
          </a:xfrm>
        </p:grpSpPr>
        <p:sp>
          <p:nvSpPr>
            <p:cNvPr name="Freeform 54" id="5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59" id="59"/>
          <p:cNvSpPr txBox="true"/>
          <p:nvPr/>
        </p:nvSpPr>
        <p:spPr>
          <a:xfrm rot="0">
            <a:off x="1051560" y="322653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Prosedur Mai dan Smith (2018): 32 parameter diubah naik dan turun 10%, satu parameter per simulasi. Kedua tuas dikecualikan (bernilai nol pada kondisi dasar).</a:t>
            </a:r>
          </a:p>
        </p:txBody>
      </p:sp>
      <p:grpSp>
        <p:nvGrpSpPr>
          <p:cNvPr name="Group 60" id="60"/>
          <p:cNvGrpSpPr/>
          <p:nvPr/>
        </p:nvGrpSpPr>
        <p:grpSpPr>
          <a:xfrm rot="0">
            <a:off x="987552" y="4494581"/>
            <a:ext cx="5096256" cy="546202"/>
            <a:chOff x="0" y="0"/>
            <a:chExt cx="6795008" cy="728269"/>
          </a:xfrm>
        </p:grpSpPr>
        <p:sp>
          <p:nvSpPr>
            <p:cNvPr name="Freeform 61" id="61"/>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sp>
      </p:grpSp>
      <p:sp>
        <p:nvSpPr>
          <p:cNvPr name="TextBox 62" id="62"/>
          <p:cNvSpPr txBox="true"/>
          <p:nvPr/>
        </p:nvSpPr>
        <p:spPr>
          <a:xfrm rot="0">
            <a:off x="1124712" y="4566590"/>
            <a:ext cx="4693920" cy="391897"/>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63" id="63"/>
          <p:cNvSpPr txBox="true"/>
          <p:nvPr/>
        </p:nvSpPr>
        <p:spPr>
          <a:xfrm rot="0">
            <a:off x="1051560" y="50750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grpSp>
        <p:nvGrpSpPr>
          <p:cNvPr name="Group 64" id="64"/>
          <p:cNvGrpSpPr/>
          <p:nvPr/>
        </p:nvGrpSpPr>
        <p:grpSpPr>
          <a:xfrm rot="0">
            <a:off x="6421755" y="2230755"/>
            <a:ext cx="5444490" cy="3434334"/>
            <a:chOff x="0" y="0"/>
            <a:chExt cx="7259320" cy="4579112"/>
          </a:xfrm>
        </p:grpSpPr>
        <p:sp>
          <p:nvSpPr>
            <p:cNvPr name="Freeform 65" id="65"/>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6" id="66"/>
          <p:cNvGrpSpPr/>
          <p:nvPr/>
        </p:nvGrpSpPr>
        <p:grpSpPr>
          <a:xfrm rot="0">
            <a:off x="6659880" y="2468880"/>
            <a:ext cx="530352" cy="530352"/>
            <a:chOff x="0" y="0"/>
            <a:chExt cx="707136" cy="707136"/>
          </a:xfrm>
        </p:grpSpPr>
        <p:sp>
          <p:nvSpPr>
            <p:cNvPr name="Freeform 67" id="6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8" id="68"/>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9" id="69"/>
          <p:cNvSpPr txBox="true"/>
          <p:nvPr/>
        </p:nvSpPr>
        <p:spPr>
          <a:xfrm rot="0">
            <a:off x="732739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2 · Rentang penuh</a:t>
            </a:r>
          </a:p>
        </p:txBody>
      </p:sp>
      <p:sp>
        <p:nvSpPr>
          <p:cNvPr name="TextBox 70" id="70"/>
          <p:cNvSpPr txBox="true"/>
          <p:nvPr/>
        </p:nvSpPr>
        <p:spPr>
          <a:xfrm rot="0">
            <a:off x="665988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17 kelompok parameter berstatus asumsi beserta kedua tuas diuji pada seluruh rentangnya (triangulasi rujukan atau selang kepercayaan 95%, sama dengan rentang kalibrasi).</a:t>
            </a:r>
          </a:p>
        </p:txBody>
      </p:sp>
      <p:grpSp>
        <p:nvGrpSpPr>
          <p:cNvPr name="Group 71" id="71"/>
          <p:cNvGrpSpPr/>
          <p:nvPr/>
        </p:nvGrpSpPr>
        <p:grpSpPr>
          <a:xfrm rot="0">
            <a:off x="6595872" y="4356811"/>
            <a:ext cx="5096256" cy="836371"/>
            <a:chOff x="0" y="0"/>
            <a:chExt cx="6795008" cy="1115162"/>
          </a:xfrm>
        </p:grpSpPr>
        <p:sp>
          <p:nvSpPr>
            <p:cNvPr name="Freeform 72" id="72"/>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sp>
      </p:grpSp>
      <p:sp>
        <p:nvSpPr>
          <p:cNvPr name="TextBox 73" id="73"/>
          <p:cNvSpPr txBox="true"/>
          <p:nvPr/>
        </p:nvSpPr>
        <p:spPr>
          <a:xfrm rot="0">
            <a:off x="6733032" y="4428820"/>
            <a:ext cx="4693920" cy="682066"/>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Lebar rentang = Keluaran_maks − Keluaran_min</a:t>
            </a:r>
          </a:p>
        </p:txBody>
      </p:sp>
      <p:sp>
        <p:nvSpPr>
          <p:cNvPr name="TextBox 74" id="74"/>
          <p:cNvSpPr txBox="true"/>
          <p:nvPr/>
        </p:nvSpPr>
        <p:spPr>
          <a:xfrm rot="0">
            <a:off x="6659880" y="52274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grpSp>
        <p:nvGrpSpPr>
          <p:cNvPr name="Group 75" id="75"/>
          <p:cNvGrpSpPr/>
          <p:nvPr/>
        </p:nvGrpSpPr>
        <p:grpSpPr>
          <a:xfrm rot="0">
            <a:off x="12030075" y="2230755"/>
            <a:ext cx="5444490" cy="3434334"/>
            <a:chOff x="0" y="0"/>
            <a:chExt cx="7259320" cy="4579112"/>
          </a:xfrm>
        </p:grpSpPr>
        <p:sp>
          <p:nvSpPr>
            <p:cNvPr name="Freeform 76" id="7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226820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0" id="80"/>
          <p:cNvSpPr txBox="true"/>
          <p:nvPr/>
        </p:nvSpPr>
        <p:spPr>
          <a:xfrm rot="0">
            <a:off x="1293571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Kekokohan peringkat skenario</a:t>
            </a:r>
          </a:p>
        </p:txBody>
      </p:sp>
      <p:sp>
        <p:nvSpPr>
          <p:cNvPr name="TextBox 81" id="81"/>
          <p:cNvSpPr txBox="true"/>
          <p:nvPr/>
        </p:nvSpPr>
        <p:spPr>
          <a:xfrm rot="0">
            <a:off x="1226820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82" id="82"/>
          <p:cNvSpPr txBox="true"/>
          <p:nvPr/>
        </p:nvSpPr>
        <p:spPr>
          <a:xfrm rot="0">
            <a:off x="12268200" y="4299661"/>
            <a:ext cx="496824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Kokoh bila urutan skenario pada 7 indikator identik di C0–C6</a:t>
            </a:r>
          </a:p>
        </p:txBody>
      </p:sp>
      <p:grpSp>
        <p:nvGrpSpPr>
          <p:cNvPr name="Group 83" id="83"/>
          <p:cNvGrpSpPr/>
          <p:nvPr/>
        </p:nvGrpSpPr>
        <p:grpSpPr>
          <a:xfrm rot="0">
            <a:off x="813435" y="5828919"/>
            <a:ext cx="5444490" cy="3434334"/>
            <a:chOff x="0" y="0"/>
            <a:chExt cx="7259320" cy="4579112"/>
          </a:xfrm>
        </p:grpSpPr>
        <p:sp>
          <p:nvSpPr>
            <p:cNvPr name="Freeform 84" id="8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5" id="85"/>
          <p:cNvGrpSpPr/>
          <p:nvPr/>
        </p:nvGrpSpPr>
        <p:grpSpPr>
          <a:xfrm rot="0">
            <a:off x="1051560" y="6067044"/>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7" id="8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8" id="88"/>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89" id="89"/>
          <p:cNvSpPr txBox="true"/>
          <p:nvPr/>
        </p:nvSpPr>
        <p:spPr>
          <a:xfrm rot="0">
            <a:off x="1051560" y="6686931"/>
            <a:ext cx="4968240" cy="1467993"/>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grpSp>
        <p:nvGrpSpPr>
          <p:cNvPr name="Group 90" id="90"/>
          <p:cNvGrpSpPr/>
          <p:nvPr/>
        </p:nvGrpSpPr>
        <p:grpSpPr>
          <a:xfrm rot="0">
            <a:off x="6421755" y="5828919"/>
            <a:ext cx="5444490" cy="3434334"/>
            <a:chOff x="0" y="0"/>
            <a:chExt cx="7259320" cy="4579112"/>
          </a:xfrm>
        </p:grpSpPr>
        <p:sp>
          <p:nvSpPr>
            <p:cNvPr name="Freeform 91" id="9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2" id="92"/>
          <p:cNvGrpSpPr/>
          <p:nvPr/>
        </p:nvGrpSpPr>
        <p:grpSpPr>
          <a:xfrm rot="0">
            <a:off x="6659880" y="6067044"/>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4" id="9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5" id="9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Ketentuan pengujian</a:t>
            </a:r>
          </a:p>
        </p:txBody>
      </p:sp>
      <p:sp>
        <p:nvSpPr>
          <p:cNvPr name="TextBox 96" id="96"/>
          <p:cNvSpPr txBox="true"/>
          <p:nvPr/>
        </p:nvSpPr>
        <p:spPr>
          <a:xfrm rot="0">
            <a:off x="6659880" y="6686931"/>
            <a:ext cx="4968240" cy="1741094"/>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Parameter berpasangan dihitung ulang (LPE–LPD rasio 0,75; TPK ambang/demolisi–sensitivitas konstruksi; penutupan ODTW–sensitivitas ODTW; luas lahan–nilai referensi); ketiga bobot daya tarik dinormalisasi ulang agar berjumlah 1; nilai awal stok diubah melalui kondisi awal simulasi.</a:t>
            </a:r>
          </a:p>
        </p:txBody>
      </p:sp>
      <p:grpSp>
        <p:nvGrpSpPr>
          <p:cNvPr name="Group 97" id="97"/>
          <p:cNvGrpSpPr/>
          <p:nvPr/>
        </p:nvGrpSpPr>
        <p:grpSpPr>
          <a:xfrm rot="0">
            <a:off x="1203007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1226820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1293571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Penetapan tuas kebijakan</a:t>
            </a:r>
          </a:p>
        </p:txBody>
      </p:sp>
      <p:sp>
        <p:nvSpPr>
          <p:cNvPr name="TextBox 103" id="103"/>
          <p:cNvSpPr txBox="true"/>
          <p:nvPr/>
        </p:nvSpPr>
        <p:spPr>
          <a:xfrm rot="0">
            <a:off x="12268200" y="6686931"/>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Hasil sensitivitas menjadi kriteria pertama (relevansi struktural), lalu disaring dengan dasar kebijakan dan keterkendalian → Insentif Kebijakan dan Kebijakan Konservasi Lahan.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Tuas kebijakan disaring dengan tiga kriteria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15768"/>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715768"/>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87193"/>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715768"/>
            <a:ext cx="3840480" cy="685800"/>
            <a:chOff x="0" y="0"/>
            <a:chExt cx="5120640" cy="914400"/>
          </a:xfrm>
        </p:grpSpPr>
        <p:sp>
          <p:nvSpPr>
            <p:cNvPr name="Freeform 61" id="61"/>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62" id="62"/>
          <p:cNvGrpSpPr/>
          <p:nvPr/>
        </p:nvGrpSpPr>
        <p:grpSpPr>
          <a:xfrm rot="0">
            <a:off x="2125980" y="2680049"/>
            <a:ext cx="3840480" cy="721519"/>
            <a:chOff x="0" y="0"/>
            <a:chExt cx="5120640" cy="962025"/>
          </a:xfrm>
        </p:grpSpPr>
        <p:sp>
          <p:nvSpPr>
            <p:cNvPr name="Freeform 63" id="63"/>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64" id="64"/>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Relevansi struktural</a:t>
              </a:r>
            </a:p>
          </p:txBody>
        </p:sp>
      </p:grpSp>
      <p:sp>
        <p:nvSpPr>
          <p:cNvPr name="TextBox 65" id="65"/>
          <p:cNvSpPr txBox="true"/>
          <p:nvPr/>
        </p:nvSpPr>
        <p:spPr>
          <a:xfrm rot="0">
            <a:off x="1165860"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66" id="66"/>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6809994"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6809994"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6809994"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7770114" y="2715768"/>
            <a:ext cx="3840480" cy="685800"/>
            <a:chOff x="0" y="0"/>
            <a:chExt cx="5120640" cy="914400"/>
          </a:xfrm>
        </p:grpSpPr>
        <p:sp>
          <p:nvSpPr>
            <p:cNvPr name="Freeform 75" id="7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76" id="76"/>
          <p:cNvGrpSpPr/>
          <p:nvPr/>
        </p:nvGrpSpPr>
        <p:grpSpPr>
          <a:xfrm rot="0">
            <a:off x="7770114" y="2680049"/>
            <a:ext cx="3840480" cy="721519"/>
            <a:chOff x="0" y="0"/>
            <a:chExt cx="5120640" cy="962025"/>
          </a:xfrm>
        </p:grpSpPr>
        <p:sp>
          <p:nvSpPr>
            <p:cNvPr name="Freeform 77" id="7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78" id="78"/>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79" id="79"/>
          <p:cNvSpPr txBox="true"/>
          <p:nvPr/>
        </p:nvSpPr>
        <p:spPr>
          <a:xfrm rot="0">
            <a:off x="6809994"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80" id="80"/>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2454128" y="2715768"/>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2454128" y="2715768"/>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2454128" y="2687193"/>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13414248" y="2715768"/>
            <a:ext cx="3840480" cy="685800"/>
            <a:chOff x="0" y="0"/>
            <a:chExt cx="5120640" cy="914400"/>
          </a:xfrm>
        </p:grpSpPr>
        <p:sp>
          <p:nvSpPr>
            <p:cNvPr name="Freeform 89" id="89"/>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90" id="90"/>
          <p:cNvGrpSpPr/>
          <p:nvPr/>
        </p:nvGrpSpPr>
        <p:grpSpPr>
          <a:xfrm rot="0">
            <a:off x="13414248" y="2680049"/>
            <a:ext cx="3840480" cy="721519"/>
            <a:chOff x="0" y="0"/>
            <a:chExt cx="5120640" cy="962025"/>
          </a:xfrm>
        </p:grpSpPr>
        <p:sp>
          <p:nvSpPr>
            <p:cNvPr name="Freeform 91" id="91"/>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92" id="92"/>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Keterkendalian</a:t>
              </a:r>
            </a:p>
          </p:txBody>
        </p:sp>
      </p:grpSp>
      <p:sp>
        <p:nvSpPr>
          <p:cNvPr name="TextBox 93" id="93"/>
          <p:cNvSpPr txBox="true"/>
          <p:nvPr/>
        </p:nvSpPr>
        <p:spPr>
          <a:xfrm rot="0">
            <a:off x="12454128"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94" id="94"/>
          <p:cNvGrpSpPr/>
          <p:nvPr/>
        </p:nvGrpSpPr>
        <p:grpSpPr>
          <a:xfrm rot="0">
            <a:off x="822960" y="6789420"/>
            <a:ext cx="9875520" cy="2331720"/>
            <a:chOff x="0" y="0"/>
            <a:chExt cx="13167360" cy="3108960"/>
          </a:xfrm>
        </p:grpSpPr>
        <p:sp>
          <p:nvSpPr>
            <p:cNvPr name="Freeform 95" id="95"/>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sp>
      </p:grpSp>
      <p:sp>
        <p:nvSpPr>
          <p:cNvPr name="TextBox 96" id="96"/>
          <p:cNvSpPr txBox="true"/>
          <p:nvPr/>
        </p:nvSpPr>
        <p:spPr>
          <a:xfrm rot="0">
            <a:off x="1234440" y="6880860"/>
            <a:ext cx="9052560" cy="66294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Lolos ketiganya → dua tuas kebijakan</a:t>
            </a:r>
          </a:p>
        </p:txBody>
      </p:sp>
      <p:sp>
        <p:nvSpPr>
          <p:cNvPr name="TextBox 97" id="97"/>
          <p:cNvSpPr txBox="true"/>
          <p:nvPr/>
        </p:nvSpPr>
        <p:spPr>
          <a:xfrm rot="0">
            <a:off x="1234440" y="7517130"/>
            <a:ext cx="9052560" cy="1329690"/>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98" id="98"/>
          <p:cNvGrpSpPr/>
          <p:nvPr/>
        </p:nvGrpSpPr>
        <p:grpSpPr>
          <a:xfrm rot="0">
            <a:off x="10972800" y="6789420"/>
            <a:ext cx="6487668" cy="2331720"/>
            <a:chOff x="0" y="0"/>
            <a:chExt cx="8650224" cy="3108960"/>
          </a:xfrm>
        </p:grpSpPr>
        <p:sp>
          <p:nvSpPr>
            <p:cNvPr name="Freeform 99" id="99"/>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sp>
      </p:grpSp>
      <p:sp>
        <p:nvSpPr>
          <p:cNvPr name="TextBox 100" id="100"/>
          <p:cNvSpPr txBox="true"/>
          <p:nvPr/>
        </p:nvSpPr>
        <p:spPr>
          <a:xfrm rot="0">
            <a:off x="11315700" y="6872478"/>
            <a:ext cx="5897880" cy="506730"/>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menjadi tuas</a:t>
            </a:r>
          </a:p>
        </p:txBody>
      </p:sp>
      <p:sp>
        <p:nvSpPr>
          <p:cNvPr name="TextBox 101" id="101"/>
          <p:cNvSpPr txBox="true"/>
          <p:nvPr/>
        </p:nvSpPr>
        <p:spPr>
          <a:xfrm rot="0">
            <a:off x="11315700" y="7330440"/>
            <a:ext cx="5897880" cy="17221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hanya relevan struktural (perilaku wisatawan, bobot indeks) diuji sebagai ketidakpastian. Pembangunan ODTW jalur pemerintah: data pemisahan sumber pembiayaan tidak tersedia.</a:t>
            </a:r>
          </a:p>
        </p:txBody>
      </p:sp>
      <p:sp>
        <p:nvSpPr>
          <p:cNvPr name="TextBox 102" id="10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CLD disusun lewat adaptasi dan evaluasi, bukan replikasi model rujukan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sp>
        <p:nvSpPr>
          <p:cNvPr name="TextBox 53" id="53"/>
          <p:cNvSpPr txBox="true"/>
          <p:nvPr/>
        </p:nvSpPr>
        <p:spPr>
          <a:xfrm rot="0">
            <a:off x="822960" y="2228850"/>
            <a:ext cx="10149840" cy="51435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54" id="54"/>
          <p:cNvGraphicFramePr>
            <a:graphicFrameLocks noGrp="true"/>
          </p:cNvGraphicFramePr>
          <p:nvPr/>
        </p:nvGraphicFramePr>
        <p:xfrm>
          <a:off x="822960" y="2880360"/>
          <a:ext cx="10134600" cy="4838700"/>
        </p:xfrm>
        <a:graphic>
          <a:graphicData uri="http://schemas.openxmlformats.org/drawingml/2006/table">
            <a:tbl>
              <a:tblPr/>
              <a:tblGrid>
                <a:gridCol w="2465173"/>
                <a:gridCol w="5569465"/>
                <a:gridCol w="2099962"/>
              </a:tblGrid>
              <a:tr h="489807">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55" id="55"/>
          <p:cNvSpPr txBox="true"/>
          <p:nvPr/>
        </p:nvSpPr>
        <p:spPr>
          <a:xfrm rot="0">
            <a:off x="822960" y="7953375"/>
            <a:ext cx="10149840" cy="870585"/>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56" id="56"/>
          <p:cNvGrpSpPr/>
          <p:nvPr/>
        </p:nvGrpSpPr>
        <p:grpSpPr>
          <a:xfrm rot="0">
            <a:off x="11384280" y="2395728"/>
            <a:ext cx="6071616" cy="1828800"/>
            <a:chOff x="0" y="0"/>
            <a:chExt cx="8095488" cy="2438400"/>
          </a:xfrm>
        </p:grpSpPr>
        <p:sp>
          <p:nvSpPr>
            <p:cNvPr name="Freeform 57" id="57"/>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58" id="58"/>
          <p:cNvSpPr txBox="true"/>
          <p:nvPr/>
        </p:nvSpPr>
        <p:spPr>
          <a:xfrm rot="0">
            <a:off x="11658600" y="2417445"/>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59" id="59"/>
          <p:cNvSpPr txBox="true"/>
          <p:nvPr/>
        </p:nvSpPr>
        <p:spPr>
          <a:xfrm rot="0">
            <a:off x="11658600" y="3147698"/>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60" id="60"/>
          <p:cNvGrpSpPr/>
          <p:nvPr/>
        </p:nvGrpSpPr>
        <p:grpSpPr>
          <a:xfrm rot="0">
            <a:off x="11384280" y="4379976"/>
            <a:ext cx="6071616" cy="1828800"/>
            <a:chOff x="0" y="0"/>
            <a:chExt cx="8095488" cy="2438400"/>
          </a:xfrm>
        </p:grpSpPr>
        <p:sp>
          <p:nvSpPr>
            <p:cNvPr name="Freeform 61" id="6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62" id="62"/>
          <p:cNvSpPr txBox="true"/>
          <p:nvPr/>
        </p:nvSpPr>
        <p:spPr>
          <a:xfrm rot="0">
            <a:off x="11658600" y="4401693"/>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63" id="63"/>
          <p:cNvSpPr txBox="true"/>
          <p:nvPr/>
        </p:nvSpPr>
        <p:spPr>
          <a:xfrm rot="0">
            <a:off x="11658600" y="5131946"/>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kausal dievaluasi: arah, mekanisme, dan jenis dukungan (literatur substantif vs identitas/operasionalisasi)</a:t>
            </a:r>
          </a:p>
        </p:txBody>
      </p:sp>
      <p:grpSp>
        <p:nvGrpSpPr>
          <p:cNvPr name="Group 64" id="64"/>
          <p:cNvGrpSpPr/>
          <p:nvPr/>
        </p:nvGrpSpPr>
        <p:grpSpPr>
          <a:xfrm rot="0">
            <a:off x="11384280" y="6364224"/>
            <a:ext cx="6071616" cy="1828800"/>
            <a:chOff x="0" y="0"/>
            <a:chExt cx="8095488" cy="2438400"/>
          </a:xfrm>
        </p:grpSpPr>
        <p:sp>
          <p:nvSpPr>
            <p:cNvPr name="Freeform 65" id="6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sp>
      </p:grpSp>
      <p:sp>
        <p:nvSpPr>
          <p:cNvPr name="TextBox 66" id="66"/>
          <p:cNvSpPr txBox="true"/>
          <p:nvPr/>
        </p:nvSpPr>
        <p:spPr>
          <a:xfrm rot="0">
            <a:off x="11658600" y="6385941"/>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67" id="67"/>
          <p:cNvSpPr txBox="true"/>
          <p:nvPr/>
        </p:nvSpPr>
        <p:spPr>
          <a:xfrm rot="0">
            <a:off x="11658600" y="7116194"/>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dibuang: Tenaga Kerja Pariwisata → pembangunan ODTW (tanpa dasar kausal memadai)</a:t>
            </a:r>
          </a:p>
        </p:txBody>
      </p:sp>
      <p:grpSp>
        <p:nvGrpSpPr>
          <p:cNvPr name="Group 68" id="68"/>
          <p:cNvGrpSpPr/>
          <p:nvPr/>
        </p:nvGrpSpPr>
        <p:grpSpPr>
          <a:xfrm rot="0">
            <a:off x="11384280" y="8348472"/>
            <a:ext cx="6071616" cy="886968"/>
            <a:chOff x="0" y="0"/>
            <a:chExt cx="8095488" cy="1182624"/>
          </a:xfrm>
        </p:grpSpPr>
        <p:sp>
          <p:nvSpPr>
            <p:cNvPr name="Freeform 69" id="69"/>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sp>
      </p:grpSp>
      <p:grpSp>
        <p:nvGrpSpPr>
          <p:cNvPr name="Group 70" id="70"/>
          <p:cNvGrpSpPr/>
          <p:nvPr/>
        </p:nvGrpSpPr>
        <p:grpSpPr>
          <a:xfrm rot="0">
            <a:off x="11658600" y="8348472"/>
            <a:ext cx="5577840" cy="886968"/>
            <a:chOff x="0" y="0"/>
            <a:chExt cx="7437120" cy="1182624"/>
          </a:xfrm>
        </p:grpSpPr>
        <p:sp>
          <p:nvSpPr>
            <p:cNvPr name="Freeform 71" id="71"/>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534" r="0" b="-72534"/>
              </a:stretch>
            </a:blipFill>
          </p:spPr>
        </p:sp>
        <p:sp>
          <p:nvSpPr>
            <p:cNvPr name="TextBox 72" id="72"/>
            <p:cNvSpPr txBox="true"/>
            <p:nvPr/>
          </p:nvSpPr>
          <p:spPr>
            <a:xfrm>
              <a:off x="0" y="-47625"/>
              <a:ext cx="7437120" cy="1230249"/>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Enam loop umpan balik membentuk dinamika pariwisata DIY</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75671" y="2331720"/>
            <a:ext cx="9084278" cy="6720840"/>
            <a:chOff x="0" y="0"/>
            <a:chExt cx="12112371" cy="8961120"/>
          </a:xfrm>
        </p:grpSpPr>
        <p:sp>
          <p:nvSpPr>
            <p:cNvPr name="Freeform 53" id="53" descr="Causal Loop Diagram pariwisata DIY"/>
            <p:cNvSpPr/>
            <p:nvPr/>
          </p:nvSpPr>
          <p:spPr>
            <a:xfrm flipH="false" flipV="false" rot="0">
              <a:off x="0" y="0"/>
              <a:ext cx="12112371" cy="8961120"/>
            </a:xfrm>
            <a:custGeom>
              <a:avLst/>
              <a:gdLst/>
              <a:ahLst/>
              <a:cxnLst/>
              <a:rect r="r" b="b" t="t" l="l"/>
              <a:pathLst>
                <a:path h="8961120" w="12112371">
                  <a:moveTo>
                    <a:pt x="0" y="0"/>
                  </a:moveTo>
                  <a:lnTo>
                    <a:pt x="12112371" y="0"/>
                  </a:lnTo>
                  <a:lnTo>
                    <a:pt x="12112371" y="8961120"/>
                  </a:lnTo>
                  <a:lnTo>
                    <a:pt x="0" y="8961120"/>
                  </a:lnTo>
                  <a:lnTo>
                    <a:pt x="0" y="0"/>
                  </a:lnTo>
                  <a:close/>
                </a:path>
              </a:pathLst>
            </a:custGeom>
            <a:blipFill>
              <a:blip r:embed="rId6"/>
              <a:stretch>
                <a:fillRect l="0" t="-14" r="0" b="-15"/>
              </a:stretch>
            </a:blipFill>
          </p:spPr>
        </p:sp>
      </p:grpSp>
      <p:grpSp>
        <p:nvGrpSpPr>
          <p:cNvPr name="Group 54" id="54"/>
          <p:cNvGrpSpPr/>
          <p:nvPr/>
        </p:nvGrpSpPr>
        <p:grpSpPr>
          <a:xfrm rot="0">
            <a:off x="10355580" y="2359152"/>
            <a:ext cx="7104888" cy="932688"/>
            <a:chOff x="0" y="0"/>
            <a:chExt cx="9473184" cy="1243584"/>
          </a:xfrm>
        </p:grpSpPr>
        <p:sp>
          <p:nvSpPr>
            <p:cNvPr name="Freeform 55" id="55"/>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56" id="56"/>
          <p:cNvGrpSpPr/>
          <p:nvPr/>
        </p:nvGrpSpPr>
        <p:grpSpPr>
          <a:xfrm rot="0">
            <a:off x="10561320" y="2551176"/>
            <a:ext cx="822960" cy="548640"/>
            <a:chOff x="0" y="0"/>
            <a:chExt cx="1097280" cy="731520"/>
          </a:xfrm>
        </p:grpSpPr>
        <p:sp>
          <p:nvSpPr>
            <p:cNvPr name="Freeform 57" id="57"/>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39C0D3"/>
            </a:solidFill>
          </p:spPr>
        </p:sp>
      </p:grpSp>
      <p:grpSp>
        <p:nvGrpSpPr>
          <p:cNvPr name="Group 58" id="58"/>
          <p:cNvGrpSpPr/>
          <p:nvPr/>
        </p:nvGrpSpPr>
        <p:grpSpPr>
          <a:xfrm rot="0">
            <a:off x="10561320" y="2551176"/>
            <a:ext cx="822960" cy="548640"/>
            <a:chOff x="0" y="0"/>
            <a:chExt cx="1097280" cy="731520"/>
          </a:xfrm>
        </p:grpSpPr>
        <p:sp>
          <p:nvSpPr>
            <p:cNvPr name="Freeform 59" id="59"/>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60" id="60"/>
          <p:cNvGrpSpPr/>
          <p:nvPr/>
        </p:nvGrpSpPr>
        <p:grpSpPr>
          <a:xfrm rot="0">
            <a:off x="10561320" y="2515457"/>
            <a:ext cx="822960" cy="584359"/>
            <a:chOff x="0" y="0"/>
            <a:chExt cx="1097280" cy="779145"/>
          </a:xfrm>
        </p:grpSpPr>
        <p:sp>
          <p:nvSpPr>
            <p:cNvPr name="Freeform 61" id="61"/>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62" id="62"/>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R1</a:t>
              </a:r>
            </a:p>
          </p:txBody>
        </p:sp>
      </p:grpSp>
      <p:grpSp>
        <p:nvGrpSpPr>
          <p:cNvPr name="Group 63" id="63"/>
          <p:cNvGrpSpPr/>
          <p:nvPr/>
        </p:nvGrpSpPr>
        <p:grpSpPr>
          <a:xfrm rot="0">
            <a:off x="11590020" y="2359152"/>
            <a:ext cx="5760720" cy="932688"/>
            <a:chOff x="0" y="0"/>
            <a:chExt cx="7680960" cy="1243584"/>
          </a:xfrm>
        </p:grpSpPr>
        <p:sp>
          <p:nvSpPr>
            <p:cNvPr name="Freeform 64" id="64"/>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65" id="65"/>
          <p:cNvGrpSpPr/>
          <p:nvPr/>
        </p:nvGrpSpPr>
        <p:grpSpPr>
          <a:xfrm rot="0">
            <a:off x="11590020" y="2330577"/>
            <a:ext cx="5760720" cy="961263"/>
            <a:chOff x="0" y="0"/>
            <a:chExt cx="7680960" cy="1281684"/>
          </a:xfrm>
        </p:grpSpPr>
        <p:sp>
          <p:nvSpPr>
            <p:cNvPr name="Freeform 66" id="66"/>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67" id="67"/>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Pertumbuhan wisatawan bersifat akumulatif</a:t>
              </a:r>
            </a:p>
          </p:txBody>
        </p:sp>
      </p:grpSp>
      <p:grpSp>
        <p:nvGrpSpPr>
          <p:cNvPr name="Group 68" id="68"/>
          <p:cNvGrpSpPr/>
          <p:nvPr/>
        </p:nvGrpSpPr>
        <p:grpSpPr>
          <a:xfrm rot="0">
            <a:off x="10355580" y="3429000"/>
            <a:ext cx="7104888" cy="932688"/>
            <a:chOff x="0" y="0"/>
            <a:chExt cx="9473184" cy="1243584"/>
          </a:xfrm>
        </p:grpSpPr>
        <p:sp>
          <p:nvSpPr>
            <p:cNvPr name="Freeform 69" id="69"/>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70" id="70"/>
          <p:cNvGrpSpPr/>
          <p:nvPr/>
        </p:nvGrpSpPr>
        <p:grpSpPr>
          <a:xfrm rot="0">
            <a:off x="10561320" y="3621024"/>
            <a:ext cx="822960" cy="548640"/>
            <a:chOff x="0" y="0"/>
            <a:chExt cx="1097280" cy="731520"/>
          </a:xfrm>
        </p:grpSpPr>
        <p:sp>
          <p:nvSpPr>
            <p:cNvPr name="Freeform 71" id="71"/>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39C0D3"/>
            </a:solidFill>
          </p:spPr>
        </p:sp>
      </p:grpSp>
      <p:grpSp>
        <p:nvGrpSpPr>
          <p:cNvPr name="Group 72" id="72"/>
          <p:cNvGrpSpPr/>
          <p:nvPr/>
        </p:nvGrpSpPr>
        <p:grpSpPr>
          <a:xfrm rot="0">
            <a:off x="10561320" y="3621024"/>
            <a:ext cx="822960" cy="548640"/>
            <a:chOff x="0" y="0"/>
            <a:chExt cx="1097280" cy="731520"/>
          </a:xfrm>
        </p:grpSpPr>
        <p:sp>
          <p:nvSpPr>
            <p:cNvPr name="Freeform 73" id="73"/>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74" id="74"/>
          <p:cNvGrpSpPr/>
          <p:nvPr/>
        </p:nvGrpSpPr>
        <p:grpSpPr>
          <a:xfrm rot="0">
            <a:off x="10561320" y="3585305"/>
            <a:ext cx="822960" cy="584359"/>
            <a:chOff x="0" y="0"/>
            <a:chExt cx="1097280" cy="779145"/>
          </a:xfrm>
        </p:grpSpPr>
        <p:sp>
          <p:nvSpPr>
            <p:cNvPr name="Freeform 75" id="75"/>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76" id="76"/>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R2</a:t>
              </a:r>
            </a:p>
          </p:txBody>
        </p:sp>
      </p:grpSp>
      <p:grpSp>
        <p:nvGrpSpPr>
          <p:cNvPr name="Group 77" id="77"/>
          <p:cNvGrpSpPr/>
          <p:nvPr/>
        </p:nvGrpSpPr>
        <p:grpSpPr>
          <a:xfrm rot="0">
            <a:off x="11590020" y="3429000"/>
            <a:ext cx="5760720" cy="932688"/>
            <a:chOff x="0" y="0"/>
            <a:chExt cx="7680960" cy="1243584"/>
          </a:xfrm>
        </p:grpSpPr>
        <p:sp>
          <p:nvSpPr>
            <p:cNvPr name="Freeform 78" id="78"/>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79" id="79"/>
          <p:cNvGrpSpPr/>
          <p:nvPr/>
        </p:nvGrpSpPr>
        <p:grpSpPr>
          <a:xfrm rot="0">
            <a:off x="11590020" y="3400425"/>
            <a:ext cx="5760720" cy="961263"/>
            <a:chOff x="0" y="0"/>
            <a:chExt cx="7680960" cy="1281684"/>
          </a:xfrm>
        </p:grpSpPr>
        <p:sp>
          <p:nvSpPr>
            <p:cNvPr name="Freeform 80" id="80"/>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81" id="81"/>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Wisatawan → pengeluaran → PDRB → investasi → ODTW → daya tarik</a:t>
              </a:r>
            </a:p>
          </p:txBody>
        </p:sp>
      </p:grpSp>
      <p:grpSp>
        <p:nvGrpSpPr>
          <p:cNvPr name="Group 82" id="82"/>
          <p:cNvGrpSpPr/>
          <p:nvPr/>
        </p:nvGrpSpPr>
        <p:grpSpPr>
          <a:xfrm rot="0">
            <a:off x="10355580" y="4498848"/>
            <a:ext cx="7104888" cy="932688"/>
            <a:chOff x="0" y="0"/>
            <a:chExt cx="9473184" cy="1243584"/>
          </a:xfrm>
        </p:grpSpPr>
        <p:sp>
          <p:nvSpPr>
            <p:cNvPr name="Freeform 83" id="83"/>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84" id="84"/>
          <p:cNvGrpSpPr/>
          <p:nvPr/>
        </p:nvGrpSpPr>
        <p:grpSpPr>
          <a:xfrm rot="0">
            <a:off x="10561320" y="4690872"/>
            <a:ext cx="822960" cy="548640"/>
            <a:chOff x="0" y="0"/>
            <a:chExt cx="1097280" cy="731520"/>
          </a:xfrm>
        </p:grpSpPr>
        <p:sp>
          <p:nvSpPr>
            <p:cNvPr name="Freeform 85" id="85"/>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86" id="86"/>
          <p:cNvGrpSpPr/>
          <p:nvPr/>
        </p:nvGrpSpPr>
        <p:grpSpPr>
          <a:xfrm rot="0">
            <a:off x="10561320" y="4690872"/>
            <a:ext cx="822960" cy="548640"/>
            <a:chOff x="0" y="0"/>
            <a:chExt cx="1097280" cy="731520"/>
          </a:xfrm>
        </p:grpSpPr>
        <p:sp>
          <p:nvSpPr>
            <p:cNvPr name="Freeform 87" id="87"/>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88" id="88"/>
          <p:cNvGrpSpPr/>
          <p:nvPr/>
        </p:nvGrpSpPr>
        <p:grpSpPr>
          <a:xfrm rot="0">
            <a:off x="10561320" y="4655153"/>
            <a:ext cx="822960" cy="584359"/>
            <a:chOff x="0" y="0"/>
            <a:chExt cx="1097280" cy="779145"/>
          </a:xfrm>
        </p:grpSpPr>
        <p:sp>
          <p:nvSpPr>
            <p:cNvPr name="Freeform 89" id="89"/>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90" id="90"/>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B1</a:t>
              </a:r>
            </a:p>
          </p:txBody>
        </p:sp>
      </p:grpSp>
      <p:grpSp>
        <p:nvGrpSpPr>
          <p:cNvPr name="Group 91" id="91"/>
          <p:cNvGrpSpPr/>
          <p:nvPr/>
        </p:nvGrpSpPr>
        <p:grpSpPr>
          <a:xfrm rot="0">
            <a:off x="11590020" y="4498848"/>
            <a:ext cx="5760720" cy="932688"/>
            <a:chOff x="0" y="0"/>
            <a:chExt cx="7680960" cy="1243584"/>
          </a:xfrm>
        </p:grpSpPr>
        <p:sp>
          <p:nvSpPr>
            <p:cNvPr name="Freeform 92" id="92"/>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93" id="93"/>
          <p:cNvGrpSpPr/>
          <p:nvPr/>
        </p:nvGrpSpPr>
        <p:grpSpPr>
          <a:xfrm rot="0">
            <a:off x="11590020" y="4470273"/>
            <a:ext cx="5760720" cy="961263"/>
            <a:chOff x="0" y="0"/>
            <a:chExt cx="7680960" cy="1281684"/>
          </a:xfrm>
        </p:grpSpPr>
        <p:sp>
          <p:nvSpPr>
            <p:cNvPr name="Freeform 94" id="94"/>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95" id="95"/>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Kepadatan menekan daya tarik: rem pertumbuhan</a:t>
              </a:r>
            </a:p>
          </p:txBody>
        </p:sp>
      </p:grpSp>
      <p:grpSp>
        <p:nvGrpSpPr>
          <p:cNvPr name="Group 96" id="96"/>
          <p:cNvGrpSpPr/>
          <p:nvPr/>
        </p:nvGrpSpPr>
        <p:grpSpPr>
          <a:xfrm rot="0">
            <a:off x="10355580" y="5568696"/>
            <a:ext cx="7104888" cy="932688"/>
            <a:chOff x="0" y="0"/>
            <a:chExt cx="9473184" cy="1243584"/>
          </a:xfrm>
        </p:grpSpPr>
        <p:sp>
          <p:nvSpPr>
            <p:cNvPr name="Freeform 97" id="97"/>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98" id="98"/>
          <p:cNvGrpSpPr/>
          <p:nvPr/>
        </p:nvGrpSpPr>
        <p:grpSpPr>
          <a:xfrm rot="0">
            <a:off x="10561320" y="5760720"/>
            <a:ext cx="822960" cy="548640"/>
            <a:chOff x="0" y="0"/>
            <a:chExt cx="1097280" cy="731520"/>
          </a:xfrm>
        </p:grpSpPr>
        <p:sp>
          <p:nvSpPr>
            <p:cNvPr name="Freeform 99" id="99"/>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00" id="100"/>
          <p:cNvGrpSpPr/>
          <p:nvPr/>
        </p:nvGrpSpPr>
        <p:grpSpPr>
          <a:xfrm rot="0">
            <a:off x="10561320" y="5760720"/>
            <a:ext cx="822960" cy="548640"/>
            <a:chOff x="0" y="0"/>
            <a:chExt cx="1097280" cy="731520"/>
          </a:xfrm>
        </p:grpSpPr>
        <p:sp>
          <p:nvSpPr>
            <p:cNvPr name="Freeform 101" id="101"/>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02" id="102"/>
          <p:cNvGrpSpPr/>
          <p:nvPr/>
        </p:nvGrpSpPr>
        <p:grpSpPr>
          <a:xfrm rot="0">
            <a:off x="10561320" y="5725001"/>
            <a:ext cx="822960" cy="584359"/>
            <a:chOff x="0" y="0"/>
            <a:chExt cx="1097280" cy="779145"/>
          </a:xfrm>
        </p:grpSpPr>
        <p:sp>
          <p:nvSpPr>
            <p:cNvPr name="Freeform 103" id="103"/>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04" id="104"/>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B2</a:t>
              </a:r>
            </a:p>
          </p:txBody>
        </p:sp>
      </p:grpSp>
      <p:grpSp>
        <p:nvGrpSpPr>
          <p:cNvPr name="Group 105" id="105"/>
          <p:cNvGrpSpPr/>
          <p:nvPr/>
        </p:nvGrpSpPr>
        <p:grpSpPr>
          <a:xfrm rot="0">
            <a:off x="11590020" y="5568696"/>
            <a:ext cx="5760720" cy="932688"/>
            <a:chOff x="0" y="0"/>
            <a:chExt cx="7680960" cy="1243584"/>
          </a:xfrm>
        </p:grpSpPr>
        <p:sp>
          <p:nvSpPr>
            <p:cNvPr name="Freeform 106" id="106"/>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07" id="107"/>
          <p:cNvGrpSpPr/>
          <p:nvPr/>
        </p:nvGrpSpPr>
        <p:grpSpPr>
          <a:xfrm rot="0">
            <a:off x="11590020" y="5540121"/>
            <a:ext cx="5760720" cy="961263"/>
            <a:chOff x="0" y="0"/>
            <a:chExt cx="7680960" cy="1281684"/>
          </a:xfrm>
        </p:grpSpPr>
        <p:sp>
          <p:nvSpPr>
            <p:cNvPr name="Freeform 108" id="108"/>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09" id="109"/>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Konversi lahan menurunkan daya dukung lahan dan daya tarik</a:t>
              </a:r>
            </a:p>
          </p:txBody>
        </p:sp>
      </p:grpSp>
      <p:grpSp>
        <p:nvGrpSpPr>
          <p:cNvPr name="Group 110" id="110"/>
          <p:cNvGrpSpPr/>
          <p:nvPr/>
        </p:nvGrpSpPr>
        <p:grpSpPr>
          <a:xfrm rot="0">
            <a:off x="10355580" y="6638544"/>
            <a:ext cx="7104888" cy="932688"/>
            <a:chOff x="0" y="0"/>
            <a:chExt cx="9473184" cy="1243584"/>
          </a:xfrm>
        </p:grpSpPr>
        <p:sp>
          <p:nvSpPr>
            <p:cNvPr name="Freeform 111" id="111"/>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112" id="112"/>
          <p:cNvGrpSpPr/>
          <p:nvPr/>
        </p:nvGrpSpPr>
        <p:grpSpPr>
          <a:xfrm rot="0">
            <a:off x="10561320" y="6830568"/>
            <a:ext cx="822960" cy="548640"/>
            <a:chOff x="0" y="0"/>
            <a:chExt cx="1097280" cy="731520"/>
          </a:xfrm>
        </p:grpSpPr>
        <p:sp>
          <p:nvSpPr>
            <p:cNvPr name="Freeform 113" id="113"/>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14" id="114"/>
          <p:cNvGrpSpPr/>
          <p:nvPr/>
        </p:nvGrpSpPr>
        <p:grpSpPr>
          <a:xfrm rot="0">
            <a:off x="10561320" y="6830568"/>
            <a:ext cx="822960" cy="548640"/>
            <a:chOff x="0" y="0"/>
            <a:chExt cx="1097280" cy="731520"/>
          </a:xfrm>
        </p:grpSpPr>
        <p:sp>
          <p:nvSpPr>
            <p:cNvPr name="Freeform 115" id="115"/>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16" id="116"/>
          <p:cNvGrpSpPr/>
          <p:nvPr/>
        </p:nvGrpSpPr>
        <p:grpSpPr>
          <a:xfrm rot="0">
            <a:off x="10561320" y="6794849"/>
            <a:ext cx="822960" cy="584359"/>
            <a:chOff x="0" y="0"/>
            <a:chExt cx="1097280" cy="779145"/>
          </a:xfrm>
        </p:grpSpPr>
        <p:sp>
          <p:nvSpPr>
            <p:cNvPr name="Freeform 117" id="117"/>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18" id="118"/>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B3</a:t>
              </a:r>
            </a:p>
          </p:txBody>
        </p:sp>
      </p:grpSp>
      <p:grpSp>
        <p:nvGrpSpPr>
          <p:cNvPr name="Group 119" id="119"/>
          <p:cNvGrpSpPr/>
          <p:nvPr/>
        </p:nvGrpSpPr>
        <p:grpSpPr>
          <a:xfrm rot="0">
            <a:off x="11590020" y="6638544"/>
            <a:ext cx="5760720" cy="932688"/>
            <a:chOff x="0" y="0"/>
            <a:chExt cx="7680960" cy="1243584"/>
          </a:xfrm>
        </p:grpSpPr>
        <p:sp>
          <p:nvSpPr>
            <p:cNvPr name="Freeform 120" id="120"/>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21" id="121"/>
          <p:cNvGrpSpPr/>
          <p:nvPr/>
        </p:nvGrpSpPr>
        <p:grpSpPr>
          <a:xfrm rot="0">
            <a:off x="11590020" y="6609969"/>
            <a:ext cx="5760720" cy="961263"/>
            <a:chOff x="0" y="0"/>
            <a:chExt cx="7680960" cy="1281684"/>
          </a:xfrm>
        </p:grpSpPr>
        <p:sp>
          <p:nvSpPr>
            <p:cNvPr name="Freeform 122" id="122"/>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23" id="123"/>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Penambahan kamar meredam tekanan permintaan</a:t>
              </a:r>
            </a:p>
          </p:txBody>
        </p:sp>
      </p:grpSp>
      <p:grpSp>
        <p:nvGrpSpPr>
          <p:cNvPr name="Group 124" id="124"/>
          <p:cNvGrpSpPr/>
          <p:nvPr/>
        </p:nvGrpSpPr>
        <p:grpSpPr>
          <a:xfrm rot="0">
            <a:off x="10355580" y="7708392"/>
            <a:ext cx="7104888" cy="932688"/>
            <a:chOff x="0" y="0"/>
            <a:chExt cx="9473184" cy="1243584"/>
          </a:xfrm>
        </p:grpSpPr>
        <p:sp>
          <p:nvSpPr>
            <p:cNvPr name="Freeform 125" id="125"/>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126" id="126"/>
          <p:cNvGrpSpPr/>
          <p:nvPr/>
        </p:nvGrpSpPr>
        <p:grpSpPr>
          <a:xfrm rot="0">
            <a:off x="10561320" y="7900416"/>
            <a:ext cx="822960" cy="548640"/>
            <a:chOff x="0" y="0"/>
            <a:chExt cx="1097280" cy="731520"/>
          </a:xfrm>
        </p:grpSpPr>
        <p:sp>
          <p:nvSpPr>
            <p:cNvPr name="Freeform 127" id="127"/>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28" id="128"/>
          <p:cNvGrpSpPr/>
          <p:nvPr/>
        </p:nvGrpSpPr>
        <p:grpSpPr>
          <a:xfrm rot="0">
            <a:off x="10561320" y="7900416"/>
            <a:ext cx="822960" cy="548640"/>
            <a:chOff x="0" y="0"/>
            <a:chExt cx="1097280" cy="731520"/>
          </a:xfrm>
        </p:grpSpPr>
        <p:sp>
          <p:nvSpPr>
            <p:cNvPr name="Freeform 129" id="129"/>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30" id="130"/>
          <p:cNvGrpSpPr/>
          <p:nvPr/>
        </p:nvGrpSpPr>
        <p:grpSpPr>
          <a:xfrm rot="0">
            <a:off x="10561320" y="7864697"/>
            <a:ext cx="822960" cy="584359"/>
            <a:chOff x="0" y="0"/>
            <a:chExt cx="1097280" cy="779145"/>
          </a:xfrm>
        </p:grpSpPr>
        <p:sp>
          <p:nvSpPr>
            <p:cNvPr name="Freeform 131" id="131"/>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32" id="132"/>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B4</a:t>
              </a:r>
            </a:p>
          </p:txBody>
        </p:sp>
      </p:grpSp>
      <p:grpSp>
        <p:nvGrpSpPr>
          <p:cNvPr name="Group 133" id="133"/>
          <p:cNvGrpSpPr/>
          <p:nvPr/>
        </p:nvGrpSpPr>
        <p:grpSpPr>
          <a:xfrm rot="0">
            <a:off x="11590020" y="7708392"/>
            <a:ext cx="5760720" cy="932688"/>
            <a:chOff x="0" y="0"/>
            <a:chExt cx="7680960" cy="1243584"/>
          </a:xfrm>
        </p:grpSpPr>
        <p:sp>
          <p:nvSpPr>
            <p:cNvPr name="Freeform 134" id="134"/>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35" id="135"/>
          <p:cNvGrpSpPr/>
          <p:nvPr/>
        </p:nvGrpSpPr>
        <p:grpSpPr>
          <a:xfrm rot="0">
            <a:off x="11590020" y="7679817"/>
            <a:ext cx="5760720" cy="961263"/>
            <a:chOff x="0" y="0"/>
            <a:chExt cx="7680960" cy="1281684"/>
          </a:xfrm>
        </p:grpSpPr>
        <p:sp>
          <p:nvSpPr>
            <p:cNvPr name="Freeform 136" id="136"/>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37" id="137"/>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Tenaga kerja menyesuaikan kebutuhan (goal-seeking)</a:t>
              </a:r>
            </a:p>
          </p:txBody>
        </p:sp>
      </p:grpSp>
      <p:sp>
        <p:nvSpPr>
          <p:cNvPr name="TextBox 138" id="138"/>
          <p:cNvSpPr txBox="true"/>
          <p:nvPr/>
        </p:nvSpPr>
        <p:spPr>
          <a:xfrm rot="0">
            <a:off x="10355580" y="8789670"/>
            <a:ext cx="7104888" cy="674370"/>
          </a:xfrm>
          <a:prstGeom prst="rect">
            <a:avLst/>
          </a:prstGeom>
        </p:spPr>
        <p:txBody>
          <a:bodyPr anchor="t" rtlCol="false" tIns="0" lIns="0" bIns="0" rIns="0">
            <a:spAutoFit/>
          </a:bodyPr>
          <a:lstStyle/>
          <a:p>
            <a:pPr algn="l">
              <a:lnSpc>
                <a:spcPts val="1980"/>
              </a:lnSpc>
            </a:pPr>
            <a:r>
              <a:rPr lang="en-US" sz="1650" i="true">
                <a:solidFill>
                  <a:srgbClr val="5E6E78"/>
                </a:solidFill>
                <a:latin typeface="Calibri (MS) Italics"/>
                <a:ea typeface="Calibri (MS) Italics"/>
                <a:cs typeface="Calibri (MS) Italics"/>
                <a:sym typeface="Calibri (MS) Italics"/>
              </a:rPr>
              <a:t>Penguat (R) = teal · Penyeimbang (B) = kuning. Hubungan tanpa dasar kausal tidak dipertahankan.</a:t>
            </a:r>
          </a:p>
        </p:txBody>
      </p:sp>
      <p:sp>
        <p:nvSpPr>
          <p:cNvPr name="TextBox 139" id="13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Model akhir memuat 61 variabel dengan lima stok inti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633358"/>
            <a:ext cx="11109960" cy="5568886"/>
            <a:chOff x="0" y="0"/>
            <a:chExt cx="14813280" cy="7425182"/>
          </a:xfrm>
        </p:grpSpPr>
        <p:sp>
          <p:nvSpPr>
            <p:cNvPr name="Freeform 53" id="53"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6"/>
              <a:stretch>
                <a:fillRect l="-88" t="0" r="-88" b="0"/>
              </a:stretch>
            </a:blipFill>
          </p:spPr>
        </p:sp>
      </p:grpSp>
      <p:sp>
        <p:nvSpPr>
          <p:cNvPr name="TextBox 54" id="54"/>
          <p:cNvSpPr txBox="true"/>
          <p:nvPr/>
        </p:nvSpPr>
        <p:spPr>
          <a:xfrm rot="0">
            <a:off x="822960" y="8290560"/>
            <a:ext cx="1110996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endogen, 35 eksogen</a:t>
            </a:r>
          </a:p>
        </p:txBody>
      </p:sp>
      <p:grpSp>
        <p:nvGrpSpPr>
          <p:cNvPr name="Group 55" id="55"/>
          <p:cNvGrpSpPr/>
          <p:nvPr/>
        </p:nvGrpSpPr>
        <p:grpSpPr>
          <a:xfrm rot="0">
            <a:off x="12344400" y="2331720"/>
            <a:ext cx="2468880" cy="1440180"/>
            <a:chOff x="0" y="0"/>
            <a:chExt cx="3291840" cy="1920240"/>
          </a:xfrm>
        </p:grpSpPr>
        <p:sp>
          <p:nvSpPr>
            <p:cNvPr name="Freeform 56" id="56"/>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57" id="57"/>
          <p:cNvGrpSpPr/>
          <p:nvPr/>
        </p:nvGrpSpPr>
        <p:grpSpPr>
          <a:xfrm rot="0">
            <a:off x="12344400" y="2441448"/>
            <a:ext cx="2468880" cy="754380"/>
            <a:chOff x="0" y="0"/>
            <a:chExt cx="3291840" cy="1005840"/>
          </a:xfrm>
        </p:grpSpPr>
        <p:sp>
          <p:nvSpPr>
            <p:cNvPr name="Freeform 58" id="58"/>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59" id="59"/>
          <p:cNvGrpSpPr/>
          <p:nvPr/>
        </p:nvGrpSpPr>
        <p:grpSpPr>
          <a:xfrm rot="0">
            <a:off x="12344400" y="2370010"/>
            <a:ext cx="2468880" cy="825818"/>
            <a:chOff x="0" y="0"/>
            <a:chExt cx="3291840" cy="1101090"/>
          </a:xfrm>
        </p:grpSpPr>
        <p:sp>
          <p:nvSpPr>
            <p:cNvPr name="Freeform 60" id="60"/>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1" id="61"/>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62" id="62"/>
          <p:cNvSpPr txBox="true"/>
          <p:nvPr/>
        </p:nvSpPr>
        <p:spPr>
          <a:xfrm rot="0">
            <a:off x="12344400"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63" id="63"/>
          <p:cNvGrpSpPr/>
          <p:nvPr/>
        </p:nvGrpSpPr>
        <p:grpSpPr>
          <a:xfrm rot="0">
            <a:off x="14977872" y="2331720"/>
            <a:ext cx="2468880" cy="1440180"/>
            <a:chOff x="0" y="0"/>
            <a:chExt cx="3291840" cy="1920240"/>
          </a:xfrm>
        </p:grpSpPr>
        <p:sp>
          <p:nvSpPr>
            <p:cNvPr name="Freeform 64" id="64"/>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65" id="65"/>
          <p:cNvGrpSpPr/>
          <p:nvPr/>
        </p:nvGrpSpPr>
        <p:grpSpPr>
          <a:xfrm rot="0">
            <a:off x="14977872" y="2441448"/>
            <a:ext cx="2468880" cy="754380"/>
            <a:chOff x="0" y="0"/>
            <a:chExt cx="3291840" cy="1005840"/>
          </a:xfrm>
        </p:grpSpPr>
        <p:sp>
          <p:nvSpPr>
            <p:cNvPr name="Freeform 66" id="66"/>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67" id="67"/>
          <p:cNvGrpSpPr/>
          <p:nvPr/>
        </p:nvGrpSpPr>
        <p:grpSpPr>
          <a:xfrm rot="0">
            <a:off x="14977872" y="2370010"/>
            <a:ext cx="2468880" cy="825818"/>
            <a:chOff x="0" y="0"/>
            <a:chExt cx="3291840" cy="1101090"/>
          </a:xfrm>
        </p:grpSpPr>
        <p:sp>
          <p:nvSpPr>
            <p:cNvPr name="Freeform 68" id="68"/>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9" id="69"/>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70" id="70"/>
          <p:cNvSpPr txBox="true"/>
          <p:nvPr/>
        </p:nvSpPr>
        <p:spPr>
          <a:xfrm rot="0">
            <a:off x="14977872"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71" id="71"/>
          <p:cNvGrpSpPr/>
          <p:nvPr/>
        </p:nvGrpSpPr>
        <p:grpSpPr>
          <a:xfrm rot="0">
            <a:off x="12344400" y="3977640"/>
            <a:ext cx="2468880" cy="1440180"/>
            <a:chOff x="0" y="0"/>
            <a:chExt cx="3291840" cy="1920240"/>
          </a:xfrm>
        </p:grpSpPr>
        <p:sp>
          <p:nvSpPr>
            <p:cNvPr name="Freeform 72" id="72"/>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73" id="73"/>
          <p:cNvGrpSpPr/>
          <p:nvPr/>
        </p:nvGrpSpPr>
        <p:grpSpPr>
          <a:xfrm rot="0">
            <a:off x="12344400" y="4087368"/>
            <a:ext cx="2468880" cy="754380"/>
            <a:chOff x="0" y="0"/>
            <a:chExt cx="3291840" cy="1005840"/>
          </a:xfrm>
        </p:grpSpPr>
        <p:sp>
          <p:nvSpPr>
            <p:cNvPr name="Freeform 74" id="74"/>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75" id="75"/>
          <p:cNvGrpSpPr/>
          <p:nvPr/>
        </p:nvGrpSpPr>
        <p:grpSpPr>
          <a:xfrm rot="0">
            <a:off x="12344400" y="4015931"/>
            <a:ext cx="2468880" cy="825818"/>
            <a:chOff x="0" y="0"/>
            <a:chExt cx="3291840" cy="1101090"/>
          </a:xfrm>
        </p:grpSpPr>
        <p:sp>
          <p:nvSpPr>
            <p:cNvPr name="Freeform 76" id="76"/>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77" id="77"/>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78" id="78"/>
          <p:cNvSpPr txBox="true"/>
          <p:nvPr/>
        </p:nvSpPr>
        <p:spPr>
          <a:xfrm rot="0">
            <a:off x="12344400"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79" id="79"/>
          <p:cNvGrpSpPr/>
          <p:nvPr/>
        </p:nvGrpSpPr>
        <p:grpSpPr>
          <a:xfrm rot="0">
            <a:off x="14977872" y="397764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81" id="81"/>
          <p:cNvGrpSpPr/>
          <p:nvPr/>
        </p:nvGrpSpPr>
        <p:grpSpPr>
          <a:xfrm rot="0">
            <a:off x="14977872" y="408736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83" id="83"/>
          <p:cNvGrpSpPr/>
          <p:nvPr/>
        </p:nvGrpSpPr>
        <p:grpSpPr>
          <a:xfrm rot="0">
            <a:off x="14977872" y="4015931"/>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85" id="85"/>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86" id="86"/>
          <p:cNvSpPr txBox="true"/>
          <p:nvPr/>
        </p:nvSpPr>
        <p:spPr>
          <a:xfrm rot="0">
            <a:off x="14977872"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87" id="87"/>
          <p:cNvGraphicFramePr>
            <a:graphicFrameLocks noGrp="true"/>
          </p:cNvGraphicFramePr>
          <p:nvPr/>
        </p:nvGraphicFramePr>
        <p:xfrm>
          <a:off x="12344400" y="5760720"/>
          <a:ext cx="5092700" cy="3200400"/>
        </p:xfrm>
        <a:graphic>
          <a:graphicData uri="http://schemas.openxmlformats.org/drawingml/2006/table">
            <a:tbl>
              <a:tblPr/>
              <a:tblGrid>
                <a:gridCol w="2660272"/>
                <a:gridCol w="2432428"/>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Daya Tarik Destinasi menghubungkan seluruh loop utama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3" id="53"/>
          <p:cNvSpPr txBox="true"/>
          <p:nvPr/>
        </p:nvSpPr>
        <p:spPr>
          <a:xfrm rot="0">
            <a:off x="1234440" y="257632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54" id="54"/>
          <p:cNvGrpSpPr/>
          <p:nvPr/>
        </p:nvGrpSpPr>
        <p:grpSpPr>
          <a:xfrm rot="0">
            <a:off x="1234440" y="3086100"/>
            <a:ext cx="9464040" cy="1165860"/>
            <a:chOff x="0" y="0"/>
            <a:chExt cx="12618720" cy="1554480"/>
          </a:xfrm>
        </p:grpSpPr>
        <p:sp>
          <p:nvSpPr>
            <p:cNvPr name="Freeform 55" id="55"/>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56" id="56"/>
          <p:cNvGrpSpPr/>
          <p:nvPr/>
        </p:nvGrpSpPr>
        <p:grpSpPr>
          <a:xfrm rot="0">
            <a:off x="1234440" y="3043238"/>
            <a:ext cx="9464040" cy="1208723"/>
            <a:chOff x="0" y="0"/>
            <a:chExt cx="12618720" cy="1611630"/>
          </a:xfrm>
        </p:grpSpPr>
        <p:sp>
          <p:nvSpPr>
            <p:cNvPr name="Freeform 57" id="57"/>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58" id="58"/>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59" id="59"/>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0" id="60"/>
          <p:cNvSpPr txBox="true"/>
          <p:nvPr/>
        </p:nvSpPr>
        <p:spPr>
          <a:xfrm rot="0">
            <a:off x="1234440" y="477088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61" id="61"/>
          <p:cNvGrpSpPr/>
          <p:nvPr/>
        </p:nvGrpSpPr>
        <p:grpSpPr>
          <a:xfrm rot="0">
            <a:off x="1234440" y="5280660"/>
            <a:ext cx="9464040" cy="1165860"/>
            <a:chOff x="0" y="0"/>
            <a:chExt cx="12618720" cy="1554480"/>
          </a:xfrm>
        </p:grpSpPr>
        <p:sp>
          <p:nvSpPr>
            <p:cNvPr name="Freeform 62" id="62"/>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63" id="63"/>
          <p:cNvGrpSpPr/>
          <p:nvPr/>
        </p:nvGrpSpPr>
        <p:grpSpPr>
          <a:xfrm rot="0">
            <a:off x="1234440" y="5237797"/>
            <a:ext cx="9464040" cy="1208723"/>
            <a:chOff x="0" y="0"/>
            <a:chExt cx="12618720" cy="1611630"/>
          </a:xfrm>
        </p:grpSpPr>
        <p:sp>
          <p:nvSpPr>
            <p:cNvPr name="Freeform 64" id="64"/>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65" id="65"/>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66" id="66"/>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1234440" y="696544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68" id="68"/>
          <p:cNvGrpSpPr/>
          <p:nvPr/>
        </p:nvGrpSpPr>
        <p:grpSpPr>
          <a:xfrm rot="0">
            <a:off x="1234440" y="747522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70" id="70"/>
          <p:cNvGrpSpPr/>
          <p:nvPr/>
        </p:nvGrpSpPr>
        <p:grpSpPr>
          <a:xfrm rot="0">
            <a:off x="1234440" y="7446645"/>
            <a:ext cx="9464040" cy="1194435"/>
            <a:chOff x="0" y="0"/>
            <a:chExt cx="12618720" cy="1592580"/>
          </a:xfrm>
        </p:grpSpPr>
        <p:sp>
          <p:nvSpPr>
            <p:cNvPr name="Freeform 71" id="71"/>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388" r="0" b="-104388"/>
              </a:stretch>
            </a:blipFill>
          </p:spPr>
        </p:sp>
        <p:sp>
          <p:nvSpPr>
            <p:cNvPr name="TextBox 72" id="72"/>
            <p:cNvSpPr txBox="true"/>
            <p:nvPr/>
          </p:nvSpPr>
          <p:spPr>
            <a:xfrm>
              <a:off x="0" y="-38100"/>
              <a:ext cx="12618720" cy="16306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73" id="73"/>
          <p:cNvGrpSpPr/>
          <p:nvPr/>
        </p:nvGrpSpPr>
        <p:grpSpPr>
          <a:xfrm rot="0">
            <a:off x="11521440" y="2400300"/>
            <a:ext cx="5939028" cy="6377940"/>
            <a:chOff x="0" y="0"/>
            <a:chExt cx="7918704" cy="8503920"/>
          </a:xfrm>
        </p:grpSpPr>
        <p:sp>
          <p:nvSpPr>
            <p:cNvPr name="Freeform 74" id="7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sp>
      </p:grpSp>
      <p:sp>
        <p:nvSpPr>
          <p:cNvPr name="TextBox 75" id="75"/>
          <p:cNvSpPr txBox="true"/>
          <p:nvPr/>
        </p:nvSpPr>
        <p:spPr>
          <a:xfrm rot="0">
            <a:off x="11932920" y="2560320"/>
            <a:ext cx="521208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76" id="76"/>
          <p:cNvGrpSpPr/>
          <p:nvPr/>
        </p:nvGrpSpPr>
        <p:grpSpPr>
          <a:xfrm rot="0">
            <a:off x="11932920" y="3429000"/>
            <a:ext cx="5212080" cy="617220"/>
            <a:chOff x="0" y="0"/>
            <a:chExt cx="6949440" cy="822960"/>
          </a:xfrm>
        </p:grpSpPr>
        <p:sp>
          <p:nvSpPr>
            <p:cNvPr name="Freeform 77" id="7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78" id="78"/>
          <p:cNvGrpSpPr/>
          <p:nvPr/>
        </p:nvGrpSpPr>
        <p:grpSpPr>
          <a:xfrm rot="0">
            <a:off x="11932920" y="3378994"/>
            <a:ext cx="5212080" cy="667226"/>
            <a:chOff x="0" y="0"/>
            <a:chExt cx="6949440" cy="889635"/>
          </a:xfrm>
        </p:grpSpPr>
        <p:sp>
          <p:nvSpPr>
            <p:cNvPr name="Freeform 79" id="7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0" id="80"/>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81" id="81"/>
          <p:cNvSpPr txBox="true"/>
          <p:nvPr/>
        </p:nvSpPr>
        <p:spPr>
          <a:xfrm rot="0">
            <a:off x="11932920" y="403860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(turunan data)</a:t>
            </a:r>
          </a:p>
        </p:txBody>
      </p:sp>
      <p:grpSp>
        <p:nvGrpSpPr>
          <p:cNvPr name="Group 82" id="82"/>
          <p:cNvGrpSpPr/>
          <p:nvPr/>
        </p:nvGrpSpPr>
        <p:grpSpPr>
          <a:xfrm rot="0">
            <a:off x="11932920" y="5212080"/>
            <a:ext cx="5212080" cy="617220"/>
            <a:chOff x="0" y="0"/>
            <a:chExt cx="6949440" cy="822960"/>
          </a:xfrm>
        </p:grpSpPr>
        <p:sp>
          <p:nvSpPr>
            <p:cNvPr name="Freeform 83" id="8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84" id="84"/>
          <p:cNvGrpSpPr/>
          <p:nvPr/>
        </p:nvGrpSpPr>
        <p:grpSpPr>
          <a:xfrm rot="0">
            <a:off x="11932920" y="5162074"/>
            <a:ext cx="5212080" cy="667226"/>
            <a:chOff x="0" y="0"/>
            <a:chExt cx="6949440" cy="889635"/>
          </a:xfrm>
        </p:grpSpPr>
        <p:sp>
          <p:nvSpPr>
            <p:cNvPr name="Freeform 85" id="8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6" id="86"/>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87" id="87"/>
          <p:cNvSpPr txBox="true"/>
          <p:nvPr/>
        </p:nvSpPr>
        <p:spPr>
          <a:xfrm rot="0">
            <a:off x="11932920" y="582168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asumsi struktural)</a:t>
            </a:r>
          </a:p>
        </p:txBody>
      </p:sp>
      <p:grpSp>
        <p:nvGrpSpPr>
          <p:cNvPr name="Group 88" id="88"/>
          <p:cNvGrpSpPr/>
          <p:nvPr/>
        </p:nvGrpSpPr>
        <p:grpSpPr>
          <a:xfrm rot="0">
            <a:off x="11932920" y="6995160"/>
            <a:ext cx="5212080" cy="617220"/>
            <a:chOff x="0" y="0"/>
            <a:chExt cx="6949440" cy="822960"/>
          </a:xfrm>
        </p:grpSpPr>
        <p:sp>
          <p:nvSpPr>
            <p:cNvPr name="Freeform 89" id="89"/>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90" id="90"/>
          <p:cNvGrpSpPr/>
          <p:nvPr/>
        </p:nvGrpSpPr>
        <p:grpSpPr>
          <a:xfrm rot="0">
            <a:off x="11932920" y="6945154"/>
            <a:ext cx="5212080" cy="667226"/>
            <a:chOff x="0" y="0"/>
            <a:chExt cx="6949440" cy="889635"/>
          </a:xfrm>
        </p:grpSpPr>
        <p:sp>
          <p:nvSpPr>
            <p:cNvPr name="Freeform 91" id="91"/>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92" id="92"/>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93" id="93"/>
          <p:cNvSpPr txBox="true"/>
          <p:nvPr/>
        </p:nvSpPr>
        <p:spPr>
          <a:xfrm rot="0">
            <a:off x="11932920" y="760476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94" id="9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Cahaya malam (NTL) layak mengestimasi jumlah ODTW</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Selisih arah NTL–ODTW terbesar pada 2021–2022 dan 2023–2024, bertepatan dengan galat LOOCV terbesar</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Dynamic World akurat, tetapi deret waktu lahan terbangun berderau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komisi dominan (34 dari 100 titik)</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artefak, bukan perubahan fisik</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Struktur model lolos seluruh uji verifikasi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43200"/>
            <a:ext cx="2674620" cy="1097280"/>
            <a:chOff x="0" y="0"/>
            <a:chExt cx="3566160" cy="1463040"/>
          </a:xfrm>
        </p:grpSpPr>
        <p:sp>
          <p:nvSpPr>
            <p:cNvPr name="Freeform 54" id="54"/>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55" id="55"/>
          <p:cNvGrpSpPr/>
          <p:nvPr/>
        </p:nvGrpSpPr>
        <p:grpSpPr>
          <a:xfrm rot="0">
            <a:off x="1165860" y="2678906"/>
            <a:ext cx="2674620" cy="1161574"/>
            <a:chOff x="0" y="0"/>
            <a:chExt cx="3566160" cy="1548765"/>
          </a:xfrm>
        </p:grpSpPr>
        <p:sp>
          <p:nvSpPr>
            <p:cNvPr name="Freeform 56" id="56"/>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57" id="57"/>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58" id="58"/>
          <p:cNvSpPr txBox="true"/>
          <p:nvPr/>
        </p:nvSpPr>
        <p:spPr>
          <a:xfrm rot="0">
            <a:off x="1165860"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59" id="59"/>
          <p:cNvSpPr txBox="true"/>
          <p:nvPr/>
        </p:nvSpPr>
        <p:spPr>
          <a:xfrm rot="0">
            <a:off x="4046220"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dimensi</a:t>
            </a:r>
          </a:p>
        </p:txBody>
      </p:sp>
      <p:sp>
        <p:nvSpPr>
          <p:cNvPr name="TextBox 60" id="60"/>
          <p:cNvSpPr txBox="true"/>
          <p:nvPr/>
        </p:nvSpPr>
        <p:spPr>
          <a:xfrm rot="0">
            <a:off x="4046220"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61" id="61"/>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2" id="62"/>
          <p:cNvGrpSpPr/>
          <p:nvPr/>
        </p:nvGrpSpPr>
        <p:grpSpPr>
          <a:xfrm rot="0">
            <a:off x="9642348" y="2743200"/>
            <a:ext cx="2674620" cy="1097280"/>
            <a:chOff x="0" y="0"/>
            <a:chExt cx="3566160" cy="1463040"/>
          </a:xfrm>
        </p:grpSpPr>
        <p:sp>
          <p:nvSpPr>
            <p:cNvPr name="Freeform 63" id="63"/>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64" id="64"/>
          <p:cNvGrpSpPr/>
          <p:nvPr/>
        </p:nvGrpSpPr>
        <p:grpSpPr>
          <a:xfrm rot="0">
            <a:off x="9642348" y="2678906"/>
            <a:ext cx="2674620" cy="1161574"/>
            <a:chOff x="0" y="0"/>
            <a:chExt cx="3566160" cy="1548765"/>
          </a:xfrm>
        </p:grpSpPr>
        <p:sp>
          <p:nvSpPr>
            <p:cNvPr name="Freeform 65" id="65"/>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66" id="66"/>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67" id="67"/>
          <p:cNvSpPr txBox="true"/>
          <p:nvPr/>
        </p:nvSpPr>
        <p:spPr>
          <a:xfrm rot="0">
            <a:off x="9642348"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68" id="68"/>
          <p:cNvSpPr txBox="true"/>
          <p:nvPr/>
        </p:nvSpPr>
        <p:spPr>
          <a:xfrm rot="0">
            <a:off x="12522708"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Kekekalan materi</a:t>
            </a:r>
          </a:p>
        </p:txBody>
      </p:sp>
      <p:sp>
        <p:nvSpPr>
          <p:cNvPr name="TextBox 69" id="69"/>
          <p:cNvSpPr txBox="true"/>
          <p:nvPr/>
        </p:nvSpPr>
        <p:spPr>
          <a:xfrm rot="0">
            <a:off x="12522708"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70" id="70"/>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1" id="71"/>
          <p:cNvGrpSpPr/>
          <p:nvPr/>
        </p:nvGrpSpPr>
        <p:grpSpPr>
          <a:xfrm rot="0">
            <a:off x="1165860" y="5760720"/>
            <a:ext cx="2674620" cy="1097280"/>
            <a:chOff x="0" y="0"/>
            <a:chExt cx="3566160" cy="1463040"/>
          </a:xfrm>
        </p:grpSpPr>
        <p:sp>
          <p:nvSpPr>
            <p:cNvPr name="Freeform 72" id="72"/>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73" id="73"/>
          <p:cNvGrpSpPr/>
          <p:nvPr/>
        </p:nvGrpSpPr>
        <p:grpSpPr>
          <a:xfrm rot="0">
            <a:off x="1165860" y="5696426"/>
            <a:ext cx="2674620" cy="1161574"/>
            <a:chOff x="0" y="0"/>
            <a:chExt cx="3566160" cy="1548765"/>
          </a:xfrm>
        </p:grpSpPr>
        <p:sp>
          <p:nvSpPr>
            <p:cNvPr name="Freeform 74" id="74"/>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75" id="75"/>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6 / 6</a:t>
              </a:r>
            </a:p>
          </p:txBody>
        </p:sp>
      </p:grpSp>
      <p:sp>
        <p:nvSpPr>
          <p:cNvPr name="TextBox 76" id="76"/>
          <p:cNvSpPr txBox="true"/>
          <p:nvPr/>
        </p:nvSpPr>
        <p:spPr>
          <a:xfrm rot="0">
            <a:off x="1165860"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77" id="77"/>
          <p:cNvSpPr txBox="true"/>
          <p:nvPr/>
        </p:nvSpPr>
        <p:spPr>
          <a:xfrm rot="0">
            <a:off x="4046220"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loop umpan balik</a:t>
            </a:r>
          </a:p>
        </p:txBody>
      </p:sp>
      <p:sp>
        <p:nvSpPr>
          <p:cNvPr name="TextBox 78" id="78"/>
          <p:cNvSpPr txBox="true"/>
          <p:nvPr/>
        </p:nvSpPr>
        <p:spPr>
          <a:xfrm rot="0">
            <a:off x="4046220"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loop penyeimbang yang dilumpuhkan justru mempercepat pertumbuhan</a:t>
            </a:r>
          </a:p>
        </p:txBody>
      </p:sp>
      <p:sp>
        <p:nvSpPr>
          <p:cNvPr name="Freeform 79" id="7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0" id="80"/>
          <p:cNvGrpSpPr/>
          <p:nvPr/>
        </p:nvGrpSpPr>
        <p:grpSpPr>
          <a:xfrm rot="0">
            <a:off x="9642348" y="5760720"/>
            <a:ext cx="2674620" cy="1097280"/>
            <a:chOff x="0" y="0"/>
            <a:chExt cx="3566160" cy="1463040"/>
          </a:xfrm>
        </p:grpSpPr>
        <p:sp>
          <p:nvSpPr>
            <p:cNvPr name="Freeform 81" id="8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82" id="82"/>
          <p:cNvGrpSpPr/>
          <p:nvPr/>
        </p:nvGrpSpPr>
        <p:grpSpPr>
          <a:xfrm rot="0">
            <a:off x="9642348" y="5696426"/>
            <a:ext cx="2674620" cy="1161574"/>
            <a:chOff x="0" y="0"/>
            <a:chExt cx="3566160" cy="1548765"/>
          </a:xfrm>
        </p:grpSpPr>
        <p:sp>
          <p:nvSpPr>
            <p:cNvPr name="Freeform 83" id="8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84" id="84"/>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 gagal</a:t>
              </a:r>
            </a:p>
          </p:txBody>
        </p:sp>
      </p:grpSp>
      <p:sp>
        <p:nvSpPr>
          <p:cNvPr name="TextBox 85" id="85"/>
          <p:cNvSpPr txBox="true"/>
          <p:nvPr/>
        </p:nvSpPr>
        <p:spPr>
          <a:xfrm rot="0">
            <a:off x="9642348"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86" id="86"/>
          <p:cNvSpPr txBox="true"/>
          <p:nvPr/>
        </p:nvSpPr>
        <p:spPr>
          <a:xfrm rot="0">
            <a:off x="12522708"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87" id="87"/>
          <p:cNvSpPr txBox="true"/>
          <p:nvPr/>
        </p:nvSpPr>
        <p:spPr>
          <a:xfrm rot="0">
            <a:off x="12522708"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88" id="88"/>
          <p:cNvGrpSpPr/>
          <p:nvPr/>
        </p:nvGrpSpPr>
        <p:grpSpPr>
          <a:xfrm rot="0">
            <a:off x="822960" y="8435340"/>
            <a:ext cx="16637508" cy="822960"/>
            <a:chOff x="0" y="0"/>
            <a:chExt cx="22183344" cy="1097280"/>
          </a:xfrm>
        </p:grpSpPr>
        <p:sp>
          <p:nvSpPr>
            <p:cNvPr name="Freeform 89" id="89"/>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sp>
      </p:grpSp>
      <p:grpSp>
        <p:nvGrpSpPr>
          <p:cNvPr name="Group 90" id="90"/>
          <p:cNvGrpSpPr/>
          <p:nvPr/>
        </p:nvGrpSpPr>
        <p:grpSpPr>
          <a:xfrm rot="0">
            <a:off x="1234440" y="8435340"/>
            <a:ext cx="15814548" cy="822960"/>
            <a:chOff x="0" y="0"/>
            <a:chExt cx="21086064" cy="1097280"/>
          </a:xfrm>
        </p:grpSpPr>
        <p:sp>
          <p:nvSpPr>
            <p:cNvPr name="Freeform 91" id="91"/>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sp>
      </p:grpSp>
      <p:grpSp>
        <p:nvGrpSpPr>
          <p:cNvPr name="Group 92" id="92"/>
          <p:cNvGrpSpPr/>
          <p:nvPr/>
        </p:nvGrpSpPr>
        <p:grpSpPr>
          <a:xfrm rot="0">
            <a:off x="1234440" y="8406765"/>
            <a:ext cx="15814548" cy="851535"/>
            <a:chOff x="0" y="0"/>
            <a:chExt cx="21086064" cy="1135380"/>
          </a:xfrm>
        </p:grpSpPr>
        <p:sp>
          <p:nvSpPr>
            <p:cNvPr name="Freeform 93" id="93"/>
            <p:cNvSpPr/>
            <p:nvPr/>
          </p:nvSpPr>
          <p:spPr>
            <a:xfrm flipH="false" flipV="false" rot="0">
              <a:off x="0" y="0"/>
              <a:ext cx="21086065" cy="1135380"/>
            </a:xfrm>
            <a:custGeom>
              <a:avLst/>
              <a:gdLst/>
              <a:ahLst/>
              <a:cxnLst/>
              <a:rect r="r" b="b" t="t" l="l"/>
              <a:pathLst>
                <a:path h="1135380" w="21086065">
                  <a:moveTo>
                    <a:pt x="0" y="0"/>
                  </a:moveTo>
                  <a:lnTo>
                    <a:pt x="21086065" y="0"/>
                  </a:lnTo>
                  <a:lnTo>
                    <a:pt x="21086065" y="1135380"/>
                  </a:lnTo>
                  <a:lnTo>
                    <a:pt x="0" y="1135380"/>
                  </a:lnTo>
                  <a:close/>
                </a:path>
              </a:pathLst>
            </a:custGeom>
            <a:blipFill>
              <a:blip r:embed="rId5">
                <a:alphaModFix amt="0"/>
              </a:blip>
              <a:stretch>
                <a:fillRect l="0" t="-311872" r="0" b="-311872"/>
              </a:stretch>
            </a:blipFill>
          </p:spPr>
        </p:sp>
        <p:sp>
          <p:nvSpPr>
            <p:cNvPr name="TextBox 94" id="94"/>
            <p:cNvSpPr txBox="true"/>
            <p:nvPr/>
          </p:nvSpPr>
          <p:spPr>
            <a:xfrm>
              <a:off x="0" y="-38100"/>
              <a:ext cx="21086064" cy="11734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endogen + 35 eksogen. Guncangan eksternal, harga, promosi, musim, dan dampak lingkungan dikeluarkan.</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Rem kepadatan (B1) adalah mekanisme penyeimbang terkuat</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dilumpuhkan</a:t>
            </a:r>
          </a:p>
        </p:txBody>
      </p:sp>
      <p:grpSp>
        <p:nvGrpSpPr>
          <p:cNvPr name="Group 53" id="53"/>
          <p:cNvGrpSpPr/>
          <p:nvPr/>
        </p:nvGrpSpPr>
        <p:grpSpPr>
          <a:xfrm rot="0">
            <a:off x="11384280" y="2400300"/>
            <a:ext cx="6076188" cy="2125980"/>
            <a:chOff x="0" y="0"/>
            <a:chExt cx="8101584" cy="2834640"/>
          </a:xfrm>
        </p:grpSpPr>
        <p:sp>
          <p:nvSpPr>
            <p:cNvPr name="Freeform 54" id="5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727180" y="2564892"/>
            <a:ext cx="5486400" cy="685800"/>
            <a:chOff x="0" y="0"/>
            <a:chExt cx="7315200" cy="914400"/>
          </a:xfrm>
        </p:grpSpPr>
        <p:sp>
          <p:nvSpPr>
            <p:cNvPr name="Freeform 56" id="5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57" id="57"/>
          <p:cNvGrpSpPr/>
          <p:nvPr/>
        </p:nvGrpSpPr>
        <p:grpSpPr>
          <a:xfrm rot="0">
            <a:off x="11727180" y="2514886"/>
            <a:ext cx="5486400" cy="735806"/>
            <a:chOff x="0" y="0"/>
            <a:chExt cx="7315200" cy="981075"/>
          </a:xfrm>
        </p:grpSpPr>
        <p:sp>
          <p:nvSpPr>
            <p:cNvPr name="Freeform 58" id="5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59" id="59"/>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60" id="60"/>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61" id="61"/>
          <p:cNvGrpSpPr/>
          <p:nvPr/>
        </p:nvGrpSpPr>
        <p:grpSpPr>
          <a:xfrm rot="0">
            <a:off x="11384280" y="4732020"/>
            <a:ext cx="6076188" cy="2125980"/>
            <a:chOff x="0" y="0"/>
            <a:chExt cx="8101584" cy="2834640"/>
          </a:xfrm>
        </p:grpSpPr>
        <p:sp>
          <p:nvSpPr>
            <p:cNvPr name="Freeform 62" id="6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63" id="63"/>
          <p:cNvGrpSpPr/>
          <p:nvPr/>
        </p:nvGrpSpPr>
        <p:grpSpPr>
          <a:xfrm rot="0">
            <a:off x="11727180" y="4896612"/>
            <a:ext cx="5486400" cy="685800"/>
            <a:chOff x="0" y="0"/>
            <a:chExt cx="7315200" cy="914400"/>
          </a:xfrm>
        </p:grpSpPr>
        <p:sp>
          <p:nvSpPr>
            <p:cNvPr name="Freeform 64" id="6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65" id="65"/>
          <p:cNvGrpSpPr/>
          <p:nvPr/>
        </p:nvGrpSpPr>
        <p:grpSpPr>
          <a:xfrm rot="0">
            <a:off x="11727180" y="4846606"/>
            <a:ext cx="5486400" cy="735806"/>
            <a:chOff x="0" y="0"/>
            <a:chExt cx="7315200" cy="981075"/>
          </a:xfrm>
        </p:grpSpPr>
        <p:sp>
          <p:nvSpPr>
            <p:cNvPr name="Freeform 66" id="6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67" id="67"/>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Tidak aditif</a:t>
              </a:r>
            </a:p>
          </p:txBody>
        </p:sp>
      </p:grpSp>
      <p:sp>
        <p:nvSpPr>
          <p:cNvPr name="TextBox 68" id="68"/>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rem dimatikan (217,4 juta), karena R2 tetap menguatkan daya tarik (1,0696)</a:t>
            </a:r>
          </a:p>
        </p:txBody>
      </p:sp>
      <p:grpSp>
        <p:nvGrpSpPr>
          <p:cNvPr name="Group 69" id="69"/>
          <p:cNvGrpSpPr/>
          <p:nvPr/>
        </p:nvGrpSpPr>
        <p:grpSpPr>
          <a:xfrm rot="0">
            <a:off x="11384280" y="7063740"/>
            <a:ext cx="6076188" cy="2125980"/>
            <a:chOff x="0" y="0"/>
            <a:chExt cx="8101584" cy="2834640"/>
          </a:xfrm>
        </p:grpSpPr>
        <p:sp>
          <p:nvSpPr>
            <p:cNvPr name="Freeform 70" id="7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727180" y="7228332"/>
            <a:ext cx="5486400" cy="685800"/>
            <a:chOff x="0" y="0"/>
            <a:chExt cx="7315200" cy="914400"/>
          </a:xfrm>
        </p:grpSpPr>
        <p:sp>
          <p:nvSpPr>
            <p:cNvPr name="Freeform 72" id="7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73" id="73"/>
          <p:cNvGrpSpPr/>
          <p:nvPr/>
        </p:nvGrpSpPr>
        <p:grpSpPr>
          <a:xfrm rot="0">
            <a:off x="11727180" y="7178326"/>
            <a:ext cx="5486400" cy="735806"/>
            <a:chOff x="0" y="0"/>
            <a:chExt cx="7315200" cy="981075"/>
          </a:xfrm>
        </p:grpSpPr>
        <p:sp>
          <p:nvSpPr>
            <p:cNvPr name="Freeform 74" id="7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75" id="75"/>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76" id="76"/>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pic>
        <p:nvPicPr>
          <p:cNvPr name="Picture 78" id="78"/>
          <p:cNvPicPr>
            <a:picLocks noChangeAspect="true"/>
          </p:cNvPicPr>
          <p:nvPr/>
        </p:nvPicPr>
        <p:blipFill>
          <a:blip r:embed="rId6"/>
          <a:stretch>
            <a:fillRect/>
          </a:stretch>
        </p:blipFill>
        <p:spPr>
          <a:xfrm rot="0">
            <a:off x="-192024" y="1865376"/>
            <a:ext cx="12179808" cy="8339328"/>
          </a:xfrm>
          <a:prstGeom prst="rect">
            <a:avLst/>
          </a:prstGeom>
        </p:spPr>
      </p:pic>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Pada kondisi ekstrem, pembatas struktur bekerja sebagai batas keras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grpSp>
        <p:nvGrpSpPr>
          <p:cNvPr name="Group 53" id="53"/>
          <p:cNvGrpSpPr/>
          <p:nvPr/>
        </p:nvGrpSpPr>
        <p:grpSpPr>
          <a:xfrm rot="0">
            <a:off x="822960" y="2289743"/>
            <a:ext cx="8183880" cy="2827153"/>
            <a:chOff x="0" y="0"/>
            <a:chExt cx="10911840" cy="3769538"/>
          </a:xfrm>
        </p:grpSpPr>
        <p:sp>
          <p:nvSpPr>
            <p:cNvPr name="Freeform 54" id="54"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6"/>
              <a:stretch>
                <a:fillRect l="0" t="0" r="0" b="-1"/>
              </a:stretch>
            </a:blipFill>
          </p:spPr>
        </p:sp>
      </p:grpSp>
      <p:grpSp>
        <p:nvGrpSpPr>
          <p:cNvPr name="Group 55" id="55"/>
          <p:cNvGrpSpPr/>
          <p:nvPr/>
        </p:nvGrpSpPr>
        <p:grpSpPr>
          <a:xfrm rot="0">
            <a:off x="9281160" y="2289743"/>
            <a:ext cx="8183880" cy="2827153"/>
            <a:chOff x="0" y="0"/>
            <a:chExt cx="10911840" cy="3769538"/>
          </a:xfrm>
        </p:grpSpPr>
        <p:sp>
          <p:nvSpPr>
            <p:cNvPr name="Freeform 56" id="56"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sp>
      </p:grpSp>
      <p:sp>
        <p:nvSpPr>
          <p:cNvPr name="TextBox 57" id="57"/>
          <p:cNvSpPr txBox="true"/>
          <p:nvPr/>
        </p:nvSpPr>
        <p:spPr>
          <a:xfrm rot="0">
            <a:off x="8229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58" id="58"/>
          <p:cNvSpPr txBox="true"/>
          <p:nvPr/>
        </p:nvSpPr>
        <p:spPr>
          <a:xfrm rot="0">
            <a:off x="92811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59" id="59"/>
          <p:cNvGrpSpPr/>
          <p:nvPr/>
        </p:nvGrpSpPr>
        <p:grpSpPr>
          <a:xfrm rot="0">
            <a:off x="822960" y="5979262"/>
            <a:ext cx="5669280" cy="3174797"/>
            <a:chOff x="0" y="0"/>
            <a:chExt cx="7559040" cy="4233062"/>
          </a:xfrm>
        </p:grpSpPr>
        <p:sp>
          <p:nvSpPr>
            <p:cNvPr name="Freeform 60" id="60"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8"/>
              <a:stretch>
                <a:fillRect l="0" t="0" r="0" b="0"/>
              </a:stretch>
            </a:blipFill>
          </p:spPr>
        </p:sp>
      </p:grpSp>
      <p:grpSp>
        <p:nvGrpSpPr>
          <p:cNvPr name="Group 61" id="61"/>
          <p:cNvGrpSpPr/>
          <p:nvPr/>
        </p:nvGrpSpPr>
        <p:grpSpPr>
          <a:xfrm rot="0">
            <a:off x="6812280" y="5943600"/>
            <a:ext cx="5166360" cy="2103120"/>
            <a:chOff x="0" y="0"/>
            <a:chExt cx="6888480" cy="2804160"/>
          </a:xfrm>
        </p:grpSpPr>
        <p:sp>
          <p:nvSpPr>
            <p:cNvPr name="Freeform 62" id="62"/>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3" id="63"/>
          <p:cNvSpPr txBox="true"/>
          <p:nvPr/>
        </p:nvSpPr>
        <p:spPr>
          <a:xfrm rot="0">
            <a:off x="7086600" y="5993892"/>
            <a:ext cx="4617720" cy="8458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64" id="64"/>
          <p:cNvSpPr txBox="true"/>
          <p:nvPr/>
        </p:nvSpPr>
        <p:spPr>
          <a:xfrm rot="0">
            <a:off x="7086600" y="6590795"/>
            <a:ext cx="4617720" cy="124587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seluruh hipotesis perilaku terkonfirmasi</a:t>
            </a:r>
          </a:p>
        </p:txBody>
      </p:sp>
      <p:grpSp>
        <p:nvGrpSpPr>
          <p:cNvPr name="Group 65" id="65"/>
          <p:cNvGrpSpPr/>
          <p:nvPr/>
        </p:nvGrpSpPr>
        <p:grpSpPr>
          <a:xfrm rot="0">
            <a:off x="12298680" y="5943600"/>
            <a:ext cx="5166360" cy="2103120"/>
            <a:chOff x="0" y="0"/>
            <a:chExt cx="6888480" cy="2804160"/>
          </a:xfrm>
        </p:grpSpPr>
        <p:sp>
          <p:nvSpPr>
            <p:cNvPr name="Freeform 66" id="6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7" id="67"/>
          <p:cNvSpPr txBox="true"/>
          <p:nvPr/>
        </p:nvSpPr>
        <p:spPr>
          <a:xfrm rot="0">
            <a:off x="12554712" y="6094552"/>
            <a:ext cx="4654296" cy="615315"/>
          </a:xfrm>
          <a:prstGeom prst="rect">
            <a:avLst/>
          </a:prstGeom>
        </p:spPr>
        <p:txBody>
          <a:bodyPr anchor="t" rtlCol="false" tIns="0" lIns="0" bIns="0" rIns="0">
            <a:spAutoFit/>
          </a:bodyPr>
          <a:lstStyle/>
          <a:p>
            <a:pPr algn="l">
              <a:lnSpc>
                <a:spcPts val="2553"/>
              </a:lnSpc>
            </a:pPr>
            <a:r>
              <a:rPr lang="en-US" sz="1899" b="true">
                <a:solidFill>
                  <a:srgbClr val="0B5E6E"/>
                </a:solidFill>
                <a:latin typeface="Calibri (MS) Bold"/>
                <a:ea typeface="Calibri (MS) Bold"/>
                <a:cs typeface="Calibri (MS) Bold"/>
                <a:sym typeface="Calibri (MS) Bold"/>
              </a:rPr>
              <a:t>Uji galat integrasi (E15)</a:t>
            </a:r>
          </a:p>
        </p:txBody>
      </p:sp>
      <p:sp>
        <p:nvSpPr>
          <p:cNvPr name="TextBox 68" id="68"/>
          <p:cNvSpPr txBox="true"/>
          <p:nvPr/>
        </p:nvSpPr>
        <p:spPr>
          <a:xfrm rot="0">
            <a:off x="12554712" y="6680530"/>
            <a:ext cx="4654296" cy="1212571"/>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melanggar pada dt 0,25 → galat numerik, bukan struktur.</a:t>
            </a:r>
          </a:p>
        </p:txBody>
      </p:sp>
      <p:grpSp>
        <p:nvGrpSpPr>
          <p:cNvPr name="Group 69" id="69"/>
          <p:cNvGrpSpPr/>
          <p:nvPr/>
        </p:nvGrpSpPr>
        <p:grpSpPr>
          <a:xfrm rot="0">
            <a:off x="6812280" y="8247888"/>
            <a:ext cx="10652760" cy="960120"/>
            <a:chOff x="0" y="0"/>
            <a:chExt cx="14203680" cy="1280160"/>
          </a:xfrm>
        </p:grpSpPr>
        <p:sp>
          <p:nvSpPr>
            <p:cNvPr name="Freeform 70" id="70"/>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sp>
      </p:grpSp>
      <p:grpSp>
        <p:nvGrpSpPr>
          <p:cNvPr name="Group 71" id="71"/>
          <p:cNvGrpSpPr/>
          <p:nvPr/>
        </p:nvGrpSpPr>
        <p:grpSpPr>
          <a:xfrm rot="0">
            <a:off x="7086600" y="8247888"/>
            <a:ext cx="10149840" cy="960120"/>
            <a:chOff x="0" y="0"/>
            <a:chExt cx="13533120" cy="1280160"/>
          </a:xfrm>
        </p:grpSpPr>
        <p:sp>
          <p:nvSpPr>
            <p:cNvPr name="Freeform 72" id="72"/>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984" r="0" b="-155984"/>
              </a:stretch>
            </a:blipFill>
          </p:spPr>
        </p:sp>
        <p:sp>
          <p:nvSpPr>
            <p:cNvPr name="TextBox 73" id="73"/>
            <p:cNvSpPr txBox="true"/>
            <p:nvPr/>
          </p:nvSpPr>
          <p:spPr>
            <a:xfrm>
              <a:off x="0" y="-57150"/>
              <a:ext cx="13533120" cy="133731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keberlakuan: LPE ≤ ±0,336 (≈1,25× nilai dasar). Simulasi dasar dt 1 vs 0,5 berselisih −0,27% s.d. +0,34% → langkah waktu tahunan memadai.</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Patahan data wisnus 2018→2019 disambung dengan faktor 2,2997</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6012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53" id="53"/>
          <p:cNvGrpSpPr/>
          <p:nvPr/>
        </p:nvGrpSpPr>
        <p:grpSpPr>
          <a:xfrm rot="0">
            <a:off x="11109960" y="2400300"/>
            <a:ext cx="6350508" cy="2125980"/>
            <a:chOff x="0" y="0"/>
            <a:chExt cx="8467344" cy="2834640"/>
          </a:xfrm>
        </p:grpSpPr>
        <p:sp>
          <p:nvSpPr>
            <p:cNvPr name="Freeform 54" id="5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452860" y="2564892"/>
            <a:ext cx="5623560" cy="754380"/>
            <a:chOff x="0" y="0"/>
            <a:chExt cx="7498080" cy="1005840"/>
          </a:xfrm>
        </p:grpSpPr>
        <p:sp>
          <p:nvSpPr>
            <p:cNvPr name="Freeform 56" id="5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57" id="57"/>
          <p:cNvGrpSpPr/>
          <p:nvPr/>
        </p:nvGrpSpPr>
        <p:grpSpPr>
          <a:xfrm rot="0">
            <a:off x="11452860" y="2507742"/>
            <a:ext cx="5623560" cy="811530"/>
            <a:chOff x="0" y="0"/>
            <a:chExt cx="7498080" cy="1082040"/>
          </a:xfrm>
        </p:grpSpPr>
        <p:sp>
          <p:nvSpPr>
            <p:cNvPr name="Freeform 58" id="5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59" id="59"/>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60" id="60"/>
          <p:cNvSpPr txBox="true"/>
          <p:nvPr/>
        </p:nvSpPr>
        <p:spPr>
          <a:xfrm rot="0">
            <a:off x="11452860" y="331165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akibat patahan metode pencacahan</a:t>
            </a:r>
          </a:p>
        </p:txBody>
      </p:sp>
      <p:grpSp>
        <p:nvGrpSpPr>
          <p:cNvPr name="Group 61" id="61"/>
          <p:cNvGrpSpPr/>
          <p:nvPr/>
        </p:nvGrpSpPr>
        <p:grpSpPr>
          <a:xfrm rot="0">
            <a:off x="11109960" y="4732020"/>
            <a:ext cx="6350508" cy="2125980"/>
            <a:chOff x="0" y="0"/>
            <a:chExt cx="8467344" cy="2834640"/>
          </a:xfrm>
        </p:grpSpPr>
        <p:sp>
          <p:nvSpPr>
            <p:cNvPr name="Freeform 62" id="6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63" id="63"/>
          <p:cNvGrpSpPr/>
          <p:nvPr/>
        </p:nvGrpSpPr>
        <p:grpSpPr>
          <a:xfrm rot="0">
            <a:off x="11452860" y="4896612"/>
            <a:ext cx="5623560" cy="754380"/>
            <a:chOff x="0" y="0"/>
            <a:chExt cx="7498080" cy="1005840"/>
          </a:xfrm>
        </p:grpSpPr>
        <p:sp>
          <p:nvSpPr>
            <p:cNvPr name="Freeform 64" id="6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65" id="65"/>
          <p:cNvGrpSpPr/>
          <p:nvPr/>
        </p:nvGrpSpPr>
        <p:grpSpPr>
          <a:xfrm rot="0">
            <a:off x="11452860" y="4839462"/>
            <a:ext cx="5623560" cy="811530"/>
            <a:chOff x="0" y="0"/>
            <a:chExt cx="7498080" cy="1082040"/>
          </a:xfrm>
        </p:grpSpPr>
        <p:sp>
          <p:nvSpPr>
            <p:cNvPr name="Freeform 66" id="6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67" id="67"/>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68" id="68"/>
          <p:cNvSpPr txBox="true"/>
          <p:nvPr/>
        </p:nvSpPr>
        <p:spPr>
          <a:xfrm rot="0">
            <a:off x="11452860" y="564337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penyambungan (rentang 2,22–2,38), diuji ulang pada kalibrasi diagnostik</a:t>
            </a:r>
          </a:p>
        </p:txBody>
      </p:sp>
      <p:grpSp>
        <p:nvGrpSpPr>
          <p:cNvPr name="Group 69" id="69"/>
          <p:cNvGrpSpPr/>
          <p:nvPr/>
        </p:nvGrpSpPr>
        <p:grpSpPr>
          <a:xfrm rot="0">
            <a:off x="11109960" y="7063740"/>
            <a:ext cx="6350508" cy="2125980"/>
            <a:chOff x="0" y="0"/>
            <a:chExt cx="8467344" cy="2834640"/>
          </a:xfrm>
        </p:grpSpPr>
        <p:sp>
          <p:nvSpPr>
            <p:cNvPr name="Freeform 70" id="70"/>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452860" y="7228332"/>
            <a:ext cx="5623560" cy="754380"/>
            <a:chOff x="0" y="0"/>
            <a:chExt cx="7498080" cy="1005840"/>
          </a:xfrm>
        </p:grpSpPr>
        <p:sp>
          <p:nvSpPr>
            <p:cNvPr name="Freeform 72" id="72"/>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73" id="73"/>
          <p:cNvGrpSpPr/>
          <p:nvPr/>
        </p:nvGrpSpPr>
        <p:grpSpPr>
          <a:xfrm rot="0">
            <a:off x="11452860" y="7171182"/>
            <a:ext cx="5623560" cy="811530"/>
            <a:chOff x="0" y="0"/>
            <a:chExt cx="7498080" cy="1082040"/>
          </a:xfrm>
        </p:grpSpPr>
        <p:sp>
          <p:nvSpPr>
            <p:cNvPr name="Freeform 74" id="74"/>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75" id="75"/>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76" id="76"/>
          <p:cNvSpPr txBox="true"/>
          <p:nvPr/>
        </p:nvSpPr>
        <p:spPr>
          <a:xfrm rot="0">
            <a:off x="11452860" y="797509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pic>
        <p:nvPicPr>
          <p:cNvPr name="Picture 78" id="78"/>
          <p:cNvPicPr>
            <a:picLocks noChangeAspect="true"/>
          </p:cNvPicPr>
          <p:nvPr/>
        </p:nvPicPr>
        <p:blipFill>
          <a:blip r:embed="rId6"/>
          <a:stretch>
            <a:fillRect/>
          </a:stretch>
        </p:blipFill>
        <p:spPr>
          <a:xfrm rot="0">
            <a:off x="-173736" y="1883664"/>
            <a:ext cx="11960352" cy="8302752"/>
          </a:xfrm>
          <a:prstGeom prst="rect">
            <a:avLst/>
          </a:prstGeom>
        </p:spPr>
      </p:pic>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Perilaku model baik per subsistem, melemah saat seluruh umpan balik aktif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53" id="53"/>
          <p:cNvSpPr txBox="true"/>
          <p:nvPr/>
        </p:nvSpPr>
        <p:spPr>
          <a:xfrm rot="0">
            <a:off x="822960" y="8633460"/>
            <a:ext cx="10149840" cy="6248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54" id="54"/>
          <p:cNvGraphicFramePr>
            <a:graphicFrameLocks noGrp="true"/>
          </p:cNvGraphicFramePr>
          <p:nvPr/>
        </p:nvGraphicFramePr>
        <p:xfrm>
          <a:off x="11384280" y="2400300"/>
          <a:ext cx="6045200" cy="4737100"/>
        </p:xfrm>
        <a:graphic>
          <a:graphicData uri="http://schemas.openxmlformats.org/drawingml/2006/table">
            <a:tbl>
              <a:tblPr/>
              <a:tblGrid>
                <a:gridCol w="2196384"/>
                <a:gridCol w="3848816"/>
              </a:tblGrid>
              <a:tr h="56085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970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27275">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69562">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9707">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5" id="55"/>
          <p:cNvGrpSpPr/>
          <p:nvPr/>
        </p:nvGrpSpPr>
        <p:grpSpPr>
          <a:xfrm rot="0">
            <a:off x="11384280" y="7406640"/>
            <a:ext cx="6076188" cy="1851660"/>
            <a:chOff x="0" y="0"/>
            <a:chExt cx="8101584" cy="2468880"/>
          </a:xfrm>
        </p:grpSpPr>
        <p:sp>
          <p:nvSpPr>
            <p:cNvPr name="Freeform 56" id="56"/>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sp>
      </p:grpSp>
      <p:grpSp>
        <p:nvGrpSpPr>
          <p:cNvPr name="Group 57" id="57"/>
          <p:cNvGrpSpPr/>
          <p:nvPr/>
        </p:nvGrpSpPr>
        <p:grpSpPr>
          <a:xfrm rot="0">
            <a:off x="11658600" y="7406640"/>
            <a:ext cx="5554980" cy="1851660"/>
            <a:chOff x="0" y="0"/>
            <a:chExt cx="7406640" cy="2468880"/>
          </a:xfrm>
        </p:grpSpPr>
        <p:sp>
          <p:nvSpPr>
            <p:cNvPr name="Freeform 58" id="58"/>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sp>
      </p:grpSp>
      <p:grpSp>
        <p:nvGrpSpPr>
          <p:cNvPr name="Group 59" id="59"/>
          <p:cNvGrpSpPr/>
          <p:nvPr/>
        </p:nvGrpSpPr>
        <p:grpSpPr>
          <a:xfrm rot="0">
            <a:off x="11658600" y="7378065"/>
            <a:ext cx="5554980" cy="1880235"/>
            <a:chOff x="0" y="0"/>
            <a:chExt cx="7406640" cy="2506980"/>
          </a:xfrm>
        </p:grpSpPr>
        <p:sp>
          <p:nvSpPr>
            <p:cNvPr name="Freeform 60" id="60"/>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66" r="0" b="-7566"/>
              </a:stretch>
            </a:blipFill>
          </p:spPr>
        </p:sp>
        <p:sp>
          <p:nvSpPr>
            <p:cNvPr name="TextBox 61" id="61"/>
            <p:cNvSpPr txBox="true"/>
            <p:nvPr/>
          </p:nvSpPr>
          <p:spPr>
            <a:xfrm>
              <a:off x="0" y="-38100"/>
              <a:ext cx="7406640" cy="25450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galat (MAPE): galat menumpuk dari satu sumber bersama, bukan tersebar di banyak subsistem.</a:t>
              </a:r>
            </a:p>
          </p:txBody>
        </p:sp>
      </p:gr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pic>
        <p:nvPicPr>
          <p:cNvPr name="Picture 63" id="63"/>
          <p:cNvPicPr>
            <a:picLocks noChangeAspect="true"/>
          </p:cNvPicPr>
          <p:nvPr/>
        </p:nvPicPr>
        <p:blipFill>
          <a:blip r:embed="rId6"/>
          <a:stretch>
            <a:fillRect/>
          </a:stretch>
        </p:blipFill>
        <p:spPr>
          <a:xfrm rot="0">
            <a:off x="-582894" y="1945112"/>
            <a:ext cx="12631150" cy="7444624"/>
          </a:xfrm>
          <a:prstGeom prst="rect">
            <a:avLst/>
          </a:prstGeom>
        </p:spPr>
      </p:pic>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Akar galat tunggal: pertumbuhan wisatawan merambat ke variabel hilir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37460"/>
            <a:ext cx="2468880" cy="2057400"/>
            <a:chOff x="0" y="0"/>
            <a:chExt cx="3291840" cy="2743200"/>
          </a:xfrm>
        </p:grpSpPr>
        <p:sp>
          <p:nvSpPr>
            <p:cNvPr name="Freeform 53" id="5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sp>
      </p:grpSp>
      <p:grpSp>
        <p:nvGrpSpPr>
          <p:cNvPr name="Group 54" id="54"/>
          <p:cNvGrpSpPr/>
          <p:nvPr/>
        </p:nvGrpSpPr>
        <p:grpSpPr>
          <a:xfrm rot="0">
            <a:off x="960120" y="2537460"/>
            <a:ext cx="2194560" cy="2057400"/>
            <a:chOff x="0" y="0"/>
            <a:chExt cx="2926080" cy="2743200"/>
          </a:xfrm>
        </p:grpSpPr>
        <p:sp>
          <p:nvSpPr>
            <p:cNvPr name="Freeform 55" id="5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56" id="56"/>
          <p:cNvGrpSpPr/>
          <p:nvPr/>
        </p:nvGrpSpPr>
        <p:grpSpPr>
          <a:xfrm rot="0">
            <a:off x="960120" y="2501741"/>
            <a:ext cx="2194560" cy="2093119"/>
            <a:chOff x="0" y="0"/>
            <a:chExt cx="2926080" cy="2790825"/>
          </a:xfrm>
        </p:grpSpPr>
        <p:sp>
          <p:nvSpPr>
            <p:cNvPr name="Freeform 57" id="5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58" id="5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59" id="59"/>
          <p:cNvSpPr/>
          <p:nvPr/>
        </p:nvSpPr>
        <p:spPr>
          <a:xfrm rot="248399">
            <a:off x="3279105" y="3542347"/>
            <a:ext cx="395811"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656686" y="2537460"/>
            <a:ext cx="2468880" cy="2057400"/>
            <a:chOff x="0" y="0"/>
            <a:chExt cx="3291840" cy="2743200"/>
          </a:xfrm>
        </p:grpSpPr>
        <p:sp>
          <p:nvSpPr>
            <p:cNvPr name="Freeform 61" id="61"/>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62" id="62"/>
          <p:cNvGrpSpPr/>
          <p:nvPr/>
        </p:nvGrpSpPr>
        <p:grpSpPr>
          <a:xfrm rot="0">
            <a:off x="3793846" y="2537460"/>
            <a:ext cx="2194560" cy="2057400"/>
            <a:chOff x="0" y="0"/>
            <a:chExt cx="2926080" cy="2743200"/>
          </a:xfrm>
        </p:grpSpPr>
        <p:sp>
          <p:nvSpPr>
            <p:cNvPr name="Freeform 63" id="63"/>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64" id="64"/>
          <p:cNvGrpSpPr/>
          <p:nvPr/>
        </p:nvGrpSpPr>
        <p:grpSpPr>
          <a:xfrm rot="0">
            <a:off x="3793846" y="2501741"/>
            <a:ext cx="2194560" cy="2093119"/>
            <a:chOff x="0" y="0"/>
            <a:chExt cx="2926080" cy="2790825"/>
          </a:xfrm>
        </p:grpSpPr>
        <p:sp>
          <p:nvSpPr>
            <p:cNvPr name="Freeform 65" id="65"/>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66" id="66"/>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67" id="67"/>
          <p:cNvSpPr/>
          <p:nvPr/>
        </p:nvSpPr>
        <p:spPr>
          <a:xfrm rot="248399">
            <a:off x="6112831" y="3542347"/>
            <a:ext cx="395811" cy="0"/>
          </a:xfrm>
          <a:prstGeom prst="line">
            <a:avLst/>
          </a:prstGeom>
          <a:ln cap="rnd" w="19050">
            <a:solidFill>
              <a:srgbClr val="39C0D3"/>
            </a:solidFill>
            <a:prstDash val="solid"/>
            <a:headEnd type="none" len="sm" w="sm"/>
            <a:tailEnd type="triangle" len="med" w="lg"/>
          </a:ln>
        </p:spPr>
      </p:sp>
      <p:grpSp>
        <p:nvGrpSpPr>
          <p:cNvPr name="Group 68" id="68"/>
          <p:cNvGrpSpPr/>
          <p:nvPr/>
        </p:nvGrpSpPr>
        <p:grpSpPr>
          <a:xfrm rot="0">
            <a:off x="6490411" y="2537460"/>
            <a:ext cx="2468880" cy="2057400"/>
            <a:chOff x="0" y="0"/>
            <a:chExt cx="3291840" cy="2743200"/>
          </a:xfrm>
        </p:grpSpPr>
        <p:sp>
          <p:nvSpPr>
            <p:cNvPr name="Freeform 69" id="69"/>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0" id="70"/>
          <p:cNvGrpSpPr/>
          <p:nvPr/>
        </p:nvGrpSpPr>
        <p:grpSpPr>
          <a:xfrm rot="0">
            <a:off x="6627571" y="2537460"/>
            <a:ext cx="2194560" cy="2057400"/>
            <a:chOff x="0" y="0"/>
            <a:chExt cx="2926080" cy="2743200"/>
          </a:xfrm>
        </p:grpSpPr>
        <p:sp>
          <p:nvSpPr>
            <p:cNvPr name="Freeform 71" id="71"/>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72" id="72"/>
          <p:cNvGrpSpPr/>
          <p:nvPr/>
        </p:nvGrpSpPr>
        <p:grpSpPr>
          <a:xfrm rot="0">
            <a:off x="6627571" y="2501741"/>
            <a:ext cx="2194560" cy="2093119"/>
            <a:chOff x="0" y="0"/>
            <a:chExt cx="2926080" cy="2790825"/>
          </a:xfrm>
        </p:grpSpPr>
        <p:sp>
          <p:nvSpPr>
            <p:cNvPr name="Freeform 73" id="73"/>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74" id="74"/>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75" id="75"/>
          <p:cNvSpPr/>
          <p:nvPr/>
        </p:nvSpPr>
        <p:spPr>
          <a:xfrm rot="248399">
            <a:off x="8946556" y="3542347"/>
            <a:ext cx="395811" cy="0"/>
          </a:xfrm>
          <a:prstGeom prst="line">
            <a:avLst/>
          </a:prstGeom>
          <a:ln cap="rnd" w="19050">
            <a:solidFill>
              <a:srgbClr val="39C0D3"/>
            </a:solidFill>
            <a:prstDash val="solid"/>
            <a:headEnd type="none" len="sm" w="sm"/>
            <a:tailEnd type="triangle" len="med" w="lg"/>
          </a:ln>
        </p:spPr>
      </p:sp>
      <p:grpSp>
        <p:nvGrpSpPr>
          <p:cNvPr name="Group 76" id="76"/>
          <p:cNvGrpSpPr/>
          <p:nvPr/>
        </p:nvGrpSpPr>
        <p:grpSpPr>
          <a:xfrm rot="0">
            <a:off x="9324137"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8" id="78"/>
          <p:cNvGrpSpPr/>
          <p:nvPr/>
        </p:nvGrpSpPr>
        <p:grpSpPr>
          <a:xfrm rot="0">
            <a:off x="9461297"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0" id="80"/>
          <p:cNvGrpSpPr/>
          <p:nvPr/>
        </p:nvGrpSpPr>
        <p:grpSpPr>
          <a:xfrm rot="0">
            <a:off x="9461297"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82" id="82"/>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83" id="83"/>
          <p:cNvSpPr/>
          <p:nvPr/>
        </p:nvSpPr>
        <p:spPr>
          <a:xfrm rot="248399">
            <a:off x="11780282" y="3542347"/>
            <a:ext cx="395811" cy="0"/>
          </a:xfrm>
          <a:prstGeom prst="line">
            <a:avLst/>
          </a:prstGeom>
          <a:ln cap="rnd" w="19050">
            <a:solidFill>
              <a:srgbClr val="39C0D3"/>
            </a:solidFill>
            <a:prstDash val="solid"/>
            <a:headEnd type="none" len="sm" w="sm"/>
            <a:tailEnd type="triangle" len="med" w="lg"/>
          </a:ln>
        </p:spPr>
      </p:sp>
      <p:grpSp>
        <p:nvGrpSpPr>
          <p:cNvPr name="Group 84" id="84"/>
          <p:cNvGrpSpPr/>
          <p:nvPr/>
        </p:nvGrpSpPr>
        <p:grpSpPr>
          <a:xfrm rot="0">
            <a:off x="12157862" y="2537460"/>
            <a:ext cx="2468880" cy="2057400"/>
            <a:chOff x="0" y="0"/>
            <a:chExt cx="3291840" cy="2743200"/>
          </a:xfrm>
        </p:grpSpPr>
        <p:sp>
          <p:nvSpPr>
            <p:cNvPr name="Freeform 85" id="85"/>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86" id="86"/>
          <p:cNvGrpSpPr/>
          <p:nvPr/>
        </p:nvGrpSpPr>
        <p:grpSpPr>
          <a:xfrm rot="0">
            <a:off x="12295022" y="2537460"/>
            <a:ext cx="2194560" cy="2057400"/>
            <a:chOff x="0" y="0"/>
            <a:chExt cx="2926080" cy="2743200"/>
          </a:xfrm>
        </p:grpSpPr>
        <p:sp>
          <p:nvSpPr>
            <p:cNvPr name="Freeform 87" id="87"/>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8" id="88"/>
          <p:cNvGrpSpPr/>
          <p:nvPr/>
        </p:nvGrpSpPr>
        <p:grpSpPr>
          <a:xfrm rot="0">
            <a:off x="12295022" y="2501741"/>
            <a:ext cx="2194560" cy="2093119"/>
            <a:chOff x="0" y="0"/>
            <a:chExt cx="2926080" cy="2790825"/>
          </a:xfrm>
        </p:grpSpPr>
        <p:sp>
          <p:nvSpPr>
            <p:cNvPr name="Freeform 89" id="89"/>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0" id="90"/>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91" id="91"/>
          <p:cNvSpPr/>
          <p:nvPr/>
        </p:nvSpPr>
        <p:spPr>
          <a:xfrm rot="248399">
            <a:off x="14614007" y="3542347"/>
            <a:ext cx="395811" cy="0"/>
          </a:xfrm>
          <a:prstGeom prst="line">
            <a:avLst/>
          </a:prstGeom>
          <a:ln cap="rnd" w="19050">
            <a:solidFill>
              <a:srgbClr val="39C0D3"/>
            </a:solidFill>
            <a:prstDash val="solid"/>
            <a:headEnd type="none" len="sm" w="sm"/>
            <a:tailEnd type="triangle" len="med" w="lg"/>
          </a:ln>
        </p:spPr>
      </p:sp>
      <p:grpSp>
        <p:nvGrpSpPr>
          <p:cNvPr name="Group 92" id="92"/>
          <p:cNvGrpSpPr/>
          <p:nvPr/>
        </p:nvGrpSpPr>
        <p:grpSpPr>
          <a:xfrm rot="0">
            <a:off x="14991588" y="2537460"/>
            <a:ext cx="2468880" cy="2057400"/>
            <a:chOff x="0" y="0"/>
            <a:chExt cx="3291840" cy="2743200"/>
          </a:xfrm>
        </p:grpSpPr>
        <p:sp>
          <p:nvSpPr>
            <p:cNvPr name="Freeform 93" id="9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94" id="94"/>
          <p:cNvGrpSpPr/>
          <p:nvPr/>
        </p:nvGrpSpPr>
        <p:grpSpPr>
          <a:xfrm rot="0">
            <a:off x="15128748" y="2537460"/>
            <a:ext cx="2194560" cy="2057400"/>
            <a:chOff x="0" y="0"/>
            <a:chExt cx="2926080" cy="2743200"/>
          </a:xfrm>
        </p:grpSpPr>
        <p:sp>
          <p:nvSpPr>
            <p:cNvPr name="Freeform 95" id="9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96" id="96"/>
          <p:cNvGrpSpPr/>
          <p:nvPr/>
        </p:nvGrpSpPr>
        <p:grpSpPr>
          <a:xfrm rot="0">
            <a:off x="15128748" y="2501741"/>
            <a:ext cx="2194560" cy="2093119"/>
            <a:chOff x="0" y="0"/>
            <a:chExt cx="2926080" cy="2790825"/>
          </a:xfrm>
        </p:grpSpPr>
        <p:sp>
          <p:nvSpPr>
            <p:cNvPr name="Freeform 97" id="9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8" id="9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99" id="99"/>
          <p:cNvSpPr txBox="true"/>
          <p:nvPr/>
        </p:nvSpPr>
        <p:spPr>
          <a:xfrm rot="0">
            <a:off x="822960" y="4724400"/>
            <a:ext cx="16637508" cy="48768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Galat merambat ke hilir melalui jalur ekonomi</a:t>
            </a:r>
          </a:p>
        </p:txBody>
      </p:sp>
      <p:grpSp>
        <p:nvGrpSpPr>
          <p:cNvPr name="Group 100" id="100"/>
          <p:cNvGrpSpPr/>
          <p:nvPr/>
        </p:nvGrpSpPr>
        <p:grpSpPr>
          <a:xfrm rot="0">
            <a:off x="822960" y="5486400"/>
            <a:ext cx="8161020" cy="3566160"/>
            <a:chOff x="0" y="0"/>
            <a:chExt cx="10881360" cy="4754880"/>
          </a:xfrm>
        </p:grpSpPr>
        <p:sp>
          <p:nvSpPr>
            <p:cNvPr name="Freeform 101" id="10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sp>
      </p:grpSp>
      <p:sp>
        <p:nvSpPr>
          <p:cNvPr name="TextBox 102" id="102"/>
          <p:cNvSpPr txBox="true"/>
          <p:nvPr/>
        </p:nvSpPr>
        <p:spPr>
          <a:xfrm rot="0">
            <a:off x="1234440"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03" id="103"/>
          <p:cNvSpPr txBox="true"/>
          <p:nvPr/>
        </p:nvSpPr>
        <p:spPr>
          <a:xfrm rot="0">
            <a:off x="1234440" y="6370320"/>
            <a:ext cx="7406640" cy="2545080"/>
          </a:xfrm>
          <a:prstGeom prst="rect">
            <a:avLst/>
          </a:prstGeom>
        </p:spPr>
        <p:txBody>
          <a:bodyPr anchor="t" rtlCol="false" tIns="0" lIns="0" bIns="0" rIns="0">
            <a:spAutoFit/>
          </a:bodyPr>
          <a:lstStyle/>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Komponen galat U1 (bias level) dominan pada 6 dari 9 variabel</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04" id="104"/>
          <p:cNvGrpSpPr/>
          <p:nvPr/>
        </p:nvGrpSpPr>
        <p:grpSpPr>
          <a:xfrm rot="0">
            <a:off x="9299448" y="5486400"/>
            <a:ext cx="8161020" cy="3566160"/>
            <a:chOff x="0" y="0"/>
            <a:chExt cx="10881360" cy="4754880"/>
          </a:xfrm>
        </p:grpSpPr>
        <p:sp>
          <p:nvSpPr>
            <p:cNvPr name="Freeform 105" id="105"/>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sp>
      </p:grpSp>
      <p:sp>
        <p:nvSpPr>
          <p:cNvPr name="TextBox 106" id="106"/>
          <p:cNvSpPr txBox="true"/>
          <p:nvPr/>
        </p:nvSpPr>
        <p:spPr>
          <a:xfrm rot="0">
            <a:off x="9710928"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07" id="107"/>
          <p:cNvSpPr txBox="true"/>
          <p:nvPr/>
        </p:nvSpPr>
        <p:spPr>
          <a:xfrm rot="0">
            <a:off x="9710928" y="6370320"/>
            <a:ext cx="7406640" cy="25450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Kesenjangan tren berasal dari rezim pemulihan pascapandemi 2022–2024 yang berada di luar batas model (kenaikan wisnus nasional 2024: 21,61%) — bukan dari kekeliruan nilai parameter struktural subsistem wisatawan.</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memvalidasi parameter turunan data — tidak ada yang diganti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154680" cy="5143500"/>
            <a:chOff x="0" y="0"/>
            <a:chExt cx="4206240" cy="6858000"/>
          </a:xfrm>
        </p:grpSpPr>
        <p:sp>
          <p:nvSpPr>
            <p:cNvPr name="Freeform 53" id="5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54" id="54"/>
          <p:cNvSpPr txBox="true"/>
          <p:nvPr/>
        </p:nvSpPr>
        <p:spPr>
          <a:xfrm rot="0">
            <a:off x="1097280"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55" id="55"/>
          <p:cNvSpPr txBox="true"/>
          <p:nvPr/>
        </p:nvSpPr>
        <p:spPr>
          <a:xfrm rot="0">
            <a:off x="1097280"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56" id="56"/>
          <p:cNvSpPr txBox="true"/>
          <p:nvPr/>
        </p:nvSpPr>
        <p:spPr>
          <a:xfrm rot="0">
            <a:off x="1097280"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57" id="57"/>
          <p:cNvGrpSpPr/>
          <p:nvPr/>
        </p:nvGrpSpPr>
        <p:grpSpPr>
          <a:xfrm rot="0">
            <a:off x="1028700" y="6720840"/>
            <a:ext cx="2743200" cy="548640"/>
            <a:chOff x="0" y="0"/>
            <a:chExt cx="3657600" cy="731520"/>
          </a:xfrm>
        </p:grpSpPr>
        <p:sp>
          <p:nvSpPr>
            <p:cNvPr name="Freeform 58" id="5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59" id="59"/>
          <p:cNvGrpSpPr/>
          <p:nvPr/>
        </p:nvGrpSpPr>
        <p:grpSpPr>
          <a:xfrm rot="0">
            <a:off x="1028700" y="6720840"/>
            <a:ext cx="2743200" cy="548640"/>
            <a:chOff x="0" y="0"/>
            <a:chExt cx="3657600" cy="731520"/>
          </a:xfrm>
        </p:grpSpPr>
        <p:sp>
          <p:nvSpPr>
            <p:cNvPr name="Freeform 60" id="6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61" id="61"/>
          <p:cNvGrpSpPr/>
          <p:nvPr/>
        </p:nvGrpSpPr>
        <p:grpSpPr>
          <a:xfrm rot="0">
            <a:off x="1028700" y="6699409"/>
            <a:ext cx="2743200" cy="570071"/>
            <a:chOff x="0" y="0"/>
            <a:chExt cx="3657600" cy="760095"/>
          </a:xfrm>
        </p:grpSpPr>
        <p:sp>
          <p:nvSpPr>
            <p:cNvPr name="Freeform 62" id="6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63" id="63"/>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64" id="64"/>
          <p:cNvGrpSpPr/>
          <p:nvPr/>
        </p:nvGrpSpPr>
        <p:grpSpPr>
          <a:xfrm rot="0">
            <a:off x="4197096" y="2400300"/>
            <a:ext cx="3154680" cy="5143500"/>
            <a:chOff x="0" y="0"/>
            <a:chExt cx="4206240" cy="6858000"/>
          </a:xfrm>
        </p:grpSpPr>
        <p:sp>
          <p:nvSpPr>
            <p:cNvPr name="Freeform 65" id="6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66" id="66"/>
          <p:cNvSpPr txBox="true"/>
          <p:nvPr/>
        </p:nvSpPr>
        <p:spPr>
          <a:xfrm rot="0">
            <a:off x="4471416"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67" id="67"/>
          <p:cNvSpPr txBox="true"/>
          <p:nvPr/>
        </p:nvSpPr>
        <p:spPr>
          <a:xfrm rot="0">
            <a:off x="4471416"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68" id="68"/>
          <p:cNvSpPr txBox="true"/>
          <p:nvPr/>
        </p:nvSpPr>
        <p:spPr>
          <a:xfrm rot="0">
            <a:off x="4471416"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TPK ambang dan laju demolisi dicari menyeluruh. Optimum TPK (0,35) di batas rentang dan gagal generalisasi lintas periode</a:t>
            </a:r>
          </a:p>
        </p:txBody>
      </p:sp>
      <p:grpSp>
        <p:nvGrpSpPr>
          <p:cNvPr name="Group 69" id="69"/>
          <p:cNvGrpSpPr/>
          <p:nvPr/>
        </p:nvGrpSpPr>
        <p:grpSpPr>
          <a:xfrm rot="0">
            <a:off x="4402836" y="6720840"/>
            <a:ext cx="2743200" cy="548640"/>
            <a:chOff x="0" y="0"/>
            <a:chExt cx="3657600" cy="731520"/>
          </a:xfrm>
        </p:grpSpPr>
        <p:sp>
          <p:nvSpPr>
            <p:cNvPr name="Freeform 70" id="7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71" id="71"/>
          <p:cNvGrpSpPr/>
          <p:nvPr/>
        </p:nvGrpSpPr>
        <p:grpSpPr>
          <a:xfrm rot="0">
            <a:off x="4402836"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73" id="73"/>
          <p:cNvGrpSpPr/>
          <p:nvPr/>
        </p:nvGrpSpPr>
        <p:grpSpPr>
          <a:xfrm rot="0">
            <a:off x="4402836" y="6699409"/>
            <a:ext cx="2743200" cy="570071"/>
            <a:chOff x="0" y="0"/>
            <a:chExt cx="3657600" cy="760095"/>
          </a:xfrm>
        </p:grpSpPr>
        <p:sp>
          <p:nvSpPr>
            <p:cNvPr name="Freeform 74" id="7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75" id="75"/>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76" id="76"/>
          <p:cNvGrpSpPr/>
          <p:nvPr/>
        </p:nvGrpSpPr>
        <p:grpSpPr>
          <a:xfrm rot="0">
            <a:off x="7571232" y="2400300"/>
            <a:ext cx="3154680" cy="5143500"/>
            <a:chOff x="0" y="0"/>
            <a:chExt cx="4206240" cy="6858000"/>
          </a:xfrm>
        </p:grpSpPr>
        <p:sp>
          <p:nvSpPr>
            <p:cNvPr name="Freeform 77" id="7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78" id="78"/>
          <p:cNvSpPr txBox="true"/>
          <p:nvPr/>
        </p:nvSpPr>
        <p:spPr>
          <a:xfrm rot="0">
            <a:off x="7845552"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79" id="79"/>
          <p:cNvSpPr txBox="true"/>
          <p:nvPr/>
        </p:nvSpPr>
        <p:spPr>
          <a:xfrm rot="0">
            <a:off x="7845552"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80" id="80"/>
          <p:cNvSpPr txBox="true"/>
          <p:nvPr/>
        </p:nvSpPr>
        <p:spPr>
          <a:xfrm rot="0">
            <a:off x="7845552"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81" id="81"/>
          <p:cNvGrpSpPr/>
          <p:nvPr/>
        </p:nvGrpSpPr>
        <p:grpSpPr>
          <a:xfrm rot="0">
            <a:off x="7776972" y="6720840"/>
            <a:ext cx="2743200" cy="548640"/>
            <a:chOff x="0" y="0"/>
            <a:chExt cx="3657600" cy="731520"/>
          </a:xfrm>
        </p:grpSpPr>
        <p:sp>
          <p:nvSpPr>
            <p:cNvPr name="Freeform 82" id="8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83" id="83"/>
          <p:cNvGrpSpPr/>
          <p:nvPr/>
        </p:nvGrpSpPr>
        <p:grpSpPr>
          <a:xfrm rot="0">
            <a:off x="7776972" y="6720840"/>
            <a:ext cx="2743200" cy="548640"/>
            <a:chOff x="0" y="0"/>
            <a:chExt cx="3657600" cy="731520"/>
          </a:xfrm>
        </p:grpSpPr>
        <p:sp>
          <p:nvSpPr>
            <p:cNvPr name="Freeform 84" id="8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85" id="85"/>
          <p:cNvGrpSpPr/>
          <p:nvPr/>
        </p:nvGrpSpPr>
        <p:grpSpPr>
          <a:xfrm rot="0">
            <a:off x="7776972" y="6699409"/>
            <a:ext cx="2743200" cy="570071"/>
            <a:chOff x="0" y="0"/>
            <a:chExt cx="3657600" cy="760095"/>
          </a:xfrm>
        </p:grpSpPr>
        <p:sp>
          <p:nvSpPr>
            <p:cNvPr name="Freeform 86" id="8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87" id="87"/>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88" id="88"/>
          <p:cNvGrpSpPr/>
          <p:nvPr/>
        </p:nvGrpSpPr>
        <p:grpSpPr>
          <a:xfrm rot="0">
            <a:off x="10945368" y="2400300"/>
            <a:ext cx="3154680" cy="5143500"/>
            <a:chOff x="0" y="0"/>
            <a:chExt cx="4206240" cy="6858000"/>
          </a:xfrm>
        </p:grpSpPr>
        <p:sp>
          <p:nvSpPr>
            <p:cNvPr name="Freeform 89" id="8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90" id="90"/>
          <p:cNvSpPr txBox="true"/>
          <p:nvPr/>
        </p:nvSpPr>
        <p:spPr>
          <a:xfrm rot="0">
            <a:off x="11219688"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91" id="91"/>
          <p:cNvSpPr txBox="true"/>
          <p:nvPr/>
        </p:nvSpPr>
        <p:spPr>
          <a:xfrm rot="0">
            <a:off x="11219688"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92" id="92"/>
          <p:cNvSpPr txBox="true"/>
          <p:nvPr/>
        </p:nvSpPr>
        <p:spPr>
          <a:xfrm rot="0">
            <a:off x="11219688"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teridentifikasi terpisah; data hanya mengidentifikasi selisih bersihnya → diagnostik saja</a:t>
            </a:r>
          </a:p>
        </p:txBody>
      </p:sp>
      <p:grpSp>
        <p:nvGrpSpPr>
          <p:cNvPr name="Group 93" id="93"/>
          <p:cNvGrpSpPr/>
          <p:nvPr/>
        </p:nvGrpSpPr>
        <p:grpSpPr>
          <a:xfrm rot="0">
            <a:off x="11151108" y="6720840"/>
            <a:ext cx="2743200" cy="548640"/>
            <a:chOff x="0" y="0"/>
            <a:chExt cx="3657600" cy="731520"/>
          </a:xfrm>
        </p:grpSpPr>
        <p:sp>
          <p:nvSpPr>
            <p:cNvPr name="Freeform 94" id="9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95" id="95"/>
          <p:cNvGrpSpPr/>
          <p:nvPr/>
        </p:nvGrpSpPr>
        <p:grpSpPr>
          <a:xfrm rot="0">
            <a:off x="11151108" y="6720840"/>
            <a:ext cx="2743200" cy="548640"/>
            <a:chOff x="0" y="0"/>
            <a:chExt cx="3657600" cy="731520"/>
          </a:xfrm>
        </p:grpSpPr>
        <p:sp>
          <p:nvSpPr>
            <p:cNvPr name="Freeform 96" id="9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97" id="97"/>
          <p:cNvGrpSpPr/>
          <p:nvPr/>
        </p:nvGrpSpPr>
        <p:grpSpPr>
          <a:xfrm rot="0">
            <a:off x="11151108" y="6699409"/>
            <a:ext cx="2743200" cy="570071"/>
            <a:chOff x="0" y="0"/>
            <a:chExt cx="3657600" cy="760095"/>
          </a:xfrm>
        </p:grpSpPr>
        <p:sp>
          <p:nvSpPr>
            <p:cNvPr name="Freeform 98" id="9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99" id="99"/>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00" id="100"/>
          <p:cNvGrpSpPr/>
          <p:nvPr/>
        </p:nvGrpSpPr>
        <p:grpSpPr>
          <a:xfrm rot="0">
            <a:off x="14319504" y="2400300"/>
            <a:ext cx="3154680" cy="5143500"/>
            <a:chOff x="0" y="0"/>
            <a:chExt cx="4206240" cy="6858000"/>
          </a:xfrm>
        </p:grpSpPr>
        <p:sp>
          <p:nvSpPr>
            <p:cNvPr name="Freeform 101" id="10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102" id="102"/>
          <p:cNvSpPr txBox="true"/>
          <p:nvPr/>
        </p:nvSpPr>
        <p:spPr>
          <a:xfrm rot="0">
            <a:off x="14593824"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03" id="103"/>
          <p:cNvSpPr txBox="true"/>
          <p:nvPr/>
        </p:nvSpPr>
        <p:spPr>
          <a:xfrm rot="0">
            <a:off x="14593824"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04" id="104"/>
          <p:cNvSpPr txBox="true"/>
          <p:nvPr/>
        </p:nvSpPr>
        <p:spPr>
          <a:xfrm rot="0">
            <a:off x="14593824"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05" id="105"/>
          <p:cNvGrpSpPr/>
          <p:nvPr/>
        </p:nvGrpSpPr>
        <p:grpSpPr>
          <a:xfrm rot="0">
            <a:off x="14525244" y="6720840"/>
            <a:ext cx="2743200" cy="548640"/>
            <a:chOff x="0" y="0"/>
            <a:chExt cx="3657600" cy="731520"/>
          </a:xfrm>
        </p:grpSpPr>
        <p:sp>
          <p:nvSpPr>
            <p:cNvPr name="Freeform 106" id="10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sp>
      </p:grpSp>
      <p:grpSp>
        <p:nvGrpSpPr>
          <p:cNvPr name="Group 107" id="107"/>
          <p:cNvGrpSpPr/>
          <p:nvPr/>
        </p:nvGrpSpPr>
        <p:grpSpPr>
          <a:xfrm rot="0">
            <a:off x="14525244" y="6720840"/>
            <a:ext cx="2743200" cy="548640"/>
            <a:chOff x="0" y="0"/>
            <a:chExt cx="3657600" cy="731520"/>
          </a:xfrm>
        </p:grpSpPr>
        <p:sp>
          <p:nvSpPr>
            <p:cNvPr name="Freeform 108" id="10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109" id="109"/>
          <p:cNvGrpSpPr/>
          <p:nvPr/>
        </p:nvGrpSpPr>
        <p:grpSpPr>
          <a:xfrm rot="0">
            <a:off x="14525244" y="6699409"/>
            <a:ext cx="2743200" cy="570071"/>
            <a:chOff x="0" y="0"/>
            <a:chExt cx="3657600" cy="760095"/>
          </a:xfrm>
        </p:grpSpPr>
        <p:sp>
          <p:nvSpPr>
            <p:cNvPr name="Freeform 110" id="11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111" id="111"/>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12" id="112"/>
          <p:cNvGrpSpPr/>
          <p:nvPr/>
        </p:nvGrpSpPr>
        <p:grpSpPr>
          <a:xfrm rot="0">
            <a:off x="822960" y="7886700"/>
            <a:ext cx="16637508" cy="1371600"/>
            <a:chOff x="0" y="0"/>
            <a:chExt cx="22183344" cy="1828800"/>
          </a:xfrm>
        </p:grpSpPr>
        <p:sp>
          <p:nvSpPr>
            <p:cNvPr name="Freeform 113" id="113"/>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sp>
      </p:grpSp>
      <p:grpSp>
        <p:nvGrpSpPr>
          <p:cNvPr name="Group 114" id="114"/>
          <p:cNvGrpSpPr/>
          <p:nvPr/>
        </p:nvGrpSpPr>
        <p:grpSpPr>
          <a:xfrm rot="0">
            <a:off x="1234440" y="7886700"/>
            <a:ext cx="8503920" cy="1371600"/>
            <a:chOff x="0" y="0"/>
            <a:chExt cx="11338560" cy="1828800"/>
          </a:xfrm>
        </p:grpSpPr>
        <p:sp>
          <p:nvSpPr>
            <p:cNvPr name="Freeform 115" id="115"/>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sp>
      </p:grpSp>
      <p:grpSp>
        <p:nvGrpSpPr>
          <p:cNvPr name="Group 116" id="116"/>
          <p:cNvGrpSpPr/>
          <p:nvPr/>
        </p:nvGrpSpPr>
        <p:grpSpPr>
          <a:xfrm rot="0">
            <a:off x="1234440" y="7850981"/>
            <a:ext cx="8503920" cy="1407319"/>
            <a:chOff x="0" y="0"/>
            <a:chExt cx="11338560" cy="1876425"/>
          </a:xfrm>
        </p:grpSpPr>
        <p:sp>
          <p:nvSpPr>
            <p:cNvPr name="Freeform 117" id="117"/>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741" r="0" b="-67741"/>
              </a:stretch>
            </a:blipFill>
          </p:spPr>
        </p:sp>
        <p:sp>
          <p:nvSpPr>
            <p:cNvPr name="TextBox 118" id="118"/>
            <p:cNvSpPr txBox="true"/>
            <p:nvPr/>
          </p:nvSpPr>
          <p:spPr>
            <a:xfrm>
              <a:off x="0" y="-47625"/>
              <a:ext cx="11338560" cy="1924050"/>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(TPK ambang, laju demolisi, laju konversi) → 0 berubah</a:t>
              </a:r>
            </a:p>
          </p:txBody>
        </p:sp>
      </p:grpSp>
      <p:grpSp>
        <p:nvGrpSpPr>
          <p:cNvPr name="Group 119" id="119"/>
          <p:cNvGrpSpPr/>
          <p:nvPr/>
        </p:nvGrpSpPr>
        <p:grpSpPr>
          <a:xfrm rot="0">
            <a:off x="10012680" y="7886700"/>
            <a:ext cx="7132320" cy="1371600"/>
            <a:chOff x="0" y="0"/>
            <a:chExt cx="9509760" cy="1828800"/>
          </a:xfrm>
        </p:grpSpPr>
        <p:sp>
          <p:nvSpPr>
            <p:cNvPr name="Freeform 120" id="120"/>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sp>
      </p:grpSp>
      <p:grpSp>
        <p:nvGrpSpPr>
          <p:cNvPr name="Group 121" id="121"/>
          <p:cNvGrpSpPr/>
          <p:nvPr/>
        </p:nvGrpSpPr>
        <p:grpSpPr>
          <a:xfrm rot="0">
            <a:off x="10012680" y="7858125"/>
            <a:ext cx="7132320" cy="1400175"/>
            <a:chOff x="0" y="0"/>
            <a:chExt cx="9509760" cy="1866900"/>
          </a:xfrm>
        </p:grpSpPr>
        <p:sp>
          <p:nvSpPr>
            <p:cNvPr name="Freeform 122" id="122"/>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254" r="0" b="-49254"/>
              </a:stretch>
            </a:blipFill>
          </p:spPr>
        </p:sp>
        <p:sp>
          <p:nvSpPr>
            <p:cNvPr name="TextBox 123" id="123"/>
            <p:cNvSpPr txBox="true"/>
            <p:nvPr/>
          </p:nvSpPr>
          <p:spPr>
            <a:xfrm>
              <a:off x="0" y="-38100"/>
              <a:ext cx="9509760" cy="19050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turunan data sudah berada di daerah yang dapat dipertanggungjawabkan: kalibrasi berfungsi sebagai instrumen validasi, bukan penyesuaian (Oliva, 2003).</a:t>
              </a:r>
            </a:p>
          </p:txBody>
        </p:sp>
      </p:grpSp>
      <p:sp>
        <p:nvSpPr>
          <p:cNvPr name="TextBox 124" id="12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Ketidakpastian terbesar model ada pada asumsi, bukan pada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53" id="53"/>
          <p:cNvGrpSpPr/>
          <p:nvPr/>
        </p:nvGrpSpPr>
        <p:grpSpPr>
          <a:xfrm rot="0">
            <a:off x="822960" y="8476488"/>
            <a:ext cx="274320" cy="274320"/>
            <a:chOff x="0" y="0"/>
            <a:chExt cx="365760" cy="365760"/>
          </a:xfrm>
        </p:grpSpPr>
        <p:sp>
          <p:nvSpPr>
            <p:cNvPr name="Freeform 54" id="54"/>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FFD23B"/>
            </a:solidFill>
          </p:spPr>
        </p:sp>
      </p:grpSp>
      <p:grpSp>
        <p:nvGrpSpPr>
          <p:cNvPr name="Group 55" id="55"/>
          <p:cNvGrpSpPr/>
          <p:nvPr/>
        </p:nvGrpSpPr>
        <p:grpSpPr>
          <a:xfrm rot="0">
            <a:off x="1207008" y="8394192"/>
            <a:ext cx="2125980" cy="438912"/>
            <a:chOff x="0" y="0"/>
            <a:chExt cx="2834640" cy="585216"/>
          </a:xfrm>
        </p:grpSpPr>
        <p:sp>
          <p:nvSpPr>
            <p:cNvPr name="Freeform 56" id="56"/>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57" id="57"/>
          <p:cNvGrpSpPr/>
          <p:nvPr/>
        </p:nvGrpSpPr>
        <p:grpSpPr>
          <a:xfrm rot="0">
            <a:off x="1207008" y="8372761"/>
            <a:ext cx="2125980" cy="460343"/>
            <a:chOff x="0" y="0"/>
            <a:chExt cx="2834640" cy="613791"/>
          </a:xfrm>
        </p:grpSpPr>
        <p:sp>
          <p:nvSpPr>
            <p:cNvPr name="Freeform 58" id="58"/>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59" id="59"/>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Asumsi peneliti</a:t>
              </a:r>
            </a:p>
          </p:txBody>
        </p:sp>
      </p:grpSp>
      <p:grpSp>
        <p:nvGrpSpPr>
          <p:cNvPr name="Group 60" id="60"/>
          <p:cNvGrpSpPr/>
          <p:nvPr/>
        </p:nvGrpSpPr>
        <p:grpSpPr>
          <a:xfrm rot="0">
            <a:off x="3360420" y="8476488"/>
            <a:ext cx="274320" cy="274320"/>
            <a:chOff x="0" y="0"/>
            <a:chExt cx="365760" cy="365760"/>
          </a:xfrm>
        </p:grpSpPr>
        <p:sp>
          <p:nvSpPr>
            <p:cNvPr name="Freeform 61" id="61"/>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6BE5EA"/>
            </a:solidFill>
          </p:spPr>
        </p:sp>
      </p:grpSp>
      <p:grpSp>
        <p:nvGrpSpPr>
          <p:cNvPr name="Group 62" id="62"/>
          <p:cNvGrpSpPr/>
          <p:nvPr/>
        </p:nvGrpSpPr>
        <p:grpSpPr>
          <a:xfrm rot="0">
            <a:off x="3744468" y="8394192"/>
            <a:ext cx="2125980" cy="438912"/>
            <a:chOff x="0" y="0"/>
            <a:chExt cx="2834640" cy="585216"/>
          </a:xfrm>
        </p:grpSpPr>
        <p:sp>
          <p:nvSpPr>
            <p:cNvPr name="Freeform 63" id="63"/>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64" id="64"/>
          <p:cNvGrpSpPr/>
          <p:nvPr/>
        </p:nvGrpSpPr>
        <p:grpSpPr>
          <a:xfrm rot="0">
            <a:off x="3744468" y="8372761"/>
            <a:ext cx="2125980" cy="460343"/>
            <a:chOff x="0" y="0"/>
            <a:chExt cx="2834640" cy="613791"/>
          </a:xfrm>
        </p:grpSpPr>
        <p:sp>
          <p:nvSpPr>
            <p:cNvPr name="Freeform 65" id="65"/>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66" id="66"/>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Nilai acuan (normalisasi)</a:t>
              </a:r>
            </a:p>
          </p:txBody>
        </p:sp>
      </p:grpSp>
      <p:grpSp>
        <p:nvGrpSpPr>
          <p:cNvPr name="Group 67" id="67"/>
          <p:cNvGrpSpPr/>
          <p:nvPr/>
        </p:nvGrpSpPr>
        <p:grpSpPr>
          <a:xfrm rot="0">
            <a:off x="5897880" y="8476488"/>
            <a:ext cx="274320" cy="274320"/>
            <a:chOff x="0" y="0"/>
            <a:chExt cx="365760" cy="365760"/>
          </a:xfrm>
        </p:grpSpPr>
        <p:sp>
          <p:nvSpPr>
            <p:cNvPr name="Freeform 68" id="6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9C0D3"/>
            </a:solidFill>
          </p:spPr>
        </p:sp>
      </p:grpSp>
      <p:grpSp>
        <p:nvGrpSpPr>
          <p:cNvPr name="Group 69" id="69"/>
          <p:cNvGrpSpPr/>
          <p:nvPr/>
        </p:nvGrpSpPr>
        <p:grpSpPr>
          <a:xfrm rot="0">
            <a:off x="6281928" y="8394192"/>
            <a:ext cx="2125980" cy="438912"/>
            <a:chOff x="0" y="0"/>
            <a:chExt cx="2834640" cy="585216"/>
          </a:xfrm>
        </p:grpSpPr>
        <p:sp>
          <p:nvSpPr>
            <p:cNvPr name="Freeform 70" id="70"/>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1" id="71"/>
          <p:cNvGrpSpPr/>
          <p:nvPr/>
        </p:nvGrpSpPr>
        <p:grpSpPr>
          <a:xfrm rot="0">
            <a:off x="6281928" y="8372761"/>
            <a:ext cx="2125980" cy="460343"/>
            <a:chOff x="0" y="0"/>
            <a:chExt cx="2834640" cy="613791"/>
          </a:xfrm>
        </p:grpSpPr>
        <p:sp>
          <p:nvSpPr>
            <p:cNvPr name="Freeform 72" id="72"/>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73" id="73"/>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Turunan data</a:t>
              </a:r>
            </a:p>
          </p:txBody>
        </p:sp>
      </p:grpSp>
      <p:grpSp>
        <p:nvGrpSpPr>
          <p:cNvPr name="Group 74" id="74"/>
          <p:cNvGrpSpPr/>
          <p:nvPr/>
        </p:nvGrpSpPr>
        <p:grpSpPr>
          <a:xfrm rot="0">
            <a:off x="8435340" y="8476488"/>
            <a:ext cx="274320" cy="274320"/>
            <a:chOff x="0" y="0"/>
            <a:chExt cx="365760" cy="365760"/>
          </a:xfrm>
        </p:grpSpPr>
        <p:sp>
          <p:nvSpPr>
            <p:cNvPr name="Freeform 75" id="7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A99A1"/>
            </a:solidFill>
          </p:spPr>
        </p:sp>
      </p:grpSp>
      <p:grpSp>
        <p:nvGrpSpPr>
          <p:cNvPr name="Group 76" id="76"/>
          <p:cNvGrpSpPr/>
          <p:nvPr/>
        </p:nvGrpSpPr>
        <p:grpSpPr>
          <a:xfrm rot="0">
            <a:off x="8819388" y="8394192"/>
            <a:ext cx="2125980" cy="438912"/>
            <a:chOff x="0" y="0"/>
            <a:chExt cx="2834640" cy="585216"/>
          </a:xfrm>
        </p:grpSpPr>
        <p:sp>
          <p:nvSpPr>
            <p:cNvPr name="Freeform 77" id="77"/>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8" id="78"/>
          <p:cNvGrpSpPr/>
          <p:nvPr/>
        </p:nvGrpSpPr>
        <p:grpSpPr>
          <a:xfrm rot="0">
            <a:off x="8819388" y="8372761"/>
            <a:ext cx="2125980" cy="460343"/>
            <a:chOff x="0" y="0"/>
            <a:chExt cx="2834640" cy="613791"/>
          </a:xfrm>
        </p:grpSpPr>
        <p:sp>
          <p:nvSpPr>
            <p:cNvPr name="Freeform 79" id="79"/>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80" id="80"/>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Identitas stok-aliran</a:t>
              </a:r>
            </a:p>
          </p:txBody>
        </p:sp>
      </p:grpSp>
      <p:grpSp>
        <p:nvGrpSpPr>
          <p:cNvPr name="Group 81" id="81"/>
          <p:cNvGrpSpPr/>
          <p:nvPr/>
        </p:nvGrpSpPr>
        <p:grpSpPr>
          <a:xfrm rot="0">
            <a:off x="11384280" y="2400300"/>
            <a:ext cx="6076188" cy="2125980"/>
            <a:chOff x="0" y="0"/>
            <a:chExt cx="8101584" cy="2834640"/>
          </a:xfrm>
        </p:grpSpPr>
        <p:sp>
          <p:nvSpPr>
            <p:cNvPr name="Freeform 82" id="8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727180" y="2564892"/>
            <a:ext cx="5486400" cy="685800"/>
            <a:chOff x="0" y="0"/>
            <a:chExt cx="7315200" cy="914400"/>
          </a:xfrm>
        </p:grpSpPr>
        <p:sp>
          <p:nvSpPr>
            <p:cNvPr name="Freeform 84" id="8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85" id="85"/>
          <p:cNvGrpSpPr/>
          <p:nvPr/>
        </p:nvGrpSpPr>
        <p:grpSpPr>
          <a:xfrm rot="0">
            <a:off x="11727180" y="2514886"/>
            <a:ext cx="5486400" cy="735806"/>
            <a:chOff x="0" y="0"/>
            <a:chExt cx="7315200" cy="981075"/>
          </a:xfrm>
        </p:grpSpPr>
        <p:sp>
          <p:nvSpPr>
            <p:cNvPr name="Freeform 86" id="8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87" id="87"/>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88" id="88"/>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berstatus asumsi (laju penurunan dasar, bobot kepadatan, bobot ODTW)</a:t>
            </a:r>
          </a:p>
        </p:txBody>
      </p:sp>
      <p:grpSp>
        <p:nvGrpSpPr>
          <p:cNvPr name="Group 89" id="89"/>
          <p:cNvGrpSpPr/>
          <p:nvPr/>
        </p:nvGrpSpPr>
        <p:grpSpPr>
          <a:xfrm rot="0">
            <a:off x="11384280" y="4732020"/>
            <a:ext cx="6076188" cy="2125980"/>
            <a:chOff x="0" y="0"/>
            <a:chExt cx="8101584" cy="2834640"/>
          </a:xfrm>
        </p:grpSpPr>
        <p:sp>
          <p:nvSpPr>
            <p:cNvPr name="Freeform 90" id="9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1" id="91"/>
          <p:cNvGrpSpPr/>
          <p:nvPr/>
        </p:nvGrpSpPr>
        <p:grpSpPr>
          <a:xfrm rot="0">
            <a:off x="11727180" y="4896612"/>
            <a:ext cx="5486400" cy="685800"/>
            <a:chOff x="0" y="0"/>
            <a:chExt cx="7315200" cy="914400"/>
          </a:xfrm>
        </p:grpSpPr>
        <p:sp>
          <p:nvSpPr>
            <p:cNvPr name="Freeform 92" id="9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93" id="93"/>
          <p:cNvGrpSpPr/>
          <p:nvPr/>
        </p:nvGrpSpPr>
        <p:grpSpPr>
          <a:xfrm rot="0">
            <a:off x="11727180" y="4846606"/>
            <a:ext cx="5486400" cy="735806"/>
            <a:chOff x="0" y="0"/>
            <a:chExt cx="7315200" cy="981075"/>
          </a:xfrm>
        </p:grpSpPr>
        <p:sp>
          <p:nvSpPr>
            <p:cNvPr name="Freeform 94" id="9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95" id="95"/>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96" id="96"/>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97" id="97"/>
          <p:cNvGrpSpPr/>
          <p:nvPr/>
        </p:nvGrpSpPr>
        <p:grpSpPr>
          <a:xfrm rot="0">
            <a:off x="11384280" y="7063740"/>
            <a:ext cx="6076188" cy="2125980"/>
            <a:chOff x="0" y="0"/>
            <a:chExt cx="8101584" cy="2834640"/>
          </a:xfrm>
        </p:grpSpPr>
        <p:sp>
          <p:nvSpPr>
            <p:cNvPr name="Freeform 98" id="9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9" id="99"/>
          <p:cNvGrpSpPr/>
          <p:nvPr/>
        </p:nvGrpSpPr>
        <p:grpSpPr>
          <a:xfrm rot="0">
            <a:off x="11727180" y="7228332"/>
            <a:ext cx="5486400" cy="685800"/>
            <a:chOff x="0" y="0"/>
            <a:chExt cx="7315200" cy="914400"/>
          </a:xfrm>
        </p:grpSpPr>
        <p:sp>
          <p:nvSpPr>
            <p:cNvPr name="Freeform 100" id="10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101" id="101"/>
          <p:cNvGrpSpPr/>
          <p:nvPr/>
        </p:nvGrpSpPr>
        <p:grpSpPr>
          <a:xfrm rot="0">
            <a:off x="11727180" y="7178326"/>
            <a:ext cx="5486400" cy="735806"/>
            <a:chOff x="0" y="0"/>
            <a:chExt cx="7315200" cy="981075"/>
          </a:xfrm>
        </p:grpSpPr>
        <p:sp>
          <p:nvSpPr>
            <p:cNvPr name="Freeform 102" id="10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103" id="103"/>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04" id="104"/>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lebar rentang wisatawan akibat rasio LPD/LPE 0,60–0,90 (LPE tetap); 69,65 bila LPE diturunkan ulang</a:t>
            </a:r>
          </a:p>
        </p:txBody>
      </p:sp>
      <p:sp>
        <p:nvSpPr>
          <p:cNvPr name="TextBox 105" id="10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pic>
        <p:nvPicPr>
          <p:cNvPr name="Picture 106" id="106"/>
          <p:cNvPicPr>
            <a:picLocks noChangeAspect="true"/>
          </p:cNvPicPr>
          <p:nvPr/>
        </p:nvPicPr>
        <p:blipFill>
          <a:blip r:embed="rId6"/>
          <a:stretch>
            <a:fillRect/>
          </a:stretch>
        </p:blipFill>
        <p:spPr>
          <a:xfrm rot="0">
            <a:off x="-192024" y="1865376"/>
            <a:ext cx="12179808" cy="7470648"/>
          </a:xfrm>
          <a:prstGeom prst="rect">
            <a:avLst/>
          </a:prstGeom>
        </p:spPr>
      </p:pic>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Asumsi peneliti dinyatakan terbuka beserta dasar dan pengujiannya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6832600"/>
        </p:xfrm>
        <a:graphic>
          <a:graphicData uri="http://schemas.openxmlformats.org/drawingml/2006/table">
            <a:tbl>
              <a:tblPr/>
              <a:tblGrid>
                <a:gridCol w="3967431"/>
                <a:gridCol w="2750776"/>
                <a:gridCol w="5251678"/>
                <a:gridCol w="4616314"/>
              </a:tblGrid>
              <a:tr h="6301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8855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struktural; data hanya mengidentifikasi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(dinormalkan ulang) dan 2 kombinasi alternatif pada rentang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Triangulasi Permen PU 45/PRT/M/2007, UU 36/2008 Pasal 11(6), dan proksi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tuas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Ketetapan peneliti (tidak ada dokumen kebijakan yang memuat angka);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Kekokohan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8678">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Ambang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sinyal deskriptif, bukan pelanggaran standar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skenario berasal dari kombinasi dua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028700"/>
            <a:chOff x="0" y="0"/>
            <a:chExt cx="22183344" cy="1371600"/>
          </a:xfrm>
        </p:grpSpPr>
        <p:sp>
          <p:nvSpPr>
            <p:cNvPr name="Freeform 53" id="53"/>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sp>
      </p:grpSp>
      <p:grpSp>
        <p:nvGrpSpPr>
          <p:cNvPr name="Group 54" id="54"/>
          <p:cNvGrpSpPr/>
          <p:nvPr/>
        </p:nvGrpSpPr>
        <p:grpSpPr>
          <a:xfrm rot="0">
            <a:off x="1234440" y="2331720"/>
            <a:ext cx="15814548" cy="1028700"/>
            <a:chOff x="0" y="0"/>
            <a:chExt cx="21086064" cy="1371600"/>
          </a:xfrm>
        </p:grpSpPr>
        <p:sp>
          <p:nvSpPr>
            <p:cNvPr name="Freeform 55" id="55"/>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sp>
      </p:grpSp>
      <p:grpSp>
        <p:nvGrpSpPr>
          <p:cNvPr name="Group 56" id="56"/>
          <p:cNvGrpSpPr/>
          <p:nvPr/>
        </p:nvGrpSpPr>
        <p:grpSpPr>
          <a:xfrm rot="0">
            <a:off x="1234440" y="2296001"/>
            <a:ext cx="15814548" cy="1064419"/>
            <a:chOff x="0" y="0"/>
            <a:chExt cx="21086064" cy="1419225"/>
          </a:xfrm>
        </p:grpSpPr>
        <p:sp>
          <p:nvSpPr>
            <p:cNvPr name="Freeform 57" id="57"/>
            <p:cNvSpPr/>
            <p:nvPr/>
          </p:nvSpPr>
          <p:spPr>
            <a:xfrm flipH="false" flipV="false" rot="0">
              <a:off x="0" y="0"/>
              <a:ext cx="21086065" cy="1419225"/>
            </a:xfrm>
            <a:custGeom>
              <a:avLst/>
              <a:gdLst/>
              <a:ahLst/>
              <a:cxnLst/>
              <a:rect r="r" b="b" t="t" l="l"/>
              <a:pathLst>
                <a:path h="1419225" w="21086065">
                  <a:moveTo>
                    <a:pt x="0" y="0"/>
                  </a:moveTo>
                  <a:lnTo>
                    <a:pt x="21086065" y="0"/>
                  </a:lnTo>
                  <a:lnTo>
                    <a:pt x="21086065" y="1419225"/>
                  </a:lnTo>
                  <a:lnTo>
                    <a:pt x="0" y="1419225"/>
                  </a:lnTo>
                  <a:close/>
                </a:path>
              </a:pathLst>
            </a:custGeom>
            <a:blipFill>
              <a:blip r:embed="rId5">
                <a:alphaModFix amt="0"/>
              </a:blip>
              <a:stretch>
                <a:fillRect l="0" t="-239497" r="0" b="-239497"/>
              </a:stretch>
            </a:blipFill>
          </p:spPr>
        </p:sp>
        <p:sp>
          <p:nvSpPr>
            <p:cNvPr name="TextBox 58" id="58"/>
            <p:cNvSpPr txBox="true"/>
            <p:nvPr/>
          </p:nvSpPr>
          <p:spPr>
            <a:xfrm>
              <a:off x="0" y="-47625"/>
              <a:ext cx="21086064" cy="1466850"/>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59" id="59"/>
          <p:cNvGrpSpPr/>
          <p:nvPr/>
        </p:nvGrpSpPr>
        <p:grpSpPr>
          <a:xfrm rot="0">
            <a:off x="822960" y="3634740"/>
            <a:ext cx="5349240" cy="4594860"/>
            <a:chOff x="0" y="0"/>
            <a:chExt cx="7132320" cy="6126480"/>
          </a:xfrm>
        </p:grpSpPr>
        <p:sp>
          <p:nvSpPr>
            <p:cNvPr name="Freeform 60" id="60"/>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61" id="61"/>
          <p:cNvGrpSpPr/>
          <p:nvPr/>
        </p:nvGrpSpPr>
        <p:grpSpPr>
          <a:xfrm rot="0">
            <a:off x="822960" y="3634740"/>
            <a:ext cx="5349240" cy="822960"/>
            <a:chOff x="0" y="0"/>
            <a:chExt cx="7132320" cy="1097280"/>
          </a:xfrm>
        </p:grpSpPr>
        <p:sp>
          <p:nvSpPr>
            <p:cNvPr name="Freeform 62" id="62"/>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sp>
      </p:grpSp>
      <p:grpSp>
        <p:nvGrpSpPr>
          <p:cNvPr name="Group 63" id="63"/>
          <p:cNvGrpSpPr/>
          <p:nvPr/>
        </p:nvGrpSpPr>
        <p:grpSpPr>
          <a:xfrm rot="0">
            <a:off x="822960" y="3634740"/>
            <a:ext cx="5349240" cy="822960"/>
            <a:chOff x="0" y="0"/>
            <a:chExt cx="7132320" cy="1097280"/>
          </a:xfrm>
        </p:grpSpPr>
        <p:sp>
          <p:nvSpPr>
            <p:cNvPr name="Freeform 64" id="6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5" id="65"/>
          <p:cNvGrpSpPr/>
          <p:nvPr/>
        </p:nvGrpSpPr>
        <p:grpSpPr>
          <a:xfrm rot="0">
            <a:off x="822960" y="3599021"/>
            <a:ext cx="5349240" cy="858679"/>
            <a:chOff x="0" y="0"/>
            <a:chExt cx="7132320" cy="1144905"/>
          </a:xfrm>
        </p:grpSpPr>
        <p:sp>
          <p:nvSpPr>
            <p:cNvPr name="Freeform 66" id="66"/>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67" id="67"/>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68" id="68"/>
          <p:cNvGrpSpPr/>
          <p:nvPr/>
        </p:nvGrpSpPr>
        <p:grpSpPr>
          <a:xfrm rot="0">
            <a:off x="1097280" y="4663440"/>
            <a:ext cx="2331720" cy="822960"/>
            <a:chOff x="0" y="0"/>
            <a:chExt cx="3108960" cy="1097280"/>
          </a:xfrm>
        </p:grpSpPr>
        <p:sp>
          <p:nvSpPr>
            <p:cNvPr name="Freeform 69" id="6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0" id="70"/>
          <p:cNvGrpSpPr/>
          <p:nvPr/>
        </p:nvGrpSpPr>
        <p:grpSpPr>
          <a:xfrm rot="0">
            <a:off x="1097280" y="4592003"/>
            <a:ext cx="2331720" cy="894398"/>
            <a:chOff x="0" y="0"/>
            <a:chExt cx="3108960" cy="1192530"/>
          </a:xfrm>
        </p:grpSpPr>
        <p:sp>
          <p:nvSpPr>
            <p:cNvPr name="Freeform 71" id="7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2" id="7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3" id="73"/>
          <p:cNvSpPr txBox="true"/>
          <p:nvPr/>
        </p:nvSpPr>
        <p:spPr>
          <a:xfrm rot="0">
            <a:off x="109728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74" id="74"/>
          <p:cNvGrpSpPr/>
          <p:nvPr/>
        </p:nvGrpSpPr>
        <p:grpSpPr>
          <a:xfrm rot="0">
            <a:off x="3566160" y="4663440"/>
            <a:ext cx="2331720" cy="822960"/>
            <a:chOff x="0" y="0"/>
            <a:chExt cx="3108960" cy="1097280"/>
          </a:xfrm>
        </p:grpSpPr>
        <p:sp>
          <p:nvSpPr>
            <p:cNvPr name="Freeform 75" id="7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6" id="76"/>
          <p:cNvGrpSpPr/>
          <p:nvPr/>
        </p:nvGrpSpPr>
        <p:grpSpPr>
          <a:xfrm rot="0">
            <a:off x="3566160" y="4592003"/>
            <a:ext cx="2331720" cy="894398"/>
            <a:chOff x="0" y="0"/>
            <a:chExt cx="3108960" cy="1192530"/>
          </a:xfrm>
        </p:grpSpPr>
        <p:sp>
          <p:nvSpPr>
            <p:cNvPr name="Freeform 77" id="7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8" id="78"/>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9" id="79"/>
          <p:cNvSpPr txBox="true"/>
          <p:nvPr/>
        </p:nvSpPr>
        <p:spPr>
          <a:xfrm rot="0">
            <a:off x="356616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80" id="80"/>
          <p:cNvSpPr txBox="true"/>
          <p:nvPr/>
        </p:nvSpPr>
        <p:spPr>
          <a:xfrm rot="0">
            <a:off x="1165860"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81" id="81"/>
          <p:cNvGrpSpPr/>
          <p:nvPr/>
        </p:nvGrpSpPr>
        <p:grpSpPr>
          <a:xfrm rot="0">
            <a:off x="6467094" y="3634740"/>
            <a:ext cx="5349240" cy="4594860"/>
            <a:chOff x="0" y="0"/>
            <a:chExt cx="7132320" cy="6126480"/>
          </a:xfrm>
        </p:grpSpPr>
        <p:sp>
          <p:nvSpPr>
            <p:cNvPr name="Freeform 82" id="8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83" id="83"/>
          <p:cNvGrpSpPr/>
          <p:nvPr/>
        </p:nvGrpSpPr>
        <p:grpSpPr>
          <a:xfrm rot="0">
            <a:off x="6467094" y="363474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sp>
      </p:grpSp>
      <p:grpSp>
        <p:nvGrpSpPr>
          <p:cNvPr name="Group 85" id="85"/>
          <p:cNvGrpSpPr/>
          <p:nvPr/>
        </p:nvGrpSpPr>
        <p:grpSpPr>
          <a:xfrm rot="0">
            <a:off x="6467094" y="3634740"/>
            <a:ext cx="5349240" cy="822960"/>
            <a:chOff x="0" y="0"/>
            <a:chExt cx="7132320" cy="1097280"/>
          </a:xfrm>
        </p:grpSpPr>
        <p:sp>
          <p:nvSpPr>
            <p:cNvPr name="Freeform 86" id="8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87" id="87"/>
          <p:cNvGrpSpPr/>
          <p:nvPr/>
        </p:nvGrpSpPr>
        <p:grpSpPr>
          <a:xfrm rot="0">
            <a:off x="6467094" y="3599021"/>
            <a:ext cx="5349240" cy="858679"/>
            <a:chOff x="0" y="0"/>
            <a:chExt cx="7132320" cy="1144905"/>
          </a:xfrm>
        </p:grpSpPr>
        <p:sp>
          <p:nvSpPr>
            <p:cNvPr name="Freeform 88" id="8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89" id="89"/>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90" id="90"/>
          <p:cNvGrpSpPr/>
          <p:nvPr/>
        </p:nvGrpSpPr>
        <p:grpSpPr>
          <a:xfrm rot="0">
            <a:off x="6741414" y="4663440"/>
            <a:ext cx="2331720" cy="822960"/>
            <a:chOff x="0" y="0"/>
            <a:chExt cx="3108960" cy="1097280"/>
          </a:xfrm>
        </p:grpSpPr>
        <p:sp>
          <p:nvSpPr>
            <p:cNvPr name="Freeform 91" id="9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2" id="92"/>
          <p:cNvGrpSpPr/>
          <p:nvPr/>
        </p:nvGrpSpPr>
        <p:grpSpPr>
          <a:xfrm rot="0">
            <a:off x="6741414" y="4592003"/>
            <a:ext cx="2331720" cy="894398"/>
            <a:chOff x="0" y="0"/>
            <a:chExt cx="3108960" cy="1192530"/>
          </a:xfrm>
        </p:grpSpPr>
        <p:sp>
          <p:nvSpPr>
            <p:cNvPr name="Freeform 93" id="9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94" id="94"/>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95" id="95"/>
          <p:cNvSpPr txBox="true"/>
          <p:nvPr/>
        </p:nvSpPr>
        <p:spPr>
          <a:xfrm rot="0">
            <a:off x="674141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6" id="96"/>
          <p:cNvGrpSpPr/>
          <p:nvPr/>
        </p:nvGrpSpPr>
        <p:grpSpPr>
          <a:xfrm rot="0">
            <a:off x="9210294" y="4663440"/>
            <a:ext cx="2331720" cy="822960"/>
            <a:chOff x="0" y="0"/>
            <a:chExt cx="3108960" cy="1097280"/>
          </a:xfrm>
        </p:grpSpPr>
        <p:sp>
          <p:nvSpPr>
            <p:cNvPr name="Freeform 97" id="9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8" id="98"/>
          <p:cNvGrpSpPr/>
          <p:nvPr/>
        </p:nvGrpSpPr>
        <p:grpSpPr>
          <a:xfrm rot="0">
            <a:off x="9210294" y="4592003"/>
            <a:ext cx="2331720" cy="894398"/>
            <a:chOff x="0" y="0"/>
            <a:chExt cx="3108960" cy="1192530"/>
          </a:xfrm>
        </p:grpSpPr>
        <p:sp>
          <p:nvSpPr>
            <p:cNvPr name="Freeform 99" id="9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00" id="100"/>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01" id="101"/>
          <p:cNvSpPr txBox="true"/>
          <p:nvPr/>
        </p:nvSpPr>
        <p:spPr>
          <a:xfrm rot="0">
            <a:off x="921029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6809994"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03" id="103"/>
          <p:cNvGrpSpPr/>
          <p:nvPr/>
        </p:nvGrpSpPr>
        <p:grpSpPr>
          <a:xfrm rot="0">
            <a:off x="12111228"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105" id="105"/>
          <p:cNvGrpSpPr/>
          <p:nvPr/>
        </p:nvGrpSpPr>
        <p:grpSpPr>
          <a:xfrm rot="0">
            <a:off x="12111228"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sp>
      </p:grpSp>
      <p:grpSp>
        <p:nvGrpSpPr>
          <p:cNvPr name="Group 107" id="107"/>
          <p:cNvGrpSpPr/>
          <p:nvPr/>
        </p:nvGrpSpPr>
        <p:grpSpPr>
          <a:xfrm rot="0">
            <a:off x="12111228"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109" id="109"/>
          <p:cNvGrpSpPr/>
          <p:nvPr/>
        </p:nvGrpSpPr>
        <p:grpSpPr>
          <a:xfrm rot="0">
            <a:off x="12111228"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111" id="111"/>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12" id="112"/>
          <p:cNvGrpSpPr/>
          <p:nvPr/>
        </p:nvGrpSpPr>
        <p:grpSpPr>
          <a:xfrm rot="0">
            <a:off x="12385548" y="4663440"/>
            <a:ext cx="2331720" cy="822960"/>
            <a:chOff x="0" y="0"/>
            <a:chExt cx="3108960" cy="1097280"/>
          </a:xfrm>
        </p:grpSpPr>
        <p:sp>
          <p:nvSpPr>
            <p:cNvPr name="Freeform 113" id="11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14" id="114"/>
          <p:cNvGrpSpPr/>
          <p:nvPr/>
        </p:nvGrpSpPr>
        <p:grpSpPr>
          <a:xfrm rot="0">
            <a:off x="12385548" y="4592003"/>
            <a:ext cx="2331720" cy="894398"/>
            <a:chOff x="0" y="0"/>
            <a:chExt cx="3108960" cy="1192530"/>
          </a:xfrm>
        </p:grpSpPr>
        <p:sp>
          <p:nvSpPr>
            <p:cNvPr name="Freeform 115" id="11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16" id="116"/>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17" id="117"/>
          <p:cNvSpPr txBox="true"/>
          <p:nvPr/>
        </p:nvSpPr>
        <p:spPr>
          <a:xfrm rot="0">
            <a:off x="1238554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18" id="118"/>
          <p:cNvGrpSpPr/>
          <p:nvPr/>
        </p:nvGrpSpPr>
        <p:grpSpPr>
          <a:xfrm rot="0">
            <a:off x="14854428" y="4663440"/>
            <a:ext cx="2331720" cy="822960"/>
            <a:chOff x="0" y="0"/>
            <a:chExt cx="3108960" cy="1097280"/>
          </a:xfrm>
        </p:grpSpPr>
        <p:sp>
          <p:nvSpPr>
            <p:cNvPr name="Freeform 119" id="11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20" id="120"/>
          <p:cNvGrpSpPr/>
          <p:nvPr/>
        </p:nvGrpSpPr>
        <p:grpSpPr>
          <a:xfrm rot="0">
            <a:off x="14854428" y="4592003"/>
            <a:ext cx="2331720" cy="894398"/>
            <a:chOff x="0" y="0"/>
            <a:chExt cx="3108960" cy="1192530"/>
          </a:xfrm>
        </p:grpSpPr>
        <p:sp>
          <p:nvSpPr>
            <p:cNvPr name="Freeform 121" id="12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22" id="12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23" id="123"/>
          <p:cNvSpPr txBox="true"/>
          <p:nvPr/>
        </p:nvSpPr>
        <p:spPr>
          <a:xfrm rot="0">
            <a:off x="1485442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24" id="124"/>
          <p:cNvSpPr txBox="true"/>
          <p:nvPr/>
        </p:nvSpPr>
        <p:spPr>
          <a:xfrm rot="0">
            <a:off x="12454128"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25" id="125"/>
          <p:cNvGrpSpPr/>
          <p:nvPr/>
        </p:nvGrpSpPr>
        <p:grpSpPr>
          <a:xfrm rot="0">
            <a:off x="822960" y="8503920"/>
            <a:ext cx="16637508" cy="754380"/>
            <a:chOff x="0" y="0"/>
            <a:chExt cx="22183344" cy="1005840"/>
          </a:xfrm>
        </p:grpSpPr>
        <p:sp>
          <p:nvSpPr>
            <p:cNvPr name="Freeform 126" id="126"/>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sp>
      </p:grpSp>
      <p:grpSp>
        <p:nvGrpSpPr>
          <p:cNvPr name="Group 127" id="127"/>
          <p:cNvGrpSpPr/>
          <p:nvPr/>
        </p:nvGrpSpPr>
        <p:grpSpPr>
          <a:xfrm rot="0">
            <a:off x="1234440" y="8503920"/>
            <a:ext cx="15814548" cy="754380"/>
            <a:chOff x="0" y="0"/>
            <a:chExt cx="21086064" cy="1005840"/>
          </a:xfrm>
        </p:grpSpPr>
        <p:sp>
          <p:nvSpPr>
            <p:cNvPr name="Freeform 128" id="128"/>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sp>
      </p:grpSp>
      <p:grpSp>
        <p:nvGrpSpPr>
          <p:cNvPr name="Group 129" id="129"/>
          <p:cNvGrpSpPr/>
          <p:nvPr/>
        </p:nvGrpSpPr>
        <p:grpSpPr>
          <a:xfrm rot="0">
            <a:off x="1234440" y="8475345"/>
            <a:ext cx="15814548" cy="782955"/>
            <a:chOff x="0" y="0"/>
            <a:chExt cx="21086064" cy="1043940"/>
          </a:xfrm>
        </p:grpSpPr>
        <p:sp>
          <p:nvSpPr>
            <p:cNvPr name="Freeform 130" id="130"/>
            <p:cNvSpPr/>
            <p:nvPr/>
          </p:nvSpPr>
          <p:spPr>
            <a:xfrm flipH="false" flipV="false" rot="0">
              <a:off x="0" y="0"/>
              <a:ext cx="21086065" cy="1043940"/>
            </a:xfrm>
            <a:custGeom>
              <a:avLst/>
              <a:gdLst/>
              <a:ahLst/>
              <a:cxnLst/>
              <a:rect r="r" b="b" t="t" l="l"/>
              <a:pathLst>
                <a:path h="1043940" w="21086065">
                  <a:moveTo>
                    <a:pt x="0" y="0"/>
                  </a:moveTo>
                  <a:lnTo>
                    <a:pt x="21086065" y="0"/>
                  </a:lnTo>
                  <a:lnTo>
                    <a:pt x="21086065" y="1043940"/>
                  </a:lnTo>
                  <a:lnTo>
                    <a:pt x="0" y="1043940"/>
                  </a:lnTo>
                  <a:close/>
                </a:path>
              </a:pathLst>
            </a:custGeom>
            <a:blipFill>
              <a:blip r:embed="rId5">
                <a:alphaModFix amt="0"/>
              </a:blip>
              <a:stretch>
                <a:fillRect l="0" t="-343569" r="0" b="-343569"/>
              </a:stretch>
            </a:blipFill>
          </p:spPr>
        </p:sp>
        <p:sp>
          <p:nvSpPr>
            <p:cNvPr name="TextBox 131" id="131"/>
            <p:cNvSpPr txBox="true"/>
            <p:nvPr/>
          </p:nvSpPr>
          <p:spPr>
            <a:xfrm>
              <a:off x="0" y="-38100"/>
              <a:ext cx="21086064" cy="10820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berupa paket dua tuas → atribusi dilakukan lewat simulasi dekomposisi (analisis pendukung, bukan skenario).</a:t>
              </a:r>
            </a:p>
          </p:txBody>
        </p:sp>
      </p:grpSp>
      <p:sp>
        <p:nvSpPr>
          <p:cNvPr name="TextBox 132" id="13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Tidak ada skenario yang unggul pada ketiga dimensi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5359400"/>
        </p:xfrm>
        <a:graphic>
          <a:graphicData uri="http://schemas.openxmlformats.org/drawingml/2006/table">
            <a:tbl>
              <a:tblPr/>
              <a:tblGrid>
                <a:gridCol w="2068994"/>
                <a:gridCol w="6247788"/>
                <a:gridCol w="2608193"/>
                <a:gridCol w="2742993"/>
                <a:gridCol w="2918232"/>
              </a:tblGrid>
              <a:tr h="557974">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(ambang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(ambang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3" id="53"/>
          <p:cNvGrpSpPr/>
          <p:nvPr/>
        </p:nvGrpSpPr>
        <p:grpSpPr>
          <a:xfrm rot="0">
            <a:off x="822960" y="8092440"/>
            <a:ext cx="5349240" cy="1165860"/>
            <a:chOff x="0" y="0"/>
            <a:chExt cx="7132320" cy="1554480"/>
          </a:xfrm>
        </p:grpSpPr>
        <p:sp>
          <p:nvSpPr>
            <p:cNvPr name="Freeform 54" id="54"/>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5" id="55"/>
          <p:cNvSpPr txBox="true"/>
          <p:nvPr/>
        </p:nvSpPr>
        <p:spPr>
          <a:xfrm rot="0">
            <a:off x="1097280"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56" id="56"/>
          <p:cNvSpPr txBox="true"/>
          <p:nvPr/>
        </p:nvSpPr>
        <p:spPr>
          <a:xfrm rot="0">
            <a:off x="1097280"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57" id="57"/>
          <p:cNvGrpSpPr/>
          <p:nvPr/>
        </p:nvGrpSpPr>
        <p:grpSpPr>
          <a:xfrm rot="0">
            <a:off x="6467094" y="8092440"/>
            <a:ext cx="5349240" cy="1165860"/>
            <a:chOff x="0" y="0"/>
            <a:chExt cx="7132320" cy="1554480"/>
          </a:xfrm>
        </p:grpSpPr>
        <p:sp>
          <p:nvSpPr>
            <p:cNvPr name="Freeform 58" id="5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9" id="59"/>
          <p:cNvSpPr txBox="true"/>
          <p:nvPr/>
        </p:nvSpPr>
        <p:spPr>
          <a:xfrm rot="0">
            <a:off x="6741414"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60" id="60"/>
          <p:cNvSpPr txBox="true"/>
          <p:nvPr/>
        </p:nvSpPr>
        <p:spPr>
          <a:xfrm rot="0">
            <a:off x="6741414"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61" id="61"/>
          <p:cNvGrpSpPr/>
          <p:nvPr/>
        </p:nvGrpSpPr>
        <p:grpSpPr>
          <a:xfrm rot="0">
            <a:off x="12111228" y="8092440"/>
            <a:ext cx="5349240" cy="1165860"/>
            <a:chOff x="0" y="0"/>
            <a:chExt cx="7132320" cy="1554480"/>
          </a:xfrm>
        </p:grpSpPr>
        <p:sp>
          <p:nvSpPr>
            <p:cNvPr name="Freeform 62" id="6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63" id="63"/>
          <p:cNvSpPr txBox="true"/>
          <p:nvPr/>
        </p:nvSpPr>
        <p:spPr>
          <a:xfrm rot="0">
            <a:off x="12385548"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64" id="64"/>
          <p:cNvSpPr txBox="true"/>
          <p:nvPr/>
        </p:nvSpPr>
        <p:spPr>
          <a:xfrm rot="0">
            <a:off x="12385548"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65" id="6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ODTW lebih besar daripada tekanan kepadatan dan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53" id="53"/>
          <p:cNvGrpSpPr/>
          <p:nvPr/>
        </p:nvGrpSpPr>
        <p:grpSpPr>
          <a:xfrm rot="0">
            <a:off x="822960" y="2307946"/>
            <a:ext cx="4983480" cy="2790749"/>
            <a:chOff x="0" y="0"/>
            <a:chExt cx="6644640" cy="3720998"/>
          </a:xfrm>
        </p:grpSpPr>
        <p:sp>
          <p:nvSpPr>
            <p:cNvPr name="Freeform 54" id="54"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6"/>
              <a:stretch>
                <a:fillRect l="0" t="0" r="0" b="0"/>
              </a:stretch>
            </a:blipFill>
          </p:spPr>
        </p:sp>
      </p:grpSp>
      <p:grpSp>
        <p:nvGrpSpPr>
          <p:cNvPr name="Group 55" id="55"/>
          <p:cNvGrpSpPr/>
          <p:nvPr/>
        </p:nvGrpSpPr>
        <p:grpSpPr>
          <a:xfrm rot="0">
            <a:off x="5989320" y="2307946"/>
            <a:ext cx="4983480" cy="2790749"/>
            <a:chOff x="0" y="0"/>
            <a:chExt cx="6644640" cy="3720998"/>
          </a:xfrm>
        </p:grpSpPr>
        <p:sp>
          <p:nvSpPr>
            <p:cNvPr name="Freeform 56" id="56"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sp>
      </p:grpSp>
      <p:sp>
        <p:nvSpPr>
          <p:cNvPr name="TextBox 57" id="57"/>
          <p:cNvSpPr txBox="true"/>
          <p:nvPr/>
        </p:nvSpPr>
        <p:spPr>
          <a:xfrm rot="0">
            <a:off x="822960" y="5091303"/>
            <a:ext cx="10149840" cy="45910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Lintasan 2025–2050: jumlah wisatawan (kiri) dan PDRB sektor pariwisata (kanan) menurut skenario</a:t>
            </a:r>
          </a:p>
        </p:txBody>
      </p:sp>
      <p:graphicFrame>
        <p:nvGraphicFramePr>
          <p:cNvPr name="Table 58" id="58"/>
          <p:cNvGraphicFramePr>
            <a:graphicFrameLocks noGrp="true"/>
          </p:cNvGraphicFramePr>
          <p:nvPr/>
        </p:nvGraphicFramePr>
        <p:xfrm>
          <a:off x="822960" y="5623560"/>
          <a:ext cx="10109200" cy="2324100"/>
        </p:xfrm>
        <a:graphic>
          <a:graphicData uri="http://schemas.openxmlformats.org/drawingml/2006/table">
            <a:tbl>
              <a:tblPr/>
              <a:tblGrid>
                <a:gridCol w="3551881"/>
                <a:gridCol w="2185773"/>
                <a:gridCol w="2185773"/>
                <a:gridCol w="2185773"/>
              </a:tblGrid>
              <a:tr h="490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59" id="59"/>
          <p:cNvGrpSpPr/>
          <p:nvPr/>
        </p:nvGrpSpPr>
        <p:grpSpPr>
          <a:xfrm rot="0">
            <a:off x="11384280" y="2395728"/>
            <a:ext cx="6071616" cy="1783080"/>
            <a:chOff x="0" y="0"/>
            <a:chExt cx="8095488" cy="2377440"/>
          </a:xfrm>
        </p:grpSpPr>
        <p:sp>
          <p:nvSpPr>
            <p:cNvPr name="Freeform 60" id="60"/>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1" id="61"/>
          <p:cNvSpPr txBox="true"/>
          <p:nvPr/>
        </p:nvSpPr>
        <p:spPr>
          <a:xfrm rot="0">
            <a:off x="11658600" y="244602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62" id="62"/>
          <p:cNvSpPr txBox="true"/>
          <p:nvPr/>
        </p:nvSpPr>
        <p:spPr>
          <a:xfrm rot="0">
            <a:off x="11658600" y="308419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63" id="63"/>
          <p:cNvGrpSpPr/>
          <p:nvPr/>
        </p:nvGrpSpPr>
        <p:grpSpPr>
          <a:xfrm rot="0">
            <a:off x="11384280" y="4315968"/>
            <a:ext cx="6071616" cy="1783080"/>
            <a:chOff x="0" y="0"/>
            <a:chExt cx="8095488" cy="2377440"/>
          </a:xfrm>
        </p:grpSpPr>
        <p:sp>
          <p:nvSpPr>
            <p:cNvPr name="Freeform 64" id="6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5" id="65"/>
          <p:cNvSpPr txBox="true"/>
          <p:nvPr/>
        </p:nvSpPr>
        <p:spPr>
          <a:xfrm rot="0">
            <a:off x="11658600" y="436626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66" id="66"/>
          <p:cNvSpPr txBox="true"/>
          <p:nvPr/>
        </p:nvSpPr>
        <p:spPr>
          <a:xfrm rot="0">
            <a:off x="11658600" y="500443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67" id="67"/>
          <p:cNvGrpSpPr/>
          <p:nvPr/>
        </p:nvGrpSpPr>
        <p:grpSpPr>
          <a:xfrm rot="0">
            <a:off x="11384280" y="6236208"/>
            <a:ext cx="6071616" cy="1783080"/>
            <a:chOff x="0" y="0"/>
            <a:chExt cx="8095488" cy="2377440"/>
          </a:xfrm>
        </p:grpSpPr>
        <p:sp>
          <p:nvSpPr>
            <p:cNvPr name="Freeform 68" id="6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9" id="69"/>
          <p:cNvSpPr txBox="true"/>
          <p:nvPr/>
        </p:nvSpPr>
        <p:spPr>
          <a:xfrm rot="0">
            <a:off x="11658600" y="628650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70" id="70"/>
          <p:cNvSpPr txBox="true"/>
          <p:nvPr/>
        </p:nvSpPr>
        <p:spPr>
          <a:xfrm rot="0">
            <a:off x="11658600" y="692467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71" id="71"/>
          <p:cNvGrpSpPr/>
          <p:nvPr/>
        </p:nvGrpSpPr>
        <p:grpSpPr>
          <a:xfrm rot="0">
            <a:off x="822960" y="8229600"/>
            <a:ext cx="16642080" cy="987552"/>
            <a:chOff x="0" y="0"/>
            <a:chExt cx="22189440" cy="1316736"/>
          </a:xfrm>
        </p:grpSpPr>
        <p:sp>
          <p:nvSpPr>
            <p:cNvPr name="Freeform 72" id="72"/>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sp>
      </p:grpSp>
      <p:grpSp>
        <p:nvGrpSpPr>
          <p:cNvPr name="Group 73" id="73"/>
          <p:cNvGrpSpPr/>
          <p:nvPr/>
        </p:nvGrpSpPr>
        <p:grpSpPr>
          <a:xfrm rot="0">
            <a:off x="1143000" y="8229600"/>
            <a:ext cx="16002000" cy="987552"/>
            <a:chOff x="0" y="0"/>
            <a:chExt cx="21336000" cy="1316736"/>
          </a:xfrm>
        </p:grpSpPr>
        <p:sp>
          <p:nvSpPr>
            <p:cNvPr name="Freeform 74" id="74"/>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729" r="0" b="-265729"/>
              </a:stretch>
            </a:blipFill>
          </p:spPr>
        </p:sp>
        <p:sp>
          <p:nvSpPr>
            <p:cNvPr name="TextBox 75" id="75"/>
            <p:cNvSpPr txBox="true"/>
            <p:nvPr/>
          </p:nvSpPr>
          <p:spPr>
            <a:xfrm>
              <a:off x="0" y="-47625"/>
              <a:ext cx="21336000" cy="1364361"/>
            </a:xfrm>
            <a:prstGeom prst="rect">
              <a:avLst/>
            </a:prstGeom>
          </p:spPr>
          <p:txBody>
            <a:bodyPr anchor="ctr" rtlCol="false" tIns="0" lIns="0" bIns="0" rIns="0"/>
            <a:lstStyle/>
            <a:p>
              <a:pPr algn="l">
                <a:lnSpc>
                  <a:spcPts val="2150"/>
                </a:lnSpc>
              </a:pPr>
              <a:r>
                <a:rPr lang="en-US" sz="1599">
                  <a:solidFill>
                    <a:srgbClr val="14313B"/>
                  </a:solidFill>
                  <a:latin typeface="Calibri (MS)"/>
                  <a:ea typeface="Calibri (MS)"/>
                  <a:cs typeface="Calibri (MS)"/>
                  <a:sym typeface="Calibri (MS)"/>
                </a:rPr>
                <a:t>RDDL ≈ 0,614, jauh di atas ambang 0,331 → hingga 2050 rem daya dukung lahan belum bekerja berarti; pertumbuhan atraksi lebih menentukan daya tarik daripada tekanan lahan.</a:t>
              </a:r>
            </a:p>
          </p:txBody>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Kedua tuas hanya menggeser waktu terlampauinya ambang kepadatan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45994"/>
            <a:ext cx="10149840" cy="5675090"/>
            <a:chOff x="0" y="0"/>
            <a:chExt cx="13533120" cy="7566787"/>
          </a:xfrm>
        </p:grpSpPr>
        <p:sp>
          <p:nvSpPr>
            <p:cNvPr name="Freeform 53" id="53"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6"/>
              <a:stretch>
                <a:fillRect l="0" t="0" r="0" b="0"/>
              </a:stretch>
            </a:blipFill>
          </p:spPr>
        </p:sp>
      </p:grpSp>
      <p:sp>
        <p:nvSpPr>
          <p:cNvPr name="TextBox 54" id="54"/>
          <p:cNvSpPr txBox="true"/>
          <p:nvPr/>
        </p:nvSpPr>
        <p:spPr>
          <a:xfrm rot="0">
            <a:off x="822960" y="8427720"/>
            <a:ext cx="101498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ambang 2,0</a:t>
            </a:r>
          </a:p>
        </p:txBody>
      </p:sp>
      <p:grpSp>
        <p:nvGrpSpPr>
          <p:cNvPr name="Group 55" id="55"/>
          <p:cNvGrpSpPr/>
          <p:nvPr/>
        </p:nvGrpSpPr>
        <p:grpSpPr>
          <a:xfrm rot="0">
            <a:off x="11384280" y="2400300"/>
            <a:ext cx="1892808" cy="2057400"/>
            <a:chOff x="0" y="0"/>
            <a:chExt cx="2523744" cy="2743200"/>
          </a:xfrm>
        </p:grpSpPr>
        <p:sp>
          <p:nvSpPr>
            <p:cNvPr name="Freeform 56" id="56"/>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1384280" y="2537460"/>
            <a:ext cx="1892808" cy="822960"/>
            <a:chOff x="0" y="0"/>
            <a:chExt cx="2523744" cy="1097280"/>
          </a:xfrm>
        </p:grpSpPr>
        <p:sp>
          <p:nvSpPr>
            <p:cNvPr name="Freeform 58" id="58"/>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59" id="59"/>
          <p:cNvGrpSpPr/>
          <p:nvPr/>
        </p:nvGrpSpPr>
        <p:grpSpPr>
          <a:xfrm rot="0">
            <a:off x="11384280" y="2473166"/>
            <a:ext cx="1892808" cy="887254"/>
            <a:chOff x="0" y="0"/>
            <a:chExt cx="2523744" cy="1183005"/>
          </a:xfrm>
        </p:grpSpPr>
        <p:sp>
          <p:nvSpPr>
            <p:cNvPr name="Freeform 60" id="60"/>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1" id="61"/>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62" id="62"/>
          <p:cNvSpPr txBox="true"/>
          <p:nvPr/>
        </p:nvSpPr>
        <p:spPr>
          <a:xfrm rot="0">
            <a:off x="114940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63" id="63"/>
          <p:cNvGrpSpPr/>
          <p:nvPr/>
        </p:nvGrpSpPr>
        <p:grpSpPr>
          <a:xfrm rot="0">
            <a:off x="13441680" y="2400300"/>
            <a:ext cx="1892808" cy="2057400"/>
            <a:chOff x="0" y="0"/>
            <a:chExt cx="2523744" cy="2743200"/>
          </a:xfrm>
        </p:grpSpPr>
        <p:sp>
          <p:nvSpPr>
            <p:cNvPr name="Freeform 64" id="64"/>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3441680" y="2537460"/>
            <a:ext cx="1892808" cy="822960"/>
            <a:chOff x="0" y="0"/>
            <a:chExt cx="2523744" cy="1097280"/>
          </a:xfrm>
        </p:grpSpPr>
        <p:sp>
          <p:nvSpPr>
            <p:cNvPr name="Freeform 66" id="66"/>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67" id="67"/>
          <p:cNvGrpSpPr/>
          <p:nvPr/>
        </p:nvGrpSpPr>
        <p:grpSpPr>
          <a:xfrm rot="0">
            <a:off x="13441680" y="2473166"/>
            <a:ext cx="1892808" cy="887254"/>
            <a:chOff x="0" y="0"/>
            <a:chExt cx="2523744" cy="1183005"/>
          </a:xfrm>
        </p:grpSpPr>
        <p:sp>
          <p:nvSpPr>
            <p:cNvPr name="Freeform 68" id="68"/>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9" id="69"/>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70" id="70"/>
          <p:cNvSpPr txBox="true"/>
          <p:nvPr/>
        </p:nvSpPr>
        <p:spPr>
          <a:xfrm rot="0">
            <a:off x="135514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71" id="71"/>
          <p:cNvGrpSpPr/>
          <p:nvPr/>
        </p:nvGrpSpPr>
        <p:grpSpPr>
          <a:xfrm rot="0">
            <a:off x="15499080" y="2400300"/>
            <a:ext cx="1892808" cy="2057400"/>
            <a:chOff x="0" y="0"/>
            <a:chExt cx="2523744" cy="2743200"/>
          </a:xfrm>
        </p:grpSpPr>
        <p:sp>
          <p:nvSpPr>
            <p:cNvPr name="Freeform 72" id="72"/>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5499080" y="2537460"/>
            <a:ext cx="1892808" cy="822960"/>
            <a:chOff x="0" y="0"/>
            <a:chExt cx="2523744" cy="1097280"/>
          </a:xfrm>
        </p:grpSpPr>
        <p:sp>
          <p:nvSpPr>
            <p:cNvPr name="Freeform 74" id="74"/>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75" id="75"/>
          <p:cNvGrpSpPr/>
          <p:nvPr/>
        </p:nvGrpSpPr>
        <p:grpSpPr>
          <a:xfrm rot="0">
            <a:off x="15499080" y="2473166"/>
            <a:ext cx="1892808" cy="887254"/>
            <a:chOff x="0" y="0"/>
            <a:chExt cx="2523744" cy="1183005"/>
          </a:xfrm>
        </p:grpSpPr>
        <p:sp>
          <p:nvSpPr>
            <p:cNvPr name="Freeform 76" id="76"/>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77" id="77"/>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78" id="78"/>
          <p:cNvSpPr txBox="true"/>
          <p:nvPr/>
        </p:nvSpPr>
        <p:spPr>
          <a:xfrm rot="0">
            <a:off x="156088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79" id="79"/>
          <p:cNvSpPr txBox="true"/>
          <p:nvPr/>
        </p:nvSpPr>
        <p:spPr>
          <a:xfrm rot="0">
            <a:off x="11384280" y="4450080"/>
            <a:ext cx="6076188" cy="5562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ambang 2,0 terlampaui — selisih antarskenario hanya 2 tahun</a:t>
            </a:r>
          </a:p>
        </p:txBody>
      </p:sp>
      <p:grpSp>
        <p:nvGrpSpPr>
          <p:cNvPr name="Group 80" id="80"/>
          <p:cNvGrpSpPr/>
          <p:nvPr/>
        </p:nvGrpSpPr>
        <p:grpSpPr>
          <a:xfrm rot="0">
            <a:off x="11384280" y="5212080"/>
            <a:ext cx="6076188" cy="1714500"/>
            <a:chOff x="0" y="0"/>
            <a:chExt cx="8101584" cy="2286000"/>
          </a:xfrm>
        </p:grpSpPr>
        <p:sp>
          <p:nvSpPr>
            <p:cNvPr name="Freeform 81" id="8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sp>
      </p:grpSp>
      <p:grpSp>
        <p:nvGrpSpPr>
          <p:cNvPr name="Group 82" id="82"/>
          <p:cNvGrpSpPr/>
          <p:nvPr/>
        </p:nvGrpSpPr>
        <p:grpSpPr>
          <a:xfrm rot="0">
            <a:off x="11727180" y="5212080"/>
            <a:ext cx="5417820" cy="1714500"/>
            <a:chOff x="0" y="0"/>
            <a:chExt cx="7223760" cy="2286000"/>
          </a:xfrm>
        </p:grpSpPr>
        <p:sp>
          <p:nvSpPr>
            <p:cNvPr name="Freeform 83" id="8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sp>
      </p:grpSp>
      <p:grpSp>
        <p:nvGrpSpPr>
          <p:cNvPr name="Group 84" id="84"/>
          <p:cNvGrpSpPr/>
          <p:nvPr/>
        </p:nvGrpSpPr>
        <p:grpSpPr>
          <a:xfrm rot="0">
            <a:off x="11727180" y="5176361"/>
            <a:ext cx="5417820" cy="1750219"/>
            <a:chOff x="0" y="0"/>
            <a:chExt cx="7223760" cy="2333625"/>
          </a:xfrm>
        </p:grpSpPr>
        <p:sp>
          <p:nvSpPr>
            <p:cNvPr name="Freeform 85" id="8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316" r="0" b="-10316"/>
              </a:stretch>
            </a:blipFill>
          </p:spPr>
        </p:sp>
        <p:sp>
          <p:nvSpPr>
            <p:cNvPr name="TextBox 86" id="86"/>
            <p:cNvSpPr txBox="true"/>
            <p:nvPr/>
          </p:nvSpPr>
          <p:spPr>
            <a:xfrm>
              <a:off x="0" y="-47625"/>
              <a:ext cx="7223760" cy="2381250"/>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tuas bekerja di sisi penyediaan (investasi, lahan); kepadatan ditentukan pertumbuhan permintaan.</a:t>
              </a:r>
            </a:p>
          </p:txBody>
        </p:sp>
      </p:grpSp>
      <p:grpSp>
        <p:nvGrpSpPr>
          <p:cNvPr name="Group 87" id="87"/>
          <p:cNvGrpSpPr/>
          <p:nvPr/>
        </p:nvGrpSpPr>
        <p:grpSpPr>
          <a:xfrm rot="0">
            <a:off x="11384280" y="7132320"/>
            <a:ext cx="6076188" cy="960120"/>
            <a:chOff x="0" y="0"/>
            <a:chExt cx="8101584" cy="1280160"/>
          </a:xfrm>
        </p:grpSpPr>
        <p:sp>
          <p:nvSpPr>
            <p:cNvPr name="Freeform 88" id="88"/>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sp>
      </p:grpSp>
      <p:grpSp>
        <p:nvGrpSpPr>
          <p:cNvPr name="Group 89" id="89"/>
          <p:cNvGrpSpPr/>
          <p:nvPr/>
        </p:nvGrpSpPr>
        <p:grpSpPr>
          <a:xfrm rot="0">
            <a:off x="11658600" y="7132320"/>
            <a:ext cx="5554980" cy="960120"/>
            <a:chOff x="0" y="0"/>
            <a:chExt cx="7406640" cy="1280160"/>
          </a:xfrm>
        </p:grpSpPr>
        <p:sp>
          <p:nvSpPr>
            <p:cNvPr name="Freeform 90" id="90"/>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1" id="91"/>
          <p:cNvGrpSpPr/>
          <p:nvPr/>
        </p:nvGrpSpPr>
        <p:grpSpPr>
          <a:xfrm rot="0">
            <a:off x="11658600" y="7103745"/>
            <a:ext cx="5554980" cy="988695"/>
            <a:chOff x="0" y="0"/>
            <a:chExt cx="7406640" cy="1318260"/>
          </a:xfrm>
        </p:grpSpPr>
        <p:sp>
          <p:nvSpPr>
            <p:cNvPr name="Freeform 92" id="92"/>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93" id="93"/>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ambang 0,331 tidak terlampaui</a:t>
              </a:r>
            </a:p>
          </p:txBody>
        </p:sp>
      </p:grpSp>
      <p:grpSp>
        <p:nvGrpSpPr>
          <p:cNvPr name="Group 94" id="94"/>
          <p:cNvGrpSpPr/>
          <p:nvPr/>
        </p:nvGrpSpPr>
        <p:grpSpPr>
          <a:xfrm rot="0">
            <a:off x="11384280" y="8298180"/>
            <a:ext cx="6076188" cy="960120"/>
            <a:chOff x="0" y="0"/>
            <a:chExt cx="8101584" cy="1280160"/>
          </a:xfrm>
        </p:grpSpPr>
        <p:sp>
          <p:nvSpPr>
            <p:cNvPr name="Freeform 95" id="95"/>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sp>
      </p:grpSp>
      <p:grpSp>
        <p:nvGrpSpPr>
          <p:cNvPr name="Group 96" id="96"/>
          <p:cNvGrpSpPr/>
          <p:nvPr/>
        </p:nvGrpSpPr>
        <p:grpSpPr>
          <a:xfrm rot="0">
            <a:off x="11658600" y="8298180"/>
            <a:ext cx="5554980" cy="960120"/>
            <a:chOff x="0" y="0"/>
            <a:chExt cx="7406640" cy="1280160"/>
          </a:xfrm>
        </p:grpSpPr>
        <p:sp>
          <p:nvSpPr>
            <p:cNvPr name="Freeform 97" id="97"/>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8" id="98"/>
          <p:cNvGrpSpPr/>
          <p:nvPr/>
        </p:nvGrpSpPr>
        <p:grpSpPr>
          <a:xfrm rot="0">
            <a:off x="11658600" y="8269605"/>
            <a:ext cx="5554980" cy="988695"/>
            <a:chOff x="0" y="0"/>
            <a:chExt cx="7406640" cy="1318260"/>
          </a:xfrm>
        </p:grpSpPr>
        <p:sp>
          <p:nvSpPr>
            <p:cNvPr name="Freeform 99" id="99"/>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100" id="100"/>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Ambang 2,0 = ketetapan peneliti (2× kepadatan tahun dasar): sinyal deskriptif</a:t>
              </a:r>
            </a:p>
          </p:txBody>
        </p:sp>
      </p:grpSp>
      <p:sp>
        <p:nvSpPr>
          <p:cNvPr name="TextBox 101" id="101"/>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Dua tuas bekerja pada jalur terpisah sehingga hampir aditif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60800" cy="3429000"/>
        </p:xfrm>
        <a:graphic>
          <a:graphicData uri="http://schemas.openxmlformats.org/drawingml/2006/table">
            <a:tbl>
              <a:tblPr/>
              <a:tblGrid>
                <a:gridCol w="5699832"/>
                <a:gridCol w="2738796"/>
                <a:gridCol w="3007981"/>
                <a:gridCol w="2469610"/>
                <a:gridCol w="2644581"/>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822960" y="5821680"/>
            <a:ext cx="16637508"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tuas = keluaran tuas tunggal − tanpa intervensi · Efek interaksi = selisih paket − (kontribusi insentif + konservasi)</a:t>
            </a:r>
          </a:p>
        </p:txBody>
      </p:sp>
      <p:grpSp>
        <p:nvGrpSpPr>
          <p:cNvPr name="Group 54" id="54"/>
          <p:cNvGrpSpPr/>
          <p:nvPr/>
        </p:nvGrpSpPr>
        <p:grpSpPr>
          <a:xfrm rot="0">
            <a:off x="822960" y="6515100"/>
            <a:ext cx="8161020" cy="2743200"/>
            <a:chOff x="0" y="0"/>
            <a:chExt cx="10881360" cy="3657600"/>
          </a:xfrm>
        </p:grpSpPr>
        <p:sp>
          <p:nvSpPr>
            <p:cNvPr name="Freeform 55" id="55"/>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sp>
      </p:grpSp>
      <p:sp>
        <p:nvSpPr>
          <p:cNvPr name="TextBox 56" id="56"/>
          <p:cNvSpPr txBox="true"/>
          <p:nvPr/>
        </p:nvSpPr>
        <p:spPr>
          <a:xfrm rot="0">
            <a:off x="1234440"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57" id="57"/>
          <p:cNvSpPr txBox="true"/>
          <p:nvPr/>
        </p:nvSpPr>
        <p:spPr>
          <a:xfrm rot="0">
            <a:off x="1234440" y="7330440"/>
            <a:ext cx="7406640" cy="17221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kontribusi kedua tuas hampir bersifat aditif.</a:t>
            </a:r>
          </a:p>
        </p:txBody>
      </p:sp>
      <p:grpSp>
        <p:nvGrpSpPr>
          <p:cNvPr name="Group 58" id="58"/>
          <p:cNvGrpSpPr/>
          <p:nvPr/>
        </p:nvGrpSpPr>
        <p:grpSpPr>
          <a:xfrm rot="0">
            <a:off x="9299448" y="6515100"/>
            <a:ext cx="8161020" cy="2743200"/>
            <a:chOff x="0" y="0"/>
            <a:chExt cx="10881360" cy="3657600"/>
          </a:xfrm>
        </p:grpSpPr>
        <p:sp>
          <p:nvSpPr>
            <p:cNvPr name="Freeform 59" id="5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sp>
      </p:grpSp>
      <p:sp>
        <p:nvSpPr>
          <p:cNvPr name="TextBox 60" id="60"/>
          <p:cNvSpPr txBox="true"/>
          <p:nvPr/>
        </p:nvSpPr>
        <p:spPr>
          <a:xfrm rot="0">
            <a:off x="9710928"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61" id="61"/>
          <p:cNvSpPr txBox="true"/>
          <p:nvPr/>
        </p:nvSpPr>
        <p:spPr>
          <a:xfrm rot="0">
            <a:off x="9710928" y="7330440"/>
            <a:ext cx="7406640" cy="18592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menetralkan +57,6 ha dari insentif: Sustainable menihilkan konversi lahan pariwisata tanpa kehilangan pertumbuhan ekonomi → portofolio kebijakan dapat dirancang modular.</a:t>
            </a:r>
          </a:p>
        </p:txBody>
      </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Peringkat skenario tidak berubah pada tujuh kondisi parameter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04288"/>
            <a:ext cx="16637508" cy="1069848"/>
            <a:chOff x="0" y="0"/>
            <a:chExt cx="22183344" cy="1426464"/>
          </a:xfrm>
        </p:grpSpPr>
        <p:sp>
          <p:nvSpPr>
            <p:cNvPr name="Freeform 53" id="53"/>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sp>
      </p:grpSp>
      <p:grpSp>
        <p:nvGrpSpPr>
          <p:cNvPr name="Group 54" id="54"/>
          <p:cNvGrpSpPr/>
          <p:nvPr/>
        </p:nvGrpSpPr>
        <p:grpSpPr>
          <a:xfrm rot="0">
            <a:off x="1165860" y="2304288"/>
            <a:ext cx="15951708" cy="1069848"/>
            <a:chOff x="0" y="0"/>
            <a:chExt cx="21268944" cy="1426464"/>
          </a:xfrm>
        </p:grpSpPr>
        <p:sp>
          <p:nvSpPr>
            <p:cNvPr name="Freeform 55" id="55"/>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sp>
      </p:grpSp>
      <p:grpSp>
        <p:nvGrpSpPr>
          <p:cNvPr name="Group 56" id="56"/>
          <p:cNvGrpSpPr/>
          <p:nvPr/>
        </p:nvGrpSpPr>
        <p:grpSpPr>
          <a:xfrm rot="0">
            <a:off x="1165860" y="2275713"/>
            <a:ext cx="15951708" cy="1098423"/>
            <a:chOff x="0" y="0"/>
            <a:chExt cx="21268944" cy="1464564"/>
          </a:xfrm>
        </p:grpSpPr>
        <p:sp>
          <p:nvSpPr>
            <p:cNvPr name="Freeform 57" id="57"/>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968" r="0" b="-232968"/>
              </a:stretch>
            </a:blipFill>
          </p:spPr>
        </p:sp>
        <p:sp>
          <p:nvSpPr>
            <p:cNvPr name="TextBox 58" id="58"/>
            <p:cNvSpPr txBox="true"/>
            <p:nvPr/>
          </p:nvSpPr>
          <p:spPr>
            <a:xfrm>
              <a:off x="0" y="-38100"/>
              <a:ext cx="21268944" cy="15026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59" id="59"/>
          <p:cNvSpPr txBox="true"/>
          <p:nvPr/>
        </p:nvSpPr>
        <p:spPr>
          <a:xfrm rot="0">
            <a:off x="960120" y="3462528"/>
            <a:ext cx="54864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60" id="60"/>
          <p:cNvSpPr txBox="true"/>
          <p:nvPr/>
        </p:nvSpPr>
        <p:spPr>
          <a:xfrm rot="0">
            <a:off x="6858000" y="3462528"/>
            <a:ext cx="82296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61" id="61"/>
          <p:cNvGrpSpPr/>
          <p:nvPr/>
        </p:nvGrpSpPr>
        <p:grpSpPr>
          <a:xfrm rot="0">
            <a:off x="822960" y="4005072"/>
            <a:ext cx="16637508" cy="576072"/>
            <a:chOff x="0" y="0"/>
            <a:chExt cx="22183344" cy="768096"/>
          </a:xfrm>
        </p:grpSpPr>
        <p:sp>
          <p:nvSpPr>
            <p:cNvPr name="Freeform 62" id="6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63" id="63"/>
          <p:cNvGrpSpPr/>
          <p:nvPr/>
        </p:nvGrpSpPr>
        <p:grpSpPr>
          <a:xfrm rot="0">
            <a:off x="1097280" y="4005072"/>
            <a:ext cx="5486400" cy="576072"/>
            <a:chOff x="0" y="0"/>
            <a:chExt cx="7315200" cy="768096"/>
          </a:xfrm>
        </p:grpSpPr>
        <p:sp>
          <p:nvSpPr>
            <p:cNvPr name="Freeform 64" id="6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65" id="65"/>
          <p:cNvGrpSpPr/>
          <p:nvPr/>
        </p:nvGrpSpPr>
        <p:grpSpPr>
          <a:xfrm rot="0">
            <a:off x="1097280" y="3969353"/>
            <a:ext cx="5486400" cy="611791"/>
            <a:chOff x="0" y="0"/>
            <a:chExt cx="7315200" cy="815721"/>
          </a:xfrm>
        </p:grpSpPr>
        <p:sp>
          <p:nvSpPr>
            <p:cNvPr name="Freeform 66" id="6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67" id="6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68" id="68"/>
          <p:cNvGrpSpPr/>
          <p:nvPr/>
        </p:nvGrpSpPr>
        <p:grpSpPr>
          <a:xfrm rot="0">
            <a:off x="6858000" y="4073652"/>
            <a:ext cx="2880360" cy="438912"/>
            <a:chOff x="0" y="0"/>
            <a:chExt cx="3840480" cy="585216"/>
          </a:xfrm>
        </p:grpSpPr>
        <p:sp>
          <p:nvSpPr>
            <p:cNvPr name="Freeform 69" id="6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70" id="70"/>
          <p:cNvGrpSpPr/>
          <p:nvPr/>
        </p:nvGrpSpPr>
        <p:grpSpPr>
          <a:xfrm rot="0">
            <a:off x="6858000" y="4073652"/>
            <a:ext cx="2880360" cy="438912"/>
            <a:chOff x="0" y="0"/>
            <a:chExt cx="3840480" cy="585216"/>
          </a:xfrm>
        </p:grpSpPr>
        <p:sp>
          <p:nvSpPr>
            <p:cNvPr name="Freeform 71" id="7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72" id="72"/>
          <p:cNvGrpSpPr/>
          <p:nvPr/>
        </p:nvGrpSpPr>
        <p:grpSpPr>
          <a:xfrm rot="0">
            <a:off x="6858000" y="4045077"/>
            <a:ext cx="2880360" cy="467487"/>
            <a:chOff x="0" y="0"/>
            <a:chExt cx="3840480" cy="623316"/>
          </a:xfrm>
        </p:grpSpPr>
        <p:sp>
          <p:nvSpPr>
            <p:cNvPr name="Freeform 73" id="7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74" id="7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75" id="75"/>
          <p:cNvGrpSpPr/>
          <p:nvPr/>
        </p:nvGrpSpPr>
        <p:grpSpPr>
          <a:xfrm rot="0">
            <a:off x="9738360" y="4005072"/>
            <a:ext cx="342900" cy="576072"/>
            <a:chOff x="0" y="0"/>
            <a:chExt cx="457200" cy="768096"/>
          </a:xfrm>
        </p:grpSpPr>
        <p:sp>
          <p:nvSpPr>
            <p:cNvPr name="Freeform 76" id="7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77" id="77"/>
          <p:cNvGrpSpPr/>
          <p:nvPr/>
        </p:nvGrpSpPr>
        <p:grpSpPr>
          <a:xfrm rot="0">
            <a:off x="9738360" y="3969353"/>
            <a:ext cx="342900" cy="611791"/>
            <a:chOff x="0" y="0"/>
            <a:chExt cx="457200" cy="815721"/>
          </a:xfrm>
        </p:grpSpPr>
        <p:sp>
          <p:nvSpPr>
            <p:cNvPr name="Freeform 78" id="7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79" id="7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80" id="80"/>
          <p:cNvGrpSpPr/>
          <p:nvPr/>
        </p:nvGrpSpPr>
        <p:grpSpPr>
          <a:xfrm rot="0">
            <a:off x="10081260" y="4073652"/>
            <a:ext cx="2880360" cy="438912"/>
            <a:chOff x="0" y="0"/>
            <a:chExt cx="3840480" cy="585216"/>
          </a:xfrm>
        </p:grpSpPr>
        <p:sp>
          <p:nvSpPr>
            <p:cNvPr name="Freeform 81" id="8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82" id="82"/>
          <p:cNvGrpSpPr/>
          <p:nvPr/>
        </p:nvGrpSpPr>
        <p:grpSpPr>
          <a:xfrm rot="0">
            <a:off x="10081260" y="4073652"/>
            <a:ext cx="2880360" cy="438912"/>
            <a:chOff x="0" y="0"/>
            <a:chExt cx="3840480" cy="585216"/>
          </a:xfrm>
        </p:grpSpPr>
        <p:sp>
          <p:nvSpPr>
            <p:cNvPr name="Freeform 83" id="8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84" id="84"/>
          <p:cNvGrpSpPr/>
          <p:nvPr/>
        </p:nvGrpSpPr>
        <p:grpSpPr>
          <a:xfrm rot="0">
            <a:off x="10081260" y="4045077"/>
            <a:ext cx="2880360" cy="467487"/>
            <a:chOff x="0" y="0"/>
            <a:chExt cx="3840480" cy="623316"/>
          </a:xfrm>
        </p:grpSpPr>
        <p:sp>
          <p:nvSpPr>
            <p:cNvPr name="Freeform 85" id="8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86" id="8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87" id="87"/>
          <p:cNvGrpSpPr/>
          <p:nvPr/>
        </p:nvGrpSpPr>
        <p:grpSpPr>
          <a:xfrm rot="0">
            <a:off x="12961620" y="4005072"/>
            <a:ext cx="342900" cy="576072"/>
            <a:chOff x="0" y="0"/>
            <a:chExt cx="457200" cy="768096"/>
          </a:xfrm>
        </p:grpSpPr>
        <p:sp>
          <p:nvSpPr>
            <p:cNvPr name="Freeform 88" id="8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89" id="89"/>
          <p:cNvGrpSpPr/>
          <p:nvPr/>
        </p:nvGrpSpPr>
        <p:grpSpPr>
          <a:xfrm rot="0">
            <a:off x="12961620" y="3969353"/>
            <a:ext cx="342900" cy="611791"/>
            <a:chOff x="0" y="0"/>
            <a:chExt cx="457200" cy="815721"/>
          </a:xfrm>
        </p:grpSpPr>
        <p:sp>
          <p:nvSpPr>
            <p:cNvPr name="Freeform 90" id="9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91" id="9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92" id="92"/>
          <p:cNvGrpSpPr/>
          <p:nvPr/>
        </p:nvGrpSpPr>
        <p:grpSpPr>
          <a:xfrm rot="0">
            <a:off x="13304520" y="4073652"/>
            <a:ext cx="2880360" cy="438912"/>
            <a:chOff x="0" y="0"/>
            <a:chExt cx="3840480" cy="585216"/>
          </a:xfrm>
        </p:grpSpPr>
        <p:sp>
          <p:nvSpPr>
            <p:cNvPr name="Freeform 93" id="9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94" id="94"/>
          <p:cNvGrpSpPr/>
          <p:nvPr/>
        </p:nvGrpSpPr>
        <p:grpSpPr>
          <a:xfrm rot="0">
            <a:off x="13304520" y="4073652"/>
            <a:ext cx="2880360" cy="438912"/>
            <a:chOff x="0" y="0"/>
            <a:chExt cx="3840480" cy="585216"/>
          </a:xfrm>
        </p:grpSpPr>
        <p:sp>
          <p:nvSpPr>
            <p:cNvPr name="Freeform 95" id="9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96" id="96"/>
          <p:cNvGrpSpPr/>
          <p:nvPr/>
        </p:nvGrpSpPr>
        <p:grpSpPr>
          <a:xfrm rot="0">
            <a:off x="13304520" y="4045077"/>
            <a:ext cx="2880360" cy="467487"/>
            <a:chOff x="0" y="0"/>
            <a:chExt cx="3840480" cy="623316"/>
          </a:xfrm>
        </p:grpSpPr>
        <p:sp>
          <p:nvSpPr>
            <p:cNvPr name="Freeform 97" id="9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98" id="9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99" id="99"/>
          <p:cNvGrpSpPr/>
          <p:nvPr/>
        </p:nvGrpSpPr>
        <p:grpSpPr>
          <a:xfrm rot="0">
            <a:off x="16390620" y="4087368"/>
            <a:ext cx="891540" cy="411480"/>
            <a:chOff x="0" y="0"/>
            <a:chExt cx="1188720" cy="548640"/>
          </a:xfrm>
        </p:grpSpPr>
        <p:sp>
          <p:nvSpPr>
            <p:cNvPr name="Freeform 100" id="10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01" id="101"/>
          <p:cNvGrpSpPr/>
          <p:nvPr/>
        </p:nvGrpSpPr>
        <p:grpSpPr>
          <a:xfrm rot="0">
            <a:off x="16390620" y="4087368"/>
            <a:ext cx="891540" cy="411480"/>
            <a:chOff x="0" y="0"/>
            <a:chExt cx="1188720" cy="548640"/>
          </a:xfrm>
        </p:grpSpPr>
        <p:sp>
          <p:nvSpPr>
            <p:cNvPr name="Freeform 102" id="10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03" id="103"/>
          <p:cNvGrpSpPr/>
          <p:nvPr/>
        </p:nvGrpSpPr>
        <p:grpSpPr>
          <a:xfrm rot="0">
            <a:off x="16390620" y="4058793"/>
            <a:ext cx="891540" cy="440055"/>
            <a:chOff x="0" y="0"/>
            <a:chExt cx="1188720" cy="586740"/>
          </a:xfrm>
        </p:grpSpPr>
        <p:sp>
          <p:nvSpPr>
            <p:cNvPr name="Freeform 104" id="10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05" id="10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06" id="106"/>
          <p:cNvGrpSpPr/>
          <p:nvPr/>
        </p:nvGrpSpPr>
        <p:grpSpPr>
          <a:xfrm rot="0">
            <a:off x="822960" y="4649724"/>
            <a:ext cx="16637508" cy="576072"/>
            <a:chOff x="0" y="0"/>
            <a:chExt cx="22183344" cy="768096"/>
          </a:xfrm>
        </p:grpSpPr>
        <p:sp>
          <p:nvSpPr>
            <p:cNvPr name="Freeform 107" id="10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08" id="108"/>
          <p:cNvGrpSpPr/>
          <p:nvPr/>
        </p:nvGrpSpPr>
        <p:grpSpPr>
          <a:xfrm rot="0">
            <a:off x="1097280" y="4649724"/>
            <a:ext cx="5486400" cy="576072"/>
            <a:chOff x="0" y="0"/>
            <a:chExt cx="7315200" cy="768096"/>
          </a:xfrm>
        </p:grpSpPr>
        <p:sp>
          <p:nvSpPr>
            <p:cNvPr name="Freeform 109" id="10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10" id="110"/>
          <p:cNvGrpSpPr/>
          <p:nvPr/>
        </p:nvGrpSpPr>
        <p:grpSpPr>
          <a:xfrm rot="0">
            <a:off x="1097280" y="4614005"/>
            <a:ext cx="5486400" cy="611791"/>
            <a:chOff x="0" y="0"/>
            <a:chExt cx="7315200" cy="815721"/>
          </a:xfrm>
        </p:grpSpPr>
        <p:sp>
          <p:nvSpPr>
            <p:cNvPr name="Freeform 111" id="11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12" id="11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13" id="113"/>
          <p:cNvGrpSpPr/>
          <p:nvPr/>
        </p:nvGrpSpPr>
        <p:grpSpPr>
          <a:xfrm rot="0">
            <a:off x="6858000" y="4718304"/>
            <a:ext cx="2880360" cy="438912"/>
            <a:chOff x="0" y="0"/>
            <a:chExt cx="3840480" cy="585216"/>
          </a:xfrm>
        </p:grpSpPr>
        <p:sp>
          <p:nvSpPr>
            <p:cNvPr name="Freeform 114" id="1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15" id="115"/>
          <p:cNvGrpSpPr/>
          <p:nvPr/>
        </p:nvGrpSpPr>
        <p:grpSpPr>
          <a:xfrm rot="0">
            <a:off x="6858000" y="4718304"/>
            <a:ext cx="2880360" cy="438912"/>
            <a:chOff x="0" y="0"/>
            <a:chExt cx="3840480" cy="585216"/>
          </a:xfrm>
        </p:grpSpPr>
        <p:sp>
          <p:nvSpPr>
            <p:cNvPr name="Freeform 116" id="1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17" id="117"/>
          <p:cNvGrpSpPr/>
          <p:nvPr/>
        </p:nvGrpSpPr>
        <p:grpSpPr>
          <a:xfrm rot="0">
            <a:off x="6858000" y="4689729"/>
            <a:ext cx="2880360" cy="467487"/>
            <a:chOff x="0" y="0"/>
            <a:chExt cx="3840480" cy="623316"/>
          </a:xfrm>
        </p:grpSpPr>
        <p:sp>
          <p:nvSpPr>
            <p:cNvPr name="Freeform 118" id="1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19" id="11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20" id="120"/>
          <p:cNvGrpSpPr/>
          <p:nvPr/>
        </p:nvGrpSpPr>
        <p:grpSpPr>
          <a:xfrm rot="0">
            <a:off x="9738360" y="4649724"/>
            <a:ext cx="342900" cy="576072"/>
            <a:chOff x="0" y="0"/>
            <a:chExt cx="457200" cy="768096"/>
          </a:xfrm>
        </p:grpSpPr>
        <p:sp>
          <p:nvSpPr>
            <p:cNvPr name="Freeform 121" id="12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22" id="122"/>
          <p:cNvGrpSpPr/>
          <p:nvPr/>
        </p:nvGrpSpPr>
        <p:grpSpPr>
          <a:xfrm rot="0">
            <a:off x="9738360" y="4614005"/>
            <a:ext cx="342900" cy="611791"/>
            <a:chOff x="0" y="0"/>
            <a:chExt cx="457200" cy="815721"/>
          </a:xfrm>
        </p:grpSpPr>
        <p:sp>
          <p:nvSpPr>
            <p:cNvPr name="Freeform 123" id="12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24" id="12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25" id="125"/>
          <p:cNvGrpSpPr/>
          <p:nvPr/>
        </p:nvGrpSpPr>
        <p:grpSpPr>
          <a:xfrm rot="0">
            <a:off x="10081260" y="4718304"/>
            <a:ext cx="2880360" cy="438912"/>
            <a:chOff x="0" y="0"/>
            <a:chExt cx="3840480" cy="585216"/>
          </a:xfrm>
        </p:grpSpPr>
        <p:sp>
          <p:nvSpPr>
            <p:cNvPr name="Freeform 126" id="12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27" id="127"/>
          <p:cNvGrpSpPr/>
          <p:nvPr/>
        </p:nvGrpSpPr>
        <p:grpSpPr>
          <a:xfrm rot="0">
            <a:off x="10081260" y="4718304"/>
            <a:ext cx="2880360" cy="438912"/>
            <a:chOff x="0" y="0"/>
            <a:chExt cx="3840480" cy="585216"/>
          </a:xfrm>
        </p:grpSpPr>
        <p:sp>
          <p:nvSpPr>
            <p:cNvPr name="Freeform 128" id="12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29" id="129"/>
          <p:cNvGrpSpPr/>
          <p:nvPr/>
        </p:nvGrpSpPr>
        <p:grpSpPr>
          <a:xfrm rot="0">
            <a:off x="10081260" y="4689729"/>
            <a:ext cx="2880360" cy="467487"/>
            <a:chOff x="0" y="0"/>
            <a:chExt cx="3840480" cy="623316"/>
          </a:xfrm>
        </p:grpSpPr>
        <p:sp>
          <p:nvSpPr>
            <p:cNvPr name="Freeform 130" id="13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31" id="13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32" id="132"/>
          <p:cNvGrpSpPr/>
          <p:nvPr/>
        </p:nvGrpSpPr>
        <p:grpSpPr>
          <a:xfrm rot="0">
            <a:off x="12961620" y="4649724"/>
            <a:ext cx="342900" cy="576072"/>
            <a:chOff x="0" y="0"/>
            <a:chExt cx="457200" cy="768096"/>
          </a:xfrm>
        </p:grpSpPr>
        <p:sp>
          <p:nvSpPr>
            <p:cNvPr name="Freeform 133" id="13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34" id="134"/>
          <p:cNvGrpSpPr/>
          <p:nvPr/>
        </p:nvGrpSpPr>
        <p:grpSpPr>
          <a:xfrm rot="0">
            <a:off x="12961620" y="4614005"/>
            <a:ext cx="342900" cy="611791"/>
            <a:chOff x="0" y="0"/>
            <a:chExt cx="457200" cy="815721"/>
          </a:xfrm>
        </p:grpSpPr>
        <p:sp>
          <p:nvSpPr>
            <p:cNvPr name="Freeform 135" id="13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36" id="13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37" id="137"/>
          <p:cNvGrpSpPr/>
          <p:nvPr/>
        </p:nvGrpSpPr>
        <p:grpSpPr>
          <a:xfrm rot="0">
            <a:off x="13304520" y="4718304"/>
            <a:ext cx="2880360" cy="438912"/>
            <a:chOff x="0" y="0"/>
            <a:chExt cx="3840480" cy="585216"/>
          </a:xfrm>
        </p:grpSpPr>
        <p:sp>
          <p:nvSpPr>
            <p:cNvPr name="Freeform 138" id="13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39" id="139"/>
          <p:cNvGrpSpPr/>
          <p:nvPr/>
        </p:nvGrpSpPr>
        <p:grpSpPr>
          <a:xfrm rot="0">
            <a:off x="13304520" y="4718304"/>
            <a:ext cx="2880360" cy="438912"/>
            <a:chOff x="0" y="0"/>
            <a:chExt cx="3840480" cy="585216"/>
          </a:xfrm>
        </p:grpSpPr>
        <p:sp>
          <p:nvSpPr>
            <p:cNvPr name="Freeform 140" id="14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41" id="141"/>
          <p:cNvGrpSpPr/>
          <p:nvPr/>
        </p:nvGrpSpPr>
        <p:grpSpPr>
          <a:xfrm rot="0">
            <a:off x="13304520" y="4689729"/>
            <a:ext cx="2880360" cy="467487"/>
            <a:chOff x="0" y="0"/>
            <a:chExt cx="3840480" cy="623316"/>
          </a:xfrm>
        </p:grpSpPr>
        <p:sp>
          <p:nvSpPr>
            <p:cNvPr name="Freeform 142" id="14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43" id="14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44" id="144"/>
          <p:cNvGrpSpPr/>
          <p:nvPr/>
        </p:nvGrpSpPr>
        <p:grpSpPr>
          <a:xfrm rot="0">
            <a:off x="16390620" y="4732020"/>
            <a:ext cx="891540" cy="411480"/>
            <a:chOff x="0" y="0"/>
            <a:chExt cx="1188720" cy="548640"/>
          </a:xfrm>
        </p:grpSpPr>
        <p:sp>
          <p:nvSpPr>
            <p:cNvPr name="Freeform 145" id="14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46" id="146"/>
          <p:cNvGrpSpPr/>
          <p:nvPr/>
        </p:nvGrpSpPr>
        <p:grpSpPr>
          <a:xfrm rot="0">
            <a:off x="16390620" y="4732020"/>
            <a:ext cx="891540" cy="411480"/>
            <a:chOff x="0" y="0"/>
            <a:chExt cx="1188720" cy="548640"/>
          </a:xfrm>
        </p:grpSpPr>
        <p:sp>
          <p:nvSpPr>
            <p:cNvPr name="Freeform 147" id="14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48" id="148"/>
          <p:cNvGrpSpPr/>
          <p:nvPr/>
        </p:nvGrpSpPr>
        <p:grpSpPr>
          <a:xfrm rot="0">
            <a:off x="16390620" y="4703445"/>
            <a:ext cx="891540" cy="440055"/>
            <a:chOff x="0" y="0"/>
            <a:chExt cx="1188720" cy="586740"/>
          </a:xfrm>
        </p:grpSpPr>
        <p:sp>
          <p:nvSpPr>
            <p:cNvPr name="Freeform 149" id="14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50" id="15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51" id="151"/>
          <p:cNvGrpSpPr/>
          <p:nvPr/>
        </p:nvGrpSpPr>
        <p:grpSpPr>
          <a:xfrm rot="0">
            <a:off x="822960" y="5294376"/>
            <a:ext cx="16637508" cy="576072"/>
            <a:chOff x="0" y="0"/>
            <a:chExt cx="22183344" cy="768096"/>
          </a:xfrm>
        </p:grpSpPr>
        <p:sp>
          <p:nvSpPr>
            <p:cNvPr name="Freeform 152" id="15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153" id="153"/>
          <p:cNvGrpSpPr/>
          <p:nvPr/>
        </p:nvGrpSpPr>
        <p:grpSpPr>
          <a:xfrm rot="0">
            <a:off x="1097280" y="5294376"/>
            <a:ext cx="5486400" cy="576072"/>
            <a:chOff x="0" y="0"/>
            <a:chExt cx="7315200" cy="768096"/>
          </a:xfrm>
        </p:grpSpPr>
        <p:sp>
          <p:nvSpPr>
            <p:cNvPr name="Freeform 154" id="15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55" id="155"/>
          <p:cNvGrpSpPr/>
          <p:nvPr/>
        </p:nvGrpSpPr>
        <p:grpSpPr>
          <a:xfrm rot="0">
            <a:off x="1097280" y="5258657"/>
            <a:ext cx="5486400" cy="611791"/>
            <a:chOff x="0" y="0"/>
            <a:chExt cx="7315200" cy="815721"/>
          </a:xfrm>
        </p:grpSpPr>
        <p:sp>
          <p:nvSpPr>
            <p:cNvPr name="Freeform 156" id="15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57" id="15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158" id="158"/>
          <p:cNvGrpSpPr/>
          <p:nvPr/>
        </p:nvGrpSpPr>
        <p:grpSpPr>
          <a:xfrm rot="0">
            <a:off x="6858000" y="5362956"/>
            <a:ext cx="2880360" cy="438912"/>
            <a:chOff x="0" y="0"/>
            <a:chExt cx="3840480" cy="585216"/>
          </a:xfrm>
        </p:grpSpPr>
        <p:sp>
          <p:nvSpPr>
            <p:cNvPr name="Freeform 159" id="15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60" id="160"/>
          <p:cNvGrpSpPr/>
          <p:nvPr/>
        </p:nvGrpSpPr>
        <p:grpSpPr>
          <a:xfrm rot="0">
            <a:off x="6858000" y="5362956"/>
            <a:ext cx="2880360" cy="438912"/>
            <a:chOff x="0" y="0"/>
            <a:chExt cx="3840480" cy="585216"/>
          </a:xfrm>
        </p:grpSpPr>
        <p:sp>
          <p:nvSpPr>
            <p:cNvPr name="Freeform 161" id="16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62" id="162"/>
          <p:cNvGrpSpPr/>
          <p:nvPr/>
        </p:nvGrpSpPr>
        <p:grpSpPr>
          <a:xfrm rot="0">
            <a:off x="6858000" y="5334381"/>
            <a:ext cx="2880360" cy="467487"/>
            <a:chOff x="0" y="0"/>
            <a:chExt cx="3840480" cy="623316"/>
          </a:xfrm>
        </p:grpSpPr>
        <p:sp>
          <p:nvSpPr>
            <p:cNvPr name="Freeform 163" id="16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64" id="16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65" id="165"/>
          <p:cNvGrpSpPr/>
          <p:nvPr/>
        </p:nvGrpSpPr>
        <p:grpSpPr>
          <a:xfrm rot="0">
            <a:off x="9738360" y="5294376"/>
            <a:ext cx="342900" cy="576072"/>
            <a:chOff x="0" y="0"/>
            <a:chExt cx="457200" cy="768096"/>
          </a:xfrm>
        </p:grpSpPr>
        <p:sp>
          <p:nvSpPr>
            <p:cNvPr name="Freeform 166" id="1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67" id="167"/>
          <p:cNvGrpSpPr/>
          <p:nvPr/>
        </p:nvGrpSpPr>
        <p:grpSpPr>
          <a:xfrm rot="0">
            <a:off x="9738360" y="5258657"/>
            <a:ext cx="342900" cy="611791"/>
            <a:chOff x="0" y="0"/>
            <a:chExt cx="457200" cy="815721"/>
          </a:xfrm>
        </p:grpSpPr>
        <p:sp>
          <p:nvSpPr>
            <p:cNvPr name="Freeform 168" id="1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69" id="16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0" id="170"/>
          <p:cNvGrpSpPr/>
          <p:nvPr/>
        </p:nvGrpSpPr>
        <p:grpSpPr>
          <a:xfrm rot="0">
            <a:off x="10081260" y="5362956"/>
            <a:ext cx="2880360" cy="438912"/>
            <a:chOff x="0" y="0"/>
            <a:chExt cx="3840480" cy="585216"/>
          </a:xfrm>
        </p:grpSpPr>
        <p:sp>
          <p:nvSpPr>
            <p:cNvPr name="Freeform 171" id="17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72" id="172"/>
          <p:cNvGrpSpPr/>
          <p:nvPr/>
        </p:nvGrpSpPr>
        <p:grpSpPr>
          <a:xfrm rot="0">
            <a:off x="10081260" y="5362956"/>
            <a:ext cx="2880360" cy="438912"/>
            <a:chOff x="0" y="0"/>
            <a:chExt cx="3840480" cy="585216"/>
          </a:xfrm>
        </p:grpSpPr>
        <p:sp>
          <p:nvSpPr>
            <p:cNvPr name="Freeform 173" id="17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74" id="174"/>
          <p:cNvGrpSpPr/>
          <p:nvPr/>
        </p:nvGrpSpPr>
        <p:grpSpPr>
          <a:xfrm rot="0">
            <a:off x="10081260" y="5334381"/>
            <a:ext cx="2880360" cy="467487"/>
            <a:chOff x="0" y="0"/>
            <a:chExt cx="3840480" cy="623316"/>
          </a:xfrm>
        </p:grpSpPr>
        <p:sp>
          <p:nvSpPr>
            <p:cNvPr name="Freeform 175" id="17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76" id="17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7" id="177"/>
          <p:cNvGrpSpPr/>
          <p:nvPr/>
        </p:nvGrpSpPr>
        <p:grpSpPr>
          <a:xfrm rot="0">
            <a:off x="12961620" y="5294376"/>
            <a:ext cx="342900" cy="576072"/>
            <a:chOff x="0" y="0"/>
            <a:chExt cx="457200" cy="768096"/>
          </a:xfrm>
        </p:grpSpPr>
        <p:sp>
          <p:nvSpPr>
            <p:cNvPr name="Freeform 178" id="17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79" id="179"/>
          <p:cNvGrpSpPr/>
          <p:nvPr/>
        </p:nvGrpSpPr>
        <p:grpSpPr>
          <a:xfrm rot="0">
            <a:off x="12961620" y="5258657"/>
            <a:ext cx="342900" cy="611791"/>
            <a:chOff x="0" y="0"/>
            <a:chExt cx="457200" cy="815721"/>
          </a:xfrm>
        </p:grpSpPr>
        <p:sp>
          <p:nvSpPr>
            <p:cNvPr name="Freeform 180" id="18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81" id="18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82" id="182"/>
          <p:cNvGrpSpPr/>
          <p:nvPr/>
        </p:nvGrpSpPr>
        <p:grpSpPr>
          <a:xfrm rot="0">
            <a:off x="13304520" y="5362956"/>
            <a:ext cx="2880360" cy="438912"/>
            <a:chOff x="0" y="0"/>
            <a:chExt cx="3840480" cy="585216"/>
          </a:xfrm>
        </p:grpSpPr>
        <p:sp>
          <p:nvSpPr>
            <p:cNvPr name="Freeform 183" id="18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84" id="184"/>
          <p:cNvGrpSpPr/>
          <p:nvPr/>
        </p:nvGrpSpPr>
        <p:grpSpPr>
          <a:xfrm rot="0">
            <a:off x="13304520" y="5362956"/>
            <a:ext cx="2880360" cy="438912"/>
            <a:chOff x="0" y="0"/>
            <a:chExt cx="3840480" cy="585216"/>
          </a:xfrm>
        </p:grpSpPr>
        <p:sp>
          <p:nvSpPr>
            <p:cNvPr name="Freeform 185" id="18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86" id="186"/>
          <p:cNvGrpSpPr/>
          <p:nvPr/>
        </p:nvGrpSpPr>
        <p:grpSpPr>
          <a:xfrm rot="0">
            <a:off x="13304520" y="5334381"/>
            <a:ext cx="2880360" cy="467487"/>
            <a:chOff x="0" y="0"/>
            <a:chExt cx="3840480" cy="623316"/>
          </a:xfrm>
        </p:grpSpPr>
        <p:sp>
          <p:nvSpPr>
            <p:cNvPr name="Freeform 187" id="18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88" id="18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9" id="189"/>
          <p:cNvGrpSpPr/>
          <p:nvPr/>
        </p:nvGrpSpPr>
        <p:grpSpPr>
          <a:xfrm rot="0">
            <a:off x="16390620" y="5376672"/>
            <a:ext cx="891540" cy="411480"/>
            <a:chOff x="0" y="0"/>
            <a:chExt cx="1188720" cy="548640"/>
          </a:xfrm>
        </p:grpSpPr>
        <p:sp>
          <p:nvSpPr>
            <p:cNvPr name="Freeform 190" id="19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91" id="191"/>
          <p:cNvGrpSpPr/>
          <p:nvPr/>
        </p:nvGrpSpPr>
        <p:grpSpPr>
          <a:xfrm rot="0">
            <a:off x="16390620" y="5376672"/>
            <a:ext cx="891540" cy="411480"/>
            <a:chOff x="0" y="0"/>
            <a:chExt cx="1188720" cy="548640"/>
          </a:xfrm>
        </p:grpSpPr>
        <p:sp>
          <p:nvSpPr>
            <p:cNvPr name="Freeform 192" id="19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93" id="193"/>
          <p:cNvGrpSpPr/>
          <p:nvPr/>
        </p:nvGrpSpPr>
        <p:grpSpPr>
          <a:xfrm rot="0">
            <a:off x="16390620" y="5348097"/>
            <a:ext cx="891540" cy="440055"/>
            <a:chOff x="0" y="0"/>
            <a:chExt cx="1188720" cy="586740"/>
          </a:xfrm>
        </p:grpSpPr>
        <p:sp>
          <p:nvSpPr>
            <p:cNvPr name="Freeform 194" id="19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95" id="19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96" id="196"/>
          <p:cNvGrpSpPr/>
          <p:nvPr/>
        </p:nvGrpSpPr>
        <p:grpSpPr>
          <a:xfrm rot="0">
            <a:off x="822960" y="5939028"/>
            <a:ext cx="16637508" cy="576072"/>
            <a:chOff x="0" y="0"/>
            <a:chExt cx="22183344" cy="768096"/>
          </a:xfrm>
        </p:grpSpPr>
        <p:sp>
          <p:nvSpPr>
            <p:cNvPr name="Freeform 197" id="19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98" id="198"/>
          <p:cNvGrpSpPr/>
          <p:nvPr/>
        </p:nvGrpSpPr>
        <p:grpSpPr>
          <a:xfrm rot="0">
            <a:off x="1097280" y="5939028"/>
            <a:ext cx="5486400" cy="576072"/>
            <a:chOff x="0" y="0"/>
            <a:chExt cx="7315200" cy="768096"/>
          </a:xfrm>
        </p:grpSpPr>
        <p:sp>
          <p:nvSpPr>
            <p:cNvPr name="Freeform 199" id="19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00" id="200"/>
          <p:cNvGrpSpPr/>
          <p:nvPr/>
        </p:nvGrpSpPr>
        <p:grpSpPr>
          <a:xfrm rot="0">
            <a:off x="1097280" y="5903309"/>
            <a:ext cx="5486400" cy="611791"/>
            <a:chOff x="0" y="0"/>
            <a:chExt cx="7315200" cy="815721"/>
          </a:xfrm>
        </p:grpSpPr>
        <p:sp>
          <p:nvSpPr>
            <p:cNvPr name="Freeform 201" id="20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02" id="20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03" id="203"/>
          <p:cNvGrpSpPr/>
          <p:nvPr/>
        </p:nvGrpSpPr>
        <p:grpSpPr>
          <a:xfrm rot="0">
            <a:off x="6858000" y="6007608"/>
            <a:ext cx="2880360" cy="438912"/>
            <a:chOff x="0" y="0"/>
            <a:chExt cx="3840480" cy="585216"/>
          </a:xfrm>
        </p:grpSpPr>
        <p:sp>
          <p:nvSpPr>
            <p:cNvPr name="Freeform 204" id="20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05" id="205"/>
          <p:cNvGrpSpPr/>
          <p:nvPr/>
        </p:nvGrpSpPr>
        <p:grpSpPr>
          <a:xfrm rot="0">
            <a:off x="6858000" y="6007608"/>
            <a:ext cx="2880360" cy="438912"/>
            <a:chOff x="0" y="0"/>
            <a:chExt cx="3840480" cy="585216"/>
          </a:xfrm>
        </p:grpSpPr>
        <p:sp>
          <p:nvSpPr>
            <p:cNvPr name="Freeform 206" id="20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07" id="207"/>
          <p:cNvGrpSpPr/>
          <p:nvPr/>
        </p:nvGrpSpPr>
        <p:grpSpPr>
          <a:xfrm rot="0">
            <a:off x="6858000" y="5979033"/>
            <a:ext cx="2880360" cy="467487"/>
            <a:chOff x="0" y="0"/>
            <a:chExt cx="3840480" cy="623316"/>
          </a:xfrm>
        </p:grpSpPr>
        <p:sp>
          <p:nvSpPr>
            <p:cNvPr name="Freeform 208" id="20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09" id="20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10" id="210"/>
          <p:cNvGrpSpPr/>
          <p:nvPr/>
        </p:nvGrpSpPr>
        <p:grpSpPr>
          <a:xfrm rot="0">
            <a:off x="9738360" y="5939028"/>
            <a:ext cx="342900" cy="576072"/>
            <a:chOff x="0" y="0"/>
            <a:chExt cx="457200" cy="768096"/>
          </a:xfrm>
        </p:grpSpPr>
        <p:sp>
          <p:nvSpPr>
            <p:cNvPr name="Freeform 211" id="21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12" id="212"/>
          <p:cNvGrpSpPr/>
          <p:nvPr/>
        </p:nvGrpSpPr>
        <p:grpSpPr>
          <a:xfrm rot="0">
            <a:off x="9738360" y="5903309"/>
            <a:ext cx="342900" cy="611791"/>
            <a:chOff x="0" y="0"/>
            <a:chExt cx="457200" cy="815721"/>
          </a:xfrm>
        </p:grpSpPr>
        <p:sp>
          <p:nvSpPr>
            <p:cNvPr name="Freeform 213" id="21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14" id="21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15" id="215"/>
          <p:cNvGrpSpPr/>
          <p:nvPr/>
        </p:nvGrpSpPr>
        <p:grpSpPr>
          <a:xfrm rot="0">
            <a:off x="10081260" y="6007608"/>
            <a:ext cx="2880360" cy="438912"/>
            <a:chOff x="0" y="0"/>
            <a:chExt cx="3840480" cy="585216"/>
          </a:xfrm>
        </p:grpSpPr>
        <p:sp>
          <p:nvSpPr>
            <p:cNvPr name="Freeform 216" id="21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17" id="217"/>
          <p:cNvGrpSpPr/>
          <p:nvPr/>
        </p:nvGrpSpPr>
        <p:grpSpPr>
          <a:xfrm rot="0">
            <a:off x="10081260" y="6007608"/>
            <a:ext cx="2880360" cy="438912"/>
            <a:chOff x="0" y="0"/>
            <a:chExt cx="3840480" cy="585216"/>
          </a:xfrm>
        </p:grpSpPr>
        <p:sp>
          <p:nvSpPr>
            <p:cNvPr name="Freeform 218" id="21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19" id="219"/>
          <p:cNvGrpSpPr/>
          <p:nvPr/>
        </p:nvGrpSpPr>
        <p:grpSpPr>
          <a:xfrm rot="0">
            <a:off x="10081260" y="5979033"/>
            <a:ext cx="2880360" cy="467487"/>
            <a:chOff x="0" y="0"/>
            <a:chExt cx="3840480" cy="623316"/>
          </a:xfrm>
        </p:grpSpPr>
        <p:sp>
          <p:nvSpPr>
            <p:cNvPr name="Freeform 220" id="22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21" id="22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22" id="222"/>
          <p:cNvGrpSpPr/>
          <p:nvPr/>
        </p:nvGrpSpPr>
        <p:grpSpPr>
          <a:xfrm rot="0">
            <a:off x="12961620" y="5939028"/>
            <a:ext cx="342900" cy="576072"/>
            <a:chOff x="0" y="0"/>
            <a:chExt cx="457200" cy="768096"/>
          </a:xfrm>
        </p:grpSpPr>
        <p:sp>
          <p:nvSpPr>
            <p:cNvPr name="Freeform 223" id="22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24" id="224"/>
          <p:cNvGrpSpPr/>
          <p:nvPr/>
        </p:nvGrpSpPr>
        <p:grpSpPr>
          <a:xfrm rot="0">
            <a:off x="12961620" y="5903309"/>
            <a:ext cx="342900" cy="611791"/>
            <a:chOff x="0" y="0"/>
            <a:chExt cx="457200" cy="815721"/>
          </a:xfrm>
        </p:grpSpPr>
        <p:sp>
          <p:nvSpPr>
            <p:cNvPr name="Freeform 225" id="22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26" id="22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7" id="227"/>
          <p:cNvGrpSpPr/>
          <p:nvPr/>
        </p:nvGrpSpPr>
        <p:grpSpPr>
          <a:xfrm rot="0">
            <a:off x="13304520" y="6007608"/>
            <a:ext cx="2880360" cy="438912"/>
            <a:chOff x="0" y="0"/>
            <a:chExt cx="3840480" cy="585216"/>
          </a:xfrm>
        </p:grpSpPr>
        <p:sp>
          <p:nvSpPr>
            <p:cNvPr name="Freeform 228" id="22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29" id="229"/>
          <p:cNvGrpSpPr/>
          <p:nvPr/>
        </p:nvGrpSpPr>
        <p:grpSpPr>
          <a:xfrm rot="0">
            <a:off x="13304520" y="6007608"/>
            <a:ext cx="2880360" cy="438912"/>
            <a:chOff x="0" y="0"/>
            <a:chExt cx="3840480" cy="585216"/>
          </a:xfrm>
        </p:grpSpPr>
        <p:sp>
          <p:nvSpPr>
            <p:cNvPr name="Freeform 230" id="23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31" id="231"/>
          <p:cNvGrpSpPr/>
          <p:nvPr/>
        </p:nvGrpSpPr>
        <p:grpSpPr>
          <a:xfrm rot="0">
            <a:off x="13304520" y="5979033"/>
            <a:ext cx="2880360" cy="467487"/>
            <a:chOff x="0" y="0"/>
            <a:chExt cx="3840480" cy="623316"/>
          </a:xfrm>
        </p:grpSpPr>
        <p:sp>
          <p:nvSpPr>
            <p:cNvPr name="Freeform 232" id="23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33" id="23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34" id="234"/>
          <p:cNvGrpSpPr/>
          <p:nvPr/>
        </p:nvGrpSpPr>
        <p:grpSpPr>
          <a:xfrm rot="0">
            <a:off x="16390620" y="6021324"/>
            <a:ext cx="891540" cy="411480"/>
            <a:chOff x="0" y="0"/>
            <a:chExt cx="1188720" cy="548640"/>
          </a:xfrm>
        </p:grpSpPr>
        <p:sp>
          <p:nvSpPr>
            <p:cNvPr name="Freeform 235" id="23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36" id="236"/>
          <p:cNvGrpSpPr/>
          <p:nvPr/>
        </p:nvGrpSpPr>
        <p:grpSpPr>
          <a:xfrm rot="0">
            <a:off x="16390620" y="6021324"/>
            <a:ext cx="891540" cy="411480"/>
            <a:chOff x="0" y="0"/>
            <a:chExt cx="1188720" cy="548640"/>
          </a:xfrm>
        </p:grpSpPr>
        <p:sp>
          <p:nvSpPr>
            <p:cNvPr name="Freeform 237" id="23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38" id="238"/>
          <p:cNvGrpSpPr/>
          <p:nvPr/>
        </p:nvGrpSpPr>
        <p:grpSpPr>
          <a:xfrm rot="0">
            <a:off x="16390620" y="5992749"/>
            <a:ext cx="891540" cy="440055"/>
            <a:chOff x="0" y="0"/>
            <a:chExt cx="1188720" cy="586740"/>
          </a:xfrm>
        </p:grpSpPr>
        <p:sp>
          <p:nvSpPr>
            <p:cNvPr name="Freeform 239" id="23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40" id="24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41" id="241"/>
          <p:cNvGrpSpPr/>
          <p:nvPr/>
        </p:nvGrpSpPr>
        <p:grpSpPr>
          <a:xfrm rot="0">
            <a:off x="822960" y="6583680"/>
            <a:ext cx="16637508" cy="576072"/>
            <a:chOff x="0" y="0"/>
            <a:chExt cx="22183344" cy="768096"/>
          </a:xfrm>
        </p:grpSpPr>
        <p:sp>
          <p:nvSpPr>
            <p:cNvPr name="Freeform 242" id="24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243" id="243"/>
          <p:cNvGrpSpPr/>
          <p:nvPr/>
        </p:nvGrpSpPr>
        <p:grpSpPr>
          <a:xfrm rot="0">
            <a:off x="1097280" y="6583680"/>
            <a:ext cx="5486400" cy="576072"/>
            <a:chOff x="0" y="0"/>
            <a:chExt cx="7315200" cy="768096"/>
          </a:xfrm>
        </p:grpSpPr>
        <p:sp>
          <p:nvSpPr>
            <p:cNvPr name="Freeform 244" id="24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45" id="245"/>
          <p:cNvGrpSpPr/>
          <p:nvPr/>
        </p:nvGrpSpPr>
        <p:grpSpPr>
          <a:xfrm rot="0">
            <a:off x="1097280" y="6547961"/>
            <a:ext cx="5486400" cy="611791"/>
            <a:chOff x="0" y="0"/>
            <a:chExt cx="7315200" cy="815721"/>
          </a:xfrm>
        </p:grpSpPr>
        <p:sp>
          <p:nvSpPr>
            <p:cNvPr name="Freeform 246" id="24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47" id="24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248" id="248"/>
          <p:cNvGrpSpPr/>
          <p:nvPr/>
        </p:nvGrpSpPr>
        <p:grpSpPr>
          <a:xfrm rot="0">
            <a:off x="6858000" y="6652260"/>
            <a:ext cx="2880360" cy="438912"/>
            <a:chOff x="0" y="0"/>
            <a:chExt cx="3840480" cy="585216"/>
          </a:xfrm>
        </p:grpSpPr>
        <p:sp>
          <p:nvSpPr>
            <p:cNvPr name="Freeform 249" id="24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50" id="250"/>
          <p:cNvGrpSpPr/>
          <p:nvPr/>
        </p:nvGrpSpPr>
        <p:grpSpPr>
          <a:xfrm rot="0">
            <a:off x="6858000" y="6652260"/>
            <a:ext cx="2880360" cy="438912"/>
            <a:chOff x="0" y="0"/>
            <a:chExt cx="3840480" cy="585216"/>
          </a:xfrm>
        </p:grpSpPr>
        <p:sp>
          <p:nvSpPr>
            <p:cNvPr name="Freeform 251" id="25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52" id="252"/>
          <p:cNvGrpSpPr/>
          <p:nvPr/>
        </p:nvGrpSpPr>
        <p:grpSpPr>
          <a:xfrm rot="0">
            <a:off x="6858000" y="6623685"/>
            <a:ext cx="2880360" cy="467487"/>
            <a:chOff x="0" y="0"/>
            <a:chExt cx="3840480" cy="623316"/>
          </a:xfrm>
        </p:grpSpPr>
        <p:sp>
          <p:nvSpPr>
            <p:cNvPr name="Freeform 253" id="25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54" id="25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55" id="255"/>
          <p:cNvGrpSpPr/>
          <p:nvPr/>
        </p:nvGrpSpPr>
        <p:grpSpPr>
          <a:xfrm rot="0">
            <a:off x="9738360" y="6583680"/>
            <a:ext cx="342900" cy="576072"/>
            <a:chOff x="0" y="0"/>
            <a:chExt cx="457200" cy="768096"/>
          </a:xfrm>
        </p:grpSpPr>
        <p:sp>
          <p:nvSpPr>
            <p:cNvPr name="Freeform 256" id="25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57" id="257"/>
          <p:cNvGrpSpPr/>
          <p:nvPr/>
        </p:nvGrpSpPr>
        <p:grpSpPr>
          <a:xfrm rot="0">
            <a:off x="9738360" y="6547961"/>
            <a:ext cx="342900" cy="611791"/>
            <a:chOff x="0" y="0"/>
            <a:chExt cx="457200" cy="815721"/>
          </a:xfrm>
        </p:grpSpPr>
        <p:sp>
          <p:nvSpPr>
            <p:cNvPr name="Freeform 258" id="25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59" id="25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60" id="260"/>
          <p:cNvGrpSpPr/>
          <p:nvPr/>
        </p:nvGrpSpPr>
        <p:grpSpPr>
          <a:xfrm rot="0">
            <a:off x="10081260" y="6652260"/>
            <a:ext cx="2880360" cy="438912"/>
            <a:chOff x="0" y="0"/>
            <a:chExt cx="3840480" cy="585216"/>
          </a:xfrm>
        </p:grpSpPr>
        <p:sp>
          <p:nvSpPr>
            <p:cNvPr name="Freeform 261" id="26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62" id="262"/>
          <p:cNvGrpSpPr/>
          <p:nvPr/>
        </p:nvGrpSpPr>
        <p:grpSpPr>
          <a:xfrm rot="0">
            <a:off x="10081260" y="6652260"/>
            <a:ext cx="2880360" cy="438912"/>
            <a:chOff x="0" y="0"/>
            <a:chExt cx="3840480" cy="585216"/>
          </a:xfrm>
        </p:grpSpPr>
        <p:sp>
          <p:nvSpPr>
            <p:cNvPr name="Freeform 263" id="26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64" id="264"/>
          <p:cNvGrpSpPr/>
          <p:nvPr/>
        </p:nvGrpSpPr>
        <p:grpSpPr>
          <a:xfrm rot="0">
            <a:off x="10081260" y="6623685"/>
            <a:ext cx="2880360" cy="467487"/>
            <a:chOff x="0" y="0"/>
            <a:chExt cx="3840480" cy="623316"/>
          </a:xfrm>
        </p:grpSpPr>
        <p:sp>
          <p:nvSpPr>
            <p:cNvPr name="Freeform 265" id="26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66" id="26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67" id="267"/>
          <p:cNvGrpSpPr/>
          <p:nvPr/>
        </p:nvGrpSpPr>
        <p:grpSpPr>
          <a:xfrm rot="0">
            <a:off x="12961620" y="6583680"/>
            <a:ext cx="342900" cy="576072"/>
            <a:chOff x="0" y="0"/>
            <a:chExt cx="457200" cy="768096"/>
          </a:xfrm>
        </p:grpSpPr>
        <p:sp>
          <p:nvSpPr>
            <p:cNvPr name="Freeform 268" id="26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69" id="269"/>
          <p:cNvGrpSpPr/>
          <p:nvPr/>
        </p:nvGrpSpPr>
        <p:grpSpPr>
          <a:xfrm rot="0">
            <a:off x="12961620" y="6547961"/>
            <a:ext cx="342900" cy="611791"/>
            <a:chOff x="0" y="0"/>
            <a:chExt cx="457200" cy="815721"/>
          </a:xfrm>
        </p:grpSpPr>
        <p:sp>
          <p:nvSpPr>
            <p:cNvPr name="Freeform 270" id="27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71" id="27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2" id="272"/>
          <p:cNvGrpSpPr/>
          <p:nvPr/>
        </p:nvGrpSpPr>
        <p:grpSpPr>
          <a:xfrm rot="0">
            <a:off x="13304520" y="6652260"/>
            <a:ext cx="2880360" cy="438912"/>
            <a:chOff x="0" y="0"/>
            <a:chExt cx="3840480" cy="585216"/>
          </a:xfrm>
        </p:grpSpPr>
        <p:sp>
          <p:nvSpPr>
            <p:cNvPr name="Freeform 273" id="2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74" id="274"/>
          <p:cNvGrpSpPr/>
          <p:nvPr/>
        </p:nvGrpSpPr>
        <p:grpSpPr>
          <a:xfrm rot="0">
            <a:off x="13304520" y="6652260"/>
            <a:ext cx="2880360" cy="438912"/>
            <a:chOff x="0" y="0"/>
            <a:chExt cx="3840480" cy="585216"/>
          </a:xfrm>
        </p:grpSpPr>
        <p:sp>
          <p:nvSpPr>
            <p:cNvPr name="Freeform 275" id="2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76" id="276"/>
          <p:cNvGrpSpPr/>
          <p:nvPr/>
        </p:nvGrpSpPr>
        <p:grpSpPr>
          <a:xfrm rot="0">
            <a:off x="13304520" y="6623685"/>
            <a:ext cx="2880360" cy="467487"/>
            <a:chOff x="0" y="0"/>
            <a:chExt cx="3840480" cy="623316"/>
          </a:xfrm>
        </p:grpSpPr>
        <p:sp>
          <p:nvSpPr>
            <p:cNvPr name="Freeform 277" id="2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78" id="27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79" id="279"/>
          <p:cNvGrpSpPr/>
          <p:nvPr/>
        </p:nvGrpSpPr>
        <p:grpSpPr>
          <a:xfrm rot="0">
            <a:off x="16390620" y="6665976"/>
            <a:ext cx="891540" cy="411480"/>
            <a:chOff x="0" y="0"/>
            <a:chExt cx="1188720" cy="548640"/>
          </a:xfrm>
        </p:grpSpPr>
        <p:sp>
          <p:nvSpPr>
            <p:cNvPr name="Freeform 280" id="28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81" id="281"/>
          <p:cNvGrpSpPr/>
          <p:nvPr/>
        </p:nvGrpSpPr>
        <p:grpSpPr>
          <a:xfrm rot="0">
            <a:off x="16390620" y="6665976"/>
            <a:ext cx="891540" cy="411480"/>
            <a:chOff x="0" y="0"/>
            <a:chExt cx="1188720" cy="548640"/>
          </a:xfrm>
        </p:grpSpPr>
        <p:sp>
          <p:nvSpPr>
            <p:cNvPr name="Freeform 282" id="28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83" id="283"/>
          <p:cNvGrpSpPr/>
          <p:nvPr/>
        </p:nvGrpSpPr>
        <p:grpSpPr>
          <a:xfrm rot="0">
            <a:off x="16390620" y="6637401"/>
            <a:ext cx="891540" cy="440055"/>
            <a:chOff x="0" y="0"/>
            <a:chExt cx="1188720" cy="586740"/>
          </a:xfrm>
        </p:grpSpPr>
        <p:sp>
          <p:nvSpPr>
            <p:cNvPr name="Freeform 284" id="28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85" id="28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86" id="286"/>
          <p:cNvGrpSpPr/>
          <p:nvPr/>
        </p:nvGrpSpPr>
        <p:grpSpPr>
          <a:xfrm rot="0">
            <a:off x="822960" y="7228332"/>
            <a:ext cx="16637508" cy="576072"/>
            <a:chOff x="0" y="0"/>
            <a:chExt cx="22183344" cy="768096"/>
          </a:xfrm>
        </p:grpSpPr>
        <p:sp>
          <p:nvSpPr>
            <p:cNvPr name="Freeform 287" id="28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288" id="288"/>
          <p:cNvGrpSpPr/>
          <p:nvPr/>
        </p:nvGrpSpPr>
        <p:grpSpPr>
          <a:xfrm rot="0">
            <a:off x="1097280" y="7228332"/>
            <a:ext cx="5486400" cy="576072"/>
            <a:chOff x="0" y="0"/>
            <a:chExt cx="7315200" cy="768096"/>
          </a:xfrm>
        </p:grpSpPr>
        <p:sp>
          <p:nvSpPr>
            <p:cNvPr name="Freeform 289" id="28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90" id="290"/>
          <p:cNvGrpSpPr/>
          <p:nvPr/>
        </p:nvGrpSpPr>
        <p:grpSpPr>
          <a:xfrm rot="0">
            <a:off x="1097280" y="7192613"/>
            <a:ext cx="5486400" cy="611791"/>
            <a:chOff x="0" y="0"/>
            <a:chExt cx="7315200" cy="815721"/>
          </a:xfrm>
        </p:grpSpPr>
        <p:sp>
          <p:nvSpPr>
            <p:cNvPr name="Freeform 291" id="29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92" id="29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293" id="293"/>
          <p:cNvGrpSpPr/>
          <p:nvPr/>
        </p:nvGrpSpPr>
        <p:grpSpPr>
          <a:xfrm rot="0">
            <a:off x="6858000" y="7296912"/>
            <a:ext cx="2880360" cy="438912"/>
            <a:chOff x="0" y="0"/>
            <a:chExt cx="3840480" cy="585216"/>
          </a:xfrm>
        </p:grpSpPr>
        <p:sp>
          <p:nvSpPr>
            <p:cNvPr name="Freeform 294" id="29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95" id="295"/>
          <p:cNvGrpSpPr/>
          <p:nvPr/>
        </p:nvGrpSpPr>
        <p:grpSpPr>
          <a:xfrm rot="0">
            <a:off x="6858000" y="7296912"/>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97" id="297"/>
          <p:cNvGrpSpPr/>
          <p:nvPr/>
        </p:nvGrpSpPr>
        <p:grpSpPr>
          <a:xfrm rot="0">
            <a:off x="6858000" y="7268337"/>
            <a:ext cx="2880360" cy="467487"/>
            <a:chOff x="0" y="0"/>
            <a:chExt cx="3840480" cy="623316"/>
          </a:xfrm>
        </p:grpSpPr>
        <p:sp>
          <p:nvSpPr>
            <p:cNvPr name="Freeform 298" id="29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99" id="29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00" id="300"/>
          <p:cNvGrpSpPr/>
          <p:nvPr/>
        </p:nvGrpSpPr>
        <p:grpSpPr>
          <a:xfrm rot="0">
            <a:off x="9738360" y="7228332"/>
            <a:ext cx="342900" cy="576072"/>
            <a:chOff x="0" y="0"/>
            <a:chExt cx="457200" cy="768096"/>
          </a:xfrm>
        </p:grpSpPr>
        <p:sp>
          <p:nvSpPr>
            <p:cNvPr name="Freeform 301" id="30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02" id="302"/>
          <p:cNvGrpSpPr/>
          <p:nvPr/>
        </p:nvGrpSpPr>
        <p:grpSpPr>
          <a:xfrm rot="0">
            <a:off x="9738360" y="7192613"/>
            <a:ext cx="342900" cy="611791"/>
            <a:chOff x="0" y="0"/>
            <a:chExt cx="457200" cy="815721"/>
          </a:xfrm>
        </p:grpSpPr>
        <p:sp>
          <p:nvSpPr>
            <p:cNvPr name="Freeform 303" id="30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04" id="30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05" id="305"/>
          <p:cNvGrpSpPr/>
          <p:nvPr/>
        </p:nvGrpSpPr>
        <p:grpSpPr>
          <a:xfrm rot="0">
            <a:off x="10081260" y="7296912"/>
            <a:ext cx="2880360" cy="438912"/>
            <a:chOff x="0" y="0"/>
            <a:chExt cx="3840480" cy="585216"/>
          </a:xfrm>
        </p:grpSpPr>
        <p:sp>
          <p:nvSpPr>
            <p:cNvPr name="Freeform 306" id="30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07" id="307"/>
          <p:cNvGrpSpPr/>
          <p:nvPr/>
        </p:nvGrpSpPr>
        <p:grpSpPr>
          <a:xfrm rot="0">
            <a:off x="10081260" y="7296912"/>
            <a:ext cx="2880360" cy="438912"/>
            <a:chOff x="0" y="0"/>
            <a:chExt cx="3840480" cy="585216"/>
          </a:xfrm>
        </p:grpSpPr>
        <p:sp>
          <p:nvSpPr>
            <p:cNvPr name="Freeform 308" id="30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09" id="309"/>
          <p:cNvGrpSpPr/>
          <p:nvPr/>
        </p:nvGrpSpPr>
        <p:grpSpPr>
          <a:xfrm rot="0">
            <a:off x="10081260" y="7268337"/>
            <a:ext cx="2880360" cy="467487"/>
            <a:chOff x="0" y="0"/>
            <a:chExt cx="3840480" cy="623316"/>
          </a:xfrm>
        </p:grpSpPr>
        <p:sp>
          <p:nvSpPr>
            <p:cNvPr name="Freeform 310" id="31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11" id="31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12" id="312"/>
          <p:cNvGrpSpPr/>
          <p:nvPr/>
        </p:nvGrpSpPr>
        <p:grpSpPr>
          <a:xfrm rot="0">
            <a:off x="12961620" y="7228332"/>
            <a:ext cx="342900" cy="576072"/>
            <a:chOff x="0" y="0"/>
            <a:chExt cx="457200" cy="768096"/>
          </a:xfrm>
        </p:grpSpPr>
        <p:sp>
          <p:nvSpPr>
            <p:cNvPr name="Freeform 313" id="31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14" id="314"/>
          <p:cNvGrpSpPr/>
          <p:nvPr/>
        </p:nvGrpSpPr>
        <p:grpSpPr>
          <a:xfrm rot="0">
            <a:off x="12961620" y="7192613"/>
            <a:ext cx="342900" cy="611791"/>
            <a:chOff x="0" y="0"/>
            <a:chExt cx="457200" cy="815721"/>
          </a:xfrm>
        </p:grpSpPr>
        <p:sp>
          <p:nvSpPr>
            <p:cNvPr name="Freeform 315" id="31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16" id="31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17" id="317"/>
          <p:cNvGrpSpPr/>
          <p:nvPr/>
        </p:nvGrpSpPr>
        <p:grpSpPr>
          <a:xfrm rot="0">
            <a:off x="13304520" y="7296912"/>
            <a:ext cx="2880360" cy="438912"/>
            <a:chOff x="0" y="0"/>
            <a:chExt cx="3840480" cy="585216"/>
          </a:xfrm>
        </p:grpSpPr>
        <p:sp>
          <p:nvSpPr>
            <p:cNvPr name="Freeform 318" id="31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19" id="319"/>
          <p:cNvGrpSpPr/>
          <p:nvPr/>
        </p:nvGrpSpPr>
        <p:grpSpPr>
          <a:xfrm rot="0">
            <a:off x="13304520" y="7296912"/>
            <a:ext cx="2880360" cy="438912"/>
            <a:chOff x="0" y="0"/>
            <a:chExt cx="3840480" cy="585216"/>
          </a:xfrm>
        </p:grpSpPr>
        <p:sp>
          <p:nvSpPr>
            <p:cNvPr name="Freeform 320" id="32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21" id="321"/>
          <p:cNvGrpSpPr/>
          <p:nvPr/>
        </p:nvGrpSpPr>
        <p:grpSpPr>
          <a:xfrm rot="0">
            <a:off x="13304520" y="7268337"/>
            <a:ext cx="2880360" cy="467487"/>
            <a:chOff x="0" y="0"/>
            <a:chExt cx="3840480" cy="623316"/>
          </a:xfrm>
        </p:grpSpPr>
        <p:sp>
          <p:nvSpPr>
            <p:cNvPr name="Freeform 322" id="32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23" id="32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24" id="324"/>
          <p:cNvGrpSpPr/>
          <p:nvPr/>
        </p:nvGrpSpPr>
        <p:grpSpPr>
          <a:xfrm rot="0">
            <a:off x="16390620" y="7310628"/>
            <a:ext cx="891540" cy="411480"/>
            <a:chOff x="0" y="0"/>
            <a:chExt cx="1188720" cy="548640"/>
          </a:xfrm>
        </p:grpSpPr>
        <p:sp>
          <p:nvSpPr>
            <p:cNvPr name="Freeform 325" id="32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26" id="326"/>
          <p:cNvGrpSpPr/>
          <p:nvPr/>
        </p:nvGrpSpPr>
        <p:grpSpPr>
          <a:xfrm rot="0">
            <a:off x="16390620" y="7310628"/>
            <a:ext cx="891540" cy="411480"/>
            <a:chOff x="0" y="0"/>
            <a:chExt cx="1188720" cy="548640"/>
          </a:xfrm>
        </p:grpSpPr>
        <p:sp>
          <p:nvSpPr>
            <p:cNvPr name="Freeform 327" id="32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28" id="328"/>
          <p:cNvGrpSpPr/>
          <p:nvPr/>
        </p:nvGrpSpPr>
        <p:grpSpPr>
          <a:xfrm rot="0">
            <a:off x="16390620" y="7282053"/>
            <a:ext cx="891540" cy="440055"/>
            <a:chOff x="0" y="0"/>
            <a:chExt cx="1188720" cy="586740"/>
          </a:xfrm>
        </p:grpSpPr>
        <p:sp>
          <p:nvSpPr>
            <p:cNvPr name="Freeform 329" id="32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30" id="33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31" id="331"/>
          <p:cNvGrpSpPr/>
          <p:nvPr/>
        </p:nvGrpSpPr>
        <p:grpSpPr>
          <a:xfrm rot="0">
            <a:off x="822960" y="7872984"/>
            <a:ext cx="16637508" cy="576072"/>
            <a:chOff x="0" y="0"/>
            <a:chExt cx="22183344" cy="768096"/>
          </a:xfrm>
        </p:grpSpPr>
        <p:sp>
          <p:nvSpPr>
            <p:cNvPr name="Freeform 332" id="3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333" id="333"/>
          <p:cNvGrpSpPr/>
          <p:nvPr/>
        </p:nvGrpSpPr>
        <p:grpSpPr>
          <a:xfrm rot="0">
            <a:off x="1097280" y="7872984"/>
            <a:ext cx="5486400" cy="576072"/>
            <a:chOff x="0" y="0"/>
            <a:chExt cx="7315200" cy="768096"/>
          </a:xfrm>
        </p:grpSpPr>
        <p:sp>
          <p:nvSpPr>
            <p:cNvPr name="Freeform 334" id="3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335" id="335"/>
          <p:cNvGrpSpPr/>
          <p:nvPr/>
        </p:nvGrpSpPr>
        <p:grpSpPr>
          <a:xfrm rot="0">
            <a:off x="1097280" y="7837265"/>
            <a:ext cx="5486400" cy="611791"/>
            <a:chOff x="0" y="0"/>
            <a:chExt cx="7315200" cy="815721"/>
          </a:xfrm>
        </p:grpSpPr>
        <p:sp>
          <p:nvSpPr>
            <p:cNvPr name="Freeform 336" id="3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337" id="33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338" id="338"/>
          <p:cNvGrpSpPr/>
          <p:nvPr/>
        </p:nvGrpSpPr>
        <p:grpSpPr>
          <a:xfrm rot="0">
            <a:off x="6858000" y="7941564"/>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40" id="340"/>
          <p:cNvGrpSpPr/>
          <p:nvPr/>
        </p:nvGrpSpPr>
        <p:grpSpPr>
          <a:xfrm rot="0">
            <a:off x="6858000" y="7941564"/>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42" id="342"/>
          <p:cNvGrpSpPr/>
          <p:nvPr/>
        </p:nvGrpSpPr>
        <p:grpSpPr>
          <a:xfrm rot="0">
            <a:off x="6858000" y="7912989"/>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44" id="34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5" id="345"/>
          <p:cNvGrpSpPr/>
          <p:nvPr/>
        </p:nvGrpSpPr>
        <p:grpSpPr>
          <a:xfrm rot="0">
            <a:off x="9738360" y="7872984"/>
            <a:ext cx="342900" cy="576072"/>
            <a:chOff x="0" y="0"/>
            <a:chExt cx="457200" cy="768096"/>
          </a:xfrm>
        </p:grpSpPr>
        <p:sp>
          <p:nvSpPr>
            <p:cNvPr name="Freeform 346" id="34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47" id="347"/>
          <p:cNvGrpSpPr/>
          <p:nvPr/>
        </p:nvGrpSpPr>
        <p:grpSpPr>
          <a:xfrm rot="0">
            <a:off x="9738360" y="7837265"/>
            <a:ext cx="342900" cy="611791"/>
            <a:chOff x="0" y="0"/>
            <a:chExt cx="457200" cy="815721"/>
          </a:xfrm>
        </p:grpSpPr>
        <p:sp>
          <p:nvSpPr>
            <p:cNvPr name="Freeform 348" id="34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49" id="34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0" id="350"/>
          <p:cNvGrpSpPr/>
          <p:nvPr/>
        </p:nvGrpSpPr>
        <p:grpSpPr>
          <a:xfrm rot="0">
            <a:off x="10081260" y="7941564"/>
            <a:ext cx="2880360" cy="438912"/>
            <a:chOff x="0" y="0"/>
            <a:chExt cx="3840480" cy="585216"/>
          </a:xfrm>
        </p:grpSpPr>
        <p:sp>
          <p:nvSpPr>
            <p:cNvPr name="Freeform 351" id="35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352" id="352"/>
          <p:cNvGrpSpPr/>
          <p:nvPr/>
        </p:nvGrpSpPr>
        <p:grpSpPr>
          <a:xfrm rot="0">
            <a:off x="10081260" y="7941564"/>
            <a:ext cx="2880360" cy="438912"/>
            <a:chOff x="0" y="0"/>
            <a:chExt cx="3840480" cy="585216"/>
          </a:xfrm>
        </p:grpSpPr>
        <p:sp>
          <p:nvSpPr>
            <p:cNvPr name="Freeform 353" id="35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54" id="354"/>
          <p:cNvGrpSpPr/>
          <p:nvPr/>
        </p:nvGrpSpPr>
        <p:grpSpPr>
          <a:xfrm rot="0">
            <a:off x="10081260" y="7912989"/>
            <a:ext cx="2880360" cy="467487"/>
            <a:chOff x="0" y="0"/>
            <a:chExt cx="3840480" cy="623316"/>
          </a:xfrm>
        </p:grpSpPr>
        <p:sp>
          <p:nvSpPr>
            <p:cNvPr name="Freeform 355" id="35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56" id="35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57" id="357"/>
          <p:cNvGrpSpPr/>
          <p:nvPr/>
        </p:nvGrpSpPr>
        <p:grpSpPr>
          <a:xfrm rot="0">
            <a:off x="12961620" y="7872984"/>
            <a:ext cx="342900" cy="576072"/>
            <a:chOff x="0" y="0"/>
            <a:chExt cx="457200" cy="768096"/>
          </a:xfrm>
        </p:grpSpPr>
        <p:sp>
          <p:nvSpPr>
            <p:cNvPr name="Freeform 358" id="35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59" id="359"/>
          <p:cNvGrpSpPr/>
          <p:nvPr/>
        </p:nvGrpSpPr>
        <p:grpSpPr>
          <a:xfrm rot="0">
            <a:off x="12961620" y="7837265"/>
            <a:ext cx="342900" cy="611791"/>
            <a:chOff x="0" y="0"/>
            <a:chExt cx="457200" cy="815721"/>
          </a:xfrm>
        </p:grpSpPr>
        <p:sp>
          <p:nvSpPr>
            <p:cNvPr name="Freeform 360" id="36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61" id="36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62" id="362"/>
          <p:cNvGrpSpPr/>
          <p:nvPr/>
        </p:nvGrpSpPr>
        <p:grpSpPr>
          <a:xfrm rot="0">
            <a:off x="13304520" y="7941564"/>
            <a:ext cx="2880360" cy="438912"/>
            <a:chOff x="0" y="0"/>
            <a:chExt cx="3840480" cy="585216"/>
          </a:xfrm>
        </p:grpSpPr>
        <p:sp>
          <p:nvSpPr>
            <p:cNvPr name="Freeform 363" id="36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64" id="364"/>
          <p:cNvGrpSpPr/>
          <p:nvPr/>
        </p:nvGrpSpPr>
        <p:grpSpPr>
          <a:xfrm rot="0">
            <a:off x="13304520" y="7941564"/>
            <a:ext cx="2880360" cy="438912"/>
            <a:chOff x="0" y="0"/>
            <a:chExt cx="3840480" cy="585216"/>
          </a:xfrm>
        </p:grpSpPr>
        <p:sp>
          <p:nvSpPr>
            <p:cNvPr name="Freeform 365" id="36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66" id="366"/>
          <p:cNvGrpSpPr/>
          <p:nvPr/>
        </p:nvGrpSpPr>
        <p:grpSpPr>
          <a:xfrm rot="0">
            <a:off x="13304520" y="7912989"/>
            <a:ext cx="2880360" cy="467487"/>
            <a:chOff x="0" y="0"/>
            <a:chExt cx="3840480" cy="623316"/>
          </a:xfrm>
        </p:grpSpPr>
        <p:sp>
          <p:nvSpPr>
            <p:cNvPr name="Freeform 367" id="36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68" id="36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9" id="369"/>
          <p:cNvGrpSpPr/>
          <p:nvPr/>
        </p:nvGrpSpPr>
        <p:grpSpPr>
          <a:xfrm rot="0">
            <a:off x="16390620" y="7955280"/>
            <a:ext cx="891540" cy="411480"/>
            <a:chOff x="0" y="0"/>
            <a:chExt cx="1188720" cy="548640"/>
          </a:xfrm>
        </p:grpSpPr>
        <p:sp>
          <p:nvSpPr>
            <p:cNvPr name="Freeform 370" id="37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71" id="371"/>
          <p:cNvGrpSpPr/>
          <p:nvPr/>
        </p:nvGrpSpPr>
        <p:grpSpPr>
          <a:xfrm rot="0">
            <a:off x="16390620" y="7955280"/>
            <a:ext cx="891540" cy="411480"/>
            <a:chOff x="0" y="0"/>
            <a:chExt cx="1188720" cy="548640"/>
          </a:xfrm>
        </p:grpSpPr>
        <p:sp>
          <p:nvSpPr>
            <p:cNvPr name="Freeform 372" id="37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73" id="373"/>
          <p:cNvGrpSpPr/>
          <p:nvPr/>
        </p:nvGrpSpPr>
        <p:grpSpPr>
          <a:xfrm rot="0">
            <a:off x="16390620" y="7926705"/>
            <a:ext cx="891540" cy="440055"/>
            <a:chOff x="0" y="0"/>
            <a:chExt cx="1188720" cy="586740"/>
          </a:xfrm>
        </p:grpSpPr>
        <p:sp>
          <p:nvSpPr>
            <p:cNvPr name="Freeform 374" id="37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75" id="37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76" id="376"/>
          <p:cNvGrpSpPr/>
          <p:nvPr/>
        </p:nvGrpSpPr>
        <p:grpSpPr>
          <a:xfrm rot="0">
            <a:off x="822960" y="8641080"/>
            <a:ext cx="16637508" cy="685800"/>
            <a:chOff x="0" y="0"/>
            <a:chExt cx="22183344" cy="914400"/>
          </a:xfrm>
        </p:grpSpPr>
        <p:sp>
          <p:nvSpPr>
            <p:cNvPr name="Freeform 377" id="377"/>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378" id="378"/>
          <p:cNvGrpSpPr/>
          <p:nvPr/>
        </p:nvGrpSpPr>
        <p:grpSpPr>
          <a:xfrm rot="0">
            <a:off x="1165860" y="8641080"/>
            <a:ext cx="15951708" cy="685800"/>
            <a:chOff x="0" y="0"/>
            <a:chExt cx="21268944" cy="914400"/>
          </a:xfrm>
        </p:grpSpPr>
        <p:sp>
          <p:nvSpPr>
            <p:cNvPr name="Freeform 379" id="379"/>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sp>
      </p:grpSp>
      <p:grpSp>
        <p:nvGrpSpPr>
          <p:cNvPr name="Group 380" id="380"/>
          <p:cNvGrpSpPr/>
          <p:nvPr/>
        </p:nvGrpSpPr>
        <p:grpSpPr>
          <a:xfrm rot="0">
            <a:off x="1165860" y="8612505"/>
            <a:ext cx="15951708" cy="714375"/>
            <a:chOff x="0" y="0"/>
            <a:chExt cx="21268944" cy="952500"/>
          </a:xfrm>
        </p:grpSpPr>
        <p:sp>
          <p:nvSpPr>
            <p:cNvPr name="Freeform 381" id="381"/>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5093" r="0" b="-385093"/>
              </a:stretch>
            </a:blipFill>
          </p:spPr>
        </p:sp>
        <p:sp>
          <p:nvSpPr>
            <p:cNvPr name="TextBox 382" id="382"/>
            <p:cNvSpPr txBox="true"/>
            <p:nvPr/>
          </p:nvSpPr>
          <p:spPr>
            <a:xfrm>
              <a:off x="0" y="-38100"/>
              <a:ext cx="21268944" cy="9906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Kokoh pada peringkat, bukan pada besaran: angka absolut 2050 berubah cukup besar antarkondisi → hasil bukan ramalan.</a:t>
              </a:r>
            </a:p>
          </p:txBody>
        </p:sp>
      </p:grpSp>
      <p:sp>
        <p:nvSpPr>
          <p:cNvPr name="TextBox 383" id="38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Simulasi memetakan pertukaran kebijakan, bukan satu jawaban tunggal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65" id="65"/>
          <p:cNvSpPr txBox="true"/>
          <p:nvPr/>
        </p:nvSpPr>
        <p:spPr>
          <a:xfrm rot="0">
            <a:off x="1234440"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dengan konversi lahan pariwisata +15,64% vs BAU dan kepadatan tertinggi. Sustainable menihilkan konversi lahan fasilitas pariwisata sambil tetap tumbuh lebih tinggi dari BAU.</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Ambang kepadatan terlampaui 2041–2043 pada ketiga skenario; diperlukan pengelolaan sebaran kunjungan antarwaktu dan antarlokasi, di luar cakupan model.</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Perda DIY 1/2012 (pembukaan lahan baru) vs Perda DIY 6/2021 (larangan alih fungsi lahan pangan) terpotret secara kuantitatif dalam Development Priority vs Sustainable.</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Diskusi: kontribusi ada pada kerangka pengujian, bukan kecocokan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grpSp>
        <p:nvGrpSpPr>
          <p:cNvPr name="Group 53" id="53"/>
          <p:cNvGrpSpPr/>
          <p:nvPr/>
        </p:nvGrpSpPr>
        <p:grpSpPr>
          <a:xfrm rot="0">
            <a:off x="813435" y="2386203"/>
            <a:ext cx="5414010" cy="5551170"/>
            <a:chOff x="0" y="0"/>
            <a:chExt cx="7218680" cy="7401560"/>
          </a:xfrm>
        </p:grpSpPr>
        <p:sp>
          <p:nvSpPr>
            <p:cNvPr name="Freeform 54" id="54"/>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115568" y="2697480"/>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57" id="57"/>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96596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Kalibrasi menjadi instrumen validasi</a:t>
            </a:r>
          </a:p>
        </p:txBody>
      </p:sp>
      <p:sp>
        <p:nvSpPr>
          <p:cNvPr name="TextBox 59" id="59"/>
          <p:cNvSpPr txBox="true"/>
          <p:nvPr/>
        </p:nvSpPr>
        <p:spPr>
          <a:xfrm rot="0">
            <a:off x="111556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(TPK ambang, laju demolisi, laju konversi) dan tidak satu pun berubah. Nilai turunan data dan identitas stok-aliran sudah berada di daerah yang dapat dipertanggungjawabkan — sejalan dengan Oliva (2003): kalibrasi sebagai pengujian hipotesis struktural.</a:t>
            </a:r>
          </a:p>
        </p:txBody>
      </p:sp>
      <p:grpSp>
        <p:nvGrpSpPr>
          <p:cNvPr name="Group 60" id="60"/>
          <p:cNvGrpSpPr/>
          <p:nvPr/>
        </p:nvGrpSpPr>
        <p:grpSpPr>
          <a:xfrm rot="0">
            <a:off x="6436995" y="2386203"/>
            <a:ext cx="5414010" cy="5551170"/>
            <a:chOff x="0" y="0"/>
            <a:chExt cx="7218680" cy="7401560"/>
          </a:xfrm>
        </p:grpSpPr>
        <p:sp>
          <p:nvSpPr>
            <p:cNvPr name="Freeform 61" id="61"/>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6739128" y="2697480"/>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64" id="64"/>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758952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Nilai citra satelit bersifat kondisional</a:t>
            </a:r>
          </a:p>
        </p:txBody>
      </p:sp>
      <p:sp>
        <p:nvSpPr>
          <p:cNvPr name="TextBox 66" id="66"/>
          <p:cNvSpPr txBox="true"/>
          <p:nvPr/>
        </p:nvSpPr>
        <p:spPr>
          <a:xfrm rot="0">
            <a:off x="673912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model regresi tambahan. ODTW: cahaya malam memerlukan regresi proksi dengan kekuatan moderat (R² selisih tahunan 0,405). Manfaat citra bergantung pada apakah variabel dapat diklasifikasi langsung atau butuh hubungan statistik.</a:t>
            </a:r>
          </a:p>
        </p:txBody>
      </p:sp>
      <p:grpSp>
        <p:nvGrpSpPr>
          <p:cNvPr name="Group 67" id="67"/>
          <p:cNvGrpSpPr/>
          <p:nvPr/>
        </p:nvGrpSpPr>
        <p:grpSpPr>
          <a:xfrm rot="0">
            <a:off x="12060555" y="2386203"/>
            <a:ext cx="5414010" cy="5551170"/>
            <a:chOff x="0" y="0"/>
            <a:chExt cx="7218680" cy="7401560"/>
          </a:xfrm>
        </p:grpSpPr>
        <p:sp>
          <p:nvSpPr>
            <p:cNvPr name="Freeform 68" id="68"/>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2362688" y="2697480"/>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71" id="71"/>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321308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Dua tuas dapat dirancang modular</a:t>
            </a:r>
          </a:p>
        </p:txBody>
      </p:sp>
      <p:sp>
        <p:nvSpPr>
          <p:cNvPr name="TextBox 73" id="73"/>
          <p:cNvSpPr txBox="true"/>
          <p:nvPr/>
        </p:nvSpPr>
        <p:spPr>
          <a:xfrm rot="0">
            <a:off x="1236268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tuas dapat ditambah atau dikurangi tanpa mengulang seluruh simulasi untuk memperkirakan dampaknya.</a:t>
            </a:r>
          </a:p>
        </p:txBody>
      </p:sp>
      <p:grpSp>
        <p:nvGrpSpPr>
          <p:cNvPr name="Group 74" id="74"/>
          <p:cNvGrpSpPr/>
          <p:nvPr/>
        </p:nvGrpSpPr>
        <p:grpSpPr>
          <a:xfrm rot="0">
            <a:off x="822960" y="8156448"/>
            <a:ext cx="16642080" cy="1078992"/>
            <a:chOff x="0" y="0"/>
            <a:chExt cx="22189440" cy="1438656"/>
          </a:xfrm>
        </p:grpSpPr>
        <p:sp>
          <p:nvSpPr>
            <p:cNvPr name="Freeform 75" id="75"/>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sp>
      </p:grpSp>
      <p:grpSp>
        <p:nvGrpSpPr>
          <p:cNvPr name="Group 76" id="76"/>
          <p:cNvGrpSpPr/>
          <p:nvPr/>
        </p:nvGrpSpPr>
        <p:grpSpPr>
          <a:xfrm rot="0">
            <a:off x="1188720" y="8156448"/>
            <a:ext cx="15910560" cy="1078992"/>
            <a:chOff x="0" y="0"/>
            <a:chExt cx="21214080" cy="1438656"/>
          </a:xfrm>
        </p:grpSpPr>
        <p:sp>
          <p:nvSpPr>
            <p:cNvPr name="Freeform 77" id="77"/>
            <p:cNvSpPr/>
            <p:nvPr/>
          </p:nvSpPr>
          <p:spPr>
            <a:xfrm flipH="false" flipV="false" rot="0">
              <a:off x="0" y="0"/>
              <a:ext cx="21214079" cy="1438656"/>
            </a:xfrm>
            <a:custGeom>
              <a:avLst/>
              <a:gdLst/>
              <a:ahLst/>
              <a:cxnLst/>
              <a:rect r="r" b="b" t="t" l="l"/>
              <a:pathLst>
                <a:path h="1438656" w="21214079">
                  <a:moveTo>
                    <a:pt x="0" y="0"/>
                  </a:moveTo>
                  <a:lnTo>
                    <a:pt x="21214079" y="0"/>
                  </a:lnTo>
                  <a:lnTo>
                    <a:pt x="21214079" y="1438656"/>
                  </a:lnTo>
                  <a:lnTo>
                    <a:pt x="0" y="1438656"/>
                  </a:lnTo>
                  <a:close/>
                </a:path>
              </a:pathLst>
            </a:custGeom>
            <a:blipFill>
              <a:blip r:embed="rId5">
                <a:alphaModFix amt="0"/>
              </a:blip>
              <a:stretch>
                <a:fillRect l="0" t="-237321" r="0" b="-237321"/>
              </a:stretch>
            </a:blipFill>
          </p:spPr>
        </p:sp>
        <p:sp>
          <p:nvSpPr>
            <p:cNvPr name="TextBox 78" id="78"/>
            <p:cNvSpPr txBox="true"/>
            <p:nvPr/>
          </p:nvSpPr>
          <p:spPr>
            <a:xfrm>
              <a:off x="0" y="-57150"/>
              <a:ext cx="21214080" cy="149580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kerangka pengujian yang membedakan sumber ketidaksesuaian, serta pemetaan pertukaran kebijakan secara kuantitatif beserta kekokohannya terhadap ketidakpastian struktural.</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Aplikasi web membuat model dapat dieksplorasi tanpa software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2674620" cy="1783080"/>
            <a:chOff x="0" y="0"/>
            <a:chExt cx="3566160" cy="2377440"/>
          </a:xfrm>
        </p:grpSpPr>
        <p:sp>
          <p:nvSpPr>
            <p:cNvPr name="Freeform 53" id="53"/>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54" id="54"/>
          <p:cNvGrpSpPr/>
          <p:nvPr/>
        </p:nvGrpSpPr>
        <p:grpSpPr>
          <a:xfrm rot="0">
            <a:off x="960120" y="2537460"/>
            <a:ext cx="2400300" cy="685800"/>
            <a:chOff x="0" y="0"/>
            <a:chExt cx="3200400" cy="914400"/>
          </a:xfrm>
        </p:grpSpPr>
        <p:sp>
          <p:nvSpPr>
            <p:cNvPr name="Freeform 55" id="55"/>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56" id="56"/>
          <p:cNvGrpSpPr/>
          <p:nvPr/>
        </p:nvGrpSpPr>
        <p:grpSpPr>
          <a:xfrm rot="0">
            <a:off x="960120" y="2494598"/>
            <a:ext cx="2400300" cy="728662"/>
            <a:chOff x="0" y="0"/>
            <a:chExt cx="3200400" cy="971550"/>
          </a:xfrm>
        </p:grpSpPr>
        <p:sp>
          <p:nvSpPr>
            <p:cNvPr name="Freeform 57" id="57"/>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58" id="58"/>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59" id="59"/>
          <p:cNvSpPr/>
          <p:nvPr/>
        </p:nvSpPr>
        <p:spPr>
          <a:xfrm rot="287880">
            <a:off x="3498199" y="3268028"/>
            <a:ext cx="341662"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840480" y="2400300"/>
            <a:ext cx="2674620" cy="1783080"/>
            <a:chOff x="0" y="0"/>
            <a:chExt cx="3566160" cy="2377440"/>
          </a:xfrm>
        </p:grpSpPr>
        <p:sp>
          <p:nvSpPr>
            <p:cNvPr name="Freeform 61" id="61"/>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62" id="62"/>
          <p:cNvGrpSpPr/>
          <p:nvPr/>
        </p:nvGrpSpPr>
        <p:grpSpPr>
          <a:xfrm rot="0">
            <a:off x="3977640" y="2537460"/>
            <a:ext cx="2400300" cy="685800"/>
            <a:chOff x="0" y="0"/>
            <a:chExt cx="3200400" cy="914400"/>
          </a:xfrm>
        </p:grpSpPr>
        <p:sp>
          <p:nvSpPr>
            <p:cNvPr name="Freeform 63" id="63"/>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64" id="64"/>
          <p:cNvGrpSpPr/>
          <p:nvPr/>
        </p:nvGrpSpPr>
        <p:grpSpPr>
          <a:xfrm rot="0">
            <a:off x="3977640" y="2494598"/>
            <a:ext cx="2400300" cy="728662"/>
            <a:chOff x="0" y="0"/>
            <a:chExt cx="3200400" cy="971550"/>
          </a:xfrm>
        </p:grpSpPr>
        <p:sp>
          <p:nvSpPr>
            <p:cNvPr name="Freeform 65" id="65"/>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66" id="66"/>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67" id="67"/>
          <p:cNvSpPr txBox="true"/>
          <p:nvPr/>
        </p:nvSpPr>
        <p:spPr>
          <a:xfrm rot="0">
            <a:off x="3977640" y="3166110"/>
            <a:ext cx="2400300" cy="94869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68" id="68"/>
          <p:cNvSpPr/>
          <p:nvPr/>
        </p:nvSpPr>
        <p:spPr>
          <a:xfrm rot="287880">
            <a:off x="6515719" y="3268028"/>
            <a:ext cx="341662"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858000" y="2400300"/>
            <a:ext cx="2674620" cy="1783080"/>
            <a:chOff x="0" y="0"/>
            <a:chExt cx="3566160" cy="2377440"/>
          </a:xfrm>
        </p:grpSpPr>
        <p:sp>
          <p:nvSpPr>
            <p:cNvPr name="Freeform 70" id="70"/>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sp>
      </p:grpSp>
      <p:grpSp>
        <p:nvGrpSpPr>
          <p:cNvPr name="Group 71" id="71"/>
          <p:cNvGrpSpPr/>
          <p:nvPr/>
        </p:nvGrpSpPr>
        <p:grpSpPr>
          <a:xfrm rot="0">
            <a:off x="6995160" y="2537460"/>
            <a:ext cx="2400300" cy="685800"/>
            <a:chOff x="0" y="0"/>
            <a:chExt cx="3200400" cy="914400"/>
          </a:xfrm>
        </p:grpSpPr>
        <p:sp>
          <p:nvSpPr>
            <p:cNvPr name="Freeform 72" id="72"/>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73" id="73"/>
          <p:cNvGrpSpPr/>
          <p:nvPr/>
        </p:nvGrpSpPr>
        <p:grpSpPr>
          <a:xfrm rot="0">
            <a:off x="6995160" y="2494598"/>
            <a:ext cx="2400300" cy="728662"/>
            <a:chOff x="0" y="0"/>
            <a:chExt cx="3200400" cy="971550"/>
          </a:xfrm>
        </p:grpSpPr>
        <p:sp>
          <p:nvSpPr>
            <p:cNvPr name="Freeform 74" id="74"/>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75" id="75"/>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76" id="76"/>
          <p:cNvSpPr txBox="true"/>
          <p:nvPr/>
        </p:nvSpPr>
        <p:spPr>
          <a:xfrm rot="0">
            <a:off x="6995160" y="3166110"/>
            <a:ext cx="2400300" cy="948690"/>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77" id="77"/>
          <p:cNvGrpSpPr/>
          <p:nvPr/>
        </p:nvGrpSpPr>
        <p:grpSpPr>
          <a:xfrm rot="0">
            <a:off x="822960" y="4594860"/>
            <a:ext cx="4183380" cy="1508760"/>
            <a:chOff x="0" y="0"/>
            <a:chExt cx="5577840" cy="2011680"/>
          </a:xfrm>
        </p:grpSpPr>
        <p:sp>
          <p:nvSpPr>
            <p:cNvPr name="Freeform 78" id="7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79" id="79"/>
          <p:cNvSpPr txBox="true"/>
          <p:nvPr/>
        </p:nvSpPr>
        <p:spPr>
          <a:xfrm rot="0">
            <a:off x="109728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80" id="80"/>
          <p:cNvSpPr txBox="true"/>
          <p:nvPr/>
        </p:nvSpPr>
        <p:spPr>
          <a:xfrm rot="0">
            <a:off x="109728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81" id="81"/>
          <p:cNvGrpSpPr/>
          <p:nvPr/>
        </p:nvGrpSpPr>
        <p:grpSpPr>
          <a:xfrm rot="0">
            <a:off x="5212080" y="4594860"/>
            <a:ext cx="4183380" cy="1508760"/>
            <a:chOff x="0" y="0"/>
            <a:chExt cx="5577840" cy="2011680"/>
          </a:xfrm>
        </p:grpSpPr>
        <p:sp>
          <p:nvSpPr>
            <p:cNvPr name="Freeform 82" id="8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3" id="83"/>
          <p:cNvSpPr txBox="true"/>
          <p:nvPr/>
        </p:nvSpPr>
        <p:spPr>
          <a:xfrm rot="0">
            <a:off x="548640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84" id="84"/>
          <p:cNvSpPr txBox="true"/>
          <p:nvPr/>
        </p:nvSpPr>
        <p:spPr>
          <a:xfrm rot="0">
            <a:off x="548640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85" id="85"/>
          <p:cNvGrpSpPr/>
          <p:nvPr/>
        </p:nvGrpSpPr>
        <p:grpSpPr>
          <a:xfrm rot="0">
            <a:off x="822960" y="6309360"/>
            <a:ext cx="4183380" cy="1508760"/>
            <a:chOff x="0" y="0"/>
            <a:chExt cx="5577840" cy="2011680"/>
          </a:xfrm>
        </p:grpSpPr>
        <p:sp>
          <p:nvSpPr>
            <p:cNvPr name="Freeform 86" id="8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7" id="87"/>
          <p:cNvSpPr txBox="true"/>
          <p:nvPr/>
        </p:nvSpPr>
        <p:spPr>
          <a:xfrm rot="0">
            <a:off x="109728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88" id="88"/>
          <p:cNvSpPr txBox="true"/>
          <p:nvPr/>
        </p:nvSpPr>
        <p:spPr>
          <a:xfrm rot="0">
            <a:off x="109728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89" id="89"/>
          <p:cNvGrpSpPr/>
          <p:nvPr/>
        </p:nvGrpSpPr>
        <p:grpSpPr>
          <a:xfrm rot="0">
            <a:off x="5212080" y="6309360"/>
            <a:ext cx="4183380" cy="1508760"/>
            <a:chOff x="0" y="0"/>
            <a:chExt cx="5577840" cy="2011680"/>
          </a:xfrm>
        </p:grpSpPr>
        <p:sp>
          <p:nvSpPr>
            <p:cNvPr name="Freeform 90" id="9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91" id="91"/>
          <p:cNvSpPr txBox="true"/>
          <p:nvPr/>
        </p:nvSpPr>
        <p:spPr>
          <a:xfrm rot="0">
            <a:off x="548640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92" id="92"/>
          <p:cNvSpPr txBox="true"/>
          <p:nvPr/>
        </p:nvSpPr>
        <p:spPr>
          <a:xfrm rot="0">
            <a:off x="548640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tuas, pilih variabel, jalankan 2025–2050</a:t>
            </a:r>
          </a:p>
        </p:txBody>
      </p:sp>
      <p:grpSp>
        <p:nvGrpSpPr>
          <p:cNvPr name="Group 93" id="93"/>
          <p:cNvGrpSpPr/>
          <p:nvPr/>
        </p:nvGrpSpPr>
        <p:grpSpPr>
          <a:xfrm rot="0">
            <a:off x="822960" y="8298180"/>
            <a:ext cx="8092440" cy="617220"/>
            <a:chOff x="0" y="0"/>
            <a:chExt cx="10789920" cy="822960"/>
          </a:xfrm>
        </p:grpSpPr>
        <p:sp>
          <p:nvSpPr>
            <p:cNvPr name="Freeform 94" id="9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sp>
      </p:grpSp>
      <p:grpSp>
        <p:nvGrpSpPr>
          <p:cNvPr name="Group 95" id="95"/>
          <p:cNvGrpSpPr/>
          <p:nvPr/>
        </p:nvGrpSpPr>
        <p:grpSpPr>
          <a:xfrm rot="0">
            <a:off x="822960" y="8298180"/>
            <a:ext cx="8092440" cy="617220"/>
            <a:chOff x="0" y="0"/>
            <a:chExt cx="10789920" cy="822960"/>
          </a:xfrm>
        </p:grpSpPr>
        <p:sp>
          <p:nvSpPr>
            <p:cNvPr name="Freeform 96" id="9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sp>
      </p:grpSp>
      <p:grpSp>
        <p:nvGrpSpPr>
          <p:cNvPr name="Group 97" id="97"/>
          <p:cNvGrpSpPr/>
          <p:nvPr/>
        </p:nvGrpSpPr>
        <p:grpSpPr>
          <a:xfrm rot="0">
            <a:off x="822960" y="8262461"/>
            <a:ext cx="8092440" cy="652939"/>
            <a:chOff x="0" y="0"/>
            <a:chExt cx="10789920" cy="870585"/>
          </a:xfrm>
        </p:grpSpPr>
        <p:sp>
          <p:nvSpPr>
            <p:cNvPr name="Freeform 98" id="9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495" r="0" b="-191495"/>
              </a:stretch>
            </a:blipFill>
          </p:spPr>
        </p:sp>
        <p:sp>
          <p:nvSpPr>
            <p:cNvPr name="TextBox 99" id="99"/>
            <p:cNvSpPr txBox="true"/>
            <p:nvPr/>
          </p:nvSpPr>
          <p:spPr>
            <a:xfrm>
              <a:off x="0" y="-47625"/>
              <a:ext cx="10789920" cy="91821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00" id="100"/>
          <p:cNvGrpSpPr/>
          <p:nvPr/>
        </p:nvGrpSpPr>
        <p:grpSpPr>
          <a:xfrm rot="0">
            <a:off x="9738360" y="2817400"/>
            <a:ext cx="3771900" cy="4995100"/>
            <a:chOff x="0" y="0"/>
            <a:chExt cx="5029200" cy="6660134"/>
          </a:xfrm>
        </p:grpSpPr>
        <p:sp>
          <p:nvSpPr>
            <p:cNvPr name="Freeform 101" id="101"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6"/>
              <a:stretch>
                <a:fillRect l="0" t="-57" r="0" b="-56"/>
              </a:stretch>
            </a:blipFill>
          </p:spPr>
        </p:sp>
      </p:grpSp>
      <p:grpSp>
        <p:nvGrpSpPr>
          <p:cNvPr name="Group 102" id="102"/>
          <p:cNvGrpSpPr/>
          <p:nvPr/>
        </p:nvGrpSpPr>
        <p:grpSpPr>
          <a:xfrm rot="0">
            <a:off x="13716000" y="2861948"/>
            <a:ext cx="3744468" cy="4906042"/>
            <a:chOff x="0" y="0"/>
            <a:chExt cx="4992624" cy="6541389"/>
          </a:xfrm>
        </p:grpSpPr>
        <p:sp>
          <p:nvSpPr>
            <p:cNvPr name="Freeform 103" id="103"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7"/>
              <a:stretch>
                <a:fillRect l="-42" t="0" r="-42" b="0"/>
              </a:stretch>
            </a:blipFill>
          </p:spPr>
        </p:sp>
      </p:grpSp>
      <p:sp>
        <p:nvSpPr>
          <p:cNvPr name="TextBox 104" id="104"/>
          <p:cNvSpPr txBox="true"/>
          <p:nvPr/>
        </p:nvSpPr>
        <p:spPr>
          <a:xfrm rot="0">
            <a:off x="9738360" y="8290560"/>
            <a:ext cx="3771900"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05" id="105"/>
          <p:cNvSpPr txBox="true"/>
          <p:nvPr/>
        </p:nvSpPr>
        <p:spPr>
          <a:xfrm rot="0">
            <a:off x="13716000" y="8290560"/>
            <a:ext cx="3744468"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06" id="106"/>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Fungsi berjalan 100% dan usability di atas rata-rata normatif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05256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53" id="53"/>
          <p:cNvSpPr txBox="true"/>
          <p:nvPr/>
        </p:nvSpPr>
        <p:spPr>
          <a:xfrm rot="0">
            <a:off x="822960" y="7505700"/>
            <a:ext cx="946404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Batang merah = skor di bawah rata-rata normatif SUS (± 68; Brooke, 2013): hanya R8.</a:t>
            </a:r>
          </a:p>
        </p:txBody>
      </p:sp>
      <p:grpSp>
        <p:nvGrpSpPr>
          <p:cNvPr name="Group 54" id="54"/>
          <p:cNvGrpSpPr/>
          <p:nvPr/>
        </p:nvGrpSpPr>
        <p:grpSpPr>
          <a:xfrm rot="0">
            <a:off x="10698480" y="2400300"/>
            <a:ext cx="6761988" cy="1714500"/>
            <a:chOff x="0" y="0"/>
            <a:chExt cx="9015984" cy="2286000"/>
          </a:xfrm>
        </p:grpSpPr>
        <p:sp>
          <p:nvSpPr>
            <p:cNvPr name="Freeform 55" id="5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56" id="56"/>
          <p:cNvGrpSpPr/>
          <p:nvPr/>
        </p:nvGrpSpPr>
        <p:grpSpPr>
          <a:xfrm rot="0">
            <a:off x="11041380" y="2400300"/>
            <a:ext cx="2400300" cy="1714500"/>
            <a:chOff x="0" y="0"/>
            <a:chExt cx="3200400" cy="2286000"/>
          </a:xfrm>
        </p:grpSpPr>
        <p:sp>
          <p:nvSpPr>
            <p:cNvPr name="Freeform 57" id="5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58" id="58"/>
          <p:cNvGrpSpPr/>
          <p:nvPr/>
        </p:nvGrpSpPr>
        <p:grpSpPr>
          <a:xfrm rot="0">
            <a:off x="11041380" y="2336006"/>
            <a:ext cx="2400300" cy="1778794"/>
            <a:chOff x="0" y="0"/>
            <a:chExt cx="3200400" cy="2371725"/>
          </a:xfrm>
        </p:grpSpPr>
        <p:sp>
          <p:nvSpPr>
            <p:cNvPr name="Freeform 59" id="5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60" id="60"/>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61" id="61"/>
          <p:cNvGrpSpPr/>
          <p:nvPr/>
        </p:nvGrpSpPr>
        <p:grpSpPr>
          <a:xfrm rot="0">
            <a:off x="13510260" y="2400300"/>
            <a:ext cx="3771900" cy="1714500"/>
            <a:chOff x="0" y="0"/>
            <a:chExt cx="5029200" cy="2286000"/>
          </a:xfrm>
        </p:grpSpPr>
        <p:sp>
          <p:nvSpPr>
            <p:cNvPr name="Freeform 62" id="62"/>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63" id="63"/>
          <p:cNvGrpSpPr/>
          <p:nvPr/>
        </p:nvGrpSpPr>
        <p:grpSpPr>
          <a:xfrm rot="0">
            <a:off x="13510260" y="2371725"/>
            <a:ext cx="3771900" cy="1743075"/>
            <a:chOff x="0" y="0"/>
            <a:chExt cx="5029200" cy="2324100"/>
          </a:xfrm>
        </p:grpSpPr>
        <p:sp>
          <p:nvSpPr>
            <p:cNvPr name="Freeform 64" id="64"/>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65" id="65"/>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66" id="66"/>
          <p:cNvGrpSpPr/>
          <p:nvPr/>
        </p:nvGrpSpPr>
        <p:grpSpPr>
          <a:xfrm rot="0">
            <a:off x="10698480" y="4293108"/>
            <a:ext cx="6761988" cy="1714500"/>
            <a:chOff x="0" y="0"/>
            <a:chExt cx="9015984" cy="2286000"/>
          </a:xfrm>
        </p:grpSpPr>
        <p:sp>
          <p:nvSpPr>
            <p:cNvPr name="Freeform 67" id="67"/>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68" id="68"/>
          <p:cNvGrpSpPr/>
          <p:nvPr/>
        </p:nvGrpSpPr>
        <p:grpSpPr>
          <a:xfrm rot="0">
            <a:off x="11041380" y="4293108"/>
            <a:ext cx="2400300" cy="1714500"/>
            <a:chOff x="0" y="0"/>
            <a:chExt cx="3200400" cy="2286000"/>
          </a:xfrm>
        </p:grpSpPr>
        <p:sp>
          <p:nvSpPr>
            <p:cNvPr name="Freeform 69" id="69"/>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70" id="70"/>
          <p:cNvGrpSpPr/>
          <p:nvPr/>
        </p:nvGrpSpPr>
        <p:grpSpPr>
          <a:xfrm rot="0">
            <a:off x="11041380" y="4228814"/>
            <a:ext cx="2400300" cy="1778794"/>
            <a:chOff x="0" y="0"/>
            <a:chExt cx="3200400" cy="2371725"/>
          </a:xfrm>
        </p:grpSpPr>
        <p:sp>
          <p:nvSpPr>
            <p:cNvPr name="Freeform 71" id="71"/>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72" id="72"/>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73" id="73"/>
          <p:cNvGrpSpPr/>
          <p:nvPr/>
        </p:nvGrpSpPr>
        <p:grpSpPr>
          <a:xfrm rot="0">
            <a:off x="13510260" y="4293108"/>
            <a:ext cx="3771900" cy="1714500"/>
            <a:chOff x="0" y="0"/>
            <a:chExt cx="5029200" cy="2286000"/>
          </a:xfrm>
        </p:grpSpPr>
        <p:sp>
          <p:nvSpPr>
            <p:cNvPr name="Freeform 74" id="7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75" id="75"/>
          <p:cNvGrpSpPr/>
          <p:nvPr/>
        </p:nvGrpSpPr>
        <p:grpSpPr>
          <a:xfrm rot="0">
            <a:off x="13510260" y="4264533"/>
            <a:ext cx="3771900" cy="1743075"/>
            <a:chOff x="0" y="0"/>
            <a:chExt cx="5029200" cy="2324100"/>
          </a:xfrm>
        </p:grpSpPr>
        <p:sp>
          <p:nvSpPr>
            <p:cNvPr name="Freeform 76" id="7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77" id="77"/>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78" id="78"/>
          <p:cNvGrpSpPr/>
          <p:nvPr/>
        </p:nvGrpSpPr>
        <p:grpSpPr>
          <a:xfrm rot="0">
            <a:off x="10698480" y="6185916"/>
            <a:ext cx="6761988" cy="1714500"/>
            <a:chOff x="0" y="0"/>
            <a:chExt cx="9015984" cy="2286000"/>
          </a:xfrm>
        </p:grpSpPr>
        <p:sp>
          <p:nvSpPr>
            <p:cNvPr name="Freeform 79" id="7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80" id="80"/>
          <p:cNvGrpSpPr/>
          <p:nvPr/>
        </p:nvGrpSpPr>
        <p:grpSpPr>
          <a:xfrm rot="0">
            <a:off x="11041380" y="6185916"/>
            <a:ext cx="2400300" cy="1714500"/>
            <a:chOff x="0" y="0"/>
            <a:chExt cx="3200400" cy="2286000"/>
          </a:xfrm>
        </p:grpSpPr>
        <p:sp>
          <p:nvSpPr>
            <p:cNvPr name="Freeform 81" id="8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82" id="82"/>
          <p:cNvGrpSpPr/>
          <p:nvPr/>
        </p:nvGrpSpPr>
        <p:grpSpPr>
          <a:xfrm rot="0">
            <a:off x="11041380" y="6121622"/>
            <a:ext cx="2400300" cy="1778794"/>
            <a:chOff x="0" y="0"/>
            <a:chExt cx="3200400" cy="2371725"/>
          </a:xfrm>
        </p:grpSpPr>
        <p:sp>
          <p:nvSpPr>
            <p:cNvPr name="Freeform 83" id="8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84" id="84"/>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85" id="85"/>
          <p:cNvGrpSpPr/>
          <p:nvPr/>
        </p:nvGrpSpPr>
        <p:grpSpPr>
          <a:xfrm rot="0">
            <a:off x="13510260" y="6185916"/>
            <a:ext cx="3771900" cy="1714500"/>
            <a:chOff x="0" y="0"/>
            <a:chExt cx="5029200" cy="2286000"/>
          </a:xfrm>
        </p:grpSpPr>
        <p:sp>
          <p:nvSpPr>
            <p:cNvPr name="Freeform 86" id="86"/>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87" id="87"/>
          <p:cNvGrpSpPr/>
          <p:nvPr/>
        </p:nvGrpSpPr>
        <p:grpSpPr>
          <a:xfrm rot="0">
            <a:off x="13510260" y="6157341"/>
            <a:ext cx="3771900" cy="1743075"/>
            <a:chOff x="0" y="0"/>
            <a:chExt cx="5029200" cy="2324100"/>
          </a:xfrm>
        </p:grpSpPr>
        <p:sp>
          <p:nvSpPr>
            <p:cNvPr name="Freeform 88" id="88"/>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89" id="89"/>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90" id="90"/>
          <p:cNvGrpSpPr/>
          <p:nvPr/>
        </p:nvGrpSpPr>
        <p:grpSpPr>
          <a:xfrm rot="0">
            <a:off x="822960" y="8092440"/>
            <a:ext cx="16637508" cy="1165860"/>
            <a:chOff x="0" y="0"/>
            <a:chExt cx="22183344" cy="1554480"/>
          </a:xfrm>
        </p:grpSpPr>
        <p:sp>
          <p:nvSpPr>
            <p:cNvPr name="Freeform 91" id="91"/>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sp>
      </p:grpSp>
      <p:grpSp>
        <p:nvGrpSpPr>
          <p:cNvPr name="Group 92" id="92"/>
          <p:cNvGrpSpPr/>
          <p:nvPr/>
        </p:nvGrpSpPr>
        <p:grpSpPr>
          <a:xfrm rot="0">
            <a:off x="1165860" y="8092440"/>
            <a:ext cx="15951708" cy="1165860"/>
            <a:chOff x="0" y="0"/>
            <a:chExt cx="21268944" cy="1554480"/>
          </a:xfrm>
        </p:grpSpPr>
        <p:sp>
          <p:nvSpPr>
            <p:cNvPr name="Freeform 93" id="93"/>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sp>
      </p:grpSp>
      <p:grpSp>
        <p:nvGrpSpPr>
          <p:cNvPr name="Group 94" id="94"/>
          <p:cNvGrpSpPr/>
          <p:nvPr/>
        </p:nvGrpSpPr>
        <p:grpSpPr>
          <a:xfrm rot="0">
            <a:off x="1165860" y="8063865"/>
            <a:ext cx="15951708" cy="1194435"/>
            <a:chOff x="0" y="0"/>
            <a:chExt cx="21268944" cy="1592580"/>
          </a:xfrm>
        </p:grpSpPr>
        <p:sp>
          <p:nvSpPr>
            <p:cNvPr name="Freeform 95" id="95"/>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223" r="0" b="-210223"/>
              </a:stretch>
            </a:blipFill>
          </p:spPr>
        </p:sp>
        <p:sp>
          <p:nvSpPr>
            <p:cNvPr name="TextBox 96" id="96"/>
            <p:cNvSpPr txBox="true"/>
            <p:nvPr/>
          </p:nvSpPr>
          <p:spPr>
            <a:xfrm>
              <a:off x="0" y="-38100"/>
              <a:ext cx="21268944" cy="16306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menafsirkan grafik/hasil simulasi, 1 responden bingung pada tampilan dua garis tuas. Saran: interpretasi otomatis, panduan penggunaan, chatbot.</a:t>
              </a:r>
            </a:p>
          </p:txBody>
        </p:sp>
      </p:grpSp>
      <p:sp>
        <p:nvSpPr>
          <p:cNvPr name="TextBox 97" id="9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pic>
        <p:nvPicPr>
          <p:cNvPr name="Picture 98" id="98"/>
          <p:cNvPicPr>
            <a:picLocks noChangeAspect="true"/>
          </p:cNvPicPr>
          <p:nvPr/>
        </p:nvPicPr>
        <p:blipFill>
          <a:blip r:embed="rId6"/>
          <a:stretch>
            <a:fillRect/>
          </a:stretch>
        </p:blipFill>
        <p:spPr>
          <a:xfrm rot="0">
            <a:off x="-128016" y="1883664"/>
            <a:ext cx="11411712" cy="6519672"/>
          </a:xfrm>
          <a:prstGeom prst="rect">
            <a:avLst/>
          </a:prstGeom>
        </p:spPr>
      </p:pic>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Keterbatasan dinyatakan terbuka; model dipakai untuk membandingkan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5349240" cy="5692140"/>
            <a:chOff x="0" y="0"/>
            <a:chExt cx="7132320" cy="7589520"/>
          </a:xfrm>
        </p:grpSpPr>
        <p:sp>
          <p:nvSpPr>
            <p:cNvPr name="Freeform 53" id="5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54" id="54"/>
          <p:cNvGrpSpPr/>
          <p:nvPr/>
        </p:nvGrpSpPr>
        <p:grpSpPr>
          <a:xfrm rot="0">
            <a:off x="822960" y="2400300"/>
            <a:ext cx="5349240" cy="822960"/>
            <a:chOff x="0" y="0"/>
            <a:chExt cx="7132320" cy="1097280"/>
          </a:xfrm>
        </p:grpSpPr>
        <p:sp>
          <p:nvSpPr>
            <p:cNvPr name="Freeform 55" id="5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56" id="56"/>
          <p:cNvGrpSpPr/>
          <p:nvPr/>
        </p:nvGrpSpPr>
        <p:grpSpPr>
          <a:xfrm rot="0">
            <a:off x="822960" y="2400300"/>
            <a:ext cx="5349240" cy="822960"/>
            <a:chOff x="0" y="0"/>
            <a:chExt cx="7132320" cy="1097280"/>
          </a:xfrm>
        </p:grpSpPr>
        <p:sp>
          <p:nvSpPr>
            <p:cNvPr name="Freeform 57" id="5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58" id="58"/>
          <p:cNvGrpSpPr/>
          <p:nvPr/>
        </p:nvGrpSpPr>
        <p:grpSpPr>
          <a:xfrm rot="0">
            <a:off x="822960" y="2371725"/>
            <a:ext cx="5349240" cy="851535"/>
            <a:chOff x="0" y="0"/>
            <a:chExt cx="7132320" cy="1135380"/>
          </a:xfrm>
        </p:grpSpPr>
        <p:sp>
          <p:nvSpPr>
            <p:cNvPr name="Freeform 59" id="5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60" id="6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61" id="61"/>
          <p:cNvSpPr txBox="true"/>
          <p:nvPr/>
        </p:nvSpPr>
        <p:spPr>
          <a:xfrm rot="0">
            <a:off x="1097280"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Patahan metode wisnus 2018/2019 (faktor sambung 2,22–2,38)</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Lahan terbangun berderau (−27% dalam dua tahun)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62" id="62"/>
          <p:cNvGrpSpPr/>
          <p:nvPr/>
        </p:nvGrpSpPr>
        <p:grpSpPr>
          <a:xfrm rot="0">
            <a:off x="6467094" y="2400300"/>
            <a:ext cx="5349240" cy="5692140"/>
            <a:chOff x="0" y="0"/>
            <a:chExt cx="7132320" cy="7589520"/>
          </a:xfrm>
        </p:grpSpPr>
        <p:sp>
          <p:nvSpPr>
            <p:cNvPr name="Freeform 63" id="6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64" id="64"/>
          <p:cNvGrpSpPr/>
          <p:nvPr/>
        </p:nvGrpSpPr>
        <p:grpSpPr>
          <a:xfrm rot="0">
            <a:off x="6467094" y="240030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66" id="66"/>
          <p:cNvGrpSpPr/>
          <p:nvPr/>
        </p:nvGrpSpPr>
        <p:grpSpPr>
          <a:xfrm rot="0">
            <a:off x="6467094" y="2400300"/>
            <a:ext cx="5349240" cy="822960"/>
            <a:chOff x="0" y="0"/>
            <a:chExt cx="7132320" cy="1097280"/>
          </a:xfrm>
        </p:grpSpPr>
        <p:sp>
          <p:nvSpPr>
            <p:cNvPr name="Freeform 67" id="6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8" id="68"/>
          <p:cNvGrpSpPr/>
          <p:nvPr/>
        </p:nvGrpSpPr>
        <p:grpSpPr>
          <a:xfrm rot="0">
            <a:off x="6467094" y="2371725"/>
            <a:ext cx="5349240" cy="851535"/>
            <a:chOff x="0" y="0"/>
            <a:chExt cx="7132320" cy="1135380"/>
          </a:xfrm>
        </p:grpSpPr>
        <p:sp>
          <p:nvSpPr>
            <p:cNvPr name="Freeform 69" id="6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70" id="7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71" id="71"/>
          <p:cNvSpPr txBox="true"/>
          <p:nvPr/>
        </p:nvSpPr>
        <p:spPr>
          <a:xfrm rot="0">
            <a:off x="6741414"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Tanpa guncangan, harga, promosi, musim, dan lingkungan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72" id="72"/>
          <p:cNvGrpSpPr/>
          <p:nvPr/>
        </p:nvGrpSpPr>
        <p:grpSpPr>
          <a:xfrm rot="0">
            <a:off x="12111228" y="2400300"/>
            <a:ext cx="5349240" cy="5692140"/>
            <a:chOff x="0" y="0"/>
            <a:chExt cx="7132320" cy="7589520"/>
          </a:xfrm>
        </p:grpSpPr>
        <p:sp>
          <p:nvSpPr>
            <p:cNvPr name="Freeform 73" id="7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74" id="74"/>
          <p:cNvGrpSpPr/>
          <p:nvPr/>
        </p:nvGrpSpPr>
        <p:grpSpPr>
          <a:xfrm rot="0">
            <a:off x="12111228" y="2400300"/>
            <a:ext cx="5349240" cy="822960"/>
            <a:chOff x="0" y="0"/>
            <a:chExt cx="7132320" cy="1097280"/>
          </a:xfrm>
        </p:grpSpPr>
        <p:sp>
          <p:nvSpPr>
            <p:cNvPr name="Freeform 75" id="7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76" id="76"/>
          <p:cNvGrpSpPr/>
          <p:nvPr/>
        </p:nvGrpSpPr>
        <p:grpSpPr>
          <a:xfrm rot="0">
            <a:off x="12111228" y="2400300"/>
            <a:ext cx="5349240" cy="822960"/>
            <a:chOff x="0" y="0"/>
            <a:chExt cx="7132320" cy="1097280"/>
          </a:xfrm>
        </p:grpSpPr>
        <p:sp>
          <p:nvSpPr>
            <p:cNvPr name="Freeform 77" id="7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78" id="78"/>
          <p:cNvGrpSpPr/>
          <p:nvPr/>
        </p:nvGrpSpPr>
        <p:grpSpPr>
          <a:xfrm rot="0">
            <a:off x="12111228" y="2371725"/>
            <a:ext cx="5349240" cy="851535"/>
            <a:chOff x="0" y="0"/>
            <a:chExt cx="7132320" cy="1135380"/>
          </a:xfrm>
        </p:grpSpPr>
        <p:sp>
          <p:nvSpPr>
            <p:cNvPr name="Freeform 79" id="7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80" id="8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81" id="81"/>
          <p:cNvSpPr txBox="true"/>
          <p:nvPr/>
        </p:nvSpPr>
        <p:spPr>
          <a:xfrm rot="0">
            <a:off x="12385548"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Rasio LPD/LPE: asumsi, tidak teridentifikasi dari data</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Nilai tuas dan ambang kepadatan 2,0: ketetapan peneliti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82" id="82"/>
          <p:cNvGrpSpPr/>
          <p:nvPr/>
        </p:nvGrpSpPr>
        <p:grpSpPr>
          <a:xfrm rot="0">
            <a:off x="822960" y="8366760"/>
            <a:ext cx="16637508" cy="891540"/>
            <a:chOff x="0" y="0"/>
            <a:chExt cx="22183344" cy="1188720"/>
          </a:xfrm>
        </p:grpSpPr>
        <p:sp>
          <p:nvSpPr>
            <p:cNvPr name="Freeform 83" id="8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sp>
      </p:grpSp>
      <p:grpSp>
        <p:nvGrpSpPr>
          <p:cNvPr name="Group 84" id="84"/>
          <p:cNvGrpSpPr/>
          <p:nvPr/>
        </p:nvGrpSpPr>
        <p:grpSpPr>
          <a:xfrm rot="0">
            <a:off x="1234440" y="8366760"/>
            <a:ext cx="15814548" cy="891540"/>
            <a:chOff x="0" y="0"/>
            <a:chExt cx="21086064" cy="1188720"/>
          </a:xfrm>
        </p:grpSpPr>
        <p:sp>
          <p:nvSpPr>
            <p:cNvPr name="Freeform 85" id="8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sp>
      </p:grpSp>
      <p:grpSp>
        <p:nvGrpSpPr>
          <p:cNvPr name="Group 86" id="86"/>
          <p:cNvGrpSpPr/>
          <p:nvPr/>
        </p:nvGrpSpPr>
        <p:grpSpPr>
          <a:xfrm rot="0">
            <a:off x="1234440" y="8338185"/>
            <a:ext cx="15814548" cy="920115"/>
            <a:chOff x="0" y="0"/>
            <a:chExt cx="21086064" cy="1226820"/>
          </a:xfrm>
        </p:grpSpPr>
        <p:sp>
          <p:nvSpPr>
            <p:cNvPr name="Freeform 87" id="87"/>
            <p:cNvSpPr/>
            <p:nvPr/>
          </p:nvSpPr>
          <p:spPr>
            <a:xfrm flipH="false" flipV="false" rot="0">
              <a:off x="0" y="0"/>
              <a:ext cx="21086065" cy="1226820"/>
            </a:xfrm>
            <a:custGeom>
              <a:avLst/>
              <a:gdLst/>
              <a:ahLst/>
              <a:cxnLst/>
              <a:rect r="r" b="b" t="t" l="l"/>
              <a:pathLst>
                <a:path h="1226820" w="21086065">
                  <a:moveTo>
                    <a:pt x="0" y="0"/>
                  </a:moveTo>
                  <a:lnTo>
                    <a:pt x="21086065" y="0"/>
                  </a:lnTo>
                  <a:lnTo>
                    <a:pt x="21086065" y="1226820"/>
                  </a:lnTo>
                  <a:lnTo>
                    <a:pt x="0" y="1226820"/>
                  </a:lnTo>
                  <a:close/>
                </a:path>
              </a:pathLst>
            </a:custGeom>
            <a:blipFill>
              <a:blip r:embed="rId5">
                <a:alphaModFix amt="0"/>
              </a:blip>
              <a:stretch>
                <a:fillRect l="0" t="-284900" r="0" b="-284900"/>
              </a:stretch>
            </a:blipFill>
          </p:spPr>
        </p:sp>
        <p:sp>
          <p:nvSpPr>
            <p:cNvPr name="TextBox 88" id="88"/>
            <p:cNvSpPr txBox="true"/>
            <p:nvPr/>
          </p:nvSpPr>
          <p:spPr>
            <a:xfrm>
              <a:off x="0" y="-38100"/>
              <a:ext cx="21086064" cy="12649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89" id="8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Kesimpulan: tiga tujuan penelitian tercapai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4800600" cy="1851660"/>
            <a:chOff x="0" y="0"/>
            <a:chExt cx="6400800" cy="2468880"/>
          </a:xfrm>
        </p:grpSpPr>
        <p:sp>
          <p:nvSpPr>
            <p:cNvPr name="Freeform 53" id="53"/>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54" id="54"/>
          <p:cNvSpPr txBox="true"/>
          <p:nvPr/>
        </p:nvSpPr>
        <p:spPr>
          <a:xfrm rot="0">
            <a:off x="1165860" y="25984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55" id="55"/>
          <p:cNvSpPr txBox="true"/>
          <p:nvPr/>
        </p:nvSpPr>
        <p:spPr>
          <a:xfrm rot="0">
            <a:off x="1165860" y="30784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56" id="56"/>
          <p:cNvSpPr/>
          <p:nvPr/>
        </p:nvSpPr>
        <p:spPr>
          <a:xfrm rot="154080">
            <a:off x="5647611" y="3295460"/>
            <a:ext cx="637689" cy="0"/>
          </a:xfrm>
          <a:prstGeom prst="line">
            <a:avLst/>
          </a:prstGeom>
          <a:ln cap="rnd" w="19050">
            <a:solidFill>
              <a:srgbClr val="39C0D3"/>
            </a:solidFill>
            <a:prstDash val="solid"/>
            <a:headEnd type="none" len="sm" w="sm"/>
            <a:tailEnd type="triangle" len="med" w="lg"/>
          </a:ln>
        </p:spPr>
      </p:sp>
      <p:grpSp>
        <p:nvGrpSpPr>
          <p:cNvPr name="Group 57" id="57"/>
          <p:cNvGrpSpPr/>
          <p:nvPr/>
        </p:nvGrpSpPr>
        <p:grpSpPr>
          <a:xfrm rot="0">
            <a:off x="6309360" y="2400300"/>
            <a:ext cx="11151108" cy="1851660"/>
            <a:chOff x="0" y="0"/>
            <a:chExt cx="14868144" cy="2468880"/>
          </a:xfrm>
        </p:grpSpPr>
        <p:sp>
          <p:nvSpPr>
            <p:cNvPr name="Freeform 58" id="58"/>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59" id="59"/>
          <p:cNvGrpSpPr/>
          <p:nvPr/>
        </p:nvGrpSpPr>
        <p:grpSpPr>
          <a:xfrm rot="0">
            <a:off x="6720840" y="2400300"/>
            <a:ext cx="10355580" cy="1851660"/>
            <a:chOff x="0" y="0"/>
            <a:chExt cx="13807440" cy="2468880"/>
          </a:xfrm>
        </p:grpSpPr>
        <p:sp>
          <p:nvSpPr>
            <p:cNvPr name="Freeform 60" id="60"/>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61" id="61"/>
          <p:cNvGrpSpPr/>
          <p:nvPr/>
        </p:nvGrpSpPr>
        <p:grpSpPr>
          <a:xfrm rot="0">
            <a:off x="6720840" y="2371725"/>
            <a:ext cx="10355580" cy="1880235"/>
            <a:chOff x="0" y="0"/>
            <a:chExt cx="13807440" cy="2506980"/>
          </a:xfrm>
        </p:grpSpPr>
        <p:sp>
          <p:nvSpPr>
            <p:cNvPr name="Freeform 62" id="62"/>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63" id="63"/>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loop umpan balik — teradaptasi dari Mai &amp; Smith (2018) ke ketersediaan data resmi Indonesia.</a:t>
              </a:r>
            </a:p>
          </p:txBody>
        </p:sp>
      </p:grpSp>
      <p:grpSp>
        <p:nvGrpSpPr>
          <p:cNvPr name="Group 64" id="64"/>
          <p:cNvGrpSpPr/>
          <p:nvPr/>
        </p:nvGrpSpPr>
        <p:grpSpPr>
          <a:xfrm rot="0">
            <a:off x="822960" y="4457700"/>
            <a:ext cx="4800600" cy="1851660"/>
            <a:chOff x="0" y="0"/>
            <a:chExt cx="6400800" cy="2468880"/>
          </a:xfrm>
        </p:grpSpPr>
        <p:sp>
          <p:nvSpPr>
            <p:cNvPr name="Freeform 65" id="6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66" id="66"/>
          <p:cNvSpPr txBox="true"/>
          <p:nvPr/>
        </p:nvSpPr>
        <p:spPr>
          <a:xfrm rot="0">
            <a:off x="1165860" y="46558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67" id="67"/>
          <p:cNvSpPr txBox="true"/>
          <p:nvPr/>
        </p:nvSpPr>
        <p:spPr>
          <a:xfrm rot="0">
            <a:off x="1165860" y="51358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68" id="68"/>
          <p:cNvSpPr/>
          <p:nvPr/>
        </p:nvSpPr>
        <p:spPr>
          <a:xfrm rot="154080">
            <a:off x="5647611" y="5352860"/>
            <a:ext cx="637689"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309360" y="4457700"/>
            <a:ext cx="11151108" cy="1851660"/>
            <a:chOff x="0" y="0"/>
            <a:chExt cx="14868144" cy="2468880"/>
          </a:xfrm>
        </p:grpSpPr>
        <p:sp>
          <p:nvSpPr>
            <p:cNvPr name="Freeform 70" id="7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71" id="71"/>
          <p:cNvGrpSpPr/>
          <p:nvPr/>
        </p:nvGrpSpPr>
        <p:grpSpPr>
          <a:xfrm rot="0">
            <a:off x="6720840" y="4457700"/>
            <a:ext cx="10355580" cy="1851660"/>
            <a:chOff x="0" y="0"/>
            <a:chExt cx="13807440" cy="2468880"/>
          </a:xfrm>
        </p:grpSpPr>
        <p:sp>
          <p:nvSpPr>
            <p:cNvPr name="Freeform 72" id="7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73" id="73"/>
          <p:cNvGrpSpPr/>
          <p:nvPr/>
        </p:nvGrpSpPr>
        <p:grpSpPr>
          <a:xfrm rot="0">
            <a:off x="6720840" y="4429125"/>
            <a:ext cx="10355580" cy="1880235"/>
            <a:chOff x="0" y="0"/>
            <a:chExt cx="13807440" cy="2506980"/>
          </a:xfrm>
        </p:grpSpPr>
        <p:sp>
          <p:nvSpPr>
            <p:cNvPr name="Freeform 74" id="7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75" id="75"/>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Valid secara struktural dan memadai pada tingkat subsistem; kalibrasi tidak mengubah parameter apa pun. Tiga skenario: tidak ada yang unggul di semua dimensi, dan pola ini kokoh terhadap ketidakpastian parameter terbesar.</a:t>
              </a:r>
            </a:p>
          </p:txBody>
        </p:sp>
      </p:grpSp>
      <p:grpSp>
        <p:nvGrpSpPr>
          <p:cNvPr name="Group 76" id="76"/>
          <p:cNvGrpSpPr/>
          <p:nvPr/>
        </p:nvGrpSpPr>
        <p:grpSpPr>
          <a:xfrm rot="0">
            <a:off x="822960" y="6515100"/>
            <a:ext cx="4800600" cy="1851660"/>
            <a:chOff x="0" y="0"/>
            <a:chExt cx="6400800" cy="2468880"/>
          </a:xfrm>
        </p:grpSpPr>
        <p:sp>
          <p:nvSpPr>
            <p:cNvPr name="Freeform 77" id="7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78" id="78"/>
          <p:cNvSpPr txBox="true"/>
          <p:nvPr/>
        </p:nvSpPr>
        <p:spPr>
          <a:xfrm rot="0">
            <a:off x="1165860" y="67132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79" id="79"/>
          <p:cNvSpPr txBox="true"/>
          <p:nvPr/>
        </p:nvSpPr>
        <p:spPr>
          <a:xfrm rot="0">
            <a:off x="1165860" y="71932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80" id="80"/>
          <p:cNvSpPr/>
          <p:nvPr/>
        </p:nvSpPr>
        <p:spPr>
          <a:xfrm rot="154080">
            <a:off x="5647611" y="7410260"/>
            <a:ext cx="637689"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6309360" y="6515100"/>
            <a:ext cx="11151108" cy="1851660"/>
            <a:chOff x="0" y="0"/>
            <a:chExt cx="14868144" cy="2468880"/>
          </a:xfrm>
        </p:grpSpPr>
        <p:sp>
          <p:nvSpPr>
            <p:cNvPr name="Freeform 82" id="8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83" id="83"/>
          <p:cNvGrpSpPr/>
          <p:nvPr/>
        </p:nvGrpSpPr>
        <p:grpSpPr>
          <a:xfrm rot="0">
            <a:off x="6720840" y="6515100"/>
            <a:ext cx="10355580" cy="1851660"/>
            <a:chOff x="0" y="0"/>
            <a:chExt cx="13807440" cy="2468880"/>
          </a:xfrm>
        </p:grpSpPr>
        <p:sp>
          <p:nvSpPr>
            <p:cNvPr name="Freeform 84" id="8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85" id="85"/>
          <p:cNvGrpSpPr/>
          <p:nvPr/>
        </p:nvGrpSpPr>
        <p:grpSpPr>
          <a:xfrm rot="0">
            <a:off x="6720840" y="6486525"/>
            <a:ext cx="10355580" cy="1880235"/>
            <a:chOff x="0" y="0"/>
            <a:chExt cx="13807440" cy="2506980"/>
          </a:xfrm>
        </p:grpSpPr>
        <p:sp>
          <p:nvSpPr>
            <p:cNvPr name="Freeform 86" id="8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87" id="87"/>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88" id="88"/>
          <p:cNvGrpSpPr/>
          <p:nvPr/>
        </p:nvGrpSpPr>
        <p:grpSpPr>
          <a:xfrm rot="0">
            <a:off x="822960" y="8641080"/>
            <a:ext cx="16637508" cy="685800"/>
            <a:chOff x="0" y="0"/>
            <a:chExt cx="22183344" cy="914400"/>
          </a:xfrm>
        </p:grpSpPr>
        <p:sp>
          <p:nvSpPr>
            <p:cNvPr name="Freeform 89" id="8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90" id="90"/>
          <p:cNvGrpSpPr/>
          <p:nvPr/>
        </p:nvGrpSpPr>
        <p:grpSpPr>
          <a:xfrm rot="0">
            <a:off x="1234440" y="8641080"/>
            <a:ext cx="15814548" cy="685800"/>
            <a:chOff x="0" y="0"/>
            <a:chExt cx="21086064" cy="914400"/>
          </a:xfrm>
        </p:grpSpPr>
        <p:sp>
          <p:nvSpPr>
            <p:cNvPr name="Freeform 91" id="9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sp>
      </p:grpSp>
      <p:grpSp>
        <p:nvGrpSpPr>
          <p:cNvPr name="Group 92" id="92"/>
          <p:cNvGrpSpPr/>
          <p:nvPr/>
        </p:nvGrpSpPr>
        <p:grpSpPr>
          <a:xfrm rot="0">
            <a:off x="1234440" y="8612505"/>
            <a:ext cx="15814548" cy="714375"/>
            <a:chOff x="0" y="0"/>
            <a:chExt cx="21086064" cy="952500"/>
          </a:xfrm>
        </p:grpSpPr>
        <p:sp>
          <p:nvSpPr>
            <p:cNvPr name="Freeform 93" id="93"/>
            <p:cNvSpPr/>
            <p:nvPr/>
          </p:nvSpPr>
          <p:spPr>
            <a:xfrm flipH="false" flipV="false" rot="0">
              <a:off x="0" y="0"/>
              <a:ext cx="21086065" cy="952500"/>
            </a:xfrm>
            <a:custGeom>
              <a:avLst/>
              <a:gdLst/>
              <a:ahLst/>
              <a:cxnLst/>
              <a:rect r="r" b="b" t="t" l="l"/>
              <a:pathLst>
                <a:path h="952500" w="21086065">
                  <a:moveTo>
                    <a:pt x="0" y="0"/>
                  </a:moveTo>
                  <a:lnTo>
                    <a:pt x="21086065" y="0"/>
                  </a:lnTo>
                  <a:lnTo>
                    <a:pt x="21086065" y="952500"/>
                  </a:lnTo>
                  <a:lnTo>
                    <a:pt x="0" y="952500"/>
                  </a:lnTo>
                  <a:close/>
                </a:path>
              </a:pathLst>
            </a:custGeom>
            <a:blipFill>
              <a:blip r:embed="rId5">
                <a:alphaModFix amt="0"/>
              </a:blip>
              <a:stretch>
                <a:fillRect l="0" t="-381351" r="0" b="-381351"/>
              </a:stretch>
            </a:blipFill>
          </p:spPr>
        </p:sp>
        <p:sp>
          <p:nvSpPr>
            <p:cNvPr name="TextBox 94" id="94"/>
            <p:cNvSpPr txBox="true"/>
            <p:nvPr/>
          </p:nvSpPr>
          <p:spPr>
            <a:xfrm>
              <a:off x="0" y="-38100"/>
              <a:ext cx="21086064" cy="9906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tervalidasi mampu membandingkan skenario kebijakan secara kuantitatif beserta tingkat kekokohannya.</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Saran untuk penelitian dan pengembangan lanjutan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Latar Belakang</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&amp; Kebaruan</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Hasil &amp; Pembahasan</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Aplikasi</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65" id="65"/>
          <p:cNvSpPr txBox="true"/>
          <p:nvPr/>
        </p:nvSpPr>
        <p:spPr>
          <a:xfrm rot="0">
            <a:off x="1234440" y="3470910"/>
            <a:ext cx="7406640" cy="122872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empiris parameter berstatus ketetapan, terutama rasio laju penurunan/pertumbuhan wisatawan dan ambang kepadatan, melalui survei primer (niat berkunjung kembali, daya dukung sosial) di destinasi utama DIY.</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mekanisme guncangan eksternal (mis. pandemi); pisahkan data pembangunan ODTW menurut sumber pembiayaan bersama Dinas Pariwisata dan Bappeda DIY; verifikasi silang Dynamic World pada tahun berderau tertinggi.</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tuas kebijakan mencerminkan kesepakatan pihak yang berwenang menerapkannya.</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 · Nilai 35 parameter menurut jenis sumbernya</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331720"/>
            <a:ext cx="3154680" cy="6858000"/>
            <a:chOff x="0" y="0"/>
            <a:chExt cx="4206240" cy="9144000"/>
          </a:xfrm>
        </p:grpSpPr>
        <p:sp>
          <p:nvSpPr>
            <p:cNvPr name="Freeform 18" id="1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19" id="19"/>
          <p:cNvSpPr txBox="true"/>
          <p:nvPr/>
        </p:nvSpPr>
        <p:spPr>
          <a:xfrm rot="0">
            <a:off x="1028700"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0" id="20"/>
          <p:cNvGrpSpPr/>
          <p:nvPr/>
        </p:nvGrpSpPr>
        <p:grpSpPr>
          <a:xfrm rot="0">
            <a:off x="1028700" y="3236976"/>
            <a:ext cx="1783080" cy="384048"/>
            <a:chOff x="0" y="0"/>
            <a:chExt cx="2377440" cy="512064"/>
          </a:xfrm>
        </p:grpSpPr>
        <p:sp>
          <p:nvSpPr>
            <p:cNvPr name="Freeform 21" id="2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22" id="22"/>
          <p:cNvGrpSpPr/>
          <p:nvPr/>
        </p:nvGrpSpPr>
        <p:grpSpPr>
          <a:xfrm rot="0">
            <a:off x="1028700" y="3236976"/>
            <a:ext cx="1783080" cy="384048"/>
            <a:chOff x="0" y="0"/>
            <a:chExt cx="2377440" cy="512064"/>
          </a:xfrm>
        </p:grpSpPr>
        <p:sp>
          <p:nvSpPr>
            <p:cNvPr name="Freeform 23" id="2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24" id="24"/>
          <p:cNvGrpSpPr/>
          <p:nvPr/>
        </p:nvGrpSpPr>
        <p:grpSpPr>
          <a:xfrm rot="0">
            <a:off x="1028700" y="3208401"/>
            <a:ext cx="1783080" cy="412623"/>
            <a:chOff x="0" y="0"/>
            <a:chExt cx="2377440" cy="550164"/>
          </a:xfrm>
        </p:grpSpPr>
        <p:sp>
          <p:nvSpPr>
            <p:cNvPr name="Freeform 25" id="2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26" id="26"/>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27" id="27"/>
          <p:cNvSpPr txBox="true"/>
          <p:nvPr/>
        </p:nvSpPr>
        <p:spPr>
          <a:xfrm rot="0">
            <a:off x="1028700"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TPG: 2,07</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28" id="28"/>
          <p:cNvGrpSpPr/>
          <p:nvPr/>
        </p:nvGrpSpPr>
        <p:grpSpPr>
          <a:xfrm rot="0">
            <a:off x="4197096" y="2331720"/>
            <a:ext cx="3154680" cy="6858000"/>
            <a:chOff x="0" y="0"/>
            <a:chExt cx="4206240" cy="9144000"/>
          </a:xfrm>
        </p:grpSpPr>
        <p:sp>
          <p:nvSpPr>
            <p:cNvPr name="Freeform 29" id="29"/>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30" id="30"/>
          <p:cNvSpPr txBox="true"/>
          <p:nvPr/>
        </p:nvSpPr>
        <p:spPr>
          <a:xfrm rot="0">
            <a:off x="4402836"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Identitas stok-aliran</a:t>
            </a:r>
          </a:p>
        </p:txBody>
      </p:sp>
      <p:grpSp>
        <p:nvGrpSpPr>
          <p:cNvPr name="Group 31" id="31"/>
          <p:cNvGrpSpPr/>
          <p:nvPr/>
        </p:nvGrpSpPr>
        <p:grpSpPr>
          <a:xfrm rot="0">
            <a:off x="4402836" y="3236976"/>
            <a:ext cx="1783080" cy="384048"/>
            <a:chOff x="0" y="0"/>
            <a:chExt cx="2377440" cy="512064"/>
          </a:xfrm>
        </p:grpSpPr>
        <p:sp>
          <p:nvSpPr>
            <p:cNvPr name="Freeform 32" id="32"/>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3" id="33"/>
          <p:cNvGrpSpPr/>
          <p:nvPr/>
        </p:nvGrpSpPr>
        <p:grpSpPr>
          <a:xfrm rot="0">
            <a:off x="4402836" y="3236976"/>
            <a:ext cx="1783080" cy="384048"/>
            <a:chOff x="0" y="0"/>
            <a:chExt cx="2377440" cy="512064"/>
          </a:xfrm>
        </p:grpSpPr>
        <p:sp>
          <p:nvSpPr>
            <p:cNvPr name="Freeform 34" id="34"/>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5" id="35"/>
          <p:cNvGrpSpPr/>
          <p:nvPr/>
        </p:nvGrpSpPr>
        <p:grpSpPr>
          <a:xfrm rot="0">
            <a:off x="4402836" y="3208401"/>
            <a:ext cx="1783080" cy="412623"/>
            <a:chOff x="0" y="0"/>
            <a:chExt cx="2377440" cy="550164"/>
          </a:xfrm>
        </p:grpSpPr>
        <p:sp>
          <p:nvSpPr>
            <p:cNvPr name="Freeform 36" id="36"/>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37" id="37"/>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38" id="38"/>
          <p:cNvSpPr txBox="true"/>
          <p:nvPr/>
        </p:nvSpPr>
        <p:spPr>
          <a:xfrm rot="0">
            <a:off x="4402836"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LPE: 0,27726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LPD: 0,207945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TPK ambang: 0,275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39" id="39"/>
          <p:cNvGrpSpPr/>
          <p:nvPr/>
        </p:nvGrpSpPr>
        <p:grpSpPr>
          <a:xfrm rot="0">
            <a:off x="7571232" y="2331720"/>
            <a:ext cx="3154680" cy="6858000"/>
            <a:chOff x="0" y="0"/>
            <a:chExt cx="4206240" cy="9144000"/>
          </a:xfrm>
        </p:grpSpPr>
        <p:sp>
          <p:nvSpPr>
            <p:cNvPr name="Freeform 40" id="40"/>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1" id="41"/>
          <p:cNvSpPr txBox="true"/>
          <p:nvPr/>
        </p:nvSpPr>
        <p:spPr>
          <a:xfrm rot="0">
            <a:off x="7776972"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42" id="42"/>
          <p:cNvGrpSpPr/>
          <p:nvPr/>
        </p:nvGrpSpPr>
        <p:grpSpPr>
          <a:xfrm rot="0">
            <a:off x="7776972" y="3236976"/>
            <a:ext cx="1783080" cy="384048"/>
            <a:chOff x="0" y="0"/>
            <a:chExt cx="2377440" cy="512064"/>
          </a:xfrm>
        </p:grpSpPr>
        <p:sp>
          <p:nvSpPr>
            <p:cNvPr name="Freeform 43" id="43"/>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44" id="44"/>
          <p:cNvGrpSpPr/>
          <p:nvPr/>
        </p:nvGrpSpPr>
        <p:grpSpPr>
          <a:xfrm rot="0">
            <a:off x="7776972" y="3236976"/>
            <a:ext cx="1783080" cy="384048"/>
            <a:chOff x="0" y="0"/>
            <a:chExt cx="2377440" cy="512064"/>
          </a:xfrm>
        </p:grpSpPr>
        <p:sp>
          <p:nvSpPr>
            <p:cNvPr name="Freeform 45" id="45"/>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6" id="46"/>
          <p:cNvGrpSpPr/>
          <p:nvPr/>
        </p:nvGrpSpPr>
        <p:grpSpPr>
          <a:xfrm rot="0">
            <a:off x="7776972" y="3208401"/>
            <a:ext cx="1783080" cy="412623"/>
            <a:chOff x="0" y="0"/>
            <a:chExt cx="2377440" cy="550164"/>
          </a:xfrm>
        </p:grpSpPr>
        <p:sp>
          <p:nvSpPr>
            <p:cNvPr name="Freeform 47" id="47"/>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48" id="48"/>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49" id="49"/>
          <p:cNvSpPr txBox="true"/>
          <p:nvPr/>
        </p:nvSpPr>
        <p:spPr>
          <a:xfrm rot="0">
            <a:off x="7776972"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50" id="50"/>
          <p:cNvGrpSpPr/>
          <p:nvPr/>
        </p:nvGrpSpPr>
        <p:grpSpPr>
          <a:xfrm rot="0">
            <a:off x="10945368" y="2331720"/>
            <a:ext cx="3154680" cy="6858000"/>
            <a:chOff x="0" y="0"/>
            <a:chExt cx="4206240" cy="9144000"/>
          </a:xfrm>
        </p:grpSpPr>
        <p:sp>
          <p:nvSpPr>
            <p:cNvPr name="Freeform 51" id="5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2" id="52"/>
          <p:cNvSpPr txBox="true"/>
          <p:nvPr/>
        </p:nvSpPr>
        <p:spPr>
          <a:xfrm rot="0">
            <a:off x="11151108"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53" id="53"/>
          <p:cNvGrpSpPr/>
          <p:nvPr/>
        </p:nvGrpSpPr>
        <p:grpSpPr>
          <a:xfrm rot="0">
            <a:off x="11151108" y="3236976"/>
            <a:ext cx="1783080" cy="384048"/>
            <a:chOff x="0" y="0"/>
            <a:chExt cx="2377440" cy="512064"/>
          </a:xfrm>
        </p:grpSpPr>
        <p:sp>
          <p:nvSpPr>
            <p:cNvPr name="Freeform 54" id="5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55" id="55"/>
          <p:cNvGrpSpPr/>
          <p:nvPr/>
        </p:nvGrpSpPr>
        <p:grpSpPr>
          <a:xfrm rot="0">
            <a:off x="11151108" y="3236976"/>
            <a:ext cx="1783080" cy="384048"/>
            <a:chOff x="0" y="0"/>
            <a:chExt cx="2377440" cy="512064"/>
          </a:xfrm>
        </p:grpSpPr>
        <p:sp>
          <p:nvSpPr>
            <p:cNvPr name="Freeform 56" id="5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57" id="57"/>
          <p:cNvGrpSpPr/>
          <p:nvPr/>
        </p:nvGrpSpPr>
        <p:grpSpPr>
          <a:xfrm rot="0">
            <a:off x="11151108" y="3208401"/>
            <a:ext cx="1783080" cy="412623"/>
            <a:chOff x="0" y="0"/>
            <a:chExt cx="2377440" cy="550164"/>
          </a:xfrm>
        </p:grpSpPr>
        <p:sp>
          <p:nvSpPr>
            <p:cNvPr name="Freeform 58" id="5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59" id="59"/>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60" id="60"/>
          <p:cNvSpPr txBox="true"/>
          <p:nvPr/>
        </p:nvSpPr>
        <p:spPr>
          <a:xfrm rot="0">
            <a:off x="11151108"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61" id="61"/>
          <p:cNvGrpSpPr/>
          <p:nvPr/>
        </p:nvGrpSpPr>
        <p:grpSpPr>
          <a:xfrm rot="0">
            <a:off x="14319504" y="2331720"/>
            <a:ext cx="3154680" cy="6858000"/>
            <a:chOff x="0" y="0"/>
            <a:chExt cx="4206240" cy="9144000"/>
          </a:xfrm>
        </p:grpSpPr>
        <p:sp>
          <p:nvSpPr>
            <p:cNvPr name="Freeform 62" id="6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63" id="63"/>
          <p:cNvSpPr txBox="true"/>
          <p:nvPr/>
        </p:nvSpPr>
        <p:spPr>
          <a:xfrm rot="0">
            <a:off x="14525244"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tuas</a:t>
            </a:r>
          </a:p>
        </p:txBody>
      </p:sp>
      <p:grpSp>
        <p:nvGrpSpPr>
          <p:cNvPr name="Group 64" id="64"/>
          <p:cNvGrpSpPr/>
          <p:nvPr/>
        </p:nvGrpSpPr>
        <p:grpSpPr>
          <a:xfrm rot="0">
            <a:off x="14525244" y="3236976"/>
            <a:ext cx="1783080" cy="384048"/>
            <a:chOff x="0" y="0"/>
            <a:chExt cx="2377440" cy="512064"/>
          </a:xfrm>
        </p:grpSpPr>
        <p:sp>
          <p:nvSpPr>
            <p:cNvPr name="Freeform 65" id="6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66" id="66"/>
          <p:cNvGrpSpPr/>
          <p:nvPr/>
        </p:nvGrpSpPr>
        <p:grpSpPr>
          <a:xfrm rot="0">
            <a:off x="14525244" y="3236976"/>
            <a:ext cx="1783080" cy="384048"/>
            <a:chOff x="0" y="0"/>
            <a:chExt cx="2377440" cy="512064"/>
          </a:xfrm>
        </p:grpSpPr>
        <p:sp>
          <p:nvSpPr>
            <p:cNvPr name="Freeform 67" id="6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8" id="68"/>
          <p:cNvGrpSpPr/>
          <p:nvPr/>
        </p:nvGrpSpPr>
        <p:grpSpPr>
          <a:xfrm rot="0">
            <a:off x="14525244" y="3208401"/>
            <a:ext cx="1783080" cy="412623"/>
            <a:chOff x="0" y="0"/>
            <a:chExt cx="2377440" cy="550164"/>
          </a:xfrm>
        </p:grpSpPr>
        <p:sp>
          <p:nvSpPr>
            <p:cNvPr name="Freeform 69" id="6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70" id="70"/>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71" id="71"/>
          <p:cNvSpPr txBox="true"/>
          <p:nvPr/>
        </p:nvSpPr>
        <p:spPr>
          <a:xfrm rot="0">
            <a:off x="14525244"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72" id="7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Estimasi ODTW dengan NTL: validasi LOOCV dan selang prediksi</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932688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18" id="18"/>
          <p:cNvSpPr txBox="true"/>
          <p:nvPr/>
        </p:nvSpPr>
        <p:spPr>
          <a:xfrm rot="0">
            <a:off x="10698480" y="2236470"/>
            <a:ext cx="6761988"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19" id="19"/>
          <p:cNvGraphicFramePr>
            <a:graphicFrameLocks noGrp="true"/>
          </p:cNvGraphicFramePr>
          <p:nvPr/>
        </p:nvGraphicFramePr>
        <p:xfrm>
          <a:off x="10698480" y="2880360"/>
          <a:ext cx="6705600" cy="2857500"/>
        </p:xfrm>
        <a:graphic>
          <a:graphicData uri="http://schemas.openxmlformats.org/drawingml/2006/table">
            <a:tbl>
              <a:tblPr/>
              <a:tblGrid>
                <a:gridCol w="1096825"/>
                <a:gridCol w="1096825"/>
                <a:gridCol w="1359508"/>
                <a:gridCol w="1622191"/>
                <a:gridCol w="1530251"/>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0" id="20"/>
          <p:cNvGrpSpPr/>
          <p:nvPr/>
        </p:nvGrpSpPr>
        <p:grpSpPr>
          <a:xfrm rot="0">
            <a:off x="10698480" y="6103620"/>
            <a:ext cx="6761988" cy="3017520"/>
            <a:chOff x="0" y="0"/>
            <a:chExt cx="9015984" cy="4023360"/>
          </a:xfrm>
        </p:grpSpPr>
        <p:sp>
          <p:nvSpPr>
            <p:cNvPr name="Freeform 21" id="21"/>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sp>
      </p:grpSp>
      <p:sp>
        <p:nvSpPr>
          <p:cNvPr name="TextBox 22" id="22"/>
          <p:cNvSpPr txBox="true"/>
          <p:nvPr/>
        </p:nvSpPr>
        <p:spPr>
          <a:xfrm rot="0">
            <a:off x="10972800" y="6233160"/>
            <a:ext cx="6240780" cy="28194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RMSE relatif LOOCV 5,99% (galat terbesar: 2022 −8,2%, 2023 +7,0%, 2024 −8,9%)</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3" id="2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pic>
        <p:nvPicPr>
          <p:cNvPr name="Picture 24" id="24"/>
          <p:cNvPicPr>
            <a:picLocks noChangeAspect="true"/>
          </p:cNvPicPr>
          <p:nvPr/>
        </p:nvPicPr>
        <p:blipFill>
          <a:blip r:embed="rId6"/>
          <a:stretch>
            <a:fillRect/>
          </a:stretch>
        </p:blipFill>
        <p:spPr>
          <a:xfrm rot="0">
            <a:off x="-128016" y="1929384"/>
            <a:ext cx="11411712" cy="8165592"/>
          </a:xfrm>
          <a:prstGeom prst="rect">
            <a:avLst/>
          </a:prstGeom>
        </p:spPr>
      </p:pic>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Uji akurasi klasifikasi lahan terbangun Dynamic World 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75438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18" id="18"/>
          <p:cNvSpPr txBox="true"/>
          <p:nvPr/>
        </p:nvSpPr>
        <p:spPr>
          <a:xfrm rot="0">
            <a:off x="3291840" y="2831592"/>
            <a:ext cx="4937760" cy="4876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19" id="19"/>
          <p:cNvSpPr txBox="true"/>
          <p:nvPr/>
        </p:nvSpPr>
        <p:spPr>
          <a:xfrm rot="0">
            <a:off x="315468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0" id="20"/>
          <p:cNvSpPr txBox="true"/>
          <p:nvPr/>
        </p:nvSpPr>
        <p:spPr>
          <a:xfrm rot="0">
            <a:off x="576072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1" id="21"/>
          <p:cNvGrpSpPr/>
          <p:nvPr/>
        </p:nvGrpSpPr>
        <p:grpSpPr>
          <a:xfrm rot="0">
            <a:off x="822960" y="4594860"/>
            <a:ext cx="2263140" cy="685800"/>
            <a:chOff x="0" y="0"/>
            <a:chExt cx="3017520" cy="914400"/>
          </a:xfrm>
        </p:grpSpPr>
        <p:sp>
          <p:nvSpPr>
            <p:cNvPr name="Freeform 22" id="22"/>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3" id="23"/>
          <p:cNvGrpSpPr/>
          <p:nvPr/>
        </p:nvGrpSpPr>
        <p:grpSpPr>
          <a:xfrm rot="0">
            <a:off x="822960" y="4566285"/>
            <a:ext cx="2263140" cy="714375"/>
            <a:chOff x="0" y="0"/>
            <a:chExt cx="3017520" cy="952500"/>
          </a:xfrm>
        </p:grpSpPr>
        <p:sp>
          <p:nvSpPr>
            <p:cNvPr name="Freeform 24" id="24"/>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25" id="25"/>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26" id="26"/>
          <p:cNvGrpSpPr/>
          <p:nvPr/>
        </p:nvGrpSpPr>
        <p:grpSpPr>
          <a:xfrm rot="0">
            <a:off x="822960" y="6309360"/>
            <a:ext cx="2263140" cy="685800"/>
            <a:chOff x="0" y="0"/>
            <a:chExt cx="3017520" cy="914400"/>
          </a:xfrm>
        </p:grpSpPr>
        <p:sp>
          <p:nvSpPr>
            <p:cNvPr name="Freeform 27" id="27"/>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8" id="28"/>
          <p:cNvGrpSpPr/>
          <p:nvPr/>
        </p:nvGrpSpPr>
        <p:grpSpPr>
          <a:xfrm rot="0">
            <a:off x="822960" y="6280785"/>
            <a:ext cx="2263140" cy="714375"/>
            <a:chOff x="0" y="0"/>
            <a:chExt cx="3017520" cy="952500"/>
          </a:xfrm>
        </p:grpSpPr>
        <p:sp>
          <p:nvSpPr>
            <p:cNvPr name="Freeform 29" id="29"/>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30" id="30"/>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1" id="31"/>
          <p:cNvGrpSpPr/>
          <p:nvPr/>
        </p:nvGrpSpPr>
        <p:grpSpPr>
          <a:xfrm rot="0">
            <a:off x="3154680" y="4251960"/>
            <a:ext cx="2468880" cy="1577340"/>
            <a:chOff x="0" y="0"/>
            <a:chExt cx="3291840" cy="2103120"/>
          </a:xfrm>
        </p:grpSpPr>
        <p:sp>
          <p:nvSpPr>
            <p:cNvPr name="Freeform 32" id="32"/>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33" id="33"/>
          <p:cNvGrpSpPr/>
          <p:nvPr/>
        </p:nvGrpSpPr>
        <p:grpSpPr>
          <a:xfrm rot="0">
            <a:off x="3154680" y="4251960"/>
            <a:ext cx="2468880" cy="1577340"/>
            <a:chOff x="0" y="0"/>
            <a:chExt cx="3291840" cy="2103120"/>
          </a:xfrm>
        </p:grpSpPr>
        <p:sp>
          <p:nvSpPr>
            <p:cNvPr name="Freeform 34" id="34"/>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35" id="35"/>
          <p:cNvGrpSpPr/>
          <p:nvPr/>
        </p:nvGrpSpPr>
        <p:grpSpPr>
          <a:xfrm rot="0">
            <a:off x="3154680" y="4180522"/>
            <a:ext cx="2468880" cy="1648777"/>
            <a:chOff x="0" y="0"/>
            <a:chExt cx="3291840" cy="2198370"/>
          </a:xfrm>
        </p:grpSpPr>
        <p:sp>
          <p:nvSpPr>
            <p:cNvPr name="Freeform 36" id="36"/>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37" id="37"/>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38" id="38"/>
          <p:cNvGrpSpPr/>
          <p:nvPr/>
        </p:nvGrpSpPr>
        <p:grpSpPr>
          <a:xfrm rot="0">
            <a:off x="5760720" y="4251960"/>
            <a:ext cx="2468880" cy="1577340"/>
            <a:chOff x="0" y="0"/>
            <a:chExt cx="3291840" cy="2103120"/>
          </a:xfrm>
        </p:grpSpPr>
        <p:sp>
          <p:nvSpPr>
            <p:cNvPr name="Freeform 39" id="3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0" id="40"/>
          <p:cNvGrpSpPr/>
          <p:nvPr/>
        </p:nvGrpSpPr>
        <p:grpSpPr>
          <a:xfrm rot="0">
            <a:off x="5760720" y="4251960"/>
            <a:ext cx="2468880" cy="1577340"/>
            <a:chOff x="0" y="0"/>
            <a:chExt cx="3291840" cy="2103120"/>
          </a:xfrm>
        </p:grpSpPr>
        <p:sp>
          <p:nvSpPr>
            <p:cNvPr name="Freeform 41" id="4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2" id="42"/>
          <p:cNvGrpSpPr/>
          <p:nvPr/>
        </p:nvGrpSpPr>
        <p:grpSpPr>
          <a:xfrm rot="0">
            <a:off x="5760720" y="4180522"/>
            <a:ext cx="2468880" cy="1648777"/>
            <a:chOff x="0" y="0"/>
            <a:chExt cx="3291840" cy="2198370"/>
          </a:xfrm>
        </p:grpSpPr>
        <p:sp>
          <p:nvSpPr>
            <p:cNvPr name="Freeform 43" id="4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44" id="44"/>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45" id="45"/>
          <p:cNvGrpSpPr/>
          <p:nvPr/>
        </p:nvGrpSpPr>
        <p:grpSpPr>
          <a:xfrm rot="0">
            <a:off x="3154680" y="5966460"/>
            <a:ext cx="2468880" cy="1577340"/>
            <a:chOff x="0" y="0"/>
            <a:chExt cx="3291840" cy="2103120"/>
          </a:xfrm>
        </p:grpSpPr>
        <p:sp>
          <p:nvSpPr>
            <p:cNvPr name="Freeform 46" id="46"/>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7" id="47"/>
          <p:cNvGrpSpPr/>
          <p:nvPr/>
        </p:nvGrpSpPr>
        <p:grpSpPr>
          <a:xfrm rot="0">
            <a:off x="3154680" y="5966460"/>
            <a:ext cx="2468880" cy="1577340"/>
            <a:chOff x="0" y="0"/>
            <a:chExt cx="3291840" cy="2103120"/>
          </a:xfrm>
        </p:grpSpPr>
        <p:sp>
          <p:nvSpPr>
            <p:cNvPr name="Freeform 48" id="48"/>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9" id="49"/>
          <p:cNvGrpSpPr/>
          <p:nvPr/>
        </p:nvGrpSpPr>
        <p:grpSpPr>
          <a:xfrm rot="0">
            <a:off x="3154680" y="5895022"/>
            <a:ext cx="2468880" cy="1648777"/>
            <a:chOff x="0" y="0"/>
            <a:chExt cx="3291840" cy="2198370"/>
          </a:xfrm>
        </p:grpSpPr>
        <p:sp>
          <p:nvSpPr>
            <p:cNvPr name="Freeform 50" id="50"/>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1" id="51"/>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52" id="52"/>
          <p:cNvGrpSpPr/>
          <p:nvPr/>
        </p:nvGrpSpPr>
        <p:grpSpPr>
          <a:xfrm rot="0">
            <a:off x="5760720" y="5966460"/>
            <a:ext cx="2468880" cy="1577340"/>
            <a:chOff x="0" y="0"/>
            <a:chExt cx="3291840" cy="2103120"/>
          </a:xfrm>
        </p:grpSpPr>
        <p:sp>
          <p:nvSpPr>
            <p:cNvPr name="Freeform 53" id="53"/>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54" id="54"/>
          <p:cNvGrpSpPr/>
          <p:nvPr/>
        </p:nvGrpSpPr>
        <p:grpSpPr>
          <a:xfrm rot="0">
            <a:off x="5760720" y="5966460"/>
            <a:ext cx="2468880" cy="1577340"/>
            <a:chOff x="0" y="0"/>
            <a:chExt cx="3291840" cy="2103120"/>
          </a:xfrm>
        </p:grpSpPr>
        <p:sp>
          <p:nvSpPr>
            <p:cNvPr name="Freeform 55" id="55"/>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56" id="56"/>
          <p:cNvGrpSpPr/>
          <p:nvPr/>
        </p:nvGrpSpPr>
        <p:grpSpPr>
          <a:xfrm rot="0">
            <a:off x="5760720" y="5895022"/>
            <a:ext cx="2468880" cy="1648777"/>
            <a:chOff x="0" y="0"/>
            <a:chExt cx="3291840" cy="2198370"/>
          </a:xfrm>
        </p:grpSpPr>
        <p:sp>
          <p:nvSpPr>
            <p:cNvPr name="Freeform 57" id="57"/>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8" id="58"/>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59" id="59"/>
          <p:cNvSpPr txBox="true"/>
          <p:nvPr/>
        </p:nvSpPr>
        <p:spPr>
          <a:xfrm rot="0">
            <a:off x="822960" y="7810500"/>
            <a:ext cx="7818120" cy="10363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Komisi dominan: 34 titik peta terbangun yang rujukannya bukan terbangun, dibanding 5 omisi.</a:t>
            </a:r>
          </a:p>
        </p:txBody>
      </p:sp>
      <p:graphicFrame>
        <p:nvGraphicFramePr>
          <p:cNvPr name="Table 60" id="60"/>
          <p:cNvGraphicFramePr>
            <a:graphicFrameLocks noGrp="true"/>
          </p:cNvGraphicFramePr>
          <p:nvPr/>
        </p:nvGraphicFramePr>
        <p:xfrm>
          <a:off x="9189720" y="2400300"/>
          <a:ext cx="8229600" cy="4800600"/>
        </p:xfrm>
        <a:graphic>
          <a:graphicData uri="http://schemas.openxmlformats.org/drawingml/2006/table">
            <a:tbl>
              <a:tblPr/>
              <a:tblGrid>
                <a:gridCol w="4205415"/>
                <a:gridCol w="1723674"/>
                <a:gridCol w="2300511"/>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1" id="61"/>
          <p:cNvGrpSpPr/>
          <p:nvPr/>
        </p:nvGrpSpPr>
        <p:grpSpPr>
          <a:xfrm rot="0">
            <a:off x="9189720" y="7475220"/>
            <a:ext cx="8270748" cy="1783080"/>
            <a:chOff x="0" y="0"/>
            <a:chExt cx="11027664" cy="2377440"/>
          </a:xfrm>
        </p:grpSpPr>
        <p:sp>
          <p:nvSpPr>
            <p:cNvPr name="Freeform 62" id="62"/>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sp>
      </p:grpSp>
      <p:grpSp>
        <p:nvGrpSpPr>
          <p:cNvPr name="Group 63" id="63"/>
          <p:cNvGrpSpPr/>
          <p:nvPr/>
        </p:nvGrpSpPr>
        <p:grpSpPr>
          <a:xfrm rot="0">
            <a:off x="9532620" y="7475220"/>
            <a:ext cx="7612380" cy="1783080"/>
            <a:chOff x="0" y="0"/>
            <a:chExt cx="10149840" cy="2377440"/>
          </a:xfrm>
        </p:grpSpPr>
        <p:sp>
          <p:nvSpPr>
            <p:cNvPr name="Freeform 64" id="64"/>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sp>
      </p:grpSp>
      <p:grpSp>
        <p:nvGrpSpPr>
          <p:cNvPr name="Group 65" id="65"/>
          <p:cNvGrpSpPr/>
          <p:nvPr/>
        </p:nvGrpSpPr>
        <p:grpSpPr>
          <a:xfrm rot="0">
            <a:off x="9532620" y="7446645"/>
            <a:ext cx="7612380" cy="1811655"/>
            <a:chOff x="0" y="0"/>
            <a:chExt cx="10149840" cy="2415540"/>
          </a:xfrm>
        </p:grpSpPr>
        <p:sp>
          <p:nvSpPr>
            <p:cNvPr name="Freeform 66" id="66"/>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74" r="0" b="-31874"/>
              </a:stretch>
            </a:blipFill>
          </p:spPr>
        </p:sp>
        <p:sp>
          <p:nvSpPr>
            <p:cNvPr name="TextBox 67" id="67"/>
            <p:cNvSpPr txBox="true"/>
            <p:nvPr/>
          </p:nvSpPr>
          <p:spPr>
            <a:xfrm>
              <a:off x="0" y="-38100"/>
              <a:ext cx="1014984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terkonsentrasi pada titik berprobabilitas dekat ambang 0,5 (akurasi 52,0% pada selang 0,5–0,6 vs 97,7% pada 0–0,25): piksel campuran di tepi objek, bukan kesalahan acak.</a:t>
              </a:r>
            </a:p>
          </p:txBody>
        </p:sp>
      </p:grpSp>
      <p:sp>
        <p:nvSpPr>
          <p:cNvPr name="TextBox 68" id="6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Sepuluh indikator kinerja evaluasi skenario</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17" id="17"/>
          <p:cNvGraphicFramePr>
            <a:graphicFrameLocks noGrp="true"/>
          </p:cNvGraphicFramePr>
          <p:nvPr/>
        </p:nvGraphicFramePr>
        <p:xfrm>
          <a:off x="822960" y="2331720"/>
          <a:ext cx="16560800" cy="6286500"/>
        </p:xfrm>
        <a:graphic>
          <a:graphicData uri="http://schemas.openxmlformats.org/drawingml/2006/table">
            <a:tbl>
              <a:tblPr/>
              <a:tblGrid>
                <a:gridCol w="2065833"/>
                <a:gridCol w="4623091"/>
                <a:gridCol w="5565239"/>
                <a:gridCol w="2335019"/>
                <a:gridCol w="197161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Ambang</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8" id="1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Hasil uji perilaku parsial dan uji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18" id="18"/>
          <p:cNvGraphicFramePr>
            <a:graphicFrameLocks noGrp="true"/>
          </p:cNvGraphicFramePr>
          <p:nvPr/>
        </p:nvGraphicFramePr>
        <p:xfrm>
          <a:off x="822960" y="2811780"/>
          <a:ext cx="8077200" cy="3429000"/>
        </p:xfrm>
        <a:graphic>
          <a:graphicData uri="http://schemas.openxmlformats.org/drawingml/2006/table">
            <a:tbl>
              <a:tblPr/>
              <a:tblGrid>
                <a:gridCol w="2602684"/>
                <a:gridCol w="963792"/>
                <a:gridCol w="1094903"/>
                <a:gridCol w="1160459"/>
                <a:gridCol w="1094903"/>
                <a:gridCol w="1160459"/>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9" id="19"/>
          <p:cNvSpPr txBox="true"/>
          <p:nvPr/>
        </p:nvSpPr>
        <p:spPr>
          <a:xfrm rot="0">
            <a:off x="822960" y="6339840"/>
            <a:ext cx="816102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0" id="20"/>
          <p:cNvSpPr txBox="true"/>
          <p:nvPr/>
        </p:nvSpPr>
        <p:spPr>
          <a:xfrm rot="0">
            <a:off x="9299448"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1" id="21"/>
          <p:cNvGraphicFramePr>
            <a:graphicFrameLocks noGrp="true"/>
          </p:cNvGraphicFramePr>
          <p:nvPr/>
        </p:nvGraphicFramePr>
        <p:xfrm>
          <a:off x="9299448" y="2811780"/>
          <a:ext cx="8064500" cy="5715000"/>
        </p:xfrm>
        <a:graphic>
          <a:graphicData uri="http://schemas.openxmlformats.org/drawingml/2006/table">
            <a:tbl>
              <a:tblPr/>
              <a:tblGrid>
                <a:gridCol w="2467686"/>
                <a:gridCol w="1354992"/>
                <a:gridCol w="962277"/>
                <a:gridCol w="962277"/>
                <a:gridCol w="1093182"/>
                <a:gridCol w="1224087"/>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2" id="22"/>
          <p:cNvGrpSpPr/>
          <p:nvPr/>
        </p:nvGrpSpPr>
        <p:grpSpPr>
          <a:xfrm rot="0">
            <a:off x="822960" y="7132320"/>
            <a:ext cx="8161020" cy="2057400"/>
            <a:chOff x="0" y="0"/>
            <a:chExt cx="10881360" cy="2743200"/>
          </a:xfrm>
        </p:grpSpPr>
        <p:sp>
          <p:nvSpPr>
            <p:cNvPr name="Freeform 23" id="23"/>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sp>
      </p:grpSp>
      <p:grpSp>
        <p:nvGrpSpPr>
          <p:cNvPr name="Group 24" id="24"/>
          <p:cNvGrpSpPr/>
          <p:nvPr/>
        </p:nvGrpSpPr>
        <p:grpSpPr>
          <a:xfrm rot="0">
            <a:off x="1165860" y="7132320"/>
            <a:ext cx="7475220" cy="2057400"/>
            <a:chOff x="0" y="0"/>
            <a:chExt cx="9966960" cy="2743200"/>
          </a:xfrm>
        </p:grpSpPr>
        <p:sp>
          <p:nvSpPr>
            <p:cNvPr name="Freeform 25" id="25"/>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sp>
      </p:grpSp>
      <p:grpSp>
        <p:nvGrpSpPr>
          <p:cNvPr name="Group 26" id="26"/>
          <p:cNvGrpSpPr/>
          <p:nvPr/>
        </p:nvGrpSpPr>
        <p:grpSpPr>
          <a:xfrm rot="0">
            <a:off x="1165860" y="7103745"/>
            <a:ext cx="7475220" cy="2085975"/>
            <a:chOff x="0" y="0"/>
            <a:chExt cx="9966960" cy="2781300"/>
          </a:xfrm>
        </p:grpSpPr>
        <p:sp>
          <p:nvSpPr>
            <p:cNvPr name="Freeform 27" id="27"/>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825" r="0" b="-19825"/>
              </a:stretch>
            </a:blipFill>
          </p:spPr>
        </p:sp>
        <p:sp>
          <p:nvSpPr>
            <p:cNvPr name="TextBox 28" id="28"/>
            <p:cNvSpPr txBox="true"/>
            <p:nvPr/>
          </p:nvSpPr>
          <p:spPr>
            <a:xfrm>
              <a:off x="0" y="-38100"/>
              <a:ext cx="9966960" cy="28194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ditafsirkan karena tren berbeda nyata.</a:t>
              </a:r>
            </a:p>
          </p:txBody>
        </p:sp>
      </p:gr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Tampilan aplikasi web</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674620"/>
            <a:ext cx="4192714" cy="5143500"/>
            <a:chOff x="0" y="0"/>
            <a:chExt cx="5590286" cy="6858000"/>
          </a:xfrm>
        </p:grpSpPr>
        <p:sp>
          <p:nvSpPr>
            <p:cNvPr name="Freeform 18" id="18"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6"/>
              <a:stretch>
                <a:fillRect l="-14" t="0" r="-14" b="0"/>
              </a:stretch>
            </a:blipFill>
          </p:spPr>
        </p:sp>
      </p:grpSp>
      <p:sp>
        <p:nvSpPr>
          <p:cNvPr name="TextBox 19" id="19"/>
          <p:cNvSpPr txBox="true"/>
          <p:nvPr/>
        </p:nvSpPr>
        <p:spPr>
          <a:xfrm rot="0">
            <a:off x="822960" y="7879080"/>
            <a:ext cx="41927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0" id="20"/>
          <p:cNvGrpSpPr/>
          <p:nvPr/>
        </p:nvGrpSpPr>
        <p:grpSpPr>
          <a:xfrm rot="0">
            <a:off x="5290042" y="2674620"/>
            <a:ext cx="3814572" cy="5143500"/>
            <a:chOff x="0" y="0"/>
            <a:chExt cx="5086096" cy="6858000"/>
          </a:xfrm>
        </p:grpSpPr>
        <p:sp>
          <p:nvSpPr>
            <p:cNvPr name="Freeform 21" id="21"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7"/>
              <a:stretch>
                <a:fillRect l="-49" t="0" r="-48" b="0"/>
              </a:stretch>
            </a:blipFill>
          </p:spPr>
        </p:sp>
      </p:grpSp>
      <p:sp>
        <p:nvSpPr>
          <p:cNvPr name="TextBox 22" id="22"/>
          <p:cNvSpPr txBox="true"/>
          <p:nvPr/>
        </p:nvSpPr>
        <p:spPr>
          <a:xfrm rot="0">
            <a:off x="5290042" y="7879080"/>
            <a:ext cx="381457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3" id="23"/>
          <p:cNvGrpSpPr/>
          <p:nvPr/>
        </p:nvGrpSpPr>
        <p:grpSpPr>
          <a:xfrm rot="0">
            <a:off x="9378934" y="2674620"/>
            <a:ext cx="3883914" cy="5143500"/>
            <a:chOff x="0" y="0"/>
            <a:chExt cx="5178552" cy="6858000"/>
          </a:xfrm>
        </p:grpSpPr>
        <p:sp>
          <p:nvSpPr>
            <p:cNvPr name="Freeform 24" id="24"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8"/>
              <a:stretch>
                <a:fillRect l="0" t="-56" r="0" b="-56"/>
              </a:stretch>
            </a:blipFill>
          </p:spPr>
        </p:sp>
      </p:grpSp>
      <p:sp>
        <p:nvSpPr>
          <p:cNvPr name="TextBox 25" id="25"/>
          <p:cNvSpPr txBox="true"/>
          <p:nvPr/>
        </p:nvSpPr>
        <p:spPr>
          <a:xfrm rot="0">
            <a:off x="9378934" y="7879080"/>
            <a:ext cx="38839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26" id="26"/>
          <p:cNvGrpSpPr/>
          <p:nvPr/>
        </p:nvGrpSpPr>
        <p:grpSpPr>
          <a:xfrm rot="0">
            <a:off x="13537216" y="2674620"/>
            <a:ext cx="3925729" cy="5143500"/>
            <a:chOff x="0" y="0"/>
            <a:chExt cx="5234305" cy="6858000"/>
          </a:xfrm>
        </p:grpSpPr>
        <p:sp>
          <p:nvSpPr>
            <p:cNvPr name="Freeform 27" id="27"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9"/>
              <a:stretch>
                <a:fillRect l="-42" t="0" r="-42" b="0"/>
              </a:stretch>
            </a:blipFill>
          </p:spPr>
        </p:sp>
      </p:grpSp>
      <p:sp>
        <p:nvSpPr>
          <p:cNvPr name="TextBox 28" id="28"/>
          <p:cNvSpPr txBox="true"/>
          <p:nvPr/>
        </p:nvSpPr>
        <p:spPr>
          <a:xfrm rot="0">
            <a:off x="13537216" y="7879080"/>
            <a:ext cx="3925738"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Stock-flow diagram (SFD) ukuran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grpSp>
        <p:nvGrpSpPr>
          <p:cNvPr name="Group 18" id="18"/>
          <p:cNvGrpSpPr/>
          <p:nvPr/>
        </p:nvGrpSpPr>
        <p:grpSpPr>
          <a:xfrm rot="0">
            <a:off x="2336644" y="2240280"/>
            <a:ext cx="13614702" cy="6812280"/>
            <a:chOff x="0" y="0"/>
            <a:chExt cx="18152936" cy="9083040"/>
          </a:xfrm>
        </p:grpSpPr>
        <p:sp>
          <p:nvSpPr>
            <p:cNvPr name="Freeform 19" id="19" descr="image.png"/>
            <p:cNvSpPr/>
            <p:nvPr/>
          </p:nvSpPr>
          <p:spPr>
            <a:xfrm flipH="false" flipV="false" rot="0">
              <a:off x="0" y="0"/>
              <a:ext cx="18152872" cy="9083040"/>
            </a:xfrm>
            <a:custGeom>
              <a:avLst/>
              <a:gdLst/>
              <a:ahLst/>
              <a:cxnLst/>
              <a:rect r="r" b="b" t="t" l="l"/>
              <a:pathLst>
                <a:path h="9083040" w="18152872">
                  <a:moveTo>
                    <a:pt x="0" y="0"/>
                  </a:moveTo>
                  <a:lnTo>
                    <a:pt x="18152872" y="0"/>
                  </a:lnTo>
                  <a:lnTo>
                    <a:pt x="18152872" y="9083040"/>
                  </a:lnTo>
                  <a:lnTo>
                    <a:pt x="0" y="9083040"/>
                  </a:lnTo>
                  <a:lnTo>
                    <a:pt x="0" y="0"/>
                  </a:lnTo>
                  <a:close/>
                </a:path>
              </a:pathLst>
            </a:custGeom>
            <a:blipFill>
              <a:blip r:embed="rId6"/>
              <a:stretch>
                <a:fillRect l="0" t="0" r="0" b="0"/>
              </a:stretch>
            </a:blipFill>
          </p:spPr>
        </p:sp>
      </p:grpSp>
      <p:sp>
        <p:nvSpPr>
          <p:cNvPr name="TextBox 20" id="20"/>
          <p:cNvSpPr txBox="true"/>
          <p:nvPr/>
        </p:nvSpPr>
        <p:spPr>
          <a:xfrm rot="0">
            <a:off x="822960" y="9050655"/>
            <a:ext cx="16642080" cy="413385"/>
          </a:xfrm>
          <a:prstGeom prst="rect">
            <a:avLst/>
          </a:prstGeom>
        </p:spPr>
        <p:txBody>
          <a:bodyPr anchor="t" rtlCol="false" tIns="0" lIns="0" bIns="0" rIns="0">
            <a:spAutoFit/>
          </a:bodyPr>
          <a:lstStyle/>
          <a:p>
            <a:pPr algn="ctr">
              <a:lnSpc>
                <a:spcPts val="1747"/>
              </a:lnSpc>
            </a:pPr>
            <a:r>
              <a:rPr lang="en-US" sz="1299">
                <a:solidFill>
                  <a:srgbClr val="5E6E78"/>
                </a:solidFill>
                <a:latin typeface="Calibri (MS)"/>
                <a:ea typeface="Calibri (MS)"/>
                <a:cs typeface="Calibri (MS)"/>
                <a:sym typeface="Calibri (MS)"/>
              </a:rPr>
              <a:t>SFD pariwisata DIY · 26 variabel endogen (5 stock, 10 flow, 11 auxiliary) dan 35 parameter eksogen</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Aspek yang dikeluarkan dari batas model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graphicFrame>
        <p:nvGraphicFramePr>
          <p:cNvPr name="Table 18" id="18"/>
          <p:cNvGraphicFramePr>
            <a:graphicFrameLocks noGrp="true"/>
          </p:cNvGraphicFramePr>
          <p:nvPr/>
        </p:nvGraphicFramePr>
        <p:xfrm>
          <a:off x="822960" y="2286000"/>
          <a:ext cx="16637000" cy="6743700"/>
        </p:xfrm>
        <a:graphic>
          <a:graphicData uri="http://schemas.openxmlformats.org/drawingml/2006/table">
            <a:tbl>
              <a:tblPr/>
              <a:tblGrid>
                <a:gridCol w="4570604"/>
                <a:gridCol w="6033198"/>
                <a:gridCol w="6033198"/>
              </a:tblGrid>
              <a:tr h="434610">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Penyeimbang lewat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Guncangan: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Peristiwa acak di luar struktur umpan balik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Lintasan tanpa guncangan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Masuk jalur non-investasi yang eksogen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Hasil 17 uji kondisi ekstrem (nilai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graphicFrame>
        <p:nvGraphicFramePr>
          <p:cNvPr name="Table 18" id="18"/>
          <p:cNvGraphicFramePr>
            <a:graphicFrameLocks noGrp="true"/>
          </p:cNvGraphicFramePr>
          <p:nvPr/>
        </p:nvGraphicFramePr>
        <p:xfrm>
          <a:off x="822960" y="2286000"/>
          <a:ext cx="16573500" cy="6604000"/>
        </p:xfrm>
        <a:graphic>
          <a:graphicData uri="http://schemas.openxmlformats.org/drawingml/2006/table">
            <a:tbl>
              <a:tblPr/>
              <a:tblGrid>
                <a:gridCol w="696366"/>
                <a:gridCol w="3806799"/>
                <a:gridCol w="1624853"/>
                <a:gridCol w="1624853"/>
                <a:gridCol w="1067760"/>
                <a:gridCol w="1624853"/>
                <a:gridCol w="1346307"/>
                <a:gridCol w="928487"/>
                <a:gridCol w="928487"/>
                <a:gridCol w="1067760"/>
                <a:gridCol w="1856975"/>
              </a:tblGrid>
              <a:tr h="534799">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9"/>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TPK ambang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Uji loop umpan balik: nilai 2050 saat satu loop dilumpuhkan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graphicFrame>
        <p:nvGraphicFramePr>
          <p:cNvPr name="Table 18" id="18"/>
          <p:cNvGraphicFramePr>
            <a:graphicFrameLocks noGrp="true"/>
          </p:cNvGraphicFramePr>
          <p:nvPr/>
        </p:nvGraphicFramePr>
        <p:xfrm>
          <a:off x="822960" y="2286000"/>
          <a:ext cx="16598900" cy="3581400"/>
        </p:xfrm>
        <a:graphic>
          <a:graphicData uri="http://schemas.openxmlformats.org/drawingml/2006/table">
            <a:tbl>
              <a:tblPr/>
              <a:tblGrid>
                <a:gridCol w="4742543"/>
                <a:gridCol w="1550447"/>
                <a:gridCol w="1368041"/>
                <a:gridCol w="1185636"/>
                <a:gridCol w="1459244"/>
                <a:gridCol w="1459244"/>
                <a:gridCol w="1276838"/>
                <a:gridCol w="1550447"/>
                <a:gridCol w="2006460"/>
              </a:tblGrid>
              <a:tr h="544603">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Seluruh rem dimatikan (R1 murni)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822960" y="6107049"/>
            <a:ext cx="5394960" cy="3102102"/>
            <a:chOff x="0" y="0"/>
            <a:chExt cx="7193280" cy="4136136"/>
          </a:xfrm>
        </p:grpSpPr>
        <p:sp>
          <p:nvSpPr>
            <p:cNvPr name="Freeform 20" id="20"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6"/>
              <a:stretch>
                <a:fillRect l="0" t="0" r="0" b="0"/>
              </a:stretch>
            </a:blipFill>
          </p:spPr>
        </p:sp>
      </p:grpSp>
      <p:grpSp>
        <p:nvGrpSpPr>
          <p:cNvPr name="Group 21" id="21"/>
          <p:cNvGrpSpPr/>
          <p:nvPr/>
        </p:nvGrpSpPr>
        <p:grpSpPr>
          <a:xfrm rot="0">
            <a:off x="6492240" y="6172200"/>
            <a:ext cx="10972800" cy="3017520"/>
            <a:chOff x="0" y="0"/>
            <a:chExt cx="14630400" cy="4023360"/>
          </a:xfrm>
        </p:grpSpPr>
        <p:sp>
          <p:nvSpPr>
            <p:cNvPr name="Freeform 22" id="22"/>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sp>
      </p:grpSp>
      <p:sp>
        <p:nvSpPr>
          <p:cNvPr name="TextBox 23" id="23"/>
          <p:cNvSpPr txBox="true"/>
          <p:nvPr/>
        </p:nvSpPr>
        <p:spPr>
          <a:xfrm rot="0">
            <a:off x="6766560" y="6348222"/>
            <a:ext cx="10424160" cy="60579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4" id="24"/>
          <p:cNvSpPr txBox="true"/>
          <p:nvPr/>
        </p:nvSpPr>
        <p:spPr>
          <a:xfrm rot="0">
            <a:off x="6766560" y="6915150"/>
            <a:ext cx="10424160" cy="210997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sistemik: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Tidak aditif: B1 saja (250,32 juta) &gt; seluruh rem dimatikan (217,37 juta) karena R2 tetap menguatkan daya tarik</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Kalibrasi per tahap: tidak ada parameter yang berubah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grpSp>
        <p:nvGrpSpPr>
          <p:cNvPr name="Group 18" id="18"/>
          <p:cNvGrpSpPr/>
          <p:nvPr/>
        </p:nvGrpSpPr>
        <p:grpSpPr>
          <a:xfrm rot="0">
            <a:off x="813435" y="2276475"/>
            <a:ext cx="8202930" cy="3356610"/>
            <a:chOff x="0" y="0"/>
            <a:chExt cx="10937240" cy="4475480"/>
          </a:xfrm>
        </p:grpSpPr>
        <p:sp>
          <p:nvSpPr>
            <p:cNvPr name="Freeform 19" id="19"/>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0" id="20"/>
          <p:cNvGrpSpPr/>
          <p:nvPr/>
        </p:nvGrpSpPr>
        <p:grpSpPr>
          <a:xfrm rot="0">
            <a:off x="914400" y="2390137"/>
            <a:ext cx="5120640" cy="3129277"/>
            <a:chOff x="0" y="0"/>
            <a:chExt cx="6827520" cy="4172369"/>
          </a:xfrm>
        </p:grpSpPr>
        <p:sp>
          <p:nvSpPr>
            <p:cNvPr name="Freeform 21" id="21"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6"/>
              <a:stretch>
                <a:fillRect l="0" t="0" r="0" b="0"/>
              </a:stretch>
            </a:blipFill>
          </p:spPr>
        </p:sp>
      </p:grpSp>
      <p:sp>
        <p:nvSpPr>
          <p:cNvPr name="TextBox 22" id="22"/>
          <p:cNvSpPr txBox="true"/>
          <p:nvPr/>
        </p:nvSpPr>
        <p:spPr>
          <a:xfrm rot="0">
            <a:off x="61722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3" id="23"/>
          <p:cNvSpPr txBox="true"/>
          <p:nvPr/>
        </p:nvSpPr>
        <p:spPr>
          <a:xfrm rot="0">
            <a:off x="61722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TPK ambang 0,35 tepat di batas rentang; perbaikan 11,64% bertumpu pada tahun 2019 dan gagal generalisasi (P1b, versi COVID). Dipertahankan: 0,275 dan 0,05.</a:t>
            </a:r>
          </a:p>
        </p:txBody>
      </p:sp>
      <p:grpSp>
        <p:nvGrpSpPr>
          <p:cNvPr name="Group 24" id="24"/>
          <p:cNvGrpSpPr/>
          <p:nvPr/>
        </p:nvGrpSpPr>
        <p:grpSpPr>
          <a:xfrm rot="0">
            <a:off x="9271635" y="2276475"/>
            <a:ext cx="8202930" cy="3356610"/>
            <a:chOff x="0" y="0"/>
            <a:chExt cx="10937240" cy="4475480"/>
          </a:xfrm>
        </p:grpSpPr>
        <p:sp>
          <p:nvSpPr>
            <p:cNvPr name="Freeform 25" id="25"/>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6" id="26"/>
          <p:cNvGrpSpPr/>
          <p:nvPr/>
        </p:nvGrpSpPr>
        <p:grpSpPr>
          <a:xfrm rot="0">
            <a:off x="9372600" y="2521001"/>
            <a:ext cx="5120640" cy="2867558"/>
            <a:chOff x="0" y="0"/>
            <a:chExt cx="6827520" cy="3823411"/>
          </a:xfrm>
        </p:grpSpPr>
        <p:sp>
          <p:nvSpPr>
            <p:cNvPr name="Freeform 27" id="27"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7"/>
              <a:stretch>
                <a:fillRect l="0" t="0" r="0" b="1"/>
              </a:stretch>
            </a:blipFill>
          </p:spPr>
        </p:sp>
      </p:grpSp>
      <p:sp>
        <p:nvSpPr>
          <p:cNvPr name="TextBox 28" id="28"/>
          <p:cNvSpPr txBox="true"/>
          <p:nvPr/>
        </p:nvSpPr>
        <p:spPr>
          <a:xfrm rot="0">
            <a:off x="146304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29" id="29"/>
          <p:cNvSpPr txBox="true"/>
          <p:nvPr/>
        </p:nvSpPr>
        <p:spPr>
          <a:xfrm rot="0">
            <a:off x="146304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grpSp>
        <p:nvGrpSpPr>
          <p:cNvPr name="Group 30" id="30"/>
          <p:cNvGrpSpPr/>
          <p:nvPr/>
        </p:nvGrpSpPr>
        <p:grpSpPr>
          <a:xfrm rot="0">
            <a:off x="813435" y="5796915"/>
            <a:ext cx="8202930" cy="3356610"/>
            <a:chOff x="0" y="0"/>
            <a:chExt cx="10937240" cy="4475480"/>
          </a:xfrm>
        </p:grpSpPr>
        <p:sp>
          <p:nvSpPr>
            <p:cNvPr name="Freeform 31" id="31"/>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2" id="32"/>
          <p:cNvGrpSpPr/>
          <p:nvPr/>
        </p:nvGrpSpPr>
        <p:grpSpPr>
          <a:xfrm rot="0">
            <a:off x="914400" y="6052823"/>
            <a:ext cx="5120640" cy="2844803"/>
            <a:chOff x="0" y="0"/>
            <a:chExt cx="6827520" cy="3793071"/>
          </a:xfrm>
        </p:grpSpPr>
        <p:sp>
          <p:nvSpPr>
            <p:cNvPr name="Freeform 33" id="33"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8"/>
              <a:stretch>
                <a:fillRect l="0" t="0" r="0" b="1"/>
              </a:stretch>
            </a:blipFill>
          </p:spPr>
        </p:sp>
      </p:grpSp>
      <p:sp>
        <p:nvSpPr>
          <p:cNvPr name="TextBox 34" id="34"/>
          <p:cNvSpPr txBox="true"/>
          <p:nvPr/>
        </p:nvSpPr>
        <p:spPr>
          <a:xfrm rot="0">
            <a:off x="61722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5" id="35"/>
          <p:cNvSpPr txBox="true"/>
          <p:nvPr/>
        </p:nvSpPr>
        <p:spPr>
          <a:xfrm rot="0">
            <a:off x="61722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Punggung himpunan indiferen: LPE dan rasio LPD/LPE tidak teridentifikasi terpisah; data hanya mengidentifikasi selisih bersih. Dipertahankan.</a:t>
            </a:r>
          </a:p>
        </p:txBody>
      </p:sp>
      <p:grpSp>
        <p:nvGrpSpPr>
          <p:cNvPr name="Group 36" id="36"/>
          <p:cNvGrpSpPr/>
          <p:nvPr/>
        </p:nvGrpSpPr>
        <p:grpSpPr>
          <a:xfrm rot="0">
            <a:off x="9271635" y="5796915"/>
            <a:ext cx="8202930" cy="3356610"/>
            <a:chOff x="0" y="0"/>
            <a:chExt cx="10937240" cy="4475480"/>
          </a:xfrm>
        </p:grpSpPr>
        <p:sp>
          <p:nvSpPr>
            <p:cNvPr name="Freeform 37" id="37"/>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9"/>
              <a:stretch>
                <a:fillRect l="0" t="0" r="0" b="0"/>
              </a:stretch>
            </a:blipFill>
          </p:spPr>
        </p:sp>
      </p:grpSp>
      <p:sp>
        <p:nvSpPr>
          <p:cNvPr name="TextBox 40" id="40"/>
          <p:cNvSpPr txBox="true"/>
          <p:nvPr/>
        </p:nvSpPr>
        <p:spPr>
          <a:xfrm rot="0">
            <a:off x="146304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Sensitivitas ±10% pada lima keluaran lain dan rentang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grpSp>
        <p:nvGrpSpPr>
          <p:cNvPr name="Group 18" id="18"/>
          <p:cNvGrpSpPr/>
          <p:nvPr/>
        </p:nvGrpSpPr>
        <p:grpSpPr>
          <a:xfrm rot="0">
            <a:off x="1737360" y="2240280"/>
            <a:ext cx="3566160" cy="3090672"/>
            <a:chOff x="0" y="0"/>
            <a:chExt cx="4754880" cy="4120896"/>
          </a:xfrm>
        </p:grpSpPr>
        <p:sp>
          <p:nvSpPr>
            <p:cNvPr name="Freeform 19" id="19"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6"/>
              <a:stretch>
                <a:fillRect l="0" t="0" r="0" b="0"/>
              </a:stretch>
            </a:blipFill>
          </p:spPr>
        </p:sp>
      </p:grpSp>
      <p:sp>
        <p:nvSpPr>
          <p:cNvPr name="TextBox 20" id="20"/>
          <p:cNvSpPr txBox="true"/>
          <p:nvPr/>
        </p:nvSpPr>
        <p:spPr>
          <a:xfrm rot="0">
            <a:off x="82296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1" id="21"/>
          <p:cNvGrpSpPr/>
          <p:nvPr/>
        </p:nvGrpSpPr>
        <p:grpSpPr>
          <a:xfrm rot="0">
            <a:off x="7360920" y="2240280"/>
            <a:ext cx="3566160" cy="3090672"/>
            <a:chOff x="0" y="0"/>
            <a:chExt cx="4754880" cy="4120896"/>
          </a:xfrm>
        </p:grpSpPr>
        <p:sp>
          <p:nvSpPr>
            <p:cNvPr name="Freeform 22" id="22"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sp>
      </p:grpSp>
      <p:sp>
        <p:nvSpPr>
          <p:cNvPr name="TextBox 23" id="23"/>
          <p:cNvSpPr txBox="true"/>
          <p:nvPr/>
        </p:nvSpPr>
        <p:spPr>
          <a:xfrm rot="0">
            <a:off x="644652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Lahan terbangun</a:t>
            </a:r>
          </a:p>
        </p:txBody>
      </p:sp>
      <p:grpSp>
        <p:nvGrpSpPr>
          <p:cNvPr name="Group 24" id="24"/>
          <p:cNvGrpSpPr/>
          <p:nvPr/>
        </p:nvGrpSpPr>
        <p:grpSpPr>
          <a:xfrm rot="0">
            <a:off x="12984480" y="2240280"/>
            <a:ext cx="3566160" cy="3090672"/>
            <a:chOff x="0" y="0"/>
            <a:chExt cx="4754880" cy="4120896"/>
          </a:xfrm>
        </p:grpSpPr>
        <p:sp>
          <p:nvSpPr>
            <p:cNvPr name="Freeform 25" id="25"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sp>
      </p:grpSp>
      <p:sp>
        <p:nvSpPr>
          <p:cNvPr name="TextBox 26" id="26"/>
          <p:cNvSpPr txBox="true"/>
          <p:nvPr/>
        </p:nvSpPr>
        <p:spPr>
          <a:xfrm rot="0">
            <a:off x="1207008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27" id="27"/>
          <p:cNvGrpSpPr/>
          <p:nvPr/>
        </p:nvGrpSpPr>
        <p:grpSpPr>
          <a:xfrm rot="0">
            <a:off x="1737360" y="5760720"/>
            <a:ext cx="3566160" cy="3090672"/>
            <a:chOff x="0" y="0"/>
            <a:chExt cx="4754880" cy="4120896"/>
          </a:xfrm>
        </p:grpSpPr>
        <p:sp>
          <p:nvSpPr>
            <p:cNvPr name="Freeform 28" id="28"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sp>
      </p:grpSp>
      <p:sp>
        <p:nvSpPr>
          <p:cNvPr name="TextBox 29" id="29"/>
          <p:cNvSpPr txBox="true"/>
          <p:nvPr/>
        </p:nvSpPr>
        <p:spPr>
          <a:xfrm rot="0">
            <a:off x="82296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0" id="30"/>
          <p:cNvGrpSpPr/>
          <p:nvPr/>
        </p:nvGrpSpPr>
        <p:grpSpPr>
          <a:xfrm rot="0">
            <a:off x="7360920" y="5760720"/>
            <a:ext cx="3566160" cy="3090672"/>
            <a:chOff x="0" y="0"/>
            <a:chExt cx="4754880" cy="4120896"/>
          </a:xfrm>
        </p:grpSpPr>
        <p:sp>
          <p:nvSpPr>
            <p:cNvPr name="Freeform 31" id="31"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sp>
      </p:grpSp>
      <p:sp>
        <p:nvSpPr>
          <p:cNvPr name="TextBox 32" id="32"/>
          <p:cNvSpPr txBox="true"/>
          <p:nvPr/>
        </p:nvSpPr>
        <p:spPr>
          <a:xfrm rot="0">
            <a:off x="644652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3" id="33"/>
          <p:cNvGraphicFramePr>
            <a:graphicFrameLocks noGrp="true"/>
          </p:cNvGraphicFramePr>
          <p:nvPr/>
        </p:nvGraphicFramePr>
        <p:xfrm>
          <a:off x="12070080" y="5852160"/>
          <a:ext cx="5384800" cy="2946400"/>
        </p:xfrm>
        <a:graphic>
          <a:graphicData uri="http://schemas.openxmlformats.org/drawingml/2006/table">
            <a:tbl>
              <a:tblPr/>
              <a:tblGrid>
                <a:gridCol w="2372963"/>
                <a:gridCol w="1186481"/>
                <a:gridCol w="912678"/>
                <a:gridCol w="912678"/>
              </a:tblGrid>
              <a:tr h="385306">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(rentang penuh)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diturunkan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4" id="34"/>
          <p:cNvSpPr txBox="true"/>
          <p:nvPr/>
        </p:nvSpPr>
        <p:spPr>
          <a:xfrm rot="0">
            <a:off x="12070080" y="8877300"/>
            <a:ext cx="5394960" cy="3581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Lebar rentang dalam poin persen</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Persamaan kunci model (Vensim, model final)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graphicFrame>
        <p:nvGraphicFramePr>
          <p:cNvPr name="Table 18" id="18"/>
          <p:cNvGraphicFramePr>
            <a:graphicFrameLocks noGrp="true"/>
          </p:cNvGraphicFramePr>
          <p:nvPr/>
        </p:nvGraphicFramePr>
        <p:xfrm>
          <a:off x="822960" y="2286000"/>
          <a:ext cx="16637000" cy="6731000"/>
        </p:xfrm>
        <a:graphic>
          <a:graphicData uri="http://schemas.openxmlformats.org/drawingml/2006/table">
            <a:tbl>
              <a:tblPr/>
              <a:tblGrid>
                <a:gridCol w="4204956"/>
                <a:gridCol w="12432044"/>
              </a:tblGrid>
              <a:tr h="437046">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Data historis 2015–2025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graphicFrame>
        <p:nvGraphicFramePr>
          <p:cNvPr name="Table 18" id="18"/>
          <p:cNvGraphicFramePr>
            <a:graphicFrameLocks noGrp="true"/>
          </p:cNvGraphicFramePr>
          <p:nvPr/>
        </p:nvGraphicFramePr>
        <p:xfrm>
          <a:off x="822960" y="2286000"/>
          <a:ext cx="16598900" cy="5715000"/>
        </p:xfrm>
        <a:graphic>
          <a:graphicData uri="http://schemas.openxmlformats.org/drawingml/2006/table">
            <a:tbl>
              <a:tblPr/>
              <a:tblGrid>
                <a:gridCol w="989339"/>
                <a:gridCol w="2528310"/>
                <a:gridCol w="1868750"/>
                <a:gridCol w="1209191"/>
                <a:gridCol w="1319118"/>
                <a:gridCol w="1978677"/>
                <a:gridCol w="2308456"/>
                <a:gridCol w="2418382"/>
                <a:gridCol w="1978677"/>
              </a:tblGrid>
              <a:tr h="669436">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19" id="19"/>
          <p:cNvSpPr txBox="true"/>
          <p:nvPr/>
        </p:nvSpPr>
        <p:spPr>
          <a:xfrm rot="0">
            <a:off x="822960" y="8181975"/>
            <a:ext cx="16642080" cy="96202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 (Lampiran skripsi).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DAHW8YVyWwY</dc:identifier>
  <dcterms:modified xsi:type="dcterms:W3CDTF">2011-08-01T06:04:30Z</dcterms:modified>
  <cp:revision>1</cp:revision>
  <dc:title>PPT Paparan Sidang  (Final yg tidak final).pptx</dc:title>
</cp:coreProperties>
</file>