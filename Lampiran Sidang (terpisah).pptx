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dia/image70.svg" ContentType="image/svg+xml"/>
  <Override PartName="/ppt/media/image72.svg" ContentType="image/svg+xml"/>
  <Override PartName="/ppt/media/image75.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94.svg" ContentType="image/svg+xml"/>
  <Override PartName="/ppt/notesMasters/notesMaster1.xml" ContentType="application/vnd.openxmlformats-officedocument.presentationml.notesMaster+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85"/>
  </p:notesMasterIdLst>
  <p:sldIdLst>
    <p:sldId id="331" r:id="rId127"/>
    <p:sldId id="312" r:id="rId62"/>
    <p:sldId id="332" r:id="rId128"/>
    <p:sldId id="333" r:id="rId129"/>
    <p:sldId id="334" r:id="rId130"/>
    <p:sldId id="335" r:id="rId131"/>
    <p:sldId id="336" r:id="rId132"/>
    <p:sldId id="306" r:id="rId56"/>
    <p:sldId id="337" r:id="rId133"/>
    <p:sldId id="338" r:id="rId134"/>
    <p:sldId id="330" r:id="rId80"/>
    <p:sldId id="339" r:id="rId135"/>
    <p:sldId id="340" r:id="rId136"/>
    <p:sldId id="341" r:id="rId137"/>
    <p:sldId id="342" r:id="rId138"/>
    <p:sldId id="309" r:id="rId59"/>
    <p:sldId id="343" r:id="rId139"/>
    <p:sldId id="344" r:id="rId140"/>
    <p:sldId id="308" r:id="rId58"/>
    <p:sldId id="345" r:id="rId141"/>
    <p:sldId id="346" r:id="rId142"/>
    <p:sldId id="347" r:id="rId143"/>
    <p:sldId id="307" r:id="rId57"/>
    <p:sldId id="348" r:id="rId144"/>
    <p:sldId id="349" r:id="rId145"/>
    <p:sldId id="350" r:id="rId146"/>
    <p:sldId id="351" r:id="rId147"/>
    <p:sldId id="311" r:id="rId61"/>
    <p:sldId id="352" r:id="rId148"/>
    <p:sldId id="310" r:id="rId60"/>
    <p:sldId id="353" r:id="rId149"/>
    <p:sldId id="354" r:id="rId150"/>
    <p:sldId id="355" r:id="rId151"/>
    <p:sldId id="356" r:id="rId152"/>
    <p:sldId id="357" r:id="rId153"/>
    <p:sldId id="358" r:id="rId154"/>
    <p:sldId id="313" r:id="rId63"/>
    <p:sldId id="359" r:id="rId155"/>
    <p:sldId id="360" r:id="rId156"/>
    <p:sldId id="361" r:id="rId157"/>
    <p:sldId id="362" r:id="rId158"/>
    <p:sldId id="363" r:id="rId159"/>
    <p:sldId id="364" r:id="rId160"/>
    <p:sldId id="365" r:id="rId161"/>
    <p:sldId id="366" r:id="rId162"/>
    <p:sldId id="367" r:id="rId163"/>
    <p:sldId id="368" r:id="rId164"/>
    <p:sldId id="369" r:id="rId165"/>
    <p:sldId id="370" r:id="rId166"/>
    <p:sldId id="371" r:id="rId167"/>
    <p:sldId id="372" r:id="rId168"/>
    <p:sldId id="373" r:id="rId169"/>
    <p:sldId id="374" r:id="rId170"/>
    <p:sldId id="375" r:id="rId171"/>
    <p:sldId id="376" r:id="rId172"/>
    <p:sldId id="377" r:id="rId173"/>
    <p:sldId id="378" r:id="rId174"/>
    <p:sldId id="379" r:id="rId175"/>
    <p:sldId id="380" r:id="rId176"/>
    <p:sldId id="381" r:id="rId177"/>
    <p:sldId id="382" r:id="rId178"/>
    <p:sldId id="383" r:id="rId179"/>
    <p:sldId id="384" r:id="rId180"/>
    <p:sldId id="385" r:id="rId181"/>
    <p:sldId id="386" r:id="rId182"/>
    <p:sldId id="387" r:id="rId183"/>
    <p:sldId id="323" r:id="rId73"/>
    <p:sldId id="388" r:id="rId184"/>
    <p:sldId id="389" r:id="rId185"/>
    <p:sldId id="390" r:id="rId186"/>
    <p:sldId id="391" r:id="rId187"/>
    <p:sldId id="392" r:id="rId188"/>
    <p:sldId id="393" r:id="rId189"/>
    <p:sldId id="394" r:id="rId190"/>
    <p:sldId id="395" r:id="rId191"/>
    <p:sldId id="396" r:id="rId192"/>
    <p:sldId id="397" r:id="rId193"/>
    <p:sldId id="398" r:id="rId194"/>
    <p:sldId id="399" r:id="rId195"/>
    <p:sldId id="400" r:id="rId196"/>
    <p:sldId id="401" r:id="rId197"/>
    <p:sldId id="402" r:id="rId198"/>
    <p:sldId id="403" r:id="rId199"/>
    <p:sldId id="404" r:id="rId200"/>
    <p:sldId id="405" r:id="rId201"/>
    <p:sldId id="406" r:id="rId202"/>
    <p:sldId id="407" r:id="rId203"/>
    <p:sldId id="408" r:id="rId204"/>
    <p:sldId id="409" r:id="rId205"/>
    <p:sldId id="410" r:id="rId206"/>
    <p:sldId id="411" r:id="rId207"/>
    <p:sldId id="412" r:id="rId208"/>
    <p:sldId id="413" r:id="rId209"/>
    <p:sldId id="414" r:id="rId210"/>
    <p:sldId id="415" r:id="rId211"/>
    <p:sldId id="416" r:id="rId212"/>
    <p:sldId id="417" r:id="rId213"/>
    <p:sldId id="418" r:id="rId214"/>
    <p:sldId id="419" r:id="rId215"/>
    <p:sldId id="420" r:id="rId216"/>
    <p:sldId id="421" r:id="rId217"/>
    <p:sldId id="422" r:id="rId218"/>
    <p:sldId id="318" r:id="rId68"/>
    <p:sldId id="423" r:id="rId219"/>
    <p:sldId id="424" r:id="rId220"/>
    <p:sldId id="425" r:id="rId221"/>
    <p:sldId id="426" r:id="rId222"/>
    <p:sldId id="427" r:id="rId223"/>
    <p:sldId id="428" r:id="rId224"/>
    <p:sldId id="429" r:id="rId225"/>
    <p:sldId id="430" r:id="rId226"/>
    <p:sldId id="431" r:id="rId227"/>
    <p:sldId id="432" r:id="rId228"/>
    <p:sldId id="433" r:id="rId229"/>
    <p:sldId id="434" r:id="rId230"/>
    <p:sldId id="435" r:id="rId231"/>
    <p:sldId id="328" r:id="rId78"/>
    <p:sldId id="329" r:id="rId79"/>
  </p:sldIdLst>
  <p:sldSz cx="18288000" cy="10287000"/>
  <p:notesSz cx="6858000" cy="9144000"/>
  <p:embeddedFontLst>
    <p:embeddedFont>
      <p:font typeface="Calibri (MS) Bold" charset="1" panose="020F0702030404030204"/>
      <p:regular r:id="rId81"/>
    </p:embeddedFont>
    <p:embeddedFont>
      <p:font typeface="Calibri (MS) Bold Italics" charset="1" panose="020F07020304040A0204"/>
      <p:regular r:id="rId82"/>
    </p:embeddedFont>
    <p:embeddedFont>
      <p:font typeface="Calibri (MS)" charset="1" panose="020F0502020204030204"/>
      <p:regular r:id="rId83"/>
    </p:embeddedFont>
    <p:embeddedFont>
      <p:font typeface="Calibri (MS) Italics" charset="1" panose="020F05020202040A0204"/>
      <p:regular r:id="rId84"/>
    </p:embeddedFont>
    <p:embeddedFont>
      <p:font typeface="Cambria Italics" charset="1" panose="020405030504060A0204"/>
      <p:regular r:id="rId10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6" Type="http://schemas.openxmlformats.org/officeDocument/2006/relationships/slide" Target="slides/slide58.xml"/><Relationship Id="rId57" Type="http://schemas.openxmlformats.org/officeDocument/2006/relationships/slide" Target="slides/slide73.xml"/><Relationship Id="rId58" Type="http://schemas.openxmlformats.org/officeDocument/2006/relationships/slide" Target="slides/slide69.xml"/><Relationship Id="rId59" Type="http://schemas.openxmlformats.org/officeDocument/2006/relationships/slide" Target="slides/slide66.xml"/><Relationship Id="rId60" Type="http://schemas.openxmlformats.org/officeDocument/2006/relationships/slide" Target="slides/slide80.xml"/><Relationship Id="rId61" Type="http://schemas.openxmlformats.org/officeDocument/2006/relationships/slide" Target="slides/slide78.xml"/><Relationship Id="rId62" Type="http://schemas.openxmlformats.org/officeDocument/2006/relationships/slide" Target="slides/slide52.xml"/><Relationship Id="rId63" Type="http://schemas.openxmlformats.org/officeDocument/2006/relationships/slide" Target="slides/slide87.xml"/><Relationship Id="rId68" Type="http://schemas.openxmlformats.org/officeDocument/2006/relationships/slide" Target="slides/slide153.xml"/><Relationship Id="rId73" Type="http://schemas.openxmlformats.org/officeDocument/2006/relationships/slide" Target="slides/slide117.xml"/><Relationship Id="rId78" Type="http://schemas.openxmlformats.org/officeDocument/2006/relationships/slide" Target="slides/slide167.xml"/><Relationship Id="rId79" Type="http://schemas.openxmlformats.org/officeDocument/2006/relationships/slide" Target="slides/slide168.xml"/><Relationship Id="rId80" Type="http://schemas.openxmlformats.org/officeDocument/2006/relationships/slide" Target="slides/slide61.xml"/><Relationship Id="rId81" Type="http://schemas.openxmlformats.org/officeDocument/2006/relationships/font" Target="fonts/font81.fntdata"/><Relationship Id="rId82" Type="http://schemas.openxmlformats.org/officeDocument/2006/relationships/font" Target="fonts/font82.fntdata"/><Relationship Id="rId83" Type="http://schemas.openxmlformats.org/officeDocument/2006/relationships/font" Target="fonts/font83.fntdata"/><Relationship Id="rId84" Type="http://schemas.openxmlformats.org/officeDocument/2006/relationships/font" Target="fonts/font84.fntdata"/><Relationship Id="rId85" Type="http://schemas.openxmlformats.org/officeDocument/2006/relationships/notesMaster" Target="notesMasters/notesMaster1.xml"/><Relationship Id="rId86" Type="http://schemas.openxmlformats.org/officeDocument/2006/relationships/theme" Target="theme/theme2.xml"/><Relationship Id="rId105" Type="http://schemas.openxmlformats.org/officeDocument/2006/relationships/font" Target="fonts/font105.fntdata"/><Relationship Id="rId127" Type="http://schemas.openxmlformats.org/officeDocument/2006/relationships/slide" Target="slides/slide51.xml"/><Relationship Id="rId128" Type="http://schemas.openxmlformats.org/officeDocument/2006/relationships/slide" Target="slides/slide53.xml"/><Relationship Id="rId129" Type="http://schemas.openxmlformats.org/officeDocument/2006/relationships/slide" Target="slides/slide54.xml"/><Relationship Id="rId130" Type="http://schemas.openxmlformats.org/officeDocument/2006/relationships/slide" Target="slides/slide55.xml"/><Relationship Id="rId131" Type="http://schemas.openxmlformats.org/officeDocument/2006/relationships/slide" Target="slides/slide56.xml"/><Relationship Id="rId132" Type="http://schemas.openxmlformats.org/officeDocument/2006/relationships/slide" Target="slides/slide57.xml"/><Relationship Id="rId133" Type="http://schemas.openxmlformats.org/officeDocument/2006/relationships/slide" Target="slides/slide59.xml"/><Relationship Id="rId134" Type="http://schemas.openxmlformats.org/officeDocument/2006/relationships/slide" Target="slides/slide60.xml"/><Relationship Id="rId135" Type="http://schemas.openxmlformats.org/officeDocument/2006/relationships/slide" Target="slides/slide62.xml"/><Relationship Id="rId136" Type="http://schemas.openxmlformats.org/officeDocument/2006/relationships/slide" Target="slides/slide63.xml"/><Relationship Id="rId137" Type="http://schemas.openxmlformats.org/officeDocument/2006/relationships/slide" Target="slides/slide64.xml"/><Relationship Id="rId138" Type="http://schemas.openxmlformats.org/officeDocument/2006/relationships/slide" Target="slides/slide65.xml"/><Relationship Id="rId139" Type="http://schemas.openxmlformats.org/officeDocument/2006/relationships/slide" Target="slides/slide67.xml"/><Relationship Id="rId140" Type="http://schemas.openxmlformats.org/officeDocument/2006/relationships/slide" Target="slides/slide68.xml"/><Relationship Id="rId141" Type="http://schemas.openxmlformats.org/officeDocument/2006/relationships/slide" Target="slides/slide70.xml"/><Relationship Id="rId142" Type="http://schemas.openxmlformats.org/officeDocument/2006/relationships/slide" Target="slides/slide71.xml"/><Relationship Id="rId143" Type="http://schemas.openxmlformats.org/officeDocument/2006/relationships/slide" Target="slides/slide72.xml"/><Relationship Id="rId144" Type="http://schemas.openxmlformats.org/officeDocument/2006/relationships/slide" Target="slides/slide74.xml"/><Relationship Id="rId145" Type="http://schemas.openxmlformats.org/officeDocument/2006/relationships/slide" Target="slides/slide75.xml"/><Relationship Id="rId146" Type="http://schemas.openxmlformats.org/officeDocument/2006/relationships/slide" Target="slides/slide76.xml"/><Relationship Id="rId147" Type="http://schemas.openxmlformats.org/officeDocument/2006/relationships/slide" Target="slides/slide77.xml"/><Relationship Id="rId148" Type="http://schemas.openxmlformats.org/officeDocument/2006/relationships/slide" Target="slides/slide79.xml"/><Relationship Id="rId149" Type="http://schemas.openxmlformats.org/officeDocument/2006/relationships/slide" Target="slides/slide81.xml"/><Relationship Id="rId150" Type="http://schemas.openxmlformats.org/officeDocument/2006/relationships/slide" Target="slides/slide82.xml"/><Relationship Id="rId151" Type="http://schemas.openxmlformats.org/officeDocument/2006/relationships/slide" Target="slides/slide83.xml"/><Relationship Id="rId152" Type="http://schemas.openxmlformats.org/officeDocument/2006/relationships/slide" Target="slides/slide84.xml"/><Relationship Id="rId153" Type="http://schemas.openxmlformats.org/officeDocument/2006/relationships/slide" Target="slides/slide85.xml"/><Relationship Id="rId154" Type="http://schemas.openxmlformats.org/officeDocument/2006/relationships/slide" Target="slides/slide86.xml"/><Relationship Id="rId155" Type="http://schemas.openxmlformats.org/officeDocument/2006/relationships/slide" Target="slides/slide88.xml"/><Relationship Id="rId156" Type="http://schemas.openxmlformats.org/officeDocument/2006/relationships/slide" Target="slides/slide89.xml"/><Relationship Id="rId157" Type="http://schemas.openxmlformats.org/officeDocument/2006/relationships/slide" Target="slides/slide90.xml"/><Relationship Id="rId158" Type="http://schemas.openxmlformats.org/officeDocument/2006/relationships/slide" Target="slides/slide91.xml"/><Relationship Id="rId159" Type="http://schemas.openxmlformats.org/officeDocument/2006/relationships/slide" Target="slides/slide92.xml"/><Relationship Id="rId160" Type="http://schemas.openxmlformats.org/officeDocument/2006/relationships/slide" Target="slides/slide93.xml"/><Relationship Id="rId161" Type="http://schemas.openxmlformats.org/officeDocument/2006/relationships/slide" Target="slides/slide94.xml"/><Relationship Id="rId162" Type="http://schemas.openxmlformats.org/officeDocument/2006/relationships/slide" Target="slides/slide95.xml"/><Relationship Id="rId163" Type="http://schemas.openxmlformats.org/officeDocument/2006/relationships/slide" Target="slides/slide96.xml"/><Relationship Id="rId164" Type="http://schemas.openxmlformats.org/officeDocument/2006/relationships/slide" Target="slides/slide97.xml"/><Relationship Id="rId165" Type="http://schemas.openxmlformats.org/officeDocument/2006/relationships/slide" Target="slides/slide98.xml"/><Relationship Id="rId166" Type="http://schemas.openxmlformats.org/officeDocument/2006/relationships/slide" Target="slides/slide99.xml"/><Relationship Id="rId167" Type="http://schemas.openxmlformats.org/officeDocument/2006/relationships/slide" Target="slides/slide100.xml"/><Relationship Id="rId168" Type="http://schemas.openxmlformats.org/officeDocument/2006/relationships/slide" Target="slides/slide101.xml"/><Relationship Id="rId169" Type="http://schemas.openxmlformats.org/officeDocument/2006/relationships/slide" Target="slides/slide102.xml"/><Relationship Id="rId170" Type="http://schemas.openxmlformats.org/officeDocument/2006/relationships/slide" Target="slides/slide103.xml"/><Relationship Id="rId171" Type="http://schemas.openxmlformats.org/officeDocument/2006/relationships/slide" Target="slides/slide104.xml"/><Relationship Id="rId172" Type="http://schemas.openxmlformats.org/officeDocument/2006/relationships/slide" Target="slides/slide105.xml"/><Relationship Id="rId173" Type="http://schemas.openxmlformats.org/officeDocument/2006/relationships/slide" Target="slides/slide106.xml"/><Relationship Id="rId174" Type="http://schemas.openxmlformats.org/officeDocument/2006/relationships/slide" Target="slides/slide107.xml"/><Relationship Id="rId175" Type="http://schemas.openxmlformats.org/officeDocument/2006/relationships/slide" Target="slides/slide108.xml"/><Relationship Id="rId176" Type="http://schemas.openxmlformats.org/officeDocument/2006/relationships/slide" Target="slides/slide109.xml"/><Relationship Id="rId177" Type="http://schemas.openxmlformats.org/officeDocument/2006/relationships/slide" Target="slides/slide110.xml"/><Relationship Id="rId178" Type="http://schemas.openxmlformats.org/officeDocument/2006/relationships/slide" Target="slides/slide111.xml"/><Relationship Id="rId179" Type="http://schemas.openxmlformats.org/officeDocument/2006/relationships/slide" Target="slides/slide112.xml"/><Relationship Id="rId180" Type="http://schemas.openxmlformats.org/officeDocument/2006/relationships/slide" Target="slides/slide113.xml"/><Relationship Id="rId181" Type="http://schemas.openxmlformats.org/officeDocument/2006/relationships/slide" Target="slides/slide114.xml"/><Relationship Id="rId182" Type="http://schemas.openxmlformats.org/officeDocument/2006/relationships/slide" Target="slides/slide115.xml"/><Relationship Id="rId183" Type="http://schemas.openxmlformats.org/officeDocument/2006/relationships/slide" Target="slides/slide116.xml"/><Relationship Id="rId184" Type="http://schemas.openxmlformats.org/officeDocument/2006/relationships/slide" Target="slides/slide118.xml"/><Relationship Id="rId185" Type="http://schemas.openxmlformats.org/officeDocument/2006/relationships/slide" Target="slides/slide119.xml"/><Relationship Id="rId186" Type="http://schemas.openxmlformats.org/officeDocument/2006/relationships/slide" Target="slides/slide120.xml"/><Relationship Id="rId187" Type="http://schemas.openxmlformats.org/officeDocument/2006/relationships/slide" Target="slides/slide121.xml"/><Relationship Id="rId188" Type="http://schemas.openxmlformats.org/officeDocument/2006/relationships/slide" Target="slides/slide122.xml"/><Relationship Id="rId189" Type="http://schemas.openxmlformats.org/officeDocument/2006/relationships/slide" Target="slides/slide123.xml"/><Relationship Id="rId190" Type="http://schemas.openxmlformats.org/officeDocument/2006/relationships/slide" Target="slides/slide124.xml"/><Relationship Id="rId191" Type="http://schemas.openxmlformats.org/officeDocument/2006/relationships/slide" Target="slides/slide125.xml"/><Relationship Id="rId192" Type="http://schemas.openxmlformats.org/officeDocument/2006/relationships/slide" Target="slides/slide126.xml"/><Relationship Id="rId193" Type="http://schemas.openxmlformats.org/officeDocument/2006/relationships/slide" Target="slides/slide127.xml"/><Relationship Id="rId194" Type="http://schemas.openxmlformats.org/officeDocument/2006/relationships/slide" Target="slides/slide128.xml"/><Relationship Id="rId195" Type="http://schemas.openxmlformats.org/officeDocument/2006/relationships/slide" Target="slides/slide129.xml"/><Relationship Id="rId196" Type="http://schemas.openxmlformats.org/officeDocument/2006/relationships/slide" Target="slides/slide130.xml"/><Relationship Id="rId197" Type="http://schemas.openxmlformats.org/officeDocument/2006/relationships/slide" Target="slides/slide131.xml"/><Relationship Id="rId198" Type="http://schemas.openxmlformats.org/officeDocument/2006/relationships/slide" Target="slides/slide132.xml"/><Relationship Id="rId199" Type="http://schemas.openxmlformats.org/officeDocument/2006/relationships/slide" Target="slides/slide133.xml"/><Relationship Id="rId200" Type="http://schemas.openxmlformats.org/officeDocument/2006/relationships/slide" Target="slides/slide134.xml"/><Relationship Id="rId201" Type="http://schemas.openxmlformats.org/officeDocument/2006/relationships/slide" Target="slides/slide135.xml"/><Relationship Id="rId202" Type="http://schemas.openxmlformats.org/officeDocument/2006/relationships/slide" Target="slides/slide136.xml"/><Relationship Id="rId203" Type="http://schemas.openxmlformats.org/officeDocument/2006/relationships/slide" Target="slides/slide137.xml"/><Relationship Id="rId204" Type="http://schemas.openxmlformats.org/officeDocument/2006/relationships/slide" Target="slides/slide138.xml"/><Relationship Id="rId205" Type="http://schemas.openxmlformats.org/officeDocument/2006/relationships/slide" Target="slides/slide139.xml"/><Relationship Id="rId206" Type="http://schemas.openxmlformats.org/officeDocument/2006/relationships/slide" Target="slides/slide140.xml"/><Relationship Id="rId207" Type="http://schemas.openxmlformats.org/officeDocument/2006/relationships/slide" Target="slides/slide141.xml"/><Relationship Id="rId208" Type="http://schemas.openxmlformats.org/officeDocument/2006/relationships/slide" Target="slides/slide142.xml"/><Relationship Id="rId209" Type="http://schemas.openxmlformats.org/officeDocument/2006/relationships/slide" Target="slides/slide143.xml"/><Relationship Id="rId210" Type="http://schemas.openxmlformats.org/officeDocument/2006/relationships/slide" Target="slides/slide144.xml"/><Relationship Id="rId211" Type="http://schemas.openxmlformats.org/officeDocument/2006/relationships/slide" Target="slides/slide145.xml"/><Relationship Id="rId212" Type="http://schemas.openxmlformats.org/officeDocument/2006/relationships/slide" Target="slides/slide146.xml"/><Relationship Id="rId213" Type="http://schemas.openxmlformats.org/officeDocument/2006/relationships/slide" Target="slides/slide147.xml"/><Relationship Id="rId214" Type="http://schemas.openxmlformats.org/officeDocument/2006/relationships/slide" Target="slides/slide148.xml"/><Relationship Id="rId215" Type="http://schemas.openxmlformats.org/officeDocument/2006/relationships/slide" Target="slides/slide149.xml"/><Relationship Id="rId216" Type="http://schemas.openxmlformats.org/officeDocument/2006/relationships/slide" Target="slides/slide150.xml"/><Relationship Id="rId217" Type="http://schemas.openxmlformats.org/officeDocument/2006/relationships/slide" Target="slides/slide151.xml"/><Relationship Id="rId218" Type="http://schemas.openxmlformats.org/officeDocument/2006/relationships/slide" Target="slides/slide152.xml"/><Relationship Id="rId219" Type="http://schemas.openxmlformats.org/officeDocument/2006/relationships/slide" Target="slides/slide154.xml"/><Relationship Id="rId220" Type="http://schemas.openxmlformats.org/officeDocument/2006/relationships/slide" Target="slides/slide155.xml"/><Relationship Id="rId221" Type="http://schemas.openxmlformats.org/officeDocument/2006/relationships/slide" Target="slides/slide156.xml"/><Relationship Id="rId222" Type="http://schemas.openxmlformats.org/officeDocument/2006/relationships/slide" Target="slides/slide157.xml"/><Relationship Id="rId223" Type="http://schemas.openxmlformats.org/officeDocument/2006/relationships/slide" Target="slides/slide158.xml"/><Relationship Id="rId224" Type="http://schemas.openxmlformats.org/officeDocument/2006/relationships/slide" Target="slides/slide159.xml"/><Relationship Id="rId225" Type="http://schemas.openxmlformats.org/officeDocument/2006/relationships/slide" Target="slides/slide160.xml"/><Relationship Id="rId226" Type="http://schemas.openxmlformats.org/officeDocument/2006/relationships/slide" Target="slides/slide161.xml"/><Relationship Id="rId227" Type="http://schemas.openxmlformats.org/officeDocument/2006/relationships/slide" Target="slides/slide162.xml"/><Relationship Id="rId228" Type="http://schemas.openxmlformats.org/officeDocument/2006/relationships/slide" Target="slides/slide163.xml"/><Relationship Id="rId229" Type="http://schemas.openxmlformats.org/officeDocument/2006/relationships/slide" Target="slides/slide164.xml"/><Relationship Id="rId230" Type="http://schemas.openxmlformats.org/officeDocument/2006/relationships/slide" Target="slides/slide165.xml"/><Relationship Id="rId231" Type="http://schemas.openxmlformats.org/officeDocument/2006/relationships/slide" Target="slides/slide1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Tenaga kerja</c:v>
                </c:pt>
              </c:strCache>
            </c:strRef>
          </c:tx>
          <c:spPr>
            <a:ln w="28575">
              <a:solidFill>
                <a:srgbClr val="0B5E6E"/>
              </a:solidFill>
            </a:ln>
          </c:spPr>
          <c:marker>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254.537</c:v>
                </c:pt>
                <c:pt idx="1">
                  <c:v>263.878</c:v>
                </c:pt>
                <c:pt idx="2">
                  <c:v>273.563</c:v>
                </c:pt>
                <c:pt idx="3">
                  <c:v>354.684</c:v>
                </c:pt>
                <c:pt idx="4">
                  <c:v>334.784</c:v>
                </c:pt>
                <c:pt idx="5">
                  <c:v>313.84</c:v>
                </c:pt>
                <c:pt idx="6">
                  <c:v>310.755</c:v>
                </c:pt>
                <c:pt idx="7">
                  <c:v>395.284</c:v>
                </c:pt>
                <c:pt idx="8">
                  <c:v>359.34</c:v>
                </c:pt>
                <c:pt idx="9">
                  <c:v>350.946</c:v>
                </c:pt>
                <c:pt idx="10">
                  <c:v>364.994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pPr>
          </a:p>
        </c:txPr>
        <c:crossAx val="2140495176"/>
        <c:crosses val="autoZero"/>
        <c:auto val="1"/>
        <c:lblAlgn val="ctr"/>
        <c:lblOffset val="100"/>
        <c:noMultiLvlLbl val="0"/>
      </c:catAx>
      <c:valAx>
        <c:axId val="2140495176"/>
        <c:scaling/>
        <c:delete val="0"/>
        <c:axPos val="l"/>
        <c:majorGridlines>
          <c:spPr>
            <a:ln>
              <a:solidFill>
                <a:srgbClr val="E3EEF1"/>
              </a:solidFill>
            </a:ln>
          </c:spPr>
        </c:majorGridlines>
        <c:numFmt formatCode="#,##0" sourceLinked="0"/>
        <c:majorTickMark val="out"/>
        <c:minorTickMark val="none"/>
        <c:tickLblPos val="nextTo"/>
        <c:spPr>
          <a:ln>
            <a:noFill/>
          </a:ln>
        </c:spPr>
        <c:txPr>
          <a:bodyPr/>
          <a:lstStyle/>
          <a:p>
            <a:pPr>
              <a:defRPr sz="900"/>
            </a:pPr>
          </a:p>
        </c:txPr>
        <c:crossAx val="2118791784"/>
        <c:crosses val="autoZero"/>
      </c:valAx>
    </c:plotArea>
    <c:plotVisOnly val="1"/>
    <c:dispBlanksAs val="gap"/>
    <c:showDLblsOverMax val="0"/>
  </c:chart>
  <c:txPr>
    <a:bodyPr/>
    <a:lstStyle/>
    <a:p>
      <a:pPr>
        <a:defRPr sz="1000">
          <a:solidFill>
            <a:srgbClr val="14313B"/>
          </a:solidFill>
          <a:latin typeface="Calibri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Pengeluaran</c:v>
                </c:pt>
              </c:strCache>
            </c:strRef>
          </c:tx>
          <c:spPr>
            <a:ln w="28575">
              <a:solidFill>
                <a:srgbClr val="39C0D3"/>
              </a:solidFill>
            </a:ln>
          </c:spPr>
          <c:marker>
            <c:spPr>
              <a:solidFill>
                <a:srgbClr val="39C0D3"/>
              </a:solidFill>
              <a:ln>
                <a:solidFill>
                  <a:srgbClr val="39C0D3"/>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1023.749</c:v>
                </c:pt>
                <c:pt idx="1">
                  <c:v>1128.845</c:v>
                </c:pt>
                <c:pt idx="2">
                  <c:v>1244.73</c:v>
                </c:pt>
                <c:pt idx="3">
                  <c:v>1372.512</c:v>
                </c:pt>
                <c:pt idx="4">
                  <c:v>1245.981</c:v>
                </c:pt>
                <c:pt idx="5">
                  <c:v>1258.716</c:v>
                </c:pt>
                <c:pt idx="6">
                  <c:v>2035.275</c:v>
                </c:pt>
                <c:pt idx="7">
                  <c:v>2009.98</c:v>
                </c:pt>
                <c:pt idx="8">
                  <c:v>2430.839</c:v>
                </c:pt>
                <c:pt idx="9">
                  <c:v>2720.479</c:v>
                </c:pt>
                <c:pt idx="10">
                  <c:v>2720.209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pPr>
          </a:p>
        </c:txPr>
        <c:crossAx val="2140495176"/>
        <c:crosses val="autoZero"/>
        <c:auto val="1"/>
        <c:lblAlgn val="ctr"/>
        <c:lblOffset val="100"/>
        <c:noMultiLvlLbl val="0"/>
      </c:catAx>
      <c:valAx>
        <c:axId val="2140495176"/>
        <c:scaling/>
        <c:delete val="0"/>
        <c:axPos val="l"/>
        <c:majorGridlines>
          <c:spPr>
            <a:ln>
              <a:solidFill>
                <a:srgbClr val="E3EEF1"/>
              </a:solidFill>
            </a:ln>
          </c:spPr>
        </c:majorGridlines>
        <c:numFmt formatCode="#,##0" sourceLinked="0"/>
        <c:majorTickMark val="out"/>
        <c:minorTickMark val="none"/>
        <c:tickLblPos val="nextTo"/>
        <c:spPr>
          <a:ln>
            <a:noFill/>
          </a:ln>
        </c:spPr>
        <c:txPr>
          <a:bodyPr/>
          <a:lstStyle/>
          <a:p>
            <a:pPr>
              <a:defRPr sz="900"/>
            </a:pPr>
          </a:p>
        </c:txPr>
        <c:crossAx val="2118791784"/>
        <c:crosses val="autoZero"/>
      </c:valAx>
    </c:plotArea>
    <c:plotVisOnly val="1"/>
    <c:dispBlanksAs val="gap"/>
    <c:showDLblsOverMax val="0"/>
  </c:chart>
  <c:txPr>
    <a:bodyPr/>
    <a:lstStyle/>
    <a:p>
      <a:pPr>
        <a:defRPr sz="1000">
          <a:solidFill>
            <a:srgbClr val="14313B"/>
          </a:solidFill>
          <a:latin typeface="Calibri (M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NTL rata-rata</c:v>
                </c:pt>
              </c:strCache>
            </c:strRef>
          </c:tx>
          <c:spPr>
            <a:ln w="28575">
              <a:solidFill>
                <a:srgbClr val="0B5E6E"/>
              </a:solidFill>
            </a:ln>
          </c:spPr>
          <c:marker>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1.261585</c:v>
                </c:pt>
                <c:pt idx="1">
                  <c:v>1.054415</c:v>
                </c:pt>
                <c:pt idx="2">
                  <c:v>1.438316</c:v>
                </c:pt>
                <c:pt idx="3">
                  <c:v>1.668258</c:v>
                </c:pt>
                <c:pt idx="4">
                  <c:v>2.004828</c:v>
                </c:pt>
                <c:pt idx="5">
                  <c:v>1.827902</c:v>
                </c:pt>
                <c:pt idx="6">
                  <c:v>1.540893</c:v>
                </c:pt>
                <c:pt idx="7">
                  <c:v>1.483312</c:v>
                </c:pt>
                <c:pt idx="8">
                  <c:v>2.512341</c:v>
                </c:pt>
                <c:pt idx="9">
                  <c:v>2.457036</c:v>
                </c:pt>
                <c:pt idx="10">
                  <c:v>2.287813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EF1"/>
              </a:solidFill>
            </a:ln>
          </c:spPr>
        </c:majorGridlines>
        <c:numFmt formatCode="0.0" sourceLinked="0"/>
        <c:majorTickMark val="out"/>
        <c:minorTickMark val="none"/>
        <c:tickLblPos val="nextTo"/>
        <c:spPr>
          <a:ln>
            <a:noFill/>
          </a:ln>
        </c:spPr>
        <c:txPr>
          <a:bodyPr/>
          <a:lstStyle/>
          <a:p>
            <a:pPr>
              <a:defRPr sz="800"/>
            </a:pPr>
          </a:p>
        </c:txPr>
        <c:crossAx val="2118791784"/>
        <c:crosses val="autoZero"/>
      </c:valAx>
    </c:plotArea>
    <c:plotVisOnly val="1"/>
    <c:dispBlanksAs val="gap"/>
    <c:showDLblsOverMax val="0"/>
  </c:chart>
  <c:txPr>
    <a:bodyPr/>
    <a:lstStyle/>
    <a:p>
      <a:pPr>
        <a:defRPr sz="900">
          <a:solidFill>
            <a:srgbClr val="14313B"/>
          </a:solidFill>
          <a:latin typeface="Calibri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Accuracy</c:v>
                </c:pt>
              </c:strCache>
            </c:strRef>
          </c:tx>
          <c:spPr>
            <a:ln w="28575">
              <a:solidFill>
                <a:srgbClr val="0B5E6E"/>
              </a:solidFill>
            </a:ln>
          </c:spPr>
          <c:marker>
            <c:spPr>
              <a:solidFill>
                <a:srgbClr val="0B5E6E"/>
              </a:solidFill>
              <a:ln>
                <a:solidFill>
                  <a:srgbClr val="0B5E6E"/>
                </a:solidFill>
              </a:ln>
            </c:spPr>
          </c:marker>
          <c:cat>
            <c:strRef>
              <c:f>Sheet1!$A$2:$A$11</c:f>
              <c:strCache>
                <c:ptCount val="10"/>
                <c:pt idx="0">
                  <c:v>0,30</c:v>
                </c:pt>
                <c:pt idx="1">
                  <c:v>0,35</c:v>
                </c:pt>
                <c:pt idx="2">
                  <c:v>0,40</c:v>
                </c:pt>
                <c:pt idx="3">
                  <c:v>0,45</c:v>
                </c:pt>
                <c:pt idx="4">
                  <c:v>0,50</c:v>
                </c:pt>
                <c:pt idx="5">
                  <c:v>0,55</c:v>
                </c:pt>
                <c:pt idx="6">
                  <c:v>0,60</c:v>
                </c:pt>
                <c:pt idx="7">
                  <c:v>0,65</c:v>
                </c:pt>
                <c:pt idx="8">
                  <c:v>0,70</c:v>
                </c:pt>
                <c:pt idx="9">
                  <c:v>0,75</c:v>
                </c:pt>
              </c:strCache>
            </c:strRef>
          </c:cat>
          <c:val>
            <c:numRef>
              <c:f>Sheet1!$B$2:$B$11</c:f>
              <c:numCache>
                <c:formatCode>General</c:formatCode>
                <c:ptCount val="10"/>
                <c:pt idx="0">
                  <c:v>0.8499</c:v>
                </c:pt>
                <c:pt idx="1">
                  <c:v>0.8582</c:v>
                </c:pt>
                <c:pt idx="2">
                  <c:v>0.883</c:v>
                </c:pt>
                <c:pt idx="3">
                  <c:v>0.8995</c:v>
                </c:pt>
                <c:pt idx="4">
                  <c:v>0.8995</c:v>
                </c:pt>
                <c:pt idx="5">
                  <c:v>0.9099</c:v>
                </c:pt>
                <c:pt idx="6">
                  <c:v>0.8977</c:v>
                </c:pt>
                <c:pt idx="7">
                  <c:v>0.8943</c:v>
                </c:pt>
                <c:pt idx="8">
                  <c:v>0.8855</c:v>
                </c:pt>
                <c:pt idx="9">
                  <c:v>0.8455</c:v>
                </c:pt>
              </c:numCache>
            </c:numRef>
          </c:val>
          <c:smooth val="0"/>
        </c:ser>
        <c:ser>
          <c:idx val="1"/>
          <c:order val="1"/>
          <c:tx>
            <c:strRef>
              <c:f>Sheet1!$C$1</c:f>
              <c:strCache>
                <c:ptCount val="1"/>
                <c:pt idx="0">
                  <c:v>Precision</c:v>
                </c:pt>
              </c:strCache>
            </c:strRef>
          </c:tx>
          <c:spPr>
            <a:ln w="28575">
              <a:solidFill>
                <a:srgbClr val="39C0D3"/>
              </a:solidFill>
            </a:ln>
          </c:spPr>
          <c:marker>
            <c:spPr>
              <a:solidFill>
                <a:srgbClr val="39C0D3"/>
              </a:solidFill>
              <a:ln>
                <a:solidFill>
                  <a:srgbClr val="39C0D3"/>
                </a:solidFill>
              </a:ln>
            </c:spPr>
          </c:marker>
          <c:cat>
            <c:strRef>
              <c:f>Sheet1!$A$2:$A$11</c:f>
              <c:strCache>
                <c:ptCount val="10"/>
                <c:pt idx="0">
                  <c:v>0,30</c:v>
                </c:pt>
                <c:pt idx="1">
                  <c:v>0,35</c:v>
                </c:pt>
                <c:pt idx="2">
                  <c:v>0,40</c:v>
                </c:pt>
                <c:pt idx="3">
                  <c:v>0,45</c:v>
                </c:pt>
                <c:pt idx="4">
                  <c:v>0,50</c:v>
                </c:pt>
                <c:pt idx="5">
                  <c:v>0,55</c:v>
                </c:pt>
                <c:pt idx="6">
                  <c:v>0,60</c:v>
                </c:pt>
                <c:pt idx="7">
                  <c:v>0,65</c:v>
                </c:pt>
                <c:pt idx="8">
                  <c:v>0,70</c:v>
                </c:pt>
                <c:pt idx="9">
                  <c:v>0,75</c:v>
                </c:pt>
              </c:strCache>
            </c:strRef>
          </c:cat>
          <c:val>
            <c:numRef>
              <c:f>Sheet1!$C$2:$C$11</c:f>
              <c:numCache>
                <c:formatCode>General</c:formatCode>
                <c:ptCount val="10"/>
                <c:pt idx="0">
                  <c:v>0.5121</c:v>
                </c:pt>
                <c:pt idx="1">
                  <c:v>0.5291</c:v>
                </c:pt>
                <c:pt idx="2">
                  <c:v>0.5877</c:v>
                </c:pt>
                <c:pt idx="3">
                  <c:v>0.6461</c:v>
                </c:pt>
                <c:pt idx="4">
                  <c:v>0.66</c:v>
                </c:pt>
                <c:pt idx="5">
                  <c:v>0.7209</c:v>
                </c:pt>
                <c:pt idx="6">
                  <c:v>0.7067</c:v>
                </c:pt>
                <c:pt idx="7">
                  <c:v>0.7843</c:v>
                </c:pt>
                <c:pt idx="8">
                  <c:v>0.875</c:v>
                </c:pt>
                <c:pt idx="9">
                  <c:v>1.0</c:v>
                </c:pt>
              </c:numCache>
            </c:numRef>
          </c:val>
          <c:smooth val="0"/>
        </c:ser>
        <c:ser>
          <c:idx val="2"/>
          <c:order val="2"/>
          <c:tx>
            <c:strRef>
              <c:f>Sheet1!$D$1</c:f>
              <c:strCache>
                <c:ptCount val="1"/>
                <c:pt idx="0">
                  <c:v>Recall</c:v>
                </c:pt>
              </c:strCache>
            </c:strRef>
          </c:tx>
          <c:spPr>
            <a:ln w="28575">
              <a:solidFill>
                <a:srgbClr val="FFD23B"/>
              </a:solidFill>
            </a:ln>
          </c:spPr>
          <c:marker>
            <c:spPr>
              <a:solidFill>
                <a:srgbClr val="FFD23B"/>
              </a:solidFill>
              <a:ln>
                <a:solidFill>
                  <a:srgbClr val="FFD23B"/>
                </a:solidFill>
              </a:ln>
            </c:spPr>
          </c:marker>
          <c:cat>
            <c:strRef>
              <c:f>Sheet1!$A$2:$A$11</c:f>
              <c:strCache>
                <c:ptCount val="10"/>
                <c:pt idx="0">
                  <c:v>0,30</c:v>
                </c:pt>
                <c:pt idx="1">
                  <c:v>0,35</c:v>
                </c:pt>
                <c:pt idx="2">
                  <c:v>0,40</c:v>
                </c:pt>
                <c:pt idx="3">
                  <c:v>0,45</c:v>
                </c:pt>
                <c:pt idx="4">
                  <c:v>0,50</c:v>
                </c:pt>
                <c:pt idx="5">
                  <c:v>0,55</c:v>
                </c:pt>
                <c:pt idx="6">
                  <c:v>0,60</c:v>
                </c:pt>
                <c:pt idx="7">
                  <c:v>0,65</c:v>
                </c:pt>
                <c:pt idx="8">
                  <c:v>0,70</c:v>
                </c:pt>
                <c:pt idx="9">
                  <c:v>0,75</c:v>
                </c:pt>
              </c:strCache>
            </c:strRef>
          </c:cat>
          <c:val>
            <c:numRef>
              <c:f>Sheet1!$D$2:$D$11</c:f>
              <c:numCache>
                <c:formatCode>General</c:formatCode>
                <c:ptCount val="10"/>
                <c:pt idx="0">
                  <c:v>0.8415</c:v>
                </c:pt>
                <c:pt idx="1">
                  <c:v>0.8415</c:v>
                </c:pt>
                <c:pt idx="2">
                  <c:v>0.8415</c:v>
                </c:pt>
                <c:pt idx="3">
                  <c:v>0.7886</c:v>
                </c:pt>
                <c:pt idx="4">
                  <c:v>0.7358</c:v>
                </c:pt>
                <c:pt idx="5">
                  <c:v>0.6912</c:v>
                </c:pt>
                <c:pt idx="6">
                  <c:v>0.5909</c:v>
                </c:pt>
                <c:pt idx="7">
                  <c:v>0.4459</c:v>
                </c:pt>
                <c:pt idx="8">
                  <c:v>0.3122</c:v>
                </c:pt>
                <c:pt idx="9">
                  <c:v>0.0111</c:v>
                </c:pt>
              </c:numCache>
            </c:numRef>
          </c:val>
          <c:smooth val="0"/>
        </c:ser>
        <c:ser>
          <c:idx val="3"/>
          <c:order val="3"/>
          <c:tx>
            <c:strRef>
              <c:f>Sheet1!$E$1</c:f>
              <c:strCache>
                <c:ptCount val="1"/>
                <c:pt idx="0">
                  <c:v>F1</c:v>
                </c:pt>
              </c:strCache>
            </c:strRef>
          </c:tx>
          <c:spPr>
            <a:ln w="28575">
              <a:solidFill>
                <a:srgbClr val="E4604F"/>
              </a:solidFill>
            </a:ln>
          </c:spPr>
          <c:marker>
            <c:spPr>
              <a:solidFill>
                <a:srgbClr val="E4604F"/>
              </a:solidFill>
              <a:ln>
                <a:solidFill>
                  <a:srgbClr val="E4604F"/>
                </a:solidFill>
              </a:ln>
            </c:spPr>
          </c:marker>
          <c:cat>
            <c:strRef>
              <c:f>Sheet1!$A$2:$A$11</c:f>
              <c:strCache>
                <c:ptCount val="10"/>
                <c:pt idx="0">
                  <c:v>0,30</c:v>
                </c:pt>
                <c:pt idx="1">
                  <c:v>0,35</c:v>
                </c:pt>
                <c:pt idx="2">
                  <c:v>0,40</c:v>
                </c:pt>
                <c:pt idx="3">
                  <c:v>0,45</c:v>
                </c:pt>
                <c:pt idx="4">
                  <c:v>0,50</c:v>
                </c:pt>
                <c:pt idx="5">
                  <c:v>0,55</c:v>
                </c:pt>
                <c:pt idx="6">
                  <c:v>0,60</c:v>
                </c:pt>
                <c:pt idx="7">
                  <c:v>0,65</c:v>
                </c:pt>
                <c:pt idx="8">
                  <c:v>0,70</c:v>
                </c:pt>
                <c:pt idx="9">
                  <c:v>0,75</c:v>
                </c:pt>
              </c:strCache>
            </c:strRef>
          </c:cat>
          <c:val>
            <c:numRef>
              <c:f>Sheet1!$E$2:$E$11</c:f>
              <c:numCache>
                <c:formatCode>General</c:formatCode>
                <c:ptCount val="10"/>
                <c:pt idx="0">
                  <c:v>0.6367</c:v>
                </c:pt>
                <c:pt idx="1">
                  <c:v>0.6497</c:v>
                </c:pt>
                <c:pt idx="2">
                  <c:v>0.692</c:v>
                </c:pt>
                <c:pt idx="3">
                  <c:v>0.7103</c:v>
                </c:pt>
                <c:pt idx="4">
                  <c:v>0.6958</c:v>
                </c:pt>
                <c:pt idx="5">
                  <c:v>0.7057</c:v>
                </c:pt>
                <c:pt idx="6">
                  <c:v>0.6436</c:v>
                </c:pt>
                <c:pt idx="7">
                  <c:v>0.5686</c:v>
                </c:pt>
                <c:pt idx="8">
                  <c:v>0.4601</c:v>
                </c:pt>
                <c:pt idx="9">
                  <c:v>0.0221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EF1"/>
              </a:solidFill>
            </a:ln>
          </c:spPr>
        </c:majorGridlines>
        <c:numFmt formatCode="0.00" sourceLinked="0"/>
        <c:majorTickMark val="out"/>
        <c:minorTickMark val="none"/>
        <c:tickLblPos val="nextTo"/>
        <c:spPr>
          <a:ln>
            <a:noFill/>
          </a:ln>
        </c:spPr>
        <c:txPr>
          <a:bodyPr/>
          <a:lstStyle/>
          <a:p>
            <a:pPr>
              <a:defRPr sz="800"/>
            </a:pPr>
          </a:p>
        </c:txPr>
        <c:crossAx val="2118791784"/>
        <c:crosses val="autoZero"/>
      </c:valAx>
    </c:plotArea>
    <c:legend>
      <c:legendPos val="t"/>
      <c:layout/>
      <c:overlay val="0"/>
      <c:txPr>
        <a:bodyPr/>
        <a:lstStyle/>
        <a:p>
          <a:pPr>
            <a:defRPr sz="900"/>
          </a:pPr>
        </a:p>
      </c:txPr>
    </c:legend>
    <c:plotVisOnly val="1"/>
    <c:dispBlanksAs val="gap"/>
    <c:showDLblsOverMax val="0"/>
  </c:chart>
  <c:txPr>
    <a:bodyPr/>
    <a:lstStyle/>
    <a:p>
      <a:pPr>
        <a:defRPr sz="900">
          <a:solidFill>
            <a:srgbClr val="14313B"/>
          </a:solidFill>
          <a:latin typeface="Calibri (M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U1 bias</c:v>
                </c:pt>
              </c:strCache>
            </c:strRef>
          </c:tx>
          <c:spPr>
            <a:solidFill>
              <a:srgbClr val="E4604F"/>
            </a:solidFill>
          </c:spPr>
          <c:cat>
            <c:strRef>
              <c:f>Sheet1!$A$2:$A$7</c:f>
              <c:strCache>
                <c:ptCount val="6"/>
                <c:pt idx="0">
                  <c:v>P1 Hotel</c:v>
                </c:pt>
                <c:pt idx="1">
                  <c:v>P1 TPK</c:v>
                </c:pt>
                <c:pt idx="2">
                  <c:v>P2 ODTW</c:v>
                </c:pt>
                <c:pt idx="3">
                  <c:v>P4 Lahan</c:v>
                </c:pt>
                <c:pt idx="4">
                  <c:v>P5 Wisatawan</c:v>
                </c:pt>
                <c:pt idx="5">
                  <c:v>Penuh PDRB</c:v>
                </c:pt>
              </c:strCache>
            </c:strRef>
          </c:cat>
          <c:val>
            <c:numRef>
              <c:f>Sheet1!$B$2:$B$7</c:f>
              <c:numCache>
                <c:formatCode>General</c:formatCode>
                <c:ptCount val="6"/>
                <c:pt idx="0">
                  <c:v>0.172838</c:v>
                </c:pt>
                <c:pt idx="1">
                  <c:v>0.080703</c:v>
                </c:pt>
                <c:pt idx="2">
                  <c:v>0.7281</c:v>
                </c:pt>
                <c:pt idx="3">
                  <c:v>0.424957</c:v>
                </c:pt>
                <c:pt idx="4">
                  <c:v>0.473686</c:v>
                </c:pt>
                <c:pt idx="5">
                  <c:v>0.927264</c:v>
                </c:pt>
              </c:numCache>
            </c:numRef>
          </c:val>
        </c:ser>
        <c:ser>
          <c:idx val="1"/>
          <c:order val="1"/>
          <c:tx>
            <c:strRef>
              <c:f>Sheet1!$C$1</c:f>
              <c:strCache>
                <c:ptCount val="1"/>
                <c:pt idx="0">
                  <c:v>U2 variasi</c:v>
                </c:pt>
              </c:strCache>
            </c:strRef>
          </c:tx>
          <c:spPr>
            <a:solidFill>
              <a:srgbClr val="FFD23B"/>
            </a:solidFill>
          </c:spPr>
          <c:cat>
            <c:strRef>
              <c:f>Sheet1!$A$2:$A$7</c:f>
              <c:strCache>
                <c:ptCount val="6"/>
                <c:pt idx="0">
                  <c:v>P1 Hotel</c:v>
                </c:pt>
                <c:pt idx="1">
                  <c:v>P1 TPK</c:v>
                </c:pt>
                <c:pt idx="2">
                  <c:v>P2 ODTW</c:v>
                </c:pt>
                <c:pt idx="3">
                  <c:v>P4 Lahan</c:v>
                </c:pt>
                <c:pt idx="4">
                  <c:v>P5 Wisatawan</c:v>
                </c:pt>
                <c:pt idx="5">
                  <c:v>Penuh PDRB</c:v>
                </c:pt>
              </c:strCache>
            </c:strRef>
          </c:cat>
          <c:val>
            <c:numRef>
              <c:f>Sheet1!$C$2:$C$7</c:f>
              <c:numCache>
                <c:formatCode>General</c:formatCode>
                <c:ptCount val="6"/>
                <c:pt idx="0">
                  <c:v>0.028346</c:v>
                </c:pt>
                <c:pt idx="1">
                  <c:v>0.648779</c:v>
                </c:pt>
                <c:pt idx="2">
                  <c:v>0.0939</c:v>
                </c:pt>
                <c:pt idx="3">
                  <c:v>0.147338</c:v>
                </c:pt>
                <c:pt idx="4">
                  <c:v>0.503052</c:v>
                </c:pt>
                <c:pt idx="5">
                  <c:v>0.033714</c:v>
                </c:pt>
              </c:numCache>
            </c:numRef>
          </c:val>
        </c:ser>
        <c:ser>
          <c:idx val="2"/>
          <c:order val="2"/>
          <c:tx>
            <c:strRef>
              <c:f>Sheet1!$D$1</c:f>
              <c:strCache>
                <c:ptCount val="1"/>
                <c:pt idx="0">
                  <c:v>U3 kovariasi</c:v>
                </c:pt>
              </c:strCache>
            </c:strRef>
          </c:tx>
          <c:spPr>
            <a:solidFill>
              <a:srgbClr val="39C0D3"/>
            </a:solidFill>
          </c:spPr>
          <c:cat>
            <c:strRef>
              <c:f>Sheet1!$A$2:$A$7</c:f>
              <c:strCache>
                <c:ptCount val="6"/>
                <c:pt idx="0">
                  <c:v>P1 Hotel</c:v>
                </c:pt>
                <c:pt idx="1">
                  <c:v>P1 TPK</c:v>
                </c:pt>
                <c:pt idx="2">
                  <c:v>P2 ODTW</c:v>
                </c:pt>
                <c:pt idx="3">
                  <c:v>P4 Lahan</c:v>
                </c:pt>
                <c:pt idx="4">
                  <c:v>P5 Wisatawan</c:v>
                </c:pt>
                <c:pt idx="5">
                  <c:v>Penuh PDRB</c:v>
                </c:pt>
              </c:strCache>
            </c:strRef>
          </c:cat>
          <c:val>
            <c:numRef>
              <c:f>Sheet1!$D$2:$D$7</c:f>
              <c:numCache>
                <c:formatCode>General</c:formatCode>
                <c:ptCount val="6"/>
                <c:pt idx="0">
                  <c:v>0.798816</c:v>
                </c:pt>
                <c:pt idx="1">
                  <c:v>0.270518</c:v>
                </c:pt>
                <c:pt idx="2">
                  <c:v>0.1781</c:v>
                </c:pt>
                <c:pt idx="3">
                  <c:v>0.427704</c:v>
                </c:pt>
                <c:pt idx="4">
                  <c:v>0.023261</c:v>
                </c:pt>
                <c:pt idx="5">
                  <c:v>0.039022</c:v>
                </c:pt>
              </c:numCache>
            </c:numRef>
          </c:val>
        </c:ser>
        <c:dLbls>
          <c:numFmt formatCode="0.00" sourceLinked="0"/>
          <c:txPr>
            <a:bodyPr/>
            <a:lstStyle/>
            <a:p>
              <a:pPr>
                <a:defRPr sz="900"/>
              </a:pPr>
            </a:p>
          </c:txPr>
          <c:showLegendKey val="0"/>
          <c:showVal val="1"/>
          <c:showCatName val="0"/>
          <c:showSerName val="0"/>
          <c:showPercent val="0"/>
          <c:showBubbleSize val="0"/>
          <c:showLeaderLines val="1"/>
        </c:dLbls>
        <c:gapWidth val="40"/>
        <c:overlap val="100"/>
        <c:axId val="-2068027336"/>
        <c:axId val="-2113994440"/>
      </c:barChart>
      <c:catAx>
        <c:axId val="-2068027336"/>
        <c:scaling>
          <c:orientation val="maxMin"/>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900"/>
            </a:pPr>
          </a:p>
        </c:txPr>
        <c:crossAx val="-2068027336"/>
        <c:crosses val="autoZero"/>
      </c:valAx>
    </c:plotArea>
    <c:legend>
      <c:legendPos val="t"/>
      <c:overlay val="0"/>
    </c:legend>
    <c:dispBlanksAs val="gap"/>
  </c:chart>
  <c:txPr>
    <a:bodyPr/>
    <a:lstStyle/>
    <a:p>
      <a:pPr>
        <a:defRPr sz="1000">
          <a:latin typeface="Calibri (M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Kamar per unit aktual (P1b)</c:v>
                </c:pt>
              </c:strCache>
            </c:strRef>
          </c:tx>
          <c:spPr>
            <a:ln w="28575">
              <a:solidFill>
                <a:srgbClr val="0B5E6E"/>
              </a:solidFill>
            </a:ln>
          </c:spPr>
          <c:marker>
            <c:spPr>
              <a:solidFill>
                <a:srgbClr val="0B5E6E"/>
              </a:solidFill>
              <a:ln>
                <a:solidFill>
                  <a:srgbClr val="0B5E6E"/>
                </a:solidFill>
              </a:ln>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Sheet1!$B$2:$B$11</c:f>
              <c:numCache>
                <c:formatCode>General</c:formatCode>
                <c:ptCount val="10"/>
                <c:pt idx="0">
                  <c:v>20.1821</c:v>
                </c:pt>
                <c:pt idx="1">
                  <c:v>22.1917</c:v>
                </c:pt>
                <c:pt idx="2">
                  <c:v>20.3271</c:v>
                </c:pt>
                <c:pt idx="3">
                  <c:v>19.6571</c:v>
                </c:pt>
                <c:pt idx="4">
                  <c:v>19.7413</c:v>
                </c:pt>
                <c:pt idx="5">
                  <c:v>20.2748</c:v>
                </c:pt>
                <c:pt idx="6">
                  <c:v>20.1562</c:v>
                </c:pt>
                <c:pt idx="7">
                  <c:v>20.2654</c:v>
                </c:pt>
                <c:pt idx="8">
                  <c:v>26.1165</c:v>
                </c:pt>
                <c:pt idx="9">
                  <c:v>21.4168</c:v>
                </c:pt>
              </c:numCache>
            </c:numRef>
          </c:val>
          <c:smooth val="0"/>
        </c:ser>
        <c:ser>
          <c:idx val="1"/>
          <c:order val="1"/>
          <c:tx>
            <c:strRef>
              <c:f>Sheet1!$C$1</c:f>
              <c:strCache>
                <c:ptCount val="1"/>
                <c:pt idx="0">
                  <c:v>Nilai tetap P1 (21,4168)</c:v>
                </c:pt>
              </c:strCache>
            </c:strRef>
          </c:tx>
          <c:spPr>
            <a:ln w="28575">
              <a:solidFill>
                <a:srgbClr val="E4604F"/>
              </a:solidFill>
              <a:prstDash val="dash"/>
            </a:ln>
          </c:spPr>
          <c:marker>
            <c:spPr>
              <a:solidFill>
                <a:srgbClr val="E4604F"/>
              </a:solidFill>
              <a:ln>
                <a:solidFill>
                  <a:srgbClr val="E4604F"/>
                </a:solidFill>
              </a:ln>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Sheet1!$C$2:$C$11</c:f>
              <c:numCache>
                <c:formatCode>General</c:formatCode>
                <c:ptCount val="10"/>
                <c:pt idx="0">
                  <c:v>21.4168</c:v>
                </c:pt>
                <c:pt idx="1">
                  <c:v>21.4168</c:v>
                </c:pt>
                <c:pt idx="2">
                  <c:v>21.4168</c:v>
                </c:pt>
                <c:pt idx="3">
                  <c:v>21.4168</c:v>
                </c:pt>
                <c:pt idx="4">
                  <c:v>21.4168</c:v>
                </c:pt>
                <c:pt idx="5">
                  <c:v>21.4168</c:v>
                </c:pt>
                <c:pt idx="6">
                  <c:v>21.4168</c:v>
                </c:pt>
                <c:pt idx="7">
                  <c:v>21.4168</c:v>
                </c:pt>
                <c:pt idx="8">
                  <c:v>21.4168</c:v>
                </c:pt>
                <c:pt idx="9">
                  <c:v>21.4168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EF1"/>
              </a:solidFill>
            </a:ln>
          </c:spPr>
        </c:majorGridlines>
        <c:numFmt formatCode="0.0" sourceLinked="0"/>
        <c:majorTickMark val="out"/>
        <c:minorTickMark val="none"/>
        <c:tickLblPos val="nextTo"/>
        <c:spPr>
          <a:ln>
            <a:noFill/>
          </a:ln>
        </c:spPr>
        <c:txPr>
          <a:bodyPr/>
          <a:lstStyle/>
          <a:p>
            <a:pPr>
              <a:defRPr sz="800"/>
            </a:pPr>
          </a:p>
        </c:txPr>
        <c:crossAx val="2118791784"/>
        <c:crosses val="autoZero"/>
      </c:valAx>
    </c:plotArea>
    <c:legend>
      <c:legendPos val="t"/>
      <c:layout/>
      <c:overlay val="0"/>
      <c:txPr>
        <a:bodyPr/>
        <a:lstStyle/>
        <a:p>
          <a:pPr>
            <a:defRPr sz="900"/>
          </a:pPr>
        </a:p>
      </c:txPr>
    </c:legend>
    <c:plotVisOnly val="1"/>
    <c:dispBlanksAs val="gap"/>
    <c:showDLblsOverMax val="0"/>
  </c:chart>
  <c:txPr>
    <a:bodyPr/>
    <a:lstStyle/>
    <a:p>
      <a:pPr>
        <a:defRPr sz="900">
          <a:solidFill>
            <a:srgbClr val="14313B"/>
          </a:solidFill>
          <a:latin typeface="Calibri (M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MAPE (%)</c:v>
                </c:pt>
              </c:strCache>
            </c:strRef>
          </c:tx>
          <c:spPr>
            <a:solidFill>
              <a:srgbClr val="39C0D3"/>
            </a:solidFill>
          </c:spPr>
          <c:dPt>
            <c:idx val="0"/>
            <c:spPr>
              <a:solidFill>
                <a:srgbClr val="2FA36B"/>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FFD23B"/>
              </a:solidFill>
            </c:spPr>
          </c:dPt>
          <c:dPt>
            <c:idx val="7"/>
            <c:spPr>
              <a:solidFill>
                <a:srgbClr val="FFD23B"/>
              </a:solidFill>
            </c:spPr>
          </c:dPt>
          <c:dPt>
            <c:idx val="8"/>
            <c:spPr>
              <a:solidFill>
                <a:srgbClr val="FFD23B"/>
              </a:solidFill>
            </c:spPr>
          </c:dPt>
          <c:cat>
            <c:strRef>
              <c:f>Sheet1!$A$2:$A$10</c:f>
              <c:strCache>
                <c:ptCount val="9"/>
                <c:pt idx="0">
                  <c:v>ODTW</c:v>
                </c:pt>
                <c:pt idx="1">
                  <c:v>Wisatawan</c:v>
                </c:pt>
                <c:pt idx="2">
                  <c:v>Tenaga Kerja</c:v>
                </c:pt>
                <c:pt idx="3">
                  <c:v>Hotel</c:v>
                </c:pt>
                <c:pt idx="4">
                  <c:v>Lahan</c:v>
                </c:pt>
                <c:pt idx="5">
                  <c:v>TPK</c:v>
                </c:pt>
                <c:pt idx="6">
                  <c:v>PDRB</c:v>
                </c:pt>
                <c:pt idx="7">
                  <c:v>Malam Menginap</c:v>
                </c:pt>
                <c:pt idx="8">
                  <c:v>Investasi</c:v>
                </c:pt>
              </c:strCache>
            </c:strRef>
          </c:cat>
          <c:val>
            <c:numRef>
              <c:f>Sheet1!$B$2:$B$10</c:f>
              <c:numCache>
                <c:formatCode>General</c:formatCode>
                <c:ptCount val="9"/>
                <c:pt idx="0">
                  <c:v>5.68</c:v>
                </c:pt>
                <c:pt idx="1">
                  <c:v>12.06</c:v>
                </c:pt>
                <c:pt idx="2">
                  <c:v>12.39</c:v>
                </c:pt>
                <c:pt idx="3">
                  <c:v>13.16</c:v>
                </c:pt>
                <c:pt idx="4">
                  <c:v>13.43</c:v>
                </c:pt>
                <c:pt idx="5">
                  <c:v>18.98</c:v>
                </c:pt>
                <c:pt idx="6">
                  <c:v>25.06</c:v>
                </c:pt>
                <c:pt idx="7">
                  <c:v>29.52</c:v>
                </c:pt>
                <c:pt idx="8">
                  <c:v>33.54</c:v>
                </c:pt>
              </c:numCache>
            </c:numRef>
          </c:val>
        </c:ser>
        <c:dLbls>
          <c:numFmt formatCode="0.0&quot;%&quot;"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Gridlines>
          <c:spPr>
            <a:ln>
              <a:solidFill>
                <a:srgbClr val="E3EEF1"/>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1000">
          <a:solidFill>
            <a:srgbClr val="14313B"/>
          </a:solidFill>
          <a:latin typeface="Calibri (M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Data</c:v>
                </c:pt>
              </c:strCache>
            </c:strRef>
          </c:tx>
          <c:spPr>
            <a:solidFill>
              <a:srgbClr val="0B5E6E"/>
            </a:solidFill>
          </c:spP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Sheet1!$B$2:$B$10</c:f>
              <c:numCache>
                <c:formatCode>General</c:formatCode>
                <c:ptCount val="9"/>
                <c:pt idx="0">
                  <c:v>1.42</c:v>
                </c:pt>
                <c:pt idx="1">
                  <c:v>20.36</c:v>
                </c:pt>
                <c:pt idx="2">
                  <c:v>11.58</c:v>
                </c:pt>
                <c:pt idx="3">
                  <c:v>-4.43</c:v>
                </c:pt>
                <c:pt idx="4">
                  <c:v>16.52</c:v>
                </c:pt>
                <c:pt idx="5">
                  <c:v>12.72</c:v>
                </c:pt>
                <c:pt idx="6">
                  <c:v>18.59</c:v>
                </c:pt>
                <c:pt idx="7">
                  <c:v>24.86</c:v>
                </c:pt>
                <c:pt idx="8">
                  <c:v>6.72</c:v>
                </c:pt>
              </c:numCache>
            </c:numRef>
          </c:val>
        </c:ser>
        <c:ser>
          <c:idx val="1"/>
          <c:order val="1"/>
          <c:tx>
            <c:strRef>
              <c:f>Sheet1!$C$1</c:f>
              <c:strCache>
                <c:ptCount val="1"/>
                <c:pt idx="0">
                  <c:v>Simulasi (LPE 0,27726)</c:v>
                </c:pt>
              </c:strCache>
            </c:strRef>
          </c:tx>
          <c:spPr>
            <a:solidFill>
              <a:srgbClr val="FFD23B"/>
            </a:solidFill>
          </c:spPr>
          <c:cat>
            <c:strRef>
              <c:f>Sheet1!$A$2:$A$10</c:f>
              <c:strCache>
                <c:ptCount val="9"/>
                <c:pt idx="0">
                  <c:v>2017</c:v>
                </c:pt>
                <c:pt idx="1">
                  <c:v>2018</c:v>
                </c:pt>
                <c:pt idx="2">
                  <c:v>2019</c:v>
                </c:pt>
                <c:pt idx="3">
                  <c:v>2020</c:v>
                </c:pt>
                <c:pt idx="4">
                  <c:v>2021</c:v>
                </c:pt>
                <c:pt idx="5">
                  <c:v>2022</c:v>
                </c:pt>
                <c:pt idx="6">
                  <c:v>2023</c:v>
                </c:pt>
                <c:pt idx="7">
                  <c:v>2024</c:v>
                </c:pt>
                <c:pt idx="8">
                  <c:v>2025</c:v>
                </c:pt>
              </c:strCache>
            </c:strRef>
          </c:cat>
          <c:val>
            <c:numRef>
              <c:f>Sheet1!$C$2:$C$10</c:f>
              <c:numCache>
                <c:formatCode>General</c:formatCode>
                <c:ptCount val="9"/>
                <c:pt idx="0">
                  <c:v>6.44</c:v>
                </c:pt>
                <c:pt idx="1">
                  <c:v>6.53</c:v>
                </c:pt>
                <c:pt idx="2">
                  <c:v>6.47</c:v>
                </c:pt>
                <c:pt idx="3">
                  <c:v>6.51</c:v>
                </c:pt>
                <c:pt idx="4">
                  <c:v>6.47</c:v>
                </c:pt>
                <c:pt idx="5">
                  <c:v>6.26</c:v>
                </c:pt>
                <c:pt idx="6">
                  <c:v>6.55</c:v>
                </c:pt>
                <c:pt idx="7">
                  <c:v>6.39</c:v>
                </c:pt>
                <c:pt idx="8">
                  <c:v>6.72</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E3EEF1"/>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1000"/>
          </a:pPr>
        </a:p>
      </c:txPr>
    </c:legend>
    <c:dispBlanksAs val="gap"/>
  </c:chart>
  <c:txPr>
    <a:bodyPr/>
    <a:lstStyle/>
    <a:p>
      <a:pPr>
        <a:defRPr sz="1000">
          <a:solidFill>
            <a:srgbClr val="14313B"/>
          </a:solidFill>
          <a:latin typeface="Calibri (M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Jumlah Wisatawan</c:v>
                </c:pt>
              </c:strCache>
            </c:strRef>
          </c:tx>
          <c:spPr>
            <a:solidFill>
              <a:srgbClr val="0B5E6E"/>
            </a:solidFill>
          </c:spPr>
          <c:cat>
            <c:strRef>
              <c:f>Sheet1!$A$2:$A$12</c:f>
              <c:strCache>
                <c:ptCount val="11"/>
                <c:pt idx="0">
                  <c:v>Rasio LPD/LPE</c:v>
                </c:pt>
                <c:pt idx="1">
                  <c:v>Rasio LPD/LPE (konsisten)</c:v>
                </c:pt>
                <c:pt idx="2">
                  <c:v>Bobot Daya Tarik</c:v>
                </c:pt>
                <c:pt idx="3">
                  <c:v>Laju Konversi Dasar (CI 95%)</c:v>
                </c:pt>
                <c:pt idx="4">
                  <c:v>Elastisitas Daya Tarik ODTW</c:v>
                </c:pt>
                <c:pt idx="5">
                  <c:v>Insentif Kebijakan</c:v>
                </c:pt>
                <c:pt idx="6">
                  <c:v>Laju Penutupan Dasar ODTW</c:v>
                </c:pt>
                <c:pt idx="7">
                  <c:v>ODTW 2025</c:v>
                </c:pt>
                <c:pt idx="8">
                  <c:v>Lahan Per Hotel dan Akomodasi</c:v>
                </c:pt>
                <c:pt idx="9">
                  <c:v>Lahan Per ODTW</c:v>
                </c:pt>
                <c:pt idx="10">
                  <c:v>Kebijakan Konservasi Lahan</c:v>
                </c:pt>
              </c:strCache>
            </c:strRef>
          </c:cat>
          <c:val>
            <c:numRef>
              <c:f>Sheet1!$B$2:$B$12</c:f>
              <c:numCache>
                <c:formatCode>General</c:formatCode>
                <c:ptCount val="11"/>
                <c:pt idx="0">
                  <c:v>153.568</c:v>
                </c:pt>
                <c:pt idx="1">
                  <c:v>69.6458</c:v>
                </c:pt>
                <c:pt idx="2">
                  <c:v>48.104</c:v>
                </c:pt>
                <c:pt idx="3">
                  <c:v>30.6354</c:v>
                </c:pt>
                <c:pt idx="4">
                  <c:v>12.4939</c:v>
                </c:pt>
                <c:pt idx="5">
                  <c:v>10.3544</c:v>
                </c:pt>
                <c:pt idx="6">
                  <c:v>2.302</c:v>
                </c:pt>
                <c:pt idx="7">
                  <c:v>1.5137</c:v>
                </c:pt>
                <c:pt idx="8">
                  <c:v>0.2769</c:v>
                </c:pt>
                <c:pt idx="9">
                  <c:v>0.225</c:v>
                </c:pt>
                <c:pt idx="10">
                  <c:v>0.1841</c:v>
                </c:pt>
              </c:numCache>
            </c:numRef>
          </c:val>
        </c:ser>
        <c:ser>
          <c:idx val="1"/>
          <c:order val="1"/>
          <c:tx>
            <c:strRef>
              <c:f>Sheet1!$C$1</c:f>
              <c:strCache>
                <c:ptCount val="1"/>
                <c:pt idx="0">
                  <c:v>Lahan Terbangun</c:v>
                </c:pt>
              </c:strCache>
            </c:strRef>
          </c:tx>
          <c:spPr>
            <a:solidFill>
              <a:srgbClr val="FFD23B"/>
            </a:solidFill>
          </c:spPr>
          <c:cat>
            <c:strRef>
              <c:f>Sheet1!$A$2:$A$12</c:f>
              <c:strCache>
                <c:ptCount val="11"/>
                <c:pt idx="0">
                  <c:v>Rasio LPD/LPE</c:v>
                </c:pt>
                <c:pt idx="1">
                  <c:v>Rasio LPD/LPE (konsisten)</c:v>
                </c:pt>
                <c:pt idx="2">
                  <c:v>Bobot Daya Tarik</c:v>
                </c:pt>
                <c:pt idx="3">
                  <c:v>Laju Konversi Dasar (CI 95%)</c:v>
                </c:pt>
                <c:pt idx="4">
                  <c:v>Elastisitas Daya Tarik ODTW</c:v>
                </c:pt>
                <c:pt idx="5">
                  <c:v>Insentif Kebijakan</c:v>
                </c:pt>
                <c:pt idx="6">
                  <c:v>Laju Penutupan Dasar ODTW</c:v>
                </c:pt>
                <c:pt idx="7">
                  <c:v>ODTW 2025</c:v>
                </c:pt>
                <c:pt idx="8">
                  <c:v>Lahan Per Hotel dan Akomodasi</c:v>
                </c:pt>
                <c:pt idx="9">
                  <c:v>Lahan Per ODTW</c:v>
                </c:pt>
                <c:pt idx="10">
                  <c:v>Kebijakan Konservasi Lahan</c:v>
                </c:pt>
              </c:strCache>
            </c:strRef>
          </c:cat>
          <c:val>
            <c:numRef>
              <c:f>Sheet1!$C$2:$C$12</c:f>
              <c:numCache>
                <c:formatCode>General</c:formatCode>
                <c:ptCount val="11"/>
                <c:pt idx="0">
                  <c:v>0.9636</c:v>
                </c:pt>
                <c:pt idx="1">
                  <c:v>0.403</c:v>
                </c:pt>
                <c:pt idx="2">
                  <c:v>0.2449</c:v>
                </c:pt>
                <c:pt idx="3">
                  <c:v>115.6992</c:v>
                </c:pt>
                <c:pt idx="4">
                  <c:v>0.0523</c:v>
                </c:pt>
                <c:pt idx="5">
                  <c:v>0.1798</c:v>
                </c:pt>
                <c:pt idx="6">
                  <c:v>0.2016</c:v>
                </c:pt>
                <c:pt idx="7">
                  <c:v>0.0034</c:v>
                </c:pt>
                <c:pt idx="8">
                  <c:v>1.027</c:v>
                </c:pt>
                <c:pt idx="9">
                  <c:v>0.8405</c:v>
                </c:pt>
                <c:pt idx="10">
                  <c:v>0.6845</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Gridlines>
          <c:spPr>
            <a:ln>
              <a:solidFill>
                <a:srgbClr val="E3EEF1"/>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1000"/>
          </a:pPr>
        </a:p>
      </c:txPr>
    </c:legend>
    <c:dispBlanksAs val="gap"/>
  </c:chart>
  <c:txPr>
    <a:bodyPr/>
    <a:lstStyle/>
    <a:p>
      <a:pPr>
        <a:defRPr sz="1000">
          <a:solidFill>
            <a:srgbClr val="14313B"/>
          </a:solidFill>
          <a:latin typeface="Calibri (M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ODTW</c:v>
                </c:pt>
              </c:strCache>
            </c:strRef>
          </c:tx>
          <c:spPr>
            <a:solidFill>
              <a:srgbClr val="0B5E6E"/>
            </a:solidFill>
          </c:spPr>
          <c:cat>
            <c:strRef>
              <c:f>Sheet1!$A$2:$A$4</c:f>
              <c:strCache>
                <c:ptCount val="3"/>
                <c:pt idx="0">
                  <c:v>BAU</c:v>
                </c:pt>
                <c:pt idx="1">
                  <c:v>Sustainable</c:v>
                </c:pt>
                <c:pt idx="2">
                  <c:v>Dev. Priority</c:v>
                </c:pt>
              </c:strCache>
            </c:strRef>
          </c:cat>
          <c:val>
            <c:numRef>
              <c:f>Sheet1!$B$2:$B$4</c:f>
              <c:numCache>
                <c:formatCode>General</c:formatCode>
                <c:ptCount val="3"/>
                <c:pt idx="0">
                  <c:v>0.4793</c:v>
                </c:pt>
                <c:pt idx="1">
                  <c:v>0.4896</c:v>
                </c:pt>
                <c:pt idx="2">
                  <c:v>0.509</c:v>
                </c:pt>
              </c:numCache>
            </c:numRef>
          </c:val>
        </c:ser>
        <c:ser>
          <c:idx val="1"/>
          <c:order val="1"/>
          <c:tx>
            <c:strRef>
              <c:f>Sheet1!$C$1</c:f>
              <c:strCache>
                <c:ptCount val="1"/>
                <c:pt idx="0">
                  <c:v>Kepadatan</c:v>
                </c:pt>
              </c:strCache>
            </c:strRef>
          </c:tx>
          <c:spPr>
            <a:solidFill>
              <a:srgbClr val="E4604F"/>
            </a:solidFill>
          </c:spPr>
          <c:cat>
            <c:strRef>
              <c:f>Sheet1!$A$2:$A$4</c:f>
              <c:strCache>
                <c:ptCount val="3"/>
                <c:pt idx="0">
                  <c:v>BAU</c:v>
                </c:pt>
                <c:pt idx="1">
                  <c:v>Sustainable</c:v>
                </c:pt>
                <c:pt idx="2">
                  <c:v>Dev. Priority</c:v>
                </c:pt>
              </c:strCache>
            </c:strRef>
          </c:cat>
          <c:val>
            <c:numRef>
              <c:f>Sheet1!$C$2:$C$4</c:f>
              <c:numCache>
                <c:formatCode>General</c:formatCode>
                <c:ptCount val="3"/>
                <c:pt idx="0">
                  <c:v>0.1481</c:v>
                </c:pt>
                <c:pt idx="1">
                  <c:v>0.144</c:v>
                </c:pt>
                <c:pt idx="2">
                  <c:v>0.1375</c:v>
                </c:pt>
              </c:numCache>
            </c:numRef>
          </c:val>
        </c:ser>
        <c:ser>
          <c:idx val="2"/>
          <c:order val="2"/>
          <c:tx>
            <c:strRef>
              <c:f>Sheet1!$D$1</c:f>
              <c:strCache>
                <c:ptCount val="1"/>
                <c:pt idx="0">
                  <c:v>Daya dukung lahan</c:v>
                </c:pt>
              </c:strCache>
            </c:strRef>
          </c:tx>
          <c:spPr>
            <a:solidFill>
              <a:srgbClr val="FFD23B"/>
            </a:solidFill>
          </c:spPr>
          <c:cat>
            <c:strRef>
              <c:f>Sheet1!$A$2:$A$4</c:f>
              <c:strCache>
                <c:ptCount val="3"/>
                <c:pt idx="0">
                  <c:v>BAU</c:v>
                </c:pt>
                <c:pt idx="1">
                  <c:v>Sustainable</c:v>
                </c:pt>
                <c:pt idx="2">
                  <c:v>Dev. Priority</c:v>
                </c:pt>
              </c:strCache>
            </c:strRef>
          </c:cat>
          <c:val>
            <c:numRef>
              <c:f>Sheet1!$D$2:$D$4</c:f>
              <c:numCache>
                <c:formatCode>General</c:formatCode>
                <c:ptCount val="3"/>
                <c:pt idx="0">
                  <c:v>0.1859</c:v>
                </c:pt>
                <c:pt idx="1">
                  <c:v>0.187</c:v>
                </c:pt>
                <c:pt idx="2">
                  <c:v>0.1857</c:v>
                </c:pt>
              </c:numCache>
            </c:numRef>
          </c:val>
        </c:ser>
        <c:dLbls>
          <c:numFmt formatCode="0.0000" sourceLinked="0"/>
          <c:txPr>
            <a:bodyPr/>
            <a:lstStyle/>
            <a:p>
              <a:pPr>
                <a:defRPr sz="900"/>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000">
          <a:latin typeface="Calibri (MS)"/>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Skor SUS</c:v>
                </c:pt>
              </c:strCache>
            </c:strRef>
          </c:tx>
          <c:spPr>
            <a:solidFill>
              <a:srgbClr val="39C0D3"/>
            </a:solidFill>
          </c:spPr>
          <c:dPt>
            <c:idx val="0"/>
            <c:spPr>
              <a:solidFill>
                <a:srgbClr val="0B5E6E"/>
              </a:solidFill>
            </c:spPr>
          </c:dPt>
          <c:dPt>
            <c:idx val="1"/>
            <c:spPr>
              <a:solidFill>
                <a:srgbClr val="0B5E6E"/>
              </a:solidFill>
            </c:spPr>
          </c:dPt>
          <c:dPt>
            <c:idx val="2"/>
            <c:spPr>
              <a:solidFill>
                <a:srgbClr val="0B5E6E"/>
              </a:solidFill>
            </c:spPr>
          </c:dPt>
          <c:dPt>
            <c:idx val="3"/>
            <c:spPr>
              <a:solidFill>
                <a:srgbClr val="0B5E6E"/>
              </a:solidFill>
            </c:spPr>
          </c:dPt>
          <c:dPt>
            <c:idx val="4"/>
            <c:spPr>
              <a:solidFill>
                <a:srgbClr val="0B5E6E"/>
              </a:solidFill>
            </c:spPr>
          </c:dPt>
          <c:dPt>
            <c:idx val="5"/>
            <c:spPr>
              <a:solidFill>
                <a:srgbClr val="0B5E6E"/>
              </a:solidFill>
            </c:spPr>
          </c:dPt>
          <c:dPt>
            <c:idx val="6"/>
            <c:spPr>
              <a:solidFill>
                <a:srgbClr val="0B5E6E"/>
              </a:solidFill>
            </c:spPr>
          </c:dPt>
          <c:dPt>
            <c:idx val="7"/>
            <c:spPr>
              <a:solidFill>
                <a:srgbClr val="FFD23B"/>
              </a:solidFill>
            </c:spPr>
          </c:dPt>
          <c:dPt>
            <c:idx val="8"/>
            <c:spPr>
              <a:solidFill>
                <a:srgbClr val="FFD23B"/>
              </a:solidFill>
            </c:spPr>
          </c:dPt>
          <c:dPt>
            <c:idx val="9"/>
            <c:spPr>
              <a:solidFill>
                <a:srgbClr val="0B5E6E"/>
              </a:solidFill>
            </c:spPr>
          </c:dPt>
          <c:cat>
            <c:strRef>
              <c:f>Sheet1!$A$2:$A$11</c:f>
              <c:strCache>
                <c:ptCount val="10"/>
                <c:pt idx="0">
                  <c:v>R1</c:v>
                </c:pt>
                <c:pt idx="1">
                  <c:v>R2</c:v>
                </c:pt>
                <c:pt idx="2">
                  <c:v>R3</c:v>
                </c:pt>
                <c:pt idx="3">
                  <c:v>R4</c:v>
                </c:pt>
                <c:pt idx="4">
                  <c:v>R5</c:v>
                </c:pt>
                <c:pt idx="5">
                  <c:v>R6</c:v>
                </c:pt>
                <c:pt idx="6">
                  <c:v>R7</c:v>
                </c:pt>
                <c:pt idx="7">
                  <c:v>R8</c:v>
                </c:pt>
                <c:pt idx="8">
                  <c:v>R9</c:v>
                </c:pt>
                <c:pt idx="9">
                  <c:v>R10</c:v>
                </c:pt>
              </c:strCache>
            </c:strRef>
          </c:cat>
          <c:val>
            <c:numRef>
              <c:f>Sheet1!$B$2:$B$11</c:f>
              <c:numCache>
                <c:formatCode>General</c:formatCode>
                <c:ptCount val="10"/>
                <c:pt idx="0">
                  <c:v>97.5</c:v>
                </c:pt>
                <c:pt idx="1">
                  <c:v>87.5</c:v>
                </c:pt>
                <c:pt idx="2">
                  <c:v>100.0</c:v>
                </c:pt>
                <c:pt idx="3">
                  <c:v>100.0</c:v>
                </c:pt>
                <c:pt idx="4">
                  <c:v>85.0</c:v>
                </c:pt>
                <c:pt idx="5">
                  <c:v>87.5</c:v>
                </c:pt>
                <c:pt idx="6">
                  <c:v>97.5</c:v>
                </c:pt>
                <c:pt idx="7">
                  <c:v>60.0</c:v>
                </c:pt>
                <c:pt idx="8">
                  <c:v>70.0</c:v>
                </c:pt>
                <c:pt idx="9">
                  <c:v>100.0</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E3EEF1"/>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10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Dynamic World turun 27 persen dari 2023 ke 2025, yang tidak mungkin terjadi di lapangan. Saya periksa penyebabnya: luas ternyata berhubungan kuat dengan jumlah citra yang terekam per piksel setiap tahun, r 0,788, sedangkan jumlah citra tidak berhubungan dengan tahun, sehingga koreksi sah dilakukan. Setelah dikoreksi, pengaruh jumlah citra hilang dan data menjadi lebih stabil. Meski begitu, model tetap memakai nilai asli karena tahun 2025 sudah menjadi dasar semua parameter; koreksi hanya untuk pemeriksaan dan noise ini saya catat sebagai keterbatasan.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Tabel ini menunjukkan data ODTW 2015 sampai 2025. Tahun 2018 sampai 2024 memakai data aktual BPS. Tahun 2015, 2016, 2017, dan 2025 tidak ada data BPS, sehingga diisi dengan estimasi dari cahaya malam memakai regresi ODTW = 121,61 + 34,59 × NTL, lengkap dengan selang prediksi 95 persen. Nilai 2025 sebesar 201 unit menjadi stok awal model. Kolom hasil regresi pada tahun berdata BPS hanya pembanding untuk melihat seberapa dekat model dengan data aktual.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matriks lengkap 18 hubungan kausal penyusun CLD. Setiap hubungan diberi arah, plus atau minus, cara kerjanya di dalam model, dan dasarnya. Dasarnya dibedakan: sebagian didukung literatur, misalnya daya tarik terhadap kedatangan dan kepadatan terhadap daya tarik; sebagian lagi berupa definisi atau persamaan dalam model, misalnya lahan terbangun terhadap rasio daya dukung lahan. Hubungan tenaga kerja ke pembangunan ODTW tidak dimasukkan karena dasar sebab-akibatnya tidak cukup.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Variabel tidak diambil mentah dari Mai dan Smith. Model rujukan hanya titik awal, lalu dikontekstualisasi dengan UU 10/2009, RIPPARDA, Renja Dispar, Renstra Kemenpar, dan IPKN, didukung literatur per mekanisme, lalu dievaluasi dengan enam kriteria pada empat tingkat.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 menit. Mulai dari konteks global dan nasional secara singkat, lalu fokus ke DIY. Tekankan kalimat terakhir: kompleksitas dan tekanan daya dukung adalah alasan perlunya pendekatan sistem.</a:t>
            </a:r>
          </a:p>
          <a:p>
            <a:r>
              <a:rPr lang="en-US"/>
              <a:t>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Cadangan: KPI pelengkap per skenario, termasuk TPK yang tidak ada di Tabel 60 buku.</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Cadangan: horizon diperpanjang sampai 2150 menunjukkan pola puncak lalu turun ketika daya dukung lahan menipis, dan model tetap stabil.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Lampiran istilah: kode uji dan tahapan yang muncul di slide pengujian, kalibrasi, dan skenario.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Lampiran istilah: ukuran statistik dan singkatan yang dipakai di seluruh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IRTS 2008 mendefinisikan 12 aktivitas karakteristik pariwisata. Model saya memakai KBLI kategori I (akomodasi dan makan minum) serta R, S, T, U untuk PDRB dan tenaga kerja pariwisata, dan ODTW dikodekan pada golongan 91 dan 93. Angkutan, agen perjalanan, dan perdagangan eceran tidak termasuk cakupan model. S, T, U ikut terhitung karena BPS menyajikannya bersama 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74.png"/><Relationship Id="rId8" Type="http://schemas.openxmlformats.org/officeDocument/2006/relationships/image" Target="../media/image75.svg"/><Relationship Id="rId9" Type="http://schemas.openxmlformats.org/officeDocument/2006/relationships/image" Target="../media/image76.png"/><Relationship Id="rId10" Type="http://schemas.openxmlformats.org/officeDocument/2006/relationships/image" Target="../media/image77.png"/><Relationship Id="rId11" Type="http://schemas.openxmlformats.org/officeDocument/2006/relationships/image" Target="../media/image78.svg"/><Relationship Id="rId12" Type="http://schemas.openxmlformats.org/officeDocument/2006/relationships/image" Target="../media/image79.png"/><Relationship Id="rId13" Type="http://schemas.openxmlformats.org/officeDocument/2006/relationships/image" Target="../media/image80.svg"/><Relationship Id="rId14" Type="http://schemas.openxmlformats.org/officeDocument/2006/relationships/image" Target="../media/image81.png"/><Relationship Id="rId15" Type="http://schemas.openxmlformats.org/officeDocument/2006/relationships/image" Target="../media/image82.svg"/><Relationship Id="rId16" Type="http://schemas.openxmlformats.org/officeDocument/2006/relationships/image" Target="../media/image83.png"/><Relationship Id="rId17" Type="http://schemas.openxmlformats.org/officeDocument/2006/relationships/image" Target="../media/image84.svg"/><Relationship Id="rId18" Type="http://schemas.openxmlformats.org/officeDocument/2006/relationships/image" Target="../media/image85.png"/><Relationship Id="rId19" Type="http://schemas.openxmlformats.org/officeDocument/2006/relationships/image" Target="../media/image86.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6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1.xml"/><Relationship Id="rId8" Type="http://schemas.openxmlformats.org/officeDocument/2006/relationships/chart" Target="../charts/char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69.png"/><Relationship Id="rId9" Type="http://schemas.openxmlformats.org/officeDocument/2006/relationships/image" Target="../media/image70.svg"/><Relationship Id="rId10" Type="http://schemas.openxmlformats.org/officeDocument/2006/relationships/image" Target="../media/image71.png"/><Relationship Id="rId11" Type="http://schemas.openxmlformats.org/officeDocument/2006/relationships/image" Target="../media/image72.sv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67.png"/><Relationship Id="rId9" Type="http://schemas.openxmlformats.org/officeDocument/2006/relationships/image" Target="../media/image6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0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1.png"/><Relationship Id="rId8" Type="http://schemas.openxmlformats.org/officeDocument/2006/relationships/image" Target="../media/image11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3.png"/><Relationship Id="rId8" Type="http://schemas.openxmlformats.org/officeDocument/2006/relationships/image" Target="../media/image11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5.png"/><Relationship Id="rId8" Type="http://schemas.openxmlformats.org/officeDocument/2006/relationships/image" Target="../media/image11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7.png"/><Relationship Id="rId8" Type="http://schemas.openxmlformats.org/officeDocument/2006/relationships/image" Target="../media/image11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19.png"/><Relationship Id="rId8" Type="http://schemas.openxmlformats.org/officeDocument/2006/relationships/image" Target="../media/image12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1.png"/><Relationship Id="rId8" Type="http://schemas.openxmlformats.org/officeDocument/2006/relationships/image" Target="../media/image1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3.png"/><Relationship Id="rId8" Type="http://schemas.openxmlformats.org/officeDocument/2006/relationships/image" Target="../media/image12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5.png"/><Relationship Id="rId8" Type="http://schemas.openxmlformats.org/officeDocument/2006/relationships/image" Target="../media/image12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93.png"/><Relationship Id="rId9" Type="http://schemas.openxmlformats.org/officeDocument/2006/relationships/image" Target="../media/image94.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29.png"/><Relationship Id="rId8" Type="http://schemas.openxmlformats.org/officeDocument/2006/relationships/image" Target="../media/image13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31.png"/><Relationship Id="rId8" Type="http://schemas.openxmlformats.org/officeDocument/2006/relationships/image" Target="../media/image13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33.png"/><Relationship Id="rId8" Type="http://schemas.openxmlformats.org/officeDocument/2006/relationships/image" Target="../media/image13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35.png"/><Relationship Id="rId8" Type="http://schemas.openxmlformats.org/officeDocument/2006/relationships/image" Target="../media/image13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37.png"/><Relationship Id="rId8" Type="http://schemas.openxmlformats.org/officeDocument/2006/relationships/image" Target="../media/image13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39.png"/><Relationship Id="rId8" Type="http://schemas.openxmlformats.org/officeDocument/2006/relationships/image" Target="../media/image14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1.png"/><Relationship Id="rId8" Type="http://schemas.openxmlformats.org/officeDocument/2006/relationships/image" Target="../media/image14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3.png"/><Relationship Id="rId8" Type="http://schemas.openxmlformats.org/officeDocument/2006/relationships/image" Target="../media/image1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5.png"/><Relationship Id="rId8" Type="http://schemas.openxmlformats.org/officeDocument/2006/relationships/chart" Target="../charts/char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6.png"/><Relationship Id="rId8" Type="http://schemas.openxmlformats.org/officeDocument/2006/relationships/image" Target="../media/image14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8.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4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50.png"/><Relationship Id="rId8" Type="http://schemas.openxmlformats.org/officeDocument/2006/relationships/image" Target="../media/image15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52.png"/><Relationship Id="rId8" Type="http://schemas.openxmlformats.org/officeDocument/2006/relationships/image" Target="../media/image15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8.xml"/><Relationship Id="rId8" Type="http://schemas.openxmlformats.org/officeDocument/2006/relationships/image" Target="../media/image15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55.png"/><Relationship Id="rId8" Type="http://schemas.openxmlformats.org/officeDocument/2006/relationships/image" Target="../media/image156.png"/><Relationship Id="rId9" Type="http://schemas.openxmlformats.org/officeDocument/2006/relationships/image" Target="../media/image157.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58.png"/><Relationship Id="rId8" Type="http://schemas.openxmlformats.org/officeDocument/2006/relationships/image" Target="../media/image159.png"/><Relationship Id="rId9" Type="http://schemas.openxmlformats.org/officeDocument/2006/relationships/image" Target="../media/image16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61.png"/><Relationship Id="rId8" Type="http://schemas.openxmlformats.org/officeDocument/2006/relationships/image" Target="../media/image162.png"/><Relationship Id="rId9" Type="http://schemas.openxmlformats.org/officeDocument/2006/relationships/image" Target="../media/image16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64.png"/><Relationship Id="rId8" Type="http://schemas.openxmlformats.org/officeDocument/2006/relationships/image" Target="../media/image16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1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6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70.png"/><Relationship Id="rId11" Type="http://schemas.openxmlformats.org/officeDocument/2006/relationships/image" Target="../media/image17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chart" Target="../charts/chart1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Daftar Lampiran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Lampiran dikelompokkan mengikuti alur penelitian; nomor di kiri adalah nomor lampiran</a:t>
            </a:r>
          </a:p>
        </p:txBody>
      </p:sp>
      <p:sp>
        <p:nvSpPr>
          <p:cNvPr id="27" name="Rounded Rectangle 26"/>
          <p:cNvSpPr/>
          <p:nvPr/>
        </p:nvSpPr>
        <p:spPr>
          <a:xfrm>
            <a:off x="822960" y="182880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1–10</a:t>
            </a:r>
          </a:p>
        </p:txBody>
      </p:sp>
      <p:sp>
        <p:nvSpPr>
          <p:cNvPr id="28" name="Rounded Rectangle 27"/>
          <p:cNvSpPr/>
          <p:nvPr/>
        </p:nvSpPr>
        <p:spPr>
          <a:xfrm>
            <a:off x="2377440" y="182880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Data dan penyusunan data</a:t>
            </a:r>
          </a:p>
          <a:p>
            <a:pPr algn="l">
              <a:spcAft>
                <a:spcPts val="300"/>
              </a:spcAft>
            </a:pPr>
            <a:r>
              <a:rPr sz="950" b="0" i="0">
                <a:solidFill>
                  <a:srgbClr val="14313B"/>
                </a:solidFill>
                <a:latin typeface="Calibri (MS)"/>
              </a:rPr>
              <a:t>Definisi Wisata, Pariwisata, dan Kebijakan Pariwisata; Data dan Sumber Data; Data Historis 2015–2025 (1/3): Permintaan; Data Historis 2015–2025 (2/3): Akomodasi; Data Historis 2015–2025 (3/3): ODTW, TK, Ekonomi, Lahan; …</a:t>
            </a:r>
          </a:p>
        </p:txBody>
      </p:sp>
      <p:sp>
        <p:nvSpPr>
          <p:cNvPr id="29" name="Rounded Rectangle 28"/>
          <p:cNvSpPr/>
          <p:nvPr/>
        </p:nvSpPr>
        <p:spPr>
          <a:xfrm>
            <a:off x="9281160" y="182880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11–23</a:t>
            </a:r>
          </a:p>
        </p:txBody>
      </p:sp>
      <p:sp>
        <p:nvSpPr>
          <p:cNvPr id="30" name="Rounded Rectangle 29"/>
          <p:cNvSpPr/>
          <p:nvPr/>
        </p:nvSpPr>
        <p:spPr>
          <a:xfrm>
            <a:off x="10835640" y="182880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Citra satelit: NTL dan Dynamic World</a:t>
            </a:r>
          </a:p>
          <a:p>
            <a:pPr algn="l">
              <a:spcAft>
                <a:spcPts val="300"/>
              </a:spcAft>
            </a:pPr>
            <a:r>
              <a:rPr sz="950" b="0" i="0">
                <a:solidFill>
                  <a:srgbClr val="14313B"/>
                </a:solidFill>
                <a:latin typeface="Calibri (MS)"/>
              </a:rPr>
              <a:t>Usulan Data Proxy Berbasis Citra; Pemrosesan Citra NTL (VIIRS) dan Nilainya; Pemrosesan Citra Dynamic World dan Nilainya; Kelas Tutupan Lahan Dynamic World; Estimasi Jumlah ODTW dengan Night-Time Light; …</a:t>
            </a:r>
          </a:p>
        </p:txBody>
      </p:sp>
      <p:sp>
        <p:nvSpPr>
          <p:cNvPr id="31" name="Rounded Rectangle 30"/>
          <p:cNvSpPr/>
          <p:nvPr/>
        </p:nvSpPr>
        <p:spPr>
          <a:xfrm>
            <a:off x="822960" y="329184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24–38</a:t>
            </a:r>
          </a:p>
        </p:txBody>
      </p:sp>
      <p:sp>
        <p:nvSpPr>
          <p:cNvPr id="32" name="Rounded Rectangle 31"/>
          <p:cNvSpPr/>
          <p:nvPr/>
        </p:nvSpPr>
        <p:spPr>
          <a:xfrm>
            <a:off x="2377440" y="329184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Struktur model</a:t>
            </a:r>
          </a:p>
          <a:p>
            <a:pPr algn="l">
              <a:spcAft>
                <a:spcPts val="300"/>
              </a:spcAft>
            </a:pPr>
            <a:r>
              <a:rPr sz="950" b="0" i="0">
                <a:solidFill>
                  <a:srgbClr val="14313B"/>
                </a:solidFill>
                <a:latin typeface="Calibri (MS)"/>
              </a:rPr>
              <a:t>Kriteria Evaluasi Struktur Konseptual CLD; Hasil Evaluasi Kandidat Variabel CLD; Matriks Hubungan Kausal Penyusun CLD; Loop Umpan Balik dan Polaritas Hubungan Kunci; Peran Variabel Hasil Konversi CLD ke SFD; …</a:t>
            </a:r>
          </a:p>
        </p:txBody>
      </p:sp>
      <p:sp>
        <p:nvSpPr>
          <p:cNvPr id="33" name="Rounded Rectangle 32"/>
          <p:cNvSpPr/>
          <p:nvPr/>
        </p:nvSpPr>
        <p:spPr>
          <a:xfrm>
            <a:off x="9281160" y="329184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39–49</a:t>
            </a:r>
          </a:p>
        </p:txBody>
      </p:sp>
      <p:sp>
        <p:nvSpPr>
          <p:cNvPr id="34" name="Rounded Rectangle 33"/>
          <p:cNvSpPr/>
          <p:nvPr/>
        </p:nvSpPr>
        <p:spPr>
          <a:xfrm>
            <a:off x="10835640" y="329184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Uji struktur</a:t>
            </a:r>
          </a:p>
          <a:p>
            <a:pPr algn="l">
              <a:spcAft>
                <a:spcPts val="300"/>
              </a:spcAft>
            </a:pPr>
            <a:r>
              <a:rPr sz="950" b="0" i="0">
                <a:solidFill>
                  <a:srgbClr val="14313B"/>
                </a:solidFill>
                <a:latin typeface="Calibri (MS)"/>
              </a:rPr>
              <a:t>Tahapan Uji Struktur: Gambaran Umum; Uji Kesesuaian Struktur dan Konsistensi Dimensi; Uji Kekekalan Materi; Uji Loop Umpan Balik (1/2): Rancangan dan Nilai 2050; Uji Loop Umpan Balik (2/2): Selisih dan Grafik; …</a:t>
            </a:r>
          </a:p>
        </p:txBody>
      </p:sp>
      <p:sp>
        <p:nvSpPr>
          <p:cNvPr id="35" name="Rounded Rectangle 34"/>
          <p:cNvSpPr/>
          <p:nvPr/>
        </p:nvSpPr>
        <p:spPr>
          <a:xfrm>
            <a:off x="822960" y="475488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50–56</a:t>
            </a:r>
          </a:p>
        </p:txBody>
      </p:sp>
      <p:sp>
        <p:nvSpPr>
          <p:cNvPr id="36" name="Rounded Rectangle 35"/>
          <p:cNvSpPr/>
          <p:nvPr/>
        </p:nvSpPr>
        <p:spPr>
          <a:xfrm>
            <a:off x="2377440" y="475488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Uji perilaku</a:t>
            </a:r>
          </a:p>
          <a:p>
            <a:pPr algn="l">
              <a:spcAft>
                <a:spcPts val="300"/>
              </a:spcAft>
            </a:pPr>
            <a:r>
              <a:rPr sz="950" b="0" i="0">
                <a:solidFill>
                  <a:srgbClr val="14313B"/>
                </a:solidFill>
                <a:latin typeface="Calibri (MS)"/>
              </a:rPr>
              <a:t>Ukuran Penilaian Uji Perilaku (1/2): Urutan dan Rumus; Ukuran Penilaian Uji Perilaku (2/2): Kategori Hasil Uji Tren; Dekomposisi Galat U1, U2, U3 (Theil); Rancangan Uji Parsial, Uji Penuh, dan Alasan Uji P1b; …</a:t>
            </a:r>
          </a:p>
        </p:txBody>
      </p:sp>
      <p:sp>
        <p:nvSpPr>
          <p:cNvPr id="37" name="Rounded Rectangle 36"/>
          <p:cNvSpPr/>
          <p:nvPr/>
        </p:nvSpPr>
        <p:spPr>
          <a:xfrm>
            <a:off x="9281160" y="475488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57–65</a:t>
            </a:r>
          </a:p>
        </p:txBody>
      </p:sp>
      <p:sp>
        <p:nvSpPr>
          <p:cNvPr id="38" name="Rounded Rectangle 37"/>
          <p:cNvSpPr/>
          <p:nvPr/>
        </p:nvSpPr>
        <p:spPr>
          <a:xfrm>
            <a:off x="10835640" y="475488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Kalibrasi</a:t>
            </a:r>
          </a:p>
          <a:p>
            <a:pPr algn="l">
              <a:spcAft>
                <a:spcPts val="300"/>
              </a:spcAft>
            </a:pPr>
            <a:r>
              <a:rPr sz="950" b="0" i="0">
                <a:solidFill>
                  <a:srgbClr val="14313B"/>
                </a:solidFill>
                <a:latin typeface="Calibri (MS)"/>
              </a:rPr>
              <a:t>Protokol Kalibrasi: Ketentuan, Rumus, dan Aturan Keputusan; Kalibrasi Tahap 0: Koreksi Penurunan LPE dan LPD; Kalibrasi Tahap 1 (1/2): Akomodasi, Hasil Pencarian; Kalibrasi Tahap 1 (2/2): Diagnostik dan Keputusan; …</a:t>
            </a:r>
          </a:p>
        </p:txBody>
      </p:sp>
      <p:sp>
        <p:nvSpPr>
          <p:cNvPr id="39" name="Rounded Rectangle 38"/>
          <p:cNvSpPr/>
          <p:nvPr/>
        </p:nvSpPr>
        <p:spPr>
          <a:xfrm>
            <a:off x="822960" y="621792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66–71</a:t>
            </a:r>
          </a:p>
        </p:txBody>
      </p:sp>
      <p:sp>
        <p:nvSpPr>
          <p:cNvPr id="40" name="Rounded Rectangle 39"/>
          <p:cNvSpPr/>
          <p:nvPr/>
        </p:nvSpPr>
        <p:spPr>
          <a:xfrm>
            <a:off x="2377440" y="621792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Analisis sensitivitas</a:t>
            </a:r>
          </a:p>
          <a:p>
            <a:pPr algn="l">
              <a:spcAft>
                <a:spcPts val="300"/>
              </a:spcAft>
            </a:pPr>
            <a:r>
              <a:rPr sz="950" b="0" i="0">
                <a:solidFill>
                  <a:srgbClr val="14313B"/>
                </a:solidFill>
                <a:latin typeface="Calibri (MS)"/>
              </a:rPr>
              <a:t>Analisis Sensitivitas: Rancangan dan Rumus; Hasil Sensitivitas ±10%: Seluruh Parameter; Peringkat Sensitivitas ±10% per Keluaran; Diagram Tornado Sensitivitas ±10%; Hasil Sensitivitas Rentang Penuh: 17 Kelompok; …</a:t>
            </a:r>
          </a:p>
        </p:txBody>
      </p:sp>
      <p:sp>
        <p:nvSpPr>
          <p:cNvPr id="41" name="Rounded Rectangle 40"/>
          <p:cNvSpPr/>
          <p:nvPr/>
        </p:nvSpPr>
        <p:spPr>
          <a:xfrm>
            <a:off x="9281160" y="621792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72–80</a:t>
            </a:r>
          </a:p>
        </p:txBody>
      </p:sp>
      <p:sp>
        <p:nvSpPr>
          <p:cNvPr id="42" name="Rounded Rectangle 41"/>
          <p:cNvSpPr/>
          <p:nvPr/>
        </p:nvSpPr>
        <p:spPr>
          <a:xfrm>
            <a:off x="10835640" y="621792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Skenario kebijakan</a:t>
            </a:r>
          </a:p>
          <a:p>
            <a:pPr algn="l">
              <a:spcAft>
                <a:spcPts val="300"/>
              </a:spcAft>
            </a:pPr>
            <a:r>
              <a:rPr sz="950" b="0" i="0">
                <a:solidFill>
                  <a:srgbClr val="14313B"/>
                </a:solidFill>
                <a:latin typeface="Calibri (MS)"/>
              </a:rPr>
              <a:t>Penetapan Tuas Kebijakan dan Rancangan Skenario; Indikator Kinerja dan Aturan Pelaporan Skenario; Hasil Perbandingan Skenario Lengkap, Tahun 2050; KPI pelengkap per skenario tahun 2050; Grafik Skenario 2025–2050; …</a:t>
            </a:r>
          </a:p>
        </p:txBody>
      </p:sp>
      <p:sp>
        <p:nvSpPr>
          <p:cNvPr id="43" name="Rounded Rectangle 42"/>
          <p:cNvSpPr/>
          <p:nvPr/>
        </p:nvSpPr>
        <p:spPr>
          <a:xfrm>
            <a:off x="822960" y="768096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81–86</a:t>
            </a:r>
          </a:p>
        </p:txBody>
      </p:sp>
      <p:sp>
        <p:nvSpPr>
          <p:cNvPr id="44" name="Rounded Rectangle 43"/>
          <p:cNvSpPr/>
          <p:nvPr/>
        </p:nvSpPr>
        <p:spPr>
          <a:xfrm>
            <a:off x="2377440" y="768096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Aplikasi web</a:t>
            </a:r>
          </a:p>
          <a:p>
            <a:pPr algn="l">
              <a:spcAft>
                <a:spcPts val="300"/>
              </a:spcAft>
            </a:pPr>
            <a:r>
              <a:rPr sz="950" b="0" i="0">
                <a:solidFill>
                  <a:srgbClr val="14313B"/>
                </a:solidFill>
                <a:latin typeface="Calibri (MS)"/>
              </a:rPr>
              <a:t>Alur Implementasi dan Perangkat Aplikasi Web; Tampilan Halaman Aplikasi; Pengujian Fungsional (Black-box Testing); System Usability Scale (1/3): Instrumen dan Cara Hitung; …</a:t>
            </a:r>
          </a:p>
        </p:txBody>
      </p:sp>
      <p:sp>
        <p:nvSpPr>
          <p:cNvPr id="45" name="Rounded Rectangle 44"/>
          <p:cNvSpPr/>
          <p:nvPr/>
        </p:nvSpPr>
        <p:spPr>
          <a:xfrm>
            <a:off x="9281160" y="7680960"/>
            <a:ext cx="146304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500" b="1" i="0">
                <a:solidFill>
                  <a:srgbClr val="FFFFFF"/>
                </a:solidFill>
                <a:latin typeface="Calibri (MS) Bold"/>
              </a:rPr>
              <a:t>87–89</a:t>
            </a:r>
          </a:p>
        </p:txBody>
      </p:sp>
      <p:sp>
        <p:nvSpPr>
          <p:cNvPr id="46" name="Rounded Rectangle 45"/>
          <p:cNvSpPr/>
          <p:nvPr/>
        </p:nvSpPr>
        <p:spPr>
          <a:xfrm>
            <a:off x="10835640" y="7680960"/>
            <a:ext cx="6629399"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0B5E6E"/>
                </a:solidFill>
                <a:latin typeface="Calibri (MS) Bold"/>
              </a:rPr>
              <a:t>Keterbatasan dan daftar istilah</a:t>
            </a:r>
          </a:p>
          <a:p>
            <a:pPr algn="l">
              <a:spcAft>
                <a:spcPts val="300"/>
              </a:spcAft>
            </a:pPr>
            <a:r>
              <a:rPr sz="950" b="0" i="0">
                <a:solidFill>
                  <a:srgbClr val="14313B"/>
                </a:solidFill>
                <a:latin typeface="Calibri (MS)"/>
              </a:rPr>
              <a:t>Keterbatasan Penelitian; Daftar istilah (1/2): kode uji dan tahapan; Daftar istilah (2/2): ukuran dan singkatan</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16666" r="0" b="-16666"/>
              </a:stretch>
            </a:blipFill>
          </p:spPr>
        </p:sp>
      </p:grpSp>
      <p:grpSp>
        <p:nvGrpSpPr>
          <p:cNvPr name="Group 4" id="4"/>
          <p:cNvGrpSpPr/>
          <p:nvPr/>
        </p:nvGrpSpPr>
        <p:grpSpPr>
          <a:xfrm rot="0">
            <a:off x="-192024" y="186404"/>
            <a:ext cx="2441448" cy="411480"/>
            <a:chOff x="0" y="0"/>
            <a:chExt cx="3255264" cy="548640"/>
          </a:xfrm>
        </p:grpSpPr>
        <p:sp>
          <p:nvSpPr>
            <p:cNvPr name="Freeform 5" id="5"/>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sp>
      </p:grpSp>
      <p:grpSp>
        <p:nvGrpSpPr>
          <p:cNvPr name="Group 6" id="6"/>
          <p:cNvGrpSpPr/>
          <p:nvPr/>
        </p:nvGrpSpPr>
        <p:grpSpPr>
          <a:xfrm rot="0">
            <a:off x="-192024" y="186404"/>
            <a:ext cx="2441448" cy="411480"/>
            <a:chOff x="0" y="0"/>
            <a:chExt cx="3255264" cy="548640"/>
          </a:xfrm>
        </p:grpSpPr>
        <p:sp>
          <p:nvSpPr>
            <p:cNvPr name="Freeform 7" id="7"/>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530" r="0" b="-65532"/>
              </a:stretch>
            </a:blipFill>
          </p:spPr>
        </p:sp>
      </p:grpSp>
      <p:grpSp>
        <p:nvGrpSpPr>
          <p:cNvPr name="Group 8" id="8"/>
          <p:cNvGrpSpPr/>
          <p:nvPr/>
        </p:nvGrpSpPr>
        <p:grpSpPr>
          <a:xfrm rot="0">
            <a:off x="-192024" y="164973"/>
            <a:ext cx="2441448" cy="432911"/>
            <a:chOff x="0" y="0"/>
            <a:chExt cx="3255264" cy="577215"/>
          </a:xfrm>
        </p:grpSpPr>
        <p:sp>
          <p:nvSpPr>
            <p:cNvPr name="Freeform 9" id="9"/>
            <p:cNvSpPr/>
            <p:nvPr/>
          </p:nvSpPr>
          <p:spPr>
            <a:xfrm flipH="false" flipV="false" rot="0">
              <a:off x="0" y="0"/>
              <a:ext cx="3255264" cy="577215"/>
            </a:xfrm>
            <a:custGeom>
              <a:avLst/>
              <a:gdLst/>
              <a:ahLst/>
              <a:cxnLst/>
              <a:rect r="r" b="b" t="t" l="l"/>
              <a:pathLst>
                <a:path h="577215" w="3255264">
                  <a:moveTo>
                    <a:pt x="0" y="0"/>
                  </a:moveTo>
                  <a:lnTo>
                    <a:pt x="3255264" y="0"/>
                  </a:lnTo>
                  <a:lnTo>
                    <a:pt x="3255264" y="577215"/>
                  </a:lnTo>
                  <a:lnTo>
                    <a:pt x="0" y="577215"/>
                  </a:lnTo>
                  <a:close/>
                </a:path>
              </a:pathLst>
            </a:custGeom>
            <a:blipFill>
              <a:blip r:embed="rId5">
                <a:alphaModFix amt="0"/>
              </a:blip>
              <a:stretch>
                <a:fillRect l="0" t="-59810" r="0" b="-59812"/>
              </a:stretch>
            </a:blipFill>
          </p:spPr>
        </p:sp>
      </p:grpSp>
      <p:grpSp>
        <p:nvGrpSpPr>
          <p:cNvPr name="Group 10" id="10"/>
          <p:cNvGrpSpPr/>
          <p:nvPr/>
        </p:nvGrpSpPr>
        <p:grpSpPr>
          <a:xfrm rot="0">
            <a:off x="-192024" y="143542"/>
            <a:ext cx="2441448" cy="454343"/>
            <a:chOff x="0" y="0"/>
            <a:chExt cx="3255264" cy="605790"/>
          </a:xfrm>
        </p:grpSpPr>
        <p:sp>
          <p:nvSpPr>
            <p:cNvPr name="Freeform 11" id="11"/>
            <p:cNvSpPr/>
            <p:nvPr/>
          </p:nvSpPr>
          <p:spPr>
            <a:xfrm flipH="false" flipV="false" rot="0">
              <a:off x="0" y="0"/>
              <a:ext cx="3255264" cy="605790"/>
            </a:xfrm>
            <a:custGeom>
              <a:avLst/>
              <a:gdLst/>
              <a:ahLst/>
              <a:cxnLst/>
              <a:rect r="r" b="b" t="t" l="l"/>
              <a:pathLst>
                <a:path h="605790" w="3255264">
                  <a:moveTo>
                    <a:pt x="0" y="0"/>
                  </a:moveTo>
                  <a:lnTo>
                    <a:pt x="3255264" y="0"/>
                  </a:lnTo>
                  <a:lnTo>
                    <a:pt x="3255264" y="605790"/>
                  </a:lnTo>
                  <a:lnTo>
                    <a:pt x="0" y="605790"/>
                  </a:lnTo>
                  <a:close/>
                </a:path>
              </a:pathLst>
            </a:custGeom>
            <a:blipFill>
              <a:blip r:embed="rId6">
                <a:alphaModFix amt="0"/>
              </a:blip>
              <a:stretch>
                <a:fillRect l="0" t="-54704" r="0" b="-54704"/>
              </a:stretch>
            </a:blipFill>
          </p:spPr>
        </p:sp>
        <p:sp>
          <p:nvSpPr>
            <p:cNvPr name="TextBox 12" id="12"/>
            <p:cNvSpPr txBox="true"/>
            <p:nvPr/>
          </p:nvSpPr>
          <p:spPr>
            <a:xfrm>
              <a:off x="0" y="-28575"/>
              <a:ext cx="3255264" cy="63436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sp>
        <p:nvSpPr>
          <p:cNvPr name="Freeform 13" id="13"/>
          <p:cNvSpPr/>
          <p:nvPr/>
        </p:nvSpPr>
        <p:spPr>
          <a:xfrm flipH="false" flipV="false" rot="0">
            <a:off x="-516207" y="641252"/>
            <a:ext cx="11869760" cy="1116397"/>
          </a:xfrm>
          <a:custGeom>
            <a:avLst/>
            <a:gdLst/>
            <a:ahLst/>
            <a:cxnLst/>
            <a:rect r="r" b="b" t="t" l="l"/>
            <a:pathLst>
              <a:path h="1116397" w="11869760">
                <a:moveTo>
                  <a:pt x="0" y="0"/>
                </a:moveTo>
                <a:lnTo>
                  <a:pt x="11869759" y="0"/>
                </a:lnTo>
                <a:lnTo>
                  <a:pt x="11869759" y="1116396"/>
                </a:lnTo>
                <a:lnTo>
                  <a:pt x="0" y="1116396"/>
                </a:lnTo>
                <a:lnTo>
                  <a:pt x="0" y="0"/>
                </a:lnTo>
                <a:close/>
              </a:path>
            </a:pathLst>
          </a:custGeom>
          <a:blipFill>
            <a:blip r:embed="rId7">
              <a:extLst>
                <a:ext uri="{96DAC541-7B7A-43D3-8B79-37D633B846F1}">
                  <asvg:svgBlip xmlns:asvg="http://schemas.microsoft.com/office/drawing/2016/SVG/main" r:embed="rId8"/>
                </a:ext>
              </a:extLst>
            </a:blip>
            <a:stretch>
              <a:fillRect l="0" t="-304" r="0" b="-304"/>
            </a:stretch>
          </a:blipFill>
        </p:spPr>
        <p:txBody>
          <a:bodyPr/>
          <a:p/>
        </p:txBody>
      </p:sp>
      <p:sp>
        <p:nvSpPr>
          <p:cNvPr name="TextBox 14" id="14"/>
          <p:cNvSpPr txBox="true"/>
          <p:nvPr/>
        </p:nvSpPr>
        <p:spPr>
          <a:xfrm rot="0">
            <a:off x="250708" y="992057"/>
            <a:ext cx="10988421" cy="622935"/>
          </a:xfrm>
          <a:prstGeom prst="rect">
            <a:avLst/>
          </a:prstGeom>
        </p:spPr>
        <p:txBody>
          <a:bodyPr anchor="t" rtlCol="false" tIns="0" lIns="0" bIns="0" rIns="0">
            <a:spAutoFit/>
          </a:bodyPr>
          <a:lstStyle/>
          <a:p>
            <a:pPr algn="l">
              <a:lnSpc>
                <a:spcPts val="3900"/>
              </a:lnSpc>
            </a:pPr>
            <a:r>
              <a:rPr lang="en-US" sz="3000" b="true">
                <a:solidFill>
                  <a:srgbClr val="003147"/>
                </a:solidFill>
                <a:latin typeface="Calibri (MS) Bold"/>
                <a:ea typeface="Calibri (MS) Bold"/>
                <a:cs typeface="Calibri (MS) Bold"/>
                <a:sym typeface="Calibri (MS) Bold"/>
              </a:rPr>
              <a:t>Lampiran 1 · Definisi Wisata, Pariwisata, dan Kebijakan Pariwisata</a:t>
            </a:r>
          </a:p>
        </p:txBody>
      </p:sp>
      <p:grpSp>
        <p:nvGrpSpPr>
          <p:cNvPr name="Group 15" id="15"/>
          <p:cNvGrpSpPr/>
          <p:nvPr/>
        </p:nvGrpSpPr>
        <p:grpSpPr>
          <a:xfrm rot="0">
            <a:off x="1028700" y="8270119"/>
            <a:ext cx="15990856" cy="819531"/>
            <a:chOff x="0" y="0"/>
            <a:chExt cx="21321141" cy="1092708"/>
          </a:xfrm>
        </p:grpSpPr>
        <p:sp>
          <p:nvSpPr>
            <p:cNvPr name="Freeform 16" id="16"/>
            <p:cNvSpPr/>
            <p:nvPr/>
          </p:nvSpPr>
          <p:spPr>
            <a:xfrm flipH="false" flipV="false" rot="0">
              <a:off x="0" y="0"/>
              <a:ext cx="21321140" cy="1092708"/>
            </a:xfrm>
            <a:custGeom>
              <a:avLst/>
              <a:gdLst/>
              <a:ahLst/>
              <a:cxnLst/>
              <a:rect r="r" b="b" t="t" l="l"/>
              <a:pathLst>
                <a:path h="1092708" w="21321140">
                  <a:moveTo>
                    <a:pt x="0" y="0"/>
                  </a:moveTo>
                  <a:lnTo>
                    <a:pt x="21321140" y="0"/>
                  </a:lnTo>
                  <a:lnTo>
                    <a:pt x="21321140" y="1092708"/>
                  </a:lnTo>
                  <a:lnTo>
                    <a:pt x="0" y="1092708"/>
                  </a:lnTo>
                  <a:lnTo>
                    <a:pt x="0" y="0"/>
                  </a:lnTo>
                  <a:close/>
                </a:path>
              </a:pathLst>
            </a:custGeom>
            <a:blipFill>
              <a:blip r:embed="rId9"/>
              <a:stretch>
                <a:fillRect l="0" t="-642" r="0" b="-641"/>
              </a:stretch>
            </a:blipFill>
          </p:spPr>
        </p:sp>
      </p:grpSp>
      <p:sp>
        <p:nvSpPr>
          <p:cNvPr name="Freeform 17" id="17"/>
          <p:cNvSpPr/>
          <p:nvPr/>
        </p:nvSpPr>
        <p:spPr>
          <a:xfrm flipH="false" flipV="false" rot="0">
            <a:off x="1028700" y="4400064"/>
            <a:ext cx="15990827" cy="4078929"/>
          </a:xfrm>
          <a:custGeom>
            <a:avLst/>
            <a:gdLst/>
            <a:ahLst/>
            <a:cxnLst/>
            <a:rect r="r" b="b" t="t" l="l"/>
            <a:pathLst>
              <a:path h="4078929" w="15990827">
                <a:moveTo>
                  <a:pt x="0" y="0"/>
                </a:moveTo>
                <a:lnTo>
                  <a:pt x="15990827" y="0"/>
                </a:lnTo>
                <a:lnTo>
                  <a:pt x="15990827" y="4078929"/>
                </a:lnTo>
                <a:lnTo>
                  <a:pt x="0" y="4078929"/>
                </a:lnTo>
                <a:lnTo>
                  <a:pt x="0" y="0"/>
                </a:lnTo>
                <a:close/>
              </a:path>
            </a:pathLst>
          </a:custGeom>
          <a:blipFill>
            <a:blip r:embed="rId10">
              <a:extLst>
                <a:ext uri="{96DAC541-7B7A-43D3-8B79-37D633B846F1}">
                  <asvg:svgBlip xmlns:asvg="http://schemas.microsoft.com/office/drawing/2016/SVG/main" r:embed="rId11"/>
                </a:ext>
              </a:extLst>
            </a:blip>
            <a:stretch>
              <a:fillRect l="0" t="-84" r="0" b="-84"/>
            </a:stretch>
          </a:blipFill>
        </p:spPr>
      </p:sp>
      <p:sp>
        <p:nvSpPr>
          <p:cNvPr name="Freeform 18" id="18"/>
          <p:cNvSpPr/>
          <p:nvPr/>
        </p:nvSpPr>
        <p:spPr>
          <a:xfrm flipH="false" flipV="false" rot="0">
            <a:off x="2459260"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2">
              <a:extLst>
                <a:ext uri="{96DAC541-7B7A-43D3-8B79-37D633B846F1}">
                  <asvg:svgBlip xmlns:asvg="http://schemas.microsoft.com/office/drawing/2016/SVG/main" r:embed="rId13"/>
                </a:ext>
              </a:extLst>
            </a:blip>
            <a:stretch>
              <a:fillRect l="0" t="-2" r="0" b="-2"/>
            </a:stretch>
          </a:blipFill>
        </p:spPr>
      </p:sp>
      <p:sp>
        <p:nvSpPr>
          <p:cNvPr name="Freeform 19" id="19"/>
          <p:cNvSpPr/>
          <p:nvPr/>
        </p:nvSpPr>
        <p:spPr>
          <a:xfrm flipH="false" flipV="false" rot="0">
            <a:off x="7792717"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2">
              <a:extLst>
                <a:ext uri="{96DAC541-7B7A-43D3-8B79-37D633B846F1}">
                  <asvg:svgBlip xmlns:asvg="http://schemas.microsoft.com/office/drawing/2016/SVG/main" r:embed="rId13"/>
                </a:ext>
              </a:extLst>
            </a:blip>
            <a:stretch>
              <a:fillRect l="0" t="-2" r="0" b="-2"/>
            </a:stretch>
          </a:blipFill>
        </p:spPr>
      </p:sp>
      <p:sp>
        <p:nvSpPr>
          <p:cNvPr name="Freeform 20" id="20"/>
          <p:cNvSpPr/>
          <p:nvPr/>
        </p:nvSpPr>
        <p:spPr>
          <a:xfrm flipH="false" flipV="false" rot="0">
            <a:off x="13121364"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2">
              <a:extLst>
                <a:ext uri="{96DAC541-7B7A-43D3-8B79-37D633B846F1}">
                  <asvg:svgBlip xmlns:asvg="http://schemas.microsoft.com/office/drawing/2016/SVG/main" r:embed="rId13"/>
                </a:ext>
              </a:extLst>
            </a:blip>
            <a:stretch>
              <a:fillRect l="0" t="-2" r="0" b="-2"/>
            </a:stretch>
          </a:blipFill>
        </p:spPr>
      </p:sp>
      <p:grpSp>
        <p:nvGrpSpPr>
          <p:cNvPr name="Group 21" id="21"/>
          <p:cNvGrpSpPr/>
          <p:nvPr/>
        </p:nvGrpSpPr>
        <p:grpSpPr>
          <a:xfrm rot="-5400000">
            <a:off x="4681795" y="6546437"/>
            <a:ext cx="3591211" cy="184023"/>
            <a:chOff x="0" y="0"/>
            <a:chExt cx="4788281" cy="245364"/>
          </a:xfrm>
        </p:grpSpPr>
        <p:sp>
          <p:nvSpPr>
            <p:cNvPr name="Freeform 22" id="22"/>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9"/>
              <a:stretch>
                <a:fillRect l="0" t="-646" r="0" b="-652"/>
              </a:stretch>
            </a:blipFill>
          </p:spPr>
        </p:sp>
      </p:grpSp>
      <p:grpSp>
        <p:nvGrpSpPr>
          <p:cNvPr name="Group 23" id="23"/>
          <p:cNvGrpSpPr/>
          <p:nvPr/>
        </p:nvGrpSpPr>
        <p:grpSpPr>
          <a:xfrm rot="-5400000">
            <a:off x="10191521" y="6546437"/>
            <a:ext cx="3591211" cy="184023"/>
            <a:chOff x="0" y="0"/>
            <a:chExt cx="4788281" cy="245364"/>
          </a:xfrm>
        </p:grpSpPr>
        <p:sp>
          <p:nvSpPr>
            <p:cNvPr name="Freeform 24" id="24"/>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9"/>
              <a:stretch>
                <a:fillRect l="0" t="-646" r="0" b="-652"/>
              </a:stretch>
            </a:blipFill>
          </p:spPr>
        </p:sp>
      </p:grpSp>
      <p:sp>
        <p:nvSpPr>
          <p:cNvPr name="Freeform 25" id="25"/>
          <p:cNvSpPr/>
          <p:nvPr/>
        </p:nvSpPr>
        <p:spPr>
          <a:xfrm flipH="false" flipV="false" rot="0">
            <a:off x="3007709" y="3097092"/>
            <a:ext cx="1605677" cy="1646844"/>
          </a:xfrm>
          <a:custGeom>
            <a:avLst/>
            <a:gdLst/>
            <a:ahLst/>
            <a:cxnLst/>
            <a:rect r="r" b="b" t="t" l="l"/>
            <a:pathLst>
              <a:path h="1646844" w="1605677">
                <a:moveTo>
                  <a:pt x="0" y="0"/>
                </a:moveTo>
                <a:lnTo>
                  <a:pt x="1605677" y="0"/>
                </a:lnTo>
                <a:lnTo>
                  <a:pt x="1605677" y="1646844"/>
                </a:lnTo>
                <a:lnTo>
                  <a:pt x="0" y="1646844"/>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26" id="26"/>
          <p:cNvSpPr/>
          <p:nvPr/>
        </p:nvSpPr>
        <p:spPr>
          <a:xfrm flipH="false" flipV="false" rot="0">
            <a:off x="8284369" y="3218002"/>
            <a:ext cx="1853155" cy="1405023"/>
          </a:xfrm>
          <a:custGeom>
            <a:avLst/>
            <a:gdLst/>
            <a:ahLst/>
            <a:cxnLst/>
            <a:rect r="r" b="b" t="t" l="l"/>
            <a:pathLst>
              <a:path h="1405023" w="1853155">
                <a:moveTo>
                  <a:pt x="0" y="0"/>
                </a:moveTo>
                <a:lnTo>
                  <a:pt x="1853155" y="0"/>
                </a:lnTo>
                <a:lnTo>
                  <a:pt x="1853155" y="1405023"/>
                </a:lnTo>
                <a:lnTo>
                  <a:pt x="0" y="1405023"/>
                </a:lnTo>
                <a:lnTo>
                  <a:pt x="0" y="0"/>
                </a:lnTo>
                <a:close/>
              </a:path>
            </a:pathLst>
          </a:custGeom>
          <a:blipFill>
            <a:blip r:embed="rId16">
              <a:extLst>
                <a:ext uri="{96DAC541-7B7A-43D3-8B79-37D633B846F1}">
                  <asvg:svgBlip xmlns:asvg="http://schemas.microsoft.com/office/drawing/2016/SVG/main" r:embed="rId17"/>
                </a:ext>
              </a:extLst>
            </a:blip>
            <a:stretch>
              <a:fillRect l="0" t="-52" r="0" b="-52"/>
            </a:stretch>
          </a:blipFill>
        </p:spPr>
      </p:sp>
      <p:sp>
        <p:nvSpPr>
          <p:cNvPr name="Freeform 27" id="27"/>
          <p:cNvSpPr/>
          <p:nvPr/>
        </p:nvSpPr>
        <p:spPr>
          <a:xfrm flipH="false" flipV="false" rot="0">
            <a:off x="13614883" y="3062745"/>
            <a:ext cx="1715529" cy="1715529"/>
          </a:xfrm>
          <a:custGeom>
            <a:avLst/>
            <a:gdLst/>
            <a:ahLst/>
            <a:cxnLst/>
            <a:rect r="r" b="b" t="t" l="l"/>
            <a:pathLst>
              <a:path h="1715529" w="1715529">
                <a:moveTo>
                  <a:pt x="0" y="0"/>
                </a:moveTo>
                <a:lnTo>
                  <a:pt x="1715528" y="0"/>
                </a:lnTo>
                <a:lnTo>
                  <a:pt x="1715528" y="1715528"/>
                </a:lnTo>
                <a:lnTo>
                  <a:pt x="0" y="171552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8" id="28"/>
          <p:cNvSpPr txBox="true"/>
          <p:nvPr/>
        </p:nvSpPr>
        <p:spPr>
          <a:xfrm rot="0">
            <a:off x="2073050" y="5542759"/>
            <a:ext cx="3474977" cy="63262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29" id="29"/>
          <p:cNvSpPr txBox="true"/>
          <p:nvPr/>
        </p:nvSpPr>
        <p:spPr>
          <a:xfrm rot="0">
            <a:off x="7049414" y="5542759"/>
            <a:ext cx="4180561" cy="63262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0" id="30"/>
          <p:cNvSpPr txBox="true"/>
          <p:nvPr/>
        </p:nvSpPr>
        <p:spPr>
          <a:xfrm rot="0">
            <a:off x="12740507" y="5290347"/>
            <a:ext cx="3474977" cy="1137447"/>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1" id="31"/>
          <p:cNvSpPr txBox="true"/>
          <p:nvPr/>
        </p:nvSpPr>
        <p:spPr>
          <a:xfrm rot="0">
            <a:off x="1715691" y="6262992"/>
            <a:ext cx="4189705" cy="12160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2" id="32"/>
          <p:cNvSpPr txBox="true"/>
          <p:nvPr/>
        </p:nvSpPr>
        <p:spPr>
          <a:xfrm rot="0">
            <a:off x="7049414" y="6262992"/>
            <a:ext cx="4189705" cy="12160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3" id="33"/>
          <p:cNvSpPr txBox="true"/>
          <p:nvPr/>
        </p:nvSpPr>
        <p:spPr>
          <a:xfrm rot="0">
            <a:off x="12383148" y="6262992"/>
            <a:ext cx="4189705" cy="1568453"/>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nvGrpSpPr>
          <p:cNvPr name="Group 34" id="34"/>
          <p:cNvGrpSpPr/>
          <p:nvPr/>
        </p:nvGrpSpPr>
        <p:grpSpPr>
          <a:xfrm rot="0">
            <a:off x="822960" y="9669780"/>
            <a:ext cx="8229600" cy="411480"/>
            <a:chOff x="0" y="0"/>
            <a:chExt cx="10972800" cy="548640"/>
          </a:xfrm>
        </p:grpSpPr>
        <p:sp>
          <p:nvSpPr>
            <p:cNvPr name="Freeform 35" id="35"/>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430" r="0" b="-339428"/>
              </a:stretch>
            </a:blipFill>
          </p:spPr>
        </p:sp>
      </p:grpSp>
      <p:grpSp>
        <p:nvGrpSpPr>
          <p:cNvPr name="Group 36" id="36"/>
          <p:cNvGrpSpPr/>
          <p:nvPr/>
        </p:nvGrpSpPr>
        <p:grpSpPr>
          <a:xfrm rot="0">
            <a:off x="822960" y="9648349"/>
            <a:ext cx="8229600" cy="432911"/>
            <a:chOff x="0" y="0"/>
            <a:chExt cx="10972800" cy="577215"/>
          </a:xfrm>
        </p:grpSpPr>
        <p:sp>
          <p:nvSpPr>
            <p:cNvPr name="Freeform 37" id="37"/>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5">
                <a:alphaModFix amt="0"/>
              </a:blip>
              <a:stretch>
                <a:fillRect l="0" t="-320151" r="0" b="-320149"/>
              </a:stretch>
            </a:blipFill>
          </p:spPr>
        </p:sp>
      </p:grpSp>
      <p:grpSp>
        <p:nvGrpSpPr>
          <p:cNvPr name="Group 38" id="38"/>
          <p:cNvGrpSpPr/>
          <p:nvPr/>
        </p:nvGrpSpPr>
        <p:grpSpPr>
          <a:xfrm rot="0">
            <a:off x="822960" y="9626918"/>
            <a:ext cx="8229600" cy="454343"/>
            <a:chOff x="0" y="0"/>
            <a:chExt cx="10972800" cy="605790"/>
          </a:xfrm>
        </p:grpSpPr>
        <p:sp>
          <p:nvSpPr>
            <p:cNvPr name="Freeform 39" id="39"/>
            <p:cNvSpPr/>
            <p:nvPr/>
          </p:nvSpPr>
          <p:spPr>
            <a:xfrm flipH="false" flipV="false" rot="0">
              <a:off x="0" y="0"/>
              <a:ext cx="10972800" cy="605790"/>
            </a:xfrm>
            <a:custGeom>
              <a:avLst/>
              <a:gdLst/>
              <a:ahLst/>
              <a:cxnLst/>
              <a:rect r="r" b="b" t="t" l="l"/>
              <a:pathLst>
                <a:path h="605790" w="10972800">
                  <a:moveTo>
                    <a:pt x="0" y="0"/>
                  </a:moveTo>
                  <a:lnTo>
                    <a:pt x="10972800" y="0"/>
                  </a:lnTo>
                  <a:lnTo>
                    <a:pt x="10972800" y="605790"/>
                  </a:lnTo>
                  <a:lnTo>
                    <a:pt x="0" y="605790"/>
                  </a:lnTo>
                  <a:close/>
                </a:path>
              </a:pathLst>
            </a:custGeom>
            <a:blipFill>
              <a:blip r:embed="rId6">
                <a:alphaModFix amt="0"/>
              </a:blip>
              <a:stretch>
                <a:fillRect l="0" t="-302936" r="0" b="-302936"/>
              </a:stretch>
            </a:blipFill>
          </p:spPr>
        </p:sp>
        <p:sp>
          <p:nvSpPr>
            <p:cNvPr name="TextBox 40" id="40"/>
            <p:cNvSpPr txBox="true"/>
            <p:nvPr/>
          </p:nvSpPr>
          <p:spPr>
            <a:xfrm>
              <a:off x="0" y="-28575"/>
              <a:ext cx="10972800" cy="63436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1" id="41"/>
          <p:cNvSpPr txBox="true"/>
          <p:nvPr/>
        </p:nvSpPr>
        <p:spPr>
          <a:xfrm rot="0">
            <a:off x="1148582" y="8535410"/>
            <a:ext cx="15990827" cy="400050"/>
          </a:xfrm>
          <a:prstGeom prst="rect">
            <a:avLst/>
          </a:prstGeom>
        </p:spPr>
        <p:txBody>
          <a:bodyPr anchor="t" rtlCol="false" tIns="0" lIns="0" bIns="0" rIns="0">
            <a:spAutoFit/>
          </a:bodyPr>
          <a:lstStyle/>
          <a:p>
            <a:pPr algn="ctr">
              <a:lnSpc>
                <a:spcPts val="2250"/>
              </a:lnSpc>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2" id="42"/>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sp>
        <p:nvSpPr>
          <p:cNvPr name="TextBox 43" id="43"/>
          <p:cNvSpPr txBox="true"/>
          <p:nvPr/>
        </p:nvSpPr>
        <p:spPr>
          <a:xfrm rot="0">
            <a:off x="16550640" y="9604248"/>
            <a:ext cx="818388" cy="3810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2 · Data dan Sumber Data</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tahunan 2015–2025 tingkat provinsi; tahun dasar 2025, simulasi sampai 2050 dengan langkah waktu 1 tahun</a:t>
            </a:r>
          </a:p>
        </p:txBody>
      </p:sp>
      <p:graphicFrame>
        <p:nvGraphicFramePr>
          <p:cNvPr id="27" name="Table 26"/>
          <p:cNvGraphicFramePr>
            <a:graphicFrameLocks noGrp="1"/>
          </p:cNvGraphicFramePr>
          <p:nvPr/>
        </p:nvGraphicFramePr>
        <p:xfrm>
          <a:off x="822960" y="1920240"/>
          <a:ext cx="16642077" cy="5984748"/>
        </p:xfrm>
        <a:graphic>
          <a:graphicData uri="http://schemas.openxmlformats.org/drawingml/2006/table">
            <a:tbl>
              <a:tblPr firstRow="1" bandRow="1">
                <a:tableStyleId>{5C22544A-7EE6-4342-B048-85BDC9FD1C3A}</a:tableStyleId>
              </a:tblPr>
              <a:tblGrid>
                <a:gridCol w="1935125"/>
                <a:gridCol w="2902688"/>
                <a:gridCol w="3386469"/>
                <a:gridCol w="1548100"/>
                <a:gridCol w="1209453"/>
                <a:gridCol w="1789991"/>
                <a:gridCol w="3870251"/>
              </a:tblGrid>
              <a:tr h="352044">
                <a:tc>
                  <a:txBody>
                    <a:bodyPr wrap="square"/>
                    <a:lstStyle/>
                    <a:p>
                      <a:r>
                        <a:rPr sz="1000" b="1" i="0">
                          <a:solidFill>
                            <a:srgbClr val="FFFFFF"/>
                          </a:solidFill>
                          <a:latin typeface="Calibri (MS) Bold"/>
                        </a:rPr>
                        <a:t>Kelompok</a:t>
                      </a:r>
                    </a:p>
                  </a:txBody>
                  <a:tcPr marL="73152" marR="73152" marT="36576" marB="36576" anchor="ctr">
                    <a:solidFill>
                      <a:srgbClr val="0B5E6E"/>
                    </a:solidFill>
                  </a:tcPr>
                </a:tc>
                <a:tc>
                  <a:txBody>
                    <a:bodyPr wrap="square"/>
                    <a:lstStyle/>
                    <a:p>
                      <a:r>
                        <a:rPr sz="1000" b="1" i="0">
                          <a:solidFill>
                            <a:srgbClr val="FFFFFF"/>
                          </a:solidFill>
                          <a:latin typeface="Calibri (MS) Bold"/>
                        </a:rPr>
                        <a:t>Variabel</a:t>
                      </a:r>
                    </a:p>
                  </a:txBody>
                  <a:tcPr marL="73152" marR="73152" marT="36576" marB="36576" anchor="ctr">
                    <a:solidFill>
                      <a:srgbClr val="0B5E6E"/>
                    </a:solidFill>
                  </a:tcPr>
                </a:tc>
                <a:tc>
                  <a:txBody>
                    <a:bodyPr wrap="square"/>
                    <a:lstStyle/>
                    <a:p>
                      <a:r>
                        <a:rPr sz="1000" b="1" i="0">
                          <a:solidFill>
                            <a:srgbClr val="FFFFFF"/>
                          </a:solidFill>
                          <a:latin typeface="Calibri (MS) Bold"/>
                        </a:rPr>
                        <a:t>Indikator</a:t>
                      </a:r>
                    </a:p>
                  </a:txBody>
                  <a:tcPr marL="73152" marR="73152" marT="36576" marB="36576" anchor="ctr">
                    <a:solidFill>
                      <a:srgbClr val="0B5E6E"/>
                    </a:solidFill>
                  </a:tcPr>
                </a:tc>
                <a:tc>
                  <a:txBody>
                    <a:bodyPr wrap="square"/>
                    <a:lstStyle/>
                    <a:p>
                      <a:r>
                        <a:rPr sz="1000" b="1" i="0">
                          <a:solidFill>
                            <a:srgbClr val="FFFFFF"/>
                          </a:solidFill>
                          <a:latin typeface="Calibri (MS) Bold"/>
                        </a:rPr>
                        <a:t>Satuan</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Periode</a:t>
                      </a:r>
                    </a:p>
                  </a:txBody>
                  <a:tcPr marL="73152" marR="73152" marT="36576" marB="36576" anchor="ctr">
                    <a:solidFill>
                      <a:srgbClr val="0B5E6E"/>
                    </a:solidFill>
                  </a:tcPr>
                </a:tc>
                <a:tc>
                  <a:txBody>
                    <a:bodyPr wrap="square"/>
                    <a:lstStyle/>
                    <a:p>
                      <a:r>
                        <a:rPr sz="1000" b="1" i="0">
                          <a:solidFill>
                            <a:srgbClr val="FFFFFF"/>
                          </a:solidFill>
                          <a:latin typeface="Calibri (MS) Bold"/>
                        </a:rPr>
                        <a:t>Skala</a:t>
                      </a:r>
                    </a:p>
                  </a:txBody>
                  <a:tcPr marL="73152" marR="73152" marT="36576" marB="36576" anchor="ctr">
                    <a:solidFill>
                      <a:srgbClr val="0B5E6E"/>
                    </a:solidFill>
                  </a:tcPr>
                </a:tc>
                <a:tc>
                  <a:txBody>
                    <a:bodyPr wrap="square"/>
                    <a:lstStyle/>
                    <a:p>
                      <a:r>
                        <a:rPr sz="1000" b="1" i="0">
                          <a:solidFill>
                            <a:srgbClr val="FFFFFF"/>
                          </a:solidFill>
                          <a:latin typeface="Calibri (MS) Bold"/>
                        </a:rPr>
                        <a:t>Sumber data</a:t>
                      </a:r>
                    </a:p>
                  </a:txBody>
                  <a:tcPr marL="73152" marR="73152" marT="36576" marB="36576" anchor="ctr">
                    <a:solidFill>
                      <a:srgbClr val="0B5E6E"/>
                    </a:solidFill>
                  </a:tcPr>
                </a:tc>
              </a:tr>
              <a:tr h="352044">
                <a:tc>
                  <a:txBody>
                    <a:bodyPr wrap="square"/>
                    <a:lstStyle/>
                    <a:p>
                      <a:r>
                        <a:rPr sz="1000" b="1" i="0">
                          <a:solidFill>
                            <a:srgbClr val="0B5E6E"/>
                          </a:solidFill>
                          <a:latin typeface="Calibri (MS)"/>
                        </a:rPr>
                        <a:t>Permintaan wisatawan</a:t>
                      </a:r>
                    </a:p>
                  </a:txBody>
                  <a:tcPr marL="73152" marR="73152" marT="36576" marB="36576" anchor="ctr">
                    <a:solidFill>
                      <a:srgbClr val="FFFFFF"/>
                    </a:solidFill>
                  </a:tcPr>
                </a:tc>
                <a:tc>
                  <a:txBody>
                    <a:bodyPr wrap="square"/>
                    <a:lstStyle/>
                    <a:p>
                      <a:r>
                        <a:rPr sz="1000" b="0" i="0">
                          <a:solidFill>
                            <a:srgbClr val="14313B"/>
                          </a:solidFill>
                          <a:latin typeface="Calibri (MS)"/>
                        </a:rPr>
                        <a:t>Jumlah Wisatawan</a:t>
                      </a:r>
                    </a:p>
                  </a:txBody>
                  <a:tcPr marL="73152" marR="73152" marT="36576" marB="36576" anchor="ctr">
                    <a:solidFill>
                      <a:srgbClr val="FFFFFF"/>
                    </a:solidFill>
                  </a:tcPr>
                </a:tc>
                <a:tc>
                  <a:txBody>
                    <a:bodyPr wrap="square"/>
                    <a:lstStyle/>
                    <a:p>
                      <a:r>
                        <a:rPr sz="1000" b="0" i="0">
                          <a:solidFill>
                            <a:srgbClr val="14313B"/>
                          </a:solidFill>
                          <a:latin typeface="Calibri (MS)"/>
                        </a:rPr>
                        <a:t>Kunjungan wisnus + wisman</a:t>
                      </a:r>
                    </a:p>
                  </a:txBody>
                  <a:tcPr marL="73152" marR="73152" marT="36576" marB="36576" anchor="ctr">
                    <a:solidFill>
                      <a:srgbClr val="FFFFFF"/>
                    </a:solidFill>
                  </a:tcPr>
                </a:tc>
                <a:tc>
                  <a:txBody>
                    <a:bodyPr wrap="square"/>
                    <a:lstStyle/>
                    <a:p>
                      <a:r>
                        <a:rPr sz="1000" b="0" i="0">
                          <a:solidFill>
                            <a:srgbClr val="14313B"/>
                          </a:solidFill>
                          <a:latin typeface="Calibri (MS)"/>
                        </a:rPr>
                        <a:t>Kunjungan</a:t>
                      </a:r>
                    </a:p>
                  </a:txBody>
                  <a:tcPr marL="73152" marR="73152" marT="36576" marB="36576" anchor="ctr">
                    <a:solidFill>
                      <a:srgbClr val="FFFFFF"/>
                    </a:solidFill>
                  </a:tcPr>
                </a:tc>
                <a:tc>
                  <a:txBody>
                    <a:bodyPr wrap="square"/>
                    <a:lstStyle/>
                    <a:p>
                      <a:pPr algn="ctr"/>
                      <a:r>
                        <a:rPr sz="1000" b="0" i="0">
                          <a:solidFill>
                            <a:srgbClr val="14313B"/>
                          </a:solidFill>
                          <a:latin typeface="Calibri (MS)"/>
                        </a:rPr>
                        <a:t>2015–2025</a:t>
                      </a:r>
                    </a:p>
                  </a:txBody>
                  <a:tcPr marL="73152" marR="73152" marT="36576" marB="36576" anchor="ctr">
                    <a:solidFill>
                      <a:srgbClr val="FFFFF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BPS DIY, Statistik Wisnus &amp; Wisman</a:t>
                      </a:r>
                    </a:p>
                  </a:txBody>
                  <a:tcPr marL="73152" marR="73152" marT="36576" marB="36576" anchor="ctr">
                    <a:solidFill>
                      <a:srgbClr val="FFFFFF"/>
                    </a:solidFill>
                  </a:tcPr>
                </a:tc>
              </a:tr>
              <a:tr h="352044">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Total Malam Menginap</a:t>
                      </a:r>
                    </a:p>
                  </a:txBody>
                  <a:tcPr marL="73152" marR="73152" marT="36576" marB="36576" anchor="ctr">
                    <a:solidFill>
                      <a:srgbClr val="EAF8FA"/>
                    </a:solidFill>
                  </a:tcPr>
                </a:tc>
                <a:tc>
                  <a:txBody>
                    <a:bodyPr wrap="square"/>
                    <a:lstStyle/>
                    <a:p>
                      <a:r>
                        <a:rPr sz="1000" b="0" i="0">
                          <a:solidFill>
                            <a:srgbClr val="14313B"/>
                          </a:solidFill>
                          <a:latin typeface="Calibri (MS)"/>
                        </a:rPr>
                        <a:t>Malam menginap tamu di akomodasi</a:t>
                      </a:r>
                    </a:p>
                  </a:txBody>
                  <a:tcPr marL="73152" marR="73152" marT="36576" marB="36576" anchor="ctr">
                    <a:solidFill>
                      <a:srgbClr val="EAF8FA"/>
                    </a:solidFill>
                  </a:tcPr>
                </a:tc>
                <a:tc>
                  <a:txBody>
                    <a:bodyPr wrap="square"/>
                    <a:lstStyle/>
                    <a:p>
                      <a:r>
                        <a:rPr sz="1000" b="0" i="0">
                          <a:solidFill>
                            <a:srgbClr val="14313B"/>
                          </a:solidFill>
                          <a:latin typeface="Calibri (MS)"/>
                        </a:rPr>
                        <a:t>Malam</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DIY, Statistik TPK</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Proporsi Wisatawan Menginap</a:t>
                      </a:r>
                    </a:p>
                  </a:txBody>
                  <a:tcPr marL="73152" marR="73152" marT="36576" marB="36576" anchor="ctr">
                    <a:solidFill>
                      <a:srgbClr val="FFFFFF"/>
                    </a:solidFill>
                  </a:tcPr>
                </a:tc>
                <a:tc>
                  <a:txBody>
                    <a:bodyPr wrap="square"/>
                    <a:lstStyle/>
                    <a:p>
                      <a:r>
                        <a:rPr sz="1000" b="0" i="0">
                          <a:solidFill>
                            <a:srgbClr val="14313B"/>
                          </a:solidFill>
                          <a:latin typeface="Calibri (MS)"/>
                        </a:rPr>
                        <a:t>Wisatawan menginap ÷ total kunjungan</a:t>
                      </a:r>
                    </a:p>
                  </a:txBody>
                  <a:tcPr marL="73152" marR="73152" marT="36576" marB="36576" anchor="ctr">
                    <a:solidFill>
                      <a:srgbClr val="FFFFFF"/>
                    </a:solidFill>
                  </a:tcPr>
                </a:tc>
                <a:tc>
                  <a:txBody>
                    <a:bodyPr wrap="square"/>
                    <a:lstStyle/>
                    <a:p>
                      <a:r>
                        <a:rPr sz="1000" b="0" i="0">
                          <a:solidFill>
                            <a:srgbClr val="14313B"/>
                          </a:solidFill>
                          <a:latin typeface="Calibri (MS)"/>
                        </a:rPr>
                        <a:t>Dmnl</a:t>
                      </a:r>
                    </a:p>
                  </a:txBody>
                  <a:tcPr marL="73152" marR="73152" marT="36576" marB="36576" anchor="ctr">
                    <a:solidFill>
                      <a:srgbClr val="FFFFFF"/>
                    </a:solidFill>
                  </a:tcPr>
                </a:tc>
                <a:tc>
                  <a:txBody>
                    <a:bodyPr wrap="square"/>
                    <a:lstStyle/>
                    <a:p>
                      <a:pPr algn="ctr"/>
                      <a:r>
                        <a:rPr sz="1000" b="0" i="0">
                          <a:solidFill>
                            <a:srgbClr val="14313B"/>
                          </a:solidFill>
                          <a:latin typeface="Calibri (MS)"/>
                        </a:rPr>
                        <a:t>2015–2025</a:t>
                      </a:r>
                    </a:p>
                  </a:txBody>
                  <a:tcPr marL="73152" marR="73152" marT="36576" marB="36576" anchor="ctr">
                    <a:solidFill>
                      <a:srgbClr val="FFFFF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BPS DIY, diolah</a:t>
                      </a:r>
                    </a:p>
                  </a:txBody>
                  <a:tcPr marL="73152" marR="73152" marT="36576" marB="36576" anchor="ctr">
                    <a:solidFill>
                      <a:srgbClr val="FFFFFF"/>
                    </a:solidFill>
                  </a:tcPr>
                </a:tc>
              </a:tr>
              <a:tr h="352044">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Rata-rata Lama Menginap Tamu</a:t>
                      </a:r>
                    </a:p>
                  </a:txBody>
                  <a:tcPr marL="73152" marR="73152" marT="36576" marB="36576" anchor="ctr">
                    <a:solidFill>
                      <a:srgbClr val="EAF8FA"/>
                    </a:solidFill>
                  </a:tcPr>
                </a:tc>
                <a:tc>
                  <a:txBody>
                    <a:bodyPr wrap="square"/>
                    <a:lstStyle/>
                    <a:p>
                      <a:r>
                        <a:rPr sz="1000" b="0" i="0">
                          <a:solidFill>
                            <a:srgbClr val="14313B"/>
                          </a:solidFill>
                          <a:latin typeface="Calibri (MS)"/>
                        </a:rPr>
                        <a:t>Rata-rata malam menginap tamu</a:t>
                      </a:r>
                    </a:p>
                  </a:txBody>
                  <a:tcPr marL="73152" marR="73152" marT="36576" marB="36576" anchor="ctr">
                    <a:solidFill>
                      <a:srgbClr val="EAF8FA"/>
                    </a:solidFill>
                  </a:tcPr>
                </a:tc>
                <a:tc>
                  <a:txBody>
                    <a:bodyPr wrap="square"/>
                    <a:lstStyle/>
                    <a:p>
                      <a:r>
                        <a:rPr sz="1000" b="0" i="0">
                          <a:solidFill>
                            <a:srgbClr val="14313B"/>
                          </a:solidFill>
                          <a:latin typeface="Calibri (MS)"/>
                        </a:rPr>
                        <a:t>Malam</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DIY, Statistik TPK</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Pengeluaran per Kunjungan</a:t>
                      </a:r>
                    </a:p>
                  </a:txBody>
                  <a:tcPr marL="73152" marR="73152" marT="36576" marB="36576" anchor="ctr">
                    <a:solidFill>
                      <a:srgbClr val="FFFFFF"/>
                    </a:solidFill>
                  </a:tcPr>
                </a:tc>
                <a:tc>
                  <a:txBody>
                    <a:bodyPr wrap="square"/>
                    <a:lstStyle/>
                    <a:p>
                      <a:r>
                        <a:rPr sz="1000" b="0" i="0">
                          <a:solidFill>
                            <a:srgbClr val="14313B"/>
                          </a:solidFill>
                          <a:latin typeface="Calibri (MS)"/>
                        </a:rPr>
                        <a:t>Rata-rata belanja per kunjungan</a:t>
                      </a:r>
                    </a:p>
                  </a:txBody>
                  <a:tcPr marL="73152" marR="73152" marT="36576" marB="36576" anchor="ctr">
                    <a:solidFill>
                      <a:srgbClr val="FFFFFF"/>
                    </a:solidFill>
                  </a:tcPr>
                </a:tc>
                <a:tc>
                  <a:txBody>
                    <a:bodyPr wrap="square"/>
                    <a:lstStyle/>
                    <a:p>
                      <a:r>
                        <a:rPr sz="1000" b="0" i="0">
                          <a:solidFill>
                            <a:srgbClr val="14313B"/>
                          </a:solidFill>
                          <a:latin typeface="Calibri (MS)"/>
                        </a:rPr>
                        <a:t>Miliar Rp/kunjungan</a:t>
                      </a:r>
                    </a:p>
                  </a:txBody>
                  <a:tcPr marL="73152" marR="73152" marT="36576" marB="36576" anchor="ctr">
                    <a:solidFill>
                      <a:srgbClr val="FFFFFF"/>
                    </a:solidFill>
                  </a:tcPr>
                </a:tc>
                <a:tc>
                  <a:txBody>
                    <a:bodyPr wrap="square"/>
                    <a:lstStyle/>
                    <a:p>
                      <a:pPr algn="ctr"/>
                      <a:r>
                        <a:rPr sz="1000" b="0" i="0">
                          <a:solidFill>
                            <a:srgbClr val="14313B"/>
                          </a:solidFill>
                          <a:latin typeface="Calibri (MS)"/>
                        </a:rPr>
                        <a:t>2018–2025</a:t>
                      </a:r>
                    </a:p>
                  </a:txBody>
                  <a:tcPr marL="73152" marR="73152" marT="36576" marB="36576" anchor="ctr">
                    <a:solidFill>
                      <a:srgbClr val="FFF1BF"/>
                    </a:solidFill>
                  </a:tcPr>
                </a:tc>
                <a:tc>
                  <a:txBody>
                    <a:bodyPr wrap="square"/>
                    <a:lstStyle/>
                    <a:p>
                      <a:r>
                        <a:rPr sz="1000" b="0" i="0">
                          <a:solidFill>
                            <a:srgbClr val="14313B"/>
                          </a:solidFill>
                          <a:latin typeface="Calibri (MS)"/>
                        </a:rPr>
                        <a:t>Tahunan, nasional</a:t>
                      </a:r>
                    </a:p>
                  </a:txBody>
                  <a:tcPr marL="73152" marR="73152" marT="36576" marB="36576" anchor="ctr">
                    <a:solidFill>
                      <a:srgbClr val="FFFFFF"/>
                    </a:solidFill>
                  </a:tcPr>
                </a:tc>
                <a:tc>
                  <a:txBody>
                    <a:bodyPr wrap="square"/>
                    <a:lstStyle/>
                    <a:p>
                      <a:r>
                        <a:rPr sz="1000" b="0" i="0">
                          <a:solidFill>
                            <a:srgbClr val="14313B"/>
                          </a:solidFill>
                          <a:latin typeface="Calibri (MS)"/>
                        </a:rPr>
                        <a:t>BPS RI, Statistik Wisman &amp; Wisnus</a:t>
                      </a:r>
                    </a:p>
                  </a:txBody>
                  <a:tcPr marL="73152" marR="73152" marT="36576" marB="36576" anchor="ctr">
                    <a:solidFill>
                      <a:srgbClr val="FFFFFF"/>
                    </a:solidFill>
                  </a:tcPr>
                </a:tc>
              </a:tr>
              <a:tr h="352044">
                <a:tc>
                  <a:txBody>
                    <a:bodyPr wrap="square"/>
                    <a:lstStyle/>
                    <a:p>
                      <a:r>
                        <a:rPr sz="1000" b="1" i="0">
                          <a:solidFill>
                            <a:srgbClr val="0B5E6E"/>
                          </a:solidFill>
                          <a:latin typeface="Calibri (MS)"/>
                        </a:rPr>
                        <a:t>Akomodasi</a:t>
                      </a:r>
                    </a:p>
                  </a:txBody>
                  <a:tcPr marL="73152" marR="73152" marT="36576" marB="36576" anchor="ctr">
                    <a:solidFill>
                      <a:srgbClr val="EAF8FA"/>
                    </a:solidFill>
                  </a:tcPr>
                </a:tc>
                <a:tc>
                  <a:txBody>
                    <a:bodyPr wrap="square"/>
                    <a:lstStyle/>
                    <a:p>
                      <a:r>
                        <a:rPr sz="1000" b="0" i="0">
                          <a:solidFill>
                            <a:srgbClr val="14313B"/>
                          </a:solidFill>
                          <a:latin typeface="Calibri (MS)"/>
                        </a:rPr>
                        <a:t>Jumlah Hotel dan Akomodasi</a:t>
                      </a:r>
                    </a:p>
                  </a:txBody>
                  <a:tcPr marL="73152" marR="73152" marT="36576" marB="36576" anchor="ctr">
                    <a:solidFill>
                      <a:srgbClr val="EAF8FA"/>
                    </a:solidFill>
                  </a:tcPr>
                </a:tc>
                <a:tc>
                  <a:txBody>
                    <a:bodyPr wrap="square"/>
                    <a:lstStyle/>
                    <a:p>
                      <a:r>
                        <a:rPr sz="1000" b="0" i="0">
                          <a:solidFill>
                            <a:srgbClr val="14313B"/>
                          </a:solidFill>
                          <a:latin typeface="Calibri (MS)"/>
                        </a:rPr>
                        <a:t>Unit hotel bintang + nonbintang</a:t>
                      </a:r>
                    </a:p>
                  </a:txBody>
                  <a:tcPr marL="73152" marR="73152" marT="36576" marB="36576" anchor="ctr">
                    <a:solidFill>
                      <a:srgbClr val="EAF8FA"/>
                    </a:solidFill>
                  </a:tcPr>
                </a:tc>
                <a:tc>
                  <a:txBody>
                    <a:bodyPr wrap="square"/>
                    <a:lstStyle/>
                    <a:p>
                      <a:r>
                        <a:rPr sz="1000" b="0" i="0">
                          <a:solidFill>
                            <a:srgbClr val="14313B"/>
                          </a:solidFill>
                          <a:latin typeface="Calibri (MS)"/>
                        </a:rPr>
                        <a:t>Unit</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DIY, Statistik Hotel &amp; Akomodasi Lain</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Jumlah Kamar</a:t>
                      </a:r>
                    </a:p>
                  </a:txBody>
                  <a:tcPr marL="73152" marR="73152" marT="36576" marB="36576" anchor="ctr">
                    <a:solidFill>
                      <a:srgbClr val="FFFFFF"/>
                    </a:solidFill>
                  </a:tcPr>
                </a:tc>
                <a:tc>
                  <a:txBody>
                    <a:bodyPr wrap="square"/>
                    <a:lstStyle/>
                    <a:p>
                      <a:r>
                        <a:rPr sz="1000" b="0" i="0">
                          <a:solidFill>
                            <a:srgbClr val="14313B"/>
                          </a:solidFill>
                          <a:latin typeface="Calibri (MS)"/>
                        </a:rPr>
                        <a:t>Kamar tersedia</a:t>
                      </a:r>
                    </a:p>
                  </a:txBody>
                  <a:tcPr marL="73152" marR="73152" marT="36576" marB="36576" anchor="ctr">
                    <a:solidFill>
                      <a:srgbClr val="FFFFFF"/>
                    </a:solidFill>
                  </a:tcPr>
                </a:tc>
                <a:tc>
                  <a:txBody>
                    <a:bodyPr wrap="square"/>
                    <a:lstStyle/>
                    <a:p>
                      <a:r>
                        <a:rPr sz="1000" b="0" i="0">
                          <a:solidFill>
                            <a:srgbClr val="14313B"/>
                          </a:solidFill>
                          <a:latin typeface="Calibri (MS)"/>
                        </a:rPr>
                        <a:t>Kamar</a:t>
                      </a:r>
                    </a:p>
                  </a:txBody>
                  <a:tcPr marL="73152" marR="73152" marT="36576" marB="36576" anchor="ctr">
                    <a:solidFill>
                      <a:srgbClr val="FFFFFF"/>
                    </a:solidFill>
                  </a:tcPr>
                </a:tc>
                <a:tc>
                  <a:txBody>
                    <a:bodyPr wrap="square"/>
                    <a:lstStyle/>
                    <a:p>
                      <a:pPr algn="ctr"/>
                      <a:r>
                        <a:rPr sz="1000" b="0" i="0">
                          <a:solidFill>
                            <a:srgbClr val="14313B"/>
                          </a:solidFill>
                          <a:latin typeface="Calibri (MS)"/>
                        </a:rPr>
                        <a:t>2015–2025</a:t>
                      </a:r>
                    </a:p>
                  </a:txBody>
                  <a:tcPr marL="73152" marR="73152" marT="36576" marB="36576" anchor="ctr">
                    <a:solidFill>
                      <a:srgbClr val="FFFFF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BPS DIY, Statistik Hotel &amp; Akomodasi Lain</a:t>
                      </a:r>
                    </a:p>
                  </a:txBody>
                  <a:tcPr marL="73152" marR="73152" marT="36576" marB="36576" anchor="ctr">
                    <a:solidFill>
                      <a:srgbClr val="FFFFFF"/>
                    </a:solidFill>
                  </a:tcPr>
                </a:tc>
              </a:tr>
              <a:tr h="352044">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Tingkat Penghunian Kamar (TPK)</a:t>
                      </a:r>
                    </a:p>
                  </a:txBody>
                  <a:tcPr marL="73152" marR="73152" marT="36576" marB="36576" anchor="ctr">
                    <a:solidFill>
                      <a:srgbClr val="EAF8FA"/>
                    </a:solidFill>
                  </a:tcPr>
                </a:tc>
                <a:tc>
                  <a:txBody>
                    <a:bodyPr wrap="square"/>
                    <a:lstStyle/>
                    <a:p>
                      <a:r>
                        <a:rPr sz="1000" b="0" i="0">
                          <a:solidFill>
                            <a:srgbClr val="14313B"/>
                          </a:solidFill>
                          <a:latin typeface="Calibri (MS)"/>
                        </a:rPr>
                        <a:t>Persentase kamar terisi</a:t>
                      </a:r>
                    </a:p>
                  </a:txBody>
                  <a:tcPr marL="73152" marR="73152" marT="36576" marB="36576" anchor="ctr">
                    <a:solidFill>
                      <a:srgbClr val="EAF8FA"/>
                    </a:solidFill>
                  </a:tcPr>
                </a:tc>
                <a:tc>
                  <a:txBody>
                    <a:bodyPr wrap="square"/>
                    <a:lstStyle/>
                    <a:p>
                      <a:r>
                        <a:rPr sz="1000" b="0" i="0">
                          <a:solidFill>
                            <a:srgbClr val="14313B"/>
                          </a:solidFill>
                          <a:latin typeface="Calibri (MS)"/>
                        </a:rPr>
                        <a:t>Persen</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DIY, Statistik TPK</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Tingkat Penghunian Ganda (TPG)</a:t>
                      </a:r>
                    </a:p>
                  </a:txBody>
                  <a:tcPr marL="73152" marR="73152" marT="36576" marB="36576" anchor="ctr">
                    <a:solidFill>
                      <a:srgbClr val="FFFFFF"/>
                    </a:solidFill>
                  </a:tcPr>
                </a:tc>
                <a:tc>
                  <a:txBody>
                    <a:bodyPr wrap="square"/>
                    <a:lstStyle/>
                    <a:p>
                      <a:r>
                        <a:rPr sz="1000" b="0" i="0">
                          <a:solidFill>
                            <a:srgbClr val="14313B"/>
                          </a:solidFill>
                          <a:latin typeface="Calibri (MS)"/>
                        </a:rPr>
                        <a:t>Rata-rata tamu per kamar terisi</a:t>
                      </a:r>
                    </a:p>
                  </a:txBody>
                  <a:tcPr marL="73152" marR="73152" marT="36576" marB="36576" anchor="ctr">
                    <a:solidFill>
                      <a:srgbClr val="FFFFFF"/>
                    </a:solidFill>
                  </a:tcPr>
                </a:tc>
                <a:tc>
                  <a:txBody>
                    <a:bodyPr wrap="square"/>
                    <a:lstStyle/>
                    <a:p>
                      <a:r>
                        <a:rPr sz="1000" b="0" i="0">
                          <a:solidFill>
                            <a:srgbClr val="14313B"/>
                          </a:solidFill>
                          <a:latin typeface="Calibri (MS)"/>
                        </a:rPr>
                        <a:t>Orang</a:t>
                      </a:r>
                    </a:p>
                  </a:txBody>
                  <a:tcPr marL="73152" marR="73152" marT="36576" marB="36576" anchor="ctr">
                    <a:solidFill>
                      <a:srgbClr val="FFFFFF"/>
                    </a:solidFill>
                  </a:tcPr>
                </a:tc>
                <a:tc>
                  <a:txBody>
                    <a:bodyPr wrap="square"/>
                    <a:lstStyle/>
                    <a:p>
                      <a:pPr algn="ctr"/>
                      <a:r>
                        <a:rPr sz="1000" b="0" i="0">
                          <a:solidFill>
                            <a:srgbClr val="14313B"/>
                          </a:solidFill>
                          <a:latin typeface="Calibri (MS)"/>
                        </a:rPr>
                        <a:t>2015–2025</a:t>
                      </a:r>
                    </a:p>
                  </a:txBody>
                  <a:tcPr marL="73152" marR="73152" marT="36576" marB="36576" anchor="ctr">
                    <a:solidFill>
                      <a:srgbClr val="FFFFF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BPS DIY, Statistik TPK</a:t>
                      </a:r>
                    </a:p>
                  </a:txBody>
                  <a:tcPr marL="73152" marR="73152" marT="36576" marB="36576" anchor="ctr">
                    <a:solidFill>
                      <a:srgbClr val="FFFFFF"/>
                    </a:solidFill>
                  </a:tcPr>
                </a:tc>
              </a:tr>
              <a:tr h="352044">
                <a:tc>
                  <a:txBody>
                    <a:bodyPr wrap="square"/>
                    <a:lstStyle/>
                    <a:p>
                      <a:r>
                        <a:rPr sz="1000" b="1" i="0">
                          <a:solidFill>
                            <a:srgbClr val="0B5E6E"/>
                          </a:solidFill>
                          <a:latin typeface="Calibri (MS)"/>
                        </a:rPr>
                        <a:t>ODTW</a:t>
                      </a:r>
                    </a:p>
                  </a:txBody>
                  <a:tcPr marL="73152" marR="73152" marT="36576" marB="36576" anchor="ctr">
                    <a:solidFill>
                      <a:srgbClr val="EAF8FA"/>
                    </a:solidFill>
                  </a:tcPr>
                </a:tc>
                <a:tc>
                  <a:txBody>
                    <a:bodyPr wrap="square"/>
                    <a:lstStyle/>
                    <a:p>
                      <a:r>
                        <a:rPr sz="1000" b="0" i="0">
                          <a:solidFill>
                            <a:srgbClr val="14313B"/>
                          </a:solidFill>
                          <a:latin typeface="Calibri (MS)"/>
                        </a:rPr>
                        <a:t>Jumlah ODTW</a:t>
                      </a:r>
                    </a:p>
                  </a:txBody>
                  <a:tcPr marL="73152" marR="73152" marT="36576" marB="36576" anchor="ctr">
                    <a:solidFill>
                      <a:srgbClr val="EAF8FA"/>
                    </a:solidFill>
                  </a:tcPr>
                </a:tc>
                <a:tc>
                  <a:txBody>
                    <a:bodyPr wrap="square"/>
                    <a:lstStyle/>
                    <a:p>
                      <a:r>
                        <a:rPr sz="1000" b="0" i="0">
                          <a:solidFill>
                            <a:srgbClr val="14313B"/>
                          </a:solidFill>
                          <a:latin typeface="Calibri (MS)"/>
                        </a:rPr>
                        <a:t>Unit ODTW terdaftar</a:t>
                      </a:r>
                    </a:p>
                  </a:txBody>
                  <a:tcPr marL="73152" marR="73152" marT="36576" marB="36576" anchor="ctr">
                    <a:solidFill>
                      <a:srgbClr val="EAF8FA"/>
                    </a:solidFill>
                  </a:tcPr>
                </a:tc>
                <a:tc>
                  <a:txBody>
                    <a:bodyPr wrap="square"/>
                    <a:lstStyle/>
                    <a:p>
                      <a:r>
                        <a:rPr sz="1000" b="0" i="0">
                          <a:solidFill>
                            <a:srgbClr val="14313B"/>
                          </a:solidFill>
                          <a:latin typeface="Calibri (MS)"/>
                        </a:rPr>
                        <a:t>Unit</a:t>
                      </a:r>
                    </a:p>
                  </a:txBody>
                  <a:tcPr marL="73152" marR="73152" marT="36576" marB="36576" anchor="ctr">
                    <a:solidFill>
                      <a:srgbClr val="EAF8FA"/>
                    </a:solidFill>
                  </a:tcPr>
                </a:tc>
                <a:tc>
                  <a:txBody>
                    <a:bodyPr wrap="square"/>
                    <a:lstStyle/>
                    <a:p>
                      <a:pPr algn="ctr"/>
                      <a:r>
                        <a:rPr sz="1000" b="0" i="0">
                          <a:solidFill>
                            <a:srgbClr val="14313B"/>
                          </a:solidFill>
                          <a:latin typeface="Calibri (MS)"/>
                        </a:rPr>
                        <a:t>2018–2024</a:t>
                      </a:r>
                    </a:p>
                  </a:txBody>
                  <a:tcPr marL="73152" marR="73152" marT="36576" marB="36576" anchor="ctr">
                    <a:solidFill>
                      <a:srgbClr val="FFF1BF"/>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Statistik ODTW</a:t>
                      </a:r>
                    </a:p>
                  </a:txBody>
                  <a:tcPr marL="73152" marR="73152" marT="36576" marB="36576" anchor="ctr">
                    <a:solidFill>
                      <a:srgbClr val="EAF8FA"/>
                    </a:solidFill>
                  </a:tcPr>
                </a:tc>
              </a:tr>
              <a:tr h="352044">
                <a:tc>
                  <a:txBody>
                    <a:bodyPr wrap="square"/>
                    <a:lstStyle/>
                    <a:p>
                      <a:r>
                        <a:rPr sz="1000" b="1" i="0">
                          <a:solidFill>
                            <a:srgbClr val="0B5E6E"/>
                          </a:solidFill>
                          <a:latin typeface="Calibri (MS)"/>
                        </a:rPr>
                        <a:t>Ketenagakerjaan</a:t>
                      </a:r>
                    </a:p>
                  </a:txBody>
                  <a:tcPr marL="73152" marR="73152" marT="36576" marB="36576" anchor="ctr">
                    <a:solidFill>
                      <a:srgbClr val="FFFFFF"/>
                    </a:solidFill>
                  </a:tcPr>
                </a:tc>
                <a:tc>
                  <a:txBody>
                    <a:bodyPr wrap="square"/>
                    <a:lstStyle/>
                    <a:p>
                      <a:r>
                        <a:rPr sz="1000" b="0" i="0">
                          <a:solidFill>
                            <a:srgbClr val="14313B"/>
                          </a:solidFill>
                          <a:latin typeface="Calibri (MS)"/>
                        </a:rPr>
                        <a:t>Tenaga Kerja Pariwisata</a:t>
                      </a:r>
                    </a:p>
                  </a:txBody>
                  <a:tcPr marL="73152" marR="73152" marT="36576" marB="36576" anchor="ctr">
                    <a:solidFill>
                      <a:srgbClr val="FFFFFF"/>
                    </a:solidFill>
                  </a:tcPr>
                </a:tc>
                <a:tc>
                  <a:txBody>
                    <a:bodyPr wrap="square"/>
                    <a:lstStyle/>
                    <a:p>
                      <a:r>
                        <a:rPr sz="1000" b="0" i="0">
                          <a:solidFill>
                            <a:srgbClr val="14313B"/>
                          </a:solidFill>
                          <a:latin typeface="Calibri (MS)"/>
                        </a:rPr>
                        <a:t>Pekerja KBLI I dan R, S, T, U</a:t>
                      </a:r>
                    </a:p>
                  </a:txBody>
                  <a:tcPr marL="73152" marR="73152" marT="36576" marB="36576" anchor="ctr">
                    <a:solidFill>
                      <a:srgbClr val="FFFFFF"/>
                    </a:solidFill>
                  </a:tcPr>
                </a:tc>
                <a:tc>
                  <a:txBody>
                    <a:bodyPr wrap="square"/>
                    <a:lstStyle/>
                    <a:p>
                      <a:r>
                        <a:rPr sz="1000" b="0" i="0">
                          <a:solidFill>
                            <a:srgbClr val="14313B"/>
                          </a:solidFill>
                          <a:latin typeface="Calibri (MS)"/>
                        </a:rPr>
                        <a:t>Jiwa</a:t>
                      </a:r>
                    </a:p>
                  </a:txBody>
                  <a:tcPr marL="73152" marR="73152" marT="36576" marB="36576" anchor="ctr">
                    <a:solidFill>
                      <a:srgbClr val="FFFFFF"/>
                    </a:solidFill>
                  </a:tcPr>
                </a:tc>
                <a:tc>
                  <a:txBody>
                    <a:bodyPr wrap="square"/>
                    <a:lstStyle/>
                    <a:p>
                      <a:pPr algn="ctr"/>
                      <a:r>
                        <a:rPr sz="1000" b="0" i="0">
                          <a:solidFill>
                            <a:srgbClr val="14313B"/>
                          </a:solidFill>
                          <a:latin typeface="Calibri (MS)"/>
                        </a:rPr>
                        <a:t>2017–2025</a:t>
                      </a:r>
                    </a:p>
                  </a:txBody>
                  <a:tcPr marL="73152" marR="73152" marT="36576" marB="36576" anchor="ctr">
                    <a:solidFill>
                      <a:srgbClr val="FFF1B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BPS, Sakernas</a:t>
                      </a:r>
                    </a:p>
                  </a:txBody>
                  <a:tcPr marL="73152" marR="73152" marT="36576" marB="36576" anchor="ctr">
                    <a:solidFill>
                      <a:srgbClr val="FFFFFF"/>
                    </a:solidFill>
                  </a:tcPr>
                </a:tc>
              </a:tr>
              <a:tr h="352044">
                <a:tc>
                  <a:txBody>
                    <a:bodyPr wrap="square"/>
                    <a:lstStyle/>
                    <a:p>
                      <a:r>
                        <a:rPr sz="1000" b="1" i="0">
                          <a:solidFill>
                            <a:srgbClr val="0B5E6E"/>
                          </a:solidFill>
                          <a:latin typeface="Calibri (MS)"/>
                        </a:rPr>
                        <a:t>Ekonomi</a:t>
                      </a:r>
                    </a:p>
                  </a:txBody>
                  <a:tcPr marL="73152" marR="73152" marT="36576" marB="36576" anchor="ctr">
                    <a:solidFill>
                      <a:srgbClr val="EAF8FA"/>
                    </a:solidFill>
                  </a:tcPr>
                </a:tc>
                <a:tc>
                  <a:txBody>
                    <a:bodyPr wrap="square"/>
                    <a:lstStyle/>
                    <a:p>
                      <a:r>
                        <a:rPr sz="1000" b="0" i="0">
                          <a:solidFill>
                            <a:srgbClr val="14313B"/>
                          </a:solidFill>
                          <a:latin typeface="Calibri (MS)"/>
                        </a:rPr>
                        <a:t>PDRB Sektor Pariwisata</a:t>
                      </a:r>
                    </a:p>
                  </a:txBody>
                  <a:tcPr marL="73152" marR="73152" marT="36576" marB="36576" anchor="ctr">
                    <a:solidFill>
                      <a:srgbClr val="EAF8FA"/>
                    </a:solidFill>
                  </a:tcPr>
                </a:tc>
                <a:tc>
                  <a:txBody>
                    <a:bodyPr wrap="square"/>
                    <a:lstStyle/>
                    <a:p>
                      <a:r>
                        <a:rPr sz="1000" b="0" i="0">
                          <a:solidFill>
                            <a:srgbClr val="14313B"/>
                          </a:solidFill>
                          <a:latin typeface="Calibri (MS)"/>
                        </a:rPr>
                        <a:t>PDRB ADHK kategori I dan R, S, T, U</a:t>
                      </a:r>
                    </a:p>
                  </a:txBody>
                  <a:tcPr marL="73152" marR="73152" marT="36576" marB="36576" anchor="ctr">
                    <a:solidFill>
                      <a:srgbClr val="EAF8FA"/>
                    </a:solidFill>
                  </a:tcPr>
                </a:tc>
                <a:tc>
                  <a:txBody>
                    <a:bodyPr wrap="square"/>
                    <a:lstStyle/>
                    <a:p>
                      <a:r>
                        <a:rPr sz="1000" b="0" i="0">
                          <a:solidFill>
                            <a:srgbClr val="14313B"/>
                          </a:solidFill>
                          <a:latin typeface="Calibri (MS)"/>
                        </a:rPr>
                        <a:t>Miliar Rp</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BPS DIY, PDRB Lapangan Usaha</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Investasi Sektor Pariwisata</a:t>
                      </a:r>
                    </a:p>
                  </a:txBody>
                  <a:tcPr marL="73152" marR="73152" marT="36576" marB="36576" anchor="ctr">
                    <a:solidFill>
                      <a:srgbClr val="FFFFFF"/>
                    </a:solidFill>
                  </a:tcPr>
                </a:tc>
                <a:tc>
                  <a:txBody>
                    <a:bodyPr wrap="square"/>
                    <a:lstStyle/>
                    <a:p>
                      <a:r>
                        <a:rPr sz="1000" b="0" i="0">
                          <a:solidFill>
                            <a:srgbClr val="14313B"/>
                          </a:solidFill>
                          <a:latin typeface="Calibri (MS)"/>
                        </a:rPr>
                        <a:t>Realisasi PMA + PMDN KBLI pariwisata</a:t>
                      </a:r>
                    </a:p>
                  </a:txBody>
                  <a:tcPr marL="73152" marR="73152" marT="36576" marB="36576" anchor="ctr">
                    <a:solidFill>
                      <a:srgbClr val="FFFFFF"/>
                    </a:solidFill>
                  </a:tcPr>
                </a:tc>
                <a:tc>
                  <a:txBody>
                    <a:bodyPr wrap="square"/>
                    <a:lstStyle/>
                    <a:p>
                      <a:r>
                        <a:rPr sz="1000" b="0" i="0">
                          <a:solidFill>
                            <a:srgbClr val="14313B"/>
                          </a:solidFill>
                          <a:latin typeface="Calibri (MS)"/>
                        </a:rPr>
                        <a:t>Miliar Rp</a:t>
                      </a:r>
                    </a:p>
                  </a:txBody>
                  <a:tcPr marL="73152" marR="73152" marT="36576" marB="36576" anchor="ctr">
                    <a:solidFill>
                      <a:srgbClr val="FFFFFF"/>
                    </a:solidFill>
                  </a:tcPr>
                </a:tc>
                <a:tc>
                  <a:txBody>
                    <a:bodyPr wrap="square"/>
                    <a:lstStyle/>
                    <a:p>
                      <a:pPr algn="ctr"/>
                      <a:r>
                        <a:rPr sz="1000" b="0" i="0">
                          <a:solidFill>
                            <a:srgbClr val="14313B"/>
                          </a:solidFill>
                          <a:latin typeface="Calibri (MS)"/>
                        </a:rPr>
                        <a:t>2015–2025</a:t>
                      </a:r>
                    </a:p>
                  </a:txBody>
                  <a:tcPr marL="73152" marR="73152" marT="36576" marB="36576" anchor="ctr">
                    <a:solidFill>
                      <a:srgbClr val="FFFFFF"/>
                    </a:solidFill>
                  </a:tcPr>
                </a:tc>
                <a:tc>
                  <a:txBody>
                    <a:bodyPr wrap="square"/>
                    <a:lstStyle/>
                    <a:p>
                      <a:r>
                        <a:rPr sz="1000" b="0" i="0">
                          <a:solidFill>
                            <a:srgbClr val="14313B"/>
                          </a:solidFill>
                          <a:latin typeface="Calibri (MS)"/>
                        </a:rPr>
                        <a:t>Tahunan, provinsi</a:t>
                      </a:r>
                    </a:p>
                  </a:txBody>
                  <a:tcPr marL="73152" marR="73152" marT="36576" marB="36576" anchor="ctr">
                    <a:solidFill>
                      <a:srgbClr val="FFFFFF"/>
                    </a:solidFill>
                  </a:tcPr>
                </a:tc>
                <a:tc>
                  <a:txBody>
                    <a:bodyPr wrap="square"/>
                    <a:lstStyle/>
                    <a:p>
                      <a:r>
                        <a:rPr sz="1000" b="0" i="0">
                          <a:solidFill>
                            <a:srgbClr val="14313B"/>
                          </a:solidFill>
                          <a:latin typeface="Calibri (MS)"/>
                        </a:rPr>
                        <a:t>Kementerian Investasi/BKPM</a:t>
                      </a:r>
                    </a:p>
                  </a:txBody>
                  <a:tcPr marL="73152" marR="73152" marT="36576" marB="36576" anchor="ctr">
                    <a:solidFill>
                      <a:srgbClr val="FFFFFF"/>
                    </a:solidFill>
                  </a:tcPr>
                </a:tc>
              </a:tr>
              <a:tr h="352044">
                <a:tc>
                  <a:txBody>
                    <a:bodyPr wrap="square"/>
                    <a:lstStyle/>
                    <a:p>
                      <a:r>
                        <a:rPr sz="1000" b="1" i="0">
                          <a:solidFill>
                            <a:srgbClr val="0B5E6E"/>
                          </a:solidFill>
                          <a:latin typeface="Calibri (MS)"/>
                        </a:rPr>
                        <a:t>Lahan</a:t>
                      </a:r>
                    </a:p>
                  </a:txBody>
                  <a:tcPr marL="73152" marR="73152" marT="36576" marB="36576" anchor="ctr">
                    <a:solidFill>
                      <a:srgbClr val="EAF8FA"/>
                    </a:solidFill>
                  </a:tcPr>
                </a:tc>
                <a:tc>
                  <a:txBody>
                    <a:bodyPr wrap="square"/>
                    <a:lstStyle/>
                    <a:p>
                      <a:r>
                        <a:rPr sz="1000" b="0" i="0">
                          <a:solidFill>
                            <a:srgbClr val="14313B"/>
                          </a:solidFill>
                          <a:latin typeface="Calibri (MS)"/>
                        </a:rPr>
                        <a:t>Lahan Terbangun (citra)</a:t>
                      </a:r>
                    </a:p>
                  </a:txBody>
                  <a:tcPr marL="73152" marR="73152" marT="36576" marB="36576" anchor="ctr">
                    <a:solidFill>
                      <a:srgbClr val="EAF8FA"/>
                    </a:solidFill>
                  </a:tcPr>
                </a:tc>
                <a:tc>
                  <a:txBody>
                    <a:bodyPr wrap="square"/>
                    <a:lstStyle/>
                    <a:p>
                      <a:r>
                        <a:rPr sz="1000" b="0" i="0">
                          <a:solidFill>
                            <a:srgbClr val="14313B"/>
                          </a:solidFill>
                          <a:latin typeface="Calibri (MS)"/>
                        </a:rPr>
                        <a:t>Luas kelas terbangun (built)</a:t>
                      </a:r>
                    </a:p>
                  </a:txBody>
                  <a:tcPr marL="73152" marR="73152" marT="36576" marB="36576" anchor="ctr">
                    <a:solidFill>
                      <a:srgbClr val="EAF8FA"/>
                    </a:solidFill>
                  </a:tcPr>
                </a:tc>
                <a:tc>
                  <a:txBody>
                    <a:bodyPr wrap="square"/>
                    <a:lstStyle/>
                    <a:p>
                      <a:r>
                        <a:rPr sz="1000" b="0" i="0">
                          <a:solidFill>
                            <a:srgbClr val="14313B"/>
                          </a:solidFill>
                          <a:latin typeface="Calibri (MS)"/>
                        </a:rPr>
                        <a:t>Hektar</a:t>
                      </a:r>
                    </a:p>
                  </a:txBody>
                  <a:tcPr marL="73152" marR="73152" marT="36576" marB="36576" anchor="ctr">
                    <a:solidFill>
                      <a:srgbClr val="EAF8FA"/>
                    </a:solidFill>
                  </a:tcPr>
                </a:tc>
                <a:tc>
                  <a:txBody>
                    <a:bodyPr wrap="square"/>
                    <a:lstStyle/>
                    <a:p>
                      <a:pPr algn="ctr"/>
                      <a:r>
                        <a:rPr sz="1000" b="0" i="0">
                          <a:solidFill>
                            <a:srgbClr val="14313B"/>
                          </a:solidFill>
                          <a:latin typeface="Calibri (MS)"/>
                        </a:rPr>
                        <a:t>2016–2025</a:t>
                      </a:r>
                    </a:p>
                  </a:txBody>
                  <a:tcPr marL="73152" marR="73152" marT="36576" marB="36576" anchor="ctr">
                    <a:solidFill>
                      <a:srgbClr val="FFF1BF"/>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Dynamic World, Google Earth Engine</a:t>
                      </a:r>
                    </a:p>
                  </a:txBody>
                  <a:tcPr marL="73152" marR="73152" marT="36576" marB="36576" anchor="ctr">
                    <a:solidFill>
                      <a:srgbClr val="EAF8FA"/>
                    </a:solidFill>
                  </a:tcPr>
                </a:tc>
              </a:tr>
              <a:tr h="352044">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Luas Lahan Tersedia</a:t>
                      </a:r>
                    </a:p>
                  </a:txBody>
                  <a:tcPr marL="73152" marR="73152" marT="36576" marB="36576" anchor="ctr">
                    <a:solidFill>
                      <a:srgbClr val="FFFFFF"/>
                    </a:solidFill>
                  </a:tcPr>
                </a:tc>
                <a:tc>
                  <a:txBody>
                    <a:bodyPr wrap="square"/>
                    <a:lstStyle/>
                    <a:p>
                      <a:r>
                        <a:rPr sz="1000" b="0" i="0">
                          <a:solidFill>
                            <a:srgbClr val="14313B"/>
                          </a:solidFill>
                          <a:latin typeface="Calibri (MS)"/>
                        </a:rPr>
                        <a:t>Luas wilayah administratif</a:t>
                      </a:r>
                    </a:p>
                  </a:txBody>
                  <a:tcPr marL="73152" marR="73152" marT="36576" marB="36576" anchor="ctr">
                    <a:solidFill>
                      <a:srgbClr val="FFFFFF"/>
                    </a:solidFill>
                  </a:tcPr>
                </a:tc>
                <a:tc>
                  <a:txBody>
                    <a:bodyPr wrap="square"/>
                    <a:lstStyle/>
                    <a:p>
                      <a:r>
                        <a:rPr sz="1000" b="0" i="0">
                          <a:solidFill>
                            <a:srgbClr val="14313B"/>
                          </a:solidFill>
                          <a:latin typeface="Calibri (MS)"/>
                        </a:rPr>
                        <a:t>Hektar</a:t>
                      </a:r>
                    </a:p>
                  </a:txBody>
                  <a:tcPr marL="73152" marR="73152" marT="36576" marB="36576" anchor="ctr">
                    <a:solidFill>
                      <a:srgbClr val="FFFFFF"/>
                    </a:solidFill>
                  </a:tcPr>
                </a:tc>
                <a:tc>
                  <a:txBody>
                    <a:bodyPr wrap="square"/>
                    <a:lstStyle/>
                    <a:p>
                      <a:pPr algn="ctr"/>
                      <a:r>
                        <a:rPr sz="1000" b="0" i="0">
                          <a:solidFill>
                            <a:srgbClr val="14313B"/>
                          </a:solidFill>
                          <a:latin typeface="Calibri (MS)"/>
                        </a:rPr>
                        <a:t>Tetap</a:t>
                      </a:r>
                    </a:p>
                  </a:txBody>
                  <a:tcPr marL="73152" marR="73152" marT="36576" marB="36576" anchor="ctr">
                    <a:solidFill>
                      <a:srgbClr val="FFFFFF"/>
                    </a:solidFill>
                  </a:tcPr>
                </a:tc>
                <a:tc>
                  <a:txBody>
                    <a:bodyPr wrap="square"/>
                    <a:lstStyle/>
                    <a:p>
                      <a:r>
                        <a:rPr sz="1000" b="0" i="0">
                          <a:solidFill>
                            <a:srgbClr val="14313B"/>
                          </a:solidFill>
                          <a:latin typeface="Calibri (MS)"/>
                        </a:rPr>
                        <a:t>Titik tunggal, provinsi</a:t>
                      </a:r>
                    </a:p>
                  </a:txBody>
                  <a:tcPr marL="73152" marR="73152" marT="36576" marB="36576" anchor="ctr">
                    <a:solidFill>
                      <a:srgbClr val="FFFFFF"/>
                    </a:solidFill>
                  </a:tcPr>
                </a:tc>
                <a:tc>
                  <a:txBody>
                    <a:bodyPr wrap="square"/>
                    <a:lstStyle/>
                    <a:p>
                      <a:r>
                        <a:rPr sz="1000" b="0" i="0">
                          <a:solidFill>
                            <a:srgbClr val="14313B"/>
                          </a:solidFill>
                          <a:latin typeface="Calibri (MS)"/>
                        </a:rPr>
                        <a:t>Kepmendagri, dikutip BPS DIY</a:t>
                      </a:r>
                    </a:p>
                  </a:txBody>
                  <a:tcPr marL="73152" marR="73152" marT="36576" marB="36576" anchor="ctr">
                    <a:solidFill>
                      <a:srgbClr val="FFFFFF"/>
                    </a:solidFill>
                  </a:tcPr>
                </a:tc>
              </a:tr>
              <a:tr h="352044">
                <a:tc>
                  <a:txBody>
                    <a:bodyPr wrap="square"/>
                    <a:lstStyle/>
                    <a:p>
                      <a:r>
                        <a:rPr sz="1000" b="1" i="0">
                          <a:solidFill>
                            <a:srgbClr val="0B5E6E"/>
                          </a:solidFill>
                          <a:latin typeface="Calibri (MS)"/>
                        </a:rPr>
                        <a:t>ODTW (citra)</a:t>
                      </a:r>
                    </a:p>
                  </a:txBody>
                  <a:tcPr marL="73152" marR="73152" marT="36576" marB="36576" anchor="ctr">
                    <a:solidFill>
                      <a:srgbClr val="EAF8FA"/>
                    </a:solidFill>
                  </a:tcPr>
                </a:tc>
                <a:tc>
                  <a:txBody>
                    <a:bodyPr wrap="square"/>
                    <a:lstStyle/>
                    <a:p>
                      <a:r>
                        <a:rPr sz="1000" b="0" i="0">
                          <a:solidFill>
                            <a:srgbClr val="14313B"/>
                          </a:solidFill>
                          <a:latin typeface="Calibri (MS)"/>
                        </a:rPr>
                        <a:t>Intensitas cahaya malam (NTL)</a:t>
                      </a:r>
                    </a:p>
                  </a:txBody>
                  <a:tcPr marL="73152" marR="73152" marT="36576" marB="36576" anchor="ctr">
                    <a:solidFill>
                      <a:srgbClr val="EAF8FA"/>
                    </a:solidFill>
                  </a:tcPr>
                </a:tc>
                <a:tc>
                  <a:txBody>
                    <a:bodyPr wrap="square"/>
                    <a:lstStyle/>
                    <a:p>
                      <a:r>
                        <a:rPr sz="1000" b="0" i="0">
                          <a:solidFill>
                            <a:srgbClr val="14313B"/>
                          </a:solidFill>
                          <a:latin typeface="Calibri (MS)"/>
                        </a:rPr>
                        <a:t>Radiansi komposit tahunan</a:t>
                      </a:r>
                    </a:p>
                  </a:txBody>
                  <a:tcPr marL="73152" marR="73152" marT="36576" marB="36576" anchor="ctr">
                    <a:solidFill>
                      <a:srgbClr val="EAF8FA"/>
                    </a:solidFill>
                  </a:tcPr>
                </a:tc>
                <a:tc>
                  <a:txBody>
                    <a:bodyPr wrap="square"/>
                    <a:lstStyle/>
                    <a:p>
                      <a:r>
                        <a:rPr sz="1000" b="0" i="0">
                          <a:solidFill>
                            <a:srgbClr val="14313B"/>
                          </a:solidFill>
                          <a:latin typeface="Calibri (MS)"/>
                        </a:rPr>
                        <a:t>nW/cm²/sr</a:t>
                      </a:r>
                    </a:p>
                  </a:txBody>
                  <a:tcPr marL="73152" marR="73152" marT="36576" marB="36576" anchor="ctr">
                    <a:solidFill>
                      <a:srgbClr val="EAF8FA"/>
                    </a:solidFill>
                  </a:tcPr>
                </a:tc>
                <a:tc>
                  <a:txBody>
                    <a:bodyPr wrap="square"/>
                    <a:lstStyle/>
                    <a:p>
                      <a:pPr algn="ctr"/>
                      <a:r>
                        <a:rPr sz="1000" b="0" i="0">
                          <a:solidFill>
                            <a:srgbClr val="14313B"/>
                          </a:solidFill>
                          <a:latin typeface="Calibri (MS)"/>
                        </a:rPr>
                        <a:t>2015–2025</a:t>
                      </a:r>
                    </a:p>
                  </a:txBody>
                  <a:tcPr marL="73152" marR="73152" marT="36576" marB="36576" anchor="ctr">
                    <a:solidFill>
                      <a:srgbClr val="EAF8FA"/>
                    </a:solidFill>
                  </a:tcPr>
                </a:tc>
                <a:tc>
                  <a:txBody>
                    <a:bodyPr wrap="square"/>
                    <a:lstStyle/>
                    <a:p>
                      <a:r>
                        <a:rPr sz="1000" b="0" i="0">
                          <a:solidFill>
                            <a:srgbClr val="14313B"/>
                          </a:solidFill>
                          <a:latin typeface="Calibri (MS)"/>
                        </a:rPr>
                        <a:t>Tahunan, provinsi</a:t>
                      </a:r>
                    </a:p>
                  </a:txBody>
                  <a:tcPr marL="73152" marR="73152" marT="36576" marB="36576" anchor="ctr">
                    <a:solidFill>
                      <a:srgbClr val="EAF8FA"/>
                    </a:solidFill>
                  </a:tcPr>
                </a:tc>
                <a:tc>
                  <a:txBody>
                    <a:bodyPr wrap="square"/>
                    <a:lstStyle/>
                    <a:p>
                      <a:r>
                        <a:rPr sz="1000" b="0" i="0">
                          <a:solidFill>
                            <a:srgbClr val="14313B"/>
                          </a:solidFill>
                          <a:latin typeface="Calibri (MS)"/>
                        </a:rPr>
                        <a:t>VIIRS DNB (NOAA), Google Earth Engine</a:t>
                      </a:r>
                    </a:p>
                  </a:txBody>
                  <a:tcPr marL="73152" marR="73152" marT="36576" marB="36576" anchor="ctr">
                    <a:solidFill>
                      <a:srgbClr val="EAF8FA"/>
                    </a:solidFill>
                  </a:tcPr>
                </a:tc>
              </a:tr>
            </a:tbl>
          </a:graphicData>
        </a:graphic>
      </p:graphicFrame>
      <p:sp>
        <p:nvSpPr>
          <p:cNvPr id="28" name="Rounded Rectangle 27"/>
          <p:cNvSpPr/>
          <p:nvPr/>
        </p:nvSpPr>
        <p:spPr>
          <a:xfrm>
            <a:off x="822960" y="80924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Kuning = periode tidak lengkap. ODTW 2015–2017 dan 2025 diestimasi dengan NTL; lahan 2015 diekstrapolasi; tenaga kerja 2015–2016 dan pengeluaran 2015–2017 diekstrapolasi (lihat lampiran ekstrapolasi). Model memuat 61 variabel: 5 stock, 10 flow, 11 auxiliary, 35 parameter.</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3.4.1 (Tabel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 · Data Historis 2015–2025 (1/3): Permintaan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Permintaan wisatawan dan pengeluaran; data sebelum penyambungan wisnus</a:t>
            </a:r>
          </a:p>
        </p:txBody>
      </p:sp>
      <p:graphicFrame>
        <p:nvGraphicFramePr>
          <p:cNvPr id="27" name="Table 26"/>
          <p:cNvGraphicFramePr>
            <a:graphicFrameLocks noGrp="1"/>
          </p:cNvGraphicFramePr>
          <p:nvPr/>
        </p:nvGraphicFramePr>
        <p:xfrm>
          <a:off x="822960" y="1920240"/>
          <a:ext cx="16642075" cy="4828032"/>
        </p:xfrm>
        <a:graphic>
          <a:graphicData uri="http://schemas.openxmlformats.org/drawingml/2006/table">
            <a:tbl>
              <a:tblPr firstRow="1" bandRow="1">
                <a:tableStyleId>{5C22544A-7EE6-4342-B048-85BDC9FD1C3A}</a:tableStyleId>
              </a:tblPr>
              <a:tblGrid>
                <a:gridCol w="966314"/>
                <a:gridCol w="2362101"/>
                <a:gridCol w="2147365"/>
                <a:gridCol w="1503155"/>
                <a:gridCol w="2469469"/>
                <a:gridCol w="2362101"/>
                <a:gridCol w="2039996"/>
                <a:gridCol w="2791574"/>
              </a:tblGrid>
              <a:tr h="402336">
                <a:tc>
                  <a:txBody>
                    <a:bodyPr wrap="square"/>
                    <a:lstStyle/>
                    <a:p>
                      <a:pPr algn="ctr"/>
                      <a:r>
                        <a:rPr sz="11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Jumlah wisatawan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Wisnus</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Wisman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Total malam menginap</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Wisatawan menginap</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Lama menginap (malam)</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Pengeluaran/kunjungan (miliar Rp)</a:t>
                      </a:r>
                    </a:p>
                  </a:txBody>
                  <a:tcPr marL="73152" marR="73152" marT="36576" marB="36576" anchor="ctr">
                    <a:solidFill>
                      <a:srgbClr val="0B5E6E"/>
                    </a:solidFill>
                  </a:tcPr>
                </a:tc>
              </a:tr>
              <a:tr h="402336">
                <a:tc>
                  <a:txBody>
                    <a:bodyPr wrap="square"/>
                    <a:lstStyle/>
                    <a:p>
                      <a:pPr algn="ctr"/>
                      <a:r>
                        <a:rPr sz="1100" b="0" i="0">
                          <a:solidFill>
                            <a:srgbClr val="14313B"/>
                          </a:solidFill>
                          <a:latin typeface="Calibri (MS)"/>
                        </a:rPr>
                        <a:t>2015</a:t>
                      </a:r>
                    </a:p>
                  </a:txBody>
                  <a:tcPr marL="73152" marR="73152" marT="36576" marB="36576" anchor="ctr">
                    <a:solidFill>
                      <a:srgbClr val="FFFFFF"/>
                    </a:solidFill>
                  </a:tcPr>
                </a:tc>
                <a:tc>
                  <a:txBody>
                    <a:bodyPr wrap="square"/>
                    <a:lstStyle/>
                    <a:p>
                      <a:pPr algn="ctr"/>
                      <a:r>
                        <a:rPr sz="1100" b="0" i="0">
                          <a:solidFill>
                            <a:srgbClr val="14313B"/>
                          </a:solidFill>
                          <a:latin typeface="Calibri (MS)"/>
                        </a:rPr>
                        <a:t>6.413.735</a:t>
                      </a:r>
                    </a:p>
                  </a:txBody>
                  <a:tcPr marL="73152" marR="73152" marT="36576" marB="36576" anchor="ctr">
                    <a:solidFill>
                      <a:srgbClr val="FFFFFF"/>
                    </a:solidFill>
                  </a:tcPr>
                </a:tc>
                <a:tc>
                  <a:txBody>
                    <a:bodyPr wrap="square"/>
                    <a:lstStyle/>
                    <a:p>
                      <a:pPr algn="ctr"/>
                      <a:r>
                        <a:rPr sz="1100" b="0" i="0">
                          <a:solidFill>
                            <a:srgbClr val="14313B"/>
                          </a:solidFill>
                          <a:latin typeface="Calibri (MS)"/>
                        </a:rPr>
                        <a:t>6.331.609</a:t>
                      </a:r>
                    </a:p>
                  </a:txBody>
                  <a:tcPr marL="73152" marR="73152" marT="36576" marB="36576" anchor="ctr">
                    <a:solidFill>
                      <a:srgbClr val="FFFFFF"/>
                    </a:solidFill>
                  </a:tcPr>
                </a:tc>
                <a:tc>
                  <a:txBody>
                    <a:bodyPr wrap="square"/>
                    <a:lstStyle/>
                    <a:p>
                      <a:pPr algn="ctr"/>
                      <a:r>
                        <a:rPr sz="1100" b="0" i="0">
                          <a:solidFill>
                            <a:srgbClr val="14313B"/>
                          </a:solidFill>
                          <a:latin typeface="Calibri (MS)"/>
                        </a:rPr>
                        <a:t>82.126</a:t>
                      </a:r>
                    </a:p>
                  </a:txBody>
                  <a:tcPr marL="73152" marR="73152" marT="36576" marB="36576" anchor="ctr">
                    <a:solidFill>
                      <a:srgbClr val="FFFFFF"/>
                    </a:solidFill>
                  </a:tcPr>
                </a:tc>
                <a:tc>
                  <a:txBody>
                    <a:bodyPr wrap="square"/>
                    <a:lstStyle/>
                    <a:p>
                      <a:pPr algn="ctr"/>
                      <a:r>
                        <a:rPr sz="1100" b="0" i="0">
                          <a:solidFill>
                            <a:srgbClr val="14313B"/>
                          </a:solidFill>
                          <a:latin typeface="Calibri (MS)"/>
                        </a:rPr>
                        <a:t>5.698.325</a:t>
                      </a:r>
                    </a:p>
                  </a:txBody>
                  <a:tcPr marL="73152" marR="73152" marT="36576" marB="36576" anchor="ctr">
                    <a:solidFill>
                      <a:srgbClr val="FFFFFF"/>
                    </a:solidFill>
                  </a:tcPr>
                </a:tc>
                <a:tc>
                  <a:txBody>
                    <a:bodyPr wrap="square"/>
                    <a:lstStyle/>
                    <a:p>
                      <a:pPr algn="ctr"/>
                      <a:r>
                        <a:rPr sz="1100" b="0" i="0">
                          <a:solidFill>
                            <a:srgbClr val="14313B"/>
                          </a:solidFill>
                          <a:latin typeface="Calibri (MS)"/>
                        </a:rPr>
                        <a:t>4.056.916</a:t>
                      </a:r>
                    </a:p>
                  </a:txBody>
                  <a:tcPr marL="73152" marR="73152" marT="36576" marB="36576" anchor="ctr">
                    <a:solidFill>
                      <a:srgbClr val="FFFFFF"/>
                    </a:solidFill>
                  </a:tcPr>
                </a:tc>
                <a:tc>
                  <a:txBody>
                    <a:bodyPr wrap="square"/>
                    <a:lstStyle/>
                    <a:p>
                      <a:pPr algn="ctr"/>
                      <a:r>
                        <a:rPr sz="1100" b="0" i="0">
                          <a:solidFill>
                            <a:srgbClr val="14313B"/>
                          </a:solidFill>
                          <a:latin typeface="Calibri (MS)"/>
                        </a:rPr>
                        <a:t>1,400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0,001024</a:t>
                      </a:r>
                    </a:p>
                  </a:txBody>
                  <a:tcPr marL="73152" marR="73152" marT="36576" marB="36576" anchor="ctr">
                    <a:solidFill>
                      <a:srgbClr val="FFF1BF"/>
                    </a:solidFill>
                  </a:tcPr>
                </a:tc>
              </a:tr>
              <a:tr h="402336">
                <a:tc>
                  <a:txBody>
                    <a:bodyPr wrap="square"/>
                    <a:lstStyle/>
                    <a:p>
                      <a:pPr algn="ctr"/>
                      <a:r>
                        <a:rPr sz="1100" b="0" i="0">
                          <a:solidFill>
                            <a:srgbClr val="14313B"/>
                          </a:solidFill>
                          <a:latin typeface="Calibri (MS)"/>
                        </a:rPr>
                        <a:t>2016</a:t>
                      </a:r>
                    </a:p>
                  </a:txBody>
                  <a:tcPr marL="73152" marR="73152" marT="36576" marB="36576" anchor="ctr">
                    <a:solidFill>
                      <a:srgbClr val="EAF8FA"/>
                    </a:solidFill>
                  </a:tcPr>
                </a:tc>
                <a:tc>
                  <a:txBody>
                    <a:bodyPr wrap="square"/>
                    <a:lstStyle/>
                    <a:p>
                      <a:pPr algn="ctr"/>
                      <a:r>
                        <a:rPr sz="1100" b="0" i="0">
                          <a:solidFill>
                            <a:srgbClr val="14313B"/>
                          </a:solidFill>
                          <a:latin typeface="Calibri (MS)"/>
                        </a:rPr>
                        <a:t>6.551.294</a:t>
                      </a:r>
                    </a:p>
                  </a:txBody>
                  <a:tcPr marL="73152" marR="73152" marT="36576" marB="36576" anchor="ctr">
                    <a:solidFill>
                      <a:srgbClr val="EAF8FA"/>
                    </a:solidFill>
                  </a:tcPr>
                </a:tc>
                <a:tc>
                  <a:txBody>
                    <a:bodyPr wrap="square"/>
                    <a:lstStyle/>
                    <a:p>
                      <a:pPr algn="ctr"/>
                      <a:r>
                        <a:rPr sz="1100" b="0" i="0">
                          <a:solidFill>
                            <a:srgbClr val="14313B"/>
                          </a:solidFill>
                          <a:latin typeface="Calibri (MS)"/>
                        </a:rPr>
                        <a:t>6.436.655</a:t>
                      </a:r>
                    </a:p>
                  </a:txBody>
                  <a:tcPr marL="73152" marR="73152" marT="36576" marB="36576" anchor="ctr">
                    <a:solidFill>
                      <a:srgbClr val="EAF8FA"/>
                    </a:solidFill>
                  </a:tcPr>
                </a:tc>
                <a:tc>
                  <a:txBody>
                    <a:bodyPr wrap="square"/>
                    <a:lstStyle/>
                    <a:p>
                      <a:pPr algn="ctr"/>
                      <a:r>
                        <a:rPr sz="1100" b="0" i="0">
                          <a:solidFill>
                            <a:srgbClr val="14313B"/>
                          </a:solidFill>
                          <a:latin typeface="Calibri (MS)"/>
                        </a:rPr>
                        <a:t>114.639</a:t>
                      </a:r>
                    </a:p>
                  </a:txBody>
                  <a:tcPr marL="73152" marR="73152" marT="36576" marB="36576" anchor="ctr">
                    <a:solidFill>
                      <a:srgbClr val="EAF8FA"/>
                    </a:solidFill>
                  </a:tcPr>
                </a:tc>
                <a:tc>
                  <a:txBody>
                    <a:bodyPr wrap="square"/>
                    <a:lstStyle/>
                    <a:p>
                      <a:pPr algn="ctr"/>
                      <a:r>
                        <a:rPr sz="1100" b="0" i="0">
                          <a:solidFill>
                            <a:srgbClr val="14313B"/>
                          </a:solidFill>
                          <a:latin typeface="Calibri (MS)"/>
                        </a:rPr>
                        <a:t>6.097.324</a:t>
                      </a:r>
                    </a:p>
                  </a:txBody>
                  <a:tcPr marL="73152" marR="73152" marT="36576" marB="36576" anchor="ctr">
                    <a:solidFill>
                      <a:srgbClr val="EAF8FA"/>
                    </a:solidFill>
                  </a:tcPr>
                </a:tc>
                <a:tc>
                  <a:txBody>
                    <a:bodyPr wrap="square"/>
                    <a:lstStyle/>
                    <a:p>
                      <a:pPr algn="ctr"/>
                      <a:r>
                        <a:rPr sz="1100" b="0" i="0">
                          <a:solidFill>
                            <a:srgbClr val="14313B"/>
                          </a:solidFill>
                          <a:latin typeface="Calibri (MS)"/>
                        </a:rPr>
                        <a:t>4.407.538</a:t>
                      </a:r>
                    </a:p>
                  </a:txBody>
                  <a:tcPr marL="73152" marR="73152" marT="36576" marB="36576" anchor="ctr">
                    <a:solidFill>
                      <a:srgbClr val="EAF8FA"/>
                    </a:solidFill>
                  </a:tcPr>
                </a:tc>
                <a:tc>
                  <a:txBody>
                    <a:bodyPr wrap="square"/>
                    <a:lstStyle/>
                    <a:p>
                      <a:pPr algn="ctr"/>
                      <a:r>
                        <a:rPr sz="1100" b="0" i="0">
                          <a:solidFill>
                            <a:srgbClr val="14313B"/>
                          </a:solidFill>
                          <a:latin typeface="Calibri (MS)"/>
                        </a:rPr>
                        <a:t>1,380</a:t>
                      </a:r>
                    </a:p>
                  </a:txBody>
                  <a:tcPr marL="73152" marR="73152" marT="36576" marB="36576" anchor="ctr">
                    <a:solidFill>
                      <a:srgbClr val="EAF8FA"/>
                    </a:solidFill>
                  </a:tcPr>
                </a:tc>
                <a:tc>
                  <a:txBody>
                    <a:bodyPr wrap="square"/>
                    <a:lstStyle/>
                    <a:p>
                      <a:pPr algn="ctr"/>
                      <a:r>
                        <a:rPr sz="1100" b="0" i="0">
                          <a:solidFill>
                            <a:srgbClr val="14313B"/>
                          </a:solidFill>
                          <a:latin typeface="Calibri (MS)"/>
                        </a:rPr>
                        <a:t>0,001129</a:t>
                      </a:r>
                    </a:p>
                  </a:txBody>
                  <a:tcPr marL="73152" marR="73152" marT="36576" marB="36576" anchor="ctr">
                    <a:solidFill>
                      <a:srgbClr val="FFF1BF"/>
                    </a:solidFill>
                  </a:tcPr>
                </a:tc>
              </a:tr>
              <a:tr h="402336">
                <a:tc>
                  <a:txBody>
                    <a:bodyPr wrap="square"/>
                    <a:lstStyle/>
                    <a:p>
                      <a:pPr algn="ctr"/>
                      <a:r>
                        <a:rPr sz="1100" b="0" i="0">
                          <a:solidFill>
                            <a:srgbClr val="14313B"/>
                          </a:solidFill>
                          <a:latin typeface="Calibri (MS)"/>
                        </a:rPr>
                        <a:t>2017</a:t>
                      </a:r>
                    </a:p>
                  </a:txBody>
                  <a:tcPr marL="73152" marR="73152" marT="36576" marB="36576" anchor="ctr">
                    <a:solidFill>
                      <a:srgbClr val="FFFFFF"/>
                    </a:solidFill>
                  </a:tcPr>
                </a:tc>
                <a:tc>
                  <a:txBody>
                    <a:bodyPr wrap="square"/>
                    <a:lstStyle/>
                    <a:p>
                      <a:pPr algn="ctr"/>
                      <a:r>
                        <a:rPr sz="1100" b="0" i="0">
                          <a:solidFill>
                            <a:srgbClr val="14313B"/>
                          </a:solidFill>
                          <a:latin typeface="Calibri (MS)"/>
                        </a:rPr>
                        <a:t>6.644.412</a:t>
                      </a:r>
                    </a:p>
                  </a:txBody>
                  <a:tcPr marL="73152" marR="73152" marT="36576" marB="36576" anchor="ctr">
                    <a:solidFill>
                      <a:srgbClr val="FFFFFF"/>
                    </a:solidFill>
                  </a:tcPr>
                </a:tc>
                <a:tc>
                  <a:txBody>
                    <a:bodyPr wrap="square"/>
                    <a:lstStyle/>
                    <a:p>
                      <a:pPr algn="ctr"/>
                      <a:r>
                        <a:rPr sz="1100" b="0" i="0">
                          <a:solidFill>
                            <a:srgbClr val="14313B"/>
                          </a:solidFill>
                          <a:latin typeface="Calibri (MS)"/>
                        </a:rPr>
                        <a:t>6.498.739</a:t>
                      </a:r>
                    </a:p>
                  </a:txBody>
                  <a:tcPr marL="73152" marR="73152" marT="36576" marB="36576" anchor="ctr">
                    <a:solidFill>
                      <a:srgbClr val="FFFFFF"/>
                    </a:solidFill>
                  </a:tcPr>
                </a:tc>
                <a:tc>
                  <a:txBody>
                    <a:bodyPr wrap="square"/>
                    <a:lstStyle/>
                    <a:p>
                      <a:pPr algn="ctr"/>
                      <a:r>
                        <a:rPr sz="1100" b="0" i="0">
                          <a:solidFill>
                            <a:srgbClr val="14313B"/>
                          </a:solidFill>
                          <a:latin typeface="Calibri (MS)"/>
                        </a:rPr>
                        <a:t>145.673</a:t>
                      </a:r>
                    </a:p>
                  </a:txBody>
                  <a:tcPr marL="73152" marR="73152" marT="36576" marB="36576" anchor="ctr">
                    <a:solidFill>
                      <a:srgbClr val="FFFFFF"/>
                    </a:solidFill>
                  </a:tcPr>
                </a:tc>
                <a:tc>
                  <a:txBody>
                    <a:bodyPr wrap="square"/>
                    <a:lstStyle/>
                    <a:p>
                      <a:pPr algn="ctr"/>
                      <a:r>
                        <a:rPr sz="1100" b="0" i="0">
                          <a:solidFill>
                            <a:srgbClr val="14313B"/>
                          </a:solidFill>
                          <a:latin typeface="Calibri (MS)"/>
                        </a:rPr>
                        <a:t>10.899.900</a:t>
                      </a:r>
                    </a:p>
                  </a:txBody>
                  <a:tcPr marL="73152" marR="73152" marT="36576" marB="36576" anchor="ctr">
                    <a:solidFill>
                      <a:srgbClr val="FFFFFF"/>
                    </a:solidFill>
                  </a:tcPr>
                </a:tc>
                <a:tc>
                  <a:txBody>
                    <a:bodyPr wrap="square"/>
                    <a:lstStyle/>
                    <a:p>
                      <a:pPr algn="ctr"/>
                      <a:r>
                        <a:rPr sz="1100" b="0" i="0">
                          <a:solidFill>
                            <a:srgbClr val="14313B"/>
                          </a:solidFill>
                          <a:latin typeface="Calibri (MS)"/>
                        </a:rPr>
                        <a:t>6.854.907</a:t>
                      </a:r>
                    </a:p>
                  </a:txBody>
                  <a:tcPr marL="73152" marR="73152" marT="36576" marB="36576" anchor="ctr">
                    <a:solidFill>
                      <a:srgbClr val="FFFFFF"/>
                    </a:solidFill>
                  </a:tcPr>
                </a:tc>
                <a:tc>
                  <a:txBody>
                    <a:bodyPr wrap="square"/>
                    <a:lstStyle/>
                    <a:p>
                      <a:pPr algn="ctr"/>
                      <a:r>
                        <a:rPr sz="1100" b="0" i="0">
                          <a:solidFill>
                            <a:srgbClr val="14313B"/>
                          </a:solidFill>
                          <a:latin typeface="Calibri (MS)"/>
                        </a:rPr>
                        <a:t>1,590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0,001245</a:t>
                      </a:r>
                    </a:p>
                  </a:txBody>
                  <a:tcPr marL="73152" marR="73152" marT="36576" marB="36576" anchor="ctr">
                    <a:solidFill>
                      <a:srgbClr val="FFF1BF"/>
                    </a:solidFill>
                  </a:tcPr>
                </a:tc>
              </a:tr>
              <a:tr h="402336">
                <a:tc>
                  <a:txBody>
                    <a:bodyPr wrap="square"/>
                    <a:lstStyle/>
                    <a:p>
                      <a:pPr algn="ctr"/>
                      <a:r>
                        <a:rPr sz="1100" b="0" i="0">
                          <a:solidFill>
                            <a:srgbClr val="14313B"/>
                          </a:solidFill>
                          <a:latin typeface="Calibri (MS)"/>
                        </a:rPr>
                        <a:t>2018</a:t>
                      </a:r>
                    </a:p>
                  </a:txBody>
                  <a:tcPr marL="73152" marR="73152" marT="36576" marB="36576" anchor="ctr">
                    <a:solidFill>
                      <a:srgbClr val="EAF8FA"/>
                    </a:solidFill>
                  </a:tcPr>
                </a:tc>
                <a:tc>
                  <a:txBody>
                    <a:bodyPr wrap="square"/>
                    <a:lstStyle/>
                    <a:p>
                      <a:pPr algn="ctr"/>
                      <a:r>
                        <a:rPr sz="1100" b="0" i="0">
                          <a:solidFill>
                            <a:srgbClr val="14313B"/>
                          </a:solidFill>
                          <a:latin typeface="Calibri (MS)"/>
                        </a:rPr>
                        <a:t>7.996.959</a:t>
                      </a:r>
                    </a:p>
                  </a:txBody>
                  <a:tcPr marL="73152" marR="73152" marT="36576" marB="36576" anchor="ctr">
                    <a:solidFill>
                      <a:srgbClr val="EAF8FA"/>
                    </a:solidFill>
                  </a:tcPr>
                </a:tc>
                <a:tc>
                  <a:txBody>
                    <a:bodyPr wrap="square"/>
                    <a:lstStyle/>
                    <a:p>
                      <a:pPr algn="ctr"/>
                      <a:r>
                        <a:rPr sz="1100" b="0" i="0">
                          <a:solidFill>
                            <a:srgbClr val="14313B"/>
                          </a:solidFill>
                          <a:latin typeface="Calibri (MS)"/>
                        </a:rPr>
                        <a:t>7.858.137</a:t>
                      </a:r>
                    </a:p>
                  </a:txBody>
                  <a:tcPr marL="73152" marR="73152" marT="36576" marB="36576" anchor="ctr">
                    <a:solidFill>
                      <a:srgbClr val="EAF8FA"/>
                    </a:solidFill>
                  </a:tcPr>
                </a:tc>
                <a:tc>
                  <a:txBody>
                    <a:bodyPr wrap="square"/>
                    <a:lstStyle/>
                    <a:p>
                      <a:pPr algn="ctr"/>
                      <a:r>
                        <a:rPr sz="1100" b="0" i="0">
                          <a:solidFill>
                            <a:srgbClr val="14313B"/>
                          </a:solidFill>
                          <a:latin typeface="Calibri (MS)"/>
                        </a:rPr>
                        <a:t>138.822</a:t>
                      </a:r>
                    </a:p>
                  </a:txBody>
                  <a:tcPr marL="73152" marR="73152" marT="36576" marB="36576" anchor="ctr">
                    <a:solidFill>
                      <a:srgbClr val="EAF8FA"/>
                    </a:solidFill>
                  </a:tcPr>
                </a:tc>
                <a:tc>
                  <a:txBody>
                    <a:bodyPr wrap="square"/>
                    <a:lstStyle/>
                    <a:p>
                      <a:pPr algn="ctr"/>
                      <a:r>
                        <a:rPr sz="1100" b="0" i="0">
                          <a:solidFill>
                            <a:srgbClr val="14313B"/>
                          </a:solidFill>
                          <a:latin typeface="Calibri (MS)"/>
                        </a:rPr>
                        <a:t>10.293.319</a:t>
                      </a:r>
                    </a:p>
                  </a:txBody>
                  <a:tcPr marL="73152" marR="73152" marT="36576" marB="36576" anchor="ctr">
                    <a:solidFill>
                      <a:srgbClr val="EAF8FA"/>
                    </a:solidFill>
                  </a:tcPr>
                </a:tc>
                <a:tc>
                  <a:txBody>
                    <a:bodyPr wrap="square"/>
                    <a:lstStyle/>
                    <a:p>
                      <a:pPr algn="ctr"/>
                      <a:r>
                        <a:rPr sz="1100" b="0" i="0">
                          <a:solidFill>
                            <a:srgbClr val="14313B"/>
                          </a:solidFill>
                          <a:latin typeface="Calibri (MS)"/>
                        </a:rPr>
                        <a:t>6.525.894</a:t>
                      </a:r>
                    </a:p>
                  </a:txBody>
                  <a:tcPr marL="73152" marR="73152" marT="36576" marB="36576" anchor="ctr">
                    <a:solidFill>
                      <a:srgbClr val="EAF8FA"/>
                    </a:solidFill>
                  </a:tcPr>
                </a:tc>
                <a:tc>
                  <a:txBody>
                    <a:bodyPr wrap="square"/>
                    <a:lstStyle/>
                    <a:p>
                      <a:pPr algn="ctr"/>
                      <a:r>
                        <a:rPr sz="1100" b="0" i="0">
                          <a:solidFill>
                            <a:srgbClr val="14313B"/>
                          </a:solidFill>
                          <a:latin typeface="Calibri (MS)"/>
                        </a:rPr>
                        <a:t>1,580</a:t>
                      </a:r>
                    </a:p>
                  </a:txBody>
                  <a:tcPr marL="73152" marR="73152" marT="36576" marB="36576" anchor="ctr">
                    <a:solidFill>
                      <a:srgbClr val="EAF8FA"/>
                    </a:solidFill>
                  </a:tcPr>
                </a:tc>
                <a:tc>
                  <a:txBody>
                    <a:bodyPr wrap="square"/>
                    <a:lstStyle/>
                    <a:p>
                      <a:pPr algn="ctr"/>
                      <a:r>
                        <a:rPr sz="1100" b="0" i="0">
                          <a:solidFill>
                            <a:srgbClr val="14313B"/>
                          </a:solidFill>
                          <a:latin typeface="Calibri (MS)"/>
                        </a:rPr>
                        <a:t>0,001373</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2019</a:t>
                      </a:r>
                    </a:p>
                  </a:txBody>
                  <a:tcPr marL="73152" marR="73152" marT="36576" marB="36576" anchor="ctr">
                    <a:solidFill>
                      <a:srgbClr val="FFFFFF"/>
                    </a:solidFill>
                  </a:tcPr>
                </a:tc>
                <a:tc>
                  <a:txBody>
                    <a:bodyPr wrap="square"/>
                    <a:lstStyle/>
                    <a:p>
                      <a:pPr algn="ctr"/>
                      <a:r>
                        <a:rPr sz="1100" b="0" i="0">
                          <a:solidFill>
                            <a:srgbClr val="14313B"/>
                          </a:solidFill>
                          <a:latin typeface="Calibri (MS)"/>
                        </a:rPr>
                        <a:t>20.520.104</a:t>
                      </a:r>
                    </a:p>
                  </a:txBody>
                  <a:tcPr marL="73152" marR="73152" marT="36576" marB="36576" anchor="ctr">
                    <a:solidFill>
                      <a:srgbClr val="FFFFFF"/>
                    </a:solidFill>
                  </a:tcPr>
                </a:tc>
                <a:tc>
                  <a:txBody>
                    <a:bodyPr wrap="square"/>
                    <a:lstStyle/>
                    <a:p>
                      <a:pPr algn="ctr"/>
                      <a:r>
                        <a:rPr sz="1100" b="0" i="0">
                          <a:solidFill>
                            <a:srgbClr val="14313B"/>
                          </a:solidFill>
                          <a:latin typeface="Calibri (MS)"/>
                        </a:rPr>
                        <a:t>20.407.076</a:t>
                      </a:r>
                    </a:p>
                  </a:txBody>
                  <a:tcPr marL="73152" marR="73152" marT="36576" marB="36576" anchor="ctr">
                    <a:solidFill>
                      <a:srgbClr val="FFFFFF"/>
                    </a:solidFill>
                  </a:tcPr>
                </a:tc>
                <a:tc>
                  <a:txBody>
                    <a:bodyPr wrap="square"/>
                    <a:lstStyle/>
                    <a:p>
                      <a:pPr algn="ctr"/>
                      <a:r>
                        <a:rPr sz="1100" b="0" i="0">
                          <a:solidFill>
                            <a:srgbClr val="14313B"/>
                          </a:solidFill>
                          <a:latin typeface="Calibri (MS)"/>
                        </a:rPr>
                        <a:t>113.028</a:t>
                      </a:r>
                    </a:p>
                  </a:txBody>
                  <a:tcPr marL="73152" marR="73152" marT="36576" marB="36576" anchor="ctr">
                    <a:solidFill>
                      <a:srgbClr val="FFFFFF"/>
                    </a:solidFill>
                  </a:tcPr>
                </a:tc>
                <a:tc>
                  <a:txBody>
                    <a:bodyPr wrap="square"/>
                    <a:lstStyle/>
                    <a:p>
                      <a:pPr algn="ctr"/>
                      <a:r>
                        <a:rPr sz="1100" b="0" i="0">
                          <a:solidFill>
                            <a:srgbClr val="14313B"/>
                          </a:solidFill>
                          <a:latin typeface="Calibri (MS)"/>
                        </a:rPr>
                        <a:t>13.363.923</a:t>
                      </a:r>
                    </a:p>
                  </a:txBody>
                  <a:tcPr marL="73152" marR="73152" marT="36576" marB="36576" anchor="ctr">
                    <a:solidFill>
                      <a:srgbClr val="FFFFFF"/>
                    </a:solidFill>
                  </a:tcPr>
                </a:tc>
                <a:tc>
                  <a:txBody>
                    <a:bodyPr wrap="square"/>
                    <a:lstStyle/>
                    <a:p>
                      <a:pPr algn="ctr"/>
                      <a:r>
                        <a:rPr sz="1100" b="0" i="0">
                          <a:solidFill>
                            <a:srgbClr val="14313B"/>
                          </a:solidFill>
                          <a:latin typeface="Calibri (MS)"/>
                        </a:rPr>
                        <a:t>9.006.150</a:t>
                      </a:r>
                    </a:p>
                  </a:txBody>
                  <a:tcPr marL="73152" marR="73152" marT="36576" marB="36576" anchor="ctr">
                    <a:solidFill>
                      <a:srgbClr val="FFFFFF"/>
                    </a:solidFill>
                  </a:tcPr>
                </a:tc>
                <a:tc>
                  <a:txBody>
                    <a:bodyPr wrap="square"/>
                    <a:lstStyle/>
                    <a:p>
                      <a:pPr algn="ctr"/>
                      <a:r>
                        <a:rPr sz="1100" b="0" i="0">
                          <a:solidFill>
                            <a:srgbClr val="14313B"/>
                          </a:solidFill>
                          <a:latin typeface="Calibri (MS)"/>
                        </a:rPr>
                        <a:t>1,480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0,001246</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2020</a:t>
                      </a:r>
                    </a:p>
                  </a:txBody>
                  <a:tcPr marL="73152" marR="73152" marT="36576" marB="36576" anchor="ctr">
                    <a:solidFill>
                      <a:srgbClr val="EAF8FA"/>
                    </a:solidFill>
                  </a:tcPr>
                </a:tc>
                <a:tc>
                  <a:txBody>
                    <a:bodyPr wrap="square"/>
                    <a:lstStyle/>
                    <a:p>
                      <a:pPr algn="ctr"/>
                      <a:r>
                        <a:rPr sz="1100" b="0" i="0">
                          <a:solidFill>
                            <a:srgbClr val="14313B"/>
                          </a:solidFill>
                          <a:latin typeface="Calibri (MS)"/>
                        </a:rPr>
                        <a:t>19.610.135</a:t>
                      </a:r>
                    </a:p>
                  </a:txBody>
                  <a:tcPr marL="73152" marR="73152" marT="36576" marB="36576" anchor="ctr">
                    <a:solidFill>
                      <a:srgbClr val="EAF8FA"/>
                    </a:solidFill>
                  </a:tcPr>
                </a:tc>
                <a:tc>
                  <a:txBody>
                    <a:bodyPr wrap="square"/>
                    <a:lstStyle/>
                    <a:p>
                      <a:pPr algn="ctr"/>
                      <a:r>
                        <a:rPr sz="1100" b="0" i="0">
                          <a:solidFill>
                            <a:srgbClr val="14313B"/>
                          </a:solidFill>
                          <a:latin typeface="Calibri (MS)"/>
                        </a:rPr>
                        <a:t>19.591.482</a:t>
                      </a:r>
                    </a:p>
                  </a:txBody>
                  <a:tcPr marL="73152" marR="73152" marT="36576" marB="36576" anchor="ctr">
                    <a:solidFill>
                      <a:srgbClr val="EAF8FA"/>
                    </a:solidFill>
                  </a:tcPr>
                </a:tc>
                <a:tc>
                  <a:txBody>
                    <a:bodyPr wrap="square"/>
                    <a:lstStyle/>
                    <a:p>
                      <a:pPr algn="ctr"/>
                      <a:r>
                        <a:rPr sz="1100" b="0" i="0">
                          <a:solidFill>
                            <a:srgbClr val="14313B"/>
                          </a:solidFill>
                          <a:latin typeface="Calibri (MS)"/>
                        </a:rPr>
                        <a:t>18.653</a:t>
                      </a:r>
                    </a:p>
                  </a:txBody>
                  <a:tcPr marL="73152" marR="73152" marT="36576" marB="36576" anchor="ctr">
                    <a:solidFill>
                      <a:srgbClr val="EAF8FA"/>
                    </a:solidFill>
                  </a:tcPr>
                </a:tc>
                <a:tc>
                  <a:txBody>
                    <a:bodyPr wrap="square"/>
                    <a:lstStyle/>
                    <a:p>
                      <a:pPr algn="ctr"/>
                      <a:r>
                        <a:rPr sz="1100" b="0" i="0">
                          <a:solidFill>
                            <a:srgbClr val="14313B"/>
                          </a:solidFill>
                          <a:latin typeface="Calibri (MS)"/>
                        </a:rPr>
                        <a:t>4.753.098</a:t>
                      </a:r>
                    </a:p>
                  </a:txBody>
                  <a:tcPr marL="73152" marR="73152" marT="36576" marB="36576" anchor="ctr">
                    <a:solidFill>
                      <a:srgbClr val="EAF8FA"/>
                    </a:solidFill>
                  </a:tcPr>
                </a:tc>
                <a:tc>
                  <a:txBody>
                    <a:bodyPr wrap="square"/>
                    <a:lstStyle/>
                    <a:p>
                      <a:pPr algn="ctr"/>
                      <a:r>
                        <a:rPr sz="1100" b="0" i="0">
                          <a:solidFill>
                            <a:srgbClr val="14313B"/>
                          </a:solidFill>
                          <a:latin typeface="Calibri (MS)"/>
                        </a:rPr>
                        <a:t>3.210.480</a:t>
                      </a:r>
                    </a:p>
                  </a:txBody>
                  <a:tcPr marL="73152" marR="73152" marT="36576" marB="36576" anchor="ctr">
                    <a:solidFill>
                      <a:srgbClr val="EAF8FA"/>
                    </a:solidFill>
                  </a:tcPr>
                </a:tc>
                <a:tc>
                  <a:txBody>
                    <a:bodyPr wrap="square"/>
                    <a:lstStyle/>
                    <a:p>
                      <a:pPr algn="ctr"/>
                      <a:r>
                        <a:rPr sz="1100" b="0" i="0">
                          <a:solidFill>
                            <a:srgbClr val="14313B"/>
                          </a:solidFill>
                          <a:latin typeface="Calibri (MS)"/>
                        </a:rPr>
                        <a:t>1,480</a:t>
                      </a:r>
                    </a:p>
                  </a:txBody>
                  <a:tcPr marL="73152" marR="73152" marT="36576" marB="36576" anchor="ctr">
                    <a:solidFill>
                      <a:srgbClr val="EAF8FA"/>
                    </a:solidFill>
                  </a:tcPr>
                </a:tc>
                <a:tc>
                  <a:txBody>
                    <a:bodyPr wrap="square"/>
                    <a:lstStyle/>
                    <a:p>
                      <a:pPr algn="ctr"/>
                      <a:r>
                        <a:rPr sz="1100" b="0" i="0">
                          <a:solidFill>
                            <a:srgbClr val="14313B"/>
                          </a:solidFill>
                          <a:latin typeface="Calibri (MS)"/>
                        </a:rPr>
                        <a:t>0,001259</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2021</a:t>
                      </a:r>
                    </a:p>
                  </a:txBody>
                  <a:tcPr marL="73152" marR="73152" marT="36576" marB="36576" anchor="ctr">
                    <a:solidFill>
                      <a:srgbClr val="FFFFFF"/>
                    </a:solidFill>
                  </a:tcPr>
                </a:tc>
                <a:tc>
                  <a:txBody>
                    <a:bodyPr wrap="square"/>
                    <a:lstStyle/>
                    <a:p>
                      <a:pPr algn="ctr"/>
                      <a:r>
                        <a:rPr sz="1100" b="0" i="0">
                          <a:solidFill>
                            <a:srgbClr val="14313B"/>
                          </a:solidFill>
                          <a:latin typeface="Calibri (MS)"/>
                        </a:rPr>
                        <a:t>22.849.394,5</a:t>
                      </a:r>
                    </a:p>
                  </a:txBody>
                  <a:tcPr marL="73152" marR="73152" marT="36576" marB="36576" anchor="ctr">
                    <a:solidFill>
                      <a:srgbClr val="FFF1BF"/>
                    </a:solidFill>
                  </a:tcPr>
                </a:tc>
                <a:tc>
                  <a:txBody>
                    <a:bodyPr wrap="square"/>
                    <a:lstStyle/>
                    <a:p>
                      <a:pPr algn="ctr"/>
                      <a:r>
                        <a:rPr sz="1100" b="0" i="0">
                          <a:solidFill>
                            <a:srgbClr val="14313B"/>
                          </a:solidFill>
                          <a:latin typeface="Calibri (MS)"/>
                        </a:rPr>
                        <a:t>22.834.000</a:t>
                      </a:r>
                    </a:p>
                  </a:txBody>
                  <a:tcPr marL="73152" marR="73152" marT="36576" marB="36576" anchor="ctr">
                    <a:solidFill>
                      <a:srgbClr val="FFFFFF"/>
                    </a:solidFill>
                  </a:tcPr>
                </a:tc>
                <a:tc>
                  <a:txBody>
                    <a:bodyPr wrap="square"/>
                    <a:lstStyle/>
                    <a:p>
                      <a:pPr algn="ctr"/>
                      <a:r>
                        <a:rPr sz="1100" b="0" i="0">
                          <a:solidFill>
                            <a:srgbClr val="14313B"/>
                          </a:solidFill>
                          <a:latin typeface="Calibri (MS)"/>
                        </a:rPr>
                        <a:t>15.394,5</a:t>
                      </a:r>
                    </a:p>
                  </a:txBody>
                  <a:tcPr marL="73152" marR="73152" marT="36576" marB="36576" anchor="ctr">
                    <a:solidFill>
                      <a:srgbClr val="FFF1BF"/>
                    </a:solidFill>
                  </a:tcPr>
                </a:tc>
                <a:tc>
                  <a:txBody>
                    <a:bodyPr wrap="square"/>
                    <a:lstStyle/>
                    <a:p>
                      <a:pPr algn="ctr"/>
                      <a:r>
                        <a:rPr sz="1100" b="0" i="0">
                          <a:solidFill>
                            <a:srgbClr val="14313B"/>
                          </a:solidFill>
                          <a:latin typeface="Calibri (MS)"/>
                        </a:rPr>
                        <a:t>7.379.577</a:t>
                      </a:r>
                    </a:p>
                  </a:txBody>
                  <a:tcPr marL="73152" marR="73152" marT="36576" marB="36576" anchor="ctr">
                    <a:solidFill>
                      <a:srgbClr val="FFFFFF"/>
                    </a:solidFill>
                  </a:tcPr>
                </a:tc>
                <a:tc>
                  <a:txBody>
                    <a:bodyPr wrap="square"/>
                    <a:lstStyle/>
                    <a:p>
                      <a:pPr algn="ctr"/>
                      <a:r>
                        <a:rPr sz="1100" b="0" i="0">
                          <a:solidFill>
                            <a:srgbClr val="14313B"/>
                          </a:solidFill>
                          <a:latin typeface="Calibri (MS)"/>
                        </a:rPr>
                        <a:t>4.642.840</a:t>
                      </a:r>
                    </a:p>
                  </a:txBody>
                  <a:tcPr marL="73152" marR="73152" marT="36576" marB="36576" anchor="ctr">
                    <a:solidFill>
                      <a:srgbClr val="FFFFFF"/>
                    </a:solidFill>
                  </a:tcPr>
                </a:tc>
                <a:tc>
                  <a:txBody>
                    <a:bodyPr wrap="square"/>
                    <a:lstStyle/>
                    <a:p>
                      <a:pPr algn="ctr"/>
                      <a:r>
                        <a:rPr sz="1100" b="0" i="0">
                          <a:solidFill>
                            <a:srgbClr val="14313B"/>
                          </a:solidFill>
                          <a:latin typeface="Calibri (MS)"/>
                        </a:rPr>
                        <a:t>1,590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0,002035</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2022</a:t>
                      </a:r>
                    </a:p>
                  </a:txBody>
                  <a:tcPr marL="73152" marR="73152" marT="36576" marB="36576" anchor="ctr">
                    <a:solidFill>
                      <a:srgbClr val="EAF8FA"/>
                    </a:solidFill>
                  </a:tcPr>
                </a:tc>
                <a:tc>
                  <a:txBody>
                    <a:bodyPr wrap="square"/>
                    <a:lstStyle/>
                    <a:p>
                      <a:pPr algn="ctr"/>
                      <a:r>
                        <a:rPr sz="1100" b="0" i="0">
                          <a:solidFill>
                            <a:srgbClr val="14313B"/>
                          </a:solidFill>
                          <a:latin typeface="Calibri (MS)"/>
                        </a:rPr>
                        <a:t>25.755.726</a:t>
                      </a:r>
                    </a:p>
                  </a:txBody>
                  <a:tcPr marL="73152" marR="73152" marT="36576" marB="36576" anchor="ctr">
                    <a:solidFill>
                      <a:srgbClr val="EAF8FA"/>
                    </a:solidFill>
                  </a:tcPr>
                </a:tc>
                <a:tc>
                  <a:txBody>
                    <a:bodyPr wrap="square"/>
                    <a:lstStyle/>
                    <a:p>
                      <a:pPr algn="ctr"/>
                      <a:r>
                        <a:rPr sz="1100" b="0" i="0">
                          <a:solidFill>
                            <a:srgbClr val="14313B"/>
                          </a:solidFill>
                          <a:latin typeface="Calibri (MS)"/>
                        </a:rPr>
                        <a:t>25.743.590</a:t>
                      </a:r>
                    </a:p>
                  </a:txBody>
                  <a:tcPr marL="73152" marR="73152" marT="36576" marB="36576" anchor="ctr">
                    <a:solidFill>
                      <a:srgbClr val="EAF8FA"/>
                    </a:solidFill>
                  </a:tcPr>
                </a:tc>
                <a:tc>
                  <a:txBody>
                    <a:bodyPr wrap="square"/>
                    <a:lstStyle/>
                    <a:p>
                      <a:pPr algn="ctr"/>
                      <a:r>
                        <a:rPr sz="1100" b="0" i="0">
                          <a:solidFill>
                            <a:srgbClr val="14313B"/>
                          </a:solidFill>
                          <a:latin typeface="Calibri (MS)"/>
                        </a:rPr>
                        <a:t>12.136</a:t>
                      </a:r>
                    </a:p>
                  </a:txBody>
                  <a:tcPr marL="73152" marR="73152" marT="36576" marB="36576" anchor="ctr">
                    <a:solidFill>
                      <a:srgbClr val="EAF8FA"/>
                    </a:solidFill>
                  </a:tcPr>
                </a:tc>
                <a:tc>
                  <a:txBody>
                    <a:bodyPr wrap="square"/>
                    <a:lstStyle/>
                    <a:p>
                      <a:pPr algn="ctr"/>
                      <a:r>
                        <a:rPr sz="1100" b="0" i="0">
                          <a:solidFill>
                            <a:srgbClr val="14313B"/>
                          </a:solidFill>
                          <a:latin typeface="Calibri (MS)"/>
                        </a:rPr>
                        <a:t>9.267.217</a:t>
                      </a:r>
                    </a:p>
                  </a:txBody>
                  <a:tcPr marL="73152" marR="73152" marT="36576" marB="36576" anchor="ctr">
                    <a:solidFill>
                      <a:srgbClr val="EAF8FA"/>
                    </a:solidFill>
                  </a:tcPr>
                </a:tc>
                <a:tc>
                  <a:txBody>
                    <a:bodyPr wrap="square"/>
                    <a:lstStyle/>
                    <a:p>
                      <a:pPr algn="ctr"/>
                      <a:r>
                        <a:rPr sz="1100" b="0" i="0">
                          <a:solidFill>
                            <a:srgbClr val="14313B"/>
                          </a:solidFill>
                          <a:latin typeface="Calibri (MS)"/>
                        </a:rPr>
                        <a:t>6.364.013</a:t>
                      </a:r>
                    </a:p>
                  </a:txBody>
                  <a:tcPr marL="73152" marR="73152" marT="36576" marB="36576" anchor="ctr">
                    <a:solidFill>
                      <a:srgbClr val="EAF8FA"/>
                    </a:solidFill>
                  </a:tcPr>
                </a:tc>
                <a:tc>
                  <a:txBody>
                    <a:bodyPr wrap="square"/>
                    <a:lstStyle/>
                    <a:p>
                      <a:pPr algn="ctr"/>
                      <a:r>
                        <a:rPr sz="1100" b="0" i="0">
                          <a:solidFill>
                            <a:srgbClr val="14313B"/>
                          </a:solidFill>
                          <a:latin typeface="Calibri (MS)"/>
                        </a:rPr>
                        <a:t>1,460</a:t>
                      </a:r>
                    </a:p>
                  </a:txBody>
                  <a:tcPr marL="73152" marR="73152" marT="36576" marB="36576" anchor="ctr">
                    <a:solidFill>
                      <a:srgbClr val="EAF8FA"/>
                    </a:solidFill>
                  </a:tcPr>
                </a:tc>
                <a:tc>
                  <a:txBody>
                    <a:bodyPr wrap="square"/>
                    <a:lstStyle/>
                    <a:p>
                      <a:pPr algn="ctr"/>
                      <a:r>
                        <a:rPr sz="1100" b="0" i="0">
                          <a:solidFill>
                            <a:srgbClr val="14313B"/>
                          </a:solidFill>
                          <a:latin typeface="Calibri (MS)"/>
                        </a:rPr>
                        <a:t>0,002010</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2023</a:t>
                      </a:r>
                    </a:p>
                  </a:txBody>
                  <a:tcPr marL="73152" marR="73152" marT="36576" marB="36576" anchor="ctr">
                    <a:solidFill>
                      <a:srgbClr val="FFFFFF"/>
                    </a:solidFill>
                  </a:tcPr>
                </a:tc>
                <a:tc>
                  <a:txBody>
                    <a:bodyPr wrap="square"/>
                    <a:lstStyle/>
                    <a:p>
                      <a:pPr algn="ctr"/>
                      <a:r>
                        <a:rPr sz="1100" b="0" i="0">
                          <a:solidFill>
                            <a:srgbClr val="14313B"/>
                          </a:solidFill>
                          <a:latin typeface="Calibri (MS)"/>
                        </a:rPr>
                        <a:t>30.542.580</a:t>
                      </a:r>
                    </a:p>
                  </a:txBody>
                  <a:tcPr marL="73152" marR="73152" marT="36576" marB="36576" anchor="ctr">
                    <a:solidFill>
                      <a:srgbClr val="FFFFFF"/>
                    </a:solidFill>
                  </a:tcPr>
                </a:tc>
                <a:tc>
                  <a:txBody>
                    <a:bodyPr wrap="square"/>
                    <a:lstStyle/>
                    <a:p>
                      <a:pPr algn="ctr"/>
                      <a:r>
                        <a:rPr sz="1100" b="0" i="0">
                          <a:solidFill>
                            <a:srgbClr val="14313B"/>
                          </a:solidFill>
                          <a:latin typeface="Calibri (MS)"/>
                        </a:rPr>
                        <a:t>30.437.069</a:t>
                      </a:r>
                    </a:p>
                  </a:txBody>
                  <a:tcPr marL="73152" marR="73152" marT="36576" marB="36576" anchor="ctr">
                    <a:solidFill>
                      <a:srgbClr val="FFFFFF"/>
                    </a:solidFill>
                  </a:tcPr>
                </a:tc>
                <a:tc>
                  <a:txBody>
                    <a:bodyPr wrap="square"/>
                    <a:lstStyle/>
                    <a:p>
                      <a:pPr algn="ctr"/>
                      <a:r>
                        <a:rPr sz="1100" b="0" i="0">
                          <a:solidFill>
                            <a:srgbClr val="14313B"/>
                          </a:solidFill>
                          <a:latin typeface="Calibri (MS)"/>
                        </a:rPr>
                        <a:t>105.511</a:t>
                      </a:r>
                    </a:p>
                  </a:txBody>
                  <a:tcPr marL="73152" marR="73152" marT="36576" marB="36576" anchor="ctr">
                    <a:solidFill>
                      <a:srgbClr val="FFFFFF"/>
                    </a:solidFill>
                  </a:tcPr>
                </a:tc>
                <a:tc>
                  <a:txBody>
                    <a:bodyPr wrap="square"/>
                    <a:lstStyle/>
                    <a:p>
                      <a:pPr algn="ctr"/>
                      <a:r>
                        <a:rPr sz="1100" b="0" i="0">
                          <a:solidFill>
                            <a:srgbClr val="14313B"/>
                          </a:solidFill>
                          <a:latin typeface="Calibri (MS)"/>
                        </a:rPr>
                        <a:t>11.417.702</a:t>
                      </a:r>
                    </a:p>
                  </a:txBody>
                  <a:tcPr marL="73152" marR="73152" marT="36576" marB="36576" anchor="ctr">
                    <a:solidFill>
                      <a:srgbClr val="FFFFFF"/>
                    </a:solidFill>
                  </a:tcPr>
                </a:tc>
                <a:tc>
                  <a:txBody>
                    <a:bodyPr wrap="square"/>
                    <a:lstStyle/>
                    <a:p>
                      <a:pPr algn="ctr"/>
                      <a:r>
                        <a:rPr sz="1100" b="0" i="0">
                          <a:solidFill>
                            <a:srgbClr val="14313B"/>
                          </a:solidFill>
                          <a:latin typeface="Calibri (MS)"/>
                        </a:rPr>
                        <a:t>7.857.534</a:t>
                      </a:r>
                    </a:p>
                  </a:txBody>
                  <a:tcPr marL="73152" marR="73152" marT="36576" marB="36576" anchor="ctr">
                    <a:solidFill>
                      <a:srgbClr val="FFFFFF"/>
                    </a:solidFill>
                  </a:tcPr>
                </a:tc>
                <a:tc>
                  <a:txBody>
                    <a:bodyPr wrap="square"/>
                    <a:lstStyle/>
                    <a:p>
                      <a:pPr algn="ctr"/>
                      <a:r>
                        <a:rPr sz="1100" b="0" i="0">
                          <a:solidFill>
                            <a:srgbClr val="14313B"/>
                          </a:solidFill>
                          <a:latin typeface="Calibri (MS)"/>
                        </a:rPr>
                        <a:t>1,450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0,002431</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2024</a:t>
                      </a:r>
                    </a:p>
                  </a:txBody>
                  <a:tcPr marL="73152" marR="73152" marT="36576" marB="36576" anchor="ctr">
                    <a:solidFill>
                      <a:srgbClr val="EAF8FA"/>
                    </a:solidFill>
                  </a:tcPr>
                </a:tc>
                <a:tc>
                  <a:txBody>
                    <a:bodyPr wrap="square"/>
                    <a:lstStyle/>
                    <a:p>
                      <a:pPr algn="ctr"/>
                      <a:r>
                        <a:rPr sz="1100" b="0" i="0">
                          <a:solidFill>
                            <a:srgbClr val="14313B"/>
                          </a:solidFill>
                          <a:latin typeface="Calibri (MS)"/>
                        </a:rPr>
                        <a:t>38.134.536</a:t>
                      </a:r>
                    </a:p>
                  </a:txBody>
                  <a:tcPr marL="73152" marR="73152" marT="36576" marB="36576" anchor="ctr">
                    <a:solidFill>
                      <a:srgbClr val="EAF8FA"/>
                    </a:solidFill>
                  </a:tcPr>
                </a:tc>
                <a:tc>
                  <a:txBody>
                    <a:bodyPr wrap="square"/>
                    <a:lstStyle/>
                    <a:p>
                      <a:pPr algn="ctr"/>
                      <a:r>
                        <a:rPr sz="1100" b="0" i="0">
                          <a:solidFill>
                            <a:srgbClr val="14313B"/>
                          </a:solidFill>
                          <a:latin typeface="Calibri (MS)"/>
                        </a:rPr>
                        <a:t>38.030.739</a:t>
                      </a:r>
                    </a:p>
                  </a:txBody>
                  <a:tcPr marL="73152" marR="73152" marT="36576" marB="36576" anchor="ctr">
                    <a:solidFill>
                      <a:srgbClr val="EAF8FA"/>
                    </a:solidFill>
                  </a:tcPr>
                </a:tc>
                <a:tc>
                  <a:txBody>
                    <a:bodyPr wrap="square"/>
                    <a:lstStyle/>
                    <a:p>
                      <a:pPr algn="ctr"/>
                      <a:r>
                        <a:rPr sz="1100" b="0" i="0">
                          <a:solidFill>
                            <a:srgbClr val="14313B"/>
                          </a:solidFill>
                          <a:latin typeface="Calibri (MS)"/>
                        </a:rPr>
                        <a:t>103.797</a:t>
                      </a:r>
                    </a:p>
                  </a:txBody>
                  <a:tcPr marL="73152" marR="73152" marT="36576" marB="36576" anchor="ctr">
                    <a:solidFill>
                      <a:srgbClr val="EAF8FA"/>
                    </a:solidFill>
                  </a:tcPr>
                </a:tc>
                <a:tc>
                  <a:txBody>
                    <a:bodyPr wrap="square"/>
                    <a:lstStyle/>
                    <a:p>
                      <a:pPr algn="ctr"/>
                      <a:r>
                        <a:rPr sz="1100" b="0" i="0">
                          <a:solidFill>
                            <a:srgbClr val="14313B"/>
                          </a:solidFill>
                          <a:latin typeface="Calibri (MS)"/>
                        </a:rPr>
                        <a:t>11.503.540</a:t>
                      </a:r>
                    </a:p>
                  </a:txBody>
                  <a:tcPr marL="73152" marR="73152" marT="36576" marB="36576" anchor="ctr">
                    <a:solidFill>
                      <a:srgbClr val="EAF8FA"/>
                    </a:solidFill>
                  </a:tcPr>
                </a:tc>
                <a:tc>
                  <a:txBody>
                    <a:bodyPr wrap="square"/>
                    <a:lstStyle/>
                    <a:p>
                      <a:pPr algn="ctr"/>
                      <a:r>
                        <a:rPr sz="1100" b="0" i="0">
                          <a:solidFill>
                            <a:srgbClr val="14313B"/>
                          </a:solidFill>
                          <a:latin typeface="Calibri (MS)"/>
                        </a:rPr>
                        <a:t>8.154.522</a:t>
                      </a:r>
                    </a:p>
                  </a:txBody>
                  <a:tcPr marL="73152" marR="73152" marT="36576" marB="36576" anchor="ctr">
                    <a:solidFill>
                      <a:srgbClr val="EAF8FA"/>
                    </a:solidFill>
                  </a:tcPr>
                </a:tc>
                <a:tc>
                  <a:txBody>
                    <a:bodyPr wrap="square"/>
                    <a:lstStyle/>
                    <a:p>
                      <a:pPr algn="ctr"/>
                      <a:r>
                        <a:rPr sz="1100" b="0" i="0">
                          <a:solidFill>
                            <a:srgbClr val="14313B"/>
                          </a:solidFill>
                          <a:latin typeface="Calibri (MS)"/>
                        </a:rPr>
                        <a:t>1,410</a:t>
                      </a:r>
                    </a:p>
                  </a:txBody>
                  <a:tcPr marL="73152" marR="73152" marT="36576" marB="36576" anchor="ctr">
                    <a:solidFill>
                      <a:srgbClr val="EAF8FA"/>
                    </a:solidFill>
                  </a:tcPr>
                </a:tc>
                <a:tc>
                  <a:txBody>
                    <a:bodyPr wrap="square"/>
                    <a:lstStyle/>
                    <a:p>
                      <a:pPr algn="ctr"/>
                      <a:r>
                        <a:rPr sz="1100" b="0" i="0">
                          <a:solidFill>
                            <a:srgbClr val="14313B"/>
                          </a:solidFill>
                          <a:latin typeface="Calibri (MS)"/>
                        </a:rPr>
                        <a:t>0,002720</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2025</a:t>
                      </a:r>
                    </a:p>
                  </a:txBody>
                  <a:tcPr marL="73152" marR="73152" marT="36576" marB="36576" anchor="ctr">
                    <a:solidFill>
                      <a:srgbClr val="FFFFFF"/>
                    </a:solidFill>
                  </a:tcPr>
                </a:tc>
                <a:tc>
                  <a:txBody>
                    <a:bodyPr wrap="square"/>
                    <a:lstStyle/>
                    <a:p>
                      <a:pPr algn="ctr"/>
                      <a:r>
                        <a:rPr sz="1100" b="0" i="0">
                          <a:solidFill>
                            <a:srgbClr val="14313B"/>
                          </a:solidFill>
                          <a:latin typeface="Calibri (MS)"/>
                        </a:rPr>
                        <a:t>40.695.654</a:t>
                      </a:r>
                    </a:p>
                  </a:txBody>
                  <a:tcPr marL="73152" marR="73152" marT="36576" marB="36576" anchor="ctr">
                    <a:solidFill>
                      <a:srgbClr val="FFFFFF"/>
                    </a:solidFill>
                  </a:tcPr>
                </a:tc>
                <a:tc>
                  <a:txBody>
                    <a:bodyPr wrap="square"/>
                    <a:lstStyle/>
                    <a:p>
                      <a:pPr algn="ctr"/>
                      <a:r>
                        <a:rPr sz="1100" b="0" i="0">
                          <a:solidFill>
                            <a:srgbClr val="14313B"/>
                          </a:solidFill>
                          <a:latin typeface="Calibri (MS)"/>
                        </a:rPr>
                        <a:t>40.592.837</a:t>
                      </a:r>
                    </a:p>
                  </a:txBody>
                  <a:tcPr marL="73152" marR="73152" marT="36576" marB="36576" anchor="ctr">
                    <a:solidFill>
                      <a:srgbClr val="FFFFFF"/>
                    </a:solidFill>
                  </a:tcPr>
                </a:tc>
                <a:tc>
                  <a:txBody>
                    <a:bodyPr wrap="square"/>
                    <a:lstStyle/>
                    <a:p>
                      <a:pPr algn="ctr"/>
                      <a:r>
                        <a:rPr sz="1100" b="0" i="0">
                          <a:solidFill>
                            <a:srgbClr val="14313B"/>
                          </a:solidFill>
                          <a:latin typeface="Calibri (MS)"/>
                        </a:rPr>
                        <a:t>102.817</a:t>
                      </a:r>
                    </a:p>
                  </a:txBody>
                  <a:tcPr marL="73152" marR="73152" marT="36576" marB="36576" anchor="ctr">
                    <a:solidFill>
                      <a:srgbClr val="FFFFFF"/>
                    </a:solidFill>
                  </a:tcPr>
                </a:tc>
                <a:tc>
                  <a:txBody>
                    <a:bodyPr wrap="square"/>
                    <a:lstStyle/>
                    <a:p>
                      <a:pPr algn="ctr"/>
                      <a:r>
                        <a:rPr sz="1100" b="0" i="0">
                          <a:solidFill>
                            <a:srgbClr val="14313B"/>
                          </a:solidFill>
                          <a:latin typeface="Calibri (MS)"/>
                        </a:rPr>
                        <a:t>11.954.114</a:t>
                      </a:r>
                    </a:p>
                  </a:txBody>
                  <a:tcPr marL="73152" marR="73152" marT="36576" marB="36576" anchor="ctr">
                    <a:solidFill>
                      <a:srgbClr val="FFFFFF"/>
                    </a:solidFill>
                  </a:tcPr>
                </a:tc>
                <a:tc>
                  <a:txBody>
                    <a:bodyPr wrap="square"/>
                    <a:lstStyle/>
                    <a:p>
                      <a:pPr algn="ctr"/>
                      <a:r>
                        <a:rPr sz="1100" b="0" i="0">
                          <a:solidFill>
                            <a:srgbClr val="14313B"/>
                          </a:solidFill>
                          <a:latin typeface="Calibri (MS)"/>
                        </a:rPr>
                        <a:t>8.377.109</a:t>
                      </a:r>
                    </a:p>
                  </a:txBody>
                  <a:tcPr marL="73152" marR="73152" marT="36576" marB="36576" anchor="ctr">
                    <a:solidFill>
                      <a:srgbClr val="FFFFFF"/>
                    </a:solidFill>
                  </a:tcPr>
                </a:tc>
                <a:tc>
                  <a:txBody>
                    <a:bodyPr wrap="square"/>
                    <a:lstStyle/>
                    <a:p>
                      <a:pPr algn="ctr"/>
                      <a:r>
                        <a:rPr sz="1100" b="0" i="0">
                          <a:solidFill>
                            <a:srgbClr val="14313B"/>
                          </a:solidFill>
                          <a:latin typeface="Calibri (MS)"/>
                        </a:rPr>
                        <a:t>1,430</a:t>
                      </a:r>
                    </a:p>
                  </a:txBody>
                  <a:tcPr marL="73152" marR="73152" marT="36576" marB="36576" anchor="ctr">
                    <a:solidFill>
                      <a:srgbClr val="FFFFFF"/>
                    </a:solidFill>
                  </a:tcPr>
                </a:tc>
                <a:tc>
                  <a:txBody>
                    <a:bodyPr wrap="square"/>
                    <a:lstStyle/>
                    <a:p>
                      <a:pPr algn="ctr"/>
                      <a:r>
                        <a:rPr sz="1100" b="0" i="0">
                          <a:solidFill>
                            <a:srgbClr val="14313B"/>
                          </a:solidFill>
                          <a:latin typeface="Calibri (MS)"/>
                        </a:rPr>
                        <a:t>0,002720</a:t>
                      </a:r>
                    </a:p>
                  </a:txBody>
                  <a:tcPr marL="73152" marR="73152" marT="36576" marB="36576" anchor="ctr">
                    <a:solidFill>
                      <a:srgbClr val="FFFFFF"/>
                    </a:solidFill>
                  </a:tcPr>
                </a:tc>
              </a:tr>
            </a:tbl>
          </a:graphicData>
        </a:graphic>
      </p:graphicFrame>
      <p:sp>
        <p:nvSpPr>
          <p:cNvPr id="28" name="Rounded Rectangle 27"/>
          <p:cNvSpPr/>
          <p:nvPr/>
        </p:nvSpPr>
        <p:spPr>
          <a:xfrm>
            <a:off x="822960" y="694944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Kuning = nilai olahan: wisman 2021 diinterpolasi linear (rata-rata 2020 dan 2022), pengeluaran 2015–2017 diekstrapolasi CAGR. Lonjakan 2018→2019 karena perubahan metode pencacahan wisnus (lihat lampiran penyambungan).</a:t>
            </a:r>
          </a:p>
        </p:txBody>
      </p:sp>
      <p:graphicFrame>
        <p:nvGraphicFramePr>
          <p:cNvPr id="29" name="Table 28"/>
          <p:cNvGraphicFramePr>
            <a:graphicFrameLocks noGrp="1"/>
          </p:cNvGraphicFramePr>
          <p:nvPr/>
        </p:nvGraphicFramePr>
        <p:xfrm>
          <a:off x="822960" y="7863840"/>
          <a:ext cx="16642080" cy="1207008"/>
        </p:xfrm>
        <a:graphic>
          <a:graphicData uri="http://schemas.openxmlformats.org/drawingml/2006/table">
            <a:tbl>
              <a:tblPr firstRow="1" bandRow="1">
                <a:tableStyleId>{5C22544A-7EE6-4342-B048-85BDC9FD1C3A}</a:tableStyleId>
              </a:tblPr>
              <a:tblGrid>
                <a:gridCol w="4572000"/>
                <a:gridCol w="2743200"/>
                <a:gridCol w="9326880"/>
              </a:tblGrid>
              <a:tr h="301752">
                <a:tc>
                  <a:txBody>
                    <a:bodyPr wrap="square"/>
                    <a:lstStyle/>
                    <a:p>
                      <a:r>
                        <a:rPr sz="950" b="1" i="0">
                          <a:solidFill>
                            <a:srgbClr val="FFFFFF"/>
                          </a:solidFill>
                          <a:latin typeface="Calibri (MS) Bold"/>
                        </a:rPr>
                        <a:t>Variabel</a:t>
                      </a:r>
                    </a:p>
                  </a:txBody>
                  <a:tcPr marL="73152" marR="73152" marT="36576" marB="36576" anchor="ctr">
                    <a:solidFill>
                      <a:srgbClr val="0B5E6E"/>
                    </a:solidFill>
                  </a:tcPr>
                </a:tc>
                <a:tc>
                  <a:txBody>
                    <a:bodyPr wrap="square"/>
                    <a:lstStyle/>
                    <a:p>
                      <a:r>
                        <a:rPr sz="950" b="1" i="0">
                          <a:solidFill>
                            <a:srgbClr val="FFFFFF"/>
                          </a:solidFill>
                          <a:latin typeface="Calibri (MS) Bold"/>
                        </a:rPr>
                        <a:t>Satuan</a:t>
                      </a:r>
                    </a:p>
                  </a:txBody>
                  <a:tcPr marL="73152" marR="73152" marT="36576" marB="36576" anchor="ctr">
                    <a:solidFill>
                      <a:srgbClr val="0B5E6E"/>
                    </a:solidFill>
                  </a:tcPr>
                </a:tc>
                <a:tc>
                  <a:txBody>
                    <a:bodyPr wrap="square"/>
                    <a:lstStyle/>
                    <a:p>
                      <a:r>
                        <a:rPr sz="950" b="1" i="0">
                          <a:solidFill>
                            <a:srgbClr val="FFFFFF"/>
                          </a:solidFill>
                          <a:latin typeface="Calibri (MS) Bold"/>
                        </a:rPr>
                        <a:t>Sumber</a:t>
                      </a:r>
                    </a:p>
                  </a:txBody>
                  <a:tcPr marL="73152" marR="73152" marT="36576" marB="36576" anchor="ctr">
                    <a:solidFill>
                      <a:srgbClr val="0B5E6E"/>
                    </a:solidFill>
                  </a:tcPr>
                </a:tc>
              </a:tr>
              <a:tr h="301752">
                <a:tc>
                  <a:txBody>
                    <a:bodyPr wrap="square"/>
                    <a:lstStyle/>
                    <a:p>
                      <a:r>
                        <a:rPr sz="950" b="0" i="0">
                          <a:solidFill>
                            <a:srgbClr val="14313B"/>
                          </a:solidFill>
                          <a:latin typeface="Calibri (MS)"/>
                        </a:rPr>
                        <a:t>Jumlah wisatawan / wisnus / wisman</a:t>
                      </a:r>
                    </a:p>
                  </a:txBody>
                  <a:tcPr marL="73152" marR="73152" marT="36576" marB="36576" anchor="ctr">
                    <a:solidFill>
                      <a:srgbClr val="FFFFFF"/>
                    </a:solidFill>
                  </a:tcPr>
                </a:tc>
                <a:tc>
                  <a:txBody>
                    <a:bodyPr wrap="square"/>
                    <a:lstStyle/>
                    <a:p>
                      <a:r>
                        <a:rPr sz="950" b="0" i="0">
                          <a:solidFill>
                            <a:srgbClr val="14313B"/>
                          </a:solidFill>
                          <a:latin typeface="Calibri (MS)"/>
                        </a:rPr>
                        <a:t>Kunjungan / perjalanan</a:t>
                      </a:r>
                    </a:p>
                  </a:txBody>
                  <a:tcPr marL="73152" marR="73152" marT="36576" marB="36576" anchor="ctr">
                    <a:solidFill>
                      <a:srgbClr val="FFFFFF"/>
                    </a:solidFill>
                  </a:tcPr>
                </a:tc>
                <a:tc>
                  <a:txBody>
                    <a:bodyPr wrap="square"/>
                    <a:lstStyle/>
                    <a:p>
                      <a:r>
                        <a:rPr sz="950" b="0" i="0">
                          <a:solidFill>
                            <a:srgbClr val="14313B"/>
                          </a:solidFill>
                          <a:latin typeface="Calibri (MS)"/>
                        </a:rPr>
                        <a:t>Publikasi wisatawan nusantara dan mancanegara, BPS</a:t>
                      </a:r>
                    </a:p>
                  </a:txBody>
                  <a:tcPr marL="73152" marR="73152" marT="36576" marB="36576" anchor="ctr">
                    <a:solidFill>
                      <a:srgbClr val="FFFFFF"/>
                    </a:solidFill>
                  </a:tcPr>
                </a:tc>
              </a:tr>
              <a:tr h="301752">
                <a:tc>
                  <a:txBody>
                    <a:bodyPr wrap="square"/>
                    <a:lstStyle/>
                    <a:p>
                      <a:r>
                        <a:rPr sz="950" b="0" i="0">
                          <a:solidFill>
                            <a:srgbClr val="14313B"/>
                          </a:solidFill>
                          <a:latin typeface="Calibri (MS)"/>
                        </a:rPr>
                        <a:t>Total malam, wisatawan menginap, lama menginap</a:t>
                      </a:r>
                    </a:p>
                  </a:txBody>
                  <a:tcPr marL="73152" marR="73152" marT="36576" marB="36576" anchor="ctr">
                    <a:solidFill>
                      <a:srgbClr val="EAF8FA"/>
                    </a:solidFill>
                  </a:tcPr>
                </a:tc>
                <a:tc>
                  <a:txBody>
                    <a:bodyPr wrap="square"/>
                    <a:lstStyle/>
                    <a:p>
                      <a:r>
                        <a:rPr sz="950" b="0" i="0">
                          <a:solidFill>
                            <a:srgbClr val="14313B"/>
                          </a:solidFill>
                          <a:latin typeface="Calibri (MS)"/>
                        </a:rPr>
                        <a:t>Malam / orang</a:t>
                      </a:r>
                    </a:p>
                  </a:txBody>
                  <a:tcPr marL="73152" marR="73152" marT="36576" marB="36576" anchor="ctr">
                    <a:solidFill>
                      <a:srgbClr val="EAF8FA"/>
                    </a:solidFill>
                  </a:tcPr>
                </a:tc>
                <a:tc>
                  <a:txBody>
                    <a:bodyPr wrap="square"/>
                    <a:lstStyle/>
                    <a:p>
                      <a:r>
                        <a:rPr sz="950" b="0" i="0">
                          <a:solidFill>
                            <a:srgbClr val="14313B"/>
                          </a:solidFill>
                          <a:latin typeface="Calibri (MS)"/>
                        </a:rPr>
                        <a:t>Publikasi Tingkat Penghunian Kamar, BPS DIY</a:t>
                      </a:r>
                    </a:p>
                  </a:txBody>
                  <a:tcPr marL="73152" marR="73152" marT="36576" marB="36576" anchor="ctr">
                    <a:solidFill>
                      <a:srgbClr val="EAF8FA"/>
                    </a:solidFill>
                  </a:tcPr>
                </a:tc>
              </a:tr>
              <a:tr h="301752">
                <a:tc>
                  <a:txBody>
                    <a:bodyPr wrap="square"/>
                    <a:lstStyle/>
                    <a:p>
                      <a:r>
                        <a:rPr sz="950" b="0" i="0">
                          <a:solidFill>
                            <a:srgbClr val="14313B"/>
                          </a:solidFill>
                          <a:latin typeface="Calibri (MS)"/>
                        </a:rPr>
                        <a:t>Pengeluaran per kunjungan</a:t>
                      </a:r>
                    </a:p>
                  </a:txBody>
                  <a:tcPr marL="73152" marR="73152" marT="36576" marB="36576" anchor="ctr">
                    <a:solidFill>
                      <a:srgbClr val="FFFFFF"/>
                    </a:solidFill>
                  </a:tcPr>
                </a:tc>
                <a:tc>
                  <a:txBody>
                    <a:bodyPr wrap="square"/>
                    <a:lstStyle/>
                    <a:p>
                      <a:r>
                        <a:rPr sz="950" b="0" i="0">
                          <a:solidFill>
                            <a:srgbClr val="14313B"/>
                          </a:solidFill>
                          <a:latin typeface="Calibri (MS)"/>
                        </a:rPr>
                        <a:t>Miliar Rp/kunjungan</a:t>
                      </a:r>
                    </a:p>
                  </a:txBody>
                  <a:tcPr marL="73152" marR="73152" marT="36576" marB="36576" anchor="ctr">
                    <a:solidFill>
                      <a:srgbClr val="FFFFFF"/>
                    </a:solidFill>
                  </a:tcPr>
                </a:tc>
                <a:tc>
                  <a:txBody>
                    <a:bodyPr wrap="square"/>
                    <a:lstStyle/>
                    <a:p>
                      <a:r>
                        <a:rPr sz="950" b="0" i="0">
                          <a:solidFill>
                            <a:srgbClr val="14313B"/>
                          </a:solidFill>
                          <a:latin typeface="Calibri (MS)"/>
                        </a:rPr>
                        <a:t>BPS RI (wisnus DIY, wisman nasional × kurs tengah BI)</a:t>
                      </a:r>
                    </a:p>
                  </a:txBody>
                  <a:tcPr marL="73152" marR="73152" marT="36576" marB="36576" anchor="ctr">
                    <a:solidFill>
                      <a:srgbClr val="FFFFFF"/>
                    </a:solidFill>
                  </a:tcPr>
                </a:tc>
              </a:tr>
            </a:tbl>
          </a:graphicData>
        </a:graphic>
      </p:graphicFrame>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Lampiran 7; [FIX] Master Data final.xlsx.</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4 · Data Historis 2015–2025 (2/3): Akomodasi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Jumlah usaha akomodasi, kamar, dan tingkat penghunian</a:t>
            </a:r>
          </a:p>
        </p:txBody>
      </p:sp>
      <p:graphicFrame>
        <p:nvGraphicFramePr>
          <p:cNvPr id="27" name="Table 26"/>
          <p:cNvGraphicFramePr>
            <a:graphicFrameLocks noGrp="1"/>
          </p:cNvGraphicFramePr>
          <p:nvPr/>
        </p:nvGraphicFramePr>
        <p:xfrm>
          <a:off x="822960" y="1920240"/>
          <a:ext cx="16642075" cy="4828032"/>
        </p:xfrm>
        <a:graphic>
          <a:graphicData uri="http://schemas.openxmlformats.org/drawingml/2006/table">
            <a:tbl>
              <a:tblPr firstRow="1" bandRow="1">
                <a:tableStyleId>{5C22544A-7EE6-4342-B048-85BDC9FD1C3A}</a:tableStyleId>
              </a:tblPr>
              <a:tblGrid>
                <a:gridCol w="913284"/>
                <a:gridCol w="2638378"/>
                <a:gridCol w="2029521"/>
                <a:gridCol w="2638378"/>
                <a:gridCol w="2232474"/>
                <a:gridCol w="1826569"/>
                <a:gridCol w="2333950"/>
                <a:gridCol w="2029521"/>
              </a:tblGrid>
              <a:tr h="402336">
                <a:tc>
                  <a:txBody>
                    <a:bodyPr wrap="square"/>
                    <a:lstStyle/>
                    <a:p>
                      <a:pPr algn="ctr"/>
                      <a:r>
                        <a:rPr sz="11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Hotel &amp; akomodasi (unit)</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Hotel bintang</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Nonbintang &amp; lainnya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Jumlah kamar</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TPK (%)</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TPG (orang/kamar)</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Kamar per unit*</a:t>
                      </a:r>
                    </a:p>
                  </a:txBody>
                  <a:tcPr marL="73152" marR="73152" marT="36576" marB="36576" anchor="ctr">
                    <a:solidFill>
                      <a:srgbClr val="0B5E6E"/>
                    </a:solidFill>
                  </a:tcPr>
                </a:tc>
              </a:tr>
              <a:tr h="402336">
                <a:tc>
                  <a:txBody>
                    <a:bodyPr wrap="square"/>
                    <a:lstStyle/>
                    <a:p>
                      <a:pPr algn="ctr"/>
                      <a:r>
                        <a:rPr sz="1100" b="0" i="0">
                          <a:solidFill>
                            <a:srgbClr val="14313B"/>
                          </a:solidFill>
                          <a:latin typeface="Calibri (MS)"/>
                        </a:rPr>
                        <a:t>2015</a:t>
                      </a:r>
                    </a:p>
                  </a:txBody>
                  <a:tcPr marL="73152" marR="73152" marT="36576" marB="36576" anchor="ctr">
                    <a:solidFill>
                      <a:srgbClr val="FFFFFF"/>
                    </a:solidFill>
                  </a:tcPr>
                </a:tc>
                <a:tc>
                  <a:txBody>
                    <a:bodyPr wrap="square"/>
                    <a:lstStyle/>
                    <a:p>
                      <a:pPr algn="ctr"/>
                      <a:r>
                        <a:rPr sz="1100" b="0" i="0">
                          <a:solidFill>
                            <a:srgbClr val="14313B"/>
                          </a:solidFill>
                          <a:latin typeface="Calibri (MS)"/>
                        </a:rPr>
                        <a:t>1.165</a:t>
                      </a:r>
                    </a:p>
                  </a:txBody>
                  <a:tcPr marL="73152" marR="73152" marT="36576" marB="36576" anchor="ctr">
                    <a:solidFill>
                      <a:srgbClr val="FFFFFF"/>
                    </a:solidFill>
                  </a:tcPr>
                </a:tc>
                <a:tc>
                  <a:txBody>
                    <a:bodyPr wrap="square"/>
                    <a:lstStyle/>
                    <a:p>
                      <a:pPr algn="ctr"/>
                      <a:r>
                        <a:rPr sz="1100" b="0" i="0">
                          <a:solidFill>
                            <a:srgbClr val="14313B"/>
                          </a:solidFill>
                          <a:latin typeface="Calibri (MS)"/>
                        </a:rPr>
                        <a:t>89</a:t>
                      </a:r>
                    </a:p>
                  </a:txBody>
                  <a:tcPr marL="73152" marR="73152" marT="36576" marB="36576" anchor="ctr">
                    <a:solidFill>
                      <a:srgbClr val="FFFFFF"/>
                    </a:solidFill>
                  </a:tcPr>
                </a:tc>
                <a:tc>
                  <a:txBody>
                    <a:bodyPr wrap="square"/>
                    <a:lstStyle/>
                    <a:p>
                      <a:pPr algn="ctr"/>
                      <a:r>
                        <a:rPr sz="1100" b="0" i="0">
                          <a:solidFill>
                            <a:srgbClr val="14313B"/>
                          </a:solidFill>
                          <a:latin typeface="Calibri (MS)"/>
                        </a:rPr>
                        <a:t>1.076</a:t>
                      </a:r>
                    </a:p>
                  </a:txBody>
                  <a:tcPr marL="73152" marR="73152" marT="36576" marB="36576" anchor="ctr">
                    <a:solidFill>
                      <a:srgbClr val="FFFFFF"/>
                    </a:solidFill>
                  </a:tcPr>
                </a:tc>
                <a:tc>
                  <a:txBody>
                    <a:bodyPr wrap="square"/>
                    <a:lstStyle/>
                    <a:p>
                      <a:pPr algn="ctr"/>
                      <a:r>
                        <a:rPr sz="1100" b="0" i="0">
                          <a:solidFill>
                            <a:srgbClr val="14313B"/>
                          </a:solidFill>
                          <a:latin typeface="Calibri (MS)"/>
                        </a:rPr>
                        <a:t>22.594</a:t>
                      </a:r>
                    </a:p>
                  </a:txBody>
                  <a:tcPr marL="73152" marR="73152" marT="36576" marB="36576" anchor="ctr">
                    <a:solidFill>
                      <a:srgbClr val="FFFFFF"/>
                    </a:solidFill>
                  </a:tcPr>
                </a:tc>
                <a:tc>
                  <a:txBody>
                    <a:bodyPr wrap="square"/>
                    <a:lstStyle/>
                    <a:p>
                      <a:pPr algn="ctr"/>
                      <a:r>
                        <a:rPr sz="1100" b="0" i="0">
                          <a:solidFill>
                            <a:srgbClr val="14313B"/>
                          </a:solidFill>
                          <a:latin typeface="Calibri (MS)"/>
                        </a:rPr>
                        <a:t>34,89</a:t>
                      </a:r>
                    </a:p>
                  </a:txBody>
                  <a:tcPr marL="73152" marR="73152" marT="36576" marB="36576" anchor="ctr">
                    <a:solidFill>
                      <a:srgbClr val="FFFFFF"/>
                    </a:solidFill>
                  </a:tcPr>
                </a:tc>
                <a:tc>
                  <a:txBody>
                    <a:bodyPr wrap="square"/>
                    <a:lstStyle/>
                    <a:p>
                      <a:pPr algn="ctr"/>
                      <a:r>
                        <a:rPr sz="1100" b="0" i="0">
                          <a:solidFill>
                            <a:srgbClr val="14313B"/>
                          </a:solidFill>
                          <a:latin typeface="Calibri (MS)"/>
                        </a:rPr>
                        <a:t>1,970</a:t>
                      </a:r>
                    </a:p>
                  </a:txBody>
                  <a:tcPr marL="73152" marR="73152" marT="36576" marB="36576" anchor="ctr">
                    <a:solidFill>
                      <a:srgbClr val="FFFFFF"/>
                    </a:solidFill>
                  </a:tcPr>
                </a:tc>
                <a:tc>
                  <a:txBody>
                    <a:bodyPr wrap="square"/>
                    <a:lstStyle/>
                    <a:p>
                      <a:pPr algn="ctr"/>
                      <a:r>
                        <a:rPr sz="1100" b="0" i="0">
                          <a:solidFill>
                            <a:srgbClr val="14313B"/>
                          </a:solidFill>
                          <a:latin typeface="Calibri (MS)"/>
                        </a:rPr>
                        <a:t>19,39</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2016</a:t>
                      </a:r>
                    </a:p>
                  </a:txBody>
                  <a:tcPr marL="73152" marR="73152" marT="36576" marB="36576" anchor="ctr">
                    <a:solidFill>
                      <a:srgbClr val="EAF8FA"/>
                    </a:solidFill>
                  </a:tcPr>
                </a:tc>
                <a:tc>
                  <a:txBody>
                    <a:bodyPr wrap="square"/>
                    <a:lstStyle/>
                    <a:p>
                      <a:pPr algn="ctr"/>
                      <a:r>
                        <a:rPr sz="1100" b="0" i="0">
                          <a:solidFill>
                            <a:srgbClr val="14313B"/>
                          </a:solidFill>
                          <a:latin typeface="Calibri (MS)"/>
                        </a:rPr>
                        <a:t>1.170</a:t>
                      </a:r>
                    </a:p>
                  </a:txBody>
                  <a:tcPr marL="73152" marR="73152" marT="36576" marB="36576" anchor="ctr">
                    <a:solidFill>
                      <a:srgbClr val="EAF8FA"/>
                    </a:solidFill>
                  </a:tcPr>
                </a:tc>
                <a:tc>
                  <a:txBody>
                    <a:bodyPr wrap="square"/>
                    <a:lstStyle/>
                    <a:p>
                      <a:pPr algn="ctr"/>
                      <a:r>
                        <a:rPr sz="1100" b="0" i="0">
                          <a:solidFill>
                            <a:srgbClr val="14313B"/>
                          </a:solidFill>
                          <a:latin typeface="Calibri (MS)"/>
                        </a:rPr>
                        <a:t>94</a:t>
                      </a:r>
                    </a:p>
                  </a:txBody>
                  <a:tcPr marL="73152" marR="73152" marT="36576" marB="36576" anchor="ctr">
                    <a:solidFill>
                      <a:srgbClr val="EAF8FA"/>
                    </a:solidFill>
                  </a:tcPr>
                </a:tc>
                <a:tc>
                  <a:txBody>
                    <a:bodyPr wrap="square"/>
                    <a:lstStyle/>
                    <a:p>
                      <a:pPr algn="ctr"/>
                      <a:r>
                        <a:rPr sz="1100" b="0" i="0">
                          <a:solidFill>
                            <a:srgbClr val="14313B"/>
                          </a:solidFill>
                          <a:latin typeface="Calibri (MS)"/>
                        </a:rPr>
                        <a:t>1.076</a:t>
                      </a:r>
                    </a:p>
                  </a:txBody>
                  <a:tcPr marL="73152" marR="73152" marT="36576" marB="36576" anchor="ctr">
                    <a:solidFill>
                      <a:srgbClr val="EAF8FA"/>
                    </a:solidFill>
                  </a:tcPr>
                </a:tc>
                <a:tc>
                  <a:txBody>
                    <a:bodyPr wrap="square"/>
                    <a:lstStyle/>
                    <a:p>
                      <a:pPr algn="ctr"/>
                      <a:r>
                        <a:rPr sz="1100" b="0" i="0">
                          <a:solidFill>
                            <a:srgbClr val="14313B"/>
                          </a:solidFill>
                          <a:latin typeface="Calibri (MS)"/>
                        </a:rPr>
                        <a:t>23.613</a:t>
                      </a:r>
                    </a:p>
                  </a:txBody>
                  <a:tcPr marL="73152" marR="73152" marT="36576" marB="36576" anchor="ctr">
                    <a:solidFill>
                      <a:srgbClr val="EAF8FA"/>
                    </a:solidFill>
                  </a:tcPr>
                </a:tc>
                <a:tc>
                  <a:txBody>
                    <a:bodyPr wrap="square"/>
                    <a:lstStyle/>
                    <a:p>
                      <a:pPr algn="ctr"/>
                      <a:r>
                        <a:rPr sz="1100" b="0" i="0">
                          <a:solidFill>
                            <a:srgbClr val="14313B"/>
                          </a:solidFill>
                          <a:latin typeface="Calibri (MS)"/>
                        </a:rPr>
                        <a:t>37,72</a:t>
                      </a:r>
                    </a:p>
                  </a:txBody>
                  <a:tcPr marL="73152" marR="73152" marT="36576" marB="36576" anchor="ctr">
                    <a:solidFill>
                      <a:srgbClr val="EAF8FA"/>
                    </a:solidFill>
                  </a:tcPr>
                </a:tc>
                <a:tc>
                  <a:txBody>
                    <a:bodyPr wrap="square"/>
                    <a:lstStyle/>
                    <a:p>
                      <a:pPr algn="ctr"/>
                      <a:r>
                        <a:rPr sz="1100" b="0" i="0">
                          <a:solidFill>
                            <a:srgbClr val="14313B"/>
                          </a:solidFill>
                          <a:latin typeface="Calibri (MS)"/>
                        </a:rPr>
                        <a:t>2,110</a:t>
                      </a:r>
                    </a:p>
                  </a:txBody>
                  <a:tcPr marL="73152" marR="73152" marT="36576" marB="36576" anchor="ctr">
                    <a:solidFill>
                      <a:srgbClr val="EAF8FA"/>
                    </a:solidFill>
                  </a:tcPr>
                </a:tc>
                <a:tc>
                  <a:txBody>
                    <a:bodyPr wrap="square"/>
                    <a:lstStyle/>
                    <a:p>
                      <a:pPr algn="ctr"/>
                      <a:r>
                        <a:rPr sz="1100" b="0" i="0">
                          <a:solidFill>
                            <a:srgbClr val="14313B"/>
                          </a:solidFill>
                          <a:latin typeface="Calibri (MS)"/>
                        </a:rPr>
                        <a:t>20,18</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2017</a:t>
                      </a:r>
                    </a:p>
                  </a:txBody>
                  <a:tcPr marL="73152" marR="73152" marT="36576" marB="36576" anchor="ctr">
                    <a:solidFill>
                      <a:srgbClr val="FFFFFF"/>
                    </a:solidFill>
                  </a:tcPr>
                </a:tc>
                <a:tc>
                  <a:txBody>
                    <a:bodyPr wrap="square"/>
                    <a:lstStyle/>
                    <a:p>
                      <a:pPr algn="ctr"/>
                      <a:r>
                        <a:rPr sz="1100" b="0" i="0">
                          <a:solidFill>
                            <a:srgbClr val="14313B"/>
                          </a:solidFill>
                          <a:latin typeface="Calibri (MS)"/>
                        </a:rPr>
                        <a:t>1.179</a:t>
                      </a:r>
                    </a:p>
                  </a:txBody>
                  <a:tcPr marL="73152" marR="73152" marT="36576" marB="36576" anchor="ctr">
                    <a:solidFill>
                      <a:srgbClr val="FFFFFF"/>
                    </a:solidFill>
                  </a:tcPr>
                </a:tc>
                <a:tc>
                  <a:txBody>
                    <a:bodyPr wrap="square"/>
                    <a:lstStyle/>
                    <a:p>
                      <a:pPr algn="ctr"/>
                      <a:r>
                        <a:rPr sz="1100" b="0" i="0">
                          <a:solidFill>
                            <a:srgbClr val="14313B"/>
                          </a:solidFill>
                          <a:latin typeface="Calibri (MS)"/>
                        </a:rPr>
                        <a:t>117</a:t>
                      </a:r>
                    </a:p>
                  </a:txBody>
                  <a:tcPr marL="73152" marR="73152" marT="36576" marB="36576" anchor="ctr">
                    <a:solidFill>
                      <a:srgbClr val="FFFFFF"/>
                    </a:solidFill>
                  </a:tcPr>
                </a:tc>
                <a:tc>
                  <a:txBody>
                    <a:bodyPr wrap="square"/>
                    <a:lstStyle/>
                    <a:p>
                      <a:pPr algn="ctr"/>
                      <a:r>
                        <a:rPr sz="1100" b="0" i="0">
                          <a:solidFill>
                            <a:srgbClr val="14313B"/>
                          </a:solidFill>
                          <a:latin typeface="Calibri (MS)"/>
                        </a:rPr>
                        <a:t>1.062</a:t>
                      </a:r>
                    </a:p>
                  </a:txBody>
                  <a:tcPr marL="73152" marR="73152" marT="36576" marB="36576" anchor="ctr">
                    <a:solidFill>
                      <a:srgbClr val="FFFFFF"/>
                    </a:solidFill>
                  </a:tcPr>
                </a:tc>
                <a:tc>
                  <a:txBody>
                    <a:bodyPr wrap="square"/>
                    <a:lstStyle/>
                    <a:p>
                      <a:pPr algn="ctr"/>
                      <a:r>
                        <a:rPr sz="1100" b="0" i="0">
                          <a:solidFill>
                            <a:srgbClr val="14313B"/>
                          </a:solidFill>
                          <a:latin typeface="Calibri (MS)"/>
                        </a:rPr>
                        <a:t>26.164</a:t>
                      </a:r>
                    </a:p>
                  </a:txBody>
                  <a:tcPr marL="73152" marR="73152" marT="36576" marB="36576" anchor="ctr">
                    <a:solidFill>
                      <a:srgbClr val="FFFFFF"/>
                    </a:solidFill>
                  </a:tcPr>
                </a:tc>
                <a:tc>
                  <a:txBody>
                    <a:bodyPr wrap="square"/>
                    <a:lstStyle/>
                    <a:p>
                      <a:pPr algn="ctr"/>
                      <a:r>
                        <a:rPr sz="1100" b="0" i="0">
                          <a:solidFill>
                            <a:srgbClr val="14313B"/>
                          </a:solidFill>
                          <a:latin typeface="Calibri (MS)"/>
                        </a:rPr>
                        <a:t>45,08</a:t>
                      </a:r>
                    </a:p>
                  </a:txBody>
                  <a:tcPr marL="73152" marR="73152" marT="36576" marB="36576" anchor="ctr">
                    <a:solidFill>
                      <a:srgbClr val="FFFFFF"/>
                    </a:solidFill>
                  </a:tcPr>
                </a:tc>
                <a:tc>
                  <a:txBody>
                    <a:bodyPr wrap="square"/>
                    <a:lstStyle/>
                    <a:p>
                      <a:pPr algn="ctr"/>
                      <a:r>
                        <a:rPr sz="1100" b="0" i="0">
                          <a:solidFill>
                            <a:srgbClr val="14313B"/>
                          </a:solidFill>
                          <a:latin typeface="Calibri (MS)"/>
                        </a:rPr>
                        <a:t>1,910</a:t>
                      </a:r>
                    </a:p>
                  </a:txBody>
                  <a:tcPr marL="73152" marR="73152" marT="36576" marB="36576" anchor="ctr">
                    <a:solidFill>
                      <a:srgbClr val="FFFFFF"/>
                    </a:solidFill>
                  </a:tcPr>
                </a:tc>
                <a:tc>
                  <a:txBody>
                    <a:bodyPr wrap="square"/>
                    <a:lstStyle/>
                    <a:p>
                      <a:pPr algn="ctr"/>
                      <a:r>
                        <a:rPr sz="1100" b="0" i="0">
                          <a:solidFill>
                            <a:srgbClr val="14313B"/>
                          </a:solidFill>
                          <a:latin typeface="Calibri (MS)"/>
                        </a:rPr>
                        <a:t>22,19</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2018</a:t>
                      </a:r>
                    </a:p>
                  </a:txBody>
                  <a:tcPr marL="73152" marR="73152" marT="36576" marB="36576" anchor="ctr">
                    <a:solidFill>
                      <a:srgbClr val="EAF8FA"/>
                    </a:solidFill>
                  </a:tcPr>
                </a:tc>
                <a:tc>
                  <a:txBody>
                    <a:bodyPr wrap="square"/>
                    <a:lstStyle/>
                    <a:p>
                      <a:pPr algn="ctr"/>
                      <a:r>
                        <a:rPr sz="1100" b="0" i="0">
                          <a:solidFill>
                            <a:srgbClr val="14313B"/>
                          </a:solidFill>
                          <a:latin typeface="Calibri (MS)"/>
                        </a:rPr>
                        <a:t>1.617</a:t>
                      </a:r>
                    </a:p>
                  </a:txBody>
                  <a:tcPr marL="73152" marR="73152" marT="36576" marB="36576" anchor="ctr">
                    <a:solidFill>
                      <a:srgbClr val="FFF1BF"/>
                    </a:solidFill>
                  </a:tcPr>
                </a:tc>
                <a:tc>
                  <a:txBody>
                    <a:bodyPr wrap="square"/>
                    <a:lstStyle/>
                    <a:p>
                      <a:pPr algn="ctr"/>
                      <a:r>
                        <a:rPr sz="1100" b="0" i="0">
                          <a:solidFill>
                            <a:srgbClr val="14313B"/>
                          </a:solidFill>
                          <a:latin typeface="Calibri (MS)"/>
                        </a:rPr>
                        <a:t>143</a:t>
                      </a:r>
                    </a:p>
                  </a:txBody>
                  <a:tcPr marL="73152" marR="73152" marT="36576" marB="36576" anchor="ctr">
                    <a:solidFill>
                      <a:srgbClr val="EAF8FA"/>
                    </a:solidFill>
                  </a:tcPr>
                </a:tc>
                <a:tc>
                  <a:txBody>
                    <a:bodyPr wrap="square"/>
                    <a:lstStyle/>
                    <a:p>
                      <a:pPr algn="ctr"/>
                      <a:r>
                        <a:rPr sz="1100" b="0" i="0">
                          <a:solidFill>
                            <a:srgbClr val="14313B"/>
                          </a:solidFill>
                          <a:latin typeface="Calibri (MS)"/>
                        </a:rPr>
                        <a:t>1.474</a:t>
                      </a:r>
                    </a:p>
                  </a:txBody>
                  <a:tcPr marL="73152" marR="73152" marT="36576" marB="36576" anchor="ctr">
                    <a:solidFill>
                      <a:srgbClr val="FFF1BF"/>
                    </a:solidFill>
                  </a:tcPr>
                </a:tc>
                <a:tc>
                  <a:txBody>
                    <a:bodyPr wrap="square"/>
                    <a:lstStyle/>
                    <a:p>
                      <a:pPr algn="ctr"/>
                      <a:r>
                        <a:rPr sz="1100" b="0" i="0">
                          <a:solidFill>
                            <a:srgbClr val="14313B"/>
                          </a:solidFill>
                          <a:latin typeface="Calibri (MS)"/>
                        </a:rPr>
                        <a:t>32.869</a:t>
                      </a:r>
                    </a:p>
                  </a:txBody>
                  <a:tcPr marL="73152" marR="73152" marT="36576" marB="36576" anchor="ctr">
                    <a:solidFill>
                      <a:srgbClr val="EAF8FA"/>
                    </a:solidFill>
                  </a:tcPr>
                </a:tc>
                <a:tc>
                  <a:txBody>
                    <a:bodyPr wrap="square"/>
                    <a:lstStyle/>
                    <a:p>
                      <a:pPr algn="ctr"/>
                      <a:r>
                        <a:rPr sz="1100" b="0" i="0">
                          <a:solidFill>
                            <a:srgbClr val="14313B"/>
                          </a:solidFill>
                          <a:latin typeface="Calibri (MS)"/>
                        </a:rPr>
                        <a:t>45,11</a:t>
                      </a:r>
                    </a:p>
                  </a:txBody>
                  <a:tcPr marL="73152" marR="73152" marT="36576" marB="36576" anchor="ctr">
                    <a:solidFill>
                      <a:srgbClr val="EAF8FA"/>
                    </a:solidFill>
                  </a:tcPr>
                </a:tc>
                <a:tc>
                  <a:txBody>
                    <a:bodyPr wrap="square"/>
                    <a:lstStyle/>
                    <a:p>
                      <a:pPr algn="ctr"/>
                      <a:r>
                        <a:rPr sz="1100" b="0" i="0">
                          <a:solidFill>
                            <a:srgbClr val="14313B"/>
                          </a:solidFill>
                          <a:latin typeface="Calibri (MS)"/>
                        </a:rPr>
                        <a:t>1,930</a:t>
                      </a:r>
                    </a:p>
                  </a:txBody>
                  <a:tcPr marL="73152" marR="73152" marT="36576" marB="36576" anchor="ctr">
                    <a:solidFill>
                      <a:srgbClr val="EAF8FA"/>
                    </a:solidFill>
                  </a:tcPr>
                </a:tc>
                <a:tc>
                  <a:txBody>
                    <a:bodyPr wrap="square"/>
                    <a:lstStyle/>
                    <a:p>
                      <a:pPr algn="ctr"/>
                      <a:r>
                        <a:rPr sz="1100" b="0" i="0">
                          <a:solidFill>
                            <a:srgbClr val="14313B"/>
                          </a:solidFill>
                          <a:latin typeface="Calibri (MS)"/>
                        </a:rPr>
                        <a:t>20,33</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2019</a:t>
                      </a:r>
                    </a:p>
                  </a:txBody>
                  <a:tcPr marL="73152" marR="73152" marT="36576" marB="36576" anchor="ctr">
                    <a:solidFill>
                      <a:srgbClr val="FFFFFF"/>
                    </a:solidFill>
                  </a:tcPr>
                </a:tc>
                <a:tc>
                  <a:txBody>
                    <a:bodyPr wrap="square"/>
                    <a:lstStyle/>
                    <a:p>
                      <a:pPr algn="ctr"/>
                      <a:r>
                        <a:rPr sz="1100" b="0" i="0">
                          <a:solidFill>
                            <a:srgbClr val="14313B"/>
                          </a:solidFill>
                          <a:latin typeface="Calibri (MS)"/>
                        </a:rPr>
                        <a:t>1.817</a:t>
                      </a:r>
                    </a:p>
                  </a:txBody>
                  <a:tcPr marL="73152" marR="73152" marT="36576" marB="36576" anchor="ctr">
                    <a:solidFill>
                      <a:srgbClr val="FFFFFF"/>
                    </a:solidFill>
                  </a:tcPr>
                </a:tc>
                <a:tc>
                  <a:txBody>
                    <a:bodyPr wrap="square"/>
                    <a:lstStyle/>
                    <a:p>
                      <a:pPr algn="ctr"/>
                      <a:r>
                        <a:rPr sz="1100" b="0" i="0">
                          <a:solidFill>
                            <a:srgbClr val="14313B"/>
                          </a:solidFill>
                          <a:latin typeface="Calibri (MS)"/>
                        </a:rPr>
                        <a:t>163</a:t>
                      </a:r>
                    </a:p>
                  </a:txBody>
                  <a:tcPr marL="73152" marR="73152" marT="36576" marB="36576" anchor="ctr">
                    <a:solidFill>
                      <a:srgbClr val="FFFFFF"/>
                    </a:solidFill>
                  </a:tcPr>
                </a:tc>
                <a:tc>
                  <a:txBody>
                    <a:bodyPr wrap="square"/>
                    <a:lstStyle/>
                    <a:p>
                      <a:pPr algn="ctr"/>
                      <a:r>
                        <a:rPr sz="1100" b="0" i="0">
                          <a:solidFill>
                            <a:srgbClr val="14313B"/>
                          </a:solidFill>
                          <a:latin typeface="Calibri (MS)"/>
                        </a:rPr>
                        <a:t>1.654</a:t>
                      </a:r>
                    </a:p>
                  </a:txBody>
                  <a:tcPr marL="73152" marR="73152" marT="36576" marB="36576" anchor="ctr">
                    <a:solidFill>
                      <a:srgbClr val="FFFFFF"/>
                    </a:solidFill>
                  </a:tcPr>
                </a:tc>
                <a:tc>
                  <a:txBody>
                    <a:bodyPr wrap="square"/>
                    <a:lstStyle/>
                    <a:p>
                      <a:pPr algn="ctr"/>
                      <a:r>
                        <a:rPr sz="1100" b="0" i="0">
                          <a:solidFill>
                            <a:srgbClr val="14313B"/>
                          </a:solidFill>
                          <a:latin typeface="Calibri (MS)"/>
                        </a:rPr>
                        <a:t>35.717</a:t>
                      </a:r>
                    </a:p>
                  </a:txBody>
                  <a:tcPr marL="73152" marR="73152" marT="36576" marB="36576" anchor="ctr">
                    <a:solidFill>
                      <a:srgbClr val="FFFFFF"/>
                    </a:solidFill>
                  </a:tcPr>
                </a:tc>
                <a:tc>
                  <a:txBody>
                    <a:bodyPr wrap="square"/>
                    <a:lstStyle/>
                    <a:p>
                      <a:pPr algn="ctr"/>
                      <a:r>
                        <a:rPr sz="1100" b="0" i="0">
                          <a:solidFill>
                            <a:srgbClr val="14313B"/>
                          </a:solidFill>
                          <a:latin typeface="Calibri (MS)"/>
                        </a:rPr>
                        <a:t>45,34</a:t>
                      </a:r>
                    </a:p>
                  </a:txBody>
                  <a:tcPr marL="73152" marR="73152" marT="36576" marB="36576" anchor="ctr">
                    <a:solidFill>
                      <a:srgbClr val="FFFFFF"/>
                    </a:solidFill>
                  </a:tcPr>
                </a:tc>
                <a:tc>
                  <a:txBody>
                    <a:bodyPr wrap="square"/>
                    <a:lstStyle/>
                    <a:p>
                      <a:pPr algn="ctr"/>
                      <a:r>
                        <a:rPr sz="1100" b="0" i="0">
                          <a:solidFill>
                            <a:srgbClr val="14313B"/>
                          </a:solidFill>
                          <a:latin typeface="Calibri (MS)"/>
                        </a:rPr>
                        <a:t>2,020</a:t>
                      </a:r>
                    </a:p>
                  </a:txBody>
                  <a:tcPr marL="73152" marR="73152" marT="36576" marB="36576" anchor="ctr">
                    <a:solidFill>
                      <a:srgbClr val="FFFFFF"/>
                    </a:solidFill>
                  </a:tcPr>
                </a:tc>
                <a:tc>
                  <a:txBody>
                    <a:bodyPr wrap="square"/>
                    <a:lstStyle/>
                    <a:p>
                      <a:pPr algn="ctr"/>
                      <a:r>
                        <a:rPr sz="1100" b="0" i="0">
                          <a:solidFill>
                            <a:srgbClr val="14313B"/>
                          </a:solidFill>
                          <a:latin typeface="Calibri (MS)"/>
                        </a:rPr>
                        <a:t>19,66</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2020</a:t>
                      </a:r>
                    </a:p>
                  </a:txBody>
                  <a:tcPr marL="73152" marR="73152" marT="36576" marB="36576" anchor="ctr">
                    <a:solidFill>
                      <a:srgbClr val="EAF8FA"/>
                    </a:solidFill>
                  </a:tcPr>
                </a:tc>
                <a:tc>
                  <a:txBody>
                    <a:bodyPr wrap="square"/>
                    <a:lstStyle/>
                    <a:p>
                      <a:pPr algn="ctr"/>
                      <a:r>
                        <a:rPr sz="1100" b="0" i="0">
                          <a:solidFill>
                            <a:srgbClr val="14313B"/>
                          </a:solidFill>
                          <a:latin typeface="Calibri (MS)"/>
                        </a:rPr>
                        <a:t>1.848</a:t>
                      </a:r>
                    </a:p>
                  </a:txBody>
                  <a:tcPr marL="73152" marR="73152" marT="36576" marB="36576" anchor="ctr">
                    <a:solidFill>
                      <a:srgbClr val="EAF8FA"/>
                    </a:solidFill>
                  </a:tcPr>
                </a:tc>
                <a:tc>
                  <a:txBody>
                    <a:bodyPr wrap="square"/>
                    <a:lstStyle/>
                    <a:p>
                      <a:pPr algn="ctr"/>
                      <a:r>
                        <a:rPr sz="1100" b="0" i="0">
                          <a:solidFill>
                            <a:srgbClr val="14313B"/>
                          </a:solidFill>
                          <a:latin typeface="Calibri (MS)"/>
                        </a:rPr>
                        <a:t>172</a:t>
                      </a:r>
                    </a:p>
                  </a:txBody>
                  <a:tcPr marL="73152" marR="73152" marT="36576" marB="36576" anchor="ctr">
                    <a:solidFill>
                      <a:srgbClr val="EAF8FA"/>
                    </a:solidFill>
                  </a:tcPr>
                </a:tc>
                <a:tc>
                  <a:txBody>
                    <a:bodyPr wrap="square"/>
                    <a:lstStyle/>
                    <a:p>
                      <a:pPr algn="ctr"/>
                      <a:r>
                        <a:rPr sz="1100" b="0" i="0">
                          <a:solidFill>
                            <a:srgbClr val="14313B"/>
                          </a:solidFill>
                          <a:latin typeface="Calibri (MS)"/>
                        </a:rPr>
                        <a:t>1.676</a:t>
                      </a:r>
                    </a:p>
                  </a:txBody>
                  <a:tcPr marL="73152" marR="73152" marT="36576" marB="36576" anchor="ctr">
                    <a:solidFill>
                      <a:srgbClr val="EAF8FA"/>
                    </a:solidFill>
                  </a:tcPr>
                </a:tc>
                <a:tc>
                  <a:txBody>
                    <a:bodyPr wrap="square"/>
                    <a:lstStyle/>
                    <a:p>
                      <a:pPr algn="ctr"/>
                      <a:r>
                        <a:rPr sz="1100" b="0" i="0">
                          <a:solidFill>
                            <a:srgbClr val="14313B"/>
                          </a:solidFill>
                          <a:latin typeface="Calibri (MS)"/>
                        </a:rPr>
                        <a:t>36.482</a:t>
                      </a:r>
                    </a:p>
                  </a:txBody>
                  <a:tcPr marL="73152" marR="73152" marT="36576" marB="36576" anchor="ctr">
                    <a:solidFill>
                      <a:srgbClr val="EAF8FA"/>
                    </a:solidFill>
                  </a:tcPr>
                </a:tc>
                <a:tc>
                  <a:txBody>
                    <a:bodyPr wrap="square"/>
                    <a:lstStyle/>
                    <a:p>
                      <a:pPr algn="ctr"/>
                      <a:r>
                        <a:rPr sz="1100" b="0" i="0">
                          <a:solidFill>
                            <a:srgbClr val="14313B"/>
                          </a:solidFill>
                          <a:latin typeface="Calibri (MS)"/>
                        </a:rPr>
                        <a:t>28,90</a:t>
                      </a:r>
                    </a:p>
                  </a:txBody>
                  <a:tcPr marL="73152" marR="73152" marT="36576" marB="36576" anchor="ctr">
                    <a:solidFill>
                      <a:srgbClr val="EAF8FA"/>
                    </a:solidFill>
                  </a:tcPr>
                </a:tc>
                <a:tc>
                  <a:txBody>
                    <a:bodyPr wrap="square"/>
                    <a:lstStyle/>
                    <a:p>
                      <a:pPr algn="ctr"/>
                      <a:r>
                        <a:rPr sz="1100" b="0" i="0">
                          <a:solidFill>
                            <a:srgbClr val="14313B"/>
                          </a:solidFill>
                          <a:latin typeface="Calibri (MS)"/>
                        </a:rPr>
                        <a:t>2,050</a:t>
                      </a:r>
                    </a:p>
                  </a:txBody>
                  <a:tcPr marL="73152" marR="73152" marT="36576" marB="36576" anchor="ctr">
                    <a:solidFill>
                      <a:srgbClr val="EAF8FA"/>
                    </a:solidFill>
                  </a:tcPr>
                </a:tc>
                <a:tc>
                  <a:txBody>
                    <a:bodyPr wrap="square"/>
                    <a:lstStyle/>
                    <a:p>
                      <a:pPr algn="ctr"/>
                      <a:r>
                        <a:rPr sz="1100" b="0" i="0">
                          <a:solidFill>
                            <a:srgbClr val="14313B"/>
                          </a:solidFill>
                          <a:latin typeface="Calibri (MS)"/>
                        </a:rPr>
                        <a:t>19,74</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2021</a:t>
                      </a:r>
                    </a:p>
                  </a:txBody>
                  <a:tcPr marL="73152" marR="73152" marT="36576" marB="36576" anchor="ctr">
                    <a:solidFill>
                      <a:srgbClr val="FFFFFF"/>
                    </a:solidFill>
                  </a:tcPr>
                </a:tc>
                <a:tc>
                  <a:txBody>
                    <a:bodyPr wrap="square"/>
                    <a:lstStyle/>
                    <a:p>
                      <a:pPr algn="ctr"/>
                      <a:r>
                        <a:rPr sz="1100" b="0" i="0">
                          <a:solidFill>
                            <a:srgbClr val="14313B"/>
                          </a:solidFill>
                          <a:latin typeface="Calibri (MS)"/>
                        </a:rPr>
                        <a:t>1.696</a:t>
                      </a:r>
                    </a:p>
                  </a:txBody>
                  <a:tcPr marL="73152" marR="73152" marT="36576" marB="36576" anchor="ctr">
                    <a:solidFill>
                      <a:srgbClr val="FFFFFF"/>
                    </a:solidFill>
                  </a:tcPr>
                </a:tc>
                <a:tc>
                  <a:txBody>
                    <a:bodyPr wrap="square"/>
                    <a:lstStyle/>
                    <a:p>
                      <a:pPr algn="ctr"/>
                      <a:r>
                        <a:rPr sz="1100" b="0" i="0">
                          <a:solidFill>
                            <a:srgbClr val="14313B"/>
                          </a:solidFill>
                          <a:latin typeface="Calibri (MS)"/>
                        </a:rPr>
                        <a:t>168</a:t>
                      </a:r>
                    </a:p>
                  </a:txBody>
                  <a:tcPr marL="73152" marR="73152" marT="36576" marB="36576" anchor="ctr">
                    <a:solidFill>
                      <a:srgbClr val="FFFFFF"/>
                    </a:solidFill>
                  </a:tcPr>
                </a:tc>
                <a:tc>
                  <a:txBody>
                    <a:bodyPr wrap="square"/>
                    <a:lstStyle/>
                    <a:p>
                      <a:pPr algn="ctr"/>
                      <a:r>
                        <a:rPr sz="1100" b="0" i="0">
                          <a:solidFill>
                            <a:srgbClr val="14313B"/>
                          </a:solidFill>
                          <a:latin typeface="Calibri (MS)"/>
                        </a:rPr>
                        <a:t>1.528</a:t>
                      </a:r>
                    </a:p>
                  </a:txBody>
                  <a:tcPr marL="73152" marR="73152" marT="36576" marB="36576" anchor="ctr">
                    <a:solidFill>
                      <a:srgbClr val="FFFFFF"/>
                    </a:solidFill>
                  </a:tcPr>
                </a:tc>
                <a:tc>
                  <a:txBody>
                    <a:bodyPr wrap="square"/>
                    <a:lstStyle/>
                    <a:p>
                      <a:pPr algn="ctr"/>
                      <a:r>
                        <a:rPr sz="1100" b="0" i="0">
                          <a:solidFill>
                            <a:srgbClr val="14313B"/>
                          </a:solidFill>
                          <a:latin typeface="Calibri (MS)"/>
                        </a:rPr>
                        <a:t>34.386</a:t>
                      </a:r>
                    </a:p>
                  </a:txBody>
                  <a:tcPr marL="73152" marR="73152" marT="36576" marB="36576" anchor="ctr">
                    <a:solidFill>
                      <a:srgbClr val="FFFFFF"/>
                    </a:solidFill>
                  </a:tcPr>
                </a:tc>
                <a:tc>
                  <a:txBody>
                    <a:bodyPr wrap="square"/>
                    <a:lstStyle/>
                    <a:p>
                      <a:pPr algn="ctr"/>
                      <a:r>
                        <a:rPr sz="1100" b="0" i="0">
                          <a:solidFill>
                            <a:srgbClr val="14313B"/>
                          </a:solidFill>
                          <a:latin typeface="Calibri (MS)"/>
                        </a:rPr>
                        <a:t>27,48</a:t>
                      </a:r>
                    </a:p>
                  </a:txBody>
                  <a:tcPr marL="73152" marR="73152" marT="36576" marB="36576" anchor="ctr">
                    <a:solidFill>
                      <a:srgbClr val="FFFFFF"/>
                    </a:solidFill>
                  </a:tcPr>
                </a:tc>
                <a:tc>
                  <a:txBody>
                    <a:bodyPr wrap="square"/>
                    <a:lstStyle/>
                    <a:p>
                      <a:pPr algn="ctr"/>
                      <a:r>
                        <a:rPr sz="1100" b="0" i="0">
                          <a:solidFill>
                            <a:srgbClr val="14313B"/>
                          </a:solidFill>
                          <a:latin typeface="Calibri (MS)"/>
                        </a:rPr>
                        <a:t>2,150</a:t>
                      </a:r>
                    </a:p>
                  </a:txBody>
                  <a:tcPr marL="73152" marR="73152" marT="36576" marB="36576" anchor="ctr">
                    <a:solidFill>
                      <a:srgbClr val="FFFFFF"/>
                    </a:solidFill>
                  </a:tcPr>
                </a:tc>
                <a:tc>
                  <a:txBody>
                    <a:bodyPr wrap="square"/>
                    <a:lstStyle/>
                    <a:p>
                      <a:pPr algn="ctr"/>
                      <a:r>
                        <a:rPr sz="1100" b="0" i="0">
                          <a:solidFill>
                            <a:srgbClr val="14313B"/>
                          </a:solidFill>
                          <a:latin typeface="Calibri (MS)"/>
                        </a:rPr>
                        <a:t>20,27</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2022</a:t>
                      </a:r>
                    </a:p>
                  </a:txBody>
                  <a:tcPr marL="73152" marR="73152" marT="36576" marB="36576" anchor="ctr">
                    <a:solidFill>
                      <a:srgbClr val="EAF8FA"/>
                    </a:solidFill>
                  </a:tcPr>
                </a:tc>
                <a:tc>
                  <a:txBody>
                    <a:bodyPr wrap="square"/>
                    <a:lstStyle/>
                    <a:p>
                      <a:pPr algn="ctr"/>
                      <a:r>
                        <a:rPr sz="1100" b="0" i="0">
                          <a:solidFill>
                            <a:srgbClr val="14313B"/>
                          </a:solidFill>
                          <a:latin typeface="Calibri (MS)"/>
                        </a:rPr>
                        <a:t>1.818</a:t>
                      </a:r>
                    </a:p>
                  </a:txBody>
                  <a:tcPr marL="73152" marR="73152" marT="36576" marB="36576" anchor="ctr">
                    <a:solidFill>
                      <a:srgbClr val="EAF8FA"/>
                    </a:solidFill>
                  </a:tcPr>
                </a:tc>
                <a:tc>
                  <a:txBody>
                    <a:bodyPr wrap="square"/>
                    <a:lstStyle/>
                    <a:p>
                      <a:pPr algn="ctr"/>
                      <a:r>
                        <a:rPr sz="1100" b="0" i="0">
                          <a:solidFill>
                            <a:srgbClr val="14313B"/>
                          </a:solidFill>
                          <a:latin typeface="Calibri (MS)"/>
                        </a:rPr>
                        <a:t>192</a:t>
                      </a:r>
                    </a:p>
                  </a:txBody>
                  <a:tcPr marL="73152" marR="73152" marT="36576" marB="36576" anchor="ctr">
                    <a:solidFill>
                      <a:srgbClr val="EAF8FA"/>
                    </a:solidFill>
                  </a:tcPr>
                </a:tc>
                <a:tc>
                  <a:txBody>
                    <a:bodyPr wrap="square"/>
                    <a:lstStyle/>
                    <a:p>
                      <a:pPr algn="ctr"/>
                      <a:r>
                        <a:rPr sz="1100" b="0" i="0">
                          <a:solidFill>
                            <a:srgbClr val="14313B"/>
                          </a:solidFill>
                          <a:latin typeface="Calibri (MS)"/>
                        </a:rPr>
                        <a:t>1.626</a:t>
                      </a:r>
                    </a:p>
                  </a:txBody>
                  <a:tcPr marL="73152" marR="73152" marT="36576" marB="36576" anchor="ctr">
                    <a:solidFill>
                      <a:srgbClr val="EAF8FA"/>
                    </a:solidFill>
                  </a:tcPr>
                </a:tc>
                <a:tc>
                  <a:txBody>
                    <a:bodyPr wrap="square"/>
                    <a:lstStyle/>
                    <a:p>
                      <a:pPr algn="ctr"/>
                      <a:r>
                        <a:rPr sz="1100" b="0" i="0">
                          <a:solidFill>
                            <a:srgbClr val="14313B"/>
                          </a:solidFill>
                          <a:latin typeface="Calibri (MS)"/>
                        </a:rPr>
                        <a:t>36.644</a:t>
                      </a:r>
                    </a:p>
                  </a:txBody>
                  <a:tcPr marL="73152" marR="73152" marT="36576" marB="36576" anchor="ctr">
                    <a:solidFill>
                      <a:srgbClr val="EAF8FA"/>
                    </a:solidFill>
                  </a:tcPr>
                </a:tc>
                <a:tc>
                  <a:txBody>
                    <a:bodyPr wrap="square"/>
                    <a:lstStyle/>
                    <a:p>
                      <a:pPr algn="ctr"/>
                      <a:r>
                        <a:rPr sz="1100" b="0" i="0">
                          <a:solidFill>
                            <a:srgbClr val="14313B"/>
                          </a:solidFill>
                          <a:latin typeface="Calibri (MS)"/>
                        </a:rPr>
                        <a:t>44,99</a:t>
                      </a:r>
                    </a:p>
                  </a:txBody>
                  <a:tcPr marL="73152" marR="73152" marT="36576" marB="36576" anchor="ctr">
                    <a:solidFill>
                      <a:srgbClr val="EAF8FA"/>
                    </a:solidFill>
                  </a:tcPr>
                </a:tc>
                <a:tc>
                  <a:txBody>
                    <a:bodyPr wrap="square"/>
                    <a:lstStyle/>
                    <a:p>
                      <a:pPr algn="ctr"/>
                      <a:r>
                        <a:rPr sz="1100" b="0" i="0">
                          <a:solidFill>
                            <a:srgbClr val="14313B"/>
                          </a:solidFill>
                          <a:latin typeface="Calibri (MS)"/>
                        </a:rPr>
                        <a:t>2,080</a:t>
                      </a:r>
                    </a:p>
                  </a:txBody>
                  <a:tcPr marL="73152" marR="73152" marT="36576" marB="36576" anchor="ctr">
                    <a:solidFill>
                      <a:srgbClr val="EAF8FA"/>
                    </a:solidFill>
                  </a:tcPr>
                </a:tc>
                <a:tc>
                  <a:txBody>
                    <a:bodyPr wrap="square"/>
                    <a:lstStyle/>
                    <a:p>
                      <a:pPr algn="ctr"/>
                      <a:r>
                        <a:rPr sz="1100" b="0" i="0">
                          <a:solidFill>
                            <a:srgbClr val="14313B"/>
                          </a:solidFill>
                          <a:latin typeface="Calibri (MS)"/>
                        </a:rPr>
                        <a:t>20,16</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2023</a:t>
                      </a:r>
                    </a:p>
                  </a:txBody>
                  <a:tcPr marL="73152" marR="73152" marT="36576" marB="36576" anchor="ctr">
                    <a:solidFill>
                      <a:srgbClr val="FFFFFF"/>
                    </a:solidFill>
                  </a:tcPr>
                </a:tc>
                <a:tc>
                  <a:txBody>
                    <a:bodyPr wrap="square"/>
                    <a:lstStyle/>
                    <a:p>
                      <a:pPr algn="ctr"/>
                      <a:r>
                        <a:rPr sz="1100" b="0" i="0">
                          <a:solidFill>
                            <a:srgbClr val="14313B"/>
                          </a:solidFill>
                          <a:latin typeface="Calibri (MS)"/>
                        </a:rPr>
                        <a:t>1.820</a:t>
                      </a:r>
                    </a:p>
                  </a:txBody>
                  <a:tcPr marL="73152" marR="73152" marT="36576" marB="36576" anchor="ctr">
                    <a:solidFill>
                      <a:srgbClr val="FFFFFF"/>
                    </a:solidFill>
                  </a:tcPr>
                </a:tc>
                <a:tc>
                  <a:txBody>
                    <a:bodyPr wrap="square"/>
                    <a:lstStyle/>
                    <a:p>
                      <a:pPr algn="ctr"/>
                      <a:r>
                        <a:rPr sz="1100" b="0" i="0">
                          <a:solidFill>
                            <a:srgbClr val="14313B"/>
                          </a:solidFill>
                          <a:latin typeface="Calibri (MS)"/>
                        </a:rPr>
                        <a:t>193</a:t>
                      </a:r>
                    </a:p>
                  </a:txBody>
                  <a:tcPr marL="73152" marR="73152" marT="36576" marB="36576" anchor="ctr">
                    <a:solidFill>
                      <a:srgbClr val="FFFFFF"/>
                    </a:solidFill>
                  </a:tcPr>
                </a:tc>
                <a:tc>
                  <a:txBody>
                    <a:bodyPr wrap="square"/>
                    <a:lstStyle/>
                    <a:p>
                      <a:pPr algn="ctr"/>
                      <a:r>
                        <a:rPr sz="1100" b="0" i="0">
                          <a:solidFill>
                            <a:srgbClr val="14313B"/>
                          </a:solidFill>
                          <a:latin typeface="Calibri (MS)"/>
                        </a:rPr>
                        <a:t>1.627</a:t>
                      </a:r>
                    </a:p>
                  </a:txBody>
                  <a:tcPr marL="73152" marR="73152" marT="36576" marB="36576" anchor="ctr">
                    <a:solidFill>
                      <a:srgbClr val="FFFFFF"/>
                    </a:solidFill>
                  </a:tcPr>
                </a:tc>
                <a:tc>
                  <a:txBody>
                    <a:bodyPr wrap="square"/>
                    <a:lstStyle/>
                    <a:p>
                      <a:pPr algn="ctr"/>
                      <a:r>
                        <a:rPr sz="1100" b="0" i="0">
                          <a:solidFill>
                            <a:srgbClr val="14313B"/>
                          </a:solidFill>
                          <a:latin typeface="Calibri (MS)"/>
                        </a:rPr>
                        <a:t>36.883</a:t>
                      </a:r>
                    </a:p>
                  </a:txBody>
                  <a:tcPr marL="73152" marR="73152" marT="36576" marB="36576" anchor="ctr">
                    <a:solidFill>
                      <a:srgbClr val="FFFFFF"/>
                    </a:solidFill>
                  </a:tcPr>
                </a:tc>
                <a:tc>
                  <a:txBody>
                    <a:bodyPr wrap="square"/>
                    <a:lstStyle/>
                    <a:p>
                      <a:pPr algn="ctr"/>
                      <a:r>
                        <a:rPr sz="1100" b="0" i="0">
                          <a:solidFill>
                            <a:srgbClr val="14313B"/>
                          </a:solidFill>
                          <a:latin typeface="Calibri (MS)"/>
                        </a:rPr>
                        <a:t>44,77</a:t>
                      </a:r>
                    </a:p>
                  </a:txBody>
                  <a:tcPr marL="73152" marR="73152" marT="36576" marB="36576" anchor="ctr">
                    <a:solidFill>
                      <a:srgbClr val="FFFFFF"/>
                    </a:solidFill>
                  </a:tcPr>
                </a:tc>
                <a:tc>
                  <a:txBody>
                    <a:bodyPr wrap="square"/>
                    <a:lstStyle/>
                    <a:p>
                      <a:pPr algn="ctr"/>
                      <a:r>
                        <a:rPr sz="1100" b="0" i="0">
                          <a:solidFill>
                            <a:srgbClr val="14313B"/>
                          </a:solidFill>
                          <a:latin typeface="Calibri (MS)"/>
                        </a:rPr>
                        <a:t>2,100</a:t>
                      </a:r>
                    </a:p>
                  </a:txBody>
                  <a:tcPr marL="73152" marR="73152" marT="36576" marB="36576" anchor="ctr">
                    <a:solidFill>
                      <a:srgbClr val="FFFFFF"/>
                    </a:solidFill>
                  </a:tcPr>
                </a:tc>
                <a:tc>
                  <a:txBody>
                    <a:bodyPr wrap="square"/>
                    <a:lstStyle/>
                    <a:p>
                      <a:pPr algn="ctr"/>
                      <a:r>
                        <a:rPr sz="1100" b="0" i="0">
                          <a:solidFill>
                            <a:srgbClr val="14313B"/>
                          </a:solidFill>
                          <a:latin typeface="Calibri (MS)"/>
                        </a:rPr>
                        <a:t>20,27</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2024</a:t>
                      </a:r>
                    </a:p>
                  </a:txBody>
                  <a:tcPr marL="73152" marR="73152" marT="36576" marB="36576" anchor="ctr">
                    <a:solidFill>
                      <a:srgbClr val="EAF8FA"/>
                    </a:solidFill>
                  </a:tcPr>
                </a:tc>
                <a:tc>
                  <a:txBody>
                    <a:bodyPr wrap="square"/>
                    <a:lstStyle/>
                    <a:p>
                      <a:pPr algn="ctr"/>
                      <a:r>
                        <a:rPr sz="1100" b="0" i="0">
                          <a:solidFill>
                            <a:srgbClr val="14313B"/>
                          </a:solidFill>
                          <a:latin typeface="Calibri (MS)"/>
                        </a:rPr>
                        <a:t>2.000</a:t>
                      </a:r>
                    </a:p>
                  </a:txBody>
                  <a:tcPr marL="73152" marR="73152" marT="36576" marB="36576" anchor="ctr">
                    <a:solidFill>
                      <a:srgbClr val="EAF8FA"/>
                    </a:solidFill>
                  </a:tcPr>
                </a:tc>
                <a:tc>
                  <a:txBody>
                    <a:bodyPr wrap="square"/>
                    <a:lstStyle/>
                    <a:p>
                      <a:pPr algn="ctr"/>
                      <a:r>
                        <a:rPr sz="1100" b="0" i="0">
                          <a:solidFill>
                            <a:srgbClr val="14313B"/>
                          </a:solidFill>
                          <a:latin typeface="Calibri (MS)"/>
                        </a:rPr>
                        <a:t>207</a:t>
                      </a:r>
                    </a:p>
                  </a:txBody>
                  <a:tcPr marL="73152" marR="73152" marT="36576" marB="36576" anchor="ctr">
                    <a:solidFill>
                      <a:srgbClr val="EAF8FA"/>
                    </a:solidFill>
                  </a:tcPr>
                </a:tc>
                <a:tc>
                  <a:txBody>
                    <a:bodyPr wrap="square"/>
                    <a:lstStyle/>
                    <a:p>
                      <a:pPr algn="ctr"/>
                      <a:r>
                        <a:rPr sz="1100" b="0" i="0">
                          <a:solidFill>
                            <a:srgbClr val="14313B"/>
                          </a:solidFill>
                          <a:latin typeface="Calibri (MS)"/>
                        </a:rPr>
                        <a:t>1.793</a:t>
                      </a:r>
                    </a:p>
                  </a:txBody>
                  <a:tcPr marL="73152" marR="73152" marT="36576" marB="36576" anchor="ctr">
                    <a:solidFill>
                      <a:srgbClr val="EAF8FA"/>
                    </a:solidFill>
                  </a:tcPr>
                </a:tc>
                <a:tc>
                  <a:txBody>
                    <a:bodyPr wrap="square"/>
                    <a:lstStyle/>
                    <a:p>
                      <a:pPr algn="ctr"/>
                      <a:r>
                        <a:rPr sz="1100" b="0" i="0">
                          <a:solidFill>
                            <a:srgbClr val="14313B"/>
                          </a:solidFill>
                          <a:latin typeface="Calibri (MS)"/>
                        </a:rPr>
                        <a:t>52.233</a:t>
                      </a:r>
                    </a:p>
                  </a:txBody>
                  <a:tcPr marL="73152" marR="73152" marT="36576" marB="36576" anchor="ctr">
                    <a:solidFill>
                      <a:srgbClr val="EAF8FA"/>
                    </a:solidFill>
                  </a:tcPr>
                </a:tc>
                <a:tc>
                  <a:txBody>
                    <a:bodyPr wrap="square"/>
                    <a:lstStyle/>
                    <a:p>
                      <a:pPr algn="ctr"/>
                      <a:r>
                        <a:rPr sz="1100" b="0" i="0">
                          <a:solidFill>
                            <a:srgbClr val="14313B"/>
                          </a:solidFill>
                          <a:latin typeface="Calibri (MS)"/>
                        </a:rPr>
                        <a:t>42,17</a:t>
                      </a:r>
                    </a:p>
                  </a:txBody>
                  <a:tcPr marL="73152" marR="73152" marT="36576" marB="36576" anchor="ctr">
                    <a:solidFill>
                      <a:srgbClr val="EAF8FA"/>
                    </a:solidFill>
                  </a:tcPr>
                </a:tc>
                <a:tc>
                  <a:txBody>
                    <a:bodyPr wrap="square"/>
                    <a:lstStyle/>
                    <a:p>
                      <a:pPr algn="ctr"/>
                      <a:r>
                        <a:rPr sz="1100" b="0" i="0">
                          <a:solidFill>
                            <a:srgbClr val="14313B"/>
                          </a:solidFill>
                          <a:latin typeface="Calibri (MS)"/>
                        </a:rPr>
                        <a:t>2,060</a:t>
                      </a:r>
                    </a:p>
                  </a:txBody>
                  <a:tcPr marL="73152" marR="73152" marT="36576" marB="36576" anchor="ctr">
                    <a:solidFill>
                      <a:srgbClr val="EAF8FA"/>
                    </a:solidFill>
                  </a:tcPr>
                </a:tc>
                <a:tc>
                  <a:txBody>
                    <a:bodyPr wrap="square"/>
                    <a:lstStyle/>
                    <a:p>
                      <a:pPr algn="ctr"/>
                      <a:r>
                        <a:rPr sz="1100" b="0" i="0">
                          <a:solidFill>
                            <a:srgbClr val="14313B"/>
                          </a:solidFill>
                          <a:latin typeface="Calibri (MS)"/>
                        </a:rPr>
                        <a:t>26,12</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2025</a:t>
                      </a:r>
                    </a:p>
                  </a:txBody>
                  <a:tcPr marL="73152" marR="73152" marT="36576" marB="36576" anchor="ctr">
                    <a:solidFill>
                      <a:srgbClr val="FFFFFF"/>
                    </a:solidFill>
                  </a:tcPr>
                </a:tc>
                <a:tc>
                  <a:txBody>
                    <a:bodyPr wrap="square"/>
                    <a:lstStyle/>
                    <a:p>
                      <a:pPr algn="ctr"/>
                      <a:r>
                        <a:rPr sz="1100" b="0" i="0">
                          <a:solidFill>
                            <a:srgbClr val="14313B"/>
                          </a:solidFill>
                          <a:latin typeface="Calibri (MS)"/>
                        </a:rPr>
                        <a:t>2.291</a:t>
                      </a:r>
                    </a:p>
                  </a:txBody>
                  <a:tcPr marL="73152" marR="73152" marT="36576" marB="36576" anchor="ctr">
                    <a:solidFill>
                      <a:srgbClr val="FFFFFF"/>
                    </a:solidFill>
                  </a:tcPr>
                </a:tc>
                <a:tc>
                  <a:txBody>
                    <a:bodyPr wrap="square"/>
                    <a:lstStyle/>
                    <a:p>
                      <a:pPr algn="ctr"/>
                      <a:r>
                        <a:rPr sz="1100" b="0" i="0">
                          <a:solidFill>
                            <a:srgbClr val="14313B"/>
                          </a:solidFill>
                          <a:latin typeface="Calibri (MS)"/>
                        </a:rPr>
                        <a:t>222</a:t>
                      </a:r>
                    </a:p>
                  </a:txBody>
                  <a:tcPr marL="73152" marR="73152" marT="36576" marB="36576" anchor="ctr">
                    <a:solidFill>
                      <a:srgbClr val="FFFFFF"/>
                    </a:solidFill>
                  </a:tcPr>
                </a:tc>
                <a:tc>
                  <a:txBody>
                    <a:bodyPr wrap="square"/>
                    <a:lstStyle/>
                    <a:p>
                      <a:pPr algn="ctr"/>
                      <a:r>
                        <a:rPr sz="1100" b="0" i="0">
                          <a:solidFill>
                            <a:srgbClr val="14313B"/>
                          </a:solidFill>
                          <a:latin typeface="Calibri (MS)"/>
                        </a:rPr>
                        <a:t>2.069</a:t>
                      </a:r>
                    </a:p>
                  </a:txBody>
                  <a:tcPr marL="73152" marR="73152" marT="36576" marB="36576" anchor="ctr">
                    <a:solidFill>
                      <a:srgbClr val="FFFFFF"/>
                    </a:solidFill>
                  </a:tcPr>
                </a:tc>
                <a:tc>
                  <a:txBody>
                    <a:bodyPr wrap="square"/>
                    <a:lstStyle/>
                    <a:p>
                      <a:pPr algn="ctr"/>
                      <a:r>
                        <a:rPr sz="1100" b="0" i="0">
                          <a:solidFill>
                            <a:srgbClr val="14313B"/>
                          </a:solidFill>
                          <a:latin typeface="Calibri (MS)"/>
                        </a:rPr>
                        <a:t>49.066</a:t>
                      </a:r>
                    </a:p>
                  </a:txBody>
                  <a:tcPr marL="73152" marR="73152" marT="36576" marB="36576" anchor="ctr">
                    <a:solidFill>
                      <a:srgbClr val="FFFFFF"/>
                    </a:solidFill>
                  </a:tcPr>
                </a:tc>
                <a:tc>
                  <a:txBody>
                    <a:bodyPr wrap="square"/>
                    <a:lstStyle/>
                    <a:p>
                      <a:pPr algn="ctr"/>
                      <a:r>
                        <a:rPr sz="1100" b="0" i="0">
                          <a:solidFill>
                            <a:srgbClr val="14313B"/>
                          </a:solidFill>
                          <a:latin typeface="Calibri (MS)"/>
                        </a:rPr>
                        <a:t>38,07</a:t>
                      </a:r>
                    </a:p>
                  </a:txBody>
                  <a:tcPr marL="73152" marR="73152" marT="36576" marB="36576" anchor="ctr">
                    <a:solidFill>
                      <a:srgbClr val="FFFFFF"/>
                    </a:solidFill>
                  </a:tcPr>
                </a:tc>
                <a:tc>
                  <a:txBody>
                    <a:bodyPr wrap="square"/>
                    <a:lstStyle/>
                    <a:p>
                      <a:pPr algn="ctr"/>
                      <a:r>
                        <a:rPr sz="1100" b="0" i="0">
                          <a:solidFill>
                            <a:srgbClr val="14313B"/>
                          </a:solidFill>
                          <a:latin typeface="Calibri (MS)"/>
                        </a:rPr>
                        <a:t>2,070</a:t>
                      </a:r>
                    </a:p>
                  </a:txBody>
                  <a:tcPr marL="73152" marR="73152" marT="36576" marB="36576" anchor="ctr">
                    <a:solidFill>
                      <a:srgbClr val="FFFFFF"/>
                    </a:solidFill>
                  </a:tcPr>
                </a:tc>
                <a:tc>
                  <a:txBody>
                    <a:bodyPr wrap="square"/>
                    <a:lstStyle/>
                    <a:p>
                      <a:pPr algn="ctr"/>
                      <a:r>
                        <a:rPr sz="1100" b="0" i="0">
                          <a:solidFill>
                            <a:srgbClr val="14313B"/>
                          </a:solidFill>
                          <a:latin typeface="Calibri (MS)"/>
                        </a:rPr>
                        <a:t>21,42</a:t>
                      </a:r>
                    </a:p>
                  </a:txBody>
                  <a:tcPr marL="73152" marR="73152" marT="36576" marB="36576" anchor="ctr">
                    <a:solidFill>
                      <a:srgbClr val="FFFFFF"/>
                    </a:solidFill>
                  </a:tcPr>
                </a:tc>
              </a:tr>
            </a:tbl>
          </a:graphicData>
        </a:graphic>
      </p:graphicFrame>
      <p:sp>
        <p:nvSpPr>
          <p:cNvPr id="28" name="Rounded Rectangle 27"/>
          <p:cNvSpPr/>
          <p:nvPr/>
        </p:nvSpPr>
        <p:spPr>
          <a:xfrm>
            <a:off x="822960" y="694944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Kuning: lonjakan 2018 (+438 unit) hampir seluruhnya akomodasi nonbintang, diduga karena perluasan cakupan pendataan; tetap dipakai apa adanya. *Kamar per unit = jumlah kamar ÷ jumlah unit (hitungan sendiri); model memakai 21,4168 (nilai 2025).</a:t>
            </a:r>
          </a:p>
        </p:txBody>
      </p:sp>
      <p:graphicFrame>
        <p:nvGraphicFramePr>
          <p:cNvPr id="29" name="Table 28"/>
          <p:cNvGraphicFramePr>
            <a:graphicFrameLocks noGrp="1"/>
          </p:cNvGraphicFramePr>
          <p:nvPr/>
        </p:nvGraphicFramePr>
        <p:xfrm>
          <a:off x="822960" y="7863840"/>
          <a:ext cx="16642080" cy="905256"/>
        </p:xfrm>
        <a:graphic>
          <a:graphicData uri="http://schemas.openxmlformats.org/drawingml/2006/table">
            <a:tbl>
              <a:tblPr firstRow="1" bandRow="1">
                <a:tableStyleId>{5C22544A-7EE6-4342-B048-85BDC9FD1C3A}</a:tableStyleId>
              </a:tblPr>
              <a:tblGrid>
                <a:gridCol w="4572000"/>
                <a:gridCol w="2743200"/>
                <a:gridCol w="9326880"/>
              </a:tblGrid>
              <a:tr h="301752">
                <a:tc>
                  <a:txBody>
                    <a:bodyPr wrap="square"/>
                    <a:lstStyle/>
                    <a:p>
                      <a:r>
                        <a:rPr sz="950" b="1" i="0">
                          <a:solidFill>
                            <a:srgbClr val="FFFFFF"/>
                          </a:solidFill>
                          <a:latin typeface="Calibri (MS) Bold"/>
                        </a:rPr>
                        <a:t>Variabel</a:t>
                      </a:r>
                    </a:p>
                  </a:txBody>
                  <a:tcPr marL="73152" marR="73152" marT="36576" marB="36576" anchor="ctr">
                    <a:solidFill>
                      <a:srgbClr val="0B5E6E"/>
                    </a:solidFill>
                  </a:tcPr>
                </a:tc>
                <a:tc>
                  <a:txBody>
                    <a:bodyPr wrap="square"/>
                    <a:lstStyle/>
                    <a:p>
                      <a:r>
                        <a:rPr sz="950" b="1" i="0">
                          <a:solidFill>
                            <a:srgbClr val="FFFFFF"/>
                          </a:solidFill>
                          <a:latin typeface="Calibri (MS) Bold"/>
                        </a:rPr>
                        <a:t>Satuan</a:t>
                      </a:r>
                    </a:p>
                  </a:txBody>
                  <a:tcPr marL="73152" marR="73152" marT="36576" marB="36576" anchor="ctr">
                    <a:solidFill>
                      <a:srgbClr val="0B5E6E"/>
                    </a:solidFill>
                  </a:tcPr>
                </a:tc>
                <a:tc>
                  <a:txBody>
                    <a:bodyPr wrap="square"/>
                    <a:lstStyle/>
                    <a:p>
                      <a:r>
                        <a:rPr sz="950" b="1" i="0">
                          <a:solidFill>
                            <a:srgbClr val="FFFFFF"/>
                          </a:solidFill>
                          <a:latin typeface="Calibri (MS) Bold"/>
                        </a:rPr>
                        <a:t>Sumber</a:t>
                      </a:r>
                    </a:p>
                  </a:txBody>
                  <a:tcPr marL="73152" marR="73152" marT="36576" marB="36576" anchor="ctr">
                    <a:solidFill>
                      <a:srgbClr val="0B5E6E"/>
                    </a:solidFill>
                  </a:tcPr>
                </a:tc>
              </a:tr>
              <a:tr h="301752">
                <a:tc>
                  <a:txBody>
                    <a:bodyPr wrap="square"/>
                    <a:lstStyle/>
                    <a:p>
                      <a:r>
                        <a:rPr sz="950" b="0" i="0">
                          <a:solidFill>
                            <a:srgbClr val="14313B"/>
                          </a:solidFill>
                          <a:latin typeface="Calibri (MS)"/>
                        </a:rPr>
                        <a:t>Hotel &amp; akomodasi, bintang, nonbintang, kamar</a:t>
                      </a:r>
                    </a:p>
                  </a:txBody>
                  <a:tcPr marL="73152" marR="73152" marT="36576" marB="36576" anchor="ctr">
                    <a:solidFill>
                      <a:srgbClr val="FFFFFF"/>
                    </a:solidFill>
                  </a:tcPr>
                </a:tc>
                <a:tc>
                  <a:txBody>
                    <a:bodyPr wrap="square"/>
                    <a:lstStyle/>
                    <a:p>
                      <a:r>
                        <a:rPr sz="950" b="0" i="0">
                          <a:solidFill>
                            <a:srgbClr val="14313B"/>
                          </a:solidFill>
                          <a:latin typeface="Calibri (MS)"/>
                        </a:rPr>
                        <a:t>Unit / kamar</a:t>
                      </a:r>
                    </a:p>
                  </a:txBody>
                  <a:tcPr marL="73152" marR="73152" marT="36576" marB="36576" anchor="ctr">
                    <a:solidFill>
                      <a:srgbClr val="FFFFFF"/>
                    </a:solidFill>
                  </a:tcPr>
                </a:tc>
                <a:tc>
                  <a:txBody>
                    <a:bodyPr wrap="square"/>
                    <a:lstStyle/>
                    <a:p>
                      <a:r>
                        <a:rPr sz="950" b="0" i="0">
                          <a:solidFill>
                            <a:srgbClr val="14313B"/>
                          </a:solidFill>
                          <a:latin typeface="Calibri (MS)"/>
                        </a:rPr>
                        <a:t>Statistik Hotel dan Akomodasi Lainnya, BPS DIY</a:t>
                      </a:r>
                    </a:p>
                  </a:txBody>
                  <a:tcPr marL="73152" marR="73152" marT="36576" marB="36576" anchor="ctr">
                    <a:solidFill>
                      <a:srgbClr val="FFFFFF"/>
                    </a:solidFill>
                  </a:tcPr>
                </a:tc>
              </a:tr>
              <a:tr h="301752">
                <a:tc>
                  <a:txBody>
                    <a:bodyPr wrap="square"/>
                    <a:lstStyle/>
                    <a:p>
                      <a:r>
                        <a:rPr sz="950" b="0" i="0">
                          <a:solidFill>
                            <a:srgbClr val="14313B"/>
                          </a:solidFill>
                          <a:latin typeface="Calibri (MS)"/>
                        </a:rPr>
                        <a:t>TPK, TPG</a:t>
                      </a:r>
                    </a:p>
                  </a:txBody>
                  <a:tcPr marL="73152" marR="73152" marT="36576" marB="36576" anchor="ctr">
                    <a:solidFill>
                      <a:srgbClr val="EAF8FA"/>
                    </a:solidFill>
                  </a:tcPr>
                </a:tc>
                <a:tc>
                  <a:txBody>
                    <a:bodyPr wrap="square"/>
                    <a:lstStyle/>
                    <a:p>
                      <a:r>
                        <a:rPr sz="950" b="0" i="0">
                          <a:solidFill>
                            <a:srgbClr val="14313B"/>
                          </a:solidFill>
                          <a:latin typeface="Calibri (MS)"/>
                        </a:rPr>
                        <a:t>Persen / orang</a:t>
                      </a:r>
                    </a:p>
                  </a:txBody>
                  <a:tcPr marL="73152" marR="73152" marT="36576" marB="36576" anchor="ctr">
                    <a:solidFill>
                      <a:srgbClr val="EAF8FA"/>
                    </a:solidFill>
                  </a:tcPr>
                </a:tc>
                <a:tc>
                  <a:txBody>
                    <a:bodyPr wrap="square"/>
                    <a:lstStyle/>
                    <a:p>
                      <a:r>
                        <a:rPr sz="950" b="0" i="0">
                          <a:solidFill>
                            <a:srgbClr val="14313B"/>
                          </a:solidFill>
                          <a:latin typeface="Calibri (MS)"/>
                        </a:rPr>
                        <a:t>Publikasi Tingkat Penghunian Kamar, BPS DIY</a:t>
                      </a:r>
                    </a:p>
                  </a:txBody>
                  <a:tcPr marL="73152" marR="73152" marT="36576" marB="36576" anchor="ctr">
                    <a:solidFill>
                      <a:srgbClr val="EAF8FA"/>
                    </a:solidFill>
                  </a:tcPr>
                </a:tc>
              </a:tr>
            </a:tbl>
          </a:graphicData>
        </a:graphic>
      </p:graphicFrame>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Lampiran 7; [FIX] Master Data final.xlsx.</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5 · Data Historis 2015–2025 (3/3): ODTW, TK, Ekonomi, Lahan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yang dipakai model; sel kuning adalah hasil estimasi atau ekstrapolasi</a:t>
            </a:r>
          </a:p>
        </p:txBody>
      </p:sp>
      <p:graphicFrame>
        <p:nvGraphicFramePr>
          <p:cNvPr id="27" name="Table 26"/>
          <p:cNvGraphicFramePr>
            <a:graphicFrameLocks noGrp="1"/>
          </p:cNvGraphicFramePr>
          <p:nvPr/>
        </p:nvGraphicFramePr>
        <p:xfrm>
          <a:off x="822960" y="1920240"/>
          <a:ext cx="16642077" cy="4828032"/>
        </p:xfrm>
        <a:graphic>
          <a:graphicData uri="http://schemas.openxmlformats.org/drawingml/2006/table">
            <a:tbl>
              <a:tblPr firstRow="1" bandRow="1">
                <a:tableStyleId>{5C22544A-7EE6-4342-B048-85BDC9FD1C3A}</a:tableStyleId>
              </a:tblPr>
              <a:tblGrid>
                <a:gridCol w="990599"/>
                <a:gridCol w="2575560"/>
                <a:gridCol w="3368040"/>
                <a:gridCol w="2971799"/>
                <a:gridCol w="3566159"/>
                <a:gridCol w="3169920"/>
              </a:tblGrid>
              <a:tr h="402336">
                <a:tc>
                  <a:txBody>
                    <a:bodyPr wrap="square"/>
                    <a:lstStyle/>
                    <a:p>
                      <a:pPr algn="ctr"/>
                      <a:r>
                        <a:rPr sz="11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Jumlah ODTW (unit)</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Tenaga kerja pariwisata (jiwa)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Lahan terbangun (ha)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PDRB ADHK pariwisata (miliar Rp)</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Investasi pariwisata (miliar Rp)</a:t>
                      </a:r>
                    </a:p>
                  </a:txBody>
                  <a:tcPr marL="73152" marR="73152" marT="36576" marB="36576" anchor="ctr">
                    <a:solidFill>
                      <a:srgbClr val="0B5E6E"/>
                    </a:solidFill>
                  </a:tcPr>
                </a:tc>
              </a:tr>
              <a:tr h="402336">
                <a:tc>
                  <a:txBody>
                    <a:bodyPr wrap="square"/>
                    <a:lstStyle/>
                    <a:p>
                      <a:pPr algn="ctr"/>
                      <a:r>
                        <a:rPr sz="1100" b="0" i="0">
                          <a:solidFill>
                            <a:srgbClr val="14313B"/>
                          </a:solidFill>
                          <a:latin typeface="Calibri (MS)"/>
                        </a:rPr>
                        <a:t>2015</a:t>
                      </a:r>
                    </a:p>
                  </a:txBody>
                  <a:tcPr marL="73152" marR="73152" marT="36576" marB="36576" anchor="ctr">
                    <a:solidFill>
                      <a:srgbClr val="FFFFFF"/>
                    </a:solidFill>
                  </a:tcPr>
                </a:tc>
                <a:tc>
                  <a:txBody>
                    <a:bodyPr wrap="square"/>
                    <a:lstStyle/>
                    <a:p>
                      <a:pPr algn="ctr"/>
                      <a:r>
                        <a:rPr sz="1100" b="0" i="0">
                          <a:solidFill>
                            <a:srgbClr val="14313B"/>
                          </a:solidFill>
                          <a:latin typeface="Calibri (MS)"/>
                        </a:rPr>
                        <a:t>165</a:t>
                      </a:r>
                    </a:p>
                  </a:txBody>
                  <a:tcPr marL="73152" marR="73152" marT="36576" marB="36576" anchor="ctr">
                    <a:solidFill>
                      <a:srgbClr val="FFF1BF"/>
                    </a:solidFill>
                  </a:tcPr>
                </a:tc>
                <a:tc>
                  <a:txBody>
                    <a:bodyPr wrap="square"/>
                    <a:lstStyle/>
                    <a:p>
                      <a:pPr algn="ctr"/>
                      <a:r>
                        <a:rPr sz="1100" b="0" i="0">
                          <a:solidFill>
                            <a:srgbClr val="14313B"/>
                          </a:solidFill>
                          <a:latin typeface="Calibri (MS)"/>
                        </a:rPr>
                        <a:t>254.537</a:t>
                      </a:r>
                    </a:p>
                  </a:txBody>
                  <a:tcPr marL="73152" marR="73152" marT="36576" marB="36576" anchor="ctr">
                    <a:solidFill>
                      <a:srgbClr val="FFF1BF"/>
                    </a:solidFill>
                  </a:tcPr>
                </a:tc>
                <a:tc>
                  <a:txBody>
                    <a:bodyPr wrap="square"/>
                    <a:lstStyle/>
                    <a:p>
                      <a:pPr algn="ctr"/>
                      <a:r>
                        <a:rPr sz="1100" b="0" i="0">
                          <a:solidFill>
                            <a:srgbClr val="14313B"/>
                          </a:solidFill>
                          <a:latin typeface="Calibri (MS)"/>
                        </a:rPr>
                        <a:t>43.037,00</a:t>
                      </a:r>
                    </a:p>
                  </a:txBody>
                  <a:tcPr marL="73152" marR="73152" marT="36576" marB="36576" anchor="ctr">
                    <a:solidFill>
                      <a:srgbClr val="FFF1BF"/>
                    </a:solidFill>
                  </a:tcPr>
                </a:tc>
                <a:tc>
                  <a:txBody>
                    <a:bodyPr wrap="square"/>
                    <a:lstStyle/>
                    <a:p>
                      <a:pPr algn="ctr"/>
                      <a:r>
                        <a:rPr sz="1100" b="0" i="0">
                          <a:solidFill>
                            <a:srgbClr val="14313B"/>
                          </a:solidFill>
                          <a:latin typeface="Calibri (MS)"/>
                        </a:rPr>
                        <a:t>10.131,09</a:t>
                      </a:r>
                    </a:p>
                  </a:txBody>
                  <a:tcPr marL="73152" marR="73152" marT="36576" marB="36576" anchor="ctr">
                    <a:solidFill>
                      <a:srgbClr val="FFFFFF"/>
                    </a:solidFill>
                  </a:tcPr>
                </a:tc>
                <a:tc>
                  <a:txBody>
                    <a:bodyPr wrap="square"/>
                    <a:lstStyle/>
                    <a:p>
                      <a:pPr algn="ctr"/>
                      <a:r>
                        <a:rPr sz="1100" b="0" i="0">
                          <a:solidFill>
                            <a:srgbClr val="14313B"/>
                          </a:solidFill>
                          <a:latin typeface="Calibri (MS)"/>
                        </a:rPr>
                        <a:t>53,09</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2016</a:t>
                      </a:r>
                    </a:p>
                  </a:txBody>
                  <a:tcPr marL="73152" marR="73152" marT="36576" marB="36576" anchor="ctr">
                    <a:solidFill>
                      <a:srgbClr val="EAF8FA"/>
                    </a:solidFill>
                  </a:tcPr>
                </a:tc>
                <a:tc>
                  <a:txBody>
                    <a:bodyPr wrap="square"/>
                    <a:lstStyle/>
                    <a:p>
                      <a:pPr algn="ctr"/>
                      <a:r>
                        <a:rPr sz="1100" b="0" i="0">
                          <a:solidFill>
                            <a:srgbClr val="14313B"/>
                          </a:solidFill>
                          <a:latin typeface="Calibri (MS)"/>
                        </a:rPr>
                        <a:t>158</a:t>
                      </a:r>
                    </a:p>
                  </a:txBody>
                  <a:tcPr marL="73152" marR="73152" marT="36576" marB="36576" anchor="ctr">
                    <a:solidFill>
                      <a:srgbClr val="FFF1BF"/>
                    </a:solidFill>
                  </a:tcPr>
                </a:tc>
                <a:tc>
                  <a:txBody>
                    <a:bodyPr wrap="square"/>
                    <a:lstStyle/>
                    <a:p>
                      <a:pPr algn="ctr"/>
                      <a:r>
                        <a:rPr sz="1100" b="0" i="0">
                          <a:solidFill>
                            <a:srgbClr val="14313B"/>
                          </a:solidFill>
                          <a:latin typeface="Calibri (MS)"/>
                        </a:rPr>
                        <a:t>263.878</a:t>
                      </a:r>
                    </a:p>
                  </a:txBody>
                  <a:tcPr marL="73152" marR="73152" marT="36576" marB="36576" anchor="ctr">
                    <a:solidFill>
                      <a:srgbClr val="FFF1BF"/>
                    </a:solidFill>
                  </a:tcPr>
                </a:tc>
                <a:tc>
                  <a:txBody>
                    <a:bodyPr wrap="square"/>
                    <a:lstStyle/>
                    <a:p>
                      <a:pPr algn="ctr"/>
                      <a:r>
                        <a:rPr sz="1100" b="0" i="0">
                          <a:solidFill>
                            <a:srgbClr val="14313B"/>
                          </a:solidFill>
                          <a:latin typeface="Calibri (MS)"/>
                        </a:rPr>
                        <a:t>44.561,08</a:t>
                      </a:r>
                    </a:p>
                  </a:txBody>
                  <a:tcPr marL="73152" marR="73152" marT="36576" marB="36576" anchor="ctr">
                    <a:solidFill>
                      <a:srgbClr val="EAF8FA"/>
                    </a:solidFill>
                  </a:tcPr>
                </a:tc>
                <a:tc>
                  <a:txBody>
                    <a:bodyPr wrap="square"/>
                    <a:lstStyle/>
                    <a:p>
                      <a:pPr algn="ctr"/>
                      <a:r>
                        <a:rPr sz="1100" b="0" i="0">
                          <a:solidFill>
                            <a:srgbClr val="14313B"/>
                          </a:solidFill>
                          <a:latin typeface="Calibri (MS)"/>
                        </a:rPr>
                        <a:t>10.694,03</a:t>
                      </a:r>
                    </a:p>
                  </a:txBody>
                  <a:tcPr marL="73152" marR="73152" marT="36576" marB="36576" anchor="ctr">
                    <a:solidFill>
                      <a:srgbClr val="EAF8FA"/>
                    </a:solidFill>
                  </a:tcPr>
                </a:tc>
                <a:tc>
                  <a:txBody>
                    <a:bodyPr wrap="square"/>
                    <a:lstStyle/>
                    <a:p>
                      <a:pPr algn="ctr"/>
                      <a:r>
                        <a:rPr sz="1100" b="0" i="0">
                          <a:solidFill>
                            <a:srgbClr val="14313B"/>
                          </a:solidFill>
                          <a:latin typeface="Calibri (MS)"/>
                        </a:rPr>
                        <a:t>373,84</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2017</a:t>
                      </a:r>
                    </a:p>
                  </a:txBody>
                  <a:tcPr marL="73152" marR="73152" marT="36576" marB="36576" anchor="ctr">
                    <a:solidFill>
                      <a:srgbClr val="FFFFFF"/>
                    </a:solidFill>
                  </a:tcPr>
                </a:tc>
                <a:tc>
                  <a:txBody>
                    <a:bodyPr wrap="square"/>
                    <a:lstStyle/>
                    <a:p>
                      <a:pPr algn="ctr"/>
                      <a:r>
                        <a:rPr sz="1100" b="0" i="0">
                          <a:solidFill>
                            <a:srgbClr val="14313B"/>
                          </a:solidFill>
                          <a:latin typeface="Calibri (MS)"/>
                        </a:rPr>
                        <a:t>171</a:t>
                      </a:r>
                    </a:p>
                  </a:txBody>
                  <a:tcPr marL="73152" marR="73152" marT="36576" marB="36576" anchor="ctr">
                    <a:solidFill>
                      <a:srgbClr val="FFF1BF"/>
                    </a:solidFill>
                  </a:tcPr>
                </a:tc>
                <a:tc>
                  <a:txBody>
                    <a:bodyPr wrap="square"/>
                    <a:lstStyle/>
                    <a:p>
                      <a:pPr algn="ctr"/>
                      <a:r>
                        <a:rPr sz="1100" b="0" i="0">
                          <a:solidFill>
                            <a:srgbClr val="14313B"/>
                          </a:solidFill>
                          <a:latin typeface="Calibri (MS)"/>
                        </a:rPr>
                        <a:t>273.563</a:t>
                      </a:r>
                    </a:p>
                  </a:txBody>
                  <a:tcPr marL="73152" marR="73152" marT="36576" marB="36576" anchor="ctr">
                    <a:solidFill>
                      <a:srgbClr val="FFFFFF"/>
                    </a:solidFill>
                  </a:tcPr>
                </a:tc>
                <a:tc>
                  <a:txBody>
                    <a:bodyPr wrap="square"/>
                    <a:lstStyle/>
                    <a:p>
                      <a:pPr algn="ctr"/>
                      <a:r>
                        <a:rPr sz="1100" b="0" i="0">
                          <a:solidFill>
                            <a:srgbClr val="14313B"/>
                          </a:solidFill>
                          <a:latin typeface="Calibri (MS)"/>
                        </a:rPr>
                        <a:t>50.223,96</a:t>
                      </a:r>
                    </a:p>
                  </a:txBody>
                  <a:tcPr marL="73152" marR="73152" marT="36576" marB="36576" anchor="ctr">
                    <a:solidFill>
                      <a:srgbClr val="FFFFFF"/>
                    </a:solidFill>
                  </a:tcPr>
                </a:tc>
                <a:tc>
                  <a:txBody>
                    <a:bodyPr wrap="square"/>
                    <a:lstStyle/>
                    <a:p>
                      <a:pPr algn="ctr"/>
                      <a:r>
                        <a:rPr sz="1100" b="0" i="0">
                          <a:solidFill>
                            <a:srgbClr val="14313B"/>
                          </a:solidFill>
                          <a:latin typeface="Calibri (MS)"/>
                        </a:rPr>
                        <a:t>11.347,59</a:t>
                      </a:r>
                    </a:p>
                  </a:txBody>
                  <a:tcPr marL="73152" marR="73152" marT="36576" marB="36576" anchor="ctr">
                    <a:solidFill>
                      <a:srgbClr val="FFFFFF"/>
                    </a:solidFill>
                  </a:tcPr>
                </a:tc>
                <a:tc>
                  <a:txBody>
                    <a:bodyPr wrap="square"/>
                    <a:lstStyle/>
                    <a:p>
                      <a:pPr algn="ctr"/>
                      <a:r>
                        <a:rPr sz="1100" b="0" i="0">
                          <a:solidFill>
                            <a:srgbClr val="14313B"/>
                          </a:solidFill>
                          <a:latin typeface="Calibri (MS)"/>
                        </a:rPr>
                        <a:t>165,39</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2018</a:t>
                      </a:r>
                    </a:p>
                  </a:txBody>
                  <a:tcPr marL="73152" marR="73152" marT="36576" marB="36576" anchor="ctr">
                    <a:solidFill>
                      <a:srgbClr val="EAF8FA"/>
                    </a:solidFill>
                  </a:tcPr>
                </a:tc>
                <a:tc>
                  <a:txBody>
                    <a:bodyPr wrap="square"/>
                    <a:lstStyle/>
                    <a:p>
                      <a:pPr algn="ctr"/>
                      <a:r>
                        <a:rPr sz="1100" b="0" i="0">
                          <a:solidFill>
                            <a:srgbClr val="14313B"/>
                          </a:solidFill>
                          <a:latin typeface="Calibri (MS)"/>
                        </a:rPr>
                        <a:t>177</a:t>
                      </a:r>
                    </a:p>
                  </a:txBody>
                  <a:tcPr marL="73152" marR="73152" marT="36576" marB="36576" anchor="ctr">
                    <a:solidFill>
                      <a:srgbClr val="EAF8FA"/>
                    </a:solidFill>
                  </a:tcPr>
                </a:tc>
                <a:tc>
                  <a:txBody>
                    <a:bodyPr wrap="square"/>
                    <a:lstStyle/>
                    <a:p>
                      <a:pPr algn="ctr"/>
                      <a:r>
                        <a:rPr sz="1100" b="0" i="0">
                          <a:solidFill>
                            <a:srgbClr val="14313B"/>
                          </a:solidFill>
                          <a:latin typeface="Calibri (MS)"/>
                        </a:rPr>
                        <a:t>354.684</a:t>
                      </a:r>
                    </a:p>
                  </a:txBody>
                  <a:tcPr marL="73152" marR="73152" marT="36576" marB="36576" anchor="ctr">
                    <a:solidFill>
                      <a:srgbClr val="EAF8FA"/>
                    </a:solidFill>
                  </a:tcPr>
                </a:tc>
                <a:tc>
                  <a:txBody>
                    <a:bodyPr wrap="square"/>
                    <a:lstStyle/>
                    <a:p>
                      <a:pPr algn="ctr"/>
                      <a:r>
                        <a:rPr sz="1100" b="0" i="0">
                          <a:solidFill>
                            <a:srgbClr val="14313B"/>
                          </a:solidFill>
                          <a:latin typeface="Calibri (MS)"/>
                        </a:rPr>
                        <a:t>56.624,36</a:t>
                      </a:r>
                    </a:p>
                  </a:txBody>
                  <a:tcPr marL="73152" marR="73152" marT="36576" marB="36576" anchor="ctr">
                    <a:solidFill>
                      <a:srgbClr val="EAF8FA"/>
                    </a:solidFill>
                  </a:tcPr>
                </a:tc>
                <a:tc>
                  <a:txBody>
                    <a:bodyPr wrap="square"/>
                    <a:lstStyle/>
                    <a:p>
                      <a:pPr algn="ctr"/>
                      <a:r>
                        <a:rPr sz="1100" b="0" i="0">
                          <a:solidFill>
                            <a:srgbClr val="14313B"/>
                          </a:solidFill>
                          <a:latin typeface="Calibri (MS)"/>
                        </a:rPr>
                        <a:t>12.100,99</a:t>
                      </a:r>
                    </a:p>
                  </a:txBody>
                  <a:tcPr marL="73152" marR="73152" marT="36576" marB="36576" anchor="ctr">
                    <a:solidFill>
                      <a:srgbClr val="EAF8FA"/>
                    </a:solidFill>
                  </a:tcPr>
                </a:tc>
                <a:tc>
                  <a:txBody>
                    <a:bodyPr wrap="square"/>
                    <a:lstStyle/>
                    <a:p>
                      <a:pPr algn="ctr"/>
                      <a:r>
                        <a:rPr sz="1100" b="0" i="0">
                          <a:solidFill>
                            <a:srgbClr val="14313B"/>
                          </a:solidFill>
                          <a:latin typeface="Calibri (MS)"/>
                        </a:rPr>
                        <a:t>568,33</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2019</a:t>
                      </a:r>
                    </a:p>
                  </a:txBody>
                  <a:tcPr marL="73152" marR="73152" marT="36576" marB="36576" anchor="ctr">
                    <a:solidFill>
                      <a:srgbClr val="FFFFFF"/>
                    </a:solidFill>
                  </a:tcPr>
                </a:tc>
                <a:tc>
                  <a:txBody>
                    <a:bodyPr wrap="square"/>
                    <a:lstStyle/>
                    <a:p>
                      <a:pPr algn="ctr"/>
                      <a:r>
                        <a:rPr sz="1100" b="0" i="0">
                          <a:solidFill>
                            <a:srgbClr val="14313B"/>
                          </a:solidFill>
                          <a:latin typeface="Calibri (MS)"/>
                        </a:rPr>
                        <a:t>189</a:t>
                      </a:r>
                    </a:p>
                  </a:txBody>
                  <a:tcPr marL="73152" marR="73152" marT="36576" marB="36576" anchor="ctr">
                    <a:solidFill>
                      <a:srgbClr val="FFFFFF"/>
                    </a:solidFill>
                  </a:tcPr>
                </a:tc>
                <a:tc>
                  <a:txBody>
                    <a:bodyPr wrap="square"/>
                    <a:lstStyle/>
                    <a:p>
                      <a:pPr algn="ctr"/>
                      <a:r>
                        <a:rPr sz="1100" b="0" i="0">
                          <a:solidFill>
                            <a:srgbClr val="14313B"/>
                          </a:solidFill>
                          <a:latin typeface="Calibri (MS)"/>
                        </a:rPr>
                        <a:t>334.784</a:t>
                      </a:r>
                    </a:p>
                  </a:txBody>
                  <a:tcPr marL="73152" marR="73152" marT="36576" marB="36576" anchor="ctr">
                    <a:solidFill>
                      <a:srgbClr val="FFFFFF"/>
                    </a:solidFill>
                  </a:tcPr>
                </a:tc>
                <a:tc>
                  <a:txBody>
                    <a:bodyPr wrap="square"/>
                    <a:lstStyle/>
                    <a:p>
                      <a:pPr algn="ctr"/>
                      <a:r>
                        <a:rPr sz="1100" b="0" i="0">
                          <a:solidFill>
                            <a:srgbClr val="14313B"/>
                          </a:solidFill>
                          <a:latin typeface="Calibri (MS)"/>
                        </a:rPr>
                        <a:t>63.480,04</a:t>
                      </a:r>
                    </a:p>
                  </a:txBody>
                  <a:tcPr marL="73152" marR="73152" marT="36576" marB="36576" anchor="ctr">
                    <a:solidFill>
                      <a:srgbClr val="FFFFFF"/>
                    </a:solidFill>
                  </a:tcPr>
                </a:tc>
                <a:tc>
                  <a:txBody>
                    <a:bodyPr wrap="square"/>
                    <a:lstStyle/>
                    <a:p>
                      <a:pPr algn="ctr"/>
                      <a:r>
                        <a:rPr sz="1100" b="0" i="0">
                          <a:solidFill>
                            <a:srgbClr val="14313B"/>
                          </a:solidFill>
                          <a:latin typeface="Calibri (MS)"/>
                        </a:rPr>
                        <a:t>13.104,38</a:t>
                      </a:r>
                    </a:p>
                  </a:txBody>
                  <a:tcPr marL="73152" marR="73152" marT="36576" marB="36576" anchor="ctr">
                    <a:solidFill>
                      <a:srgbClr val="FFFFFF"/>
                    </a:solidFill>
                  </a:tcPr>
                </a:tc>
                <a:tc>
                  <a:txBody>
                    <a:bodyPr wrap="square"/>
                    <a:lstStyle/>
                    <a:p>
                      <a:pPr algn="ctr"/>
                      <a:r>
                        <a:rPr sz="1100" b="0" i="0">
                          <a:solidFill>
                            <a:srgbClr val="14313B"/>
                          </a:solidFill>
                          <a:latin typeface="Calibri (MS)"/>
                        </a:rPr>
                        <a:t>741,45</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2020</a:t>
                      </a:r>
                    </a:p>
                  </a:txBody>
                  <a:tcPr marL="73152" marR="73152" marT="36576" marB="36576" anchor="ctr">
                    <a:solidFill>
                      <a:srgbClr val="EAF8FA"/>
                    </a:solidFill>
                  </a:tcPr>
                </a:tc>
                <a:tc>
                  <a:txBody>
                    <a:bodyPr wrap="square"/>
                    <a:lstStyle/>
                    <a:p>
                      <a:pPr algn="ctr"/>
                      <a:r>
                        <a:rPr sz="1100" b="0" i="0">
                          <a:solidFill>
                            <a:srgbClr val="14313B"/>
                          </a:solidFill>
                          <a:latin typeface="Calibri (MS)"/>
                        </a:rPr>
                        <a:t>180</a:t>
                      </a:r>
                    </a:p>
                  </a:txBody>
                  <a:tcPr marL="73152" marR="73152" marT="36576" marB="36576" anchor="ctr">
                    <a:solidFill>
                      <a:srgbClr val="EAF8FA"/>
                    </a:solidFill>
                  </a:tcPr>
                </a:tc>
                <a:tc>
                  <a:txBody>
                    <a:bodyPr wrap="square"/>
                    <a:lstStyle/>
                    <a:p>
                      <a:pPr algn="ctr"/>
                      <a:r>
                        <a:rPr sz="1100" b="0" i="0">
                          <a:solidFill>
                            <a:srgbClr val="14313B"/>
                          </a:solidFill>
                          <a:latin typeface="Calibri (MS)"/>
                        </a:rPr>
                        <a:t>313.840</a:t>
                      </a:r>
                    </a:p>
                  </a:txBody>
                  <a:tcPr marL="73152" marR="73152" marT="36576" marB="36576" anchor="ctr">
                    <a:solidFill>
                      <a:srgbClr val="EAF8FA"/>
                    </a:solidFill>
                  </a:tcPr>
                </a:tc>
                <a:tc>
                  <a:txBody>
                    <a:bodyPr wrap="square"/>
                    <a:lstStyle/>
                    <a:p>
                      <a:pPr algn="ctr"/>
                      <a:r>
                        <a:rPr sz="1100" b="0" i="0">
                          <a:solidFill>
                            <a:srgbClr val="14313B"/>
                          </a:solidFill>
                          <a:latin typeface="Calibri (MS)"/>
                        </a:rPr>
                        <a:t>58.962,04</a:t>
                      </a:r>
                    </a:p>
                  </a:txBody>
                  <a:tcPr marL="73152" marR="73152" marT="36576" marB="36576" anchor="ctr">
                    <a:solidFill>
                      <a:srgbClr val="EAF8FA"/>
                    </a:solidFill>
                  </a:tcPr>
                </a:tc>
                <a:tc>
                  <a:txBody>
                    <a:bodyPr wrap="square"/>
                    <a:lstStyle/>
                    <a:p>
                      <a:pPr algn="ctr"/>
                      <a:r>
                        <a:rPr sz="1100" b="0" i="0">
                          <a:solidFill>
                            <a:srgbClr val="14313B"/>
                          </a:solidFill>
                          <a:latin typeface="Calibri (MS)"/>
                        </a:rPr>
                        <a:t>10.926,83</a:t>
                      </a:r>
                    </a:p>
                  </a:txBody>
                  <a:tcPr marL="73152" marR="73152" marT="36576" marB="36576" anchor="ctr">
                    <a:solidFill>
                      <a:srgbClr val="EAF8FA"/>
                    </a:solidFill>
                  </a:tcPr>
                </a:tc>
                <a:tc>
                  <a:txBody>
                    <a:bodyPr wrap="square"/>
                    <a:lstStyle/>
                    <a:p>
                      <a:pPr algn="ctr"/>
                      <a:r>
                        <a:rPr sz="1100" b="0" i="0">
                          <a:solidFill>
                            <a:srgbClr val="14313B"/>
                          </a:solidFill>
                          <a:latin typeface="Calibri (MS)"/>
                        </a:rPr>
                        <a:t>489,69</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2021</a:t>
                      </a:r>
                    </a:p>
                  </a:txBody>
                  <a:tcPr marL="73152" marR="73152" marT="36576" marB="36576" anchor="ctr">
                    <a:solidFill>
                      <a:srgbClr val="FFFFFF"/>
                    </a:solidFill>
                  </a:tcPr>
                </a:tc>
                <a:tc>
                  <a:txBody>
                    <a:bodyPr wrap="square"/>
                    <a:lstStyle/>
                    <a:p>
                      <a:pPr algn="ctr"/>
                      <a:r>
                        <a:rPr sz="1100" b="0" i="0">
                          <a:solidFill>
                            <a:srgbClr val="14313B"/>
                          </a:solidFill>
                          <a:latin typeface="Calibri (MS)"/>
                        </a:rPr>
                        <a:t>170</a:t>
                      </a:r>
                    </a:p>
                  </a:txBody>
                  <a:tcPr marL="73152" marR="73152" marT="36576" marB="36576" anchor="ctr">
                    <a:solidFill>
                      <a:srgbClr val="FFFFFF"/>
                    </a:solidFill>
                  </a:tcPr>
                </a:tc>
                <a:tc>
                  <a:txBody>
                    <a:bodyPr wrap="square"/>
                    <a:lstStyle/>
                    <a:p>
                      <a:pPr algn="ctr"/>
                      <a:r>
                        <a:rPr sz="1100" b="0" i="0">
                          <a:solidFill>
                            <a:srgbClr val="14313B"/>
                          </a:solidFill>
                          <a:latin typeface="Calibri (MS)"/>
                        </a:rPr>
                        <a:t>310.755</a:t>
                      </a:r>
                    </a:p>
                  </a:txBody>
                  <a:tcPr marL="73152" marR="73152" marT="36576" marB="36576" anchor="ctr">
                    <a:solidFill>
                      <a:srgbClr val="FFFFFF"/>
                    </a:solidFill>
                  </a:tcPr>
                </a:tc>
                <a:tc>
                  <a:txBody>
                    <a:bodyPr wrap="square"/>
                    <a:lstStyle/>
                    <a:p>
                      <a:pPr algn="ctr"/>
                      <a:r>
                        <a:rPr sz="1100" b="0" i="0">
                          <a:solidFill>
                            <a:srgbClr val="14313B"/>
                          </a:solidFill>
                          <a:latin typeface="Calibri (MS)"/>
                        </a:rPr>
                        <a:t>59.887,53</a:t>
                      </a:r>
                    </a:p>
                  </a:txBody>
                  <a:tcPr marL="73152" marR="73152" marT="36576" marB="36576" anchor="ctr">
                    <a:solidFill>
                      <a:srgbClr val="FFFFFF"/>
                    </a:solidFill>
                  </a:tcPr>
                </a:tc>
                <a:tc>
                  <a:txBody>
                    <a:bodyPr wrap="square"/>
                    <a:lstStyle/>
                    <a:p>
                      <a:pPr algn="ctr"/>
                      <a:r>
                        <a:rPr sz="1100" b="0" i="0">
                          <a:solidFill>
                            <a:srgbClr val="14313B"/>
                          </a:solidFill>
                          <a:latin typeface="Calibri (MS)"/>
                        </a:rPr>
                        <a:t>12.097,19</a:t>
                      </a:r>
                    </a:p>
                  </a:txBody>
                  <a:tcPr marL="73152" marR="73152" marT="36576" marB="36576" anchor="ctr">
                    <a:solidFill>
                      <a:srgbClr val="FFFFFF"/>
                    </a:solidFill>
                  </a:tcPr>
                </a:tc>
                <a:tc>
                  <a:txBody>
                    <a:bodyPr wrap="square"/>
                    <a:lstStyle/>
                    <a:p>
                      <a:pPr algn="ctr"/>
                      <a:r>
                        <a:rPr sz="1100" b="0" i="0">
                          <a:solidFill>
                            <a:srgbClr val="14313B"/>
                          </a:solidFill>
                          <a:latin typeface="Calibri (MS)"/>
                        </a:rPr>
                        <a:t>848,80</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2022</a:t>
                      </a:r>
                    </a:p>
                  </a:txBody>
                  <a:tcPr marL="73152" marR="73152" marT="36576" marB="36576" anchor="ctr">
                    <a:solidFill>
                      <a:srgbClr val="EAF8FA"/>
                    </a:solidFill>
                  </a:tcPr>
                </a:tc>
                <a:tc>
                  <a:txBody>
                    <a:bodyPr wrap="square"/>
                    <a:lstStyle/>
                    <a:p>
                      <a:pPr algn="ctr"/>
                      <a:r>
                        <a:rPr sz="1100" b="0" i="0">
                          <a:solidFill>
                            <a:srgbClr val="14313B"/>
                          </a:solidFill>
                          <a:latin typeface="Calibri (MS)"/>
                        </a:rPr>
                        <a:t>183</a:t>
                      </a:r>
                    </a:p>
                  </a:txBody>
                  <a:tcPr marL="73152" marR="73152" marT="36576" marB="36576" anchor="ctr">
                    <a:solidFill>
                      <a:srgbClr val="EAF8FA"/>
                    </a:solidFill>
                  </a:tcPr>
                </a:tc>
                <a:tc>
                  <a:txBody>
                    <a:bodyPr wrap="square"/>
                    <a:lstStyle/>
                    <a:p>
                      <a:pPr algn="ctr"/>
                      <a:r>
                        <a:rPr sz="1100" b="0" i="0">
                          <a:solidFill>
                            <a:srgbClr val="14313B"/>
                          </a:solidFill>
                          <a:latin typeface="Calibri (MS)"/>
                        </a:rPr>
                        <a:t>395.284</a:t>
                      </a:r>
                    </a:p>
                  </a:txBody>
                  <a:tcPr marL="73152" marR="73152" marT="36576" marB="36576" anchor="ctr">
                    <a:solidFill>
                      <a:srgbClr val="EAF8FA"/>
                    </a:solidFill>
                  </a:tcPr>
                </a:tc>
                <a:tc>
                  <a:txBody>
                    <a:bodyPr wrap="square"/>
                    <a:lstStyle/>
                    <a:p>
                      <a:pPr algn="ctr"/>
                      <a:r>
                        <a:rPr sz="1100" b="0" i="0">
                          <a:solidFill>
                            <a:srgbClr val="14313B"/>
                          </a:solidFill>
                          <a:latin typeface="Calibri (MS)"/>
                        </a:rPr>
                        <a:t>57.709,08</a:t>
                      </a:r>
                    </a:p>
                  </a:txBody>
                  <a:tcPr marL="73152" marR="73152" marT="36576" marB="36576" anchor="ctr">
                    <a:solidFill>
                      <a:srgbClr val="EAF8FA"/>
                    </a:solidFill>
                  </a:tcPr>
                </a:tc>
                <a:tc>
                  <a:txBody>
                    <a:bodyPr wrap="square"/>
                    <a:lstStyle/>
                    <a:p>
                      <a:pPr algn="ctr"/>
                      <a:r>
                        <a:rPr sz="1100" b="0" i="0">
                          <a:solidFill>
                            <a:srgbClr val="14313B"/>
                          </a:solidFill>
                          <a:latin typeface="Calibri (MS)"/>
                        </a:rPr>
                        <a:t>13.672,58</a:t>
                      </a:r>
                    </a:p>
                  </a:txBody>
                  <a:tcPr marL="73152" marR="73152" marT="36576" marB="36576" anchor="ctr">
                    <a:solidFill>
                      <a:srgbClr val="EAF8FA"/>
                    </a:solidFill>
                  </a:tcPr>
                </a:tc>
                <a:tc>
                  <a:txBody>
                    <a:bodyPr wrap="square"/>
                    <a:lstStyle/>
                    <a:p>
                      <a:pPr algn="ctr"/>
                      <a:r>
                        <a:rPr sz="1100" b="0" i="0">
                          <a:solidFill>
                            <a:srgbClr val="14313B"/>
                          </a:solidFill>
                          <a:latin typeface="Calibri (MS)"/>
                        </a:rPr>
                        <a:t>463,59</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2023</a:t>
                      </a:r>
                    </a:p>
                  </a:txBody>
                  <a:tcPr marL="73152" marR="73152" marT="36576" marB="36576" anchor="ctr">
                    <a:solidFill>
                      <a:srgbClr val="FFFFFF"/>
                    </a:solidFill>
                  </a:tcPr>
                </a:tc>
                <a:tc>
                  <a:txBody>
                    <a:bodyPr wrap="square"/>
                    <a:lstStyle/>
                    <a:p>
                      <a:pPr algn="ctr"/>
                      <a:r>
                        <a:rPr sz="1100" b="0" i="0">
                          <a:solidFill>
                            <a:srgbClr val="14313B"/>
                          </a:solidFill>
                          <a:latin typeface="Calibri (MS)"/>
                        </a:rPr>
                        <a:t>201</a:t>
                      </a:r>
                    </a:p>
                  </a:txBody>
                  <a:tcPr marL="73152" marR="73152" marT="36576" marB="36576" anchor="ctr">
                    <a:solidFill>
                      <a:srgbClr val="FFFFFF"/>
                    </a:solidFill>
                  </a:tcPr>
                </a:tc>
                <a:tc>
                  <a:txBody>
                    <a:bodyPr wrap="square"/>
                    <a:lstStyle/>
                    <a:p>
                      <a:pPr algn="ctr"/>
                      <a:r>
                        <a:rPr sz="1100" b="0" i="0">
                          <a:solidFill>
                            <a:srgbClr val="14313B"/>
                          </a:solidFill>
                          <a:latin typeface="Calibri (MS)"/>
                        </a:rPr>
                        <a:t>359.340</a:t>
                      </a:r>
                    </a:p>
                  </a:txBody>
                  <a:tcPr marL="73152" marR="73152" marT="36576" marB="36576" anchor="ctr">
                    <a:solidFill>
                      <a:srgbClr val="FFFFFF"/>
                    </a:solidFill>
                  </a:tcPr>
                </a:tc>
                <a:tc>
                  <a:txBody>
                    <a:bodyPr wrap="square"/>
                    <a:lstStyle/>
                    <a:p>
                      <a:pPr algn="ctr"/>
                      <a:r>
                        <a:rPr sz="1100" b="0" i="0">
                          <a:solidFill>
                            <a:srgbClr val="14313B"/>
                          </a:solidFill>
                          <a:latin typeface="Calibri (MS)"/>
                        </a:rPr>
                        <a:t>75.624,40</a:t>
                      </a:r>
                    </a:p>
                  </a:txBody>
                  <a:tcPr marL="73152" marR="73152" marT="36576" marB="36576" anchor="ctr">
                    <a:solidFill>
                      <a:srgbClr val="FFFFFF"/>
                    </a:solidFill>
                  </a:tcPr>
                </a:tc>
                <a:tc>
                  <a:txBody>
                    <a:bodyPr wrap="square"/>
                    <a:lstStyle/>
                    <a:p>
                      <a:pPr algn="ctr"/>
                      <a:r>
                        <a:rPr sz="1100" b="0" i="0">
                          <a:solidFill>
                            <a:srgbClr val="14313B"/>
                          </a:solidFill>
                          <a:latin typeface="Calibri (MS)"/>
                        </a:rPr>
                        <a:t>14.809,20</a:t>
                      </a:r>
                    </a:p>
                  </a:txBody>
                  <a:tcPr marL="73152" marR="73152" marT="36576" marB="36576" anchor="ctr">
                    <a:solidFill>
                      <a:srgbClr val="FFFFFF"/>
                    </a:solidFill>
                  </a:tcPr>
                </a:tc>
                <a:tc>
                  <a:txBody>
                    <a:bodyPr wrap="square"/>
                    <a:lstStyle/>
                    <a:p>
                      <a:pPr algn="ctr"/>
                      <a:r>
                        <a:rPr sz="1100" b="0" i="0">
                          <a:solidFill>
                            <a:srgbClr val="14313B"/>
                          </a:solidFill>
                          <a:latin typeface="Calibri (MS)"/>
                        </a:rPr>
                        <a:t>1.175,26</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2024</a:t>
                      </a:r>
                    </a:p>
                  </a:txBody>
                  <a:tcPr marL="73152" marR="73152" marT="36576" marB="36576" anchor="ctr">
                    <a:solidFill>
                      <a:srgbClr val="EAF8FA"/>
                    </a:solidFill>
                  </a:tcPr>
                </a:tc>
                <a:tc>
                  <a:txBody>
                    <a:bodyPr wrap="square"/>
                    <a:lstStyle/>
                    <a:p>
                      <a:pPr algn="ctr"/>
                      <a:r>
                        <a:rPr sz="1100" b="0" i="0">
                          <a:solidFill>
                            <a:srgbClr val="14313B"/>
                          </a:solidFill>
                          <a:latin typeface="Calibri (MS)"/>
                        </a:rPr>
                        <a:t>218</a:t>
                      </a:r>
                    </a:p>
                  </a:txBody>
                  <a:tcPr marL="73152" marR="73152" marT="36576" marB="36576" anchor="ctr">
                    <a:solidFill>
                      <a:srgbClr val="EAF8FA"/>
                    </a:solidFill>
                  </a:tcPr>
                </a:tc>
                <a:tc>
                  <a:txBody>
                    <a:bodyPr wrap="square"/>
                    <a:lstStyle/>
                    <a:p>
                      <a:pPr algn="ctr"/>
                      <a:r>
                        <a:rPr sz="1100" b="0" i="0">
                          <a:solidFill>
                            <a:srgbClr val="14313B"/>
                          </a:solidFill>
                          <a:latin typeface="Calibri (MS)"/>
                        </a:rPr>
                        <a:t>350.946</a:t>
                      </a:r>
                    </a:p>
                  </a:txBody>
                  <a:tcPr marL="73152" marR="73152" marT="36576" marB="36576" anchor="ctr">
                    <a:solidFill>
                      <a:srgbClr val="EAF8FA"/>
                    </a:solidFill>
                  </a:tcPr>
                </a:tc>
                <a:tc>
                  <a:txBody>
                    <a:bodyPr wrap="square"/>
                    <a:lstStyle/>
                    <a:p>
                      <a:pPr algn="ctr"/>
                      <a:r>
                        <a:rPr sz="1100" b="0" i="0">
                          <a:solidFill>
                            <a:srgbClr val="14313B"/>
                          </a:solidFill>
                          <a:latin typeface="Calibri (MS)"/>
                        </a:rPr>
                        <a:t>73.511,57</a:t>
                      </a:r>
                    </a:p>
                  </a:txBody>
                  <a:tcPr marL="73152" marR="73152" marT="36576" marB="36576" anchor="ctr">
                    <a:solidFill>
                      <a:srgbClr val="EAF8FA"/>
                    </a:solidFill>
                  </a:tcPr>
                </a:tc>
                <a:tc>
                  <a:txBody>
                    <a:bodyPr wrap="square"/>
                    <a:lstStyle/>
                    <a:p>
                      <a:pPr algn="ctr"/>
                      <a:r>
                        <a:rPr sz="1100" b="0" i="0">
                          <a:solidFill>
                            <a:srgbClr val="14313B"/>
                          </a:solidFill>
                          <a:latin typeface="Calibri (MS)"/>
                        </a:rPr>
                        <a:t>15.873,81</a:t>
                      </a:r>
                    </a:p>
                  </a:txBody>
                  <a:tcPr marL="73152" marR="73152" marT="36576" marB="36576" anchor="ctr">
                    <a:solidFill>
                      <a:srgbClr val="EAF8FA"/>
                    </a:solidFill>
                  </a:tcPr>
                </a:tc>
                <a:tc>
                  <a:txBody>
                    <a:bodyPr wrap="square"/>
                    <a:lstStyle/>
                    <a:p>
                      <a:pPr algn="ctr"/>
                      <a:r>
                        <a:rPr sz="1100" b="0" i="0">
                          <a:solidFill>
                            <a:srgbClr val="14313B"/>
                          </a:solidFill>
                          <a:latin typeface="Calibri (MS)"/>
                        </a:rPr>
                        <a:t>712,28</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2025</a:t>
                      </a:r>
                    </a:p>
                  </a:txBody>
                  <a:tcPr marL="73152" marR="73152" marT="36576" marB="36576" anchor="ctr">
                    <a:solidFill>
                      <a:srgbClr val="FFFFFF"/>
                    </a:solidFill>
                  </a:tcPr>
                </a:tc>
                <a:tc>
                  <a:txBody>
                    <a:bodyPr wrap="square"/>
                    <a:lstStyle/>
                    <a:p>
                      <a:pPr algn="ctr"/>
                      <a:r>
                        <a:rPr sz="1100" b="0" i="0">
                          <a:solidFill>
                            <a:srgbClr val="14313B"/>
                          </a:solidFill>
                          <a:latin typeface="Calibri (MS)"/>
                        </a:rPr>
                        <a:t>201</a:t>
                      </a:r>
                    </a:p>
                  </a:txBody>
                  <a:tcPr marL="73152" marR="73152" marT="36576" marB="36576" anchor="ctr">
                    <a:solidFill>
                      <a:srgbClr val="FFF1BF"/>
                    </a:solidFill>
                  </a:tcPr>
                </a:tc>
                <a:tc>
                  <a:txBody>
                    <a:bodyPr wrap="square"/>
                    <a:lstStyle/>
                    <a:p>
                      <a:pPr algn="ctr"/>
                      <a:r>
                        <a:rPr sz="1100" b="0" i="0">
                          <a:solidFill>
                            <a:srgbClr val="14313B"/>
                          </a:solidFill>
                          <a:latin typeface="Calibri (MS)"/>
                        </a:rPr>
                        <a:t>364.994</a:t>
                      </a:r>
                    </a:p>
                  </a:txBody>
                  <a:tcPr marL="73152" marR="73152" marT="36576" marB="36576" anchor="ctr">
                    <a:solidFill>
                      <a:srgbClr val="FFFFFF"/>
                    </a:solidFill>
                  </a:tcPr>
                </a:tc>
                <a:tc>
                  <a:txBody>
                    <a:bodyPr wrap="square"/>
                    <a:lstStyle/>
                    <a:p>
                      <a:pPr algn="ctr"/>
                      <a:r>
                        <a:rPr sz="1100" b="0" i="0">
                          <a:solidFill>
                            <a:srgbClr val="14313B"/>
                          </a:solidFill>
                          <a:latin typeface="Calibri (MS)"/>
                        </a:rPr>
                        <a:t>55.029,54</a:t>
                      </a:r>
                    </a:p>
                  </a:txBody>
                  <a:tcPr marL="73152" marR="73152" marT="36576" marB="36576" anchor="ctr">
                    <a:solidFill>
                      <a:srgbClr val="FFFFFF"/>
                    </a:solidFill>
                  </a:tcPr>
                </a:tc>
                <a:tc>
                  <a:txBody>
                    <a:bodyPr wrap="square"/>
                    <a:lstStyle/>
                    <a:p>
                      <a:pPr algn="ctr"/>
                      <a:r>
                        <a:rPr sz="1100" b="0" i="0">
                          <a:solidFill>
                            <a:srgbClr val="14313B"/>
                          </a:solidFill>
                          <a:latin typeface="Calibri (MS)"/>
                        </a:rPr>
                        <a:t>16.947,62</a:t>
                      </a:r>
                    </a:p>
                  </a:txBody>
                  <a:tcPr marL="73152" marR="73152" marT="36576" marB="36576" anchor="ctr">
                    <a:solidFill>
                      <a:srgbClr val="FFFFFF"/>
                    </a:solidFill>
                  </a:tcPr>
                </a:tc>
                <a:tc>
                  <a:txBody>
                    <a:bodyPr wrap="square"/>
                    <a:lstStyle/>
                    <a:p>
                      <a:pPr algn="ctr"/>
                      <a:r>
                        <a:rPr sz="1100" b="0" i="0">
                          <a:solidFill>
                            <a:srgbClr val="14313B"/>
                          </a:solidFill>
                          <a:latin typeface="Calibri (MS)"/>
                        </a:rPr>
                        <a:t>1.325,95</a:t>
                      </a:r>
                    </a:p>
                  </a:txBody>
                  <a:tcPr marL="73152" marR="73152" marT="36576" marB="36576" anchor="ctr">
                    <a:solidFill>
                      <a:srgbClr val="FFFFFF"/>
                    </a:solidFill>
                  </a:tcPr>
                </a:tc>
              </a:tr>
            </a:tbl>
          </a:graphicData>
        </a:graphic>
      </p:graphicFrame>
      <p:sp>
        <p:nvSpPr>
          <p:cNvPr id="28" name="Rounded Rectangle 27"/>
          <p:cNvSpPr/>
          <p:nvPr/>
        </p:nvSpPr>
        <p:spPr>
          <a:xfrm>
            <a:off x="822960" y="694944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Kuning  </a:t>
            </a:r>
            <a:r>
              <a:rPr sz="1200" b="0" i="0">
                <a:solidFill>
                  <a:srgbClr val="14313B"/>
                </a:solidFill>
                <a:latin typeface="Calibri (MS)"/>
              </a:rPr>
              <a:t>ODTW 2015–2017 &amp; 2025: estimasi NTL. Tenaga kerja 2015–2016: ekstrapolasi CAGR. Lahan 2015: ekstrapolasi tren log-linear (tidak dipakai menurunkan parameter). Buku Lampiran 7 menulis lahan 2015 “9443.037,00”; nilai di Master Data adalah 43.037,00.</a:t>
            </a:r>
          </a:p>
        </p:txBody>
      </p:sp>
      <p:graphicFrame>
        <p:nvGraphicFramePr>
          <p:cNvPr id="29" name="Table 28"/>
          <p:cNvGraphicFramePr>
            <a:graphicFrameLocks noGrp="1"/>
          </p:cNvGraphicFramePr>
          <p:nvPr/>
        </p:nvGraphicFramePr>
        <p:xfrm>
          <a:off x="822960" y="7863840"/>
          <a:ext cx="16642080" cy="1280160"/>
        </p:xfrm>
        <a:graphic>
          <a:graphicData uri="http://schemas.openxmlformats.org/drawingml/2006/table">
            <a:tbl>
              <a:tblPr firstRow="1" bandRow="1">
                <a:tableStyleId>{5C22544A-7EE6-4342-B048-85BDC9FD1C3A}</a:tableStyleId>
              </a:tblPr>
              <a:tblGrid>
                <a:gridCol w="4572000"/>
                <a:gridCol w="2743200"/>
                <a:gridCol w="9326880"/>
              </a:tblGrid>
              <a:tr h="256032">
                <a:tc>
                  <a:txBody>
                    <a:bodyPr wrap="square"/>
                    <a:lstStyle/>
                    <a:p>
                      <a:r>
                        <a:rPr sz="900" b="1" i="0">
                          <a:solidFill>
                            <a:srgbClr val="FFFFFF"/>
                          </a:solidFill>
                          <a:latin typeface="Calibri (MS) Bold"/>
                        </a:rPr>
                        <a:t>Variabel</a:t>
                      </a:r>
                    </a:p>
                  </a:txBody>
                  <a:tcPr marL="73152" marR="73152" marT="36576" marB="36576" anchor="ctr">
                    <a:solidFill>
                      <a:srgbClr val="0B5E6E"/>
                    </a:solidFill>
                  </a:tcPr>
                </a:tc>
                <a:tc>
                  <a:txBody>
                    <a:bodyPr wrap="square"/>
                    <a:lstStyle/>
                    <a:p>
                      <a:r>
                        <a:rPr sz="900" b="1" i="0">
                          <a:solidFill>
                            <a:srgbClr val="FFFFFF"/>
                          </a:solidFill>
                          <a:latin typeface="Calibri (MS) Bold"/>
                        </a:rPr>
                        <a:t>Satuan</a:t>
                      </a:r>
                    </a:p>
                  </a:txBody>
                  <a:tcPr marL="73152" marR="73152" marT="36576" marB="36576" anchor="ctr">
                    <a:solidFill>
                      <a:srgbClr val="0B5E6E"/>
                    </a:solidFill>
                  </a:tcPr>
                </a:tc>
                <a:tc>
                  <a:txBody>
                    <a:bodyPr wrap="square"/>
                    <a:lstStyle/>
                    <a:p>
                      <a:r>
                        <a:rPr sz="900" b="1" i="0">
                          <a:solidFill>
                            <a:srgbClr val="FFFFFF"/>
                          </a:solidFill>
                          <a:latin typeface="Calibri (MS) Bold"/>
                        </a:rPr>
                        <a:t>Sumber</a:t>
                      </a:r>
                    </a:p>
                  </a:txBody>
                  <a:tcPr marL="73152" marR="73152" marT="36576" marB="36576" anchor="ctr">
                    <a:solidFill>
                      <a:srgbClr val="0B5E6E"/>
                    </a:solidFill>
                  </a:tcPr>
                </a:tc>
              </a:tr>
              <a:tr h="256032">
                <a:tc>
                  <a:txBody>
                    <a:bodyPr wrap="square"/>
                    <a:lstStyle/>
                    <a:p>
                      <a:r>
                        <a:rPr sz="900" b="0" i="0">
                          <a:solidFill>
                            <a:srgbClr val="14313B"/>
                          </a:solidFill>
                          <a:latin typeface="Calibri (MS)"/>
                        </a:rPr>
                        <a:t>Jumlah ODTW</a:t>
                      </a:r>
                    </a:p>
                  </a:txBody>
                  <a:tcPr marL="73152" marR="73152" marT="36576" marB="36576" anchor="ctr">
                    <a:solidFill>
                      <a:srgbClr val="FFFFFF"/>
                    </a:solidFill>
                  </a:tcPr>
                </a:tc>
                <a:tc>
                  <a:txBody>
                    <a:bodyPr wrap="square"/>
                    <a:lstStyle/>
                    <a:p>
                      <a:r>
                        <a:rPr sz="900" b="0" i="0">
                          <a:solidFill>
                            <a:srgbClr val="14313B"/>
                          </a:solidFill>
                          <a:latin typeface="Calibri (MS)"/>
                        </a:rPr>
                        <a:t>Unit</a:t>
                      </a:r>
                    </a:p>
                  </a:txBody>
                  <a:tcPr marL="73152" marR="73152" marT="36576" marB="36576" anchor="ctr">
                    <a:solidFill>
                      <a:srgbClr val="FFFFFF"/>
                    </a:solidFill>
                  </a:tcPr>
                </a:tc>
                <a:tc>
                  <a:txBody>
                    <a:bodyPr wrap="square"/>
                    <a:lstStyle/>
                    <a:p>
                      <a:r>
                        <a:rPr sz="900" b="0" i="0">
                          <a:solidFill>
                            <a:srgbClr val="14313B"/>
                          </a:solidFill>
                          <a:latin typeface="Calibri (MS)"/>
                        </a:rPr>
                        <a:t>Statistik ODTW BPS (2018–2024) dan estimasi NTL</a:t>
                      </a:r>
                    </a:p>
                  </a:txBody>
                  <a:tcPr marL="73152" marR="73152" marT="36576" marB="36576" anchor="ctr">
                    <a:solidFill>
                      <a:srgbClr val="FFFFFF"/>
                    </a:solidFill>
                  </a:tcPr>
                </a:tc>
              </a:tr>
              <a:tr h="256032">
                <a:tc>
                  <a:txBody>
                    <a:bodyPr wrap="square"/>
                    <a:lstStyle/>
                    <a:p>
                      <a:r>
                        <a:rPr sz="900" b="0" i="0">
                          <a:solidFill>
                            <a:srgbClr val="14313B"/>
                          </a:solidFill>
                          <a:latin typeface="Calibri (MS)"/>
                        </a:rPr>
                        <a:t>Tenaga kerja (KBLI I &amp; R,S,T,U)</a:t>
                      </a:r>
                    </a:p>
                  </a:txBody>
                  <a:tcPr marL="73152" marR="73152" marT="36576" marB="36576" anchor="ctr">
                    <a:solidFill>
                      <a:srgbClr val="EAF8FA"/>
                    </a:solidFill>
                  </a:tcPr>
                </a:tc>
                <a:tc>
                  <a:txBody>
                    <a:bodyPr wrap="square"/>
                    <a:lstStyle/>
                    <a:p>
                      <a:r>
                        <a:rPr sz="900" b="0" i="0">
                          <a:solidFill>
                            <a:srgbClr val="14313B"/>
                          </a:solidFill>
                          <a:latin typeface="Calibri (MS)"/>
                        </a:rPr>
                        <a:t>Jiwa</a:t>
                      </a:r>
                    </a:p>
                  </a:txBody>
                  <a:tcPr marL="73152" marR="73152" marT="36576" marB="36576" anchor="ctr">
                    <a:solidFill>
                      <a:srgbClr val="EAF8FA"/>
                    </a:solidFill>
                  </a:tcPr>
                </a:tc>
                <a:tc>
                  <a:txBody>
                    <a:bodyPr wrap="square"/>
                    <a:lstStyle/>
                    <a:p>
                      <a:r>
                        <a:rPr sz="900" b="0" i="0">
                          <a:solidFill>
                            <a:srgbClr val="14313B"/>
                          </a:solidFill>
                          <a:latin typeface="Calibri (MS)"/>
                        </a:rPr>
                        <a:t>DIY Dalam Angka / Sakernas, BPS</a:t>
                      </a:r>
                    </a:p>
                  </a:txBody>
                  <a:tcPr marL="73152" marR="73152" marT="36576" marB="36576" anchor="ctr">
                    <a:solidFill>
                      <a:srgbClr val="EAF8FA"/>
                    </a:solidFill>
                  </a:tcPr>
                </a:tc>
              </a:tr>
              <a:tr h="256032">
                <a:tc>
                  <a:txBody>
                    <a:bodyPr wrap="square"/>
                    <a:lstStyle/>
                    <a:p>
                      <a:r>
                        <a:rPr sz="900" b="0" i="0">
                          <a:solidFill>
                            <a:srgbClr val="14313B"/>
                          </a:solidFill>
                          <a:latin typeface="Calibri (MS)"/>
                        </a:rPr>
                        <a:t>Lahan terbangun</a:t>
                      </a:r>
                    </a:p>
                  </a:txBody>
                  <a:tcPr marL="73152" marR="73152" marT="36576" marB="36576" anchor="ctr">
                    <a:solidFill>
                      <a:srgbClr val="FFFFFF"/>
                    </a:solidFill>
                  </a:tcPr>
                </a:tc>
                <a:tc>
                  <a:txBody>
                    <a:bodyPr wrap="square"/>
                    <a:lstStyle/>
                    <a:p>
                      <a:r>
                        <a:rPr sz="900" b="0" i="0">
                          <a:solidFill>
                            <a:srgbClr val="14313B"/>
                          </a:solidFill>
                          <a:latin typeface="Calibri (MS)"/>
                        </a:rPr>
                        <a:t>Hektar</a:t>
                      </a:r>
                    </a:p>
                  </a:txBody>
                  <a:tcPr marL="73152" marR="73152" marT="36576" marB="36576" anchor="ctr">
                    <a:solidFill>
                      <a:srgbClr val="FFFFFF"/>
                    </a:solidFill>
                  </a:tcPr>
                </a:tc>
                <a:tc>
                  <a:txBody>
                    <a:bodyPr wrap="square"/>
                    <a:lstStyle/>
                    <a:p>
                      <a:r>
                        <a:rPr sz="900" b="0" i="0">
                          <a:solidFill>
                            <a:srgbClr val="14313B"/>
                          </a:solidFill>
                          <a:latin typeface="Calibri (MS)"/>
                        </a:rPr>
                        <a:t>Dynamic World (built), GEE</a:t>
                      </a:r>
                    </a:p>
                  </a:txBody>
                  <a:tcPr marL="73152" marR="73152" marT="36576" marB="36576" anchor="ctr">
                    <a:solidFill>
                      <a:srgbClr val="FFFFFF"/>
                    </a:solidFill>
                  </a:tcPr>
                </a:tc>
              </a:tr>
              <a:tr h="256032">
                <a:tc>
                  <a:txBody>
                    <a:bodyPr wrap="square"/>
                    <a:lstStyle/>
                    <a:p>
                      <a:r>
                        <a:rPr sz="900" b="0" i="0">
                          <a:solidFill>
                            <a:srgbClr val="14313B"/>
                          </a:solidFill>
                          <a:latin typeface="Calibri (MS)"/>
                        </a:rPr>
                        <a:t>PDRB ADHK pariwisata; investasi</a:t>
                      </a:r>
                    </a:p>
                  </a:txBody>
                  <a:tcPr marL="73152" marR="73152" marT="36576" marB="36576" anchor="ctr">
                    <a:solidFill>
                      <a:srgbClr val="EAF8FA"/>
                    </a:solidFill>
                  </a:tcPr>
                </a:tc>
                <a:tc>
                  <a:txBody>
                    <a:bodyPr wrap="square"/>
                    <a:lstStyle/>
                    <a:p>
                      <a:r>
                        <a:rPr sz="900" b="0" i="0">
                          <a:solidFill>
                            <a:srgbClr val="14313B"/>
                          </a:solidFill>
                          <a:latin typeface="Calibri (MS)"/>
                        </a:rPr>
                        <a:t>Miliar Rp</a:t>
                      </a:r>
                    </a:p>
                  </a:txBody>
                  <a:tcPr marL="73152" marR="73152" marT="36576" marB="36576" anchor="ctr">
                    <a:solidFill>
                      <a:srgbClr val="EAF8FA"/>
                    </a:solidFill>
                  </a:tcPr>
                </a:tc>
                <a:tc>
                  <a:txBody>
                    <a:bodyPr wrap="square"/>
                    <a:lstStyle/>
                    <a:p>
                      <a:r>
                        <a:rPr sz="900" b="0" i="0">
                          <a:solidFill>
                            <a:srgbClr val="14313B"/>
                          </a:solidFill>
                          <a:latin typeface="Calibri (MS)"/>
                        </a:rPr>
                        <a:t>BPS DIY; BKPM (PMA + PMDN)</a:t>
                      </a:r>
                    </a:p>
                  </a:txBody>
                  <a:tcPr marL="73152" marR="73152" marT="36576" marB="36576" anchor="ctr">
                    <a:solidFill>
                      <a:srgbClr val="EAF8FA"/>
                    </a:solidFill>
                  </a:tcPr>
                </a:tc>
              </a:tr>
            </a:tbl>
          </a:graphicData>
        </a:graphic>
      </p:graphicFrame>
      <p:sp>
        <p:nvSpPr>
          <p:cNvPr id="30" name="TextBox 29"/>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Lampiran 7; [FIX] Master Data final.xlsx.</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6 · Penyusunan Data dan Penyambungan Wisnus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Basis data induk menyeragamkan satuan, periode, dan format; empat ketidakteraturan ditangani sebelum pemodelan</a:t>
            </a:r>
          </a:p>
        </p:txBody>
      </p:sp>
      <p:sp>
        <p:nvSpPr>
          <p:cNvPr id="27" name="Rounded Rectangle 26"/>
          <p:cNvSpPr/>
          <p:nvPr/>
        </p:nvSpPr>
        <p:spPr>
          <a:xfrm>
            <a:off x="822960" y="1920240"/>
            <a:ext cx="78638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Tata cara penyusunan data</a:t>
            </a:r>
          </a:p>
        </p:txBody>
      </p:sp>
      <p:sp>
        <p:nvSpPr>
          <p:cNvPr id="28" name="Oval 27"/>
          <p:cNvSpPr/>
          <p:nvPr/>
        </p:nvSpPr>
        <p:spPr>
          <a:xfrm>
            <a:off x="822960" y="2660904"/>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29" name="Rounded Rectangle 28"/>
          <p:cNvSpPr/>
          <p:nvPr/>
        </p:nvSpPr>
        <p:spPr>
          <a:xfrm>
            <a:off x="1417320" y="2468880"/>
            <a:ext cx="7269479"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Daftar variabel</a:t>
            </a:r>
          </a:p>
          <a:p>
            <a:pPr algn="l">
              <a:spcAft>
                <a:spcPts val="300"/>
              </a:spcAft>
            </a:pPr>
            <a:r>
              <a:rPr sz="1100" b="0" i="0">
                <a:solidFill>
                  <a:srgbClr val="14313B"/>
                </a:solidFill>
                <a:latin typeface="Calibri (MS)"/>
              </a:rPr>
              <a:t>Variabel model (stock, flow, auxiliary, parameter) disusun beserta satuan dan sumbernya.</a:t>
            </a:r>
          </a:p>
        </p:txBody>
      </p:sp>
      <p:sp>
        <p:nvSpPr>
          <p:cNvPr id="30" name="Oval 29"/>
          <p:cNvSpPr/>
          <p:nvPr/>
        </p:nvSpPr>
        <p:spPr>
          <a:xfrm>
            <a:off x="822960" y="3593592"/>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1" name="Rounded Rectangle 30"/>
          <p:cNvSpPr/>
          <p:nvPr/>
        </p:nvSpPr>
        <p:spPr>
          <a:xfrm>
            <a:off x="1417320" y="3401568"/>
            <a:ext cx="7269479"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Pengumpulan 2015–2025</a:t>
            </a:r>
          </a:p>
          <a:p>
            <a:pPr algn="l">
              <a:spcAft>
                <a:spcPts val="300"/>
              </a:spcAft>
            </a:pPr>
            <a:r>
              <a:rPr sz="1100" b="0" i="0">
                <a:solidFill>
                  <a:srgbClr val="14313B"/>
                </a:solidFill>
                <a:latin typeface="Calibri (MS)"/>
              </a:rPr>
              <a:t>Nilai dikumpulkan dari BPS, BKPM, dan citra satelit, lalu dihimpun dalam satu basis data induk.</a:t>
            </a:r>
          </a:p>
        </p:txBody>
      </p:sp>
      <p:sp>
        <p:nvSpPr>
          <p:cNvPr id="32" name="Oval 31"/>
          <p:cNvSpPr/>
          <p:nvPr/>
        </p:nvSpPr>
        <p:spPr>
          <a:xfrm>
            <a:off x="822960" y="452628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33" name="Rounded Rectangle 32"/>
          <p:cNvSpPr/>
          <p:nvPr/>
        </p:nvSpPr>
        <p:spPr>
          <a:xfrm>
            <a:off x="1417320" y="4334256"/>
            <a:ext cx="7269479"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Penyeragaman</a:t>
            </a:r>
          </a:p>
          <a:p>
            <a:pPr algn="l">
              <a:spcAft>
                <a:spcPts val="300"/>
              </a:spcAft>
            </a:pPr>
            <a:r>
              <a:rPr sz="1100" b="0" i="0">
                <a:solidFill>
                  <a:srgbClr val="14313B"/>
                </a:solidFill>
                <a:latin typeface="Calibri (MS)"/>
              </a:rPr>
              <a:t>Satuan, periode, dan format tahun diseragamkan agar parameter bisa ditelusuri ke sumbernya.</a:t>
            </a:r>
          </a:p>
        </p:txBody>
      </p:sp>
      <p:sp>
        <p:nvSpPr>
          <p:cNvPr id="34" name="Oval 33"/>
          <p:cNvSpPr/>
          <p:nvPr/>
        </p:nvSpPr>
        <p:spPr>
          <a:xfrm>
            <a:off x="822960" y="5458968"/>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4</a:t>
            </a:r>
          </a:p>
        </p:txBody>
      </p:sp>
      <p:sp>
        <p:nvSpPr>
          <p:cNvPr id="35" name="Rounded Rectangle 34"/>
          <p:cNvSpPr/>
          <p:nvPr/>
        </p:nvSpPr>
        <p:spPr>
          <a:xfrm>
            <a:off x="1417320" y="5266944"/>
            <a:ext cx="7269479"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Pengisian data kosong</a:t>
            </a:r>
          </a:p>
          <a:p>
            <a:pPr algn="l">
              <a:spcAft>
                <a:spcPts val="300"/>
              </a:spcAft>
            </a:pPr>
            <a:r>
              <a:rPr sz="1100" b="0" i="0">
                <a:solidFill>
                  <a:srgbClr val="14313B"/>
                </a:solidFill>
                <a:latin typeface="Calibri (MS)"/>
              </a:rPr>
              <a:t>ODTW dan lahan terbangun diestimasi dengan citra; TK dan pengeluaran diekstrapolasi.</a:t>
            </a:r>
          </a:p>
        </p:txBody>
      </p:sp>
      <p:sp>
        <p:nvSpPr>
          <p:cNvPr id="36" name="Oval 35"/>
          <p:cNvSpPr/>
          <p:nvPr/>
        </p:nvSpPr>
        <p:spPr>
          <a:xfrm>
            <a:off x="822960" y="6391656"/>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5</a:t>
            </a:r>
          </a:p>
        </p:txBody>
      </p:sp>
      <p:sp>
        <p:nvSpPr>
          <p:cNvPr id="37" name="Rounded Rectangle 36"/>
          <p:cNvSpPr/>
          <p:nvPr/>
        </p:nvSpPr>
        <p:spPr>
          <a:xfrm>
            <a:off x="1417320" y="6199632"/>
            <a:ext cx="7269479"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Penanganan 4 ketidakteraturan</a:t>
            </a:r>
          </a:p>
          <a:p>
            <a:pPr algn="l">
              <a:spcAft>
                <a:spcPts val="300"/>
              </a:spcAft>
            </a:pPr>
            <a:r>
              <a:rPr sz="1100" b="0" i="0">
                <a:solidFill>
                  <a:srgbClr val="14313B"/>
                </a:solidFill>
                <a:latin typeface="Calibri (MS)"/>
              </a:rPr>
              <a:t>Patahan wisnus 2018/2019, lahan 2015, lonjakan akomodasi 2018, pandemi 2020–2021.</a:t>
            </a:r>
          </a:p>
        </p:txBody>
      </p:sp>
      <p:sp>
        <p:nvSpPr>
          <p:cNvPr id="38" name="Rounded Rectangle 37"/>
          <p:cNvSpPr/>
          <p:nvPr/>
        </p:nvSpPr>
        <p:spPr>
          <a:xfrm>
            <a:off x="9052560" y="1920240"/>
            <a:ext cx="84124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Rumus faktor penyambung wisnus</a:t>
            </a:r>
          </a:p>
        </p:txBody>
      </p:sp>
      <p:sp>
        <p:nvSpPr>
          <p:cNvPr id="39" name="Rounded Rectangle 38"/>
          <p:cNvSpPr/>
          <p:nvPr/>
        </p:nvSpPr>
        <p:spPr>
          <a:xfrm>
            <a:off x="9052560" y="2468880"/>
            <a:ext cx="8412480" cy="23774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50" b="0" i="1">
                <a:solidFill>
                  <a:srgbClr val="14313B"/>
                </a:solidFill>
                <a:latin typeface="Calibri (MS)"/>
              </a:rPr>
              <a:t>g_pra = (W₂₀₁₈ ÷ W₂₀₁₅)^(1/3) − 1 = 7,63%</a:t>
            </a:r>
            <a:r>
              <a:rPr sz="1000" b="0" i="0">
                <a:solidFill>
                  <a:srgbClr val="5E6E78"/>
                </a:solidFill>
                <a:latin typeface="Calibri (MS)"/>
              </a:rPr>
              <a:t>   CAGR 2015–2018 (metode lama)</a:t>
            </a:r>
          </a:p>
          <a:p>
            <a:pPr algn="l">
              <a:spcAft>
                <a:spcPts val="300"/>
              </a:spcAft>
            </a:pPr>
            <a:r>
              <a:rPr sz="1250" b="0" i="1">
                <a:solidFill>
                  <a:srgbClr val="14313B"/>
                </a:solidFill>
                <a:latin typeface="Calibri (MS)"/>
              </a:rPr>
              <a:t>g_pasca = (W₂₀₂₅ ÷ W₂₀₂₁)^(1/4) − 1 = 15,52%</a:t>
            </a:r>
            <a:r>
              <a:rPr sz="1000" b="0" i="0">
                <a:solidFill>
                  <a:srgbClr val="5E6E78"/>
                </a:solidFill>
                <a:latin typeface="Calibri (MS)"/>
              </a:rPr>
              <a:t>   CAGR 2021–2025 (tanpa 2019–2020)</a:t>
            </a:r>
          </a:p>
          <a:p>
            <a:pPr algn="l">
              <a:spcAft>
                <a:spcPts val="300"/>
              </a:spcAft>
            </a:pPr>
            <a:r>
              <a:rPr sz="1250" b="0" i="1">
                <a:solidFill>
                  <a:srgbClr val="14313B"/>
                </a:solidFill>
                <a:latin typeface="Calibri (MS)"/>
              </a:rPr>
              <a:t>ḡ_wajar = (g_pra + g_pasca) ÷ 2 = 11,58%</a:t>
            </a:r>
            <a:r>
              <a:rPr sz="1000" b="0" i="0">
                <a:solidFill>
                  <a:srgbClr val="5E6E78"/>
                </a:solidFill>
                <a:latin typeface="Calibri (MS)"/>
              </a:rPr>
              <a:t/>
            </a:r>
          </a:p>
          <a:p>
            <a:pPr algn="l">
              <a:spcAft>
                <a:spcPts val="300"/>
              </a:spcAft>
            </a:pPr>
            <a:r>
              <a:rPr sz="1250" b="0" i="1">
                <a:solidFill>
                  <a:srgbClr val="14313B"/>
                </a:solidFill>
                <a:latin typeface="Calibri (MS)"/>
              </a:rPr>
              <a:t>Faktor = (W₂₀₁₉ ÷ W₂₀₁₈) ÷ (1 + ḡ_wajar) = 2,566 ÷ 1,1158 = 2,2997</a:t>
            </a:r>
            <a:r>
              <a:rPr sz="1000" b="0" i="0">
                <a:solidFill>
                  <a:srgbClr val="5E6E78"/>
                </a:solidFill>
                <a:latin typeface="Calibri (MS)"/>
              </a:rPr>
              <a:t/>
            </a:r>
          </a:p>
        </p:txBody>
      </p:sp>
      <p:graphicFrame>
        <p:nvGraphicFramePr>
          <p:cNvPr id="40" name="Table 39"/>
          <p:cNvGraphicFramePr>
            <a:graphicFrameLocks noGrp="1"/>
          </p:cNvGraphicFramePr>
          <p:nvPr/>
        </p:nvGraphicFramePr>
        <p:xfrm>
          <a:off x="9052560" y="5029200"/>
          <a:ext cx="8412480" cy="2084832"/>
        </p:xfrm>
        <a:graphic>
          <a:graphicData uri="http://schemas.openxmlformats.org/drawingml/2006/table">
            <a:tbl>
              <a:tblPr firstRow="1" bandRow="1">
                <a:tableStyleId>{5C22544A-7EE6-4342-B048-85BDC9FD1C3A}</a:tableStyleId>
              </a:tblPr>
              <a:tblGrid>
                <a:gridCol w="1097280"/>
                <a:gridCol w="2194560"/>
                <a:gridCol w="2926080"/>
                <a:gridCol w="2194560"/>
              </a:tblGrid>
              <a:tr h="347472">
                <a:tc>
                  <a:txBody>
                    <a:bodyPr wrap="square"/>
                    <a:lstStyle/>
                    <a:p>
                      <a:pPr algn="ctr"/>
                      <a:r>
                        <a:rPr sz="105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Data mentah</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Seri tersambung (×2,2997)</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Pertumbuhan tersambung</a:t>
                      </a:r>
                    </a:p>
                  </a:txBody>
                  <a:tcPr marL="73152" marR="73152" marT="36576" marB="36576" anchor="ctr">
                    <a:solidFill>
                      <a:srgbClr val="0B5E6E"/>
                    </a:solidFill>
                  </a:tcPr>
                </a:tc>
              </a:tr>
              <a:tr h="347472">
                <a:tc>
                  <a:txBody>
                    <a:bodyPr wrap="square"/>
                    <a:lstStyle/>
                    <a:p>
                      <a:pPr algn="ctr"/>
                      <a:r>
                        <a:rPr sz="1050" b="0" i="0">
                          <a:solidFill>
                            <a:srgbClr val="14313B"/>
                          </a:solidFill>
                          <a:latin typeface="Calibri (MS)"/>
                        </a:rPr>
                        <a:t>2015</a:t>
                      </a:r>
                    </a:p>
                  </a:txBody>
                  <a:tcPr marL="73152" marR="73152" marT="36576" marB="36576" anchor="ctr">
                    <a:solidFill>
                      <a:srgbClr val="FFFFFF"/>
                    </a:solidFill>
                  </a:tcPr>
                </a:tc>
                <a:tc>
                  <a:txBody>
                    <a:bodyPr wrap="square"/>
                    <a:lstStyle/>
                    <a:p>
                      <a:pPr algn="ctr"/>
                      <a:r>
                        <a:rPr sz="1050" b="0" i="0">
                          <a:solidFill>
                            <a:srgbClr val="14313B"/>
                          </a:solidFill>
                          <a:latin typeface="Calibri (MS)"/>
                        </a:rPr>
                        <a:t>6.413.735</a:t>
                      </a:r>
                    </a:p>
                  </a:txBody>
                  <a:tcPr marL="73152" marR="73152" marT="36576" marB="36576" anchor="ctr">
                    <a:solidFill>
                      <a:srgbClr val="FFFFFF"/>
                    </a:solidFill>
                  </a:tcPr>
                </a:tc>
                <a:tc>
                  <a:txBody>
                    <a:bodyPr wrap="square"/>
                    <a:lstStyle/>
                    <a:p>
                      <a:pPr algn="ctr"/>
                      <a:r>
                        <a:rPr sz="1050" b="0" i="0">
                          <a:solidFill>
                            <a:srgbClr val="14313B"/>
                          </a:solidFill>
                          <a:latin typeface="Calibri (MS)"/>
                        </a:rPr>
                        <a:t>14.749.959</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347472">
                <a:tc>
                  <a:txBody>
                    <a:bodyPr wrap="square"/>
                    <a:lstStyle/>
                    <a:p>
                      <a:pPr algn="ctr"/>
                      <a:r>
                        <a:rPr sz="1050" b="0" i="0">
                          <a:solidFill>
                            <a:srgbClr val="14313B"/>
                          </a:solidFill>
                          <a:latin typeface="Calibri (MS)"/>
                        </a:rPr>
                        <a:t>2016</a:t>
                      </a:r>
                    </a:p>
                  </a:txBody>
                  <a:tcPr marL="73152" marR="73152" marT="36576" marB="36576" anchor="ctr">
                    <a:solidFill>
                      <a:srgbClr val="EAF8FA"/>
                    </a:solidFill>
                  </a:tcPr>
                </a:tc>
                <a:tc>
                  <a:txBody>
                    <a:bodyPr wrap="square"/>
                    <a:lstStyle/>
                    <a:p>
                      <a:pPr algn="ctr"/>
                      <a:r>
                        <a:rPr sz="1050" b="0" i="0">
                          <a:solidFill>
                            <a:srgbClr val="14313B"/>
                          </a:solidFill>
                          <a:latin typeface="Calibri (MS)"/>
                        </a:rPr>
                        <a:t>6.551.294</a:t>
                      </a:r>
                    </a:p>
                  </a:txBody>
                  <a:tcPr marL="73152" marR="73152" marT="36576" marB="36576" anchor="ctr">
                    <a:solidFill>
                      <a:srgbClr val="EAF8FA"/>
                    </a:solidFill>
                  </a:tcPr>
                </a:tc>
                <a:tc>
                  <a:txBody>
                    <a:bodyPr wrap="square"/>
                    <a:lstStyle/>
                    <a:p>
                      <a:pPr algn="ctr"/>
                      <a:r>
                        <a:rPr sz="1050" b="0" i="0">
                          <a:solidFill>
                            <a:srgbClr val="14313B"/>
                          </a:solidFill>
                          <a:latin typeface="Calibri (MS)"/>
                        </a:rPr>
                        <a:t>15.066.309</a:t>
                      </a:r>
                    </a:p>
                  </a:txBody>
                  <a:tcPr marL="73152" marR="73152" marT="36576" marB="36576" anchor="ctr">
                    <a:solidFill>
                      <a:srgbClr val="EAF8FA"/>
                    </a:solidFill>
                  </a:tcPr>
                </a:tc>
                <a:tc>
                  <a:txBody>
                    <a:bodyPr wrap="square"/>
                    <a:lstStyle/>
                    <a:p>
                      <a:pPr algn="ctr"/>
                      <a:r>
                        <a:rPr sz="1050" b="0" i="0">
                          <a:solidFill>
                            <a:srgbClr val="14313B"/>
                          </a:solidFill>
                          <a:latin typeface="Calibri (MS)"/>
                        </a:rPr>
                        <a:t>+2,14%</a:t>
                      </a:r>
                    </a:p>
                  </a:txBody>
                  <a:tcPr marL="73152" marR="73152" marT="36576" marB="36576" anchor="ctr">
                    <a:solidFill>
                      <a:srgbClr val="EAF8FA"/>
                    </a:solidFill>
                  </a:tcPr>
                </a:tc>
              </a:tr>
              <a:tr h="347472">
                <a:tc>
                  <a:txBody>
                    <a:bodyPr wrap="square"/>
                    <a:lstStyle/>
                    <a:p>
                      <a:pPr algn="ctr"/>
                      <a:r>
                        <a:rPr sz="1050" b="0" i="0">
                          <a:solidFill>
                            <a:srgbClr val="14313B"/>
                          </a:solidFill>
                          <a:latin typeface="Calibri (MS)"/>
                        </a:rPr>
                        <a:t>2017</a:t>
                      </a:r>
                    </a:p>
                  </a:txBody>
                  <a:tcPr marL="73152" marR="73152" marT="36576" marB="36576" anchor="ctr">
                    <a:solidFill>
                      <a:srgbClr val="FFFFFF"/>
                    </a:solidFill>
                  </a:tcPr>
                </a:tc>
                <a:tc>
                  <a:txBody>
                    <a:bodyPr wrap="square"/>
                    <a:lstStyle/>
                    <a:p>
                      <a:pPr algn="ctr"/>
                      <a:r>
                        <a:rPr sz="1050" b="0" i="0">
                          <a:solidFill>
                            <a:srgbClr val="14313B"/>
                          </a:solidFill>
                          <a:latin typeface="Calibri (MS)"/>
                        </a:rPr>
                        <a:t>6.644.412</a:t>
                      </a:r>
                    </a:p>
                  </a:txBody>
                  <a:tcPr marL="73152" marR="73152" marT="36576" marB="36576" anchor="ctr">
                    <a:solidFill>
                      <a:srgbClr val="FFFFFF"/>
                    </a:solidFill>
                  </a:tcPr>
                </a:tc>
                <a:tc>
                  <a:txBody>
                    <a:bodyPr wrap="square"/>
                    <a:lstStyle/>
                    <a:p>
                      <a:pPr algn="ctr"/>
                      <a:r>
                        <a:rPr sz="1050" b="0" i="0">
                          <a:solidFill>
                            <a:srgbClr val="14313B"/>
                          </a:solidFill>
                          <a:latin typeface="Calibri (MS)"/>
                        </a:rPr>
                        <a:t>15.280.457</a:t>
                      </a:r>
                    </a:p>
                  </a:txBody>
                  <a:tcPr marL="73152" marR="73152" marT="36576" marB="36576" anchor="ctr">
                    <a:solidFill>
                      <a:srgbClr val="FFFFFF"/>
                    </a:solidFill>
                  </a:tcPr>
                </a:tc>
                <a:tc>
                  <a:txBody>
                    <a:bodyPr wrap="square"/>
                    <a:lstStyle/>
                    <a:p>
                      <a:pPr algn="ctr"/>
                      <a:r>
                        <a:rPr sz="1050" b="0" i="0">
                          <a:solidFill>
                            <a:srgbClr val="14313B"/>
                          </a:solidFill>
                          <a:latin typeface="Calibri (MS)"/>
                        </a:rPr>
                        <a:t>+1,42%</a:t>
                      </a:r>
                    </a:p>
                  </a:txBody>
                  <a:tcPr marL="73152" marR="73152" marT="36576" marB="36576" anchor="ctr">
                    <a:solidFill>
                      <a:srgbClr val="FFFFFF"/>
                    </a:solidFill>
                  </a:tcPr>
                </a:tc>
              </a:tr>
              <a:tr h="347472">
                <a:tc>
                  <a:txBody>
                    <a:bodyPr wrap="square"/>
                    <a:lstStyle/>
                    <a:p>
                      <a:pPr algn="ctr"/>
                      <a:r>
                        <a:rPr sz="1050" b="0" i="0">
                          <a:solidFill>
                            <a:srgbClr val="14313B"/>
                          </a:solidFill>
                          <a:latin typeface="Calibri (MS)"/>
                        </a:rPr>
                        <a:t>2018</a:t>
                      </a:r>
                    </a:p>
                  </a:txBody>
                  <a:tcPr marL="73152" marR="73152" marT="36576" marB="36576" anchor="ctr">
                    <a:solidFill>
                      <a:srgbClr val="EAF8FA"/>
                    </a:solidFill>
                  </a:tcPr>
                </a:tc>
                <a:tc>
                  <a:txBody>
                    <a:bodyPr wrap="square"/>
                    <a:lstStyle/>
                    <a:p>
                      <a:pPr algn="ctr"/>
                      <a:r>
                        <a:rPr sz="1050" b="0" i="0">
                          <a:solidFill>
                            <a:srgbClr val="14313B"/>
                          </a:solidFill>
                          <a:latin typeface="Calibri (MS)"/>
                        </a:rPr>
                        <a:t>7.996.959</a:t>
                      </a:r>
                    </a:p>
                  </a:txBody>
                  <a:tcPr marL="73152" marR="73152" marT="36576" marB="36576" anchor="ctr">
                    <a:solidFill>
                      <a:srgbClr val="EAF8FA"/>
                    </a:solidFill>
                  </a:tcPr>
                </a:tc>
                <a:tc>
                  <a:txBody>
                    <a:bodyPr wrap="square"/>
                    <a:lstStyle/>
                    <a:p>
                      <a:pPr algn="ctr"/>
                      <a:r>
                        <a:rPr sz="1050" b="0" i="0">
                          <a:solidFill>
                            <a:srgbClr val="14313B"/>
                          </a:solidFill>
                          <a:latin typeface="Calibri (MS)"/>
                        </a:rPr>
                        <a:t>18.390.971</a:t>
                      </a:r>
                    </a:p>
                  </a:txBody>
                  <a:tcPr marL="73152" marR="73152" marT="36576" marB="36576" anchor="ctr">
                    <a:solidFill>
                      <a:srgbClr val="EAF8FA"/>
                    </a:solidFill>
                  </a:tcPr>
                </a:tc>
                <a:tc>
                  <a:txBody>
                    <a:bodyPr wrap="square"/>
                    <a:lstStyle/>
                    <a:p>
                      <a:pPr algn="ctr"/>
                      <a:r>
                        <a:rPr sz="1050" b="0" i="0">
                          <a:solidFill>
                            <a:srgbClr val="14313B"/>
                          </a:solidFill>
                          <a:latin typeface="Calibri (MS)"/>
                        </a:rPr>
                        <a:t>+20,36%</a:t>
                      </a:r>
                    </a:p>
                  </a:txBody>
                  <a:tcPr marL="73152" marR="73152" marT="36576" marB="36576" anchor="ctr">
                    <a:solidFill>
                      <a:srgbClr val="EAF8FA"/>
                    </a:solidFill>
                  </a:tcPr>
                </a:tc>
              </a:tr>
              <a:tr h="347472">
                <a:tc>
                  <a:txBody>
                    <a:bodyPr wrap="square"/>
                    <a:lstStyle/>
                    <a:p>
                      <a:pPr algn="ctr"/>
                      <a:r>
                        <a:rPr sz="1050" b="0" i="0">
                          <a:solidFill>
                            <a:srgbClr val="14313B"/>
                          </a:solidFill>
                          <a:latin typeface="Calibri (MS)"/>
                        </a:rPr>
                        <a:t>2019</a:t>
                      </a:r>
                    </a:p>
                  </a:txBody>
                  <a:tcPr marL="73152" marR="73152" marT="36576" marB="36576" anchor="ctr">
                    <a:solidFill>
                      <a:srgbClr val="FFFFFF"/>
                    </a:solidFill>
                  </a:tcPr>
                </a:tc>
                <a:tc>
                  <a:txBody>
                    <a:bodyPr wrap="square"/>
                    <a:lstStyle/>
                    <a:p>
                      <a:pPr algn="ctr"/>
                      <a:r>
                        <a:rPr sz="1050" b="0" i="0">
                          <a:solidFill>
                            <a:srgbClr val="14313B"/>
                          </a:solidFill>
                          <a:latin typeface="Calibri (MS)"/>
                        </a:rPr>
                        <a:t>20.520.104</a:t>
                      </a:r>
                    </a:p>
                  </a:txBody>
                  <a:tcPr marL="73152" marR="73152" marT="36576" marB="36576" anchor="ctr">
                    <a:solidFill>
                      <a:srgbClr val="FFFFFF"/>
                    </a:solidFill>
                  </a:tcPr>
                </a:tc>
                <a:tc>
                  <a:txBody>
                    <a:bodyPr wrap="square"/>
                    <a:lstStyle/>
                    <a:p>
                      <a:pPr algn="ctr"/>
                      <a:r>
                        <a:rPr sz="1050" b="0" i="0">
                          <a:solidFill>
                            <a:srgbClr val="14313B"/>
                          </a:solidFill>
                          <a:latin typeface="Calibri (MS)"/>
                        </a:rPr>
                        <a:t>20.520.104 (asli)</a:t>
                      </a:r>
                    </a:p>
                  </a:txBody>
                  <a:tcPr marL="73152" marR="73152" marT="36576" marB="36576" anchor="ctr">
                    <a:solidFill>
                      <a:srgbClr val="FFFFFF"/>
                    </a:solidFill>
                  </a:tcPr>
                </a:tc>
                <a:tc>
                  <a:txBody>
                    <a:bodyPr wrap="square"/>
                    <a:lstStyle/>
                    <a:p>
                      <a:pPr algn="ctr"/>
                      <a:r>
                        <a:rPr sz="1050" b="0" i="0">
                          <a:solidFill>
                            <a:srgbClr val="14313B"/>
                          </a:solidFill>
                          <a:latin typeface="Calibri (MS)"/>
                        </a:rPr>
                        <a:t>+11,58%</a:t>
                      </a:r>
                    </a:p>
                  </a:txBody>
                  <a:tcPr marL="73152" marR="73152" marT="36576" marB="36576" anchor="ctr">
                    <a:solidFill>
                      <a:srgbClr val="FFFFFF"/>
                    </a:solidFill>
                  </a:tcPr>
                </a:tc>
              </a:tr>
            </a:tbl>
          </a:graphicData>
        </a:graphic>
      </p:graphicFrame>
      <p:sp>
        <p:nvSpPr>
          <p:cNvPr id="41" name="Rounded Rectangle 40"/>
          <p:cNvSpPr/>
          <p:nvPr/>
        </p:nvSpPr>
        <p:spPr>
          <a:xfrm>
            <a:off x="822960" y="7315200"/>
            <a:ext cx="16642080" cy="9601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Faktor berada pada rentang 2,22–2,38 bila tahun acuan g_wajar diubah; rentang ini diuji ulang pada kalibrasi Tahap 3. Seri sambungan hanya dipakai untuk uji perilaku P5, tidak untuk menurunkan parameter. Pertumbuhan 2016 (+2,14%) dihitung sendiri dari seri sambungan.</a:t>
            </a:r>
          </a:p>
        </p:txBody>
      </p:sp>
      <p:sp>
        <p:nvSpPr>
          <p:cNvPr id="42" name="TextBox 4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3.6.1 dan 4.5.1 (Tabel 45); [FIX] Master Data final.xlsx, sheet “Perhitungan faktor sambung”.</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56082"/>
            <a:ext cx="16637508" cy="1344930"/>
          </a:xfrm>
          <a:prstGeom prst="rect">
            <a:avLst/>
          </a:prstGeom>
        </p:spPr>
        <p:txBody>
          <a:bodyPr anchor="t" rtlCol="false" tIns="0" lIns="0" bIns="0" rIns="0">
            <a:spAutoFit/>
          </a:bodyPr>
          <a:lstStyle/>
          <a:p>
            <a:pPr algn="l">
              <a:lnSpc>
                <a:spcPts val="3840"/>
              </a:lnSpc>
            </a:pPr>
            <a:r>
              <a:rPr lang="en-US" sz="3000" b="true">
                <a:solidFill>
                  <a:srgbClr val="0B5E6E"/>
                </a:solidFill>
                <a:latin typeface="Calibri (MS) Bold"/>
                <a:ea typeface="Calibri (MS) Bold"/>
                <a:cs typeface="Calibri (MS) Bold"/>
                <a:sym typeface="Calibri (MS) Bold"/>
              </a:rPr>
              <a:t>Lampiran 7 · Rancangan Uji Perilaku — Penyesuaian Data Wisnus</a:t>
            </a:r>
          </a:p>
          <a:p>
            <a:pPr algn="l">
              <a:lnSpc>
                <a:spcPts val="2279"/>
              </a:lnSpc>
            </a:pPr>
            <a:r>
              <a:rPr lang="en-US" sz="1899">
                <a:solidFill>
                  <a:srgbClr val="4A5A63"/>
                </a:solidFill>
                <a:latin typeface="Calibri (MS)"/>
                <a:ea typeface="Calibri (MS)"/>
                <a:cs typeface="Calibri (MS)"/>
                <a:sym typeface="Calibri (MS)"/>
              </a:rPr>
              <a:t>Perubahan metode pencatatan wisnus 2018→2019 disesuaikan dengan faktor 2,2997</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0" id="80"/>
          <p:cNvSpPr txBox="true"/>
          <p:nvPr/>
        </p:nvSpPr>
        <p:spPr>
          <a:xfrm rot="0">
            <a:off x="822960" y="2141220"/>
            <a:ext cx="9601200" cy="67056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81" id="81"/>
          <p:cNvGrpSpPr/>
          <p:nvPr/>
        </p:nvGrpSpPr>
        <p:grpSpPr>
          <a:xfrm rot="0">
            <a:off x="11109960" y="2400300"/>
            <a:ext cx="6350508" cy="2125980"/>
            <a:chOff x="0" y="0"/>
            <a:chExt cx="8467344" cy="2834640"/>
          </a:xfrm>
        </p:grpSpPr>
        <p:sp>
          <p:nvSpPr>
            <p:cNvPr name="Freeform 82" id="8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452860" y="2564892"/>
            <a:ext cx="5623560" cy="754380"/>
            <a:chOff x="0" y="0"/>
            <a:chExt cx="7498080" cy="1005840"/>
          </a:xfrm>
        </p:grpSpPr>
        <p:sp>
          <p:nvSpPr>
            <p:cNvPr name="Freeform 84" id="8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85" id="85"/>
          <p:cNvGrpSpPr/>
          <p:nvPr/>
        </p:nvGrpSpPr>
        <p:grpSpPr>
          <a:xfrm rot="0">
            <a:off x="11452860" y="2507742"/>
            <a:ext cx="5623560" cy="811530"/>
            <a:chOff x="0" y="0"/>
            <a:chExt cx="7498080" cy="1082040"/>
          </a:xfrm>
        </p:grpSpPr>
        <p:sp>
          <p:nvSpPr>
            <p:cNvPr name="Freeform 86" id="8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sp>
      </p:grpSp>
      <p:grpSp>
        <p:nvGrpSpPr>
          <p:cNvPr name="Group 87" id="87"/>
          <p:cNvGrpSpPr/>
          <p:nvPr/>
        </p:nvGrpSpPr>
        <p:grpSpPr>
          <a:xfrm rot="0">
            <a:off x="11452860" y="2450592"/>
            <a:ext cx="5623560" cy="868680"/>
            <a:chOff x="0" y="0"/>
            <a:chExt cx="7498080" cy="1158240"/>
          </a:xfrm>
        </p:grpSpPr>
        <p:sp>
          <p:nvSpPr>
            <p:cNvPr name="Freeform 88" id="88"/>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052" r="0" b="-76051"/>
              </a:stretch>
            </a:blipFill>
          </p:spPr>
        </p:sp>
      </p:grpSp>
      <p:grpSp>
        <p:nvGrpSpPr>
          <p:cNvPr name="Group 89" id="89"/>
          <p:cNvGrpSpPr/>
          <p:nvPr/>
        </p:nvGrpSpPr>
        <p:grpSpPr>
          <a:xfrm rot="0">
            <a:off x="11452860" y="2393442"/>
            <a:ext cx="5623560" cy="925830"/>
            <a:chOff x="0" y="0"/>
            <a:chExt cx="7498080" cy="1234440"/>
          </a:xfrm>
        </p:grpSpPr>
        <p:sp>
          <p:nvSpPr>
            <p:cNvPr name="Freeform 90" id="90"/>
            <p:cNvSpPr/>
            <p:nvPr/>
          </p:nvSpPr>
          <p:spPr>
            <a:xfrm flipH="false" flipV="false" rot="0">
              <a:off x="0" y="0"/>
              <a:ext cx="7498080" cy="1234440"/>
            </a:xfrm>
            <a:custGeom>
              <a:avLst/>
              <a:gdLst/>
              <a:ahLst/>
              <a:cxnLst/>
              <a:rect r="r" b="b" t="t" l="l"/>
              <a:pathLst>
                <a:path h="1234440" w="7498080">
                  <a:moveTo>
                    <a:pt x="0" y="0"/>
                  </a:moveTo>
                  <a:lnTo>
                    <a:pt x="7498080" y="0"/>
                  </a:lnTo>
                  <a:lnTo>
                    <a:pt x="7498080" y="1234440"/>
                  </a:lnTo>
                  <a:lnTo>
                    <a:pt x="0" y="1234440"/>
                  </a:lnTo>
                  <a:close/>
                </a:path>
              </a:pathLst>
            </a:custGeom>
            <a:blipFill>
              <a:blip r:embed="rId7">
                <a:alphaModFix amt="0"/>
              </a:blip>
              <a:stretch>
                <a:fillRect l="0" t="-68353" r="0" b="-68353"/>
              </a:stretch>
            </a:blipFill>
          </p:spPr>
        </p:sp>
        <p:sp>
          <p:nvSpPr>
            <p:cNvPr name="TextBox 91" id="91"/>
            <p:cNvSpPr txBox="true"/>
            <p:nvPr/>
          </p:nvSpPr>
          <p:spPr>
            <a:xfrm>
              <a:off x="0" y="-76200"/>
              <a:ext cx="7498080" cy="13106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92" id="92"/>
          <p:cNvSpPr txBox="true"/>
          <p:nvPr/>
        </p:nvSpPr>
        <p:spPr>
          <a:xfrm rot="0">
            <a:off x="11452860" y="3235452"/>
            <a:ext cx="5623560" cy="12496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karena perubahan metode pencatatan</a:t>
            </a:r>
          </a:p>
        </p:txBody>
      </p:sp>
      <p:grpSp>
        <p:nvGrpSpPr>
          <p:cNvPr name="Group 93" id="93"/>
          <p:cNvGrpSpPr/>
          <p:nvPr/>
        </p:nvGrpSpPr>
        <p:grpSpPr>
          <a:xfrm rot="0">
            <a:off x="11109960" y="4732020"/>
            <a:ext cx="6350508" cy="2125980"/>
            <a:chOff x="0" y="0"/>
            <a:chExt cx="8467344" cy="2834640"/>
          </a:xfrm>
        </p:grpSpPr>
        <p:sp>
          <p:nvSpPr>
            <p:cNvPr name="Freeform 94" id="9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95" id="95"/>
          <p:cNvGrpSpPr/>
          <p:nvPr/>
        </p:nvGrpSpPr>
        <p:grpSpPr>
          <a:xfrm rot="0">
            <a:off x="11452860" y="4896612"/>
            <a:ext cx="5623560" cy="754380"/>
            <a:chOff x="0" y="0"/>
            <a:chExt cx="7498080" cy="1005840"/>
          </a:xfrm>
        </p:grpSpPr>
        <p:sp>
          <p:nvSpPr>
            <p:cNvPr name="Freeform 96" id="9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97" id="97"/>
          <p:cNvGrpSpPr/>
          <p:nvPr/>
        </p:nvGrpSpPr>
        <p:grpSpPr>
          <a:xfrm rot="0">
            <a:off x="11452860" y="4839462"/>
            <a:ext cx="5623560" cy="811530"/>
            <a:chOff x="0" y="0"/>
            <a:chExt cx="7498080" cy="1082040"/>
          </a:xfrm>
        </p:grpSpPr>
        <p:sp>
          <p:nvSpPr>
            <p:cNvPr name="Freeform 98" id="9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sp>
      </p:grpSp>
      <p:grpSp>
        <p:nvGrpSpPr>
          <p:cNvPr name="Group 99" id="99"/>
          <p:cNvGrpSpPr/>
          <p:nvPr/>
        </p:nvGrpSpPr>
        <p:grpSpPr>
          <a:xfrm rot="0">
            <a:off x="11452860" y="4782312"/>
            <a:ext cx="5623560" cy="868680"/>
            <a:chOff x="0" y="0"/>
            <a:chExt cx="7498080" cy="1158240"/>
          </a:xfrm>
        </p:grpSpPr>
        <p:sp>
          <p:nvSpPr>
            <p:cNvPr name="Freeform 100" id="100"/>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052" r="0" b="-76051"/>
              </a:stretch>
            </a:blipFill>
          </p:spPr>
        </p:sp>
      </p:grpSp>
      <p:grpSp>
        <p:nvGrpSpPr>
          <p:cNvPr name="Group 101" id="101"/>
          <p:cNvGrpSpPr/>
          <p:nvPr/>
        </p:nvGrpSpPr>
        <p:grpSpPr>
          <a:xfrm rot="0">
            <a:off x="11452860" y="4725162"/>
            <a:ext cx="5623560" cy="925830"/>
            <a:chOff x="0" y="0"/>
            <a:chExt cx="7498080" cy="1234440"/>
          </a:xfrm>
        </p:grpSpPr>
        <p:sp>
          <p:nvSpPr>
            <p:cNvPr name="Freeform 102" id="102"/>
            <p:cNvSpPr/>
            <p:nvPr/>
          </p:nvSpPr>
          <p:spPr>
            <a:xfrm flipH="false" flipV="false" rot="0">
              <a:off x="0" y="0"/>
              <a:ext cx="7498080" cy="1234440"/>
            </a:xfrm>
            <a:custGeom>
              <a:avLst/>
              <a:gdLst/>
              <a:ahLst/>
              <a:cxnLst/>
              <a:rect r="r" b="b" t="t" l="l"/>
              <a:pathLst>
                <a:path h="1234440" w="7498080">
                  <a:moveTo>
                    <a:pt x="0" y="0"/>
                  </a:moveTo>
                  <a:lnTo>
                    <a:pt x="7498080" y="0"/>
                  </a:lnTo>
                  <a:lnTo>
                    <a:pt x="7498080" y="1234440"/>
                  </a:lnTo>
                  <a:lnTo>
                    <a:pt x="0" y="1234440"/>
                  </a:lnTo>
                  <a:close/>
                </a:path>
              </a:pathLst>
            </a:custGeom>
            <a:blipFill>
              <a:blip r:embed="rId7">
                <a:alphaModFix amt="0"/>
              </a:blip>
              <a:stretch>
                <a:fillRect l="0" t="-68353" r="0" b="-68353"/>
              </a:stretch>
            </a:blipFill>
          </p:spPr>
        </p:sp>
        <p:sp>
          <p:nvSpPr>
            <p:cNvPr name="TextBox 103" id="103"/>
            <p:cNvSpPr txBox="true"/>
            <p:nvPr/>
          </p:nvSpPr>
          <p:spPr>
            <a:xfrm>
              <a:off x="0" y="-76200"/>
              <a:ext cx="7498080" cy="13106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104" id="104"/>
          <p:cNvSpPr txBox="true"/>
          <p:nvPr/>
        </p:nvSpPr>
        <p:spPr>
          <a:xfrm rot="0">
            <a:off x="11452860" y="5567172"/>
            <a:ext cx="5623560" cy="12496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penyesuaian (rentang 2,22–2,38), diuji ulang pada kalibrasi Tahap 3</a:t>
            </a:r>
          </a:p>
        </p:txBody>
      </p:sp>
      <p:grpSp>
        <p:nvGrpSpPr>
          <p:cNvPr name="Group 105" id="105"/>
          <p:cNvGrpSpPr/>
          <p:nvPr/>
        </p:nvGrpSpPr>
        <p:grpSpPr>
          <a:xfrm rot="0">
            <a:off x="11109960" y="7063740"/>
            <a:ext cx="6350508" cy="2125980"/>
            <a:chOff x="0" y="0"/>
            <a:chExt cx="8467344" cy="2834640"/>
          </a:xfrm>
        </p:grpSpPr>
        <p:sp>
          <p:nvSpPr>
            <p:cNvPr name="Freeform 106" id="106"/>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107" id="107"/>
          <p:cNvGrpSpPr/>
          <p:nvPr/>
        </p:nvGrpSpPr>
        <p:grpSpPr>
          <a:xfrm rot="0">
            <a:off x="11452860" y="7228332"/>
            <a:ext cx="5623560" cy="754380"/>
            <a:chOff x="0" y="0"/>
            <a:chExt cx="7498080" cy="1005840"/>
          </a:xfrm>
        </p:grpSpPr>
        <p:sp>
          <p:nvSpPr>
            <p:cNvPr name="Freeform 108" id="108"/>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109" id="109"/>
          <p:cNvGrpSpPr/>
          <p:nvPr/>
        </p:nvGrpSpPr>
        <p:grpSpPr>
          <a:xfrm rot="0">
            <a:off x="11452860" y="7171182"/>
            <a:ext cx="5623560" cy="811530"/>
            <a:chOff x="0" y="0"/>
            <a:chExt cx="7498080" cy="1082040"/>
          </a:xfrm>
        </p:grpSpPr>
        <p:sp>
          <p:nvSpPr>
            <p:cNvPr name="Freeform 110" id="110"/>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sp>
      </p:grpSp>
      <p:grpSp>
        <p:nvGrpSpPr>
          <p:cNvPr name="Group 111" id="111"/>
          <p:cNvGrpSpPr/>
          <p:nvPr/>
        </p:nvGrpSpPr>
        <p:grpSpPr>
          <a:xfrm rot="0">
            <a:off x="11452860" y="7114032"/>
            <a:ext cx="5623560" cy="868680"/>
            <a:chOff x="0" y="0"/>
            <a:chExt cx="7498080" cy="1158240"/>
          </a:xfrm>
        </p:grpSpPr>
        <p:sp>
          <p:nvSpPr>
            <p:cNvPr name="Freeform 112" id="112"/>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052" r="0" b="-76051"/>
              </a:stretch>
            </a:blipFill>
          </p:spPr>
        </p:sp>
      </p:grpSp>
      <p:grpSp>
        <p:nvGrpSpPr>
          <p:cNvPr name="Group 113" id="113"/>
          <p:cNvGrpSpPr/>
          <p:nvPr/>
        </p:nvGrpSpPr>
        <p:grpSpPr>
          <a:xfrm rot="0">
            <a:off x="11452860" y="7056882"/>
            <a:ext cx="5623560" cy="925830"/>
            <a:chOff x="0" y="0"/>
            <a:chExt cx="7498080" cy="1234440"/>
          </a:xfrm>
        </p:grpSpPr>
        <p:sp>
          <p:nvSpPr>
            <p:cNvPr name="Freeform 114" id="114"/>
            <p:cNvSpPr/>
            <p:nvPr/>
          </p:nvSpPr>
          <p:spPr>
            <a:xfrm flipH="false" flipV="false" rot="0">
              <a:off x="0" y="0"/>
              <a:ext cx="7498080" cy="1234440"/>
            </a:xfrm>
            <a:custGeom>
              <a:avLst/>
              <a:gdLst/>
              <a:ahLst/>
              <a:cxnLst/>
              <a:rect r="r" b="b" t="t" l="l"/>
              <a:pathLst>
                <a:path h="1234440" w="7498080">
                  <a:moveTo>
                    <a:pt x="0" y="0"/>
                  </a:moveTo>
                  <a:lnTo>
                    <a:pt x="7498080" y="0"/>
                  </a:lnTo>
                  <a:lnTo>
                    <a:pt x="7498080" y="1234440"/>
                  </a:lnTo>
                  <a:lnTo>
                    <a:pt x="0" y="1234440"/>
                  </a:lnTo>
                  <a:close/>
                </a:path>
              </a:pathLst>
            </a:custGeom>
            <a:blipFill>
              <a:blip r:embed="rId7">
                <a:alphaModFix amt="0"/>
              </a:blip>
              <a:stretch>
                <a:fillRect l="0" t="-68353" r="0" b="-68353"/>
              </a:stretch>
            </a:blipFill>
          </p:spPr>
        </p:sp>
        <p:sp>
          <p:nvSpPr>
            <p:cNvPr name="TextBox 115" id="115"/>
            <p:cNvSpPr txBox="true"/>
            <p:nvPr/>
          </p:nvSpPr>
          <p:spPr>
            <a:xfrm>
              <a:off x="0" y="-76200"/>
              <a:ext cx="7498080" cy="13106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116" id="116"/>
          <p:cNvSpPr txBox="true"/>
          <p:nvPr/>
        </p:nvSpPr>
        <p:spPr>
          <a:xfrm rot="0">
            <a:off x="11452860" y="7898892"/>
            <a:ext cx="5623560" cy="12496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117" id="117"/>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grpSp>
        <p:nvGrpSpPr>
          <p:cNvPr name="Group 118" id="118"/>
          <p:cNvGrpSpPr/>
          <p:nvPr/>
        </p:nvGrpSpPr>
        <p:grpSpPr>
          <a:xfrm rot="0">
            <a:off x="12755880" y="274320"/>
            <a:ext cx="3931920" cy="411480"/>
            <a:chOff x="0" y="0"/>
            <a:chExt cx="5242560" cy="548640"/>
          </a:xfrm>
        </p:grpSpPr>
        <p:sp>
          <p:nvSpPr>
            <p:cNvPr name="Freeform 119" id="11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060" r="0" b="-136062"/>
              </a:stretch>
            </a:blipFill>
          </p:spPr>
        </p:sp>
      </p:grpSp>
      <p:grpSp>
        <p:nvGrpSpPr>
          <p:cNvPr name="Group 120" id="120"/>
          <p:cNvGrpSpPr/>
          <p:nvPr/>
        </p:nvGrpSpPr>
        <p:grpSpPr>
          <a:xfrm rot="0">
            <a:off x="12755880" y="252889"/>
            <a:ext cx="3931920" cy="432911"/>
            <a:chOff x="0" y="0"/>
            <a:chExt cx="5242560" cy="577215"/>
          </a:xfrm>
        </p:grpSpPr>
        <p:sp>
          <p:nvSpPr>
            <p:cNvPr name="Freeform 121" id="121"/>
            <p:cNvSpPr/>
            <p:nvPr/>
          </p:nvSpPr>
          <p:spPr>
            <a:xfrm flipH="false" flipV="false" rot="0">
              <a:off x="0" y="0"/>
              <a:ext cx="5242560" cy="577215"/>
            </a:xfrm>
            <a:custGeom>
              <a:avLst/>
              <a:gdLst/>
              <a:ahLst/>
              <a:cxnLst/>
              <a:rect r="r" b="b" t="t" l="l"/>
              <a:pathLst>
                <a:path h="577215" w="5242560">
                  <a:moveTo>
                    <a:pt x="0" y="0"/>
                  </a:moveTo>
                  <a:lnTo>
                    <a:pt x="5242560" y="0"/>
                  </a:lnTo>
                  <a:lnTo>
                    <a:pt x="5242560" y="577215"/>
                  </a:lnTo>
                  <a:lnTo>
                    <a:pt x="0" y="577215"/>
                  </a:lnTo>
                  <a:close/>
                </a:path>
              </a:pathLst>
            </a:custGeom>
            <a:blipFill>
              <a:blip r:embed="rId7">
                <a:alphaModFix amt="0"/>
              </a:blip>
              <a:stretch>
                <a:fillRect l="0" t="-126973" r="0" b="-126973"/>
              </a:stretch>
            </a:blipFill>
          </p:spPr>
        </p:sp>
        <p:sp>
          <p:nvSpPr>
            <p:cNvPr name="TextBox 122" id="122"/>
            <p:cNvSpPr txBox="true"/>
            <p:nvPr/>
          </p:nvSpPr>
          <p:spPr>
            <a:xfrm>
              <a:off x="0" y="-28575"/>
              <a:ext cx="5242560" cy="605790"/>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23" id="123"/>
          <p:cNvGrpSpPr/>
          <p:nvPr/>
        </p:nvGrpSpPr>
        <p:grpSpPr>
          <a:xfrm rot="0">
            <a:off x="16047720" y="9646920"/>
            <a:ext cx="420624" cy="420624"/>
            <a:chOff x="0" y="0"/>
            <a:chExt cx="560832" cy="560832"/>
          </a:xfrm>
        </p:grpSpPr>
        <p:sp>
          <p:nvSpPr>
            <p:cNvPr name="Freeform 124" id="12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sp>
      </p:grpSp>
      <p:grpSp>
        <p:nvGrpSpPr>
          <p:cNvPr name="Group 125" id="125"/>
          <p:cNvGrpSpPr/>
          <p:nvPr/>
        </p:nvGrpSpPr>
        <p:grpSpPr>
          <a:xfrm rot="0">
            <a:off x="16047720" y="9625489"/>
            <a:ext cx="420624" cy="442055"/>
            <a:chOff x="0" y="0"/>
            <a:chExt cx="560832" cy="589407"/>
          </a:xfrm>
        </p:grpSpPr>
        <p:sp>
          <p:nvSpPr>
            <p:cNvPr name="Freeform 126" id="126"/>
            <p:cNvSpPr/>
            <p:nvPr/>
          </p:nvSpPr>
          <p:spPr>
            <a:xfrm flipH="false" flipV="false" rot="0">
              <a:off x="0" y="0"/>
              <a:ext cx="560832" cy="589407"/>
            </a:xfrm>
            <a:custGeom>
              <a:avLst/>
              <a:gdLst/>
              <a:ahLst/>
              <a:cxnLst/>
              <a:rect r="r" b="b" t="t" l="l"/>
              <a:pathLst>
                <a:path h="589407" w="560832">
                  <a:moveTo>
                    <a:pt x="0" y="0"/>
                  </a:moveTo>
                  <a:lnTo>
                    <a:pt x="560832" y="0"/>
                  </a:lnTo>
                  <a:lnTo>
                    <a:pt x="560832" y="589407"/>
                  </a:lnTo>
                  <a:lnTo>
                    <a:pt x="0" y="589407"/>
                  </a:lnTo>
                  <a:close/>
                </a:path>
              </a:pathLst>
            </a:custGeom>
            <a:blipFill>
              <a:blip r:embed="rId7">
                <a:alphaModFix amt="0"/>
              </a:blip>
              <a:stretch>
                <a:fillRect l="-84840" t="0" r="-84840" b="0"/>
              </a:stretch>
            </a:blipFill>
          </p:spPr>
        </p:sp>
        <p:sp>
          <p:nvSpPr>
            <p:cNvPr name="TextBox 127" id="127"/>
            <p:cNvSpPr txBox="true"/>
            <p:nvPr/>
          </p:nvSpPr>
          <p:spPr>
            <a:xfrm>
              <a:off x="0" y="-28575"/>
              <a:ext cx="560832" cy="617982"/>
            </a:xfrm>
            <a:prstGeom prst="rect">
              <a:avLst/>
            </a:prstGeom>
          </p:spPr>
          <p:txBody>
            <a:bodyPr anchor="ctr" rtlCol="false" tIns="0" lIns="0" bIns="0" rIns="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pic>
        <p:nvPicPr>
          <p:cNvPr name="Picture 128" id="128"/>
          <p:cNvPicPr>
            <a:picLocks noChangeAspect="true"/>
          </p:cNvPicPr>
          <p:nvPr/>
        </p:nvPicPr>
        <p:blipFill>
          <a:blip r:embed="rId8"/>
          <a:stretch>
            <a:fillRect/>
          </a:stretch>
        </p:blipFill>
        <p:spPr>
          <a:xfrm rot="0">
            <a:off x="-182880" y="1828800"/>
            <a:ext cx="12070080" cy="832104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8 · Ekstrapolasi dan Interpolasi (1/2): Ringkasan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Hanya empat variabel yang diisi dengan ekstrapolasi atau interpolasi; dua variabel lain diisi dengan citra satelit</a:t>
            </a:r>
          </a:p>
        </p:txBody>
      </p:sp>
      <p:graphicFrame>
        <p:nvGraphicFramePr>
          <p:cNvPr id="27" name="Table 26"/>
          <p:cNvGraphicFramePr>
            <a:graphicFrameLocks noGrp="1"/>
          </p:cNvGraphicFramePr>
          <p:nvPr/>
        </p:nvGraphicFramePr>
        <p:xfrm>
          <a:off x="822960" y="1920240"/>
          <a:ext cx="16642080" cy="4754880"/>
        </p:xfrm>
        <a:graphic>
          <a:graphicData uri="http://schemas.openxmlformats.org/drawingml/2006/table">
            <a:tbl>
              <a:tblPr firstRow="1" bandRow="1">
                <a:tableStyleId>{5C22544A-7EE6-4342-B048-85BDC9FD1C3A}</a:tableStyleId>
              </a:tblPr>
              <a:tblGrid>
                <a:gridCol w="2103120"/>
                <a:gridCol w="1371600"/>
                <a:gridCol w="2286000"/>
                <a:gridCol w="4206240"/>
                <a:gridCol w="2194560"/>
                <a:gridCol w="4480560"/>
              </a:tblGrid>
              <a:tr h="411480">
                <a:tc>
                  <a:txBody>
                    <a:bodyPr wrap="square"/>
                    <a:lstStyle/>
                    <a:p>
                      <a:r>
                        <a:rPr sz="1050" b="1" i="0">
                          <a:solidFill>
                            <a:srgbClr val="FFFFFF"/>
                          </a:solidFill>
                          <a:latin typeface="Calibri (MS) Bold"/>
                        </a:rPr>
                        <a:t>Variabel</a:t>
                      </a:r>
                    </a:p>
                  </a:txBody>
                  <a:tcPr marL="73152" marR="73152" marT="36576" marB="36576" anchor="ctr">
                    <a:solidFill>
                      <a:srgbClr val="0B5E6E"/>
                    </a:solidFill>
                  </a:tcPr>
                </a:tc>
                <a:tc>
                  <a:txBody>
                    <a:bodyPr wrap="square"/>
                    <a:lstStyle/>
                    <a:p>
                      <a:r>
                        <a:rPr sz="1050" b="1" i="0">
                          <a:solidFill>
                            <a:srgbClr val="FFFFFF"/>
                          </a:solidFill>
                          <a:latin typeface="Calibri (MS) Bold"/>
                        </a:rPr>
                        <a:t>Tahun diisi</a:t>
                      </a:r>
                    </a:p>
                  </a:txBody>
                  <a:tcPr marL="73152" marR="73152" marT="36576" marB="36576" anchor="ctr">
                    <a:solidFill>
                      <a:srgbClr val="0B5E6E"/>
                    </a:solidFill>
                  </a:tcPr>
                </a:tc>
                <a:tc>
                  <a:txBody>
                    <a:bodyPr wrap="square"/>
                    <a:lstStyle/>
                    <a:p>
                      <a:r>
                        <a:rPr sz="1050" b="1" i="0">
                          <a:solidFill>
                            <a:srgbClr val="FFFFFF"/>
                          </a:solidFill>
                          <a:latin typeface="Calibri (MS) Bold"/>
                        </a:rPr>
                        <a:t>Metode</a:t>
                      </a:r>
                    </a:p>
                  </a:txBody>
                  <a:tcPr marL="73152" marR="73152" marT="36576" marB="36576" anchor="ctr">
                    <a:solidFill>
                      <a:srgbClr val="0B5E6E"/>
                    </a:solidFill>
                  </a:tcPr>
                </a:tc>
                <a:tc>
                  <a:txBody>
                    <a:bodyPr wrap="square"/>
                    <a:lstStyle/>
                    <a:p>
                      <a:r>
                        <a:rPr sz="1050" b="1" i="0">
                          <a:solidFill>
                            <a:srgbClr val="FFFFFF"/>
                          </a:solidFill>
                          <a:latin typeface="Calibri (MS) Bold"/>
                        </a:rPr>
                        <a:t>Rumus</a:t>
                      </a:r>
                    </a:p>
                  </a:txBody>
                  <a:tcPr marL="73152" marR="73152" marT="36576" marB="36576" anchor="ctr">
                    <a:solidFill>
                      <a:srgbClr val="0B5E6E"/>
                    </a:solidFill>
                  </a:tcPr>
                </a:tc>
                <a:tc>
                  <a:txBody>
                    <a:bodyPr wrap="square"/>
                    <a:lstStyle/>
                    <a:p>
                      <a:r>
                        <a:rPr sz="1050" b="1" i="0">
                          <a:solidFill>
                            <a:srgbClr val="FFFFFF"/>
                          </a:solidFill>
                          <a:latin typeface="Calibri (MS) Bold"/>
                        </a:rPr>
                        <a:t>Hasil</a:t>
                      </a:r>
                    </a:p>
                  </a:txBody>
                  <a:tcPr marL="73152" marR="73152" marT="36576" marB="36576" anchor="ctr">
                    <a:solidFill>
                      <a:srgbClr val="0B5E6E"/>
                    </a:solidFill>
                  </a:tcPr>
                </a:tc>
                <a:tc>
                  <a:txBody>
                    <a:bodyPr wrap="square"/>
                    <a:lstStyle/>
                    <a:p>
                      <a:r>
                        <a:rPr sz="1050" b="1" i="0">
                          <a:solidFill>
                            <a:srgbClr val="FFFFFF"/>
                          </a:solidFill>
                          <a:latin typeface="Calibri (MS) Bold"/>
                        </a:rPr>
                        <a:t>Dasar pemilihan</a:t>
                      </a:r>
                    </a:p>
                  </a:txBody>
                  <a:tcPr marL="73152" marR="73152" marT="36576" marB="36576" anchor="ctr">
                    <a:solidFill>
                      <a:srgbClr val="0B5E6E"/>
                    </a:solidFill>
                  </a:tcPr>
                </a:tc>
              </a:tr>
              <a:tr h="868680">
                <a:tc>
                  <a:txBody>
                    <a:bodyPr wrap="square"/>
                    <a:lstStyle/>
                    <a:p>
                      <a:r>
                        <a:rPr sz="1050" b="0" i="0">
                          <a:solidFill>
                            <a:srgbClr val="14313B"/>
                          </a:solidFill>
                          <a:latin typeface="Calibri (MS)"/>
                        </a:rPr>
                        <a:t>Tenaga kerja pariwisata</a:t>
                      </a:r>
                    </a:p>
                  </a:txBody>
                  <a:tcPr marL="73152" marR="73152" marT="36576" marB="36576" anchor="ctr">
                    <a:solidFill>
                      <a:srgbClr val="FFFFFF"/>
                    </a:solidFill>
                  </a:tcPr>
                </a:tc>
                <a:tc>
                  <a:txBody>
                    <a:bodyPr wrap="square"/>
                    <a:lstStyle/>
                    <a:p>
                      <a:r>
                        <a:rPr sz="1050" b="0" i="0">
                          <a:solidFill>
                            <a:srgbClr val="14313B"/>
                          </a:solidFill>
                          <a:latin typeface="Calibri (MS)"/>
                        </a:rPr>
                        <a:t>2015, 2016</a:t>
                      </a:r>
                    </a:p>
                  </a:txBody>
                  <a:tcPr marL="73152" marR="73152" marT="36576" marB="36576" anchor="ctr">
                    <a:solidFill>
                      <a:srgbClr val="FFFFFF"/>
                    </a:solidFill>
                  </a:tcPr>
                </a:tc>
                <a:tc>
                  <a:txBody>
                    <a:bodyPr wrap="square"/>
                    <a:lstStyle/>
                    <a:p>
                      <a:r>
                        <a:rPr sz="1050" b="0" i="0">
                          <a:solidFill>
                            <a:srgbClr val="14313B"/>
                          </a:solidFill>
                          <a:latin typeface="Calibri (MS)"/>
                        </a:rPr>
                        <a:t>Ekstrapolasi mundur CAGR 2017–2025</a:t>
                      </a:r>
                    </a:p>
                  </a:txBody>
                  <a:tcPr marL="73152" marR="73152" marT="36576" marB="36576" anchor="ctr">
                    <a:solidFill>
                      <a:srgbClr val="FFFFFF"/>
                    </a:solidFill>
                  </a:tcPr>
                </a:tc>
                <a:tc>
                  <a:txBody>
                    <a:bodyPr wrap="square"/>
                    <a:lstStyle/>
                    <a:p>
                      <a:r>
                        <a:rPr sz="1050" b="0" i="0">
                          <a:solidFill>
                            <a:srgbClr val="14313B"/>
                          </a:solidFill>
                          <a:latin typeface="Calibri (MS)"/>
                        </a:rPr>
                        <a:t>TKₜ = TKₜ₊₁ ÷ (1 + g);  g = (TK₂₀₂₅/TK₂₀₁₇)^(1/8) − 1 = 3,67%</a:t>
                      </a:r>
                    </a:p>
                  </a:txBody>
                  <a:tcPr marL="73152" marR="73152" marT="36576" marB="36576" anchor="ctr">
                    <a:solidFill>
                      <a:srgbClr val="FFFFFF"/>
                    </a:solidFill>
                  </a:tcPr>
                </a:tc>
                <a:tc>
                  <a:txBody>
                    <a:bodyPr wrap="square"/>
                    <a:lstStyle/>
                    <a:p>
                      <a:r>
                        <a:rPr sz="1050" b="0" i="0">
                          <a:solidFill>
                            <a:srgbClr val="14313B"/>
                          </a:solidFill>
                          <a:latin typeface="Calibri (MS)"/>
                        </a:rPr>
                        <a:t>2016: 263.878
2015: 254.537</a:t>
                      </a:r>
                    </a:p>
                  </a:txBody>
                  <a:tcPr marL="73152" marR="73152" marT="36576" marB="36576" anchor="ctr">
                    <a:solidFill>
                      <a:srgbClr val="FFFFFF"/>
                    </a:solidFill>
                  </a:tcPr>
                </a:tc>
                <a:tc>
                  <a:txBody>
                    <a:bodyPr wrap="square"/>
                    <a:lstStyle/>
                    <a:p>
                      <a:r>
                        <a:rPr sz="1050" b="0" i="0">
                          <a:solidFill>
                            <a:srgbClr val="14313B"/>
                          </a:solidFill>
                          <a:latin typeface="Calibri (MS)"/>
                        </a:rPr>
                        <a:t>NTL (R² selisih 0,070) dan PDRB (R² selisih 0,093) ditolak sebagai penduga</a:t>
                      </a:r>
                    </a:p>
                  </a:txBody>
                  <a:tcPr marL="73152" marR="73152" marT="36576" marB="36576" anchor="ctr">
                    <a:solidFill>
                      <a:srgbClr val="FFFFFF"/>
                    </a:solidFill>
                  </a:tcPr>
                </a:tc>
              </a:tr>
              <a:tr h="868680">
                <a:tc>
                  <a:txBody>
                    <a:bodyPr wrap="square"/>
                    <a:lstStyle/>
                    <a:p>
                      <a:r>
                        <a:rPr sz="1050" b="0" i="0">
                          <a:solidFill>
                            <a:srgbClr val="14313B"/>
                          </a:solidFill>
                          <a:latin typeface="Calibri (MS)"/>
                        </a:rPr>
                        <a:t>Pengeluaran per kunjungan</a:t>
                      </a:r>
                    </a:p>
                  </a:txBody>
                  <a:tcPr marL="73152" marR="73152" marT="36576" marB="36576" anchor="ctr">
                    <a:solidFill>
                      <a:srgbClr val="EAF8FA"/>
                    </a:solidFill>
                  </a:tcPr>
                </a:tc>
                <a:tc>
                  <a:txBody>
                    <a:bodyPr wrap="square"/>
                    <a:lstStyle/>
                    <a:p>
                      <a:r>
                        <a:rPr sz="1050" b="0" i="0">
                          <a:solidFill>
                            <a:srgbClr val="14313B"/>
                          </a:solidFill>
                          <a:latin typeface="Calibri (MS)"/>
                        </a:rPr>
                        <a:t>2015–2017</a:t>
                      </a:r>
                    </a:p>
                  </a:txBody>
                  <a:tcPr marL="73152" marR="73152" marT="36576" marB="36576" anchor="ctr">
                    <a:solidFill>
                      <a:srgbClr val="EAF8FA"/>
                    </a:solidFill>
                  </a:tcPr>
                </a:tc>
                <a:tc>
                  <a:txBody>
                    <a:bodyPr wrap="square"/>
                    <a:lstStyle/>
                    <a:p>
                      <a:r>
                        <a:rPr sz="1050" b="0" i="0">
                          <a:solidFill>
                            <a:srgbClr val="14313B"/>
                          </a:solidFill>
                          <a:latin typeface="Calibri (MS)"/>
                        </a:rPr>
                        <a:t>Ekstrapolasi mundur CAGR 2018–2025</a:t>
                      </a:r>
                    </a:p>
                  </a:txBody>
                  <a:tcPr marL="73152" marR="73152" marT="36576" marB="36576" anchor="ctr">
                    <a:solidFill>
                      <a:srgbClr val="EAF8FA"/>
                    </a:solidFill>
                  </a:tcPr>
                </a:tc>
                <a:tc>
                  <a:txBody>
                    <a:bodyPr wrap="square"/>
                    <a:lstStyle/>
                    <a:p>
                      <a:r>
                        <a:rPr sz="1050" b="0" i="0">
                          <a:solidFill>
                            <a:srgbClr val="14313B"/>
                          </a:solidFill>
                          <a:latin typeface="Calibri (MS)"/>
                        </a:rPr>
                        <a:t>Pₜ = Pₜ₊₁ ÷ (1 + g);  g = (P₂₀₂₅/P₂₀₁₈)^(1/7) − 1 = 10,27%</a:t>
                      </a:r>
                    </a:p>
                  </a:txBody>
                  <a:tcPr marL="73152" marR="73152" marT="36576" marB="36576" anchor="ctr">
                    <a:solidFill>
                      <a:srgbClr val="EAF8FA"/>
                    </a:solidFill>
                  </a:tcPr>
                </a:tc>
                <a:tc>
                  <a:txBody>
                    <a:bodyPr wrap="square"/>
                    <a:lstStyle/>
                    <a:p>
                      <a:r>
                        <a:rPr sz="1050" b="0" i="0">
                          <a:solidFill>
                            <a:srgbClr val="14313B"/>
                          </a:solidFill>
                          <a:latin typeface="Calibri (MS)"/>
                        </a:rPr>
                        <a:t>2015: Rp1.023.749
2016: Rp1.128.845
2017: Rp1.244.730</a:t>
                      </a:r>
                    </a:p>
                  </a:txBody>
                  <a:tcPr marL="73152" marR="73152" marT="36576" marB="36576" anchor="ctr">
                    <a:solidFill>
                      <a:srgbClr val="EAF8FA"/>
                    </a:solidFill>
                  </a:tcPr>
                </a:tc>
                <a:tc>
                  <a:txBody>
                    <a:bodyPr wrap="square"/>
                    <a:lstStyle/>
                    <a:p>
                      <a:r>
                        <a:rPr sz="1050" b="0" i="0">
                          <a:solidFill>
                            <a:srgbClr val="14313B"/>
                          </a:solidFill>
                          <a:latin typeface="Calibri (MS)"/>
                        </a:rPr>
                        <a:t>Wisnus &amp; wisman kosong 2015–2017; jendela penuh meredam lonjakan 2020–2021</a:t>
                      </a:r>
                    </a:p>
                  </a:txBody>
                  <a:tcPr marL="73152" marR="73152" marT="36576" marB="36576" anchor="ctr">
                    <a:solidFill>
                      <a:srgbClr val="EAF8FA"/>
                    </a:solidFill>
                  </a:tcPr>
                </a:tc>
              </a:tr>
              <a:tr h="868680">
                <a:tc>
                  <a:txBody>
                    <a:bodyPr wrap="square"/>
                    <a:lstStyle/>
                    <a:p>
                      <a:r>
                        <a:rPr sz="1050" b="0" i="0">
                          <a:solidFill>
                            <a:srgbClr val="14313B"/>
                          </a:solidFill>
                          <a:latin typeface="Calibri (MS)"/>
                        </a:rPr>
                        <a:t>Lahan terbangun</a:t>
                      </a:r>
                    </a:p>
                  </a:txBody>
                  <a:tcPr marL="73152" marR="73152" marT="36576" marB="36576" anchor="ctr">
                    <a:solidFill>
                      <a:srgbClr val="FFFFFF"/>
                    </a:solidFill>
                  </a:tcPr>
                </a:tc>
                <a:tc>
                  <a:txBody>
                    <a:bodyPr wrap="square"/>
                    <a:lstStyle/>
                    <a:p>
                      <a:r>
                        <a:rPr sz="1050" b="0" i="0">
                          <a:solidFill>
                            <a:srgbClr val="14313B"/>
                          </a:solidFill>
                          <a:latin typeface="Calibri (MS)"/>
                        </a:rPr>
                        <a:t>2015</a:t>
                      </a:r>
                    </a:p>
                  </a:txBody>
                  <a:tcPr marL="73152" marR="73152" marT="36576" marB="36576" anchor="ctr">
                    <a:solidFill>
                      <a:srgbClr val="FFFFFF"/>
                    </a:solidFill>
                  </a:tcPr>
                </a:tc>
                <a:tc>
                  <a:txBody>
                    <a:bodyPr wrap="square"/>
                    <a:lstStyle/>
                    <a:p>
                      <a:r>
                        <a:rPr sz="1050" b="0" i="0">
                          <a:solidFill>
                            <a:srgbClr val="14313B"/>
                          </a:solidFill>
                          <a:latin typeface="Calibri (MS)"/>
                        </a:rPr>
                        <a:t>Ekstrapolasi mundur tren log-linear 2016–2025</a:t>
                      </a:r>
                    </a:p>
                  </a:txBody>
                  <a:tcPr marL="73152" marR="73152" marT="36576" marB="36576" anchor="ctr">
                    <a:solidFill>
                      <a:srgbClr val="FFFFFF"/>
                    </a:solidFill>
                  </a:tcPr>
                </a:tc>
                <a:tc>
                  <a:txBody>
                    <a:bodyPr wrap="square"/>
                    <a:lstStyle/>
                    <a:p>
                      <a:r>
                        <a:rPr sz="1050" b="0" i="0">
                          <a:solidFill>
                            <a:srgbClr val="14313B"/>
                          </a:solidFill>
                          <a:latin typeface="Calibri (MS)"/>
                        </a:rPr>
                        <a:t>ln Lₜ = a + β·t;  β = 0,0348;  L₂₀₁₅ = L₂₀₁₆ ÷ e^β</a:t>
                      </a:r>
                    </a:p>
                  </a:txBody>
                  <a:tcPr marL="73152" marR="73152" marT="36576" marB="36576" anchor="ctr">
                    <a:solidFill>
                      <a:srgbClr val="FFFFFF"/>
                    </a:solidFill>
                  </a:tcPr>
                </a:tc>
                <a:tc>
                  <a:txBody>
                    <a:bodyPr wrap="square"/>
                    <a:lstStyle/>
                    <a:p>
                      <a:r>
                        <a:rPr sz="1050" b="0" i="0">
                          <a:solidFill>
                            <a:srgbClr val="14313B"/>
                          </a:solidFill>
                          <a:latin typeface="Calibri (MS)"/>
                        </a:rPr>
                        <a:t>43.037,00 ha</a:t>
                      </a:r>
                    </a:p>
                  </a:txBody>
                  <a:tcPr marL="73152" marR="73152" marT="36576" marB="36576" anchor="ctr">
                    <a:solidFill>
                      <a:srgbClr val="FFFFFF"/>
                    </a:solidFill>
                  </a:tcPr>
                </a:tc>
                <a:tc>
                  <a:txBody>
                    <a:bodyPr wrap="square"/>
                    <a:lstStyle/>
                    <a:p>
                      <a:r>
                        <a:rPr sz="1050" b="0" i="0">
                          <a:solidFill>
                            <a:srgbClr val="14313B"/>
                          </a:solidFill>
                          <a:latin typeface="Calibri (MS)"/>
                        </a:rPr>
                        <a:t>Dynamic World baru tersedia 2016; nilai tidak dipakai menurunkan parameter</a:t>
                      </a:r>
                    </a:p>
                  </a:txBody>
                  <a:tcPr marL="73152" marR="73152" marT="36576" marB="36576" anchor="ctr">
                    <a:solidFill>
                      <a:srgbClr val="FFFFFF"/>
                    </a:solidFill>
                  </a:tcPr>
                </a:tc>
              </a:tr>
              <a:tr h="868680">
                <a:tc>
                  <a:txBody>
                    <a:bodyPr wrap="square"/>
                    <a:lstStyle/>
                    <a:p>
                      <a:r>
                        <a:rPr sz="1050" b="0" i="0">
                          <a:solidFill>
                            <a:srgbClr val="14313B"/>
                          </a:solidFill>
                          <a:latin typeface="Calibri (MS)"/>
                        </a:rPr>
                        <a:t>Wisman</a:t>
                      </a:r>
                    </a:p>
                  </a:txBody>
                  <a:tcPr marL="73152" marR="73152" marT="36576" marB="36576" anchor="ctr">
                    <a:solidFill>
                      <a:srgbClr val="EAF8FA"/>
                    </a:solidFill>
                  </a:tcPr>
                </a:tc>
                <a:tc>
                  <a:txBody>
                    <a:bodyPr wrap="square"/>
                    <a:lstStyle/>
                    <a:p>
                      <a:r>
                        <a:rPr sz="1050" b="0" i="0">
                          <a:solidFill>
                            <a:srgbClr val="14313B"/>
                          </a:solidFill>
                          <a:latin typeface="Calibri (MS)"/>
                        </a:rPr>
                        <a:t>2021</a:t>
                      </a:r>
                    </a:p>
                  </a:txBody>
                  <a:tcPr marL="73152" marR="73152" marT="36576" marB="36576" anchor="ctr">
                    <a:solidFill>
                      <a:srgbClr val="EAF8FA"/>
                    </a:solidFill>
                  </a:tcPr>
                </a:tc>
                <a:tc>
                  <a:txBody>
                    <a:bodyPr wrap="square"/>
                    <a:lstStyle/>
                    <a:p>
                      <a:r>
                        <a:rPr sz="1050" b="0" i="0">
                          <a:solidFill>
                            <a:srgbClr val="14313B"/>
                          </a:solidFill>
                          <a:latin typeface="Calibri (MS)"/>
                        </a:rPr>
                        <a:t>Interpolasi linear</a:t>
                      </a:r>
                    </a:p>
                  </a:txBody>
                  <a:tcPr marL="73152" marR="73152" marT="36576" marB="36576" anchor="ctr">
                    <a:solidFill>
                      <a:srgbClr val="EAF8FA"/>
                    </a:solidFill>
                  </a:tcPr>
                </a:tc>
                <a:tc>
                  <a:txBody>
                    <a:bodyPr wrap="square"/>
                    <a:lstStyle/>
                    <a:p>
                      <a:r>
                        <a:rPr sz="1050" b="0" i="0">
                          <a:solidFill>
                            <a:srgbClr val="14313B"/>
                          </a:solidFill>
                          <a:latin typeface="Calibri (MS)"/>
                        </a:rPr>
                        <a:t>W₂₀₂₁ = (W₂₀₂₀ + W₂₀₂₂) ÷ 2</a:t>
                      </a:r>
                    </a:p>
                  </a:txBody>
                  <a:tcPr marL="73152" marR="73152" marT="36576" marB="36576" anchor="ctr">
                    <a:solidFill>
                      <a:srgbClr val="EAF8FA"/>
                    </a:solidFill>
                  </a:tcPr>
                </a:tc>
                <a:tc>
                  <a:txBody>
                    <a:bodyPr wrap="square"/>
                    <a:lstStyle/>
                    <a:p>
                      <a:r>
                        <a:rPr sz="1050" b="0" i="0">
                          <a:solidFill>
                            <a:srgbClr val="14313B"/>
                          </a:solidFill>
                          <a:latin typeface="Calibri (MS)"/>
                        </a:rPr>
                        <a:t>15.394,5 kunjungan</a:t>
                      </a:r>
                    </a:p>
                  </a:txBody>
                  <a:tcPr marL="73152" marR="73152" marT="36576" marB="36576" anchor="ctr">
                    <a:solidFill>
                      <a:srgbClr val="EAF8FA"/>
                    </a:solidFill>
                  </a:tcPr>
                </a:tc>
                <a:tc>
                  <a:txBody>
                    <a:bodyPr wrap="square"/>
                    <a:lstStyle/>
                    <a:p>
                      <a:r>
                        <a:rPr sz="1050" b="0" i="0">
                          <a:solidFill>
                            <a:srgbClr val="14313B"/>
                          </a:solidFill>
                          <a:latin typeface="Calibri (MS)"/>
                        </a:rPr>
                        <a:t>Nilai 2021 sama persis dengan rata-rata 2020 dan 2022 (lihat catatan)</a:t>
                      </a:r>
                    </a:p>
                  </a:txBody>
                  <a:tcPr marL="73152" marR="73152" marT="36576" marB="36576" anchor="ctr">
                    <a:solidFill>
                      <a:srgbClr val="EAF8FA"/>
                    </a:solidFill>
                  </a:tcPr>
                </a:tc>
              </a:tr>
              <a:tr h="868680">
                <a:tc>
                  <a:txBody>
                    <a:bodyPr wrap="square"/>
                    <a:lstStyle/>
                    <a:p>
                      <a:r>
                        <a:rPr sz="1050" b="0" i="0">
                          <a:solidFill>
                            <a:srgbClr val="14313B"/>
                          </a:solidFill>
                          <a:latin typeface="Calibri (MS)"/>
                        </a:rPr>
                        <a:t>Jumlah ODTW</a:t>
                      </a:r>
                    </a:p>
                  </a:txBody>
                  <a:tcPr marL="73152" marR="73152" marT="36576" marB="36576" anchor="ctr">
                    <a:solidFill>
                      <a:srgbClr val="EAF8FA"/>
                    </a:solidFill>
                  </a:tcPr>
                </a:tc>
                <a:tc>
                  <a:txBody>
                    <a:bodyPr wrap="square"/>
                    <a:lstStyle/>
                    <a:p>
                      <a:r>
                        <a:rPr sz="1050" b="0" i="0">
                          <a:solidFill>
                            <a:srgbClr val="14313B"/>
                          </a:solidFill>
                          <a:latin typeface="Calibri (MS)"/>
                        </a:rPr>
                        <a:t>2015–2017, 2025</a:t>
                      </a:r>
                    </a:p>
                  </a:txBody>
                  <a:tcPr marL="73152" marR="73152" marT="36576" marB="36576" anchor="ctr">
                    <a:solidFill>
                      <a:srgbClr val="EAF8FA"/>
                    </a:solidFill>
                  </a:tcPr>
                </a:tc>
                <a:tc>
                  <a:txBody>
                    <a:bodyPr wrap="square"/>
                    <a:lstStyle/>
                    <a:p>
                      <a:r>
                        <a:rPr sz="1050" b="0" i="0">
                          <a:solidFill>
                            <a:srgbClr val="14313B"/>
                          </a:solidFill>
                          <a:latin typeface="Calibri (MS)"/>
                        </a:rPr>
                        <a:t>Estimasi regresi NTL (citra)</a:t>
                      </a:r>
                    </a:p>
                  </a:txBody>
                  <a:tcPr marL="73152" marR="73152" marT="36576" marB="36576" anchor="ctr">
                    <a:solidFill>
                      <a:srgbClr val="EAF8FA"/>
                    </a:solidFill>
                  </a:tcPr>
                </a:tc>
                <a:tc>
                  <a:txBody>
                    <a:bodyPr wrap="square"/>
                    <a:lstStyle/>
                    <a:p>
                      <a:r>
                        <a:rPr sz="1050" b="0" i="0">
                          <a:solidFill>
                            <a:srgbClr val="14313B"/>
                          </a:solidFill>
                          <a:latin typeface="Calibri (MS)"/>
                        </a:rPr>
                        <a:t>ODTW = 121,61 + 34,59 × NTL</a:t>
                      </a:r>
                    </a:p>
                  </a:txBody>
                  <a:tcPr marL="73152" marR="73152" marT="36576" marB="36576" anchor="ctr">
                    <a:solidFill>
                      <a:srgbClr val="EAF8FA"/>
                    </a:solidFill>
                  </a:tcPr>
                </a:tc>
                <a:tc>
                  <a:txBody>
                    <a:bodyPr wrap="square"/>
                    <a:lstStyle/>
                    <a:p>
                      <a:r>
                        <a:rPr sz="1050" b="0" i="0">
                          <a:solidFill>
                            <a:srgbClr val="14313B"/>
                          </a:solidFill>
                          <a:latin typeface="Calibri (MS)"/>
                        </a:rPr>
                        <a:t>165, 158, 171, 201</a:t>
                      </a:r>
                    </a:p>
                  </a:txBody>
                  <a:tcPr marL="73152" marR="73152" marT="36576" marB="36576" anchor="ctr">
                    <a:solidFill>
                      <a:srgbClr val="EAF8FA"/>
                    </a:solidFill>
                  </a:tcPr>
                </a:tc>
                <a:tc>
                  <a:txBody>
                    <a:bodyPr wrap="square"/>
                    <a:lstStyle/>
                    <a:p>
                      <a:r>
                        <a:rPr sz="1050" b="0" i="0">
                          <a:solidFill>
                            <a:srgbClr val="14313B"/>
                          </a:solidFill>
                          <a:latin typeface="Calibri (MS)"/>
                        </a:rPr>
                        <a:t>R² selisih 0,405 ≥ 0,30; RMSE LOOCV 5,99% ≤ 10%</a:t>
                      </a:r>
                    </a:p>
                  </a:txBody>
                  <a:tcPr marL="73152" marR="73152" marT="36576" marB="36576" anchor="ctr">
                    <a:solidFill>
                      <a:srgbClr val="EAF8FA"/>
                    </a:solidFill>
                  </a:tcPr>
                </a:tc>
              </a:tr>
            </a:tbl>
          </a:graphicData>
        </a:graphic>
      </p:graphicFrame>
      <p:sp>
        <p:nvSpPr>
          <p:cNvPr id="28" name="Rounded Rectangle 27"/>
          <p:cNvSpPr/>
          <p:nvPr/>
        </p:nvSpPr>
        <p:spPr>
          <a:xfrm>
            <a:off x="822960" y="7680960"/>
            <a:ext cx="16642080" cy="1005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CAGR (compound annual growth rate) dipilih karena menjaga laju pertumbuhan tahunan konstan dan tidak menghasilkan nilai negatif. Interpolasi wisman 2021 disimpulkan dari angka di Master Data (15.394,5 = rata-rata 18.653 dan 12.136); tidak dijelaskan di buku, mohon dicek.</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3.5–3.6; notebook “Ekstrapolasi Tenaga Kerja Pariwisata”, “Perhitungan Pengeluaran wisatawan”; [FIX] Master Data final.xlsx.</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9 · Ekstrapolasi dan Interpolasi (2/2): Hasil</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Seri lengkap setelah pengisian: nilai 2015–2016 (TK) dan 2015–2017 (pengeluaran) adalah hasil ekstrapolasi</a:t>
            </a:r>
          </a:p>
        </p:txBody>
      </p:sp>
      <p:sp>
        <p:nvSpPr>
          <p:cNvPr id="27" name="Rounded Rectangle 26"/>
          <p:cNvSpPr/>
          <p:nvPr/>
        </p:nvSpPr>
        <p:spPr>
          <a:xfrm>
            <a:off x="822960" y="1920240"/>
            <a:ext cx="81381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Tenaga kerja pariwisata (ribu jiwa)</a:t>
            </a:r>
            <a:r>
              <a:rPr sz="1050" b="0" i="0">
                <a:solidFill>
                  <a:srgbClr val="D7EEF2"/>
                </a:solidFill>
                <a:latin typeface="Calibri (MS)"/>
              </a:rPr>
              <a:t>   CAGR 3,67%</a:t>
            </a:r>
          </a:p>
        </p:txBody>
      </p:sp>
      <p:graphicFrame>
        <p:nvGraphicFramePr>
          <p:cNvPr id="28" name="Chart 27"/>
          <p:cNvGraphicFramePr>
            <a:graphicFrameLocks noGrp="1"/>
          </p:cNvGraphicFramePr>
          <p:nvPr/>
        </p:nvGraphicFramePr>
        <p:xfrm>
          <a:off x="822960" y="2423160"/>
          <a:ext cx="8138160" cy="2743200"/>
        </p:xfrm>
        <a:graphic>
          <a:graphicData uri="http://schemas.openxmlformats.org/drawingml/2006/chart">
            <c:chart xmlns:c="http://schemas.openxmlformats.org/drawingml/2006/chart" r:id="rId7"/>
          </a:graphicData>
        </a:graphic>
      </p:graphicFrame>
      <p:graphicFrame>
        <p:nvGraphicFramePr>
          <p:cNvPr id="29" name="Table 28"/>
          <p:cNvGraphicFramePr>
            <a:graphicFrameLocks noGrp="1"/>
          </p:cNvGraphicFramePr>
          <p:nvPr/>
        </p:nvGraphicFramePr>
        <p:xfrm>
          <a:off x="822960" y="5257800"/>
          <a:ext cx="8138158" cy="658368"/>
        </p:xfrm>
        <a:graphic>
          <a:graphicData uri="http://schemas.openxmlformats.org/drawingml/2006/table">
            <a:tbl>
              <a:tblPr firstRow="1" bandRow="1">
                <a:tableStyleId>{5C22544A-7EE6-4342-B048-85BDC9FD1C3A}</a:tableStyleId>
              </a:tblPr>
              <a:tblGrid>
                <a:gridCol w="2199502"/>
                <a:gridCol w="742332"/>
                <a:gridCol w="742332"/>
                <a:gridCol w="742332"/>
                <a:gridCol w="742332"/>
                <a:gridCol w="742332"/>
                <a:gridCol w="742332"/>
                <a:gridCol w="742332"/>
                <a:gridCol w="742332"/>
              </a:tblGrid>
              <a:tr h="329184">
                <a:tc>
                  <a:txBody>
                    <a:bodyPr wrap="square"/>
                    <a:lstStyle/>
                    <a:p>
                      <a:r>
                        <a:rPr sz="900" b="1" i="0">
                          <a:solidFill>
                            <a:srgbClr val="FFFFFF"/>
                          </a:solidFill>
                          <a:latin typeface="Calibri (MS) Bold"/>
                        </a:rPr>
                        <a:t>Jendela CAGR (dari 2017)</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2017–18</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2017–19</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2017–20</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2017–21</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2017–22</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2017–23</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2017–24</a:t>
                      </a:r>
                    </a:p>
                  </a:txBody>
                  <a:tcPr marL="73152" marR="73152" marT="36576" marB="36576" anchor="ctr">
                    <a:solidFill>
                      <a:srgbClr val="0B5E6E"/>
                    </a:solidFill>
                  </a:tcPr>
                </a:tc>
                <a:tc>
                  <a:txBody>
                    <a:bodyPr wrap="square"/>
                    <a:lstStyle/>
                    <a:p>
                      <a:pPr algn="ctr"/>
                      <a:r>
                        <a:rPr sz="900" b="1" i="0">
                          <a:solidFill>
                            <a:srgbClr val="FFFFFF"/>
                          </a:solidFill>
                          <a:latin typeface="Calibri (MS) Bold"/>
                        </a:rPr>
                        <a:t>2017–25</a:t>
                      </a:r>
                    </a:p>
                  </a:txBody>
                  <a:tcPr marL="73152" marR="73152" marT="36576" marB="36576" anchor="ctr">
                    <a:solidFill>
                      <a:srgbClr val="0B5E6E"/>
                    </a:solidFill>
                  </a:tcPr>
                </a:tc>
              </a:tr>
              <a:tr h="329184">
                <a:tc>
                  <a:txBody>
                    <a:bodyPr wrap="square"/>
                    <a:lstStyle/>
                    <a:p>
                      <a:r>
                        <a:rPr sz="900" b="0" i="0">
                          <a:solidFill>
                            <a:srgbClr val="14313B"/>
                          </a:solidFill>
                          <a:latin typeface="Calibri (MS)"/>
                        </a:rPr>
                        <a:t>CAGR</a:t>
                      </a:r>
                    </a:p>
                  </a:txBody>
                  <a:tcPr marL="73152" marR="73152" marT="36576" marB="36576" anchor="ctr">
                    <a:solidFill>
                      <a:srgbClr val="FFFFFF"/>
                    </a:solidFill>
                  </a:tcPr>
                </a:tc>
                <a:tc>
                  <a:txBody>
                    <a:bodyPr wrap="square"/>
                    <a:lstStyle/>
                    <a:p>
                      <a:pPr algn="ctr"/>
                      <a:r>
                        <a:rPr sz="900" b="0" i="0">
                          <a:solidFill>
                            <a:srgbClr val="14313B"/>
                          </a:solidFill>
                          <a:latin typeface="Calibri (MS)"/>
                        </a:rPr>
                        <a:t>+29,65%*</a:t>
                      </a:r>
                    </a:p>
                  </a:txBody>
                  <a:tcPr marL="73152" marR="73152" marT="36576" marB="36576" anchor="ctr">
                    <a:solidFill>
                      <a:srgbClr val="FFFFFF"/>
                    </a:solidFill>
                  </a:tcPr>
                </a:tc>
                <a:tc>
                  <a:txBody>
                    <a:bodyPr wrap="square"/>
                    <a:lstStyle/>
                    <a:p>
                      <a:pPr algn="ctr"/>
                      <a:r>
                        <a:rPr sz="900" b="0" i="0">
                          <a:solidFill>
                            <a:srgbClr val="14313B"/>
                          </a:solidFill>
                          <a:latin typeface="Calibri (MS)"/>
                        </a:rPr>
                        <a:t>+10,63%</a:t>
                      </a:r>
                    </a:p>
                  </a:txBody>
                  <a:tcPr marL="73152" marR="73152" marT="36576" marB="36576" anchor="ctr">
                    <a:solidFill>
                      <a:srgbClr val="FFFFFF"/>
                    </a:solidFill>
                  </a:tcPr>
                </a:tc>
                <a:tc>
                  <a:txBody>
                    <a:bodyPr wrap="square"/>
                    <a:lstStyle/>
                    <a:p>
                      <a:pPr algn="ctr"/>
                      <a:r>
                        <a:rPr sz="900" b="0" i="0">
                          <a:solidFill>
                            <a:srgbClr val="14313B"/>
                          </a:solidFill>
                          <a:latin typeface="Calibri (MS)"/>
                        </a:rPr>
                        <a:t>+4,68%</a:t>
                      </a:r>
                    </a:p>
                  </a:txBody>
                  <a:tcPr marL="73152" marR="73152" marT="36576" marB="36576" anchor="ctr">
                    <a:solidFill>
                      <a:srgbClr val="FFFFFF"/>
                    </a:solidFill>
                  </a:tcPr>
                </a:tc>
                <a:tc>
                  <a:txBody>
                    <a:bodyPr wrap="square"/>
                    <a:lstStyle/>
                    <a:p>
                      <a:pPr algn="ctr"/>
                      <a:r>
                        <a:rPr sz="900" b="0" i="0">
                          <a:solidFill>
                            <a:srgbClr val="14313B"/>
                          </a:solidFill>
                          <a:latin typeface="Calibri (MS)"/>
                        </a:rPr>
                        <a:t>+3,24%</a:t>
                      </a:r>
                    </a:p>
                  </a:txBody>
                  <a:tcPr marL="73152" marR="73152" marT="36576" marB="36576" anchor="ctr">
                    <a:solidFill>
                      <a:srgbClr val="FFFFFF"/>
                    </a:solidFill>
                  </a:tcPr>
                </a:tc>
                <a:tc>
                  <a:txBody>
                    <a:bodyPr wrap="square"/>
                    <a:lstStyle/>
                    <a:p>
                      <a:pPr algn="ctr"/>
                      <a:r>
                        <a:rPr sz="900" b="0" i="0">
                          <a:solidFill>
                            <a:srgbClr val="14313B"/>
                          </a:solidFill>
                          <a:latin typeface="Calibri (MS)"/>
                        </a:rPr>
                        <a:t>+7,64%</a:t>
                      </a:r>
                    </a:p>
                  </a:txBody>
                  <a:tcPr marL="73152" marR="73152" marT="36576" marB="36576" anchor="ctr">
                    <a:solidFill>
                      <a:srgbClr val="FFFFFF"/>
                    </a:solidFill>
                  </a:tcPr>
                </a:tc>
                <a:tc>
                  <a:txBody>
                    <a:bodyPr wrap="square"/>
                    <a:lstStyle/>
                    <a:p>
                      <a:pPr algn="ctr"/>
                      <a:r>
                        <a:rPr sz="900" b="0" i="0">
                          <a:solidFill>
                            <a:srgbClr val="14313B"/>
                          </a:solidFill>
                          <a:latin typeface="Calibri (MS)"/>
                        </a:rPr>
                        <a:t>+4,65%</a:t>
                      </a:r>
                    </a:p>
                  </a:txBody>
                  <a:tcPr marL="73152" marR="73152" marT="36576" marB="36576" anchor="ctr">
                    <a:solidFill>
                      <a:srgbClr val="FFFFFF"/>
                    </a:solidFill>
                  </a:tcPr>
                </a:tc>
                <a:tc>
                  <a:txBody>
                    <a:bodyPr wrap="square"/>
                    <a:lstStyle/>
                    <a:p>
                      <a:pPr algn="ctr"/>
                      <a:r>
                        <a:rPr sz="900" b="0" i="0">
                          <a:solidFill>
                            <a:srgbClr val="14313B"/>
                          </a:solidFill>
                          <a:latin typeface="Calibri (MS)"/>
                        </a:rPr>
                        <a:t>+3,62%</a:t>
                      </a:r>
                    </a:p>
                  </a:txBody>
                  <a:tcPr marL="73152" marR="73152" marT="36576" marB="36576" anchor="ctr">
                    <a:solidFill>
                      <a:srgbClr val="FFFFFF"/>
                    </a:solidFill>
                  </a:tcPr>
                </a:tc>
                <a:tc>
                  <a:txBody>
                    <a:bodyPr wrap="square"/>
                    <a:lstStyle/>
                    <a:p>
                      <a:pPr algn="ctr"/>
                      <a:r>
                        <a:rPr sz="900" b="0" i="0">
                          <a:solidFill>
                            <a:srgbClr val="14313B"/>
                          </a:solidFill>
                          <a:latin typeface="Calibri (MS)"/>
                        </a:rPr>
                        <a:t>+3,67%</a:t>
                      </a:r>
                    </a:p>
                  </a:txBody>
                  <a:tcPr marL="73152" marR="73152" marT="36576" marB="36576" anchor="ctr">
                    <a:solidFill>
                      <a:srgbClr val="C9F0D6"/>
                    </a:solidFill>
                  </a:tcPr>
                </a:tc>
              </a:tr>
            </a:tbl>
          </a:graphicData>
        </a:graphic>
      </p:graphicFrame>
      <p:sp>
        <p:nvSpPr>
          <p:cNvPr id="30" name="TextBox 29"/>
          <p:cNvSpPr txBox="1"/>
          <p:nvPr/>
        </p:nvSpPr>
        <p:spPr>
          <a:xfrm>
            <a:off x="822960" y="5943600"/>
            <a:ext cx="8138160" cy="548640"/>
          </a:xfrm>
          <a:prstGeom prst="rect">
            <a:avLst/>
          </a:prstGeom>
          <a:noFill/>
        </p:spPr>
        <p:txBody>
          <a:bodyPr wrap="square" anchor="t" lIns="0" rIns="0" tIns="0" bIns="0">
            <a:spAutoFit/>
          </a:bodyPr>
          <a:lstStyle/>
          <a:p>
            <a:pPr algn="l">
              <a:spcAft>
                <a:spcPts val="400"/>
              </a:spcAft>
            </a:pPr>
            <a:r>
              <a:rPr sz="950" b="0" i="1">
                <a:solidFill>
                  <a:srgbClr val="5E6E78"/>
                </a:solidFill>
                <a:latin typeface="Calibri (MS)"/>
              </a:rPr>
              <a:t>*dikeluarkan karena diskontinuitas 2017→2018. Dipilih jendela terpanjang 2017–2025 (hijau).</a:t>
            </a:r>
          </a:p>
        </p:txBody>
      </p:sp>
      <p:sp>
        <p:nvSpPr>
          <p:cNvPr id="31" name="Rounded Rectangle 30"/>
          <p:cNvSpPr/>
          <p:nvPr/>
        </p:nvSpPr>
        <p:spPr>
          <a:xfrm>
            <a:off x="9326880" y="1920240"/>
            <a:ext cx="81381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Pengeluaran per kunjungan (ribu Rp)</a:t>
            </a:r>
            <a:r>
              <a:rPr sz="1050" b="0" i="0">
                <a:solidFill>
                  <a:srgbClr val="D7EEF2"/>
                </a:solidFill>
                <a:latin typeface="Calibri (MS)"/>
              </a:rPr>
              <a:t>   CAGR 10,27%</a:t>
            </a:r>
          </a:p>
        </p:txBody>
      </p:sp>
      <p:graphicFrame>
        <p:nvGraphicFramePr>
          <p:cNvPr id="32" name="Chart 31"/>
          <p:cNvGraphicFramePr>
            <a:graphicFrameLocks noGrp="1"/>
          </p:cNvGraphicFramePr>
          <p:nvPr/>
        </p:nvGraphicFramePr>
        <p:xfrm>
          <a:off x="9326880" y="2423160"/>
          <a:ext cx="8138160" cy="2743200"/>
        </p:xfrm>
        <a:graphic>
          <a:graphicData uri="http://schemas.openxmlformats.org/drawingml/2006/chart">
            <c:chart xmlns:c="http://schemas.openxmlformats.org/drawingml/2006/chart" r:id="rId8"/>
          </a:graphicData>
        </a:graphic>
      </p:graphicFrame>
      <p:sp>
        <p:nvSpPr>
          <p:cNvPr id="33" name="Rounded Rectangle 32"/>
          <p:cNvSpPr/>
          <p:nvPr/>
        </p:nvSpPr>
        <p:spPr>
          <a:xfrm>
            <a:off x="9326880" y="5257800"/>
            <a:ext cx="813816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0" i="1">
                <a:solidFill>
                  <a:srgbClr val="14313B"/>
                </a:solidFill>
                <a:latin typeface="Calibri (MS)"/>
              </a:rPr>
              <a:t>Pengeluaran gabungan = (Wisnus × P_wisnus + Wisman × P_wisman) ÷ (Wisnus + Wisman)</a:t>
            </a:r>
          </a:p>
          <a:p>
            <a:pPr algn="l">
              <a:spcAft>
                <a:spcPts val="300"/>
              </a:spcAft>
            </a:pPr>
            <a:r>
              <a:rPr sz="1100" b="0" i="1">
                <a:solidFill>
                  <a:srgbClr val="14313B"/>
                </a:solidFill>
                <a:latin typeface="Calibri (MS)"/>
              </a:rPr>
              <a:t>P_wisman (US$) × kurs tengah BI; P_wisnus khusus DIY (ribu Rp)</a:t>
            </a:r>
          </a:p>
        </p:txBody>
      </p:sp>
      <p:sp>
        <p:nvSpPr>
          <p:cNvPr id="34" name="Rounded Rectangle 33"/>
          <p:cNvSpPr/>
          <p:nvPr/>
        </p:nvSpPr>
        <p:spPr>
          <a:xfrm>
            <a:off x="822960" y="662940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Lahan terbangun 2015 dan wisman 2021</a:t>
            </a:r>
          </a:p>
        </p:txBody>
      </p:sp>
      <p:graphicFrame>
        <p:nvGraphicFramePr>
          <p:cNvPr id="35" name="Table 34"/>
          <p:cNvGraphicFramePr>
            <a:graphicFrameLocks noGrp="1"/>
          </p:cNvGraphicFramePr>
          <p:nvPr/>
        </p:nvGraphicFramePr>
        <p:xfrm>
          <a:off x="822960" y="7132320"/>
          <a:ext cx="16642080" cy="1389888"/>
        </p:xfrm>
        <a:graphic>
          <a:graphicData uri="http://schemas.openxmlformats.org/drawingml/2006/table">
            <a:tbl>
              <a:tblPr firstRow="1" bandRow="1">
                <a:tableStyleId>{5C22544A-7EE6-4342-B048-85BDC9FD1C3A}</a:tableStyleId>
              </a:tblPr>
              <a:tblGrid>
                <a:gridCol w="2011680"/>
                <a:gridCol w="8412480"/>
                <a:gridCol w="6217920"/>
              </a:tblGrid>
              <a:tr h="347472">
                <a:tc>
                  <a:txBody>
                    <a:bodyPr wrap="square"/>
                    <a:lstStyle/>
                    <a:p>
                      <a:r>
                        <a:rPr sz="1000" b="1" i="0">
                          <a:solidFill>
                            <a:srgbClr val="FFFFFF"/>
                          </a:solidFill>
                          <a:latin typeface="Calibri (MS) Bold"/>
                        </a:rPr>
                        <a:t>Langkah</a:t>
                      </a:r>
                    </a:p>
                  </a:txBody>
                  <a:tcPr marL="73152" marR="73152" marT="36576" marB="36576" anchor="ctr">
                    <a:solidFill>
                      <a:srgbClr val="0B5E6E"/>
                    </a:solidFill>
                  </a:tcPr>
                </a:tc>
                <a:tc>
                  <a:txBody>
                    <a:bodyPr wrap="square"/>
                    <a:lstStyle/>
                    <a:p>
                      <a:r>
                        <a:rPr sz="1000" b="1" i="0">
                          <a:solidFill>
                            <a:srgbClr val="FFFFFF"/>
                          </a:solidFill>
                          <a:latin typeface="Calibri (MS) Bold"/>
                        </a:rPr>
                        <a:t>Lahan terbangun 2015</a:t>
                      </a:r>
                    </a:p>
                  </a:txBody>
                  <a:tcPr marL="73152" marR="73152" marT="36576" marB="36576" anchor="ctr">
                    <a:solidFill>
                      <a:srgbClr val="0B5E6E"/>
                    </a:solidFill>
                  </a:tcPr>
                </a:tc>
                <a:tc>
                  <a:txBody>
                    <a:bodyPr wrap="square"/>
                    <a:lstStyle/>
                    <a:p>
                      <a:r>
                        <a:rPr sz="1000" b="1" i="0">
                          <a:solidFill>
                            <a:srgbClr val="FFFFFF"/>
                          </a:solidFill>
                          <a:latin typeface="Calibri (MS) Bold"/>
                        </a:rPr>
                        <a:t>Wisman 2021</a:t>
                      </a:r>
                    </a:p>
                  </a:txBody>
                  <a:tcPr marL="73152" marR="73152" marT="36576" marB="36576" anchor="ctr">
                    <a:solidFill>
                      <a:srgbClr val="0B5E6E"/>
                    </a:solidFill>
                  </a:tcPr>
                </a:tc>
              </a:tr>
              <a:tr h="347472">
                <a:tc>
                  <a:txBody>
                    <a:bodyPr wrap="square"/>
                    <a:lstStyle/>
                    <a:p>
                      <a:r>
                        <a:rPr sz="1000" b="0" i="0">
                          <a:solidFill>
                            <a:srgbClr val="14313B"/>
                          </a:solidFill>
                          <a:latin typeface="Calibri (MS)"/>
                        </a:rPr>
                        <a:t>Data acuan</a:t>
                      </a:r>
                    </a:p>
                  </a:txBody>
                  <a:tcPr marL="73152" marR="73152" marT="36576" marB="36576" anchor="ctr">
                    <a:solidFill>
                      <a:srgbClr val="FFFFFF"/>
                    </a:solidFill>
                  </a:tcPr>
                </a:tc>
                <a:tc>
                  <a:txBody>
                    <a:bodyPr wrap="square"/>
                    <a:lstStyle/>
                    <a:p>
                      <a:r>
                        <a:rPr sz="1000" b="0" i="0">
                          <a:solidFill>
                            <a:srgbClr val="14313B"/>
                          </a:solidFill>
                          <a:latin typeface="Calibri (MS)"/>
                        </a:rPr>
                        <a:t>L₂₀₁₆ = 44.561,08 ha; regresi ln L 2016–2025 → β = 0,0348 (e^β − 1 = 3,54%/tahun)</a:t>
                      </a:r>
                    </a:p>
                  </a:txBody>
                  <a:tcPr marL="73152" marR="73152" marT="36576" marB="36576" anchor="ctr">
                    <a:solidFill>
                      <a:srgbClr val="FFFFFF"/>
                    </a:solidFill>
                  </a:tcPr>
                </a:tc>
                <a:tc>
                  <a:txBody>
                    <a:bodyPr wrap="square"/>
                    <a:lstStyle/>
                    <a:p>
                      <a:r>
                        <a:rPr sz="1000" b="0" i="0">
                          <a:solidFill>
                            <a:srgbClr val="14313B"/>
                          </a:solidFill>
                          <a:latin typeface="Calibri (MS)"/>
                        </a:rPr>
                        <a:t>W₂₀₂₀ = 18.653; W₂₀₂₂ = 12.136</a:t>
                      </a:r>
                    </a:p>
                  </a:txBody>
                  <a:tcPr marL="73152" marR="73152" marT="36576" marB="36576" anchor="ctr">
                    <a:solidFill>
                      <a:srgbClr val="FFFFFF"/>
                    </a:solidFill>
                  </a:tcPr>
                </a:tc>
              </a:tr>
              <a:tr h="347472">
                <a:tc>
                  <a:txBody>
                    <a:bodyPr wrap="square"/>
                    <a:lstStyle/>
                    <a:p>
                      <a:r>
                        <a:rPr sz="1000" b="0" i="0">
                          <a:solidFill>
                            <a:srgbClr val="14313B"/>
                          </a:solidFill>
                          <a:latin typeface="Calibri (MS)"/>
                        </a:rPr>
                        <a:t>Perhitungan</a:t>
                      </a:r>
                    </a:p>
                  </a:txBody>
                  <a:tcPr marL="73152" marR="73152" marT="36576" marB="36576" anchor="ctr">
                    <a:solidFill>
                      <a:srgbClr val="EAF8FA"/>
                    </a:solidFill>
                  </a:tcPr>
                </a:tc>
                <a:tc>
                  <a:txBody>
                    <a:bodyPr wrap="square"/>
                    <a:lstStyle/>
                    <a:p>
                      <a:r>
                        <a:rPr sz="1000" b="0" i="0">
                          <a:solidFill>
                            <a:srgbClr val="14313B"/>
                          </a:solidFill>
                          <a:latin typeface="Calibri (MS)"/>
                        </a:rPr>
                        <a:t>44.561,08 ÷ e^0,0348 = 43.037,00 ha</a:t>
                      </a:r>
                    </a:p>
                  </a:txBody>
                  <a:tcPr marL="73152" marR="73152" marT="36576" marB="36576" anchor="ctr">
                    <a:solidFill>
                      <a:srgbClr val="EAF8FA"/>
                    </a:solidFill>
                  </a:tcPr>
                </a:tc>
                <a:tc>
                  <a:txBody>
                    <a:bodyPr wrap="square"/>
                    <a:lstStyle/>
                    <a:p>
                      <a:r>
                        <a:rPr sz="1000" b="0" i="0">
                          <a:solidFill>
                            <a:srgbClr val="14313B"/>
                          </a:solidFill>
                          <a:latin typeface="Calibri (MS)"/>
                        </a:rPr>
                        <a:t>(18.653 + 12.136) ÷ 2 = 15.394,5</a:t>
                      </a:r>
                    </a:p>
                  </a:txBody>
                  <a:tcPr marL="73152" marR="73152" marT="36576" marB="36576" anchor="ctr">
                    <a:solidFill>
                      <a:srgbClr val="EAF8FA"/>
                    </a:solidFill>
                  </a:tcPr>
                </a:tc>
              </a:tr>
              <a:tr h="347472">
                <a:tc>
                  <a:txBody>
                    <a:bodyPr wrap="square"/>
                    <a:lstStyle/>
                    <a:p>
                      <a:r>
                        <a:rPr sz="1000" b="0" i="0">
                          <a:solidFill>
                            <a:srgbClr val="14313B"/>
                          </a:solidFill>
                          <a:latin typeface="Calibri (MS)"/>
                        </a:rPr>
                        <a:t>Pemakaian</a:t>
                      </a:r>
                    </a:p>
                  </a:txBody>
                  <a:tcPr marL="73152" marR="73152" marT="36576" marB="36576" anchor="ctr">
                    <a:solidFill>
                      <a:srgbClr val="FFFFFF"/>
                    </a:solidFill>
                  </a:tcPr>
                </a:tc>
                <a:tc>
                  <a:txBody>
                    <a:bodyPr wrap="square"/>
                    <a:lstStyle/>
                    <a:p>
                      <a:r>
                        <a:rPr sz="1000" b="0" i="0">
                          <a:solidFill>
                            <a:srgbClr val="14313B"/>
                          </a:solidFill>
                          <a:latin typeface="Calibri (MS)"/>
                        </a:rPr>
                        <a:t>Hanya pelengkap seri; tidak dipakai menurunkan parameter</a:t>
                      </a:r>
                    </a:p>
                  </a:txBody>
                  <a:tcPr marL="73152" marR="73152" marT="36576" marB="36576" anchor="ctr">
                    <a:solidFill>
                      <a:srgbClr val="FFFFFF"/>
                    </a:solidFill>
                  </a:tcPr>
                </a:tc>
                <a:tc>
                  <a:txBody>
                    <a:bodyPr wrap="square"/>
                    <a:lstStyle/>
                    <a:p>
                      <a:r>
                        <a:rPr sz="1000" b="0" i="0">
                          <a:solidFill>
                            <a:srgbClr val="14313B"/>
                          </a:solidFill>
                          <a:latin typeface="Calibri (MS)"/>
                        </a:rPr>
                        <a:t>Masuk ke jumlah wisatawan 2021 = 22.849.394,5</a:t>
                      </a:r>
                    </a:p>
                  </a:txBody>
                  <a:tcPr marL="73152" marR="73152" marT="36576" marB="36576" anchor="ctr">
                    <a:solidFill>
                      <a:srgbClr val="FFFFFF"/>
                    </a:solidFill>
                  </a:tcPr>
                </a:tc>
              </a:tr>
            </a:tbl>
          </a:graphicData>
        </a:graphic>
      </p:graphicFrame>
      <p:sp>
        <p:nvSpPr>
          <p:cNvPr id="36" name="TextBox 35"/>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notebook ekstrapolasi (repository); [FIX] Master Data final.xlsx (sheet Tahap 0: β₁ = 0,0348). Rumus lahan 2015 = L₂₀₁₆/e^β direkonstruksi dari nilai Master Data.</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Kategori IRTS 2008 dan KBLI 2020</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graphicFrame>
        <p:nvGraphicFramePr>
          <p:cNvPr name="Table 26" id="26"/>
          <p:cNvGraphicFramePr>
            <a:graphicFrameLocks noGrp="true"/>
          </p:cNvGraphicFramePr>
          <p:nvPr/>
        </p:nvGraphicFramePr>
        <p:xfrm>
          <a:off x="822960" y="1828800"/>
          <a:ext cx="16637000" cy="6400800"/>
        </p:xfrm>
        <a:graphic>
          <a:graphicData uri="http://schemas.openxmlformats.org/drawingml/2006/table">
            <a:tbl>
              <a:tblPr/>
              <a:tblGrid>
                <a:gridCol w="639885"/>
                <a:gridCol w="6398846"/>
                <a:gridCol w="6398846"/>
                <a:gridCol w="3199423"/>
              </a:tblGrid>
              <a:tr h="4572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No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Aktivitas karakteristik pariwisata (IRTS 2008)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KBLI 2020 (kategori · golongan pokok)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Dipakai di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Akomodasi untuk pengunjung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I · 55 Penyediaan akomodasi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Penyediaan makanan dan minuman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I · 56 Penyediaan makanan dan minuman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Angkutan penumpang kereta api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 · 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Angkutan penumpang jalan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 · 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Angkutan penumpang air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 · 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Angkutan penumpang udara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 · 51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Penyewaan alat transportasi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N · 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Agen perjalanan dan jasa reservasi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N · 79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Aktivitas budaya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 · 90 Kesenian, 91 Perpustakaan, museum, budaya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Ya (ODTW: 91)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Aktivitas olahraga dan rekreasi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 · 93 Olahraga dan rekreasi lainnya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Ya (ODTW: 93)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Perdagangan eceran barang khas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G · 47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Aktivitas khas pariwisata lainnya (ditetapkan tiap negara)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Sesuai penetapan negara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Tidak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788"/>
                        </a:lnSpc>
                        <a:defRPr/>
                      </a:pPr>
                      <a:r>
                        <a:rPr lang="en-US" sz="149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Bukan kategori IRTS: jasa lainnya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 T, 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Ikut terhitung*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r>
            </a:tbl>
          </a:graphicData>
        </a:graphic>
      </p:graphicFrame>
      <p:grpSp>
        <p:nvGrpSpPr>
          <p:cNvPr name="Group 27" id="27"/>
          <p:cNvGrpSpPr/>
          <p:nvPr/>
        </p:nvGrpSpPr>
        <p:grpSpPr>
          <a:xfrm rot="0">
            <a:off x="816607" y="8314687"/>
            <a:ext cx="16654777" cy="881377"/>
            <a:chOff x="0" y="0"/>
            <a:chExt cx="22206369" cy="1175169"/>
          </a:xfrm>
        </p:grpSpPr>
        <p:sp>
          <p:nvSpPr>
            <p:cNvPr name="Freeform 28" id="28"/>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sp>
        <p:sp>
          <p:nvSpPr>
            <p:cNvPr name="TextBox 29" id="29"/>
            <p:cNvSpPr txBox="true"/>
            <p:nvPr/>
          </p:nvSpPr>
          <p:spPr>
            <a:xfrm>
              <a:off x="0" y="-38100"/>
              <a:ext cx="22206369" cy="1213269"/>
            </a:xfrm>
            <a:prstGeom prst="rect">
              <a:avLst/>
            </a:prstGeom>
          </p:spPr>
          <p:txBody>
            <a:bodyPr anchor="ctr"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Cakupan model  </a:t>
              </a:r>
              <a:r>
                <a:rPr lang="en-US" sz="1439">
                  <a:solidFill>
                    <a:srgbClr val="14313B"/>
                  </a:solidFill>
                  <a:latin typeface="Calibri (MS)"/>
                  <a:ea typeface="Calibri (MS)"/>
                  <a:cs typeface="Calibri (MS)"/>
                  <a:sym typeface="Calibri (MS)"/>
                </a:rPr>
                <a:t>PDRB dan tenaga kerja pariwisata memakai KBLI kategori I dan R, S, T, U; jumlah ODTW dikodekan pada golongan 91 dan 93. *S, T, U ikut karena BPS menyajikan R, S, T, U dalam satu kelompok, sehingga nilai sektor pariwisata cenderung lebih besar.</a:t>
              </a:r>
            </a:p>
          </p:txBody>
        </p:sp>
      </p:grpSp>
      <p:sp>
        <p:nvSpPr>
          <p:cNvPr name="TextBox 30" id="30"/>
          <p:cNvSpPr txBox="true"/>
          <p:nvPr/>
        </p:nvSpPr>
        <p:spPr>
          <a:xfrm rot="0">
            <a:off x="822960" y="9262110"/>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UN &amp; UNWTO (2008), IRTS 2008 (daftar aktivitas karakteristik pariwisata); BPS, KBLI 2020; Buku Subbab 2.1 dan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11 · Usulan Data Proxy Berbasis Citra</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Citra dipakai hanya untuk variabel yang data resminya tidak lengkap; tiap usulan diuji dulu sebelum dipakai</a:t>
            </a:r>
          </a:p>
        </p:txBody>
      </p:sp>
      <p:graphicFrame>
        <p:nvGraphicFramePr>
          <p:cNvPr id="27" name="Table 26"/>
          <p:cNvGraphicFramePr>
            <a:graphicFrameLocks noGrp="1"/>
          </p:cNvGraphicFramePr>
          <p:nvPr/>
        </p:nvGraphicFramePr>
        <p:xfrm>
          <a:off x="822960" y="1920240"/>
          <a:ext cx="16642080" cy="4937760"/>
        </p:xfrm>
        <a:graphic>
          <a:graphicData uri="http://schemas.openxmlformats.org/drawingml/2006/table">
            <a:tbl>
              <a:tblPr firstRow="1" bandRow="1">
                <a:tableStyleId>{5C22544A-7EE6-4342-B048-85BDC9FD1C3A}</a:tableStyleId>
              </a:tblPr>
              <a:tblGrid>
                <a:gridCol w="411480"/>
                <a:gridCol w="1371600"/>
                <a:gridCol w="1920240"/>
                <a:gridCol w="2286000"/>
                <a:gridCol w="914400"/>
                <a:gridCol w="1371600"/>
                <a:gridCol w="1280160"/>
                <a:gridCol w="1371600"/>
                <a:gridCol w="1554480"/>
                <a:gridCol w="1737360"/>
                <a:gridCol w="914400"/>
                <a:gridCol w="1508760"/>
              </a:tblGrid>
              <a:tr h="548640">
                <a:tc>
                  <a:txBody>
                    <a:bodyPr wrap="square"/>
                    <a:lstStyle/>
                    <a:p>
                      <a:pPr algn="ctr"/>
                      <a:r>
                        <a:rPr sz="950" b="1" i="0">
                          <a:solidFill>
                            <a:srgbClr val="FFFFFF"/>
                          </a:solidFill>
                          <a:latin typeface="Calibri (MS) Bold"/>
                        </a:rPr>
                        <a:t>No</a:t>
                      </a:r>
                    </a:p>
                  </a:txBody>
                  <a:tcPr marL="73152" marR="73152" marT="36576" marB="36576" anchor="ctr">
                    <a:solidFill>
                      <a:srgbClr val="0B5E6E"/>
                    </a:solidFill>
                  </a:tcPr>
                </a:tc>
                <a:tc>
                  <a:txBody>
                    <a:bodyPr wrap="square"/>
                    <a:lstStyle/>
                    <a:p>
                      <a:r>
                        <a:rPr sz="950" b="1" i="0">
                          <a:solidFill>
                            <a:srgbClr val="FFFFFF"/>
                          </a:solidFill>
                          <a:latin typeface="Calibri (MS) Bold"/>
                        </a:rPr>
                        <a:t>Variabel model</a:t>
                      </a:r>
                    </a:p>
                  </a:txBody>
                  <a:tcPr marL="73152" marR="73152" marT="36576" marB="36576" anchor="ctr">
                    <a:solidFill>
                      <a:srgbClr val="0B5E6E"/>
                    </a:solidFill>
                  </a:tcPr>
                </a:tc>
                <a:tc>
                  <a:txBody>
                    <a:bodyPr wrap="square"/>
                    <a:lstStyle/>
                    <a:p>
                      <a:r>
                        <a:rPr sz="950" b="1" i="0">
                          <a:solidFill>
                            <a:srgbClr val="FFFFFF"/>
                          </a:solidFill>
                          <a:latin typeface="Calibri (MS) Bold"/>
                        </a:rPr>
                        <a:t>Data resmi tersedia</a:t>
                      </a:r>
                    </a:p>
                  </a:txBody>
                  <a:tcPr marL="73152" marR="73152" marT="36576" marB="36576" anchor="ctr">
                    <a:solidFill>
                      <a:srgbClr val="0B5E6E"/>
                    </a:solidFill>
                  </a:tcPr>
                </a:tc>
                <a:tc>
                  <a:txBody>
                    <a:bodyPr wrap="square"/>
                    <a:lstStyle/>
                    <a:p>
                      <a:r>
                        <a:rPr sz="950" b="1" i="0">
                          <a:solidFill>
                            <a:srgbClr val="FFFFFF"/>
                          </a:solidFill>
                          <a:latin typeface="Calibri (MS) Bold"/>
                        </a:rPr>
                        <a:t>Sumber citra</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Resolusi spasial</a:t>
                      </a:r>
                    </a:p>
                  </a:txBody>
                  <a:tcPr marL="73152" marR="73152" marT="36576" marB="36576" anchor="ctr">
                    <a:solidFill>
                      <a:srgbClr val="0B5E6E"/>
                    </a:solidFill>
                  </a:tcPr>
                </a:tc>
                <a:tc>
                  <a:txBody>
                    <a:bodyPr wrap="square"/>
                    <a:lstStyle/>
                    <a:p>
                      <a:r>
                        <a:rPr sz="950" b="1" i="0">
                          <a:solidFill>
                            <a:srgbClr val="FFFFFF"/>
                          </a:solidFill>
                          <a:latin typeface="Calibri (MS) Bold"/>
                        </a:rPr>
                        <a:t>Resolusi temporal</a:t>
                      </a:r>
                    </a:p>
                  </a:txBody>
                  <a:tcPr marL="73152" marR="73152" marT="36576" marB="36576" anchor="ctr">
                    <a:solidFill>
                      <a:srgbClr val="0B5E6E"/>
                    </a:solidFill>
                  </a:tcPr>
                </a:tc>
                <a:tc>
                  <a:txBody>
                    <a:bodyPr wrap="square"/>
                    <a:lstStyle/>
                    <a:p>
                      <a:r>
                        <a:rPr sz="950" b="1" i="0">
                          <a:solidFill>
                            <a:srgbClr val="FFFFFF"/>
                          </a:solidFill>
                          <a:latin typeface="Calibri (MS) Bold"/>
                        </a:rPr>
                        <a:t>Variabel pendukung non-citra</a:t>
                      </a:r>
                    </a:p>
                  </a:txBody>
                  <a:tcPr marL="73152" marR="73152" marT="36576" marB="36576" anchor="ctr">
                    <a:solidFill>
                      <a:srgbClr val="0B5E6E"/>
                    </a:solidFill>
                  </a:tcPr>
                </a:tc>
                <a:tc>
                  <a:txBody>
                    <a:bodyPr wrap="square"/>
                    <a:lstStyle/>
                    <a:p>
                      <a:r>
                        <a:rPr sz="950" b="1" i="0">
                          <a:solidFill>
                            <a:srgbClr val="FFFFFF"/>
                          </a:solidFill>
                          <a:latin typeface="Calibri (MS) Bold"/>
                        </a:rPr>
                        <a:t>Variabel citra</a:t>
                      </a:r>
                    </a:p>
                  </a:txBody>
                  <a:tcPr marL="73152" marR="73152" marT="36576" marB="36576" anchor="ctr">
                    <a:solidFill>
                      <a:srgbClr val="0B5E6E"/>
                    </a:solidFill>
                  </a:tcPr>
                </a:tc>
                <a:tc>
                  <a:txBody>
                    <a:bodyPr wrap="square"/>
                    <a:lstStyle/>
                    <a:p>
                      <a:r>
                        <a:rPr sz="950" b="1" i="0">
                          <a:solidFill>
                            <a:srgbClr val="FFFFFF"/>
                          </a:solidFill>
                          <a:latin typeface="Calibri (MS) Bold"/>
                        </a:rPr>
                        <a:t>Metode</a:t>
                      </a:r>
                    </a:p>
                  </a:txBody>
                  <a:tcPr marL="73152" marR="73152" marT="36576" marB="36576" anchor="ctr">
                    <a:solidFill>
                      <a:srgbClr val="0B5E6E"/>
                    </a:solidFill>
                  </a:tcPr>
                </a:tc>
                <a:tc>
                  <a:txBody>
                    <a:bodyPr wrap="square"/>
                    <a:lstStyle/>
                    <a:p>
                      <a:r>
                        <a:rPr sz="950" b="1" i="0">
                          <a:solidFill>
                            <a:srgbClr val="FFFFFF"/>
                          </a:solidFill>
                          <a:latin typeface="Calibri (MS) Bold"/>
                        </a:rPr>
                        <a:t>Hasil uji</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Status</a:t>
                      </a:r>
                    </a:p>
                  </a:txBody>
                  <a:tcPr marL="73152" marR="73152" marT="36576" marB="36576" anchor="ctr">
                    <a:solidFill>
                      <a:srgbClr val="0B5E6E"/>
                    </a:solidFill>
                  </a:tcPr>
                </a:tc>
                <a:tc>
                  <a:txBody>
                    <a:bodyPr wrap="square"/>
                    <a:lstStyle/>
                    <a:p>
                      <a:r>
                        <a:rPr sz="950" b="1" i="0">
                          <a:solidFill>
                            <a:srgbClr val="FFFFFF"/>
                          </a:solidFill>
                          <a:latin typeface="Calibri (MS) Bold"/>
                        </a:rPr>
                        <a:t>Referensi</a:t>
                      </a:r>
                    </a:p>
                  </a:txBody>
                  <a:tcPr marL="73152" marR="73152" marT="36576" marB="36576" anchor="ctr">
                    <a:solidFill>
                      <a:srgbClr val="0B5E6E"/>
                    </a:solidFill>
                  </a:tcPr>
                </a:tc>
              </a:tr>
              <a:tr h="1097280">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Jumlah ODTW</a:t>
                      </a:r>
                    </a:p>
                  </a:txBody>
                  <a:tcPr marL="73152" marR="73152" marT="36576" marB="36576" anchor="ctr">
                    <a:solidFill>
                      <a:srgbClr val="FFFFFF"/>
                    </a:solidFill>
                  </a:tcPr>
                </a:tc>
                <a:tc>
                  <a:txBody>
                    <a:bodyPr wrap="square"/>
                    <a:lstStyle/>
                    <a:p>
                      <a:r>
                        <a:rPr sz="950" b="0" i="0">
                          <a:solidFill>
                            <a:srgbClr val="14313B"/>
                          </a:solidFill>
                          <a:latin typeface="Calibri (MS)"/>
                        </a:rPr>
                        <a:t>BPS 2018–2024 (kosong 2015–2017, 2025)</a:t>
                      </a:r>
                    </a:p>
                  </a:txBody>
                  <a:tcPr marL="73152" marR="73152" marT="36576" marB="36576" anchor="ctr">
                    <a:solidFill>
                      <a:srgbClr val="FFFFFF"/>
                    </a:solidFill>
                  </a:tcPr>
                </a:tc>
                <a:tc>
                  <a:txBody>
                    <a:bodyPr wrap="square"/>
                    <a:lstStyle/>
                    <a:p>
                      <a:r>
                        <a:rPr sz="950" b="0" i="0">
                          <a:solidFill>
                            <a:srgbClr val="14313B"/>
                          </a:solidFill>
                          <a:latin typeface="Calibri (MS)"/>
                        </a:rPr>
                        <a:t>VIIRS DNB Monthly (NOAA/VIIRS/DNB/MONTHLY_V1/VCMSLCFG)</a:t>
                      </a:r>
                    </a:p>
                  </a:txBody>
                  <a:tcPr marL="73152" marR="73152" marT="36576" marB="36576" anchor="ctr">
                    <a:solidFill>
                      <a:srgbClr val="FFFFFF"/>
                    </a:solidFill>
                  </a:tcPr>
                </a:tc>
                <a:tc>
                  <a:txBody>
                    <a:bodyPr wrap="square"/>
                    <a:lstStyle/>
                    <a:p>
                      <a:pPr algn="ctr"/>
                      <a:r>
                        <a:rPr sz="950" b="0" i="0">
                          <a:solidFill>
                            <a:srgbClr val="14313B"/>
                          </a:solidFill>
                          <a:latin typeface="Calibri (MS)"/>
                        </a:rPr>
                        <a:t>±500 m</a:t>
                      </a:r>
                    </a:p>
                  </a:txBody>
                  <a:tcPr marL="73152" marR="73152" marT="36576" marB="36576" anchor="ctr">
                    <a:solidFill>
                      <a:srgbClr val="FFFFFF"/>
                    </a:solidFill>
                  </a:tcPr>
                </a:tc>
                <a:tc>
                  <a:txBody>
                    <a:bodyPr wrap="square"/>
                    <a:lstStyle/>
                    <a:p>
                      <a:r>
                        <a:rPr sz="950" b="0" i="0">
                          <a:solidFill>
                            <a:srgbClr val="14313B"/>
                          </a:solidFill>
                          <a:latin typeface="Calibri (MS)"/>
                        </a:rPr>
                        <a:t>Bulanan → komposit tahunan</a:t>
                      </a:r>
                    </a:p>
                  </a:txBody>
                  <a:tcPr marL="73152" marR="73152" marT="36576" marB="36576" anchor="ctr">
                    <a:solidFill>
                      <a:srgbClr val="FFFFFF"/>
                    </a:solidFill>
                  </a:tcPr>
                </a:tc>
                <a:tc>
                  <a:txBody>
                    <a:bodyPr wrap="square"/>
                    <a:lstStyle/>
                    <a:p>
                      <a:r>
                        <a:rPr sz="950" b="0" i="0">
                          <a:solidFill>
                            <a:srgbClr val="14313B"/>
                          </a:solidFill>
                          <a:latin typeface="Calibri (MS)"/>
                        </a:rPr>
                        <a:t>—</a:t>
                      </a:r>
                    </a:p>
                  </a:txBody>
                  <a:tcPr marL="73152" marR="73152" marT="36576" marB="36576" anchor="ctr">
                    <a:solidFill>
                      <a:srgbClr val="FFFFFF"/>
                    </a:solidFill>
                  </a:tcPr>
                </a:tc>
                <a:tc>
                  <a:txBody>
                    <a:bodyPr wrap="square"/>
                    <a:lstStyle/>
                    <a:p>
                      <a:r>
                        <a:rPr sz="950" b="0" i="0">
                          <a:solidFill>
                            <a:srgbClr val="14313B"/>
                          </a:solidFill>
                          <a:latin typeface="Calibri (MS)"/>
                        </a:rPr>
                        <a:t>Radiansi cahaya malam (avg_rad)</a:t>
                      </a:r>
                    </a:p>
                  </a:txBody>
                  <a:tcPr marL="73152" marR="73152" marT="36576" marB="36576" anchor="ctr">
                    <a:solidFill>
                      <a:srgbClr val="FFFFFF"/>
                    </a:solidFill>
                  </a:tcPr>
                </a:tc>
                <a:tc>
                  <a:txBody>
                    <a:bodyPr wrap="square"/>
                    <a:lstStyle/>
                    <a:p>
                      <a:r>
                        <a:rPr sz="950" b="0" i="0">
                          <a:solidFill>
                            <a:srgbClr val="14313B"/>
                          </a:solidFill>
                          <a:latin typeface="Calibri (MS)"/>
                        </a:rPr>
                        <a:t>Regresi linear ODTW = a + b·NTL</a:t>
                      </a:r>
                    </a:p>
                  </a:txBody>
                  <a:tcPr marL="73152" marR="73152" marT="36576" marB="36576" anchor="ctr">
                    <a:solidFill>
                      <a:srgbClr val="FFFFFF"/>
                    </a:solidFill>
                  </a:tcPr>
                </a:tc>
                <a:tc>
                  <a:txBody>
                    <a:bodyPr wrap="square"/>
                    <a:lstStyle/>
                    <a:p>
                      <a:r>
                        <a:rPr sz="950" b="0" i="0">
                          <a:solidFill>
                            <a:srgbClr val="14313B"/>
                          </a:solidFill>
                          <a:latin typeface="Calibri (MS)"/>
                        </a:rPr>
                        <a:t>R² selisih 0,405; RMSE LOOCV 5,99%</a:t>
                      </a:r>
                    </a:p>
                  </a:txBody>
                  <a:tcPr marL="73152" marR="73152" marT="36576" marB="36576" anchor="ctr">
                    <a:solidFill>
                      <a:srgbClr val="FFFFFF"/>
                    </a:solidFill>
                  </a:tcPr>
                </a:tc>
                <a:tc>
                  <a:txBody>
                    <a:bodyPr wrap="square"/>
                    <a:lstStyle/>
                    <a:p>
                      <a:pPr algn="ctr"/>
                      <a:r>
                        <a:rPr sz="950" b="0" i="0">
                          <a:solidFill>
                            <a:srgbClr val="14313B"/>
                          </a:solidFill>
                          <a:latin typeface="Calibri (MS)"/>
                        </a:rPr>
                        <a:t>Dipakai</a:t>
                      </a:r>
                    </a:p>
                  </a:txBody>
                  <a:tcPr marL="73152" marR="73152" marT="36576" marB="36576" anchor="ctr">
                    <a:solidFill>
                      <a:srgbClr val="C9F0D6"/>
                    </a:solidFill>
                  </a:tcPr>
                </a:tc>
                <a:tc>
                  <a:txBody>
                    <a:bodyPr wrap="square"/>
                    <a:lstStyle/>
                    <a:p>
                      <a:r>
                        <a:rPr sz="950" b="0" i="0">
                          <a:solidFill>
                            <a:srgbClr val="14313B"/>
                          </a:solidFill>
                          <a:latin typeface="Calibri (MS)"/>
                        </a:rPr>
                        <a:t>Henderson et al. (2012)</a:t>
                      </a:r>
                    </a:p>
                  </a:txBody>
                  <a:tcPr marL="73152" marR="73152" marT="36576" marB="36576" anchor="ctr">
                    <a:solidFill>
                      <a:srgbClr val="FFFFFF"/>
                    </a:solidFill>
                  </a:tcPr>
                </a:tc>
              </a:tr>
              <a:tr h="1097280">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Lahan terbangun</a:t>
                      </a:r>
                    </a:p>
                  </a:txBody>
                  <a:tcPr marL="73152" marR="73152" marT="36576" marB="36576" anchor="ctr">
                    <a:solidFill>
                      <a:srgbClr val="EAF8FA"/>
                    </a:solidFill>
                  </a:tcPr>
                </a:tc>
                <a:tc>
                  <a:txBody>
                    <a:bodyPr wrap="square"/>
                    <a:lstStyle/>
                    <a:p>
                      <a:r>
                        <a:rPr sz="950" b="0" i="0">
                          <a:solidFill>
                            <a:srgbClr val="14313B"/>
                          </a:solidFill>
                          <a:latin typeface="Calibri (MS)"/>
                        </a:rPr>
                        <a:t>Tidak ada seri tahunan provinsi yang konsisten (BPS &amp; DLHK fluktuatif)</a:t>
                      </a:r>
                    </a:p>
                  </a:txBody>
                  <a:tcPr marL="73152" marR="73152" marT="36576" marB="36576" anchor="ctr">
                    <a:solidFill>
                      <a:srgbClr val="EAF8FA"/>
                    </a:solidFill>
                  </a:tcPr>
                </a:tc>
                <a:tc>
                  <a:txBody>
                    <a:bodyPr wrap="square"/>
                    <a:lstStyle/>
                    <a:p>
                      <a:r>
                        <a:rPr sz="950" b="0" i="0">
                          <a:solidFill>
                            <a:srgbClr val="14313B"/>
                          </a:solidFill>
                          <a:latin typeface="Calibri (MS)"/>
                        </a:rPr>
                        <a:t>Dynamic World V1 (GOOGLE/DYNAMICWORLD/V1), basis Sentinel-2</a:t>
                      </a:r>
                    </a:p>
                  </a:txBody>
                  <a:tcPr marL="73152" marR="73152" marT="36576" marB="36576" anchor="ctr">
                    <a:solidFill>
                      <a:srgbClr val="EAF8FA"/>
                    </a:solidFill>
                  </a:tcPr>
                </a:tc>
                <a:tc>
                  <a:txBody>
                    <a:bodyPr wrap="square"/>
                    <a:lstStyle/>
                    <a:p>
                      <a:pPr algn="ctr"/>
                      <a:r>
                        <a:rPr sz="950" b="0" i="0">
                          <a:solidFill>
                            <a:srgbClr val="14313B"/>
                          </a:solidFill>
                          <a:latin typeface="Calibri (MS)"/>
                        </a:rPr>
                        <a:t>10 m</a:t>
                      </a:r>
                    </a:p>
                  </a:txBody>
                  <a:tcPr marL="73152" marR="73152" marT="36576" marB="36576" anchor="ctr">
                    <a:solidFill>
                      <a:srgbClr val="EAF8FA"/>
                    </a:solidFill>
                  </a:tcPr>
                </a:tc>
                <a:tc>
                  <a:txBody>
                    <a:bodyPr wrap="square"/>
                    <a:lstStyle/>
                    <a:p>
                      <a:r>
                        <a:rPr sz="950" b="0" i="0">
                          <a:solidFill>
                            <a:srgbClr val="14313B"/>
                          </a:solidFill>
                          <a:latin typeface="Calibri (MS)"/>
                        </a:rPr>
                        <a:t>Per citra Sentinel-2 → rata-rata tahunan</a:t>
                      </a:r>
                    </a:p>
                  </a:txBody>
                  <a:tcPr marL="73152" marR="73152" marT="36576" marB="36576" anchor="ctr">
                    <a:solidFill>
                      <a:srgbClr val="EAF8FA"/>
                    </a:solidFill>
                  </a:tcPr>
                </a:tc>
                <a:tc>
                  <a:txBody>
                    <a:bodyPr wrap="square"/>
                    <a:lstStyle/>
                    <a:p>
                      <a:r>
                        <a:rPr sz="950" b="0" i="0">
                          <a:solidFill>
                            <a:srgbClr val="14313B"/>
                          </a:solidFill>
                          <a:latin typeface="Calibri (MS)"/>
                        </a:rPr>
                        <a:t>—</a:t>
                      </a:r>
                    </a:p>
                  </a:txBody>
                  <a:tcPr marL="73152" marR="73152" marT="36576" marB="36576" anchor="ctr">
                    <a:solidFill>
                      <a:srgbClr val="EAF8FA"/>
                    </a:solidFill>
                  </a:tcPr>
                </a:tc>
                <a:tc>
                  <a:txBody>
                    <a:bodyPr wrap="square"/>
                    <a:lstStyle/>
                    <a:p>
                      <a:r>
                        <a:rPr sz="950" b="0" i="0">
                          <a:solidFill>
                            <a:srgbClr val="14313B"/>
                          </a:solidFill>
                          <a:latin typeface="Calibri (MS)"/>
                        </a:rPr>
                        <a:t>Probabilitas kelas built</a:t>
                      </a:r>
                    </a:p>
                  </a:txBody>
                  <a:tcPr marL="73152" marR="73152" marT="36576" marB="36576" anchor="ctr">
                    <a:solidFill>
                      <a:srgbClr val="EAF8FA"/>
                    </a:solidFill>
                  </a:tcPr>
                </a:tc>
                <a:tc>
                  <a:txBody>
                    <a:bodyPr wrap="square"/>
                    <a:lstStyle/>
                    <a:p>
                      <a:r>
                        <a:rPr sz="950" b="0" i="0">
                          <a:solidFill>
                            <a:srgbClr val="14313B"/>
                          </a:solidFill>
                          <a:latin typeface="Calibri (MS)"/>
                        </a:rPr>
                        <a:t>Klasifikasi langsung, ambang 0,5</a:t>
                      </a:r>
                    </a:p>
                  </a:txBody>
                  <a:tcPr marL="73152" marR="73152" marT="36576" marB="36576" anchor="ctr">
                    <a:solidFill>
                      <a:srgbClr val="EAF8FA"/>
                    </a:solidFill>
                  </a:tcPr>
                </a:tc>
                <a:tc>
                  <a:txBody>
                    <a:bodyPr wrap="square"/>
                    <a:lstStyle/>
                    <a:p>
                      <a:r>
                        <a:rPr sz="950" b="0" i="0">
                          <a:solidFill>
                            <a:srgbClr val="14313B"/>
                          </a:solidFill>
                          <a:latin typeface="Calibri (MS)"/>
                        </a:rPr>
                        <a:t>OA terbobot 89,95%; Kappa 0,61</a:t>
                      </a:r>
                    </a:p>
                  </a:txBody>
                  <a:tcPr marL="73152" marR="73152" marT="36576" marB="36576" anchor="ctr">
                    <a:solidFill>
                      <a:srgbClr val="EAF8FA"/>
                    </a:solidFill>
                  </a:tcPr>
                </a:tc>
                <a:tc>
                  <a:txBody>
                    <a:bodyPr wrap="square"/>
                    <a:lstStyle/>
                    <a:p>
                      <a:pPr algn="ctr"/>
                      <a:r>
                        <a:rPr sz="950" b="0" i="0">
                          <a:solidFill>
                            <a:srgbClr val="14313B"/>
                          </a:solidFill>
                          <a:latin typeface="Calibri (MS)"/>
                        </a:rPr>
                        <a:t>Dipakai</a:t>
                      </a:r>
                    </a:p>
                  </a:txBody>
                  <a:tcPr marL="73152" marR="73152" marT="36576" marB="36576" anchor="ctr">
                    <a:solidFill>
                      <a:srgbClr val="C9F0D6"/>
                    </a:solidFill>
                  </a:tcPr>
                </a:tc>
                <a:tc>
                  <a:txBody>
                    <a:bodyPr wrap="square"/>
                    <a:lstStyle/>
                    <a:p>
                      <a:r>
                        <a:rPr sz="950" b="0" i="0">
                          <a:solidFill>
                            <a:srgbClr val="14313B"/>
                          </a:solidFill>
                          <a:latin typeface="Calibri (MS)"/>
                        </a:rPr>
                        <a:t>Brown et al. (2022); Olofsson et al. (2014)</a:t>
                      </a:r>
                    </a:p>
                  </a:txBody>
                  <a:tcPr marL="73152" marR="73152" marT="36576" marB="36576" anchor="ctr">
                    <a:solidFill>
                      <a:srgbClr val="EAF8FA"/>
                    </a:solidFill>
                  </a:tcPr>
                </a:tc>
              </a:tr>
              <a:tr h="1097280">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Tenaga kerja pariwisata</a:t>
                      </a:r>
                    </a:p>
                  </a:txBody>
                  <a:tcPr marL="73152" marR="73152" marT="36576" marB="36576" anchor="ctr">
                    <a:solidFill>
                      <a:srgbClr val="FFFFFF"/>
                    </a:solidFill>
                  </a:tcPr>
                </a:tc>
                <a:tc>
                  <a:txBody>
                    <a:bodyPr wrap="square"/>
                    <a:lstStyle/>
                    <a:p>
                      <a:r>
                        <a:rPr sz="950" b="0" i="0">
                          <a:solidFill>
                            <a:srgbClr val="14313B"/>
                          </a:solidFill>
                          <a:latin typeface="Calibri (MS)"/>
                        </a:rPr>
                        <a:t>Sakernas 2017–2025 (kosong 2015–2016)</a:t>
                      </a:r>
                    </a:p>
                  </a:txBody>
                  <a:tcPr marL="73152" marR="73152" marT="36576" marB="36576" anchor="ctr">
                    <a:solidFill>
                      <a:srgbClr val="FFFFFF"/>
                    </a:solidFill>
                  </a:tcPr>
                </a:tc>
                <a:tc>
                  <a:txBody>
                    <a:bodyPr wrap="square"/>
                    <a:lstStyle/>
                    <a:p>
                      <a:r>
                        <a:rPr sz="950" b="0" i="0">
                          <a:solidFill>
                            <a:srgbClr val="14313B"/>
                          </a:solidFill>
                          <a:latin typeface="Calibri (MS)"/>
                        </a:rPr>
                        <a:t>VIIRS DNB Monthly</a:t>
                      </a:r>
                    </a:p>
                  </a:txBody>
                  <a:tcPr marL="73152" marR="73152" marT="36576" marB="36576" anchor="ctr">
                    <a:solidFill>
                      <a:srgbClr val="FFFFFF"/>
                    </a:solidFill>
                  </a:tcPr>
                </a:tc>
                <a:tc>
                  <a:txBody>
                    <a:bodyPr wrap="square"/>
                    <a:lstStyle/>
                    <a:p>
                      <a:pPr algn="ctr"/>
                      <a:r>
                        <a:rPr sz="950" b="0" i="0">
                          <a:solidFill>
                            <a:srgbClr val="14313B"/>
                          </a:solidFill>
                          <a:latin typeface="Calibri (MS)"/>
                        </a:rPr>
                        <a:t>±500 m</a:t>
                      </a:r>
                    </a:p>
                  </a:txBody>
                  <a:tcPr marL="73152" marR="73152" marT="36576" marB="36576" anchor="ctr">
                    <a:solidFill>
                      <a:srgbClr val="FFFFFF"/>
                    </a:solidFill>
                  </a:tcPr>
                </a:tc>
                <a:tc>
                  <a:txBody>
                    <a:bodyPr wrap="square"/>
                    <a:lstStyle/>
                    <a:p>
                      <a:r>
                        <a:rPr sz="950" b="0" i="0">
                          <a:solidFill>
                            <a:srgbClr val="14313B"/>
                          </a:solidFill>
                          <a:latin typeface="Calibri (MS)"/>
                        </a:rPr>
                        <a:t>Tahunan</a:t>
                      </a:r>
                    </a:p>
                  </a:txBody>
                  <a:tcPr marL="73152" marR="73152" marT="36576" marB="36576" anchor="ctr">
                    <a:solidFill>
                      <a:srgbClr val="FFFFFF"/>
                    </a:solidFill>
                  </a:tcPr>
                </a:tc>
                <a:tc>
                  <a:txBody>
                    <a:bodyPr wrap="square"/>
                    <a:lstStyle/>
                    <a:p>
                      <a:r>
                        <a:rPr sz="950" b="0" i="0">
                          <a:solidFill>
                            <a:srgbClr val="14313B"/>
                          </a:solidFill>
                          <a:latin typeface="Calibri (MS)"/>
                        </a:rPr>
                        <a:t>—</a:t>
                      </a:r>
                    </a:p>
                  </a:txBody>
                  <a:tcPr marL="73152" marR="73152" marT="36576" marB="36576" anchor="ctr">
                    <a:solidFill>
                      <a:srgbClr val="FFFFFF"/>
                    </a:solidFill>
                  </a:tcPr>
                </a:tc>
                <a:tc>
                  <a:txBody>
                    <a:bodyPr wrap="square"/>
                    <a:lstStyle/>
                    <a:p>
                      <a:r>
                        <a:rPr sz="950" b="0" i="0">
                          <a:solidFill>
                            <a:srgbClr val="14313B"/>
                          </a:solidFill>
                          <a:latin typeface="Calibri (MS)"/>
                        </a:rPr>
                        <a:t>Radiansi cahaya malam</a:t>
                      </a:r>
                    </a:p>
                  </a:txBody>
                  <a:tcPr marL="73152" marR="73152" marT="36576" marB="36576" anchor="ctr">
                    <a:solidFill>
                      <a:srgbClr val="FFFFFF"/>
                    </a:solidFill>
                  </a:tcPr>
                </a:tc>
                <a:tc>
                  <a:txBody>
                    <a:bodyPr wrap="square"/>
                    <a:lstStyle/>
                    <a:p>
                      <a:r>
                        <a:rPr sz="950" b="0" i="0">
                          <a:solidFill>
                            <a:srgbClr val="14313B"/>
                          </a:solidFill>
                          <a:latin typeface="Calibri (MS)"/>
                        </a:rPr>
                        <a:t>Regresi</a:t>
                      </a:r>
                    </a:p>
                  </a:txBody>
                  <a:tcPr marL="73152" marR="73152" marT="36576" marB="36576" anchor="ctr">
                    <a:solidFill>
                      <a:srgbClr val="FFFFFF"/>
                    </a:solidFill>
                  </a:tcPr>
                </a:tc>
                <a:tc>
                  <a:txBody>
                    <a:bodyPr wrap="square"/>
                    <a:lstStyle/>
                    <a:p>
                      <a:r>
                        <a:rPr sz="950" b="0" i="0">
                          <a:solidFill>
                            <a:srgbClr val="14313B"/>
                          </a:solidFill>
                          <a:latin typeface="Calibri (MS)"/>
                        </a:rPr>
                        <a:t>R² level 0,130; R² selisih 0,070</a:t>
                      </a:r>
                    </a:p>
                  </a:txBody>
                  <a:tcPr marL="73152" marR="73152" marT="36576" marB="36576" anchor="ctr">
                    <a:solidFill>
                      <a:srgbClr val="FFFFFF"/>
                    </a:solidFill>
                  </a:tcPr>
                </a:tc>
                <a:tc>
                  <a:txBody>
                    <a:bodyPr wrap="square"/>
                    <a:lstStyle/>
                    <a:p>
                      <a:pPr algn="ctr"/>
                      <a:r>
                        <a:rPr sz="950" b="0" i="0">
                          <a:solidFill>
                            <a:srgbClr val="14313B"/>
                          </a:solidFill>
                          <a:latin typeface="Calibri (MS)"/>
                        </a:rPr>
                        <a:t>Ditolak</a:t>
                      </a:r>
                    </a:p>
                  </a:txBody>
                  <a:tcPr marL="73152" marR="73152" marT="36576" marB="36576" anchor="ctr">
                    <a:solidFill>
                      <a:srgbClr val="FDE2DE"/>
                    </a:solidFill>
                  </a:tcPr>
                </a:tc>
                <a:tc>
                  <a:txBody>
                    <a:bodyPr wrap="square"/>
                    <a:lstStyle/>
                    <a:p>
                      <a:r>
                        <a:rPr sz="950" b="0" i="0">
                          <a:solidFill>
                            <a:srgbClr val="14313B"/>
                          </a:solidFill>
                          <a:latin typeface="Calibri (MS)"/>
                        </a:rPr>
                        <a:t>—</a:t>
                      </a:r>
                    </a:p>
                  </a:txBody>
                  <a:tcPr marL="73152" marR="73152" marT="36576" marB="36576" anchor="ctr">
                    <a:solidFill>
                      <a:srgbClr val="FFFFFF"/>
                    </a:solidFill>
                  </a:tcPr>
                </a:tc>
              </a:tr>
              <a:tr h="1097280">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Tenaga kerja pariwisata</a:t>
                      </a:r>
                    </a:p>
                  </a:txBody>
                  <a:tcPr marL="73152" marR="73152" marT="36576" marB="36576" anchor="ctr">
                    <a:solidFill>
                      <a:srgbClr val="EAF8FA"/>
                    </a:solidFill>
                  </a:tcPr>
                </a:tc>
                <a:tc>
                  <a:txBody>
                    <a:bodyPr wrap="square"/>
                    <a:lstStyle/>
                    <a:p>
                      <a:r>
                        <a:rPr sz="950" b="0" i="0">
                          <a:solidFill>
                            <a:srgbClr val="14313B"/>
                          </a:solidFill>
                          <a:latin typeface="Calibri (MS)"/>
                        </a:rPr>
                        <a:t>Sakernas 2017–2025</a:t>
                      </a:r>
                    </a:p>
                  </a:txBody>
                  <a:tcPr marL="73152" marR="73152" marT="36576" marB="36576" anchor="ctr">
                    <a:solidFill>
                      <a:srgbClr val="EAF8FA"/>
                    </a:solidFill>
                  </a:tcPr>
                </a:tc>
                <a:tc>
                  <a:txBody>
                    <a:bodyPr wrap="square"/>
                    <a:lstStyle/>
                    <a:p>
                      <a:r>
                        <a:rPr sz="950" b="0" i="0">
                          <a:solidFill>
                            <a:srgbClr val="14313B"/>
                          </a:solidFill>
                          <a:latin typeface="Calibri (MS)"/>
                        </a:rPr>
                        <a:t>— (non-citra)</a:t>
                      </a:r>
                    </a:p>
                  </a:txBody>
                  <a:tcPr marL="73152" marR="73152" marT="36576" marB="36576" anchor="ctr">
                    <a:solidFill>
                      <a:srgbClr val="EAF8FA"/>
                    </a:solidFill>
                  </a:tcPr>
                </a:tc>
                <a:tc>
                  <a:txBody>
                    <a:bodyPr wrap="square"/>
                    <a:lstStyle/>
                    <a:p>
                      <a:pPr algn="ctr"/>
                      <a:r>
                        <a:rPr sz="950" b="0" i="0">
                          <a:solidFill>
                            <a:srgbClr val="14313B"/>
                          </a:solidFill>
                          <a:latin typeface="Calibri (MS)"/>
                        </a:rPr>
                        <a:t>—</a:t>
                      </a:r>
                    </a:p>
                  </a:txBody>
                  <a:tcPr marL="73152" marR="73152" marT="36576" marB="36576" anchor="ctr">
                    <a:solidFill>
                      <a:srgbClr val="EAF8FA"/>
                    </a:solidFill>
                  </a:tcPr>
                </a:tc>
                <a:tc>
                  <a:txBody>
                    <a:bodyPr wrap="square"/>
                    <a:lstStyle/>
                    <a:p>
                      <a:r>
                        <a:rPr sz="950" b="0" i="0">
                          <a:solidFill>
                            <a:srgbClr val="14313B"/>
                          </a:solidFill>
                          <a:latin typeface="Calibri (MS)"/>
                        </a:rPr>
                        <a:t>Tahunan</a:t>
                      </a:r>
                    </a:p>
                  </a:txBody>
                  <a:tcPr marL="73152" marR="73152" marT="36576" marB="36576" anchor="ctr">
                    <a:solidFill>
                      <a:srgbClr val="EAF8FA"/>
                    </a:solidFill>
                  </a:tcPr>
                </a:tc>
                <a:tc>
                  <a:txBody>
                    <a:bodyPr wrap="square"/>
                    <a:lstStyle/>
                    <a:p>
                      <a:r>
                        <a:rPr sz="950" b="0" i="0">
                          <a:solidFill>
                            <a:srgbClr val="14313B"/>
                          </a:solidFill>
                          <a:latin typeface="Calibri (MS)"/>
                        </a:rPr>
                        <a:t>PDRB pariwisata (I, R–U)</a:t>
                      </a:r>
                    </a:p>
                  </a:txBody>
                  <a:tcPr marL="73152" marR="73152" marT="36576" marB="36576" anchor="ctr">
                    <a:solidFill>
                      <a:srgbClr val="EAF8FA"/>
                    </a:solidFill>
                  </a:tcPr>
                </a:tc>
                <a:tc>
                  <a:txBody>
                    <a:bodyPr wrap="square"/>
                    <a:lstStyle/>
                    <a:p>
                      <a:r>
                        <a:rPr sz="950" b="0" i="0">
                          <a:solidFill>
                            <a:srgbClr val="14313B"/>
                          </a:solidFill>
                          <a:latin typeface="Calibri (MS)"/>
                        </a:rPr>
                        <a:t>—</a:t>
                      </a:r>
                    </a:p>
                  </a:txBody>
                  <a:tcPr marL="73152" marR="73152" marT="36576" marB="36576" anchor="ctr">
                    <a:solidFill>
                      <a:srgbClr val="EAF8FA"/>
                    </a:solidFill>
                  </a:tcPr>
                </a:tc>
                <a:tc>
                  <a:txBody>
                    <a:bodyPr wrap="square"/>
                    <a:lstStyle/>
                    <a:p>
                      <a:r>
                        <a:rPr sz="950" b="0" i="0">
                          <a:solidFill>
                            <a:srgbClr val="14313B"/>
                          </a:solidFill>
                          <a:latin typeface="Calibri (MS)"/>
                        </a:rPr>
                        <a:t>Regresi</a:t>
                      </a:r>
                    </a:p>
                  </a:txBody>
                  <a:tcPr marL="73152" marR="73152" marT="36576" marB="36576" anchor="ctr">
                    <a:solidFill>
                      <a:srgbClr val="EAF8FA"/>
                    </a:solidFill>
                  </a:tcPr>
                </a:tc>
                <a:tc>
                  <a:txBody>
                    <a:bodyPr wrap="square"/>
                    <a:lstStyle/>
                    <a:p>
                      <a:r>
                        <a:rPr sz="950" b="0" i="0">
                          <a:solidFill>
                            <a:srgbClr val="14313B"/>
                          </a:solidFill>
                          <a:latin typeface="Calibri (MS)"/>
                        </a:rPr>
                        <a:t>R² selisih 0,093; rasio TK/PDRB tidak stabil</a:t>
                      </a:r>
                    </a:p>
                  </a:txBody>
                  <a:tcPr marL="73152" marR="73152" marT="36576" marB="36576" anchor="ctr">
                    <a:solidFill>
                      <a:srgbClr val="EAF8FA"/>
                    </a:solidFill>
                  </a:tcPr>
                </a:tc>
                <a:tc>
                  <a:txBody>
                    <a:bodyPr wrap="square"/>
                    <a:lstStyle/>
                    <a:p>
                      <a:pPr algn="ctr"/>
                      <a:r>
                        <a:rPr sz="950" b="0" i="0">
                          <a:solidFill>
                            <a:srgbClr val="14313B"/>
                          </a:solidFill>
                          <a:latin typeface="Calibri (MS)"/>
                        </a:rPr>
                        <a:t>Ditolak → CAGR</a:t>
                      </a:r>
                    </a:p>
                  </a:txBody>
                  <a:tcPr marL="73152" marR="73152" marT="36576" marB="36576" anchor="ctr">
                    <a:solidFill>
                      <a:srgbClr val="FDE2DE"/>
                    </a:solidFill>
                  </a:tcPr>
                </a:tc>
                <a:tc>
                  <a:txBody>
                    <a:bodyPr wrap="square"/>
                    <a:lstStyle/>
                    <a:p>
                      <a:r>
                        <a:rPr sz="950" b="0" i="0">
                          <a:solidFill>
                            <a:srgbClr val="14313B"/>
                          </a:solidFill>
                          <a:latin typeface="Calibri (MS)"/>
                        </a:rPr>
                        <a:t>—</a:t>
                      </a:r>
                    </a:p>
                  </a:txBody>
                  <a:tcPr marL="73152" marR="73152" marT="36576" marB="36576" anchor="ctr">
                    <a:solidFill>
                      <a:srgbClr val="EAF8FA"/>
                    </a:solidFill>
                  </a:tcPr>
                </a:tc>
              </a:tr>
            </a:tbl>
          </a:graphicData>
        </a:graphic>
      </p:graphicFrame>
      <p:sp>
        <p:nvSpPr>
          <p:cNvPr id="28" name="Rounded Rectangle 27"/>
          <p:cNvSpPr/>
          <p:nvPr/>
        </p:nvSpPr>
        <p:spPr>
          <a:xfrm>
            <a:off x="822960" y="70866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Usulan 3 dan 4 diuji pada notebook ekstrapolasi tenaga kerja: sinyal sektor pariwisata (±6–7% angkatan kerja) tenggelam dalam sinyal NTL agregat, dan rasio TK/PDRB berubah 21,5–29,3 jiwa/miliar Rp. Karena itu TK 2015–2016 diisi dengan ekstrapolasi CAGR.</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 dan 4.2; GEE.rtf; notebook “Ekstrapolasi Tenaga Kerja Pariwisata” (repository). Resolusi VIIRS ±500 m mengikuti skala ekstraksi di skrip GEE.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12 · Pemrosesan Citra NTL (VIIRS) dan Nilainya</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NTL diekstraksi di Google Earth Engine dan dirata-ratakan menjadi satu nilai per tahun untuk wilayah DIY</a:t>
            </a:r>
          </a:p>
        </p:txBody>
      </p:sp>
      <p:sp>
        <p:nvSpPr>
          <p:cNvPr id="27" name="Rounded Rectangle 26"/>
          <p:cNvSpPr/>
          <p:nvPr/>
        </p:nvSpPr>
        <p:spPr>
          <a:xfrm>
            <a:off x="822960" y="1920240"/>
            <a:ext cx="79552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Tahapan di Google Earth Engine</a:t>
            </a:r>
          </a:p>
        </p:txBody>
      </p:sp>
      <p:sp>
        <p:nvSpPr>
          <p:cNvPr id="28" name="Oval 27"/>
          <p:cNvSpPr/>
          <p:nvPr/>
        </p:nvSpPr>
        <p:spPr>
          <a:xfrm>
            <a:off x="822960" y="262890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29" name="Rounded Rectangle 28"/>
          <p:cNvSpPr/>
          <p:nvPr/>
        </p:nvSpPr>
        <p:spPr>
          <a:xfrm>
            <a:off x="1417320" y="2468880"/>
            <a:ext cx="736091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Batas wilayah</a:t>
            </a:r>
          </a:p>
          <a:p>
            <a:pPr algn="l">
              <a:spcAft>
                <a:spcPts val="300"/>
              </a:spcAft>
            </a:pPr>
            <a:r>
              <a:rPr sz="1100" b="0" i="0">
                <a:solidFill>
                  <a:srgbClr val="14313B"/>
                </a:solidFill>
                <a:latin typeface="Calibri (MS)"/>
              </a:rPr>
              <a:t>FAO/GAUL/2015/level1, ADM1 = Daerah Istimewa Yogyakarta.</a:t>
            </a:r>
          </a:p>
        </p:txBody>
      </p:sp>
      <p:sp>
        <p:nvSpPr>
          <p:cNvPr id="30" name="Oval 29"/>
          <p:cNvSpPr/>
          <p:nvPr/>
        </p:nvSpPr>
        <p:spPr>
          <a:xfrm>
            <a:off x="822960" y="349758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1" name="Rounded Rectangle 30"/>
          <p:cNvSpPr/>
          <p:nvPr/>
        </p:nvSpPr>
        <p:spPr>
          <a:xfrm>
            <a:off x="1417320" y="3337560"/>
            <a:ext cx="736091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Koleksi citra</a:t>
            </a:r>
          </a:p>
          <a:p>
            <a:pPr algn="l">
              <a:spcAft>
                <a:spcPts val="300"/>
              </a:spcAft>
            </a:pPr>
            <a:r>
              <a:rPr sz="1100" b="0" i="0">
                <a:solidFill>
                  <a:srgbClr val="14313B"/>
                </a:solidFill>
                <a:latin typeface="Calibri (MS)"/>
              </a:rPr>
              <a:t>NOAA/VIIRS/DNB/MONTHLY_V1/VCMSLCFG, band avg_rad (nW/cm²/sr).</a:t>
            </a:r>
          </a:p>
        </p:txBody>
      </p:sp>
      <p:sp>
        <p:nvSpPr>
          <p:cNvPr id="32" name="Oval 31"/>
          <p:cNvSpPr/>
          <p:nvPr/>
        </p:nvSpPr>
        <p:spPr>
          <a:xfrm>
            <a:off x="822960" y="4366259"/>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33" name="Rounded Rectangle 32"/>
          <p:cNvSpPr/>
          <p:nvPr/>
        </p:nvSpPr>
        <p:spPr>
          <a:xfrm>
            <a:off x="1417320" y="4206240"/>
            <a:ext cx="736091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Agregasi temporal</a:t>
            </a:r>
          </a:p>
          <a:p>
            <a:pPr algn="l">
              <a:spcAft>
                <a:spcPts val="300"/>
              </a:spcAft>
            </a:pPr>
            <a:r>
              <a:rPr sz="1100" b="0" i="0">
                <a:solidFill>
                  <a:srgbClr val="14313B"/>
                </a:solidFill>
                <a:latin typeface="Calibri (MS)"/>
              </a:rPr>
              <a:t>Komposit bulanan dirata-ratakan menjadi komposit tahunan.</a:t>
            </a:r>
          </a:p>
        </p:txBody>
      </p:sp>
      <p:sp>
        <p:nvSpPr>
          <p:cNvPr id="34" name="Oval 33"/>
          <p:cNvSpPr/>
          <p:nvPr/>
        </p:nvSpPr>
        <p:spPr>
          <a:xfrm>
            <a:off x="822960" y="523494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4</a:t>
            </a:r>
          </a:p>
        </p:txBody>
      </p:sp>
      <p:sp>
        <p:nvSpPr>
          <p:cNvPr id="35" name="Rounded Rectangle 34"/>
          <p:cNvSpPr/>
          <p:nvPr/>
        </p:nvSpPr>
        <p:spPr>
          <a:xfrm>
            <a:off x="1417320" y="5074920"/>
            <a:ext cx="736091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Agregasi spasial</a:t>
            </a:r>
          </a:p>
          <a:p>
            <a:pPr algn="l">
              <a:spcAft>
                <a:spcPts val="300"/>
              </a:spcAft>
            </a:pPr>
            <a:r>
              <a:rPr sz="1100" b="0" i="0">
                <a:solidFill>
                  <a:srgbClr val="14313B"/>
                </a:solidFill>
                <a:latin typeface="Calibri (MS)"/>
              </a:rPr>
              <a:t>Rata-rata zonal seluruh piksel DIY pada skala 500 m (reduceRegion mean).</a:t>
            </a:r>
          </a:p>
        </p:txBody>
      </p:sp>
      <p:sp>
        <p:nvSpPr>
          <p:cNvPr id="36" name="Rounded Rectangle 35"/>
          <p:cNvSpPr/>
          <p:nvPr/>
        </p:nvSpPr>
        <p:spPr>
          <a:xfrm>
            <a:off x="822960" y="5989320"/>
            <a:ext cx="7955279" cy="13716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00" b="0" i="1">
                <a:solidFill>
                  <a:srgbClr val="14313B"/>
                </a:solidFill>
                <a:latin typeface="Calibri (MS)"/>
              </a:rPr>
              <a:t>NTLₜ = (1/n) · Σᵢ Rᵢ,ₜ     (rata-rata n komposit bulanan pada tahun t)</a:t>
            </a:r>
          </a:p>
          <a:p>
            <a:pPr algn="l">
              <a:spcAft>
                <a:spcPts val="300"/>
              </a:spcAft>
            </a:pPr>
            <a:r>
              <a:rPr sz="1200" b="0" i="1">
                <a:solidFill>
                  <a:srgbClr val="14313B"/>
                </a:solidFill>
                <a:latin typeface="Calibri (MS)"/>
              </a:rPr>
              <a:t>NTL_DIY,ₜ = (1/N) · Σₚ Rₚ,ₜ     (rata-rata N piksel di batas DIY)</a:t>
            </a:r>
          </a:p>
        </p:txBody>
      </p:sp>
      <p:graphicFrame>
        <p:nvGraphicFramePr>
          <p:cNvPr id="37" name="Table 36"/>
          <p:cNvGraphicFramePr>
            <a:graphicFrameLocks noGrp="1"/>
          </p:cNvGraphicFramePr>
          <p:nvPr/>
        </p:nvGraphicFramePr>
        <p:xfrm>
          <a:off x="9144000" y="1920240"/>
          <a:ext cx="4206240" cy="4608576"/>
        </p:xfrm>
        <a:graphic>
          <a:graphicData uri="http://schemas.openxmlformats.org/drawingml/2006/table">
            <a:tbl>
              <a:tblPr firstRow="1" bandRow="1">
                <a:tableStyleId>{5C22544A-7EE6-4342-B048-85BDC9FD1C3A}</a:tableStyleId>
              </a:tblPr>
              <a:tblGrid>
                <a:gridCol w="822960"/>
                <a:gridCol w="1188720"/>
                <a:gridCol w="1188720"/>
                <a:gridCol w="1005840"/>
              </a:tblGrid>
              <a:tr h="384048">
                <a:tc>
                  <a:txBody>
                    <a:bodyPr wrap="square"/>
                    <a:lstStyle/>
                    <a:p>
                      <a:pPr algn="ctr"/>
                      <a:r>
                        <a:rPr sz="105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NTL rata-rata</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NTL jumlah</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ODTW</a:t>
                      </a:r>
                    </a:p>
                  </a:txBody>
                  <a:tcPr marL="73152" marR="73152" marT="36576" marB="36576" anchor="ctr">
                    <a:solidFill>
                      <a:srgbClr val="0B5E6E"/>
                    </a:solidFill>
                  </a:tcPr>
                </a:tc>
              </a:tr>
              <a:tr h="384048">
                <a:tc>
                  <a:txBody>
                    <a:bodyPr wrap="square"/>
                    <a:lstStyle/>
                    <a:p>
                      <a:pPr algn="ctr"/>
                      <a:r>
                        <a:rPr sz="1050" b="0" i="0">
                          <a:solidFill>
                            <a:srgbClr val="14313B"/>
                          </a:solidFill>
                          <a:latin typeface="Calibri (MS)"/>
                        </a:rPr>
                        <a:t>2015</a:t>
                      </a:r>
                    </a:p>
                  </a:txBody>
                  <a:tcPr marL="73152" marR="73152" marT="36576" marB="36576" anchor="ctr">
                    <a:solidFill>
                      <a:srgbClr val="FFFFFF"/>
                    </a:solidFill>
                  </a:tcPr>
                </a:tc>
                <a:tc>
                  <a:txBody>
                    <a:bodyPr wrap="square"/>
                    <a:lstStyle/>
                    <a:p>
                      <a:pPr algn="ctr"/>
                      <a:r>
                        <a:rPr sz="1050" b="0" i="0">
                          <a:solidFill>
                            <a:srgbClr val="14313B"/>
                          </a:solidFill>
                          <a:latin typeface="Calibri (MS)"/>
                        </a:rPr>
                        <a:t>1,262</a:t>
                      </a:r>
                    </a:p>
                  </a:txBody>
                  <a:tcPr marL="73152" marR="73152" marT="36576" marB="36576" anchor="ctr">
                    <a:solidFill>
                      <a:srgbClr val="FFFFFF"/>
                    </a:solidFill>
                  </a:tcPr>
                </a:tc>
                <a:tc>
                  <a:txBody>
                    <a:bodyPr wrap="square"/>
                    <a:lstStyle/>
                    <a:p>
                      <a:pPr algn="ctr"/>
                      <a:r>
                        <a:rPr sz="1050" b="0" i="0">
                          <a:solidFill>
                            <a:srgbClr val="14313B"/>
                          </a:solidFill>
                          <a:latin typeface="Calibri (MS)"/>
                        </a:rPr>
                        <a:t>16.196</a:t>
                      </a:r>
                    </a:p>
                  </a:txBody>
                  <a:tcPr marL="73152" marR="73152" marT="36576" marB="36576" anchor="ctr">
                    <a:solidFill>
                      <a:srgbClr val="FFFFFF"/>
                    </a:solidFill>
                  </a:tcPr>
                </a:tc>
                <a:tc>
                  <a:txBody>
                    <a:bodyPr wrap="square"/>
                    <a:lstStyle/>
                    <a:p>
                      <a:pPr algn="ctr"/>
                      <a:r>
                        <a:rPr sz="1050" b="0" i="0">
                          <a:solidFill>
                            <a:srgbClr val="14313B"/>
                          </a:solidFill>
                          <a:latin typeface="Calibri (MS)"/>
                        </a:rPr>
                        <a:t>165*</a:t>
                      </a:r>
                    </a:p>
                  </a:txBody>
                  <a:tcPr marL="73152" marR="73152" marT="36576" marB="36576" anchor="ctr">
                    <a:solidFill>
                      <a:srgbClr val="FFF1BF"/>
                    </a:solidFill>
                  </a:tcPr>
                </a:tc>
              </a:tr>
              <a:tr h="384048">
                <a:tc>
                  <a:txBody>
                    <a:bodyPr wrap="square"/>
                    <a:lstStyle/>
                    <a:p>
                      <a:pPr algn="ctr"/>
                      <a:r>
                        <a:rPr sz="1050" b="0" i="0">
                          <a:solidFill>
                            <a:srgbClr val="14313B"/>
                          </a:solidFill>
                          <a:latin typeface="Calibri (MS)"/>
                        </a:rPr>
                        <a:t>2016</a:t>
                      </a:r>
                    </a:p>
                  </a:txBody>
                  <a:tcPr marL="73152" marR="73152" marT="36576" marB="36576" anchor="ctr">
                    <a:solidFill>
                      <a:srgbClr val="EAF8FA"/>
                    </a:solidFill>
                  </a:tcPr>
                </a:tc>
                <a:tc>
                  <a:txBody>
                    <a:bodyPr wrap="square"/>
                    <a:lstStyle/>
                    <a:p>
                      <a:pPr algn="ctr"/>
                      <a:r>
                        <a:rPr sz="1050" b="0" i="0">
                          <a:solidFill>
                            <a:srgbClr val="14313B"/>
                          </a:solidFill>
                          <a:latin typeface="Calibri (MS)"/>
                        </a:rPr>
                        <a:t>1,054</a:t>
                      </a:r>
                    </a:p>
                  </a:txBody>
                  <a:tcPr marL="73152" marR="73152" marT="36576" marB="36576" anchor="ctr">
                    <a:solidFill>
                      <a:srgbClr val="EAF8FA"/>
                    </a:solidFill>
                  </a:tcPr>
                </a:tc>
                <a:tc>
                  <a:txBody>
                    <a:bodyPr wrap="square"/>
                    <a:lstStyle/>
                    <a:p>
                      <a:pPr algn="ctr"/>
                      <a:r>
                        <a:rPr sz="1050" b="0" i="0">
                          <a:solidFill>
                            <a:srgbClr val="14313B"/>
                          </a:solidFill>
                          <a:latin typeface="Calibri (MS)"/>
                        </a:rPr>
                        <a:t>13.536</a:t>
                      </a:r>
                    </a:p>
                  </a:txBody>
                  <a:tcPr marL="73152" marR="73152" marT="36576" marB="36576" anchor="ctr">
                    <a:solidFill>
                      <a:srgbClr val="EAF8FA"/>
                    </a:solidFill>
                  </a:tcPr>
                </a:tc>
                <a:tc>
                  <a:txBody>
                    <a:bodyPr wrap="square"/>
                    <a:lstStyle/>
                    <a:p>
                      <a:pPr algn="ctr"/>
                      <a:r>
                        <a:rPr sz="1050" b="0" i="0">
                          <a:solidFill>
                            <a:srgbClr val="14313B"/>
                          </a:solidFill>
                          <a:latin typeface="Calibri (MS)"/>
                        </a:rPr>
                        <a:t>158*</a:t>
                      </a:r>
                    </a:p>
                  </a:txBody>
                  <a:tcPr marL="73152" marR="73152" marT="36576" marB="36576" anchor="ctr">
                    <a:solidFill>
                      <a:srgbClr val="FFF1BF"/>
                    </a:solidFill>
                  </a:tcPr>
                </a:tc>
              </a:tr>
              <a:tr h="384048">
                <a:tc>
                  <a:txBody>
                    <a:bodyPr wrap="square"/>
                    <a:lstStyle/>
                    <a:p>
                      <a:pPr algn="ctr"/>
                      <a:r>
                        <a:rPr sz="1050" b="0" i="0">
                          <a:solidFill>
                            <a:srgbClr val="14313B"/>
                          </a:solidFill>
                          <a:latin typeface="Calibri (MS)"/>
                        </a:rPr>
                        <a:t>2017</a:t>
                      </a:r>
                    </a:p>
                  </a:txBody>
                  <a:tcPr marL="73152" marR="73152" marT="36576" marB="36576" anchor="ctr">
                    <a:solidFill>
                      <a:srgbClr val="FFFFFF"/>
                    </a:solidFill>
                  </a:tcPr>
                </a:tc>
                <a:tc>
                  <a:txBody>
                    <a:bodyPr wrap="square"/>
                    <a:lstStyle/>
                    <a:p>
                      <a:pPr algn="ctr"/>
                      <a:r>
                        <a:rPr sz="1050" b="0" i="0">
                          <a:solidFill>
                            <a:srgbClr val="14313B"/>
                          </a:solidFill>
                          <a:latin typeface="Calibri (MS)"/>
                        </a:rPr>
                        <a:t>1,438</a:t>
                      </a:r>
                    </a:p>
                  </a:txBody>
                  <a:tcPr marL="73152" marR="73152" marT="36576" marB="36576" anchor="ctr">
                    <a:solidFill>
                      <a:srgbClr val="FFFFFF"/>
                    </a:solidFill>
                  </a:tcPr>
                </a:tc>
                <a:tc>
                  <a:txBody>
                    <a:bodyPr wrap="square"/>
                    <a:lstStyle/>
                    <a:p>
                      <a:pPr algn="ctr"/>
                      <a:r>
                        <a:rPr sz="1050" b="0" i="0">
                          <a:solidFill>
                            <a:srgbClr val="14313B"/>
                          </a:solidFill>
                          <a:latin typeface="Calibri (MS)"/>
                        </a:rPr>
                        <a:t>18.465</a:t>
                      </a:r>
                    </a:p>
                  </a:txBody>
                  <a:tcPr marL="73152" marR="73152" marT="36576" marB="36576" anchor="ctr">
                    <a:solidFill>
                      <a:srgbClr val="FFFFFF"/>
                    </a:solidFill>
                  </a:tcPr>
                </a:tc>
                <a:tc>
                  <a:txBody>
                    <a:bodyPr wrap="square"/>
                    <a:lstStyle/>
                    <a:p>
                      <a:pPr algn="ctr"/>
                      <a:r>
                        <a:rPr sz="1050" b="0" i="0">
                          <a:solidFill>
                            <a:srgbClr val="14313B"/>
                          </a:solidFill>
                          <a:latin typeface="Calibri (MS)"/>
                        </a:rPr>
                        <a:t>171*</a:t>
                      </a:r>
                    </a:p>
                  </a:txBody>
                  <a:tcPr marL="73152" marR="73152" marT="36576" marB="36576" anchor="ctr">
                    <a:solidFill>
                      <a:srgbClr val="FFF1BF"/>
                    </a:solidFill>
                  </a:tcPr>
                </a:tc>
              </a:tr>
              <a:tr h="384048">
                <a:tc>
                  <a:txBody>
                    <a:bodyPr wrap="square"/>
                    <a:lstStyle/>
                    <a:p>
                      <a:pPr algn="ctr"/>
                      <a:r>
                        <a:rPr sz="1050" b="0" i="0">
                          <a:solidFill>
                            <a:srgbClr val="14313B"/>
                          </a:solidFill>
                          <a:latin typeface="Calibri (MS)"/>
                        </a:rPr>
                        <a:t>2018</a:t>
                      </a:r>
                    </a:p>
                  </a:txBody>
                  <a:tcPr marL="73152" marR="73152" marT="36576" marB="36576" anchor="ctr">
                    <a:solidFill>
                      <a:srgbClr val="EAF8FA"/>
                    </a:solidFill>
                  </a:tcPr>
                </a:tc>
                <a:tc>
                  <a:txBody>
                    <a:bodyPr wrap="square"/>
                    <a:lstStyle/>
                    <a:p>
                      <a:pPr algn="ctr"/>
                      <a:r>
                        <a:rPr sz="1050" b="0" i="0">
                          <a:solidFill>
                            <a:srgbClr val="14313B"/>
                          </a:solidFill>
                          <a:latin typeface="Calibri (MS)"/>
                        </a:rPr>
                        <a:t>1,668</a:t>
                      </a:r>
                    </a:p>
                  </a:txBody>
                  <a:tcPr marL="73152" marR="73152" marT="36576" marB="36576" anchor="ctr">
                    <a:solidFill>
                      <a:srgbClr val="EAF8FA"/>
                    </a:solidFill>
                  </a:tcPr>
                </a:tc>
                <a:tc>
                  <a:txBody>
                    <a:bodyPr wrap="square"/>
                    <a:lstStyle/>
                    <a:p>
                      <a:pPr algn="ctr"/>
                      <a:r>
                        <a:rPr sz="1050" b="0" i="0">
                          <a:solidFill>
                            <a:srgbClr val="14313B"/>
                          </a:solidFill>
                          <a:latin typeface="Calibri (MS)"/>
                        </a:rPr>
                        <a:t>21.417</a:t>
                      </a:r>
                    </a:p>
                  </a:txBody>
                  <a:tcPr marL="73152" marR="73152" marT="36576" marB="36576" anchor="ctr">
                    <a:solidFill>
                      <a:srgbClr val="EAF8FA"/>
                    </a:solidFill>
                  </a:tcPr>
                </a:tc>
                <a:tc>
                  <a:txBody>
                    <a:bodyPr wrap="square"/>
                    <a:lstStyle/>
                    <a:p>
                      <a:pPr algn="ctr"/>
                      <a:r>
                        <a:rPr sz="1050" b="0" i="0">
                          <a:solidFill>
                            <a:srgbClr val="14313B"/>
                          </a:solidFill>
                          <a:latin typeface="Calibri (MS)"/>
                        </a:rPr>
                        <a:t>177</a:t>
                      </a:r>
                    </a:p>
                  </a:txBody>
                  <a:tcPr marL="73152" marR="73152" marT="36576" marB="36576" anchor="ctr">
                    <a:solidFill>
                      <a:srgbClr val="EAF8FA"/>
                    </a:solidFill>
                  </a:tcPr>
                </a:tc>
              </a:tr>
              <a:tr h="384048">
                <a:tc>
                  <a:txBody>
                    <a:bodyPr wrap="square"/>
                    <a:lstStyle/>
                    <a:p>
                      <a:pPr algn="ctr"/>
                      <a:r>
                        <a:rPr sz="1050" b="0" i="0">
                          <a:solidFill>
                            <a:srgbClr val="14313B"/>
                          </a:solidFill>
                          <a:latin typeface="Calibri (MS)"/>
                        </a:rPr>
                        <a:t>2019</a:t>
                      </a:r>
                    </a:p>
                  </a:txBody>
                  <a:tcPr marL="73152" marR="73152" marT="36576" marB="36576" anchor="ctr">
                    <a:solidFill>
                      <a:srgbClr val="FFFFFF"/>
                    </a:solidFill>
                  </a:tcPr>
                </a:tc>
                <a:tc>
                  <a:txBody>
                    <a:bodyPr wrap="square"/>
                    <a:lstStyle/>
                    <a:p>
                      <a:pPr algn="ctr"/>
                      <a:r>
                        <a:rPr sz="1050" b="0" i="0">
                          <a:solidFill>
                            <a:srgbClr val="14313B"/>
                          </a:solidFill>
                          <a:latin typeface="Calibri (MS)"/>
                        </a:rPr>
                        <a:t>2,005</a:t>
                      </a:r>
                    </a:p>
                  </a:txBody>
                  <a:tcPr marL="73152" marR="73152" marT="36576" marB="36576" anchor="ctr">
                    <a:solidFill>
                      <a:srgbClr val="FFFFFF"/>
                    </a:solidFill>
                  </a:tcPr>
                </a:tc>
                <a:tc>
                  <a:txBody>
                    <a:bodyPr wrap="square"/>
                    <a:lstStyle/>
                    <a:p>
                      <a:pPr algn="ctr"/>
                      <a:r>
                        <a:rPr sz="1050" b="0" i="0">
                          <a:solidFill>
                            <a:srgbClr val="14313B"/>
                          </a:solidFill>
                          <a:latin typeface="Calibri (MS)"/>
                        </a:rPr>
                        <a:t>25.738</a:t>
                      </a:r>
                    </a:p>
                  </a:txBody>
                  <a:tcPr marL="73152" marR="73152" marT="36576" marB="36576" anchor="ctr">
                    <a:solidFill>
                      <a:srgbClr val="FFFFFF"/>
                    </a:solidFill>
                  </a:tcPr>
                </a:tc>
                <a:tc>
                  <a:txBody>
                    <a:bodyPr wrap="square"/>
                    <a:lstStyle/>
                    <a:p>
                      <a:pPr algn="ctr"/>
                      <a:r>
                        <a:rPr sz="1050" b="0" i="0">
                          <a:solidFill>
                            <a:srgbClr val="14313B"/>
                          </a:solidFill>
                          <a:latin typeface="Calibri (MS)"/>
                        </a:rPr>
                        <a:t>189</a:t>
                      </a:r>
                    </a:p>
                  </a:txBody>
                  <a:tcPr marL="73152" marR="73152" marT="36576" marB="36576" anchor="ctr">
                    <a:solidFill>
                      <a:srgbClr val="FFFFFF"/>
                    </a:solidFill>
                  </a:tcPr>
                </a:tc>
              </a:tr>
              <a:tr h="384048">
                <a:tc>
                  <a:txBody>
                    <a:bodyPr wrap="square"/>
                    <a:lstStyle/>
                    <a:p>
                      <a:pPr algn="ctr"/>
                      <a:r>
                        <a:rPr sz="1050" b="0" i="0">
                          <a:solidFill>
                            <a:srgbClr val="14313B"/>
                          </a:solidFill>
                          <a:latin typeface="Calibri (MS)"/>
                        </a:rPr>
                        <a:t>2020</a:t>
                      </a:r>
                    </a:p>
                  </a:txBody>
                  <a:tcPr marL="73152" marR="73152" marT="36576" marB="36576" anchor="ctr">
                    <a:solidFill>
                      <a:srgbClr val="EAF8FA"/>
                    </a:solidFill>
                  </a:tcPr>
                </a:tc>
                <a:tc>
                  <a:txBody>
                    <a:bodyPr wrap="square"/>
                    <a:lstStyle/>
                    <a:p>
                      <a:pPr algn="ctr"/>
                      <a:r>
                        <a:rPr sz="1050" b="0" i="0">
                          <a:solidFill>
                            <a:srgbClr val="14313B"/>
                          </a:solidFill>
                          <a:latin typeface="Calibri (MS)"/>
                        </a:rPr>
                        <a:t>1,828</a:t>
                      </a:r>
                    </a:p>
                  </a:txBody>
                  <a:tcPr marL="73152" marR="73152" marT="36576" marB="36576" anchor="ctr">
                    <a:solidFill>
                      <a:srgbClr val="EAF8FA"/>
                    </a:solidFill>
                  </a:tcPr>
                </a:tc>
                <a:tc>
                  <a:txBody>
                    <a:bodyPr wrap="square"/>
                    <a:lstStyle/>
                    <a:p>
                      <a:pPr algn="ctr"/>
                      <a:r>
                        <a:rPr sz="1050" b="0" i="0">
                          <a:solidFill>
                            <a:srgbClr val="14313B"/>
                          </a:solidFill>
                          <a:latin typeface="Calibri (MS)"/>
                        </a:rPr>
                        <a:t>23.466</a:t>
                      </a:r>
                    </a:p>
                  </a:txBody>
                  <a:tcPr marL="73152" marR="73152" marT="36576" marB="36576" anchor="ctr">
                    <a:solidFill>
                      <a:srgbClr val="EAF8FA"/>
                    </a:solidFill>
                  </a:tcPr>
                </a:tc>
                <a:tc>
                  <a:txBody>
                    <a:bodyPr wrap="square"/>
                    <a:lstStyle/>
                    <a:p>
                      <a:pPr algn="ctr"/>
                      <a:r>
                        <a:rPr sz="1050" b="0" i="0">
                          <a:solidFill>
                            <a:srgbClr val="14313B"/>
                          </a:solidFill>
                          <a:latin typeface="Calibri (MS)"/>
                        </a:rPr>
                        <a:t>180</a:t>
                      </a:r>
                    </a:p>
                  </a:txBody>
                  <a:tcPr marL="73152" marR="73152" marT="36576" marB="36576" anchor="ctr">
                    <a:solidFill>
                      <a:srgbClr val="EAF8FA"/>
                    </a:solidFill>
                  </a:tcPr>
                </a:tc>
              </a:tr>
              <a:tr h="384048">
                <a:tc>
                  <a:txBody>
                    <a:bodyPr wrap="square"/>
                    <a:lstStyle/>
                    <a:p>
                      <a:pPr algn="ctr"/>
                      <a:r>
                        <a:rPr sz="1050" b="0" i="0">
                          <a:solidFill>
                            <a:srgbClr val="14313B"/>
                          </a:solidFill>
                          <a:latin typeface="Calibri (MS)"/>
                        </a:rPr>
                        <a:t>2021</a:t>
                      </a:r>
                    </a:p>
                  </a:txBody>
                  <a:tcPr marL="73152" marR="73152" marT="36576" marB="36576" anchor="ctr">
                    <a:solidFill>
                      <a:srgbClr val="FFFFFF"/>
                    </a:solidFill>
                  </a:tcPr>
                </a:tc>
                <a:tc>
                  <a:txBody>
                    <a:bodyPr wrap="square"/>
                    <a:lstStyle/>
                    <a:p>
                      <a:pPr algn="ctr"/>
                      <a:r>
                        <a:rPr sz="1050" b="0" i="0">
                          <a:solidFill>
                            <a:srgbClr val="14313B"/>
                          </a:solidFill>
                          <a:latin typeface="Calibri (MS)"/>
                        </a:rPr>
                        <a:t>1,541</a:t>
                      </a:r>
                    </a:p>
                  </a:txBody>
                  <a:tcPr marL="73152" marR="73152" marT="36576" marB="36576" anchor="ctr">
                    <a:solidFill>
                      <a:srgbClr val="FFFFFF"/>
                    </a:solidFill>
                  </a:tcPr>
                </a:tc>
                <a:tc>
                  <a:txBody>
                    <a:bodyPr wrap="square"/>
                    <a:lstStyle/>
                    <a:p>
                      <a:pPr algn="ctr"/>
                      <a:r>
                        <a:rPr sz="1050" b="0" i="0">
                          <a:solidFill>
                            <a:srgbClr val="14313B"/>
                          </a:solidFill>
                          <a:latin typeface="Calibri (MS)"/>
                        </a:rPr>
                        <a:t>19.782</a:t>
                      </a:r>
                    </a:p>
                  </a:txBody>
                  <a:tcPr marL="73152" marR="73152" marT="36576" marB="36576" anchor="ctr">
                    <a:solidFill>
                      <a:srgbClr val="FFFFFF"/>
                    </a:solidFill>
                  </a:tcPr>
                </a:tc>
                <a:tc>
                  <a:txBody>
                    <a:bodyPr wrap="square"/>
                    <a:lstStyle/>
                    <a:p>
                      <a:pPr algn="ctr"/>
                      <a:r>
                        <a:rPr sz="1050" b="0" i="0">
                          <a:solidFill>
                            <a:srgbClr val="14313B"/>
                          </a:solidFill>
                          <a:latin typeface="Calibri (MS)"/>
                        </a:rPr>
                        <a:t>170</a:t>
                      </a:r>
                    </a:p>
                  </a:txBody>
                  <a:tcPr marL="73152" marR="73152" marT="36576" marB="36576" anchor="ctr">
                    <a:solidFill>
                      <a:srgbClr val="FFFFFF"/>
                    </a:solidFill>
                  </a:tcPr>
                </a:tc>
              </a:tr>
              <a:tr h="384048">
                <a:tc>
                  <a:txBody>
                    <a:bodyPr wrap="square"/>
                    <a:lstStyle/>
                    <a:p>
                      <a:pPr algn="ctr"/>
                      <a:r>
                        <a:rPr sz="1050" b="0" i="0">
                          <a:solidFill>
                            <a:srgbClr val="14313B"/>
                          </a:solidFill>
                          <a:latin typeface="Calibri (MS)"/>
                        </a:rPr>
                        <a:t>2022</a:t>
                      </a:r>
                    </a:p>
                  </a:txBody>
                  <a:tcPr marL="73152" marR="73152" marT="36576" marB="36576" anchor="ctr">
                    <a:solidFill>
                      <a:srgbClr val="EAF8FA"/>
                    </a:solidFill>
                  </a:tcPr>
                </a:tc>
                <a:tc>
                  <a:txBody>
                    <a:bodyPr wrap="square"/>
                    <a:lstStyle/>
                    <a:p>
                      <a:pPr algn="ctr"/>
                      <a:r>
                        <a:rPr sz="1050" b="0" i="0">
                          <a:solidFill>
                            <a:srgbClr val="14313B"/>
                          </a:solidFill>
                          <a:latin typeface="Calibri (MS)"/>
                        </a:rPr>
                        <a:t>1,483</a:t>
                      </a:r>
                    </a:p>
                  </a:txBody>
                  <a:tcPr marL="73152" marR="73152" marT="36576" marB="36576" anchor="ctr">
                    <a:solidFill>
                      <a:srgbClr val="EAF8FA"/>
                    </a:solidFill>
                  </a:tcPr>
                </a:tc>
                <a:tc>
                  <a:txBody>
                    <a:bodyPr wrap="square"/>
                    <a:lstStyle/>
                    <a:p>
                      <a:pPr algn="ctr"/>
                      <a:r>
                        <a:rPr sz="1050" b="0" i="0">
                          <a:solidFill>
                            <a:srgbClr val="14313B"/>
                          </a:solidFill>
                          <a:latin typeface="Calibri (MS)"/>
                        </a:rPr>
                        <a:t>19.042</a:t>
                      </a:r>
                    </a:p>
                  </a:txBody>
                  <a:tcPr marL="73152" marR="73152" marT="36576" marB="36576" anchor="ctr">
                    <a:solidFill>
                      <a:srgbClr val="EAF8FA"/>
                    </a:solidFill>
                  </a:tcPr>
                </a:tc>
                <a:tc>
                  <a:txBody>
                    <a:bodyPr wrap="square"/>
                    <a:lstStyle/>
                    <a:p>
                      <a:pPr algn="ctr"/>
                      <a:r>
                        <a:rPr sz="1050" b="0" i="0">
                          <a:solidFill>
                            <a:srgbClr val="14313B"/>
                          </a:solidFill>
                          <a:latin typeface="Calibri (MS)"/>
                        </a:rPr>
                        <a:t>183</a:t>
                      </a:r>
                    </a:p>
                  </a:txBody>
                  <a:tcPr marL="73152" marR="73152" marT="36576" marB="36576" anchor="ctr">
                    <a:solidFill>
                      <a:srgbClr val="EAF8FA"/>
                    </a:solidFill>
                  </a:tcPr>
                </a:tc>
              </a:tr>
              <a:tr h="384048">
                <a:tc>
                  <a:txBody>
                    <a:bodyPr wrap="square"/>
                    <a:lstStyle/>
                    <a:p>
                      <a:pPr algn="ctr"/>
                      <a:r>
                        <a:rPr sz="1050" b="0" i="0">
                          <a:solidFill>
                            <a:srgbClr val="14313B"/>
                          </a:solidFill>
                          <a:latin typeface="Calibri (MS)"/>
                        </a:rPr>
                        <a:t>2023</a:t>
                      </a:r>
                    </a:p>
                  </a:txBody>
                  <a:tcPr marL="73152" marR="73152" marT="36576" marB="36576" anchor="ctr">
                    <a:solidFill>
                      <a:srgbClr val="FFFFFF"/>
                    </a:solidFill>
                  </a:tcPr>
                </a:tc>
                <a:tc>
                  <a:txBody>
                    <a:bodyPr wrap="square"/>
                    <a:lstStyle/>
                    <a:p>
                      <a:pPr algn="ctr"/>
                      <a:r>
                        <a:rPr sz="1050" b="0" i="0">
                          <a:solidFill>
                            <a:srgbClr val="14313B"/>
                          </a:solidFill>
                          <a:latin typeface="Calibri (MS)"/>
                        </a:rPr>
                        <a:t>2,512</a:t>
                      </a:r>
                    </a:p>
                  </a:txBody>
                  <a:tcPr marL="73152" marR="73152" marT="36576" marB="36576" anchor="ctr">
                    <a:solidFill>
                      <a:srgbClr val="FFFFFF"/>
                    </a:solidFill>
                  </a:tcPr>
                </a:tc>
                <a:tc>
                  <a:txBody>
                    <a:bodyPr wrap="square"/>
                    <a:lstStyle/>
                    <a:p>
                      <a:pPr algn="ctr"/>
                      <a:r>
                        <a:rPr sz="1050" b="0" i="0">
                          <a:solidFill>
                            <a:srgbClr val="14313B"/>
                          </a:solidFill>
                          <a:latin typeface="Calibri (MS)"/>
                        </a:rPr>
                        <a:t>32.253</a:t>
                      </a:r>
                    </a:p>
                  </a:txBody>
                  <a:tcPr marL="73152" marR="73152" marT="36576" marB="36576" anchor="ctr">
                    <a:solidFill>
                      <a:srgbClr val="FFFFFF"/>
                    </a:solidFill>
                  </a:tcPr>
                </a:tc>
                <a:tc>
                  <a:txBody>
                    <a:bodyPr wrap="square"/>
                    <a:lstStyle/>
                    <a:p>
                      <a:pPr algn="ctr"/>
                      <a:r>
                        <a:rPr sz="1050" b="0" i="0">
                          <a:solidFill>
                            <a:srgbClr val="14313B"/>
                          </a:solidFill>
                          <a:latin typeface="Calibri (MS)"/>
                        </a:rPr>
                        <a:t>201</a:t>
                      </a:r>
                    </a:p>
                  </a:txBody>
                  <a:tcPr marL="73152" marR="73152" marT="36576" marB="36576" anchor="ctr">
                    <a:solidFill>
                      <a:srgbClr val="FFFFFF"/>
                    </a:solidFill>
                  </a:tcPr>
                </a:tc>
              </a:tr>
              <a:tr h="384048">
                <a:tc>
                  <a:txBody>
                    <a:bodyPr wrap="square"/>
                    <a:lstStyle/>
                    <a:p>
                      <a:pPr algn="ctr"/>
                      <a:r>
                        <a:rPr sz="1050" b="0" i="0">
                          <a:solidFill>
                            <a:srgbClr val="14313B"/>
                          </a:solidFill>
                          <a:latin typeface="Calibri (MS)"/>
                        </a:rPr>
                        <a:t>2024</a:t>
                      </a:r>
                    </a:p>
                  </a:txBody>
                  <a:tcPr marL="73152" marR="73152" marT="36576" marB="36576" anchor="ctr">
                    <a:solidFill>
                      <a:srgbClr val="EAF8FA"/>
                    </a:solidFill>
                  </a:tcPr>
                </a:tc>
                <a:tc>
                  <a:txBody>
                    <a:bodyPr wrap="square"/>
                    <a:lstStyle/>
                    <a:p>
                      <a:pPr algn="ctr"/>
                      <a:r>
                        <a:rPr sz="1050" b="0" i="0">
                          <a:solidFill>
                            <a:srgbClr val="14313B"/>
                          </a:solidFill>
                          <a:latin typeface="Calibri (MS)"/>
                        </a:rPr>
                        <a:t>2,457</a:t>
                      </a:r>
                    </a:p>
                  </a:txBody>
                  <a:tcPr marL="73152" marR="73152" marT="36576" marB="36576" anchor="ctr">
                    <a:solidFill>
                      <a:srgbClr val="EAF8FA"/>
                    </a:solidFill>
                  </a:tcPr>
                </a:tc>
                <a:tc>
                  <a:txBody>
                    <a:bodyPr wrap="square"/>
                    <a:lstStyle/>
                    <a:p>
                      <a:pPr algn="ctr"/>
                      <a:r>
                        <a:rPr sz="1050" b="0" i="0">
                          <a:solidFill>
                            <a:srgbClr val="14313B"/>
                          </a:solidFill>
                          <a:latin typeface="Calibri (MS)"/>
                        </a:rPr>
                        <a:t>31.543</a:t>
                      </a:r>
                    </a:p>
                  </a:txBody>
                  <a:tcPr marL="73152" marR="73152" marT="36576" marB="36576" anchor="ctr">
                    <a:solidFill>
                      <a:srgbClr val="EAF8FA"/>
                    </a:solidFill>
                  </a:tcPr>
                </a:tc>
                <a:tc>
                  <a:txBody>
                    <a:bodyPr wrap="square"/>
                    <a:lstStyle/>
                    <a:p>
                      <a:pPr algn="ctr"/>
                      <a:r>
                        <a:rPr sz="1050" b="0" i="0">
                          <a:solidFill>
                            <a:srgbClr val="14313B"/>
                          </a:solidFill>
                          <a:latin typeface="Calibri (MS)"/>
                        </a:rPr>
                        <a:t>218</a:t>
                      </a:r>
                    </a:p>
                  </a:txBody>
                  <a:tcPr marL="73152" marR="73152" marT="36576" marB="36576" anchor="ctr">
                    <a:solidFill>
                      <a:srgbClr val="EAF8FA"/>
                    </a:solidFill>
                  </a:tcPr>
                </a:tc>
              </a:tr>
              <a:tr h="384048">
                <a:tc>
                  <a:txBody>
                    <a:bodyPr wrap="square"/>
                    <a:lstStyle/>
                    <a:p>
                      <a:pPr algn="ctr"/>
                      <a:r>
                        <a:rPr sz="1050" b="0" i="0">
                          <a:solidFill>
                            <a:srgbClr val="14313B"/>
                          </a:solidFill>
                          <a:latin typeface="Calibri (MS)"/>
                        </a:rPr>
                        <a:t>2025</a:t>
                      </a:r>
                    </a:p>
                  </a:txBody>
                  <a:tcPr marL="73152" marR="73152" marT="36576" marB="36576" anchor="ctr">
                    <a:solidFill>
                      <a:srgbClr val="FFFFFF"/>
                    </a:solidFill>
                  </a:tcPr>
                </a:tc>
                <a:tc>
                  <a:txBody>
                    <a:bodyPr wrap="square"/>
                    <a:lstStyle/>
                    <a:p>
                      <a:pPr algn="ctr"/>
                      <a:r>
                        <a:rPr sz="1050" b="0" i="0">
                          <a:solidFill>
                            <a:srgbClr val="14313B"/>
                          </a:solidFill>
                          <a:latin typeface="Calibri (MS)"/>
                        </a:rPr>
                        <a:t>2,288</a:t>
                      </a:r>
                    </a:p>
                  </a:txBody>
                  <a:tcPr marL="73152" marR="73152" marT="36576" marB="36576" anchor="ctr">
                    <a:solidFill>
                      <a:srgbClr val="FFFFFF"/>
                    </a:solidFill>
                  </a:tcPr>
                </a:tc>
                <a:tc>
                  <a:txBody>
                    <a:bodyPr wrap="square"/>
                    <a:lstStyle/>
                    <a:p>
                      <a:pPr algn="ctr"/>
                      <a:r>
                        <a:rPr sz="1050" b="0" i="0">
                          <a:solidFill>
                            <a:srgbClr val="14313B"/>
                          </a:solidFill>
                          <a:latin typeface="Calibri (MS)"/>
                        </a:rPr>
                        <a:t>29.370</a:t>
                      </a:r>
                    </a:p>
                  </a:txBody>
                  <a:tcPr marL="73152" marR="73152" marT="36576" marB="36576" anchor="ctr">
                    <a:solidFill>
                      <a:srgbClr val="FFFFFF"/>
                    </a:solidFill>
                  </a:tcPr>
                </a:tc>
                <a:tc>
                  <a:txBody>
                    <a:bodyPr wrap="square"/>
                    <a:lstStyle/>
                    <a:p>
                      <a:pPr algn="ctr"/>
                      <a:r>
                        <a:rPr sz="1050" b="0" i="0">
                          <a:solidFill>
                            <a:srgbClr val="14313B"/>
                          </a:solidFill>
                          <a:latin typeface="Calibri (MS)"/>
                        </a:rPr>
                        <a:t>201*</a:t>
                      </a:r>
                    </a:p>
                  </a:txBody>
                  <a:tcPr marL="73152" marR="73152" marT="36576" marB="36576" anchor="ctr">
                    <a:solidFill>
                      <a:srgbClr val="FFF1BF"/>
                    </a:solidFill>
                  </a:tcPr>
                </a:tc>
              </a:tr>
            </a:tbl>
          </a:graphicData>
        </a:graphic>
      </p:graphicFrame>
      <p:graphicFrame>
        <p:nvGraphicFramePr>
          <p:cNvPr id="38" name="Chart 37"/>
          <p:cNvGraphicFramePr>
            <a:graphicFrameLocks noGrp="1"/>
          </p:cNvGraphicFramePr>
          <p:nvPr/>
        </p:nvGraphicFramePr>
        <p:xfrm>
          <a:off x="13533120" y="1920240"/>
          <a:ext cx="3931920" cy="3291840"/>
        </p:xfrm>
        <a:graphic>
          <a:graphicData uri="http://schemas.openxmlformats.org/drawingml/2006/chart">
            <c:chart xmlns:c="http://schemas.openxmlformats.org/drawingml/2006/chart" r:id="rId7"/>
          </a:graphicData>
        </a:graphic>
      </p:graphicFrame>
      <p:sp>
        <p:nvSpPr>
          <p:cNvPr id="39" name="Rounded Rectangle 38"/>
          <p:cNvSpPr/>
          <p:nvPr/>
        </p:nvSpPr>
        <p:spPr>
          <a:xfrm>
            <a:off x="13533120" y="5349240"/>
            <a:ext cx="393192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50" b="1" i="0">
                <a:solidFill>
                  <a:srgbClr val="0B5E6E"/>
                </a:solidFill>
                <a:latin typeface="Calibri (MS) Bold"/>
              </a:rPr>
              <a:t>Cara membaca</a:t>
            </a:r>
          </a:p>
          <a:p>
            <a:pPr algn="l">
              <a:spcAft>
                <a:spcPts val="300"/>
              </a:spcAft>
            </a:pPr>
            <a:r>
              <a:rPr sz="1050" b="0" i="0">
                <a:solidFill>
                  <a:srgbClr val="14313B"/>
                </a:solidFill>
                <a:latin typeface="Calibri (MS)"/>
              </a:rPr>
              <a:t>NTL turun 2020–2022 (pandemi) lalu naik tajam 2023.</a:t>
            </a:r>
          </a:p>
          <a:p>
            <a:pPr algn="l">
              <a:spcAft>
                <a:spcPts val="300"/>
              </a:spcAft>
            </a:pPr>
            <a:r>
              <a:rPr sz="1050" b="0" i="0">
                <a:solidFill>
                  <a:srgbClr val="14313B"/>
                </a:solidFill>
                <a:latin typeface="Calibri (MS)"/>
              </a:rPr>
              <a:t>Rentang data latih 2018–2024: 1,483–2,512; NTL 2016 (1,054) di luar rentang.</a:t>
            </a:r>
          </a:p>
        </p:txBody>
      </p:sp>
      <p:sp>
        <p:nvSpPr>
          <p:cNvPr id="40" name="TextBox 39"/>
          <p:cNvSpPr txBox="1"/>
          <p:nvPr/>
        </p:nvSpPr>
        <p:spPr>
          <a:xfrm>
            <a:off x="9144000" y="6583680"/>
            <a:ext cx="4206240" cy="457200"/>
          </a:xfrm>
          <a:prstGeom prst="rect">
            <a:avLst/>
          </a:prstGeom>
          <a:noFill/>
        </p:spPr>
        <p:txBody>
          <a:bodyPr wrap="square" anchor="t" lIns="0" rIns="0" tIns="0" bIns="0">
            <a:spAutoFit/>
          </a:bodyPr>
          <a:lstStyle/>
          <a:p>
            <a:pPr algn="l">
              <a:spcAft>
                <a:spcPts val="400"/>
              </a:spcAft>
            </a:pPr>
            <a:r>
              <a:rPr sz="950" b="0" i="1">
                <a:solidFill>
                  <a:srgbClr val="5E6E78"/>
                </a:solidFill>
                <a:latin typeface="Calibri (MS)"/>
              </a:rPr>
              <a:t>*estimasi dari regresi NTL</a:t>
            </a:r>
          </a:p>
        </p:txBody>
      </p:sp>
      <p:sp>
        <p:nvSpPr>
          <p:cNvPr id="41" name="Rounded Rectangle 40"/>
          <p:cNvSpPr/>
          <p:nvPr/>
        </p:nvSpPr>
        <p:spPr>
          <a:xfrm>
            <a:off x="822960" y="75895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NTL rata-rata dipakai sebagai peubah penjelas ODTW. Nilai jumlah (sum) hanya pelengkap. Ekstraksi titik validasi spasial memakai buffer 300 m pada skala 500 m (citra 2025).</a:t>
            </a:r>
          </a:p>
        </p:txBody>
      </p:sp>
      <p:sp>
        <p:nvSpPr>
          <p:cNvPr id="42" name="TextBox 4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3.5.1; GEE.rtf; NTL_DIY_2015_2025.csv (repository).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13 · Pemrosesan Citra Dynamic World dan Nilainya</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Luas terbangun dihitung dari rata-rata probabilitas kelas built per tahun dengan ambang 0,5</a:t>
            </a:r>
          </a:p>
        </p:txBody>
      </p:sp>
      <p:sp>
        <p:nvSpPr>
          <p:cNvPr id="27" name="Rounded Rectangle 26"/>
          <p:cNvSpPr/>
          <p:nvPr/>
        </p:nvSpPr>
        <p:spPr>
          <a:xfrm>
            <a:off x="822960" y="1920240"/>
            <a:ext cx="69494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Tahapan di Google Earth Engine</a:t>
            </a:r>
          </a:p>
        </p:txBody>
      </p:sp>
      <p:sp>
        <p:nvSpPr>
          <p:cNvPr id="28" name="Oval 27"/>
          <p:cNvSpPr/>
          <p:nvPr/>
        </p:nvSpPr>
        <p:spPr>
          <a:xfrm>
            <a:off x="822960" y="262890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29" name="Rounded Rectangle 28"/>
          <p:cNvSpPr/>
          <p:nvPr/>
        </p:nvSpPr>
        <p:spPr>
          <a:xfrm>
            <a:off x="1417320" y="2468880"/>
            <a:ext cx="635507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Koleksi &amp; wilayah</a:t>
            </a:r>
          </a:p>
          <a:p>
            <a:pPr algn="l">
              <a:spcAft>
                <a:spcPts val="300"/>
              </a:spcAft>
            </a:pPr>
            <a:r>
              <a:rPr sz="1100" b="0" i="0">
                <a:solidFill>
                  <a:srgbClr val="14313B"/>
                </a:solidFill>
                <a:latin typeface="Calibri (MS)"/>
              </a:rPr>
              <a:t>GOOGLE/DYNAMICWORLD/V1, difilter batas DIY dan 1 Jan–31 Des tiap tahun.</a:t>
            </a:r>
          </a:p>
        </p:txBody>
      </p:sp>
      <p:sp>
        <p:nvSpPr>
          <p:cNvPr id="30" name="Oval 29"/>
          <p:cNvSpPr/>
          <p:nvPr/>
        </p:nvSpPr>
        <p:spPr>
          <a:xfrm>
            <a:off x="822960" y="349758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1" name="Rounded Rectangle 30"/>
          <p:cNvSpPr/>
          <p:nvPr/>
        </p:nvSpPr>
        <p:spPr>
          <a:xfrm>
            <a:off x="1417320" y="3337560"/>
            <a:ext cx="635507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Probabilitas tahunan</a:t>
            </a:r>
          </a:p>
          <a:p>
            <a:pPr algn="l">
              <a:spcAft>
                <a:spcPts val="300"/>
              </a:spcAft>
            </a:pPr>
            <a:r>
              <a:rPr sz="1100" b="0" i="0">
                <a:solidFill>
                  <a:srgbClr val="14313B"/>
                </a:solidFill>
                <a:latin typeface="Calibri (MS)"/>
              </a:rPr>
              <a:t>Band built dirata-ratakan per piksel dari seluruh citra tahun itu.</a:t>
            </a:r>
          </a:p>
        </p:txBody>
      </p:sp>
      <p:sp>
        <p:nvSpPr>
          <p:cNvPr id="32" name="Oval 31"/>
          <p:cNvSpPr/>
          <p:nvPr/>
        </p:nvSpPr>
        <p:spPr>
          <a:xfrm>
            <a:off x="822960" y="4366259"/>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33" name="Rounded Rectangle 32"/>
          <p:cNvSpPr/>
          <p:nvPr/>
        </p:nvSpPr>
        <p:spPr>
          <a:xfrm>
            <a:off x="1417320" y="4206240"/>
            <a:ext cx="635507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Ambang 0,5</a:t>
            </a:r>
          </a:p>
          <a:p>
            <a:pPr algn="l">
              <a:spcAft>
                <a:spcPts val="300"/>
              </a:spcAft>
            </a:pPr>
            <a:r>
              <a:rPr sz="1100" b="0" i="0">
                <a:solidFill>
                  <a:srgbClr val="14313B"/>
                </a:solidFill>
                <a:latin typeface="Calibri (MS)"/>
              </a:rPr>
              <a:t>Piksel dengan rata-rata probabilitas ≥ 0,5 dihitung sebagai terbangun.</a:t>
            </a:r>
          </a:p>
        </p:txBody>
      </p:sp>
      <p:sp>
        <p:nvSpPr>
          <p:cNvPr id="34" name="Oval 33"/>
          <p:cNvSpPr/>
          <p:nvPr/>
        </p:nvSpPr>
        <p:spPr>
          <a:xfrm>
            <a:off x="822960" y="523494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4</a:t>
            </a:r>
          </a:p>
        </p:txBody>
      </p:sp>
      <p:sp>
        <p:nvSpPr>
          <p:cNvPr id="35" name="Rounded Rectangle 34"/>
          <p:cNvSpPr/>
          <p:nvPr/>
        </p:nvSpPr>
        <p:spPr>
          <a:xfrm>
            <a:off x="1417320" y="5074920"/>
            <a:ext cx="6355079" cy="777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Luas</a:t>
            </a:r>
          </a:p>
          <a:p>
            <a:pPr algn="l">
              <a:spcAft>
                <a:spcPts val="300"/>
              </a:spcAft>
            </a:pPr>
            <a:r>
              <a:rPr sz="1100" b="0" i="0">
                <a:solidFill>
                  <a:srgbClr val="14313B"/>
                </a:solidFill>
                <a:latin typeface="Calibri (MS)"/>
              </a:rPr>
              <a:t>Luas piksel (pixelArea) dijumlahkan pada skala 10 m, dibagi 10.000 → hektar.</a:t>
            </a:r>
          </a:p>
        </p:txBody>
      </p:sp>
      <p:sp>
        <p:nvSpPr>
          <p:cNvPr id="36" name="Rounded Rectangle 35"/>
          <p:cNvSpPr/>
          <p:nvPr/>
        </p:nvSpPr>
        <p:spPr>
          <a:xfrm>
            <a:off x="822960" y="5989320"/>
            <a:ext cx="6949440" cy="14173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00" b="0" i="1">
                <a:solidFill>
                  <a:srgbClr val="14313B"/>
                </a:solidFill>
                <a:latin typeface="Calibri (MS)"/>
              </a:rPr>
              <a:t>p̄ₚ,ₜ = (1/nₚ,ₜ) · Σ p_built,ₚ,ᵢ</a:t>
            </a:r>
          </a:p>
          <a:p>
            <a:pPr algn="l">
              <a:spcAft>
                <a:spcPts val="300"/>
              </a:spcAft>
            </a:pPr>
            <a:r>
              <a:rPr sz="1200" b="0" i="1">
                <a:solidFill>
                  <a:srgbClr val="14313B"/>
                </a:solidFill>
                <a:latin typeface="Calibri (MS)"/>
              </a:rPr>
              <a:t>Luasₜ = Σₚ Aₚ · 1[p̄ₚ,ₜ ≥ 0,5] ÷ 10.000  (ha)</a:t>
            </a:r>
          </a:p>
        </p:txBody>
      </p:sp>
      <p:graphicFrame>
        <p:nvGraphicFramePr>
          <p:cNvPr id="37" name="Table 36"/>
          <p:cNvGraphicFramePr>
            <a:graphicFrameLocks noGrp="1"/>
          </p:cNvGraphicFramePr>
          <p:nvPr/>
        </p:nvGraphicFramePr>
        <p:xfrm>
          <a:off x="8046720" y="1920240"/>
          <a:ext cx="9418316" cy="4224528"/>
        </p:xfrm>
        <a:graphic>
          <a:graphicData uri="http://schemas.openxmlformats.org/drawingml/2006/table">
            <a:tbl>
              <a:tblPr firstRow="1" bandRow="1">
                <a:tableStyleId>{5C22544A-7EE6-4342-B048-85BDC9FD1C3A}</a:tableStyleId>
              </a:tblPr>
              <a:tblGrid>
                <a:gridCol w="768842"/>
                <a:gridCol w="768842"/>
                <a:gridCol w="864947"/>
                <a:gridCol w="1633790"/>
                <a:gridCol w="1441579"/>
                <a:gridCol w="1441579"/>
                <a:gridCol w="1537684"/>
                <a:gridCol w="961053"/>
              </a:tblGrid>
              <a:tr h="384048">
                <a:tc>
                  <a:txBody>
                    <a:bodyPr wrap="square"/>
                    <a:lstStyle/>
                    <a:p>
                      <a:pPr algn="ctr"/>
                      <a:r>
                        <a:rPr sz="10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Citra</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Obs/ piksel</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Luas ambang 0,5 (dipakai)</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Luas modus label</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Luas “lunak” Σp</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Luas terkoreksi obs.</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 wilayah</a:t>
                      </a:r>
                    </a:p>
                  </a:txBody>
                  <a:tcPr marL="73152" marR="73152" marT="36576" marB="36576" anchor="ctr">
                    <a:solidFill>
                      <a:srgbClr val="0B5E6E"/>
                    </a:solidFill>
                  </a:tcPr>
                </a:tc>
              </a:tr>
              <a:tr h="384048">
                <a:tc>
                  <a:txBody>
                    <a:bodyPr wrap="square"/>
                    <a:lstStyle/>
                    <a:p>
                      <a:pPr algn="ctr"/>
                      <a:r>
                        <a:rPr sz="1000" b="0" i="0">
                          <a:solidFill>
                            <a:srgbClr val="14313B"/>
                          </a:solidFill>
                          <a:latin typeface="Calibri (MS)"/>
                        </a:rPr>
                        <a:t>2016</a:t>
                      </a:r>
                    </a:p>
                  </a:txBody>
                  <a:tcPr marL="73152" marR="73152" marT="36576" marB="36576" anchor="ctr">
                    <a:solidFill>
                      <a:srgbClr val="FFFFFF"/>
                    </a:solidFill>
                  </a:tcPr>
                </a:tc>
                <a:tc>
                  <a:txBody>
                    <a:bodyPr wrap="square"/>
                    <a:lstStyle/>
                    <a:p>
                      <a:pPr algn="ctr"/>
                      <a:r>
                        <a:rPr sz="1000" b="0" i="0">
                          <a:solidFill>
                            <a:srgbClr val="14313B"/>
                          </a:solidFill>
                          <a:latin typeface="Calibri (MS)"/>
                        </a:rPr>
                        <a:t>53</a:t>
                      </a:r>
                    </a:p>
                  </a:txBody>
                  <a:tcPr marL="73152" marR="73152" marT="36576" marB="36576" anchor="ctr">
                    <a:solidFill>
                      <a:srgbClr val="FFFFFF"/>
                    </a:solidFill>
                  </a:tcPr>
                </a:tc>
                <a:tc>
                  <a:txBody>
                    <a:bodyPr wrap="square"/>
                    <a:lstStyle/>
                    <a:p>
                      <a:pPr algn="ctr"/>
                      <a:r>
                        <a:rPr sz="1000" b="0" i="0">
                          <a:solidFill>
                            <a:srgbClr val="14313B"/>
                          </a:solidFill>
                          <a:latin typeface="Calibri (MS)"/>
                        </a:rPr>
                        <a:t>4,34</a:t>
                      </a:r>
                    </a:p>
                  </a:txBody>
                  <a:tcPr marL="73152" marR="73152" marT="36576" marB="36576" anchor="ctr">
                    <a:solidFill>
                      <a:srgbClr val="FFFFFF"/>
                    </a:solidFill>
                  </a:tcPr>
                </a:tc>
                <a:tc>
                  <a:txBody>
                    <a:bodyPr wrap="square"/>
                    <a:lstStyle/>
                    <a:p>
                      <a:pPr algn="ctr"/>
                      <a:r>
                        <a:rPr sz="1000" b="0" i="0">
                          <a:solidFill>
                            <a:srgbClr val="14313B"/>
                          </a:solidFill>
                          <a:latin typeface="Calibri (MS)"/>
                        </a:rPr>
                        <a:t>44.561</a:t>
                      </a:r>
                    </a:p>
                  </a:txBody>
                  <a:tcPr marL="73152" marR="73152" marT="36576" marB="36576" anchor="ctr">
                    <a:solidFill>
                      <a:srgbClr val="C9F0D6"/>
                    </a:solidFill>
                  </a:tcPr>
                </a:tc>
                <a:tc>
                  <a:txBody>
                    <a:bodyPr wrap="square"/>
                    <a:lstStyle/>
                    <a:p>
                      <a:pPr algn="ctr"/>
                      <a:r>
                        <a:rPr sz="1000" b="0" i="0">
                          <a:solidFill>
                            <a:srgbClr val="14313B"/>
                          </a:solidFill>
                          <a:latin typeface="Calibri (MS)"/>
                        </a:rPr>
                        <a:t>65.366</a:t>
                      </a:r>
                    </a:p>
                  </a:txBody>
                  <a:tcPr marL="73152" marR="73152" marT="36576" marB="36576" anchor="ctr">
                    <a:solidFill>
                      <a:srgbClr val="FFFFFF"/>
                    </a:solidFill>
                  </a:tcPr>
                </a:tc>
                <a:tc>
                  <a:txBody>
                    <a:bodyPr wrap="square"/>
                    <a:lstStyle/>
                    <a:p>
                      <a:pPr algn="ctr"/>
                      <a:r>
                        <a:rPr sz="1000" b="0" i="0">
                          <a:solidFill>
                            <a:srgbClr val="14313B"/>
                          </a:solidFill>
                          <a:latin typeface="Calibri (MS)"/>
                        </a:rPr>
                        <a:t>53.500</a:t>
                      </a:r>
                    </a:p>
                  </a:txBody>
                  <a:tcPr marL="73152" marR="73152" marT="36576" marB="36576" anchor="ctr">
                    <a:solidFill>
                      <a:srgbClr val="FFFFFF"/>
                    </a:solidFill>
                  </a:tcPr>
                </a:tc>
                <a:tc>
                  <a:txBody>
                    <a:bodyPr wrap="square"/>
                    <a:lstStyle/>
                    <a:p>
                      <a:pPr algn="ctr"/>
                      <a:r>
                        <a:rPr sz="1000" b="0" i="0">
                          <a:solidFill>
                            <a:srgbClr val="14313B"/>
                          </a:solidFill>
                          <a:latin typeface="Calibri (MS)"/>
                        </a:rPr>
                        <a:t>61.642</a:t>
                      </a:r>
                    </a:p>
                  </a:txBody>
                  <a:tcPr marL="73152" marR="73152" marT="36576" marB="36576" anchor="ctr">
                    <a:solidFill>
                      <a:srgbClr val="FFFFFF"/>
                    </a:solidFill>
                  </a:tcPr>
                </a:tc>
                <a:tc>
                  <a:txBody>
                    <a:bodyPr wrap="square"/>
                    <a:lstStyle/>
                    <a:p>
                      <a:pPr algn="ctr"/>
                      <a:r>
                        <a:rPr sz="1000" b="0" i="0">
                          <a:solidFill>
                            <a:srgbClr val="14313B"/>
                          </a:solidFill>
                          <a:latin typeface="Calibri (MS)"/>
                        </a:rPr>
                        <a:t>14,1%</a:t>
                      </a:r>
                    </a:p>
                  </a:txBody>
                  <a:tcPr marL="73152" marR="73152" marT="36576" marB="36576" anchor="ctr">
                    <a:solidFill>
                      <a:srgbClr val="FFFFFF"/>
                    </a:solidFill>
                  </a:tcPr>
                </a:tc>
              </a:tr>
              <a:tr h="384048">
                <a:tc>
                  <a:txBody>
                    <a:bodyPr wrap="square"/>
                    <a:lstStyle/>
                    <a:p>
                      <a:pPr algn="ctr"/>
                      <a:r>
                        <a:rPr sz="1000" b="0" i="0">
                          <a:solidFill>
                            <a:srgbClr val="14313B"/>
                          </a:solidFill>
                          <a:latin typeface="Calibri (MS)"/>
                        </a:rPr>
                        <a:t>2017</a:t>
                      </a:r>
                    </a:p>
                  </a:txBody>
                  <a:tcPr marL="73152" marR="73152" marT="36576" marB="36576" anchor="ctr">
                    <a:solidFill>
                      <a:srgbClr val="EAF8FA"/>
                    </a:solidFill>
                  </a:tcPr>
                </a:tc>
                <a:tc>
                  <a:txBody>
                    <a:bodyPr wrap="square"/>
                    <a:lstStyle/>
                    <a:p>
                      <a:pPr algn="ctr"/>
                      <a:r>
                        <a:rPr sz="1000" b="0" i="0">
                          <a:solidFill>
                            <a:srgbClr val="14313B"/>
                          </a:solidFill>
                          <a:latin typeface="Calibri (MS)"/>
                        </a:rPr>
                        <a:t>97</a:t>
                      </a:r>
                    </a:p>
                  </a:txBody>
                  <a:tcPr marL="73152" marR="73152" marT="36576" marB="36576" anchor="ctr">
                    <a:solidFill>
                      <a:srgbClr val="EAF8FA"/>
                    </a:solidFill>
                  </a:tcPr>
                </a:tc>
                <a:tc>
                  <a:txBody>
                    <a:bodyPr wrap="square"/>
                    <a:lstStyle/>
                    <a:p>
                      <a:pPr algn="ctr"/>
                      <a:r>
                        <a:rPr sz="1000" b="0" i="0">
                          <a:solidFill>
                            <a:srgbClr val="14313B"/>
                          </a:solidFill>
                          <a:latin typeface="Calibri (MS)"/>
                        </a:rPr>
                        <a:t>7,02</a:t>
                      </a:r>
                    </a:p>
                  </a:txBody>
                  <a:tcPr marL="73152" marR="73152" marT="36576" marB="36576" anchor="ctr">
                    <a:solidFill>
                      <a:srgbClr val="EAF8FA"/>
                    </a:solidFill>
                  </a:tcPr>
                </a:tc>
                <a:tc>
                  <a:txBody>
                    <a:bodyPr wrap="square"/>
                    <a:lstStyle/>
                    <a:p>
                      <a:pPr algn="ctr"/>
                      <a:r>
                        <a:rPr sz="1000" b="0" i="0">
                          <a:solidFill>
                            <a:srgbClr val="14313B"/>
                          </a:solidFill>
                          <a:latin typeface="Calibri (MS)"/>
                        </a:rPr>
                        <a:t>50.224</a:t>
                      </a:r>
                    </a:p>
                  </a:txBody>
                  <a:tcPr marL="73152" marR="73152" marT="36576" marB="36576" anchor="ctr">
                    <a:solidFill>
                      <a:srgbClr val="C9F0D6"/>
                    </a:solidFill>
                  </a:tcPr>
                </a:tc>
                <a:tc>
                  <a:txBody>
                    <a:bodyPr wrap="square"/>
                    <a:lstStyle/>
                    <a:p>
                      <a:pPr algn="ctr"/>
                      <a:r>
                        <a:rPr sz="1000" b="0" i="0">
                          <a:solidFill>
                            <a:srgbClr val="14313B"/>
                          </a:solidFill>
                          <a:latin typeface="Calibri (MS)"/>
                        </a:rPr>
                        <a:t>78.496</a:t>
                      </a:r>
                    </a:p>
                  </a:txBody>
                  <a:tcPr marL="73152" marR="73152" marT="36576" marB="36576" anchor="ctr">
                    <a:solidFill>
                      <a:srgbClr val="EAF8FA"/>
                    </a:solidFill>
                  </a:tcPr>
                </a:tc>
                <a:tc>
                  <a:txBody>
                    <a:bodyPr wrap="square"/>
                    <a:lstStyle/>
                    <a:p>
                      <a:pPr algn="ctr"/>
                      <a:r>
                        <a:rPr sz="1000" b="0" i="0">
                          <a:solidFill>
                            <a:srgbClr val="14313B"/>
                          </a:solidFill>
                          <a:latin typeface="Calibri (MS)"/>
                        </a:rPr>
                        <a:t>62.527</a:t>
                      </a:r>
                    </a:p>
                  </a:txBody>
                  <a:tcPr marL="73152" marR="73152" marT="36576" marB="36576" anchor="ctr">
                    <a:solidFill>
                      <a:srgbClr val="EAF8FA"/>
                    </a:solidFill>
                  </a:tcPr>
                </a:tc>
                <a:tc>
                  <a:txBody>
                    <a:bodyPr wrap="square"/>
                    <a:lstStyle/>
                    <a:p>
                      <a:pPr algn="ctr"/>
                      <a:r>
                        <a:rPr sz="1000" b="0" i="0">
                          <a:solidFill>
                            <a:srgbClr val="14313B"/>
                          </a:solidFill>
                          <a:latin typeface="Calibri (MS)"/>
                        </a:rPr>
                        <a:t>67.827</a:t>
                      </a:r>
                    </a:p>
                  </a:txBody>
                  <a:tcPr marL="73152" marR="73152" marT="36576" marB="36576" anchor="ctr">
                    <a:solidFill>
                      <a:srgbClr val="EAF8FA"/>
                    </a:solidFill>
                  </a:tcPr>
                </a:tc>
                <a:tc>
                  <a:txBody>
                    <a:bodyPr wrap="square"/>
                    <a:lstStyle/>
                    <a:p>
                      <a:pPr algn="ctr"/>
                      <a:r>
                        <a:rPr sz="1000" b="0" i="0">
                          <a:solidFill>
                            <a:srgbClr val="14313B"/>
                          </a:solidFill>
                          <a:latin typeface="Calibri (MS)"/>
                        </a:rPr>
                        <a:t>15,8%</a:t>
                      </a:r>
                    </a:p>
                  </a:txBody>
                  <a:tcPr marL="73152" marR="73152" marT="36576" marB="36576" anchor="ctr">
                    <a:solidFill>
                      <a:srgbClr val="EAF8FA"/>
                    </a:solidFill>
                  </a:tcPr>
                </a:tc>
              </a:tr>
              <a:tr h="384048">
                <a:tc>
                  <a:txBody>
                    <a:bodyPr wrap="square"/>
                    <a:lstStyle/>
                    <a:p>
                      <a:pPr algn="ctr"/>
                      <a:r>
                        <a:rPr sz="1000" b="0" i="0">
                          <a:solidFill>
                            <a:srgbClr val="14313B"/>
                          </a:solidFill>
                          <a:latin typeface="Calibri (MS)"/>
                        </a:rPr>
                        <a:t>2018</a:t>
                      </a:r>
                    </a:p>
                  </a:txBody>
                  <a:tcPr marL="73152" marR="73152" marT="36576" marB="36576" anchor="ctr">
                    <a:solidFill>
                      <a:srgbClr val="FFFFFF"/>
                    </a:solidFill>
                  </a:tcPr>
                </a:tc>
                <a:tc>
                  <a:txBody>
                    <a:bodyPr wrap="square"/>
                    <a:lstStyle/>
                    <a:p>
                      <a:pPr algn="ctr"/>
                      <a:r>
                        <a:rPr sz="1000" b="0" i="0">
                          <a:solidFill>
                            <a:srgbClr val="14313B"/>
                          </a:solidFill>
                          <a:latin typeface="Calibri (MS)"/>
                        </a:rPr>
                        <a:t>194</a:t>
                      </a:r>
                    </a:p>
                  </a:txBody>
                  <a:tcPr marL="73152" marR="73152" marT="36576" marB="36576" anchor="ctr">
                    <a:solidFill>
                      <a:srgbClr val="FFFFFF"/>
                    </a:solidFill>
                  </a:tcPr>
                </a:tc>
                <a:tc>
                  <a:txBody>
                    <a:bodyPr wrap="square"/>
                    <a:lstStyle/>
                    <a:p>
                      <a:pPr algn="ctr"/>
                      <a:r>
                        <a:rPr sz="1000" b="0" i="0">
                          <a:solidFill>
                            <a:srgbClr val="14313B"/>
                          </a:solidFill>
                          <a:latin typeface="Calibri (MS)"/>
                        </a:rPr>
                        <a:t>16,16</a:t>
                      </a:r>
                    </a:p>
                  </a:txBody>
                  <a:tcPr marL="73152" marR="73152" marT="36576" marB="36576" anchor="ctr">
                    <a:solidFill>
                      <a:srgbClr val="FFFFFF"/>
                    </a:solidFill>
                  </a:tcPr>
                </a:tc>
                <a:tc>
                  <a:txBody>
                    <a:bodyPr wrap="square"/>
                    <a:lstStyle/>
                    <a:p>
                      <a:pPr algn="ctr"/>
                      <a:r>
                        <a:rPr sz="1000" b="0" i="0">
                          <a:solidFill>
                            <a:srgbClr val="14313B"/>
                          </a:solidFill>
                          <a:latin typeface="Calibri (MS)"/>
                        </a:rPr>
                        <a:t>56.624</a:t>
                      </a:r>
                    </a:p>
                  </a:txBody>
                  <a:tcPr marL="73152" marR="73152" marT="36576" marB="36576" anchor="ctr">
                    <a:solidFill>
                      <a:srgbClr val="C9F0D6"/>
                    </a:solidFill>
                  </a:tcPr>
                </a:tc>
                <a:tc>
                  <a:txBody>
                    <a:bodyPr wrap="square"/>
                    <a:lstStyle/>
                    <a:p>
                      <a:pPr algn="ctr"/>
                      <a:r>
                        <a:rPr sz="1000" b="0" i="0">
                          <a:solidFill>
                            <a:srgbClr val="14313B"/>
                          </a:solidFill>
                          <a:latin typeface="Calibri (MS)"/>
                        </a:rPr>
                        <a:t>85.767</a:t>
                      </a:r>
                    </a:p>
                  </a:txBody>
                  <a:tcPr marL="73152" marR="73152" marT="36576" marB="36576" anchor="ctr">
                    <a:solidFill>
                      <a:srgbClr val="FFFFFF"/>
                    </a:solidFill>
                  </a:tcPr>
                </a:tc>
                <a:tc>
                  <a:txBody>
                    <a:bodyPr wrap="square"/>
                    <a:lstStyle/>
                    <a:p>
                      <a:pPr algn="ctr"/>
                      <a:r>
                        <a:rPr sz="1000" b="0" i="0">
                          <a:solidFill>
                            <a:srgbClr val="14313B"/>
                          </a:solidFill>
                          <a:latin typeface="Calibri (MS)"/>
                        </a:rPr>
                        <a:t>67.508</a:t>
                      </a:r>
                    </a:p>
                  </a:txBody>
                  <a:tcPr marL="73152" marR="73152" marT="36576" marB="36576" anchor="ctr">
                    <a:solidFill>
                      <a:srgbClr val="FFFFFF"/>
                    </a:solidFill>
                  </a:tcPr>
                </a:tc>
                <a:tc>
                  <a:txBody>
                    <a:bodyPr wrap="square"/>
                    <a:lstStyle/>
                    <a:p>
                      <a:pPr algn="ctr"/>
                      <a:r>
                        <a:rPr sz="1000" b="0" i="0">
                          <a:solidFill>
                            <a:srgbClr val="14313B"/>
                          </a:solidFill>
                          <a:latin typeface="Calibri (MS)"/>
                        </a:rPr>
                        <a:t>63.122</a:t>
                      </a:r>
                    </a:p>
                  </a:txBody>
                  <a:tcPr marL="73152" marR="73152" marT="36576" marB="36576" anchor="ctr">
                    <a:solidFill>
                      <a:srgbClr val="FFFFFF"/>
                    </a:solidFill>
                  </a:tcPr>
                </a:tc>
                <a:tc>
                  <a:txBody>
                    <a:bodyPr wrap="square"/>
                    <a:lstStyle/>
                    <a:p>
                      <a:pPr algn="ctr"/>
                      <a:r>
                        <a:rPr sz="1000" b="0" i="0">
                          <a:solidFill>
                            <a:srgbClr val="14313B"/>
                          </a:solidFill>
                          <a:latin typeface="Calibri (MS)"/>
                        </a:rPr>
                        <a:t>17,9%</a:t>
                      </a:r>
                    </a:p>
                  </a:txBody>
                  <a:tcPr marL="73152" marR="73152" marT="36576" marB="36576" anchor="ctr">
                    <a:solidFill>
                      <a:srgbClr val="FFFFFF"/>
                    </a:solidFill>
                  </a:tcPr>
                </a:tc>
              </a:tr>
              <a:tr h="384048">
                <a:tc>
                  <a:txBody>
                    <a:bodyPr wrap="square"/>
                    <a:lstStyle/>
                    <a:p>
                      <a:pPr algn="ctr"/>
                      <a:r>
                        <a:rPr sz="1000" b="0" i="0">
                          <a:solidFill>
                            <a:srgbClr val="14313B"/>
                          </a:solidFill>
                          <a:latin typeface="Calibri (MS)"/>
                        </a:rPr>
                        <a:t>2019</a:t>
                      </a:r>
                    </a:p>
                  </a:txBody>
                  <a:tcPr marL="73152" marR="73152" marT="36576" marB="36576" anchor="ctr">
                    <a:solidFill>
                      <a:srgbClr val="EAF8FA"/>
                    </a:solidFill>
                  </a:tcPr>
                </a:tc>
                <a:tc>
                  <a:txBody>
                    <a:bodyPr wrap="square"/>
                    <a:lstStyle/>
                    <a:p>
                      <a:pPr algn="ctr"/>
                      <a:r>
                        <a:rPr sz="1000" b="0" i="0">
                          <a:solidFill>
                            <a:srgbClr val="14313B"/>
                          </a:solidFill>
                          <a:latin typeface="Calibri (MS)"/>
                        </a:rPr>
                        <a:t>244</a:t>
                      </a:r>
                    </a:p>
                  </a:txBody>
                  <a:tcPr marL="73152" marR="73152" marT="36576" marB="36576" anchor="ctr">
                    <a:solidFill>
                      <a:srgbClr val="EAF8FA"/>
                    </a:solidFill>
                  </a:tcPr>
                </a:tc>
                <a:tc>
                  <a:txBody>
                    <a:bodyPr wrap="square"/>
                    <a:lstStyle/>
                    <a:p>
                      <a:pPr algn="ctr"/>
                      <a:r>
                        <a:rPr sz="1000" b="0" i="0">
                          <a:solidFill>
                            <a:srgbClr val="14313B"/>
                          </a:solidFill>
                          <a:latin typeface="Calibri (MS)"/>
                        </a:rPr>
                        <a:t>22,42</a:t>
                      </a:r>
                    </a:p>
                  </a:txBody>
                  <a:tcPr marL="73152" marR="73152" marT="36576" marB="36576" anchor="ctr">
                    <a:solidFill>
                      <a:srgbClr val="EAF8FA"/>
                    </a:solidFill>
                  </a:tcPr>
                </a:tc>
                <a:tc>
                  <a:txBody>
                    <a:bodyPr wrap="square"/>
                    <a:lstStyle/>
                    <a:p>
                      <a:pPr algn="ctr"/>
                      <a:r>
                        <a:rPr sz="1000" b="0" i="0">
                          <a:solidFill>
                            <a:srgbClr val="14313B"/>
                          </a:solidFill>
                          <a:latin typeface="Calibri (MS)"/>
                        </a:rPr>
                        <a:t>63.480</a:t>
                      </a:r>
                    </a:p>
                  </a:txBody>
                  <a:tcPr marL="73152" marR="73152" marT="36576" marB="36576" anchor="ctr">
                    <a:solidFill>
                      <a:srgbClr val="C9F0D6"/>
                    </a:solidFill>
                  </a:tcPr>
                </a:tc>
                <a:tc>
                  <a:txBody>
                    <a:bodyPr wrap="square"/>
                    <a:lstStyle/>
                    <a:p>
                      <a:pPr algn="ctr"/>
                      <a:r>
                        <a:rPr sz="1000" b="0" i="0">
                          <a:solidFill>
                            <a:srgbClr val="14313B"/>
                          </a:solidFill>
                          <a:latin typeface="Calibri (MS)"/>
                        </a:rPr>
                        <a:t>96.024</a:t>
                      </a:r>
                    </a:p>
                  </a:txBody>
                  <a:tcPr marL="73152" marR="73152" marT="36576" marB="36576" anchor="ctr">
                    <a:solidFill>
                      <a:srgbClr val="EAF8FA"/>
                    </a:solidFill>
                  </a:tcPr>
                </a:tc>
                <a:tc>
                  <a:txBody>
                    <a:bodyPr wrap="square"/>
                    <a:lstStyle/>
                    <a:p>
                      <a:pPr algn="ctr"/>
                      <a:r>
                        <a:rPr sz="1000" b="0" i="0">
                          <a:solidFill>
                            <a:srgbClr val="14313B"/>
                          </a:solidFill>
                          <a:latin typeface="Calibri (MS)"/>
                        </a:rPr>
                        <a:t>73.595</a:t>
                      </a:r>
                    </a:p>
                  </a:txBody>
                  <a:tcPr marL="73152" marR="73152" marT="36576" marB="36576" anchor="ctr">
                    <a:solidFill>
                      <a:srgbClr val="EAF8FA"/>
                    </a:solidFill>
                  </a:tcPr>
                </a:tc>
                <a:tc>
                  <a:txBody>
                    <a:bodyPr wrap="square"/>
                    <a:lstStyle/>
                    <a:p>
                      <a:pPr algn="ctr"/>
                      <a:r>
                        <a:rPr sz="1000" b="0" i="0">
                          <a:solidFill>
                            <a:srgbClr val="14313B"/>
                          </a:solidFill>
                          <a:latin typeface="Calibri (MS)"/>
                        </a:rPr>
                        <a:t>62.572</a:t>
                      </a:r>
                    </a:p>
                  </a:txBody>
                  <a:tcPr marL="73152" marR="73152" marT="36576" marB="36576" anchor="ctr">
                    <a:solidFill>
                      <a:srgbClr val="EAF8FA"/>
                    </a:solidFill>
                  </a:tcPr>
                </a:tc>
                <a:tc>
                  <a:txBody>
                    <a:bodyPr wrap="square"/>
                    <a:lstStyle/>
                    <a:p>
                      <a:pPr algn="ctr"/>
                      <a:r>
                        <a:rPr sz="1000" b="0" i="0">
                          <a:solidFill>
                            <a:srgbClr val="14313B"/>
                          </a:solidFill>
                          <a:latin typeface="Calibri (MS)"/>
                        </a:rPr>
                        <a:t>20,0%</a:t>
                      </a:r>
                    </a:p>
                  </a:txBody>
                  <a:tcPr marL="73152" marR="73152" marT="36576" marB="36576" anchor="ctr">
                    <a:solidFill>
                      <a:srgbClr val="EAF8FA"/>
                    </a:solidFill>
                  </a:tcPr>
                </a:tc>
              </a:tr>
              <a:tr h="384048">
                <a:tc>
                  <a:txBody>
                    <a:bodyPr wrap="square"/>
                    <a:lstStyle/>
                    <a:p>
                      <a:pPr algn="ctr"/>
                      <a:r>
                        <a:rPr sz="1000" b="0" i="0">
                          <a:solidFill>
                            <a:srgbClr val="14313B"/>
                          </a:solidFill>
                          <a:latin typeface="Calibri (MS)"/>
                        </a:rPr>
                        <a:t>2020</a:t>
                      </a:r>
                    </a:p>
                  </a:txBody>
                  <a:tcPr marL="73152" marR="73152" marT="36576" marB="36576" anchor="ctr">
                    <a:solidFill>
                      <a:srgbClr val="FFFFFF"/>
                    </a:solidFill>
                  </a:tcPr>
                </a:tc>
                <a:tc>
                  <a:txBody>
                    <a:bodyPr wrap="square"/>
                    <a:lstStyle/>
                    <a:p>
                      <a:pPr algn="ctr"/>
                      <a:r>
                        <a:rPr sz="1000" b="0" i="0">
                          <a:solidFill>
                            <a:srgbClr val="14313B"/>
                          </a:solidFill>
                          <a:latin typeface="Calibri (MS)"/>
                        </a:rPr>
                        <a:t>155</a:t>
                      </a:r>
                    </a:p>
                  </a:txBody>
                  <a:tcPr marL="73152" marR="73152" marT="36576" marB="36576" anchor="ctr">
                    <a:solidFill>
                      <a:srgbClr val="FFFFFF"/>
                    </a:solidFill>
                  </a:tcPr>
                </a:tc>
                <a:tc>
                  <a:txBody>
                    <a:bodyPr wrap="square"/>
                    <a:lstStyle/>
                    <a:p>
                      <a:pPr algn="ctr"/>
                      <a:r>
                        <a:rPr sz="1000" b="0" i="0">
                          <a:solidFill>
                            <a:srgbClr val="14313B"/>
                          </a:solidFill>
                          <a:latin typeface="Calibri (MS)"/>
                        </a:rPr>
                        <a:t>13,49</a:t>
                      </a:r>
                    </a:p>
                  </a:txBody>
                  <a:tcPr marL="73152" marR="73152" marT="36576" marB="36576" anchor="ctr">
                    <a:solidFill>
                      <a:srgbClr val="FFFFFF"/>
                    </a:solidFill>
                  </a:tcPr>
                </a:tc>
                <a:tc>
                  <a:txBody>
                    <a:bodyPr wrap="square"/>
                    <a:lstStyle/>
                    <a:p>
                      <a:pPr algn="ctr"/>
                      <a:r>
                        <a:rPr sz="1000" b="0" i="0">
                          <a:solidFill>
                            <a:srgbClr val="14313B"/>
                          </a:solidFill>
                          <a:latin typeface="Calibri (MS)"/>
                        </a:rPr>
                        <a:t>58.962</a:t>
                      </a:r>
                    </a:p>
                  </a:txBody>
                  <a:tcPr marL="73152" marR="73152" marT="36576" marB="36576" anchor="ctr">
                    <a:solidFill>
                      <a:srgbClr val="C9F0D6"/>
                    </a:solidFill>
                  </a:tcPr>
                </a:tc>
                <a:tc>
                  <a:txBody>
                    <a:bodyPr wrap="square"/>
                    <a:lstStyle/>
                    <a:p>
                      <a:pPr algn="ctr"/>
                      <a:r>
                        <a:rPr sz="1000" b="0" i="0">
                          <a:solidFill>
                            <a:srgbClr val="14313B"/>
                          </a:solidFill>
                          <a:latin typeface="Calibri (MS)"/>
                        </a:rPr>
                        <a:t>88.133</a:t>
                      </a:r>
                    </a:p>
                  </a:txBody>
                  <a:tcPr marL="73152" marR="73152" marT="36576" marB="36576" anchor="ctr">
                    <a:solidFill>
                      <a:srgbClr val="FFFFFF"/>
                    </a:solidFill>
                  </a:tcPr>
                </a:tc>
                <a:tc>
                  <a:txBody>
                    <a:bodyPr wrap="square"/>
                    <a:lstStyle/>
                    <a:p>
                      <a:pPr algn="ctr"/>
                      <a:r>
                        <a:rPr sz="1000" b="0" i="0">
                          <a:solidFill>
                            <a:srgbClr val="14313B"/>
                          </a:solidFill>
                          <a:latin typeface="Calibri (MS)"/>
                        </a:rPr>
                        <a:t>68.309</a:t>
                      </a:r>
                    </a:p>
                  </a:txBody>
                  <a:tcPr marL="73152" marR="73152" marT="36576" marB="36576" anchor="ctr">
                    <a:solidFill>
                      <a:srgbClr val="FFFFFF"/>
                    </a:solidFill>
                  </a:tcPr>
                </a:tc>
                <a:tc>
                  <a:txBody>
                    <a:bodyPr wrap="square"/>
                    <a:lstStyle/>
                    <a:p>
                      <a:pPr algn="ctr"/>
                      <a:r>
                        <a:rPr sz="1000" b="0" i="0">
                          <a:solidFill>
                            <a:srgbClr val="14313B"/>
                          </a:solidFill>
                          <a:latin typeface="Calibri (MS)"/>
                        </a:rPr>
                        <a:t>66.751</a:t>
                      </a:r>
                    </a:p>
                  </a:txBody>
                  <a:tcPr marL="73152" marR="73152" marT="36576" marB="36576" anchor="ctr">
                    <a:solidFill>
                      <a:srgbClr val="FFFFFF"/>
                    </a:solidFill>
                  </a:tcPr>
                </a:tc>
                <a:tc>
                  <a:txBody>
                    <a:bodyPr wrap="square"/>
                    <a:lstStyle/>
                    <a:p>
                      <a:pPr algn="ctr"/>
                      <a:r>
                        <a:rPr sz="1000" b="0" i="0">
                          <a:solidFill>
                            <a:srgbClr val="14313B"/>
                          </a:solidFill>
                          <a:latin typeface="Calibri (MS)"/>
                        </a:rPr>
                        <a:t>18,6%</a:t>
                      </a:r>
                    </a:p>
                  </a:txBody>
                  <a:tcPr marL="73152" marR="73152" marT="36576" marB="36576" anchor="ctr">
                    <a:solidFill>
                      <a:srgbClr val="FFFFFF"/>
                    </a:solidFill>
                  </a:tcPr>
                </a:tc>
              </a:tr>
              <a:tr h="384048">
                <a:tc>
                  <a:txBody>
                    <a:bodyPr wrap="square"/>
                    <a:lstStyle/>
                    <a:p>
                      <a:pPr algn="ctr"/>
                      <a:r>
                        <a:rPr sz="1000" b="0" i="0">
                          <a:solidFill>
                            <a:srgbClr val="14313B"/>
                          </a:solidFill>
                          <a:latin typeface="Calibri (MS)"/>
                        </a:rPr>
                        <a:t>2021</a:t>
                      </a:r>
                    </a:p>
                  </a:txBody>
                  <a:tcPr marL="73152" marR="73152" marT="36576" marB="36576" anchor="ctr">
                    <a:solidFill>
                      <a:srgbClr val="EAF8FA"/>
                    </a:solidFill>
                  </a:tcPr>
                </a:tc>
                <a:tc>
                  <a:txBody>
                    <a:bodyPr wrap="square"/>
                    <a:lstStyle/>
                    <a:p>
                      <a:pPr algn="ctr"/>
                      <a:r>
                        <a:rPr sz="1000" b="0" i="0">
                          <a:solidFill>
                            <a:srgbClr val="14313B"/>
                          </a:solidFill>
                          <a:latin typeface="Calibri (MS)"/>
                        </a:rPr>
                        <a:t>142</a:t>
                      </a:r>
                    </a:p>
                  </a:txBody>
                  <a:tcPr marL="73152" marR="73152" marT="36576" marB="36576" anchor="ctr">
                    <a:solidFill>
                      <a:srgbClr val="EAF8FA"/>
                    </a:solidFill>
                  </a:tcPr>
                </a:tc>
                <a:tc>
                  <a:txBody>
                    <a:bodyPr wrap="square"/>
                    <a:lstStyle/>
                    <a:p>
                      <a:pPr algn="ctr"/>
                      <a:r>
                        <a:rPr sz="1000" b="0" i="0">
                          <a:solidFill>
                            <a:srgbClr val="14313B"/>
                          </a:solidFill>
                          <a:latin typeface="Calibri (MS)"/>
                        </a:rPr>
                        <a:t>8,50</a:t>
                      </a:r>
                    </a:p>
                  </a:txBody>
                  <a:tcPr marL="73152" marR="73152" marT="36576" marB="36576" anchor="ctr">
                    <a:solidFill>
                      <a:srgbClr val="EAF8FA"/>
                    </a:solidFill>
                  </a:tcPr>
                </a:tc>
                <a:tc>
                  <a:txBody>
                    <a:bodyPr wrap="square"/>
                    <a:lstStyle/>
                    <a:p>
                      <a:pPr algn="ctr"/>
                      <a:r>
                        <a:rPr sz="1000" b="0" i="0">
                          <a:solidFill>
                            <a:srgbClr val="14313B"/>
                          </a:solidFill>
                          <a:latin typeface="Calibri (MS)"/>
                        </a:rPr>
                        <a:t>59.888</a:t>
                      </a:r>
                    </a:p>
                  </a:txBody>
                  <a:tcPr marL="73152" marR="73152" marT="36576" marB="36576" anchor="ctr">
                    <a:solidFill>
                      <a:srgbClr val="C9F0D6"/>
                    </a:solidFill>
                  </a:tcPr>
                </a:tc>
                <a:tc>
                  <a:txBody>
                    <a:bodyPr wrap="square"/>
                    <a:lstStyle/>
                    <a:p>
                      <a:pPr algn="ctr"/>
                      <a:r>
                        <a:rPr sz="1000" b="0" i="0">
                          <a:solidFill>
                            <a:srgbClr val="14313B"/>
                          </a:solidFill>
                          <a:latin typeface="Calibri (MS)"/>
                        </a:rPr>
                        <a:t>86.011</a:t>
                      </a:r>
                    </a:p>
                  </a:txBody>
                  <a:tcPr marL="73152" marR="73152" marT="36576" marB="36576" anchor="ctr">
                    <a:solidFill>
                      <a:srgbClr val="EAF8FA"/>
                    </a:solidFill>
                  </a:tcPr>
                </a:tc>
                <a:tc>
                  <a:txBody>
                    <a:bodyPr wrap="square"/>
                    <a:lstStyle/>
                    <a:p>
                      <a:pPr algn="ctr"/>
                      <a:r>
                        <a:rPr sz="1000" b="0" i="0">
                          <a:solidFill>
                            <a:srgbClr val="14313B"/>
                          </a:solidFill>
                          <a:latin typeface="Calibri (MS)"/>
                        </a:rPr>
                        <a:t>67.656</a:t>
                      </a:r>
                    </a:p>
                  </a:txBody>
                  <a:tcPr marL="73152" marR="73152" marT="36576" marB="36576" anchor="ctr">
                    <a:solidFill>
                      <a:srgbClr val="EAF8FA"/>
                    </a:solidFill>
                  </a:tcPr>
                </a:tc>
                <a:tc>
                  <a:txBody>
                    <a:bodyPr wrap="square"/>
                    <a:lstStyle/>
                    <a:p>
                      <a:pPr algn="ctr"/>
                      <a:r>
                        <a:rPr sz="1000" b="0" i="0">
                          <a:solidFill>
                            <a:srgbClr val="14313B"/>
                          </a:solidFill>
                          <a:latin typeface="Calibri (MS)"/>
                        </a:rPr>
                        <a:t>71.390</a:t>
                      </a:r>
                    </a:p>
                  </a:txBody>
                  <a:tcPr marL="73152" marR="73152" marT="36576" marB="36576" anchor="ctr">
                    <a:solidFill>
                      <a:srgbClr val="EAF8FA"/>
                    </a:solidFill>
                  </a:tcPr>
                </a:tc>
                <a:tc>
                  <a:txBody>
                    <a:bodyPr wrap="square"/>
                    <a:lstStyle/>
                    <a:p>
                      <a:pPr algn="ctr"/>
                      <a:r>
                        <a:rPr sz="1000" b="0" i="0">
                          <a:solidFill>
                            <a:srgbClr val="14313B"/>
                          </a:solidFill>
                          <a:latin typeface="Calibri (MS)"/>
                        </a:rPr>
                        <a:t>18,9%</a:t>
                      </a:r>
                    </a:p>
                  </a:txBody>
                  <a:tcPr marL="73152" marR="73152" marT="36576" marB="36576" anchor="ctr">
                    <a:solidFill>
                      <a:srgbClr val="EAF8FA"/>
                    </a:solidFill>
                  </a:tcPr>
                </a:tc>
              </a:tr>
              <a:tr h="384048">
                <a:tc>
                  <a:txBody>
                    <a:bodyPr wrap="square"/>
                    <a:lstStyle/>
                    <a:p>
                      <a:pPr algn="ctr"/>
                      <a:r>
                        <a:rPr sz="1000" b="0" i="0">
                          <a:solidFill>
                            <a:srgbClr val="14313B"/>
                          </a:solidFill>
                          <a:latin typeface="Calibri (MS)"/>
                        </a:rPr>
                        <a:t>2022</a:t>
                      </a:r>
                    </a:p>
                  </a:txBody>
                  <a:tcPr marL="73152" marR="73152" marT="36576" marB="36576" anchor="ctr">
                    <a:solidFill>
                      <a:srgbClr val="FFFFFF"/>
                    </a:solidFill>
                  </a:tcPr>
                </a:tc>
                <a:tc>
                  <a:txBody>
                    <a:bodyPr wrap="square"/>
                    <a:lstStyle/>
                    <a:p>
                      <a:pPr algn="ctr"/>
                      <a:r>
                        <a:rPr sz="1000" b="0" i="0">
                          <a:solidFill>
                            <a:srgbClr val="14313B"/>
                          </a:solidFill>
                          <a:latin typeface="Calibri (MS)"/>
                        </a:rPr>
                        <a:t>110</a:t>
                      </a:r>
                    </a:p>
                  </a:txBody>
                  <a:tcPr marL="73152" marR="73152" marT="36576" marB="36576" anchor="ctr">
                    <a:solidFill>
                      <a:srgbClr val="FFFFFF"/>
                    </a:solidFill>
                  </a:tcPr>
                </a:tc>
                <a:tc>
                  <a:txBody>
                    <a:bodyPr wrap="square"/>
                    <a:lstStyle/>
                    <a:p>
                      <a:pPr algn="ctr"/>
                      <a:r>
                        <a:rPr sz="1000" b="0" i="0">
                          <a:solidFill>
                            <a:srgbClr val="14313B"/>
                          </a:solidFill>
                          <a:latin typeface="Calibri (MS)"/>
                        </a:rPr>
                        <a:t>7,07</a:t>
                      </a:r>
                    </a:p>
                  </a:txBody>
                  <a:tcPr marL="73152" marR="73152" marT="36576" marB="36576" anchor="ctr">
                    <a:solidFill>
                      <a:srgbClr val="FFFFFF"/>
                    </a:solidFill>
                  </a:tcPr>
                </a:tc>
                <a:tc>
                  <a:txBody>
                    <a:bodyPr wrap="square"/>
                    <a:lstStyle/>
                    <a:p>
                      <a:pPr algn="ctr"/>
                      <a:r>
                        <a:rPr sz="1000" b="0" i="0">
                          <a:solidFill>
                            <a:srgbClr val="14313B"/>
                          </a:solidFill>
                          <a:latin typeface="Calibri (MS)"/>
                        </a:rPr>
                        <a:t>57.709</a:t>
                      </a:r>
                    </a:p>
                  </a:txBody>
                  <a:tcPr marL="73152" marR="73152" marT="36576" marB="36576" anchor="ctr">
                    <a:solidFill>
                      <a:srgbClr val="C9F0D6"/>
                    </a:solidFill>
                  </a:tcPr>
                </a:tc>
                <a:tc>
                  <a:txBody>
                    <a:bodyPr wrap="square"/>
                    <a:lstStyle/>
                    <a:p>
                      <a:pPr algn="ctr"/>
                      <a:r>
                        <a:rPr sz="1000" b="0" i="0">
                          <a:solidFill>
                            <a:srgbClr val="14313B"/>
                          </a:solidFill>
                          <a:latin typeface="Calibri (MS)"/>
                        </a:rPr>
                        <a:t>81.972</a:t>
                      </a:r>
                    </a:p>
                  </a:txBody>
                  <a:tcPr marL="73152" marR="73152" marT="36576" marB="36576" anchor="ctr">
                    <a:solidFill>
                      <a:srgbClr val="FFFFFF"/>
                    </a:solidFill>
                  </a:tcPr>
                </a:tc>
                <a:tc>
                  <a:txBody>
                    <a:bodyPr wrap="square"/>
                    <a:lstStyle/>
                    <a:p>
                      <a:pPr algn="ctr"/>
                      <a:r>
                        <a:rPr sz="1000" b="0" i="0">
                          <a:solidFill>
                            <a:srgbClr val="14313B"/>
                          </a:solidFill>
                          <a:latin typeface="Calibri (MS)"/>
                        </a:rPr>
                        <a:t>65.024</a:t>
                      </a:r>
                    </a:p>
                  </a:txBody>
                  <a:tcPr marL="73152" marR="73152" marT="36576" marB="36576" anchor="ctr">
                    <a:solidFill>
                      <a:srgbClr val="FFFFFF"/>
                    </a:solidFill>
                  </a:tcPr>
                </a:tc>
                <a:tc>
                  <a:txBody>
                    <a:bodyPr wrap="square"/>
                    <a:lstStyle/>
                    <a:p>
                      <a:pPr algn="ctr"/>
                      <a:r>
                        <a:rPr sz="1000" b="0" i="0">
                          <a:solidFill>
                            <a:srgbClr val="14313B"/>
                          </a:solidFill>
                          <a:latin typeface="Calibri (MS)"/>
                        </a:rPr>
                        <a:t>70.269</a:t>
                      </a:r>
                    </a:p>
                  </a:txBody>
                  <a:tcPr marL="73152" marR="73152" marT="36576" marB="36576" anchor="ctr">
                    <a:solidFill>
                      <a:srgbClr val="FFFFFF"/>
                    </a:solidFill>
                  </a:tcPr>
                </a:tc>
                <a:tc>
                  <a:txBody>
                    <a:bodyPr wrap="square"/>
                    <a:lstStyle/>
                    <a:p>
                      <a:pPr algn="ctr"/>
                      <a:r>
                        <a:rPr sz="1000" b="0" i="0">
                          <a:solidFill>
                            <a:srgbClr val="14313B"/>
                          </a:solidFill>
                          <a:latin typeface="Calibri (MS)"/>
                        </a:rPr>
                        <a:t>18,2%</a:t>
                      </a:r>
                    </a:p>
                  </a:txBody>
                  <a:tcPr marL="73152" marR="73152" marT="36576" marB="36576" anchor="ctr">
                    <a:solidFill>
                      <a:srgbClr val="FFFFFF"/>
                    </a:solidFill>
                  </a:tcPr>
                </a:tc>
              </a:tr>
              <a:tr h="384048">
                <a:tc>
                  <a:txBody>
                    <a:bodyPr wrap="square"/>
                    <a:lstStyle/>
                    <a:p>
                      <a:pPr algn="ctr"/>
                      <a:r>
                        <a:rPr sz="1000" b="0" i="0">
                          <a:solidFill>
                            <a:srgbClr val="14313B"/>
                          </a:solidFill>
                          <a:latin typeface="Calibri (MS)"/>
                        </a:rPr>
                        <a:t>2023</a:t>
                      </a:r>
                    </a:p>
                  </a:txBody>
                  <a:tcPr marL="73152" marR="73152" marT="36576" marB="36576" anchor="ctr">
                    <a:solidFill>
                      <a:srgbClr val="EAF8FA"/>
                    </a:solidFill>
                  </a:tcPr>
                </a:tc>
                <a:tc>
                  <a:txBody>
                    <a:bodyPr wrap="square"/>
                    <a:lstStyle/>
                    <a:p>
                      <a:pPr algn="ctr"/>
                      <a:r>
                        <a:rPr sz="1000" b="0" i="0">
                          <a:solidFill>
                            <a:srgbClr val="14313B"/>
                          </a:solidFill>
                          <a:latin typeface="Calibri (MS)"/>
                        </a:rPr>
                        <a:t>178</a:t>
                      </a:r>
                    </a:p>
                  </a:txBody>
                  <a:tcPr marL="73152" marR="73152" marT="36576" marB="36576" anchor="ctr">
                    <a:solidFill>
                      <a:srgbClr val="EAF8FA"/>
                    </a:solidFill>
                  </a:tcPr>
                </a:tc>
                <a:tc>
                  <a:txBody>
                    <a:bodyPr wrap="square"/>
                    <a:lstStyle/>
                    <a:p>
                      <a:pPr algn="ctr"/>
                      <a:r>
                        <a:rPr sz="1000" b="0" i="0">
                          <a:solidFill>
                            <a:srgbClr val="14313B"/>
                          </a:solidFill>
                          <a:latin typeface="Calibri (MS)"/>
                        </a:rPr>
                        <a:t>16,74</a:t>
                      </a:r>
                    </a:p>
                  </a:txBody>
                  <a:tcPr marL="73152" marR="73152" marT="36576" marB="36576" anchor="ctr">
                    <a:solidFill>
                      <a:srgbClr val="EAF8FA"/>
                    </a:solidFill>
                  </a:tcPr>
                </a:tc>
                <a:tc>
                  <a:txBody>
                    <a:bodyPr wrap="square"/>
                    <a:lstStyle/>
                    <a:p>
                      <a:pPr algn="ctr"/>
                      <a:r>
                        <a:rPr sz="1000" b="0" i="0">
                          <a:solidFill>
                            <a:srgbClr val="14313B"/>
                          </a:solidFill>
                          <a:latin typeface="Calibri (MS)"/>
                        </a:rPr>
                        <a:t>75.624</a:t>
                      </a:r>
                    </a:p>
                  </a:txBody>
                  <a:tcPr marL="73152" marR="73152" marT="36576" marB="36576" anchor="ctr">
                    <a:solidFill>
                      <a:srgbClr val="C9F0D6"/>
                    </a:solidFill>
                  </a:tcPr>
                </a:tc>
                <a:tc>
                  <a:txBody>
                    <a:bodyPr wrap="square"/>
                    <a:lstStyle/>
                    <a:p>
                      <a:pPr algn="ctr"/>
                      <a:r>
                        <a:rPr sz="1000" b="0" i="0">
                          <a:solidFill>
                            <a:srgbClr val="14313B"/>
                          </a:solidFill>
                          <a:latin typeface="Calibri (MS)"/>
                        </a:rPr>
                        <a:t>108.425</a:t>
                      </a:r>
                    </a:p>
                  </a:txBody>
                  <a:tcPr marL="73152" marR="73152" marT="36576" marB="36576" anchor="ctr">
                    <a:solidFill>
                      <a:srgbClr val="EAF8FA"/>
                    </a:solidFill>
                  </a:tcPr>
                </a:tc>
                <a:tc>
                  <a:txBody>
                    <a:bodyPr wrap="square"/>
                    <a:lstStyle/>
                    <a:p>
                      <a:pPr algn="ctr"/>
                      <a:r>
                        <a:rPr sz="1000" b="0" i="0">
                          <a:solidFill>
                            <a:srgbClr val="14313B"/>
                          </a:solidFill>
                          <a:latin typeface="Calibri (MS)"/>
                        </a:rPr>
                        <a:t>79.881</a:t>
                      </a:r>
                    </a:p>
                  </a:txBody>
                  <a:tcPr marL="73152" marR="73152" marT="36576" marB="36576" anchor="ctr">
                    <a:solidFill>
                      <a:srgbClr val="EAF8FA"/>
                    </a:solidFill>
                  </a:tcPr>
                </a:tc>
                <a:tc>
                  <a:txBody>
                    <a:bodyPr wrap="square"/>
                    <a:lstStyle/>
                    <a:p>
                      <a:pPr algn="ctr"/>
                      <a:r>
                        <a:rPr sz="1000" b="0" i="0">
                          <a:solidFill>
                            <a:srgbClr val="14313B"/>
                          </a:solidFill>
                          <a:latin typeface="Calibri (MS)"/>
                        </a:rPr>
                        <a:t>74.887</a:t>
                      </a:r>
                    </a:p>
                  </a:txBody>
                  <a:tcPr marL="73152" marR="73152" marT="36576" marB="36576" anchor="ctr">
                    <a:solidFill>
                      <a:srgbClr val="EAF8FA"/>
                    </a:solidFill>
                  </a:tcPr>
                </a:tc>
                <a:tc>
                  <a:txBody>
                    <a:bodyPr wrap="square"/>
                    <a:lstStyle/>
                    <a:p>
                      <a:pPr algn="ctr"/>
                      <a:r>
                        <a:rPr sz="1000" b="0" i="0">
                          <a:solidFill>
                            <a:srgbClr val="14313B"/>
                          </a:solidFill>
                          <a:latin typeface="Calibri (MS)"/>
                        </a:rPr>
                        <a:t>23,9%</a:t>
                      </a:r>
                    </a:p>
                  </a:txBody>
                  <a:tcPr marL="73152" marR="73152" marT="36576" marB="36576" anchor="ctr">
                    <a:solidFill>
                      <a:srgbClr val="EAF8FA"/>
                    </a:solidFill>
                  </a:tcPr>
                </a:tc>
              </a:tr>
              <a:tr h="384048">
                <a:tc>
                  <a:txBody>
                    <a:bodyPr wrap="square"/>
                    <a:lstStyle/>
                    <a:p>
                      <a:pPr algn="ctr"/>
                      <a:r>
                        <a:rPr sz="1000" b="0" i="0">
                          <a:solidFill>
                            <a:srgbClr val="14313B"/>
                          </a:solidFill>
                          <a:latin typeface="Calibri (MS)"/>
                        </a:rPr>
                        <a:t>2024</a:t>
                      </a:r>
                    </a:p>
                  </a:txBody>
                  <a:tcPr marL="73152" marR="73152" marT="36576" marB="36576" anchor="ctr">
                    <a:solidFill>
                      <a:srgbClr val="FFFFFF"/>
                    </a:solidFill>
                  </a:tcPr>
                </a:tc>
                <a:tc>
                  <a:txBody>
                    <a:bodyPr wrap="square"/>
                    <a:lstStyle/>
                    <a:p>
                      <a:pPr algn="ctr"/>
                      <a:r>
                        <a:rPr sz="1000" b="0" i="0">
                          <a:solidFill>
                            <a:srgbClr val="14313B"/>
                          </a:solidFill>
                          <a:latin typeface="Calibri (MS)"/>
                        </a:rPr>
                        <a:t>188</a:t>
                      </a:r>
                    </a:p>
                  </a:txBody>
                  <a:tcPr marL="73152" marR="73152" marT="36576" marB="36576" anchor="ctr">
                    <a:solidFill>
                      <a:srgbClr val="FFFFFF"/>
                    </a:solidFill>
                  </a:tcPr>
                </a:tc>
                <a:tc>
                  <a:txBody>
                    <a:bodyPr wrap="square"/>
                    <a:lstStyle/>
                    <a:p>
                      <a:pPr algn="ctr"/>
                      <a:r>
                        <a:rPr sz="1000" b="0" i="0">
                          <a:solidFill>
                            <a:srgbClr val="14313B"/>
                          </a:solidFill>
                          <a:latin typeface="Calibri (MS)"/>
                        </a:rPr>
                        <a:t>15,16</a:t>
                      </a:r>
                    </a:p>
                  </a:txBody>
                  <a:tcPr marL="73152" marR="73152" marT="36576" marB="36576" anchor="ctr">
                    <a:solidFill>
                      <a:srgbClr val="FFFFFF"/>
                    </a:solidFill>
                  </a:tcPr>
                </a:tc>
                <a:tc>
                  <a:txBody>
                    <a:bodyPr wrap="square"/>
                    <a:lstStyle/>
                    <a:p>
                      <a:pPr algn="ctr"/>
                      <a:r>
                        <a:rPr sz="1000" b="0" i="0">
                          <a:solidFill>
                            <a:srgbClr val="14313B"/>
                          </a:solidFill>
                          <a:latin typeface="Calibri (MS)"/>
                        </a:rPr>
                        <a:t>73.512</a:t>
                      </a:r>
                    </a:p>
                  </a:txBody>
                  <a:tcPr marL="73152" marR="73152" marT="36576" marB="36576" anchor="ctr">
                    <a:solidFill>
                      <a:srgbClr val="C9F0D6"/>
                    </a:solidFill>
                  </a:tcPr>
                </a:tc>
                <a:tc>
                  <a:txBody>
                    <a:bodyPr wrap="square"/>
                    <a:lstStyle/>
                    <a:p>
                      <a:pPr algn="ctr"/>
                      <a:r>
                        <a:rPr sz="1000" b="0" i="0">
                          <a:solidFill>
                            <a:srgbClr val="14313B"/>
                          </a:solidFill>
                          <a:latin typeface="Calibri (MS)"/>
                        </a:rPr>
                        <a:t>104.235</a:t>
                      </a:r>
                    </a:p>
                  </a:txBody>
                  <a:tcPr marL="73152" marR="73152" marT="36576" marB="36576" anchor="ctr">
                    <a:solidFill>
                      <a:srgbClr val="FFFFFF"/>
                    </a:solidFill>
                  </a:tcPr>
                </a:tc>
                <a:tc>
                  <a:txBody>
                    <a:bodyPr wrap="square"/>
                    <a:lstStyle/>
                    <a:p>
                      <a:pPr algn="ctr"/>
                      <a:r>
                        <a:rPr sz="1000" b="0" i="0">
                          <a:solidFill>
                            <a:srgbClr val="14313B"/>
                          </a:solidFill>
                          <a:latin typeface="Calibri (MS)"/>
                        </a:rPr>
                        <a:t>77.437</a:t>
                      </a:r>
                    </a:p>
                  </a:txBody>
                  <a:tcPr marL="73152" marR="73152" marT="36576" marB="36576" anchor="ctr">
                    <a:solidFill>
                      <a:srgbClr val="FFFFFF"/>
                    </a:solidFill>
                  </a:tcPr>
                </a:tc>
                <a:tc>
                  <a:txBody>
                    <a:bodyPr wrap="square"/>
                    <a:lstStyle/>
                    <a:p>
                      <a:pPr algn="ctr"/>
                      <a:r>
                        <a:rPr sz="1000" b="0" i="0">
                          <a:solidFill>
                            <a:srgbClr val="14313B"/>
                          </a:solidFill>
                          <a:latin typeface="Calibri (MS)"/>
                        </a:rPr>
                        <a:t>74.115</a:t>
                      </a:r>
                    </a:p>
                  </a:txBody>
                  <a:tcPr marL="73152" marR="73152" marT="36576" marB="36576" anchor="ctr">
                    <a:solidFill>
                      <a:srgbClr val="FFFFFF"/>
                    </a:solidFill>
                  </a:tcPr>
                </a:tc>
                <a:tc>
                  <a:txBody>
                    <a:bodyPr wrap="square"/>
                    <a:lstStyle/>
                    <a:p>
                      <a:pPr algn="ctr"/>
                      <a:r>
                        <a:rPr sz="1000" b="0" i="0">
                          <a:solidFill>
                            <a:srgbClr val="14313B"/>
                          </a:solidFill>
                          <a:latin typeface="Calibri (MS)"/>
                        </a:rPr>
                        <a:t>23,2%</a:t>
                      </a:r>
                    </a:p>
                  </a:txBody>
                  <a:tcPr marL="73152" marR="73152" marT="36576" marB="36576" anchor="ctr">
                    <a:solidFill>
                      <a:srgbClr val="FFFFFF"/>
                    </a:solidFill>
                  </a:tcPr>
                </a:tc>
              </a:tr>
              <a:tr h="384048">
                <a:tc>
                  <a:txBody>
                    <a:bodyPr wrap="square"/>
                    <a:lstStyle/>
                    <a:p>
                      <a:pPr algn="ctr"/>
                      <a:r>
                        <a:rPr sz="1000" b="0" i="0">
                          <a:solidFill>
                            <a:srgbClr val="14313B"/>
                          </a:solidFill>
                          <a:latin typeface="Calibri (MS)"/>
                        </a:rPr>
                        <a:t>2025</a:t>
                      </a:r>
                    </a:p>
                  </a:txBody>
                  <a:tcPr marL="73152" marR="73152" marT="36576" marB="36576" anchor="ctr">
                    <a:solidFill>
                      <a:srgbClr val="EAF8FA"/>
                    </a:solidFill>
                  </a:tcPr>
                </a:tc>
                <a:tc>
                  <a:txBody>
                    <a:bodyPr wrap="square"/>
                    <a:lstStyle/>
                    <a:p>
                      <a:pPr algn="ctr"/>
                      <a:r>
                        <a:rPr sz="1000" b="0" i="0">
                          <a:solidFill>
                            <a:srgbClr val="14313B"/>
                          </a:solidFill>
                          <a:latin typeface="Calibri (MS)"/>
                        </a:rPr>
                        <a:t>152</a:t>
                      </a:r>
                    </a:p>
                  </a:txBody>
                  <a:tcPr marL="73152" marR="73152" marT="36576" marB="36576" anchor="ctr">
                    <a:solidFill>
                      <a:srgbClr val="EAF8FA"/>
                    </a:solidFill>
                  </a:tcPr>
                </a:tc>
                <a:tc>
                  <a:txBody>
                    <a:bodyPr wrap="square"/>
                    <a:lstStyle/>
                    <a:p>
                      <a:pPr algn="ctr"/>
                      <a:r>
                        <a:rPr sz="1000" b="0" i="0">
                          <a:solidFill>
                            <a:srgbClr val="14313B"/>
                          </a:solidFill>
                          <a:latin typeface="Calibri (MS)"/>
                        </a:rPr>
                        <a:t>9,32</a:t>
                      </a:r>
                    </a:p>
                  </a:txBody>
                  <a:tcPr marL="73152" marR="73152" marT="36576" marB="36576" anchor="ctr">
                    <a:solidFill>
                      <a:srgbClr val="EAF8FA"/>
                    </a:solidFill>
                  </a:tcPr>
                </a:tc>
                <a:tc>
                  <a:txBody>
                    <a:bodyPr wrap="square"/>
                    <a:lstStyle/>
                    <a:p>
                      <a:pPr algn="ctr"/>
                      <a:r>
                        <a:rPr sz="1000" b="0" i="0">
                          <a:solidFill>
                            <a:srgbClr val="14313B"/>
                          </a:solidFill>
                          <a:latin typeface="Calibri (MS)"/>
                        </a:rPr>
                        <a:t>55.030</a:t>
                      </a:r>
                    </a:p>
                  </a:txBody>
                  <a:tcPr marL="73152" marR="73152" marT="36576" marB="36576" anchor="ctr">
                    <a:solidFill>
                      <a:srgbClr val="C9F0D6"/>
                    </a:solidFill>
                  </a:tcPr>
                </a:tc>
                <a:tc>
                  <a:txBody>
                    <a:bodyPr wrap="square"/>
                    <a:lstStyle/>
                    <a:p>
                      <a:pPr algn="ctr"/>
                      <a:r>
                        <a:rPr sz="1000" b="0" i="0">
                          <a:solidFill>
                            <a:srgbClr val="14313B"/>
                          </a:solidFill>
                          <a:latin typeface="Calibri (MS)"/>
                        </a:rPr>
                        <a:t>84.721</a:t>
                      </a:r>
                    </a:p>
                  </a:txBody>
                  <a:tcPr marL="73152" marR="73152" marT="36576" marB="36576" anchor="ctr">
                    <a:solidFill>
                      <a:srgbClr val="EAF8FA"/>
                    </a:solidFill>
                  </a:tcPr>
                </a:tc>
                <a:tc>
                  <a:txBody>
                    <a:bodyPr wrap="square"/>
                    <a:lstStyle/>
                    <a:p>
                      <a:pPr algn="ctr"/>
                      <a:r>
                        <a:rPr sz="1000" b="0" i="0">
                          <a:solidFill>
                            <a:srgbClr val="14313B"/>
                          </a:solidFill>
                          <a:latin typeface="Calibri (MS)"/>
                        </a:rPr>
                        <a:t>65.019</a:t>
                      </a:r>
                    </a:p>
                  </a:txBody>
                  <a:tcPr marL="73152" marR="73152" marT="36576" marB="36576" anchor="ctr">
                    <a:solidFill>
                      <a:srgbClr val="EAF8FA"/>
                    </a:solidFill>
                  </a:tcPr>
                </a:tc>
                <a:tc>
                  <a:txBody>
                    <a:bodyPr wrap="square"/>
                    <a:lstStyle/>
                    <a:p>
                      <a:pPr algn="ctr"/>
                      <a:r>
                        <a:rPr sz="1000" b="0" i="0">
                          <a:solidFill>
                            <a:srgbClr val="14313B"/>
                          </a:solidFill>
                          <a:latin typeface="Calibri (MS)"/>
                        </a:rPr>
                        <a:t>67.880</a:t>
                      </a:r>
                    </a:p>
                  </a:txBody>
                  <a:tcPr marL="73152" marR="73152" marT="36576" marB="36576" anchor="ctr">
                    <a:solidFill>
                      <a:srgbClr val="EAF8FA"/>
                    </a:solidFill>
                  </a:tcPr>
                </a:tc>
                <a:tc>
                  <a:txBody>
                    <a:bodyPr wrap="square"/>
                    <a:lstStyle/>
                    <a:p>
                      <a:pPr algn="ctr"/>
                      <a:r>
                        <a:rPr sz="1000" b="0" i="0">
                          <a:solidFill>
                            <a:srgbClr val="14313B"/>
                          </a:solidFill>
                          <a:latin typeface="Calibri (MS)"/>
                        </a:rPr>
                        <a:t>17,4%</a:t>
                      </a:r>
                    </a:p>
                  </a:txBody>
                  <a:tcPr marL="73152" marR="73152" marT="36576" marB="36576" anchor="ctr">
                    <a:solidFill>
                      <a:srgbClr val="EAF8FA"/>
                    </a:solidFill>
                  </a:tcPr>
                </a:tc>
              </a:tr>
            </a:tbl>
          </a:graphicData>
        </a:graphic>
      </p:graphicFrame>
      <p:sp>
        <p:nvSpPr>
          <p:cNvPr id="38" name="Rounded Rectangle 37"/>
          <p:cNvSpPr/>
          <p:nvPr/>
        </p:nvSpPr>
        <p:spPr>
          <a:xfrm>
            <a:off x="8046720" y="6263640"/>
            <a:ext cx="9418320" cy="1188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1E7A43"/>
                </a:solidFill>
                <a:latin typeface="Calibri (MS) Bold"/>
              </a:rPr>
              <a:t>Hijau = nilai yang dipakai model. </a:t>
            </a:r>
            <a:r>
              <a:rPr sz="1100" b="0" i="0">
                <a:solidFill>
                  <a:srgbClr val="14313B"/>
                </a:solidFill>
                <a:latin typeface="Calibri (MS)"/>
              </a:rPr>
              <a:t>Kolom lain hanya pembanding dari skrip yang sama. Luas terkoreksi = hasil penyesuaian jumlah observasi (diagnosis), tidak menggantikan nilai model.</a:t>
            </a:r>
          </a:p>
        </p:txBody>
      </p:sp>
      <p:sp>
        <p:nvSpPr>
          <p:cNvPr id="39" name="Rounded Rectangle 38"/>
          <p:cNvSpPr/>
          <p:nvPr/>
        </p:nvSpPr>
        <p:spPr>
          <a:xfrm>
            <a:off x="822960" y="763524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Luas naik-turun mengikuti jumlah observasi per piksel (mis. 2019: 22,4 obs → 63.480 ha; 2025: 9,3 obs → 55.030 ha). Inilah dasar diagnosis ketidakstabilan temporal. % wilayah dihitung sendiri terhadap 317.036 ha.</a:t>
            </a:r>
          </a:p>
        </p:txBody>
      </p:sp>
      <p:sp>
        <p:nvSpPr>
          <p:cNvPr id="40" name="TextBox 3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3.5.2 dan 4.2.2; GEE.rtf; DW_Terbangun_TanpaMask_DIY_2016_2025.csv; Lahan_Terbangun_Terkoreksi_DIY_2016_2025.csv.</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14 · Kelas Tutupan Lahan Dynamic World</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Dynamic World memberi probabilitas sembilan kelas untuk setiap piksel 10 m; penelitian ini hanya memakai kelas built</a:t>
            </a:r>
          </a:p>
        </p:txBody>
      </p:sp>
      <p:sp>
        <p:nvSpPr>
          <p:cNvPr id="27" name="Rounded Rectangle 26"/>
          <p:cNvSpPr/>
          <p:nvPr/>
        </p:nvSpPr>
        <p:spPr>
          <a:xfrm>
            <a:off x="822960" y="1965960"/>
            <a:ext cx="822960" cy="1691640"/>
          </a:xfrm>
          <a:prstGeom prst="roundRect">
            <a:avLst>
              <a:gd name="adj" fmla="val 10000"/>
            </a:avLst>
          </a:prstGeom>
          <a:solidFill>
            <a:srgbClr val="419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251460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0</a:t>
            </a:r>
          </a:p>
        </p:txBody>
      </p:sp>
      <p:sp>
        <p:nvSpPr>
          <p:cNvPr id="29" name="Rounded Rectangle 28"/>
          <p:cNvSpPr/>
          <p:nvPr/>
        </p:nvSpPr>
        <p:spPr>
          <a:xfrm>
            <a:off x="1737360" y="1965960"/>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Air</a:t>
            </a:r>
          </a:p>
          <a:p>
            <a:pPr algn="l">
              <a:spcAft>
                <a:spcPts val="300"/>
              </a:spcAft>
            </a:pPr>
            <a:r>
              <a:rPr sz="1100" b="0" i="1">
                <a:solidFill>
                  <a:srgbClr val="5E6E78"/>
                </a:solidFill>
                <a:latin typeface="Calibri (MS)"/>
              </a:rPr>
              <a:t>water</a:t>
            </a:r>
          </a:p>
          <a:p>
            <a:pPr algn="l">
              <a:spcAft>
                <a:spcPts val="300"/>
              </a:spcAft>
            </a:pPr>
            <a:r>
              <a:rPr sz="1100" b="0" i="0">
                <a:solidFill>
                  <a:srgbClr val="14313B"/>
                </a:solidFill>
                <a:latin typeface="Calibri (MS)"/>
              </a:rPr>
              <a:t>Badan air: sungai, danau, waduk, laut.</a:t>
            </a:r>
          </a:p>
        </p:txBody>
      </p:sp>
      <p:sp>
        <p:nvSpPr>
          <p:cNvPr id="30" name="Rounded Rectangle 29"/>
          <p:cNvSpPr/>
          <p:nvPr/>
        </p:nvSpPr>
        <p:spPr>
          <a:xfrm>
            <a:off x="6428232" y="1965960"/>
            <a:ext cx="822960" cy="1691640"/>
          </a:xfrm>
          <a:prstGeom prst="roundRect">
            <a:avLst>
              <a:gd name="adj" fmla="val 10000"/>
            </a:avLst>
          </a:prstGeom>
          <a:solidFill>
            <a:srgbClr val="397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251460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1</a:t>
            </a:r>
          </a:p>
        </p:txBody>
      </p:sp>
      <p:sp>
        <p:nvSpPr>
          <p:cNvPr id="32" name="Rounded Rectangle 31"/>
          <p:cNvSpPr/>
          <p:nvPr/>
        </p:nvSpPr>
        <p:spPr>
          <a:xfrm>
            <a:off x="7342632" y="1965960"/>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Pohon</a:t>
            </a:r>
          </a:p>
          <a:p>
            <a:pPr algn="l">
              <a:spcAft>
                <a:spcPts val="300"/>
              </a:spcAft>
            </a:pPr>
            <a:r>
              <a:rPr sz="1100" b="0" i="1">
                <a:solidFill>
                  <a:srgbClr val="5E6E78"/>
                </a:solidFill>
                <a:latin typeface="Calibri (MS)"/>
              </a:rPr>
              <a:t>trees</a:t>
            </a:r>
          </a:p>
          <a:p>
            <a:pPr algn="l">
              <a:spcAft>
                <a:spcPts val="300"/>
              </a:spcAft>
            </a:pPr>
            <a:r>
              <a:rPr sz="1100" b="0" i="0">
                <a:solidFill>
                  <a:srgbClr val="14313B"/>
                </a:solidFill>
                <a:latin typeface="Calibri (MS)"/>
              </a:rPr>
              <a:t>Vegetasi pohon rapat: hutan, kebun campuran berkanopi.</a:t>
            </a:r>
          </a:p>
        </p:txBody>
      </p:sp>
      <p:sp>
        <p:nvSpPr>
          <p:cNvPr id="33" name="Rounded Rectangle 32"/>
          <p:cNvSpPr/>
          <p:nvPr/>
        </p:nvSpPr>
        <p:spPr>
          <a:xfrm>
            <a:off x="12033504" y="1965960"/>
            <a:ext cx="822960" cy="1691640"/>
          </a:xfrm>
          <a:prstGeom prst="roundRect">
            <a:avLst>
              <a:gd name="adj" fmla="val 10000"/>
            </a:avLst>
          </a:prstGeom>
          <a:solidFill>
            <a:srgbClr val="88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33504" y="251460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2</a:t>
            </a:r>
          </a:p>
        </p:txBody>
      </p:sp>
      <p:sp>
        <p:nvSpPr>
          <p:cNvPr id="35" name="Rounded Rectangle 34"/>
          <p:cNvSpPr/>
          <p:nvPr/>
        </p:nvSpPr>
        <p:spPr>
          <a:xfrm>
            <a:off x="12947904" y="1965960"/>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Rumput</a:t>
            </a:r>
          </a:p>
          <a:p>
            <a:pPr algn="l">
              <a:spcAft>
                <a:spcPts val="300"/>
              </a:spcAft>
            </a:pPr>
            <a:r>
              <a:rPr sz="1100" b="0" i="1">
                <a:solidFill>
                  <a:srgbClr val="5E6E78"/>
                </a:solidFill>
                <a:latin typeface="Calibri (MS)"/>
              </a:rPr>
              <a:t>grass</a:t>
            </a:r>
          </a:p>
          <a:p>
            <a:pPr algn="l">
              <a:spcAft>
                <a:spcPts val="300"/>
              </a:spcAft>
            </a:pPr>
            <a:r>
              <a:rPr sz="1100" b="0" i="0">
                <a:solidFill>
                  <a:srgbClr val="14313B"/>
                </a:solidFill>
                <a:latin typeface="Calibri (MS)"/>
              </a:rPr>
              <a:t>Padang rumput, lapangan, taman berumput.</a:t>
            </a:r>
          </a:p>
        </p:txBody>
      </p:sp>
      <p:sp>
        <p:nvSpPr>
          <p:cNvPr id="36" name="Rounded Rectangle 35"/>
          <p:cNvSpPr/>
          <p:nvPr/>
        </p:nvSpPr>
        <p:spPr>
          <a:xfrm>
            <a:off x="822960" y="3840479"/>
            <a:ext cx="822960" cy="1691640"/>
          </a:xfrm>
          <a:prstGeom prst="roundRect">
            <a:avLst>
              <a:gd name="adj" fmla="val 10000"/>
            </a:avLst>
          </a:prstGeom>
          <a:solidFill>
            <a:srgbClr val="7A87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389119"/>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3</a:t>
            </a:r>
          </a:p>
        </p:txBody>
      </p:sp>
      <p:sp>
        <p:nvSpPr>
          <p:cNvPr id="38" name="Rounded Rectangle 37"/>
          <p:cNvSpPr/>
          <p:nvPr/>
        </p:nvSpPr>
        <p:spPr>
          <a:xfrm>
            <a:off x="1737360" y="3840479"/>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Vegetasi tergenang</a:t>
            </a:r>
          </a:p>
          <a:p>
            <a:pPr algn="l">
              <a:spcAft>
                <a:spcPts val="300"/>
              </a:spcAft>
            </a:pPr>
            <a:r>
              <a:rPr sz="1100" b="0" i="1">
                <a:solidFill>
                  <a:srgbClr val="5E6E78"/>
                </a:solidFill>
                <a:latin typeface="Calibri (MS)"/>
              </a:rPr>
              <a:t>flooded_vegetation</a:t>
            </a:r>
          </a:p>
          <a:p>
            <a:pPr algn="l">
              <a:spcAft>
                <a:spcPts val="300"/>
              </a:spcAft>
            </a:pPr>
            <a:r>
              <a:rPr sz="1100" b="0" i="0">
                <a:solidFill>
                  <a:srgbClr val="14313B"/>
                </a:solidFill>
                <a:latin typeface="Calibri (MS)"/>
              </a:rPr>
              <a:t>Vegetasi yang tergenang air: rawa, mangrove.</a:t>
            </a:r>
          </a:p>
        </p:txBody>
      </p:sp>
      <p:sp>
        <p:nvSpPr>
          <p:cNvPr id="39" name="Rounded Rectangle 38"/>
          <p:cNvSpPr/>
          <p:nvPr/>
        </p:nvSpPr>
        <p:spPr>
          <a:xfrm>
            <a:off x="6428232" y="3840479"/>
            <a:ext cx="822960" cy="1691640"/>
          </a:xfrm>
          <a:prstGeom prst="roundRect">
            <a:avLst>
              <a:gd name="adj" fmla="val 10000"/>
            </a:avLst>
          </a:prstGeom>
          <a:solidFill>
            <a:srgbClr val="E49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8232" y="4389119"/>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4</a:t>
            </a:r>
          </a:p>
        </p:txBody>
      </p:sp>
      <p:sp>
        <p:nvSpPr>
          <p:cNvPr id="41" name="Rounded Rectangle 40"/>
          <p:cNvSpPr/>
          <p:nvPr/>
        </p:nvSpPr>
        <p:spPr>
          <a:xfrm>
            <a:off x="7342632" y="3840479"/>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Tanaman pertanian</a:t>
            </a:r>
          </a:p>
          <a:p>
            <a:pPr algn="l">
              <a:spcAft>
                <a:spcPts val="300"/>
              </a:spcAft>
            </a:pPr>
            <a:r>
              <a:rPr sz="1100" b="0" i="1">
                <a:solidFill>
                  <a:srgbClr val="5E6E78"/>
                </a:solidFill>
                <a:latin typeface="Calibri (MS)"/>
              </a:rPr>
              <a:t>crops</a:t>
            </a:r>
          </a:p>
          <a:p>
            <a:pPr algn="l">
              <a:spcAft>
                <a:spcPts val="300"/>
              </a:spcAft>
            </a:pPr>
            <a:r>
              <a:rPr sz="1100" b="0" i="0">
                <a:solidFill>
                  <a:srgbClr val="14313B"/>
                </a:solidFill>
                <a:latin typeface="Calibri (MS)"/>
              </a:rPr>
              <a:t>Lahan budidaya: sawah, ladang.</a:t>
            </a:r>
          </a:p>
        </p:txBody>
      </p:sp>
      <p:sp>
        <p:nvSpPr>
          <p:cNvPr id="42" name="Rounded Rectangle 41"/>
          <p:cNvSpPr/>
          <p:nvPr/>
        </p:nvSpPr>
        <p:spPr>
          <a:xfrm>
            <a:off x="12033504" y="3840479"/>
            <a:ext cx="822960" cy="1691640"/>
          </a:xfrm>
          <a:prstGeom prst="roundRect">
            <a:avLst>
              <a:gd name="adj" fmla="val 10000"/>
            </a:avLst>
          </a:prstGeom>
          <a:solidFill>
            <a:srgbClr val="DFC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33504" y="4389119"/>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5</a:t>
            </a:r>
          </a:p>
        </p:txBody>
      </p:sp>
      <p:sp>
        <p:nvSpPr>
          <p:cNvPr id="44" name="Rounded Rectangle 43"/>
          <p:cNvSpPr/>
          <p:nvPr/>
        </p:nvSpPr>
        <p:spPr>
          <a:xfrm>
            <a:off x="12947904" y="3840479"/>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Semak dan belukar</a:t>
            </a:r>
          </a:p>
          <a:p>
            <a:pPr algn="l">
              <a:spcAft>
                <a:spcPts val="300"/>
              </a:spcAft>
            </a:pPr>
            <a:r>
              <a:rPr sz="1100" b="0" i="1">
                <a:solidFill>
                  <a:srgbClr val="5E6E78"/>
                </a:solidFill>
                <a:latin typeface="Calibri (MS)"/>
              </a:rPr>
              <a:t>shrub_and_scrub</a:t>
            </a:r>
          </a:p>
          <a:p>
            <a:pPr algn="l">
              <a:spcAft>
                <a:spcPts val="300"/>
              </a:spcAft>
            </a:pPr>
            <a:r>
              <a:rPr sz="1100" b="0" i="0">
                <a:solidFill>
                  <a:srgbClr val="14313B"/>
                </a:solidFill>
                <a:latin typeface="Calibri (MS)"/>
              </a:rPr>
              <a:t>Vegetasi rendah tidak rapat.</a:t>
            </a:r>
          </a:p>
        </p:txBody>
      </p:sp>
      <p:sp>
        <p:nvSpPr>
          <p:cNvPr id="45" name="Rounded Rectangle 44"/>
          <p:cNvSpPr/>
          <p:nvPr/>
        </p:nvSpPr>
        <p:spPr>
          <a:xfrm>
            <a:off x="822960" y="5715000"/>
            <a:ext cx="822960" cy="1691640"/>
          </a:xfrm>
          <a:prstGeom prst="roundRect">
            <a:avLst>
              <a:gd name="adj" fmla="val 10000"/>
            </a:avLst>
          </a:prstGeom>
          <a:solidFill>
            <a:srgbClr val="C4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626364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6</a:t>
            </a:r>
          </a:p>
        </p:txBody>
      </p:sp>
      <p:sp>
        <p:nvSpPr>
          <p:cNvPr id="47" name="Rounded Rectangle 46"/>
          <p:cNvSpPr/>
          <p:nvPr/>
        </p:nvSpPr>
        <p:spPr>
          <a:xfrm>
            <a:off x="1737360" y="5715000"/>
            <a:ext cx="4480560" cy="16916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Terbangun</a:t>
            </a:r>
          </a:p>
          <a:p>
            <a:pPr algn="l">
              <a:spcAft>
                <a:spcPts val="300"/>
              </a:spcAft>
            </a:pPr>
            <a:r>
              <a:rPr sz="1100" b="0" i="1">
                <a:solidFill>
                  <a:srgbClr val="5E6E78"/>
                </a:solidFill>
                <a:latin typeface="Calibri (MS)"/>
              </a:rPr>
              <a:t>built</a:t>
            </a:r>
          </a:p>
          <a:p>
            <a:pPr algn="l">
              <a:spcAft>
                <a:spcPts val="300"/>
              </a:spcAft>
            </a:pPr>
            <a:r>
              <a:rPr sz="1100" b="0" i="0">
                <a:solidFill>
                  <a:srgbClr val="14313B"/>
                </a:solidFill>
                <a:latin typeface="Calibri (MS)"/>
              </a:rPr>
              <a:t>Permukaan buatan: bangunan, jalan, permukiman, kawasan industri.</a:t>
            </a:r>
          </a:p>
          <a:p>
            <a:pPr algn="l">
              <a:spcAft>
                <a:spcPts val="300"/>
              </a:spcAft>
            </a:pPr>
            <a:r>
              <a:rPr sz="1100" b="1" i="0">
                <a:solidFill>
                  <a:srgbClr val="E4604F"/>
                </a:solidFill>
                <a:latin typeface="Calibri (MS) Bold"/>
              </a:rPr>
              <a:t>← dipakai (KELAS_BUILT = 6)</a:t>
            </a:r>
          </a:p>
        </p:txBody>
      </p:sp>
      <p:sp>
        <p:nvSpPr>
          <p:cNvPr id="48" name="Rounded Rectangle 47"/>
          <p:cNvSpPr/>
          <p:nvPr/>
        </p:nvSpPr>
        <p:spPr>
          <a:xfrm>
            <a:off x="6428232" y="5715000"/>
            <a:ext cx="822960" cy="1691640"/>
          </a:xfrm>
          <a:prstGeom prst="roundRect">
            <a:avLst>
              <a:gd name="adj" fmla="val 10000"/>
            </a:avLst>
          </a:prstGeom>
          <a:solidFill>
            <a:srgbClr val="A59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28232" y="626364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7</a:t>
            </a:r>
          </a:p>
        </p:txBody>
      </p:sp>
      <p:sp>
        <p:nvSpPr>
          <p:cNvPr id="50" name="Rounded Rectangle 49"/>
          <p:cNvSpPr/>
          <p:nvPr/>
        </p:nvSpPr>
        <p:spPr>
          <a:xfrm>
            <a:off x="7342632" y="5715000"/>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Lahan terbuka</a:t>
            </a:r>
          </a:p>
          <a:p>
            <a:pPr algn="l">
              <a:spcAft>
                <a:spcPts val="300"/>
              </a:spcAft>
            </a:pPr>
            <a:r>
              <a:rPr sz="1100" b="0" i="1">
                <a:solidFill>
                  <a:srgbClr val="5E6E78"/>
                </a:solidFill>
                <a:latin typeface="Calibri (MS)"/>
              </a:rPr>
              <a:t>bare</a:t>
            </a:r>
          </a:p>
          <a:p>
            <a:pPr algn="l">
              <a:spcAft>
                <a:spcPts val="300"/>
              </a:spcAft>
            </a:pPr>
            <a:r>
              <a:rPr sz="1100" b="0" i="0">
                <a:solidFill>
                  <a:srgbClr val="14313B"/>
                </a:solidFill>
                <a:latin typeface="Calibri (MS)"/>
              </a:rPr>
              <a:t>Tanah, pasir, batuan tanpa vegetasi.</a:t>
            </a:r>
          </a:p>
        </p:txBody>
      </p:sp>
      <p:sp>
        <p:nvSpPr>
          <p:cNvPr id="51" name="Rounded Rectangle 50"/>
          <p:cNvSpPr/>
          <p:nvPr/>
        </p:nvSpPr>
        <p:spPr>
          <a:xfrm>
            <a:off x="12033504" y="5715000"/>
            <a:ext cx="822960" cy="1691640"/>
          </a:xfrm>
          <a:prstGeom prst="roundRect">
            <a:avLst>
              <a:gd name="adj" fmla="val 10000"/>
            </a:avLst>
          </a:prstGeom>
          <a:solidFill>
            <a:srgbClr val="B39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33504" y="6263640"/>
            <a:ext cx="822960" cy="548640"/>
          </a:xfrm>
          <a:prstGeom prst="rect">
            <a:avLst/>
          </a:prstGeom>
          <a:noFill/>
        </p:spPr>
        <p:txBody>
          <a:bodyPr wrap="square" anchor="t" lIns="0" rIns="0" tIns="0" bIns="0">
            <a:spAutoFit/>
          </a:bodyPr>
          <a:lstStyle/>
          <a:p>
            <a:pPr algn="ctr">
              <a:spcAft>
                <a:spcPts val="400"/>
              </a:spcAft>
            </a:pPr>
            <a:r>
              <a:rPr sz="2200" b="1" i="0">
                <a:solidFill>
                  <a:srgbClr val="FFFFFF"/>
                </a:solidFill>
                <a:latin typeface="Calibri (MS) Bold"/>
              </a:rPr>
              <a:t>8</a:t>
            </a:r>
          </a:p>
        </p:txBody>
      </p:sp>
      <p:sp>
        <p:nvSpPr>
          <p:cNvPr id="53" name="Rounded Rectangle 52"/>
          <p:cNvSpPr/>
          <p:nvPr/>
        </p:nvSpPr>
        <p:spPr>
          <a:xfrm>
            <a:off x="12947904" y="5715000"/>
            <a:ext cx="448056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00" b="1" i="0">
                <a:solidFill>
                  <a:srgbClr val="0B5E6E"/>
                </a:solidFill>
                <a:latin typeface="Calibri (MS) Bold"/>
              </a:rPr>
              <a:t>Salju dan es</a:t>
            </a:r>
          </a:p>
          <a:p>
            <a:pPr algn="l">
              <a:spcAft>
                <a:spcPts val="300"/>
              </a:spcAft>
            </a:pPr>
            <a:r>
              <a:rPr sz="1100" b="0" i="1">
                <a:solidFill>
                  <a:srgbClr val="5E6E78"/>
                </a:solidFill>
                <a:latin typeface="Calibri (MS)"/>
              </a:rPr>
              <a:t>snow_and_ice</a:t>
            </a:r>
          </a:p>
          <a:p>
            <a:pPr algn="l">
              <a:spcAft>
                <a:spcPts val="300"/>
              </a:spcAft>
            </a:pPr>
            <a:r>
              <a:rPr sz="1100" b="0" i="0">
                <a:solidFill>
                  <a:srgbClr val="14313B"/>
                </a:solidFill>
                <a:latin typeface="Calibri (MS)"/>
              </a:rPr>
              <a:t>Salju dan es (tidak relevan untuk DIY).</a:t>
            </a:r>
          </a:p>
        </p:txBody>
      </p:sp>
      <p:sp>
        <p:nvSpPr>
          <p:cNvPr id="54" name="Rounded Rectangle 53"/>
          <p:cNvSpPr/>
          <p:nvPr/>
        </p:nvSpPr>
        <p:spPr>
          <a:xfrm>
            <a:off x="822960" y="76809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Setiap piksel punya probabilitas 9 kelas (jumlahnya 1) dan satu label kelas dengan probabilitas tertinggi. Penelitian ini memakai rata-rata probabilitas built per tahun dengan ambang 0,5, bukan label modus.</a:t>
            </a:r>
          </a:p>
        </p:txBody>
      </p:sp>
      <p:sp>
        <p:nvSpPr>
          <p:cNvPr id="55" name="TextBox 5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Brown et al. (2022), Dynamic World; katalog Google Earth Engine GOOGLE/DYNAMICWORLD/V1 (nama dan warna kelas); deskripsi kelas diterjemahkan bebas.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56082"/>
            <a:ext cx="16637508" cy="857250"/>
          </a:xfrm>
          <a:prstGeom prst="rect">
            <a:avLst/>
          </a:prstGeom>
        </p:spPr>
        <p:txBody>
          <a:bodyPr anchor="t" rtlCol="false" tIns="0" lIns="0" bIns="0" rIns="0">
            <a:spAutoFit/>
          </a:bodyPr>
          <a:lstStyle/>
          <a:p>
            <a:pPr algn="l">
              <a:lnSpc>
                <a:spcPts val="3840"/>
              </a:lnSpc>
            </a:pPr>
            <a:r>
              <a:rPr lang="en-US" sz="3000" b="true">
                <a:solidFill>
                  <a:srgbClr val="0B5E6E"/>
                </a:solidFill>
                <a:latin typeface="Calibri (MS) Bold"/>
                <a:ea typeface="Calibri (MS) Bold"/>
                <a:cs typeface="Calibri (MS) Bold"/>
                <a:sym typeface="Calibri (MS) Bold"/>
              </a:rPr>
              <a:t>Lampiran 15 · Estimasi Jumlah ODTW dengan Night-Time Light</a:t>
            </a:r>
          </a:p>
          <a:p>
            <a:pPr algn="l">
              <a:lnSpc>
                <a:spcPts val="2279"/>
              </a:lnSpc>
            </a:pPr>
            <a:r>
              <a:rPr lang="en-US" sz="1899">
                <a:solidFill>
                  <a:srgbClr val="4A5A63"/>
                </a:solidFill>
                <a:latin typeface="Calibri (MS)"/>
                <a:ea typeface="Calibri (MS)"/>
                <a:cs typeface="Calibri (MS)"/>
                <a:sym typeface="Calibri (MS)"/>
              </a:rPr>
              <a:t>Tahapan estimasi ODTW: dari citra VIIRS sampai regresi dan selang prediksi</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0" id="80"/>
          <p:cNvSpPr txBox="true"/>
          <p:nvPr/>
        </p:nvSpPr>
        <p:spPr>
          <a:xfrm rot="0">
            <a:off x="16550640" y="9604248"/>
            <a:ext cx="818388" cy="3810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sp>
        <p:nvSpPr>
          <p:cNvPr name="Freeform 81" id="81"/>
          <p:cNvSpPr/>
          <p:nvPr/>
        </p:nvSpPr>
        <p:spPr>
          <a:xfrm flipH="false" flipV="false" rot="0">
            <a:off x="80629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8">
              <a:extLst>
                <a:ext uri="{96DAC541-7B7A-43D3-8B79-37D633B846F1}">
                  <asvg:svgBlip xmlns:asvg="http://schemas.microsoft.com/office/drawing/2016/SVG/main" r:embed="rId9"/>
                </a:ext>
              </a:extLst>
            </a:blip>
            <a:stretch>
              <a:fillRect l="0" t="-117" r="0" b="-118"/>
            </a:stretch>
          </a:blipFill>
        </p:spPr>
      </p:sp>
      <p:grpSp>
        <p:nvGrpSpPr>
          <p:cNvPr name="Group 82" id="82"/>
          <p:cNvGrpSpPr/>
          <p:nvPr/>
        </p:nvGrpSpPr>
        <p:grpSpPr>
          <a:xfrm rot="0">
            <a:off x="1051560" y="2468880"/>
            <a:ext cx="530352" cy="530352"/>
            <a:chOff x="0" y="0"/>
            <a:chExt cx="707136" cy="707136"/>
          </a:xfrm>
        </p:grpSpPr>
        <p:sp>
          <p:nvSpPr>
            <p:cNvPr name="Freeform 83" id="8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84" id="84"/>
          <p:cNvGrpSpPr/>
          <p:nvPr/>
        </p:nvGrpSpPr>
        <p:grpSpPr>
          <a:xfrm rot="0">
            <a:off x="1051560" y="2447449"/>
            <a:ext cx="530352" cy="551783"/>
            <a:chOff x="0" y="0"/>
            <a:chExt cx="707136" cy="735711"/>
          </a:xfrm>
        </p:grpSpPr>
        <p:sp>
          <p:nvSpPr>
            <p:cNvPr name="Freeform 85" id="8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86" id="86"/>
          <p:cNvGrpSpPr/>
          <p:nvPr/>
        </p:nvGrpSpPr>
        <p:grpSpPr>
          <a:xfrm rot="0">
            <a:off x="1051560" y="2426017"/>
            <a:ext cx="530352" cy="573214"/>
            <a:chOff x="0" y="0"/>
            <a:chExt cx="707136" cy="764286"/>
          </a:xfrm>
        </p:grpSpPr>
        <p:sp>
          <p:nvSpPr>
            <p:cNvPr name="Freeform 87" id="87"/>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88" id="88"/>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89" id="89"/>
          <p:cNvSpPr txBox="true"/>
          <p:nvPr/>
        </p:nvSpPr>
        <p:spPr>
          <a:xfrm rot="0">
            <a:off x="1719072" y="2315718"/>
            <a:ext cx="297180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90" id="90"/>
          <p:cNvSpPr txBox="true"/>
          <p:nvPr/>
        </p:nvSpPr>
        <p:spPr>
          <a:xfrm rot="0">
            <a:off x="1051560" y="2993517"/>
            <a:ext cx="3566160" cy="10170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sp>
        <p:nvSpPr>
          <p:cNvPr name="Freeform 91" id="91"/>
          <p:cNvSpPr/>
          <p:nvPr/>
        </p:nvSpPr>
        <p:spPr>
          <a:xfrm flipH="false" flipV="false" rot="0">
            <a:off x="501253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8">
              <a:extLst>
                <a:ext uri="{96DAC541-7B7A-43D3-8B79-37D633B846F1}">
                  <asvg:svgBlip xmlns:asvg="http://schemas.microsoft.com/office/drawing/2016/SVG/main" r:embed="rId9"/>
                </a:ext>
              </a:extLst>
            </a:blip>
            <a:stretch>
              <a:fillRect l="0" t="-117" r="0" b="-118"/>
            </a:stretch>
          </a:blipFill>
        </p:spPr>
      </p:sp>
      <p:grpSp>
        <p:nvGrpSpPr>
          <p:cNvPr name="Group 92" id="92"/>
          <p:cNvGrpSpPr/>
          <p:nvPr/>
        </p:nvGrpSpPr>
        <p:grpSpPr>
          <a:xfrm rot="0">
            <a:off x="5257800" y="2468880"/>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94" id="94"/>
          <p:cNvGrpSpPr/>
          <p:nvPr/>
        </p:nvGrpSpPr>
        <p:grpSpPr>
          <a:xfrm rot="0">
            <a:off x="5257800" y="2447449"/>
            <a:ext cx="530352" cy="551783"/>
            <a:chOff x="0" y="0"/>
            <a:chExt cx="707136" cy="735711"/>
          </a:xfrm>
        </p:grpSpPr>
        <p:sp>
          <p:nvSpPr>
            <p:cNvPr name="Freeform 95" id="9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96" id="96"/>
          <p:cNvGrpSpPr/>
          <p:nvPr/>
        </p:nvGrpSpPr>
        <p:grpSpPr>
          <a:xfrm rot="0">
            <a:off x="5257800" y="2426017"/>
            <a:ext cx="530352" cy="573214"/>
            <a:chOff x="0" y="0"/>
            <a:chExt cx="707136" cy="764286"/>
          </a:xfrm>
        </p:grpSpPr>
        <p:sp>
          <p:nvSpPr>
            <p:cNvPr name="Freeform 97" id="97"/>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98" id="98"/>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99" id="99"/>
          <p:cNvSpPr txBox="true"/>
          <p:nvPr/>
        </p:nvSpPr>
        <p:spPr>
          <a:xfrm rot="0">
            <a:off x="5925312" y="2315718"/>
            <a:ext cx="297180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100" id="100"/>
          <p:cNvSpPr txBox="true"/>
          <p:nvPr/>
        </p:nvSpPr>
        <p:spPr>
          <a:xfrm rot="0">
            <a:off x="5257800" y="2993517"/>
            <a:ext cx="3566160" cy="10170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VIIRS Day/Night Band (NOAA): komposit radiansi bulanan 2015–2025, satuan nW/cm²/sr.</a:t>
            </a:r>
          </a:p>
        </p:txBody>
      </p:sp>
      <p:sp>
        <p:nvSpPr>
          <p:cNvPr name="Freeform 101" id="101"/>
          <p:cNvSpPr/>
          <p:nvPr/>
        </p:nvSpPr>
        <p:spPr>
          <a:xfrm flipH="false" flipV="false" rot="0">
            <a:off x="921877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8">
              <a:extLst>
                <a:ext uri="{96DAC541-7B7A-43D3-8B79-37D633B846F1}">
                  <asvg:svgBlip xmlns:asvg="http://schemas.microsoft.com/office/drawing/2016/SVG/main" r:embed="rId9"/>
                </a:ext>
              </a:extLst>
            </a:blip>
            <a:stretch>
              <a:fillRect l="0" t="-117" r="0" b="-118"/>
            </a:stretch>
          </a:blipFill>
        </p:spPr>
      </p:sp>
      <p:grpSp>
        <p:nvGrpSpPr>
          <p:cNvPr name="Group 102" id="102"/>
          <p:cNvGrpSpPr/>
          <p:nvPr/>
        </p:nvGrpSpPr>
        <p:grpSpPr>
          <a:xfrm rot="0">
            <a:off x="9464040" y="2468880"/>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104" id="104"/>
          <p:cNvGrpSpPr/>
          <p:nvPr/>
        </p:nvGrpSpPr>
        <p:grpSpPr>
          <a:xfrm rot="0">
            <a:off x="9464040" y="2447449"/>
            <a:ext cx="530352" cy="551783"/>
            <a:chOff x="0" y="0"/>
            <a:chExt cx="707136" cy="735711"/>
          </a:xfrm>
        </p:grpSpPr>
        <p:sp>
          <p:nvSpPr>
            <p:cNvPr name="Freeform 105" id="10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106" id="106"/>
          <p:cNvGrpSpPr/>
          <p:nvPr/>
        </p:nvGrpSpPr>
        <p:grpSpPr>
          <a:xfrm rot="0">
            <a:off x="9464040" y="2426017"/>
            <a:ext cx="530352" cy="573214"/>
            <a:chOff x="0" y="0"/>
            <a:chExt cx="707136" cy="764286"/>
          </a:xfrm>
        </p:grpSpPr>
        <p:sp>
          <p:nvSpPr>
            <p:cNvPr name="Freeform 107" id="107"/>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108" id="108"/>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109" id="109"/>
          <p:cNvSpPr txBox="true"/>
          <p:nvPr/>
        </p:nvSpPr>
        <p:spPr>
          <a:xfrm rot="0">
            <a:off x="10131552" y="2315718"/>
            <a:ext cx="297180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Rata-rata per tahun</a:t>
            </a:r>
          </a:p>
        </p:txBody>
      </p:sp>
      <p:sp>
        <p:nvSpPr>
          <p:cNvPr name="TextBox 110" id="110"/>
          <p:cNvSpPr txBox="true"/>
          <p:nvPr/>
        </p:nvSpPr>
        <p:spPr>
          <a:xfrm rot="0">
            <a:off x="9464040" y="2993517"/>
            <a:ext cx="3566160" cy="7439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111" id="111"/>
          <p:cNvGrpSpPr/>
          <p:nvPr/>
        </p:nvGrpSpPr>
        <p:grpSpPr>
          <a:xfrm rot="0">
            <a:off x="9400032" y="3810610"/>
            <a:ext cx="3694176" cy="571786"/>
            <a:chOff x="0" y="0"/>
            <a:chExt cx="4925568" cy="762381"/>
          </a:xfrm>
        </p:grpSpPr>
        <p:sp>
          <p:nvSpPr>
            <p:cNvPr name="Freeform 112" id="112"/>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113" id="113"/>
          <p:cNvSpPr txBox="true"/>
          <p:nvPr/>
        </p:nvSpPr>
        <p:spPr>
          <a:xfrm rot="0">
            <a:off x="9537192" y="3825469"/>
            <a:ext cx="3291840" cy="474650"/>
          </a:xfrm>
          <a:prstGeom prst="rect">
            <a:avLst/>
          </a:prstGeom>
        </p:spPr>
        <p:txBody>
          <a:bodyPr anchor="t" rtlCol="false" tIns="0" lIns="0" bIns="0" rIns="0">
            <a:spAutoFit/>
          </a:bodyPr>
          <a:lstStyle/>
          <a:p>
            <a:pPr algn="l">
              <a:lnSpc>
                <a:spcPts val="2484"/>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114" id="114"/>
          <p:cNvSpPr txBox="true"/>
          <p:nvPr/>
        </p:nvSpPr>
        <p:spPr>
          <a:xfrm rot="0">
            <a:off x="9464040" y="4302404"/>
            <a:ext cx="3566160" cy="7213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sp>
        <p:nvSpPr>
          <p:cNvPr name="Freeform 115" id="115"/>
          <p:cNvSpPr/>
          <p:nvPr/>
        </p:nvSpPr>
        <p:spPr>
          <a:xfrm flipH="false" flipV="false" rot="0">
            <a:off x="1342501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8">
              <a:extLst>
                <a:ext uri="{96DAC541-7B7A-43D3-8B79-37D633B846F1}">
                  <asvg:svgBlip xmlns:asvg="http://schemas.microsoft.com/office/drawing/2016/SVG/main" r:embed="rId9"/>
                </a:ext>
              </a:extLst>
            </a:blip>
            <a:stretch>
              <a:fillRect l="0" t="-117" r="0" b="-118"/>
            </a:stretch>
          </a:blipFill>
        </p:spPr>
      </p:sp>
      <p:grpSp>
        <p:nvGrpSpPr>
          <p:cNvPr name="Group 116" id="116"/>
          <p:cNvGrpSpPr/>
          <p:nvPr/>
        </p:nvGrpSpPr>
        <p:grpSpPr>
          <a:xfrm rot="0">
            <a:off x="13670280" y="2468880"/>
            <a:ext cx="530352" cy="530352"/>
            <a:chOff x="0" y="0"/>
            <a:chExt cx="707136" cy="707136"/>
          </a:xfrm>
        </p:grpSpPr>
        <p:sp>
          <p:nvSpPr>
            <p:cNvPr name="Freeform 117" id="11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118" id="118"/>
          <p:cNvGrpSpPr/>
          <p:nvPr/>
        </p:nvGrpSpPr>
        <p:grpSpPr>
          <a:xfrm rot="0">
            <a:off x="13670280" y="2447449"/>
            <a:ext cx="530352" cy="551783"/>
            <a:chOff x="0" y="0"/>
            <a:chExt cx="707136" cy="735711"/>
          </a:xfrm>
        </p:grpSpPr>
        <p:sp>
          <p:nvSpPr>
            <p:cNvPr name="Freeform 119" id="11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120" id="120"/>
          <p:cNvGrpSpPr/>
          <p:nvPr/>
        </p:nvGrpSpPr>
        <p:grpSpPr>
          <a:xfrm rot="0">
            <a:off x="13670280" y="2426017"/>
            <a:ext cx="530352" cy="573214"/>
            <a:chOff x="0" y="0"/>
            <a:chExt cx="707136" cy="764286"/>
          </a:xfrm>
        </p:grpSpPr>
        <p:sp>
          <p:nvSpPr>
            <p:cNvPr name="Freeform 121" id="121"/>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122" id="122"/>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123" id="123"/>
          <p:cNvSpPr txBox="true"/>
          <p:nvPr/>
        </p:nvSpPr>
        <p:spPr>
          <a:xfrm rot="0">
            <a:off x="14337792" y="2315718"/>
            <a:ext cx="297180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Rata-rata per wilayah</a:t>
            </a:r>
          </a:p>
        </p:txBody>
      </p:sp>
      <p:sp>
        <p:nvSpPr>
          <p:cNvPr name="TextBox 124" id="124"/>
          <p:cNvSpPr txBox="true"/>
          <p:nvPr/>
        </p:nvSpPr>
        <p:spPr>
          <a:xfrm rot="0">
            <a:off x="13670280" y="2993517"/>
            <a:ext cx="3566160" cy="10170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Rata-rata seluruh piksel di wilayah DIY → satu nilai NTL per tahun.</a:t>
            </a:r>
          </a:p>
        </p:txBody>
      </p:sp>
      <p:grpSp>
        <p:nvGrpSpPr>
          <p:cNvPr name="Group 125" id="125"/>
          <p:cNvGrpSpPr/>
          <p:nvPr/>
        </p:nvGrpSpPr>
        <p:grpSpPr>
          <a:xfrm rot="0">
            <a:off x="13606272" y="4083710"/>
            <a:ext cx="3694176" cy="571786"/>
            <a:chOff x="0" y="0"/>
            <a:chExt cx="4925568" cy="762381"/>
          </a:xfrm>
        </p:grpSpPr>
        <p:sp>
          <p:nvSpPr>
            <p:cNvPr name="Freeform 126" id="12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127" id="127"/>
          <p:cNvSpPr txBox="true"/>
          <p:nvPr/>
        </p:nvSpPr>
        <p:spPr>
          <a:xfrm rot="0">
            <a:off x="13743432" y="4098569"/>
            <a:ext cx="3291840" cy="474650"/>
          </a:xfrm>
          <a:prstGeom prst="rect">
            <a:avLst/>
          </a:prstGeom>
        </p:spPr>
        <p:txBody>
          <a:bodyPr anchor="t" rtlCol="false" tIns="0" lIns="0" bIns="0" rIns="0">
            <a:spAutoFit/>
          </a:bodyPr>
          <a:lstStyle/>
          <a:p>
            <a:pPr algn="l">
              <a:lnSpc>
                <a:spcPts val="2484"/>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128" id="128"/>
          <p:cNvSpPr txBox="true"/>
          <p:nvPr/>
        </p:nvSpPr>
        <p:spPr>
          <a:xfrm rot="0">
            <a:off x="13670280" y="4575505"/>
            <a:ext cx="3566160" cy="4738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sp>
        <p:nvSpPr>
          <p:cNvPr name="Freeform 129" id="129"/>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10">
              <a:extLst>
                <a:ext uri="{96DAC541-7B7A-43D3-8B79-37D633B846F1}">
                  <asvg:svgBlip xmlns:asvg="http://schemas.microsoft.com/office/drawing/2016/SVG/main" r:embed="rId11"/>
                </a:ext>
              </a:extLst>
            </a:blip>
            <a:stretch>
              <a:fillRect l="0" t="-51" r="0" b="-51"/>
            </a:stretch>
          </a:blipFill>
        </p:spPr>
      </p:sp>
      <p:grpSp>
        <p:nvGrpSpPr>
          <p:cNvPr name="Group 130" id="130"/>
          <p:cNvGrpSpPr/>
          <p:nvPr/>
        </p:nvGrpSpPr>
        <p:grpSpPr>
          <a:xfrm rot="0">
            <a:off x="1051560" y="6067044"/>
            <a:ext cx="530352" cy="530352"/>
            <a:chOff x="0" y="0"/>
            <a:chExt cx="707136" cy="707136"/>
          </a:xfrm>
        </p:grpSpPr>
        <p:sp>
          <p:nvSpPr>
            <p:cNvPr name="Freeform 131" id="13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132" id="132"/>
          <p:cNvGrpSpPr/>
          <p:nvPr/>
        </p:nvGrpSpPr>
        <p:grpSpPr>
          <a:xfrm rot="0">
            <a:off x="1051560" y="6045613"/>
            <a:ext cx="530352" cy="551783"/>
            <a:chOff x="0" y="0"/>
            <a:chExt cx="707136" cy="735711"/>
          </a:xfrm>
        </p:grpSpPr>
        <p:sp>
          <p:nvSpPr>
            <p:cNvPr name="Freeform 133" id="133"/>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134" id="134"/>
          <p:cNvGrpSpPr/>
          <p:nvPr/>
        </p:nvGrpSpPr>
        <p:grpSpPr>
          <a:xfrm rot="0">
            <a:off x="1051560" y="6024182"/>
            <a:ext cx="530352" cy="573214"/>
            <a:chOff x="0" y="0"/>
            <a:chExt cx="707136" cy="764286"/>
          </a:xfrm>
        </p:grpSpPr>
        <p:sp>
          <p:nvSpPr>
            <p:cNvPr name="Freeform 135" id="135"/>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136" id="136"/>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37" id="137"/>
          <p:cNvSpPr txBox="true"/>
          <p:nvPr/>
        </p:nvSpPr>
        <p:spPr>
          <a:xfrm rot="0">
            <a:off x="1719072" y="5913882"/>
            <a:ext cx="437388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138" id="138"/>
          <p:cNvSpPr txBox="true"/>
          <p:nvPr/>
        </p:nvSpPr>
        <p:spPr>
          <a:xfrm rot="0">
            <a:off x="1051560" y="6591681"/>
            <a:ext cx="4968240" cy="7439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139" id="139"/>
          <p:cNvGrpSpPr/>
          <p:nvPr/>
        </p:nvGrpSpPr>
        <p:grpSpPr>
          <a:xfrm rot="0">
            <a:off x="987552" y="7408774"/>
            <a:ext cx="5096256" cy="942404"/>
            <a:chOff x="0" y="0"/>
            <a:chExt cx="6795008" cy="1256538"/>
          </a:xfrm>
        </p:grpSpPr>
        <p:sp>
          <p:nvSpPr>
            <p:cNvPr name="Freeform 140" id="140"/>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41" id="141"/>
          <p:cNvSpPr txBox="true"/>
          <p:nvPr/>
        </p:nvSpPr>
        <p:spPr>
          <a:xfrm rot="0">
            <a:off x="1124712" y="7423633"/>
            <a:ext cx="4693920" cy="623571"/>
          </a:xfrm>
          <a:prstGeom prst="rect">
            <a:avLst/>
          </a:prstGeom>
        </p:spPr>
        <p:txBody>
          <a:bodyPr anchor="t" rtlCol="false" tIns="0" lIns="0" bIns="0" rIns="0">
            <a:spAutoFit/>
          </a:bodyPr>
          <a:lstStyle/>
          <a:p>
            <a:pPr algn="l">
              <a:lnSpc>
                <a:spcPts val="2484"/>
              </a:lnSpc>
            </a:pPr>
            <a:r>
              <a:rPr lang="en-US" sz="1850" i="true">
                <a:solidFill>
                  <a:srgbClr val="14313B"/>
                </a:solidFill>
                <a:latin typeface="Cambria Italics"/>
                <a:ea typeface="Cambria Italics"/>
                <a:cs typeface="Cambria Italics"/>
                <a:sym typeface="Cambria Italics"/>
              </a:rPr>
              <a:t>ODTWₜ = a + b · NTLₜ</a:t>
            </a:r>
          </a:p>
          <a:p>
            <a:pPr algn="l">
              <a:lnSpc>
                <a:spcPts val="2484"/>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142" id="142"/>
          <p:cNvSpPr txBox="true"/>
          <p:nvPr/>
        </p:nvSpPr>
        <p:spPr>
          <a:xfrm rot="0">
            <a:off x="1051560" y="8271205"/>
            <a:ext cx="4968240" cy="4738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sp>
        <p:nvSpPr>
          <p:cNvPr name="Freeform 143" id="143"/>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10">
              <a:extLst>
                <a:ext uri="{96DAC541-7B7A-43D3-8B79-37D633B846F1}">
                  <asvg:svgBlip xmlns:asvg="http://schemas.microsoft.com/office/drawing/2016/SVG/main" r:embed="rId11"/>
                </a:ext>
              </a:extLst>
            </a:blip>
            <a:stretch>
              <a:fillRect l="0" t="-51" r="0" b="-51"/>
            </a:stretch>
          </a:blipFill>
        </p:spPr>
      </p:sp>
      <p:grpSp>
        <p:nvGrpSpPr>
          <p:cNvPr name="Group 144" id="144"/>
          <p:cNvGrpSpPr/>
          <p:nvPr/>
        </p:nvGrpSpPr>
        <p:grpSpPr>
          <a:xfrm rot="0">
            <a:off x="6659880" y="6067044"/>
            <a:ext cx="530352" cy="530352"/>
            <a:chOff x="0" y="0"/>
            <a:chExt cx="707136" cy="707136"/>
          </a:xfrm>
        </p:grpSpPr>
        <p:sp>
          <p:nvSpPr>
            <p:cNvPr name="Freeform 145" id="145"/>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146" id="146"/>
          <p:cNvGrpSpPr/>
          <p:nvPr/>
        </p:nvGrpSpPr>
        <p:grpSpPr>
          <a:xfrm rot="0">
            <a:off x="6659880" y="6045613"/>
            <a:ext cx="530352" cy="551783"/>
            <a:chOff x="0" y="0"/>
            <a:chExt cx="707136" cy="735711"/>
          </a:xfrm>
        </p:grpSpPr>
        <p:sp>
          <p:nvSpPr>
            <p:cNvPr name="Freeform 147" id="147"/>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148" id="148"/>
          <p:cNvGrpSpPr/>
          <p:nvPr/>
        </p:nvGrpSpPr>
        <p:grpSpPr>
          <a:xfrm rot="0">
            <a:off x="6659880" y="6024182"/>
            <a:ext cx="530352" cy="573214"/>
            <a:chOff x="0" y="0"/>
            <a:chExt cx="707136" cy="764286"/>
          </a:xfrm>
        </p:grpSpPr>
        <p:sp>
          <p:nvSpPr>
            <p:cNvPr name="Freeform 149" id="149"/>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150" id="150"/>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51" id="151"/>
          <p:cNvSpPr txBox="true"/>
          <p:nvPr/>
        </p:nvSpPr>
        <p:spPr>
          <a:xfrm rot="0">
            <a:off x="7327392" y="5913882"/>
            <a:ext cx="4373880" cy="542087"/>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Uji kelayakan hasil estimasi</a:t>
            </a:r>
          </a:p>
        </p:txBody>
      </p:sp>
      <p:sp>
        <p:nvSpPr>
          <p:cNvPr name="TextBox 152" id="152"/>
          <p:cNvSpPr txBox="true"/>
          <p:nvPr/>
        </p:nvSpPr>
        <p:spPr>
          <a:xfrm rot="0">
            <a:off x="6659880" y="6591681"/>
            <a:ext cx="4968240" cy="10170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Korelasi pada nilai level dan selisih tahunan (menghindari spurious regression karena tren yang sama), lalu LOOCV.</a:t>
            </a:r>
          </a:p>
        </p:txBody>
      </p:sp>
      <p:grpSp>
        <p:nvGrpSpPr>
          <p:cNvPr name="Group 153" id="153"/>
          <p:cNvGrpSpPr/>
          <p:nvPr/>
        </p:nvGrpSpPr>
        <p:grpSpPr>
          <a:xfrm rot="0">
            <a:off x="6595872" y="7681874"/>
            <a:ext cx="5096256" cy="942404"/>
            <a:chOff x="0" y="0"/>
            <a:chExt cx="6795008" cy="1256538"/>
          </a:xfrm>
        </p:grpSpPr>
        <p:sp>
          <p:nvSpPr>
            <p:cNvPr name="Freeform 154" id="154"/>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55" id="155"/>
          <p:cNvSpPr txBox="true"/>
          <p:nvPr/>
        </p:nvSpPr>
        <p:spPr>
          <a:xfrm rot="0">
            <a:off x="6733032" y="7696733"/>
            <a:ext cx="4693920" cy="623571"/>
          </a:xfrm>
          <a:prstGeom prst="rect">
            <a:avLst/>
          </a:prstGeom>
        </p:spPr>
        <p:txBody>
          <a:bodyPr anchor="t" rtlCol="false" tIns="0" lIns="0" bIns="0" rIns="0">
            <a:spAutoFit/>
          </a:bodyPr>
          <a:lstStyle/>
          <a:p>
            <a:pPr algn="l">
              <a:lnSpc>
                <a:spcPts val="2484"/>
              </a:lnSpc>
            </a:pPr>
            <a:r>
              <a:rPr lang="en-US" sz="1850" i="true">
                <a:solidFill>
                  <a:srgbClr val="14313B"/>
                </a:solidFill>
                <a:latin typeface="Cambria Italics"/>
                <a:ea typeface="Cambria Italics"/>
                <a:cs typeface="Cambria Italics"/>
                <a:sym typeface="Cambria Italics"/>
              </a:rPr>
              <a:t>R²(ΔNTL, ΔODTW) ≥ 0,30</a:t>
            </a:r>
          </a:p>
          <a:p>
            <a:pPr algn="l">
              <a:lnSpc>
                <a:spcPts val="2484"/>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56" id="156"/>
          <p:cNvSpPr txBox="true"/>
          <p:nvPr/>
        </p:nvSpPr>
        <p:spPr>
          <a:xfrm rot="0">
            <a:off x="6659880" y="8544306"/>
            <a:ext cx="4968240" cy="4738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sp>
        <p:nvSpPr>
          <p:cNvPr name="Freeform 157" id="157"/>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10">
              <a:extLst>
                <a:ext uri="{96DAC541-7B7A-43D3-8B79-37D633B846F1}">
                  <asvg:svgBlip xmlns:asvg="http://schemas.microsoft.com/office/drawing/2016/SVG/main" r:embed="rId11"/>
                </a:ext>
              </a:extLst>
            </a:blip>
            <a:stretch>
              <a:fillRect l="0" t="-51" r="0" b="-51"/>
            </a:stretch>
          </a:blipFill>
        </p:spPr>
      </p:sp>
      <p:grpSp>
        <p:nvGrpSpPr>
          <p:cNvPr name="Group 158" id="158"/>
          <p:cNvGrpSpPr/>
          <p:nvPr/>
        </p:nvGrpSpPr>
        <p:grpSpPr>
          <a:xfrm rot="0">
            <a:off x="12268200" y="6067044"/>
            <a:ext cx="530352" cy="530352"/>
            <a:chOff x="0" y="0"/>
            <a:chExt cx="707136" cy="707136"/>
          </a:xfrm>
        </p:grpSpPr>
        <p:sp>
          <p:nvSpPr>
            <p:cNvPr name="Freeform 159" id="15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grpSp>
      <p:grpSp>
        <p:nvGrpSpPr>
          <p:cNvPr name="Group 160" id="160"/>
          <p:cNvGrpSpPr/>
          <p:nvPr/>
        </p:nvGrpSpPr>
        <p:grpSpPr>
          <a:xfrm rot="0">
            <a:off x="12268200" y="6045613"/>
            <a:ext cx="530352" cy="551783"/>
            <a:chOff x="0" y="0"/>
            <a:chExt cx="707136" cy="735711"/>
          </a:xfrm>
        </p:grpSpPr>
        <p:sp>
          <p:nvSpPr>
            <p:cNvPr name="Freeform 161" id="16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581" t="0" r="-83581" b="0"/>
              </a:stretch>
            </a:blipFill>
          </p:spPr>
        </p:sp>
      </p:grpSp>
      <p:grpSp>
        <p:nvGrpSpPr>
          <p:cNvPr name="Group 162" id="162"/>
          <p:cNvGrpSpPr/>
          <p:nvPr/>
        </p:nvGrpSpPr>
        <p:grpSpPr>
          <a:xfrm rot="0">
            <a:off x="12268200" y="6024182"/>
            <a:ext cx="530352" cy="573214"/>
            <a:chOff x="0" y="0"/>
            <a:chExt cx="707136" cy="764286"/>
          </a:xfrm>
        </p:grpSpPr>
        <p:sp>
          <p:nvSpPr>
            <p:cNvPr name="Freeform 163" id="163"/>
            <p:cNvSpPr/>
            <p:nvPr/>
          </p:nvSpPr>
          <p:spPr>
            <a:xfrm flipH="false" flipV="false" rot="0">
              <a:off x="0" y="0"/>
              <a:ext cx="707136" cy="764286"/>
            </a:xfrm>
            <a:custGeom>
              <a:avLst/>
              <a:gdLst/>
              <a:ahLst/>
              <a:cxnLst/>
              <a:rect r="r" b="b" t="t" l="l"/>
              <a:pathLst>
                <a:path h="764286" w="707136">
                  <a:moveTo>
                    <a:pt x="0" y="0"/>
                  </a:moveTo>
                  <a:lnTo>
                    <a:pt x="707136" y="0"/>
                  </a:lnTo>
                  <a:lnTo>
                    <a:pt x="707136" y="764286"/>
                  </a:lnTo>
                  <a:lnTo>
                    <a:pt x="0" y="764286"/>
                  </a:lnTo>
                  <a:close/>
                </a:path>
              </a:pathLst>
            </a:custGeom>
            <a:blipFill>
              <a:blip r:embed="rId7">
                <a:alphaModFix amt="0"/>
              </a:blip>
              <a:stretch>
                <a:fillRect l="-88672" t="0" r="-88672" b="0"/>
              </a:stretch>
            </a:blipFill>
          </p:spPr>
        </p:sp>
        <p:sp>
          <p:nvSpPr>
            <p:cNvPr name="TextBox 164" id="164"/>
            <p:cNvSpPr txBox="true"/>
            <p:nvPr/>
          </p:nvSpPr>
          <p:spPr>
            <a:xfrm>
              <a:off x="0" y="-28575"/>
              <a:ext cx="707136" cy="792861"/>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65" id="165"/>
          <p:cNvSpPr txBox="true"/>
          <p:nvPr/>
        </p:nvSpPr>
        <p:spPr>
          <a:xfrm rot="0">
            <a:off x="12935712" y="5913882"/>
            <a:ext cx="4373880" cy="857860"/>
          </a:xfrm>
          <a:prstGeom prst="rect">
            <a:avLst/>
          </a:prstGeom>
        </p:spPr>
        <p:txBody>
          <a:bodyPr anchor="t" rtlCol="false" tIns="0" lIns="0" bIns="0" rIns="0">
            <a:spAutoFit/>
          </a:bodyPr>
          <a:lstStyle/>
          <a:p>
            <a:pPr algn="l">
              <a:lnSpc>
                <a:spcPts val="2484"/>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66" id="166"/>
          <p:cNvSpPr txBox="true"/>
          <p:nvPr/>
        </p:nvSpPr>
        <p:spPr>
          <a:xfrm rot="0">
            <a:off x="12268200" y="6729451"/>
            <a:ext cx="4968240" cy="743941"/>
          </a:xfrm>
          <a:prstGeom prst="rect">
            <a:avLst/>
          </a:prstGeom>
        </p:spPr>
        <p:txBody>
          <a:bodyPr anchor="t" rtlCol="false" tIns="0" lIns="0" bIns="0" rIns="0">
            <a:spAutoFit/>
          </a:bodyPr>
          <a:lstStyle/>
          <a:p>
            <a:pPr algn="l">
              <a:lnSpc>
                <a:spcPts val="2148"/>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67" id="167"/>
          <p:cNvGrpSpPr/>
          <p:nvPr/>
        </p:nvGrpSpPr>
        <p:grpSpPr>
          <a:xfrm rot="0">
            <a:off x="12204192" y="7546543"/>
            <a:ext cx="5096256" cy="887540"/>
            <a:chOff x="0" y="0"/>
            <a:chExt cx="6795008" cy="1183386"/>
          </a:xfrm>
        </p:grpSpPr>
        <p:sp>
          <p:nvSpPr>
            <p:cNvPr name="Freeform 168" id="168"/>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69" id="169"/>
          <p:cNvSpPr txBox="true"/>
          <p:nvPr/>
        </p:nvSpPr>
        <p:spPr>
          <a:xfrm rot="0">
            <a:off x="12341352" y="7561402"/>
            <a:ext cx="4693920" cy="309246"/>
          </a:xfrm>
          <a:prstGeom prst="rect">
            <a:avLst/>
          </a:prstGeom>
        </p:spPr>
        <p:txBody>
          <a:bodyPr anchor="t" rtlCol="false" tIns="0" lIns="0" bIns="0" rIns="0">
            <a:spAutoFit/>
          </a:bodyPr>
          <a:lstStyle/>
          <a:p>
            <a:pPr algn="l">
              <a:lnSpc>
                <a:spcPts val="2484"/>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70" id="170"/>
          <p:cNvSpPr txBox="true"/>
          <p:nvPr/>
        </p:nvSpPr>
        <p:spPr>
          <a:xfrm rot="0">
            <a:off x="12268200" y="8354111"/>
            <a:ext cx="4968240" cy="4738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grpSp>
        <p:nvGrpSpPr>
          <p:cNvPr name="Group 171" id="171"/>
          <p:cNvGrpSpPr/>
          <p:nvPr/>
        </p:nvGrpSpPr>
        <p:grpSpPr>
          <a:xfrm rot="0">
            <a:off x="12755880" y="274320"/>
            <a:ext cx="3931920" cy="411480"/>
            <a:chOff x="0" y="0"/>
            <a:chExt cx="5242560" cy="548640"/>
          </a:xfrm>
        </p:grpSpPr>
        <p:sp>
          <p:nvSpPr>
            <p:cNvPr name="Freeform 172" id="17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060" r="0" b="-136062"/>
              </a:stretch>
            </a:blipFill>
          </p:spPr>
        </p:sp>
      </p:grpSp>
      <p:grpSp>
        <p:nvGrpSpPr>
          <p:cNvPr name="Group 173" id="173"/>
          <p:cNvGrpSpPr/>
          <p:nvPr/>
        </p:nvGrpSpPr>
        <p:grpSpPr>
          <a:xfrm rot="0">
            <a:off x="12755880" y="252889"/>
            <a:ext cx="3931920" cy="432911"/>
            <a:chOff x="0" y="0"/>
            <a:chExt cx="5242560" cy="577215"/>
          </a:xfrm>
        </p:grpSpPr>
        <p:sp>
          <p:nvSpPr>
            <p:cNvPr name="Freeform 174" id="174"/>
            <p:cNvSpPr/>
            <p:nvPr/>
          </p:nvSpPr>
          <p:spPr>
            <a:xfrm flipH="false" flipV="false" rot="0">
              <a:off x="0" y="0"/>
              <a:ext cx="5242560" cy="577215"/>
            </a:xfrm>
            <a:custGeom>
              <a:avLst/>
              <a:gdLst/>
              <a:ahLst/>
              <a:cxnLst/>
              <a:rect r="r" b="b" t="t" l="l"/>
              <a:pathLst>
                <a:path h="577215" w="5242560">
                  <a:moveTo>
                    <a:pt x="0" y="0"/>
                  </a:moveTo>
                  <a:lnTo>
                    <a:pt x="5242560" y="0"/>
                  </a:lnTo>
                  <a:lnTo>
                    <a:pt x="5242560" y="577215"/>
                  </a:lnTo>
                  <a:lnTo>
                    <a:pt x="0" y="577215"/>
                  </a:lnTo>
                  <a:close/>
                </a:path>
              </a:pathLst>
            </a:custGeom>
            <a:blipFill>
              <a:blip r:embed="rId7">
                <a:alphaModFix amt="0"/>
              </a:blip>
              <a:stretch>
                <a:fillRect l="0" t="-126973" r="0" b="-126973"/>
              </a:stretch>
            </a:blipFill>
          </p:spPr>
        </p:sp>
        <p:sp>
          <p:nvSpPr>
            <p:cNvPr name="TextBox 175" id="175"/>
            <p:cNvSpPr txBox="true"/>
            <p:nvPr/>
          </p:nvSpPr>
          <p:spPr>
            <a:xfrm>
              <a:off x="0" y="-28575"/>
              <a:ext cx="5242560" cy="605790"/>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76" id="176"/>
          <p:cNvGrpSpPr/>
          <p:nvPr/>
        </p:nvGrpSpPr>
        <p:grpSpPr>
          <a:xfrm rot="0">
            <a:off x="16047720" y="9646920"/>
            <a:ext cx="420624" cy="420624"/>
            <a:chOff x="0" y="0"/>
            <a:chExt cx="560832" cy="560832"/>
          </a:xfrm>
        </p:grpSpPr>
        <p:sp>
          <p:nvSpPr>
            <p:cNvPr name="Freeform 177" id="17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sp>
      </p:grpSp>
      <p:grpSp>
        <p:nvGrpSpPr>
          <p:cNvPr name="Group 178" id="178"/>
          <p:cNvGrpSpPr/>
          <p:nvPr/>
        </p:nvGrpSpPr>
        <p:grpSpPr>
          <a:xfrm rot="0">
            <a:off x="16047720" y="9625489"/>
            <a:ext cx="420624" cy="442055"/>
            <a:chOff x="0" y="0"/>
            <a:chExt cx="560832" cy="589407"/>
          </a:xfrm>
        </p:grpSpPr>
        <p:sp>
          <p:nvSpPr>
            <p:cNvPr name="Freeform 179" id="179"/>
            <p:cNvSpPr/>
            <p:nvPr/>
          </p:nvSpPr>
          <p:spPr>
            <a:xfrm flipH="false" flipV="false" rot="0">
              <a:off x="0" y="0"/>
              <a:ext cx="560832" cy="589407"/>
            </a:xfrm>
            <a:custGeom>
              <a:avLst/>
              <a:gdLst/>
              <a:ahLst/>
              <a:cxnLst/>
              <a:rect r="r" b="b" t="t" l="l"/>
              <a:pathLst>
                <a:path h="589407" w="560832">
                  <a:moveTo>
                    <a:pt x="0" y="0"/>
                  </a:moveTo>
                  <a:lnTo>
                    <a:pt x="560832" y="0"/>
                  </a:lnTo>
                  <a:lnTo>
                    <a:pt x="560832" y="589407"/>
                  </a:lnTo>
                  <a:lnTo>
                    <a:pt x="0" y="589407"/>
                  </a:lnTo>
                  <a:close/>
                </a:path>
              </a:pathLst>
            </a:custGeom>
            <a:blipFill>
              <a:blip r:embed="rId7">
                <a:alphaModFix amt="0"/>
              </a:blip>
              <a:stretch>
                <a:fillRect l="-84840" t="0" r="-84840" b="0"/>
              </a:stretch>
            </a:blipFill>
          </p:spPr>
        </p:sp>
        <p:sp>
          <p:nvSpPr>
            <p:cNvPr name="TextBox 180" id="180"/>
            <p:cNvSpPr txBox="true"/>
            <p:nvPr/>
          </p:nvSpPr>
          <p:spPr>
            <a:xfrm>
              <a:off x="0" y="-28575"/>
              <a:ext cx="560832" cy="617982"/>
            </a:xfrm>
            <a:prstGeom prst="rect">
              <a:avLst/>
            </a:prstGeom>
          </p:spPr>
          <p:txBody>
            <a:bodyPr anchor="ctr" rtlCol="false" tIns="0" lIns="0" bIns="0" rIns="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16 · Proses Estimasi ODTW dengan NTL: Rumus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Estimasi melalui empat pemeriksaan sebelum nilai dipakai untuk mengisi tahun kosong</a:t>
            </a:r>
          </a:p>
        </p:txBody>
      </p:sp>
      <p:sp>
        <p:nvSpPr>
          <p:cNvPr id="27" name="Rounded Rectangle 26"/>
          <p:cNvSpPr/>
          <p:nvPr/>
        </p:nvSpPr>
        <p:spPr>
          <a:xfrm>
            <a:off x="8229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Pasangkan data</a:t>
            </a:r>
          </a:p>
          <a:p>
            <a:pPr algn="ctr">
              <a:spcAft>
                <a:spcPts val="300"/>
              </a:spcAft>
            </a:pPr>
            <a:r>
              <a:rPr sz="950" b="0" i="0">
                <a:solidFill>
                  <a:srgbClr val="14313B"/>
                </a:solidFill>
                <a:latin typeface="Calibri (MS)"/>
              </a:rPr>
              <a:t>NTL &amp; ODTW 2018–2024 (7 titik)</a:t>
            </a:r>
          </a:p>
        </p:txBody>
      </p:sp>
      <p:sp>
        <p:nvSpPr>
          <p:cNvPr id="28" name="Right Arrow 27"/>
          <p:cNvSpPr/>
          <p:nvPr/>
        </p:nvSpPr>
        <p:spPr>
          <a:xfrm>
            <a:off x="33863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642359"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Uji korelasi</a:t>
            </a:r>
          </a:p>
          <a:p>
            <a:pPr algn="ctr">
              <a:spcAft>
                <a:spcPts val="300"/>
              </a:spcAft>
            </a:pPr>
            <a:r>
              <a:rPr sz="950" b="0" i="0">
                <a:solidFill>
                  <a:srgbClr val="14313B"/>
                </a:solidFill>
                <a:latin typeface="Calibri (MS)"/>
              </a:rPr>
              <a:t>level dan selisih tahunan</a:t>
            </a:r>
          </a:p>
        </p:txBody>
      </p:sp>
      <p:sp>
        <p:nvSpPr>
          <p:cNvPr id="30" name="Right Arrow 29"/>
          <p:cNvSpPr/>
          <p:nvPr/>
        </p:nvSpPr>
        <p:spPr>
          <a:xfrm>
            <a:off x="6205727"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617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Regresi linear</a:t>
            </a:r>
          </a:p>
          <a:p>
            <a:pPr algn="ctr">
              <a:spcAft>
                <a:spcPts val="300"/>
              </a:spcAft>
            </a:pPr>
            <a:r>
              <a:rPr sz="950" b="0" i="0">
                <a:solidFill>
                  <a:srgbClr val="14313B"/>
                </a:solidFill>
                <a:latin typeface="Calibri (MS)"/>
              </a:rPr>
              <a:t>ODTW = a + b·NTL</a:t>
            </a:r>
          </a:p>
        </p:txBody>
      </p:sp>
      <p:sp>
        <p:nvSpPr>
          <p:cNvPr id="32" name="Right Arrow 31"/>
          <p:cNvSpPr/>
          <p:nvPr/>
        </p:nvSpPr>
        <p:spPr>
          <a:xfrm>
            <a:off x="90251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LOOCV</a:t>
            </a:r>
          </a:p>
          <a:p>
            <a:pPr algn="ctr">
              <a:spcAft>
                <a:spcPts val="300"/>
              </a:spcAft>
            </a:pPr>
            <a:r>
              <a:rPr sz="950" b="0" i="0">
                <a:solidFill>
                  <a:srgbClr val="14313B"/>
                </a:solidFill>
                <a:latin typeface="Calibri (MS)"/>
              </a:rPr>
              <a:t>stabilitas, RMSE relatif</a:t>
            </a:r>
          </a:p>
        </p:txBody>
      </p:sp>
      <p:sp>
        <p:nvSpPr>
          <p:cNvPr id="34" name="Right Arrow 33"/>
          <p:cNvSpPr/>
          <p:nvPr/>
        </p:nvSpPr>
        <p:spPr>
          <a:xfrm>
            <a:off x="118445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1005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Estimasi + selang 95%</a:t>
            </a:r>
          </a:p>
          <a:p>
            <a:pPr algn="ctr">
              <a:spcAft>
                <a:spcPts val="300"/>
              </a:spcAft>
            </a:pPr>
            <a:r>
              <a:rPr sz="950" b="0" i="0">
                <a:solidFill>
                  <a:srgbClr val="14313B"/>
                </a:solidFill>
                <a:latin typeface="Calibri (MS)"/>
              </a:rPr>
              <a:t>2015–2017, 2025</a:t>
            </a:r>
          </a:p>
        </p:txBody>
      </p:sp>
      <p:sp>
        <p:nvSpPr>
          <p:cNvPr id="36" name="Right Arrow 35"/>
          <p:cNvSpPr/>
          <p:nvPr/>
        </p:nvSpPr>
        <p:spPr>
          <a:xfrm>
            <a:off x="14663927"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4919959" y="1920240"/>
            <a:ext cx="2545080" cy="9601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FFFFFF"/>
                </a:solidFill>
                <a:latin typeface="Calibri (MS) Bold"/>
              </a:rPr>
              <a:t>Validasi</a:t>
            </a:r>
          </a:p>
          <a:p>
            <a:pPr algn="ctr">
              <a:spcAft>
                <a:spcPts val="300"/>
              </a:spcAft>
            </a:pPr>
            <a:r>
              <a:rPr sz="950" b="0" i="0">
                <a:solidFill>
                  <a:srgbClr val="D7EEF2"/>
                </a:solidFill>
                <a:latin typeface="Calibri (MS)"/>
              </a:rPr>
              <a:t>temporal &amp; spasial</a:t>
            </a:r>
          </a:p>
        </p:txBody>
      </p:sp>
      <p:sp>
        <p:nvSpPr>
          <p:cNvPr id="38" name="Rounded Rectangle 37"/>
          <p:cNvSpPr/>
          <p:nvPr/>
        </p:nvSpPr>
        <p:spPr>
          <a:xfrm>
            <a:off x="822960" y="3154680"/>
            <a:ext cx="8229600" cy="2148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Korelasi Pearson (level)</a:t>
            </a:r>
          </a:p>
          <a:p>
            <a:pPr algn="l">
              <a:spcAft>
                <a:spcPts val="300"/>
              </a:spcAft>
            </a:pPr>
            <a:r>
              <a:rPr sz="1200" b="0" i="1">
                <a:solidFill>
                  <a:srgbClr val="14313B"/>
                </a:solidFill>
                <a:latin typeface="Calibri (MS)"/>
              </a:rPr>
              <a:t>r = Σ(xᵢ − x̄)(yᵢ − ȳ) ÷ √[Σ(xᵢ − x̄)² · Σ(yᵢ − ȳ)²]</a:t>
            </a:r>
          </a:p>
          <a:p>
            <a:pPr algn="l">
              <a:spcAft>
                <a:spcPts val="300"/>
              </a:spcAft>
            </a:pPr>
            <a:r>
              <a:rPr sz="1200" b="0" i="1">
                <a:solidFill>
                  <a:srgbClr val="14313B"/>
                </a:solidFill>
                <a:latin typeface="Calibri (MS)"/>
              </a:rPr>
              <a:t/>
            </a:r>
            <a:r>
              <a:rPr sz="950" b="0" i="0">
                <a:solidFill>
                  <a:srgbClr val="5E6E78"/>
                </a:solidFill>
                <a:latin typeface="Calibri (MS)"/>
              </a:rPr>
              <a:t/>
            </a:r>
          </a:p>
        </p:txBody>
      </p:sp>
      <p:sp>
        <p:nvSpPr>
          <p:cNvPr id="39" name="TextBox 38"/>
          <p:cNvSpPr txBox="1"/>
          <p:nvPr/>
        </p:nvSpPr>
        <p:spPr>
          <a:xfrm>
            <a:off x="1005840" y="4846320"/>
            <a:ext cx="7863840" cy="36576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Berpotensi tinggi hanya karena tren bersama.</a:t>
            </a:r>
          </a:p>
        </p:txBody>
      </p:sp>
      <p:sp>
        <p:nvSpPr>
          <p:cNvPr id="40" name="Rounded Rectangle 39"/>
          <p:cNvSpPr/>
          <p:nvPr/>
        </p:nvSpPr>
        <p:spPr>
          <a:xfrm>
            <a:off x="9235440" y="3154680"/>
            <a:ext cx="8229600" cy="2148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Korelasi selisih tahunan</a:t>
            </a:r>
          </a:p>
          <a:p>
            <a:pPr algn="l">
              <a:spcAft>
                <a:spcPts val="300"/>
              </a:spcAft>
            </a:pPr>
            <a:r>
              <a:rPr sz="1200" b="0" i="1">
                <a:solidFill>
                  <a:srgbClr val="14313B"/>
                </a:solidFill>
                <a:latin typeface="Calibri (MS)"/>
              </a:rPr>
              <a:t>Δxₜ = xₜ − xₜ₋₁ ;  Δyₜ = yₜ − yₜ₋₁ ;  r_Δ = corr(Δx, Δy)</a:t>
            </a:r>
          </a:p>
          <a:p>
            <a:pPr algn="l">
              <a:spcAft>
                <a:spcPts val="300"/>
              </a:spcAft>
            </a:pPr>
            <a:r>
              <a:rPr sz="1200" b="0" i="1">
                <a:solidFill>
                  <a:srgbClr val="14313B"/>
                </a:solidFill>
                <a:latin typeface="Calibri (MS)"/>
              </a:rPr>
              <a:t/>
            </a:r>
            <a:r>
              <a:rPr sz="950" b="0" i="0">
                <a:solidFill>
                  <a:srgbClr val="5E6E78"/>
                </a:solidFill>
                <a:latin typeface="Calibri (MS)"/>
              </a:rPr>
              <a:t/>
            </a:r>
          </a:p>
        </p:txBody>
      </p:sp>
      <p:sp>
        <p:nvSpPr>
          <p:cNvPr id="41" name="TextBox 40"/>
          <p:cNvSpPr txBox="1"/>
          <p:nvPr/>
        </p:nvSpPr>
        <p:spPr>
          <a:xfrm>
            <a:off x="9418319" y="4846320"/>
            <a:ext cx="7863840" cy="36576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Syarat layak: R²_Δ ≥ 0,30 (menghindari regresi lancung).</a:t>
            </a:r>
          </a:p>
        </p:txBody>
      </p:sp>
      <p:sp>
        <p:nvSpPr>
          <p:cNvPr id="42" name="Rounded Rectangle 41"/>
          <p:cNvSpPr/>
          <p:nvPr/>
        </p:nvSpPr>
        <p:spPr>
          <a:xfrm>
            <a:off x="822960" y="5486400"/>
            <a:ext cx="8229600" cy="2148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Regresi dan selang prediksi 95%</a:t>
            </a:r>
          </a:p>
          <a:p>
            <a:pPr algn="l">
              <a:spcAft>
                <a:spcPts val="300"/>
              </a:spcAft>
            </a:pPr>
            <a:r>
              <a:rPr sz="1200" b="0" i="1">
                <a:solidFill>
                  <a:srgbClr val="14313B"/>
                </a:solidFill>
                <a:latin typeface="Calibri (MS)"/>
              </a:rPr>
              <a:t>ŷ₀ = a + b·x₀</a:t>
            </a:r>
          </a:p>
          <a:p>
            <a:pPr algn="l">
              <a:spcAft>
                <a:spcPts val="300"/>
              </a:spcAft>
            </a:pPr>
            <a:r>
              <a:rPr sz="1200" b="0" i="1">
                <a:solidFill>
                  <a:srgbClr val="14313B"/>
                </a:solidFill>
                <a:latin typeface="Calibri (MS)"/>
              </a:rPr>
              <a:t>ŷ₀ ± t₀,₉₇₅;ₙ₋₂ · s · √[1 + 1/n + (x₀ − x̄)² ÷ Sₓₓ]</a:t>
            </a:r>
          </a:p>
          <a:p>
            <a:pPr algn="l">
              <a:spcAft>
                <a:spcPts val="300"/>
              </a:spcAft>
            </a:pPr>
            <a:r>
              <a:rPr sz="1200" b="0" i="1">
                <a:solidFill>
                  <a:srgbClr val="14313B"/>
                </a:solidFill>
                <a:latin typeface="Calibri (MS)"/>
              </a:rPr>
              <a:t/>
            </a:r>
            <a:r>
              <a:rPr sz="950" b="0" i="0">
                <a:solidFill>
                  <a:srgbClr val="5E6E78"/>
                </a:solidFill>
                <a:latin typeface="Calibri (MS)"/>
              </a:rPr>
              <a:t/>
            </a:r>
          </a:p>
        </p:txBody>
      </p:sp>
      <p:sp>
        <p:nvSpPr>
          <p:cNvPr id="43" name="TextBox 42"/>
          <p:cNvSpPr txBox="1"/>
          <p:nvPr/>
        </p:nvSpPr>
        <p:spPr>
          <a:xfrm>
            <a:off x="1005840" y="7178040"/>
            <a:ext cx="7863840" cy="36576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 = galat baku sisaan; Sₓₓ = Σ(xᵢ − x̄)².</a:t>
            </a:r>
          </a:p>
        </p:txBody>
      </p:sp>
      <p:sp>
        <p:nvSpPr>
          <p:cNvPr id="44" name="Rounded Rectangle 43"/>
          <p:cNvSpPr/>
          <p:nvPr/>
        </p:nvSpPr>
        <p:spPr>
          <a:xfrm>
            <a:off x="9235440" y="5486400"/>
            <a:ext cx="8229600" cy="2148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Leave-One-Out Cross-Validation</a:t>
            </a:r>
          </a:p>
          <a:p>
            <a:pPr algn="l">
              <a:spcAft>
                <a:spcPts val="300"/>
              </a:spcAft>
            </a:pPr>
            <a:r>
              <a:rPr sz="1200" b="0" i="1">
                <a:solidFill>
                  <a:srgbClr val="14313B"/>
                </a:solidFill>
                <a:latin typeface="Calibri (MS)"/>
              </a:rPr>
              <a:t>ŷ₍₋ᵢ₎ dari model tanpa titik i</a:t>
            </a:r>
          </a:p>
          <a:p>
            <a:pPr algn="l">
              <a:spcAft>
                <a:spcPts val="300"/>
              </a:spcAft>
            </a:pPr>
            <a:r>
              <a:rPr sz="1200" b="0" i="1">
                <a:solidFill>
                  <a:srgbClr val="14313B"/>
                </a:solidFill>
                <a:latin typeface="Calibri (MS)"/>
              </a:rPr>
              <a:t>RMSE = √[(1/k) Σ(ŷ₍₋ᵢ₎ − yᵢ)²];  RMSE relatif = RMSE ÷ ȳ × 100%</a:t>
            </a:r>
          </a:p>
          <a:p>
            <a:pPr algn="l">
              <a:spcAft>
                <a:spcPts val="300"/>
              </a:spcAft>
            </a:pPr>
            <a:r>
              <a:rPr sz="1200" b="0" i="1">
                <a:solidFill>
                  <a:srgbClr val="14313B"/>
                </a:solidFill>
                <a:latin typeface="Calibri (MS)"/>
              </a:rPr>
              <a:t/>
            </a:r>
            <a:r>
              <a:rPr sz="950" b="0" i="0">
                <a:solidFill>
                  <a:srgbClr val="5E6E78"/>
                </a:solidFill>
                <a:latin typeface="Calibri (MS)"/>
              </a:rPr>
              <a:t/>
            </a:r>
          </a:p>
        </p:txBody>
      </p:sp>
      <p:sp>
        <p:nvSpPr>
          <p:cNvPr id="45" name="TextBox 44"/>
          <p:cNvSpPr txBox="1"/>
          <p:nvPr/>
        </p:nvSpPr>
        <p:spPr>
          <a:xfrm>
            <a:off x="9418319" y="7178040"/>
            <a:ext cx="7863840" cy="36576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Syarat layak: RMSE relatif ≤ 10%.</a:t>
            </a:r>
          </a:p>
        </p:txBody>
      </p:sp>
      <p:sp>
        <p:nvSpPr>
          <p:cNvPr id="46" name="Rounded Rectangle 45"/>
          <p:cNvSpPr/>
          <p:nvPr/>
        </p:nvSpPr>
        <p:spPr>
          <a:xfrm>
            <a:off x="822960" y="7909560"/>
            <a:ext cx="16642080" cy="685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Model final dilatih ulang pada ketujuh titik (bukan subset LOOCV): ODTW = 121,61 + 34,59 × NTL. Hasil lengkap di lampiran LOOCV.</a:t>
            </a:r>
          </a:p>
        </p:txBody>
      </p:sp>
      <p:sp>
        <p:nvSpPr>
          <p:cNvPr id="47" name="TextBox 4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3.5.1 dan 4.2.1.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17 · Hasil Uji Korelasi, LOOCV, dan Estimasi ODTW</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NTL layak sebagai penduga ODTW: R² selisih tahunan 0,405 dan RMSE LOOCV relatif 5,99%</a:t>
            </a:r>
          </a:p>
        </p:txBody>
      </p:sp>
      <p:sp>
        <p:nvSpPr>
          <p:cNvPr id="27" name="Rounded Rectangle 26"/>
          <p:cNvSpPr/>
          <p:nvPr/>
        </p:nvSpPr>
        <p:spPr>
          <a:xfrm>
            <a:off x="822960" y="1920240"/>
            <a:ext cx="51206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korelasi dan regresi</a:t>
            </a:r>
          </a:p>
        </p:txBody>
      </p:sp>
      <p:graphicFrame>
        <p:nvGraphicFramePr>
          <p:cNvPr id="28" name="Table 27"/>
          <p:cNvGraphicFramePr>
            <a:graphicFrameLocks noGrp="1"/>
          </p:cNvGraphicFramePr>
          <p:nvPr/>
        </p:nvGraphicFramePr>
        <p:xfrm>
          <a:off x="822960" y="2423160"/>
          <a:ext cx="5120639" cy="3218688"/>
        </p:xfrm>
        <a:graphic>
          <a:graphicData uri="http://schemas.openxmlformats.org/drawingml/2006/table">
            <a:tbl>
              <a:tblPr firstRow="1" bandRow="1">
                <a:tableStyleId>{5C22544A-7EE6-4342-B048-85BDC9FD1C3A}</a:tableStyleId>
              </a:tblPr>
              <a:tblGrid>
                <a:gridCol w="2011680"/>
                <a:gridCol w="1645920"/>
                <a:gridCol w="1463039"/>
              </a:tblGrid>
              <a:tr h="402336">
                <a:tc>
                  <a:txBody>
                    <a:bodyPr wrap="square"/>
                    <a:lstStyle/>
                    <a:p>
                      <a:r>
                        <a:rPr sz="1100" b="1" i="0">
                          <a:solidFill>
                            <a:srgbClr val="FFFFFF"/>
                          </a:solidFill>
                          <a:latin typeface="Calibri (MS) Bold"/>
                        </a:rPr>
                        <a:t>Metrik</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Nilai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Syarat</a:t>
                      </a:r>
                    </a:p>
                  </a:txBody>
                  <a:tcPr marL="73152" marR="73152" marT="36576" marB="36576" anchor="ctr">
                    <a:solidFill>
                      <a:srgbClr val="0B5E6E"/>
                    </a:solidFill>
                  </a:tcPr>
                </a:tc>
              </a:tr>
              <a:tr h="402336">
                <a:tc>
                  <a:txBody>
                    <a:bodyPr wrap="square"/>
                    <a:lstStyle/>
                    <a:p>
                      <a:r>
                        <a:rPr sz="1100" b="0" i="0">
                          <a:solidFill>
                            <a:srgbClr val="14313B"/>
                          </a:solidFill>
                          <a:latin typeface="Calibri (MS)"/>
                        </a:rPr>
                        <a:t>n titik</a:t>
                      </a:r>
                    </a:p>
                  </a:txBody>
                  <a:tcPr marL="73152" marR="73152" marT="36576" marB="36576" anchor="ctr">
                    <a:solidFill>
                      <a:srgbClr val="FFFFFF"/>
                    </a:solidFill>
                  </a:tcPr>
                </a:tc>
                <a:tc>
                  <a:txBody>
                    <a:bodyPr wrap="square"/>
                    <a:lstStyle/>
                    <a:p>
                      <a:pPr algn="ctr"/>
                      <a:r>
                        <a:rPr sz="1100" b="0" i="0">
                          <a:solidFill>
                            <a:srgbClr val="14313B"/>
                          </a:solidFill>
                          <a:latin typeface="Calibri (MS)"/>
                        </a:rPr>
                        <a:t>7 (2018–2024)</a:t>
                      </a:r>
                    </a:p>
                  </a:txBody>
                  <a:tcPr marL="73152" marR="73152" marT="36576" marB="36576" anchor="ctr">
                    <a:solidFill>
                      <a:srgbClr val="FFFFFF"/>
                    </a:solidFill>
                  </a:tcPr>
                </a:tc>
                <a:tc>
                  <a:txBody>
                    <a:bodyPr wrap="square"/>
                    <a:lstStyle/>
                    <a:p>
                      <a:pPr algn="ctr"/>
                      <a:r>
                        <a:rPr sz="1100" b="0" i="0">
                          <a:solidFill>
                            <a:srgbClr val="14313B"/>
                          </a:solidFill>
                          <a:latin typeface="Calibri (MS)"/>
                        </a:rPr>
                        <a:t>—</a:t>
                      </a:r>
                    </a:p>
                  </a:txBody>
                  <a:tcPr marL="73152" marR="73152" marT="36576" marB="36576" anchor="ctr">
                    <a:solidFill>
                      <a:srgbClr val="FFFFFF"/>
                    </a:solidFill>
                  </a:tcPr>
                </a:tc>
              </a:tr>
              <a:tr h="402336">
                <a:tc>
                  <a:txBody>
                    <a:bodyPr wrap="square"/>
                    <a:lstStyle/>
                    <a:p>
                      <a:r>
                        <a:rPr sz="1100" b="0" i="0">
                          <a:solidFill>
                            <a:srgbClr val="14313B"/>
                          </a:solidFill>
                          <a:latin typeface="Calibri (MS)"/>
                        </a:rPr>
                        <a:t>R² level</a:t>
                      </a:r>
                    </a:p>
                  </a:txBody>
                  <a:tcPr marL="73152" marR="73152" marT="36576" marB="36576" anchor="ctr">
                    <a:solidFill>
                      <a:srgbClr val="EAF8FA"/>
                    </a:solidFill>
                  </a:tcPr>
                </a:tc>
                <a:tc>
                  <a:txBody>
                    <a:bodyPr wrap="square"/>
                    <a:lstStyle/>
                    <a:p>
                      <a:pPr algn="ctr"/>
                      <a:r>
                        <a:rPr sz="1100" b="0" i="0">
                          <a:solidFill>
                            <a:srgbClr val="14313B"/>
                          </a:solidFill>
                          <a:latin typeface="Calibri (MS)"/>
                        </a:rPr>
                        <a:t>0,785</a:t>
                      </a:r>
                    </a:p>
                  </a:txBody>
                  <a:tcPr marL="73152" marR="73152" marT="36576" marB="36576" anchor="ctr">
                    <a:solidFill>
                      <a:srgbClr val="EAF8FA"/>
                    </a:solidFill>
                  </a:tcPr>
                </a:tc>
                <a:tc>
                  <a:txBody>
                    <a:bodyPr wrap="square"/>
                    <a:lstStyle/>
                    <a:p>
                      <a:pPr algn="ctr"/>
                      <a:r>
                        <a:rPr sz="1100" b="0" i="0">
                          <a:solidFill>
                            <a:srgbClr val="14313B"/>
                          </a:solidFill>
                          <a:latin typeface="Calibri (MS)"/>
                        </a:rPr>
                        <a:t>—</a:t>
                      </a:r>
                    </a:p>
                  </a:txBody>
                  <a:tcPr marL="73152" marR="73152" marT="36576" marB="36576" anchor="ctr">
                    <a:solidFill>
                      <a:srgbClr val="EAF8FA"/>
                    </a:solidFill>
                  </a:tcPr>
                </a:tc>
              </a:tr>
              <a:tr h="402336">
                <a:tc>
                  <a:txBody>
                    <a:bodyPr wrap="square"/>
                    <a:lstStyle/>
                    <a:p>
                      <a:r>
                        <a:rPr sz="1100" b="0" i="0">
                          <a:solidFill>
                            <a:srgbClr val="14313B"/>
                          </a:solidFill>
                          <a:latin typeface="Calibri (MS)"/>
                        </a:rPr>
                        <a:t>R² selisih tahunan</a:t>
                      </a:r>
                    </a:p>
                  </a:txBody>
                  <a:tcPr marL="73152" marR="73152" marT="36576" marB="36576" anchor="ctr">
                    <a:solidFill>
                      <a:srgbClr val="FFFFFF"/>
                    </a:solidFill>
                  </a:tcPr>
                </a:tc>
                <a:tc>
                  <a:txBody>
                    <a:bodyPr wrap="square"/>
                    <a:lstStyle/>
                    <a:p>
                      <a:pPr algn="ctr"/>
                      <a:r>
                        <a:rPr sz="1100" b="0" i="0">
                          <a:solidFill>
                            <a:srgbClr val="14313B"/>
                          </a:solidFill>
                          <a:latin typeface="Calibri (MS)"/>
                        </a:rPr>
                        <a:t>0,405</a:t>
                      </a:r>
                    </a:p>
                  </a:txBody>
                  <a:tcPr marL="73152" marR="73152" marT="36576" marB="36576" anchor="ctr">
                    <a:solidFill>
                      <a:srgbClr val="FFFFFF"/>
                    </a:solidFill>
                  </a:tcPr>
                </a:tc>
                <a:tc>
                  <a:txBody>
                    <a:bodyPr wrap="square"/>
                    <a:lstStyle/>
                    <a:p>
                      <a:pPr algn="ctr"/>
                      <a:r>
                        <a:rPr sz="1100" b="0" i="0">
                          <a:solidFill>
                            <a:srgbClr val="14313B"/>
                          </a:solidFill>
                          <a:latin typeface="Calibri (MS)"/>
                        </a:rPr>
                        <a:t>≥ 0,30 ✓</a:t>
                      </a:r>
                    </a:p>
                  </a:txBody>
                  <a:tcPr marL="73152" marR="73152" marT="36576" marB="36576" anchor="ctr">
                    <a:solidFill>
                      <a:srgbClr val="C9F0D6"/>
                    </a:solidFill>
                  </a:tcPr>
                </a:tc>
              </a:tr>
              <a:tr h="402336">
                <a:tc>
                  <a:txBody>
                    <a:bodyPr wrap="square"/>
                    <a:lstStyle/>
                    <a:p>
                      <a:r>
                        <a:rPr sz="1100" b="0" i="0">
                          <a:solidFill>
                            <a:srgbClr val="14313B"/>
                          </a:solidFill>
                          <a:latin typeface="Calibri (MS)"/>
                        </a:rPr>
                        <a:t>Intersep a</a:t>
                      </a:r>
                    </a:p>
                  </a:txBody>
                  <a:tcPr marL="73152" marR="73152" marT="36576" marB="36576" anchor="ctr">
                    <a:solidFill>
                      <a:srgbClr val="EAF8FA"/>
                    </a:solidFill>
                  </a:tcPr>
                </a:tc>
                <a:tc>
                  <a:txBody>
                    <a:bodyPr wrap="square"/>
                    <a:lstStyle/>
                    <a:p>
                      <a:pPr algn="ctr"/>
                      <a:r>
                        <a:rPr sz="1100" b="0" i="0">
                          <a:solidFill>
                            <a:srgbClr val="14313B"/>
                          </a:solidFill>
                          <a:latin typeface="Calibri (MS)"/>
                        </a:rPr>
                        <a:t>121,6137</a:t>
                      </a:r>
                    </a:p>
                  </a:txBody>
                  <a:tcPr marL="73152" marR="73152" marT="36576" marB="36576" anchor="ctr">
                    <a:solidFill>
                      <a:srgbClr val="EAF8FA"/>
                    </a:solidFill>
                  </a:tcPr>
                </a:tc>
                <a:tc>
                  <a:txBody>
                    <a:bodyPr wrap="square"/>
                    <a:lstStyle/>
                    <a:p>
                      <a:pPr algn="ctr"/>
                      <a:r>
                        <a:rPr sz="1100" b="0" i="0">
                          <a:solidFill>
                            <a:srgbClr val="14313B"/>
                          </a:solidFill>
                          <a:latin typeface="Calibri (MS)"/>
                        </a:rPr>
                        <a:t>—</a:t>
                      </a:r>
                    </a:p>
                  </a:txBody>
                  <a:tcPr marL="73152" marR="73152" marT="36576" marB="36576" anchor="ctr">
                    <a:solidFill>
                      <a:srgbClr val="EAF8FA"/>
                    </a:solidFill>
                  </a:tcPr>
                </a:tc>
              </a:tr>
              <a:tr h="402336">
                <a:tc>
                  <a:txBody>
                    <a:bodyPr wrap="square"/>
                    <a:lstStyle/>
                    <a:p>
                      <a:r>
                        <a:rPr sz="1100" b="0" i="0">
                          <a:solidFill>
                            <a:srgbClr val="14313B"/>
                          </a:solidFill>
                          <a:latin typeface="Calibri (MS)"/>
                        </a:rPr>
                        <a:t>Kemiringan b</a:t>
                      </a:r>
                    </a:p>
                  </a:txBody>
                  <a:tcPr marL="73152" marR="73152" marT="36576" marB="36576" anchor="ctr">
                    <a:solidFill>
                      <a:srgbClr val="FFFFFF"/>
                    </a:solidFill>
                  </a:tcPr>
                </a:tc>
                <a:tc>
                  <a:txBody>
                    <a:bodyPr wrap="square"/>
                    <a:lstStyle/>
                    <a:p>
                      <a:pPr algn="ctr"/>
                      <a:r>
                        <a:rPr sz="1100" b="0" i="0">
                          <a:solidFill>
                            <a:srgbClr val="14313B"/>
                          </a:solidFill>
                          <a:latin typeface="Calibri (MS)"/>
                        </a:rPr>
                        <a:t>34,5846</a:t>
                      </a:r>
                    </a:p>
                  </a:txBody>
                  <a:tcPr marL="73152" marR="73152" marT="36576" marB="36576" anchor="ctr">
                    <a:solidFill>
                      <a:srgbClr val="FFFFFF"/>
                    </a:solidFill>
                  </a:tcPr>
                </a:tc>
                <a:tc>
                  <a:txBody>
                    <a:bodyPr wrap="square"/>
                    <a:lstStyle/>
                    <a:p>
                      <a:pPr algn="ctr"/>
                      <a:r>
                        <a:rPr sz="1100" b="0" i="0">
                          <a:solidFill>
                            <a:srgbClr val="14313B"/>
                          </a:solidFill>
                          <a:latin typeface="Calibri (MS)"/>
                        </a:rPr>
                        <a:t>—</a:t>
                      </a:r>
                    </a:p>
                  </a:txBody>
                  <a:tcPr marL="73152" marR="73152" marT="36576" marB="36576" anchor="ctr">
                    <a:solidFill>
                      <a:srgbClr val="FFFFFF"/>
                    </a:solidFill>
                  </a:tcPr>
                </a:tc>
              </a:tr>
              <a:tr h="402336">
                <a:tc>
                  <a:txBody>
                    <a:bodyPr wrap="square"/>
                    <a:lstStyle/>
                    <a:p>
                      <a:r>
                        <a:rPr sz="1100" b="0" i="0">
                          <a:solidFill>
                            <a:srgbClr val="14313B"/>
                          </a:solidFill>
                          <a:latin typeface="Calibri (MS)"/>
                        </a:rPr>
                        <a:t>RMSE LOOCV</a:t>
                      </a:r>
                    </a:p>
                  </a:txBody>
                  <a:tcPr marL="73152" marR="73152" marT="36576" marB="36576" anchor="ctr">
                    <a:solidFill>
                      <a:srgbClr val="EAF8FA"/>
                    </a:solidFill>
                  </a:tcPr>
                </a:tc>
                <a:tc>
                  <a:txBody>
                    <a:bodyPr wrap="square"/>
                    <a:lstStyle/>
                    <a:p>
                      <a:pPr algn="ctr"/>
                      <a:r>
                        <a:rPr sz="1100" b="0" i="0">
                          <a:solidFill>
                            <a:srgbClr val="14313B"/>
                          </a:solidFill>
                          <a:latin typeface="Calibri (MS)"/>
                        </a:rPr>
                        <a:t>11,29 unit</a:t>
                      </a:r>
                    </a:p>
                  </a:txBody>
                  <a:tcPr marL="73152" marR="73152" marT="36576" marB="36576" anchor="ctr">
                    <a:solidFill>
                      <a:srgbClr val="EAF8FA"/>
                    </a:solidFill>
                  </a:tcPr>
                </a:tc>
                <a:tc>
                  <a:txBody>
                    <a:bodyPr wrap="square"/>
                    <a:lstStyle/>
                    <a:p>
                      <a:pPr algn="ctr"/>
                      <a:r>
                        <a:rPr sz="1100" b="0" i="0">
                          <a:solidFill>
                            <a:srgbClr val="14313B"/>
                          </a:solidFill>
                          <a:latin typeface="Calibri (MS)"/>
                        </a:rPr>
                        <a:t>—</a:t>
                      </a:r>
                    </a:p>
                  </a:txBody>
                  <a:tcPr marL="73152" marR="73152" marT="36576" marB="36576" anchor="ctr">
                    <a:solidFill>
                      <a:srgbClr val="EAF8FA"/>
                    </a:solidFill>
                  </a:tcPr>
                </a:tc>
              </a:tr>
              <a:tr h="402336">
                <a:tc>
                  <a:txBody>
                    <a:bodyPr wrap="square"/>
                    <a:lstStyle/>
                    <a:p>
                      <a:r>
                        <a:rPr sz="1100" b="0" i="0">
                          <a:solidFill>
                            <a:srgbClr val="14313B"/>
                          </a:solidFill>
                          <a:latin typeface="Calibri (MS)"/>
                        </a:rPr>
                        <a:t>RMSE relatif</a:t>
                      </a:r>
                    </a:p>
                  </a:txBody>
                  <a:tcPr marL="73152" marR="73152" marT="36576" marB="36576" anchor="ctr">
                    <a:solidFill>
                      <a:srgbClr val="FFFFFF"/>
                    </a:solidFill>
                  </a:tcPr>
                </a:tc>
                <a:tc>
                  <a:txBody>
                    <a:bodyPr wrap="square"/>
                    <a:lstStyle/>
                    <a:p>
                      <a:pPr algn="ctr"/>
                      <a:r>
                        <a:rPr sz="1100" b="0" i="0">
                          <a:solidFill>
                            <a:srgbClr val="14313B"/>
                          </a:solidFill>
                          <a:latin typeface="Calibri (MS)"/>
                        </a:rPr>
                        <a:t>5,99%</a:t>
                      </a:r>
                    </a:p>
                  </a:txBody>
                  <a:tcPr marL="73152" marR="73152" marT="36576" marB="36576" anchor="ctr">
                    <a:solidFill>
                      <a:srgbClr val="FFFFFF"/>
                    </a:solidFill>
                  </a:tcPr>
                </a:tc>
                <a:tc>
                  <a:txBody>
                    <a:bodyPr wrap="square"/>
                    <a:lstStyle/>
                    <a:p>
                      <a:pPr algn="ctr"/>
                      <a:r>
                        <a:rPr sz="1100" b="0" i="0">
                          <a:solidFill>
                            <a:srgbClr val="14313B"/>
                          </a:solidFill>
                          <a:latin typeface="Calibri (MS)"/>
                        </a:rPr>
                        <a:t>≤ 10% ✓</a:t>
                      </a:r>
                    </a:p>
                  </a:txBody>
                  <a:tcPr marL="73152" marR="73152" marT="36576" marB="36576" anchor="ctr">
                    <a:solidFill>
                      <a:srgbClr val="C9F0D6"/>
                    </a:solidFill>
                  </a:tcPr>
                </a:tc>
              </a:tr>
            </a:tbl>
          </a:graphicData>
        </a:graphic>
      </p:graphicFrame>
      <p:sp>
        <p:nvSpPr>
          <p:cNvPr id="29" name="Rounded Rectangle 28"/>
          <p:cNvSpPr/>
          <p:nvPr/>
        </p:nvSpPr>
        <p:spPr>
          <a:xfrm>
            <a:off x="6217920" y="1920240"/>
            <a:ext cx="54864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LOOCV: tiap tahun diprediksi tanpa dirinya</a:t>
            </a:r>
          </a:p>
        </p:txBody>
      </p:sp>
      <p:graphicFrame>
        <p:nvGraphicFramePr>
          <p:cNvPr id="30" name="Table 29"/>
          <p:cNvGraphicFramePr>
            <a:graphicFrameLocks noGrp="1"/>
          </p:cNvGraphicFramePr>
          <p:nvPr/>
        </p:nvGraphicFramePr>
        <p:xfrm>
          <a:off x="6217920" y="2423160"/>
          <a:ext cx="5486399" cy="3218688"/>
        </p:xfrm>
        <a:graphic>
          <a:graphicData uri="http://schemas.openxmlformats.org/drawingml/2006/table">
            <a:tbl>
              <a:tblPr firstRow="1" bandRow="1">
                <a:tableStyleId>{5C22544A-7EE6-4342-B048-85BDC9FD1C3A}</a:tableStyleId>
              </a:tblPr>
              <a:tblGrid>
                <a:gridCol w="914400"/>
                <a:gridCol w="1005840"/>
                <a:gridCol w="1188720"/>
                <a:gridCol w="1097280"/>
                <a:gridCol w="1280159"/>
              </a:tblGrid>
              <a:tr h="402336">
                <a:tc>
                  <a:txBody>
                    <a:bodyPr wrap="square"/>
                    <a:lstStyle/>
                    <a:p>
                      <a:pPr algn="ctr"/>
                      <a:r>
                        <a:rPr sz="11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Aktual</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Prediksi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Selisih</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Persen</a:t>
                      </a:r>
                    </a:p>
                  </a:txBody>
                  <a:tcPr marL="73152" marR="73152" marT="36576" marB="36576" anchor="ctr">
                    <a:solidFill>
                      <a:srgbClr val="0B5E6E"/>
                    </a:solidFill>
                  </a:tcPr>
                </a:tc>
              </a:tr>
              <a:tr h="402336">
                <a:tc>
                  <a:txBody>
                    <a:bodyPr wrap="square"/>
                    <a:lstStyle/>
                    <a:p>
                      <a:pPr algn="ctr"/>
                      <a:r>
                        <a:rPr sz="1100" b="0" i="0">
                          <a:solidFill>
                            <a:srgbClr val="14313B"/>
                          </a:solidFill>
                          <a:latin typeface="Calibri (MS)"/>
                        </a:rPr>
                        <a:t>2018</a:t>
                      </a:r>
                    </a:p>
                  </a:txBody>
                  <a:tcPr marL="73152" marR="73152" marT="36576" marB="36576" anchor="ctr">
                    <a:solidFill>
                      <a:srgbClr val="FFFFFF"/>
                    </a:solidFill>
                  </a:tcPr>
                </a:tc>
                <a:tc>
                  <a:txBody>
                    <a:bodyPr wrap="square"/>
                    <a:lstStyle/>
                    <a:p>
                      <a:pPr algn="ctr"/>
                      <a:r>
                        <a:rPr sz="1100" b="0" i="0">
                          <a:solidFill>
                            <a:srgbClr val="14313B"/>
                          </a:solidFill>
                          <a:latin typeface="Calibri (MS)"/>
                        </a:rPr>
                        <a:t>177</a:t>
                      </a:r>
                    </a:p>
                  </a:txBody>
                  <a:tcPr marL="73152" marR="73152" marT="36576" marB="36576" anchor="ctr">
                    <a:solidFill>
                      <a:srgbClr val="FFFFFF"/>
                    </a:solidFill>
                  </a:tcPr>
                </a:tc>
                <a:tc>
                  <a:txBody>
                    <a:bodyPr wrap="square"/>
                    <a:lstStyle/>
                    <a:p>
                      <a:pPr algn="ctr"/>
                      <a:r>
                        <a:rPr sz="1100" b="0" i="0">
                          <a:solidFill>
                            <a:srgbClr val="14313B"/>
                          </a:solidFill>
                          <a:latin typeface="Calibri (MS)"/>
                        </a:rPr>
                        <a:t>179,9</a:t>
                      </a:r>
                    </a:p>
                  </a:txBody>
                  <a:tcPr marL="73152" marR="73152" marT="36576" marB="36576" anchor="ctr">
                    <a:solidFill>
                      <a:srgbClr val="FFFFFF"/>
                    </a:solidFill>
                  </a:tcPr>
                </a:tc>
                <a:tc>
                  <a:txBody>
                    <a:bodyPr wrap="square"/>
                    <a:lstStyle/>
                    <a:p>
                      <a:pPr algn="ctr"/>
                      <a:r>
                        <a:rPr sz="1100" b="0" i="0">
                          <a:solidFill>
                            <a:srgbClr val="14313B"/>
                          </a:solidFill>
                          <a:latin typeface="Calibri (MS)"/>
                        </a:rPr>
                        <a:t>2,9</a:t>
                      </a:r>
                    </a:p>
                  </a:txBody>
                  <a:tcPr marL="73152" marR="73152" marT="36576" marB="36576" anchor="ctr">
                    <a:solidFill>
                      <a:srgbClr val="FFFFFF"/>
                    </a:solidFill>
                  </a:tcPr>
                </a:tc>
                <a:tc>
                  <a:txBody>
                    <a:bodyPr wrap="square"/>
                    <a:lstStyle/>
                    <a:p>
                      <a:pPr algn="ctr"/>
                      <a:r>
                        <a:rPr sz="1100" b="0" i="0">
                          <a:solidFill>
                            <a:srgbClr val="14313B"/>
                          </a:solidFill>
                          <a:latin typeface="Calibri (MS)"/>
                        </a:rPr>
                        <a:t>1,6%</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2019</a:t>
                      </a:r>
                    </a:p>
                  </a:txBody>
                  <a:tcPr marL="73152" marR="73152" marT="36576" marB="36576" anchor="ctr">
                    <a:solidFill>
                      <a:srgbClr val="EAF8FA"/>
                    </a:solidFill>
                  </a:tcPr>
                </a:tc>
                <a:tc>
                  <a:txBody>
                    <a:bodyPr wrap="square"/>
                    <a:lstStyle/>
                    <a:p>
                      <a:pPr algn="ctr"/>
                      <a:r>
                        <a:rPr sz="1100" b="0" i="0">
                          <a:solidFill>
                            <a:srgbClr val="14313B"/>
                          </a:solidFill>
                          <a:latin typeface="Calibri (MS)"/>
                        </a:rPr>
                        <a:t>189</a:t>
                      </a:r>
                    </a:p>
                  </a:txBody>
                  <a:tcPr marL="73152" marR="73152" marT="36576" marB="36576" anchor="ctr">
                    <a:solidFill>
                      <a:srgbClr val="EAF8FA"/>
                    </a:solidFill>
                  </a:tcPr>
                </a:tc>
                <a:tc>
                  <a:txBody>
                    <a:bodyPr wrap="square"/>
                    <a:lstStyle/>
                    <a:p>
                      <a:pPr algn="ctr"/>
                      <a:r>
                        <a:rPr sz="1100" b="0" i="0">
                          <a:solidFill>
                            <a:srgbClr val="14313B"/>
                          </a:solidFill>
                          <a:latin typeface="Calibri (MS)"/>
                        </a:rPr>
                        <a:t>191,3</a:t>
                      </a:r>
                    </a:p>
                  </a:txBody>
                  <a:tcPr marL="73152" marR="73152" marT="36576" marB="36576" anchor="ctr">
                    <a:solidFill>
                      <a:srgbClr val="EAF8FA"/>
                    </a:solidFill>
                  </a:tcPr>
                </a:tc>
                <a:tc>
                  <a:txBody>
                    <a:bodyPr wrap="square"/>
                    <a:lstStyle/>
                    <a:p>
                      <a:pPr algn="ctr"/>
                      <a:r>
                        <a:rPr sz="1100" b="0" i="0">
                          <a:solidFill>
                            <a:srgbClr val="14313B"/>
                          </a:solidFill>
                          <a:latin typeface="Calibri (MS)"/>
                        </a:rPr>
                        <a:t>2,3</a:t>
                      </a:r>
                    </a:p>
                  </a:txBody>
                  <a:tcPr marL="73152" marR="73152" marT="36576" marB="36576" anchor="ctr">
                    <a:solidFill>
                      <a:srgbClr val="EAF8FA"/>
                    </a:solidFill>
                  </a:tcPr>
                </a:tc>
                <a:tc>
                  <a:txBody>
                    <a:bodyPr wrap="square"/>
                    <a:lstStyle/>
                    <a:p>
                      <a:pPr algn="ctr"/>
                      <a:r>
                        <a:rPr sz="1100" b="0" i="0">
                          <a:solidFill>
                            <a:srgbClr val="14313B"/>
                          </a:solidFill>
                          <a:latin typeface="Calibri (MS)"/>
                        </a:rPr>
                        <a:t>1,2%</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2020</a:t>
                      </a:r>
                    </a:p>
                  </a:txBody>
                  <a:tcPr marL="73152" marR="73152" marT="36576" marB="36576" anchor="ctr">
                    <a:solidFill>
                      <a:srgbClr val="FFFFFF"/>
                    </a:solidFill>
                  </a:tcPr>
                </a:tc>
                <a:tc>
                  <a:txBody>
                    <a:bodyPr wrap="square"/>
                    <a:lstStyle/>
                    <a:p>
                      <a:pPr algn="ctr"/>
                      <a:r>
                        <a:rPr sz="1100" b="0" i="0">
                          <a:solidFill>
                            <a:srgbClr val="14313B"/>
                          </a:solidFill>
                          <a:latin typeface="Calibri (MS)"/>
                        </a:rPr>
                        <a:t>180</a:t>
                      </a:r>
                    </a:p>
                  </a:txBody>
                  <a:tcPr marL="73152" marR="73152" marT="36576" marB="36576" anchor="ctr">
                    <a:solidFill>
                      <a:srgbClr val="FFFFFF"/>
                    </a:solidFill>
                  </a:tcPr>
                </a:tc>
                <a:tc>
                  <a:txBody>
                    <a:bodyPr wrap="square"/>
                    <a:lstStyle/>
                    <a:p>
                      <a:pPr algn="ctr"/>
                      <a:r>
                        <a:rPr sz="1100" b="0" i="0">
                          <a:solidFill>
                            <a:srgbClr val="14313B"/>
                          </a:solidFill>
                          <a:latin typeface="Calibri (MS)"/>
                        </a:rPr>
                        <a:t>185,7</a:t>
                      </a:r>
                    </a:p>
                  </a:txBody>
                  <a:tcPr marL="73152" marR="73152" marT="36576" marB="36576" anchor="ctr">
                    <a:solidFill>
                      <a:srgbClr val="FFFFFF"/>
                    </a:solidFill>
                  </a:tcPr>
                </a:tc>
                <a:tc>
                  <a:txBody>
                    <a:bodyPr wrap="square"/>
                    <a:lstStyle/>
                    <a:p>
                      <a:pPr algn="ctr"/>
                      <a:r>
                        <a:rPr sz="1100" b="0" i="0">
                          <a:solidFill>
                            <a:srgbClr val="14313B"/>
                          </a:solidFill>
                          <a:latin typeface="Calibri (MS)"/>
                        </a:rPr>
                        <a:t>5,7</a:t>
                      </a:r>
                    </a:p>
                  </a:txBody>
                  <a:tcPr marL="73152" marR="73152" marT="36576" marB="36576" anchor="ctr">
                    <a:solidFill>
                      <a:srgbClr val="FFFFFF"/>
                    </a:solidFill>
                  </a:tcPr>
                </a:tc>
                <a:tc>
                  <a:txBody>
                    <a:bodyPr wrap="square"/>
                    <a:lstStyle/>
                    <a:p>
                      <a:pPr algn="ctr"/>
                      <a:r>
                        <a:rPr sz="1100" b="0" i="0">
                          <a:solidFill>
                            <a:srgbClr val="14313B"/>
                          </a:solidFill>
                          <a:latin typeface="Calibri (MS)"/>
                        </a:rPr>
                        <a:t>3,2%</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2021</a:t>
                      </a:r>
                    </a:p>
                  </a:txBody>
                  <a:tcPr marL="73152" marR="73152" marT="36576" marB="36576" anchor="ctr">
                    <a:solidFill>
                      <a:srgbClr val="EAF8FA"/>
                    </a:solidFill>
                  </a:tcPr>
                </a:tc>
                <a:tc>
                  <a:txBody>
                    <a:bodyPr wrap="square"/>
                    <a:lstStyle/>
                    <a:p>
                      <a:pPr algn="ctr"/>
                      <a:r>
                        <a:rPr sz="1100" b="0" i="0">
                          <a:solidFill>
                            <a:srgbClr val="14313B"/>
                          </a:solidFill>
                          <a:latin typeface="Calibri (MS)"/>
                        </a:rPr>
                        <a:t>170</a:t>
                      </a:r>
                    </a:p>
                  </a:txBody>
                  <a:tcPr marL="73152" marR="73152" marT="36576" marB="36576" anchor="ctr">
                    <a:solidFill>
                      <a:srgbClr val="EAF8FA"/>
                    </a:solidFill>
                  </a:tcPr>
                </a:tc>
                <a:tc>
                  <a:txBody>
                    <a:bodyPr wrap="square"/>
                    <a:lstStyle/>
                    <a:p>
                      <a:pPr algn="ctr"/>
                      <a:r>
                        <a:rPr sz="1100" b="0" i="0">
                          <a:solidFill>
                            <a:srgbClr val="14313B"/>
                          </a:solidFill>
                          <a:latin typeface="Calibri (MS)"/>
                        </a:rPr>
                        <a:t>176,9</a:t>
                      </a:r>
                    </a:p>
                  </a:txBody>
                  <a:tcPr marL="73152" marR="73152" marT="36576" marB="36576" anchor="ctr">
                    <a:solidFill>
                      <a:srgbClr val="EAF8FA"/>
                    </a:solidFill>
                  </a:tcPr>
                </a:tc>
                <a:tc>
                  <a:txBody>
                    <a:bodyPr wrap="square"/>
                    <a:lstStyle/>
                    <a:p>
                      <a:pPr algn="ctr"/>
                      <a:r>
                        <a:rPr sz="1100" b="0" i="0">
                          <a:solidFill>
                            <a:srgbClr val="14313B"/>
                          </a:solidFill>
                          <a:latin typeface="Calibri (MS)"/>
                        </a:rPr>
                        <a:t>6,9</a:t>
                      </a:r>
                    </a:p>
                  </a:txBody>
                  <a:tcPr marL="73152" marR="73152" marT="36576" marB="36576" anchor="ctr">
                    <a:solidFill>
                      <a:srgbClr val="EAF8FA"/>
                    </a:solidFill>
                  </a:tcPr>
                </a:tc>
                <a:tc>
                  <a:txBody>
                    <a:bodyPr wrap="square"/>
                    <a:lstStyle/>
                    <a:p>
                      <a:pPr algn="ctr"/>
                      <a:r>
                        <a:rPr sz="1100" b="0" i="0">
                          <a:solidFill>
                            <a:srgbClr val="14313B"/>
                          </a:solidFill>
                          <a:latin typeface="Calibri (MS)"/>
                        </a:rPr>
                        <a:t>4,0%</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2022</a:t>
                      </a:r>
                    </a:p>
                  </a:txBody>
                  <a:tcPr marL="73152" marR="73152" marT="36576" marB="36576" anchor="ctr">
                    <a:solidFill>
                      <a:srgbClr val="FFFFFF"/>
                    </a:solidFill>
                  </a:tcPr>
                </a:tc>
                <a:tc>
                  <a:txBody>
                    <a:bodyPr wrap="square"/>
                    <a:lstStyle/>
                    <a:p>
                      <a:pPr algn="ctr"/>
                      <a:r>
                        <a:rPr sz="1100" b="0" i="0">
                          <a:solidFill>
                            <a:srgbClr val="14313B"/>
                          </a:solidFill>
                          <a:latin typeface="Calibri (MS)"/>
                        </a:rPr>
                        <a:t>183</a:t>
                      </a:r>
                    </a:p>
                  </a:txBody>
                  <a:tcPr marL="73152" marR="73152" marT="36576" marB="36576" anchor="ctr">
                    <a:solidFill>
                      <a:srgbClr val="FFFFFF"/>
                    </a:solidFill>
                  </a:tcPr>
                </a:tc>
                <a:tc>
                  <a:txBody>
                    <a:bodyPr wrap="square"/>
                    <a:lstStyle/>
                    <a:p>
                      <a:pPr algn="ctr"/>
                      <a:r>
                        <a:rPr sz="1100" b="0" i="0">
                          <a:solidFill>
                            <a:srgbClr val="14313B"/>
                          </a:solidFill>
                          <a:latin typeface="Calibri (MS)"/>
                        </a:rPr>
                        <a:t>167,9</a:t>
                      </a:r>
                    </a:p>
                  </a:txBody>
                  <a:tcPr marL="73152" marR="73152" marT="36576" marB="36576" anchor="ctr">
                    <a:solidFill>
                      <a:srgbClr val="FFFFFF"/>
                    </a:solidFill>
                  </a:tcPr>
                </a:tc>
                <a:tc>
                  <a:txBody>
                    <a:bodyPr wrap="square"/>
                    <a:lstStyle/>
                    <a:p>
                      <a:pPr algn="ctr"/>
                      <a:r>
                        <a:rPr sz="1100" b="0" i="0">
                          <a:solidFill>
                            <a:srgbClr val="14313B"/>
                          </a:solidFill>
                          <a:latin typeface="Calibri (MS)"/>
                        </a:rPr>
                        <a:t>−15,1</a:t>
                      </a:r>
                    </a:p>
                  </a:txBody>
                  <a:tcPr marL="73152" marR="73152" marT="36576" marB="36576" anchor="ctr">
                    <a:solidFill>
                      <a:srgbClr val="FFFFFF"/>
                    </a:solidFill>
                  </a:tcPr>
                </a:tc>
                <a:tc>
                  <a:txBody>
                    <a:bodyPr wrap="square"/>
                    <a:lstStyle/>
                    <a:p>
                      <a:pPr algn="ctr"/>
                      <a:r>
                        <a:rPr sz="1100" b="0" i="0">
                          <a:solidFill>
                            <a:srgbClr val="14313B"/>
                          </a:solidFill>
                          <a:latin typeface="Calibri (MS)"/>
                        </a:rPr>
                        <a:t>−8,2%</a:t>
                      </a:r>
                    </a:p>
                  </a:txBody>
                  <a:tcPr marL="73152" marR="73152" marT="36576" marB="36576" anchor="ctr">
                    <a:solidFill>
                      <a:srgbClr val="FDE2DE"/>
                    </a:solidFill>
                  </a:tcPr>
                </a:tc>
              </a:tr>
              <a:tr h="402336">
                <a:tc>
                  <a:txBody>
                    <a:bodyPr wrap="square"/>
                    <a:lstStyle/>
                    <a:p>
                      <a:pPr algn="ctr"/>
                      <a:r>
                        <a:rPr sz="1100" b="0" i="0">
                          <a:solidFill>
                            <a:srgbClr val="14313B"/>
                          </a:solidFill>
                          <a:latin typeface="Calibri (MS)"/>
                        </a:rPr>
                        <a:t>2023</a:t>
                      </a:r>
                    </a:p>
                  </a:txBody>
                  <a:tcPr marL="73152" marR="73152" marT="36576" marB="36576" anchor="ctr">
                    <a:solidFill>
                      <a:srgbClr val="EAF8FA"/>
                    </a:solidFill>
                  </a:tcPr>
                </a:tc>
                <a:tc>
                  <a:txBody>
                    <a:bodyPr wrap="square"/>
                    <a:lstStyle/>
                    <a:p>
                      <a:pPr algn="ctr"/>
                      <a:r>
                        <a:rPr sz="1100" b="0" i="0">
                          <a:solidFill>
                            <a:srgbClr val="14313B"/>
                          </a:solidFill>
                          <a:latin typeface="Calibri (MS)"/>
                        </a:rPr>
                        <a:t>201</a:t>
                      </a:r>
                    </a:p>
                  </a:txBody>
                  <a:tcPr marL="73152" marR="73152" marT="36576" marB="36576" anchor="ctr">
                    <a:solidFill>
                      <a:srgbClr val="EAF8FA"/>
                    </a:solidFill>
                  </a:tcPr>
                </a:tc>
                <a:tc>
                  <a:txBody>
                    <a:bodyPr wrap="square"/>
                    <a:lstStyle/>
                    <a:p>
                      <a:pPr algn="ctr"/>
                      <a:r>
                        <a:rPr sz="1100" b="0" i="0">
                          <a:solidFill>
                            <a:srgbClr val="14313B"/>
                          </a:solidFill>
                          <a:latin typeface="Calibri (MS)"/>
                        </a:rPr>
                        <a:t>215,1</a:t>
                      </a:r>
                    </a:p>
                  </a:txBody>
                  <a:tcPr marL="73152" marR="73152" marT="36576" marB="36576" anchor="ctr">
                    <a:solidFill>
                      <a:srgbClr val="EAF8FA"/>
                    </a:solidFill>
                  </a:tcPr>
                </a:tc>
                <a:tc>
                  <a:txBody>
                    <a:bodyPr wrap="square"/>
                    <a:lstStyle/>
                    <a:p>
                      <a:pPr algn="ctr"/>
                      <a:r>
                        <a:rPr sz="1100" b="0" i="0">
                          <a:solidFill>
                            <a:srgbClr val="14313B"/>
                          </a:solidFill>
                          <a:latin typeface="Calibri (MS)"/>
                        </a:rPr>
                        <a:t>14,1</a:t>
                      </a:r>
                    </a:p>
                  </a:txBody>
                  <a:tcPr marL="73152" marR="73152" marT="36576" marB="36576" anchor="ctr">
                    <a:solidFill>
                      <a:srgbClr val="EAF8FA"/>
                    </a:solidFill>
                  </a:tcPr>
                </a:tc>
                <a:tc>
                  <a:txBody>
                    <a:bodyPr wrap="square"/>
                    <a:lstStyle/>
                    <a:p>
                      <a:pPr algn="ctr"/>
                      <a:r>
                        <a:rPr sz="1100" b="0" i="0">
                          <a:solidFill>
                            <a:srgbClr val="14313B"/>
                          </a:solidFill>
                          <a:latin typeface="Calibri (MS)"/>
                        </a:rPr>
                        <a:t>7,0%</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2024</a:t>
                      </a:r>
                    </a:p>
                  </a:txBody>
                  <a:tcPr marL="73152" marR="73152" marT="36576" marB="36576" anchor="ctr">
                    <a:solidFill>
                      <a:srgbClr val="FFFFFF"/>
                    </a:solidFill>
                  </a:tcPr>
                </a:tc>
                <a:tc>
                  <a:txBody>
                    <a:bodyPr wrap="square"/>
                    <a:lstStyle/>
                    <a:p>
                      <a:pPr algn="ctr"/>
                      <a:r>
                        <a:rPr sz="1100" b="0" i="0">
                          <a:solidFill>
                            <a:srgbClr val="14313B"/>
                          </a:solidFill>
                          <a:latin typeface="Calibri (MS)"/>
                        </a:rPr>
                        <a:t>218</a:t>
                      </a:r>
                    </a:p>
                  </a:txBody>
                  <a:tcPr marL="73152" marR="73152" marT="36576" marB="36576" anchor="ctr">
                    <a:solidFill>
                      <a:srgbClr val="FFFFFF"/>
                    </a:solidFill>
                  </a:tcPr>
                </a:tc>
                <a:tc>
                  <a:txBody>
                    <a:bodyPr wrap="square"/>
                    <a:lstStyle/>
                    <a:p>
                      <a:pPr algn="ctr"/>
                      <a:r>
                        <a:rPr sz="1100" b="0" i="0">
                          <a:solidFill>
                            <a:srgbClr val="14313B"/>
                          </a:solidFill>
                          <a:latin typeface="Calibri (MS)"/>
                        </a:rPr>
                        <a:t>198,7</a:t>
                      </a:r>
                    </a:p>
                  </a:txBody>
                  <a:tcPr marL="73152" marR="73152" marT="36576" marB="36576" anchor="ctr">
                    <a:solidFill>
                      <a:srgbClr val="FFFFFF"/>
                    </a:solidFill>
                  </a:tcPr>
                </a:tc>
                <a:tc>
                  <a:txBody>
                    <a:bodyPr wrap="square"/>
                    <a:lstStyle/>
                    <a:p>
                      <a:pPr algn="ctr"/>
                      <a:r>
                        <a:rPr sz="1100" b="0" i="0">
                          <a:solidFill>
                            <a:srgbClr val="14313B"/>
                          </a:solidFill>
                          <a:latin typeface="Calibri (MS)"/>
                        </a:rPr>
                        <a:t>−19,3</a:t>
                      </a:r>
                    </a:p>
                  </a:txBody>
                  <a:tcPr marL="73152" marR="73152" marT="36576" marB="36576" anchor="ctr">
                    <a:solidFill>
                      <a:srgbClr val="FFFFFF"/>
                    </a:solidFill>
                  </a:tcPr>
                </a:tc>
                <a:tc>
                  <a:txBody>
                    <a:bodyPr wrap="square"/>
                    <a:lstStyle/>
                    <a:p>
                      <a:pPr algn="ctr"/>
                      <a:r>
                        <a:rPr sz="1100" b="0" i="0">
                          <a:solidFill>
                            <a:srgbClr val="14313B"/>
                          </a:solidFill>
                          <a:latin typeface="Calibri (MS)"/>
                        </a:rPr>
                        <a:t>−8,9%</a:t>
                      </a:r>
                    </a:p>
                  </a:txBody>
                  <a:tcPr marL="73152" marR="73152" marT="36576" marB="36576" anchor="ctr">
                    <a:solidFill>
                      <a:srgbClr val="FDE2DE"/>
                    </a:solidFill>
                  </a:tcPr>
                </a:tc>
              </a:tr>
            </a:tbl>
          </a:graphicData>
        </a:graphic>
      </p:graphicFrame>
      <p:sp>
        <p:nvSpPr>
          <p:cNvPr id="31" name="Rounded Rectangle 30"/>
          <p:cNvSpPr/>
          <p:nvPr/>
        </p:nvSpPr>
        <p:spPr>
          <a:xfrm>
            <a:off x="11978640" y="1920240"/>
            <a:ext cx="54864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Estimasi tahun kosong (selang 95%)</a:t>
            </a:r>
          </a:p>
        </p:txBody>
      </p:sp>
      <p:graphicFrame>
        <p:nvGraphicFramePr>
          <p:cNvPr id="32" name="Table 31"/>
          <p:cNvGraphicFramePr>
            <a:graphicFrameLocks noGrp="1"/>
          </p:cNvGraphicFramePr>
          <p:nvPr/>
        </p:nvGraphicFramePr>
        <p:xfrm>
          <a:off x="11978640" y="2423160"/>
          <a:ext cx="5486400" cy="2011680"/>
        </p:xfrm>
        <a:graphic>
          <a:graphicData uri="http://schemas.openxmlformats.org/drawingml/2006/table">
            <a:tbl>
              <a:tblPr firstRow="1" bandRow="1">
                <a:tableStyleId>{5C22544A-7EE6-4342-B048-85BDC9FD1C3A}</a:tableStyleId>
              </a:tblPr>
              <a:tblGrid>
                <a:gridCol w="914400"/>
                <a:gridCol w="1005840"/>
                <a:gridCol w="1188720"/>
                <a:gridCol w="1188720"/>
                <a:gridCol w="1188720"/>
              </a:tblGrid>
              <a:tr h="402336">
                <a:tc>
                  <a:txBody>
                    <a:bodyPr wrap="square"/>
                    <a:lstStyle/>
                    <a:p>
                      <a:pPr algn="ctr"/>
                      <a:r>
                        <a:rPr sz="110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NTL</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Estimasi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Bawah</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Atas</a:t>
                      </a:r>
                    </a:p>
                  </a:txBody>
                  <a:tcPr marL="73152" marR="73152" marT="36576" marB="36576" anchor="ctr">
                    <a:solidFill>
                      <a:srgbClr val="0B5E6E"/>
                    </a:solidFill>
                  </a:tcPr>
                </a:tc>
              </a:tr>
              <a:tr h="402336">
                <a:tc>
                  <a:txBody>
                    <a:bodyPr wrap="square"/>
                    <a:lstStyle/>
                    <a:p>
                      <a:pPr algn="ctr"/>
                      <a:r>
                        <a:rPr sz="1100" b="0" i="0">
                          <a:solidFill>
                            <a:srgbClr val="14313B"/>
                          </a:solidFill>
                          <a:latin typeface="Calibri (MS)"/>
                        </a:rPr>
                        <a:t>2015</a:t>
                      </a:r>
                    </a:p>
                  </a:txBody>
                  <a:tcPr marL="73152" marR="73152" marT="36576" marB="36576" anchor="ctr">
                    <a:solidFill>
                      <a:srgbClr val="FFFFFF"/>
                    </a:solidFill>
                  </a:tcPr>
                </a:tc>
                <a:tc>
                  <a:txBody>
                    <a:bodyPr wrap="square"/>
                    <a:lstStyle/>
                    <a:p>
                      <a:pPr algn="ctr"/>
                      <a:r>
                        <a:rPr sz="1100" b="0" i="0">
                          <a:solidFill>
                            <a:srgbClr val="14313B"/>
                          </a:solidFill>
                          <a:latin typeface="Calibri (MS)"/>
                        </a:rPr>
                        <a:t>1,262</a:t>
                      </a:r>
                    </a:p>
                  </a:txBody>
                  <a:tcPr marL="73152" marR="73152" marT="36576" marB="36576" anchor="ctr">
                    <a:solidFill>
                      <a:srgbClr val="FFFFFF"/>
                    </a:solidFill>
                  </a:tcPr>
                </a:tc>
                <a:tc>
                  <a:txBody>
                    <a:bodyPr wrap="square"/>
                    <a:lstStyle/>
                    <a:p>
                      <a:pPr algn="ctr"/>
                      <a:r>
                        <a:rPr sz="1100" b="0" i="0">
                          <a:solidFill>
                            <a:srgbClr val="14313B"/>
                          </a:solidFill>
                          <a:latin typeface="Calibri (MS)"/>
                        </a:rPr>
                        <a:t>165,2</a:t>
                      </a:r>
                    </a:p>
                  </a:txBody>
                  <a:tcPr marL="73152" marR="73152" marT="36576" marB="36576" anchor="ctr">
                    <a:solidFill>
                      <a:srgbClr val="FFFFFF"/>
                    </a:solidFill>
                  </a:tcPr>
                </a:tc>
                <a:tc>
                  <a:txBody>
                    <a:bodyPr wrap="square"/>
                    <a:lstStyle/>
                    <a:p>
                      <a:pPr algn="ctr"/>
                      <a:r>
                        <a:rPr sz="1100" b="0" i="0">
                          <a:solidFill>
                            <a:srgbClr val="14313B"/>
                          </a:solidFill>
                          <a:latin typeface="Calibri (MS)"/>
                        </a:rPr>
                        <a:t>138,5</a:t>
                      </a:r>
                    </a:p>
                  </a:txBody>
                  <a:tcPr marL="73152" marR="73152" marT="36576" marB="36576" anchor="ctr">
                    <a:solidFill>
                      <a:srgbClr val="FFFFFF"/>
                    </a:solidFill>
                  </a:tcPr>
                </a:tc>
                <a:tc>
                  <a:txBody>
                    <a:bodyPr wrap="square"/>
                    <a:lstStyle/>
                    <a:p>
                      <a:pPr algn="ctr"/>
                      <a:r>
                        <a:rPr sz="1100" b="0" i="0">
                          <a:solidFill>
                            <a:srgbClr val="14313B"/>
                          </a:solidFill>
                          <a:latin typeface="Calibri (MS)"/>
                        </a:rPr>
                        <a:t>191,9</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2016</a:t>
                      </a:r>
                    </a:p>
                  </a:txBody>
                  <a:tcPr marL="73152" marR="73152" marT="36576" marB="36576" anchor="ctr">
                    <a:solidFill>
                      <a:srgbClr val="EAF8FA"/>
                    </a:solidFill>
                  </a:tcPr>
                </a:tc>
                <a:tc>
                  <a:txBody>
                    <a:bodyPr wrap="square"/>
                    <a:lstStyle/>
                    <a:p>
                      <a:pPr algn="ctr"/>
                      <a:r>
                        <a:rPr sz="1100" b="0" i="0">
                          <a:solidFill>
                            <a:srgbClr val="14313B"/>
                          </a:solidFill>
                          <a:latin typeface="Calibri (MS)"/>
                        </a:rPr>
                        <a:t>1,054</a:t>
                      </a:r>
                    </a:p>
                  </a:txBody>
                  <a:tcPr marL="73152" marR="73152" marT="36576" marB="36576" anchor="ctr">
                    <a:solidFill>
                      <a:srgbClr val="EAF8FA"/>
                    </a:solidFill>
                  </a:tcPr>
                </a:tc>
                <a:tc>
                  <a:txBody>
                    <a:bodyPr wrap="square"/>
                    <a:lstStyle/>
                    <a:p>
                      <a:pPr algn="ctr"/>
                      <a:r>
                        <a:rPr sz="1100" b="0" i="0">
                          <a:solidFill>
                            <a:srgbClr val="14313B"/>
                          </a:solidFill>
                          <a:latin typeface="Calibri (MS)"/>
                        </a:rPr>
                        <a:t>158,1</a:t>
                      </a:r>
                    </a:p>
                  </a:txBody>
                  <a:tcPr marL="73152" marR="73152" marT="36576" marB="36576" anchor="ctr">
                    <a:solidFill>
                      <a:srgbClr val="EAF8FA"/>
                    </a:solidFill>
                  </a:tcPr>
                </a:tc>
                <a:tc>
                  <a:txBody>
                    <a:bodyPr wrap="square"/>
                    <a:lstStyle/>
                    <a:p>
                      <a:pPr algn="ctr"/>
                      <a:r>
                        <a:rPr sz="1100" b="0" i="0">
                          <a:solidFill>
                            <a:srgbClr val="14313B"/>
                          </a:solidFill>
                          <a:latin typeface="Calibri (MS)"/>
                        </a:rPr>
                        <a:t>128,9</a:t>
                      </a:r>
                    </a:p>
                  </a:txBody>
                  <a:tcPr marL="73152" marR="73152" marT="36576" marB="36576" anchor="ctr">
                    <a:solidFill>
                      <a:srgbClr val="EAF8FA"/>
                    </a:solidFill>
                  </a:tcPr>
                </a:tc>
                <a:tc>
                  <a:txBody>
                    <a:bodyPr wrap="square"/>
                    <a:lstStyle/>
                    <a:p>
                      <a:pPr algn="ctr"/>
                      <a:r>
                        <a:rPr sz="1100" b="0" i="0">
                          <a:solidFill>
                            <a:srgbClr val="14313B"/>
                          </a:solidFill>
                          <a:latin typeface="Calibri (MS)"/>
                        </a:rPr>
                        <a:t>187,3</a:t>
                      </a:r>
                    </a:p>
                  </a:txBody>
                  <a:tcPr marL="73152" marR="73152" marT="36576" marB="36576" anchor="ctr">
                    <a:solidFill>
                      <a:srgbClr val="EAF8FA"/>
                    </a:solidFill>
                  </a:tcPr>
                </a:tc>
              </a:tr>
              <a:tr h="402336">
                <a:tc>
                  <a:txBody>
                    <a:bodyPr wrap="square"/>
                    <a:lstStyle/>
                    <a:p>
                      <a:pPr algn="ctr"/>
                      <a:r>
                        <a:rPr sz="1100" b="0" i="0">
                          <a:solidFill>
                            <a:srgbClr val="14313B"/>
                          </a:solidFill>
                          <a:latin typeface="Calibri (MS)"/>
                        </a:rPr>
                        <a:t>2017</a:t>
                      </a:r>
                    </a:p>
                  </a:txBody>
                  <a:tcPr marL="73152" marR="73152" marT="36576" marB="36576" anchor="ctr">
                    <a:solidFill>
                      <a:srgbClr val="FFFFFF"/>
                    </a:solidFill>
                  </a:tcPr>
                </a:tc>
                <a:tc>
                  <a:txBody>
                    <a:bodyPr wrap="square"/>
                    <a:lstStyle/>
                    <a:p>
                      <a:pPr algn="ctr"/>
                      <a:r>
                        <a:rPr sz="1100" b="0" i="0">
                          <a:solidFill>
                            <a:srgbClr val="14313B"/>
                          </a:solidFill>
                          <a:latin typeface="Calibri (MS)"/>
                        </a:rPr>
                        <a:t>1,438</a:t>
                      </a:r>
                    </a:p>
                  </a:txBody>
                  <a:tcPr marL="73152" marR="73152" marT="36576" marB="36576" anchor="ctr">
                    <a:solidFill>
                      <a:srgbClr val="FFFFFF"/>
                    </a:solidFill>
                  </a:tcPr>
                </a:tc>
                <a:tc>
                  <a:txBody>
                    <a:bodyPr wrap="square"/>
                    <a:lstStyle/>
                    <a:p>
                      <a:pPr algn="ctr"/>
                      <a:r>
                        <a:rPr sz="1100" b="0" i="0">
                          <a:solidFill>
                            <a:srgbClr val="14313B"/>
                          </a:solidFill>
                          <a:latin typeface="Calibri (MS)"/>
                        </a:rPr>
                        <a:t>171,4</a:t>
                      </a:r>
                    </a:p>
                  </a:txBody>
                  <a:tcPr marL="73152" marR="73152" marT="36576" marB="36576" anchor="ctr">
                    <a:solidFill>
                      <a:srgbClr val="FFFFFF"/>
                    </a:solidFill>
                  </a:tcPr>
                </a:tc>
                <a:tc>
                  <a:txBody>
                    <a:bodyPr wrap="square"/>
                    <a:lstStyle/>
                    <a:p>
                      <a:pPr algn="ctr"/>
                      <a:r>
                        <a:rPr sz="1100" b="0" i="0">
                          <a:solidFill>
                            <a:srgbClr val="14313B"/>
                          </a:solidFill>
                          <a:latin typeface="Calibri (MS)"/>
                        </a:rPr>
                        <a:t>146,4</a:t>
                      </a:r>
                    </a:p>
                  </a:txBody>
                  <a:tcPr marL="73152" marR="73152" marT="36576" marB="36576" anchor="ctr">
                    <a:solidFill>
                      <a:srgbClr val="FFFFFF"/>
                    </a:solidFill>
                  </a:tcPr>
                </a:tc>
                <a:tc>
                  <a:txBody>
                    <a:bodyPr wrap="square"/>
                    <a:lstStyle/>
                    <a:p>
                      <a:pPr algn="ctr"/>
                      <a:r>
                        <a:rPr sz="1100" b="0" i="0">
                          <a:solidFill>
                            <a:srgbClr val="14313B"/>
                          </a:solidFill>
                          <a:latin typeface="Calibri (MS)"/>
                        </a:rPr>
                        <a:t>196,3</a:t>
                      </a:r>
                    </a:p>
                  </a:txBody>
                  <a:tcPr marL="73152" marR="73152" marT="36576" marB="36576" anchor="ctr">
                    <a:solidFill>
                      <a:srgbClr val="FFFFFF"/>
                    </a:solidFill>
                  </a:tcPr>
                </a:tc>
              </a:tr>
              <a:tr h="402336">
                <a:tc>
                  <a:txBody>
                    <a:bodyPr wrap="square"/>
                    <a:lstStyle/>
                    <a:p>
                      <a:pPr algn="ctr"/>
                      <a:r>
                        <a:rPr sz="1100" b="0" i="0">
                          <a:solidFill>
                            <a:srgbClr val="14313B"/>
                          </a:solidFill>
                          <a:latin typeface="Calibri (MS)"/>
                        </a:rPr>
                        <a:t>2025</a:t>
                      </a:r>
                    </a:p>
                  </a:txBody>
                  <a:tcPr marL="73152" marR="73152" marT="36576" marB="36576" anchor="ctr">
                    <a:solidFill>
                      <a:srgbClr val="EAF8FA"/>
                    </a:solidFill>
                  </a:tcPr>
                </a:tc>
                <a:tc>
                  <a:txBody>
                    <a:bodyPr wrap="square"/>
                    <a:lstStyle/>
                    <a:p>
                      <a:pPr algn="ctr"/>
                      <a:r>
                        <a:rPr sz="1100" b="0" i="0">
                          <a:solidFill>
                            <a:srgbClr val="14313B"/>
                          </a:solidFill>
                          <a:latin typeface="Calibri (MS)"/>
                        </a:rPr>
                        <a:t>2,288</a:t>
                      </a:r>
                    </a:p>
                  </a:txBody>
                  <a:tcPr marL="73152" marR="73152" marT="36576" marB="36576" anchor="ctr">
                    <a:solidFill>
                      <a:srgbClr val="EAF8FA"/>
                    </a:solidFill>
                  </a:tcPr>
                </a:tc>
                <a:tc>
                  <a:txBody>
                    <a:bodyPr wrap="square"/>
                    <a:lstStyle/>
                    <a:p>
                      <a:pPr algn="ctr"/>
                      <a:r>
                        <a:rPr sz="1100" b="0" i="0">
                          <a:solidFill>
                            <a:srgbClr val="14313B"/>
                          </a:solidFill>
                          <a:latin typeface="Calibri (MS)"/>
                        </a:rPr>
                        <a:t>200,7</a:t>
                      </a:r>
                    </a:p>
                  </a:txBody>
                  <a:tcPr marL="73152" marR="73152" marT="36576" marB="36576" anchor="ctr">
                    <a:solidFill>
                      <a:srgbClr val="EAF8FA"/>
                    </a:solidFill>
                  </a:tcPr>
                </a:tc>
                <a:tc>
                  <a:txBody>
                    <a:bodyPr wrap="square"/>
                    <a:lstStyle/>
                    <a:p>
                      <a:pPr algn="ctr"/>
                      <a:r>
                        <a:rPr sz="1100" b="0" i="0">
                          <a:solidFill>
                            <a:srgbClr val="14313B"/>
                          </a:solidFill>
                          <a:latin typeface="Calibri (MS)"/>
                        </a:rPr>
                        <a:t>176,7</a:t>
                      </a:r>
                    </a:p>
                  </a:txBody>
                  <a:tcPr marL="73152" marR="73152" marT="36576" marB="36576" anchor="ctr">
                    <a:solidFill>
                      <a:srgbClr val="EAF8FA"/>
                    </a:solidFill>
                  </a:tcPr>
                </a:tc>
                <a:tc>
                  <a:txBody>
                    <a:bodyPr wrap="square"/>
                    <a:lstStyle/>
                    <a:p>
                      <a:pPr algn="ctr"/>
                      <a:r>
                        <a:rPr sz="1100" b="0" i="0">
                          <a:solidFill>
                            <a:srgbClr val="14313B"/>
                          </a:solidFill>
                          <a:latin typeface="Calibri (MS)"/>
                        </a:rPr>
                        <a:t>224,8</a:t>
                      </a:r>
                    </a:p>
                  </a:txBody>
                  <a:tcPr marL="73152" marR="73152" marT="36576" marB="36576" anchor="ctr">
                    <a:solidFill>
                      <a:srgbClr val="EAF8FA"/>
                    </a:solidFill>
                  </a:tcPr>
                </a:tc>
              </a:tr>
            </a:tbl>
          </a:graphicData>
        </a:graphic>
      </p:graphicFrame>
      <p:sp>
        <p:nvSpPr>
          <p:cNvPr id="33" name="Rounded Rectangle 32"/>
          <p:cNvSpPr/>
          <p:nvPr/>
        </p:nvSpPr>
        <p:spPr>
          <a:xfrm>
            <a:off x="11978640" y="4526280"/>
            <a:ext cx="548640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050" b="0" i="0">
                <a:solidFill>
                  <a:srgbClr val="14313B"/>
                </a:solidFill>
                <a:latin typeface="Calibri (MS)"/>
              </a:rPr>
              <a:t>NTL 2016 (1,054) di luar rentang data latih (1,483–2,512), sehingga selangnya paling lebar (±58 unit).</a:t>
            </a:r>
          </a:p>
          <a:p>
            <a:pPr algn="l">
              <a:spcAft>
                <a:spcPts val="300"/>
              </a:spcAft>
            </a:pPr>
            <a:r>
              <a:rPr sz="1050" b="0" i="0">
                <a:solidFill>
                  <a:srgbClr val="14313B"/>
                </a:solidFill>
                <a:latin typeface="Calibri (MS)"/>
              </a:rPr>
              <a:t>Selang 2025 tersempit karena NTL dekat rata-rata data latih.</a:t>
            </a:r>
          </a:p>
        </p:txBody>
      </p:sp>
      <p:sp>
        <p:nvSpPr>
          <p:cNvPr id="34" name="Rounded Rectangle 33"/>
          <p:cNvSpPr/>
          <p:nvPr/>
        </p:nvSpPr>
        <p:spPr>
          <a:xfrm>
            <a:off x="822960" y="5897880"/>
            <a:ext cx="108813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Bacaan</a:t>
            </a:r>
          </a:p>
        </p:txBody>
      </p:sp>
      <p:sp>
        <p:nvSpPr>
          <p:cNvPr id="35" name="TextBox 34"/>
          <p:cNvSpPr txBox="1"/>
          <p:nvPr/>
        </p:nvSpPr>
        <p:spPr>
          <a:xfrm>
            <a:off x="822960" y="6400800"/>
            <a:ext cx="10881360" cy="1737360"/>
          </a:xfrm>
          <a:prstGeom prst="rect">
            <a:avLst/>
          </a:prstGeom>
          <a:noFill/>
        </p:spPr>
        <p:txBody>
          <a:bodyPr wrap="square" anchor="t" lIns="0" rIns="0" tIns="0" bIns="0">
            <a:spAutoFit/>
          </a:bodyPr>
          <a:lstStyle/>
          <a:p>
            <a:pPr algn="l">
              <a:spcAft>
                <a:spcPts val="400"/>
              </a:spcAft>
            </a:pPr>
            <a:r>
              <a:rPr sz="1100" b="1" i="0">
                <a:solidFill>
                  <a:srgbClr val="0B5E6E"/>
                </a:solidFill>
                <a:latin typeface="Calibri (MS) Bold"/>
              </a:rPr>
              <a:t>•  </a:t>
            </a:r>
            <a:r>
              <a:rPr sz="1100" b="0" i="0">
                <a:solidFill>
                  <a:srgbClr val="14313B"/>
                </a:solidFill>
                <a:latin typeface="Calibri (MS)"/>
              </a:rPr>
              <a:t>R² level (0,785) jauh di atas R² selisih (0,405): sebagian korelasi level berasal dari tren bersama, sehingga penilaian memakai R² selisih.</a:t>
            </a:r>
          </a:p>
          <a:p>
            <a:pPr algn="l">
              <a:spcAft>
                <a:spcPts val="400"/>
              </a:spcAft>
            </a:pPr>
            <a:r>
              <a:rPr sz="1100" b="1" i="0">
                <a:solidFill>
                  <a:srgbClr val="0B5E6E"/>
                </a:solidFill>
                <a:latin typeface="Calibri (MS) Bold"/>
              </a:rPr>
              <a:t>•  </a:t>
            </a:r>
            <a:r>
              <a:rPr sz="1100" b="0" i="0">
                <a:solidFill>
                  <a:srgbClr val="14313B"/>
                </a:solidFill>
                <a:latin typeface="Calibri (MS)"/>
              </a:rPr>
              <a:t>Galat terbesar pada 2022 (−8,2%) dan 2024 (−8,9%), bertepatan dengan NTL stagnan sementara ODTW naik.</a:t>
            </a:r>
          </a:p>
          <a:p>
            <a:pPr algn="l">
              <a:spcAft>
                <a:spcPts val="400"/>
              </a:spcAft>
            </a:pPr>
            <a:r>
              <a:rPr sz="1100" b="1" i="0">
                <a:solidFill>
                  <a:srgbClr val="0B5E6E"/>
                </a:solidFill>
                <a:latin typeface="Calibri (MS) Bold"/>
              </a:rPr>
              <a:t>•  </a:t>
            </a:r>
            <a:r>
              <a:rPr sz="1100" b="0" i="0">
                <a:solidFill>
                  <a:srgbClr val="14313B"/>
                </a:solidFill>
                <a:latin typeface="Calibri (MS)"/>
              </a:rPr>
              <a:t>ODTW 2025 (201) turun dari 218 pada 2024; selisihnya sedikit di atas 1 × RMSE, sehingga tetap dipakai dan diuji sensitivitas 189–218.</a:t>
            </a:r>
          </a:p>
        </p:txBody>
      </p:sp>
      <p:sp>
        <p:nvSpPr>
          <p:cNvPr id="36" name="Rounded Rectangle 35"/>
          <p:cNvSpPr/>
          <p:nvPr/>
        </p:nvSpPr>
        <p:spPr>
          <a:xfrm>
            <a:off x="822960" y="8366760"/>
            <a:ext cx="16642080" cy="5486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Dipakai  </a:t>
            </a:r>
            <a:r>
              <a:rPr sz="1200" b="0" i="0">
                <a:solidFill>
                  <a:srgbClr val="14313B"/>
                </a:solidFill>
                <a:latin typeface="Calibri (MS)"/>
              </a:rPr>
              <a:t>Nilai yang dipakai di model: 2015 = 165, 2016 = 158, 2017 = 171, 2025 = 201 (dibulatkan).</a:t>
            </a:r>
          </a:p>
        </p:txBody>
      </p:sp>
      <p:sp>
        <p:nvSpPr>
          <p:cNvPr id="37" name="TextBox 3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4.2.1 (Tabel 29–30); LOOCV_NTL_ODTW.csv, Pengujian_NTL_ODTW.csv (repository).</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56082"/>
            <a:ext cx="16637508" cy="1344930"/>
          </a:xfrm>
          <a:prstGeom prst="rect">
            <a:avLst/>
          </a:prstGeom>
        </p:spPr>
        <p:txBody>
          <a:bodyPr anchor="t" rtlCol="false" tIns="0" lIns="0" bIns="0" rIns="0">
            <a:spAutoFit/>
          </a:bodyPr>
          <a:lstStyle/>
          <a:p>
            <a:pPr algn="l">
              <a:lnSpc>
                <a:spcPts val="3840"/>
              </a:lnSpc>
            </a:pPr>
            <a:r>
              <a:rPr lang="en-US" sz="2800" b="true">
                <a:solidFill>
                  <a:srgbClr val="0B5E6E"/>
                </a:solidFill>
                <a:latin typeface="Calibri (MS) Bold"/>
                <a:ea typeface="Calibri (MS) Bold"/>
                <a:cs typeface="Calibri (MS) Bold"/>
                <a:sym typeface="Calibri (MS) Bold"/>
              </a:rPr>
              <a:t>Lampiran 18 · Estimasi Jumlah ODTW — Hasil Estimasi dan Data Aktual</a:t>
            </a:r>
          </a:p>
          <a:p>
            <a:pPr algn="l">
              <a:lnSpc>
                <a:spcPts val="2279"/>
              </a:lnSpc>
            </a:pPr>
            <a:r>
              <a:rPr lang="en-US" sz="1899">
                <a:solidFill>
                  <a:srgbClr val="4A5A63"/>
                </a:solidFill>
                <a:latin typeface="Calibri (MS)"/>
                <a:ea typeface="Calibri (MS)"/>
                <a:cs typeface="Calibri (MS)"/>
                <a:sym typeface="Calibri (MS)"/>
              </a:rPr>
              <a:t>Data ODTW 2015–2025: tahun berdata BPS memakai data aktual, tahun kosong diisi estimasi dari NTL</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0" id="80"/>
          <p:cNvSpPr txBox="true"/>
          <p:nvPr/>
        </p:nvSpPr>
        <p:spPr>
          <a:xfrm rot="0">
            <a:off x="16550640" y="9604248"/>
            <a:ext cx="818388" cy="3810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grpSp>
        <p:nvGrpSpPr>
          <p:cNvPr name="Group 81" id="81"/>
          <p:cNvGrpSpPr/>
          <p:nvPr/>
        </p:nvGrpSpPr>
        <p:grpSpPr>
          <a:xfrm rot="0">
            <a:off x="12755880" y="274320"/>
            <a:ext cx="3931920" cy="411480"/>
            <a:chOff x="0" y="0"/>
            <a:chExt cx="5242560" cy="548640"/>
          </a:xfrm>
        </p:grpSpPr>
        <p:sp>
          <p:nvSpPr>
            <p:cNvPr name="Freeform 82" id="8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060" r="0" b="-136062"/>
              </a:stretch>
            </a:blipFill>
          </p:spPr>
        </p:sp>
      </p:grpSp>
      <p:grpSp>
        <p:nvGrpSpPr>
          <p:cNvPr name="Group 83" id="83"/>
          <p:cNvGrpSpPr/>
          <p:nvPr/>
        </p:nvGrpSpPr>
        <p:grpSpPr>
          <a:xfrm rot="0">
            <a:off x="12755880" y="252889"/>
            <a:ext cx="3931920" cy="432911"/>
            <a:chOff x="0" y="0"/>
            <a:chExt cx="5242560" cy="577215"/>
          </a:xfrm>
        </p:grpSpPr>
        <p:sp>
          <p:nvSpPr>
            <p:cNvPr name="Freeform 84" id="84"/>
            <p:cNvSpPr/>
            <p:nvPr/>
          </p:nvSpPr>
          <p:spPr>
            <a:xfrm flipH="false" flipV="false" rot="0">
              <a:off x="0" y="0"/>
              <a:ext cx="5242560" cy="577215"/>
            </a:xfrm>
            <a:custGeom>
              <a:avLst/>
              <a:gdLst/>
              <a:ahLst/>
              <a:cxnLst/>
              <a:rect r="r" b="b" t="t" l="l"/>
              <a:pathLst>
                <a:path h="577215" w="5242560">
                  <a:moveTo>
                    <a:pt x="0" y="0"/>
                  </a:moveTo>
                  <a:lnTo>
                    <a:pt x="5242560" y="0"/>
                  </a:lnTo>
                  <a:lnTo>
                    <a:pt x="5242560" y="577215"/>
                  </a:lnTo>
                  <a:lnTo>
                    <a:pt x="0" y="577215"/>
                  </a:lnTo>
                  <a:close/>
                </a:path>
              </a:pathLst>
            </a:custGeom>
            <a:blipFill>
              <a:blip r:embed="rId7">
                <a:alphaModFix amt="0"/>
              </a:blip>
              <a:stretch>
                <a:fillRect l="0" t="-126973" r="0" b="-126973"/>
              </a:stretch>
            </a:blipFill>
          </p:spPr>
        </p:sp>
        <p:sp>
          <p:nvSpPr>
            <p:cNvPr name="TextBox 85" id="85"/>
            <p:cNvSpPr txBox="true"/>
            <p:nvPr/>
          </p:nvSpPr>
          <p:spPr>
            <a:xfrm>
              <a:off x="0" y="-28575"/>
              <a:ext cx="5242560" cy="605790"/>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name="Table 86" id="86"/>
          <p:cNvGraphicFramePr>
            <a:graphicFrameLocks noGrp="true"/>
          </p:cNvGraphicFramePr>
          <p:nvPr/>
        </p:nvGraphicFramePr>
        <p:xfrm>
          <a:off x="822960" y="1828800"/>
          <a:ext cx="16637508" cy="6546503"/>
        </p:xfrm>
        <a:graphic>
          <a:graphicData uri="http://schemas.openxmlformats.org/drawingml/2006/table">
            <a:tbl>
              <a:tblPr/>
              <a:tblGrid>
                <a:gridCol w="1373739"/>
                <a:gridCol w="1526376"/>
                <a:gridCol w="2671160"/>
                <a:gridCol w="2671160"/>
                <a:gridCol w="3434348"/>
                <a:gridCol w="2518521"/>
                <a:gridCol w="2442203"/>
              </a:tblGrid>
              <a:tr h="695856">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ODTW aktual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Hasil regresi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Selang prediksi 95%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Dipakai di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ctr">
                        <a:lnSpc>
                          <a:spcPts val="1655"/>
                        </a:lnSpc>
                        <a:defRPr/>
                      </a:pPr>
                      <a:r>
                        <a:rPr lang="en-US" sz="1380" b="true">
                          <a:solidFill>
                            <a:srgbClr val="FFFFFF"/>
                          </a:solidFill>
                          <a:latin typeface="Calibri (MS) Bold"/>
                          <a:ea typeface="Calibri (MS) Bold"/>
                          <a:cs typeface="Calibri (MS) Bold"/>
                          <a:sym typeface="Calibri (MS) Bold"/>
                        </a:rPr>
                        <a:t>Status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1,262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165,2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138,5 – 191,9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165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9A6B00"/>
                          </a:solidFill>
                          <a:latin typeface="Calibri (MS) Bold"/>
                          <a:ea typeface="Calibri (MS) Bold"/>
                          <a:cs typeface="Calibri (MS) Bold"/>
                          <a:sym typeface="Calibri (MS) Bold"/>
                        </a:rPr>
                        <a:t>Estimasi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158,1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128,9 – 187,3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9A6B00"/>
                          </a:solidFill>
                          <a:latin typeface="Calibri (MS) Bold"/>
                          <a:ea typeface="Calibri (MS) Bold"/>
                          <a:cs typeface="Calibri (MS) Bold"/>
                          <a:sym typeface="Calibri (MS) Bold"/>
                        </a:rPr>
                        <a:t>Estimasi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1,438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171,4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146,4 – 196,3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171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9A6B00"/>
                          </a:solidFill>
                          <a:latin typeface="Calibri (MS) Bold"/>
                          <a:ea typeface="Calibri (MS) Bold"/>
                          <a:cs typeface="Calibri (MS) Bold"/>
                          <a:sym typeface="Calibri (MS) Bold"/>
                        </a:rPr>
                        <a:t>Estimasi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1,668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179,3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189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191,0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189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1,828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184,8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1,541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1,483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172,9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183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2,512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208,5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201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2,457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206,6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218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Data BPS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31877">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200,7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a:solidFill>
                            <a:srgbClr val="14313B"/>
                          </a:solidFill>
                          <a:latin typeface="Calibri (MS)"/>
                          <a:ea typeface="Calibri (MS)"/>
                          <a:cs typeface="Calibri (MS)"/>
                          <a:sym typeface="Calibri (MS)"/>
                        </a:rPr>
                        <a:t>176,7 – 224,8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14313B"/>
                          </a:solidFill>
                          <a:latin typeface="Calibri (MS) Bold"/>
                          <a:ea typeface="Calibri (MS) Bold"/>
                          <a:cs typeface="Calibri (MS) Bold"/>
                          <a:sym typeface="Calibri (MS) Bold"/>
                        </a:rPr>
                        <a:t>201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ctr">
                        <a:lnSpc>
                          <a:spcPts val="1655"/>
                        </a:lnSpc>
                        <a:defRPr/>
                      </a:pPr>
                      <a:r>
                        <a:rPr lang="en-US" sz="1380" b="true">
                          <a:solidFill>
                            <a:srgbClr val="9A6B00"/>
                          </a:solidFill>
                          <a:latin typeface="Calibri (MS) Bold"/>
                          <a:ea typeface="Calibri (MS) Bold"/>
                          <a:cs typeface="Calibri (MS) Bold"/>
                          <a:sym typeface="Calibri (MS) Bold"/>
                        </a:rPr>
                        <a:t>Estimasi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r>
            </a:tbl>
          </a:graphicData>
        </a:graphic>
      </p:graphicFrame>
      <p:grpSp>
        <p:nvGrpSpPr>
          <p:cNvPr name="Group 87" id="87"/>
          <p:cNvGrpSpPr/>
          <p:nvPr/>
        </p:nvGrpSpPr>
        <p:grpSpPr>
          <a:xfrm rot="0">
            <a:off x="822960" y="8610600"/>
            <a:ext cx="16637508" cy="744220"/>
            <a:chOff x="0" y="0"/>
            <a:chExt cx="22183344" cy="992293"/>
          </a:xfrm>
        </p:grpSpPr>
        <p:sp>
          <p:nvSpPr>
            <p:cNvPr name="Freeform 88" id="88"/>
            <p:cNvSpPr/>
            <p:nvPr/>
          </p:nvSpPr>
          <p:spPr>
            <a:xfrm flipH="false" flipV="false" rot="0">
              <a:off x="0" y="0"/>
              <a:ext cx="22183285" cy="992255"/>
            </a:xfrm>
            <a:custGeom>
              <a:avLst/>
              <a:gdLst/>
              <a:ahLst/>
              <a:cxnLst/>
              <a:rect r="r" b="b" t="t" l="l"/>
              <a:pathLst>
                <a:path h="992255" w="22183285">
                  <a:moveTo>
                    <a:pt x="0" y="79375"/>
                  </a:moveTo>
                  <a:cubicBezTo>
                    <a:pt x="0" y="35560"/>
                    <a:pt x="55710" y="0"/>
                    <a:pt x="124354" y="0"/>
                  </a:cubicBezTo>
                  <a:lnTo>
                    <a:pt x="22058933" y="0"/>
                  </a:lnTo>
                  <a:cubicBezTo>
                    <a:pt x="22127573" y="0"/>
                    <a:pt x="22183285" y="35560"/>
                    <a:pt x="22183285" y="79375"/>
                  </a:cubicBezTo>
                  <a:lnTo>
                    <a:pt x="22183285" y="912880"/>
                  </a:lnTo>
                  <a:cubicBezTo>
                    <a:pt x="22183285" y="956695"/>
                    <a:pt x="22127573" y="992255"/>
                    <a:pt x="22058933" y="992255"/>
                  </a:cubicBezTo>
                  <a:lnTo>
                    <a:pt x="124354" y="992255"/>
                  </a:lnTo>
                  <a:cubicBezTo>
                    <a:pt x="55710" y="992255"/>
                    <a:pt x="0" y="956695"/>
                    <a:pt x="0" y="912880"/>
                  </a:cubicBezTo>
                  <a:close/>
                </a:path>
              </a:pathLst>
            </a:custGeom>
            <a:solidFill>
              <a:srgbClr val="FFF1BF"/>
            </a:solidFill>
            <a:ln w="12700" cap="sq">
              <a:solidFill>
                <a:srgbClr val="FFD23B"/>
              </a:solidFill>
              <a:prstDash val="solid"/>
              <a:miter/>
            </a:ln>
          </p:spPr>
        </p:sp>
        <p:sp>
          <p:nvSpPr>
            <p:cNvPr name="TextBox 89" id="89"/>
            <p:cNvSpPr txBox="true"/>
            <p:nvPr/>
          </p:nvSpPr>
          <p:spPr>
            <a:xfrm>
              <a:off x="0" y="-28575"/>
              <a:ext cx="22183344" cy="1020868"/>
            </a:xfrm>
            <a:prstGeom prst="rect">
              <a:avLst/>
            </a:prstGeom>
          </p:spPr>
          <p:txBody>
            <a:bodyPr anchor="ctr" rtlCol="false" tIns="50800" lIns="50800" bIns="50800" rIns="50800"/>
            <a:lstStyle/>
            <a:p>
              <a:pPr algn="l">
                <a:lnSpc>
                  <a:spcPts val="1655"/>
                </a:lnSpc>
              </a:pPr>
              <a:r>
                <a:rPr lang="en-US" sz="1380" b="true">
                  <a:solidFill>
                    <a:srgbClr val="0B5E6E"/>
                  </a:solidFill>
                  <a:latin typeface="Calibri (MS) Bold"/>
                  <a:ea typeface="Calibri (MS) Bold"/>
                  <a:cs typeface="Calibri (MS) Bold"/>
                  <a:sym typeface="Calibri (MS) Bold"/>
                </a:rPr>
                <a:t>Catatan  </a:t>
              </a:r>
              <a:r>
                <a:rPr lang="en-US" sz="1380">
                  <a:solidFill>
                    <a:srgbClr val="14313B"/>
                  </a:solidFill>
                  <a:latin typeface="Calibri (MS)"/>
                  <a:ea typeface="Calibri (MS)"/>
                  <a:cs typeface="Calibri (MS)"/>
                  <a:sym typeface="Calibri (MS)"/>
                </a:rPr>
                <a:t>Kolom "Hasil regresi NTL" pada tahun berdata BPS hanya pembanding; model tetap memakai data aktual BPS.</a:t>
              </a:r>
            </a:p>
          </p:txBody>
        </p:sp>
      </p:gr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19 · Proses Estimasi Lahan Terbangun dan Rumus Uji Akurasi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Luas dibaca langsung dari peta; uji akurasi dan diagnosis hanya untuk menilai kelayakan, tidak mengubah nilai</a:t>
            </a:r>
          </a:p>
        </p:txBody>
      </p:sp>
      <p:sp>
        <p:nvSpPr>
          <p:cNvPr id="27" name="Rounded Rectangle 26"/>
          <p:cNvSpPr/>
          <p:nvPr/>
        </p:nvSpPr>
        <p:spPr>
          <a:xfrm>
            <a:off x="8229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Ekstraksi DW</a:t>
            </a:r>
          </a:p>
          <a:p>
            <a:pPr algn="ctr">
              <a:spcAft>
                <a:spcPts val="300"/>
              </a:spcAft>
            </a:pPr>
            <a:r>
              <a:rPr sz="950" b="0" i="0">
                <a:solidFill>
                  <a:srgbClr val="14313B"/>
                </a:solidFill>
                <a:latin typeface="Calibri (MS)"/>
              </a:rPr>
              <a:t>2016–2025, ambang 0,5</a:t>
            </a:r>
          </a:p>
        </p:txBody>
      </p:sp>
      <p:sp>
        <p:nvSpPr>
          <p:cNvPr id="28" name="Right Arrow 27"/>
          <p:cNvSpPr/>
          <p:nvPr/>
        </p:nvSpPr>
        <p:spPr>
          <a:xfrm>
            <a:off x="33863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642359"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Ekstrapolasi 2015</a:t>
            </a:r>
          </a:p>
          <a:p>
            <a:pPr algn="ctr">
              <a:spcAft>
                <a:spcPts val="300"/>
              </a:spcAft>
            </a:pPr>
            <a:r>
              <a:rPr sz="950" b="0" i="0">
                <a:solidFill>
                  <a:srgbClr val="14313B"/>
                </a:solidFill>
                <a:latin typeface="Calibri (MS)"/>
              </a:rPr>
              <a:t>tren log-linear</a:t>
            </a:r>
          </a:p>
        </p:txBody>
      </p:sp>
      <p:sp>
        <p:nvSpPr>
          <p:cNvPr id="30" name="Right Arrow 29"/>
          <p:cNvSpPr/>
          <p:nvPr/>
        </p:nvSpPr>
        <p:spPr>
          <a:xfrm>
            <a:off x="6205727"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617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Uji akurasi</a:t>
            </a:r>
          </a:p>
          <a:p>
            <a:pPr algn="ctr">
              <a:spcAft>
                <a:spcPts val="300"/>
              </a:spcAft>
            </a:pPr>
            <a:r>
              <a:rPr sz="950" b="0" i="0">
                <a:solidFill>
                  <a:srgbClr val="14313B"/>
                </a:solidFill>
                <a:latin typeface="Calibri (MS)"/>
              </a:rPr>
              <a:t>200 titik, 2025</a:t>
            </a:r>
          </a:p>
        </p:txBody>
      </p:sp>
      <p:sp>
        <p:nvSpPr>
          <p:cNvPr id="32" name="Right Arrow 31"/>
          <p:cNvSpPr/>
          <p:nvPr/>
        </p:nvSpPr>
        <p:spPr>
          <a:xfrm>
            <a:off x="90251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Kepekaan ambang</a:t>
            </a:r>
          </a:p>
          <a:p>
            <a:pPr algn="ctr">
              <a:spcAft>
                <a:spcPts val="300"/>
              </a:spcAft>
            </a:pPr>
            <a:r>
              <a:rPr sz="950" b="0" i="0">
                <a:solidFill>
                  <a:srgbClr val="14313B"/>
                </a:solidFill>
                <a:latin typeface="Calibri (MS)"/>
              </a:rPr>
              <a:t>0,30–0,95</a:t>
            </a:r>
          </a:p>
        </p:txBody>
      </p:sp>
      <p:sp>
        <p:nvSpPr>
          <p:cNvPr id="34" name="Right Arrow 33"/>
          <p:cNvSpPr/>
          <p:nvPr/>
        </p:nvSpPr>
        <p:spPr>
          <a:xfrm>
            <a:off x="11844528"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100560" y="1920240"/>
            <a:ext cx="2545080" cy="9601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0B5E6E"/>
                </a:solidFill>
                <a:latin typeface="Calibri (MS) Bold"/>
              </a:rPr>
              <a:t>Diagnosis temporal</a:t>
            </a:r>
          </a:p>
          <a:p>
            <a:pPr algn="ctr">
              <a:spcAft>
                <a:spcPts val="300"/>
              </a:spcAft>
            </a:pPr>
            <a:r>
              <a:rPr sz="950" b="0" i="0">
                <a:solidFill>
                  <a:srgbClr val="14313B"/>
                </a:solidFill>
                <a:latin typeface="Calibri (MS)"/>
              </a:rPr>
              <a:t>jumlah observasi</a:t>
            </a:r>
          </a:p>
        </p:txBody>
      </p:sp>
      <p:sp>
        <p:nvSpPr>
          <p:cNvPr id="36" name="Right Arrow 35"/>
          <p:cNvSpPr/>
          <p:nvPr/>
        </p:nvSpPr>
        <p:spPr>
          <a:xfrm>
            <a:off x="14663927" y="228142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4919959" y="1920240"/>
            <a:ext cx="2545080" cy="9601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50" b="1" i="0">
                <a:solidFill>
                  <a:srgbClr val="FFFFFF"/>
                </a:solidFill>
                <a:latin typeface="Calibri (MS) Bold"/>
              </a:rPr>
              <a:t>Validasi</a:t>
            </a:r>
          </a:p>
          <a:p>
            <a:pPr algn="ctr">
              <a:spcAft>
                <a:spcPts val="300"/>
              </a:spcAft>
            </a:pPr>
            <a:r>
              <a:rPr sz="950" b="0" i="0">
                <a:solidFill>
                  <a:srgbClr val="D7EEF2"/>
                </a:solidFill>
                <a:latin typeface="Calibri (MS)"/>
              </a:rPr>
              <a:t>temporal &amp; spasial</a:t>
            </a:r>
          </a:p>
        </p:txBody>
      </p:sp>
      <p:sp>
        <p:nvSpPr>
          <p:cNvPr id="38" name="Rounded Rectangle 37"/>
          <p:cNvSpPr/>
          <p:nvPr/>
        </p:nvSpPr>
        <p:spPr>
          <a:xfrm>
            <a:off x="822960" y="3154680"/>
            <a:ext cx="8229600" cy="26517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Metrik akurasi (n_ij: peta i, rujukan j; 1 = terbangun)</a:t>
            </a:r>
          </a:p>
          <a:p>
            <a:pPr algn="l">
              <a:spcAft>
                <a:spcPts val="300"/>
              </a:spcAft>
            </a:pPr>
            <a:r>
              <a:rPr sz="1250" b="0" i="1">
                <a:solidFill>
                  <a:srgbClr val="14313B"/>
                </a:solidFill>
                <a:latin typeface="Calibri (MS)"/>
              </a:rPr>
              <a:t>OA = (n₁₁ + n₀₀) ÷ n</a:t>
            </a:r>
          </a:p>
          <a:p>
            <a:pPr algn="l">
              <a:spcAft>
                <a:spcPts val="300"/>
              </a:spcAft>
            </a:pPr>
            <a:r>
              <a:rPr sz="1250" b="0" i="1">
                <a:solidFill>
                  <a:srgbClr val="14313B"/>
                </a:solidFill>
                <a:latin typeface="Calibri (MS)"/>
              </a:rPr>
              <a:t>UA_terbangun = n₁₁ ÷ (n₁₁ + n₁₀)   (precision)</a:t>
            </a:r>
          </a:p>
          <a:p>
            <a:pPr algn="l">
              <a:spcAft>
                <a:spcPts val="300"/>
              </a:spcAft>
            </a:pPr>
            <a:r>
              <a:rPr sz="1250" b="0" i="1">
                <a:solidFill>
                  <a:srgbClr val="14313B"/>
                </a:solidFill>
                <a:latin typeface="Calibri (MS)"/>
              </a:rPr>
              <a:t>PA_terbangun = n₁₁ ÷ (n₁₁ + n₀₁)   (recall)</a:t>
            </a:r>
          </a:p>
          <a:p>
            <a:pPr algn="l">
              <a:spcAft>
                <a:spcPts val="300"/>
              </a:spcAft>
            </a:pPr>
            <a:r>
              <a:rPr sz="1250" b="0" i="1">
                <a:solidFill>
                  <a:srgbClr val="14313B"/>
                </a:solidFill>
                <a:latin typeface="Calibri (MS)"/>
              </a:rPr>
              <a:t>F1 = 2 · UA · PA ÷ (UA + PA)</a:t>
            </a:r>
          </a:p>
          <a:p>
            <a:pPr algn="l">
              <a:spcAft>
                <a:spcPts val="300"/>
              </a:spcAft>
            </a:pPr>
            <a:r>
              <a:rPr sz="1250" b="0" i="1">
                <a:solidFill>
                  <a:srgbClr val="14313B"/>
                </a:solidFill>
                <a:latin typeface="Calibri (MS)"/>
              </a:rPr>
              <a:t>κ = (pₒ − pₑ) ÷ (1 − pₑ)</a:t>
            </a:r>
          </a:p>
        </p:txBody>
      </p:sp>
      <p:sp>
        <p:nvSpPr>
          <p:cNvPr id="39" name="Rounded Rectangle 38"/>
          <p:cNvSpPr/>
          <p:nvPr/>
        </p:nvSpPr>
        <p:spPr>
          <a:xfrm>
            <a:off x="9235440" y="3154680"/>
            <a:ext cx="8229600" cy="26517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OA tertimbang luas (Olofsson et al., 2014) dan diagnosis</a:t>
            </a:r>
          </a:p>
          <a:p>
            <a:pPr algn="l">
              <a:spcAft>
                <a:spcPts val="300"/>
              </a:spcAft>
            </a:pPr>
            <a:r>
              <a:rPr sz="1250" b="0" i="1">
                <a:solidFill>
                  <a:srgbClr val="14313B"/>
                </a:solidFill>
                <a:latin typeface="Calibri (MS)"/>
              </a:rPr>
              <a:t>ÔA = Σᵢ Wᵢ · (nᵢᵢ ÷ nᵢ.),   Wᵢ = Aᵢ ÷ A_total</a:t>
            </a:r>
          </a:p>
          <a:p>
            <a:pPr algn="l">
              <a:spcAft>
                <a:spcPts val="300"/>
              </a:spcAft>
            </a:pPr>
            <a:r>
              <a:rPr sz="1250" b="0" i="1">
                <a:solidFill>
                  <a:srgbClr val="14313B"/>
                </a:solidFill>
                <a:latin typeface="Calibri (MS)"/>
              </a:rPr>
              <a:t>Luasₜ = a + b · Obsₜ</a:t>
            </a:r>
          </a:p>
          <a:p>
            <a:pPr algn="l">
              <a:spcAft>
                <a:spcPts val="300"/>
              </a:spcAft>
            </a:pPr>
            <a:r>
              <a:rPr sz="1250" b="0" i="1">
                <a:solidFill>
                  <a:srgbClr val="14313B"/>
                </a:solidFill>
                <a:latin typeface="Calibri (MS)"/>
              </a:rPr>
              <a:t>Luas_terkoreksi,ₜ = Luasₜ − b · (Obsₜ − Obs_acuan)</a:t>
            </a:r>
          </a:p>
          <a:p>
            <a:pPr algn="l">
              <a:spcAft>
                <a:spcPts val="300"/>
              </a:spcAft>
            </a:pPr>
            <a:r>
              <a:rPr sz="1250" b="0" i="1">
                <a:solidFill>
                  <a:srgbClr val="14313B"/>
                </a:solidFill>
                <a:latin typeface="Calibri (MS)"/>
              </a:rPr>
              <a:t>Syarat: corr(Obs, tahun) tidak signifikan</a:t>
            </a:r>
          </a:p>
        </p:txBody>
      </p:sp>
      <p:graphicFrame>
        <p:nvGraphicFramePr>
          <p:cNvPr id="40" name="Table 39"/>
          <p:cNvGraphicFramePr>
            <a:graphicFrameLocks noGrp="1"/>
          </p:cNvGraphicFramePr>
          <p:nvPr/>
        </p:nvGraphicFramePr>
        <p:xfrm>
          <a:off x="822960" y="5989320"/>
          <a:ext cx="16642080" cy="1920240"/>
        </p:xfrm>
        <a:graphic>
          <a:graphicData uri="http://schemas.openxmlformats.org/drawingml/2006/table">
            <a:tbl>
              <a:tblPr firstRow="1" bandRow="1">
                <a:tableStyleId>{5C22544A-7EE6-4342-B048-85BDC9FD1C3A}</a:tableStyleId>
              </a:tblPr>
              <a:tblGrid>
                <a:gridCol w="2926080"/>
                <a:gridCol w="13716000"/>
              </a:tblGrid>
              <a:tr h="384048">
                <a:tc>
                  <a:txBody>
                    <a:bodyPr wrap="square"/>
                    <a:lstStyle/>
                    <a:p>
                      <a:r>
                        <a:rPr sz="1050" b="1" i="0">
                          <a:solidFill>
                            <a:srgbClr val="FFFFFF"/>
                          </a:solidFill>
                          <a:latin typeface="Calibri (MS) Bold"/>
                        </a:rPr>
                        <a:t>Langkah uji akurasi</a:t>
                      </a:r>
                    </a:p>
                  </a:txBody>
                  <a:tcPr marL="73152" marR="73152" marT="36576" marB="36576" anchor="ctr">
                    <a:solidFill>
                      <a:srgbClr val="0B5E6E"/>
                    </a:solidFill>
                  </a:tcPr>
                </a:tc>
                <a:tc>
                  <a:txBody>
                    <a:bodyPr wrap="square"/>
                    <a:lstStyle/>
                    <a:p>
                      <a:r>
                        <a:rPr sz="1050" b="1" i="0">
                          <a:solidFill>
                            <a:srgbClr val="FFFFFF"/>
                          </a:solidFill>
                          <a:latin typeface="Calibri (MS) Bold"/>
                        </a:rPr>
                        <a:t>Keterangan</a:t>
                      </a:r>
                    </a:p>
                  </a:txBody>
                  <a:tcPr marL="73152" marR="73152" marT="36576" marB="36576" anchor="ctr">
                    <a:solidFill>
                      <a:srgbClr val="0B5E6E"/>
                    </a:solidFill>
                  </a:tcPr>
                </a:tc>
              </a:tr>
              <a:tr h="384048">
                <a:tc>
                  <a:txBody>
                    <a:bodyPr wrap="square"/>
                    <a:lstStyle/>
                    <a:p>
                      <a:r>
                        <a:rPr sz="1050" b="0" i="0">
                          <a:solidFill>
                            <a:srgbClr val="14313B"/>
                          </a:solidFill>
                          <a:latin typeface="Calibri (MS)"/>
                        </a:rPr>
                        <a:t>Sampel</a:t>
                      </a:r>
                    </a:p>
                  </a:txBody>
                  <a:tcPr marL="73152" marR="73152" marT="36576" marB="36576" anchor="ctr">
                    <a:solidFill>
                      <a:srgbClr val="FFFFFF"/>
                    </a:solidFill>
                  </a:tcPr>
                </a:tc>
                <a:tc>
                  <a:txBody>
                    <a:bodyPr wrap="square"/>
                    <a:lstStyle/>
                    <a:p>
                      <a:r>
                        <a:rPr sz="1050" b="0" i="0">
                          <a:solidFill>
                            <a:srgbClr val="14313B"/>
                          </a:solidFill>
                          <a:latin typeface="Calibri (MS)"/>
                        </a:rPr>
                        <a:t>200 titik acak berstratifikasi menurut kelas peta: 100 terbangun, 100 bukan terbangun (tahun 2025)</a:t>
                      </a:r>
                    </a:p>
                  </a:txBody>
                  <a:tcPr marL="73152" marR="73152" marT="36576" marB="36576" anchor="ctr">
                    <a:solidFill>
                      <a:srgbClr val="FFFFFF"/>
                    </a:solidFill>
                  </a:tcPr>
                </a:tc>
              </a:tr>
              <a:tr h="384048">
                <a:tc>
                  <a:txBody>
                    <a:bodyPr wrap="square"/>
                    <a:lstStyle/>
                    <a:p>
                      <a:r>
                        <a:rPr sz="1050" b="0" i="0">
                          <a:solidFill>
                            <a:srgbClr val="14313B"/>
                          </a:solidFill>
                          <a:latin typeface="Calibri (MS)"/>
                        </a:rPr>
                        <a:t>Label rujukan</a:t>
                      </a:r>
                    </a:p>
                  </a:txBody>
                  <a:tcPr marL="73152" marR="73152" marT="36576" marB="36576" anchor="ctr">
                    <a:solidFill>
                      <a:srgbClr val="EAF8FA"/>
                    </a:solidFill>
                  </a:tcPr>
                </a:tc>
                <a:tc>
                  <a:txBody>
                    <a:bodyPr wrap="square"/>
                    <a:lstStyle/>
                    <a:p>
                      <a:r>
                        <a:rPr sz="1050" b="0" i="0">
                          <a:solidFill>
                            <a:srgbClr val="14313B"/>
                          </a:solidFill>
                          <a:latin typeface="Calibri (MS)"/>
                        </a:rPr>
                        <a:t>Interpretasi visual citra resolusi tinggi Google Earth pada titik yang sama</a:t>
                      </a:r>
                    </a:p>
                  </a:txBody>
                  <a:tcPr marL="73152" marR="73152" marT="36576" marB="36576" anchor="ctr">
                    <a:solidFill>
                      <a:srgbClr val="EAF8FA"/>
                    </a:solidFill>
                  </a:tcPr>
                </a:tc>
              </a:tr>
              <a:tr h="384048">
                <a:tc>
                  <a:txBody>
                    <a:bodyPr wrap="square"/>
                    <a:lstStyle/>
                    <a:p>
                      <a:r>
                        <a:rPr sz="1050" b="0" i="0">
                          <a:solidFill>
                            <a:srgbClr val="14313B"/>
                          </a:solidFill>
                          <a:latin typeface="Calibri (MS)"/>
                        </a:rPr>
                        <a:t>Dua versi</a:t>
                      </a:r>
                    </a:p>
                  </a:txBody>
                  <a:tcPr marL="73152" marR="73152" marT="36576" marB="36576" anchor="ctr">
                    <a:solidFill>
                      <a:srgbClr val="FFFFFF"/>
                    </a:solidFill>
                  </a:tcPr>
                </a:tc>
                <a:tc>
                  <a:txBody>
                    <a:bodyPr wrap="square"/>
                    <a:lstStyle/>
                    <a:p>
                      <a:r>
                        <a:rPr sz="1050" b="0" i="0">
                          <a:solidFill>
                            <a:srgbClr val="14313B"/>
                          </a:solidFill>
                          <a:latin typeface="Calibri (MS)"/>
                        </a:rPr>
                        <a:t>Tak tertimbang (deskriptif) dan tertimbang luas (penduga tak bias, karena sampel 50:50 sedangkan luas peta 17:83)</a:t>
                      </a:r>
                    </a:p>
                  </a:txBody>
                  <a:tcPr marL="73152" marR="73152" marT="36576" marB="36576" anchor="ctr">
                    <a:solidFill>
                      <a:srgbClr val="FFFFFF"/>
                    </a:solidFill>
                  </a:tcPr>
                </a:tc>
              </a:tr>
              <a:tr h="384048">
                <a:tc>
                  <a:txBody>
                    <a:bodyPr wrap="square"/>
                    <a:lstStyle/>
                    <a:p>
                      <a:r>
                        <a:rPr sz="1050" b="0" i="0">
                          <a:solidFill>
                            <a:srgbClr val="14313B"/>
                          </a:solidFill>
                          <a:latin typeface="Calibri (MS)"/>
                        </a:rPr>
                        <a:t>Kepekaan ambang</a:t>
                      </a:r>
                    </a:p>
                  </a:txBody>
                  <a:tcPr marL="73152" marR="73152" marT="36576" marB="36576" anchor="ctr">
                    <a:solidFill>
                      <a:srgbClr val="EAF8FA"/>
                    </a:solidFill>
                  </a:tcPr>
                </a:tc>
                <a:tc>
                  <a:txBody>
                    <a:bodyPr wrap="square"/>
                    <a:lstStyle/>
                    <a:p>
                      <a:r>
                        <a:rPr sz="1050" b="0" i="0">
                          <a:solidFill>
                            <a:srgbClr val="14313B"/>
                          </a:solidFill>
                          <a:latin typeface="Calibri (MS)"/>
                        </a:rPr>
                        <a:t>Metrik dihitung pada ambang 0,30–0,95 sebagai diagnosis; ambang 0,5 tetap dipakai agar tidak overfitting</a:t>
                      </a:r>
                    </a:p>
                  </a:txBody>
                  <a:tcPr marL="73152" marR="73152" marT="36576" marB="36576" anchor="ctr">
                    <a:solidFill>
                      <a:srgbClr val="EAF8FA"/>
                    </a:solidFill>
                  </a:tcPr>
                </a:tc>
              </a:tr>
            </a:tbl>
          </a:graphicData>
        </a:graphic>
      </p:graphicFrame>
      <p:sp>
        <p:nvSpPr>
          <p:cNvPr id="41" name="Rounded Rectangle 40"/>
          <p:cNvSpPr/>
          <p:nvPr/>
        </p:nvSpPr>
        <p:spPr>
          <a:xfrm>
            <a:off x="822960" y="8138160"/>
            <a:ext cx="16642080" cy="6400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pₒ = proporsi kesepakatan teramati (= OA); pₑ = proporsi kesepakatan yang diharapkan secara kebetulan. Wᵢ = proporsi luas kelas i pada peta.</a:t>
            </a:r>
          </a:p>
        </p:txBody>
      </p:sp>
      <p:sp>
        <p:nvSpPr>
          <p:cNvPr id="42" name="TextBox 4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3.5.2.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20 · Evaluasi Lahan Terbangun (1/2): Metrik Lengkap</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Akurasi keseluruhan tertimbang luas 89,95%; kesalahan didominasi komisi (bukan terbangun ditandai terbangun)</a:t>
            </a:r>
          </a:p>
        </p:txBody>
      </p:sp>
      <p:sp>
        <p:nvSpPr>
          <p:cNvPr id="27" name="Rounded Rectangle 26"/>
          <p:cNvSpPr/>
          <p:nvPr/>
        </p:nvSpPr>
        <p:spPr>
          <a:xfrm>
            <a:off x="822960" y="1920240"/>
            <a:ext cx="78638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Hasil uji akurasi (tahun 2025)</a:t>
            </a:r>
          </a:p>
        </p:txBody>
      </p:sp>
      <p:graphicFrame>
        <p:nvGraphicFramePr>
          <p:cNvPr id="28" name="Table 27"/>
          <p:cNvGraphicFramePr>
            <a:graphicFrameLocks noGrp="1"/>
          </p:cNvGraphicFramePr>
          <p:nvPr/>
        </p:nvGraphicFramePr>
        <p:xfrm>
          <a:off x="822960" y="2423160"/>
          <a:ext cx="7863840" cy="4023360"/>
        </p:xfrm>
        <a:graphic>
          <a:graphicData uri="http://schemas.openxmlformats.org/drawingml/2006/table">
            <a:tbl>
              <a:tblPr firstRow="1" bandRow="1">
                <a:tableStyleId>{5C22544A-7EE6-4342-B048-85BDC9FD1C3A}</a:tableStyleId>
              </a:tblPr>
              <a:tblGrid>
                <a:gridCol w="3840480"/>
                <a:gridCol w="1645920"/>
                <a:gridCol w="2377440"/>
              </a:tblGrid>
              <a:tr h="402336">
                <a:tc>
                  <a:txBody>
                    <a:bodyPr wrap="square"/>
                    <a:lstStyle/>
                    <a:p>
                      <a:r>
                        <a:rPr sz="1100" b="1" i="0">
                          <a:solidFill>
                            <a:srgbClr val="FFFFFF"/>
                          </a:solidFill>
                          <a:latin typeface="Calibri (MS) Bold"/>
                        </a:rPr>
                        <a:t>Metrik</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Nilai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IK 95%</a:t>
                      </a:r>
                    </a:p>
                  </a:txBody>
                  <a:tcPr marL="73152" marR="73152" marT="36576" marB="36576" anchor="ctr">
                    <a:solidFill>
                      <a:srgbClr val="0B5E6E"/>
                    </a:solidFill>
                  </a:tcPr>
                </a:tc>
              </a:tr>
              <a:tr h="402336">
                <a:tc>
                  <a:txBody>
                    <a:bodyPr wrap="square"/>
                    <a:lstStyle/>
                    <a:p>
                      <a:r>
                        <a:rPr sz="1100" b="0" i="0">
                          <a:solidFill>
                            <a:srgbClr val="14313B"/>
                          </a:solidFill>
                          <a:latin typeface="Calibri (MS)"/>
                        </a:rPr>
                        <a:t>Jumlah titik</a:t>
                      </a:r>
                    </a:p>
                  </a:txBody>
                  <a:tcPr marL="73152" marR="73152" marT="36576" marB="36576" anchor="ctr">
                    <a:solidFill>
                      <a:srgbClr val="FFFFFF"/>
                    </a:solidFill>
                  </a:tcPr>
                </a:tc>
                <a:tc>
                  <a:txBody>
                    <a:bodyPr wrap="square"/>
                    <a:lstStyle/>
                    <a:p>
                      <a:pPr algn="ctr"/>
                      <a:r>
                        <a:rPr sz="1100" b="0" i="0">
                          <a:solidFill>
                            <a:srgbClr val="14313B"/>
                          </a:solidFill>
                          <a:latin typeface="Calibri (MS)"/>
                        </a:rPr>
                        <a:t>200</a:t>
                      </a:r>
                    </a:p>
                  </a:txBody>
                  <a:tcPr marL="73152" marR="73152" marT="36576" marB="36576" anchor="ctr">
                    <a:solidFill>
                      <a:srgbClr val="FFFFFF"/>
                    </a:solidFill>
                  </a:tcPr>
                </a:tc>
                <a:tc>
                  <a:txBody>
                    <a:bodyPr wrap="square"/>
                    <a:lstStyle/>
                    <a:p>
                      <a:pPr algn="ctr"/>
                      <a:r>
                        <a:rPr sz="1100" b="0" i="0">
                          <a:solidFill>
                            <a:srgbClr val="14313B"/>
                          </a:solidFill>
                          <a:latin typeface="Calibri (MS)"/>
                        </a:rPr>
                        <a:t>—</a:t>
                      </a:r>
                    </a:p>
                  </a:txBody>
                  <a:tcPr marL="73152" marR="73152" marT="36576" marB="36576" anchor="ctr">
                    <a:solidFill>
                      <a:srgbClr val="FFFFFF"/>
                    </a:solidFill>
                  </a:tcPr>
                </a:tc>
              </a:tr>
              <a:tr h="402336">
                <a:tc>
                  <a:txBody>
                    <a:bodyPr wrap="square"/>
                    <a:lstStyle/>
                    <a:p>
                      <a:r>
                        <a:rPr sz="1100" b="0" i="0">
                          <a:solidFill>
                            <a:srgbClr val="14313B"/>
                          </a:solidFill>
                          <a:latin typeface="Calibri (MS)"/>
                        </a:rPr>
                        <a:t>Overall accuracy (tak tertimbang)</a:t>
                      </a:r>
                    </a:p>
                  </a:txBody>
                  <a:tcPr marL="73152" marR="73152" marT="36576" marB="36576" anchor="ctr">
                    <a:solidFill>
                      <a:srgbClr val="EAF8FA"/>
                    </a:solidFill>
                  </a:tcPr>
                </a:tc>
                <a:tc>
                  <a:txBody>
                    <a:bodyPr wrap="square"/>
                    <a:lstStyle/>
                    <a:p>
                      <a:pPr algn="ctr"/>
                      <a:r>
                        <a:rPr sz="1100" b="0" i="0">
                          <a:solidFill>
                            <a:srgbClr val="14313B"/>
                          </a:solidFill>
                          <a:latin typeface="Calibri (MS)"/>
                        </a:rPr>
                        <a:t>80,50%</a:t>
                      </a:r>
                    </a:p>
                  </a:txBody>
                  <a:tcPr marL="73152" marR="73152" marT="36576" marB="36576" anchor="ctr">
                    <a:solidFill>
                      <a:srgbClr val="EAF8FA"/>
                    </a:solidFill>
                  </a:tcPr>
                </a:tc>
                <a:tc>
                  <a:txBody>
                    <a:bodyPr wrap="square"/>
                    <a:lstStyle/>
                    <a:p>
                      <a:pPr algn="ctr"/>
                      <a:r>
                        <a:rPr sz="1100" b="0" i="0">
                          <a:solidFill>
                            <a:srgbClr val="14313B"/>
                          </a:solidFill>
                          <a:latin typeface="Calibri (MS)"/>
                        </a:rPr>
                        <a:t>74,46–85,39%</a:t>
                      </a:r>
                    </a:p>
                  </a:txBody>
                  <a:tcPr marL="73152" marR="73152" marT="36576" marB="36576" anchor="ctr">
                    <a:solidFill>
                      <a:srgbClr val="EAF8FA"/>
                    </a:solidFill>
                  </a:tcPr>
                </a:tc>
              </a:tr>
              <a:tr h="402336">
                <a:tc>
                  <a:txBody>
                    <a:bodyPr wrap="square"/>
                    <a:lstStyle/>
                    <a:p>
                      <a:r>
                        <a:rPr sz="1100" b="0" i="0">
                          <a:solidFill>
                            <a:srgbClr val="14313B"/>
                          </a:solidFill>
                          <a:latin typeface="Calibri (MS)"/>
                        </a:rPr>
                        <a:t>Overall accuracy (tertimbang luas)</a:t>
                      </a:r>
                    </a:p>
                  </a:txBody>
                  <a:tcPr marL="73152" marR="73152" marT="36576" marB="36576" anchor="ctr">
                    <a:solidFill>
                      <a:srgbClr val="FFFFFF"/>
                    </a:solidFill>
                  </a:tcPr>
                </a:tc>
                <a:tc>
                  <a:txBody>
                    <a:bodyPr wrap="square"/>
                    <a:lstStyle/>
                    <a:p>
                      <a:pPr algn="ctr"/>
                      <a:r>
                        <a:rPr sz="1100" b="0" i="0">
                          <a:solidFill>
                            <a:srgbClr val="14313B"/>
                          </a:solidFill>
                          <a:latin typeface="Calibri (MS)"/>
                        </a:rPr>
                        <a:t>89,95%</a:t>
                      </a:r>
                    </a:p>
                  </a:txBody>
                  <a:tcPr marL="73152" marR="73152" marT="36576" marB="36576" anchor="ctr">
                    <a:solidFill>
                      <a:srgbClr val="C9F0D6"/>
                    </a:solidFill>
                  </a:tcPr>
                </a:tc>
                <a:tc>
                  <a:txBody>
                    <a:bodyPr wrap="square"/>
                    <a:lstStyle/>
                    <a:p>
                      <a:pPr algn="ctr"/>
                      <a:r>
                        <a:rPr sz="1100" b="0" i="0">
                          <a:solidFill>
                            <a:srgbClr val="14313B"/>
                          </a:solidFill>
                          <a:latin typeface="Calibri (MS)"/>
                        </a:rPr>
                        <a:t>86,05–93,85%</a:t>
                      </a:r>
                    </a:p>
                  </a:txBody>
                  <a:tcPr marL="73152" marR="73152" marT="36576" marB="36576" anchor="ctr">
                    <a:solidFill>
                      <a:srgbClr val="FFFFFF"/>
                    </a:solidFill>
                  </a:tcPr>
                </a:tc>
              </a:tr>
              <a:tr h="402336">
                <a:tc>
                  <a:txBody>
                    <a:bodyPr wrap="square"/>
                    <a:lstStyle/>
                    <a:p>
                      <a:r>
                        <a:rPr sz="1100" b="0" i="0">
                          <a:solidFill>
                            <a:srgbClr val="14313B"/>
                          </a:solidFill>
                          <a:latin typeface="Calibri (MS)"/>
                        </a:rPr>
                        <a:t>User's accuracy – terbangun</a:t>
                      </a:r>
                    </a:p>
                  </a:txBody>
                  <a:tcPr marL="73152" marR="73152" marT="36576" marB="36576" anchor="ctr">
                    <a:solidFill>
                      <a:srgbClr val="EAF8FA"/>
                    </a:solidFill>
                  </a:tcPr>
                </a:tc>
                <a:tc>
                  <a:txBody>
                    <a:bodyPr wrap="square"/>
                    <a:lstStyle/>
                    <a:p>
                      <a:pPr algn="ctr"/>
                      <a:r>
                        <a:rPr sz="1100" b="0" i="0">
                          <a:solidFill>
                            <a:srgbClr val="14313B"/>
                          </a:solidFill>
                          <a:latin typeface="Calibri (MS)"/>
                        </a:rPr>
                        <a:t>66,00%</a:t>
                      </a:r>
                    </a:p>
                  </a:txBody>
                  <a:tcPr marL="73152" marR="73152" marT="36576" marB="36576" anchor="ctr">
                    <a:solidFill>
                      <a:srgbClr val="EAF8FA"/>
                    </a:solidFill>
                  </a:tcPr>
                </a:tc>
                <a:tc>
                  <a:txBody>
                    <a:bodyPr wrap="square"/>
                    <a:lstStyle/>
                    <a:p>
                      <a:pPr algn="ctr"/>
                      <a:r>
                        <a:rPr sz="1100" b="0" i="0">
                          <a:solidFill>
                            <a:srgbClr val="14313B"/>
                          </a:solidFill>
                          <a:latin typeface="Calibri (MS)"/>
                        </a:rPr>
                        <a:t>56,67–75,33%</a:t>
                      </a:r>
                    </a:p>
                  </a:txBody>
                  <a:tcPr marL="73152" marR="73152" marT="36576" marB="36576" anchor="ctr">
                    <a:solidFill>
                      <a:srgbClr val="EAF8FA"/>
                    </a:solidFill>
                  </a:tcPr>
                </a:tc>
              </a:tr>
              <a:tr h="402336">
                <a:tc>
                  <a:txBody>
                    <a:bodyPr wrap="square"/>
                    <a:lstStyle/>
                    <a:p>
                      <a:r>
                        <a:rPr sz="1100" b="0" i="0">
                          <a:solidFill>
                            <a:srgbClr val="14313B"/>
                          </a:solidFill>
                          <a:latin typeface="Calibri (MS)"/>
                        </a:rPr>
                        <a:t>User's accuracy – bukan terbangun</a:t>
                      </a:r>
                    </a:p>
                  </a:txBody>
                  <a:tcPr marL="73152" marR="73152" marT="36576" marB="36576" anchor="ctr">
                    <a:solidFill>
                      <a:srgbClr val="FFFFFF"/>
                    </a:solidFill>
                  </a:tcPr>
                </a:tc>
                <a:tc>
                  <a:txBody>
                    <a:bodyPr wrap="square"/>
                    <a:lstStyle/>
                    <a:p>
                      <a:pPr algn="ctr"/>
                      <a:r>
                        <a:rPr sz="1100" b="0" i="0">
                          <a:solidFill>
                            <a:srgbClr val="14313B"/>
                          </a:solidFill>
                          <a:latin typeface="Calibri (MS)"/>
                        </a:rPr>
                        <a:t>95,00%</a:t>
                      </a:r>
                    </a:p>
                  </a:txBody>
                  <a:tcPr marL="73152" marR="73152" marT="36576" marB="36576" anchor="ctr">
                    <a:solidFill>
                      <a:srgbClr val="FFFFFF"/>
                    </a:solidFill>
                  </a:tcPr>
                </a:tc>
                <a:tc>
                  <a:txBody>
                    <a:bodyPr wrap="square"/>
                    <a:lstStyle/>
                    <a:p>
                      <a:pPr algn="ctr"/>
                      <a:r>
                        <a:rPr sz="1100" b="0" i="0">
                          <a:solidFill>
                            <a:srgbClr val="14313B"/>
                          </a:solidFill>
                          <a:latin typeface="Calibri (MS)"/>
                        </a:rPr>
                        <a:t>90,71–99,29%</a:t>
                      </a:r>
                    </a:p>
                  </a:txBody>
                  <a:tcPr marL="73152" marR="73152" marT="36576" marB="36576" anchor="ctr">
                    <a:solidFill>
                      <a:srgbClr val="FFFFFF"/>
                    </a:solidFill>
                  </a:tcPr>
                </a:tc>
              </a:tr>
              <a:tr h="402336">
                <a:tc>
                  <a:txBody>
                    <a:bodyPr wrap="square"/>
                    <a:lstStyle/>
                    <a:p>
                      <a:r>
                        <a:rPr sz="1100" b="0" i="0">
                          <a:solidFill>
                            <a:srgbClr val="14313B"/>
                          </a:solidFill>
                          <a:latin typeface="Calibri (MS)"/>
                        </a:rPr>
                        <a:t>Producer's accuracy – terbangun</a:t>
                      </a:r>
                    </a:p>
                  </a:txBody>
                  <a:tcPr marL="73152" marR="73152" marT="36576" marB="36576" anchor="ctr">
                    <a:solidFill>
                      <a:srgbClr val="EAF8FA"/>
                    </a:solidFill>
                  </a:tcPr>
                </a:tc>
                <a:tc>
                  <a:txBody>
                    <a:bodyPr wrap="square"/>
                    <a:lstStyle/>
                    <a:p>
                      <a:pPr algn="ctr"/>
                      <a:r>
                        <a:rPr sz="1100" b="0" i="0">
                          <a:solidFill>
                            <a:srgbClr val="14313B"/>
                          </a:solidFill>
                          <a:latin typeface="Calibri (MS)"/>
                        </a:rPr>
                        <a:t>73,58%</a:t>
                      </a:r>
                    </a:p>
                  </a:txBody>
                  <a:tcPr marL="73152" marR="73152" marT="36576" marB="36576" anchor="ctr">
                    <a:solidFill>
                      <a:srgbClr val="EAF8FA"/>
                    </a:solidFill>
                  </a:tcPr>
                </a:tc>
                <a:tc>
                  <a:txBody>
                    <a:bodyPr wrap="square"/>
                    <a:lstStyle/>
                    <a:p>
                      <a:pPr algn="ctr"/>
                      <a:r>
                        <a:rPr sz="1100" b="0" i="0">
                          <a:solidFill>
                            <a:srgbClr val="14313B"/>
                          </a:solidFill>
                          <a:latin typeface="Calibri (MS)"/>
                        </a:rPr>
                        <a:t>56,66–90,50%</a:t>
                      </a:r>
                    </a:p>
                  </a:txBody>
                  <a:tcPr marL="73152" marR="73152" marT="36576" marB="36576" anchor="ctr">
                    <a:solidFill>
                      <a:srgbClr val="EAF8FA"/>
                    </a:solidFill>
                  </a:tcPr>
                </a:tc>
              </a:tr>
              <a:tr h="402336">
                <a:tc>
                  <a:txBody>
                    <a:bodyPr wrap="square"/>
                    <a:lstStyle/>
                    <a:p>
                      <a:r>
                        <a:rPr sz="1100" b="0" i="0">
                          <a:solidFill>
                            <a:srgbClr val="14313B"/>
                          </a:solidFill>
                          <a:latin typeface="Calibri (MS)"/>
                        </a:rPr>
                        <a:t>Producer's accuracy – bukan terbangun</a:t>
                      </a:r>
                    </a:p>
                  </a:txBody>
                  <a:tcPr marL="73152" marR="73152" marT="36576" marB="36576" anchor="ctr">
                    <a:solidFill>
                      <a:srgbClr val="FFFFFF"/>
                    </a:solidFill>
                  </a:tcPr>
                </a:tc>
                <a:tc>
                  <a:txBody>
                    <a:bodyPr wrap="square"/>
                    <a:lstStyle/>
                    <a:p>
                      <a:pPr algn="ctr"/>
                      <a:r>
                        <a:rPr sz="1100" b="0" i="0">
                          <a:solidFill>
                            <a:srgbClr val="14313B"/>
                          </a:solidFill>
                          <a:latin typeface="Calibri (MS)"/>
                        </a:rPr>
                        <a:t>92,98%</a:t>
                      </a:r>
                    </a:p>
                  </a:txBody>
                  <a:tcPr marL="73152" marR="73152" marT="36576" marB="36576" anchor="ctr">
                    <a:solidFill>
                      <a:srgbClr val="FFFFFF"/>
                    </a:solidFill>
                  </a:tcPr>
                </a:tc>
                <a:tc>
                  <a:txBody>
                    <a:bodyPr wrap="square"/>
                    <a:lstStyle/>
                    <a:p>
                      <a:pPr algn="ctr"/>
                      <a:r>
                        <a:rPr sz="1100" b="0" i="0">
                          <a:solidFill>
                            <a:srgbClr val="14313B"/>
                          </a:solidFill>
                          <a:latin typeface="Calibri (MS)"/>
                        </a:rPr>
                        <a:t>91,16–94,80%</a:t>
                      </a:r>
                    </a:p>
                  </a:txBody>
                  <a:tcPr marL="73152" marR="73152" marT="36576" marB="36576" anchor="ctr">
                    <a:solidFill>
                      <a:srgbClr val="FFFFFF"/>
                    </a:solidFill>
                  </a:tcPr>
                </a:tc>
              </a:tr>
              <a:tr h="402336">
                <a:tc>
                  <a:txBody>
                    <a:bodyPr wrap="square"/>
                    <a:lstStyle/>
                    <a:p>
                      <a:r>
                        <a:rPr sz="1100" b="0" i="0">
                          <a:solidFill>
                            <a:srgbClr val="14313B"/>
                          </a:solidFill>
                          <a:latin typeface="Calibri (MS)"/>
                        </a:rPr>
                        <a:t>F1-score terbangun</a:t>
                      </a:r>
                    </a:p>
                  </a:txBody>
                  <a:tcPr marL="73152" marR="73152" marT="36576" marB="36576" anchor="ctr">
                    <a:solidFill>
                      <a:srgbClr val="EAF8FA"/>
                    </a:solidFill>
                  </a:tcPr>
                </a:tc>
                <a:tc>
                  <a:txBody>
                    <a:bodyPr wrap="square"/>
                    <a:lstStyle/>
                    <a:p>
                      <a:pPr algn="ctr"/>
                      <a:r>
                        <a:rPr sz="1100" b="0" i="0">
                          <a:solidFill>
                            <a:srgbClr val="14313B"/>
                          </a:solidFill>
                          <a:latin typeface="Calibri (MS)"/>
                        </a:rPr>
                        <a:t>77,19%</a:t>
                      </a:r>
                    </a:p>
                  </a:txBody>
                  <a:tcPr marL="73152" marR="73152" marT="36576" marB="36576" anchor="ctr">
                    <a:solidFill>
                      <a:srgbClr val="EAF8FA"/>
                    </a:solidFill>
                  </a:tcPr>
                </a:tc>
                <a:tc>
                  <a:txBody>
                    <a:bodyPr wrap="square"/>
                    <a:lstStyle/>
                    <a:p>
                      <a:pPr algn="ctr"/>
                      <a:r>
                        <a:rPr sz="1100" b="0" i="0">
                          <a:solidFill>
                            <a:srgbClr val="14313B"/>
                          </a:solidFill>
                          <a:latin typeface="Calibri (MS)"/>
                        </a:rPr>
                        <a:t>—</a:t>
                      </a:r>
                    </a:p>
                  </a:txBody>
                  <a:tcPr marL="73152" marR="73152" marT="36576" marB="36576" anchor="ctr">
                    <a:solidFill>
                      <a:srgbClr val="EAF8FA"/>
                    </a:solidFill>
                  </a:tcPr>
                </a:tc>
              </a:tr>
              <a:tr h="402336">
                <a:tc>
                  <a:txBody>
                    <a:bodyPr wrap="square"/>
                    <a:lstStyle/>
                    <a:p>
                      <a:r>
                        <a:rPr sz="1100" b="0" i="0">
                          <a:solidFill>
                            <a:srgbClr val="14313B"/>
                          </a:solidFill>
                          <a:latin typeface="Calibri (MS)"/>
                        </a:rPr>
                        <a:t>Koefisien Kappa</a:t>
                      </a:r>
                    </a:p>
                  </a:txBody>
                  <a:tcPr marL="73152" marR="73152" marT="36576" marB="36576" anchor="ctr">
                    <a:solidFill>
                      <a:srgbClr val="FFFFFF"/>
                    </a:solidFill>
                  </a:tcPr>
                </a:tc>
                <a:tc>
                  <a:txBody>
                    <a:bodyPr wrap="square"/>
                    <a:lstStyle/>
                    <a:p>
                      <a:pPr algn="ctr"/>
                      <a:r>
                        <a:rPr sz="1100" b="0" i="0">
                          <a:solidFill>
                            <a:srgbClr val="14313B"/>
                          </a:solidFill>
                          <a:latin typeface="Calibri (MS)"/>
                        </a:rPr>
                        <a:t>0,6100</a:t>
                      </a:r>
                    </a:p>
                  </a:txBody>
                  <a:tcPr marL="73152" marR="73152" marT="36576" marB="36576" anchor="ctr">
                    <a:solidFill>
                      <a:srgbClr val="FFFFFF"/>
                    </a:solidFill>
                  </a:tcPr>
                </a:tc>
                <a:tc>
                  <a:txBody>
                    <a:bodyPr wrap="square"/>
                    <a:lstStyle/>
                    <a:p>
                      <a:pPr algn="ctr"/>
                      <a:r>
                        <a:rPr sz="1100" b="0" i="0">
                          <a:solidFill>
                            <a:srgbClr val="14313B"/>
                          </a:solidFill>
                          <a:latin typeface="Calibri (MS)"/>
                        </a:rPr>
                        <a:t>0,5002–0,7198</a:t>
                      </a:r>
                    </a:p>
                  </a:txBody>
                  <a:tcPr marL="73152" marR="73152" marT="36576" marB="36576" anchor="ctr">
                    <a:solidFill>
                      <a:srgbClr val="FFFFFF"/>
                    </a:solidFill>
                  </a:tcPr>
                </a:tc>
              </a:tr>
            </a:tbl>
          </a:graphicData>
        </a:graphic>
      </p:graphicFrame>
      <p:sp>
        <p:nvSpPr>
          <p:cNvPr id="29" name="Rounded Rectangle 28"/>
          <p:cNvSpPr/>
          <p:nvPr/>
        </p:nvSpPr>
        <p:spPr>
          <a:xfrm>
            <a:off x="8961120" y="1920240"/>
            <a:ext cx="40233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Matriks konfusi (titik)</a:t>
            </a:r>
          </a:p>
        </p:txBody>
      </p:sp>
      <p:graphicFrame>
        <p:nvGraphicFramePr>
          <p:cNvPr id="30" name="Table 29"/>
          <p:cNvGraphicFramePr>
            <a:graphicFrameLocks noGrp="1"/>
          </p:cNvGraphicFramePr>
          <p:nvPr/>
        </p:nvGraphicFramePr>
        <p:xfrm>
          <a:off x="8961120" y="2423160"/>
          <a:ext cx="4023360" cy="1508760"/>
        </p:xfrm>
        <a:graphic>
          <a:graphicData uri="http://schemas.openxmlformats.org/drawingml/2006/table">
            <a:tbl>
              <a:tblPr firstRow="1" bandRow="1">
                <a:tableStyleId>{5C22544A-7EE6-4342-B048-85BDC9FD1C3A}</a:tableStyleId>
              </a:tblPr>
              <a:tblGrid>
                <a:gridCol w="1828800"/>
                <a:gridCol w="1097280"/>
                <a:gridCol w="1097280"/>
              </a:tblGrid>
              <a:tr h="502920">
                <a:tc>
                  <a:txBody>
                    <a:bodyPr wrap="square"/>
                    <a:lstStyle/>
                    <a:p>
                      <a:r>
                        <a:rPr sz="1150" b="1" i="0">
                          <a:solidFill>
                            <a:srgbClr val="FFFFFF"/>
                          </a:solidFill>
                          <a:latin typeface="Calibri (MS) Bold"/>
                        </a:rPr>
                        <a:t>Peta \ Rujukan</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Bukan</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Terbangun</a:t>
                      </a:r>
                    </a:p>
                  </a:txBody>
                  <a:tcPr marL="73152" marR="73152" marT="36576" marB="36576" anchor="ctr">
                    <a:solidFill>
                      <a:srgbClr val="0B5E6E"/>
                    </a:solidFill>
                  </a:tcPr>
                </a:tc>
              </a:tr>
              <a:tr h="502920">
                <a:tc>
                  <a:txBody>
                    <a:bodyPr wrap="square"/>
                    <a:lstStyle/>
                    <a:p>
                      <a:r>
                        <a:rPr sz="1150" b="0" i="0">
                          <a:solidFill>
                            <a:srgbClr val="14313B"/>
                          </a:solidFill>
                          <a:latin typeface="Calibri (MS)"/>
                        </a:rPr>
                        <a:t>Bukan terbangun</a:t>
                      </a:r>
                    </a:p>
                  </a:txBody>
                  <a:tcPr marL="73152" marR="73152" marT="36576" marB="36576" anchor="ctr">
                    <a:solidFill>
                      <a:srgbClr val="FFFFFF"/>
                    </a:solidFill>
                  </a:tcPr>
                </a:tc>
                <a:tc>
                  <a:txBody>
                    <a:bodyPr wrap="square"/>
                    <a:lstStyle/>
                    <a:p>
                      <a:pPr algn="ctr"/>
                      <a:r>
                        <a:rPr sz="1150" b="0" i="0">
                          <a:solidFill>
                            <a:srgbClr val="14313B"/>
                          </a:solidFill>
                          <a:latin typeface="Calibri (MS)"/>
                        </a:rPr>
                        <a:t>95</a:t>
                      </a:r>
                    </a:p>
                  </a:txBody>
                  <a:tcPr marL="73152" marR="73152" marT="36576" marB="36576" anchor="ctr">
                    <a:solidFill>
                      <a:srgbClr val="C9F0D6"/>
                    </a:solidFill>
                  </a:tcPr>
                </a:tc>
                <a:tc>
                  <a:txBody>
                    <a:bodyPr wrap="square"/>
                    <a:lstStyle/>
                    <a:p>
                      <a:pPr algn="ctr"/>
                      <a:r>
                        <a:rPr sz="1150" b="0" i="0">
                          <a:solidFill>
                            <a:srgbClr val="14313B"/>
                          </a:solidFill>
                          <a:latin typeface="Calibri (MS)"/>
                        </a:rPr>
                        <a:t>5</a:t>
                      </a:r>
                    </a:p>
                  </a:txBody>
                  <a:tcPr marL="73152" marR="73152" marT="36576" marB="36576" anchor="ctr">
                    <a:solidFill>
                      <a:srgbClr val="FFF1BF"/>
                    </a:solidFill>
                  </a:tcPr>
                </a:tc>
              </a:tr>
              <a:tr h="502920">
                <a:tc>
                  <a:txBody>
                    <a:bodyPr wrap="square"/>
                    <a:lstStyle/>
                    <a:p>
                      <a:r>
                        <a:rPr sz="11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1150" b="0" i="0">
                          <a:solidFill>
                            <a:srgbClr val="14313B"/>
                          </a:solidFill>
                          <a:latin typeface="Calibri (MS)"/>
                        </a:rPr>
                        <a:t>34</a:t>
                      </a:r>
                    </a:p>
                  </a:txBody>
                  <a:tcPr marL="73152" marR="73152" marT="36576" marB="36576" anchor="ctr">
                    <a:solidFill>
                      <a:srgbClr val="FDE2DE"/>
                    </a:solidFill>
                  </a:tcPr>
                </a:tc>
                <a:tc>
                  <a:txBody>
                    <a:bodyPr wrap="square"/>
                    <a:lstStyle/>
                    <a:p>
                      <a:pPr algn="ctr"/>
                      <a:r>
                        <a:rPr sz="1150" b="0" i="0">
                          <a:solidFill>
                            <a:srgbClr val="14313B"/>
                          </a:solidFill>
                          <a:latin typeface="Calibri (MS)"/>
                        </a:rPr>
                        <a:t>66</a:t>
                      </a:r>
                    </a:p>
                  </a:txBody>
                  <a:tcPr marL="73152" marR="73152" marT="36576" marB="36576" anchor="ctr">
                    <a:solidFill>
                      <a:srgbClr val="C9F0D6"/>
                    </a:solidFill>
                  </a:tcPr>
                </a:tc>
              </a:tr>
            </a:tbl>
          </a:graphicData>
        </a:graphic>
      </p:graphicFrame>
      <p:sp>
        <p:nvSpPr>
          <p:cNvPr id="31" name="Rounded Rectangle 30"/>
          <p:cNvSpPr/>
          <p:nvPr/>
        </p:nvSpPr>
        <p:spPr>
          <a:xfrm>
            <a:off x="8961120" y="4069080"/>
            <a:ext cx="40233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E4604F"/>
                </a:solidFill>
                <a:latin typeface="Calibri (MS) Bold"/>
              </a:rPr>
              <a:t>34 komisi</a:t>
            </a:r>
            <a:r>
              <a:rPr sz="1100" b="0" i="0">
                <a:solidFill>
                  <a:srgbClr val="14313B"/>
                </a:solidFill>
                <a:latin typeface="Calibri (MS)"/>
              </a:rPr>
              <a:t> (peta terbangun, rujukan bukan)</a:t>
            </a:r>
          </a:p>
          <a:p>
            <a:pPr algn="l">
              <a:spcAft>
                <a:spcPts val="300"/>
              </a:spcAft>
            </a:pPr>
            <a:r>
              <a:rPr sz="1100" b="1" i="0">
                <a:solidFill>
                  <a:srgbClr val="7A5A00"/>
                </a:solidFill>
                <a:latin typeface="Calibri (MS) Bold"/>
              </a:rPr>
              <a:t>5 omisi</a:t>
            </a:r>
            <a:r>
              <a:rPr sz="1100" b="0" i="0">
                <a:solidFill>
                  <a:srgbClr val="14313B"/>
                </a:solidFill>
                <a:latin typeface="Calibri (MS)"/>
              </a:rPr>
              <a:t> (peta bukan, rujukan terbangun)</a:t>
            </a:r>
          </a:p>
        </p:txBody>
      </p:sp>
      <p:sp>
        <p:nvSpPr>
          <p:cNvPr id="32" name="Rounded Rectangle 31"/>
          <p:cNvSpPr/>
          <p:nvPr/>
        </p:nvSpPr>
        <p:spPr>
          <a:xfrm>
            <a:off x="13258800" y="1920240"/>
            <a:ext cx="42062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Metrik tambahan</a:t>
            </a:r>
          </a:p>
        </p:txBody>
      </p:sp>
      <p:graphicFrame>
        <p:nvGraphicFramePr>
          <p:cNvPr id="33" name="Table 32"/>
          <p:cNvGraphicFramePr>
            <a:graphicFrameLocks noGrp="1"/>
          </p:cNvGraphicFramePr>
          <p:nvPr/>
        </p:nvGraphicFramePr>
        <p:xfrm>
          <a:off x="13258800" y="2423160"/>
          <a:ext cx="4206240" cy="3456432"/>
        </p:xfrm>
        <a:graphic>
          <a:graphicData uri="http://schemas.openxmlformats.org/drawingml/2006/table">
            <a:tbl>
              <a:tblPr firstRow="1" bandRow="1">
                <a:tableStyleId>{5C22544A-7EE6-4342-B048-85BDC9FD1C3A}</a:tableStyleId>
              </a:tblPr>
              <a:tblGrid>
                <a:gridCol w="1554480"/>
                <a:gridCol w="1325880"/>
                <a:gridCol w="1325880"/>
              </a:tblGrid>
              <a:tr h="384048">
                <a:tc>
                  <a:txBody>
                    <a:bodyPr wrap="square"/>
                    <a:lstStyle/>
                    <a:p>
                      <a:r>
                        <a:rPr sz="1000" b="1" i="0">
                          <a:solidFill>
                            <a:srgbClr val="FFFFFF"/>
                          </a:solidFill>
                          <a:latin typeface="Calibri (MS) Bold"/>
                        </a:rPr>
                        <a:t>Metrik</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Tak tertimbang</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Tertimbang</a:t>
                      </a:r>
                    </a:p>
                  </a:txBody>
                  <a:tcPr marL="73152" marR="73152" marT="36576" marB="36576" anchor="ctr">
                    <a:solidFill>
                      <a:srgbClr val="0B5E6E"/>
                    </a:solidFill>
                  </a:tcPr>
                </a:tc>
              </a:tr>
              <a:tr h="384048">
                <a:tc>
                  <a:txBody>
                    <a:bodyPr wrap="square"/>
                    <a:lstStyle/>
                    <a:p>
                      <a:r>
                        <a:rPr sz="1000" b="0" i="0">
                          <a:solidFill>
                            <a:srgbClr val="14313B"/>
                          </a:solidFill>
                          <a:latin typeface="Calibri (MS)"/>
                        </a:rPr>
                        <a:t>Precision (UA)</a:t>
                      </a:r>
                    </a:p>
                  </a:txBody>
                  <a:tcPr marL="73152" marR="73152" marT="36576" marB="36576" anchor="ctr">
                    <a:solidFill>
                      <a:srgbClr val="FFFFFF"/>
                    </a:solidFill>
                  </a:tcPr>
                </a:tc>
                <a:tc>
                  <a:txBody>
                    <a:bodyPr wrap="square"/>
                    <a:lstStyle/>
                    <a:p>
                      <a:pPr algn="ctr"/>
                      <a:r>
                        <a:rPr sz="1000" b="0" i="0">
                          <a:solidFill>
                            <a:srgbClr val="14313B"/>
                          </a:solidFill>
                          <a:latin typeface="Calibri (MS)"/>
                        </a:rPr>
                        <a:t>66,00%</a:t>
                      </a:r>
                    </a:p>
                  </a:txBody>
                  <a:tcPr marL="73152" marR="73152" marT="36576" marB="36576" anchor="ctr">
                    <a:solidFill>
                      <a:srgbClr val="FFFFFF"/>
                    </a:solidFill>
                  </a:tcPr>
                </a:tc>
                <a:tc>
                  <a:txBody>
                    <a:bodyPr wrap="square"/>
                    <a:lstStyle/>
                    <a:p>
                      <a:pPr algn="ctr"/>
                      <a:r>
                        <a:rPr sz="1000" b="0" i="0">
                          <a:solidFill>
                            <a:srgbClr val="14313B"/>
                          </a:solidFill>
                          <a:latin typeface="Calibri (MS)"/>
                        </a:rPr>
                        <a:t>66,00%</a:t>
                      </a:r>
                    </a:p>
                  </a:txBody>
                  <a:tcPr marL="73152" marR="73152" marT="36576" marB="36576" anchor="ctr">
                    <a:solidFill>
                      <a:srgbClr val="FFFFFF"/>
                    </a:solidFill>
                  </a:tcPr>
                </a:tc>
              </a:tr>
              <a:tr h="384048">
                <a:tc>
                  <a:txBody>
                    <a:bodyPr wrap="square"/>
                    <a:lstStyle/>
                    <a:p>
                      <a:r>
                        <a:rPr sz="1000" b="0" i="0">
                          <a:solidFill>
                            <a:srgbClr val="14313B"/>
                          </a:solidFill>
                          <a:latin typeface="Calibri (MS)"/>
                        </a:rPr>
                        <a:t>Recall (PA)</a:t>
                      </a:r>
                    </a:p>
                  </a:txBody>
                  <a:tcPr marL="73152" marR="73152" marT="36576" marB="36576" anchor="ctr">
                    <a:solidFill>
                      <a:srgbClr val="EAF8FA"/>
                    </a:solidFill>
                  </a:tcPr>
                </a:tc>
                <a:tc>
                  <a:txBody>
                    <a:bodyPr wrap="square"/>
                    <a:lstStyle/>
                    <a:p>
                      <a:pPr algn="ctr"/>
                      <a:r>
                        <a:rPr sz="1000" b="0" i="0">
                          <a:solidFill>
                            <a:srgbClr val="14313B"/>
                          </a:solidFill>
                          <a:latin typeface="Calibri (MS)"/>
                        </a:rPr>
                        <a:t>92,96%</a:t>
                      </a:r>
                    </a:p>
                  </a:txBody>
                  <a:tcPr marL="73152" marR="73152" marT="36576" marB="36576" anchor="ctr">
                    <a:solidFill>
                      <a:srgbClr val="EAF8FA"/>
                    </a:solidFill>
                  </a:tcPr>
                </a:tc>
                <a:tc>
                  <a:txBody>
                    <a:bodyPr wrap="square"/>
                    <a:lstStyle/>
                    <a:p>
                      <a:pPr algn="ctr"/>
                      <a:r>
                        <a:rPr sz="1000" b="0" i="0">
                          <a:solidFill>
                            <a:srgbClr val="14313B"/>
                          </a:solidFill>
                          <a:latin typeface="Calibri (MS)"/>
                        </a:rPr>
                        <a:t>73,58%</a:t>
                      </a:r>
                    </a:p>
                  </a:txBody>
                  <a:tcPr marL="73152" marR="73152" marT="36576" marB="36576" anchor="ctr">
                    <a:solidFill>
                      <a:srgbClr val="EAF8FA"/>
                    </a:solidFill>
                  </a:tcPr>
                </a:tc>
              </a:tr>
              <a:tr h="384048">
                <a:tc>
                  <a:txBody>
                    <a:bodyPr wrap="square"/>
                    <a:lstStyle/>
                    <a:p>
                      <a:r>
                        <a:rPr sz="1000" b="0" i="0">
                          <a:solidFill>
                            <a:srgbClr val="14313B"/>
                          </a:solidFill>
                          <a:latin typeface="Calibri (MS)"/>
                        </a:rPr>
                        <a:t>Specificity</a:t>
                      </a:r>
                    </a:p>
                  </a:txBody>
                  <a:tcPr marL="73152" marR="73152" marT="36576" marB="36576" anchor="ctr">
                    <a:solidFill>
                      <a:srgbClr val="FFFFFF"/>
                    </a:solidFill>
                  </a:tcPr>
                </a:tc>
                <a:tc>
                  <a:txBody>
                    <a:bodyPr wrap="square"/>
                    <a:lstStyle/>
                    <a:p>
                      <a:pPr algn="ctr"/>
                      <a:r>
                        <a:rPr sz="1000" b="0" i="0">
                          <a:solidFill>
                            <a:srgbClr val="14313B"/>
                          </a:solidFill>
                          <a:latin typeface="Calibri (MS)"/>
                        </a:rPr>
                        <a:t>73,64%</a:t>
                      </a:r>
                    </a:p>
                  </a:txBody>
                  <a:tcPr marL="73152" marR="73152" marT="36576" marB="36576" anchor="ctr">
                    <a:solidFill>
                      <a:srgbClr val="FFFFFF"/>
                    </a:solidFill>
                  </a:tcPr>
                </a:tc>
                <a:tc>
                  <a:txBody>
                    <a:bodyPr wrap="square"/>
                    <a:lstStyle/>
                    <a:p>
                      <a:pPr algn="ctr"/>
                      <a:r>
                        <a:rPr sz="1000" b="0" i="0">
                          <a:solidFill>
                            <a:srgbClr val="14313B"/>
                          </a:solidFill>
                          <a:latin typeface="Calibri (MS)"/>
                        </a:rPr>
                        <a:t>92,98%</a:t>
                      </a:r>
                    </a:p>
                  </a:txBody>
                  <a:tcPr marL="73152" marR="73152" marT="36576" marB="36576" anchor="ctr">
                    <a:solidFill>
                      <a:srgbClr val="FFFFFF"/>
                    </a:solidFill>
                  </a:tcPr>
                </a:tc>
              </a:tr>
              <a:tr h="384048">
                <a:tc>
                  <a:txBody>
                    <a:bodyPr wrap="square"/>
                    <a:lstStyle/>
                    <a:p>
                      <a:r>
                        <a:rPr sz="1000" b="0" i="0">
                          <a:solidFill>
                            <a:srgbClr val="14313B"/>
                          </a:solidFill>
                          <a:latin typeface="Calibri (MS)"/>
                        </a:rPr>
                        <a:t>F1-score</a:t>
                      </a:r>
                    </a:p>
                  </a:txBody>
                  <a:tcPr marL="73152" marR="73152" marT="36576" marB="36576" anchor="ctr">
                    <a:solidFill>
                      <a:srgbClr val="EAF8FA"/>
                    </a:solidFill>
                  </a:tcPr>
                </a:tc>
                <a:tc>
                  <a:txBody>
                    <a:bodyPr wrap="square"/>
                    <a:lstStyle/>
                    <a:p>
                      <a:pPr algn="ctr"/>
                      <a:r>
                        <a:rPr sz="1000" b="0" i="0">
                          <a:solidFill>
                            <a:srgbClr val="14313B"/>
                          </a:solidFill>
                          <a:latin typeface="Calibri (MS)"/>
                        </a:rPr>
                        <a:t>77,19%</a:t>
                      </a:r>
                    </a:p>
                  </a:txBody>
                  <a:tcPr marL="73152" marR="73152" marT="36576" marB="36576" anchor="ctr">
                    <a:solidFill>
                      <a:srgbClr val="EAF8FA"/>
                    </a:solidFill>
                  </a:tcPr>
                </a:tc>
                <a:tc>
                  <a:txBody>
                    <a:bodyPr wrap="square"/>
                    <a:lstStyle/>
                    <a:p>
                      <a:pPr algn="ctr"/>
                      <a:r>
                        <a:rPr sz="1000" b="0" i="0">
                          <a:solidFill>
                            <a:srgbClr val="14313B"/>
                          </a:solidFill>
                          <a:latin typeface="Calibri (MS)"/>
                        </a:rPr>
                        <a:t>69,58%</a:t>
                      </a:r>
                    </a:p>
                  </a:txBody>
                  <a:tcPr marL="73152" marR="73152" marT="36576" marB="36576" anchor="ctr">
                    <a:solidFill>
                      <a:srgbClr val="EAF8FA"/>
                    </a:solidFill>
                  </a:tcPr>
                </a:tc>
              </a:tr>
              <a:tr h="384048">
                <a:tc>
                  <a:txBody>
                    <a:bodyPr wrap="square"/>
                    <a:lstStyle/>
                    <a:p>
                      <a:r>
                        <a:rPr sz="1000" b="0" i="0">
                          <a:solidFill>
                            <a:srgbClr val="14313B"/>
                          </a:solidFill>
                          <a:latin typeface="Calibri (MS)"/>
                        </a:rPr>
                        <a:t>Balanced acc.</a:t>
                      </a:r>
                    </a:p>
                  </a:txBody>
                  <a:tcPr marL="73152" marR="73152" marT="36576" marB="36576" anchor="ctr">
                    <a:solidFill>
                      <a:srgbClr val="FFFFFF"/>
                    </a:solidFill>
                  </a:tcPr>
                </a:tc>
                <a:tc>
                  <a:txBody>
                    <a:bodyPr wrap="square"/>
                    <a:lstStyle/>
                    <a:p>
                      <a:pPr algn="ctr"/>
                      <a:r>
                        <a:rPr sz="1000" b="0" i="0">
                          <a:solidFill>
                            <a:srgbClr val="14313B"/>
                          </a:solidFill>
                          <a:latin typeface="Calibri (MS)"/>
                        </a:rPr>
                        <a:t>83,30%</a:t>
                      </a:r>
                    </a:p>
                  </a:txBody>
                  <a:tcPr marL="73152" marR="73152" marT="36576" marB="36576" anchor="ctr">
                    <a:solidFill>
                      <a:srgbClr val="FFFFFF"/>
                    </a:solidFill>
                  </a:tcPr>
                </a:tc>
                <a:tc>
                  <a:txBody>
                    <a:bodyPr wrap="square"/>
                    <a:lstStyle/>
                    <a:p>
                      <a:pPr algn="ctr"/>
                      <a:r>
                        <a:rPr sz="1000" b="0" i="0">
                          <a:solidFill>
                            <a:srgbClr val="14313B"/>
                          </a:solidFill>
                          <a:latin typeface="Calibri (MS)"/>
                        </a:rPr>
                        <a:t>83,28%</a:t>
                      </a:r>
                    </a:p>
                  </a:txBody>
                  <a:tcPr marL="73152" marR="73152" marT="36576" marB="36576" anchor="ctr">
                    <a:solidFill>
                      <a:srgbClr val="FFFFFF"/>
                    </a:solidFill>
                  </a:tcPr>
                </a:tc>
              </a:tr>
              <a:tr h="384048">
                <a:tc>
                  <a:txBody>
                    <a:bodyPr wrap="square"/>
                    <a:lstStyle/>
                    <a:p>
                      <a:r>
                        <a:rPr sz="1000" b="0" i="0">
                          <a:solidFill>
                            <a:srgbClr val="14313B"/>
                          </a:solidFill>
                          <a:latin typeface="Calibri (MS)"/>
                        </a:rPr>
                        <a:t>MCC</a:t>
                      </a:r>
                    </a:p>
                  </a:txBody>
                  <a:tcPr marL="73152" marR="73152" marT="36576" marB="36576" anchor="ctr">
                    <a:solidFill>
                      <a:srgbClr val="EAF8FA"/>
                    </a:solidFill>
                  </a:tcPr>
                </a:tc>
                <a:tc>
                  <a:txBody>
                    <a:bodyPr wrap="square"/>
                    <a:lstStyle/>
                    <a:p>
                      <a:pPr algn="ctr"/>
                      <a:r>
                        <a:rPr sz="1000" b="0" i="0">
                          <a:solidFill>
                            <a:srgbClr val="14313B"/>
                          </a:solidFill>
                          <a:latin typeface="Calibri (MS)"/>
                        </a:rPr>
                        <a:t>0,6374</a:t>
                      </a:r>
                    </a:p>
                  </a:txBody>
                  <a:tcPr marL="73152" marR="73152" marT="36576" marB="36576" anchor="ctr">
                    <a:solidFill>
                      <a:srgbClr val="EAF8FA"/>
                    </a:solidFill>
                  </a:tcPr>
                </a:tc>
                <a:tc>
                  <a:txBody>
                    <a:bodyPr wrap="square"/>
                    <a:lstStyle/>
                    <a:p>
                      <a:pPr algn="ctr"/>
                      <a:r>
                        <a:rPr sz="1000" b="0" i="0">
                          <a:solidFill>
                            <a:srgbClr val="14313B"/>
                          </a:solidFill>
                          <a:latin typeface="Calibri (MS)"/>
                        </a:rPr>
                        <a:t>0,6372</a:t>
                      </a:r>
                    </a:p>
                  </a:txBody>
                  <a:tcPr marL="73152" marR="73152" marT="36576" marB="36576" anchor="ctr">
                    <a:solidFill>
                      <a:srgbClr val="EAF8FA"/>
                    </a:solidFill>
                  </a:tcPr>
                </a:tc>
              </a:tr>
              <a:tr h="384048">
                <a:tc>
                  <a:txBody>
                    <a:bodyPr wrap="square"/>
                    <a:lstStyle/>
                    <a:p>
                      <a:r>
                        <a:rPr sz="1000" b="0" i="0">
                          <a:solidFill>
                            <a:srgbClr val="14313B"/>
                          </a:solidFill>
                          <a:latin typeface="Calibri (MS)"/>
                        </a:rPr>
                        <a:t>ROC-AUC</a:t>
                      </a:r>
                    </a:p>
                  </a:txBody>
                  <a:tcPr marL="73152" marR="73152" marT="36576" marB="36576" anchor="ctr">
                    <a:solidFill>
                      <a:srgbClr val="FFFFFF"/>
                    </a:solidFill>
                  </a:tcPr>
                </a:tc>
                <a:tc>
                  <a:txBody>
                    <a:bodyPr wrap="square"/>
                    <a:lstStyle/>
                    <a:p>
                      <a:pPr algn="ctr"/>
                      <a:r>
                        <a:rPr sz="1000" b="0" i="0">
                          <a:solidFill>
                            <a:srgbClr val="14313B"/>
                          </a:solidFill>
                          <a:latin typeface="Calibri (MS)"/>
                        </a:rPr>
                        <a:t>0,9075</a:t>
                      </a:r>
                    </a:p>
                  </a:txBody>
                  <a:tcPr marL="73152" marR="73152" marT="36576" marB="36576" anchor="ctr">
                    <a:solidFill>
                      <a:srgbClr val="FFFFFF"/>
                    </a:solidFill>
                  </a:tcPr>
                </a:tc>
                <a:tc>
                  <a:txBody>
                    <a:bodyPr wrap="square"/>
                    <a:lstStyle/>
                    <a:p>
                      <a:pPr algn="ctr"/>
                      <a:r>
                        <a:rPr sz="1000" b="0" i="0">
                          <a:solidFill>
                            <a:srgbClr val="14313B"/>
                          </a:solidFill>
                          <a:latin typeface="Calibri (MS)"/>
                        </a:rPr>
                        <a:t>0,9412</a:t>
                      </a:r>
                    </a:p>
                  </a:txBody>
                  <a:tcPr marL="73152" marR="73152" marT="36576" marB="36576" anchor="ctr">
                    <a:solidFill>
                      <a:srgbClr val="FFFFFF"/>
                    </a:solidFill>
                  </a:tcPr>
                </a:tc>
              </a:tr>
              <a:tr h="384048">
                <a:tc>
                  <a:txBody>
                    <a:bodyPr wrap="square"/>
                    <a:lstStyle/>
                    <a:p>
                      <a:r>
                        <a:rPr sz="1000" b="0" i="0">
                          <a:solidFill>
                            <a:srgbClr val="14313B"/>
                          </a:solidFill>
                          <a:latin typeface="Calibri (MS)"/>
                        </a:rPr>
                        <a:t>PR-AUC</a:t>
                      </a:r>
                    </a:p>
                  </a:txBody>
                  <a:tcPr marL="73152" marR="73152" marT="36576" marB="36576" anchor="ctr">
                    <a:solidFill>
                      <a:srgbClr val="EAF8FA"/>
                    </a:solidFill>
                  </a:tcPr>
                </a:tc>
                <a:tc>
                  <a:txBody>
                    <a:bodyPr wrap="square"/>
                    <a:lstStyle/>
                    <a:p>
                      <a:pPr algn="ctr"/>
                      <a:r>
                        <a:rPr sz="1000" b="0" i="0">
                          <a:solidFill>
                            <a:srgbClr val="14313B"/>
                          </a:solidFill>
                          <a:latin typeface="Calibri (MS)"/>
                        </a:rPr>
                        <a:t>0,8395</a:t>
                      </a:r>
                    </a:p>
                  </a:txBody>
                  <a:tcPr marL="73152" marR="73152" marT="36576" marB="36576" anchor="ctr">
                    <a:solidFill>
                      <a:srgbClr val="EAF8FA"/>
                    </a:solidFill>
                  </a:tcPr>
                </a:tc>
                <a:tc>
                  <a:txBody>
                    <a:bodyPr wrap="square"/>
                    <a:lstStyle/>
                    <a:p>
                      <a:pPr algn="ctr"/>
                      <a:r>
                        <a:rPr sz="1000" b="0" i="0">
                          <a:solidFill>
                            <a:srgbClr val="14313B"/>
                          </a:solidFill>
                          <a:latin typeface="Calibri (MS)"/>
                        </a:rPr>
                        <a:t>0,7694</a:t>
                      </a:r>
                    </a:p>
                  </a:txBody>
                  <a:tcPr marL="73152" marR="73152" marT="36576" marB="36576" anchor="ctr">
                    <a:solidFill>
                      <a:srgbClr val="EAF8FA"/>
                    </a:solidFill>
                  </a:tcPr>
                </a:tc>
              </a:tr>
            </a:tbl>
          </a:graphicData>
        </a:graphic>
      </p:graphicFrame>
      <p:sp>
        <p:nvSpPr>
          <p:cNvPr id="34" name="Rounded Rectangle 33"/>
          <p:cNvSpPr/>
          <p:nvPr/>
        </p:nvSpPr>
        <p:spPr>
          <a:xfrm>
            <a:off x="822960" y="662940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Bacaan</a:t>
            </a:r>
          </a:p>
        </p:txBody>
      </p:sp>
      <p:sp>
        <p:nvSpPr>
          <p:cNvPr id="35" name="TextBox 34"/>
          <p:cNvSpPr txBox="1"/>
          <p:nvPr/>
        </p:nvSpPr>
        <p:spPr>
          <a:xfrm>
            <a:off x="822960" y="7132320"/>
            <a:ext cx="16642080" cy="1188720"/>
          </a:xfrm>
          <a:prstGeom prst="rect">
            <a:avLst/>
          </a:prstGeom>
          <a:noFill/>
        </p:spPr>
        <p:txBody>
          <a:bodyPr wrap="square" anchor="t" lIns="0" rIns="0" tIns="0" bIns="0">
            <a:spAutoFit/>
          </a:bodyPr>
          <a:lstStyle/>
          <a:p>
            <a:pPr algn="l">
              <a:spcAft>
                <a:spcPts val="400"/>
              </a:spcAft>
            </a:pPr>
            <a:r>
              <a:rPr sz="1100" b="1" i="0">
                <a:solidFill>
                  <a:srgbClr val="0B5E6E"/>
                </a:solidFill>
                <a:latin typeface="Calibri (MS) Bold"/>
              </a:rPr>
              <a:t>•  </a:t>
            </a:r>
            <a:r>
              <a:rPr sz="1100" b="0" i="0">
                <a:solidFill>
                  <a:srgbClr val="14313B"/>
                </a:solidFill>
                <a:latin typeface="Calibri (MS)"/>
              </a:rPr>
              <a:t>Kappa 0,61 tergolong kesepakatan kuat (Landis &amp; Koch, 1977).</a:t>
            </a:r>
          </a:p>
          <a:p>
            <a:pPr algn="l">
              <a:spcAft>
                <a:spcPts val="400"/>
              </a:spcAft>
            </a:pPr>
            <a:r>
              <a:rPr sz="1100" b="1" i="0">
                <a:solidFill>
                  <a:srgbClr val="0B5E6E"/>
                </a:solidFill>
                <a:latin typeface="Calibri (MS) Bold"/>
              </a:rPr>
              <a:t>•  </a:t>
            </a:r>
            <a:r>
              <a:rPr sz="1100" b="0" i="0">
                <a:solidFill>
                  <a:srgbClr val="14313B"/>
                </a:solidFill>
                <a:latin typeface="Calibri (MS)"/>
              </a:rPr>
              <a:t>Recall terbangun berbalik antara versi tak tertimbang (92,96%) dan tertimbang (73,58%) karena sampel 50:50 sedangkan luas kelas bukan terbangun 82,58% wilayah; karena itu versi tertimbang yang dibaca.</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4.2.2 (Tabel 31–32); Hasil_UjiAkurasi_DW_2025.csv, Metrik_Imbalance_DW_2025.csv (repository).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21 · Evaluasi Lahan Terbangun (2/2): Ambang dan Validasi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Kesalahan menumpuk di dekat ambang 0,5; Dynamic World lebih konsisten daripada data resmi yang tersedia</a:t>
            </a:r>
          </a:p>
        </p:txBody>
      </p:sp>
      <p:sp>
        <p:nvSpPr>
          <p:cNvPr id="27" name="Rounded Rectangle 26"/>
          <p:cNvSpPr/>
          <p:nvPr/>
        </p:nvSpPr>
        <p:spPr>
          <a:xfrm>
            <a:off x="822960" y="1920240"/>
            <a:ext cx="81381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Kepekaan ambang (tertimbang luas)</a:t>
            </a:r>
          </a:p>
        </p:txBody>
      </p:sp>
      <p:graphicFrame>
        <p:nvGraphicFramePr>
          <p:cNvPr id="28" name="Chart 27"/>
          <p:cNvGraphicFramePr>
            <a:graphicFrameLocks noGrp="1"/>
          </p:cNvGraphicFramePr>
          <p:nvPr/>
        </p:nvGraphicFramePr>
        <p:xfrm>
          <a:off x="822960" y="2377440"/>
          <a:ext cx="8138160" cy="3200400"/>
        </p:xfrm>
        <a:graphic>
          <a:graphicData uri="http://schemas.openxmlformats.org/drawingml/2006/chart">
            <c:chart xmlns:c="http://schemas.openxmlformats.org/drawingml/2006/chart" r:id="rId7"/>
          </a:graphicData>
        </a:graphic>
      </p:graphicFrame>
      <p:sp>
        <p:nvSpPr>
          <p:cNvPr id="29" name="TextBox 28"/>
          <p:cNvSpPr txBox="1"/>
          <p:nvPr/>
        </p:nvSpPr>
        <p:spPr>
          <a:xfrm>
            <a:off x="822960" y="5623560"/>
            <a:ext cx="8138160" cy="54864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Ambang ≥ 0,80: tidak ada titik terbangun (precision tak terdefinisi). F1 tertinggi pada 0,45 (0,710); ambang 0,50 dipertahankan.</a:t>
            </a:r>
          </a:p>
        </p:txBody>
      </p:sp>
      <p:sp>
        <p:nvSpPr>
          <p:cNvPr id="30" name="Rounded Rectangle 29"/>
          <p:cNvSpPr/>
          <p:nvPr/>
        </p:nvSpPr>
        <p:spPr>
          <a:xfrm>
            <a:off x="9235440" y="1920240"/>
            <a:ext cx="82296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Akurasi menurut probabilitas built</a:t>
            </a:r>
          </a:p>
        </p:txBody>
      </p:sp>
      <p:graphicFrame>
        <p:nvGraphicFramePr>
          <p:cNvPr id="31" name="Table 30"/>
          <p:cNvGraphicFramePr>
            <a:graphicFrameLocks noGrp="1"/>
          </p:cNvGraphicFramePr>
          <p:nvPr/>
        </p:nvGraphicFramePr>
        <p:xfrm>
          <a:off x="9235440" y="2377440"/>
          <a:ext cx="8229598" cy="2304288"/>
        </p:xfrm>
        <a:graphic>
          <a:graphicData uri="http://schemas.openxmlformats.org/drawingml/2006/table">
            <a:tbl>
              <a:tblPr firstRow="1" bandRow="1">
                <a:tableStyleId>{5C22544A-7EE6-4342-B048-85BDC9FD1C3A}</a:tableStyleId>
              </a:tblPr>
              <a:tblGrid>
                <a:gridCol w="2743200"/>
                <a:gridCol w="1645919"/>
                <a:gridCol w="1645919"/>
                <a:gridCol w="2194560"/>
              </a:tblGrid>
              <a:tr h="384048">
                <a:tc>
                  <a:txBody>
                    <a:bodyPr wrap="square"/>
                    <a:lstStyle/>
                    <a:p>
                      <a:r>
                        <a:rPr sz="1100" b="1" i="0">
                          <a:solidFill>
                            <a:srgbClr val="FFFFFF"/>
                          </a:solidFill>
                          <a:latin typeface="Calibri (MS) Bold"/>
                        </a:rPr>
                        <a:t>Selang probabilitas</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Titik</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Benar</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Akurasi</a:t>
                      </a:r>
                    </a:p>
                  </a:txBody>
                  <a:tcPr marL="73152" marR="73152" marT="36576" marB="36576" anchor="ctr">
                    <a:solidFill>
                      <a:srgbClr val="0B5E6E"/>
                    </a:solidFill>
                  </a:tcPr>
                </a:tc>
              </a:tr>
              <a:tr h="384048">
                <a:tc>
                  <a:txBody>
                    <a:bodyPr wrap="square"/>
                    <a:lstStyle/>
                    <a:p>
                      <a:r>
                        <a:rPr sz="1100" b="0" i="0">
                          <a:solidFill>
                            <a:srgbClr val="14313B"/>
                          </a:solidFill>
                          <a:latin typeface="Calibri (MS)"/>
                        </a:rPr>
                        <a:t>0,00–0,25</a:t>
                      </a:r>
                    </a:p>
                  </a:txBody>
                  <a:tcPr marL="73152" marR="73152" marT="36576" marB="36576" anchor="ctr">
                    <a:solidFill>
                      <a:srgbClr val="FFFFFF"/>
                    </a:solidFill>
                  </a:tcPr>
                </a:tc>
                <a:tc>
                  <a:txBody>
                    <a:bodyPr wrap="square"/>
                    <a:lstStyle/>
                    <a:p>
                      <a:pPr algn="ctr"/>
                      <a:r>
                        <a:rPr sz="1100" b="0" i="0">
                          <a:solidFill>
                            <a:srgbClr val="14313B"/>
                          </a:solidFill>
                          <a:latin typeface="Calibri (MS)"/>
                        </a:rPr>
                        <a:t>88</a:t>
                      </a:r>
                    </a:p>
                  </a:txBody>
                  <a:tcPr marL="73152" marR="73152" marT="36576" marB="36576" anchor="ctr">
                    <a:solidFill>
                      <a:srgbClr val="FFFFFF"/>
                    </a:solidFill>
                  </a:tcPr>
                </a:tc>
                <a:tc>
                  <a:txBody>
                    <a:bodyPr wrap="square"/>
                    <a:lstStyle/>
                    <a:p>
                      <a:pPr algn="ctr"/>
                      <a:r>
                        <a:rPr sz="1100" b="0" i="0">
                          <a:solidFill>
                            <a:srgbClr val="14313B"/>
                          </a:solidFill>
                          <a:latin typeface="Calibri (MS)"/>
                        </a:rPr>
                        <a:t>86</a:t>
                      </a:r>
                    </a:p>
                  </a:txBody>
                  <a:tcPr marL="73152" marR="73152" marT="36576" marB="36576" anchor="ctr">
                    <a:solidFill>
                      <a:srgbClr val="FFFFFF"/>
                    </a:solidFill>
                  </a:tcPr>
                </a:tc>
                <a:tc>
                  <a:txBody>
                    <a:bodyPr wrap="square"/>
                    <a:lstStyle/>
                    <a:p>
                      <a:pPr algn="ctr"/>
                      <a:r>
                        <a:rPr sz="1100" b="0" i="0">
                          <a:solidFill>
                            <a:srgbClr val="14313B"/>
                          </a:solidFill>
                          <a:latin typeface="Calibri (MS)"/>
                        </a:rPr>
                        <a:t>97,7%</a:t>
                      </a:r>
                    </a:p>
                  </a:txBody>
                  <a:tcPr marL="73152" marR="73152" marT="36576" marB="36576" anchor="ctr">
                    <a:solidFill>
                      <a:srgbClr val="C9F0D6"/>
                    </a:solidFill>
                  </a:tcPr>
                </a:tc>
              </a:tr>
              <a:tr h="384048">
                <a:tc>
                  <a:txBody>
                    <a:bodyPr wrap="square"/>
                    <a:lstStyle/>
                    <a:p>
                      <a:r>
                        <a:rPr sz="1100" b="0" i="0">
                          <a:solidFill>
                            <a:srgbClr val="14313B"/>
                          </a:solidFill>
                          <a:latin typeface="Calibri (MS)"/>
                        </a:rPr>
                        <a:t>0,25–0,50</a:t>
                      </a:r>
                    </a:p>
                  </a:txBody>
                  <a:tcPr marL="73152" marR="73152" marT="36576" marB="36576" anchor="ctr">
                    <a:solidFill>
                      <a:srgbClr val="EAF8FA"/>
                    </a:solidFill>
                  </a:tcPr>
                </a:tc>
                <a:tc>
                  <a:txBody>
                    <a:bodyPr wrap="square"/>
                    <a:lstStyle/>
                    <a:p>
                      <a:pPr algn="ctr"/>
                      <a:r>
                        <a:rPr sz="1100" b="0" i="0">
                          <a:solidFill>
                            <a:srgbClr val="14313B"/>
                          </a:solidFill>
                          <a:latin typeface="Calibri (MS)"/>
                        </a:rPr>
                        <a:t>12</a:t>
                      </a:r>
                    </a:p>
                  </a:txBody>
                  <a:tcPr marL="73152" marR="73152" marT="36576" marB="36576" anchor="ctr">
                    <a:solidFill>
                      <a:srgbClr val="EAF8FA"/>
                    </a:solidFill>
                  </a:tcPr>
                </a:tc>
                <a:tc>
                  <a:txBody>
                    <a:bodyPr wrap="square"/>
                    <a:lstStyle/>
                    <a:p>
                      <a:pPr algn="ctr"/>
                      <a:r>
                        <a:rPr sz="1100" b="0" i="0">
                          <a:solidFill>
                            <a:srgbClr val="14313B"/>
                          </a:solidFill>
                          <a:latin typeface="Calibri (MS)"/>
                        </a:rPr>
                        <a:t>9</a:t>
                      </a:r>
                    </a:p>
                  </a:txBody>
                  <a:tcPr marL="73152" marR="73152" marT="36576" marB="36576" anchor="ctr">
                    <a:solidFill>
                      <a:srgbClr val="EAF8FA"/>
                    </a:solidFill>
                  </a:tcPr>
                </a:tc>
                <a:tc>
                  <a:txBody>
                    <a:bodyPr wrap="square"/>
                    <a:lstStyle/>
                    <a:p>
                      <a:pPr algn="ctr"/>
                      <a:r>
                        <a:rPr sz="1100" b="0" i="0">
                          <a:solidFill>
                            <a:srgbClr val="14313B"/>
                          </a:solidFill>
                          <a:latin typeface="Calibri (MS)"/>
                        </a:rPr>
                        <a:t>75,0%</a:t>
                      </a:r>
                    </a:p>
                  </a:txBody>
                  <a:tcPr marL="73152" marR="73152" marT="36576" marB="36576" anchor="ctr">
                    <a:solidFill>
                      <a:srgbClr val="EAF8FA"/>
                    </a:solidFill>
                  </a:tcPr>
                </a:tc>
              </a:tr>
              <a:tr h="384048">
                <a:tc>
                  <a:txBody>
                    <a:bodyPr wrap="square"/>
                    <a:lstStyle/>
                    <a:p>
                      <a:r>
                        <a:rPr sz="1100" b="0" i="0">
                          <a:solidFill>
                            <a:srgbClr val="14313B"/>
                          </a:solidFill>
                          <a:latin typeface="Calibri (MS)"/>
                        </a:rPr>
                        <a:t>0,50–0,60</a:t>
                      </a:r>
                    </a:p>
                  </a:txBody>
                  <a:tcPr marL="73152" marR="73152" marT="36576" marB="36576" anchor="ctr">
                    <a:solidFill>
                      <a:srgbClr val="FFFFFF"/>
                    </a:solidFill>
                  </a:tcPr>
                </a:tc>
                <a:tc>
                  <a:txBody>
                    <a:bodyPr wrap="square"/>
                    <a:lstStyle/>
                    <a:p>
                      <a:pPr algn="ctr"/>
                      <a:r>
                        <a:rPr sz="1100" b="0" i="0">
                          <a:solidFill>
                            <a:srgbClr val="14313B"/>
                          </a:solidFill>
                          <a:latin typeface="Calibri (MS)"/>
                        </a:rPr>
                        <a:t>25</a:t>
                      </a:r>
                    </a:p>
                  </a:txBody>
                  <a:tcPr marL="73152" marR="73152" marT="36576" marB="36576" anchor="ctr">
                    <a:solidFill>
                      <a:srgbClr val="FFFFFF"/>
                    </a:solidFill>
                  </a:tcPr>
                </a:tc>
                <a:tc>
                  <a:txBody>
                    <a:bodyPr wrap="square"/>
                    <a:lstStyle/>
                    <a:p>
                      <a:pPr algn="ctr"/>
                      <a:r>
                        <a:rPr sz="1100" b="0" i="0">
                          <a:solidFill>
                            <a:srgbClr val="14313B"/>
                          </a:solidFill>
                          <a:latin typeface="Calibri (MS)"/>
                        </a:rPr>
                        <a:t>13</a:t>
                      </a:r>
                    </a:p>
                  </a:txBody>
                  <a:tcPr marL="73152" marR="73152" marT="36576" marB="36576" anchor="ctr">
                    <a:solidFill>
                      <a:srgbClr val="FFFFFF"/>
                    </a:solidFill>
                  </a:tcPr>
                </a:tc>
                <a:tc>
                  <a:txBody>
                    <a:bodyPr wrap="square"/>
                    <a:lstStyle/>
                    <a:p>
                      <a:pPr algn="ctr"/>
                      <a:r>
                        <a:rPr sz="1100" b="0" i="0">
                          <a:solidFill>
                            <a:srgbClr val="14313B"/>
                          </a:solidFill>
                          <a:latin typeface="Calibri (MS)"/>
                        </a:rPr>
                        <a:t>52,0%</a:t>
                      </a:r>
                    </a:p>
                  </a:txBody>
                  <a:tcPr marL="73152" marR="73152" marT="36576" marB="36576" anchor="ctr">
                    <a:solidFill>
                      <a:srgbClr val="FDE2DE"/>
                    </a:solidFill>
                  </a:tcPr>
                </a:tc>
              </a:tr>
              <a:tr h="384048">
                <a:tc>
                  <a:txBody>
                    <a:bodyPr wrap="square"/>
                    <a:lstStyle/>
                    <a:p>
                      <a:r>
                        <a:rPr sz="1100" b="0" i="0">
                          <a:solidFill>
                            <a:srgbClr val="14313B"/>
                          </a:solidFill>
                          <a:latin typeface="Calibri (MS)"/>
                        </a:rPr>
                        <a:t>≥ 0,60</a:t>
                      </a:r>
                    </a:p>
                  </a:txBody>
                  <a:tcPr marL="73152" marR="73152" marT="36576" marB="36576" anchor="ctr">
                    <a:solidFill>
                      <a:srgbClr val="EAF8FA"/>
                    </a:solidFill>
                  </a:tcPr>
                </a:tc>
                <a:tc>
                  <a:txBody>
                    <a:bodyPr wrap="square"/>
                    <a:lstStyle/>
                    <a:p>
                      <a:pPr algn="ctr"/>
                      <a:r>
                        <a:rPr sz="1100" b="0" i="0">
                          <a:solidFill>
                            <a:srgbClr val="14313B"/>
                          </a:solidFill>
                          <a:latin typeface="Calibri (MS)"/>
                        </a:rPr>
                        <a:t>75</a:t>
                      </a:r>
                    </a:p>
                  </a:txBody>
                  <a:tcPr marL="73152" marR="73152" marT="36576" marB="36576" anchor="ctr">
                    <a:solidFill>
                      <a:srgbClr val="EAF8FA"/>
                    </a:solidFill>
                  </a:tcPr>
                </a:tc>
                <a:tc>
                  <a:txBody>
                    <a:bodyPr wrap="square"/>
                    <a:lstStyle/>
                    <a:p>
                      <a:pPr algn="ctr"/>
                      <a:r>
                        <a:rPr sz="1100" b="0" i="0">
                          <a:solidFill>
                            <a:srgbClr val="14313B"/>
                          </a:solidFill>
                          <a:latin typeface="Calibri (MS)"/>
                        </a:rPr>
                        <a:t>53</a:t>
                      </a:r>
                    </a:p>
                  </a:txBody>
                  <a:tcPr marL="73152" marR="73152" marT="36576" marB="36576" anchor="ctr">
                    <a:solidFill>
                      <a:srgbClr val="EAF8FA"/>
                    </a:solidFill>
                  </a:tcPr>
                </a:tc>
                <a:tc>
                  <a:txBody>
                    <a:bodyPr wrap="square"/>
                    <a:lstStyle/>
                    <a:p>
                      <a:pPr algn="ctr"/>
                      <a:r>
                        <a:rPr sz="1100" b="0" i="0">
                          <a:solidFill>
                            <a:srgbClr val="14313B"/>
                          </a:solidFill>
                          <a:latin typeface="Calibri (MS)"/>
                        </a:rPr>
                        <a:t>70,7%</a:t>
                      </a:r>
                    </a:p>
                  </a:txBody>
                  <a:tcPr marL="73152" marR="73152" marT="36576" marB="36576" anchor="ctr">
                    <a:solidFill>
                      <a:srgbClr val="EAF8FA"/>
                    </a:solidFill>
                  </a:tcPr>
                </a:tc>
              </a:tr>
              <a:tr h="384048">
                <a:tc>
                  <a:txBody>
                    <a:bodyPr wrap="square"/>
                    <a:lstStyle/>
                    <a:p>
                      <a:r>
                        <a:rPr sz="1100" b="0" i="0">
                          <a:solidFill>
                            <a:srgbClr val="14313B"/>
                          </a:solidFill>
                          <a:latin typeface="Calibri (MS)"/>
                        </a:rPr>
                        <a:t>Total</a:t>
                      </a:r>
                    </a:p>
                  </a:txBody>
                  <a:tcPr marL="73152" marR="73152" marT="36576" marB="36576" anchor="ctr">
                    <a:solidFill>
                      <a:srgbClr val="FFFFFF"/>
                    </a:solidFill>
                  </a:tcPr>
                </a:tc>
                <a:tc>
                  <a:txBody>
                    <a:bodyPr wrap="square"/>
                    <a:lstStyle/>
                    <a:p>
                      <a:pPr algn="ctr"/>
                      <a:r>
                        <a:rPr sz="1100" b="0" i="0">
                          <a:solidFill>
                            <a:srgbClr val="14313B"/>
                          </a:solidFill>
                          <a:latin typeface="Calibri (MS)"/>
                        </a:rPr>
                        <a:t>200</a:t>
                      </a:r>
                    </a:p>
                  </a:txBody>
                  <a:tcPr marL="73152" marR="73152" marT="36576" marB="36576" anchor="ctr">
                    <a:solidFill>
                      <a:srgbClr val="FFFFFF"/>
                    </a:solidFill>
                  </a:tcPr>
                </a:tc>
                <a:tc>
                  <a:txBody>
                    <a:bodyPr wrap="square"/>
                    <a:lstStyle/>
                    <a:p>
                      <a:pPr algn="ctr"/>
                      <a:r>
                        <a:rPr sz="1100" b="0" i="0">
                          <a:solidFill>
                            <a:srgbClr val="14313B"/>
                          </a:solidFill>
                          <a:latin typeface="Calibri (MS)"/>
                        </a:rPr>
                        <a:t>161</a:t>
                      </a:r>
                    </a:p>
                  </a:txBody>
                  <a:tcPr marL="73152" marR="73152" marT="36576" marB="36576" anchor="ctr">
                    <a:solidFill>
                      <a:srgbClr val="FFFFFF"/>
                    </a:solidFill>
                  </a:tcPr>
                </a:tc>
                <a:tc>
                  <a:txBody>
                    <a:bodyPr wrap="square"/>
                    <a:lstStyle/>
                    <a:p>
                      <a:pPr algn="ctr"/>
                      <a:r>
                        <a:rPr sz="1100" b="0" i="0">
                          <a:solidFill>
                            <a:srgbClr val="14313B"/>
                          </a:solidFill>
                          <a:latin typeface="Calibri (MS)"/>
                        </a:rPr>
                        <a:t>80,5%</a:t>
                      </a:r>
                    </a:p>
                  </a:txBody>
                  <a:tcPr marL="73152" marR="73152" marT="36576" marB="36576" anchor="ctr">
                    <a:solidFill>
                      <a:srgbClr val="FFFFFF"/>
                    </a:solidFill>
                  </a:tcPr>
                </a:tc>
              </a:tr>
            </a:tbl>
          </a:graphicData>
        </a:graphic>
      </p:graphicFrame>
      <p:sp>
        <p:nvSpPr>
          <p:cNvPr id="32" name="TextBox 31"/>
          <p:cNvSpPr txBox="1"/>
          <p:nvPr/>
        </p:nvSpPr>
        <p:spPr>
          <a:xfrm>
            <a:off x="9235440" y="4754880"/>
            <a:ext cx="8229600" cy="82296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Rata-rata probabilitas titik salah 0,574 vs titik benar 0,330. Selang 0,25–0,50 dan ≥ 0,60 dihitung sendiri dari lembar kerja.</a:t>
            </a:r>
          </a:p>
        </p:txBody>
      </p:sp>
      <p:sp>
        <p:nvSpPr>
          <p:cNvPr id="33" name="Rounded Rectangle 32"/>
          <p:cNvSpPr/>
          <p:nvPr/>
        </p:nvSpPr>
        <p:spPr>
          <a:xfrm>
            <a:off x="822960" y="626364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Validasi temporal: lahan terbangun menurut sumber (ha)</a:t>
            </a:r>
          </a:p>
        </p:txBody>
      </p:sp>
      <p:graphicFrame>
        <p:nvGraphicFramePr>
          <p:cNvPr id="34" name="Table 33"/>
          <p:cNvGraphicFramePr>
            <a:graphicFrameLocks noGrp="1"/>
          </p:cNvGraphicFramePr>
          <p:nvPr/>
        </p:nvGraphicFramePr>
        <p:xfrm>
          <a:off x="822960" y="6766560"/>
          <a:ext cx="16642080" cy="1536192"/>
        </p:xfrm>
        <a:graphic>
          <a:graphicData uri="http://schemas.openxmlformats.org/drawingml/2006/table">
            <a:tbl>
              <a:tblPr firstRow="1" bandRow="1">
                <a:tableStyleId>{5C22544A-7EE6-4342-B048-85BDC9FD1C3A}</a:tableStyleId>
              </a:tblPr>
              <a:tblGrid>
                <a:gridCol w="3291840"/>
                <a:gridCol w="1371600"/>
                <a:gridCol w="1371600"/>
                <a:gridCol w="1371600"/>
                <a:gridCol w="1371600"/>
                <a:gridCol w="1371600"/>
                <a:gridCol w="6492240"/>
              </a:tblGrid>
              <a:tr h="384048">
                <a:tc>
                  <a:txBody>
                    <a:bodyPr wrap="square"/>
                    <a:lstStyle/>
                    <a:p>
                      <a:r>
                        <a:rPr sz="1050" b="1" i="0">
                          <a:solidFill>
                            <a:srgbClr val="FFFFFF"/>
                          </a:solidFill>
                          <a:latin typeface="Calibri (MS) Bold"/>
                        </a:rPr>
                        <a:t>Sumber</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2015</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2016</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2017</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2018</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2019</a:t>
                      </a:r>
                    </a:p>
                  </a:txBody>
                  <a:tcPr marL="73152" marR="73152" marT="36576" marB="36576" anchor="ctr">
                    <a:solidFill>
                      <a:srgbClr val="0B5E6E"/>
                    </a:solidFill>
                  </a:tcPr>
                </a:tc>
                <a:tc>
                  <a:txBody>
                    <a:bodyPr wrap="square"/>
                    <a:lstStyle/>
                    <a:p>
                      <a:r>
                        <a:rPr sz="1050" b="1" i="0">
                          <a:solidFill>
                            <a:srgbClr val="FFFFFF"/>
                          </a:solidFill>
                          <a:latin typeface="Calibri (MS) Bold"/>
                        </a:rPr>
                        <a:t>Pola</a:t>
                      </a:r>
                    </a:p>
                  </a:txBody>
                  <a:tcPr marL="73152" marR="73152" marT="36576" marB="36576" anchor="ctr">
                    <a:solidFill>
                      <a:srgbClr val="0B5E6E"/>
                    </a:solidFill>
                  </a:tcPr>
                </a:tc>
              </a:tr>
              <a:tr h="384048">
                <a:tc>
                  <a:txBody>
                    <a:bodyPr wrap="square"/>
                    <a:lstStyle/>
                    <a:p>
                      <a:r>
                        <a:rPr sz="1050" b="0" i="0">
                          <a:solidFill>
                            <a:srgbClr val="14313B"/>
                          </a:solidFill>
                          <a:latin typeface="Calibri (MS)"/>
                        </a:rPr>
                        <a:t>BPS (lahan bukan pertanian)</a:t>
                      </a:r>
                    </a:p>
                  </a:txBody>
                  <a:tcPr marL="73152" marR="73152" marT="36576" marB="36576" anchor="ctr">
                    <a:solidFill>
                      <a:srgbClr val="FFFFFF"/>
                    </a:solidFill>
                  </a:tcPr>
                </a:tc>
                <a:tc>
                  <a:txBody>
                    <a:bodyPr wrap="square"/>
                    <a:lstStyle/>
                    <a:p>
                      <a:pPr algn="ctr"/>
                      <a:r>
                        <a:rPr sz="1050" b="0" i="0">
                          <a:solidFill>
                            <a:srgbClr val="14313B"/>
                          </a:solidFill>
                          <a:latin typeface="Calibri (MS)"/>
                        </a:rPr>
                        <a:t>76.334</a:t>
                      </a:r>
                    </a:p>
                  </a:txBody>
                  <a:tcPr marL="73152" marR="73152" marT="36576" marB="36576" anchor="ctr">
                    <a:solidFill>
                      <a:srgbClr val="FFFFFF"/>
                    </a:solidFill>
                  </a:tcPr>
                </a:tc>
                <a:tc>
                  <a:txBody>
                    <a:bodyPr wrap="square"/>
                    <a:lstStyle/>
                    <a:p>
                      <a:pPr algn="ctr"/>
                      <a:r>
                        <a:rPr sz="1050" b="0" i="0">
                          <a:solidFill>
                            <a:srgbClr val="14313B"/>
                          </a:solidFill>
                          <a:latin typeface="Calibri (MS)"/>
                        </a:rPr>
                        <a:t>77.467</a:t>
                      </a:r>
                    </a:p>
                  </a:txBody>
                  <a:tcPr marL="73152" marR="73152" marT="36576" marB="36576" anchor="ctr">
                    <a:solidFill>
                      <a:srgbClr val="FFFFFF"/>
                    </a:solidFill>
                  </a:tcPr>
                </a:tc>
                <a:tc>
                  <a:txBody>
                    <a:bodyPr wrap="square"/>
                    <a:lstStyle/>
                    <a:p>
                      <a:pPr algn="ctr"/>
                      <a:r>
                        <a:rPr sz="1050" b="0" i="0">
                          <a:solidFill>
                            <a:srgbClr val="14313B"/>
                          </a:solidFill>
                          <a:latin typeface="Calibri (MS)"/>
                        </a:rPr>
                        <a:t>108.580</a:t>
                      </a:r>
                    </a:p>
                  </a:txBody>
                  <a:tcPr marL="73152" marR="73152" marT="36576" marB="36576" anchor="ctr">
                    <a:solidFill>
                      <a:srgbClr val="FFFFFF"/>
                    </a:solidFill>
                  </a:tcPr>
                </a:tc>
                <a:tc>
                  <a:txBody>
                    <a:bodyPr wrap="square"/>
                    <a:lstStyle/>
                    <a:p>
                      <a:pPr algn="ctr"/>
                      <a:r>
                        <a:rPr sz="1050" b="0" i="0">
                          <a:solidFill>
                            <a:srgbClr val="14313B"/>
                          </a:solidFill>
                          <a:latin typeface="Calibri (MS)"/>
                        </a:rPr>
                        <a:t>114.942</a:t>
                      </a:r>
                    </a:p>
                  </a:txBody>
                  <a:tcPr marL="73152" marR="73152" marT="36576" marB="36576" anchor="ctr">
                    <a:solidFill>
                      <a:srgbClr val="FFFFFF"/>
                    </a:solidFill>
                  </a:tcPr>
                </a:tc>
                <a:tc>
                  <a:txBody>
                    <a:bodyPr wrap="square"/>
                    <a:lstStyle/>
                    <a:p>
                      <a:pPr algn="ctr"/>
                      <a:r>
                        <a:rPr sz="1050" b="0" i="0">
                          <a:solidFill>
                            <a:srgbClr val="14313B"/>
                          </a:solidFill>
                          <a:latin typeface="Calibri (MS)"/>
                        </a:rPr>
                        <a:t>70.371</a:t>
                      </a:r>
                    </a:p>
                  </a:txBody>
                  <a:tcPr marL="73152" marR="73152" marT="36576" marB="36576" anchor="ctr">
                    <a:solidFill>
                      <a:srgbClr val="FFFFFF"/>
                    </a:solidFill>
                  </a:tcPr>
                </a:tc>
                <a:tc>
                  <a:txBody>
                    <a:bodyPr wrap="square"/>
                    <a:lstStyle/>
                    <a:p>
                      <a:r>
                        <a:rPr sz="1050" b="0" i="0">
                          <a:solidFill>
                            <a:srgbClr val="14313B"/>
                          </a:solidFill>
                          <a:latin typeface="Calibri (MS)"/>
                        </a:rPr>
                        <a:t>+40,2% (2016→17), −38,8% (2018→19)</a:t>
                      </a:r>
                    </a:p>
                  </a:txBody>
                  <a:tcPr marL="73152" marR="73152" marT="36576" marB="36576" anchor="ctr">
                    <a:solidFill>
                      <a:srgbClr val="FFFFFF"/>
                    </a:solidFill>
                  </a:tcPr>
                </a:tc>
              </a:tr>
              <a:tr h="384048">
                <a:tc>
                  <a:txBody>
                    <a:bodyPr wrap="square"/>
                    <a:lstStyle/>
                    <a:p>
                      <a:r>
                        <a:rPr sz="1050" b="0" i="0">
                          <a:solidFill>
                            <a:srgbClr val="14313B"/>
                          </a:solidFill>
                          <a:latin typeface="Calibri (MS)"/>
                        </a:rPr>
                        <a:t>DLHK DIY</a:t>
                      </a:r>
                    </a:p>
                  </a:txBody>
                  <a:tcPr marL="73152" marR="73152" marT="36576" marB="36576" anchor="ctr">
                    <a:solidFill>
                      <a:srgbClr val="EAF8FA"/>
                    </a:solidFill>
                  </a:tcPr>
                </a:tc>
                <a:tc>
                  <a:txBody>
                    <a:bodyPr wrap="square"/>
                    <a:lstStyle/>
                    <a:p>
                      <a:pPr algn="ctr"/>
                      <a:r>
                        <a:rPr sz="1050" b="0" i="0">
                          <a:solidFill>
                            <a:srgbClr val="14313B"/>
                          </a:solidFill>
                          <a:latin typeface="Calibri (MS)"/>
                        </a:rPr>
                        <a:t>75.146</a:t>
                      </a:r>
                    </a:p>
                  </a:txBody>
                  <a:tcPr marL="73152" marR="73152" marT="36576" marB="36576" anchor="ctr">
                    <a:solidFill>
                      <a:srgbClr val="EAF8FA"/>
                    </a:solidFill>
                  </a:tcPr>
                </a:tc>
                <a:tc>
                  <a:txBody>
                    <a:bodyPr wrap="square"/>
                    <a:lstStyle/>
                    <a:p>
                      <a:pPr algn="ctr"/>
                      <a:r>
                        <a:rPr sz="1050" b="0" i="0">
                          <a:solidFill>
                            <a:srgbClr val="14313B"/>
                          </a:solidFill>
                          <a:latin typeface="Calibri (MS)"/>
                        </a:rPr>
                        <a:t>65.461</a:t>
                      </a:r>
                    </a:p>
                  </a:txBody>
                  <a:tcPr marL="73152" marR="73152" marT="36576" marB="36576" anchor="ctr">
                    <a:solidFill>
                      <a:srgbClr val="EAF8FA"/>
                    </a:solidFill>
                  </a:tcPr>
                </a:tc>
                <a:tc>
                  <a:txBody>
                    <a:bodyPr wrap="square"/>
                    <a:lstStyle/>
                    <a:p>
                      <a:pPr algn="ctr"/>
                      <a:r>
                        <a:rPr sz="1050" b="0" i="0">
                          <a:solidFill>
                            <a:srgbClr val="14313B"/>
                          </a:solidFill>
                          <a:latin typeface="Calibri (MS)"/>
                        </a:rPr>
                        <a:t>70.371</a:t>
                      </a:r>
                    </a:p>
                  </a:txBody>
                  <a:tcPr marL="73152" marR="73152" marT="36576" marB="36576" anchor="ctr">
                    <a:solidFill>
                      <a:srgbClr val="EAF8FA"/>
                    </a:solidFill>
                  </a:tcPr>
                </a:tc>
                <a:tc>
                  <a:txBody>
                    <a:bodyPr wrap="square"/>
                    <a:lstStyle/>
                    <a:p>
                      <a:pPr algn="ctr"/>
                      <a:r>
                        <a:rPr sz="1050" b="0" i="0">
                          <a:solidFill>
                            <a:srgbClr val="14313B"/>
                          </a:solidFill>
                          <a:latin typeface="Calibri (MS)"/>
                        </a:rPr>
                        <a:t>70.371</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c>
                  <a:txBody>
                    <a:bodyPr wrap="square"/>
                    <a:lstStyle/>
                    <a:p>
                      <a:r>
                        <a:rPr sz="1050" b="0" i="0">
                          <a:solidFill>
                            <a:srgbClr val="14313B"/>
                          </a:solidFill>
                          <a:latin typeface="Calibri (MS)"/>
                        </a:rPr>
                        <a:t>−12,9% (2015→16)</a:t>
                      </a:r>
                    </a:p>
                  </a:txBody>
                  <a:tcPr marL="73152" marR="73152" marT="36576" marB="36576" anchor="ctr">
                    <a:solidFill>
                      <a:srgbClr val="EAF8FA"/>
                    </a:solidFill>
                  </a:tcPr>
                </a:tc>
              </a:tr>
              <a:tr h="384048">
                <a:tc>
                  <a:txBody>
                    <a:bodyPr wrap="square"/>
                    <a:lstStyle/>
                    <a:p>
                      <a:r>
                        <a:rPr sz="1050" b="0" i="0">
                          <a:solidFill>
                            <a:srgbClr val="14313B"/>
                          </a:solidFill>
                          <a:latin typeface="Calibri (MS)"/>
                        </a:rPr>
                        <a:t>Dynamic World (dipakai)</a:t>
                      </a:r>
                    </a:p>
                  </a:txBody>
                  <a:tcPr marL="73152" marR="73152" marT="36576" marB="36576" anchor="ctr">
                    <a:solidFill>
                      <a:srgbClr val="C9F0D6"/>
                    </a:solidFill>
                  </a:tcPr>
                </a:tc>
                <a:tc>
                  <a:txBody>
                    <a:bodyPr wrap="square"/>
                    <a:lstStyle/>
                    <a:p>
                      <a:pPr algn="ctr"/>
                      <a:r>
                        <a:rPr sz="1050" b="0" i="0">
                          <a:solidFill>
                            <a:srgbClr val="14313B"/>
                          </a:solidFill>
                          <a:latin typeface="Calibri (MS)"/>
                        </a:rPr>
                        <a:t>43.037*</a:t>
                      </a:r>
                    </a:p>
                  </a:txBody>
                  <a:tcPr marL="73152" marR="73152" marT="36576" marB="36576" anchor="ctr">
                    <a:solidFill>
                      <a:srgbClr val="C9F0D6"/>
                    </a:solidFill>
                  </a:tcPr>
                </a:tc>
                <a:tc>
                  <a:txBody>
                    <a:bodyPr wrap="square"/>
                    <a:lstStyle/>
                    <a:p>
                      <a:pPr algn="ctr"/>
                      <a:r>
                        <a:rPr sz="1050" b="0" i="0">
                          <a:solidFill>
                            <a:srgbClr val="14313B"/>
                          </a:solidFill>
                          <a:latin typeface="Calibri (MS)"/>
                        </a:rPr>
                        <a:t>44.561</a:t>
                      </a:r>
                    </a:p>
                  </a:txBody>
                  <a:tcPr marL="73152" marR="73152" marT="36576" marB="36576" anchor="ctr">
                    <a:solidFill>
                      <a:srgbClr val="C9F0D6"/>
                    </a:solidFill>
                  </a:tcPr>
                </a:tc>
                <a:tc>
                  <a:txBody>
                    <a:bodyPr wrap="square"/>
                    <a:lstStyle/>
                    <a:p>
                      <a:pPr algn="ctr"/>
                      <a:r>
                        <a:rPr sz="1050" b="0" i="0">
                          <a:solidFill>
                            <a:srgbClr val="14313B"/>
                          </a:solidFill>
                          <a:latin typeface="Calibri (MS)"/>
                        </a:rPr>
                        <a:t>50.224</a:t>
                      </a:r>
                    </a:p>
                  </a:txBody>
                  <a:tcPr marL="73152" marR="73152" marT="36576" marB="36576" anchor="ctr">
                    <a:solidFill>
                      <a:srgbClr val="C9F0D6"/>
                    </a:solidFill>
                  </a:tcPr>
                </a:tc>
                <a:tc>
                  <a:txBody>
                    <a:bodyPr wrap="square"/>
                    <a:lstStyle/>
                    <a:p>
                      <a:pPr algn="ctr"/>
                      <a:r>
                        <a:rPr sz="1050" b="0" i="0">
                          <a:solidFill>
                            <a:srgbClr val="14313B"/>
                          </a:solidFill>
                          <a:latin typeface="Calibri (MS)"/>
                        </a:rPr>
                        <a:t>56.624</a:t>
                      </a:r>
                    </a:p>
                  </a:txBody>
                  <a:tcPr marL="73152" marR="73152" marT="36576" marB="36576" anchor="ctr">
                    <a:solidFill>
                      <a:srgbClr val="C9F0D6"/>
                    </a:solidFill>
                  </a:tcPr>
                </a:tc>
                <a:tc>
                  <a:txBody>
                    <a:bodyPr wrap="square"/>
                    <a:lstStyle/>
                    <a:p>
                      <a:pPr algn="ctr"/>
                      <a:r>
                        <a:rPr sz="1050" b="0" i="0">
                          <a:solidFill>
                            <a:srgbClr val="14313B"/>
                          </a:solidFill>
                          <a:latin typeface="Calibri (MS)"/>
                        </a:rPr>
                        <a:t>63.480</a:t>
                      </a:r>
                    </a:p>
                  </a:txBody>
                  <a:tcPr marL="73152" marR="73152" marT="36576" marB="36576" anchor="ctr">
                    <a:solidFill>
                      <a:srgbClr val="C9F0D6"/>
                    </a:solidFill>
                  </a:tcPr>
                </a:tc>
                <a:tc>
                  <a:txBody>
                    <a:bodyPr wrap="square"/>
                    <a:lstStyle/>
                    <a:p>
                      <a:r>
                        <a:rPr sz="1050" b="0" i="0">
                          <a:solidFill>
                            <a:srgbClr val="14313B"/>
                          </a:solidFill>
                          <a:latin typeface="Calibri (MS)"/>
                        </a:rPr>
                        <a:t>naik ±12–13%/tahun, tanpa pembalikan</a:t>
                      </a:r>
                    </a:p>
                  </a:txBody>
                  <a:tcPr marL="73152" marR="73152" marT="36576" marB="36576" anchor="ctr">
                    <a:solidFill>
                      <a:srgbClr val="C9F0D6"/>
                    </a:solidFill>
                  </a:tcPr>
                </a:tc>
              </a:tr>
            </a:tbl>
          </a:graphicData>
        </a:graphic>
      </p:graphicFrame>
      <p:sp>
        <p:nvSpPr>
          <p:cNvPr id="35" name="TextBox 34"/>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4.2.2 (Gambar 13); Optimasi_Ambang_DW_2025.csv; lembar kerja uji akurasi; Master Data. *ekstrapolasi.</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56082"/>
            <a:ext cx="16637508" cy="914400"/>
          </a:xfrm>
          <a:prstGeom prst="rect">
            <a:avLst/>
          </a:prstGeom>
        </p:spPr>
        <p:txBody>
          <a:bodyPr anchor="t" rtlCol="false" tIns="0" lIns="0" bIns="0" rIns="0">
            <a:spAutoFit/>
          </a:bodyPr>
          <a:lstStyle/>
          <a:p>
            <a:pPr algn="l">
              <a:lnSpc>
                <a:spcPts val="3840"/>
              </a:lnSpc>
            </a:pPr>
            <a:r>
              <a:rPr lang="en-US" sz="2600" b="true">
                <a:solidFill>
                  <a:srgbClr val="0B5E6E"/>
                </a:solidFill>
                <a:latin typeface="Calibri (MS) Bold"/>
                <a:ea typeface="Calibri (MS) Bold"/>
                <a:cs typeface="Calibri (MS) Bold"/>
                <a:sym typeface="Calibri (MS) Bold"/>
              </a:rPr>
              <a:t>Lampiran 22 · Estimasi Lahan Terbangun — Diagnosis Ketidakstabilan Temporal</a:t>
            </a:r>
          </a:p>
          <a:p>
            <a:pPr algn="l">
              <a:lnSpc>
                <a:spcPts val="2279"/>
              </a:lnSpc>
            </a:pPr>
            <a:r>
              <a:rPr lang="en-US" sz="1899">
                <a:solidFill>
                  <a:srgbClr val="4A5A63"/>
                </a:solidFill>
                <a:latin typeface="Calibri (MS)"/>
                <a:ea typeface="Calibri (MS)"/>
                <a:cs typeface="Calibri (MS)"/>
                <a:sym typeface="Calibri (MS)"/>
              </a:rPr>
              <a:t>Naik-turunnya luas Dynamic World mengikuti jumlah citra yang terekam, bukan perubahan lahan</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80" id="80"/>
          <p:cNvGrpSpPr/>
          <p:nvPr/>
        </p:nvGrpSpPr>
        <p:grpSpPr>
          <a:xfrm rot="0">
            <a:off x="12755880" y="274320"/>
            <a:ext cx="3931920" cy="411480"/>
            <a:chOff x="0" y="0"/>
            <a:chExt cx="5242560" cy="548640"/>
          </a:xfrm>
        </p:grpSpPr>
        <p:sp>
          <p:nvSpPr>
            <p:cNvPr name="Freeform 81" id="8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060" r="0" b="-136062"/>
              </a:stretch>
            </a:blipFill>
          </p:spPr>
        </p:sp>
      </p:grpSp>
      <p:grpSp>
        <p:nvGrpSpPr>
          <p:cNvPr name="Group 82" id="82"/>
          <p:cNvGrpSpPr/>
          <p:nvPr/>
        </p:nvGrpSpPr>
        <p:grpSpPr>
          <a:xfrm rot="0">
            <a:off x="12755880" y="252889"/>
            <a:ext cx="3931920" cy="432911"/>
            <a:chOff x="0" y="0"/>
            <a:chExt cx="5242560" cy="577215"/>
          </a:xfrm>
        </p:grpSpPr>
        <p:sp>
          <p:nvSpPr>
            <p:cNvPr name="Freeform 83" id="83"/>
            <p:cNvSpPr/>
            <p:nvPr/>
          </p:nvSpPr>
          <p:spPr>
            <a:xfrm flipH="false" flipV="false" rot="0">
              <a:off x="0" y="0"/>
              <a:ext cx="5242560" cy="577215"/>
            </a:xfrm>
            <a:custGeom>
              <a:avLst/>
              <a:gdLst/>
              <a:ahLst/>
              <a:cxnLst/>
              <a:rect r="r" b="b" t="t" l="l"/>
              <a:pathLst>
                <a:path h="577215" w="5242560">
                  <a:moveTo>
                    <a:pt x="0" y="0"/>
                  </a:moveTo>
                  <a:lnTo>
                    <a:pt x="5242560" y="0"/>
                  </a:lnTo>
                  <a:lnTo>
                    <a:pt x="5242560" y="577215"/>
                  </a:lnTo>
                  <a:lnTo>
                    <a:pt x="0" y="577215"/>
                  </a:lnTo>
                  <a:close/>
                </a:path>
              </a:pathLst>
            </a:custGeom>
            <a:blipFill>
              <a:blip r:embed="rId7">
                <a:alphaModFix amt="0"/>
              </a:blip>
              <a:stretch>
                <a:fillRect l="0" t="-126973" r="0" b="-126973"/>
              </a:stretch>
            </a:blipFill>
          </p:spPr>
        </p:sp>
        <p:sp>
          <p:nvSpPr>
            <p:cNvPr name="TextBox 84" id="84"/>
            <p:cNvSpPr txBox="true"/>
            <p:nvPr/>
          </p:nvSpPr>
          <p:spPr>
            <a:xfrm>
              <a:off x="0" y="-28575"/>
              <a:ext cx="5242560" cy="605790"/>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name="Picture 85" id="85"/>
          <p:cNvPicPr>
            <a:picLocks noChangeAspect="true"/>
          </p:cNvPicPr>
          <p:nvPr/>
        </p:nvPicPr>
        <p:blipFill>
          <a:blip r:embed="rId8"/>
          <a:stretch>
            <a:fillRect/>
          </a:stretch>
        </p:blipFill>
        <p:spPr>
          <a:xfrm rot="0">
            <a:off x="-182880" y="777240"/>
            <a:ext cx="12070080" cy="5943600"/>
          </a:xfrm>
          <a:prstGeom prst="rect">
            <a:avLst/>
          </a:prstGeom>
        </p:spPr>
      </p:pic>
      <p:pic>
        <p:nvPicPr>
          <p:cNvPr name="Picture 86" id="86"/>
          <p:cNvPicPr>
            <a:picLocks noChangeAspect="true"/>
          </p:cNvPicPr>
          <p:nvPr/>
        </p:nvPicPr>
        <p:blipFill>
          <a:blip r:embed="rId9"/>
          <a:stretch>
            <a:fillRect/>
          </a:stretch>
        </p:blipFill>
        <p:spPr>
          <a:xfrm rot="0">
            <a:off x="218156" y="4604856"/>
            <a:ext cx="11657525" cy="4773905"/>
          </a:xfrm>
          <a:prstGeom prst="rect">
            <a:avLst/>
          </a:prstGeom>
        </p:spPr>
      </p:pic>
      <p:sp>
        <p:nvSpPr>
          <p:cNvPr name="TextBox 87" id="87"/>
          <p:cNvSpPr txBox="true"/>
          <p:nvPr/>
        </p:nvSpPr>
        <p:spPr>
          <a:xfrm rot="0">
            <a:off x="822960" y="8393430"/>
            <a:ext cx="10058400" cy="56769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Tahun dengan citra terbanyak (kuning: 2019, 2023) juga tahun dengan luas terbesar. Grafik atas memakai luas probabilitas Dynamic World (dasar perhitungan diagnosis, ha), sehingga angkanya sedikit berbeda dari data model.</a:t>
            </a:r>
          </a:p>
        </p:txBody>
      </p:sp>
      <p:grpSp>
        <p:nvGrpSpPr>
          <p:cNvPr name="Group 88" id="88"/>
          <p:cNvGrpSpPr/>
          <p:nvPr/>
        </p:nvGrpSpPr>
        <p:grpSpPr>
          <a:xfrm rot="0">
            <a:off x="11247120" y="1783080"/>
            <a:ext cx="6217920" cy="1325880"/>
            <a:chOff x="0" y="0"/>
            <a:chExt cx="8290560" cy="1767840"/>
          </a:xfrm>
        </p:grpSpPr>
        <p:sp>
          <p:nvSpPr>
            <p:cNvPr name="Freeform 89" id="89"/>
            <p:cNvSpPr/>
            <p:nvPr/>
          </p:nvSpPr>
          <p:spPr>
            <a:xfrm flipH="false" flipV="false" rot="0">
              <a:off x="0" y="0"/>
              <a:ext cx="8290560" cy="1767840"/>
            </a:xfrm>
            <a:custGeom>
              <a:avLst/>
              <a:gdLst/>
              <a:ahLst/>
              <a:cxnLst/>
              <a:rect r="r" b="b" t="t" l="l"/>
              <a:pathLst>
                <a:path h="1767840" w="8290560">
                  <a:moveTo>
                    <a:pt x="0" y="141478"/>
                  </a:moveTo>
                  <a:cubicBezTo>
                    <a:pt x="0" y="63373"/>
                    <a:pt x="63373" y="0"/>
                    <a:pt x="141478" y="0"/>
                  </a:cubicBezTo>
                  <a:lnTo>
                    <a:pt x="8149082" y="0"/>
                  </a:lnTo>
                  <a:cubicBezTo>
                    <a:pt x="8227187" y="0"/>
                    <a:pt x="8290560" y="63373"/>
                    <a:pt x="8290560" y="141478"/>
                  </a:cubicBezTo>
                  <a:lnTo>
                    <a:pt x="8290560" y="1626362"/>
                  </a:lnTo>
                  <a:cubicBezTo>
                    <a:pt x="8290560" y="1704467"/>
                    <a:pt x="8227187" y="1767840"/>
                    <a:pt x="8149082" y="1767840"/>
                  </a:cubicBezTo>
                  <a:lnTo>
                    <a:pt x="141478" y="1767840"/>
                  </a:lnTo>
                  <a:cubicBezTo>
                    <a:pt x="63373" y="1767840"/>
                    <a:pt x="0" y="1704467"/>
                    <a:pt x="0" y="1626362"/>
                  </a:cubicBezTo>
                  <a:close/>
                </a:path>
              </a:pathLst>
            </a:custGeom>
            <a:solidFill>
              <a:srgbClr val="FDE2DE"/>
            </a:solidFill>
          </p:spPr>
        </p:sp>
        <p:sp>
          <p:nvSpPr>
            <p:cNvPr name="TextBox 90" id="90"/>
            <p:cNvSpPr txBox="true"/>
            <p:nvPr/>
          </p:nvSpPr>
          <p:spPr>
            <a:xfrm>
              <a:off x="0" y="-28575"/>
              <a:ext cx="8290560" cy="1796415"/>
            </a:xfrm>
            <a:prstGeom prst="rect">
              <a:avLst/>
            </a:prstGeom>
          </p:spPr>
          <p:txBody>
            <a:bodyPr anchor="t" rtlCol="false" tIns="50800" lIns="50800" bIns="50800" rIns="50800"/>
            <a:lstStyle/>
            <a:p>
              <a:pPr algn="l">
                <a:lnSpc>
                  <a:spcPts val="1788"/>
                </a:lnSpc>
              </a:pPr>
              <a:r>
                <a:rPr lang="en-US" sz="1490" b="true">
                  <a:solidFill>
                    <a:srgbClr val="E4604F"/>
                  </a:solidFill>
                  <a:latin typeface="Calibri (MS) Bold"/>
                  <a:ea typeface="Calibri (MS) Bold"/>
                  <a:cs typeface="Calibri (MS) Bold"/>
                  <a:sym typeface="Calibri (MS) Bold"/>
                </a:rPr>
                <a:t>Masalah: turun 27% dalam dua tahun</a:t>
              </a:r>
            </a:p>
            <a:p>
              <a:pPr algn="l">
                <a:lnSpc>
                  <a:spcPts val="1584"/>
                </a:lnSpc>
              </a:pPr>
              <a:r>
                <a:rPr lang="en-US" sz="1320">
                  <a:solidFill>
                    <a:srgbClr val="14313B"/>
                  </a:solidFill>
                  <a:latin typeface="Calibri (MS)"/>
                  <a:ea typeface="Calibri (MS)"/>
                  <a:cs typeface="Calibri (MS)"/>
                  <a:sym typeface="Calibri (MS)"/>
                </a:rPr>
                <a:t>Data model: 75.624 ha (2023) → 55.030 ha (2025). Lahan terbangun tidak mungkin berkurang sebesar itu di lapangan.</a:t>
              </a:r>
            </a:p>
          </p:txBody>
        </p:sp>
      </p:grpSp>
      <p:graphicFrame>
        <p:nvGraphicFramePr>
          <p:cNvPr name="Table 91" id="91"/>
          <p:cNvGraphicFramePr>
            <a:graphicFrameLocks noGrp="true"/>
          </p:cNvGraphicFramePr>
          <p:nvPr/>
        </p:nvGraphicFramePr>
        <p:xfrm>
          <a:off x="11247120" y="3246120"/>
          <a:ext cx="6210300" cy="2286000"/>
        </p:xfrm>
        <a:graphic>
          <a:graphicData uri="http://schemas.openxmlformats.org/drawingml/2006/table">
            <a:tbl>
              <a:tblPr/>
              <a:tblGrid>
                <a:gridCol w="2374526"/>
                <a:gridCol w="1826559"/>
                <a:gridCol w="2009215"/>
              </a:tblGrid>
              <a:tr h="457200">
                <a:tc>
                  <a:txBody>
                    <a:bodyPr anchor="t" rtlCol="false"/>
                    <a:lstStyle/>
                    <a:p>
                      <a:pPr algn="l">
                        <a:lnSpc>
                          <a:spcPts val="1512"/>
                        </a:lnSpc>
                        <a:defRPr/>
                      </a:pPr>
                      <a:r>
                        <a:rPr lang="en-US" sz="1260" b="true">
                          <a:solidFill>
                            <a:srgbClr val="FFFFFF"/>
                          </a:solidFill>
                          <a:latin typeface="Calibri (MS) Bold"/>
                          <a:ea typeface="Calibri (MS) Bold"/>
                          <a:cs typeface="Calibri (MS) Bold"/>
                          <a:sym typeface="Calibri (MS) Bold"/>
                        </a:rPr>
                        <a:t>Pemeriksaan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512"/>
                        </a:lnSpc>
                        <a:defRPr/>
                      </a:pPr>
                      <a:r>
                        <a:rPr lang="en-US" sz="1260" b="true">
                          <a:solidFill>
                            <a:srgbClr val="FFFFFF"/>
                          </a:solidFill>
                          <a:latin typeface="Calibri (MS) Bold"/>
                          <a:ea typeface="Calibri (MS) Bold"/>
                          <a:cs typeface="Calibri (MS) Bold"/>
                          <a:sym typeface="Calibri (MS) Bold"/>
                        </a:rPr>
                        <a:t>Hasil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512"/>
                        </a:lnSpc>
                        <a:defRPr/>
                      </a:pPr>
                      <a:r>
                        <a:rPr lang="en-US" sz="1260" b="true">
                          <a:solidFill>
                            <a:srgbClr val="FFFFFF"/>
                          </a:solidFill>
                          <a:latin typeface="Calibri (MS) Bold"/>
                          <a:ea typeface="Calibri (MS) Bold"/>
                          <a:cs typeface="Calibri (MS) Bold"/>
                          <a:sym typeface="Calibri (MS) Bold"/>
                        </a:rPr>
                        <a:t>Arti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57200">
                <a:tc>
                  <a:txBody>
                    <a:bodyPr anchor="t" rtlCol="false"/>
                    <a:lstStyle/>
                    <a:p>
                      <a:pPr algn="l">
                        <a:lnSpc>
                          <a:spcPts val="1512"/>
                        </a:lnSpc>
                        <a:defRPr/>
                      </a:pPr>
                      <a:r>
                        <a:rPr lang="en-US" sz="1260" b="true">
                          <a:solidFill>
                            <a:srgbClr val="14313B"/>
                          </a:solidFill>
                          <a:latin typeface="Calibri (MS) Bold"/>
                          <a:ea typeface="Calibri (MS) Bold"/>
                          <a:cs typeface="Calibri (MS) Bold"/>
                          <a:sym typeface="Calibri (MS) Bold"/>
                        </a:rPr>
                        <a:t>Luas vs jumlah observasi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r = 0,788 (p = 0,007)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DE2DE"/>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Berhubungan kuat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512"/>
                        </a:lnSpc>
                        <a:defRPr/>
                      </a:pPr>
                      <a:r>
                        <a:rPr lang="en-US" sz="1260" b="true">
                          <a:solidFill>
                            <a:srgbClr val="14313B"/>
                          </a:solidFill>
                          <a:latin typeface="Calibri (MS) Bold"/>
                          <a:ea typeface="Calibri (MS) Bold"/>
                          <a:cs typeface="Calibri (MS) Bold"/>
                          <a:sym typeface="Calibri (MS) Bold"/>
                        </a:rPr>
                        <a:t>Jumlah observasi vs 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r = 0,174 (p = 0,631)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9F0D6"/>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Tidak berhubungan → koreksi sah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512"/>
                        </a:lnSpc>
                        <a:defRPr/>
                      </a:pPr>
                      <a:r>
                        <a:rPr lang="en-US" sz="1260" b="true">
                          <a:solidFill>
                            <a:srgbClr val="14313B"/>
                          </a:solidFill>
                          <a:latin typeface="Calibri (MS) Bold"/>
                          <a:ea typeface="Calibri (MS) Bold"/>
                          <a:cs typeface="Calibri (MS) Bold"/>
                          <a:sym typeface="Calibri (MS) Bold"/>
                        </a:rPr>
                        <a:t>Setelah koreksi: luas vs observasi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r ≈ 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9F0D6"/>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Pengaruh observasi hilang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512"/>
                        </a:lnSpc>
                        <a:defRPr/>
                      </a:pPr>
                      <a:r>
                        <a:rPr lang="en-US" sz="1260" b="true">
                          <a:solidFill>
                            <a:srgbClr val="14313B"/>
                          </a:solidFill>
                          <a:latin typeface="Calibri (MS) Bold"/>
                          <a:ea typeface="Calibri (MS) Bold"/>
                          <a:cs typeface="Calibri (MS) Bold"/>
                          <a:sym typeface="Calibri (MS) Bold"/>
                        </a:rPr>
                        <a:t>Variasi perubahan tahunan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12,3% → 6,6%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9F0D6"/>
                    </a:solidFill>
                  </a:tcPr>
                </a:tc>
                <a:tc>
                  <a:txBody>
                    <a:bodyPr anchor="t" rtlCol="false"/>
                    <a:lstStyle/>
                    <a:p>
                      <a:pPr algn="l">
                        <a:lnSpc>
                          <a:spcPts val="1512"/>
                        </a:lnSpc>
                        <a:defRPr/>
                      </a:pPr>
                      <a:r>
                        <a:rPr lang="en-US" sz="1260">
                          <a:solidFill>
                            <a:srgbClr val="14313B"/>
                          </a:solidFill>
                          <a:latin typeface="Calibri (MS)"/>
                          <a:ea typeface="Calibri (MS)"/>
                          <a:cs typeface="Calibri (MS)"/>
                          <a:sym typeface="Calibri (MS)"/>
                        </a:rPr>
                        <a:t>Data jadi lebih stabil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92" id="92"/>
          <p:cNvGrpSpPr/>
          <p:nvPr/>
        </p:nvGrpSpPr>
        <p:grpSpPr>
          <a:xfrm rot="0">
            <a:off x="11240767" y="5662927"/>
            <a:ext cx="6230617" cy="1247137"/>
            <a:chOff x="0" y="0"/>
            <a:chExt cx="8307489" cy="1662849"/>
          </a:xfrm>
        </p:grpSpPr>
        <p:sp>
          <p:nvSpPr>
            <p:cNvPr name="Freeform 93" id="93"/>
            <p:cNvSpPr/>
            <p:nvPr/>
          </p:nvSpPr>
          <p:spPr>
            <a:xfrm flipH="false" flipV="false" rot="0">
              <a:off x="0" y="0"/>
              <a:ext cx="8307450" cy="1662811"/>
            </a:xfrm>
            <a:custGeom>
              <a:avLst/>
              <a:gdLst/>
              <a:ahLst/>
              <a:cxnLst/>
              <a:rect r="r" b="b" t="t" l="l"/>
              <a:pathLst>
                <a:path h="1662811" w="8307450">
                  <a:moveTo>
                    <a:pt x="0" y="132969"/>
                  </a:moveTo>
                  <a:cubicBezTo>
                    <a:pt x="0" y="59563"/>
                    <a:pt x="59563" y="0"/>
                    <a:pt x="132969" y="0"/>
                  </a:cubicBezTo>
                  <a:lnTo>
                    <a:pt x="8174482" y="0"/>
                  </a:lnTo>
                  <a:cubicBezTo>
                    <a:pt x="8247888" y="0"/>
                    <a:pt x="8307450" y="59563"/>
                    <a:pt x="8307450" y="132969"/>
                  </a:cubicBezTo>
                  <a:lnTo>
                    <a:pt x="8307450" y="1529842"/>
                  </a:lnTo>
                  <a:cubicBezTo>
                    <a:pt x="8307450" y="1603248"/>
                    <a:pt x="8247888" y="1662811"/>
                    <a:pt x="8174482" y="1662811"/>
                  </a:cubicBezTo>
                  <a:lnTo>
                    <a:pt x="132969" y="1662811"/>
                  </a:lnTo>
                  <a:cubicBezTo>
                    <a:pt x="59563" y="1662811"/>
                    <a:pt x="0" y="1603248"/>
                    <a:pt x="0" y="1529842"/>
                  </a:cubicBezTo>
                  <a:close/>
                </a:path>
              </a:pathLst>
            </a:custGeom>
            <a:solidFill>
              <a:srgbClr val="EAF8FA"/>
            </a:solidFill>
            <a:ln w="12700" cap="sq">
              <a:solidFill>
                <a:srgbClr val="CFE5E9"/>
              </a:solidFill>
              <a:prstDash val="solid"/>
              <a:miter/>
            </a:ln>
          </p:spPr>
        </p:sp>
        <p:sp>
          <p:nvSpPr>
            <p:cNvPr name="TextBox 94" id="94"/>
            <p:cNvSpPr txBox="true"/>
            <p:nvPr/>
          </p:nvSpPr>
          <p:spPr>
            <a:xfrm>
              <a:off x="0" y="-28575"/>
              <a:ext cx="8307489" cy="1691424"/>
            </a:xfrm>
            <a:prstGeom prst="rect">
              <a:avLst/>
            </a:prstGeom>
          </p:spPr>
          <p:txBody>
            <a:bodyPr anchor="t" rtlCol="false" tIns="50800" lIns="50800" bIns="50800" rIns="50800"/>
            <a:lstStyle/>
            <a:p>
              <a:pPr algn="l">
                <a:lnSpc>
                  <a:spcPts val="1655"/>
                </a:lnSpc>
              </a:pPr>
              <a:r>
                <a:rPr lang="en-US" sz="1380" b="true">
                  <a:solidFill>
                    <a:srgbClr val="0B5E6E"/>
                  </a:solidFill>
                  <a:latin typeface="Calibri (MS) Bold"/>
                  <a:ea typeface="Calibri (MS) Bold"/>
                  <a:cs typeface="Calibri (MS) Bold"/>
                  <a:sym typeface="Calibri (MS) Bold"/>
                </a:rPr>
                <a:t>Cara koreksi (penyesuaian kovariat, mirip ANCOVA)</a:t>
              </a:r>
            </a:p>
            <a:p>
              <a:pPr algn="l">
                <a:lnSpc>
                  <a:spcPts val="1512"/>
                </a:lnSpc>
              </a:pPr>
              <a:r>
                <a:rPr lang="en-US" sz="1260">
                  <a:solidFill>
                    <a:srgbClr val="14313B"/>
                  </a:solidFill>
                  <a:latin typeface="Calibri (MS)"/>
                  <a:ea typeface="Calibri (MS)"/>
                  <a:cs typeface="Calibri (MS)"/>
                  <a:sym typeface="Calibri (MS)"/>
                </a:rPr>
                <a:t>Luasₜ = a + b · Obsₜ  →  Luas terkoreksiₜ = Luasₜ − b · (Obsₜ − rata-rata Obs)</a:t>
              </a:r>
            </a:p>
          </p:txBody>
        </p:sp>
      </p:grpSp>
      <p:grpSp>
        <p:nvGrpSpPr>
          <p:cNvPr name="Group 95" id="95"/>
          <p:cNvGrpSpPr/>
          <p:nvPr/>
        </p:nvGrpSpPr>
        <p:grpSpPr>
          <a:xfrm rot="0">
            <a:off x="11240767" y="7034527"/>
            <a:ext cx="6230617" cy="1384297"/>
            <a:chOff x="0" y="0"/>
            <a:chExt cx="8307489" cy="1845729"/>
          </a:xfrm>
        </p:grpSpPr>
        <p:sp>
          <p:nvSpPr>
            <p:cNvPr name="Freeform 96" id="96"/>
            <p:cNvSpPr/>
            <p:nvPr/>
          </p:nvSpPr>
          <p:spPr>
            <a:xfrm flipH="false" flipV="false" rot="0">
              <a:off x="0" y="0"/>
              <a:ext cx="8307578" cy="1845818"/>
            </a:xfrm>
            <a:custGeom>
              <a:avLst/>
              <a:gdLst/>
              <a:ahLst/>
              <a:cxnLst/>
              <a:rect r="r" b="b" t="t" l="l"/>
              <a:pathLst>
                <a:path h="1845818" w="8307578">
                  <a:moveTo>
                    <a:pt x="0" y="147701"/>
                  </a:moveTo>
                  <a:cubicBezTo>
                    <a:pt x="0" y="66167"/>
                    <a:pt x="66167" y="0"/>
                    <a:pt x="147701" y="0"/>
                  </a:cubicBezTo>
                  <a:lnTo>
                    <a:pt x="8159877" y="0"/>
                  </a:lnTo>
                  <a:cubicBezTo>
                    <a:pt x="8241411" y="0"/>
                    <a:pt x="8307578" y="66167"/>
                    <a:pt x="8307578" y="147701"/>
                  </a:cubicBezTo>
                  <a:lnTo>
                    <a:pt x="8307578" y="1698117"/>
                  </a:lnTo>
                  <a:cubicBezTo>
                    <a:pt x="8307578" y="1779651"/>
                    <a:pt x="8241411" y="1845818"/>
                    <a:pt x="8159877" y="1845818"/>
                  </a:cubicBezTo>
                  <a:lnTo>
                    <a:pt x="147701" y="1845818"/>
                  </a:lnTo>
                  <a:cubicBezTo>
                    <a:pt x="66167" y="1845691"/>
                    <a:pt x="0" y="1779651"/>
                    <a:pt x="0" y="1698117"/>
                  </a:cubicBezTo>
                  <a:close/>
                </a:path>
              </a:pathLst>
            </a:custGeom>
            <a:solidFill>
              <a:srgbClr val="FFF1BF"/>
            </a:solidFill>
            <a:ln w="12700" cap="sq">
              <a:solidFill>
                <a:srgbClr val="FFD23B"/>
              </a:solidFill>
              <a:prstDash val="solid"/>
              <a:miter/>
            </a:ln>
          </p:spPr>
        </p:sp>
        <p:sp>
          <p:nvSpPr>
            <p:cNvPr name="TextBox 97" id="97"/>
            <p:cNvSpPr txBox="true"/>
            <p:nvPr/>
          </p:nvSpPr>
          <p:spPr>
            <a:xfrm>
              <a:off x="0" y="-38100"/>
              <a:ext cx="8307489" cy="188382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Keputusan</a:t>
              </a:r>
            </a:p>
            <a:p>
              <a:pPr algn="l">
                <a:lnSpc>
                  <a:spcPts val="1512"/>
                </a:lnSpc>
              </a:pPr>
              <a:r>
                <a:rPr lang="en-US" sz="1260">
                  <a:solidFill>
                    <a:srgbClr val="14313B"/>
                  </a:solidFill>
                  <a:latin typeface="Calibri (MS)"/>
                  <a:ea typeface="Calibri (MS)"/>
                  <a:cs typeface="Calibri (MS)"/>
                  <a:sym typeface="Calibri (MS)"/>
                </a:rPr>
                <a:t>Data model tetap memakai nilai asli, karena tahun 2025 sudah menjadi dasar semua parameter dan kalibrasi. Koreksi hanya untuk pemeriksaan; noise dicatat sebagai keterbatasan.</a:t>
              </a:r>
            </a:p>
          </p:txBody>
        </p:sp>
      </p:gr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23 · Sampel Uji Akurasi Lahan Terbangun (1/4)</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Titik 1–50 dari 200: kelas peta Dynamic World 2025 dibandingkan label rujukan visual Google Earth</a:t>
            </a:r>
          </a:p>
        </p:txBody>
      </p:sp>
      <p:graphicFrame>
        <p:nvGraphicFramePr>
          <p:cNvPr id="27" name="Table 26"/>
          <p:cNvGraphicFramePr>
            <a:graphicFrameLocks noGrp="1"/>
          </p:cNvGraphicFramePr>
          <p:nvPr/>
        </p:nvGraphicFramePr>
        <p:xfrm>
          <a:off x="82296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1</a:t>
                      </a:r>
                    </a:p>
                  </a:txBody>
                  <a:tcPr marL="73152" marR="73152" marT="36576" marB="36576" anchor="ctr">
                    <a:solidFill>
                      <a:srgbClr val="FFFFFF"/>
                    </a:solidFill>
                  </a:tcPr>
                </a:tc>
                <a:tc>
                  <a:txBody>
                    <a:bodyPr wrap="square"/>
                    <a:lstStyle/>
                    <a:p>
                      <a:pPr algn="ctr"/>
                      <a:r>
                        <a:rPr sz="850" b="0" i="0">
                          <a:solidFill>
                            <a:srgbClr val="14313B"/>
                          </a:solidFill>
                          <a:latin typeface="Calibri (MS)"/>
                        </a:rPr>
                        <a:t>110,58338</a:t>
                      </a:r>
                    </a:p>
                  </a:txBody>
                  <a:tcPr marL="73152" marR="73152" marT="36576" marB="36576" anchor="ctr">
                    <a:solidFill>
                      <a:srgbClr val="FFFFFF"/>
                    </a:solidFill>
                  </a:tcPr>
                </a:tc>
                <a:tc>
                  <a:txBody>
                    <a:bodyPr wrap="square"/>
                    <a:lstStyle/>
                    <a:p>
                      <a:pPr algn="ctr"/>
                      <a:r>
                        <a:rPr sz="850" b="0" i="0">
                          <a:solidFill>
                            <a:srgbClr val="14313B"/>
                          </a:solidFill>
                          <a:latin typeface="Calibri (MS)"/>
                        </a:rPr>
                        <a:t>-8,13725</a:t>
                      </a:r>
                    </a:p>
                  </a:txBody>
                  <a:tcPr marL="73152" marR="73152" marT="36576" marB="36576" anchor="ctr">
                    <a:solidFill>
                      <a:srgbClr val="FFFFFF"/>
                    </a:solidFill>
                  </a:tcPr>
                </a:tc>
                <a:tc>
                  <a:txBody>
                    <a:bodyPr wrap="square"/>
                    <a:lstStyle/>
                    <a:p>
                      <a:pPr algn="ctr"/>
                      <a:r>
                        <a:rPr sz="850" b="0" i="0">
                          <a:solidFill>
                            <a:srgbClr val="14313B"/>
                          </a:solidFill>
                          <a:latin typeface="Calibri (MS)"/>
                        </a:rPr>
                        <a:t>0,440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a:t>
                      </a:r>
                    </a:p>
                  </a:txBody>
                  <a:tcPr marL="73152" marR="73152" marT="36576" marB="36576" anchor="ctr">
                    <a:solidFill>
                      <a:srgbClr val="EAF8FA"/>
                    </a:solidFill>
                  </a:tcPr>
                </a:tc>
                <a:tc>
                  <a:txBody>
                    <a:bodyPr wrap="square"/>
                    <a:lstStyle/>
                    <a:p>
                      <a:pPr algn="ctr"/>
                      <a:r>
                        <a:rPr sz="850" b="0" i="0">
                          <a:solidFill>
                            <a:srgbClr val="14313B"/>
                          </a:solidFill>
                          <a:latin typeface="Calibri (MS)"/>
                        </a:rPr>
                        <a:t>110,06181</a:t>
                      </a:r>
                    </a:p>
                  </a:txBody>
                  <a:tcPr marL="73152" marR="73152" marT="36576" marB="36576" anchor="ctr">
                    <a:solidFill>
                      <a:srgbClr val="EAF8FA"/>
                    </a:solidFill>
                  </a:tcPr>
                </a:tc>
                <a:tc>
                  <a:txBody>
                    <a:bodyPr wrap="square"/>
                    <a:lstStyle/>
                    <a:p>
                      <a:pPr algn="ctr"/>
                      <a:r>
                        <a:rPr sz="850" b="0" i="0">
                          <a:solidFill>
                            <a:srgbClr val="14313B"/>
                          </a:solidFill>
                          <a:latin typeface="Calibri (MS)"/>
                        </a:rPr>
                        <a:t>-7,85096</a:t>
                      </a:r>
                    </a:p>
                  </a:txBody>
                  <a:tcPr marL="73152" marR="73152" marT="36576" marB="36576" anchor="ctr">
                    <a:solidFill>
                      <a:srgbClr val="EAF8FA"/>
                    </a:solidFill>
                  </a:tcPr>
                </a:tc>
                <a:tc>
                  <a:txBody>
                    <a:bodyPr wrap="square"/>
                    <a:lstStyle/>
                    <a:p>
                      <a:pPr algn="ctr"/>
                      <a:r>
                        <a:rPr sz="850" b="0" i="0">
                          <a:solidFill>
                            <a:srgbClr val="14313B"/>
                          </a:solidFill>
                          <a:latin typeface="Calibri (MS)"/>
                        </a:rPr>
                        <a:t>0,036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3</a:t>
                      </a:r>
                    </a:p>
                  </a:txBody>
                  <a:tcPr marL="73152" marR="73152" marT="36576" marB="36576" anchor="ctr">
                    <a:solidFill>
                      <a:srgbClr val="FFFFFF"/>
                    </a:solidFill>
                  </a:tcPr>
                </a:tc>
                <a:tc>
                  <a:txBody>
                    <a:bodyPr wrap="square"/>
                    <a:lstStyle/>
                    <a:p>
                      <a:pPr algn="ctr"/>
                      <a:r>
                        <a:rPr sz="850" b="0" i="0">
                          <a:solidFill>
                            <a:srgbClr val="14313B"/>
                          </a:solidFill>
                          <a:latin typeface="Calibri (MS)"/>
                        </a:rPr>
                        <a:t>110,65533</a:t>
                      </a:r>
                    </a:p>
                  </a:txBody>
                  <a:tcPr marL="73152" marR="73152" marT="36576" marB="36576" anchor="ctr">
                    <a:solidFill>
                      <a:srgbClr val="FFFFFF"/>
                    </a:solidFill>
                  </a:tcPr>
                </a:tc>
                <a:tc>
                  <a:txBody>
                    <a:bodyPr wrap="square"/>
                    <a:lstStyle/>
                    <a:p>
                      <a:pPr algn="ctr"/>
                      <a:r>
                        <a:rPr sz="850" b="0" i="0">
                          <a:solidFill>
                            <a:srgbClr val="14313B"/>
                          </a:solidFill>
                          <a:latin typeface="Calibri (MS)"/>
                        </a:rPr>
                        <a:t>-7,86372</a:t>
                      </a:r>
                    </a:p>
                  </a:txBody>
                  <a:tcPr marL="73152" marR="73152" marT="36576" marB="36576" anchor="ctr">
                    <a:solidFill>
                      <a:srgbClr val="FFFFFF"/>
                    </a:solidFill>
                  </a:tcPr>
                </a:tc>
                <a:tc>
                  <a:txBody>
                    <a:bodyPr wrap="square"/>
                    <a:lstStyle/>
                    <a:p>
                      <a:pPr algn="ctr"/>
                      <a:r>
                        <a:rPr sz="850" b="0" i="0">
                          <a:solidFill>
                            <a:srgbClr val="14313B"/>
                          </a:solidFill>
                          <a:latin typeface="Calibri (MS)"/>
                        </a:rPr>
                        <a:t>0,184</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4</a:t>
                      </a:r>
                    </a:p>
                  </a:txBody>
                  <a:tcPr marL="73152" marR="73152" marT="36576" marB="36576" anchor="ctr">
                    <a:solidFill>
                      <a:srgbClr val="EAF8FA"/>
                    </a:solidFill>
                  </a:tcPr>
                </a:tc>
                <a:tc>
                  <a:txBody>
                    <a:bodyPr wrap="square"/>
                    <a:lstStyle/>
                    <a:p>
                      <a:pPr algn="ctr"/>
                      <a:r>
                        <a:rPr sz="850" b="0" i="0">
                          <a:solidFill>
                            <a:srgbClr val="14313B"/>
                          </a:solidFill>
                          <a:latin typeface="Calibri (MS)"/>
                        </a:rPr>
                        <a:t>110,49812</a:t>
                      </a:r>
                    </a:p>
                  </a:txBody>
                  <a:tcPr marL="73152" marR="73152" marT="36576" marB="36576" anchor="ctr">
                    <a:solidFill>
                      <a:srgbClr val="EAF8FA"/>
                    </a:solidFill>
                  </a:tcPr>
                </a:tc>
                <a:tc>
                  <a:txBody>
                    <a:bodyPr wrap="square"/>
                    <a:lstStyle/>
                    <a:p>
                      <a:pPr algn="ctr"/>
                      <a:r>
                        <a:rPr sz="850" b="0" i="0">
                          <a:solidFill>
                            <a:srgbClr val="14313B"/>
                          </a:solidFill>
                          <a:latin typeface="Calibri (MS)"/>
                        </a:rPr>
                        <a:t>-7,89848</a:t>
                      </a:r>
                    </a:p>
                  </a:txBody>
                  <a:tcPr marL="73152" marR="73152" marT="36576" marB="36576" anchor="ctr">
                    <a:solidFill>
                      <a:srgbClr val="EAF8FA"/>
                    </a:solidFill>
                  </a:tcPr>
                </a:tc>
                <a:tc>
                  <a:txBody>
                    <a:bodyPr wrap="square"/>
                    <a:lstStyle/>
                    <a:p>
                      <a:pPr algn="ctr"/>
                      <a:r>
                        <a:rPr sz="850" b="0" i="0">
                          <a:solidFill>
                            <a:srgbClr val="14313B"/>
                          </a:solidFill>
                          <a:latin typeface="Calibri (MS)"/>
                        </a:rPr>
                        <a:t>0,029</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a:t>
                      </a:r>
                    </a:p>
                  </a:txBody>
                  <a:tcPr marL="73152" marR="73152" marT="36576" marB="36576" anchor="ctr">
                    <a:solidFill>
                      <a:srgbClr val="FFFFFF"/>
                    </a:solidFill>
                  </a:tcPr>
                </a:tc>
                <a:tc>
                  <a:txBody>
                    <a:bodyPr wrap="square"/>
                    <a:lstStyle/>
                    <a:p>
                      <a:pPr algn="ctr"/>
                      <a:r>
                        <a:rPr sz="850" b="0" i="0">
                          <a:solidFill>
                            <a:srgbClr val="14313B"/>
                          </a:solidFill>
                          <a:latin typeface="Calibri (MS)"/>
                        </a:rPr>
                        <a:t>110,54071</a:t>
                      </a:r>
                    </a:p>
                  </a:txBody>
                  <a:tcPr marL="73152" marR="73152" marT="36576" marB="36576" anchor="ctr">
                    <a:solidFill>
                      <a:srgbClr val="FFFFFF"/>
                    </a:solidFill>
                  </a:tcPr>
                </a:tc>
                <a:tc>
                  <a:txBody>
                    <a:bodyPr wrap="square"/>
                    <a:lstStyle/>
                    <a:p>
                      <a:pPr algn="ctr"/>
                      <a:r>
                        <a:rPr sz="850" b="0" i="0">
                          <a:solidFill>
                            <a:srgbClr val="14313B"/>
                          </a:solidFill>
                          <a:latin typeface="Calibri (MS)"/>
                        </a:rPr>
                        <a:t>-8,10042</a:t>
                      </a:r>
                    </a:p>
                  </a:txBody>
                  <a:tcPr marL="73152" marR="73152" marT="36576" marB="36576" anchor="ctr">
                    <a:solidFill>
                      <a:srgbClr val="FFFFFF"/>
                    </a:solidFill>
                  </a:tcPr>
                </a:tc>
                <a:tc>
                  <a:txBody>
                    <a:bodyPr wrap="square"/>
                    <a:lstStyle/>
                    <a:p>
                      <a:pPr algn="ctr"/>
                      <a:r>
                        <a:rPr sz="850" b="0" i="0">
                          <a:solidFill>
                            <a:srgbClr val="14313B"/>
                          </a:solidFill>
                          <a:latin typeface="Calibri (MS)"/>
                        </a:rPr>
                        <a:t>0,032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a:t>
                      </a:r>
                    </a:p>
                  </a:txBody>
                  <a:tcPr marL="73152" marR="73152" marT="36576" marB="36576" anchor="ctr">
                    <a:solidFill>
                      <a:srgbClr val="EAF8FA"/>
                    </a:solidFill>
                  </a:tcPr>
                </a:tc>
                <a:tc>
                  <a:txBody>
                    <a:bodyPr wrap="square"/>
                    <a:lstStyle/>
                    <a:p>
                      <a:pPr algn="ctr"/>
                      <a:r>
                        <a:rPr sz="850" b="0" i="0">
                          <a:solidFill>
                            <a:srgbClr val="14313B"/>
                          </a:solidFill>
                          <a:latin typeface="Calibri (MS)"/>
                        </a:rPr>
                        <a:t>110,63009</a:t>
                      </a:r>
                    </a:p>
                  </a:txBody>
                  <a:tcPr marL="73152" marR="73152" marT="36576" marB="36576" anchor="ctr">
                    <a:solidFill>
                      <a:srgbClr val="EAF8FA"/>
                    </a:solidFill>
                  </a:tcPr>
                </a:tc>
                <a:tc>
                  <a:txBody>
                    <a:bodyPr wrap="square"/>
                    <a:lstStyle/>
                    <a:p>
                      <a:pPr algn="ctr"/>
                      <a:r>
                        <a:rPr sz="850" b="0" i="0">
                          <a:solidFill>
                            <a:srgbClr val="14313B"/>
                          </a:solidFill>
                          <a:latin typeface="Calibri (MS)"/>
                        </a:rPr>
                        <a:t>-7,84225</a:t>
                      </a:r>
                    </a:p>
                  </a:txBody>
                  <a:tcPr marL="73152" marR="73152" marT="36576" marB="36576" anchor="ctr">
                    <a:solidFill>
                      <a:srgbClr val="EAF8FA"/>
                    </a:solidFill>
                  </a:tcPr>
                </a:tc>
                <a:tc>
                  <a:txBody>
                    <a:bodyPr wrap="square"/>
                    <a:lstStyle/>
                    <a:p>
                      <a:pPr algn="ctr"/>
                      <a:r>
                        <a:rPr sz="850" b="0" i="0">
                          <a:solidFill>
                            <a:srgbClr val="14313B"/>
                          </a:solidFill>
                          <a:latin typeface="Calibri (MS)"/>
                        </a:rPr>
                        <a:t>0,036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7</a:t>
                      </a:r>
                    </a:p>
                  </a:txBody>
                  <a:tcPr marL="73152" marR="73152" marT="36576" marB="36576" anchor="ctr">
                    <a:solidFill>
                      <a:srgbClr val="FFFFFF"/>
                    </a:solidFill>
                  </a:tcPr>
                </a:tc>
                <a:tc>
                  <a:txBody>
                    <a:bodyPr wrap="square"/>
                    <a:lstStyle/>
                    <a:p>
                      <a:pPr algn="ctr"/>
                      <a:r>
                        <a:rPr sz="850" b="0" i="0">
                          <a:solidFill>
                            <a:srgbClr val="14313B"/>
                          </a:solidFill>
                          <a:latin typeface="Calibri (MS)"/>
                        </a:rPr>
                        <a:t>110,73205</a:t>
                      </a:r>
                    </a:p>
                  </a:txBody>
                  <a:tcPr marL="73152" marR="73152" marT="36576" marB="36576" anchor="ctr">
                    <a:solidFill>
                      <a:srgbClr val="FFFFFF"/>
                    </a:solidFill>
                  </a:tcPr>
                </a:tc>
                <a:tc>
                  <a:txBody>
                    <a:bodyPr wrap="square"/>
                    <a:lstStyle/>
                    <a:p>
                      <a:pPr algn="ctr"/>
                      <a:r>
                        <a:rPr sz="850" b="0" i="0">
                          <a:solidFill>
                            <a:srgbClr val="14313B"/>
                          </a:solidFill>
                          <a:latin typeface="Calibri (MS)"/>
                        </a:rPr>
                        <a:t>-7,99343</a:t>
                      </a:r>
                    </a:p>
                  </a:txBody>
                  <a:tcPr marL="73152" marR="73152" marT="36576" marB="36576" anchor="ctr">
                    <a:solidFill>
                      <a:srgbClr val="FFFFFF"/>
                    </a:solidFill>
                  </a:tcPr>
                </a:tc>
                <a:tc>
                  <a:txBody>
                    <a:bodyPr wrap="square"/>
                    <a:lstStyle/>
                    <a:p>
                      <a:pPr algn="ctr"/>
                      <a:r>
                        <a:rPr sz="850" b="0" i="0">
                          <a:solidFill>
                            <a:srgbClr val="14313B"/>
                          </a:solidFill>
                          <a:latin typeface="Calibri (MS)"/>
                        </a:rPr>
                        <a:t>0,045</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a:t>
                      </a:r>
                    </a:p>
                  </a:txBody>
                  <a:tcPr marL="73152" marR="73152" marT="36576" marB="36576" anchor="ctr">
                    <a:solidFill>
                      <a:srgbClr val="EAF8FA"/>
                    </a:solidFill>
                  </a:tcPr>
                </a:tc>
                <a:tc>
                  <a:txBody>
                    <a:bodyPr wrap="square"/>
                    <a:lstStyle/>
                    <a:p>
                      <a:pPr algn="ctr"/>
                      <a:r>
                        <a:rPr sz="850" b="0" i="0">
                          <a:solidFill>
                            <a:srgbClr val="14313B"/>
                          </a:solidFill>
                          <a:latin typeface="Calibri (MS)"/>
                        </a:rPr>
                        <a:t>110,75684</a:t>
                      </a:r>
                    </a:p>
                  </a:txBody>
                  <a:tcPr marL="73152" marR="73152" marT="36576" marB="36576" anchor="ctr">
                    <a:solidFill>
                      <a:srgbClr val="EAF8FA"/>
                    </a:solidFill>
                  </a:tcPr>
                </a:tc>
                <a:tc>
                  <a:txBody>
                    <a:bodyPr wrap="square"/>
                    <a:lstStyle/>
                    <a:p>
                      <a:pPr algn="ctr"/>
                      <a:r>
                        <a:rPr sz="850" b="0" i="0">
                          <a:solidFill>
                            <a:srgbClr val="14313B"/>
                          </a:solidFill>
                          <a:latin typeface="Calibri (MS)"/>
                        </a:rPr>
                        <a:t>-8,08282</a:t>
                      </a:r>
                    </a:p>
                  </a:txBody>
                  <a:tcPr marL="73152" marR="73152" marT="36576" marB="36576" anchor="ctr">
                    <a:solidFill>
                      <a:srgbClr val="EAF8FA"/>
                    </a:solidFill>
                  </a:tcPr>
                </a:tc>
                <a:tc>
                  <a:txBody>
                    <a:bodyPr wrap="square"/>
                    <a:lstStyle/>
                    <a:p>
                      <a:pPr algn="ctr"/>
                      <a:r>
                        <a:rPr sz="850" b="0" i="0">
                          <a:solidFill>
                            <a:srgbClr val="14313B"/>
                          </a:solidFill>
                          <a:latin typeface="Calibri (MS)"/>
                        </a:rPr>
                        <a:t>0,029</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a:t>
                      </a:r>
                    </a:p>
                  </a:txBody>
                  <a:tcPr marL="73152" marR="73152" marT="36576" marB="36576" anchor="ctr">
                    <a:solidFill>
                      <a:srgbClr val="FFFFFF"/>
                    </a:solidFill>
                  </a:tcPr>
                </a:tc>
                <a:tc>
                  <a:txBody>
                    <a:bodyPr wrap="square"/>
                    <a:lstStyle/>
                    <a:p>
                      <a:pPr algn="ctr"/>
                      <a:r>
                        <a:rPr sz="850" b="0" i="0">
                          <a:solidFill>
                            <a:srgbClr val="14313B"/>
                          </a:solidFill>
                          <a:latin typeface="Calibri (MS)"/>
                        </a:rPr>
                        <a:t>110,75648</a:t>
                      </a:r>
                    </a:p>
                  </a:txBody>
                  <a:tcPr marL="73152" marR="73152" marT="36576" marB="36576" anchor="ctr">
                    <a:solidFill>
                      <a:srgbClr val="FFFFFF"/>
                    </a:solidFill>
                  </a:tcPr>
                </a:tc>
                <a:tc>
                  <a:txBody>
                    <a:bodyPr wrap="square"/>
                    <a:lstStyle/>
                    <a:p>
                      <a:pPr algn="ctr"/>
                      <a:r>
                        <a:rPr sz="850" b="0" i="0">
                          <a:solidFill>
                            <a:srgbClr val="14313B"/>
                          </a:solidFill>
                          <a:latin typeface="Calibri (MS)"/>
                        </a:rPr>
                        <a:t>-8,19403</a:t>
                      </a:r>
                    </a:p>
                  </a:txBody>
                  <a:tcPr marL="73152" marR="73152" marT="36576" marB="36576" anchor="ctr">
                    <a:solidFill>
                      <a:srgbClr val="FFFFFF"/>
                    </a:solidFill>
                  </a:tcPr>
                </a:tc>
                <a:tc>
                  <a:txBody>
                    <a:bodyPr wrap="square"/>
                    <a:lstStyle/>
                    <a:p>
                      <a:pPr algn="ctr"/>
                      <a:r>
                        <a:rPr sz="850" b="0" i="0">
                          <a:solidFill>
                            <a:srgbClr val="14313B"/>
                          </a:solidFill>
                          <a:latin typeface="Calibri (MS)"/>
                        </a:rPr>
                        <a:t>0,038</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10</a:t>
                      </a:r>
                    </a:p>
                  </a:txBody>
                  <a:tcPr marL="73152" marR="73152" marT="36576" marB="36576" anchor="ctr">
                    <a:solidFill>
                      <a:srgbClr val="EAF8FA"/>
                    </a:solidFill>
                  </a:tcPr>
                </a:tc>
                <a:tc>
                  <a:txBody>
                    <a:bodyPr wrap="square"/>
                    <a:lstStyle/>
                    <a:p>
                      <a:pPr algn="ctr"/>
                      <a:r>
                        <a:rPr sz="850" b="0" i="0">
                          <a:solidFill>
                            <a:srgbClr val="14313B"/>
                          </a:solidFill>
                          <a:latin typeface="Calibri (MS)"/>
                        </a:rPr>
                        <a:t>110,31352</a:t>
                      </a:r>
                    </a:p>
                  </a:txBody>
                  <a:tcPr marL="73152" marR="73152" marT="36576" marB="36576" anchor="ctr">
                    <a:solidFill>
                      <a:srgbClr val="EAF8FA"/>
                    </a:solidFill>
                  </a:tcPr>
                </a:tc>
                <a:tc>
                  <a:txBody>
                    <a:bodyPr wrap="square"/>
                    <a:lstStyle/>
                    <a:p>
                      <a:pPr algn="ctr"/>
                      <a:r>
                        <a:rPr sz="850" b="0" i="0">
                          <a:solidFill>
                            <a:srgbClr val="14313B"/>
                          </a:solidFill>
                          <a:latin typeface="Calibri (MS)"/>
                        </a:rPr>
                        <a:t>-7,69025</a:t>
                      </a:r>
                    </a:p>
                  </a:txBody>
                  <a:tcPr marL="73152" marR="73152" marT="36576" marB="36576" anchor="ctr">
                    <a:solidFill>
                      <a:srgbClr val="EAF8FA"/>
                    </a:solidFill>
                  </a:tcPr>
                </a:tc>
                <a:tc>
                  <a:txBody>
                    <a:bodyPr wrap="square"/>
                    <a:lstStyle/>
                    <a:p>
                      <a:pPr algn="ctr"/>
                      <a:r>
                        <a:rPr sz="850" b="0" i="0">
                          <a:solidFill>
                            <a:srgbClr val="14313B"/>
                          </a:solidFill>
                          <a:latin typeface="Calibri (MS)"/>
                        </a:rPr>
                        <a:t>0,357</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11</a:t>
                      </a:r>
                    </a:p>
                  </a:txBody>
                  <a:tcPr marL="73152" marR="73152" marT="36576" marB="36576" anchor="ctr">
                    <a:solidFill>
                      <a:srgbClr val="FFFFFF"/>
                    </a:solidFill>
                  </a:tcPr>
                </a:tc>
                <a:tc>
                  <a:txBody>
                    <a:bodyPr wrap="square"/>
                    <a:lstStyle/>
                    <a:p>
                      <a:pPr algn="ctr"/>
                      <a:r>
                        <a:rPr sz="850" b="0" i="0">
                          <a:solidFill>
                            <a:srgbClr val="14313B"/>
                          </a:solidFill>
                          <a:latin typeface="Calibri (MS)"/>
                        </a:rPr>
                        <a:t>110,51933</a:t>
                      </a:r>
                    </a:p>
                  </a:txBody>
                  <a:tcPr marL="73152" marR="73152" marT="36576" marB="36576" anchor="ctr">
                    <a:solidFill>
                      <a:srgbClr val="FFFFFF"/>
                    </a:solidFill>
                  </a:tcPr>
                </a:tc>
                <a:tc>
                  <a:txBody>
                    <a:bodyPr wrap="square"/>
                    <a:lstStyle/>
                    <a:p>
                      <a:pPr algn="ctr"/>
                      <a:r>
                        <a:rPr sz="850" b="0" i="0">
                          <a:solidFill>
                            <a:srgbClr val="14313B"/>
                          </a:solidFill>
                          <a:latin typeface="Calibri (MS)"/>
                        </a:rPr>
                        <a:t>-7,89210</a:t>
                      </a:r>
                    </a:p>
                  </a:txBody>
                  <a:tcPr marL="73152" marR="73152" marT="36576" marB="36576" anchor="ctr">
                    <a:solidFill>
                      <a:srgbClr val="FFFFFF"/>
                    </a:solidFill>
                  </a:tcPr>
                </a:tc>
                <a:tc>
                  <a:txBody>
                    <a:bodyPr wrap="square"/>
                    <a:lstStyle/>
                    <a:p>
                      <a:pPr algn="ctr"/>
                      <a:r>
                        <a:rPr sz="850" b="0" i="0">
                          <a:solidFill>
                            <a:srgbClr val="14313B"/>
                          </a:solidFill>
                          <a:latin typeface="Calibri (MS)"/>
                        </a:rPr>
                        <a:t>0,062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12</a:t>
                      </a:r>
                    </a:p>
                  </a:txBody>
                  <a:tcPr marL="73152" marR="73152" marT="36576" marB="36576" anchor="ctr">
                    <a:solidFill>
                      <a:srgbClr val="EAF8FA"/>
                    </a:solidFill>
                  </a:tcPr>
                </a:tc>
                <a:tc>
                  <a:txBody>
                    <a:bodyPr wrap="square"/>
                    <a:lstStyle/>
                    <a:p>
                      <a:pPr algn="ctr"/>
                      <a:r>
                        <a:rPr sz="850" b="0" i="0">
                          <a:solidFill>
                            <a:srgbClr val="14313B"/>
                          </a:solidFill>
                          <a:latin typeface="Calibri (MS)"/>
                        </a:rPr>
                        <a:t>110,75100</a:t>
                      </a:r>
                    </a:p>
                  </a:txBody>
                  <a:tcPr marL="73152" marR="73152" marT="36576" marB="36576" anchor="ctr">
                    <a:solidFill>
                      <a:srgbClr val="EAF8FA"/>
                    </a:solidFill>
                  </a:tcPr>
                </a:tc>
                <a:tc>
                  <a:txBody>
                    <a:bodyPr wrap="square"/>
                    <a:lstStyle/>
                    <a:p>
                      <a:pPr algn="ctr"/>
                      <a:r>
                        <a:rPr sz="850" b="0" i="0">
                          <a:solidFill>
                            <a:srgbClr val="14313B"/>
                          </a:solidFill>
                          <a:latin typeface="Calibri (MS)"/>
                        </a:rPr>
                        <a:t>-8,06692</a:t>
                      </a:r>
                    </a:p>
                  </a:txBody>
                  <a:tcPr marL="73152" marR="73152" marT="36576" marB="36576" anchor="ctr">
                    <a:solidFill>
                      <a:srgbClr val="EAF8FA"/>
                    </a:solidFill>
                  </a:tcPr>
                </a:tc>
                <a:tc>
                  <a:txBody>
                    <a:bodyPr wrap="square"/>
                    <a:lstStyle/>
                    <a:p>
                      <a:pPr algn="ctr"/>
                      <a:r>
                        <a:rPr sz="850" b="0" i="0">
                          <a:solidFill>
                            <a:srgbClr val="14313B"/>
                          </a:solidFill>
                          <a:latin typeface="Calibri (MS)"/>
                        </a:rPr>
                        <a:t>0,032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13</a:t>
                      </a:r>
                    </a:p>
                  </a:txBody>
                  <a:tcPr marL="73152" marR="73152" marT="36576" marB="36576" anchor="ctr">
                    <a:solidFill>
                      <a:srgbClr val="FFFFFF"/>
                    </a:solidFill>
                  </a:tcPr>
                </a:tc>
                <a:tc>
                  <a:txBody>
                    <a:bodyPr wrap="square"/>
                    <a:lstStyle/>
                    <a:p>
                      <a:pPr algn="ctr"/>
                      <a:r>
                        <a:rPr sz="850" b="0" i="0">
                          <a:solidFill>
                            <a:srgbClr val="14313B"/>
                          </a:solidFill>
                          <a:latin typeface="Calibri (MS)"/>
                        </a:rPr>
                        <a:t>110,35898</a:t>
                      </a:r>
                    </a:p>
                  </a:txBody>
                  <a:tcPr marL="73152" marR="73152" marT="36576" marB="36576" anchor="ctr">
                    <a:solidFill>
                      <a:srgbClr val="FFFFFF"/>
                    </a:solidFill>
                  </a:tcPr>
                </a:tc>
                <a:tc>
                  <a:txBody>
                    <a:bodyPr wrap="square"/>
                    <a:lstStyle/>
                    <a:p>
                      <a:pPr algn="ctr"/>
                      <a:r>
                        <a:rPr sz="850" b="0" i="0">
                          <a:solidFill>
                            <a:srgbClr val="14313B"/>
                          </a:solidFill>
                          <a:latin typeface="Calibri (MS)"/>
                        </a:rPr>
                        <a:t>-7,64740</a:t>
                      </a:r>
                    </a:p>
                  </a:txBody>
                  <a:tcPr marL="73152" marR="73152" marT="36576" marB="36576" anchor="ctr">
                    <a:solidFill>
                      <a:srgbClr val="FFFFFF"/>
                    </a:solidFill>
                  </a:tcPr>
                </a:tc>
                <a:tc>
                  <a:txBody>
                    <a:bodyPr wrap="square"/>
                    <a:lstStyle/>
                    <a:p>
                      <a:pPr algn="ctr"/>
                      <a:r>
                        <a:rPr sz="850" b="0" i="0">
                          <a:solidFill>
                            <a:srgbClr val="14313B"/>
                          </a:solidFill>
                          <a:latin typeface="Calibri (MS)"/>
                        </a:rPr>
                        <a:t>0,043</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14</a:t>
                      </a:r>
                    </a:p>
                  </a:txBody>
                  <a:tcPr marL="73152" marR="73152" marT="36576" marB="36576" anchor="ctr">
                    <a:solidFill>
                      <a:srgbClr val="EAF8FA"/>
                    </a:solidFill>
                  </a:tcPr>
                </a:tc>
                <a:tc>
                  <a:txBody>
                    <a:bodyPr wrap="square"/>
                    <a:lstStyle/>
                    <a:p>
                      <a:pPr algn="ctr"/>
                      <a:r>
                        <a:rPr sz="850" b="0" i="0">
                          <a:solidFill>
                            <a:srgbClr val="14313B"/>
                          </a:solidFill>
                          <a:latin typeface="Calibri (MS)"/>
                        </a:rPr>
                        <a:t>110,71435</a:t>
                      </a:r>
                    </a:p>
                  </a:txBody>
                  <a:tcPr marL="73152" marR="73152" marT="36576" marB="36576" anchor="ctr">
                    <a:solidFill>
                      <a:srgbClr val="EAF8FA"/>
                    </a:solidFill>
                  </a:tcPr>
                </a:tc>
                <a:tc>
                  <a:txBody>
                    <a:bodyPr wrap="square"/>
                    <a:lstStyle/>
                    <a:p>
                      <a:pPr algn="ctr"/>
                      <a:r>
                        <a:rPr sz="850" b="0" i="0">
                          <a:solidFill>
                            <a:srgbClr val="14313B"/>
                          </a:solidFill>
                          <a:latin typeface="Calibri (MS)"/>
                        </a:rPr>
                        <a:t>-8,10752</a:t>
                      </a:r>
                    </a:p>
                  </a:txBody>
                  <a:tcPr marL="73152" marR="73152" marT="36576" marB="36576" anchor="ctr">
                    <a:solidFill>
                      <a:srgbClr val="EAF8FA"/>
                    </a:solidFill>
                  </a:tcPr>
                </a:tc>
                <a:tc>
                  <a:txBody>
                    <a:bodyPr wrap="square"/>
                    <a:lstStyle/>
                    <a:p>
                      <a:pPr algn="ctr"/>
                      <a:r>
                        <a:rPr sz="850" b="0" i="0">
                          <a:solidFill>
                            <a:srgbClr val="14313B"/>
                          </a:solidFill>
                          <a:latin typeface="Calibri (MS)"/>
                        </a:rPr>
                        <a:t>0,033</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15</a:t>
                      </a:r>
                    </a:p>
                  </a:txBody>
                  <a:tcPr marL="73152" marR="73152" marT="36576" marB="36576" anchor="ctr">
                    <a:solidFill>
                      <a:srgbClr val="FFFFFF"/>
                    </a:solidFill>
                  </a:tcPr>
                </a:tc>
                <a:tc>
                  <a:txBody>
                    <a:bodyPr wrap="square"/>
                    <a:lstStyle/>
                    <a:p>
                      <a:pPr algn="ctr"/>
                      <a:r>
                        <a:rPr sz="850" b="0" i="0">
                          <a:solidFill>
                            <a:srgbClr val="14313B"/>
                          </a:solidFill>
                          <a:latin typeface="Calibri (MS)"/>
                        </a:rPr>
                        <a:t>110,61553</a:t>
                      </a:r>
                    </a:p>
                  </a:txBody>
                  <a:tcPr marL="73152" marR="73152" marT="36576" marB="36576" anchor="ctr">
                    <a:solidFill>
                      <a:srgbClr val="FFFFFF"/>
                    </a:solidFill>
                  </a:tcPr>
                </a:tc>
                <a:tc>
                  <a:txBody>
                    <a:bodyPr wrap="square"/>
                    <a:lstStyle/>
                    <a:p>
                      <a:pPr algn="ctr"/>
                      <a:r>
                        <a:rPr sz="850" b="0" i="0">
                          <a:solidFill>
                            <a:srgbClr val="14313B"/>
                          </a:solidFill>
                          <a:latin typeface="Calibri (MS)"/>
                        </a:rPr>
                        <a:t>-8,02874</a:t>
                      </a:r>
                    </a:p>
                  </a:txBody>
                  <a:tcPr marL="73152" marR="73152" marT="36576" marB="36576" anchor="ctr">
                    <a:solidFill>
                      <a:srgbClr val="FFFFFF"/>
                    </a:solidFill>
                  </a:tcPr>
                </a:tc>
                <a:tc>
                  <a:txBody>
                    <a:bodyPr wrap="square"/>
                    <a:lstStyle/>
                    <a:p>
                      <a:pPr algn="ctr"/>
                      <a:r>
                        <a:rPr sz="850" b="0" i="0">
                          <a:solidFill>
                            <a:srgbClr val="14313B"/>
                          </a:solidFill>
                          <a:latin typeface="Calibri (MS)"/>
                        </a:rPr>
                        <a:t>0,050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16</a:t>
                      </a:r>
                    </a:p>
                  </a:txBody>
                  <a:tcPr marL="73152" marR="73152" marT="36576" marB="36576" anchor="ctr">
                    <a:solidFill>
                      <a:srgbClr val="EAF8FA"/>
                    </a:solidFill>
                  </a:tcPr>
                </a:tc>
                <a:tc>
                  <a:txBody>
                    <a:bodyPr wrap="square"/>
                    <a:lstStyle/>
                    <a:p>
                      <a:pPr algn="ctr"/>
                      <a:r>
                        <a:rPr sz="850" b="0" i="0">
                          <a:solidFill>
                            <a:srgbClr val="14313B"/>
                          </a:solidFill>
                          <a:latin typeface="Calibri (MS)"/>
                        </a:rPr>
                        <a:t>110,37649</a:t>
                      </a:r>
                    </a:p>
                  </a:txBody>
                  <a:tcPr marL="73152" marR="73152" marT="36576" marB="36576" anchor="ctr">
                    <a:solidFill>
                      <a:srgbClr val="EAF8FA"/>
                    </a:solidFill>
                  </a:tcPr>
                </a:tc>
                <a:tc>
                  <a:txBody>
                    <a:bodyPr wrap="square"/>
                    <a:lstStyle/>
                    <a:p>
                      <a:pPr algn="ctr"/>
                      <a:r>
                        <a:rPr sz="850" b="0" i="0">
                          <a:solidFill>
                            <a:srgbClr val="14313B"/>
                          </a:solidFill>
                          <a:latin typeface="Calibri (MS)"/>
                        </a:rPr>
                        <a:t>-7,97807</a:t>
                      </a:r>
                    </a:p>
                  </a:txBody>
                  <a:tcPr marL="73152" marR="73152" marT="36576" marB="36576" anchor="ctr">
                    <a:solidFill>
                      <a:srgbClr val="EAF8FA"/>
                    </a:solidFill>
                  </a:tcPr>
                </a:tc>
                <a:tc>
                  <a:txBody>
                    <a:bodyPr wrap="square"/>
                    <a:lstStyle/>
                    <a:p>
                      <a:pPr algn="ctr"/>
                      <a:r>
                        <a:rPr sz="850" b="0" i="0">
                          <a:solidFill>
                            <a:srgbClr val="14313B"/>
                          </a:solidFill>
                          <a:latin typeface="Calibri (MS)"/>
                        </a:rPr>
                        <a:t>0,037</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17</a:t>
                      </a:r>
                    </a:p>
                  </a:txBody>
                  <a:tcPr marL="73152" marR="73152" marT="36576" marB="36576" anchor="ctr">
                    <a:solidFill>
                      <a:srgbClr val="FFFFFF"/>
                    </a:solidFill>
                  </a:tcPr>
                </a:tc>
                <a:tc>
                  <a:txBody>
                    <a:bodyPr wrap="square"/>
                    <a:lstStyle/>
                    <a:p>
                      <a:pPr algn="ctr"/>
                      <a:r>
                        <a:rPr sz="850" b="0" i="0">
                          <a:solidFill>
                            <a:srgbClr val="14313B"/>
                          </a:solidFill>
                          <a:latin typeface="Calibri (MS)"/>
                        </a:rPr>
                        <a:t>110,68048</a:t>
                      </a:r>
                    </a:p>
                  </a:txBody>
                  <a:tcPr marL="73152" marR="73152" marT="36576" marB="36576" anchor="ctr">
                    <a:solidFill>
                      <a:srgbClr val="FFFFFF"/>
                    </a:solidFill>
                  </a:tcPr>
                </a:tc>
                <a:tc>
                  <a:txBody>
                    <a:bodyPr wrap="square"/>
                    <a:lstStyle/>
                    <a:p>
                      <a:pPr algn="ctr"/>
                      <a:r>
                        <a:rPr sz="850" b="0" i="0">
                          <a:solidFill>
                            <a:srgbClr val="14313B"/>
                          </a:solidFill>
                          <a:latin typeface="Calibri (MS)"/>
                        </a:rPr>
                        <a:t>-7,83767</a:t>
                      </a:r>
                    </a:p>
                  </a:txBody>
                  <a:tcPr marL="73152" marR="73152" marT="36576" marB="36576" anchor="ctr">
                    <a:solidFill>
                      <a:srgbClr val="FFFFFF"/>
                    </a:solidFill>
                  </a:tcPr>
                </a:tc>
                <a:tc>
                  <a:txBody>
                    <a:bodyPr wrap="square"/>
                    <a:lstStyle/>
                    <a:p>
                      <a:pPr algn="ctr"/>
                      <a:r>
                        <a:rPr sz="850" b="0" i="0">
                          <a:solidFill>
                            <a:srgbClr val="14313B"/>
                          </a:solidFill>
                          <a:latin typeface="Calibri (MS)"/>
                        </a:rPr>
                        <a:t>0,046</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18</a:t>
                      </a:r>
                    </a:p>
                  </a:txBody>
                  <a:tcPr marL="73152" marR="73152" marT="36576" marB="36576" anchor="ctr">
                    <a:solidFill>
                      <a:srgbClr val="EAF8FA"/>
                    </a:solidFill>
                  </a:tcPr>
                </a:tc>
                <a:tc>
                  <a:txBody>
                    <a:bodyPr wrap="square"/>
                    <a:lstStyle/>
                    <a:p>
                      <a:pPr algn="ctr"/>
                      <a:r>
                        <a:rPr sz="850" b="0" i="0">
                          <a:solidFill>
                            <a:srgbClr val="14313B"/>
                          </a:solidFill>
                          <a:latin typeface="Calibri (MS)"/>
                        </a:rPr>
                        <a:t>110,65614</a:t>
                      </a:r>
                    </a:p>
                  </a:txBody>
                  <a:tcPr marL="73152" marR="73152" marT="36576" marB="36576" anchor="ctr">
                    <a:solidFill>
                      <a:srgbClr val="EAF8FA"/>
                    </a:solidFill>
                  </a:tcPr>
                </a:tc>
                <a:tc>
                  <a:txBody>
                    <a:bodyPr wrap="square"/>
                    <a:lstStyle/>
                    <a:p>
                      <a:pPr algn="ctr"/>
                      <a:r>
                        <a:rPr sz="850" b="0" i="0">
                          <a:solidFill>
                            <a:srgbClr val="14313B"/>
                          </a:solidFill>
                          <a:latin typeface="Calibri (MS)"/>
                        </a:rPr>
                        <a:t>-8,07320</a:t>
                      </a:r>
                    </a:p>
                  </a:txBody>
                  <a:tcPr marL="73152" marR="73152" marT="36576" marB="36576" anchor="ctr">
                    <a:solidFill>
                      <a:srgbClr val="EAF8FA"/>
                    </a:solidFill>
                  </a:tcPr>
                </a:tc>
                <a:tc>
                  <a:txBody>
                    <a:bodyPr wrap="square"/>
                    <a:lstStyle/>
                    <a:p>
                      <a:pPr algn="ctr"/>
                      <a:r>
                        <a:rPr sz="850" b="0" i="0">
                          <a:solidFill>
                            <a:srgbClr val="14313B"/>
                          </a:solidFill>
                          <a:latin typeface="Calibri (MS)"/>
                        </a:rPr>
                        <a:t>0,360</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19</a:t>
                      </a:r>
                    </a:p>
                  </a:txBody>
                  <a:tcPr marL="73152" marR="73152" marT="36576" marB="36576" anchor="ctr">
                    <a:solidFill>
                      <a:srgbClr val="FFFFFF"/>
                    </a:solidFill>
                  </a:tcPr>
                </a:tc>
                <a:tc>
                  <a:txBody>
                    <a:bodyPr wrap="square"/>
                    <a:lstStyle/>
                    <a:p>
                      <a:pPr algn="ctr"/>
                      <a:r>
                        <a:rPr sz="850" b="0" i="0">
                          <a:solidFill>
                            <a:srgbClr val="14313B"/>
                          </a:solidFill>
                          <a:latin typeface="Calibri (MS)"/>
                        </a:rPr>
                        <a:t>110,58158</a:t>
                      </a:r>
                    </a:p>
                  </a:txBody>
                  <a:tcPr marL="73152" marR="73152" marT="36576" marB="36576" anchor="ctr">
                    <a:solidFill>
                      <a:srgbClr val="FFFFFF"/>
                    </a:solidFill>
                  </a:tcPr>
                </a:tc>
                <a:tc>
                  <a:txBody>
                    <a:bodyPr wrap="square"/>
                    <a:lstStyle/>
                    <a:p>
                      <a:pPr algn="ctr"/>
                      <a:r>
                        <a:rPr sz="850" b="0" i="0">
                          <a:solidFill>
                            <a:srgbClr val="14313B"/>
                          </a:solidFill>
                          <a:latin typeface="Calibri (MS)"/>
                        </a:rPr>
                        <a:t>-8,07240</a:t>
                      </a:r>
                    </a:p>
                  </a:txBody>
                  <a:tcPr marL="73152" marR="73152" marT="36576" marB="36576" anchor="ctr">
                    <a:solidFill>
                      <a:srgbClr val="FFFFFF"/>
                    </a:solidFill>
                  </a:tcPr>
                </a:tc>
                <a:tc>
                  <a:txBody>
                    <a:bodyPr wrap="square"/>
                    <a:lstStyle/>
                    <a:p>
                      <a:pPr algn="ctr"/>
                      <a:r>
                        <a:rPr sz="850" b="0" i="0">
                          <a:solidFill>
                            <a:srgbClr val="14313B"/>
                          </a:solidFill>
                          <a:latin typeface="Calibri (MS)"/>
                        </a:rPr>
                        <a:t>0,039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20</a:t>
                      </a:r>
                    </a:p>
                  </a:txBody>
                  <a:tcPr marL="73152" marR="73152" marT="36576" marB="36576" anchor="ctr">
                    <a:solidFill>
                      <a:srgbClr val="EAF8FA"/>
                    </a:solidFill>
                  </a:tcPr>
                </a:tc>
                <a:tc>
                  <a:txBody>
                    <a:bodyPr wrap="square"/>
                    <a:lstStyle/>
                    <a:p>
                      <a:pPr algn="ctr"/>
                      <a:r>
                        <a:rPr sz="850" b="0" i="0">
                          <a:solidFill>
                            <a:srgbClr val="14313B"/>
                          </a:solidFill>
                          <a:latin typeface="Calibri (MS)"/>
                        </a:rPr>
                        <a:t>110,52436</a:t>
                      </a:r>
                    </a:p>
                  </a:txBody>
                  <a:tcPr marL="73152" marR="73152" marT="36576" marB="36576" anchor="ctr">
                    <a:solidFill>
                      <a:srgbClr val="EAF8FA"/>
                    </a:solidFill>
                  </a:tcPr>
                </a:tc>
                <a:tc>
                  <a:txBody>
                    <a:bodyPr wrap="square"/>
                    <a:lstStyle/>
                    <a:p>
                      <a:pPr algn="ctr"/>
                      <a:r>
                        <a:rPr sz="850" b="0" i="0">
                          <a:solidFill>
                            <a:srgbClr val="14313B"/>
                          </a:solidFill>
                          <a:latin typeface="Calibri (MS)"/>
                        </a:rPr>
                        <a:t>-8,08264</a:t>
                      </a:r>
                    </a:p>
                  </a:txBody>
                  <a:tcPr marL="73152" marR="73152" marT="36576" marB="36576" anchor="ctr">
                    <a:solidFill>
                      <a:srgbClr val="EAF8FA"/>
                    </a:solidFill>
                  </a:tcPr>
                </a:tc>
                <a:tc>
                  <a:txBody>
                    <a:bodyPr wrap="square"/>
                    <a:lstStyle/>
                    <a:p>
                      <a:pPr algn="ctr"/>
                      <a:r>
                        <a:rPr sz="850" b="0" i="0">
                          <a:solidFill>
                            <a:srgbClr val="14313B"/>
                          </a:solidFill>
                          <a:latin typeface="Calibri (MS)"/>
                        </a:rPr>
                        <a:t>0,031</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21</a:t>
                      </a:r>
                    </a:p>
                  </a:txBody>
                  <a:tcPr marL="73152" marR="73152" marT="36576" marB="36576" anchor="ctr">
                    <a:solidFill>
                      <a:srgbClr val="FFFFFF"/>
                    </a:solidFill>
                  </a:tcPr>
                </a:tc>
                <a:tc>
                  <a:txBody>
                    <a:bodyPr wrap="square"/>
                    <a:lstStyle/>
                    <a:p>
                      <a:pPr algn="ctr"/>
                      <a:r>
                        <a:rPr sz="850" b="0" i="0">
                          <a:solidFill>
                            <a:srgbClr val="14313B"/>
                          </a:solidFill>
                          <a:latin typeface="Calibri (MS)"/>
                        </a:rPr>
                        <a:t>110,21013</a:t>
                      </a:r>
                    </a:p>
                  </a:txBody>
                  <a:tcPr marL="73152" marR="73152" marT="36576" marB="36576" anchor="ctr">
                    <a:solidFill>
                      <a:srgbClr val="FFFFFF"/>
                    </a:solidFill>
                  </a:tcPr>
                </a:tc>
                <a:tc>
                  <a:txBody>
                    <a:bodyPr wrap="square"/>
                    <a:lstStyle/>
                    <a:p>
                      <a:pPr algn="ctr"/>
                      <a:r>
                        <a:rPr sz="850" b="0" i="0">
                          <a:solidFill>
                            <a:srgbClr val="14313B"/>
                          </a:solidFill>
                          <a:latin typeface="Calibri (MS)"/>
                        </a:rPr>
                        <a:t>-7,67597</a:t>
                      </a:r>
                    </a:p>
                  </a:txBody>
                  <a:tcPr marL="73152" marR="73152" marT="36576" marB="36576" anchor="ctr">
                    <a:solidFill>
                      <a:srgbClr val="FFFFFF"/>
                    </a:solidFill>
                  </a:tcPr>
                </a:tc>
                <a:tc>
                  <a:txBody>
                    <a:bodyPr wrap="square"/>
                    <a:lstStyle/>
                    <a:p>
                      <a:pPr algn="ctr"/>
                      <a:r>
                        <a:rPr sz="850" b="0" i="0">
                          <a:solidFill>
                            <a:srgbClr val="14313B"/>
                          </a:solidFill>
                          <a:latin typeface="Calibri (MS)"/>
                        </a:rPr>
                        <a:t>0,162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22</a:t>
                      </a:r>
                    </a:p>
                  </a:txBody>
                  <a:tcPr marL="73152" marR="73152" marT="36576" marB="36576" anchor="ctr">
                    <a:solidFill>
                      <a:srgbClr val="EAF8FA"/>
                    </a:solidFill>
                  </a:tcPr>
                </a:tc>
                <a:tc>
                  <a:txBody>
                    <a:bodyPr wrap="square"/>
                    <a:lstStyle/>
                    <a:p>
                      <a:pPr algn="ctr"/>
                      <a:r>
                        <a:rPr sz="850" b="0" i="0">
                          <a:solidFill>
                            <a:srgbClr val="14313B"/>
                          </a:solidFill>
                          <a:latin typeface="Calibri (MS)"/>
                        </a:rPr>
                        <a:t>110,69773</a:t>
                      </a:r>
                    </a:p>
                  </a:txBody>
                  <a:tcPr marL="73152" marR="73152" marT="36576" marB="36576" anchor="ctr">
                    <a:solidFill>
                      <a:srgbClr val="EAF8FA"/>
                    </a:solidFill>
                  </a:tcPr>
                </a:tc>
                <a:tc>
                  <a:txBody>
                    <a:bodyPr wrap="square"/>
                    <a:lstStyle/>
                    <a:p>
                      <a:pPr algn="ctr"/>
                      <a:r>
                        <a:rPr sz="850" b="0" i="0">
                          <a:solidFill>
                            <a:srgbClr val="14313B"/>
                          </a:solidFill>
                          <a:latin typeface="Calibri (MS)"/>
                        </a:rPr>
                        <a:t>-7,92651</a:t>
                      </a:r>
                    </a:p>
                  </a:txBody>
                  <a:tcPr marL="73152" marR="73152" marT="36576" marB="36576" anchor="ctr">
                    <a:solidFill>
                      <a:srgbClr val="EAF8FA"/>
                    </a:solidFill>
                  </a:tcPr>
                </a:tc>
                <a:tc>
                  <a:txBody>
                    <a:bodyPr wrap="square"/>
                    <a:lstStyle/>
                    <a:p>
                      <a:pPr algn="ctr"/>
                      <a:r>
                        <a:rPr sz="850" b="0" i="0">
                          <a:solidFill>
                            <a:srgbClr val="14313B"/>
                          </a:solidFill>
                          <a:latin typeface="Calibri (MS)"/>
                        </a:rPr>
                        <a:t>0,040</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23</a:t>
                      </a:r>
                    </a:p>
                  </a:txBody>
                  <a:tcPr marL="73152" marR="73152" marT="36576" marB="36576" anchor="ctr">
                    <a:solidFill>
                      <a:srgbClr val="FFFFFF"/>
                    </a:solidFill>
                  </a:tcPr>
                </a:tc>
                <a:tc>
                  <a:txBody>
                    <a:bodyPr wrap="square"/>
                    <a:lstStyle/>
                    <a:p>
                      <a:pPr algn="ctr"/>
                      <a:r>
                        <a:rPr sz="850" b="0" i="0">
                          <a:solidFill>
                            <a:srgbClr val="14313B"/>
                          </a:solidFill>
                          <a:latin typeface="Calibri (MS)"/>
                        </a:rPr>
                        <a:t>110,20276</a:t>
                      </a:r>
                    </a:p>
                  </a:txBody>
                  <a:tcPr marL="73152" marR="73152" marT="36576" marB="36576" anchor="ctr">
                    <a:solidFill>
                      <a:srgbClr val="FFFFFF"/>
                    </a:solidFill>
                  </a:tcPr>
                </a:tc>
                <a:tc>
                  <a:txBody>
                    <a:bodyPr wrap="square"/>
                    <a:lstStyle/>
                    <a:p>
                      <a:pPr algn="ctr"/>
                      <a:r>
                        <a:rPr sz="850" b="0" i="0">
                          <a:solidFill>
                            <a:srgbClr val="14313B"/>
                          </a:solidFill>
                          <a:latin typeface="Calibri (MS)"/>
                        </a:rPr>
                        <a:t>-7,97403</a:t>
                      </a:r>
                    </a:p>
                  </a:txBody>
                  <a:tcPr marL="73152" marR="73152" marT="36576" marB="36576" anchor="ctr">
                    <a:solidFill>
                      <a:srgbClr val="FFFFFF"/>
                    </a:solidFill>
                  </a:tcPr>
                </a:tc>
                <a:tc>
                  <a:txBody>
                    <a:bodyPr wrap="square"/>
                    <a:lstStyle/>
                    <a:p>
                      <a:pPr algn="ctr"/>
                      <a:r>
                        <a:rPr sz="850" b="0" i="0">
                          <a:solidFill>
                            <a:srgbClr val="14313B"/>
                          </a:solidFill>
                          <a:latin typeface="Calibri (MS)"/>
                        </a:rPr>
                        <a:t>0,046</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24</a:t>
                      </a:r>
                    </a:p>
                  </a:txBody>
                  <a:tcPr marL="73152" marR="73152" marT="36576" marB="36576" anchor="ctr">
                    <a:solidFill>
                      <a:srgbClr val="EAF8FA"/>
                    </a:solidFill>
                  </a:tcPr>
                </a:tc>
                <a:tc>
                  <a:txBody>
                    <a:bodyPr wrap="square"/>
                    <a:lstStyle/>
                    <a:p>
                      <a:pPr algn="ctr"/>
                      <a:r>
                        <a:rPr sz="850" b="0" i="0">
                          <a:solidFill>
                            <a:srgbClr val="14313B"/>
                          </a:solidFill>
                          <a:latin typeface="Calibri (MS)"/>
                        </a:rPr>
                        <a:t>110,66575</a:t>
                      </a:r>
                    </a:p>
                  </a:txBody>
                  <a:tcPr marL="73152" marR="73152" marT="36576" marB="36576" anchor="ctr">
                    <a:solidFill>
                      <a:srgbClr val="EAF8FA"/>
                    </a:solidFill>
                  </a:tcPr>
                </a:tc>
                <a:tc>
                  <a:txBody>
                    <a:bodyPr wrap="square"/>
                    <a:lstStyle/>
                    <a:p>
                      <a:pPr algn="ctr"/>
                      <a:r>
                        <a:rPr sz="850" b="0" i="0">
                          <a:solidFill>
                            <a:srgbClr val="14313B"/>
                          </a:solidFill>
                          <a:latin typeface="Calibri (MS)"/>
                        </a:rPr>
                        <a:t>-7,98634</a:t>
                      </a:r>
                    </a:p>
                  </a:txBody>
                  <a:tcPr marL="73152" marR="73152" marT="36576" marB="36576" anchor="ctr">
                    <a:solidFill>
                      <a:srgbClr val="EAF8FA"/>
                    </a:solidFill>
                  </a:tcPr>
                </a:tc>
                <a:tc>
                  <a:txBody>
                    <a:bodyPr wrap="square"/>
                    <a:lstStyle/>
                    <a:p>
                      <a:pPr algn="ctr"/>
                      <a:r>
                        <a:rPr sz="850" b="0" i="0">
                          <a:solidFill>
                            <a:srgbClr val="14313B"/>
                          </a:solidFill>
                          <a:latin typeface="Calibri (MS)"/>
                        </a:rPr>
                        <a:t>0,285</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25</a:t>
                      </a:r>
                    </a:p>
                  </a:txBody>
                  <a:tcPr marL="73152" marR="73152" marT="36576" marB="36576" anchor="ctr">
                    <a:solidFill>
                      <a:srgbClr val="FFFFFF"/>
                    </a:solidFill>
                  </a:tcPr>
                </a:tc>
                <a:tc>
                  <a:txBody>
                    <a:bodyPr wrap="square"/>
                    <a:lstStyle/>
                    <a:p>
                      <a:pPr algn="ctr"/>
                      <a:r>
                        <a:rPr sz="850" b="0" i="0">
                          <a:solidFill>
                            <a:srgbClr val="14313B"/>
                          </a:solidFill>
                          <a:latin typeface="Calibri (MS)"/>
                        </a:rPr>
                        <a:t>110,58778</a:t>
                      </a:r>
                    </a:p>
                  </a:txBody>
                  <a:tcPr marL="73152" marR="73152" marT="36576" marB="36576" anchor="ctr">
                    <a:solidFill>
                      <a:srgbClr val="FFFFFF"/>
                    </a:solidFill>
                  </a:tcPr>
                </a:tc>
                <a:tc>
                  <a:txBody>
                    <a:bodyPr wrap="square"/>
                    <a:lstStyle/>
                    <a:p>
                      <a:pPr algn="ctr"/>
                      <a:r>
                        <a:rPr sz="850" b="0" i="0">
                          <a:solidFill>
                            <a:srgbClr val="14313B"/>
                          </a:solidFill>
                          <a:latin typeface="Calibri (MS)"/>
                        </a:rPr>
                        <a:t>-7,90980</a:t>
                      </a:r>
                    </a:p>
                  </a:txBody>
                  <a:tcPr marL="73152" marR="73152" marT="36576" marB="36576" anchor="ctr">
                    <a:solidFill>
                      <a:srgbClr val="FFFFFF"/>
                    </a:solidFill>
                  </a:tcPr>
                </a:tc>
                <a:tc>
                  <a:txBody>
                    <a:bodyPr wrap="square"/>
                    <a:lstStyle/>
                    <a:p>
                      <a:pPr algn="ctr"/>
                      <a:r>
                        <a:rPr sz="850" b="0" i="0">
                          <a:solidFill>
                            <a:srgbClr val="14313B"/>
                          </a:solidFill>
                          <a:latin typeface="Calibri (MS)"/>
                        </a:rPr>
                        <a:t>0,035</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graphicFrame>
        <p:nvGraphicFramePr>
          <p:cNvPr id="28" name="Table 27"/>
          <p:cNvGraphicFramePr>
            <a:graphicFrameLocks noGrp="1"/>
          </p:cNvGraphicFramePr>
          <p:nvPr/>
        </p:nvGraphicFramePr>
        <p:xfrm>
          <a:off x="923544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26</a:t>
                      </a:r>
                    </a:p>
                  </a:txBody>
                  <a:tcPr marL="73152" marR="73152" marT="36576" marB="36576" anchor="ctr">
                    <a:solidFill>
                      <a:srgbClr val="FFFFFF"/>
                    </a:solidFill>
                  </a:tcPr>
                </a:tc>
                <a:tc>
                  <a:txBody>
                    <a:bodyPr wrap="square"/>
                    <a:lstStyle/>
                    <a:p>
                      <a:pPr algn="ctr"/>
                      <a:r>
                        <a:rPr sz="850" b="0" i="0">
                          <a:solidFill>
                            <a:srgbClr val="14313B"/>
                          </a:solidFill>
                          <a:latin typeface="Calibri (MS)"/>
                        </a:rPr>
                        <a:t>110,53873</a:t>
                      </a:r>
                    </a:p>
                  </a:txBody>
                  <a:tcPr marL="73152" marR="73152" marT="36576" marB="36576" anchor="ctr">
                    <a:solidFill>
                      <a:srgbClr val="FFFFFF"/>
                    </a:solidFill>
                  </a:tcPr>
                </a:tc>
                <a:tc>
                  <a:txBody>
                    <a:bodyPr wrap="square"/>
                    <a:lstStyle/>
                    <a:p>
                      <a:pPr algn="ctr"/>
                      <a:r>
                        <a:rPr sz="850" b="0" i="0">
                          <a:solidFill>
                            <a:srgbClr val="14313B"/>
                          </a:solidFill>
                          <a:latin typeface="Calibri (MS)"/>
                        </a:rPr>
                        <a:t>-8,12001</a:t>
                      </a:r>
                    </a:p>
                  </a:txBody>
                  <a:tcPr marL="73152" marR="73152" marT="36576" marB="36576" anchor="ctr">
                    <a:solidFill>
                      <a:srgbClr val="FFFFFF"/>
                    </a:solidFill>
                  </a:tcPr>
                </a:tc>
                <a:tc>
                  <a:txBody>
                    <a:bodyPr wrap="square"/>
                    <a:lstStyle/>
                    <a:p>
                      <a:pPr algn="ctr"/>
                      <a:r>
                        <a:rPr sz="850" b="0" i="0">
                          <a:solidFill>
                            <a:srgbClr val="14313B"/>
                          </a:solidFill>
                          <a:latin typeface="Calibri (MS)"/>
                        </a:rPr>
                        <a:t>0,036</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27</a:t>
                      </a:r>
                    </a:p>
                  </a:txBody>
                  <a:tcPr marL="73152" marR="73152" marT="36576" marB="36576" anchor="ctr">
                    <a:solidFill>
                      <a:srgbClr val="EAF8FA"/>
                    </a:solidFill>
                  </a:tcPr>
                </a:tc>
                <a:tc>
                  <a:txBody>
                    <a:bodyPr wrap="square"/>
                    <a:lstStyle/>
                    <a:p>
                      <a:pPr algn="ctr"/>
                      <a:r>
                        <a:rPr sz="850" b="0" i="0">
                          <a:solidFill>
                            <a:srgbClr val="14313B"/>
                          </a:solidFill>
                          <a:latin typeface="Calibri (MS)"/>
                        </a:rPr>
                        <a:t>110,77004</a:t>
                      </a:r>
                    </a:p>
                  </a:txBody>
                  <a:tcPr marL="73152" marR="73152" marT="36576" marB="36576" anchor="ctr">
                    <a:solidFill>
                      <a:srgbClr val="EAF8FA"/>
                    </a:solidFill>
                  </a:tcPr>
                </a:tc>
                <a:tc>
                  <a:txBody>
                    <a:bodyPr wrap="square"/>
                    <a:lstStyle/>
                    <a:p>
                      <a:pPr algn="ctr"/>
                      <a:r>
                        <a:rPr sz="850" b="0" i="0">
                          <a:solidFill>
                            <a:srgbClr val="14313B"/>
                          </a:solidFill>
                          <a:latin typeface="Calibri (MS)"/>
                        </a:rPr>
                        <a:t>-8,08291</a:t>
                      </a:r>
                    </a:p>
                  </a:txBody>
                  <a:tcPr marL="73152" marR="73152" marT="36576" marB="36576" anchor="ctr">
                    <a:solidFill>
                      <a:srgbClr val="EAF8FA"/>
                    </a:solidFill>
                  </a:tcPr>
                </a:tc>
                <a:tc>
                  <a:txBody>
                    <a:bodyPr wrap="square"/>
                    <a:lstStyle/>
                    <a:p>
                      <a:pPr algn="ctr"/>
                      <a:r>
                        <a:rPr sz="850" b="0" i="0">
                          <a:solidFill>
                            <a:srgbClr val="14313B"/>
                          </a:solidFill>
                          <a:latin typeface="Calibri (MS)"/>
                        </a:rPr>
                        <a:t>0,056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28</a:t>
                      </a:r>
                    </a:p>
                  </a:txBody>
                  <a:tcPr marL="73152" marR="73152" marT="36576" marB="36576" anchor="ctr">
                    <a:solidFill>
                      <a:srgbClr val="FFFFFF"/>
                    </a:solidFill>
                  </a:tcPr>
                </a:tc>
                <a:tc>
                  <a:txBody>
                    <a:bodyPr wrap="square"/>
                    <a:lstStyle/>
                    <a:p>
                      <a:pPr algn="ctr"/>
                      <a:r>
                        <a:rPr sz="850" b="0" i="0">
                          <a:solidFill>
                            <a:srgbClr val="14313B"/>
                          </a:solidFill>
                          <a:latin typeface="Calibri (MS)"/>
                        </a:rPr>
                        <a:t>110,63278</a:t>
                      </a:r>
                    </a:p>
                  </a:txBody>
                  <a:tcPr marL="73152" marR="73152" marT="36576" marB="36576" anchor="ctr">
                    <a:solidFill>
                      <a:srgbClr val="FFFFFF"/>
                    </a:solidFill>
                  </a:tcPr>
                </a:tc>
                <a:tc>
                  <a:txBody>
                    <a:bodyPr wrap="square"/>
                    <a:lstStyle/>
                    <a:p>
                      <a:pPr algn="ctr"/>
                      <a:r>
                        <a:rPr sz="850" b="0" i="0">
                          <a:solidFill>
                            <a:srgbClr val="14313B"/>
                          </a:solidFill>
                          <a:latin typeface="Calibri (MS)"/>
                        </a:rPr>
                        <a:t>-8,03314</a:t>
                      </a:r>
                    </a:p>
                  </a:txBody>
                  <a:tcPr marL="73152" marR="73152" marT="36576" marB="36576" anchor="ctr">
                    <a:solidFill>
                      <a:srgbClr val="FFFFFF"/>
                    </a:solidFill>
                  </a:tcPr>
                </a:tc>
                <a:tc>
                  <a:txBody>
                    <a:bodyPr wrap="square"/>
                    <a:lstStyle/>
                    <a:p>
                      <a:pPr algn="ctr"/>
                      <a:r>
                        <a:rPr sz="850" b="0" i="0">
                          <a:solidFill>
                            <a:srgbClr val="14313B"/>
                          </a:solidFill>
                          <a:latin typeface="Calibri (MS)"/>
                        </a:rPr>
                        <a:t>0,049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29</a:t>
                      </a:r>
                    </a:p>
                  </a:txBody>
                  <a:tcPr marL="73152" marR="73152" marT="36576" marB="36576" anchor="ctr">
                    <a:solidFill>
                      <a:srgbClr val="EAF8FA"/>
                    </a:solidFill>
                  </a:tcPr>
                </a:tc>
                <a:tc>
                  <a:txBody>
                    <a:bodyPr wrap="square"/>
                    <a:lstStyle/>
                    <a:p>
                      <a:pPr algn="ctr"/>
                      <a:r>
                        <a:rPr sz="850" b="0" i="0">
                          <a:solidFill>
                            <a:srgbClr val="14313B"/>
                          </a:solidFill>
                          <a:latin typeface="Calibri (MS)"/>
                        </a:rPr>
                        <a:t>110,72971</a:t>
                      </a:r>
                    </a:p>
                  </a:txBody>
                  <a:tcPr marL="73152" marR="73152" marT="36576" marB="36576" anchor="ctr">
                    <a:solidFill>
                      <a:srgbClr val="EAF8FA"/>
                    </a:solidFill>
                  </a:tcPr>
                </a:tc>
                <a:tc>
                  <a:txBody>
                    <a:bodyPr wrap="square"/>
                    <a:lstStyle/>
                    <a:p>
                      <a:pPr algn="ctr"/>
                      <a:r>
                        <a:rPr sz="850" b="0" i="0">
                          <a:solidFill>
                            <a:srgbClr val="14313B"/>
                          </a:solidFill>
                          <a:latin typeface="Calibri (MS)"/>
                        </a:rPr>
                        <a:t>-7,84467</a:t>
                      </a:r>
                    </a:p>
                  </a:txBody>
                  <a:tcPr marL="73152" marR="73152" marT="36576" marB="36576" anchor="ctr">
                    <a:solidFill>
                      <a:srgbClr val="EAF8FA"/>
                    </a:solidFill>
                  </a:tcPr>
                </a:tc>
                <a:tc>
                  <a:txBody>
                    <a:bodyPr wrap="square"/>
                    <a:lstStyle/>
                    <a:p>
                      <a:pPr algn="ctr"/>
                      <a:r>
                        <a:rPr sz="850" b="0" i="0">
                          <a:solidFill>
                            <a:srgbClr val="14313B"/>
                          </a:solidFill>
                          <a:latin typeface="Calibri (MS)"/>
                        </a:rPr>
                        <a:t>0,141</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30</a:t>
                      </a:r>
                    </a:p>
                  </a:txBody>
                  <a:tcPr marL="73152" marR="73152" marT="36576" marB="36576" anchor="ctr">
                    <a:solidFill>
                      <a:srgbClr val="FFFFFF"/>
                    </a:solidFill>
                  </a:tcPr>
                </a:tc>
                <a:tc>
                  <a:txBody>
                    <a:bodyPr wrap="square"/>
                    <a:lstStyle/>
                    <a:p>
                      <a:pPr algn="ctr"/>
                      <a:r>
                        <a:rPr sz="850" b="0" i="0">
                          <a:solidFill>
                            <a:srgbClr val="14313B"/>
                          </a:solidFill>
                          <a:latin typeface="Calibri (MS)"/>
                        </a:rPr>
                        <a:t>110,49750</a:t>
                      </a:r>
                    </a:p>
                  </a:txBody>
                  <a:tcPr marL="73152" marR="73152" marT="36576" marB="36576" anchor="ctr">
                    <a:solidFill>
                      <a:srgbClr val="FFFFFF"/>
                    </a:solidFill>
                  </a:tcPr>
                </a:tc>
                <a:tc>
                  <a:txBody>
                    <a:bodyPr wrap="square"/>
                    <a:lstStyle/>
                    <a:p>
                      <a:pPr algn="ctr"/>
                      <a:r>
                        <a:rPr sz="850" b="0" i="0">
                          <a:solidFill>
                            <a:srgbClr val="14313B"/>
                          </a:solidFill>
                          <a:latin typeface="Calibri (MS)"/>
                        </a:rPr>
                        <a:t>-7,96496</a:t>
                      </a:r>
                    </a:p>
                  </a:txBody>
                  <a:tcPr marL="73152" marR="73152" marT="36576" marB="36576" anchor="ctr">
                    <a:solidFill>
                      <a:srgbClr val="FFFFFF"/>
                    </a:solidFill>
                  </a:tcPr>
                </a:tc>
                <a:tc>
                  <a:txBody>
                    <a:bodyPr wrap="square"/>
                    <a:lstStyle/>
                    <a:p>
                      <a:pPr algn="ctr"/>
                      <a:r>
                        <a:rPr sz="850" b="0" i="0">
                          <a:solidFill>
                            <a:srgbClr val="14313B"/>
                          </a:solidFill>
                          <a:latin typeface="Calibri (MS)"/>
                        </a:rPr>
                        <a:t>0,058</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31</a:t>
                      </a:r>
                    </a:p>
                  </a:txBody>
                  <a:tcPr marL="73152" marR="73152" marT="36576" marB="36576" anchor="ctr">
                    <a:solidFill>
                      <a:srgbClr val="EAF8FA"/>
                    </a:solidFill>
                  </a:tcPr>
                </a:tc>
                <a:tc>
                  <a:txBody>
                    <a:bodyPr wrap="square"/>
                    <a:lstStyle/>
                    <a:p>
                      <a:pPr algn="ctr"/>
                      <a:r>
                        <a:rPr sz="850" b="0" i="0">
                          <a:solidFill>
                            <a:srgbClr val="14313B"/>
                          </a:solidFill>
                          <a:latin typeface="Calibri (MS)"/>
                        </a:rPr>
                        <a:t>110,31325</a:t>
                      </a:r>
                    </a:p>
                  </a:txBody>
                  <a:tcPr marL="73152" marR="73152" marT="36576" marB="36576" anchor="ctr">
                    <a:solidFill>
                      <a:srgbClr val="EAF8FA"/>
                    </a:solidFill>
                  </a:tcPr>
                </a:tc>
                <a:tc>
                  <a:txBody>
                    <a:bodyPr wrap="square"/>
                    <a:lstStyle/>
                    <a:p>
                      <a:pPr algn="ctr"/>
                      <a:r>
                        <a:rPr sz="850" b="0" i="0">
                          <a:solidFill>
                            <a:srgbClr val="14313B"/>
                          </a:solidFill>
                          <a:latin typeface="Calibri (MS)"/>
                        </a:rPr>
                        <a:t>-7,65621</a:t>
                      </a:r>
                    </a:p>
                  </a:txBody>
                  <a:tcPr marL="73152" marR="73152" marT="36576" marB="36576" anchor="ctr">
                    <a:solidFill>
                      <a:srgbClr val="EAF8FA"/>
                    </a:solidFill>
                  </a:tcPr>
                </a:tc>
                <a:tc>
                  <a:txBody>
                    <a:bodyPr wrap="square"/>
                    <a:lstStyle/>
                    <a:p>
                      <a:pPr algn="ctr"/>
                      <a:r>
                        <a:rPr sz="850" b="0" i="0">
                          <a:solidFill>
                            <a:srgbClr val="14313B"/>
                          </a:solidFill>
                          <a:latin typeface="Calibri (MS)"/>
                        </a:rPr>
                        <a:t>0,212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32</a:t>
                      </a:r>
                    </a:p>
                  </a:txBody>
                  <a:tcPr marL="73152" marR="73152" marT="36576" marB="36576" anchor="ctr">
                    <a:solidFill>
                      <a:srgbClr val="FFFFFF"/>
                    </a:solidFill>
                  </a:tcPr>
                </a:tc>
                <a:tc>
                  <a:txBody>
                    <a:bodyPr wrap="square"/>
                    <a:lstStyle/>
                    <a:p>
                      <a:pPr algn="ctr"/>
                      <a:r>
                        <a:rPr sz="850" b="0" i="0">
                          <a:solidFill>
                            <a:srgbClr val="14313B"/>
                          </a:solidFill>
                          <a:latin typeface="Calibri (MS)"/>
                        </a:rPr>
                        <a:t>110,48672</a:t>
                      </a:r>
                    </a:p>
                  </a:txBody>
                  <a:tcPr marL="73152" marR="73152" marT="36576" marB="36576" anchor="ctr">
                    <a:solidFill>
                      <a:srgbClr val="FFFFFF"/>
                    </a:solidFill>
                  </a:tcPr>
                </a:tc>
                <a:tc>
                  <a:txBody>
                    <a:bodyPr wrap="square"/>
                    <a:lstStyle/>
                    <a:p>
                      <a:pPr algn="ctr"/>
                      <a:r>
                        <a:rPr sz="850" b="0" i="0">
                          <a:solidFill>
                            <a:srgbClr val="14313B"/>
                          </a:solidFill>
                          <a:latin typeface="Calibri (MS)"/>
                        </a:rPr>
                        <a:t>-8,10536</a:t>
                      </a:r>
                    </a:p>
                  </a:txBody>
                  <a:tcPr marL="73152" marR="73152" marT="36576" marB="36576" anchor="ctr">
                    <a:solidFill>
                      <a:srgbClr val="FFFFFF"/>
                    </a:solidFill>
                  </a:tcPr>
                </a:tc>
                <a:tc>
                  <a:txBody>
                    <a:bodyPr wrap="square"/>
                    <a:lstStyle/>
                    <a:p>
                      <a:pPr algn="ctr"/>
                      <a:r>
                        <a:rPr sz="850" b="0" i="0">
                          <a:solidFill>
                            <a:srgbClr val="14313B"/>
                          </a:solidFill>
                          <a:latin typeface="Calibri (MS)"/>
                        </a:rPr>
                        <a:t>0,030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33</a:t>
                      </a:r>
                    </a:p>
                  </a:txBody>
                  <a:tcPr marL="73152" marR="73152" marT="36576" marB="36576" anchor="ctr">
                    <a:solidFill>
                      <a:srgbClr val="EAF8FA"/>
                    </a:solidFill>
                  </a:tcPr>
                </a:tc>
                <a:tc>
                  <a:txBody>
                    <a:bodyPr wrap="square"/>
                    <a:lstStyle/>
                    <a:p>
                      <a:pPr algn="ctr"/>
                      <a:r>
                        <a:rPr sz="850" b="0" i="0">
                          <a:solidFill>
                            <a:srgbClr val="14313B"/>
                          </a:solidFill>
                          <a:latin typeface="Calibri (MS)"/>
                        </a:rPr>
                        <a:t>110,69072</a:t>
                      </a:r>
                    </a:p>
                  </a:txBody>
                  <a:tcPr marL="73152" marR="73152" marT="36576" marB="36576" anchor="ctr">
                    <a:solidFill>
                      <a:srgbClr val="EAF8FA"/>
                    </a:solidFill>
                  </a:tcPr>
                </a:tc>
                <a:tc>
                  <a:txBody>
                    <a:bodyPr wrap="square"/>
                    <a:lstStyle/>
                    <a:p>
                      <a:pPr algn="ctr"/>
                      <a:r>
                        <a:rPr sz="850" b="0" i="0">
                          <a:solidFill>
                            <a:srgbClr val="14313B"/>
                          </a:solidFill>
                          <a:latin typeface="Calibri (MS)"/>
                        </a:rPr>
                        <a:t>-7,92956</a:t>
                      </a:r>
                    </a:p>
                  </a:txBody>
                  <a:tcPr marL="73152" marR="73152" marT="36576" marB="36576" anchor="ctr">
                    <a:solidFill>
                      <a:srgbClr val="EAF8FA"/>
                    </a:solidFill>
                  </a:tcPr>
                </a:tc>
                <a:tc>
                  <a:txBody>
                    <a:bodyPr wrap="square"/>
                    <a:lstStyle/>
                    <a:p>
                      <a:pPr algn="ctr"/>
                      <a:r>
                        <a:rPr sz="850" b="0" i="0">
                          <a:solidFill>
                            <a:srgbClr val="14313B"/>
                          </a:solidFill>
                          <a:latin typeface="Calibri (MS)"/>
                        </a:rPr>
                        <a:t>0,480</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34</a:t>
                      </a:r>
                    </a:p>
                  </a:txBody>
                  <a:tcPr marL="73152" marR="73152" marT="36576" marB="36576" anchor="ctr">
                    <a:solidFill>
                      <a:srgbClr val="FFFFFF"/>
                    </a:solidFill>
                  </a:tcPr>
                </a:tc>
                <a:tc>
                  <a:txBody>
                    <a:bodyPr wrap="square"/>
                    <a:lstStyle/>
                    <a:p>
                      <a:pPr algn="ctr"/>
                      <a:r>
                        <a:rPr sz="850" b="0" i="0">
                          <a:solidFill>
                            <a:srgbClr val="14313B"/>
                          </a:solidFill>
                          <a:latin typeface="Calibri (MS)"/>
                        </a:rPr>
                        <a:t>110,10215</a:t>
                      </a:r>
                    </a:p>
                  </a:txBody>
                  <a:tcPr marL="73152" marR="73152" marT="36576" marB="36576" anchor="ctr">
                    <a:solidFill>
                      <a:srgbClr val="FFFFFF"/>
                    </a:solidFill>
                  </a:tcPr>
                </a:tc>
                <a:tc>
                  <a:txBody>
                    <a:bodyPr wrap="square"/>
                    <a:lstStyle/>
                    <a:p>
                      <a:pPr algn="ctr"/>
                      <a:r>
                        <a:rPr sz="850" b="0" i="0">
                          <a:solidFill>
                            <a:srgbClr val="14313B"/>
                          </a:solidFill>
                          <a:latin typeface="Calibri (MS)"/>
                        </a:rPr>
                        <a:t>-7,87001</a:t>
                      </a:r>
                    </a:p>
                  </a:txBody>
                  <a:tcPr marL="73152" marR="73152" marT="36576" marB="36576" anchor="ctr">
                    <a:solidFill>
                      <a:srgbClr val="FFFFFF"/>
                    </a:solidFill>
                  </a:tcPr>
                </a:tc>
                <a:tc>
                  <a:txBody>
                    <a:bodyPr wrap="square"/>
                    <a:lstStyle/>
                    <a:p>
                      <a:pPr algn="ctr"/>
                      <a:r>
                        <a:rPr sz="850" b="0" i="0">
                          <a:solidFill>
                            <a:srgbClr val="14313B"/>
                          </a:solidFill>
                          <a:latin typeface="Calibri (MS)"/>
                        </a:rPr>
                        <a:t>0,056</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35</a:t>
                      </a:r>
                    </a:p>
                  </a:txBody>
                  <a:tcPr marL="73152" marR="73152" marT="36576" marB="36576" anchor="ctr">
                    <a:solidFill>
                      <a:srgbClr val="EAF8FA"/>
                    </a:solidFill>
                  </a:tcPr>
                </a:tc>
                <a:tc>
                  <a:txBody>
                    <a:bodyPr wrap="square"/>
                    <a:lstStyle/>
                    <a:p>
                      <a:pPr algn="ctr"/>
                      <a:r>
                        <a:rPr sz="850" b="0" i="0">
                          <a:solidFill>
                            <a:srgbClr val="14313B"/>
                          </a:solidFill>
                          <a:latin typeface="Calibri (MS)"/>
                        </a:rPr>
                        <a:t>110,06891</a:t>
                      </a:r>
                    </a:p>
                  </a:txBody>
                  <a:tcPr marL="73152" marR="73152" marT="36576" marB="36576" anchor="ctr">
                    <a:solidFill>
                      <a:srgbClr val="EAF8FA"/>
                    </a:solidFill>
                  </a:tcPr>
                </a:tc>
                <a:tc>
                  <a:txBody>
                    <a:bodyPr wrap="square"/>
                    <a:lstStyle/>
                    <a:p>
                      <a:pPr algn="ctr"/>
                      <a:r>
                        <a:rPr sz="850" b="0" i="0">
                          <a:solidFill>
                            <a:srgbClr val="14313B"/>
                          </a:solidFill>
                          <a:latin typeface="Calibri (MS)"/>
                        </a:rPr>
                        <a:t>-7,88007</a:t>
                      </a:r>
                    </a:p>
                  </a:txBody>
                  <a:tcPr marL="73152" marR="73152" marT="36576" marB="36576" anchor="ctr">
                    <a:solidFill>
                      <a:srgbClr val="EAF8FA"/>
                    </a:solidFill>
                  </a:tcPr>
                </a:tc>
                <a:tc>
                  <a:txBody>
                    <a:bodyPr wrap="square"/>
                    <a:lstStyle/>
                    <a:p>
                      <a:pPr algn="ctr"/>
                      <a:r>
                        <a:rPr sz="850" b="0" i="0">
                          <a:solidFill>
                            <a:srgbClr val="14313B"/>
                          </a:solidFill>
                          <a:latin typeface="Calibri (MS)"/>
                        </a:rPr>
                        <a:t>0,042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36</a:t>
                      </a:r>
                    </a:p>
                  </a:txBody>
                  <a:tcPr marL="73152" marR="73152" marT="36576" marB="36576" anchor="ctr">
                    <a:solidFill>
                      <a:srgbClr val="FFFFFF"/>
                    </a:solidFill>
                  </a:tcPr>
                </a:tc>
                <a:tc>
                  <a:txBody>
                    <a:bodyPr wrap="square"/>
                    <a:lstStyle/>
                    <a:p>
                      <a:pPr algn="ctr"/>
                      <a:r>
                        <a:rPr sz="850" b="0" i="0">
                          <a:solidFill>
                            <a:srgbClr val="14313B"/>
                          </a:solidFill>
                          <a:latin typeface="Calibri (MS)"/>
                        </a:rPr>
                        <a:t>110,51304</a:t>
                      </a:r>
                    </a:p>
                  </a:txBody>
                  <a:tcPr marL="73152" marR="73152" marT="36576" marB="36576" anchor="ctr">
                    <a:solidFill>
                      <a:srgbClr val="FFFFFF"/>
                    </a:solidFill>
                  </a:tcPr>
                </a:tc>
                <a:tc>
                  <a:txBody>
                    <a:bodyPr wrap="square"/>
                    <a:lstStyle/>
                    <a:p>
                      <a:pPr algn="ctr"/>
                      <a:r>
                        <a:rPr sz="850" b="0" i="0">
                          <a:solidFill>
                            <a:srgbClr val="14313B"/>
                          </a:solidFill>
                          <a:latin typeface="Calibri (MS)"/>
                        </a:rPr>
                        <a:t>-8,03781</a:t>
                      </a:r>
                    </a:p>
                  </a:txBody>
                  <a:tcPr marL="73152" marR="73152" marT="36576" marB="36576" anchor="ctr">
                    <a:solidFill>
                      <a:srgbClr val="FFFFFF"/>
                    </a:solidFill>
                  </a:tcPr>
                </a:tc>
                <a:tc>
                  <a:txBody>
                    <a:bodyPr wrap="square"/>
                    <a:lstStyle/>
                    <a:p>
                      <a:pPr algn="ctr"/>
                      <a:r>
                        <a:rPr sz="850" b="0" i="0">
                          <a:solidFill>
                            <a:srgbClr val="14313B"/>
                          </a:solidFill>
                          <a:latin typeface="Calibri (MS)"/>
                        </a:rPr>
                        <a:t>0,030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37</a:t>
                      </a:r>
                    </a:p>
                  </a:txBody>
                  <a:tcPr marL="73152" marR="73152" marT="36576" marB="36576" anchor="ctr">
                    <a:solidFill>
                      <a:srgbClr val="EAF8FA"/>
                    </a:solidFill>
                  </a:tcPr>
                </a:tc>
                <a:tc>
                  <a:txBody>
                    <a:bodyPr wrap="square"/>
                    <a:lstStyle/>
                    <a:p>
                      <a:pPr algn="ctr"/>
                      <a:r>
                        <a:rPr sz="850" b="0" i="0">
                          <a:solidFill>
                            <a:srgbClr val="14313B"/>
                          </a:solidFill>
                          <a:latin typeface="Calibri (MS)"/>
                        </a:rPr>
                        <a:t>110,30148</a:t>
                      </a:r>
                    </a:p>
                  </a:txBody>
                  <a:tcPr marL="73152" marR="73152" marT="36576" marB="36576" anchor="ctr">
                    <a:solidFill>
                      <a:srgbClr val="EAF8FA"/>
                    </a:solidFill>
                  </a:tcPr>
                </a:tc>
                <a:tc>
                  <a:txBody>
                    <a:bodyPr wrap="square"/>
                    <a:lstStyle/>
                    <a:p>
                      <a:pPr algn="ctr"/>
                      <a:r>
                        <a:rPr sz="850" b="0" i="0">
                          <a:solidFill>
                            <a:srgbClr val="14313B"/>
                          </a:solidFill>
                          <a:latin typeface="Calibri (MS)"/>
                        </a:rPr>
                        <a:t>-8,01356</a:t>
                      </a:r>
                    </a:p>
                  </a:txBody>
                  <a:tcPr marL="73152" marR="73152" marT="36576" marB="36576" anchor="ctr">
                    <a:solidFill>
                      <a:srgbClr val="EAF8FA"/>
                    </a:solidFill>
                  </a:tcPr>
                </a:tc>
                <a:tc>
                  <a:txBody>
                    <a:bodyPr wrap="square"/>
                    <a:lstStyle/>
                    <a:p>
                      <a:pPr algn="ctr"/>
                      <a:r>
                        <a:rPr sz="850" b="0" i="0">
                          <a:solidFill>
                            <a:srgbClr val="14313B"/>
                          </a:solidFill>
                          <a:latin typeface="Calibri (MS)"/>
                        </a:rPr>
                        <a:t>0,168</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38</a:t>
                      </a:r>
                    </a:p>
                  </a:txBody>
                  <a:tcPr marL="73152" marR="73152" marT="36576" marB="36576" anchor="ctr">
                    <a:solidFill>
                      <a:srgbClr val="FFFFFF"/>
                    </a:solidFill>
                  </a:tcPr>
                </a:tc>
                <a:tc>
                  <a:txBody>
                    <a:bodyPr wrap="square"/>
                    <a:lstStyle/>
                    <a:p>
                      <a:pPr algn="ctr"/>
                      <a:r>
                        <a:rPr sz="850" b="0" i="0">
                          <a:solidFill>
                            <a:srgbClr val="14313B"/>
                          </a:solidFill>
                          <a:latin typeface="Calibri (MS)"/>
                        </a:rPr>
                        <a:t>110,36014</a:t>
                      </a:r>
                    </a:p>
                  </a:txBody>
                  <a:tcPr marL="73152" marR="73152" marT="36576" marB="36576" anchor="ctr">
                    <a:solidFill>
                      <a:srgbClr val="FFFFFF"/>
                    </a:solidFill>
                  </a:tcPr>
                </a:tc>
                <a:tc>
                  <a:txBody>
                    <a:bodyPr wrap="square"/>
                    <a:lstStyle/>
                    <a:p>
                      <a:pPr algn="ctr"/>
                      <a:r>
                        <a:rPr sz="850" b="0" i="0">
                          <a:solidFill>
                            <a:srgbClr val="14313B"/>
                          </a:solidFill>
                          <a:latin typeface="Calibri (MS)"/>
                        </a:rPr>
                        <a:t>-8,02344</a:t>
                      </a:r>
                    </a:p>
                  </a:txBody>
                  <a:tcPr marL="73152" marR="73152" marT="36576" marB="36576" anchor="ctr">
                    <a:solidFill>
                      <a:srgbClr val="FFFFFF"/>
                    </a:solidFill>
                  </a:tcPr>
                </a:tc>
                <a:tc>
                  <a:txBody>
                    <a:bodyPr wrap="square"/>
                    <a:lstStyle/>
                    <a:p>
                      <a:pPr algn="ctr"/>
                      <a:r>
                        <a:rPr sz="850" b="0" i="0">
                          <a:solidFill>
                            <a:srgbClr val="14313B"/>
                          </a:solidFill>
                          <a:latin typeface="Calibri (MS)"/>
                        </a:rPr>
                        <a:t>0,170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39</a:t>
                      </a:r>
                    </a:p>
                  </a:txBody>
                  <a:tcPr marL="73152" marR="73152" marT="36576" marB="36576" anchor="ctr">
                    <a:solidFill>
                      <a:srgbClr val="EAF8FA"/>
                    </a:solidFill>
                  </a:tcPr>
                </a:tc>
                <a:tc>
                  <a:txBody>
                    <a:bodyPr wrap="square"/>
                    <a:lstStyle/>
                    <a:p>
                      <a:pPr algn="ctr"/>
                      <a:r>
                        <a:rPr sz="850" b="0" i="0">
                          <a:solidFill>
                            <a:srgbClr val="14313B"/>
                          </a:solidFill>
                          <a:latin typeface="Calibri (MS)"/>
                        </a:rPr>
                        <a:t>110,52418</a:t>
                      </a:r>
                    </a:p>
                  </a:txBody>
                  <a:tcPr marL="73152" marR="73152" marT="36576" marB="36576" anchor="ctr">
                    <a:solidFill>
                      <a:srgbClr val="EAF8FA"/>
                    </a:solidFill>
                  </a:tcPr>
                </a:tc>
                <a:tc>
                  <a:txBody>
                    <a:bodyPr wrap="square"/>
                    <a:lstStyle/>
                    <a:p>
                      <a:pPr algn="ctr"/>
                      <a:r>
                        <a:rPr sz="850" b="0" i="0">
                          <a:solidFill>
                            <a:srgbClr val="14313B"/>
                          </a:solidFill>
                          <a:latin typeface="Calibri (MS)"/>
                        </a:rPr>
                        <a:t>-7,86569</a:t>
                      </a:r>
                    </a:p>
                  </a:txBody>
                  <a:tcPr marL="73152" marR="73152" marT="36576" marB="36576" anchor="ctr">
                    <a:solidFill>
                      <a:srgbClr val="EAF8FA"/>
                    </a:solidFill>
                  </a:tcPr>
                </a:tc>
                <a:tc>
                  <a:txBody>
                    <a:bodyPr wrap="square"/>
                    <a:lstStyle/>
                    <a:p>
                      <a:pPr algn="ctr"/>
                      <a:r>
                        <a:rPr sz="850" b="0" i="0">
                          <a:solidFill>
                            <a:srgbClr val="14313B"/>
                          </a:solidFill>
                          <a:latin typeface="Calibri (MS)"/>
                        </a:rPr>
                        <a:t>0,046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40</a:t>
                      </a:r>
                    </a:p>
                  </a:txBody>
                  <a:tcPr marL="73152" marR="73152" marT="36576" marB="36576" anchor="ctr">
                    <a:solidFill>
                      <a:srgbClr val="FFFFFF"/>
                    </a:solidFill>
                  </a:tcPr>
                </a:tc>
                <a:tc>
                  <a:txBody>
                    <a:bodyPr wrap="square"/>
                    <a:lstStyle/>
                    <a:p>
                      <a:pPr algn="ctr"/>
                      <a:r>
                        <a:rPr sz="850" b="0" i="0">
                          <a:solidFill>
                            <a:srgbClr val="14313B"/>
                          </a:solidFill>
                          <a:latin typeface="Calibri (MS)"/>
                        </a:rPr>
                        <a:t>110,77292</a:t>
                      </a:r>
                    </a:p>
                  </a:txBody>
                  <a:tcPr marL="73152" marR="73152" marT="36576" marB="36576" anchor="ctr">
                    <a:solidFill>
                      <a:srgbClr val="FFFFFF"/>
                    </a:solidFill>
                  </a:tcPr>
                </a:tc>
                <a:tc>
                  <a:txBody>
                    <a:bodyPr wrap="square"/>
                    <a:lstStyle/>
                    <a:p>
                      <a:pPr algn="ctr"/>
                      <a:r>
                        <a:rPr sz="850" b="0" i="0">
                          <a:solidFill>
                            <a:srgbClr val="14313B"/>
                          </a:solidFill>
                          <a:latin typeface="Calibri (MS)"/>
                        </a:rPr>
                        <a:t>-7,85905</a:t>
                      </a:r>
                    </a:p>
                  </a:txBody>
                  <a:tcPr marL="73152" marR="73152" marT="36576" marB="36576" anchor="ctr">
                    <a:solidFill>
                      <a:srgbClr val="FFFFFF"/>
                    </a:solidFill>
                  </a:tcPr>
                </a:tc>
                <a:tc>
                  <a:txBody>
                    <a:bodyPr wrap="square"/>
                    <a:lstStyle/>
                    <a:p>
                      <a:pPr algn="ctr"/>
                      <a:r>
                        <a:rPr sz="850" b="0" i="0">
                          <a:solidFill>
                            <a:srgbClr val="14313B"/>
                          </a:solidFill>
                          <a:latin typeface="Calibri (MS)"/>
                        </a:rPr>
                        <a:t>0,069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41</a:t>
                      </a:r>
                    </a:p>
                  </a:txBody>
                  <a:tcPr marL="73152" marR="73152" marT="36576" marB="36576" anchor="ctr">
                    <a:solidFill>
                      <a:srgbClr val="EAF8FA"/>
                    </a:solidFill>
                  </a:tcPr>
                </a:tc>
                <a:tc>
                  <a:txBody>
                    <a:bodyPr wrap="square"/>
                    <a:lstStyle/>
                    <a:p>
                      <a:pPr algn="ctr"/>
                      <a:r>
                        <a:rPr sz="850" b="0" i="0">
                          <a:solidFill>
                            <a:srgbClr val="14313B"/>
                          </a:solidFill>
                          <a:latin typeface="Calibri (MS)"/>
                        </a:rPr>
                        <a:t>110,44692</a:t>
                      </a:r>
                    </a:p>
                  </a:txBody>
                  <a:tcPr marL="73152" marR="73152" marT="36576" marB="36576" anchor="ctr">
                    <a:solidFill>
                      <a:srgbClr val="EAF8FA"/>
                    </a:solidFill>
                  </a:tcPr>
                </a:tc>
                <a:tc>
                  <a:txBody>
                    <a:bodyPr wrap="square"/>
                    <a:lstStyle/>
                    <a:p>
                      <a:pPr algn="ctr"/>
                      <a:r>
                        <a:rPr sz="850" b="0" i="0">
                          <a:solidFill>
                            <a:srgbClr val="14313B"/>
                          </a:solidFill>
                          <a:latin typeface="Calibri (MS)"/>
                        </a:rPr>
                        <a:t>-7,85994</a:t>
                      </a:r>
                    </a:p>
                  </a:txBody>
                  <a:tcPr marL="73152" marR="73152" marT="36576" marB="36576" anchor="ctr">
                    <a:solidFill>
                      <a:srgbClr val="EAF8FA"/>
                    </a:solidFill>
                  </a:tcPr>
                </a:tc>
                <a:tc>
                  <a:txBody>
                    <a:bodyPr wrap="square"/>
                    <a:lstStyle/>
                    <a:p>
                      <a:pPr algn="ctr"/>
                      <a:r>
                        <a:rPr sz="850" b="0" i="0">
                          <a:solidFill>
                            <a:srgbClr val="14313B"/>
                          </a:solidFill>
                          <a:latin typeface="Calibri (MS)"/>
                        </a:rPr>
                        <a:t>0,035</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42</a:t>
                      </a:r>
                    </a:p>
                  </a:txBody>
                  <a:tcPr marL="73152" marR="73152" marT="36576" marB="36576" anchor="ctr">
                    <a:solidFill>
                      <a:srgbClr val="FFFFFF"/>
                    </a:solidFill>
                  </a:tcPr>
                </a:tc>
                <a:tc>
                  <a:txBody>
                    <a:bodyPr wrap="square"/>
                    <a:lstStyle/>
                    <a:p>
                      <a:pPr algn="ctr"/>
                      <a:r>
                        <a:rPr sz="850" b="0" i="0">
                          <a:solidFill>
                            <a:srgbClr val="14313B"/>
                          </a:solidFill>
                          <a:latin typeface="Calibri (MS)"/>
                        </a:rPr>
                        <a:t>110,17940</a:t>
                      </a:r>
                    </a:p>
                  </a:txBody>
                  <a:tcPr marL="73152" marR="73152" marT="36576" marB="36576" anchor="ctr">
                    <a:solidFill>
                      <a:srgbClr val="FFFFFF"/>
                    </a:solidFill>
                  </a:tcPr>
                </a:tc>
                <a:tc>
                  <a:txBody>
                    <a:bodyPr wrap="square"/>
                    <a:lstStyle/>
                    <a:p>
                      <a:pPr algn="ctr"/>
                      <a:r>
                        <a:rPr sz="850" b="0" i="0">
                          <a:solidFill>
                            <a:srgbClr val="14313B"/>
                          </a:solidFill>
                          <a:latin typeface="Calibri (MS)"/>
                        </a:rPr>
                        <a:t>-7,65028</a:t>
                      </a:r>
                    </a:p>
                  </a:txBody>
                  <a:tcPr marL="73152" marR="73152" marT="36576" marB="36576" anchor="ctr">
                    <a:solidFill>
                      <a:srgbClr val="FFFFFF"/>
                    </a:solidFill>
                  </a:tcPr>
                </a:tc>
                <a:tc>
                  <a:txBody>
                    <a:bodyPr wrap="square"/>
                    <a:lstStyle/>
                    <a:p>
                      <a:pPr algn="ctr"/>
                      <a:r>
                        <a:rPr sz="850" b="0" i="0">
                          <a:solidFill>
                            <a:srgbClr val="14313B"/>
                          </a:solidFill>
                          <a:latin typeface="Calibri (MS)"/>
                        </a:rPr>
                        <a:t>0,090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43</a:t>
                      </a:r>
                    </a:p>
                  </a:txBody>
                  <a:tcPr marL="73152" marR="73152" marT="36576" marB="36576" anchor="ctr">
                    <a:solidFill>
                      <a:srgbClr val="EAF8FA"/>
                    </a:solidFill>
                  </a:tcPr>
                </a:tc>
                <a:tc>
                  <a:txBody>
                    <a:bodyPr wrap="square"/>
                    <a:lstStyle/>
                    <a:p>
                      <a:pPr algn="ctr"/>
                      <a:r>
                        <a:rPr sz="850" b="0" i="0">
                          <a:solidFill>
                            <a:srgbClr val="14313B"/>
                          </a:solidFill>
                          <a:latin typeface="Calibri (MS)"/>
                        </a:rPr>
                        <a:t>110,43120</a:t>
                      </a:r>
                    </a:p>
                  </a:txBody>
                  <a:tcPr marL="73152" marR="73152" marT="36576" marB="36576" anchor="ctr">
                    <a:solidFill>
                      <a:srgbClr val="EAF8FA"/>
                    </a:solidFill>
                  </a:tcPr>
                </a:tc>
                <a:tc>
                  <a:txBody>
                    <a:bodyPr wrap="square"/>
                    <a:lstStyle/>
                    <a:p>
                      <a:pPr algn="ctr"/>
                      <a:r>
                        <a:rPr sz="850" b="0" i="0">
                          <a:solidFill>
                            <a:srgbClr val="14313B"/>
                          </a:solidFill>
                          <a:latin typeface="Calibri (MS)"/>
                        </a:rPr>
                        <a:t>-8,01445</a:t>
                      </a:r>
                    </a:p>
                  </a:txBody>
                  <a:tcPr marL="73152" marR="73152" marT="36576" marB="36576" anchor="ctr">
                    <a:solidFill>
                      <a:srgbClr val="EAF8FA"/>
                    </a:solidFill>
                  </a:tcPr>
                </a:tc>
                <a:tc>
                  <a:txBody>
                    <a:bodyPr wrap="square"/>
                    <a:lstStyle/>
                    <a:p>
                      <a:pPr algn="ctr"/>
                      <a:r>
                        <a:rPr sz="850" b="0" i="0">
                          <a:solidFill>
                            <a:srgbClr val="14313B"/>
                          </a:solidFill>
                          <a:latin typeface="Calibri (MS)"/>
                        </a:rPr>
                        <a:t>0,032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44</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110,33266</a:t>
                      </a:r>
                    </a:p>
                  </a:txBody>
                  <a:tcPr marL="73152" marR="73152" marT="36576" marB="36576" anchor="ctr">
                    <a:solidFill>
                      <a:srgbClr val="FFFFFF"/>
                    </a:solidFill>
                  </a:tcPr>
                </a:tc>
                <a:tc>
                  <a:txBody>
                    <a:bodyPr wrap="square"/>
                    <a:lstStyle/>
                    <a:p>
                      <a:pPr algn="ctr"/>
                      <a:r>
                        <a:rPr sz="850" b="0" i="0">
                          <a:solidFill>
                            <a:srgbClr val="14313B"/>
                          </a:solidFill>
                          <a:latin typeface="Calibri (MS)"/>
                        </a:rPr>
                        <a:t>-7,80110</a:t>
                      </a:r>
                    </a:p>
                  </a:txBody>
                  <a:tcPr marL="73152" marR="73152" marT="36576" marB="36576" anchor="ctr">
                    <a:solidFill>
                      <a:srgbClr val="FFFFFF"/>
                    </a:solidFill>
                  </a:tcPr>
                </a:tc>
                <a:tc>
                  <a:txBody>
                    <a:bodyPr wrap="square"/>
                    <a:lstStyle/>
                    <a:p>
                      <a:pPr algn="ctr"/>
                      <a:r>
                        <a:rPr sz="850" b="0" i="0">
                          <a:solidFill>
                            <a:srgbClr val="14313B"/>
                          </a:solidFill>
                          <a:latin typeface="Calibri (MS)"/>
                        </a:rPr>
                        <a:t>0,419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45</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110,46525</a:t>
                      </a:r>
                    </a:p>
                  </a:txBody>
                  <a:tcPr marL="73152" marR="73152" marT="36576" marB="36576" anchor="ctr">
                    <a:solidFill>
                      <a:srgbClr val="EAF8FA"/>
                    </a:solidFill>
                  </a:tcPr>
                </a:tc>
                <a:tc>
                  <a:txBody>
                    <a:bodyPr wrap="square"/>
                    <a:lstStyle/>
                    <a:p>
                      <a:pPr algn="ctr"/>
                      <a:r>
                        <a:rPr sz="850" b="0" i="0">
                          <a:solidFill>
                            <a:srgbClr val="14313B"/>
                          </a:solidFill>
                          <a:latin typeface="Calibri (MS)"/>
                        </a:rPr>
                        <a:t>-8,05919</a:t>
                      </a:r>
                    </a:p>
                  </a:txBody>
                  <a:tcPr marL="73152" marR="73152" marT="36576" marB="36576" anchor="ctr">
                    <a:solidFill>
                      <a:srgbClr val="EAF8FA"/>
                    </a:solidFill>
                  </a:tcPr>
                </a:tc>
                <a:tc>
                  <a:txBody>
                    <a:bodyPr wrap="square"/>
                    <a:lstStyle/>
                    <a:p>
                      <a:pPr algn="ctr"/>
                      <a:r>
                        <a:rPr sz="850" b="0" i="0">
                          <a:solidFill>
                            <a:srgbClr val="14313B"/>
                          </a:solidFill>
                          <a:latin typeface="Calibri (MS)"/>
                        </a:rPr>
                        <a:t>0,034</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46</a:t>
                      </a:r>
                    </a:p>
                  </a:txBody>
                  <a:tcPr marL="73152" marR="73152" marT="36576" marB="36576" anchor="ctr">
                    <a:solidFill>
                      <a:srgbClr val="FFFFFF"/>
                    </a:solidFill>
                  </a:tcPr>
                </a:tc>
                <a:tc>
                  <a:txBody>
                    <a:bodyPr wrap="square"/>
                    <a:lstStyle/>
                    <a:p>
                      <a:pPr algn="ctr"/>
                      <a:r>
                        <a:rPr sz="850" b="0" i="0">
                          <a:solidFill>
                            <a:srgbClr val="14313B"/>
                          </a:solidFill>
                          <a:latin typeface="Calibri (MS)"/>
                        </a:rPr>
                        <a:t>110,64689</a:t>
                      </a:r>
                    </a:p>
                  </a:txBody>
                  <a:tcPr marL="73152" marR="73152" marT="36576" marB="36576" anchor="ctr">
                    <a:solidFill>
                      <a:srgbClr val="FFFFFF"/>
                    </a:solidFill>
                  </a:tcPr>
                </a:tc>
                <a:tc>
                  <a:txBody>
                    <a:bodyPr wrap="square"/>
                    <a:lstStyle/>
                    <a:p>
                      <a:pPr algn="ctr"/>
                      <a:r>
                        <a:rPr sz="850" b="0" i="0">
                          <a:solidFill>
                            <a:srgbClr val="14313B"/>
                          </a:solidFill>
                          <a:latin typeface="Calibri (MS)"/>
                        </a:rPr>
                        <a:t>-7,92876</a:t>
                      </a:r>
                    </a:p>
                  </a:txBody>
                  <a:tcPr marL="73152" marR="73152" marT="36576" marB="36576" anchor="ctr">
                    <a:solidFill>
                      <a:srgbClr val="FFFFFF"/>
                    </a:solidFill>
                  </a:tcPr>
                </a:tc>
                <a:tc>
                  <a:txBody>
                    <a:bodyPr wrap="square"/>
                    <a:lstStyle/>
                    <a:p>
                      <a:pPr algn="ctr"/>
                      <a:r>
                        <a:rPr sz="850" b="0" i="0">
                          <a:solidFill>
                            <a:srgbClr val="14313B"/>
                          </a:solidFill>
                          <a:latin typeface="Calibri (MS)"/>
                        </a:rPr>
                        <a:t>0,342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47</a:t>
                      </a:r>
                    </a:p>
                  </a:txBody>
                  <a:tcPr marL="73152" marR="73152" marT="36576" marB="36576" anchor="ctr">
                    <a:solidFill>
                      <a:srgbClr val="EAF8FA"/>
                    </a:solidFill>
                  </a:tcPr>
                </a:tc>
                <a:tc>
                  <a:txBody>
                    <a:bodyPr wrap="square"/>
                    <a:lstStyle/>
                    <a:p>
                      <a:pPr algn="ctr"/>
                      <a:r>
                        <a:rPr sz="850" b="0" i="0">
                          <a:solidFill>
                            <a:srgbClr val="14313B"/>
                          </a:solidFill>
                          <a:latin typeface="Calibri (MS)"/>
                        </a:rPr>
                        <a:t>110,51816</a:t>
                      </a:r>
                    </a:p>
                  </a:txBody>
                  <a:tcPr marL="73152" marR="73152" marT="36576" marB="36576" anchor="ctr">
                    <a:solidFill>
                      <a:srgbClr val="EAF8FA"/>
                    </a:solidFill>
                  </a:tcPr>
                </a:tc>
                <a:tc>
                  <a:txBody>
                    <a:bodyPr wrap="square"/>
                    <a:lstStyle/>
                    <a:p>
                      <a:pPr algn="ctr"/>
                      <a:r>
                        <a:rPr sz="850" b="0" i="0">
                          <a:solidFill>
                            <a:srgbClr val="14313B"/>
                          </a:solidFill>
                          <a:latin typeface="Calibri (MS)"/>
                        </a:rPr>
                        <a:t>-7,94699</a:t>
                      </a:r>
                    </a:p>
                  </a:txBody>
                  <a:tcPr marL="73152" marR="73152" marT="36576" marB="36576" anchor="ctr">
                    <a:solidFill>
                      <a:srgbClr val="EAF8FA"/>
                    </a:solidFill>
                  </a:tcPr>
                </a:tc>
                <a:tc>
                  <a:txBody>
                    <a:bodyPr wrap="square"/>
                    <a:lstStyle/>
                    <a:p>
                      <a:pPr algn="ctr"/>
                      <a:r>
                        <a:rPr sz="850" b="0" i="0">
                          <a:solidFill>
                            <a:srgbClr val="14313B"/>
                          </a:solidFill>
                          <a:latin typeface="Calibri (MS)"/>
                        </a:rPr>
                        <a:t>0,036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48</a:t>
                      </a:r>
                    </a:p>
                  </a:txBody>
                  <a:tcPr marL="73152" marR="73152" marT="36576" marB="36576" anchor="ctr">
                    <a:solidFill>
                      <a:srgbClr val="FFFFFF"/>
                    </a:solidFill>
                  </a:tcPr>
                </a:tc>
                <a:tc>
                  <a:txBody>
                    <a:bodyPr wrap="square"/>
                    <a:lstStyle/>
                    <a:p>
                      <a:pPr algn="ctr"/>
                      <a:r>
                        <a:rPr sz="850" b="0" i="0">
                          <a:solidFill>
                            <a:srgbClr val="14313B"/>
                          </a:solidFill>
                          <a:latin typeface="Calibri (MS)"/>
                        </a:rPr>
                        <a:t>110,25684</a:t>
                      </a:r>
                    </a:p>
                  </a:txBody>
                  <a:tcPr marL="73152" marR="73152" marT="36576" marB="36576" anchor="ctr">
                    <a:solidFill>
                      <a:srgbClr val="FFFFFF"/>
                    </a:solidFill>
                  </a:tcPr>
                </a:tc>
                <a:tc>
                  <a:txBody>
                    <a:bodyPr wrap="square"/>
                    <a:lstStyle/>
                    <a:p>
                      <a:pPr algn="ctr"/>
                      <a:r>
                        <a:rPr sz="850" b="0" i="0">
                          <a:solidFill>
                            <a:srgbClr val="14313B"/>
                          </a:solidFill>
                          <a:latin typeface="Calibri (MS)"/>
                        </a:rPr>
                        <a:t>-7,69897</a:t>
                      </a:r>
                    </a:p>
                  </a:txBody>
                  <a:tcPr marL="73152" marR="73152" marT="36576" marB="36576" anchor="ctr">
                    <a:solidFill>
                      <a:srgbClr val="FFFFFF"/>
                    </a:solidFill>
                  </a:tcPr>
                </a:tc>
                <a:tc>
                  <a:txBody>
                    <a:bodyPr wrap="square"/>
                    <a:lstStyle/>
                    <a:p>
                      <a:pPr algn="ctr"/>
                      <a:r>
                        <a:rPr sz="850" b="0" i="0">
                          <a:solidFill>
                            <a:srgbClr val="14313B"/>
                          </a:solidFill>
                          <a:latin typeface="Calibri (MS)"/>
                        </a:rPr>
                        <a:t>0,034</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49</a:t>
                      </a:r>
                    </a:p>
                  </a:txBody>
                  <a:tcPr marL="73152" marR="73152" marT="36576" marB="36576" anchor="ctr">
                    <a:solidFill>
                      <a:srgbClr val="EAF8FA"/>
                    </a:solidFill>
                  </a:tcPr>
                </a:tc>
                <a:tc>
                  <a:txBody>
                    <a:bodyPr wrap="square"/>
                    <a:lstStyle/>
                    <a:p>
                      <a:pPr algn="ctr"/>
                      <a:r>
                        <a:rPr sz="850" b="0" i="0">
                          <a:solidFill>
                            <a:srgbClr val="14313B"/>
                          </a:solidFill>
                          <a:latin typeface="Calibri (MS)"/>
                        </a:rPr>
                        <a:t>110,16207</a:t>
                      </a:r>
                    </a:p>
                  </a:txBody>
                  <a:tcPr marL="73152" marR="73152" marT="36576" marB="36576" anchor="ctr">
                    <a:solidFill>
                      <a:srgbClr val="EAF8FA"/>
                    </a:solidFill>
                  </a:tcPr>
                </a:tc>
                <a:tc>
                  <a:txBody>
                    <a:bodyPr wrap="square"/>
                    <a:lstStyle/>
                    <a:p>
                      <a:pPr algn="ctr"/>
                      <a:r>
                        <a:rPr sz="850" b="0" i="0">
                          <a:solidFill>
                            <a:srgbClr val="14313B"/>
                          </a:solidFill>
                          <a:latin typeface="Calibri (MS)"/>
                        </a:rPr>
                        <a:t>-7,86893</a:t>
                      </a:r>
                    </a:p>
                  </a:txBody>
                  <a:tcPr marL="73152" marR="73152" marT="36576" marB="36576" anchor="ctr">
                    <a:solidFill>
                      <a:srgbClr val="EAF8FA"/>
                    </a:solidFill>
                  </a:tcPr>
                </a:tc>
                <a:tc>
                  <a:txBody>
                    <a:bodyPr wrap="square"/>
                    <a:lstStyle/>
                    <a:p>
                      <a:pPr algn="ctr"/>
                      <a:r>
                        <a:rPr sz="850" b="0" i="0">
                          <a:solidFill>
                            <a:srgbClr val="14313B"/>
                          </a:solidFill>
                          <a:latin typeface="Calibri (MS)"/>
                        </a:rPr>
                        <a:t>0,039</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50</a:t>
                      </a:r>
                    </a:p>
                  </a:txBody>
                  <a:tcPr marL="73152" marR="73152" marT="36576" marB="36576" anchor="ctr">
                    <a:solidFill>
                      <a:srgbClr val="FFFFFF"/>
                    </a:solidFill>
                  </a:tcPr>
                </a:tc>
                <a:tc>
                  <a:txBody>
                    <a:bodyPr wrap="square"/>
                    <a:lstStyle/>
                    <a:p>
                      <a:pPr algn="ctr"/>
                      <a:r>
                        <a:rPr sz="850" b="0" i="0">
                          <a:solidFill>
                            <a:srgbClr val="14313B"/>
                          </a:solidFill>
                          <a:latin typeface="Calibri (MS)"/>
                        </a:rPr>
                        <a:t>110,57017</a:t>
                      </a:r>
                    </a:p>
                  </a:txBody>
                  <a:tcPr marL="73152" marR="73152" marT="36576" marB="36576" anchor="ctr">
                    <a:solidFill>
                      <a:srgbClr val="FFFFFF"/>
                    </a:solidFill>
                  </a:tcPr>
                </a:tc>
                <a:tc>
                  <a:txBody>
                    <a:bodyPr wrap="square"/>
                    <a:lstStyle/>
                    <a:p>
                      <a:pPr algn="ctr"/>
                      <a:r>
                        <a:rPr sz="850" b="0" i="0">
                          <a:solidFill>
                            <a:srgbClr val="14313B"/>
                          </a:solidFill>
                          <a:latin typeface="Calibri (MS)"/>
                        </a:rPr>
                        <a:t>-8,08398</a:t>
                      </a:r>
                    </a:p>
                  </a:txBody>
                  <a:tcPr marL="73152" marR="73152" marT="36576" marB="36576" anchor="ctr">
                    <a:solidFill>
                      <a:srgbClr val="FFFFFF"/>
                    </a:solidFill>
                  </a:tcPr>
                </a:tc>
                <a:tc>
                  <a:txBody>
                    <a:bodyPr wrap="square"/>
                    <a:lstStyle/>
                    <a:p>
                      <a:pPr algn="ctr"/>
                      <a:r>
                        <a:rPr sz="850" b="0" i="0">
                          <a:solidFill>
                            <a:srgbClr val="14313B"/>
                          </a:solidFill>
                          <a:latin typeface="Calibri (MS)"/>
                        </a:rPr>
                        <a:t>0,033</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sp>
        <p:nvSpPr>
          <p:cNvPr id="29" name="TextBox 28"/>
          <p:cNvSpPr txBox="1"/>
          <p:nvPr/>
        </p:nvSpPr>
        <p:spPr>
          <a:xfrm>
            <a:off x="822960" y="877824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KunciModel_DW_2025.csv dan LembarKerja_UjiAkurasi_DW_2025.xlsx (repository). Merah muda = tidak sesuai (3 titik pada halaman ini). Peta: kelas built bila prob ≥ 0,5.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23 · Sampel Uji Akurasi Lahan Terbangun (2/4)</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Titik 51–100 dari 200: kelas peta Dynamic World 2025 dibandingkan label rujukan visual Google Earth</a:t>
            </a:r>
          </a:p>
        </p:txBody>
      </p:sp>
      <p:graphicFrame>
        <p:nvGraphicFramePr>
          <p:cNvPr id="27" name="Table 26"/>
          <p:cNvGraphicFramePr>
            <a:graphicFrameLocks noGrp="1"/>
          </p:cNvGraphicFramePr>
          <p:nvPr/>
        </p:nvGraphicFramePr>
        <p:xfrm>
          <a:off x="82296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51</a:t>
                      </a:r>
                    </a:p>
                  </a:txBody>
                  <a:tcPr marL="73152" marR="73152" marT="36576" marB="36576" anchor="ctr">
                    <a:solidFill>
                      <a:srgbClr val="FFFFFF"/>
                    </a:solidFill>
                  </a:tcPr>
                </a:tc>
                <a:tc>
                  <a:txBody>
                    <a:bodyPr wrap="square"/>
                    <a:lstStyle/>
                    <a:p>
                      <a:pPr algn="ctr"/>
                      <a:r>
                        <a:rPr sz="850" b="0" i="0">
                          <a:solidFill>
                            <a:srgbClr val="14313B"/>
                          </a:solidFill>
                          <a:latin typeface="Calibri (MS)"/>
                        </a:rPr>
                        <a:t>110,49947</a:t>
                      </a:r>
                    </a:p>
                  </a:txBody>
                  <a:tcPr marL="73152" marR="73152" marT="36576" marB="36576" anchor="ctr">
                    <a:solidFill>
                      <a:srgbClr val="FFFFFF"/>
                    </a:solidFill>
                  </a:tcPr>
                </a:tc>
                <a:tc>
                  <a:txBody>
                    <a:bodyPr wrap="square"/>
                    <a:lstStyle/>
                    <a:p>
                      <a:pPr algn="ctr"/>
                      <a:r>
                        <a:rPr sz="850" b="0" i="0">
                          <a:solidFill>
                            <a:srgbClr val="14313B"/>
                          </a:solidFill>
                          <a:latin typeface="Calibri (MS)"/>
                        </a:rPr>
                        <a:t>-7,86282</a:t>
                      </a:r>
                    </a:p>
                  </a:txBody>
                  <a:tcPr marL="73152" marR="73152" marT="36576" marB="36576" anchor="ctr">
                    <a:solidFill>
                      <a:srgbClr val="FFFFFF"/>
                    </a:solidFill>
                  </a:tcPr>
                </a:tc>
                <a:tc>
                  <a:txBody>
                    <a:bodyPr wrap="square"/>
                    <a:lstStyle/>
                    <a:p>
                      <a:pPr algn="ctr"/>
                      <a:r>
                        <a:rPr sz="850" b="0" i="0">
                          <a:solidFill>
                            <a:srgbClr val="14313B"/>
                          </a:solidFill>
                          <a:latin typeface="Calibri (MS)"/>
                        </a:rPr>
                        <a:t>0,038</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52</a:t>
                      </a:r>
                    </a:p>
                  </a:txBody>
                  <a:tcPr marL="73152" marR="73152" marT="36576" marB="36576" anchor="ctr">
                    <a:solidFill>
                      <a:srgbClr val="EAF8FA"/>
                    </a:solidFill>
                  </a:tcPr>
                </a:tc>
                <a:tc>
                  <a:txBody>
                    <a:bodyPr wrap="square"/>
                    <a:lstStyle/>
                    <a:p>
                      <a:pPr algn="ctr"/>
                      <a:r>
                        <a:rPr sz="850" b="0" i="0">
                          <a:solidFill>
                            <a:srgbClr val="14313B"/>
                          </a:solidFill>
                          <a:latin typeface="Calibri (MS)"/>
                        </a:rPr>
                        <a:t>110,71399</a:t>
                      </a:r>
                    </a:p>
                  </a:txBody>
                  <a:tcPr marL="73152" marR="73152" marT="36576" marB="36576" anchor="ctr">
                    <a:solidFill>
                      <a:srgbClr val="EAF8FA"/>
                    </a:solidFill>
                  </a:tcPr>
                </a:tc>
                <a:tc>
                  <a:txBody>
                    <a:bodyPr wrap="square"/>
                    <a:lstStyle/>
                    <a:p>
                      <a:pPr algn="ctr"/>
                      <a:r>
                        <a:rPr sz="850" b="0" i="0">
                          <a:solidFill>
                            <a:srgbClr val="14313B"/>
                          </a:solidFill>
                          <a:latin typeface="Calibri (MS)"/>
                        </a:rPr>
                        <a:t>-8,02425</a:t>
                      </a:r>
                    </a:p>
                  </a:txBody>
                  <a:tcPr marL="73152" marR="73152" marT="36576" marB="36576" anchor="ctr">
                    <a:solidFill>
                      <a:srgbClr val="EAF8FA"/>
                    </a:solidFill>
                  </a:tcPr>
                </a:tc>
                <a:tc>
                  <a:txBody>
                    <a:bodyPr wrap="square"/>
                    <a:lstStyle/>
                    <a:p>
                      <a:pPr algn="ctr"/>
                      <a:r>
                        <a:rPr sz="850" b="0" i="0">
                          <a:solidFill>
                            <a:srgbClr val="14313B"/>
                          </a:solidFill>
                          <a:latin typeface="Calibri (MS)"/>
                        </a:rPr>
                        <a:t>0,034</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53</a:t>
                      </a:r>
                    </a:p>
                  </a:txBody>
                  <a:tcPr marL="73152" marR="73152" marT="36576" marB="36576" anchor="ctr">
                    <a:solidFill>
                      <a:srgbClr val="FFFFFF"/>
                    </a:solidFill>
                  </a:tcPr>
                </a:tc>
                <a:tc>
                  <a:txBody>
                    <a:bodyPr wrap="square"/>
                    <a:lstStyle/>
                    <a:p>
                      <a:pPr algn="ctr"/>
                      <a:r>
                        <a:rPr sz="850" b="0" i="0">
                          <a:solidFill>
                            <a:srgbClr val="14313B"/>
                          </a:solidFill>
                          <a:latin typeface="Calibri (MS)"/>
                        </a:rPr>
                        <a:t>110,19952</a:t>
                      </a:r>
                    </a:p>
                  </a:txBody>
                  <a:tcPr marL="73152" marR="73152" marT="36576" marB="36576" anchor="ctr">
                    <a:solidFill>
                      <a:srgbClr val="FFFFFF"/>
                    </a:solidFill>
                  </a:tcPr>
                </a:tc>
                <a:tc>
                  <a:txBody>
                    <a:bodyPr wrap="square"/>
                    <a:lstStyle/>
                    <a:p>
                      <a:pPr algn="ctr"/>
                      <a:r>
                        <a:rPr sz="850" b="0" i="0">
                          <a:solidFill>
                            <a:srgbClr val="14313B"/>
                          </a:solidFill>
                          <a:latin typeface="Calibri (MS)"/>
                        </a:rPr>
                        <a:t>-7,74271</a:t>
                      </a:r>
                    </a:p>
                  </a:txBody>
                  <a:tcPr marL="73152" marR="73152" marT="36576" marB="36576" anchor="ctr">
                    <a:solidFill>
                      <a:srgbClr val="FFFFFF"/>
                    </a:solidFill>
                  </a:tcPr>
                </a:tc>
                <a:tc>
                  <a:txBody>
                    <a:bodyPr wrap="square"/>
                    <a:lstStyle/>
                    <a:p>
                      <a:pPr algn="ctr"/>
                      <a:r>
                        <a:rPr sz="850" b="0" i="0">
                          <a:solidFill>
                            <a:srgbClr val="14313B"/>
                          </a:solidFill>
                          <a:latin typeface="Calibri (MS)"/>
                        </a:rPr>
                        <a:t>0,035</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54</a:t>
                      </a:r>
                    </a:p>
                  </a:txBody>
                  <a:tcPr marL="73152" marR="73152" marT="36576" marB="36576" anchor="ctr">
                    <a:solidFill>
                      <a:srgbClr val="EAF8FA"/>
                    </a:solidFill>
                  </a:tcPr>
                </a:tc>
                <a:tc>
                  <a:txBody>
                    <a:bodyPr wrap="square"/>
                    <a:lstStyle/>
                    <a:p>
                      <a:pPr algn="ctr"/>
                      <a:r>
                        <a:rPr sz="850" b="0" i="0">
                          <a:solidFill>
                            <a:srgbClr val="14313B"/>
                          </a:solidFill>
                          <a:latin typeface="Calibri (MS)"/>
                        </a:rPr>
                        <a:t>110,52229</a:t>
                      </a:r>
                    </a:p>
                  </a:txBody>
                  <a:tcPr marL="73152" marR="73152" marT="36576" marB="36576" anchor="ctr">
                    <a:solidFill>
                      <a:srgbClr val="EAF8FA"/>
                    </a:solidFill>
                  </a:tcPr>
                </a:tc>
                <a:tc>
                  <a:txBody>
                    <a:bodyPr wrap="square"/>
                    <a:lstStyle/>
                    <a:p>
                      <a:pPr algn="ctr"/>
                      <a:r>
                        <a:rPr sz="850" b="0" i="0">
                          <a:solidFill>
                            <a:srgbClr val="14313B"/>
                          </a:solidFill>
                          <a:latin typeface="Calibri (MS)"/>
                        </a:rPr>
                        <a:t>-8,01032</a:t>
                      </a:r>
                    </a:p>
                  </a:txBody>
                  <a:tcPr marL="73152" marR="73152" marT="36576" marB="36576" anchor="ctr">
                    <a:solidFill>
                      <a:srgbClr val="EAF8FA"/>
                    </a:solidFill>
                  </a:tcPr>
                </a:tc>
                <a:tc>
                  <a:txBody>
                    <a:bodyPr wrap="square"/>
                    <a:lstStyle/>
                    <a:p>
                      <a:pPr algn="ctr"/>
                      <a:r>
                        <a:rPr sz="850" b="0" i="0">
                          <a:solidFill>
                            <a:srgbClr val="14313B"/>
                          </a:solidFill>
                          <a:latin typeface="Calibri (MS)"/>
                        </a:rPr>
                        <a:t>0,363</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55</a:t>
                      </a:r>
                    </a:p>
                  </a:txBody>
                  <a:tcPr marL="73152" marR="73152" marT="36576" marB="36576" anchor="ctr">
                    <a:solidFill>
                      <a:srgbClr val="FFFFFF"/>
                    </a:solidFill>
                  </a:tcPr>
                </a:tc>
                <a:tc>
                  <a:txBody>
                    <a:bodyPr wrap="square"/>
                    <a:lstStyle/>
                    <a:p>
                      <a:pPr algn="ctr"/>
                      <a:r>
                        <a:rPr sz="850" b="0" i="0">
                          <a:solidFill>
                            <a:srgbClr val="14313B"/>
                          </a:solidFill>
                          <a:latin typeface="Calibri (MS)"/>
                        </a:rPr>
                        <a:t>110,42473</a:t>
                      </a:r>
                    </a:p>
                  </a:txBody>
                  <a:tcPr marL="73152" marR="73152" marT="36576" marB="36576" anchor="ctr">
                    <a:solidFill>
                      <a:srgbClr val="FFFFFF"/>
                    </a:solidFill>
                  </a:tcPr>
                </a:tc>
                <a:tc>
                  <a:txBody>
                    <a:bodyPr wrap="square"/>
                    <a:lstStyle/>
                    <a:p>
                      <a:pPr algn="ctr"/>
                      <a:r>
                        <a:rPr sz="850" b="0" i="0">
                          <a:solidFill>
                            <a:srgbClr val="14313B"/>
                          </a:solidFill>
                          <a:latin typeface="Calibri (MS)"/>
                        </a:rPr>
                        <a:t>-8,02038</a:t>
                      </a:r>
                    </a:p>
                  </a:txBody>
                  <a:tcPr marL="73152" marR="73152" marT="36576" marB="36576" anchor="ctr">
                    <a:solidFill>
                      <a:srgbClr val="FFFFFF"/>
                    </a:solidFill>
                  </a:tcPr>
                </a:tc>
                <a:tc>
                  <a:txBody>
                    <a:bodyPr wrap="square"/>
                    <a:lstStyle/>
                    <a:p>
                      <a:pPr algn="ctr"/>
                      <a:r>
                        <a:rPr sz="850" b="0" i="0">
                          <a:solidFill>
                            <a:srgbClr val="14313B"/>
                          </a:solidFill>
                          <a:latin typeface="Calibri (MS)"/>
                        </a:rPr>
                        <a:t>0,163</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56</a:t>
                      </a:r>
                    </a:p>
                  </a:txBody>
                  <a:tcPr marL="73152" marR="73152" marT="36576" marB="36576" anchor="ctr">
                    <a:solidFill>
                      <a:srgbClr val="EAF8FA"/>
                    </a:solidFill>
                  </a:tcPr>
                </a:tc>
                <a:tc>
                  <a:txBody>
                    <a:bodyPr wrap="square"/>
                    <a:lstStyle/>
                    <a:p>
                      <a:pPr algn="ctr"/>
                      <a:r>
                        <a:rPr sz="850" b="0" i="0">
                          <a:solidFill>
                            <a:srgbClr val="14313B"/>
                          </a:solidFill>
                          <a:latin typeface="Calibri (MS)"/>
                        </a:rPr>
                        <a:t>110,41853</a:t>
                      </a:r>
                    </a:p>
                  </a:txBody>
                  <a:tcPr marL="73152" marR="73152" marT="36576" marB="36576" anchor="ctr">
                    <a:solidFill>
                      <a:srgbClr val="EAF8FA"/>
                    </a:solidFill>
                  </a:tcPr>
                </a:tc>
                <a:tc>
                  <a:txBody>
                    <a:bodyPr wrap="square"/>
                    <a:lstStyle/>
                    <a:p>
                      <a:pPr algn="ctr"/>
                      <a:r>
                        <a:rPr sz="850" b="0" i="0">
                          <a:solidFill>
                            <a:srgbClr val="14313B"/>
                          </a:solidFill>
                          <a:latin typeface="Calibri (MS)"/>
                        </a:rPr>
                        <a:t>-8,06844</a:t>
                      </a:r>
                    </a:p>
                  </a:txBody>
                  <a:tcPr marL="73152" marR="73152" marT="36576" marB="36576" anchor="ctr">
                    <a:solidFill>
                      <a:srgbClr val="EAF8FA"/>
                    </a:solidFill>
                  </a:tcPr>
                </a:tc>
                <a:tc>
                  <a:txBody>
                    <a:bodyPr wrap="square"/>
                    <a:lstStyle/>
                    <a:p>
                      <a:pPr algn="ctr"/>
                      <a:r>
                        <a:rPr sz="850" b="0" i="0">
                          <a:solidFill>
                            <a:srgbClr val="14313B"/>
                          </a:solidFill>
                          <a:latin typeface="Calibri (MS)"/>
                        </a:rPr>
                        <a:t>0,030</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57</a:t>
                      </a:r>
                    </a:p>
                  </a:txBody>
                  <a:tcPr marL="73152" marR="73152" marT="36576" marB="36576" anchor="ctr">
                    <a:solidFill>
                      <a:srgbClr val="FFFFFF"/>
                    </a:solidFill>
                  </a:tcPr>
                </a:tc>
                <a:tc>
                  <a:txBody>
                    <a:bodyPr wrap="square"/>
                    <a:lstStyle/>
                    <a:p>
                      <a:pPr algn="ctr"/>
                      <a:r>
                        <a:rPr sz="850" b="0" i="0">
                          <a:solidFill>
                            <a:srgbClr val="14313B"/>
                          </a:solidFill>
                          <a:latin typeface="Calibri (MS)"/>
                        </a:rPr>
                        <a:t>110,61661</a:t>
                      </a:r>
                    </a:p>
                  </a:txBody>
                  <a:tcPr marL="73152" marR="73152" marT="36576" marB="36576" anchor="ctr">
                    <a:solidFill>
                      <a:srgbClr val="FFFFFF"/>
                    </a:solidFill>
                  </a:tcPr>
                </a:tc>
                <a:tc>
                  <a:txBody>
                    <a:bodyPr wrap="square"/>
                    <a:lstStyle/>
                    <a:p>
                      <a:pPr algn="ctr"/>
                      <a:r>
                        <a:rPr sz="850" b="0" i="0">
                          <a:solidFill>
                            <a:srgbClr val="14313B"/>
                          </a:solidFill>
                          <a:latin typeface="Calibri (MS)"/>
                        </a:rPr>
                        <a:t>-8,14193</a:t>
                      </a:r>
                    </a:p>
                  </a:txBody>
                  <a:tcPr marL="73152" marR="73152" marT="36576" marB="36576" anchor="ctr">
                    <a:solidFill>
                      <a:srgbClr val="FFFFFF"/>
                    </a:solidFill>
                  </a:tcPr>
                </a:tc>
                <a:tc>
                  <a:txBody>
                    <a:bodyPr wrap="square"/>
                    <a:lstStyle/>
                    <a:p>
                      <a:pPr algn="ctr"/>
                      <a:r>
                        <a:rPr sz="850" b="0" i="0">
                          <a:solidFill>
                            <a:srgbClr val="14313B"/>
                          </a:solidFill>
                          <a:latin typeface="Calibri (MS)"/>
                        </a:rPr>
                        <a:t>0,031</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58</a:t>
                      </a:r>
                    </a:p>
                  </a:txBody>
                  <a:tcPr marL="73152" marR="73152" marT="36576" marB="36576" anchor="ctr">
                    <a:solidFill>
                      <a:srgbClr val="EAF8FA"/>
                    </a:solidFill>
                  </a:tcPr>
                </a:tc>
                <a:tc>
                  <a:txBody>
                    <a:bodyPr wrap="square"/>
                    <a:lstStyle/>
                    <a:p>
                      <a:pPr algn="ctr"/>
                      <a:r>
                        <a:rPr sz="850" b="0" i="0">
                          <a:solidFill>
                            <a:srgbClr val="14313B"/>
                          </a:solidFill>
                          <a:latin typeface="Calibri (MS)"/>
                        </a:rPr>
                        <a:t>110,50855</a:t>
                      </a:r>
                    </a:p>
                  </a:txBody>
                  <a:tcPr marL="73152" marR="73152" marT="36576" marB="36576" anchor="ctr">
                    <a:solidFill>
                      <a:srgbClr val="EAF8FA"/>
                    </a:solidFill>
                  </a:tcPr>
                </a:tc>
                <a:tc>
                  <a:txBody>
                    <a:bodyPr wrap="square"/>
                    <a:lstStyle/>
                    <a:p>
                      <a:pPr algn="ctr"/>
                      <a:r>
                        <a:rPr sz="850" b="0" i="0">
                          <a:solidFill>
                            <a:srgbClr val="14313B"/>
                          </a:solidFill>
                          <a:latin typeface="Calibri (MS)"/>
                        </a:rPr>
                        <a:t>-8,03080</a:t>
                      </a:r>
                    </a:p>
                  </a:txBody>
                  <a:tcPr marL="73152" marR="73152" marT="36576" marB="36576" anchor="ctr">
                    <a:solidFill>
                      <a:srgbClr val="EAF8FA"/>
                    </a:solidFill>
                  </a:tcPr>
                </a:tc>
                <a:tc>
                  <a:txBody>
                    <a:bodyPr wrap="square"/>
                    <a:lstStyle/>
                    <a:p>
                      <a:pPr algn="ctr"/>
                      <a:r>
                        <a:rPr sz="850" b="0" i="0">
                          <a:solidFill>
                            <a:srgbClr val="14313B"/>
                          </a:solidFill>
                          <a:latin typeface="Calibri (MS)"/>
                        </a:rPr>
                        <a:t>0,031</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59</a:t>
                      </a:r>
                    </a:p>
                  </a:txBody>
                  <a:tcPr marL="73152" marR="73152" marT="36576" marB="36576" anchor="ctr">
                    <a:solidFill>
                      <a:srgbClr val="FFFFFF"/>
                    </a:solidFill>
                  </a:tcPr>
                </a:tc>
                <a:tc>
                  <a:txBody>
                    <a:bodyPr wrap="square"/>
                    <a:lstStyle/>
                    <a:p>
                      <a:pPr algn="ctr"/>
                      <a:r>
                        <a:rPr sz="850" b="0" i="0">
                          <a:solidFill>
                            <a:srgbClr val="14313B"/>
                          </a:solidFill>
                          <a:latin typeface="Calibri (MS)"/>
                        </a:rPr>
                        <a:t>110,68605</a:t>
                      </a:r>
                    </a:p>
                  </a:txBody>
                  <a:tcPr marL="73152" marR="73152" marT="36576" marB="36576" anchor="ctr">
                    <a:solidFill>
                      <a:srgbClr val="FFFFFF"/>
                    </a:solidFill>
                  </a:tcPr>
                </a:tc>
                <a:tc>
                  <a:txBody>
                    <a:bodyPr wrap="square"/>
                    <a:lstStyle/>
                    <a:p>
                      <a:pPr algn="ctr"/>
                      <a:r>
                        <a:rPr sz="850" b="0" i="0">
                          <a:solidFill>
                            <a:srgbClr val="14313B"/>
                          </a:solidFill>
                          <a:latin typeface="Calibri (MS)"/>
                        </a:rPr>
                        <a:t>-7,84171</a:t>
                      </a:r>
                    </a:p>
                  </a:txBody>
                  <a:tcPr marL="73152" marR="73152" marT="36576" marB="36576" anchor="ctr">
                    <a:solidFill>
                      <a:srgbClr val="FFFFFF"/>
                    </a:solidFill>
                  </a:tcPr>
                </a:tc>
                <a:tc>
                  <a:txBody>
                    <a:bodyPr wrap="square"/>
                    <a:lstStyle/>
                    <a:p>
                      <a:pPr algn="ctr"/>
                      <a:r>
                        <a:rPr sz="850" b="0" i="0">
                          <a:solidFill>
                            <a:srgbClr val="14313B"/>
                          </a:solidFill>
                          <a:latin typeface="Calibri (MS)"/>
                        </a:rPr>
                        <a:t>0,054</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60</a:t>
                      </a:r>
                    </a:p>
                  </a:txBody>
                  <a:tcPr marL="73152" marR="73152" marT="36576" marB="36576" anchor="ctr">
                    <a:solidFill>
                      <a:srgbClr val="EAF8FA"/>
                    </a:solidFill>
                  </a:tcPr>
                </a:tc>
                <a:tc>
                  <a:txBody>
                    <a:bodyPr wrap="square"/>
                    <a:lstStyle/>
                    <a:p>
                      <a:pPr algn="ctr"/>
                      <a:r>
                        <a:rPr sz="850" b="0" i="0">
                          <a:solidFill>
                            <a:srgbClr val="14313B"/>
                          </a:solidFill>
                          <a:latin typeface="Calibri (MS)"/>
                        </a:rPr>
                        <a:t>110,43003</a:t>
                      </a:r>
                    </a:p>
                  </a:txBody>
                  <a:tcPr marL="73152" marR="73152" marT="36576" marB="36576" anchor="ctr">
                    <a:solidFill>
                      <a:srgbClr val="EAF8FA"/>
                    </a:solidFill>
                  </a:tcPr>
                </a:tc>
                <a:tc>
                  <a:txBody>
                    <a:bodyPr wrap="square"/>
                    <a:lstStyle/>
                    <a:p>
                      <a:pPr algn="ctr"/>
                      <a:r>
                        <a:rPr sz="850" b="0" i="0">
                          <a:solidFill>
                            <a:srgbClr val="14313B"/>
                          </a:solidFill>
                          <a:latin typeface="Calibri (MS)"/>
                        </a:rPr>
                        <a:t>-7,99182</a:t>
                      </a:r>
                    </a:p>
                  </a:txBody>
                  <a:tcPr marL="73152" marR="73152" marT="36576" marB="36576" anchor="ctr">
                    <a:solidFill>
                      <a:srgbClr val="EAF8FA"/>
                    </a:solidFill>
                  </a:tcPr>
                </a:tc>
                <a:tc>
                  <a:txBody>
                    <a:bodyPr wrap="square"/>
                    <a:lstStyle/>
                    <a:p>
                      <a:pPr algn="ctr"/>
                      <a:r>
                        <a:rPr sz="850" b="0" i="0">
                          <a:solidFill>
                            <a:srgbClr val="14313B"/>
                          </a:solidFill>
                          <a:latin typeface="Calibri (MS)"/>
                        </a:rPr>
                        <a:t>0,032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61</a:t>
                      </a:r>
                    </a:p>
                  </a:txBody>
                  <a:tcPr marL="73152" marR="73152" marT="36576" marB="36576" anchor="ctr">
                    <a:solidFill>
                      <a:srgbClr val="FFFFFF"/>
                    </a:solidFill>
                  </a:tcPr>
                </a:tc>
                <a:tc>
                  <a:txBody>
                    <a:bodyPr wrap="square"/>
                    <a:lstStyle/>
                    <a:p>
                      <a:pPr algn="ctr"/>
                      <a:r>
                        <a:rPr sz="850" b="0" i="0">
                          <a:solidFill>
                            <a:srgbClr val="14313B"/>
                          </a:solidFill>
                          <a:latin typeface="Calibri (MS)"/>
                        </a:rPr>
                        <a:t>110,36392</a:t>
                      </a:r>
                    </a:p>
                  </a:txBody>
                  <a:tcPr marL="73152" marR="73152" marT="36576" marB="36576" anchor="ctr">
                    <a:solidFill>
                      <a:srgbClr val="FFFFFF"/>
                    </a:solidFill>
                  </a:tcPr>
                </a:tc>
                <a:tc>
                  <a:txBody>
                    <a:bodyPr wrap="square"/>
                    <a:lstStyle/>
                    <a:p>
                      <a:pPr algn="ctr"/>
                      <a:r>
                        <a:rPr sz="850" b="0" i="0">
                          <a:solidFill>
                            <a:srgbClr val="14313B"/>
                          </a:solidFill>
                          <a:latin typeface="Calibri (MS)"/>
                        </a:rPr>
                        <a:t>-7,89300</a:t>
                      </a:r>
                    </a:p>
                  </a:txBody>
                  <a:tcPr marL="73152" marR="73152" marT="36576" marB="36576" anchor="ctr">
                    <a:solidFill>
                      <a:srgbClr val="FFFFFF"/>
                    </a:solidFill>
                  </a:tcPr>
                </a:tc>
                <a:tc>
                  <a:txBody>
                    <a:bodyPr wrap="square"/>
                    <a:lstStyle/>
                    <a:p>
                      <a:pPr algn="ctr"/>
                      <a:r>
                        <a:rPr sz="850" b="0" i="0">
                          <a:solidFill>
                            <a:srgbClr val="14313B"/>
                          </a:solidFill>
                          <a:latin typeface="Calibri (MS)"/>
                        </a:rPr>
                        <a:t>0,050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62</a:t>
                      </a:r>
                    </a:p>
                  </a:txBody>
                  <a:tcPr marL="73152" marR="73152" marT="36576" marB="36576" anchor="ctr">
                    <a:solidFill>
                      <a:srgbClr val="EAF8FA"/>
                    </a:solidFill>
                  </a:tcPr>
                </a:tc>
                <a:tc>
                  <a:txBody>
                    <a:bodyPr wrap="square"/>
                    <a:lstStyle/>
                    <a:p>
                      <a:pPr algn="ctr"/>
                      <a:r>
                        <a:rPr sz="850" b="0" i="0">
                          <a:solidFill>
                            <a:srgbClr val="14313B"/>
                          </a:solidFill>
                          <a:latin typeface="Calibri (MS)"/>
                        </a:rPr>
                        <a:t>110,15838</a:t>
                      </a:r>
                    </a:p>
                  </a:txBody>
                  <a:tcPr marL="73152" marR="73152" marT="36576" marB="36576" anchor="ctr">
                    <a:solidFill>
                      <a:srgbClr val="EAF8FA"/>
                    </a:solidFill>
                  </a:tcPr>
                </a:tc>
                <a:tc>
                  <a:txBody>
                    <a:bodyPr wrap="square"/>
                    <a:lstStyle/>
                    <a:p>
                      <a:pPr algn="ctr"/>
                      <a:r>
                        <a:rPr sz="850" b="0" i="0">
                          <a:solidFill>
                            <a:srgbClr val="14313B"/>
                          </a:solidFill>
                          <a:latin typeface="Calibri (MS)"/>
                        </a:rPr>
                        <a:t>-7,69115</a:t>
                      </a:r>
                    </a:p>
                  </a:txBody>
                  <a:tcPr marL="73152" marR="73152" marT="36576" marB="36576" anchor="ctr">
                    <a:solidFill>
                      <a:srgbClr val="EAF8FA"/>
                    </a:solidFill>
                  </a:tcPr>
                </a:tc>
                <a:tc>
                  <a:txBody>
                    <a:bodyPr wrap="square"/>
                    <a:lstStyle/>
                    <a:p>
                      <a:pPr algn="ctr"/>
                      <a:r>
                        <a:rPr sz="850" b="0" i="0">
                          <a:solidFill>
                            <a:srgbClr val="14313B"/>
                          </a:solidFill>
                          <a:latin typeface="Calibri (MS)"/>
                        </a:rPr>
                        <a:t>0,031</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63</a:t>
                      </a:r>
                    </a:p>
                  </a:txBody>
                  <a:tcPr marL="73152" marR="73152" marT="36576" marB="36576" anchor="ctr">
                    <a:solidFill>
                      <a:srgbClr val="FFFFFF"/>
                    </a:solidFill>
                  </a:tcPr>
                </a:tc>
                <a:tc>
                  <a:txBody>
                    <a:bodyPr wrap="square"/>
                    <a:lstStyle/>
                    <a:p>
                      <a:pPr algn="ctr"/>
                      <a:r>
                        <a:rPr sz="850" b="0" i="0">
                          <a:solidFill>
                            <a:srgbClr val="14313B"/>
                          </a:solidFill>
                          <a:latin typeface="Calibri (MS)"/>
                        </a:rPr>
                        <a:t>110,37083</a:t>
                      </a:r>
                    </a:p>
                  </a:txBody>
                  <a:tcPr marL="73152" marR="73152" marT="36576" marB="36576" anchor="ctr">
                    <a:solidFill>
                      <a:srgbClr val="FFFFFF"/>
                    </a:solidFill>
                  </a:tcPr>
                </a:tc>
                <a:tc>
                  <a:txBody>
                    <a:bodyPr wrap="square"/>
                    <a:lstStyle/>
                    <a:p>
                      <a:pPr algn="ctr"/>
                      <a:r>
                        <a:rPr sz="850" b="0" i="0">
                          <a:solidFill>
                            <a:srgbClr val="14313B"/>
                          </a:solidFill>
                          <a:latin typeface="Calibri (MS)"/>
                        </a:rPr>
                        <a:t>-7,70876</a:t>
                      </a:r>
                    </a:p>
                  </a:txBody>
                  <a:tcPr marL="73152" marR="73152" marT="36576" marB="36576" anchor="ctr">
                    <a:solidFill>
                      <a:srgbClr val="FFFFFF"/>
                    </a:solidFill>
                  </a:tcPr>
                </a:tc>
                <a:tc>
                  <a:txBody>
                    <a:bodyPr wrap="square"/>
                    <a:lstStyle/>
                    <a:p>
                      <a:pPr algn="ctr"/>
                      <a:r>
                        <a:rPr sz="850" b="0" i="0">
                          <a:solidFill>
                            <a:srgbClr val="14313B"/>
                          </a:solidFill>
                          <a:latin typeface="Calibri (MS)"/>
                        </a:rPr>
                        <a:t>0,160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64</a:t>
                      </a:r>
                    </a:p>
                  </a:txBody>
                  <a:tcPr marL="73152" marR="73152" marT="36576" marB="36576" anchor="ctr">
                    <a:solidFill>
                      <a:srgbClr val="EAF8FA"/>
                    </a:solidFill>
                  </a:tcPr>
                </a:tc>
                <a:tc>
                  <a:txBody>
                    <a:bodyPr wrap="square"/>
                    <a:lstStyle/>
                    <a:p>
                      <a:pPr algn="ctr"/>
                      <a:r>
                        <a:rPr sz="850" b="0" i="0">
                          <a:solidFill>
                            <a:srgbClr val="14313B"/>
                          </a:solidFill>
                          <a:latin typeface="Calibri (MS)"/>
                        </a:rPr>
                        <a:t>110,70941</a:t>
                      </a:r>
                    </a:p>
                  </a:txBody>
                  <a:tcPr marL="73152" marR="73152" marT="36576" marB="36576" anchor="ctr">
                    <a:solidFill>
                      <a:srgbClr val="EAF8FA"/>
                    </a:solidFill>
                  </a:tcPr>
                </a:tc>
                <a:tc>
                  <a:txBody>
                    <a:bodyPr wrap="square"/>
                    <a:lstStyle/>
                    <a:p>
                      <a:pPr algn="ctr"/>
                      <a:r>
                        <a:rPr sz="850" b="0" i="0">
                          <a:solidFill>
                            <a:srgbClr val="14313B"/>
                          </a:solidFill>
                          <a:latin typeface="Calibri (MS)"/>
                        </a:rPr>
                        <a:t>-7,88797</a:t>
                      </a:r>
                    </a:p>
                  </a:txBody>
                  <a:tcPr marL="73152" marR="73152" marT="36576" marB="36576" anchor="ctr">
                    <a:solidFill>
                      <a:srgbClr val="EAF8FA"/>
                    </a:solidFill>
                  </a:tcPr>
                </a:tc>
                <a:tc>
                  <a:txBody>
                    <a:bodyPr wrap="square"/>
                    <a:lstStyle/>
                    <a:p>
                      <a:pPr algn="ctr"/>
                      <a:r>
                        <a:rPr sz="850" b="0" i="0">
                          <a:solidFill>
                            <a:srgbClr val="14313B"/>
                          </a:solidFill>
                          <a:latin typeface="Calibri (MS)"/>
                        </a:rPr>
                        <a:t>0,073</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65</a:t>
                      </a:r>
                    </a:p>
                  </a:txBody>
                  <a:tcPr marL="73152" marR="73152" marT="36576" marB="36576" anchor="ctr">
                    <a:solidFill>
                      <a:srgbClr val="FFFFFF"/>
                    </a:solidFill>
                  </a:tcPr>
                </a:tc>
                <a:tc>
                  <a:txBody>
                    <a:bodyPr wrap="square"/>
                    <a:lstStyle/>
                    <a:p>
                      <a:pPr algn="ctr"/>
                      <a:r>
                        <a:rPr sz="850" b="0" i="0">
                          <a:solidFill>
                            <a:srgbClr val="14313B"/>
                          </a:solidFill>
                          <a:latin typeface="Calibri (MS)"/>
                        </a:rPr>
                        <a:t>110,24318</a:t>
                      </a:r>
                    </a:p>
                  </a:txBody>
                  <a:tcPr marL="73152" marR="73152" marT="36576" marB="36576" anchor="ctr">
                    <a:solidFill>
                      <a:srgbClr val="FFFFFF"/>
                    </a:solidFill>
                  </a:tcPr>
                </a:tc>
                <a:tc>
                  <a:txBody>
                    <a:bodyPr wrap="square"/>
                    <a:lstStyle/>
                    <a:p>
                      <a:pPr algn="ctr"/>
                      <a:r>
                        <a:rPr sz="850" b="0" i="0">
                          <a:solidFill>
                            <a:srgbClr val="14313B"/>
                          </a:solidFill>
                          <a:latin typeface="Calibri (MS)"/>
                        </a:rPr>
                        <a:t>-7,85455</a:t>
                      </a:r>
                    </a:p>
                  </a:txBody>
                  <a:tcPr marL="73152" marR="73152" marT="36576" marB="36576" anchor="ctr">
                    <a:solidFill>
                      <a:srgbClr val="FFFFFF"/>
                    </a:solidFill>
                  </a:tcPr>
                </a:tc>
                <a:tc>
                  <a:txBody>
                    <a:bodyPr wrap="square"/>
                    <a:lstStyle/>
                    <a:p>
                      <a:pPr algn="ctr"/>
                      <a:r>
                        <a:rPr sz="850" b="0" i="0">
                          <a:solidFill>
                            <a:srgbClr val="14313B"/>
                          </a:solidFill>
                          <a:latin typeface="Calibri (MS)"/>
                        </a:rPr>
                        <a:t>0,227</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66</a:t>
                      </a:r>
                    </a:p>
                  </a:txBody>
                  <a:tcPr marL="73152" marR="73152" marT="36576" marB="36576" anchor="ctr">
                    <a:solidFill>
                      <a:srgbClr val="EAF8FA"/>
                    </a:solidFill>
                  </a:tcPr>
                </a:tc>
                <a:tc>
                  <a:txBody>
                    <a:bodyPr wrap="square"/>
                    <a:lstStyle/>
                    <a:p>
                      <a:pPr algn="ctr"/>
                      <a:r>
                        <a:rPr sz="850" b="0" i="0">
                          <a:solidFill>
                            <a:srgbClr val="14313B"/>
                          </a:solidFill>
                          <a:latin typeface="Calibri (MS)"/>
                        </a:rPr>
                        <a:t>110,20024</a:t>
                      </a:r>
                    </a:p>
                  </a:txBody>
                  <a:tcPr marL="73152" marR="73152" marT="36576" marB="36576" anchor="ctr">
                    <a:solidFill>
                      <a:srgbClr val="EAF8FA"/>
                    </a:solidFill>
                  </a:tcPr>
                </a:tc>
                <a:tc>
                  <a:txBody>
                    <a:bodyPr wrap="square"/>
                    <a:lstStyle/>
                    <a:p>
                      <a:pPr algn="ctr"/>
                      <a:r>
                        <a:rPr sz="850" b="0" i="0">
                          <a:solidFill>
                            <a:srgbClr val="14313B"/>
                          </a:solidFill>
                          <a:latin typeface="Calibri (MS)"/>
                        </a:rPr>
                        <a:t>-7,79661</a:t>
                      </a:r>
                    </a:p>
                  </a:txBody>
                  <a:tcPr marL="73152" marR="73152" marT="36576" marB="36576" anchor="ctr">
                    <a:solidFill>
                      <a:srgbClr val="EAF8FA"/>
                    </a:solidFill>
                  </a:tcPr>
                </a:tc>
                <a:tc>
                  <a:txBody>
                    <a:bodyPr wrap="square"/>
                    <a:lstStyle/>
                    <a:p>
                      <a:pPr algn="ctr"/>
                      <a:r>
                        <a:rPr sz="850" b="0" i="0">
                          <a:solidFill>
                            <a:srgbClr val="14313B"/>
                          </a:solidFill>
                          <a:latin typeface="Calibri (MS)"/>
                        </a:rPr>
                        <a:t>0,044</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67</a:t>
                      </a:r>
                    </a:p>
                  </a:txBody>
                  <a:tcPr marL="73152" marR="73152" marT="36576" marB="36576" anchor="ctr">
                    <a:solidFill>
                      <a:srgbClr val="FFFFFF"/>
                    </a:solidFill>
                  </a:tcPr>
                </a:tc>
                <a:tc>
                  <a:txBody>
                    <a:bodyPr wrap="square"/>
                    <a:lstStyle/>
                    <a:p>
                      <a:pPr algn="ctr"/>
                      <a:r>
                        <a:rPr sz="850" b="0" i="0">
                          <a:solidFill>
                            <a:srgbClr val="14313B"/>
                          </a:solidFill>
                          <a:latin typeface="Calibri (MS)"/>
                        </a:rPr>
                        <a:t>110,79151</a:t>
                      </a:r>
                    </a:p>
                  </a:txBody>
                  <a:tcPr marL="73152" marR="73152" marT="36576" marB="36576" anchor="ctr">
                    <a:solidFill>
                      <a:srgbClr val="FFFFFF"/>
                    </a:solidFill>
                  </a:tcPr>
                </a:tc>
                <a:tc>
                  <a:txBody>
                    <a:bodyPr wrap="square"/>
                    <a:lstStyle/>
                    <a:p>
                      <a:pPr algn="ctr"/>
                      <a:r>
                        <a:rPr sz="850" b="0" i="0">
                          <a:solidFill>
                            <a:srgbClr val="14313B"/>
                          </a:solidFill>
                          <a:latin typeface="Calibri (MS)"/>
                        </a:rPr>
                        <a:t>-8,18253</a:t>
                      </a:r>
                    </a:p>
                  </a:txBody>
                  <a:tcPr marL="73152" marR="73152" marT="36576" marB="36576" anchor="ctr">
                    <a:solidFill>
                      <a:srgbClr val="FFFFFF"/>
                    </a:solidFill>
                  </a:tcPr>
                </a:tc>
                <a:tc>
                  <a:txBody>
                    <a:bodyPr wrap="square"/>
                    <a:lstStyle/>
                    <a:p>
                      <a:pPr algn="ctr"/>
                      <a:r>
                        <a:rPr sz="850" b="0" i="0">
                          <a:solidFill>
                            <a:srgbClr val="14313B"/>
                          </a:solidFill>
                          <a:latin typeface="Calibri (MS)"/>
                        </a:rPr>
                        <a:t>0,030</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68</a:t>
                      </a:r>
                    </a:p>
                  </a:txBody>
                  <a:tcPr marL="73152" marR="73152" marT="36576" marB="36576" anchor="ctr">
                    <a:solidFill>
                      <a:srgbClr val="EAF8FA"/>
                    </a:solidFill>
                  </a:tcPr>
                </a:tc>
                <a:tc>
                  <a:txBody>
                    <a:bodyPr wrap="square"/>
                    <a:lstStyle/>
                    <a:p>
                      <a:pPr algn="ctr"/>
                      <a:r>
                        <a:rPr sz="850" b="0" i="0">
                          <a:solidFill>
                            <a:srgbClr val="14313B"/>
                          </a:solidFill>
                          <a:latin typeface="Calibri (MS)"/>
                        </a:rPr>
                        <a:t>110,72998</a:t>
                      </a:r>
                    </a:p>
                  </a:txBody>
                  <a:tcPr marL="73152" marR="73152" marT="36576" marB="36576" anchor="ctr">
                    <a:solidFill>
                      <a:srgbClr val="EAF8FA"/>
                    </a:solidFill>
                  </a:tcPr>
                </a:tc>
                <a:tc>
                  <a:txBody>
                    <a:bodyPr wrap="square"/>
                    <a:lstStyle/>
                    <a:p>
                      <a:pPr algn="ctr"/>
                      <a:r>
                        <a:rPr sz="850" b="0" i="0">
                          <a:solidFill>
                            <a:srgbClr val="14313B"/>
                          </a:solidFill>
                          <a:latin typeface="Calibri (MS)"/>
                        </a:rPr>
                        <a:t>-7,93792</a:t>
                      </a:r>
                    </a:p>
                  </a:txBody>
                  <a:tcPr marL="73152" marR="73152" marT="36576" marB="36576" anchor="ctr">
                    <a:solidFill>
                      <a:srgbClr val="EAF8FA"/>
                    </a:solidFill>
                  </a:tcPr>
                </a:tc>
                <a:tc>
                  <a:txBody>
                    <a:bodyPr wrap="square"/>
                    <a:lstStyle/>
                    <a:p>
                      <a:pPr algn="ctr"/>
                      <a:r>
                        <a:rPr sz="850" b="0" i="0">
                          <a:solidFill>
                            <a:srgbClr val="14313B"/>
                          </a:solidFill>
                          <a:latin typeface="Calibri (MS)"/>
                        </a:rPr>
                        <a:t>0,047</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69</a:t>
                      </a:r>
                    </a:p>
                  </a:txBody>
                  <a:tcPr marL="73152" marR="73152" marT="36576" marB="36576" anchor="ctr">
                    <a:solidFill>
                      <a:srgbClr val="FFFFFF"/>
                    </a:solidFill>
                  </a:tcPr>
                </a:tc>
                <a:tc>
                  <a:txBody>
                    <a:bodyPr wrap="square"/>
                    <a:lstStyle/>
                    <a:p>
                      <a:pPr algn="ctr"/>
                      <a:r>
                        <a:rPr sz="850" b="0" i="0">
                          <a:solidFill>
                            <a:srgbClr val="14313B"/>
                          </a:solidFill>
                          <a:latin typeface="Calibri (MS)"/>
                        </a:rPr>
                        <a:t>110,68192</a:t>
                      </a:r>
                    </a:p>
                  </a:txBody>
                  <a:tcPr marL="73152" marR="73152" marT="36576" marB="36576" anchor="ctr">
                    <a:solidFill>
                      <a:srgbClr val="FFFFFF"/>
                    </a:solidFill>
                  </a:tcPr>
                </a:tc>
                <a:tc>
                  <a:txBody>
                    <a:bodyPr wrap="square"/>
                    <a:lstStyle/>
                    <a:p>
                      <a:pPr algn="ctr"/>
                      <a:r>
                        <a:rPr sz="850" b="0" i="0">
                          <a:solidFill>
                            <a:srgbClr val="14313B"/>
                          </a:solidFill>
                          <a:latin typeface="Calibri (MS)"/>
                        </a:rPr>
                        <a:t>-7,91564</a:t>
                      </a:r>
                    </a:p>
                  </a:txBody>
                  <a:tcPr marL="73152" marR="73152" marT="36576" marB="36576" anchor="ctr">
                    <a:solidFill>
                      <a:srgbClr val="FFFFFF"/>
                    </a:solidFill>
                  </a:tcPr>
                </a:tc>
                <a:tc>
                  <a:txBody>
                    <a:bodyPr wrap="square"/>
                    <a:lstStyle/>
                    <a:p>
                      <a:pPr algn="ctr"/>
                      <a:r>
                        <a:rPr sz="850" b="0" i="0">
                          <a:solidFill>
                            <a:srgbClr val="14313B"/>
                          </a:solidFill>
                          <a:latin typeface="Calibri (MS)"/>
                        </a:rPr>
                        <a:t>0,438</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70</a:t>
                      </a:r>
                    </a:p>
                  </a:txBody>
                  <a:tcPr marL="73152" marR="73152" marT="36576" marB="36576" anchor="ctr">
                    <a:solidFill>
                      <a:srgbClr val="EAF8FA"/>
                    </a:solidFill>
                  </a:tcPr>
                </a:tc>
                <a:tc>
                  <a:txBody>
                    <a:bodyPr wrap="square"/>
                    <a:lstStyle/>
                    <a:p>
                      <a:pPr algn="ctr"/>
                      <a:r>
                        <a:rPr sz="850" b="0" i="0">
                          <a:solidFill>
                            <a:srgbClr val="14313B"/>
                          </a:solidFill>
                          <a:latin typeface="Calibri (MS)"/>
                        </a:rPr>
                        <a:t>110,17437</a:t>
                      </a:r>
                    </a:p>
                  </a:txBody>
                  <a:tcPr marL="73152" marR="73152" marT="36576" marB="36576" anchor="ctr">
                    <a:solidFill>
                      <a:srgbClr val="EAF8FA"/>
                    </a:solidFill>
                  </a:tcPr>
                </a:tc>
                <a:tc>
                  <a:txBody>
                    <a:bodyPr wrap="square"/>
                    <a:lstStyle/>
                    <a:p>
                      <a:pPr algn="ctr"/>
                      <a:r>
                        <a:rPr sz="850" b="0" i="0">
                          <a:solidFill>
                            <a:srgbClr val="14313B"/>
                          </a:solidFill>
                          <a:latin typeface="Calibri (MS)"/>
                        </a:rPr>
                        <a:t>-7,92067</a:t>
                      </a:r>
                    </a:p>
                  </a:txBody>
                  <a:tcPr marL="73152" marR="73152" marT="36576" marB="36576" anchor="ctr">
                    <a:solidFill>
                      <a:srgbClr val="EAF8FA"/>
                    </a:solidFill>
                  </a:tcPr>
                </a:tc>
                <a:tc>
                  <a:txBody>
                    <a:bodyPr wrap="square"/>
                    <a:lstStyle/>
                    <a:p>
                      <a:pPr algn="ctr"/>
                      <a:r>
                        <a:rPr sz="850" b="0" i="0">
                          <a:solidFill>
                            <a:srgbClr val="14313B"/>
                          </a:solidFill>
                          <a:latin typeface="Calibri (MS)"/>
                        </a:rPr>
                        <a:t>0,183</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71</a:t>
                      </a:r>
                    </a:p>
                  </a:txBody>
                  <a:tcPr marL="73152" marR="73152" marT="36576" marB="36576" anchor="ctr">
                    <a:solidFill>
                      <a:srgbClr val="FFFFFF"/>
                    </a:solidFill>
                  </a:tcPr>
                </a:tc>
                <a:tc>
                  <a:txBody>
                    <a:bodyPr wrap="square"/>
                    <a:lstStyle/>
                    <a:p>
                      <a:pPr algn="ctr"/>
                      <a:r>
                        <a:rPr sz="850" b="0" i="0">
                          <a:solidFill>
                            <a:srgbClr val="14313B"/>
                          </a:solidFill>
                          <a:latin typeface="Calibri (MS)"/>
                        </a:rPr>
                        <a:t>110,56541</a:t>
                      </a:r>
                    </a:p>
                  </a:txBody>
                  <a:tcPr marL="73152" marR="73152" marT="36576" marB="36576" anchor="ctr">
                    <a:solidFill>
                      <a:srgbClr val="FFFFFF"/>
                    </a:solidFill>
                  </a:tcPr>
                </a:tc>
                <a:tc>
                  <a:txBody>
                    <a:bodyPr wrap="square"/>
                    <a:lstStyle/>
                    <a:p>
                      <a:pPr algn="ctr"/>
                      <a:r>
                        <a:rPr sz="850" b="0" i="0">
                          <a:solidFill>
                            <a:srgbClr val="14313B"/>
                          </a:solidFill>
                          <a:latin typeface="Calibri (MS)"/>
                        </a:rPr>
                        <a:t>-7,93720</a:t>
                      </a:r>
                    </a:p>
                  </a:txBody>
                  <a:tcPr marL="73152" marR="73152" marT="36576" marB="36576" anchor="ctr">
                    <a:solidFill>
                      <a:srgbClr val="FFFFFF"/>
                    </a:solidFill>
                  </a:tcPr>
                </a:tc>
                <a:tc>
                  <a:txBody>
                    <a:bodyPr wrap="square"/>
                    <a:lstStyle/>
                    <a:p>
                      <a:pPr algn="ctr"/>
                      <a:r>
                        <a:rPr sz="850" b="0" i="0">
                          <a:solidFill>
                            <a:srgbClr val="14313B"/>
                          </a:solidFill>
                          <a:latin typeface="Calibri (MS)"/>
                        </a:rPr>
                        <a:t>0,139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72</a:t>
                      </a:r>
                    </a:p>
                  </a:txBody>
                  <a:tcPr marL="73152" marR="73152" marT="36576" marB="36576" anchor="ctr">
                    <a:solidFill>
                      <a:srgbClr val="EAF8FA"/>
                    </a:solidFill>
                  </a:tcPr>
                </a:tc>
                <a:tc>
                  <a:txBody>
                    <a:bodyPr wrap="square"/>
                    <a:lstStyle/>
                    <a:p>
                      <a:pPr algn="ctr"/>
                      <a:r>
                        <a:rPr sz="850" b="0" i="0">
                          <a:solidFill>
                            <a:srgbClr val="14313B"/>
                          </a:solidFill>
                          <a:latin typeface="Calibri (MS)"/>
                        </a:rPr>
                        <a:t>110,64509</a:t>
                      </a:r>
                    </a:p>
                  </a:txBody>
                  <a:tcPr marL="73152" marR="73152" marT="36576" marB="36576" anchor="ctr">
                    <a:solidFill>
                      <a:srgbClr val="EAF8FA"/>
                    </a:solidFill>
                  </a:tcPr>
                </a:tc>
                <a:tc>
                  <a:txBody>
                    <a:bodyPr wrap="square"/>
                    <a:lstStyle/>
                    <a:p>
                      <a:pPr algn="ctr"/>
                      <a:r>
                        <a:rPr sz="850" b="0" i="0">
                          <a:solidFill>
                            <a:srgbClr val="14313B"/>
                          </a:solidFill>
                          <a:latin typeface="Calibri (MS)"/>
                        </a:rPr>
                        <a:t>-7,81835</a:t>
                      </a:r>
                    </a:p>
                  </a:txBody>
                  <a:tcPr marL="73152" marR="73152" marT="36576" marB="36576" anchor="ctr">
                    <a:solidFill>
                      <a:srgbClr val="EAF8FA"/>
                    </a:solidFill>
                  </a:tcPr>
                </a:tc>
                <a:tc>
                  <a:txBody>
                    <a:bodyPr wrap="square"/>
                    <a:lstStyle/>
                    <a:p>
                      <a:pPr algn="ctr"/>
                      <a:r>
                        <a:rPr sz="850" b="0" i="0">
                          <a:solidFill>
                            <a:srgbClr val="14313B"/>
                          </a:solidFill>
                          <a:latin typeface="Calibri (MS)"/>
                        </a:rPr>
                        <a:t>0,066</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73</a:t>
                      </a:r>
                    </a:p>
                  </a:txBody>
                  <a:tcPr marL="73152" marR="73152" marT="36576" marB="36576" anchor="ctr">
                    <a:solidFill>
                      <a:srgbClr val="FFFFFF"/>
                    </a:solidFill>
                  </a:tcPr>
                </a:tc>
                <a:tc>
                  <a:txBody>
                    <a:bodyPr wrap="square"/>
                    <a:lstStyle/>
                    <a:p>
                      <a:pPr algn="ctr"/>
                      <a:r>
                        <a:rPr sz="850" b="0" i="0">
                          <a:solidFill>
                            <a:srgbClr val="14313B"/>
                          </a:solidFill>
                          <a:latin typeface="Calibri (MS)"/>
                        </a:rPr>
                        <a:t>110,54053</a:t>
                      </a:r>
                    </a:p>
                  </a:txBody>
                  <a:tcPr marL="73152" marR="73152" marT="36576" marB="36576" anchor="ctr">
                    <a:solidFill>
                      <a:srgbClr val="FFFFFF"/>
                    </a:solidFill>
                  </a:tcPr>
                </a:tc>
                <a:tc>
                  <a:txBody>
                    <a:bodyPr wrap="square"/>
                    <a:lstStyle/>
                    <a:p>
                      <a:pPr algn="ctr"/>
                      <a:r>
                        <a:rPr sz="850" b="0" i="0">
                          <a:solidFill>
                            <a:srgbClr val="14313B"/>
                          </a:solidFill>
                          <a:latin typeface="Calibri (MS)"/>
                        </a:rPr>
                        <a:t>-7,99496</a:t>
                      </a:r>
                    </a:p>
                  </a:txBody>
                  <a:tcPr marL="73152" marR="73152" marT="36576" marB="36576" anchor="ctr">
                    <a:solidFill>
                      <a:srgbClr val="FFFFFF"/>
                    </a:solidFill>
                  </a:tcPr>
                </a:tc>
                <a:tc>
                  <a:txBody>
                    <a:bodyPr wrap="square"/>
                    <a:lstStyle/>
                    <a:p>
                      <a:pPr algn="ctr"/>
                      <a:r>
                        <a:rPr sz="850" b="0" i="0">
                          <a:solidFill>
                            <a:srgbClr val="14313B"/>
                          </a:solidFill>
                          <a:latin typeface="Calibri (MS)"/>
                        </a:rPr>
                        <a:t>0,113</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74</a:t>
                      </a:r>
                    </a:p>
                  </a:txBody>
                  <a:tcPr marL="73152" marR="73152" marT="36576" marB="36576" anchor="ctr">
                    <a:solidFill>
                      <a:srgbClr val="EAF8FA"/>
                    </a:solidFill>
                  </a:tcPr>
                </a:tc>
                <a:tc>
                  <a:txBody>
                    <a:bodyPr wrap="square"/>
                    <a:lstStyle/>
                    <a:p>
                      <a:pPr algn="ctr"/>
                      <a:r>
                        <a:rPr sz="850" b="0" i="0">
                          <a:solidFill>
                            <a:srgbClr val="14313B"/>
                          </a:solidFill>
                          <a:latin typeface="Calibri (MS)"/>
                        </a:rPr>
                        <a:t>110,42132</a:t>
                      </a:r>
                    </a:p>
                  </a:txBody>
                  <a:tcPr marL="73152" marR="73152" marT="36576" marB="36576" anchor="ctr">
                    <a:solidFill>
                      <a:srgbClr val="EAF8FA"/>
                    </a:solidFill>
                  </a:tcPr>
                </a:tc>
                <a:tc>
                  <a:txBody>
                    <a:bodyPr wrap="square"/>
                    <a:lstStyle/>
                    <a:p>
                      <a:pPr algn="ctr"/>
                      <a:r>
                        <a:rPr sz="850" b="0" i="0">
                          <a:solidFill>
                            <a:srgbClr val="14313B"/>
                          </a:solidFill>
                          <a:latin typeface="Calibri (MS)"/>
                        </a:rPr>
                        <a:t>-8,07051</a:t>
                      </a:r>
                    </a:p>
                  </a:txBody>
                  <a:tcPr marL="73152" marR="73152" marT="36576" marB="36576" anchor="ctr">
                    <a:solidFill>
                      <a:srgbClr val="EAF8FA"/>
                    </a:solidFill>
                  </a:tcPr>
                </a:tc>
                <a:tc>
                  <a:txBody>
                    <a:bodyPr wrap="square"/>
                    <a:lstStyle/>
                    <a:p>
                      <a:pPr algn="ctr"/>
                      <a:r>
                        <a:rPr sz="850" b="0" i="0">
                          <a:solidFill>
                            <a:srgbClr val="14313B"/>
                          </a:solidFill>
                          <a:latin typeface="Calibri (MS)"/>
                        </a:rPr>
                        <a:t>0,035</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75</a:t>
                      </a:r>
                    </a:p>
                  </a:txBody>
                  <a:tcPr marL="73152" marR="73152" marT="36576" marB="36576" anchor="ctr">
                    <a:solidFill>
                      <a:srgbClr val="FFFFFF"/>
                    </a:solidFill>
                  </a:tcPr>
                </a:tc>
                <a:tc>
                  <a:txBody>
                    <a:bodyPr wrap="square"/>
                    <a:lstStyle/>
                    <a:p>
                      <a:pPr algn="ctr"/>
                      <a:r>
                        <a:rPr sz="850" b="0" i="0">
                          <a:solidFill>
                            <a:srgbClr val="14313B"/>
                          </a:solidFill>
                          <a:latin typeface="Calibri (MS)"/>
                        </a:rPr>
                        <a:t>110,64940</a:t>
                      </a:r>
                    </a:p>
                  </a:txBody>
                  <a:tcPr marL="73152" marR="73152" marT="36576" marB="36576" anchor="ctr">
                    <a:solidFill>
                      <a:srgbClr val="FFFFFF"/>
                    </a:solidFill>
                  </a:tcPr>
                </a:tc>
                <a:tc>
                  <a:txBody>
                    <a:bodyPr wrap="square"/>
                    <a:lstStyle/>
                    <a:p>
                      <a:pPr algn="ctr"/>
                      <a:r>
                        <a:rPr sz="850" b="0" i="0">
                          <a:solidFill>
                            <a:srgbClr val="14313B"/>
                          </a:solidFill>
                          <a:latin typeface="Calibri (MS)"/>
                        </a:rPr>
                        <a:t>-8,10959</a:t>
                      </a:r>
                    </a:p>
                  </a:txBody>
                  <a:tcPr marL="73152" marR="73152" marT="36576" marB="36576" anchor="ctr">
                    <a:solidFill>
                      <a:srgbClr val="FFFFFF"/>
                    </a:solidFill>
                  </a:tcPr>
                </a:tc>
                <a:tc>
                  <a:txBody>
                    <a:bodyPr wrap="square"/>
                    <a:lstStyle/>
                    <a:p>
                      <a:pPr algn="ctr"/>
                      <a:r>
                        <a:rPr sz="850" b="0" i="0">
                          <a:solidFill>
                            <a:srgbClr val="14313B"/>
                          </a:solidFill>
                          <a:latin typeface="Calibri (MS)"/>
                        </a:rPr>
                        <a:t>0,039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graphicFrame>
        <p:nvGraphicFramePr>
          <p:cNvPr id="28" name="Table 27"/>
          <p:cNvGraphicFramePr>
            <a:graphicFrameLocks noGrp="1"/>
          </p:cNvGraphicFramePr>
          <p:nvPr/>
        </p:nvGraphicFramePr>
        <p:xfrm>
          <a:off x="923544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76</a:t>
                      </a:r>
                    </a:p>
                  </a:txBody>
                  <a:tcPr marL="73152" marR="73152" marT="36576" marB="36576" anchor="ctr">
                    <a:solidFill>
                      <a:srgbClr val="FFFFFF"/>
                    </a:solidFill>
                  </a:tcPr>
                </a:tc>
                <a:tc>
                  <a:txBody>
                    <a:bodyPr wrap="square"/>
                    <a:lstStyle/>
                    <a:p>
                      <a:pPr algn="ctr"/>
                      <a:r>
                        <a:rPr sz="850" b="0" i="0">
                          <a:solidFill>
                            <a:srgbClr val="14313B"/>
                          </a:solidFill>
                          <a:latin typeface="Calibri (MS)"/>
                        </a:rPr>
                        <a:t>110,20671</a:t>
                      </a:r>
                    </a:p>
                  </a:txBody>
                  <a:tcPr marL="73152" marR="73152" marT="36576" marB="36576" anchor="ctr">
                    <a:solidFill>
                      <a:srgbClr val="FFFFFF"/>
                    </a:solidFill>
                  </a:tcPr>
                </a:tc>
                <a:tc>
                  <a:txBody>
                    <a:bodyPr wrap="square"/>
                    <a:lstStyle/>
                    <a:p>
                      <a:pPr algn="ctr"/>
                      <a:r>
                        <a:rPr sz="850" b="0" i="0">
                          <a:solidFill>
                            <a:srgbClr val="14313B"/>
                          </a:solidFill>
                          <a:latin typeface="Calibri (MS)"/>
                        </a:rPr>
                        <a:t>-7,92947</a:t>
                      </a:r>
                    </a:p>
                  </a:txBody>
                  <a:tcPr marL="73152" marR="73152" marT="36576" marB="36576" anchor="ctr">
                    <a:solidFill>
                      <a:srgbClr val="FFFFFF"/>
                    </a:solidFill>
                  </a:tcPr>
                </a:tc>
                <a:tc>
                  <a:txBody>
                    <a:bodyPr wrap="square"/>
                    <a:lstStyle/>
                    <a:p>
                      <a:pPr algn="ctr"/>
                      <a:r>
                        <a:rPr sz="850" b="0" i="0">
                          <a:solidFill>
                            <a:srgbClr val="14313B"/>
                          </a:solidFill>
                          <a:latin typeface="Calibri (MS)"/>
                        </a:rPr>
                        <a:t>0,492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77</a:t>
                      </a:r>
                    </a:p>
                  </a:txBody>
                  <a:tcPr marL="73152" marR="73152" marT="36576" marB="36576" anchor="ctr">
                    <a:solidFill>
                      <a:srgbClr val="EAF8FA"/>
                    </a:solidFill>
                  </a:tcPr>
                </a:tc>
                <a:tc>
                  <a:txBody>
                    <a:bodyPr wrap="square"/>
                    <a:lstStyle/>
                    <a:p>
                      <a:pPr algn="ctr"/>
                      <a:r>
                        <a:rPr sz="850" b="0" i="0">
                          <a:solidFill>
                            <a:srgbClr val="14313B"/>
                          </a:solidFill>
                          <a:latin typeface="Calibri (MS)"/>
                        </a:rPr>
                        <a:t>110,36158</a:t>
                      </a:r>
                    </a:p>
                  </a:txBody>
                  <a:tcPr marL="73152" marR="73152" marT="36576" marB="36576" anchor="ctr">
                    <a:solidFill>
                      <a:srgbClr val="EAF8FA"/>
                    </a:solidFill>
                  </a:tcPr>
                </a:tc>
                <a:tc>
                  <a:txBody>
                    <a:bodyPr wrap="square"/>
                    <a:lstStyle/>
                    <a:p>
                      <a:pPr algn="ctr"/>
                      <a:r>
                        <a:rPr sz="850" b="0" i="0">
                          <a:solidFill>
                            <a:srgbClr val="14313B"/>
                          </a:solidFill>
                          <a:latin typeface="Calibri (MS)"/>
                        </a:rPr>
                        <a:t>-7,99766</a:t>
                      </a:r>
                    </a:p>
                  </a:txBody>
                  <a:tcPr marL="73152" marR="73152" marT="36576" marB="36576" anchor="ctr">
                    <a:solidFill>
                      <a:srgbClr val="EAF8FA"/>
                    </a:solidFill>
                  </a:tcPr>
                </a:tc>
                <a:tc>
                  <a:txBody>
                    <a:bodyPr wrap="square"/>
                    <a:lstStyle/>
                    <a:p>
                      <a:pPr algn="ctr"/>
                      <a:r>
                        <a:rPr sz="850" b="0" i="0">
                          <a:solidFill>
                            <a:srgbClr val="14313B"/>
                          </a:solidFill>
                          <a:latin typeface="Calibri (MS)"/>
                        </a:rPr>
                        <a:t>0,039</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78</a:t>
                      </a:r>
                    </a:p>
                  </a:txBody>
                  <a:tcPr marL="73152" marR="73152" marT="36576" marB="36576" anchor="ctr">
                    <a:solidFill>
                      <a:srgbClr val="FFFFFF"/>
                    </a:solidFill>
                  </a:tcPr>
                </a:tc>
                <a:tc>
                  <a:txBody>
                    <a:bodyPr wrap="square"/>
                    <a:lstStyle/>
                    <a:p>
                      <a:pPr algn="ctr"/>
                      <a:r>
                        <a:rPr sz="850" b="0" i="0">
                          <a:solidFill>
                            <a:srgbClr val="14313B"/>
                          </a:solidFill>
                          <a:latin typeface="Calibri (MS)"/>
                        </a:rPr>
                        <a:t>110,15820</a:t>
                      </a:r>
                    </a:p>
                  </a:txBody>
                  <a:tcPr marL="73152" marR="73152" marT="36576" marB="36576" anchor="ctr">
                    <a:solidFill>
                      <a:srgbClr val="FFFFFF"/>
                    </a:solidFill>
                  </a:tcPr>
                </a:tc>
                <a:tc>
                  <a:txBody>
                    <a:bodyPr wrap="square"/>
                    <a:lstStyle/>
                    <a:p>
                      <a:pPr algn="ctr"/>
                      <a:r>
                        <a:rPr sz="850" b="0" i="0">
                          <a:solidFill>
                            <a:srgbClr val="14313B"/>
                          </a:solidFill>
                          <a:latin typeface="Calibri (MS)"/>
                        </a:rPr>
                        <a:t>-7,74945</a:t>
                      </a:r>
                    </a:p>
                  </a:txBody>
                  <a:tcPr marL="73152" marR="73152" marT="36576" marB="36576" anchor="ctr">
                    <a:solidFill>
                      <a:srgbClr val="FFFFFF"/>
                    </a:solidFill>
                  </a:tcPr>
                </a:tc>
                <a:tc>
                  <a:txBody>
                    <a:bodyPr wrap="square"/>
                    <a:lstStyle/>
                    <a:p>
                      <a:pPr algn="ctr"/>
                      <a:r>
                        <a:rPr sz="850" b="0" i="0">
                          <a:solidFill>
                            <a:srgbClr val="14313B"/>
                          </a:solidFill>
                          <a:latin typeface="Calibri (MS)"/>
                        </a:rPr>
                        <a:t>0,041</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79</a:t>
                      </a:r>
                    </a:p>
                  </a:txBody>
                  <a:tcPr marL="73152" marR="73152" marT="36576" marB="36576" anchor="ctr">
                    <a:solidFill>
                      <a:srgbClr val="EAF8FA"/>
                    </a:solidFill>
                  </a:tcPr>
                </a:tc>
                <a:tc>
                  <a:txBody>
                    <a:bodyPr wrap="square"/>
                    <a:lstStyle/>
                    <a:p>
                      <a:pPr algn="ctr"/>
                      <a:r>
                        <a:rPr sz="850" b="0" i="0">
                          <a:solidFill>
                            <a:srgbClr val="14313B"/>
                          </a:solidFill>
                          <a:latin typeface="Calibri (MS)"/>
                        </a:rPr>
                        <a:t>110,45923</a:t>
                      </a:r>
                    </a:p>
                  </a:txBody>
                  <a:tcPr marL="73152" marR="73152" marT="36576" marB="36576" anchor="ctr">
                    <a:solidFill>
                      <a:srgbClr val="EAF8FA"/>
                    </a:solidFill>
                  </a:tcPr>
                </a:tc>
                <a:tc>
                  <a:txBody>
                    <a:bodyPr wrap="square"/>
                    <a:lstStyle/>
                    <a:p>
                      <a:pPr algn="ctr"/>
                      <a:r>
                        <a:rPr sz="850" b="0" i="0">
                          <a:solidFill>
                            <a:srgbClr val="14313B"/>
                          </a:solidFill>
                          <a:latin typeface="Calibri (MS)"/>
                        </a:rPr>
                        <a:t>-7,81161</a:t>
                      </a:r>
                    </a:p>
                  </a:txBody>
                  <a:tcPr marL="73152" marR="73152" marT="36576" marB="36576" anchor="ctr">
                    <a:solidFill>
                      <a:srgbClr val="EAF8FA"/>
                    </a:solidFill>
                  </a:tcPr>
                </a:tc>
                <a:tc>
                  <a:txBody>
                    <a:bodyPr wrap="square"/>
                    <a:lstStyle/>
                    <a:p>
                      <a:pPr algn="ctr"/>
                      <a:r>
                        <a:rPr sz="850" b="0" i="0">
                          <a:solidFill>
                            <a:srgbClr val="14313B"/>
                          </a:solidFill>
                          <a:latin typeface="Calibri (MS)"/>
                        </a:rPr>
                        <a:t>0,113</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80</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110,33158</a:t>
                      </a:r>
                    </a:p>
                  </a:txBody>
                  <a:tcPr marL="73152" marR="73152" marT="36576" marB="36576" anchor="ctr">
                    <a:solidFill>
                      <a:srgbClr val="FFFFFF"/>
                    </a:solidFill>
                  </a:tcPr>
                </a:tc>
                <a:tc>
                  <a:txBody>
                    <a:bodyPr wrap="square"/>
                    <a:lstStyle/>
                    <a:p>
                      <a:pPr algn="ctr"/>
                      <a:r>
                        <a:rPr sz="850" b="0" i="0">
                          <a:solidFill>
                            <a:srgbClr val="14313B"/>
                          </a:solidFill>
                          <a:latin typeface="Calibri (MS)"/>
                        </a:rPr>
                        <a:t>-7,85312</a:t>
                      </a:r>
                    </a:p>
                  </a:txBody>
                  <a:tcPr marL="73152" marR="73152" marT="36576" marB="36576" anchor="ctr">
                    <a:solidFill>
                      <a:srgbClr val="FFFFFF"/>
                    </a:solidFill>
                  </a:tcPr>
                </a:tc>
                <a:tc>
                  <a:txBody>
                    <a:bodyPr wrap="square"/>
                    <a:lstStyle/>
                    <a:p>
                      <a:pPr algn="ctr"/>
                      <a:r>
                        <a:rPr sz="850" b="0" i="0">
                          <a:solidFill>
                            <a:srgbClr val="14313B"/>
                          </a:solidFill>
                          <a:latin typeface="Calibri (MS)"/>
                        </a:rPr>
                        <a:t>0,405</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81</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110,46192</a:t>
                      </a:r>
                    </a:p>
                  </a:txBody>
                  <a:tcPr marL="73152" marR="73152" marT="36576" marB="36576" anchor="ctr">
                    <a:solidFill>
                      <a:srgbClr val="EAF8FA"/>
                    </a:solidFill>
                  </a:tcPr>
                </a:tc>
                <a:tc>
                  <a:txBody>
                    <a:bodyPr wrap="square"/>
                    <a:lstStyle/>
                    <a:p>
                      <a:pPr algn="ctr"/>
                      <a:r>
                        <a:rPr sz="850" b="0" i="0">
                          <a:solidFill>
                            <a:srgbClr val="14313B"/>
                          </a:solidFill>
                          <a:latin typeface="Calibri (MS)"/>
                        </a:rPr>
                        <a:t>-7,71253</a:t>
                      </a:r>
                    </a:p>
                  </a:txBody>
                  <a:tcPr marL="73152" marR="73152" marT="36576" marB="36576" anchor="ctr">
                    <a:solidFill>
                      <a:srgbClr val="EAF8FA"/>
                    </a:solidFill>
                  </a:tcPr>
                </a:tc>
                <a:tc>
                  <a:txBody>
                    <a:bodyPr wrap="square"/>
                    <a:lstStyle/>
                    <a:p>
                      <a:pPr algn="ctr"/>
                      <a:r>
                        <a:rPr sz="850" b="0" i="0">
                          <a:solidFill>
                            <a:srgbClr val="14313B"/>
                          </a:solidFill>
                          <a:latin typeface="Calibri (MS)"/>
                        </a:rPr>
                        <a:t>0,120</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82</a:t>
                      </a:r>
                    </a:p>
                  </a:txBody>
                  <a:tcPr marL="73152" marR="73152" marT="36576" marB="36576" anchor="ctr">
                    <a:solidFill>
                      <a:srgbClr val="FFFFFF"/>
                    </a:solidFill>
                  </a:tcPr>
                </a:tc>
                <a:tc>
                  <a:txBody>
                    <a:bodyPr wrap="square"/>
                    <a:lstStyle/>
                    <a:p>
                      <a:pPr algn="ctr"/>
                      <a:r>
                        <a:rPr sz="850" b="0" i="0">
                          <a:solidFill>
                            <a:srgbClr val="14313B"/>
                          </a:solidFill>
                          <a:latin typeface="Calibri (MS)"/>
                        </a:rPr>
                        <a:t>110,58176</a:t>
                      </a:r>
                    </a:p>
                  </a:txBody>
                  <a:tcPr marL="73152" marR="73152" marT="36576" marB="36576" anchor="ctr">
                    <a:solidFill>
                      <a:srgbClr val="FFFFFF"/>
                    </a:solidFill>
                  </a:tcPr>
                </a:tc>
                <a:tc>
                  <a:txBody>
                    <a:bodyPr wrap="square"/>
                    <a:lstStyle/>
                    <a:p>
                      <a:pPr algn="ctr"/>
                      <a:r>
                        <a:rPr sz="850" b="0" i="0">
                          <a:solidFill>
                            <a:srgbClr val="14313B"/>
                          </a:solidFill>
                          <a:latin typeface="Calibri (MS)"/>
                        </a:rPr>
                        <a:t>-7,82302</a:t>
                      </a:r>
                    </a:p>
                  </a:txBody>
                  <a:tcPr marL="73152" marR="73152" marT="36576" marB="36576" anchor="ctr">
                    <a:solidFill>
                      <a:srgbClr val="FFFFFF"/>
                    </a:solidFill>
                  </a:tcPr>
                </a:tc>
                <a:tc>
                  <a:txBody>
                    <a:bodyPr wrap="square"/>
                    <a:lstStyle/>
                    <a:p>
                      <a:pPr algn="ctr"/>
                      <a:r>
                        <a:rPr sz="850" b="0" i="0">
                          <a:solidFill>
                            <a:srgbClr val="14313B"/>
                          </a:solidFill>
                          <a:latin typeface="Calibri (MS)"/>
                        </a:rPr>
                        <a:t>0,172</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83</a:t>
                      </a:r>
                    </a:p>
                  </a:txBody>
                  <a:tcPr marL="73152" marR="73152" marT="36576" marB="36576" anchor="ctr">
                    <a:solidFill>
                      <a:srgbClr val="EAF8FA"/>
                    </a:solidFill>
                  </a:tcPr>
                </a:tc>
                <a:tc>
                  <a:txBody>
                    <a:bodyPr wrap="square"/>
                    <a:lstStyle/>
                    <a:p>
                      <a:pPr algn="ctr"/>
                      <a:r>
                        <a:rPr sz="850" b="0" i="0">
                          <a:solidFill>
                            <a:srgbClr val="14313B"/>
                          </a:solidFill>
                          <a:latin typeface="Calibri (MS)"/>
                        </a:rPr>
                        <a:t>110,66728</a:t>
                      </a:r>
                    </a:p>
                  </a:txBody>
                  <a:tcPr marL="73152" marR="73152" marT="36576" marB="36576" anchor="ctr">
                    <a:solidFill>
                      <a:srgbClr val="EAF8FA"/>
                    </a:solidFill>
                  </a:tcPr>
                </a:tc>
                <a:tc>
                  <a:txBody>
                    <a:bodyPr wrap="square"/>
                    <a:lstStyle/>
                    <a:p>
                      <a:pPr algn="ctr"/>
                      <a:r>
                        <a:rPr sz="850" b="0" i="0">
                          <a:solidFill>
                            <a:srgbClr val="14313B"/>
                          </a:solidFill>
                          <a:latin typeface="Calibri (MS)"/>
                        </a:rPr>
                        <a:t>-7,82410</a:t>
                      </a:r>
                    </a:p>
                  </a:txBody>
                  <a:tcPr marL="73152" marR="73152" marT="36576" marB="36576" anchor="ctr">
                    <a:solidFill>
                      <a:srgbClr val="EAF8FA"/>
                    </a:solidFill>
                  </a:tcPr>
                </a:tc>
                <a:tc>
                  <a:txBody>
                    <a:bodyPr wrap="square"/>
                    <a:lstStyle/>
                    <a:p>
                      <a:pPr algn="ctr"/>
                      <a:r>
                        <a:rPr sz="850" b="0" i="0">
                          <a:solidFill>
                            <a:srgbClr val="14313B"/>
                          </a:solidFill>
                          <a:latin typeface="Calibri (MS)"/>
                        </a:rPr>
                        <a:t>0,034</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84</a:t>
                      </a:r>
                    </a:p>
                  </a:txBody>
                  <a:tcPr marL="73152" marR="73152" marT="36576" marB="36576" anchor="ctr">
                    <a:solidFill>
                      <a:srgbClr val="FFFFFF"/>
                    </a:solidFill>
                  </a:tcPr>
                </a:tc>
                <a:tc>
                  <a:txBody>
                    <a:bodyPr wrap="square"/>
                    <a:lstStyle/>
                    <a:p>
                      <a:pPr algn="ctr"/>
                      <a:r>
                        <a:rPr sz="850" b="0" i="0">
                          <a:solidFill>
                            <a:srgbClr val="14313B"/>
                          </a:solidFill>
                          <a:latin typeface="Calibri (MS)"/>
                        </a:rPr>
                        <a:t>110,70905</a:t>
                      </a:r>
                    </a:p>
                  </a:txBody>
                  <a:tcPr marL="73152" marR="73152" marT="36576" marB="36576" anchor="ctr">
                    <a:solidFill>
                      <a:srgbClr val="FFFFFF"/>
                    </a:solidFill>
                  </a:tcPr>
                </a:tc>
                <a:tc>
                  <a:txBody>
                    <a:bodyPr wrap="square"/>
                    <a:lstStyle/>
                    <a:p>
                      <a:pPr algn="ctr"/>
                      <a:r>
                        <a:rPr sz="850" b="0" i="0">
                          <a:solidFill>
                            <a:srgbClr val="14313B"/>
                          </a:solidFill>
                          <a:latin typeface="Calibri (MS)"/>
                        </a:rPr>
                        <a:t>-8,13294</a:t>
                      </a:r>
                    </a:p>
                  </a:txBody>
                  <a:tcPr marL="73152" marR="73152" marT="36576" marB="36576" anchor="ctr">
                    <a:solidFill>
                      <a:srgbClr val="FFFFFF"/>
                    </a:solidFill>
                  </a:tcPr>
                </a:tc>
                <a:tc>
                  <a:txBody>
                    <a:bodyPr wrap="square"/>
                    <a:lstStyle/>
                    <a:p>
                      <a:pPr algn="ctr"/>
                      <a:r>
                        <a:rPr sz="850" b="0" i="0">
                          <a:solidFill>
                            <a:srgbClr val="14313B"/>
                          </a:solidFill>
                          <a:latin typeface="Calibri (MS)"/>
                        </a:rPr>
                        <a:t>0,037</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85</a:t>
                      </a:r>
                    </a:p>
                  </a:txBody>
                  <a:tcPr marL="73152" marR="73152" marT="36576" marB="36576" anchor="ctr">
                    <a:solidFill>
                      <a:srgbClr val="EAF8FA"/>
                    </a:solidFill>
                  </a:tcPr>
                </a:tc>
                <a:tc>
                  <a:txBody>
                    <a:bodyPr wrap="square"/>
                    <a:lstStyle/>
                    <a:p>
                      <a:pPr algn="ctr"/>
                      <a:r>
                        <a:rPr sz="850" b="0" i="0">
                          <a:solidFill>
                            <a:srgbClr val="14313B"/>
                          </a:solidFill>
                          <a:latin typeface="Calibri (MS)"/>
                        </a:rPr>
                        <a:t>110,56442</a:t>
                      </a:r>
                    </a:p>
                  </a:txBody>
                  <a:tcPr marL="73152" marR="73152" marT="36576" marB="36576" anchor="ctr">
                    <a:solidFill>
                      <a:srgbClr val="EAF8FA"/>
                    </a:solidFill>
                  </a:tcPr>
                </a:tc>
                <a:tc>
                  <a:txBody>
                    <a:bodyPr wrap="square"/>
                    <a:lstStyle/>
                    <a:p>
                      <a:pPr algn="ctr"/>
                      <a:r>
                        <a:rPr sz="850" b="0" i="0">
                          <a:solidFill>
                            <a:srgbClr val="14313B"/>
                          </a:solidFill>
                          <a:latin typeface="Calibri (MS)"/>
                        </a:rPr>
                        <a:t>-8,04212</a:t>
                      </a:r>
                    </a:p>
                  </a:txBody>
                  <a:tcPr marL="73152" marR="73152" marT="36576" marB="36576" anchor="ctr">
                    <a:solidFill>
                      <a:srgbClr val="EAF8FA"/>
                    </a:solidFill>
                  </a:tcPr>
                </a:tc>
                <a:tc>
                  <a:txBody>
                    <a:bodyPr wrap="square"/>
                    <a:lstStyle/>
                    <a:p>
                      <a:pPr algn="ctr"/>
                      <a:r>
                        <a:rPr sz="850" b="0" i="0">
                          <a:solidFill>
                            <a:srgbClr val="14313B"/>
                          </a:solidFill>
                          <a:latin typeface="Calibri (MS)"/>
                        </a:rPr>
                        <a:t>0,037</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86</a:t>
                      </a:r>
                    </a:p>
                  </a:txBody>
                  <a:tcPr marL="73152" marR="73152" marT="36576" marB="36576" anchor="ctr">
                    <a:solidFill>
                      <a:srgbClr val="FFFFFF"/>
                    </a:solidFill>
                  </a:tcPr>
                </a:tc>
                <a:tc>
                  <a:txBody>
                    <a:bodyPr wrap="square"/>
                    <a:lstStyle/>
                    <a:p>
                      <a:pPr algn="ctr"/>
                      <a:r>
                        <a:rPr sz="850" b="0" i="0">
                          <a:solidFill>
                            <a:srgbClr val="14313B"/>
                          </a:solidFill>
                          <a:latin typeface="Calibri (MS)"/>
                        </a:rPr>
                        <a:t>110,09047</a:t>
                      </a:r>
                    </a:p>
                  </a:txBody>
                  <a:tcPr marL="73152" marR="73152" marT="36576" marB="36576" anchor="ctr">
                    <a:solidFill>
                      <a:srgbClr val="FFFFFF"/>
                    </a:solidFill>
                  </a:tcPr>
                </a:tc>
                <a:tc>
                  <a:txBody>
                    <a:bodyPr wrap="square"/>
                    <a:lstStyle/>
                    <a:p>
                      <a:pPr algn="ctr"/>
                      <a:r>
                        <a:rPr sz="850" b="0" i="0">
                          <a:solidFill>
                            <a:srgbClr val="14313B"/>
                          </a:solidFill>
                          <a:latin typeface="Calibri (MS)"/>
                        </a:rPr>
                        <a:t>-7,91905</a:t>
                      </a:r>
                    </a:p>
                  </a:txBody>
                  <a:tcPr marL="73152" marR="73152" marT="36576" marB="36576" anchor="ctr">
                    <a:solidFill>
                      <a:srgbClr val="FFFFFF"/>
                    </a:solidFill>
                  </a:tcPr>
                </a:tc>
                <a:tc>
                  <a:txBody>
                    <a:bodyPr wrap="square"/>
                    <a:lstStyle/>
                    <a:p>
                      <a:pPr algn="ctr"/>
                      <a:r>
                        <a:rPr sz="850" b="0" i="0">
                          <a:solidFill>
                            <a:srgbClr val="14313B"/>
                          </a:solidFill>
                          <a:latin typeface="Calibri (MS)"/>
                        </a:rPr>
                        <a:t>0,104</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87</a:t>
                      </a:r>
                    </a:p>
                  </a:txBody>
                  <a:tcPr marL="73152" marR="73152" marT="36576" marB="36576" anchor="ctr">
                    <a:solidFill>
                      <a:srgbClr val="EAF8FA"/>
                    </a:solidFill>
                  </a:tcPr>
                </a:tc>
                <a:tc>
                  <a:txBody>
                    <a:bodyPr wrap="square"/>
                    <a:lstStyle/>
                    <a:p>
                      <a:pPr algn="ctr"/>
                      <a:r>
                        <a:rPr sz="850" b="0" i="0">
                          <a:solidFill>
                            <a:srgbClr val="14313B"/>
                          </a:solidFill>
                          <a:latin typeface="Calibri (MS)"/>
                        </a:rPr>
                        <a:t>110,50351</a:t>
                      </a:r>
                    </a:p>
                  </a:txBody>
                  <a:tcPr marL="73152" marR="73152" marT="36576" marB="36576" anchor="ctr">
                    <a:solidFill>
                      <a:srgbClr val="EAF8FA"/>
                    </a:solidFill>
                  </a:tcPr>
                </a:tc>
                <a:tc>
                  <a:txBody>
                    <a:bodyPr wrap="square"/>
                    <a:lstStyle/>
                    <a:p>
                      <a:pPr algn="ctr"/>
                      <a:r>
                        <a:rPr sz="850" b="0" i="0">
                          <a:solidFill>
                            <a:srgbClr val="14313B"/>
                          </a:solidFill>
                          <a:latin typeface="Calibri (MS)"/>
                        </a:rPr>
                        <a:t>-7,80245</a:t>
                      </a:r>
                    </a:p>
                  </a:txBody>
                  <a:tcPr marL="73152" marR="73152" marT="36576" marB="36576" anchor="ctr">
                    <a:solidFill>
                      <a:srgbClr val="EAF8FA"/>
                    </a:solidFill>
                  </a:tcPr>
                </a:tc>
                <a:tc>
                  <a:txBody>
                    <a:bodyPr wrap="square"/>
                    <a:lstStyle/>
                    <a:p>
                      <a:pPr algn="ctr"/>
                      <a:r>
                        <a:rPr sz="850" b="0" i="0">
                          <a:solidFill>
                            <a:srgbClr val="14313B"/>
                          </a:solidFill>
                          <a:latin typeface="Calibri (MS)"/>
                        </a:rPr>
                        <a:t>0,045</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88</a:t>
                      </a:r>
                    </a:p>
                  </a:txBody>
                  <a:tcPr marL="73152" marR="73152" marT="36576" marB="36576" anchor="ctr">
                    <a:solidFill>
                      <a:srgbClr val="FFFFFF"/>
                    </a:solidFill>
                  </a:tcPr>
                </a:tc>
                <a:tc>
                  <a:txBody>
                    <a:bodyPr wrap="square"/>
                    <a:lstStyle/>
                    <a:p>
                      <a:pPr algn="ctr"/>
                      <a:r>
                        <a:rPr sz="850" b="0" i="0">
                          <a:solidFill>
                            <a:srgbClr val="14313B"/>
                          </a:solidFill>
                          <a:latin typeface="Calibri (MS)"/>
                        </a:rPr>
                        <a:t>110,19351</a:t>
                      </a:r>
                    </a:p>
                  </a:txBody>
                  <a:tcPr marL="73152" marR="73152" marT="36576" marB="36576" anchor="ctr">
                    <a:solidFill>
                      <a:srgbClr val="FFFFFF"/>
                    </a:solidFill>
                  </a:tcPr>
                </a:tc>
                <a:tc>
                  <a:txBody>
                    <a:bodyPr wrap="square"/>
                    <a:lstStyle/>
                    <a:p>
                      <a:pPr algn="ctr"/>
                      <a:r>
                        <a:rPr sz="850" b="0" i="0">
                          <a:solidFill>
                            <a:srgbClr val="14313B"/>
                          </a:solidFill>
                          <a:latin typeface="Calibri (MS)"/>
                        </a:rPr>
                        <a:t>-7,80191</a:t>
                      </a:r>
                    </a:p>
                  </a:txBody>
                  <a:tcPr marL="73152" marR="73152" marT="36576" marB="36576" anchor="ctr">
                    <a:solidFill>
                      <a:srgbClr val="FFFFFF"/>
                    </a:solidFill>
                  </a:tcPr>
                </a:tc>
                <a:tc>
                  <a:txBody>
                    <a:bodyPr wrap="square"/>
                    <a:lstStyle/>
                    <a:p>
                      <a:pPr algn="ctr"/>
                      <a:r>
                        <a:rPr sz="850" b="0" i="0">
                          <a:solidFill>
                            <a:srgbClr val="14313B"/>
                          </a:solidFill>
                          <a:latin typeface="Calibri (MS)"/>
                        </a:rPr>
                        <a:t>0,037</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89</a:t>
                      </a:r>
                    </a:p>
                  </a:txBody>
                  <a:tcPr marL="73152" marR="73152" marT="36576" marB="36576" anchor="ctr">
                    <a:solidFill>
                      <a:srgbClr val="EAF8FA"/>
                    </a:solidFill>
                  </a:tcPr>
                </a:tc>
                <a:tc>
                  <a:txBody>
                    <a:bodyPr wrap="square"/>
                    <a:lstStyle/>
                    <a:p>
                      <a:pPr algn="ctr"/>
                      <a:r>
                        <a:rPr sz="850" b="0" i="0">
                          <a:solidFill>
                            <a:srgbClr val="14313B"/>
                          </a:solidFill>
                          <a:latin typeface="Calibri (MS)"/>
                        </a:rPr>
                        <a:t>110,43542</a:t>
                      </a:r>
                    </a:p>
                  </a:txBody>
                  <a:tcPr marL="73152" marR="73152" marT="36576" marB="36576" anchor="ctr">
                    <a:solidFill>
                      <a:srgbClr val="EAF8FA"/>
                    </a:solidFill>
                  </a:tcPr>
                </a:tc>
                <a:tc>
                  <a:txBody>
                    <a:bodyPr wrap="square"/>
                    <a:lstStyle/>
                    <a:p>
                      <a:pPr algn="ctr"/>
                      <a:r>
                        <a:rPr sz="850" b="0" i="0">
                          <a:solidFill>
                            <a:srgbClr val="14313B"/>
                          </a:solidFill>
                          <a:latin typeface="Calibri (MS)"/>
                        </a:rPr>
                        <a:t>-8,08749</a:t>
                      </a:r>
                    </a:p>
                  </a:txBody>
                  <a:tcPr marL="73152" marR="73152" marT="36576" marB="36576" anchor="ctr">
                    <a:solidFill>
                      <a:srgbClr val="EAF8FA"/>
                    </a:solidFill>
                  </a:tcPr>
                </a:tc>
                <a:tc>
                  <a:txBody>
                    <a:bodyPr wrap="square"/>
                    <a:lstStyle/>
                    <a:p>
                      <a:pPr algn="ctr"/>
                      <a:r>
                        <a:rPr sz="850" b="0" i="0">
                          <a:solidFill>
                            <a:srgbClr val="14313B"/>
                          </a:solidFill>
                          <a:latin typeface="Calibri (MS)"/>
                        </a:rPr>
                        <a:t>0,032</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90</a:t>
                      </a:r>
                    </a:p>
                  </a:txBody>
                  <a:tcPr marL="73152" marR="73152" marT="36576" marB="36576" anchor="ctr">
                    <a:solidFill>
                      <a:srgbClr val="FFFFFF"/>
                    </a:solidFill>
                  </a:tcPr>
                </a:tc>
                <a:tc>
                  <a:txBody>
                    <a:bodyPr wrap="square"/>
                    <a:lstStyle/>
                    <a:p>
                      <a:pPr algn="ctr"/>
                      <a:r>
                        <a:rPr sz="850" b="0" i="0">
                          <a:solidFill>
                            <a:srgbClr val="14313B"/>
                          </a:solidFill>
                          <a:latin typeface="Calibri (MS)"/>
                        </a:rPr>
                        <a:t>110,41683</a:t>
                      </a:r>
                    </a:p>
                  </a:txBody>
                  <a:tcPr marL="73152" marR="73152" marT="36576" marB="36576" anchor="ctr">
                    <a:solidFill>
                      <a:srgbClr val="FFFFFF"/>
                    </a:solidFill>
                  </a:tcPr>
                </a:tc>
                <a:tc>
                  <a:txBody>
                    <a:bodyPr wrap="square"/>
                    <a:lstStyle/>
                    <a:p>
                      <a:pPr algn="ctr"/>
                      <a:r>
                        <a:rPr sz="850" b="0" i="0">
                          <a:solidFill>
                            <a:srgbClr val="14313B"/>
                          </a:solidFill>
                          <a:latin typeface="Calibri (MS)"/>
                        </a:rPr>
                        <a:t>-7,61183</a:t>
                      </a:r>
                    </a:p>
                  </a:txBody>
                  <a:tcPr marL="73152" marR="73152" marT="36576" marB="36576" anchor="ctr">
                    <a:solidFill>
                      <a:srgbClr val="FFFFFF"/>
                    </a:solidFill>
                  </a:tcPr>
                </a:tc>
                <a:tc>
                  <a:txBody>
                    <a:bodyPr wrap="square"/>
                    <a:lstStyle/>
                    <a:p>
                      <a:pPr algn="ctr"/>
                      <a:r>
                        <a:rPr sz="850" b="0" i="0">
                          <a:solidFill>
                            <a:srgbClr val="14313B"/>
                          </a:solidFill>
                          <a:latin typeface="Calibri (MS)"/>
                        </a:rPr>
                        <a:t>0,074</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91</a:t>
                      </a:r>
                    </a:p>
                  </a:txBody>
                  <a:tcPr marL="73152" marR="73152" marT="36576" marB="36576" anchor="ctr">
                    <a:solidFill>
                      <a:srgbClr val="EAF8FA"/>
                    </a:solidFill>
                  </a:tcPr>
                </a:tc>
                <a:tc>
                  <a:txBody>
                    <a:bodyPr wrap="square"/>
                    <a:lstStyle/>
                    <a:p>
                      <a:pPr algn="ctr"/>
                      <a:r>
                        <a:rPr sz="850" b="0" i="0">
                          <a:solidFill>
                            <a:srgbClr val="14313B"/>
                          </a:solidFill>
                          <a:latin typeface="Calibri (MS)"/>
                        </a:rPr>
                        <a:t>110,55005</a:t>
                      </a:r>
                    </a:p>
                  </a:txBody>
                  <a:tcPr marL="73152" marR="73152" marT="36576" marB="36576" anchor="ctr">
                    <a:solidFill>
                      <a:srgbClr val="EAF8FA"/>
                    </a:solidFill>
                  </a:tcPr>
                </a:tc>
                <a:tc>
                  <a:txBody>
                    <a:bodyPr wrap="square"/>
                    <a:lstStyle/>
                    <a:p>
                      <a:pPr algn="ctr"/>
                      <a:r>
                        <a:rPr sz="850" b="0" i="0">
                          <a:solidFill>
                            <a:srgbClr val="14313B"/>
                          </a:solidFill>
                          <a:latin typeface="Calibri (MS)"/>
                        </a:rPr>
                        <a:t>-7,85096</a:t>
                      </a:r>
                    </a:p>
                  </a:txBody>
                  <a:tcPr marL="73152" marR="73152" marT="36576" marB="36576" anchor="ctr">
                    <a:solidFill>
                      <a:srgbClr val="EAF8FA"/>
                    </a:solidFill>
                  </a:tcPr>
                </a:tc>
                <a:tc>
                  <a:txBody>
                    <a:bodyPr wrap="square"/>
                    <a:lstStyle/>
                    <a:p>
                      <a:pPr algn="ctr"/>
                      <a:r>
                        <a:rPr sz="850" b="0" i="0">
                          <a:solidFill>
                            <a:srgbClr val="14313B"/>
                          </a:solidFill>
                          <a:latin typeface="Calibri (MS)"/>
                        </a:rPr>
                        <a:t>0,037</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92</a:t>
                      </a:r>
                    </a:p>
                  </a:txBody>
                  <a:tcPr marL="73152" marR="73152" marT="36576" marB="36576" anchor="ctr">
                    <a:solidFill>
                      <a:srgbClr val="FFFFFF"/>
                    </a:solidFill>
                  </a:tcPr>
                </a:tc>
                <a:tc>
                  <a:txBody>
                    <a:bodyPr wrap="square"/>
                    <a:lstStyle/>
                    <a:p>
                      <a:pPr algn="ctr"/>
                      <a:r>
                        <a:rPr sz="850" b="0" i="0">
                          <a:solidFill>
                            <a:srgbClr val="14313B"/>
                          </a:solidFill>
                          <a:latin typeface="Calibri (MS)"/>
                        </a:rPr>
                        <a:t>110,39805</a:t>
                      </a:r>
                    </a:p>
                  </a:txBody>
                  <a:tcPr marL="73152" marR="73152" marT="36576" marB="36576" anchor="ctr">
                    <a:solidFill>
                      <a:srgbClr val="FFFFFF"/>
                    </a:solidFill>
                  </a:tcPr>
                </a:tc>
                <a:tc>
                  <a:txBody>
                    <a:bodyPr wrap="square"/>
                    <a:lstStyle/>
                    <a:p>
                      <a:pPr algn="ctr"/>
                      <a:r>
                        <a:rPr sz="850" b="0" i="0">
                          <a:solidFill>
                            <a:srgbClr val="14313B"/>
                          </a:solidFill>
                          <a:latin typeface="Calibri (MS)"/>
                        </a:rPr>
                        <a:t>-7,60150</a:t>
                      </a:r>
                    </a:p>
                  </a:txBody>
                  <a:tcPr marL="73152" marR="73152" marT="36576" marB="36576" anchor="ctr">
                    <a:solidFill>
                      <a:srgbClr val="FFFFFF"/>
                    </a:solidFill>
                  </a:tcPr>
                </a:tc>
                <a:tc>
                  <a:txBody>
                    <a:bodyPr wrap="square"/>
                    <a:lstStyle/>
                    <a:p>
                      <a:pPr algn="ctr"/>
                      <a:r>
                        <a:rPr sz="850" b="0" i="0">
                          <a:solidFill>
                            <a:srgbClr val="14313B"/>
                          </a:solidFill>
                          <a:latin typeface="Calibri (MS)"/>
                        </a:rPr>
                        <a:t>0,033</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93</a:t>
                      </a:r>
                    </a:p>
                  </a:txBody>
                  <a:tcPr marL="73152" marR="73152" marT="36576" marB="36576" anchor="ctr">
                    <a:solidFill>
                      <a:srgbClr val="EAF8FA"/>
                    </a:solidFill>
                  </a:tcPr>
                </a:tc>
                <a:tc>
                  <a:txBody>
                    <a:bodyPr wrap="square"/>
                    <a:lstStyle/>
                    <a:p>
                      <a:pPr algn="ctr"/>
                      <a:r>
                        <a:rPr sz="850" b="0" i="0">
                          <a:solidFill>
                            <a:srgbClr val="14313B"/>
                          </a:solidFill>
                          <a:latin typeface="Calibri (MS)"/>
                        </a:rPr>
                        <a:t>110,38260</a:t>
                      </a:r>
                    </a:p>
                  </a:txBody>
                  <a:tcPr marL="73152" marR="73152" marT="36576" marB="36576" anchor="ctr">
                    <a:solidFill>
                      <a:srgbClr val="EAF8FA"/>
                    </a:solidFill>
                  </a:tcPr>
                </a:tc>
                <a:tc>
                  <a:txBody>
                    <a:bodyPr wrap="square"/>
                    <a:lstStyle/>
                    <a:p>
                      <a:pPr algn="ctr"/>
                      <a:r>
                        <a:rPr sz="850" b="0" i="0">
                          <a:solidFill>
                            <a:srgbClr val="14313B"/>
                          </a:solidFill>
                          <a:latin typeface="Calibri (MS)"/>
                        </a:rPr>
                        <a:t>-7,64758</a:t>
                      </a:r>
                    </a:p>
                  </a:txBody>
                  <a:tcPr marL="73152" marR="73152" marT="36576" marB="36576" anchor="ctr">
                    <a:solidFill>
                      <a:srgbClr val="EAF8FA"/>
                    </a:solidFill>
                  </a:tcPr>
                </a:tc>
                <a:tc>
                  <a:txBody>
                    <a:bodyPr wrap="square"/>
                    <a:lstStyle/>
                    <a:p>
                      <a:pPr algn="ctr"/>
                      <a:r>
                        <a:rPr sz="850" b="0" i="0">
                          <a:solidFill>
                            <a:srgbClr val="14313B"/>
                          </a:solidFill>
                          <a:latin typeface="Calibri (MS)"/>
                        </a:rPr>
                        <a:t>0,298</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94</a:t>
                      </a:r>
                    </a:p>
                  </a:txBody>
                  <a:tcPr marL="73152" marR="73152" marT="36576" marB="36576" anchor="ctr">
                    <a:solidFill>
                      <a:srgbClr val="FFFFFF"/>
                    </a:solidFill>
                  </a:tcPr>
                </a:tc>
                <a:tc>
                  <a:txBody>
                    <a:bodyPr wrap="square"/>
                    <a:lstStyle/>
                    <a:p>
                      <a:pPr algn="ctr"/>
                      <a:r>
                        <a:rPr sz="850" b="0" i="0">
                          <a:solidFill>
                            <a:srgbClr val="14313B"/>
                          </a:solidFill>
                          <a:latin typeface="Calibri (MS)"/>
                        </a:rPr>
                        <a:t>110,52391</a:t>
                      </a:r>
                    </a:p>
                  </a:txBody>
                  <a:tcPr marL="73152" marR="73152" marT="36576" marB="36576" anchor="ctr">
                    <a:solidFill>
                      <a:srgbClr val="FFFFFF"/>
                    </a:solidFill>
                  </a:tcPr>
                </a:tc>
                <a:tc>
                  <a:txBody>
                    <a:bodyPr wrap="square"/>
                    <a:lstStyle/>
                    <a:p>
                      <a:pPr algn="ctr"/>
                      <a:r>
                        <a:rPr sz="850" b="0" i="0">
                          <a:solidFill>
                            <a:srgbClr val="14313B"/>
                          </a:solidFill>
                          <a:latin typeface="Calibri (MS)"/>
                        </a:rPr>
                        <a:t>-7,90791</a:t>
                      </a:r>
                    </a:p>
                  </a:txBody>
                  <a:tcPr marL="73152" marR="73152" marT="36576" marB="36576" anchor="ctr">
                    <a:solidFill>
                      <a:srgbClr val="FFFFFF"/>
                    </a:solidFill>
                  </a:tcPr>
                </a:tc>
                <a:tc>
                  <a:txBody>
                    <a:bodyPr wrap="square"/>
                    <a:lstStyle/>
                    <a:p>
                      <a:pPr algn="ctr"/>
                      <a:r>
                        <a:rPr sz="850" b="0" i="0">
                          <a:solidFill>
                            <a:srgbClr val="14313B"/>
                          </a:solidFill>
                          <a:latin typeface="Calibri (MS)"/>
                        </a:rPr>
                        <a:t>0,029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95</a:t>
                      </a:r>
                    </a:p>
                  </a:txBody>
                  <a:tcPr marL="73152" marR="73152" marT="36576" marB="36576" anchor="ctr">
                    <a:solidFill>
                      <a:srgbClr val="EAF8FA"/>
                    </a:solidFill>
                  </a:tcPr>
                </a:tc>
                <a:tc>
                  <a:txBody>
                    <a:bodyPr wrap="square"/>
                    <a:lstStyle/>
                    <a:p>
                      <a:pPr algn="ctr"/>
                      <a:r>
                        <a:rPr sz="850" b="0" i="0">
                          <a:solidFill>
                            <a:srgbClr val="14313B"/>
                          </a:solidFill>
                          <a:latin typeface="Calibri (MS)"/>
                        </a:rPr>
                        <a:t>110,35880</a:t>
                      </a:r>
                    </a:p>
                  </a:txBody>
                  <a:tcPr marL="73152" marR="73152" marT="36576" marB="36576" anchor="ctr">
                    <a:solidFill>
                      <a:srgbClr val="EAF8FA"/>
                    </a:solidFill>
                  </a:tcPr>
                </a:tc>
                <a:tc>
                  <a:txBody>
                    <a:bodyPr wrap="square"/>
                    <a:lstStyle/>
                    <a:p>
                      <a:pPr algn="ctr"/>
                      <a:r>
                        <a:rPr sz="850" b="0" i="0">
                          <a:solidFill>
                            <a:srgbClr val="14313B"/>
                          </a:solidFill>
                          <a:latin typeface="Calibri (MS)"/>
                        </a:rPr>
                        <a:t>-7,68190</a:t>
                      </a:r>
                    </a:p>
                  </a:txBody>
                  <a:tcPr marL="73152" marR="73152" marT="36576" marB="36576" anchor="ctr">
                    <a:solidFill>
                      <a:srgbClr val="EAF8FA"/>
                    </a:solidFill>
                  </a:tcPr>
                </a:tc>
                <a:tc>
                  <a:txBody>
                    <a:bodyPr wrap="square"/>
                    <a:lstStyle/>
                    <a:p>
                      <a:pPr algn="ctr"/>
                      <a:r>
                        <a:rPr sz="850" b="0" i="0">
                          <a:solidFill>
                            <a:srgbClr val="14313B"/>
                          </a:solidFill>
                          <a:latin typeface="Calibri (MS)"/>
                        </a:rPr>
                        <a:t>0,094</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96</a:t>
                      </a:r>
                    </a:p>
                  </a:txBody>
                  <a:tcPr marL="73152" marR="73152" marT="36576" marB="36576" anchor="ctr">
                    <a:solidFill>
                      <a:srgbClr val="FFFFFF"/>
                    </a:solidFill>
                  </a:tcPr>
                </a:tc>
                <a:tc>
                  <a:txBody>
                    <a:bodyPr wrap="square"/>
                    <a:lstStyle/>
                    <a:p>
                      <a:pPr algn="ctr"/>
                      <a:r>
                        <a:rPr sz="850" b="0" i="0">
                          <a:solidFill>
                            <a:srgbClr val="14313B"/>
                          </a:solidFill>
                          <a:latin typeface="Calibri (MS)"/>
                        </a:rPr>
                        <a:t>110,19908</a:t>
                      </a:r>
                    </a:p>
                  </a:txBody>
                  <a:tcPr marL="73152" marR="73152" marT="36576" marB="36576" anchor="ctr">
                    <a:solidFill>
                      <a:srgbClr val="FFFFFF"/>
                    </a:solidFill>
                  </a:tcPr>
                </a:tc>
                <a:tc>
                  <a:txBody>
                    <a:bodyPr wrap="square"/>
                    <a:lstStyle/>
                    <a:p>
                      <a:pPr algn="ctr"/>
                      <a:r>
                        <a:rPr sz="850" b="0" i="0">
                          <a:solidFill>
                            <a:srgbClr val="14313B"/>
                          </a:solidFill>
                          <a:latin typeface="Calibri (MS)"/>
                        </a:rPr>
                        <a:t>-7,79050</a:t>
                      </a:r>
                    </a:p>
                  </a:txBody>
                  <a:tcPr marL="73152" marR="73152" marT="36576" marB="36576" anchor="ctr">
                    <a:solidFill>
                      <a:srgbClr val="FFFFFF"/>
                    </a:solidFill>
                  </a:tcPr>
                </a:tc>
                <a:tc>
                  <a:txBody>
                    <a:bodyPr wrap="square"/>
                    <a:lstStyle/>
                    <a:p>
                      <a:pPr algn="ctr"/>
                      <a:r>
                        <a:rPr sz="850" b="0" i="0">
                          <a:solidFill>
                            <a:srgbClr val="14313B"/>
                          </a:solidFill>
                          <a:latin typeface="Calibri (MS)"/>
                        </a:rPr>
                        <a:t>0,098</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97</a:t>
                      </a:r>
                    </a:p>
                  </a:txBody>
                  <a:tcPr marL="73152" marR="73152" marT="36576" marB="36576" anchor="ctr">
                    <a:solidFill>
                      <a:srgbClr val="EAF8FA"/>
                    </a:solidFill>
                  </a:tcPr>
                </a:tc>
                <a:tc>
                  <a:txBody>
                    <a:bodyPr wrap="square"/>
                    <a:lstStyle/>
                    <a:p>
                      <a:pPr algn="ctr"/>
                      <a:r>
                        <a:rPr sz="850" b="0" i="0">
                          <a:solidFill>
                            <a:srgbClr val="14313B"/>
                          </a:solidFill>
                          <a:latin typeface="Calibri (MS)"/>
                        </a:rPr>
                        <a:t>110,33697</a:t>
                      </a:r>
                    </a:p>
                  </a:txBody>
                  <a:tcPr marL="73152" marR="73152" marT="36576" marB="36576" anchor="ctr">
                    <a:solidFill>
                      <a:srgbClr val="EAF8FA"/>
                    </a:solidFill>
                  </a:tcPr>
                </a:tc>
                <a:tc>
                  <a:txBody>
                    <a:bodyPr wrap="square"/>
                    <a:lstStyle/>
                    <a:p>
                      <a:pPr algn="ctr"/>
                      <a:r>
                        <a:rPr sz="850" b="0" i="0">
                          <a:solidFill>
                            <a:srgbClr val="14313B"/>
                          </a:solidFill>
                          <a:latin typeface="Calibri (MS)"/>
                        </a:rPr>
                        <a:t>-7,64255</a:t>
                      </a:r>
                    </a:p>
                  </a:txBody>
                  <a:tcPr marL="73152" marR="73152" marT="36576" marB="36576" anchor="ctr">
                    <a:solidFill>
                      <a:srgbClr val="EAF8FA"/>
                    </a:solidFill>
                  </a:tcPr>
                </a:tc>
                <a:tc>
                  <a:txBody>
                    <a:bodyPr wrap="square"/>
                    <a:lstStyle/>
                    <a:p>
                      <a:pPr algn="ctr"/>
                      <a:r>
                        <a:rPr sz="850" b="0" i="0">
                          <a:solidFill>
                            <a:srgbClr val="14313B"/>
                          </a:solidFill>
                          <a:latin typeface="Calibri (MS)"/>
                        </a:rPr>
                        <a:t>0,231</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98</a:t>
                      </a:r>
                    </a:p>
                  </a:txBody>
                  <a:tcPr marL="73152" marR="73152" marT="36576" marB="36576" anchor="ctr">
                    <a:solidFill>
                      <a:srgbClr val="FFFFFF"/>
                    </a:solidFill>
                  </a:tcPr>
                </a:tc>
                <a:tc>
                  <a:txBody>
                    <a:bodyPr wrap="square"/>
                    <a:lstStyle/>
                    <a:p>
                      <a:pPr algn="ctr"/>
                      <a:r>
                        <a:rPr sz="850" b="0" i="0">
                          <a:solidFill>
                            <a:srgbClr val="14313B"/>
                          </a:solidFill>
                          <a:latin typeface="Calibri (MS)"/>
                        </a:rPr>
                        <a:t>110,63494</a:t>
                      </a:r>
                    </a:p>
                  </a:txBody>
                  <a:tcPr marL="73152" marR="73152" marT="36576" marB="36576" anchor="ctr">
                    <a:solidFill>
                      <a:srgbClr val="FFFFFF"/>
                    </a:solidFill>
                  </a:tcPr>
                </a:tc>
                <a:tc>
                  <a:txBody>
                    <a:bodyPr wrap="square"/>
                    <a:lstStyle/>
                    <a:p>
                      <a:pPr algn="ctr"/>
                      <a:r>
                        <a:rPr sz="850" b="0" i="0">
                          <a:solidFill>
                            <a:srgbClr val="14313B"/>
                          </a:solidFill>
                          <a:latin typeface="Calibri (MS)"/>
                        </a:rPr>
                        <a:t>-8,11947</a:t>
                      </a:r>
                    </a:p>
                  </a:txBody>
                  <a:tcPr marL="73152" marR="73152" marT="36576" marB="36576" anchor="ctr">
                    <a:solidFill>
                      <a:srgbClr val="FFFFFF"/>
                    </a:solidFill>
                  </a:tcPr>
                </a:tc>
                <a:tc>
                  <a:txBody>
                    <a:bodyPr wrap="square"/>
                    <a:lstStyle/>
                    <a:p>
                      <a:pPr algn="ctr"/>
                      <a:r>
                        <a:rPr sz="850" b="0" i="0">
                          <a:solidFill>
                            <a:srgbClr val="14313B"/>
                          </a:solidFill>
                          <a:latin typeface="Calibri (MS)"/>
                        </a:rPr>
                        <a:t>0,029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99</a:t>
                      </a:r>
                    </a:p>
                  </a:txBody>
                  <a:tcPr marL="73152" marR="73152" marT="36576" marB="36576" anchor="ctr">
                    <a:solidFill>
                      <a:srgbClr val="EAF8FA"/>
                    </a:solidFill>
                  </a:tcPr>
                </a:tc>
                <a:tc>
                  <a:txBody>
                    <a:bodyPr wrap="square"/>
                    <a:lstStyle/>
                    <a:p>
                      <a:pPr algn="ctr"/>
                      <a:r>
                        <a:rPr sz="850" b="0" i="0">
                          <a:solidFill>
                            <a:srgbClr val="14313B"/>
                          </a:solidFill>
                          <a:latin typeface="Calibri (MS)"/>
                        </a:rPr>
                        <a:t>110,18048</a:t>
                      </a:r>
                    </a:p>
                  </a:txBody>
                  <a:tcPr marL="73152" marR="73152" marT="36576" marB="36576" anchor="ctr">
                    <a:solidFill>
                      <a:srgbClr val="EAF8FA"/>
                    </a:solidFill>
                  </a:tcPr>
                </a:tc>
                <a:tc>
                  <a:txBody>
                    <a:bodyPr wrap="square"/>
                    <a:lstStyle/>
                    <a:p>
                      <a:pPr algn="ctr"/>
                      <a:r>
                        <a:rPr sz="850" b="0" i="0">
                          <a:solidFill>
                            <a:srgbClr val="14313B"/>
                          </a:solidFill>
                          <a:latin typeface="Calibri (MS)"/>
                        </a:rPr>
                        <a:t>-7,84881</a:t>
                      </a:r>
                    </a:p>
                  </a:txBody>
                  <a:tcPr marL="73152" marR="73152" marT="36576" marB="36576" anchor="ctr">
                    <a:solidFill>
                      <a:srgbClr val="EAF8FA"/>
                    </a:solidFill>
                  </a:tcPr>
                </a:tc>
                <a:tc>
                  <a:txBody>
                    <a:bodyPr wrap="square"/>
                    <a:lstStyle/>
                    <a:p>
                      <a:pPr algn="ctr"/>
                      <a:r>
                        <a:rPr sz="850" b="0" i="0">
                          <a:solidFill>
                            <a:srgbClr val="14313B"/>
                          </a:solidFill>
                          <a:latin typeface="Calibri (MS)"/>
                        </a:rPr>
                        <a:t>0,149</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100</a:t>
                      </a:r>
                    </a:p>
                  </a:txBody>
                  <a:tcPr marL="73152" marR="73152" marT="36576" marB="36576" anchor="ctr">
                    <a:solidFill>
                      <a:srgbClr val="FFFFFF"/>
                    </a:solidFill>
                  </a:tcPr>
                </a:tc>
                <a:tc>
                  <a:txBody>
                    <a:bodyPr wrap="square"/>
                    <a:lstStyle/>
                    <a:p>
                      <a:pPr algn="ctr"/>
                      <a:r>
                        <a:rPr sz="850" b="0" i="0">
                          <a:solidFill>
                            <a:srgbClr val="14313B"/>
                          </a:solidFill>
                          <a:latin typeface="Calibri (MS)"/>
                        </a:rPr>
                        <a:t>110,65380</a:t>
                      </a:r>
                    </a:p>
                  </a:txBody>
                  <a:tcPr marL="73152" marR="73152" marT="36576" marB="36576" anchor="ctr">
                    <a:solidFill>
                      <a:srgbClr val="FFFFFF"/>
                    </a:solidFill>
                  </a:tcPr>
                </a:tc>
                <a:tc>
                  <a:txBody>
                    <a:bodyPr wrap="square"/>
                    <a:lstStyle/>
                    <a:p>
                      <a:pPr algn="ctr"/>
                      <a:r>
                        <a:rPr sz="850" b="0" i="0">
                          <a:solidFill>
                            <a:srgbClr val="14313B"/>
                          </a:solidFill>
                          <a:latin typeface="Calibri (MS)"/>
                        </a:rPr>
                        <a:t>-8,00619</a:t>
                      </a:r>
                    </a:p>
                  </a:txBody>
                  <a:tcPr marL="73152" marR="73152" marT="36576" marB="36576" anchor="ctr">
                    <a:solidFill>
                      <a:srgbClr val="FFFFFF"/>
                    </a:solidFill>
                  </a:tcPr>
                </a:tc>
                <a:tc>
                  <a:txBody>
                    <a:bodyPr wrap="square"/>
                    <a:lstStyle/>
                    <a:p>
                      <a:pPr algn="ctr"/>
                      <a:r>
                        <a:rPr sz="850" b="0" i="0">
                          <a:solidFill>
                            <a:srgbClr val="14313B"/>
                          </a:solidFill>
                          <a:latin typeface="Calibri (MS)"/>
                        </a:rPr>
                        <a:t>0,249</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sp>
        <p:nvSpPr>
          <p:cNvPr id="29" name="TextBox 28"/>
          <p:cNvSpPr txBox="1"/>
          <p:nvPr/>
        </p:nvSpPr>
        <p:spPr>
          <a:xfrm>
            <a:off x="822960" y="877824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KunciModel_DW_2025.csv dan LembarKerja_UjiAkurasi_DW_2025.xlsx (repository). Merah muda = tidak sesuai (2 titik pada halaman ini). Peta: kelas built bila prob ≥ 0,5.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23 · Sampel Uji Akurasi Lahan Terbangun (3/4)</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Titik 101–150 dari 200: kelas peta Dynamic World 2025 dibandingkan label rujukan visual Google Earth</a:t>
            </a:r>
          </a:p>
        </p:txBody>
      </p:sp>
      <p:graphicFrame>
        <p:nvGraphicFramePr>
          <p:cNvPr id="27" name="Table 26"/>
          <p:cNvGraphicFramePr>
            <a:graphicFrameLocks noGrp="1"/>
          </p:cNvGraphicFramePr>
          <p:nvPr/>
        </p:nvGraphicFramePr>
        <p:xfrm>
          <a:off x="82296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101</a:t>
                      </a:r>
                    </a:p>
                  </a:txBody>
                  <a:tcPr marL="73152" marR="73152" marT="36576" marB="36576" anchor="ctr">
                    <a:solidFill>
                      <a:srgbClr val="FFFFFF"/>
                    </a:solidFill>
                  </a:tcPr>
                </a:tc>
                <a:tc>
                  <a:txBody>
                    <a:bodyPr wrap="square"/>
                    <a:lstStyle/>
                    <a:p>
                      <a:pPr algn="ctr"/>
                      <a:r>
                        <a:rPr sz="850" b="0" i="0">
                          <a:solidFill>
                            <a:srgbClr val="14313B"/>
                          </a:solidFill>
                          <a:latin typeface="Calibri (MS)"/>
                        </a:rPr>
                        <a:t>110,11742</a:t>
                      </a:r>
                    </a:p>
                  </a:txBody>
                  <a:tcPr marL="73152" marR="73152" marT="36576" marB="36576" anchor="ctr">
                    <a:solidFill>
                      <a:srgbClr val="FFFFFF"/>
                    </a:solidFill>
                  </a:tcPr>
                </a:tc>
                <a:tc>
                  <a:txBody>
                    <a:bodyPr wrap="square"/>
                    <a:lstStyle/>
                    <a:p>
                      <a:pPr algn="ctr"/>
                      <a:r>
                        <a:rPr sz="850" b="0" i="0">
                          <a:solidFill>
                            <a:srgbClr val="14313B"/>
                          </a:solidFill>
                          <a:latin typeface="Calibri (MS)"/>
                        </a:rPr>
                        <a:t>-7,90010</a:t>
                      </a:r>
                    </a:p>
                  </a:txBody>
                  <a:tcPr marL="73152" marR="73152" marT="36576" marB="36576" anchor="ctr">
                    <a:solidFill>
                      <a:srgbClr val="FFFFFF"/>
                    </a:solidFill>
                  </a:tcPr>
                </a:tc>
                <a:tc>
                  <a:txBody>
                    <a:bodyPr wrap="square"/>
                    <a:lstStyle/>
                    <a:p>
                      <a:pPr algn="ctr"/>
                      <a:r>
                        <a:rPr sz="850" b="0" i="0">
                          <a:solidFill>
                            <a:srgbClr val="14313B"/>
                          </a:solidFill>
                          <a:latin typeface="Calibri (MS)"/>
                        </a:rPr>
                        <a:t>0,562</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102</a:t>
                      </a:r>
                    </a:p>
                  </a:txBody>
                  <a:tcPr marL="73152" marR="73152" marT="36576" marB="36576" anchor="ctr">
                    <a:solidFill>
                      <a:srgbClr val="EAF8FA"/>
                    </a:solidFill>
                  </a:tcPr>
                </a:tc>
                <a:tc>
                  <a:txBody>
                    <a:bodyPr wrap="square"/>
                    <a:lstStyle/>
                    <a:p>
                      <a:pPr algn="ctr"/>
                      <a:r>
                        <a:rPr sz="850" b="0" i="0">
                          <a:solidFill>
                            <a:srgbClr val="14313B"/>
                          </a:solidFill>
                          <a:latin typeface="Calibri (MS)"/>
                        </a:rPr>
                        <a:t>110,33535</a:t>
                      </a:r>
                    </a:p>
                  </a:txBody>
                  <a:tcPr marL="73152" marR="73152" marT="36576" marB="36576" anchor="ctr">
                    <a:solidFill>
                      <a:srgbClr val="EAF8FA"/>
                    </a:solidFill>
                  </a:tcPr>
                </a:tc>
                <a:tc>
                  <a:txBody>
                    <a:bodyPr wrap="square"/>
                    <a:lstStyle/>
                    <a:p>
                      <a:pPr algn="ctr"/>
                      <a:r>
                        <a:rPr sz="850" b="0" i="0">
                          <a:solidFill>
                            <a:srgbClr val="14313B"/>
                          </a:solidFill>
                          <a:latin typeface="Calibri (MS)"/>
                        </a:rPr>
                        <a:t>-7,86560</a:t>
                      </a:r>
                    </a:p>
                  </a:txBody>
                  <a:tcPr marL="73152" marR="73152" marT="36576" marB="36576" anchor="ctr">
                    <a:solidFill>
                      <a:srgbClr val="EAF8FA"/>
                    </a:solidFill>
                  </a:tcPr>
                </a:tc>
                <a:tc>
                  <a:txBody>
                    <a:bodyPr wrap="square"/>
                    <a:lstStyle/>
                    <a:p>
                      <a:pPr algn="ctr"/>
                      <a:r>
                        <a:rPr sz="850" b="0" i="0">
                          <a:solidFill>
                            <a:srgbClr val="14313B"/>
                          </a:solidFill>
                          <a:latin typeface="Calibri (MS)"/>
                        </a:rPr>
                        <a:t>0,683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103</a:t>
                      </a:r>
                    </a:p>
                  </a:txBody>
                  <a:tcPr marL="73152" marR="73152" marT="36576" marB="36576" anchor="ctr">
                    <a:solidFill>
                      <a:srgbClr val="FFFFFF"/>
                    </a:solidFill>
                  </a:tcPr>
                </a:tc>
                <a:tc>
                  <a:txBody>
                    <a:bodyPr wrap="square"/>
                    <a:lstStyle/>
                    <a:p>
                      <a:pPr algn="ctr"/>
                      <a:r>
                        <a:rPr sz="850" b="0" i="0">
                          <a:solidFill>
                            <a:srgbClr val="14313B"/>
                          </a:solidFill>
                          <a:latin typeface="Calibri (MS)"/>
                        </a:rPr>
                        <a:t>110,47414</a:t>
                      </a:r>
                    </a:p>
                  </a:txBody>
                  <a:tcPr marL="73152" marR="73152" marT="36576" marB="36576" anchor="ctr">
                    <a:solidFill>
                      <a:srgbClr val="FFFFFF"/>
                    </a:solidFill>
                  </a:tcPr>
                </a:tc>
                <a:tc>
                  <a:txBody>
                    <a:bodyPr wrap="square"/>
                    <a:lstStyle/>
                    <a:p>
                      <a:pPr algn="ctr"/>
                      <a:r>
                        <a:rPr sz="850" b="0" i="0">
                          <a:solidFill>
                            <a:srgbClr val="14313B"/>
                          </a:solidFill>
                          <a:latin typeface="Calibri (MS)"/>
                        </a:rPr>
                        <a:t>-7,80128</a:t>
                      </a:r>
                    </a:p>
                  </a:txBody>
                  <a:tcPr marL="73152" marR="73152" marT="36576" marB="36576" anchor="ctr">
                    <a:solidFill>
                      <a:srgbClr val="FFFFFF"/>
                    </a:solidFill>
                  </a:tcPr>
                </a:tc>
                <a:tc>
                  <a:txBody>
                    <a:bodyPr wrap="square"/>
                    <a:lstStyle/>
                    <a:p>
                      <a:pPr algn="ctr"/>
                      <a:r>
                        <a:rPr sz="850" b="0" i="0">
                          <a:solidFill>
                            <a:srgbClr val="14313B"/>
                          </a:solidFill>
                          <a:latin typeface="Calibri (MS)"/>
                        </a:rPr>
                        <a:t>0,650</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104</a:t>
                      </a:r>
                    </a:p>
                  </a:txBody>
                  <a:tcPr marL="73152" marR="73152" marT="36576" marB="36576" anchor="ctr">
                    <a:solidFill>
                      <a:srgbClr val="EAF8FA"/>
                    </a:solidFill>
                  </a:tcPr>
                </a:tc>
                <a:tc>
                  <a:txBody>
                    <a:bodyPr wrap="square"/>
                    <a:lstStyle/>
                    <a:p>
                      <a:pPr algn="ctr"/>
                      <a:r>
                        <a:rPr sz="850" b="0" i="0">
                          <a:solidFill>
                            <a:srgbClr val="14313B"/>
                          </a:solidFill>
                          <a:latin typeface="Calibri (MS)"/>
                        </a:rPr>
                        <a:t>110,31289</a:t>
                      </a:r>
                    </a:p>
                  </a:txBody>
                  <a:tcPr marL="73152" marR="73152" marT="36576" marB="36576" anchor="ctr">
                    <a:solidFill>
                      <a:srgbClr val="EAF8FA"/>
                    </a:solidFill>
                  </a:tcPr>
                </a:tc>
                <a:tc>
                  <a:txBody>
                    <a:bodyPr wrap="square"/>
                    <a:lstStyle/>
                    <a:p>
                      <a:pPr algn="ctr"/>
                      <a:r>
                        <a:rPr sz="850" b="0" i="0">
                          <a:solidFill>
                            <a:srgbClr val="14313B"/>
                          </a:solidFill>
                          <a:latin typeface="Calibri (MS)"/>
                        </a:rPr>
                        <a:t>-7,98733</a:t>
                      </a:r>
                    </a:p>
                  </a:txBody>
                  <a:tcPr marL="73152" marR="73152" marT="36576" marB="36576" anchor="ctr">
                    <a:solidFill>
                      <a:srgbClr val="EAF8FA"/>
                    </a:solidFill>
                  </a:tcPr>
                </a:tc>
                <a:tc>
                  <a:txBody>
                    <a:bodyPr wrap="square"/>
                    <a:lstStyle/>
                    <a:p>
                      <a:pPr algn="ctr"/>
                      <a:r>
                        <a:rPr sz="850" b="0" i="0">
                          <a:solidFill>
                            <a:srgbClr val="14313B"/>
                          </a:solidFill>
                          <a:latin typeface="Calibri (MS)"/>
                        </a:rPr>
                        <a:t>0,642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105</a:t>
                      </a:r>
                    </a:p>
                  </a:txBody>
                  <a:tcPr marL="73152" marR="73152" marT="36576" marB="36576" anchor="ctr">
                    <a:solidFill>
                      <a:srgbClr val="FFFFFF"/>
                    </a:solidFill>
                  </a:tcPr>
                </a:tc>
                <a:tc>
                  <a:txBody>
                    <a:bodyPr wrap="square"/>
                    <a:lstStyle/>
                    <a:p>
                      <a:pPr algn="ctr"/>
                      <a:r>
                        <a:rPr sz="850" b="0" i="0">
                          <a:solidFill>
                            <a:srgbClr val="14313B"/>
                          </a:solidFill>
                          <a:latin typeface="Calibri (MS)"/>
                        </a:rPr>
                        <a:t>110,59631</a:t>
                      </a:r>
                    </a:p>
                  </a:txBody>
                  <a:tcPr marL="73152" marR="73152" marT="36576" marB="36576" anchor="ctr">
                    <a:solidFill>
                      <a:srgbClr val="FFFFFF"/>
                    </a:solidFill>
                  </a:tcPr>
                </a:tc>
                <a:tc>
                  <a:txBody>
                    <a:bodyPr wrap="square"/>
                    <a:lstStyle/>
                    <a:p>
                      <a:pPr algn="ctr"/>
                      <a:r>
                        <a:rPr sz="850" b="0" i="0">
                          <a:solidFill>
                            <a:srgbClr val="14313B"/>
                          </a:solidFill>
                          <a:latin typeface="Calibri (MS)"/>
                        </a:rPr>
                        <a:t>-7,98391</a:t>
                      </a:r>
                    </a:p>
                  </a:txBody>
                  <a:tcPr marL="73152" marR="73152" marT="36576" marB="36576" anchor="ctr">
                    <a:solidFill>
                      <a:srgbClr val="FFFFFF"/>
                    </a:solidFill>
                  </a:tcPr>
                </a:tc>
                <a:tc>
                  <a:txBody>
                    <a:bodyPr wrap="square"/>
                    <a:lstStyle/>
                    <a:p>
                      <a:pPr algn="ctr"/>
                      <a:r>
                        <a:rPr sz="850" b="0" i="0">
                          <a:solidFill>
                            <a:srgbClr val="14313B"/>
                          </a:solidFill>
                          <a:latin typeface="Calibri (MS)"/>
                        </a:rPr>
                        <a:t>0,686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106</a:t>
                      </a:r>
                    </a:p>
                  </a:txBody>
                  <a:tcPr marL="73152" marR="73152" marT="36576" marB="36576" anchor="ctr">
                    <a:solidFill>
                      <a:srgbClr val="EAF8FA"/>
                    </a:solidFill>
                  </a:tcPr>
                </a:tc>
                <a:tc>
                  <a:txBody>
                    <a:bodyPr wrap="square"/>
                    <a:lstStyle/>
                    <a:p>
                      <a:pPr algn="ctr"/>
                      <a:r>
                        <a:rPr sz="850" b="0" i="0">
                          <a:solidFill>
                            <a:srgbClr val="14313B"/>
                          </a:solidFill>
                          <a:latin typeface="Calibri (MS)"/>
                        </a:rPr>
                        <a:t>110,23025</a:t>
                      </a:r>
                    </a:p>
                  </a:txBody>
                  <a:tcPr marL="73152" marR="73152" marT="36576" marB="36576" anchor="ctr">
                    <a:solidFill>
                      <a:srgbClr val="EAF8FA"/>
                    </a:solidFill>
                  </a:tcPr>
                </a:tc>
                <a:tc>
                  <a:txBody>
                    <a:bodyPr wrap="square"/>
                    <a:lstStyle/>
                    <a:p>
                      <a:pPr algn="ctr"/>
                      <a:r>
                        <a:rPr sz="850" b="0" i="0">
                          <a:solidFill>
                            <a:srgbClr val="14313B"/>
                          </a:solidFill>
                          <a:latin typeface="Calibri (MS)"/>
                        </a:rPr>
                        <a:t>-7,94573</a:t>
                      </a:r>
                    </a:p>
                  </a:txBody>
                  <a:tcPr marL="73152" marR="73152" marT="36576" marB="36576" anchor="ctr">
                    <a:solidFill>
                      <a:srgbClr val="EAF8FA"/>
                    </a:solidFill>
                  </a:tcPr>
                </a:tc>
                <a:tc>
                  <a:txBody>
                    <a:bodyPr wrap="square"/>
                    <a:lstStyle/>
                    <a:p>
                      <a:pPr algn="ctr"/>
                      <a:r>
                        <a:rPr sz="850" b="0" i="0">
                          <a:solidFill>
                            <a:srgbClr val="14313B"/>
                          </a:solidFill>
                          <a:latin typeface="Calibri (MS)"/>
                        </a:rPr>
                        <a:t>0,507</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107</a:t>
                      </a:r>
                    </a:p>
                  </a:txBody>
                  <a:tcPr marL="73152" marR="73152" marT="36576" marB="36576" anchor="ctr">
                    <a:solidFill>
                      <a:srgbClr val="FFFFFF"/>
                    </a:solidFill>
                  </a:tcPr>
                </a:tc>
                <a:tc>
                  <a:txBody>
                    <a:bodyPr wrap="square"/>
                    <a:lstStyle/>
                    <a:p>
                      <a:pPr algn="ctr"/>
                      <a:r>
                        <a:rPr sz="850" b="0" i="0">
                          <a:solidFill>
                            <a:srgbClr val="14313B"/>
                          </a:solidFill>
                          <a:latin typeface="Calibri (MS)"/>
                        </a:rPr>
                        <a:t>110,47127</a:t>
                      </a:r>
                    </a:p>
                  </a:txBody>
                  <a:tcPr marL="73152" marR="73152" marT="36576" marB="36576" anchor="ctr">
                    <a:solidFill>
                      <a:srgbClr val="FFFFFF"/>
                    </a:solidFill>
                  </a:tcPr>
                </a:tc>
                <a:tc>
                  <a:txBody>
                    <a:bodyPr wrap="square"/>
                    <a:lstStyle/>
                    <a:p>
                      <a:pPr algn="ctr"/>
                      <a:r>
                        <a:rPr sz="850" b="0" i="0">
                          <a:solidFill>
                            <a:srgbClr val="14313B"/>
                          </a:solidFill>
                          <a:latin typeface="Calibri (MS)"/>
                        </a:rPr>
                        <a:t>-7,82473</a:t>
                      </a:r>
                    </a:p>
                  </a:txBody>
                  <a:tcPr marL="73152" marR="73152" marT="36576" marB="36576" anchor="ctr">
                    <a:solidFill>
                      <a:srgbClr val="FFFFFF"/>
                    </a:solidFill>
                  </a:tcPr>
                </a:tc>
                <a:tc>
                  <a:txBody>
                    <a:bodyPr wrap="square"/>
                    <a:lstStyle/>
                    <a:p>
                      <a:pPr algn="ctr"/>
                      <a:r>
                        <a:rPr sz="850" b="0" i="0">
                          <a:solidFill>
                            <a:srgbClr val="14313B"/>
                          </a:solidFill>
                          <a:latin typeface="Calibri (MS)"/>
                        </a:rPr>
                        <a:t>0,633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108</a:t>
                      </a:r>
                    </a:p>
                  </a:txBody>
                  <a:tcPr marL="73152" marR="73152" marT="36576" marB="36576" anchor="ctr">
                    <a:solidFill>
                      <a:srgbClr val="EAF8FA"/>
                    </a:solidFill>
                  </a:tcPr>
                </a:tc>
                <a:tc>
                  <a:txBody>
                    <a:bodyPr wrap="square"/>
                    <a:lstStyle/>
                    <a:p>
                      <a:pPr algn="ctr"/>
                      <a:r>
                        <a:rPr sz="850" b="0" i="0">
                          <a:solidFill>
                            <a:srgbClr val="14313B"/>
                          </a:solidFill>
                          <a:latin typeface="Calibri (MS)"/>
                        </a:rPr>
                        <a:t>110,45788</a:t>
                      </a:r>
                    </a:p>
                  </a:txBody>
                  <a:tcPr marL="73152" marR="73152" marT="36576" marB="36576" anchor="ctr">
                    <a:solidFill>
                      <a:srgbClr val="EAF8FA"/>
                    </a:solidFill>
                  </a:tcPr>
                </a:tc>
                <a:tc>
                  <a:txBody>
                    <a:bodyPr wrap="square"/>
                    <a:lstStyle/>
                    <a:p>
                      <a:pPr algn="ctr"/>
                      <a:r>
                        <a:rPr sz="850" b="0" i="0">
                          <a:solidFill>
                            <a:srgbClr val="14313B"/>
                          </a:solidFill>
                          <a:latin typeface="Calibri (MS)"/>
                        </a:rPr>
                        <a:t>-7,65189</a:t>
                      </a:r>
                    </a:p>
                  </a:txBody>
                  <a:tcPr marL="73152" marR="73152" marT="36576" marB="36576" anchor="ctr">
                    <a:solidFill>
                      <a:srgbClr val="EAF8FA"/>
                    </a:solidFill>
                  </a:tcPr>
                </a:tc>
                <a:tc>
                  <a:txBody>
                    <a:bodyPr wrap="square"/>
                    <a:lstStyle/>
                    <a:p>
                      <a:pPr algn="ctr"/>
                      <a:r>
                        <a:rPr sz="850" b="0" i="0">
                          <a:solidFill>
                            <a:srgbClr val="14313B"/>
                          </a:solidFill>
                          <a:latin typeface="Calibri (MS)"/>
                        </a:rPr>
                        <a:t>0,635</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109</a:t>
                      </a:r>
                    </a:p>
                  </a:txBody>
                  <a:tcPr marL="73152" marR="73152" marT="36576" marB="36576" anchor="ctr">
                    <a:solidFill>
                      <a:srgbClr val="FFFFFF"/>
                    </a:solidFill>
                  </a:tcPr>
                </a:tc>
                <a:tc>
                  <a:txBody>
                    <a:bodyPr wrap="square"/>
                    <a:lstStyle/>
                    <a:p>
                      <a:pPr algn="ctr"/>
                      <a:r>
                        <a:rPr sz="850" b="0" i="0">
                          <a:solidFill>
                            <a:srgbClr val="14313B"/>
                          </a:solidFill>
                          <a:latin typeface="Calibri (MS)"/>
                        </a:rPr>
                        <a:t>110,41862</a:t>
                      </a:r>
                    </a:p>
                  </a:txBody>
                  <a:tcPr marL="73152" marR="73152" marT="36576" marB="36576" anchor="ctr">
                    <a:solidFill>
                      <a:srgbClr val="FFFFFF"/>
                    </a:solidFill>
                  </a:tcPr>
                </a:tc>
                <a:tc>
                  <a:txBody>
                    <a:bodyPr wrap="square"/>
                    <a:lstStyle/>
                    <a:p>
                      <a:pPr algn="ctr"/>
                      <a:r>
                        <a:rPr sz="850" b="0" i="0">
                          <a:solidFill>
                            <a:srgbClr val="14313B"/>
                          </a:solidFill>
                          <a:latin typeface="Calibri (MS)"/>
                        </a:rPr>
                        <a:t>-7,69771</a:t>
                      </a:r>
                    </a:p>
                  </a:txBody>
                  <a:tcPr marL="73152" marR="73152" marT="36576" marB="36576" anchor="ctr">
                    <a:solidFill>
                      <a:srgbClr val="FFFFFF"/>
                    </a:solidFill>
                  </a:tcPr>
                </a:tc>
                <a:tc>
                  <a:txBody>
                    <a:bodyPr wrap="square"/>
                    <a:lstStyle/>
                    <a:p>
                      <a:pPr algn="ctr"/>
                      <a:r>
                        <a:rPr sz="850" b="0" i="0">
                          <a:solidFill>
                            <a:srgbClr val="14313B"/>
                          </a:solidFill>
                          <a:latin typeface="Calibri (MS)"/>
                        </a:rPr>
                        <a:t>0,724</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110</a:t>
                      </a:r>
                    </a:p>
                  </a:txBody>
                  <a:tcPr marL="73152" marR="73152" marT="36576" marB="36576" anchor="ctr">
                    <a:solidFill>
                      <a:srgbClr val="EAF8FA"/>
                    </a:solidFill>
                  </a:tcPr>
                </a:tc>
                <a:tc>
                  <a:txBody>
                    <a:bodyPr wrap="square"/>
                    <a:lstStyle/>
                    <a:p>
                      <a:pPr algn="ctr"/>
                      <a:r>
                        <a:rPr sz="850" b="0" i="0">
                          <a:solidFill>
                            <a:srgbClr val="14313B"/>
                          </a:solidFill>
                          <a:latin typeface="Calibri (MS)"/>
                        </a:rPr>
                        <a:t>110,37928</a:t>
                      </a:r>
                    </a:p>
                  </a:txBody>
                  <a:tcPr marL="73152" marR="73152" marT="36576" marB="36576" anchor="ctr">
                    <a:solidFill>
                      <a:srgbClr val="EAF8FA"/>
                    </a:solidFill>
                  </a:tcPr>
                </a:tc>
                <a:tc>
                  <a:txBody>
                    <a:bodyPr wrap="square"/>
                    <a:lstStyle/>
                    <a:p>
                      <a:pPr algn="ctr"/>
                      <a:r>
                        <a:rPr sz="850" b="0" i="0">
                          <a:solidFill>
                            <a:srgbClr val="14313B"/>
                          </a:solidFill>
                          <a:latin typeface="Calibri (MS)"/>
                        </a:rPr>
                        <a:t>-7,82940</a:t>
                      </a:r>
                    </a:p>
                  </a:txBody>
                  <a:tcPr marL="73152" marR="73152" marT="36576" marB="36576" anchor="ctr">
                    <a:solidFill>
                      <a:srgbClr val="EAF8FA"/>
                    </a:solidFill>
                  </a:tcPr>
                </a:tc>
                <a:tc>
                  <a:txBody>
                    <a:bodyPr wrap="square"/>
                    <a:lstStyle/>
                    <a:p>
                      <a:pPr algn="ctr"/>
                      <a:r>
                        <a:rPr sz="850" b="0" i="0">
                          <a:solidFill>
                            <a:srgbClr val="14313B"/>
                          </a:solidFill>
                          <a:latin typeface="Calibri (MS)"/>
                        </a:rPr>
                        <a:t>0,713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111</a:t>
                      </a:r>
                    </a:p>
                  </a:txBody>
                  <a:tcPr marL="73152" marR="73152" marT="36576" marB="36576" anchor="ctr">
                    <a:solidFill>
                      <a:srgbClr val="FFFFFF"/>
                    </a:solidFill>
                  </a:tcPr>
                </a:tc>
                <a:tc>
                  <a:txBody>
                    <a:bodyPr wrap="square"/>
                    <a:lstStyle/>
                    <a:p>
                      <a:pPr algn="ctr"/>
                      <a:r>
                        <a:rPr sz="850" b="0" i="0">
                          <a:solidFill>
                            <a:srgbClr val="14313B"/>
                          </a:solidFill>
                          <a:latin typeface="Calibri (MS)"/>
                        </a:rPr>
                        <a:t>110,67725</a:t>
                      </a:r>
                    </a:p>
                  </a:txBody>
                  <a:tcPr marL="73152" marR="73152" marT="36576" marB="36576" anchor="ctr">
                    <a:solidFill>
                      <a:srgbClr val="FFFFFF"/>
                    </a:solidFill>
                  </a:tcPr>
                </a:tc>
                <a:tc>
                  <a:txBody>
                    <a:bodyPr wrap="square"/>
                    <a:lstStyle/>
                    <a:p>
                      <a:pPr algn="ctr"/>
                      <a:r>
                        <a:rPr sz="850" b="0" i="0">
                          <a:solidFill>
                            <a:srgbClr val="14313B"/>
                          </a:solidFill>
                          <a:latin typeface="Calibri (MS)"/>
                        </a:rPr>
                        <a:t>-8,07437</a:t>
                      </a:r>
                    </a:p>
                  </a:txBody>
                  <a:tcPr marL="73152" marR="73152" marT="36576" marB="36576" anchor="ctr">
                    <a:solidFill>
                      <a:srgbClr val="FFFFFF"/>
                    </a:solidFill>
                  </a:tcPr>
                </a:tc>
                <a:tc>
                  <a:txBody>
                    <a:bodyPr wrap="square"/>
                    <a:lstStyle/>
                    <a:p>
                      <a:pPr algn="ctr"/>
                      <a:r>
                        <a:rPr sz="850" b="0" i="0">
                          <a:solidFill>
                            <a:srgbClr val="14313B"/>
                          </a:solidFill>
                          <a:latin typeface="Calibri (MS)"/>
                        </a:rPr>
                        <a:t>0,564</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112</a:t>
                      </a:r>
                    </a:p>
                  </a:txBody>
                  <a:tcPr marL="73152" marR="73152" marT="36576" marB="36576" anchor="ctr">
                    <a:solidFill>
                      <a:srgbClr val="EAF8FA"/>
                    </a:solidFill>
                  </a:tcPr>
                </a:tc>
                <a:tc>
                  <a:txBody>
                    <a:bodyPr wrap="square"/>
                    <a:lstStyle/>
                    <a:p>
                      <a:pPr algn="ctr"/>
                      <a:r>
                        <a:rPr sz="850" b="0" i="0">
                          <a:solidFill>
                            <a:srgbClr val="14313B"/>
                          </a:solidFill>
                          <a:latin typeface="Calibri (MS)"/>
                        </a:rPr>
                        <a:t>110,13997</a:t>
                      </a:r>
                    </a:p>
                  </a:txBody>
                  <a:tcPr marL="73152" marR="73152" marT="36576" marB="36576" anchor="ctr">
                    <a:solidFill>
                      <a:srgbClr val="EAF8FA"/>
                    </a:solidFill>
                  </a:tcPr>
                </a:tc>
                <a:tc>
                  <a:txBody>
                    <a:bodyPr wrap="square"/>
                    <a:lstStyle/>
                    <a:p>
                      <a:pPr algn="ctr"/>
                      <a:r>
                        <a:rPr sz="850" b="0" i="0">
                          <a:solidFill>
                            <a:srgbClr val="14313B"/>
                          </a:solidFill>
                          <a:latin typeface="Calibri (MS)"/>
                        </a:rPr>
                        <a:t>-7,90046</a:t>
                      </a:r>
                    </a:p>
                  </a:txBody>
                  <a:tcPr marL="73152" marR="73152" marT="36576" marB="36576" anchor="ctr">
                    <a:solidFill>
                      <a:srgbClr val="EAF8FA"/>
                    </a:solidFill>
                  </a:tcPr>
                </a:tc>
                <a:tc>
                  <a:txBody>
                    <a:bodyPr wrap="square"/>
                    <a:lstStyle/>
                    <a:p>
                      <a:pPr algn="ctr"/>
                      <a:r>
                        <a:rPr sz="850" b="0" i="0">
                          <a:solidFill>
                            <a:srgbClr val="14313B"/>
                          </a:solidFill>
                          <a:latin typeface="Calibri (MS)"/>
                        </a:rPr>
                        <a:t>0,664</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113</a:t>
                      </a:r>
                    </a:p>
                  </a:txBody>
                  <a:tcPr marL="73152" marR="73152" marT="36576" marB="36576" anchor="ctr">
                    <a:solidFill>
                      <a:srgbClr val="FFFFFF"/>
                    </a:solidFill>
                  </a:tcPr>
                </a:tc>
                <a:tc>
                  <a:txBody>
                    <a:bodyPr wrap="square"/>
                    <a:lstStyle/>
                    <a:p>
                      <a:pPr algn="ctr"/>
                      <a:r>
                        <a:rPr sz="850" b="0" i="0">
                          <a:solidFill>
                            <a:srgbClr val="14313B"/>
                          </a:solidFill>
                          <a:latin typeface="Calibri (MS)"/>
                        </a:rPr>
                        <a:t>110,70267</a:t>
                      </a:r>
                    </a:p>
                  </a:txBody>
                  <a:tcPr marL="73152" marR="73152" marT="36576" marB="36576" anchor="ctr">
                    <a:solidFill>
                      <a:srgbClr val="FFFFFF"/>
                    </a:solidFill>
                  </a:tcPr>
                </a:tc>
                <a:tc>
                  <a:txBody>
                    <a:bodyPr wrap="square"/>
                    <a:lstStyle/>
                    <a:p>
                      <a:pPr algn="ctr"/>
                      <a:r>
                        <a:rPr sz="850" b="0" i="0">
                          <a:solidFill>
                            <a:srgbClr val="14313B"/>
                          </a:solidFill>
                          <a:latin typeface="Calibri (MS)"/>
                        </a:rPr>
                        <a:t>-7,81988</a:t>
                      </a:r>
                    </a:p>
                  </a:txBody>
                  <a:tcPr marL="73152" marR="73152" marT="36576" marB="36576" anchor="ctr">
                    <a:solidFill>
                      <a:srgbClr val="FFFFFF"/>
                    </a:solidFill>
                  </a:tcPr>
                </a:tc>
                <a:tc>
                  <a:txBody>
                    <a:bodyPr wrap="square"/>
                    <a:lstStyle/>
                    <a:p>
                      <a:pPr algn="ctr"/>
                      <a:r>
                        <a:rPr sz="850" b="0" i="0">
                          <a:solidFill>
                            <a:srgbClr val="14313B"/>
                          </a:solidFill>
                          <a:latin typeface="Calibri (MS)"/>
                        </a:rPr>
                        <a:t>0,593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114</a:t>
                      </a:r>
                    </a:p>
                  </a:txBody>
                  <a:tcPr marL="73152" marR="73152" marT="36576" marB="36576" anchor="ctr">
                    <a:solidFill>
                      <a:srgbClr val="EAF8FA"/>
                    </a:solidFill>
                  </a:tcPr>
                </a:tc>
                <a:tc>
                  <a:txBody>
                    <a:bodyPr wrap="square"/>
                    <a:lstStyle/>
                    <a:p>
                      <a:pPr algn="ctr"/>
                      <a:r>
                        <a:rPr sz="850" b="0" i="0">
                          <a:solidFill>
                            <a:srgbClr val="14313B"/>
                          </a:solidFill>
                          <a:latin typeface="Calibri (MS)"/>
                        </a:rPr>
                        <a:t>110,44009</a:t>
                      </a:r>
                    </a:p>
                  </a:txBody>
                  <a:tcPr marL="73152" marR="73152" marT="36576" marB="36576" anchor="ctr">
                    <a:solidFill>
                      <a:srgbClr val="EAF8FA"/>
                    </a:solidFill>
                  </a:tcPr>
                </a:tc>
                <a:tc>
                  <a:txBody>
                    <a:bodyPr wrap="square"/>
                    <a:lstStyle/>
                    <a:p>
                      <a:pPr algn="ctr"/>
                      <a:r>
                        <a:rPr sz="850" b="0" i="0">
                          <a:solidFill>
                            <a:srgbClr val="14313B"/>
                          </a:solidFill>
                          <a:latin typeface="Calibri (MS)"/>
                        </a:rPr>
                        <a:t>-7,75951</a:t>
                      </a:r>
                    </a:p>
                  </a:txBody>
                  <a:tcPr marL="73152" marR="73152" marT="36576" marB="36576" anchor="ctr">
                    <a:solidFill>
                      <a:srgbClr val="EAF8FA"/>
                    </a:solidFill>
                  </a:tcPr>
                </a:tc>
                <a:tc>
                  <a:txBody>
                    <a:bodyPr wrap="square"/>
                    <a:lstStyle/>
                    <a:p>
                      <a:pPr algn="ctr"/>
                      <a:r>
                        <a:rPr sz="850" b="0" i="0">
                          <a:solidFill>
                            <a:srgbClr val="14313B"/>
                          </a:solidFill>
                          <a:latin typeface="Calibri (MS)"/>
                        </a:rPr>
                        <a:t>0,720</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115</a:t>
                      </a:r>
                    </a:p>
                  </a:txBody>
                  <a:tcPr marL="73152" marR="73152" marT="36576" marB="36576" anchor="ctr">
                    <a:solidFill>
                      <a:srgbClr val="FFFFFF"/>
                    </a:solidFill>
                  </a:tcPr>
                </a:tc>
                <a:tc>
                  <a:txBody>
                    <a:bodyPr wrap="square"/>
                    <a:lstStyle/>
                    <a:p>
                      <a:pPr algn="ctr"/>
                      <a:r>
                        <a:rPr sz="850" b="0" i="0">
                          <a:solidFill>
                            <a:srgbClr val="14313B"/>
                          </a:solidFill>
                          <a:latin typeface="Calibri (MS)"/>
                        </a:rPr>
                        <a:t>110,30651</a:t>
                      </a:r>
                    </a:p>
                  </a:txBody>
                  <a:tcPr marL="73152" marR="73152" marT="36576" marB="36576" anchor="ctr">
                    <a:solidFill>
                      <a:srgbClr val="FFFFFF"/>
                    </a:solidFill>
                  </a:tcPr>
                </a:tc>
                <a:tc>
                  <a:txBody>
                    <a:bodyPr wrap="square"/>
                    <a:lstStyle/>
                    <a:p>
                      <a:pPr algn="ctr"/>
                      <a:r>
                        <a:rPr sz="850" b="0" i="0">
                          <a:solidFill>
                            <a:srgbClr val="14313B"/>
                          </a:solidFill>
                          <a:latin typeface="Calibri (MS)"/>
                        </a:rPr>
                        <a:t>-7,76284</a:t>
                      </a:r>
                    </a:p>
                  </a:txBody>
                  <a:tcPr marL="73152" marR="73152" marT="36576" marB="36576" anchor="ctr">
                    <a:solidFill>
                      <a:srgbClr val="FFFFFF"/>
                    </a:solidFill>
                  </a:tcPr>
                </a:tc>
                <a:tc>
                  <a:txBody>
                    <a:bodyPr wrap="square"/>
                    <a:lstStyle/>
                    <a:p>
                      <a:pPr algn="ctr"/>
                      <a:r>
                        <a:rPr sz="850" b="0" i="0">
                          <a:solidFill>
                            <a:srgbClr val="14313B"/>
                          </a:solidFill>
                          <a:latin typeface="Calibri (MS)"/>
                        </a:rPr>
                        <a:t>0,605</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116</a:t>
                      </a:r>
                    </a:p>
                  </a:txBody>
                  <a:tcPr marL="73152" marR="73152" marT="36576" marB="36576" anchor="ctr">
                    <a:solidFill>
                      <a:srgbClr val="EAF8FA"/>
                    </a:solidFill>
                  </a:tcPr>
                </a:tc>
                <a:tc>
                  <a:txBody>
                    <a:bodyPr wrap="square"/>
                    <a:lstStyle/>
                    <a:p>
                      <a:pPr algn="ctr"/>
                      <a:r>
                        <a:rPr sz="850" b="0" i="0">
                          <a:solidFill>
                            <a:srgbClr val="14313B"/>
                          </a:solidFill>
                          <a:latin typeface="Calibri (MS)"/>
                        </a:rPr>
                        <a:t>110,39554</a:t>
                      </a:r>
                    </a:p>
                  </a:txBody>
                  <a:tcPr marL="73152" marR="73152" marT="36576" marB="36576" anchor="ctr">
                    <a:solidFill>
                      <a:srgbClr val="EAF8FA"/>
                    </a:solidFill>
                  </a:tcPr>
                </a:tc>
                <a:tc>
                  <a:txBody>
                    <a:bodyPr wrap="square"/>
                    <a:lstStyle/>
                    <a:p>
                      <a:pPr algn="ctr"/>
                      <a:r>
                        <a:rPr sz="850" b="0" i="0">
                          <a:solidFill>
                            <a:srgbClr val="14313B"/>
                          </a:solidFill>
                          <a:latin typeface="Calibri (MS)"/>
                        </a:rPr>
                        <a:t>-7,80362</a:t>
                      </a:r>
                    </a:p>
                  </a:txBody>
                  <a:tcPr marL="73152" marR="73152" marT="36576" marB="36576" anchor="ctr">
                    <a:solidFill>
                      <a:srgbClr val="EAF8FA"/>
                    </a:solidFill>
                  </a:tcPr>
                </a:tc>
                <a:tc>
                  <a:txBody>
                    <a:bodyPr wrap="square"/>
                    <a:lstStyle/>
                    <a:p>
                      <a:pPr algn="ctr"/>
                      <a:r>
                        <a:rPr sz="850" b="0" i="0">
                          <a:solidFill>
                            <a:srgbClr val="14313B"/>
                          </a:solidFill>
                          <a:latin typeface="Calibri (MS)"/>
                        </a:rPr>
                        <a:t>0,708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117</a:t>
                      </a:r>
                    </a:p>
                  </a:txBody>
                  <a:tcPr marL="73152" marR="73152" marT="36576" marB="36576" anchor="ctr">
                    <a:solidFill>
                      <a:srgbClr val="FFFFFF"/>
                    </a:solidFill>
                  </a:tcPr>
                </a:tc>
                <a:tc>
                  <a:txBody>
                    <a:bodyPr wrap="square"/>
                    <a:lstStyle/>
                    <a:p>
                      <a:pPr algn="ctr"/>
                      <a:r>
                        <a:rPr sz="850" b="0" i="0">
                          <a:solidFill>
                            <a:srgbClr val="14313B"/>
                          </a:solidFill>
                          <a:latin typeface="Calibri (MS)"/>
                        </a:rPr>
                        <a:t>110,34613</a:t>
                      </a:r>
                    </a:p>
                  </a:txBody>
                  <a:tcPr marL="73152" marR="73152" marT="36576" marB="36576" anchor="ctr">
                    <a:solidFill>
                      <a:srgbClr val="FFFFFF"/>
                    </a:solidFill>
                  </a:tcPr>
                </a:tc>
                <a:tc>
                  <a:txBody>
                    <a:bodyPr wrap="square"/>
                    <a:lstStyle/>
                    <a:p>
                      <a:pPr algn="ctr"/>
                      <a:r>
                        <a:rPr sz="850" b="0" i="0">
                          <a:solidFill>
                            <a:srgbClr val="14313B"/>
                          </a:solidFill>
                          <a:latin typeface="Calibri (MS)"/>
                        </a:rPr>
                        <a:t>-7,76823</a:t>
                      </a:r>
                    </a:p>
                  </a:txBody>
                  <a:tcPr marL="73152" marR="73152" marT="36576" marB="36576" anchor="ctr">
                    <a:solidFill>
                      <a:srgbClr val="FFFFFF"/>
                    </a:solidFill>
                  </a:tcPr>
                </a:tc>
                <a:tc>
                  <a:txBody>
                    <a:bodyPr wrap="square"/>
                    <a:lstStyle/>
                    <a:p>
                      <a:pPr algn="ctr"/>
                      <a:r>
                        <a:rPr sz="850" b="0" i="0">
                          <a:solidFill>
                            <a:srgbClr val="14313B"/>
                          </a:solidFill>
                          <a:latin typeface="Calibri (MS)"/>
                        </a:rPr>
                        <a:t>0,723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118</a:t>
                      </a:r>
                    </a:p>
                  </a:txBody>
                  <a:tcPr marL="73152" marR="73152" marT="36576" marB="36576" anchor="ctr">
                    <a:solidFill>
                      <a:srgbClr val="EAF8FA"/>
                    </a:solidFill>
                  </a:tcPr>
                </a:tc>
                <a:tc>
                  <a:txBody>
                    <a:bodyPr wrap="square"/>
                    <a:lstStyle/>
                    <a:p>
                      <a:pPr algn="ctr"/>
                      <a:r>
                        <a:rPr sz="850" b="0" i="0">
                          <a:solidFill>
                            <a:srgbClr val="14313B"/>
                          </a:solidFill>
                          <a:latin typeface="Calibri (MS)"/>
                        </a:rPr>
                        <a:t>110,27426</a:t>
                      </a:r>
                    </a:p>
                  </a:txBody>
                  <a:tcPr marL="73152" marR="73152" marT="36576" marB="36576" anchor="ctr">
                    <a:solidFill>
                      <a:srgbClr val="EAF8FA"/>
                    </a:solidFill>
                  </a:tcPr>
                </a:tc>
                <a:tc>
                  <a:txBody>
                    <a:bodyPr wrap="square"/>
                    <a:lstStyle/>
                    <a:p>
                      <a:pPr algn="ctr"/>
                      <a:r>
                        <a:rPr sz="850" b="0" i="0">
                          <a:solidFill>
                            <a:srgbClr val="14313B"/>
                          </a:solidFill>
                          <a:latin typeface="Calibri (MS)"/>
                        </a:rPr>
                        <a:t>-7,81530</a:t>
                      </a:r>
                    </a:p>
                  </a:txBody>
                  <a:tcPr marL="73152" marR="73152" marT="36576" marB="36576" anchor="ctr">
                    <a:solidFill>
                      <a:srgbClr val="EAF8FA"/>
                    </a:solidFill>
                  </a:tcPr>
                </a:tc>
                <a:tc>
                  <a:txBody>
                    <a:bodyPr wrap="square"/>
                    <a:lstStyle/>
                    <a:p>
                      <a:pPr algn="ctr"/>
                      <a:r>
                        <a:rPr sz="850" b="0" i="0">
                          <a:solidFill>
                            <a:srgbClr val="14313B"/>
                          </a:solidFill>
                          <a:latin typeface="Calibri (MS)"/>
                        </a:rPr>
                        <a:t>0,538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119</a:t>
                      </a:r>
                    </a:p>
                  </a:txBody>
                  <a:tcPr marL="73152" marR="73152" marT="36576" marB="36576" anchor="ctr">
                    <a:solidFill>
                      <a:srgbClr val="FFFFFF"/>
                    </a:solidFill>
                  </a:tcPr>
                </a:tc>
                <a:tc>
                  <a:txBody>
                    <a:bodyPr wrap="square"/>
                    <a:lstStyle/>
                    <a:p>
                      <a:pPr algn="ctr"/>
                      <a:r>
                        <a:rPr sz="850" b="0" i="0">
                          <a:solidFill>
                            <a:srgbClr val="14313B"/>
                          </a:solidFill>
                          <a:latin typeface="Calibri (MS)"/>
                        </a:rPr>
                        <a:t>110,40542</a:t>
                      </a:r>
                    </a:p>
                  </a:txBody>
                  <a:tcPr marL="73152" marR="73152" marT="36576" marB="36576" anchor="ctr">
                    <a:solidFill>
                      <a:srgbClr val="FFFFFF"/>
                    </a:solidFill>
                  </a:tcPr>
                </a:tc>
                <a:tc>
                  <a:txBody>
                    <a:bodyPr wrap="square"/>
                    <a:lstStyle/>
                    <a:p>
                      <a:pPr algn="ctr"/>
                      <a:r>
                        <a:rPr sz="850" b="0" i="0">
                          <a:solidFill>
                            <a:srgbClr val="14313B"/>
                          </a:solidFill>
                          <a:latin typeface="Calibri (MS)"/>
                        </a:rPr>
                        <a:t>-7,72610</a:t>
                      </a:r>
                    </a:p>
                  </a:txBody>
                  <a:tcPr marL="73152" marR="73152" marT="36576" marB="36576" anchor="ctr">
                    <a:solidFill>
                      <a:srgbClr val="FFFFFF"/>
                    </a:solidFill>
                  </a:tcPr>
                </a:tc>
                <a:tc>
                  <a:txBody>
                    <a:bodyPr wrap="square"/>
                    <a:lstStyle/>
                    <a:p>
                      <a:pPr algn="ctr"/>
                      <a:r>
                        <a:rPr sz="850" b="0" i="0">
                          <a:solidFill>
                            <a:srgbClr val="14313B"/>
                          </a:solidFill>
                          <a:latin typeface="Calibri (MS)"/>
                        </a:rPr>
                        <a:t>0,637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120</a:t>
                      </a:r>
                    </a:p>
                  </a:txBody>
                  <a:tcPr marL="73152" marR="73152" marT="36576" marB="36576" anchor="ctr">
                    <a:solidFill>
                      <a:srgbClr val="EAF8FA"/>
                    </a:solidFill>
                  </a:tcPr>
                </a:tc>
                <a:tc>
                  <a:txBody>
                    <a:bodyPr wrap="square"/>
                    <a:lstStyle/>
                    <a:p>
                      <a:pPr algn="ctr"/>
                      <a:r>
                        <a:rPr sz="850" b="0" i="0">
                          <a:solidFill>
                            <a:srgbClr val="14313B"/>
                          </a:solidFill>
                          <a:latin typeface="Calibri (MS)"/>
                        </a:rPr>
                        <a:t>110,31918</a:t>
                      </a:r>
                    </a:p>
                  </a:txBody>
                  <a:tcPr marL="73152" marR="73152" marT="36576" marB="36576" anchor="ctr">
                    <a:solidFill>
                      <a:srgbClr val="EAF8FA"/>
                    </a:solidFill>
                  </a:tcPr>
                </a:tc>
                <a:tc>
                  <a:txBody>
                    <a:bodyPr wrap="square"/>
                    <a:lstStyle/>
                    <a:p>
                      <a:pPr algn="ctr"/>
                      <a:r>
                        <a:rPr sz="850" b="0" i="0">
                          <a:solidFill>
                            <a:srgbClr val="14313B"/>
                          </a:solidFill>
                          <a:latin typeface="Calibri (MS)"/>
                        </a:rPr>
                        <a:t>-7,75969</a:t>
                      </a:r>
                    </a:p>
                  </a:txBody>
                  <a:tcPr marL="73152" marR="73152" marT="36576" marB="36576" anchor="ctr">
                    <a:solidFill>
                      <a:srgbClr val="EAF8FA"/>
                    </a:solidFill>
                  </a:tcPr>
                </a:tc>
                <a:tc>
                  <a:txBody>
                    <a:bodyPr wrap="square"/>
                    <a:lstStyle/>
                    <a:p>
                      <a:pPr algn="ctr"/>
                      <a:r>
                        <a:rPr sz="850" b="0" i="0">
                          <a:solidFill>
                            <a:srgbClr val="14313B"/>
                          </a:solidFill>
                          <a:latin typeface="Calibri (MS)"/>
                        </a:rPr>
                        <a:t>0,658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121</a:t>
                      </a:r>
                    </a:p>
                  </a:txBody>
                  <a:tcPr marL="73152" marR="73152" marT="36576" marB="36576" anchor="ctr">
                    <a:solidFill>
                      <a:srgbClr val="FFFFFF"/>
                    </a:solidFill>
                  </a:tcPr>
                </a:tc>
                <a:tc>
                  <a:txBody>
                    <a:bodyPr wrap="square"/>
                    <a:lstStyle/>
                    <a:p>
                      <a:pPr algn="ctr"/>
                      <a:r>
                        <a:rPr sz="850" b="0" i="0">
                          <a:solidFill>
                            <a:srgbClr val="14313B"/>
                          </a:solidFill>
                          <a:latin typeface="Calibri (MS)"/>
                        </a:rPr>
                        <a:t>110,59371</a:t>
                      </a:r>
                    </a:p>
                  </a:txBody>
                  <a:tcPr marL="73152" marR="73152" marT="36576" marB="36576" anchor="ctr">
                    <a:solidFill>
                      <a:srgbClr val="FFFFFF"/>
                    </a:solidFill>
                  </a:tcPr>
                </a:tc>
                <a:tc>
                  <a:txBody>
                    <a:bodyPr wrap="square"/>
                    <a:lstStyle/>
                    <a:p>
                      <a:pPr algn="ctr"/>
                      <a:r>
                        <a:rPr sz="850" b="0" i="0">
                          <a:solidFill>
                            <a:srgbClr val="14313B"/>
                          </a:solidFill>
                          <a:latin typeface="Calibri (MS)"/>
                        </a:rPr>
                        <a:t>-7,95732</a:t>
                      </a:r>
                    </a:p>
                  </a:txBody>
                  <a:tcPr marL="73152" marR="73152" marT="36576" marB="36576" anchor="ctr">
                    <a:solidFill>
                      <a:srgbClr val="FFFFFF"/>
                    </a:solidFill>
                  </a:tcPr>
                </a:tc>
                <a:tc>
                  <a:txBody>
                    <a:bodyPr wrap="square"/>
                    <a:lstStyle/>
                    <a:p>
                      <a:pPr algn="ctr"/>
                      <a:r>
                        <a:rPr sz="850" b="0" i="0">
                          <a:solidFill>
                            <a:srgbClr val="14313B"/>
                          </a:solidFill>
                          <a:latin typeface="Calibri (MS)"/>
                        </a:rPr>
                        <a:t>0,625</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122</a:t>
                      </a:r>
                    </a:p>
                  </a:txBody>
                  <a:tcPr marL="73152" marR="73152" marT="36576" marB="36576" anchor="ctr">
                    <a:solidFill>
                      <a:srgbClr val="EAF8FA"/>
                    </a:solidFill>
                  </a:tcPr>
                </a:tc>
                <a:tc>
                  <a:txBody>
                    <a:bodyPr wrap="square"/>
                    <a:lstStyle/>
                    <a:p>
                      <a:pPr algn="ctr"/>
                      <a:r>
                        <a:rPr sz="850" b="0" i="0">
                          <a:solidFill>
                            <a:srgbClr val="14313B"/>
                          </a:solidFill>
                          <a:latin typeface="Calibri (MS)"/>
                        </a:rPr>
                        <a:t>110,63251</a:t>
                      </a:r>
                    </a:p>
                  </a:txBody>
                  <a:tcPr marL="73152" marR="73152" marT="36576" marB="36576" anchor="ctr">
                    <a:solidFill>
                      <a:srgbClr val="EAF8FA"/>
                    </a:solidFill>
                  </a:tcPr>
                </a:tc>
                <a:tc>
                  <a:txBody>
                    <a:bodyPr wrap="square"/>
                    <a:lstStyle/>
                    <a:p>
                      <a:pPr algn="ctr"/>
                      <a:r>
                        <a:rPr sz="850" b="0" i="0">
                          <a:solidFill>
                            <a:srgbClr val="14313B"/>
                          </a:solidFill>
                          <a:latin typeface="Calibri (MS)"/>
                        </a:rPr>
                        <a:t>-7,96172</a:t>
                      </a:r>
                    </a:p>
                  </a:txBody>
                  <a:tcPr marL="73152" marR="73152" marT="36576" marB="36576" anchor="ctr">
                    <a:solidFill>
                      <a:srgbClr val="EAF8FA"/>
                    </a:solidFill>
                  </a:tcPr>
                </a:tc>
                <a:tc>
                  <a:txBody>
                    <a:bodyPr wrap="square"/>
                    <a:lstStyle/>
                    <a:p>
                      <a:pPr algn="ctr"/>
                      <a:r>
                        <a:rPr sz="850" b="0" i="0">
                          <a:solidFill>
                            <a:srgbClr val="14313B"/>
                          </a:solidFill>
                          <a:latin typeface="Calibri (MS)"/>
                        </a:rPr>
                        <a:t>0,542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123</a:t>
                      </a:r>
                    </a:p>
                  </a:txBody>
                  <a:tcPr marL="73152" marR="73152" marT="36576" marB="36576" anchor="ctr">
                    <a:solidFill>
                      <a:srgbClr val="FFFFFF"/>
                    </a:solidFill>
                  </a:tcPr>
                </a:tc>
                <a:tc>
                  <a:txBody>
                    <a:bodyPr wrap="square"/>
                    <a:lstStyle/>
                    <a:p>
                      <a:pPr algn="ctr"/>
                      <a:r>
                        <a:rPr sz="850" b="0" i="0">
                          <a:solidFill>
                            <a:srgbClr val="14313B"/>
                          </a:solidFill>
                          <a:latin typeface="Calibri (MS)"/>
                        </a:rPr>
                        <a:t>110,46614</a:t>
                      </a:r>
                    </a:p>
                  </a:txBody>
                  <a:tcPr marL="73152" marR="73152" marT="36576" marB="36576" anchor="ctr">
                    <a:solidFill>
                      <a:srgbClr val="FFFFFF"/>
                    </a:solidFill>
                  </a:tcPr>
                </a:tc>
                <a:tc>
                  <a:txBody>
                    <a:bodyPr wrap="square"/>
                    <a:lstStyle/>
                    <a:p>
                      <a:pPr algn="ctr"/>
                      <a:r>
                        <a:rPr sz="850" b="0" i="0">
                          <a:solidFill>
                            <a:srgbClr val="14313B"/>
                          </a:solidFill>
                          <a:latin typeface="Calibri (MS)"/>
                        </a:rPr>
                        <a:t>-7,94439</a:t>
                      </a:r>
                    </a:p>
                  </a:txBody>
                  <a:tcPr marL="73152" marR="73152" marT="36576" marB="36576" anchor="ctr">
                    <a:solidFill>
                      <a:srgbClr val="FFFFFF"/>
                    </a:solidFill>
                  </a:tcPr>
                </a:tc>
                <a:tc>
                  <a:txBody>
                    <a:bodyPr wrap="square"/>
                    <a:lstStyle/>
                    <a:p>
                      <a:pPr algn="ctr"/>
                      <a:r>
                        <a:rPr sz="850" b="0" i="0">
                          <a:solidFill>
                            <a:srgbClr val="14313B"/>
                          </a:solidFill>
                          <a:latin typeface="Calibri (MS)"/>
                        </a:rPr>
                        <a:t>0,529</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124</a:t>
                      </a:r>
                    </a:p>
                  </a:txBody>
                  <a:tcPr marL="73152" marR="73152" marT="36576" marB="36576" anchor="ctr">
                    <a:solidFill>
                      <a:srgbClr val="EAF8FA"/>
                    </a:solidFill>
                  </a:tcPr>
                </a:tc>
                <a:tc>
                  <a:txBody>
                    <a:bodyPr wrap="square"/>
                    <a:lstStyle/>
                    <a:p>
                      <a:pPr algn="ctr"/>
                      <a:r>
                        <a:rPr sz="850" b="0" i="0">
                          <a:solidFill>
                            <a:srgbClr val="14313B"/>
                          </a:solidFill>
                          <a:latin typeface="Calibri (MS)"/>
                        </a:rPr>
                        <a:t>110,43794</a:t>
                      </a:r>
                    </a:p>
                  </a:txBody>
                  <a:tcPr marL="73152" marR="73152" marT="36576" marB="36576" anchor="ctr">
                    <a:solidFill>
                      <a:srgbClr val="EAF8FA"/>
                    </a:solidFill>
                  </a:tcPr>
                </a:tc>
                <a:tc>
                  <a:txBody>
                    <a:bodyPr wrap="square"/>
                    <a:lstStyle/>
                    <a:p>
                      <a:pPr algn="ctr"/>
                      <a:r>
                        <a:rPr sz="850" b="0" i="0">
                          <a:solidFill>
                            <a:srgbClr val="14313B"/>
                          </a:solidFill>
                          <a:latin typeface="Calibri (MS)"/>
                        </a:rPr>
                        <a:t>-7,66402</a:t>
                      </a:r>
                    </a:p>
                  </a:txBody>
                  <a:tcPr marL="73152" marR="73152" marT="36576" marB="36576" anchor="ctr">
                    <a:solidFill>
                      <a:srgbClr val="EAF8FA"/>
                    </a:solidFill>
                  </a:tcPr>
                </a:tc>
                <a:tc>
                  <a:txBody>
                    <a:bodyPr wrap="square"/>
                    <a:lstStyle/>
                    <a:p>
                      <a:pPr algn="ctr"/>
                      <a:r>
                        <a:rPr sz="850" b="0" i="0">
                          <a:solidFill>
                            <a:srgbClr val="14313B"/>
                          </a:solidFill>
                          <a:latin typeface="Calibri (MS)"/>
                        </a:rPr>
                        <a:t>0,717</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125</a:t>
                      </a:r>
                    </a:p>
                  </a:txBody>
                  <a:tcPr marL="73152" marR="73152" marT="36576" marB="36576" anchor="ctr">
                    <a:solidFill>
                      <a:srgbClr val="FFFFFF"/>
                    </a:solidFill>
                  </a:tcPr>
                </a:tc>
                <a:tc>
                  <a:txBody>
                    <a:bodyPr wrap="square"/>
                    <a:lstStyle/>
                    <a:p>
                      <a:pPr algn="ctr"/>
                      <a:r>
                        <a:rPr sz="850" b="0" i="0">
                          <a:solidFill>
                            <a:srgbClr val="14313B"/>
                          </a:solidFill>
                          <a:latin typeface="Calibri (MS)"/>
                        </a:rPr>
                        <a:t>110,37254</a:t>
                      </a:r>
                    </a:p>
                  </a:txBody>
                  <a:tcPr marL="73152" marR="73152" marT="36576" marB="36576" anchor="ctr">
                    <a:solidFill>
                      <a:srgbClr val="FFFFFF"/>
                    </a:solidFill>
                  </a:tcPr>
                </a:tc>
                <a:tc>
                  <a:txBody>
                    <a:bodyPr wrap="square"/>
                    <a:lstStyle/>
                    <a:p>
                      <a:pPr algn="ctr"/>
                      <a:r>
                        <a:rPr sz="850" b="0" i="0">
                          <a:solidFill>
                            <a:srgbClr val="14313B"/>
                          </a:solidFill>
                          <a:latin typeface="Calibri (MS)"/>
                        </a:rPr>
                        <a:t>-7,86093</a:t>
                      </a:r>
                    </a:p>
                  </a:txBody>
                  <a:tcPr marL="73152" marR="73152" marT="36576" marB="36576" anchor="ctr">
                    <a:solidFill>
                      <a:srgbClr val="FFFFFF"/>
                    </a:solidFill>
                  </a:tcPr>
                </a:tc>
                <a:tc>
                  <a:txBody>
                    <a:bodyPr wrap="square"/>
                    <a:lstStyle/>
                    <a:p>
                      <a:pPr algn="ctr"/>
                      <a:r>
                        <a:rPr sz="850" b="0" i="0">
                          <a:solidFill>
                            <a:srgbClr val="14313B"/>
                          </a:solidFill>
                          <a:latin typeface="Calibri (MS)"/>
                        </a:rPr>
                        <a:t>0,640</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graphicFrame>
        <p:nvGraphicFramePr>
          <p:cNvPr id="28" name="Table 27"/>
          <p:cNvGraphicFramePr>
            <a:graphicFrameLocks noGrp="1"/>
          </p:cNvGraphicFramePr>
          <p:nvPr/>
        </p:nvGraphicFramePr>
        <p:xfrm>
          <a:off x="923544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126</a:t>
                      </a:r>
                    </a:p>
                  </a:txBody>
                  <a:tcPr marL="73152" marR="73152" marT="36576" marB="36576" anchor="ctr">
                    <a:solidFill>
                      <a:srgbClr val="FFFFFF"/>
                    </a:solidFill>
                  </a:tcPr>
                </a:tc>
                <a:tc>
                  <a:txBody>
                    <a:bodyPr wrap="square"/>
                    <a:lstStyle/>
                    <a:p>
                      <a:pPr algn="ctr"/>
                      <a:r>
                        <a:rPr sz="850" b="0" i="0">
                          <a:solidFill>
                            <a:srgbClr val="14313B"/>
                          </a:solidFill>
                          <a:latin typeface="Calibri (MS)"/>
                        </a:rPr>
                        <a:t>110,36176</a:t>
                      </a:r>
                    </a:p>
                  </a:txBody>
                  <a:tcPr marL="73152" marR="73152" marT="36576" marB="36576" anchor="ctr">
                    <a:solidFill>
                      <a:srgbClr val="FFFFFF"/>
                    </a:solidFill>
                  </a:tcPr>
                </a:tc>
                <a:tc>
                  <a:txBody>
                    <a:bodyPr wrap="square"/>
                    <a:lstStyle/>
                    <a:p>
                      <a:pPr algn="ctr"/>
                      <a:r>
                        <a:rPr sz="850" b="0" i="0">
                          <a:solidFill>
                            <a:srgbClr val="14313B"/>
                          </a:solidFill>
                          <a:latin typeface="Calibri (MS)"/>
                        </a:rPr>
                        <a:t>-7,81638</a:t>
                      </a:r>
                    </a:p>
                  </a:txBody>
                  <a:tcPr marL="73152" marR="73152" marT="36576" marB="36576" anchor="ctr">
                    <a:solidFill>
                      <a:srgbClr val="FFFFFF"/>
                    </a:solidFill>
                  </a:tcPr>
                </a:tc>
                <a:tc>
                  <a:txBody>
                    <a:bodyPr wrap="square"/>
                    <a:lstStyle/>
                    <a:p>
                      <a:pPr algn="ctr"/>
                      <a:r>
                        <a:rPr sz="850" b="0" i="0">
                          <a:solidFill>
                            <a:srgbClr val="14313B"/>
                          </a:solidFill>
                          <a:latin typeface="Calibri (MS)"/>
                        </a:rPr>
                        <a:t>0,724</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127</a:t>
                      </a:r>
                    </a:p>
                  </a:txBody>
                  <a:tcPr marL="73152" marR="73152" marT="36576" marB="36576" anchor="ctr">
                    <a:solidFill>
                      <a:srgbClr val="EAF8FA"/>
                    </a:solidFill>
                  </a:tcPr>
                </a:tc>
                <a:tc>
                  <a:txBody>
                    <a:bodyPr wrap="square"/>
                    <a:lstStyle/>
                    <a:p>
                      <a:pPr algn="ctr"/>
                      <a:r>
                        <a:rPr sz="850" b="0" i="0">
                          <a:solidFill>
                            <a:srgbClr val="14313B"/>
                          </a:solidFill>
                          <a:latin typeface="Calibri (MS)"/>
                        </a:rPr>
                        <a:t>110,57511</a:t>
                      </a:r>
                    </a:p>
                  </a:txBody>
                  <a:tcPr marL="73152" marR="73152" marT="36576" marB="36576" anchor="ctr">
                    <a:solidFill>
                      <a:srgbClr val="EAF8FA"/>
                    </a:solidFill>
                  </a:tcPr>
                </a:tc>
                <a:tc>
                  <a:txBody>
                    <a:bodyPr wrap="square"/>
                    <a:lstStyle/>
                    <a:p>
                      <a:pPr algn="ctr"/>
                      <a:r>
                        <a:rPr sz="850" b="0" i="0">
                          <a:solidFill>
                            <a:srgbClr val="14313B"/>
                          </a:solidFill>
                          <a:latin typeface="Calibri (MS)"/>
                        </a:rPr>
                        <a:t>-7,98804</a:t>
                      </a:r>
                    </a:p>
                  </a:txBody>
                  <a:tcPr marL="73152" marR="73152" marT="36576" marB="36576" anchor="ctr">
                    <a:solidFill>
                      <a:srgbClr val="EAF8FA"/>
                    </a:solidFill>
                  </a:tcPr>
                </a:tc>
                <a:tc>
                  <a:txBody>
                    <a:bodyPr wrap="square"/>
                    <a:lstStyle/>
                    <a:p>
                      <a:pPr algn="ctr"/>
                      <a:r>
                        <a:rPr sz="850" b="0" i="0">
                          <a:solidFill>
                            <a:srgbClr val="14313B"/>
                          </a:solidFill>
                          <a:latin typeface="Calibri (MS)"/>
                        </a:rPr>
                        <a:t>0,518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128</a:t>
                      </a:r>
                    </a:p>
                  </a:txBody>
                  <a:tcPr marL="73152" marR="73152" marT="36576" marB="36576" anchor="ctr">
                    <a:solidFill>
                      <a:srgbClr val="FFFFFF"/>
                    </a:solidFill>
                  </a:tcPr>
                </a:tc>
                <a:tc>
                  <a:txBody>
                    <a:bodyPr wrap="square"/>
                    <a:lstStyle/>
                    <a:p>
                      <a:pPr algn="ctr"/>
                      <a:r>
                        <a:rPr sz="850" b="0" i="0">
                          <a:solidFill>
                            <a:srgbClr val="14313B"/>
                          </a:solidFill>
                          <a:latin typeface="Calibri (MS)"/>
                        </a:rPr>
                        <a:t>110,38808</a:t>
                      </a:r>
                    </a:p>
                  </a:txBody>
                  <a:tcPr marL="73152" marR="73152" marT="36576" marB="36576" anchor="ctr">
                    <a:solidFill>
                      <a:srgbClr val="FFFFFF"/>
                    </a:solidFill>
                  </a:tcPr>
                </a:tc>
                <a:tc>
                  <a:txBody>
                    <a:bodyPr wrap="square"/>
                    <a:lstStyle/>
                    <a:p>
                      <a:pPr algn="ctr"/>
                      <a:r>
                        <a:rPr sz="850" b="0" i="0">
                          <a:solidFill>
                            <a:srgbClr val="14313B"/>
                          </a:solidFill>
                          <a:latin typeface="Calibri (MS)"/>
                        </a:rPr>
                        <a:t>-7,85258</a:t>
                      </a:r>
                    </a:p>
                  </a:txBody>
                  <a:tcPr marL="73152" marR="73152" marT="36576" marB="36576" anchor="ctr">
                    <a:solidFill>
                      <a:srgbClr val="FFFFFF"/>
                    </a:solidFill>
                  </a:tcPr>
                </a:tc>
                <a:tc>
                  <a:txBody>
                    <a:bodyPr wrap="square"/>
                    <a:lstStyle/>
                    <a:p>
                      <a:pPr algn="ctr"/>
                      <a:r>
                        <a:rPr sz="850" b="0" i="0">
                          <a:solidFill>
                            <a:srgbClr val="14313B"/>
                          </a:solidFill>
                          <a:latin typeface="Calibri (MS)"/>
                        </a:rPr>
                        <a:t>0,716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129</a:t>
                      </a:r>
                    </a:p>
                  </a:txBody>
                  <a:tcPr marL="73152" marR="73152" marT="36576" marB="36576" anchor="ctr">
                    <a:solidFill>
                      <a:srgbClr val="EAF8FA"/>
                    </a:solidFill>
                  </a:tcPr>
                </a:tc>
                <a:tc>
                  <a:txBody>
                    <a:bodyPr wrap="square"/>
                    <a:lstStyle/>
                    <a:p>
                      <a:pPr algn="ctr"/>
                      <a:r>
                        <a:rPr sz="850" b="0" i="0">
                          <a:solidFill>
                            <a:srgbClr val="14313B"/>
                          </a:solidFill>
                          <a:latin typeface="Calibri (MS)"/>
                        </a:rPr>
                        <a:t>110,42213</a:t>
                      </a:r>
                    </a:p>
                  </a:txBody>
                  <a:tcPr marL="73152" marR="73152" marT="36576" marB="36576" anchor="ctr">
                    <a:solidFill>
                      <a:srgbClr val="EAF8FA"/>
                    </a:solidFill>
                  </a:tcPr>
                </a:tc>
                <a:tc>
                  <a:txBody>
                    <a:bodyPr wrap="square"/>
                    <a:lstStyle/>
                    <a:p>
                      <a:pPr algn="ctr"/>
                      <a:r>
                        <a:rPr sz="850" b="0" i="0">
                          <a:solidFill>
                            <a:srgbClr val="14313B"/>
                          </a:solidFill>
                          <a:latin typeface="Calibri (MS)"/>
                        </a:rPr>
                        <a:t>-7,69016</a:t>
                      </a:r>
                    </a:p>
                  </a:txBody>
                  <a:tcPr marL="73152" marR="73152" marT="36576" marB="36576" anchor="ctr">
                    <a:solidFill>
                      <a:srgbClr val="EAF8FA"/>
                    </a:solidFill>
                  </a:tcPr>
                </a:tc>
                <a:tc>
                  <a:txBody>
                    <a:bodyPr wrap="square"/>
                    <a:lstStyle/>
                    <a:p>
                      <a:pPr algn="ctr"/>
                      <a:r>
                        <a:rPr sz="850" b="0" i="0">
                          <a:solidFill>
                            <a:srgbClr val="14313B"/>
                          </a:solidFill>
                          <a:latin typeface="Calibri (MS)"/>
                        </a:rPr>
                        <a:t>0,730</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130</a:t>
                      </a:r>
                    </a:p>
                  </a:txBody>
                  <a:tcPr marL="73152" marR="73152" marT="36576" marB="36576" anchor="ctr">
                    <a:solidFill>
                      <a:srgbClr val="FFFFFF"/>
                    </a:solidFill>
                  </a:tcPr>
                </a:tc>
                <a:tc>
                  <a:txBody>
                    <a:bodyPr wrap="square"/>
                    <a:lstStyle/>
                    <a:p>
                      <a:pPr algn="ctr"/>
                      <a:r>
                        <a:rPr sz="850" b="0" i="0">
                          <a:solidFill>
                            <a:srgbClr val="14313B"/>
                          </a:solidFill>
                          <a:latin typeface="Calibri (MS)"/>
                        </a:rPr>
                        <a:t>110,30813</a:t>
                      </a:r>
                    </a:p>
                  </a:txBody>
                  <a:tcPr marL="73152" marR="73152" marT="36576" marB="36576" anchor="ctr">
                    <a:solidFill>
                      <a:srgbClr val="FFFFFF"/>
                    </a:solidFill>
                  </a:tcPr>
                </a:tc>
                <a:tc>
                  <a:txBody>
                    <a:bodyPr wrap="square"/>
                    <a:lstStyle/>
                    <a:p>
                      <a:pPr algn="ctr"/>
                      <a:r>
                        <a:rPr sz="850" b="0" i="0">
                          <a:solidFill>
                            <a:srgbClr val="14313B"/>
                          </a:solidFill>
                          <a:latin typeface="Calibri (MS)"/>
                        </a:rPr>
                        <a:t>-7,73777</a:t>
                      </a:r>
                    </a:p>
                  </a:txBody>
                  <a:tcPr marL="73152" marR="73152" marT="36576" marB="36576" anchor="ctr">
                    <a:solidFill>
                      <a:srgbClr val="FFFFFF"/>
                    </a:solidFill>
                  </a:tcPr>
                </a:tc>
                <a:tc>
                  <a:txBody>
                    <a:bodyPr wrap="square"/>
                    <a:lstStyle/>
                    <a:p>
                      <a:pPr algn="ctr"/>
                      <a:r>
                        <a:rPr sz="850" b="0" i="0">
                          <a:solidFill>
                            <a:srgbClr val="14313B"/>
                          </a:solidFill>
                          <a:latin typeface="Calibri (MS)"/>
                        </a:rPr>
                        <a:t>0,648</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131</a:t>
                      </a:r>
                    </a:p>
                  </a:txBody>
                  <a:tcPr marL="73152" marR="73152" marT="36576" marB="36576" anchor="ctr">
                    <a:solidFill>
                      <a:srgbClr val="EAF8FA"/>
                    </a:solidFill>
                  </a:tcPr>
                </a:tc>
                <a:tc>
                  <a:txBody>
                    <a:bodyPr wrap="square"/>
                    <a:lstStyle/>
                    <a:p>
                      <a:pPr algn="ctr"/>
                      <a:r>
                        <a:rPr sz="850" b="0" i="0">
                          <a:solidFill>
                            <a:srgbClr val="14313B"/>
                          </a:solidFill>
                          <a:latin typeface="Calibri (MS)"/>
                        </a:rPr>
                        <a:t>110,42931</a:t>
                      </a:r>
                    </a:p>
                  </a:txBody>
                  <a:tcPr marL="73152" marR="73152" marT="36576" marB="36576" anchor="ctr">
                    <a:solidFill>
                      <a:srgbClr val="EAF8FA"/>
                    </a:solidFill>
                  </a:tcPr>
                </a:tc>
                <a:tc>
                  <a:txBody>
                    <a:bodyPr wrap="square"/>
                    <a:lstStyle/>
                    <a:p>
                      <a:pPr algn="ctr"/>
                      <a:r>
                        <a:rPr sz="850" b="0" i="0">
                          <a:solidFill>
                            <a:srgbClr val="14313B"/>
                          </a:solidFill>
                          <a:latin typeface="Calibri (MS)"/>
                        </a:rPr>
                        <a:t>-7,70463</a:t>
                      </a:r>
                    </a:p>
                  </a:txBody>
                  <a:tcPr marL="73152" marR="73152" marT="36576" marB="36576" anchor="ctr">
                    <a:solidFill>
                      <a:srgbClr val="EAF8FA"/>
                    </a:solidFill>
                  </a:tcPr>
                </a:tc>
                <a:tc>
                  <a:txBody>
                    <a:bodyPr wrap="square"/>
                    <a:lstStyle/>
                    <a:p>
                      <a:pPr algn="ctr"/>
                      <a:r>
                        <a:rPr sz="850" b="0" i="0">
                          <a:solidFill>
                            <a:srgbClr val="14313B"/>
                          </a:solidFill>
                          <a:latin typeface="Calibri (MS)"/>
                        </a:rPr>
                        <a:t>0,733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132</a:t>
                      </a:r>
                    </a:p>
                  </a:txBody>
                  <a:tcPr marL="73152" marR="73152" marT="36576" marB="36576" anchor="ctr">
                    <a:solidFill>
                      <a:srgbClr val="FFFFFF"/>
                    </a:solidFill>
                  </a:tcPr>
                </a:tc>
                <a:tc>
                  <a:txBody>
                    <a:bodyPr wrap="square"/>
                    <a:lstStyle/>
                    <a:p>
                      <a:pPr algn="ctr"/>
                      <a:r>
                        <a:rPr sz="850" b="0" i="0">
                          <a:solidFill>
                            <a:srgbClr val="14313B"/>
                          </a:solidFill>
                          <a:latin typeface="Calibri (MS)"/>
                        </a:rPr>
                        <a:t>110,39949</a:t>
                      </a:r>
                    </a:p>
                  </a:txBody>
                  <a:tcPr marL="73152" marR="73152" marT="36576" marB="36576" anchor="ctr">
                    <a:solidFill>
                      <a:srgbClr val="FFFFFF"/>
                    </a:solidFill>
                  </a:tcPr>
                </a:tc>
                <a:tc>
                  <a:txBody>
                    <a:bodyPr wrap="square"/>
                    <a:lstStyle/>
                    <a:p>
                      <a:pPr algn="ctr"/>
                      <a:r>
                        <a:rPr sz="850" b="0" i="0">
                          <a:solidFill>
                            <a:srgbClr val="14313B"/>
                          </a:solidFill>
                          <a:latin typeface="Calibri (MS)"/>
                        </a:rPr>
                        <a:t>-7,78242</a:t>
                      </a:r>
                    </a:p>
                  </a:txBody>
                  <a:tcPr marL="73152" marR="73152" marT="36576" marB="36576" anchor="ctr">
                    <a:solidFill>
                      <a:srgbClr val="FFFFFF"/>
                    </a:solidFill>
                  </a:tcPr>
                </a:tc>
                <a:tc>
                  <a:txBody>
                    <a:bodyPr wrap="square"/>
                    <a:lstStyle/>
                    <a:p>
                      <a:pPr algn="ctr"/>
                      <a:r>
                        <a:rPr sz="850" b="0" i="0">
                          <a:solidFill>
                            <a:srgbClr val="14313B"/>
                          </a:solidFill>
                          <a:latin typeface="Calibri (MS)"/>
                        </a:rPr>
                        <a:t>0,726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133</a:t>
                      </a:r>
                    </a:p>
                  </a:txBody>
                  <a:tcPr marL="73152" marR="73152" marT="36576" marB="36576" anchor="ctr">
                    <a:solidFill>
                      <a:srgbClr val="EAF8FA"/>
                    </a:solidFill>
                  </a:tcPr>
                </a:tc>
                <a:tc>
                  <a:txBody>
                    <a:bodyPr wrap="square"/>
                    <a:lstStyle/>
                    <a:p>
                      <a:pPr algn="ctr"/>
                      <a:r>
                        <a:rPr sz="850" b="0" i="0">
                          <a:solidFill>
                            <a:srgbClr val="14313B"/>
                          </a:solidFill>
                          <a:latin typeface="Calibri (MS)"/>
                        </a:rPr>
                        <a:t>110,39850</a:t>
                      </a:r>
                    </a:p>
                  </a:txBody>
                  <a:tcPr marL="73152" marR="73152" marT="36576" marB="36576" anchor="ctr">
                    <a:solidFill>
                      <a:srgbClr val="EAF8FA"/>
                    </a:solidFill>
                  </a:tcPr>
                </a:tc>
                <a:tc>
                  <a:txBody>
                    <a:bodyPr wrap="square"/>
                    <a:lstStyle/>
                    <a:p>
                      <a:pPr algn="ctr"/>
                      <a:r>
                        <a:rPr sz="850" b="0" i="0">
                          <a:solidFill>
                            <a:srgbClr val="14313B"/>
                          </a:solidFill>
                          <a:latin typeface="Calibri (MS)"/>
                        </a:rPr>
                        <a:t>-7,75565</a:t>
                      </a:r>
                    </a:p>
                  </a:txBody>
                  <a:tcPr marL="73152" marR="73152" marT="36576" marB="36576" anchor="ctr">
                    <a:solidFill>
                      <a:srgbClr val="EAF8FA"/>
                    </a:solidFill>
                  </a:tcPr>
                </a:tc>
                <a:tc>
                  <a:txBody>
                    <a:bodyPr wrap="square"/>
                    <a:lstStyle/>
                    <a:p>
                      <a:pPr algn="ctr"/>
                      <a:r>
                        <a:rPr sz="850" b="0" i="0">
                          <a:solidFill>
                            <a:srgbClr val="14313B"/>
                          </a:solidFill>
                          <a:latin typeface="Calibri (MS)"/>
                        </a:rPr>
                        <a:t>0,713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134</a:t>
                      </a:r>
                    </a:p>
                  </a:txBody>
                  <a:tcPr marL="73152" marR="73152" marT="36576" marB="36576" anchor="ctr">
                    <a:solidFill>
                      <a:srgbClr val="FFFFFF"/>
                    </a:solidFill>
                  </a:tcPr>
                </a:tc>
                <a:tc>
                  <a:txBody>
                    <a:bodyPr wrap="square"/>
                    <a:lstStyle/>
                    <a:p>
                      <a:pPr algn="ctr"/>
                      <a:r>
                        <a:rPr sz="850" b="0" i="0">
                          <a:solidFill>
                            <a:srgbClr val="14313B"/>
                          </a:solidFill>
                          <a:latin typeface="Calibri (MS)"/>
                        </a:rPr>
                        <a:t>110,27462</a:t>
                      </a:r>
                    </a:p>
                  </a:txBody>
                  <a:tcPr marL="73152" marR="73152" marT="36576" marB="36576" anchor="ctr">
                    <a:solidFill>
                      <a:srgbClr val="FFFFFF"/>
                    </a:solidFill>
                  </a:tcPr>
                </a:tc>
                <a:tc>
                  <a:txBody>
                    <a:bodyPr wrap="square"/>
                    <a:lstStyle/>
                    <a:p>
                      <a:pPr algn="ctr"/>
                      <a:r>
                        <a:rPr sz="850" b="0" i="0">
                          <a:solidFill>
                            <a:srgbClr val="14313B"/>
                          </a:solidFill>
                          <a:latin typeface="Calibri (MS)"/>
                        </a:rPr>
                        <a:t>-7,97098</a:t>
                      </a:r>
                    </a:p>
                  </a:txBody>
                  <a:tcPr marL="73152" marR="73152" marT="36576" marB="36576" anchor="ctr">
                    <a:solidFill>
                      <a:srgbClr val="FFFFFF"/>
                    </a:solidFill>
                  </a:tcPr>
                </a:tc>
                <a:tc>
                  <a:txBody>
                    <a:bodyPr wrap="square"/>
                    <a:lstStyle/>
                    <a:p>
                      <a:pPr algn="ctr"/>
                      <a:r>
                        <a:rPr sz="850" b="0" i="0">
                          <a:solidFill>
                            <a:srgbClr val="14313B"/>
                          </a:solidFill>
                          <a:latin typeface="Calibri (MS)"/>
                        </a:rPr>
                        <a:t>0,546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135</a:t>
                      </a:r>
                    </a:p>
                  </a:txBody>
                  <a:tcPr marL="73152" marR="73152" marT="36576" marB="36576" anchor="ctr">
                    <a:solidFill>
                      <a:srgbClr val="EAF8FA"/>
                    </a:solidFill>
                  </a:tcPr>
                </a:tc>
                <a:tc>
                  <a:txBody>
                    <a:bodyPr wrap="square"/>
                    <a:lstStyle/>
                    <a:p>
                      <a:pPr algn="ctr"/>
                      <a:r>
                        <a:rPr sz="850" b="0" i="0">
                          <a:solidFill>
                            <a:srgbClr val="14313B"/>
                          </a:solidFill>
                          <a:latin typeface="Calibri (MS)"/>
                        </a:rPr>
                        <a:t>110,24193</a:t>
                      </a:r>
                    </a:p>
                  </a:txBody>
                  <a:tcPr marL="73152" marR="73152" marT="36576" marB="36576" anchor="ctr">
                    <a:solidFill>
                      <a:srgbClr val="EAF8FA"/>
                    </a:solidFill>
                  </a:tcPr>
                </a:tc>
                <a:tc>
                  <a:txBody>
                    <a:bodyPr wrap="square"/>
                    <a:lstStyle/>
                    <a:p>
                      <a:pPr algn="ctr"/>
                      <a:r>
                        <a:rPr sz="850" b="0" i="0">
                          <a:solidFill>
                            <a:srgbClr val="14313B"/>
                          </a:solidFill>
                          <a:latin typeface="Calibri (MS)"/>
                        </a:rPr>
                        <a:t>-7,95975</a:t>
                      </a:r>
                    </a:p>
                  </a:txBody>
                  <a:tcPr marL="73152" marR="73152" marT="36576" marB="36576" anchor="ctr">
                    <a:solidFill>
                      <a:srgbClr val="EAF8FA"/>
                    </a:solidFill>
                  </a:tcPr>
                </a:tc>
                <a:tc>
                  <a:txBody>
                    <a:bodyPr wrap="square"/>
                    <a:lstStyle/>
                    <a:p>
                      <a:pPr algn="ctr"/>
                      <a:r>
                        <a:rPr sz="850" b="0" i="0">
                          <a:solidFill>
                            <a:srgbClr val="14313B"/>
                          </a:solidFill>
                          <a:latin typeface="Calibri (MS)"/>
                        </a:rPr>
                        <a:t>0,639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136</a:t>
                      </a:r>
                    </a:p>
                  </a:txBody>
                  <a:tcPr marL="73152" marR="73152" marT="36576" marB="36576" anchor="ctr">
                    <a:solidFill>
                      <a:srgbClr val="FFFFFF"/>
                    </a:solidFill>
                  </a:tcPr>
                </a:tc>
                <a:tc>
                  <a:txBody>
                    <a:bodyPr wrap="square"/>
                    <a:lstStyle/>
                    <a:p>
                      <a:pPr algn="ctr"/>
                      <a:r>
                        <a:rPr sz="850" b="0" i="0">
                          <a:solidFill>
                            <a:srgbClr val="14313B"/>
                          </a:solidFill>
                          <a:latin typeface="Calibri (MS)"/>
                        </a:rPr>
                        <a:t>110,20842</a:t>
                      </a:r>
                    </a:p>
                  </a:txBody>
                  <a:tcPr marL="73152" marR="73152" marT="36576" marB="36576" anchor="ctr">
                    <a:solidFill>
                      <a:srgbClr val="FFFFFF"/>
                    </a:solidFill>
                  </a:tcPr>
                </a:tc>
                <a:tc>
                  <a:txBody>
                    <a:bodyPr wrap="square"/>
                    <a:lstStyle/>
                    <a:p>
                      <a:pPr algn="ctr"/>
                      <a:r>
                        <a:rPr sz="850" b="0" i="0">
                          <a:solidFill>
                            <a:srgbClr val="14313B"/>
                          </a:solidFill>
                          <a:latin typeface="Calibri (MS)"/>
                        </a:rPr>
                        <a:t>-7,76508</a:t>
                      </a:r>
                    </a:p>
                  </a:txBody>
                  <a:tcPr marL="73152" marR="73152" marT="36576" marB="36576" anchor="ctr">
                    <a:solidFill>
                      <a:srgbClr val="FFFFFF"/>
                    </a:solidFill>
                  </a:tcPr>
                </a:tc>
                <a:tc>
                  <a:txBody>
                    <a:bodyPr wrap="square"/>
                    <a:lstStyle/>
                    <a:p>
                      <a:pPr algn="ctr"/>
                      <a:r>
                        <a:rPr sz="850" b="0" i="0">
                          <a:solidFill>
                            <a:srgbClr val="14313B"/>
                          </a:solidFill>
                          <a:latin typeface="Calibri (MS)"/>
                        </a:rPr>
                        <a:t>0,708</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137</a:t>
                      </a:r>
                    </a:p>
                  </a:txBody>
                  <a:tcPr marL="73152" marR="73152" marT="36576" marB="36576" anchor="ctr">
                    <a:solidFill>
                      <a:srgbClr val="EAF8FA"/>
                    </a:solidFill>
                  </a:tcPr>
                </a:tc>
                <a:tc>
                  <a:txBody>
                    <a:bodyPr wrap="square"/>
                    <a:lstStyle/>
                    <a:p>
                      <a:pPr algn="ctr"/>
                      <a:r>
                        <a:rPr sz="850" b="0" i="0">
                          <a:solidFill>
                            <a:srgbClr val="14313B"/>
                          </a:solidFill>
                          <a:latin typeface="Calibri (MS)"/>
                        </a:rPr>
                        <a:t>110,44539</a:t>
                      </a:r>
                    </a:p>
                  </a:txBody>
                  <a:tcPr marL="73152" marR="73152" marT="36576" marB="36576" anchor="ctr">
                    <a:solidFill>
                      <a:srgbClr val="EAF8FA"/>
                    </a:solidFill>
                  </a:tcPr>
                </a:tc>
                <a:tc>
                  <a:txBody>
                    <a:bodyPr wrap="square"/>
                    <a:lstStyle/>
                    <a:p>
                      <a:pPr algn="ctr"/>
                      <a:r>
                        <a:rPr sz="850" b="0" i="0">
                          <a:solidFill>
                            <a:srgbClr val="14313B"/>
                          </a:solidFill>
                          <a:latin typeface="Calibri (MS)"/>
                        </a:rPr>
                        <a:t>-7,82823</a:t>
                      </a:r>
                    </a:p>
                  </a:txBody>
                  <a:tcPr marL="73152" marR="73152" marT="36576" marB="36576" anchor="ctr">
                    <a:solidFill>
                      <a:srgbClr val="EAF8FA"/>
                    </a:solidFill>
                  </a:tcPr>
                </a:tc>
                <a:tc>
                  <a:txBody>
                    <a:bodyPr wrap="square"/>
                    <a:lstStyle/>
                    <a:p>
                      <a:pPr algn="ctr"/>
                      <a:r>
                        <a:rPr sz="850" b="0" i="0">
                          <a:solidFill>
                            <a:srgbClr val="14313B"/>
                          </a:solidFill>
                          <a:latin typeface="Calibri (MS)"/>
                        </a:rPr>
                        <a:t>0,705</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138</a:t>
                      </a:r>
                    </a:p>
                  </a:txBody>
                  <a:tcPr marL="73152" marR="73152" marT="36576" marB="36576" anchor="ctr">
                    <a:solidFill>
                      <a:srgbClr val="FFFFFF"/>
                    </a:solidFill>
                  </a:tcPr>
                </a:tc>
                <a:tc>
                  <a:txBody>
                    <a:bodyPr wrap="square"/>
                    <a:lstStyle/>
                    <a:p>
                      <a:pPr algn="ctr"/>
                      <a:r>
                        <a:rPr sz="850" b="0" i="0">
                          <a:solidFill>
                            <a:srgbClr val="14313B"/>
                          </a:solidFill>
                          <a:latin typeface="Calibri (MS)"/>
                        </a:rPr>
                        <a:t>110,30409</a:t>
                      </a:r>
                    </a:p>
                  </a:txBody>
                  <a:tcPr marL="73152" marR="73152" marT="36576" marB="36576" anchor="ctr">
                    <a:solidFill>
                      <a:srgbClr val="FFFFFF"/>
                    </a:solidFill>
                  </a:tcPr>
                </a:tc>
                <a:tc>
                  <a:txBody>
                    <a:bodyPr wrap="square"/>
                    <a:lstStyle/>
                    <a:p>
                      <a:pPr algn="ctr"/>
                      <a:r>
                        <a:rPr sz="850" b="0" i="0">
                          <a:solidFill>
                            <a:srgbClr val="14313B"/>
                          </a:solidFill>
                          <a:latin typeface="Calibri (MS)"/>
                        </a:rPr>
                        <a:t>-7,66860</a:t>
                      </a:r>
                    </a:p>
                  </a:txBody>
                  <a:tcPr marL="73152" marR="73152" marT="36576" marB="36576" anchor="ctr">
                    <a:solidFill>
                      <a:srgbClr val="FFFFFF"/>
                    </a:solidFill>
                  </a:tcPr>
                </a:tc>
                <a:tc>
                  <a:txBody>
                    <a:bodyPr wrap="square"/>
                    <a:lstStyle/>
                    <a:p>
                      <a:pPr algn="ctr"/>
                      <a:r>
                        <a:rPr sz="850" b="0" i="0">
                          <a:solidFill>
                            <a:srgbClr val="14313B"/>
                          </a:solidFill>
                          <a:latin typeface="Calibri (MS)"/>
                        </a:rPr>
                        <a:t>0,667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139</a:t>
                      </a:r>
                    </a:p>
                  </a:txBody>
                  <a:tcPr marL="73152" marR="73152" marT="36576" marB="36576" anchor="ctr">
                    <a:solidFill>
                      <a:srgbClr val="EAF8FA"/>
                    </a:solidFill>
                  </a:tcPr>
                </a:tc>
                <a:tc>
                  <a:txBody>
                    <a:bodyPr wrap="square"/>
                    <a:lstStyle/>
                    <a:p>
                      <a:pPr algn="ctr"/>
                      <a:r>
                        <a:rPr sz="850" b="0" i="0">
                          <a:solidFill>
                            <a:srgbClr val="14313B"/>
                          </a:solidFill>
                          <a:latin typeface="Calibri (MS)"/>
                        </a:rPr>
                        <a:t>110,23573</a:t>
                      </a:r>
                    </a:p>
                  </a:txBody>
                  <a:tcPr marL="73152" marR="73152" marT="36576" marB="36576" anchor="ctr">
                    <a:solidFill>
                      <a:srgbClr val="EAF8FA"/>
                    </a:solidFill>
                  </a:tcPr>
                </a:tc>
                <a:tc>
                  <a:txBody>
                    <a:bodyPr wrap="square"/>
                    <a:lstStyle/>
                    <a:p>
                      <a:pPr algn="ctr"/>
                      <a:r>
                        <a:rPr sz="850" b="0" i="0">
                          <a:solidFill>
                            <a:srgbClr val="14313B"/>
                          </a:solidFill>
                          <a:latin typeface="Calibri (MS)"/>
                        </a:rPr>
                        <a:t>-7,96999</a:t>
                      </a:r>
                    </a:p>
                  </a:txBody>
                  <a:tcPr marL="73152" marR="73152" marT="36576" marB="36576" anchor="ctr">
                    <a:solidFill>
                      <a:srgbClr val="EAF8FA"/>
                    </a:solidFill>
                  </a:tcPr>
                </a:tc>
                <a:tc>
                  <a:txBody>
                    <a:bodyPr wrap="square"/>
                    <a:lstStyle/>
                    <a:p>
                      <a:pPr algn="ctr"/>
                      <a:r>
                        <a:rPr sz="850" b="0" i="0">
                          <a:solidFill>
                            <a:srgbClr val="14313B"/>
                          </a:solidFill>
                          <a:latin typeface="Calibri (MS)"/>
                        </a:rPr>
                        <a:t>0,639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140</a:t>
                      </a:r>
                    </a:p>
                  </a:txBody>
                  <a:tcPr marL="73152" marR="73152" marT="36576" marB="36576" anchor="ctr">
                    <a:solidFill>
                      <a:srgbClr val="FFFFFF"/>
                    </a:solidFill>
                  </a:tcPr>
                </a:tc>
                <a:tc>
                  <a:txBody>
                    <a:bodyPr wrap="square"/>
                    <a:lstStyle/>
                    <a:p>
                      <a:pPr algn="ctr"/>
                      <a:r>
                        <a:rPr sz="850" b="0" i="0">
                          <a:solidFill>
                            <a:srgbClr val="14313B"/>
                          </a:solidFill>
                          <a:latin typeface="Calibri (MS)"/>
                        </a:rPr>
                        <a:t>110,43012</a:t>
                      </a:r>
                    </a:p>
                  </a:txBody>
                  <a:tcPr marL="73152" marR="73152" marT="36576" marB="36576" anchor="ctr">
                    <a:solidFill>
                      <a:srgbClr val="FFFFFF"/>
                    </a:solidFill>
                  </a:tcPr>
                </a:tc>
                <a:tc>
                  <a:txBody>
                    <a:bodyPr wrap="square"/>
                    <a:lstStyle/>
                    <a:p>
                      <a:pPr algn="ctr"/>
                      <a:r>
                        <a:rPr sz="850" b="0" i="0">
                          <a:solidFill>
                            <a:srgbClr val="14313B"/>
                          </a:solidFill>
                          <a:latin typeface="Calibri (MS)"/>
                        </a:rPr>
                        <a:t>-7,71612</a:t>
                      </a:r>
                    </a:p>
                  </a:txBody>
                  <a:tcPr marL="73152" marR="73152" marT="36576" marB="36576" anchor="ctr">
                    <a:solidFill>
                      <a:srgbClr val="FFFFFF"/>
                    </a:solidFill>
                  </a:tcPr>
                </a:tc>
                <a:tc>
                  <a:txBody>
                    <a:bodyPr wrap="square"/>
                    <a:lstStyle/>
                    <a:p>
                      <a:pPr algn="ctr"/>
                      <a:r>
                        <a:rPr sz="850" b="0" i="0">
                          <a:solidFill>
                            <a:srgbClr val="14313B"/>
                          </a:solidFill>
                          <a:latin typeface="Calibri (MS)"/>
                        </a:rPr>
                        <a:t>0,718</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141</a:t>
                      </a:r>
                    </a:p>
                  </a:txBody>
                  <a:tcPr marL="73152" marR="73152" marT="36576" marB="36576" anchor="ctr">
                    <a:solidFill>
                      <a:srgbClr val="EAF8FA"/>
                    </a:solidFill>
                  </a:tcPr>
                </a:tc>
                <a:tc>
                  <a:txBody>
                    <a:bodyPr wrap="square"/>
                    <a:lstStyle/>
                    <a:p>
                      <a:pPr algn="ctr"/>
                      <a:r>
                        <a:rPr sz="850" b="0" i="0">
                          <a:solidFill>
                            <a:srgbClr val="14313B"/>
                          </a:solidFill>
                          <a:latin typeface="Calibri (MS)"/>
                        </a:rPr>
                        <a:t>110,47046</a:t>
                      </a:r>
                    </a:p>
                  </a:txBody>
                  <a:tcPr marL="73152" marR="73152" marT="36576" marB="36576" anchor="ctr">
                    <a:solidFill>
                      <a:srgbClr val="EAF8FA"/>
                    </a:solidFill>
                  </a:tcPr>
                </a:tc>
                <a:tc>
                  <a:txBody>
                    <a:bodyPr wrap="square"/>
                    <a:lstStyle/>
                    <a:p>
                      <a:pPr algn="ctr"/>
                      <a:r>
                        <a:rPr sz="850" b="0" i="0">
                          <a:solidFill>
                            <a:srgbClr val="14313B"/>
                          </a:solidFill>
                          <a:latin typeface="Calibri (MS)"/>
                        </a:rPr>
                        <a:t>-8,03601</a:t>
                      </a:r>
                    </a:p>
                  </a:txBody>
                  <a:tcPr marL="73152" marR="73152" marT="36576" marB="36576" anchor="ctr">
                    <a:solidFill>
                      <a:srgbClr val="EAF8FA"/>
                    </a:solidFill>
                  </a:tcPr>
                </a:tc>
                <a:tc>
                  <a:txBody>
                    <a:bodyPr wrap="square"/>
                    <a:lstStyle/>
                    <a:p>
                      <a:pPr algn="ctr"/>
                      <a:r>
                        <a:rPr sz="850" b="0" i="0">
                          <a:solidFill>
                            <a:srgbClr val="14313B"/>
                          </a:solidFill>
                          <a:latin typeface="Calibri (MS)"/>
                        </a:rPr>
                        <a:t>0,678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142</a:t>
                      </a:r>
                    </a:p>
                  </a:txBody>
                  <a:tcPr marL="73152" marR="73152" marT="36576" marB="36576" anchor="ctr">
                    <a:solidFill>
                      <a:srgbClr val="FFFFFF"/>
                    </a:solidFill>
                  </a:tcPr>
                </a:tc>
                <a:tc>
                  <a:txBody>
                    <a:bodyPr wrap="square"/>
                    <a:lstStyle/>
                    <a:p>
                      <a:pPr algn="ctr"/>
                      <a:r>
                        <a:rPr sz="850" b="0" i="0">
                          <a:solidFill>
                            <a:srgbClr val="14313B"/>
                          </a:solidFill>
                          <a:latin typeface="Calibri (MS)"/>
                        </a:rPr>
                        <a:t>110,26771</a:t>
                      </a:r>
                    </a:p>
                  </a:txBody>
                  <a:tcPr marL="73152" marR="73152" marT="36576" marB="36576" anchor="ctr">
                    <a:solidFill>
                      <a:srgbClr val="FFFFFF"/>
                    </a:solidFill>
                  </a:tcPr>
                </a:tc>
                <a:tc>
                  <a:txBody>
                    <a:bodyPr wrap="square"/>
                    <a:lstStyle/>
                    <a:p>
                      <a:pPr algn="ctr"/>
                      <a:r>
                        <a:rPr sz="850" b="0" i="0">
                          <a:solidFill>
                            <a:srgbClr val="14313B"/>
                          </a:solidFill>
                          <a:latin typeface="Calibri (MS)"/>
                        </a:rPr>
                        <a:t>-7,77398</a:t>
                      </a:r>
                    </a:p>
                  </a:txBody>
                  <a:tcPr marL="73152" marR="73152" marT="36576" marB="36576" anchor="ctr">
                    <a:solidFill>
                      <a:srgbClr val="FFFFFF"/>
                    </a:solidFill>
                  </a:tcPr>
                </a:tc>
                <a:tc>
                  <a:txBody>
                    <a:bodyPr wrap="square"/>
                    <a:lstStyle/>
                    <a:p>
                      <a:pPr algn="ctr"/>
                      <a:r>
                        <a:rPr sz="850" b="0" i="0">
                          <a:solidFill>
                            <a:srgbClr val="14313B"/>
                          </a:solidFill>
                          <a:latin typeface="Calibri (MS)"/>
                        </a:rPr>
                        <a:t>0,693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143</a:t>
                      </a:r>
                    </a:p>
                  </a:txBody>
                  <a:tcPr marL="73152" marR="73152" marT="36576" marB="36576" anchor="ctr">
                    <a:solidFill>
                      <a:srgbClr val="EAF8FA"/>
                    </a:solidFill>
                  </a:tcPr>
                </a:tc>
                <a:tc>
                  <a:txBody>
                    <a:bodyPr wrap="square"/>
                    <a:lstStyle/>
                    <a:p>
                      <a:pPr algn="ctr"/>
                      <a:r>
                        <a:rPr sz="850" b="0" i="0">
                          <a:solidFill>
                            <a:srgbClr val="14313B"/>
                          </a:solidFill>
                          <a:latin typeface="Calibri (MS)"/>
                        </a:rPr>
                        <a:t>110,27561</a:t>
                      </a:r>
                    </a:p>
                  </a:txBody>
                  <a:tcPr marL="73152" marR="73152" marT="36576" marB="36576" anchor="ctr">
                    <a:solidFill>
                      <a:srgbClr val="EAF8FA"/>
                    </a:solidFill>
                  </a:tcPr>
                </a:tc>
                <a:tc>
                  <a:txBody>
                    <a:bodyPr wrap="square"/>
                    <a:lstStyle/>
                    <a:p>
                      <a:pPr algn="ctr"/>
                      <a:r>
                        <a:rPr sz="850" b="0" i="0">
                          <a:solidFill>
                            <a:srgbClr val="14313B"/>
                          </a:solidFill>
                          <a:latin typeface="Calibri (MS)"/>
                        </a:rPr>
                        <a:t>-7,71819</a:t>
                      </a:r>
                    </a:p>
                  </a:txBody>
                  <a:tcPr marL="73152" marR="73152" marT="36576" marB="36576" anchor="ctr">
                    <a:solidFill>
                      <a:srgbClr val="EAF8FA"/>
                    </a:solidFill>
                  </a:tcPr>
                </a:tc>
                <a:tc>
                  <a:txBody>
                    <a:bodyPr wrap="square"/>
                    <a:lstStyle/>
                    <a:p>
                      <a:pPr algn="ctr"/>
                      <a:r>
                        <a:rPr sz="850" b="0" i="0">
                          <a:solidFill>
                            <a:srgbClr val="14313B"/>
                          </a:solidFill>
                          <a:latin typeface="Calibri (MS)"/>
                        </a:rPr>
                        <a:t>0,649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144</a:t>
                      </a:r>
                    </a:p>
                  </a:txBody>
                  <a:tcPr marL="73152" marR="73152" marT="36576" marB="36576" anchor="ctr">
                    <a:solidFill>
                      <a:srgbClr val="FFFFFF"/>
                    </a:solidFill>
                  </a:tcPr>
                </a:tc>
                <a:tc>
                  <a:txBody>
                    <a:bodyPr wrap="square"/>
                    <a:lstStyle/>
                    <a:p>
                      <a:pPr algn="ctr"/>
                      <a:r>
                        <a:rPr sz="850" b="0" i="0">
                          <a:solidFill>
                            <a:srgbClr val="14313B"/>
                          </a:solidFill>
                          <a:latin typeface="Calibri (MS)"/>
                        </a:rPr>
                        <a:t>110,37982</a:t>
                      </a:r>
                    </a:p>
                  </a:txBody>
                  <a:tcPr marL="73152" marR="73152" marT="36576" marB="36576" anchor="ctr">
                    <a:solidFill>
                      <a:srgbClr val="FFFFFF"/>
                    </a:solidFill>
                  </a:tcPr>
                </a:tc>
                <a:tc>
                  <a:txBody>
                    <a:bodyPr wrap="square"/>
                    <a:lstStyle/>
                    <a:p>
                      <a:pPr algn="ctr"/>
                      <a:r>
                        <a:rPr sz="850" b="0" i="0">
                          <a:solidFill>
                            <a:srgbClr val="14313B"/>
                          </a:solidFill>
                          <a:latin typeface="Calibri (MS)"/>
                        </a:rPr>
                        <a:t>-7,78655</a:t>
                      </a:r>
                    </a:p>
                  </a:txBody>
                  <a:tcPr marL="73152" marR="73152" marT="36576" marB="36576" anchor="ctr">
                    <a:solidFill>
                      <a:srgbClr val="FFFFFF"/>
                    </a:solidFill>
                  </a:tcPr>
                </a:tc>
                <a:tc>
                  <a:txBody>
                    <a:bodyPr wrap="square"/>
                    <a:lstStyle/>
                    <a:p>
                      <a:pPr algn="ctr"/>
                      <a:r>
                        <a:rPr sz="850" b="0" i="0">
                          <a:solidFill>
                            <a:srgbClr val="14313B"/>
                          </a:solidFill>
                          <a:latin typeface="Calibri (MS)"/>
                        </a:rPr>
                        <a:t>0,742</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145</a:t>
                      </a:r>
                    </a:p>
                  </a:txBody>
                  <a:tcPr marL="73152" marR="73152" marT="36576" marB="36576" anchor="ctr">
                    <a:solidFill>
                      <a:srgbClr val="EAF8FA"/>
                    </a:solidFill>
                  </a:tcPr>
                </a:tc>
                <a:tc>
                  <a:txBody>
                    <a:bodyPr wrap="square"/>
                    <a:lstStyle/>
                    <a:p>
                      <a:pPr algn="ctr"/>
                      <a:r>
                        <a:rPr sz="850" b="0" i="0">
                          <a:solidFill>
                            <a:srgbClr val="14313B"/>
                          </a:solidFill>
                          <a:latin typeface="Calibri (MS)"/>
                        </a:rPr>
                        <a:t>110,31469</a:t>
                      </a:r>
                    </a:p>
                  </a:txBody>
                  <a:tcPr marL="73152" marR="73152" marT="36576" marB="36576" anchor="ctr">
                    <a:solidFill>
                      <a:srgbClr val="EAF8FA"/>
                    </a:solidFill>
                  </a:tcPr>
                </a:tc>
                <a:tc>
                  <a:txBody>
                    <a:bodyPr wrap="square"/>
                    <a:lstStyle/>
                    <a:p>
                      <a:pPr algn="ctr"/>
                      <a:r>
                        <a:rPr sz="850" b="0" i="0">
                          <a:solidFill>
                            <a:srgbClr val="14313B"/>
                          </a:solidFill>
                          <a:latin typeface="Calibri (MS)"/>
                        </a:rPr>
                        <a:t>-7,70777</a:t>
                      </a:r>
                    </a:p>
                  </a:txBody>
                  <a:tcPr marL="73152" marR="73152" marT="36576" marB="36576" anchor="ctr">
                    <a:solidFill>
                      <a:srgbClr val="EAF8FA"/>
                    </a:solidFill>
                  </a:tcPr>
                </a:tc>
                <a:tc>
                  <a:txBody>
                    <a:bodyPr wrap="square"/>
                    <a:lstStyle/>
                    <a:p>
                      <a:pPr algn="ctr"/>
                      <a:r>
                        <a:rPr sz="850" b="0" i="0">
                          <a:solidFill>
                            <a:srgbClr val="14313B"/>
                          </a:solidFill>
                          <a:latin typeface="Calibri (MS)"/>
                        </a:rPr>
                        <a:t>0,565</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146</a:t>
                      </a:r>
                    </a:p>
                  </a:txBody>
                  <a:tcPr marL="73152" marR="73152" marT="36576" marB="36576" anchor="ctr">
                    <a:solidFill>
                      <a:srgbClr val="FFFFFF"/>
                    </a:solidFill>
                  </a:tcPr>
                </a:tc>
                <a:tc>
                  <a:txBody>
                    <a:bodyPr wrap="square"/>
                    <a:lstStyle/>
                    <a:p>
                      <a:pPr algn="ctr"/>
                      <a:r>
                        <a:rPr sz="850" b="0" i="0">
                          <a:solidFill>
                            <a:srgbClr val="14313B"/>
                          </a:solidFill>
                          <a:latin typeface="Calibri (MS)"/>
                        </a:rPr>
                        <a:t>110,31020</a:t>
                      </a:r>
                    </a:p>
                  </a:txBody>
                  <a:tcPr marL="73152" marR="73152" marT="36576" marB="36576" anchor="ctr">
                    <a:solidFill>
                      <a:srgbClr val="FFFFFF"/>
                    </a:solidFill>
                  </a:tcPr>
                </a:tc>
                <a:tc>
                  <a:txBody>
                    <a:bodyPr wrap="square"/>
                    <a:lstStyle/>
                    <a:p>
                      <a:pPr algn="ctr"/>
                      <a:r>
                        <a:rPr sz="850" b="0" i="0">
                          <a:solidFill>
                            <a:srgbClr val="14313B"/>
                          </a:solidFill>
                          <a:latin typeface="Calibri (MS)"/>
                        </a:rPr>
                        <a:t>-7,85689</a:t>
                      </a:r>
                    </a:p>
                  </a:txBody>
                  <a:tcPr marL="73152" marR="73152" marT="36576" marB="36576" anchor="ctr">
                    <a:solidFill>
                      <a:srgbClr val="FFFFFF"/>
                    </a:solidFill>
                  </a:tcPr>
                </a:tc>
                <a:tc>
                  <a:txBody>
                    <a:bodyPr wrap="square"/>
                    <a:lstStyle/>
                    <a:p>
                      <a:pPr algn="ctr"/>
                      <a:r>
                        <a:rPr sz="850" b="0" i="0">
                          <a:solidFill>
                            <a:srgbClr val="14313B"/>
                          </a:solidFill>
                          <a:latin typeface="Calibri (MS)"/>
                        </a:rPr>
                        <a:t>0,532</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147</a:t>
                      </a:r>
                    </a:p>
                  </a:txBody>
                  <a:tcPr marL="73152" marR="73152" marT="36576" marB="36576" anchor="ctr">
                    <a:solidFill>
                      <a:srgbClr val="EAF8FA"/>
                    </a:solidFill>
                  </a:tcPr>
                </a:tc>
                <a:tc>
                  <a:txBody>
                    <a:bodyPr wrap="square"/>
                    <a:lstStyle/>
                    <a:p>
                      <a:pPr algn="ctr"/>
                      <a:r>
                        <a:rPr sz="850" b="0" i="0">
                          <a:solidFill>
                            <a:srgbClr val="14313B"/>
                          </a:solidFill>
                          <a:latin typeface="Calibri (MS)"/>
                        </a:rPr>
                        <a:t>110,43587</a:t>
                      </a:r>
                    </a:p>
                  </a:txBody>
                  <a:tcPr marL="73152" marR="73152" marT="36576" marB="36576" anchor="ctr">
                    <a:solidFill>
                      <a:srgbClr val="EAF8FA"/>
                    </a:solidFill>
                  </a:tcPr>
                </a:tc>
                <a:tc>
                  <a:txBody>
                    <a:bodyPr wrap="square"/>
                    <a:lstStyle/>
                    <a:p>
                      <a:pPr algn="ctr"/>
                      <a:r>
                        <a:rPr sz="850" b="0" i="0">
                          <a:solidFill>
                            <a:srgbClr val="14313B"/>
                          </a:solidFill>
                          <a:latin typeface="Calibri (MS)"/>
                        </a:rPr>
                        <a:t>-7,72250</a:t>
                      </a:r>
                    </a:p>
                  </a:txBody>
                  <a:tcPr marL="73152" marR="73152" marT="36576" marB="36576" anchor="ctr">
                    <a:solidFill>
                      <a:srgbClr val="EAF8FA"/>
                    </a:solidFill>
                  </a:tcPr>
                </a:tc>
                <a:tc>
                  <a:txBody>
                    <a:bodyPr wrap="square"/>
                    <a:lstStyle/>
                    <a:p>
                      <a:pPr algn="ctr"/>
                      <a:r>
                        <a:rPr sz="850" b="0" i="0">
                          <a:solidFill>
                            <a:srgbClr val="14313B"/>
                          </a:solidFill>
                          <a:latin typeface="Calibri (MS)"/>
                        </a:rPr>
                        <a:t>0,732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148</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110,33355</a:t>
                      </a:r>
                    </a:p>
                  </a:txBody>
                  <a:tcPr marL="73152" marR="73152" marT="36576" marB="36576" anchor="ctr">
                    <a:solidFill>
                      <a:srgbClr val="FFFFFF"/>
                    </a:solidFill>
                  </a:tcPr>
                </a:tc>
                <a:tc>
                  <a:txBody>
                    <a:bodyPr wrap="square"/>
                    <a:lstStyle/>
                    <a:p>
                      <a:pPr algn="ctr"/>
                      <a:r>
                        <a:rPr sz="850" b="0" i="0">
                          <a:solidFill>
                            <a:srgbClr val="14313B"/>
                          </a:solidFill>
                          <a:latin typeface="Calibri (MS)"/>
                        </a:rPr>
                        <a:t>-7,69960</a:t>
                      </a:r>
                    </a:p>
                  </a:txBody>
                  <a:tcPr marL="73152" marR="73152" marT="36576" marB="36576" anchor="ctr">
                    <a:solidFill>
                      <a:srgbClr val="FFFFFF"/>
                    </a:solidFill>
                  </a:tcPr>
                </a:tc>
                <a:tc>
                  <a:txBody>
                    <a:bodyPr wrap="square"/>
                    <a:lstStyle/>
                    <a:p>
                      <a:pPr algn="ctr"/>
                      <a:r>
                        <a:rPr sz="850" b="0" i="0">
                          <a:solidFill>
                            <a:srgbClr val="14313B"/>
                          </a:solidFill>
                          <a:latin typeface="Calibri (MS)"/>
                        </a:rPr>
                        <a:t>0,631</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149</a:t>
                      </a:r>
                    </a:p>
                  </a:txBody>
                  <a:tcPr marL="73152" marR="73152" marT="36576" marB="36576" anchor="ctr">
                    <a:solidFill>
                      <a:srgbClr val="EAF8FA"/>
                    </a:solidFill>
                  </a:tcPr>
                </a:tc>
                <a:tc>
                  <a:txBody>
                    <a:bodyPr wrap="square"/>
                    <a:lstStyle/>
                    <a:p>
                      <a:pPr algn="ctr"/>
                      <a:r>
                        <a:rPr sz="850" b="0" i="0">
                          <a:solidFill>
                            <a:srgbClr val="14313B"/>
                          </a:solidFill>
                          <a:latin typeface="Calibri (MS)"/>
                        </a:rPr>
                        <a:t>110,32295</a:t>
                      </a:r>
                    </a:p>
                  </a:txBody>
                  <a:tcPr marL="73152" marR="73152" marT="36576" marB="36576" anchor="ctr">
                    <a:solidFill>
                      <a:srgbClr val="EAF8FA"/>
                    </a:solidFill>
                  </a:tcPr>
                </a:tc>
                <a:tc>
                  <a:txBody>
                    <a:bodyPr wrap="square"/>
                    <a:lstStyle/>
                    <a:p>
                      <a:pPr algn="ctr"/>
                      <a:r>
                        <a:rPr sz="850" b="0" i="0">
                          <a:solidFill>
                            <a:srgbClr val="14313B"/>
                          </a:solidFill>
                          <a:latin typeface="Calibri (MS)"/>
                        </a:rPr>
                        <a:t>-7,94681</a:t>
                      </a:r>
                    </a:p>
                  </a:txBody>
                  <a:tcPr marL="73152" marR="73152" marT="36576" marB="36576" anchor="ctr">
                    <a:solidFill>
                      <a:srgbClr val="EAF8FA"/>
                    </a:solidFill>
                  </a:tcPr>
                </a:tc>
                <a:tc>
                  <a:txBody>
                    <a:bodyPr wrap="square"/>
                    <a:lstStyle/>
                    <a:p>
                      <a:pPr algn="ctr"/>
                      <a:r>
                        <a:rPr sz="850" b="0" i="0">
                          <a:solidFill>
                            <a:srgbClr val="14313B"/>
                          </a:solidFill>
                          <a:latin typeface="Calibri (MS)"/>
                        </a:rPr>
                        <a:t>0,644</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150</a:t>
                      </a:r>
                    </a:p>
                  </a:txBody>
                  <a:tcPr marL="73152" marR="73152" marT="36576" marB="36576" anchor="ctr">
                    <a:solidFill>
                      <a:srgbClr val="FFFFFF"/>
                    </a:solidFill>
                  </a:tcPr>
                </a:tc>
                <a:tc>
                  <a:txBody>
                    <a:bodyPr wrap="square"/>
                    <a:lstStyle/>
                    <a:p>
                      <a:pPr algn="ctr"/>
                      <a:r>
                        <a:rPr sz="850" b="0" i="0">
                          <a:solidFill>
                            <a:srgbClr val="14313B"/>
                          </a:solidFill>
                          <a:latin typeface="Calibri (MS)"/>
                        </a:rPr>
                        <a:t>110,24184</a:t>
                      </a:r>
                    </a:p>
                  </a:txBody>
                  <a:tcPr marL="73152" marR="73152" marT="36576" marB="36576" anchor="ctr">
                    <a:solidFill>
                      <a:srgbClr val="FFFFFF"/>
                    </a:solidFill>
                  </a:tcPr>
                </a:tc>
                <a:tc>
                  <a:txBody>
                    <a:bodyPr wrap="square"/>
                    <a:lstStyle/>
                    <a:p>
                      <a:pPr algn="ctr"/>
                      <a:r>
                        <a:rPr sz="850" b="0" i="0">
                          <a:solidFill>
                            <a:srgbClr val="14313B"/>
                          </a:solidFill>
                          <a:latin typeface="Calibri (MS)"/>
                        </a:rPr>
                        <a:t>-7,71594</a:t>
                      </a:r>
                    </a:p>
                  </a:txBody>
                  <a:tcPr marL="73152" marR="73152" marT="36576" marB="36576" anchor="ctr">
                    <a:solidFill>
                      <a:srgbClr val="FFFFFF"/>
                    </a:solidFill>
                  </a:tcPr>
                </a:tc>
                <a:tc>
                  <a:txBody>
                    <a:bodyPr wrap="square"/>
                    <a:lstStyle/>
                    <a:p>
                      <a:pPr algn="ctr"/>
                      <a:r>
                        <a:rPr sz="850" b="0" i="0">
                          <a:solidFill>
                            <a:srgbClr val="14313B"/>
                          </a:solidFill>
                          <a:latin typeface="Calibri (MS)"/>
                        </a:rPr>
                        <a:t>0,619</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sp>
        <p:nvSpPr>
          <p:cNvPr id="29" name="TextBox 28"/>
          <p:cNvSpPr txBox="1"/>
          <p:nvPr/>
        </p:nvSpPr>
        <p:spPr>
          <a:xfrm>
            <a:off x="822960" y="877824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KunciModel_DW_2025.csv dan LembarKerja_UjiAkurasi_DW_2025.xlsx (repository). Merah muda = tidak sesuai (14 titik pada halaman ini). Peta: kelas built bila prob ≥ 0,5.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23 · Sampel Uji Akurasi Lahan Terbangun (4/4)</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Titik 151–200 dari 200: kelas peta Dynamic World 2025 dibandingkan label rujukan visual Google Earth</a:t>
            </a:r>
          </a:p>
        </p:txBody>
      </p:sp>
      <p:graphicFrame>
        <p:nvGraphicFramePr>
          <p:cNvPr id="27" name="Table 26"/>
          <p:cNvGraphicFramePr>
            <a:graphicFrameLocks noGrp="1"/>
          </p:cNvGraphicFramePr>
          <p:nvPr/>
        </p:nvGraphicFramePr>
        <p:xfrm>
          <a:off x="82296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151</a:t>
                      </a:r>
                    </a:p>
                  </a:txBody>
                  <a:tcPr marL="73152" marR="73152" marT="36576" marB="36576" anchor="ctr">
                    <a:solidFill>
                      <a:srgbClr val="FFFFFF"/>
                    </a:solidFill>
                  </a:tcPr>
                </a:tc>
                <a:tc>
                  <a:txBody>
                    <a:bodyPr wrap="square"/>
                    <a:lstStyle/>
                    <a:p>
                      <a:pPr algn="ctr"/>
                      <a:r>
                        <a:rPr sz="850" b="0" i="0">
                          <a:solidFill>
                            <a:srgbClr val="14313B"/>
                          </a:solidFill>
                          <a:latin typeface="Calibri (MS)"/>
                        </a:rPr>
                        <a:t>110,40210</a:t>
                      </a:r>
                    </a:p>
                  </a:txBody>
                  <a:tcPr marL="73152" marR="73152" marT="36576" marB="36576" anchor="ctr">
                    <a:solidFill>
                      <a:srgbClr val="FFFFFF"/>
                    </a:solidFill>
                  </a:tcPr>
                </a:tc>
                <a:tc>
                  <a:txBody>
                    <a:bodyPr wrap="square"/>
                    <a:lstStyle/>
                    <a:p>
                      <a:pPr algn="ctr"/>
                      <a:r>
                        <a:rPr sz="850" b="0" i="0">
                          <a:solidFill>
                            <a:srgbClr val="14313B"/>
                          </a:solidFill>
                          <a:latin typeface="Calibri (MS)"/>
                        </a:rPr>
                        <a:t>-7,85752</a:t>
                      </a:r>
                    </a:p>
                  </a:txBody>
                  <a:tcPr marL="73152" marR="73152" marT="36576" marB="36576" anchor="ctr">
                    <a:solidFill>
                      <a:srgbClr val="FFFFFF"/>
                    </a:solidFill>
                  </a:tcPr>
                </a:tc>
                <a:tc>
                  <a:txBody>
                    <a:bodyPr wrap="square"/>
                    <a:lstStyle/>
                    <a:p>
                      <a:pPr algn="ctr"/>
                      <a:r>
                        <a:rPr sz="850" b="0" i="0">
                          <a:solidFill>
                            <a:srgbClr val="14313B"/>
                          </a:solidFill>
                          <a:latin typeface="Calibri (MS)"/>
                        </a:rPr>
                        <a:t>0,681</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152</a:t>
                      </a:r>
                    </a:p>
                  </a:txBody>
                  <a:tcPr marL="73152" marR="73152" marT="36576" marB="36576" anchor="ctr">
                    <a:solidFill>
                      <a:srgbClr val="EAF8FA"/>
                    </a:solidFill>
                  </a:tcPr>
                </a:tc>
                <a:tc>
                  <a:txBody>
                    <a:bodyPr wrap="square"/>
                    <a:lstStyle/>
                    <a:p>
                      <a:pPr algn="ctr"/>
                      <a:r>
                        <a:rPr sz="850" b="0" i="0">
                          <a:solidFill>
                            <a:srgbClr val="14313B"/>
                          </a:solidFill>
                          <a:latin typeface="Calibri (MS)"/>
                        </a:rPr>
                        <a:t>110,38350</a:t>
                      </a:r>
                    </a:p>
                  </a:txBody>
                  <a:tcPr marL="73152" marR="73152" marT="36576" marB="36576" anchor="ctr">
                    <a:solidFill>
                      <a:srgbClr val="EAF8FA"/>
                    </a:solidFill>
                  </a:tcPr>
                </a:tc>
                <a:tc>
                  <a:txBody>
                    <a:bodyPr wrap="square"/>
                    <a:lstStyle/>
                    <a:p>
                      <a:pPr algn="ctr"/>
                      <a:r>
                        <a:rPr sz="850" b="0" i="0">
                          <a:solidFill>
                            <a:srgbClr val="14313B"/>
                          </a:solidFill>
                          <a:latin typeface="Calibri (MS)"/>
                        </a:rPr>
                        <a:t>-7,73849</a:t>
                      </a:r>
                    </a:p>
                  </a:txBody>
                  <a:tcPr marL="73152" marR="73152" marT="36576" marB="36576" anchor="ctr">
                    <a:solidFill>
                      <a:srgbClr val="EAF8FA"/>
                    </a:solidFill>
                  </a:tcPr>
                </a:tc>
                <a:tc>
                  <a:txBody>
                    <a:bodyPr wrap="square"/>
                    <a:lstStyle/>
                    <a:p>
                      <a:pPr algn="ctr"/>
                      <a:r>
                        <a:rPr sz="850" b="0" i="0">
                          <a:solidFill>
                            <a:srgbClr val="14313B"/>
                          </a:solidFill>
                          <a:latin typeface="Calibri (MS)"/>
                        </a:rPr>
                        <a:t>0,668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153</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110,33427</a:t>
                      </a:r>
                    </a:p>
                  </a:txBody>
                  <a:tcPr marL="73152" marR="73152" marT="36576" marB="36576" anchor="ctr">
                    <a:solidFill>
                      <a:srgbClr val="FFFFFF"/>
                    </a:solidFill>
                  </a:tcPr>
                </a:tc>
                <a:tc>
                  <a:txBody>
                    <a:bodyPr wrap="square"/>
                    <a:lstStyle/>
                    <a:p>
                      <a:pPr algn="ctr"/>
                      <a:r>
                        <a:rPr sz="850" b="0" i="0">
                          <a:solidFill>
                            <a:srgbClr val="14313B"/>
                          </a:solidFill>
                          <a:latin typeface="Calibri (MS)"/>
                        </a:rPr>
                        <a:t>-7,97457</a:t>
                      </a:r>
                    </a:p>
                  </a:txBody>
                  <a:tcPr marL="73152" marR="73152" marT="36576" marB="36576" anchor="ctr">
                    <a:solidFill>
                      <a:srgbClr val="FFFFFF"/>
                    </a:solidFill>
                  </a:tcPr>
                </a:tc>
                <a:tc>
                  <a:txBody>
                    <a:bodyPr wrap="square"/>
                    <a:lstStyle/>
                    <a:p>
                      <a:pPr algn="ctr"/>
                      <a:r>
                        <a:rPr sz="850" b="0" i="0">
                          <a:solidFill>
                            <a:srgbClr val="14313B"/>
                          </a:solidFill>
                          <a:latin typeface="Calibri (MS)"/>
                        </a:rPr>
                        <a:t>0,687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154</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110,46543</a:t>
                      </a:r>
                    </a:p>
                  </a:txBody>
                  <a:tcPr marL="73152" marR="73152" marT="36576" marB="36576" anchor="ctr">
                    <a:solidFill>
                      <a:srgbClr val="EAF8FA"/>
                    </a:solidFill>
                  </a:tcPr>
                </a:tc>
                <a:tc>
                  <a:txBody>
                    <a:bodyPr wrap="square"/>
                    <a:lstStyle/>
                    <a:p>
                      <a:pPr algn="ctr"/>
                      <a:r>
                        <a:rPr sz="850" b="0" i="0">
                          <a:solidFill>
                            <a:srgbClr val="14313B"/>
                          </a:solidFill>
                          <a:latin typeface="Calibri (MS)"/>
                        </a:rPr>
                        <a:t>-7,92534</a:t>
                      </a:r>
                    </a:p>
                  </a:txBody>
                  <a:tcPr marL="73152" marR="73152" marT="36576" marB="36576" anchor="ctr">
                    <a:solidFill>
                      <a:srgbClr val="EAF8FA"/>
                    </a:solidFill>
                  </a:tcPr>
                </a:tc>
                <a:tc>
                  <a:txBody>
                    <a:bodyPr wrap="square"/>
                    <a:lstStyle/>
                    <a:p>
                      <a:pPr algn="ctr"/>
                      <a:r>
                        <a:rPr sz="850" b="0" i="0">
                          <a:solidFill>
                            <a:srgbClr val="14313B"/>
                          </a:solidFill>
                          <a:latin typeface="Calibri (MS)"/>
                        </a:rPr>
                        <a:t>0,564</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155</a:t>
                      </a:r>
                    </a:p>
                  </a:txBody>
                  <a:tcPr marL="73152" marR="73152" marT="36576" marB="36576" anchor="ctr">
                    <a:solidFill>
                      <a:srgbClr val="FFFFFF"/>
                    </a:solidFill>
                  </a:tcPr>
                </a:tc>
                <a:tc>
                  <a:txBody>
                    <a:bodyPr wrap="square"/>
                    <a:lstStyle/>
                    <a:p>
                      <a:pPr algn="ctr"/>
                      <a:r>
                        <a:rPr sz="850" b="0" i="0">
                          <a:solidFill>
                            <a:srgbClr val="14313B"/>
                          </a:solidFill>
                          <a:latin typeface="Calibri (MS)"/>
                        </a:rPr>
                        <a:t>110,15865</a:t>
                      </a:r>
                    </a:p>
                  </a:txBody>
                  <a:tcPr marL="73152" marR="73152" marT="36576" marB="36576" anchor="ctr">
                    <a:solidFill>
                      <a:srgbClr val="FFFFFF"/>
                    </a:solidFill>
                  </a:tcPr>
                </a:tc>
                <a:tc>
                  <a:txBody>
                    <a:bodyPr wrap="square"/>
                    <a:lstStyle/>
                    <a:p>
                      <a:pPr algn="ctr"/>
                      <a:r>
                        <a:rPr sz="850" b="0" i="0">
                          <a:solidFill>
                            <a:srgbClr val="14313B"/>
                          </a:solidFill>
                          <a:latin typeface="Calibri (MS)"/>
                        </a:rPr>
                        <a:t>-7,87944</a:t>
                      </a:r>
                    </a:p>
                  </a:txBody>
                  <a:tcPr marL="73152" marR="73152" marT="36576" marB="36576" anchor="ctr">
                    <a:solidFill>
                      <a:srgbClr val="FFFFFF"/>
                    </a:solidFill>
                  </a:tcPr>
                </a:tc>
                <a:tc>
                  <a:txBody>
                    <a:bodyPr wrap="square"/>
                    <a:lstStyle/>
                    <a:p>
                      <a:pPr algn="ctr"/>
                      <a:r>
                        <a:rPr sz="850" b="0" i="0">
                          <a:solidFill>
                            <a:srgbClr val="14313B"/>
                          </a:solidFill>
                          <a:latin typeface="Calibri (MS)"/>
                        </a:rPr>
                        <a:t>0,506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156</a:t>
                      </a:r>
                    </a:p>
                  </a:txBody>
                  <a:tcPr marL="73152" marR="73152" marT="36576" marB="36576" anchor="ctr">
                    <a:solidFill>
                      <a:srgbClr val="EAF8FA"/>
                    </a:solidFill>
                  </a:tcPr>
                </a:tc>
                <a:tc>
                  <a:txBody>
                    <a:bodyPr wrap="square"/>
                    <a:lstStyle/>
                    <a:p>
                      <a:pPr algn="ctr"/>
                      <a:r>
                        <a:rPr sz="850" b="0" i="0">
                          <a:solidFill>
                            <a:srgbClr val="14313B"/>
                          </a:solidFill>
                          <a:latin typeface="Calibri (MS)"/>
                        </a:rPr>
                        <a:t>110,76528</a:t>
                      </a:r>
                    </a:p>
                  </a:txBody>
                  <a:tcPr marL="73152" marR="73152" marT="36576" marB="36576" anchor="ctr">
                    <a:solidFill>
                      <a:srgbClr val="EAF8FA"/>
                    </a:solidFill>
                  </a:tcPr>
                </a:tc>
                <a:tc>
                  <a:txBody>
                    <a:bodyPr wrap="square"/>
                    <a:lstStyle/>
                    <a:p>
                      <a:pPr algn="ctr"/>
                      <a:r>
                        <a:rPr sz="850" b="0" i="0">
                          <a:solidFill>
                            <a:srgbClr val="14313B"/>
                          </a:solidFill>
                          <a:latin typeface="Calibri (MS)"/>
                        </a:rPr>
                        <a:t>-7,86048</a:t>
                      </a:r>
                    </a:p>
                  </a:txBody>
                  <a:tcPr marL="73152" marR="73152" marT="36576" marB="36576" anchor="ctr">
                    <a:solidFill>
                      <a:srgbClr val="EAF8FA"/>
                    </a:solidFill>
                  </a:tcPr>
                </a:tc>
                <a:tc>
                  <a:txBody>
                    <a:bodyPr wrap="square"/>
                    <a:lstStyle/>
                    <a:p>
                      <a:pPr algn="ctr"/>
                      <a:r>
                        <a:rPr sz="850" b="0" i="0">
                          <a:solidFill>
                            <a:srgbClr val="14313B"/>
                          </a:solidFill>
                          <a:latin typeface="Calibri (MS)"/>
                        </a:rPr>
                        <a:t>0,590</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157</a:t>
                      </a:r>
                    </a:p>
                  </a:txBody>
                  <a:tcPr marL="73152" marR="73152" marT="36576" marB="36576" anchor="ctr">
                    <a:solidFill>
                      <a:srgbClr val="FFFFFF"/>
                    </a:solidFill>
                  </a:tcPr>
                </a:tc>
                <a:tc>
                  <a:txBody>
                    <a:bodyPr wrap="square"/>
                    <a:lstStyle/>
                    <a:p>
                      <a:pPr algn="ctr"/>
                      <a:r>
                        <a:rPr sz="850" b="0" i="0">
                          <a:solidFill>
                            <a:srgbClr val="14313B"/>
                          </a:solidFill>
                          <a:latin typeface="Calibri (MS)"/>
                        </a:rPr>
                        <a:t>110,46228</a:t>
                      </a:r>
                    </a:p>
                  </a:txBody>
                  <a:tcPr marL="73152" marR="73152" marT="36576" marB="36576" anchor="ctr">
                    <a:solidFill>
                      <a:srgbClr val="FFFFFF"/>
                    </a:solidFill>
                  </a:tcPr>
                </a:tc>
                <a:tc>
                  <a:txBody>
                    <a:bodyPr wrap="square"/>
                    <a:lstStyle/>
                    <a:p>
                      <a:pPr algn="ctr"/>
                      <a:r>
                        <a:rPr sz="850" b="0" i="0">
                          <a:solidFill>
                            <a:srgbClr val="14313B"/>
                          </a:solidFill>
                          <a:latin typeface="Calibri (MS)"/>
                        </a:rPr>
                        <a:t>-7,77532</a:t>
                      </a:r>
                    </a:p>
                  </a:txBody>
                  <a:tcPr marL="73152" marR="73152" marT="36576" marB="36576" anchor="ctr">
                    <a:solidFill>
                      <a:srgbClr val="FFFFFF"/>
                    </a:solidFill>
                  </a:tcPr>
                </a:tc>
                <a:tc>
                  <a:txBody>
                    <a:bodyPr wrap="square"/>
                    <a:lstStyle/>
                    <a:p>
                      <a:pPr algn="ctr"/>
                      <a:r>
                        <a:rPr sz="850" b="0" i="0">
                          <a:solidFill>
                            <a:srgbClr val="14313B"/>
                          </a:solidFill>
                          <a:latin typeface="Calibri (MS)"/>
                        </a:rPr>
                        <a:t>0,723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158</a:t>
                      </a:r>
                    </a:p>
                  </a:txBody>
                  <a:tcPr marL="73152" marR="73152" marT="36576" marB="36576" anchor="ctr">
                    <a:solidFill>
                      <a:srgbClr val="EAF8FA"/>
                    </a:solidFill>
                  </a:tcPr>
                </a:tc>
                <a:tc>
                  <a:txBody>
                    <a:bodyPr wrap="square"/>
                    <a:lstStyle/>
                    <a:p>
                      <a:pPr algn="ctr"/>
                      <a:r>
                        <a:rPr sz="850" b="0" i="0">
                          <a:solidFill>
                            <a:srgbClr val="14313B"/>
                          </a:solidFill>
                          <a:latin typeface="Calibri (MS)"/>
                        </a:rPr>
                        <a:t>110,36958</a:t>
                      </a:r>
                    </a:p>
                  </a:txBody>
                  <a:tcPr marL="73152" marR="73152" marT="36576" marB="36576" anchor="ctr">
                    <a:solidFill>
                      <a:srgbClr val="EAF8FA"/>
                    </a:solidFill>
                  </a:tcPr>
                </a:tc>
                <a:tc>
                  <a:txBody>
                    <a:bodyPr wrap="square"/>
                    <a:lstStyle/>
                    <a:p>
                      <a:pPr algn="ctr"/>
                      <a:r>
                        <a:rPr sz="850" b="0" i="0">
                          <a:solidFill>
                            <a:srgbClr val="14313B"/>
                          </a:solidFill>
                          <a:latin typeface="Calibri (MS)"/>
                        </a:rPr>
                        <a:t>-7,85132</a:t>
                      </a:r>
                    </a:p>
                  </a:txBody>
                  <a:tcPr marL="73152" marR="73152" marT="36576" marB="36576" anchor="ctr">
                    <a:solidFill>
                      <a:srgbClr val="EAF8FA"/>
                    </a:solidFill>
                  </a:tcPr>
                </a:tc>
                <a:tc>
                  <a:txBody>
                    <a:bodyPr wrap="square"/>
                    <a:lstStyle/>
                    <a:p>
                      <a:pPr algn="ctr"/>
                      <a:r>
                        <a:rPr sz="850" b="0" i="0">
                          <a:solidFill>
                            <a:srgbClr val="14313B"/>
                          </a:solidFill>
                          <a:latin typeface="Calibri (MS)"/>
                        </a:rPr>
                        <a:t>0,611</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159</a:t>
                      </a:r>
                    </a:p>
                  </a:txBody>
                  <a:tcPr marL="73152" marR="73152" marT="36576" marB="36576" anchor="ctr">
                    <a:solidFill>
                      <a:srgbClr val="FFFFFF"/>
                    </a:solidFill>
                  </a:tcPr>
                </a:tc>
                <a:tc>
                  <a:txBody>
                    <a:bodyPr wrap="square"/>
                    <a:lstStyle/>
                    <a:p>
                      <a:pPr algn="ctr"/>
                      <a:r>
                        <a:rPr sz="850" b="0" i="0">
                          <a:solidFill>
                            <a:srgbClr val="14313B"/>
                          </a:solidFill>
                          <a:latin typeface="Calibri (MS)"/>
                        </a:rPr>
                        <a:t>110,30822</a:t>
                      </a:r>
                    </a:p>
                  </a:txBody>
                  <a:tcPr marL="73152" marR="73152" marT="36576" marB="36576" anchor="ctr">
                    <a:solidFill>
                      <a:srgbClr val="FFFFFF"/>
                    </a:solidFill>
                  </a:tcPr>
                </a:tc>
                <a:tc>
                  <a:txBody>
                    <a:bodyPr wrap="square"/>
                    <a:lstStyle/>
                    <a:p>
                      <a:pPr algn="ctr"/>
                      <a:r>
                        <a:rPr sz="850" b="0" i="0">
                          <a:solidFill>
                            <a:srgbClr val="14313B"/>
                          </a:solidFill>
                          <a:latin typeface="Calibri (MS)"/>
                        </a:rPr>
                        <a:t>-7,76661</a:t>
                      </a:r>
                    </a:p>
                  </a:txBody>
                  <a:tcPr marL="73152" marR="73152" marT="36576" marB="36576" anchor="ctr">
                    <a:solidFill>
                      <a:srgbClr val="FFFFFF"/>
                    </a:solidFill>
                  </a:tcPr>
                </a:tc>
                <a:tc>
                  <a:txBody>
                    <a:bodyPr wrap="square"/>
                    <a:lstStyle/>
                    <a:p>
                      <a:pPr algn="ctr"/>
                      <a:r>
                        <a:rPr sz="850" b="0" i="0">
                          <a:solidFill>
                            <a:srgbClr val="14313B"/>
                          </a:solidFill>
                          <a:latin typeface="Calibri (MS)"/>
                        </a:rPr>
                        <a:t>0,530</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160</a:t>
                      </a:r>
                    </a:p>
                  </a:txBody>
                  <a:tcPr marL="73152" marR="73152" marT="36576" marB="36576" anchor="ctr">
                    <a:solidFill>
                      <a:srgbClr val="EAF8FA"/>
                    </a:solidFill>
                  </a:tcPr>
                </a:tc>
                <a:tc>
                  <a:txBody>
                    <a:bodyPr wrap="square"/>
                    <a:lstStyle/>
                    <a:p>
                      <a:pPr algn="ctr"/>
                      <a:r>
                        <a:rPr sz="850" b="0" i="0">
                          <a:solidFill>
                            <a:srgbClr val="14313B"/>
                          </a:solidFill>
                          <a:latin typeface="Calibri (MS)"/>
                        </a:rPr>
                        <a:t>110,20752</a:t>
                      </a:r>
                    </a:p>
                  </a:txBody>
                  <a:tcPr marL="73152" marR="73152" marT="36576" marB="36576" anchor="ctr">
                    <a:solidFill>
                      <a:srgbClr val="EAF8FA"/>
                    </a:solidFill>
                  </a:tcPr>
                </a:tc>
                <a:tc>
                  <a:txBody>
                    <a:bodyPr wrap="square"/>
                    <a:lstStyle/>
                    <a:p>
                      <a:pPr algn="ctr"/>
                      <a:r>
                        <a:rPr sz="850" b="0" i="0">
                          <a:solidFill>
                            <a:srgbClr val="14313B"/>
                          </a:solidFill>
                          <a:latin typeface="Calibri (MS)"/>
                        </a:rPr>
                        <a:t>-7,86875</a:t>
                      </a:r>
                    </a:p>
                  </a:txBody>
                  <a:tcPr marL="73152" marR="73152" marT="36576" marB="36576" anchor="ctr">
                    <a:solidFill>
                      <a:srgbClr val="EAF8FA"/>
                    </a:solidFill>
                  </a:tcPr>
                </a:tc>
                <a:tc>
                  <a:txBody>
                    <a:bodyPr wrap="square"/>
                    <a:lstStyle/>
                    <a:p>
                      <a:pPr algn="ctr"/>
                      <a:r>
                        <a:rPr sz="850" b="0" i="0">
                          <a:solidFill>
                            <a:srgbClr val="14313B"/>
                          </a:solidFill>
                          <a:latin typeface="Calibri (MS)"/>
                        </a:rPr>
                        <a:t>0,601</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161</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110,33876</a:t>
                      </a:r>
                    </a:p>
                  </a:txBody>
                  <a:tcPr marL="73152" marR="73152" marT="36576" marB="36576" anchor="ctr">
                    <a:solidFill>
                      <a:srgbClr val="FFFFFF"/>
                    </a:solidFill>
                  </a:tcPr>
                </a:tc>
                <a:tc>
                  <a:txBody>
                    <a:bodyPr wrap="square"/>
                    <a:lstStyle/>
                    <a:p>
                      <a:pPr algn="ctr"/>
                      <a:r>
                        <a:rPr sz="850" b="0" i="0">
                          <a:solidFill>
                            <a:srgbClr val="14313B"/>
                          </a:solidFill>
                          <a:latin typeface="Calibri (MS)"/>
                        </a:rPr>
                        <a:t>-7,64695</a:t>
                      </a:r>
                    </a:p>
                  </a:txBody>
                  <a:tcPr marL="73152" marR="73152" marT="36576" marB="36576" anchor="ctr">
                    <a:solidFill>
                      <a:srgbClr val="FFFFFF"/>
                    </a:solidFill>
                  </a:tcPr>
                </a:tc>
                <a:tc>
                  <a:txBody>
                    <a:bodyPr wrap="square"/>
                    <a:lstStyle/>
                    <a:p>
                      <a:pPr algn="ctr"/>
                      <a:r>
                        <a:rPr sz="850" b="0" i="0">
                          <a:solidFill>
                            <a:srgbClr val="14313B"/>
                          </a:solidFill>
                          <a:latin typeface="Calibri (MS)"/>
                        </a:rPr>
                        <a:t>0,635</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162</a:t>
                      </a:r>
                    </a:p>
                  </a:txBody>
                  <a:tcPr marL="73152" marR="73152" marT="36576" marB="36576" anchor="ctr">
                    <a:solidFill>
                      <a:srgbClr val="EAF8FA"/>
                    </a:solidFill>
                  </a:tcPr>
                </a:tc>
                <a:tc>
                  <a:txBody>
                    <a:bodyPr wrap="square"/>
                    <a:lstStyle/>
                    <a:p>
                      <a:pPr algn="ctr"/>
                      <a:r>
                        <a:rPr sz="850" b="0" i="0">
                          <a:solidFill>
                            <a:srgbClr val="14313B"/>
                          </a:solidFill>
                          <a:latin typeface="Calibri (MS)"/>
                        </a:rPr>
                        <a:t>110,36104</a:t>
                      </a:r>
                    </a:p>
                  </a:txBody>
                  <a:tcPr marL="73152" marR="73152" marT="36576" marB="36576" anchor="ctr">
                    <a:solidFill>
                      <a:srgbClr val="EAF8FA"/>
                    </a:solidFill>
                  </a:tcPr>
                </a:tc>
                <a:tc>
                  <a:txBody>
                    <a:bodyPr wrap="square"/>
                    <a:lstStyle/>
                    <a:p>
                      <a:pPr algn="ctr"/>
                      <a:r>
                        <a:rPr sz="850" b="0" i="0">
                          <a:solidFill>
                            <a:srgbClr val="14313B"/>
                          </a:solidFill>
                          <a:latin typeface="Calibri (MS)"/>
                        </a:rPr>
                        <a:t>-7,85455</a:t>
                      </a:r>
                    </a:p>
                  </a:txBody>
                  <a:tcPr marL="73152" marR="73152" marT="36576" marB="36576" anchor="ctr">
                    <a:solidFill>
                      <a:srgbClr val="EAF8FA"/>
                    </a:solidFill>
                  </a:tcPr>
                </a:tc>
                <a:tc>
                  <a:txBody>
                    <a:bodyPr wrap="square"/>
                    <a:lstStyle/>
                    <a:p>
                      <a:pPr algn="ctr"/>
                      <a:r>
                        <a:rPr sz="850" b="0" i="0">
                          <a:solidFill>
                            <a:srgbClr val="14313B"/>
                          </a:solidFill>
                          <a:latin typeface="Calibri (MS)"/>
                        </a:rPr>
                        <a:t>0,706</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163</a:t>
                      </a:r>
                    </a:p>
                  </a:txBody>
                  <a:tcPr marL="73152" marR="73152" marT="36576" marB="36576" anchor="ctr">
                    <a:solidFill>
                      <a:srgbClr val="FFFFFF"/>
                    </a:solidFill>
                  </a:tcPr>
                </a:tc>
                <a:tc>
                  <a:txBody>
                    <a:bodyPr wrap="square"/>
                    <a:lstStyle/>
                    <a:p>
                      <a:pPr algn="ctr"/>
                      <a:r>
                        <a:rPr sz="850" b="0" i="0">
                          <a:solidFill>
                            <a:srgbClr val="14313B"/>
                          </a:solidFill>
                          <a:latin typeface="Calibri (MS)"/>
                        </a:rPr>
                        <a:t>110,40883</a:t>
                      </a:r>
                    </a:p>
                  </a:txBody>
                  <a:tcPr marL="73152" marR="73152" marT="36576" marB="36576" anchor="ctr">
                    <a:solidFill>
                      <a:srgbClr val="FFFFFF"/>
                    </a:solidFill>
                  </a:tcPr>
                </a:tc>
                <a:tc>
                  <a:txBody>
                    <a:bodyPr wrap="square"/>
                    <a:lstStyle/>
                    <a:p>
                      <a:pPr algn="ctr"/>
                      <a:r>
                        <a:rPr sz="850" b="0" i="0">
                          <a:solidFill>
                            <a:srgbClr val="14313B"/>
                          </a:solidFill>
                          <a:latin typeface="Calibri (MS)"/>
                        </a:rPr>
                        <a:t>-7,81054</a:t>
                      </a:r>
                    </a:p>
                  </a:txBody>
                  <a:tcPr marL="73152" marR="73152" marT="36576" marB="36576" anchor="ctr">
                    <a:solidFill>
                      <a:srgbClr val="FFFFFF"/>
                    </a:solidFill>
                  </a:tcPr>
                </a:tc>
                <a:tc>
                  <a:txBody>
                    <a:bodyPr wrap="square"/>
                    <a:lstStyle/>
                    <a:p>
                      <a:pPr algn="ctr"/>
                      <a:r>
                        <a:rPr sz="850" b="0" i="0">
                          <a:solidFill>
                            <a:srgbClr val="14313B"/>
                          </a:solidFill>
                          <a:latin typeface="Calibri (MS)"/>
                        </a:rPr>
                        <a:t>0,683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164</a:t>
                      </a:r>
                    </a:p>
                  </a:txBody>
                  <a:tcPr marL="73152" marR="73152" marT="36576" marB="36576" anchor="ctr">
                    <a:solidFill>
                      <a:srgbClr val="EAF8FA"/>
                    </a:solidFill>
                  </a:tcPr>
                </a:tc>
                <a:tc>
                  <a:txBody>
                    <a:bodyPr wrap="square"/>
                    <a:lstStyle/>
                    <a:p>
                      <a:pPr algn="ctr"/>
                      <a:r>
                        <a:rPr sz="850" b="0" i="0">
                          <a:solidFill>
                            <a:srgbClr val="14313B"/>
                          </a:solidFill>
                          <a:latin typeface="Calibri (MS)"/>
                        </a:rPr>
                        <a:t>110,33310</a:t>
                      </a:r>
                    </a:p>
                  </a:txBody>
                  <a:tcPr marL="73152" marR="73152" marT="36576" marB="36576" anchor="ctr">
                    <a:solidFill>
                      <a:srgbClr val="EAF8FA"/>
                    </a:solidFill>
                  </a:tcPr>
                </a:tc>
                <a:tc>
                  <a:txBody>
                    <a:bodyPr wrap="square"/>
                    <a:lstStyle/>
                    <a:p>
                      <a:pPr algn="ctr"/>
                      <a:r>
                        <a:rPr sz="850" b="0" i="0">
                          <a:solidFill>
                            <a:srgbClr val="14313B"/>
                          </a:solidFill>
                          <a:latin typeface="Calibri (MS)"/>
                        </a:rPr>
                        <a:t>-7,76131</a:t>
                      </a:r>
                    </a:p>
                  </a:txBody>
                  <a:tcPr marL="73152" marR="73152" marT="36576" marB="36576" anchor="ctr">
                    <a:solidFill>
                      <a:srgbClr val="EAF8FA"/>
                    </a:solidFill>
                  </a:tcPr>
                </a:tc>
                <a:tc>
                  <a:txBody>
                    <a:bodyPr wrap="square"/>
                    <a:lstStyle/>
                    <a:p>
                      <a:pPr algn="ctr"/>
                      <a:r>
                        <a:rPr sz="850" b="0" i="0">
                          <a:solidFill>
                            <a:srgbClr val="14313B"/>
                          </a:solidFill>
                          <a:latin typeface="Calibri (MS)"/>
                        </a:rPr>
                        <a:t>0,701</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165</a:t>
                      </a:r>
                    </a:p>
                  </a:txBody>
                  <a:tcPr marL="73152" marR="73152" marT="36576" marB="36576" anchor="ctr">
                    <a:solidFill>
                      <a:srgbClr val="FFFFFF"/>
                    </a:solidFill>
                  </a:tcPr>
                </a:tc>
                <a:tc>
                  <a:txBody>
                    <a:bodyPr wrap="square"/>
                    <a:lstStyle/>
                    <a:p>
                      <a:pPr algn="ctr"/>
                      <a:r>
                        <a:rPr sz="850" b="0" i="0">
                          <a:solidFill>
                            <a:srgbClr val="14313B"/>
                          </a:solidFill>
                          <a:latin typeface="Calibri (MS)"/>
                        </a:rPr>
                        <a:t>110,47549</a:t>
                      </a:r>
                    </a:p>
                  </a:txBody>
                  <a:tcPr marL="73152" marR="73152" marT="36576" marB="36576" anchor="ctr">
                    <a:solidFill>
                      <a:srgbClr val="FFFFFF"/>
                    </a:solidFill>
                  </a:tcPr>
                </a:tc>
                <a:tc>
                  <a:txBody>
                    <a:bodyPr wrap="square"/>
                    <a:lstStyle/>
                    <a:p>
                      <a:pPr algn="ctr"/>
                      <a:r>
                        <a:rPr sz="850" b="0" i="0">
                          <a:solidFill>
                            <a:srgbClr val="14313B"/>
                          </a:solidFill>
                          <a:latin typeface="Calibri (MS)"/>
                        </a:rPr>
                        <a:t>-7,73454</a:t>
                      </a:r>
                    </a:p>
                  </a:txBody>
                  <a:tcPr marL="73152" marR="73152" marT="36576" marB="36576" anchor="ctr">
                    <a:solidFill>
                      <a:srgbClr val="FFFFFF"/>
                    </a:solidFill>
                  </a:tcPr>
                </a:tc>
                <a:tc>
                  <a:txBody>
                    <a:bodyPr wrap="square"/>
                    <a:lstStyle/>
                    <a:p>
                      <a:pPr algn="ctr"/>
                      <a:r>
                        <a:rPr sz="850" b="0" i="0">
                          <a:solidFill>
                            <a:srgbClr val="14313B"/>
                          </a:solidFill>
                          <a:latin typeface="Calibri (MS)"/>
                        </a:rPr>
                        <a:t>0,707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166</a:t>
                      </a:r>
                    </a:p>
                  </a:txBody>
                  <a:tcPr marL="73152" marR="73152" marT="36576" marB="36576" anchor="ctr">
                    <a:solidFill>
                      <a:srgbClr val="EAF8FA"/>
                    </a:solidFill>
                  </a:tcPr>
                </a:tc>
                <a:tc>
                  <a:txBody>
                    <a:bodyPr wrap="square"/>
                    <a:lstStyle/>
                    <a:p>
                      <a:pPr algn="ctr"/>
                      <a:r>
                        <a:rPr sz="850" b="0" i="0">
                          <a:solidFill>
                            <a:srgbClr val="14313B"/>
                          </a:solidFill>
                          <a:latin typeface="Calibri (MS)"/>
                        </a:rPr>
                        <a:t>110,59101</a:t>
                      </a:r>
                    </a:p>
                  </a:txBody>
                  <a:tcPr marL="73152" marR="73152" marT="36576" marB="36576" anchor="ctr">
                    <a:solidFill>
                      <a:srgbClr val="EAF8FA"/>
                    </a:solidFill>
                  </a:tcPr>
                </a:tc>
                <a:tc>
                  <a:txBody>
                    <a:bodyPr wrap="square"/>
                    <a:lstStyle/>
                    <a:p>
                      <a:pPr algn="ctr"/>
                      <a:r>
                        <a:rPr sz="850" b="0" i="0">
                          <a:solidFill>
                            <a:srgbClr val="14313B"/>
                          </a:solidFill>
                          <a:latin typeface="Calibri (MS)"/>
                        </a:rPr>
                        <a:t>-7,97214</a:t>
                      </a:r>
                    </a:p>
                  </a:txBody>
                  <a:tcPr marL="73152" marR="73152" marT="36576" marB="36576" anchor="ctr">
                    <a:solidFill>
                      <a:srgbClr val="EAF8FA"/>
                    </a:solidFill>
                  </a:tcPr>
                </a:tc>
                <a:tc>
                  <a:txBody>
                    <a:bodyPr wrap="square"/>
                    <a:lstStyle/>
                    <a:p>
                      <a:pPr algn="ctr"/>
                      <a:r>
                        <a:rPr sz="850" b="0" i="0">
                          <a:solidFill>
                            <a:srgbClr val="14313B"/>
                          </a:solidFill>
                          <a:latin typeface="Calibri (MS)"/>
                        </a:rPr>
                        <a:t>0,619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167</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110,33391</a:t>
                      </a:r>
                    </a:p>
                  </a:txBody>
                  <a:tcPr marL="73152" marR="73152" marT="36576" marB="36576" anchor="ctr">
                    <a:solidFill>
                      <a:srgbClr val="FFFFFF"/>
                    </a:solidFill>
                  </a:tcPr>
                </a:tc>
                <a:tc>
                  <a:txBody>
                    <a:bodyPr wrap="square"/>
                    <a:lstStyle/>
                    <a:p>
                      <a:pPr algn="ctr"/>
                      <a:r>
                        <a:rPr sz="850" b="0" i="0">
                          <a:solidFill>
                            <a:srgbClr val="14313B"/>
                          </a:solidFill>
                          <a:latin typeface="Calibri (MS)"/>
                        </a:rPr>
                        <a:t>-7,86920</a:t>
                      </a:r>
                    </a:p>
                  </a:txBody>
                  <a:tcPr marL="73152" marR="73152" marT="36576" marB="36576" anchor="ctr">
                    <a:solidFill>
                      <a:srgbClr val="FFFFFF"/>
                    </a:solidFill>
                  </a:tcPr>
                </a:tc>
                <a:tc>
                  <a:txBody>
                    <a:bodyPr wrap="square"/>
                    <a:lstStyle/>
                    <a:p>
                      <a:pPr algn="ctr"/>
                      <a:r>
                        <a:rPr sz="850" b="0" i="0">
                          <a:solidFill>
                            <a:srgbClr val="14313B"/>
                          </a:solidFill>
                          <a:latin typeface="Calibri (MS)"/>
                        </a:rPr>
                        <a:t>0,606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168</a:t>
                      </a:r>
                    </a:p>
                  </a:txBody>
                  <a:tcPr marL="73152" marR="73152" marT="36576" marB="36576" anchor="ctr">
                    <a:solidFill>
                      <a:srgbClr val="EAF8FA"/>
                    </a:solidFill>
                  </a:tcPr>
                </a:tc>
                <a:tc>
                  <a:txBody>
                    <a:bodyPr wrap="square"/>
                    <a:lstStyle/>
                    <a:p>
                      <a:pPr algn="ctr"/>
                      <a:r>
                        <a:rPr sz="850" b="0" i="0">
                          <a:solidFill>
                            <a:srgbClr val="14313B"/>
                          </a:solidFill>
                          <a:latin typeface="Calibri (MS)"/>
                        </a:rPr>
                        <a:t>110,38736</a:t>
                      </a:r>
                    </a:p>
                  </a:txBody>
                  <a:tcPr marL="73152" marR="73152" marT="36576" marB="36576" anchor="ctr">
                    <a:solidFill>
                      <a:srgbClr val="EAF8FA"/>
                    </a:solidFill>
                  </a:tcPr>
                </a:tc>
                <a:tc>
                  <a:txBody>
                    <a:bodyPr wrap="square"/>
                    <a:lstStyle/>
                    <a:p>
                      <a:pPr algn="ctr"/>
                      <a:r>
                        <a:rPr sz="850" b="0" i="0">
                          <a:solidFill>
                            <a:srgbClr val="14313B"/>
                          </a:solidFill>
                          <a:latin typeface="Calibri (MS)"/>
                        </a:rPr>
                        <a:t>-7,76266</a:t>
                      </a:r>
                    </a:p>
                  </a:txBody>
                  <a:tcPr marL="73152" marR="73152" marT="36576" marB="36576" anchor="ctr">
                    <a:solidFill>
                      <a:srgbClr val="EAF8FA"/>
                    </a:solidFill>
                  </a:tcPr>
                </a:tc>
                <a:tc>
                  <a:txBody>
                    <a:bodyPr wrap="square"/>
                    <a:lstStyle/>
                    <a:p>
                      <a:pPr algn="ctr"/>
                      <a:r>
                        <a:rPr sz="850" b="0" i="0">
                          <a:solidFill>
                            <a:srgbClr val="14313B"/>
                          </a:solidFill>
                          <a:latin typeface="Calibri (MS)"/>
                        </a:rPr>
                        <a:t>0,720</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169</a:t>
                      </a:r>
                    </a:p>
                  </a:txBody>
                  <a:tcPr marL="73152" marR="73152" marT="36576" marB="36576" anchor="ctr">
                    <a:solidFill>
                      <a:srgbClr val="FFFFFF"/>
                    </a:solidFill>
                  </a:tcPr>
                </a:tc>
                <a:tc>
                  <a:txBody>
                    <a:bodyPr wrap="square"/>
                    <a:lstStyle/>
                    <a:p>
                      <a:pPr algn="ctr"/>
                      <a:r>
                        <a:rPr sz="850" b="0" i="0">
                          <a:solidFill>
                            <a:srgbClr val="14313B"/>
                          </a:solidFill>
                          <a:latin typeface="Calibri (MS)"/>
                        </a:rPr>
                        <a:t>110,42500</a:t>
                      </a:r>
                    </a:p>
                  </a:txBody>
                  <a:tcPr marL="73152" marR="73152" marT="36576" marB="36576" anchor="ctr">
                    <a:solidFill>
                      <a:srgbClr val="FFFFFF"/>
                    </a:solidFill>
                  </a:tcPr>
                </a:tc>
                <a:tc>
                  <a:txBody>
                    <a:bodyPr wrap="square"/>
                    <a:lstStyle/>
                    <a:p>
                      <a:pPr algn="ctr"/>
                      <a:r>
                        <a:rPr sz="850" b="0" i="0">
                          <a:solidFill>
                            <a:srgbClr val="14313B"/>
                          </a:solidFill>
                          <a:latin typeface="Calibri (MS)"/>
                        </a:rPr>
                        <a:t>-7,71199</a:t>
                      </a:r>
                    </a:p>
                  </a:txBody>
                  <a:tcPr marL="73152" marR="73152" marT="36576" marB="36576" anchor="ctr">
                    <a:solidFill>
                      <a:srgbClr val="FFFFFF"/>
                    </a:solidFill>
                  </a:tcPr>
                </a:tc>
                <a:tc>
                  <a:txBody>
                    <a:bodyPr wrap="square"/>
                    <a:lstStyle/>
                    <a:p>
                      <a:pPr algn="ctr"/>
                      <a:r>
                        <a:rPr sz="850" b="0" i="0">
                          <a:solidFill>
                            <a:srgbClr val="14313B"/>
                          </a:solidFill>
                          <a:latin typeface="Calibri (MS)"/>
                        </a:rPr>
                        <a:t>0,707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170</a:t>
                      </a:r>
                    </a:p>
                  </a:txBody>
                  <a:tcPr marL="73152" marR="73152" marT="36576" marB="36576" anchor="ctr">
                    <a:solidFill>
                      <a:srgbClr val="EAF8FA"/>
                    </a:solidFill>
                  </a:tcPr>
                </a:tc>
                <a:tc>
                  <a:txBody>
                    <a:bodyPr wrap="square"/>
                    <a:lstStyle/>
                    <a:p>
                      <a:pPr algn="ctr"/>
                      <a:r>
                        <a:rPr sz="850" b="0" i="0">
                          <a:solidFill>
                            <a:srgbClr val="14313B"/>
                          </a:solidFill>
                          <a:latin typeface="Calibri (MS)"/>
                        </a:rPr>
                        <a:t>110,36329</a:t>
                      </a:r>
                    </a:p>
                  </a:txBody>
                  <a:tcPr marL="73152" marR="73152" marT="36576" marB="36576" anchor="ctr">
                    <a:solidFill>
                      <a:srgbClr val="EAF8FA"/>
                    </a:solidFill>
                  </a:tcPr>
                </a:tc>
                <a:tc>
                  <a:txBody>
                    <a:bodyPr wrap="square"/>
                    <a:lstStyle/>
                    <a:p>
                      <a:pPr algn="ctr"/>
                      <a:r>
                        <a:rPr sz="850" b="0" i="0">
                          <a:solidFill>
                            <a:srgbClr val="14313B"/>
                          </a:solidFill>
                          <a:latin typeface="Calibri (MS)"/>
                        </a:rPr>
                        <a:t>-7,82213</a:t>
                      </a:r>
                    </a:p>
                  </a:txBody>
                  <a:tcPr marL="73152" marR="73152" marT="36576" marB="36576" anchor="ctr">
                    <a:solidFill>
                      <a:srgbClr val="EAF8FA"/>
                    </a:solidFill>
                  </a:tcPr>
                </a:tc>
                <a:tc>
                  <a:txBody>
                    <a:bodyPr wrap="square"/>
                    <a:lstStyle/>
                    <a:p>
                      <a:pPr algn="ctr"/>
                      <a:r>
                        <a:rPr sz="850" b="0" i="0">
                          <a:solidFill>
                            <a:srgbClr val="14313B"/>
                          </a:solidFill>
                          <a:latin typeface="Calibri (MS)"/>
                        </a:rPr>
                        <a:t>0,702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171</a:t>
                      </a:r>
                    </a:p>
                  </a:txBody>
                  <a:tcPr marL="73152" marR="73152" marT="36576" marB="36576" anchor="ctr">
                    <a:solidFill>
                      <a:srgbClr val="FFFFFF"/>
                    </a:solidFill>
                  </a:tcPr>
                </a:tc>
                <a:tc>
                  <a:txBody>
                    <a:bodyPr wrap="square"/>
                    <a:lstStyle/>
                    <a:p>
                      <a:pPr algn="ctr"/>
                      <a:r>
                        <a:rPr sz="850" b="0" i="0">
                          <a:solidFill>
                            <a:srgbClr val="14313B"/>
                          </a:solidFill>
                          <a:latin typeface="Calibri (MS)"/>
                        </a:rPr>
                        <a:t>110,37110</a:t>
                      </a:r>
                    </a:p>
                  </a:txBody>
                  <a:tcPr marL="73152" marR="73152" marT="36576" marB="36576" anchor="ctr">
                    <a:solidFill>
                      <a:srgbClr val="FFFFFF"/>
                    </a:solidFill>
                  </a:tcPr>
                </a:tc>
                <a:tc>
                  <a:txBody>
                    <a:bodyPr wrap="square"/>
                    <a:lstStyle/>
                    <a:p>
                      <a:pPr algn="ctr"/>
                      <a:r>
                        <a:rPr sz="850" b="0" i="0">
                          <a:solidFill>
                            <a:srgbClr val="14313B"/>
                          </a:solidFill>
                          <a:latin typeface="Calibri (MS)"/>
                        </a:rPr>
                        <a:t>-7,82940</a:t>
                      </a:r>
                    </a:p>
                  </a:txBody>
                  <a:tcPr marL="73152" marR="73152" marT="36576" marB="36576" anchor="ctr">
                    <a:solidFill>
                      <a:srgbClr val="FFFFFF"/>
                    </a:solidFill>
                  </a:tcPr>
                </a:tc>
                <a:tc>
                  <a:txBody>
                    <a:bodyPr wrap="square"/>
                    <a:lstStyle/>
                    <a:p>
                      <a:pPr algn="ctr"/>
                      <a:r>
                        <a:rPr sz="850" b="0" i="0">
                          <a:solidFill>
                            <a:srgbClr val="14313B"/>
                          </a:solidFill>
                          <a:latin typeface="Calibri (MS)"/>
                        </a:rPr>
                        <a:t>0,682</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172</a:t>
                      </a:r>
                    </a:p>
                  </a:txBody>
                  <a:tcPr marL="73152" marR="73152" marT="36576" marB="36576" anchor="ctr">
                    <a:solidFill>
                      <a:srgbClr val="EAF8FA"/>
                    </a:solidFill>
                  </a:tcPr>
                </a:tc>
                <a:tc>
                  <a:txBody>
                    <a:bodyPr wrap="square"/>
                    <a:lstStyle/>
                    <a:p>
                      <a:pPr algn="ctr"/>
                      <a:r>
                        <a:rPr sz="850" b="0" i="0">
                          <a:solidFill>
                            <a:srgbClr val="14313B"/>
                          </a:solidFill>
                          <a:latin typeface="Calibri (MS)"/>
                        </a:rPr>
                        <a:t>110,42392</a:t>
                      </a:r>
                    </a:p>
                  </a:txBody>
                  <a:tcPr marL="73152" marR="73152" marT="36576" marB="36576" anchor="ctr">
                    <a:solidFill>
                      <a:srgbClr val="EAF8FA"/>
                    </a:solidFill>
                  </a:tcPr>
                </a:tc>
                <a:tc>
                  <a:txBody>
                    <a:bodyPr wrap="square"/>
                    <a:lstStyle/>
                    <a:p>
                      <a:pPr algn="ctr"/>
                      <a:r>
                        <a:rPr sz="850" b="0" i="0">
                          <a:solidFill>
                            <a:srgbClr val="14313B"/>
                          </a:solidFill>
                          <a:latin typeface="Calibri (MS)"/>
                        </a:rPr>
                        <a:t>-7,83829</a:t>
                      </a:r>
                    </a:p>
                  </a:txBody>
                  <a:tcPr marL="73152" marR="73152" marT="36576" marB="36576" anchor="ctr">
                    <a:solidFill>
                      <a:srgbClr val="EAF8FA"/>
                    </a:solidFill>
                  </a:tcPr>
                </a:tc>
                <a:tc>
                  <a:txBody>
                    <a:bodyPr wrap="square"/>
                    <a:lstStyle/>
                    <a:p>
                      <a:pPr algn="ctr"/>
                      <a:r>
                        <a:rPr sz="850" b="0" i="0">
                          <a:solidFill>
                            <a:srgbClr val="14313B"/>
                          </a:solidFill>
                          <a:latin typeface="Calibri (MS)"/>
                        </a:rPr>
                        <a:t>0,606</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173</a:t>
                      </a:r>
                    </a:p>
                  </a:txBody>
                  <a:tcPr marL="73152" marR="73152" marT="36576" marB="36576" anchor="ctr">
                    <a:solidFill>
                      <a:srgbClr val="FFFFFF"/>
                    </a:solidFill>
                  </a:tcPr>
                </a:tc>
                <a:tc>
                  <a:txBody>
                    <a:bodyPr wrap="square"/>
                    <a:lstStyle/>
                    <a:p>
                      <a:pPr algn="ctr"/>
                      <a:r>
                        <a:rPr sz="850" b="0" i="0">
                          <a:solidFill>
                            <a:srgbClr val="14313B"/>
                          </a:solidFill>
                          <a:latin typeface="Calibri (MS)"/>
                        </a:rPr>
                        <a:t>110,31541</a:t>
                      </a:r>
                    </a:p>
                  </a:txBody>
                  <a:tcPr marL="73152" marR="73152" marT="36576" marB="36576" anchor="ctr">
                    <a:solidFill>
                      <a:srgbClr val="FFFFFF"/>
                    </a:solidFill>
                  </a:tcPr>
                </a:tc>
                <a:tc>
                  <a:txBody>
                    <a:bodyPr wrap="square"/>
                    <a:lstStyle/>
                    <a:p>
                      <a:pPr algn="ctr"/>
                      <a:r>
                        <a:rPr sz="850" b="0" i="0">
                          <a:solidFill>
                            <a:srgbClr val="14313B"/>
                          </a:solidFill>
                          <a:latin typeface="Calibri (MS)"/>
                        </a:rPr>
                        <a:t>-7,95283</a:t>
                      </a:r>
                    </a:p>
                  </a:txBody>
                  <a:tcPr marL="73152" marR="73152" marT="36576" marB="36576" anchor="ctr">
                    <a:solidFill>
                      <a:srgbClr val="FFFFFF"/>
                    </a:solidFill>
                  </a:tcPr>
                </a:tc>
                <a:tc>
                  <a:txBody>
                    <a:bodyPr wrap="square"/>
                    <a:lstStyle/>
                    <a:p>
                      <a:pPr algn="ctr"/>
                      <a:r>
                        <a:rPr sz="850" b="0" i="0">
                          <a:solidFill>
                            <a:srgbClr val="14313B"/>
                          </a:solidFill>
                          <a:latin typeface="Calibri (MS)"/>
                        </a:rPr>
                        <a:t>0,606</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174</a:t>
                      </a:r>
                    </a:p>
                  </a:txBody>
                  <a:tcPr marL="73152" marR="73152" marT="36576" marB="36576" anchor="ctr">
                    <a:solidFill>
                      <a:srgbClr val="EAF8FA"/>
                    </a:solidFill>
                  </a:tcPr>
                </a:tc>
                <a:tc>
                  <a:txBody>
                    <a:bodyPr wrap="square"/>
                    <a:lstStyle/>
                    <a:p>
                      <a:pPr algn="ctr"/>
                      <a:r>
                        <a:rPr sz="850" b="0" i="0">
                          <a:solidFill>
                            <a:srgbClr val="14313B"/>
                          </a:solidFill>
                          <a:latin typeface="Calibri (MS)"/>
                        </a:rPr>
                        <a:t>110,39257</a:t>
                      </a:r>
                    </a:p>
                  </a:txBody>
                  <a:tcPr marL="73152" marR="73152" marT="36576" marB="36576" anchor="ctr">
                    <a:solidFill>
                      <a:srgbClr val="EAF8FA"/>
                    </a:solidFill>
                  </a:tcPr>
                </a:tc>
                <a:tc>
                  <a:txBody>
                    <a:bodyPr wrap="square"/>
                    <a:lstStyle/>
                    <a:p>
                      <a:pPr algn="ctr"/>
                      <a:r>
                        <a:rPr sz="850" b="0" i="0">
                          <a:solidFill>
                            <a:srgbClr val="14313B"/>
                          </a:solidFill>
                          <a:latin typeface="Calibri (MS)"/>
                        </a:rPr>
                        <a:t>-7,85761</a:t>
                      </a:r>
                    </a:p>
                  </a:txBody>
                  <a:tcPr marL="73152" marR="73152" marT="36576" marB="36576" anchor="ctr">
                    <a:solidFill>
                      <a:srgbClr val="EAF8FA"/>
                    </a:solidFill>
                  </a:tcPr>
                </a:tc>
                <a:tc>
                  <a:txBody>
                    <a:bodyPr wrap="square"/>
                    <a:lstStyle/>
                    <a:p>
                      <a:pPr algn="ctr"/>
                      <a:r>
                        <a:rPr sz="850" b="0" i="0">
                          <a:solidFill>
                            <a:srgbClr val="14313B"/>
                          </a:solidFill>
                          <a:latin typeface="Calibri (MS)"/>
                        </a:rPr>
                        <a:t>0,702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175</a:t>
                      </a:r>
                    </a:p>
                  </a:txBody>
                  <a:tcPr marL="73152" marR="73152" marT="36576" marB="36576" anchor="ctr">
                    <a:solidFill>
                      <a:srgbClr val="FFFFFF"/>
                    </a:solidFill>
                  </a:tcPr>
                </a:tc>
                <a:tc>
                  <a:txBody>
                    <a:bodyPr wrap="square"/>
                    <a:lstStyle/>
                    <a:p>
                      <a:pPr algn="ctr"/>
                      <a:r>
                        <a:rPr sz="850" b="0" i="0">
                          <a:solidFill>
                            <a:srgbClr val="14313B"/>
                          </a:solidFill>
                          <a:latin typeface="Calibri (MS)"/>
                        </a:rPr>
                        <a:t>110,71480</a:t>
                      </a:r>
                    </a:p>
                  </a:txBody>
                  <a:tcPr marL="73152" marR="73152" marT="36576" marB="36576" anchor="ctr">
                    <a:solidFill>
                      <a:srgbClr val="FFFFFF"/>
                    </a:solidFill>
                  </a:tcPr>
                </a:tc>
                <a:tc>
                  <a:txBody>
                    <a:bodyPr wrap="square"/>
                    <a:lstStyle/>
                    <a:p>
                      <a:pPr algn="ctr"/>
                      <a:r>
                        <a:rPr sz="850" b="0" i="0">
                          <a:solidFill>
                            <a:srgbClr val="14313B"/>
                          </a:solidFill>
                          <a:latin typeface="Calibri (MS)"/>
                        </a:rPr>
                        <a:t>-7,88177</a:t>
                      </a:r>
                    </a:p>
                  </a:txBody>
                  <a:tcPr marL="73152" marR="73152" marT="36576" marB="36576" anchor="ctr">
                    <a:solidFill>
                      <a:srgbClr val="FFFFFF"/>
                    </a:solidFill>
                  </a:tcPr>
                </a:tc>
                <a:tc>
                  <a:txBody>
                    <a:bodyPr wrap="square"/>
                    <a:lstStyle/>
                    <a:p>
                      <a:pPr algn="ctr"/>
                      <a:r>
                        <a:rPr sz="850" b="0" i="0">
                          <a:solidFill>
                            <a:srgbClr val="14313B"/>
                          </a:solidFill>
                          <a:latin typeface="Calibri (MS)"/>
                        </a:rPr>
                        <a:t>0,651</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bl>
          </a:graphicData>
        </a:graphic>
      </p:graphicFrame>
      <p:graphicFrame>
        <p:nvGraphicFramePr>
          <p:cNvPr id="28" name="Table 27"/>
          <p:cNvGraphicFramePr>
            <a:graphicFrameLocks noGrp="1"/>
          </p:cNvGraphicFramePr>
          <p:nvPr/>
        </p:nvGraphicFramePr>
        <p:xfrm>
          <a:off x="9235440" y="1874519"/>
          <a:ext cx="8229598" cy="6775678"/>
        </p:xfrm>
        <a:graphic>
          <a:graphicData uri="http://schemas.openxmlformats.org/drawingml/2006/table">
            <a:tbl>
              <a:tblPr firstRow="1" bandRow="1">
                <a:tableStyleId>{5C22544A-7EE6-4342-B048-85BDC9FD1C3A}</a:tableStyleId>
              </a:tblPr>
              <a:tblGrid>
                <a:gridCol w="574158"/>
                <a:gridCol w="1435395"/>
                <a:gridCol w="1435395"/>
                <a:gridCol w="1244009"/>
                <a:gridCol w="1339702"/>
                <a:gridCol w="1339702"/>
                <a:gridCol w="861237"/>
              </a:tblGrid>
              <a:tr h="260603">
                <a:tc>
                  <a:txBody>
                    <a:bodyPr wrap="square"/>
                    <a:lstStyle/>
                    <a:p>
                      <a:pPr algn="ctr"/>
                      <a:r>
                        <a:rPr sz="850" b="1" i="0">
                          <a:solidFill>
                            <a:srgbClr val="FFFFFF"/>
                          </a:solidFill>
                          <a:latin typeface="Calibri (MS) Bold"/>
                        </a:rPr>
                        <a:t>No</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Lon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Lat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Prob. built</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Peta</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Rujukan</a:t>
                      </a:r>
                    </a:p>
                  </a:txBody>
                  <a:tcPr marL="73152" marR="73152" marT="36576" marB="36576" anchor="ctr">
                    <a:solidFill>
                      <a:srgbClr val="0B5E6E"/>
                    </a:solidFill>
                  </a:tcPr>
                </a:tc>
                <a:tc>
                  <a:txBody>
                    <a:bodyPr wrap="square"/>
                    <a:lstStyle/>
                    <a:p>
                      <a:pPr algn="ctr"/>
                      <a:r>
                        <a:rPr sz="850" b="1" i="0">
                          <a:solidFill>
                            <a:srgbClr val="FFFFFF"/>
                          </a:solidFill>
                          <a:latin typeface="Calibri (MS) Bold"/>
                        </a:rPr>
                        <a:t>Sesuai</a:t>
                      </a:r>
                    </a:p>
                  </a:txBody>
                  <a:tcPr marL="73152" marR="73152" marT="36576" marB="36576" anchor="ctr">
                    <a:solidFill>
                      <a:srgbClr val="0B5E6E"/>
                    </a:solidFill>
                  </a:tcPr>
                </a:tc>
              </a:tr>
              <a:tr h="260603">
                <a:tc>
                  <a:txBody>
                    <a:bodyPr wrap="square"/>
                    <a:lstStyle/>
                    <a:p>
                      <a:pPr algn="ctr"/>
                      <a:r>
                        <a:rPr sz="850" b="0" i="0">
                          <a:solidFill>
                            <a:srgbClr val="14313B"/>
                          </a:solidFill>
                          <a:latin typeface="Calibri (MS)"/>
                        </a:rPr>
                        <a:t>176</a:t>
                      </a:r>
                    </a:p>
                  </a:txBody>
                  <a:tcPr marL="73152" marR="73152" marT="36576" marB="36576" anchor="ctr">
                    <a:solidFill>
                      <a:srgbClr val="FFFFFF"/>
                    </a:solidFill>
                  </a:tcPr>
                </a:tc>
                <a:tc>
                  <a:txBody>
                    <a:bodyPr wrap="square"/>
                    <a:lstStyle/>
                    <a:p>
                      <a:pPr algn="ctr"/>
                      <a:r>
                        <a:rPr sz="850" b="0" i="0">
                          <a:solidFill>
                            <a:srgbClr val="14313B"/>
                          </a:solidFill>
                          <a:latin typeface="Calibri (MS)"/>
                        </a:rPr>
                        <a:t>110,40740</a:t>
                      </a:r>
                    </a:p>
                  </a:txBody>
                  <a:tcPr marL="73152" marR="73152" marT="36576" marB="36576" anchor="ctr">
                    <a:solidFill>
                      <a:srgbClr val="FFFFFF"/>
                    </a:solidFill>
                  </a:tcPr>
                </a:tc>
                <a:tc>
                  <a:txBody>
                    <a:bodyPr wrap="square"/>
                    <a:lstStyle/>
                    <a:p>
                      <a:pPr algn="ctr"/>
                      <a:r>
                        <a:rPr sz="850" b="0" i="0">
                          <a:solidFill>
                            <a:srgbClr val="14313B"/>
                          </a:solidFill>
                          <a:latin typeface="Calibri (MS)"/>
                        </a:rPr>
                        <a:t>-7,81009</a:t>
                      </a:r>
                    </a:p>
                  </a:txBody>
                  <a:tcPr marL="73152" marR="73152" marT="36576" marB="36576" anchor="ctr">
                    <a:solidFill>
                      <a:srgbClr val="FFFFFF"/>
                    </a:solidFill>
                  </a:tcPr>
                </a:tc>
                <a:tc>
                  <a:txBody>
                    <a:bodyPr wrap="square"/>
                    <a:lstStyle/>
                    <a:p>
                      <a:pPr algn="ctr"/>
                      <a:r>
                        <a:rPr sz="850" b="0" i="0">
                          <a:solidFill>
                            <a:srgbClr val="14313B"/>
                          </a:solidFill>
                          <a:latin typeface="Calibri (MS)"/>
                        </a:rPr>
                        <a:t>0,671</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177</a:t>
                      </a:r>
                    </a:p>
                  </a:txBody>
                  <a:tcPr marL="73152" marR="73152" marT="36576" marB="36576" anchor="ctr">
                    <a:solidFill>
                      <a:srgbClr val="EAF8FA"/>
                    </a:solidFill>
                  </a:tcPr>
                </a:tc>
                <a:tc>
                  <a:txBody>
                    <a:bodyPr wrap="square"/>
                    <a:lstStyle/>
                    <a:p>
                      <a:pPr algn="ctr"/>
                      <a:r>
                        <a:rPr sz="850" b="0" i="0">
                          <a:solidFill>
                            <a:srgbClr val="14313B"/>
                          </a:solidFill>
                          <a:latin typeface="Calibri (MS)"/>
                        </a:rPr>
                        <a:t>110,65587</a:t>
                      </a:r>
                    </a:p>
                  </a:txBody>
                  <a:tcPr marL="73152" marR="73152" marT="36576" marB="36576" anchor="ctr">
                    <a:solidFill>
                      <a:srgbClr val="EAF8FA"/>
                    </a:solidFill>
                  </a:tcPr>
                </a:tc>
                <a:tc>
                  <a:txBody>
                    <a:bodyPr wrap="square"/>
                    <a:lstStyle/>
                    <a:p>
                      <a:pPr algn="ctr"/>
                      <a:r>
                        <a:rPr sz="850" b="0" i="0">
                          <a:solidFill>
                            <a:srgbClr val="14313B"/>
                          </a:solidFill>
                          <a:latin typeface="Calibri (MS)"/>
                        </a:rPr>
                        <a:t>-8,08309</a:t>
                      </a:r>
                    </a:p>
                  </a:txBody>
                  <a:tcPr marL="73152" marR="73152" marT="36576" marB="36576" anchor="ctr">
                    <a:solidFill>
                      <a:srgbClr val="EAF8FA"/>
                    </a:solidFill>
                  </a:tcPr>
                </a:tc>
                <a:tc>
                  <a:txBody>
                    <a:bodyPr wrap="square"/>
                    <a:lstStyle/>
                    <a:p>
                      <a:pPr algn="ctr"/>
                      <a:r>
                        <a:rPr sz="850" b="0" i="0">
                          <a:solidFill>
                            <a:srgbClr val="14313B"/>
                          </a:solidFill>
                          <a:latin typeface="Calibri (MS)"/>
                        </a:rPr>
                        <a:t>0,552</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178</a:t>
                      </a:r>
                    </a:p>
                  </a:txBody>
                  <a:tcPr marL="73152" marR="73152" marT="36576" marB="36576" anchor="ctr">
                    <a:solidFill>
                      <a:srgbClr val="FFFFFF"/>
                    </a:solidFill>
                  </a:tcPr>
                </a:tc>
                <a:tc>
                  <a:txBody>
                    <a:bodyPr wrap="square"/>
                    <a:lstStyle/>
                    <a:p>
                      <a:pPr algn="ctr"/>
                      <a:r>
                        <a:rPr sz="850" b="0" i="0">
                          <a:solidFill>
                            <a:srgbClr val="14313B"/>
                          </a:solidFill>
                          <a:latin typeface="Calibri (MS)"/>
                        </a:rPr>
                        <a:t>110,34236</a:t>
                      </a:r>
                    </a:p>
                  </a:txBody>
                  <a:tcPr marL="73152" marR="73152" marT="36576" marB="36576" anchor="ctr">
                    <a:solidFill>
                      <a:srgbClr val="FFFFFF"/>
                    </a:solidFill>
                  </a:tcPr>
                </a:tc>
                <a:tc>
                  <a:txBody>
                    <a:bodyPr wrap="square"/>
                    <a:lstStyle/>
                    <a:p>
                      <a:pPr algn="ctr"/>
                      <a:r>
                        <a:rPr sz="850" b="0" i="0">
                          <a:solidFill>
                            <a:srgbClr val="14313B"/>
                          </a:solidFill>
                          <a:latin typeface="Calibri (MS)"/>
                        </a:rPr>
                        <a:t>-7,80110</a:t>
                      </a:r>
                    </a:p>
                  </a:txBody>
                  <a:tcPr marL="73152" marR="73152" marT="36576" marB="36576" anchor="ctr">
                    <a:solidFill>
                      <a:srgbClr val="FFFFFF"/>
                    </a:solidFill>
                  </a:tcPr>
                </a:tc>
                <a:tc>
                  <a:txBody>
                    <a:bodyPr wrap="square"/>
                    <a:lstStyle/>
                    <a:p>
                      <a:pPr algn="ctr"/>
                      <a:r>
                        <a:rPr sz="850" b="0" i="0">
                          <a:solidFill>
                            <a:srgbClr val="14313B"/>
                          </a:solidFill>
                          <a:latin typeface="Calibri (MS)"/>
                        </a:rPr>
                        <a:t>0,752</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179</a:t>
                      </a:r>
                    </a:p>
                  </a:txBody>
                  <a:tcPr marL="73152" marR="73152" marT="36576" marB="36576" anchor="ctr">
                    <a:solidFill>
                      <a:srgbClr val="EAF8FA"/>
                    </a:solidFill>
                  </a:tcPr>
                </a:tc>
                <a:tc>
                  <a:txBody>
                    <a:bodyPr wrap="square"/>
                    <a:lstStyle/>
                    <a:p>
                      <a:pPr algn="ctr"/>
                      <a:r>
                        <a:rPr sz="850" b="0" i="0">
                          <a:solidFill>
                            <a:srgbClr val="14313B"/>
                          </a:solidFill>
                          <a:latin typeface="Calibri (MS)"/>
                        </a:rPr>
                        <a:t>110,27741</a:t>
                      </a:r>
                    </a:p>
                  </a:txBody>
                  <a:tcPr marL="73152" marR="73152" marT="36576" marB="36576" anchor="ctr">
                    <a:solidFill>
                      <a:srgbClr val="EAF8FA"/>
                    </a:solidFill>
                  </a:tcPr>
                </a:tc>
                <a:tc>
                  <a:txBody>
                    <a:bodyPr wrap="square"/>
                    <a:lstStyle/>
                    <a:p>
                      <a:pPr algn="ctr"/>
                      <a:r>
                        <a:rPr sz="850" b="0" i="0">
                          <a:solidFill>
                            <a:srgbClr val="14313B"/>
                          </a:solidFill>
                          <a:latin typeface="Calibri (MS)"/>
                        </a:rPr>
                        <a:t>-7,78763</a:t>
                      </a:r>
                    </a:p>
                  </a:txBody>
                  <a:tcPr marL="73152" marR="73152" marT="36576" marB="36576" anchor="ctr">
                    <a:solidFill>
                      <a:srgbClr val="EAF8FA"/>
                    </a:solidFill>
                  </a:tcPr>
                </a:tc>
                <a:tc>
                  <a:txBody>
                    <a:bodyPr wrap="square"/>
                    <a:lstStyle/>
                    <a:p>
                      <a:pPr algn="ctr"/>
                      <a:r>
                        <a:rPr sz="850" b="0" i="0">
                          <a:solidFill>
                            <a:srgbClr val="14313B"/>
                          </a:solidFill>
                          <a:latin typeface="Calibri (MS)"/>
                        </a:rPr>
                        <a:t>0,733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180</a:t>
                      </a:r>
                    </a:p>
                  </a:txBody>
                  <a:tcPr marL="73152" marR="73152" marT="36576" marB="36576" anchor="ctr">
                    <a:solidFill>
                      <a:srgbClr val="FFFFFF"/>
                    </a:solidFill>
                  </a:tcPr>
                </a:tc>
                <a:tc>
                  <a:txBody>
                    <a:bodyPr wrap="square"/>
                    <a:lstStyle/>
                    <a:p>
                      <a:pPr algn="ctr"/>
                      <a:r>
                        <a:rPr sz="850" b="0" i="0">
                          <a:solidFill>
                            <a:srgbClr val="14313B"/>
                          </a:solidFill>
                          <a:latin typeface="Calibri (MS)"/>
                        </a:rPr>
                        <a:t>110,33939</a:t>
                      </a:r>
                    </a:p>
                  </a:txBody>
                  <a:tcPr marL="73152" marR="73152" marT="36576" marB="36576" anchor="ctr">
                    <a:solidFill>
                      <a:srgbClr val="FFFFFF"/>
                    </a:solidFill>
                  </a:tcPr>
                </a:tc>
                <a:tc>
                  <a:txBody>
                    <a:bodyPr wrap="square"/>
                    <a:lstStyle/>
                    <a:p>
                      <a:pPr algn="ctr"/>
                      <a:r>
                        <a:rPr sz="850" b="0" i="0">
                          <a:solidFill>
                            <a:srgbClr val="14313B"/>
                          </a:solidFill>
                          <a:latin typeface="Calibri (MS)"/>
                        </a:rPr>
                        <a:t>-7,91869</a:t>
                      </a:r>
                    </a:p>
                  </a:txBody>
                  <a:tcPr marL="73152" marR="73152" marT="36576" marB="36576" anchor="ctr">
                    <a:solidFill>
                      <a:srgbClr val="FFFFFF"/>
                    </a:solidFill>
                  </a:tcPr>
                </a:tc>
                <a:tc>
                  <a:txBody>
                    <a:bodyPr wrap="square"/>
                    <a:lstStyle/>
                    <a:p>
                      <a:pPr algn="ctr"/>
                      <a:r>
                        <a:rPr sz="850" b="0" i="0">
                          <a:solidFill>
                            <a:srgbClr val="14313B"/>
                          </a:solidFill>
                          <a:latin typeface="Calibri (MS)"/>
                        </a:rPr>
                        <a:t>0,663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181</a:t>
                      </a:r>
                    </a:p>
                  </a:txBody>
                  <a:tcPr marL="73152" marR="73152" marT="36576" marB="36576" anchor="ctr">
                    <a:solidFill>
                      <a:srgbClr val="EAF8FA"/>
                    </a:solidFill>
                  </a:tcPr>
                </a:tc>
                <a:tc>
                  <a:txBody>
                    <a:bodyPr wrap="square"/>
                    <a:lstStyle/>
                    <a:p>
                      <a:pPr algn="ctr"/>
                      <a:r>
                        <a:rPr sz="850" b="0" i="0">
                          <a:solidFill>
                            <a:srgbClr val="14313B"/>
                          </a:solidFill>
                          <a:latin typeface="Calibri (MS)"/>
                        </a:rPr>
                        <a:t>110,20141</a:t>
                      </a:r>
                    </a:p>
                  </a:txBody>
                  <a:tcPr marL="73152" marR="73152" marT="36576" marB="36576" anchor="ctr">
                    <a:solidFill>
                      <a:srgbClr val="EAF8FA"/>
                    </a:solidFill>
                  </a:tcPr>
                </a:tc>
                <a:tc>
                  <a:txBody>
                    <a:bodyPr wrap="square"/>
                    <a:lstStyle/>
                    <a:p>
                      <a:pPr algn="ctr"/>
                      <a:r>
                        <a:rPr sz="850" b="0" i="0">
                          <a:solidFill>
                            <a:srgbClr val="14313B"/>
                          </a:solidFill>
                          <a:latin typeface="Calibri (MS)"/>
                        </a:rPr>
                        <a:t>-7,89660</a:t>
                      </a:r>
                    </a:p>
                  </a:txBody>
                  <a:tcPr marL="73152" marR="73152" marT="36576" marB="36576" anchor="ctr">
                    <a:solidFill>
                      <a:srgbClr val="EAF8FA"/>
                    </a:solidFill>
                  </a:tcPr>
                </a:tc>
                <a:tc>
                  <a:txBody>
                    <a:bodyPr wrap="square"/>
                    <a:lstStyle/>
                    <a:p>
                      <a:pPr algn="ctr"/>
                      <a:r>
                        <a:rPr sz="850" b="0" i="0">
                          <a:solidFill>
                            <a:srgbClr val="14313B"/>
                          </a:solidFill>
                          <a:latin typeface="Calibri (MS)"/>
                        </a:rPr>
                        <a:t>0,573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182</a:t>
                      </a:r>
                    </a:p>
                  </a:txBody>
                  <a:tcPr marL="73152" marR="73152" marT="36576" marB="36576" anchor="ctr">
                    <a:solidFill>
                      <a:srgbClr val="FFFFFF"/>
                    </a:solidFill>
                  </a:tcPr>
                </a:tc>
                <a:tc>
                  <a:txBody>
                    <a:bodyPr wrap="square"/>
                    <a:lstStyle/>
                    <a:p>
                      <a:pPr algn="ctr"/>
                      <a:r>
                        <a:rPr sz="850" b="0" i="0">
                          <a:solidFill>
                            <a:srgbClr val="14313B"/>
                          </a:solidFill>
                          <a:latin typeface="Calibri (MS)"/>
                        </a:rPr>
                        <a:t>110,35835</a:t>
                      </a:r>
                    </a:p>
                  </a:txBody>
                  <a:tcPr marL="73152" marR="73152" marT="36576" marB="36576" anchor="ctr">
                    <a:solidFill>
                      <a:srgbClr val="FFFFFF"/>
                    </a:solidFill>
                  </a:tcPr>
                </a:tc>
                <a:tc>
                  <a:txBody>
                    <a:bodyPr wrap="square"/>
                    <a:lstStyle/>
                    <a:p>
                      <a:pPr algn="ctr"/>
                      <a:r>
                        <a:rPr sz="850" b="0" i="0">
                          <a:solidFill>
                            <a:srgbClr val="14313B"/>
                          </a:solidFill>
                          <a:latin typeface="Calibri (MS)"/>
                        </a:rPr>
                        <a:t>-7,83371</a:t>
                      </a:r>
                    </a:p>
                  </a:txBody>
                  <a:tcPr marL="73152" marR="73152" marT="36576" marB="36576" anchor="ctr">
                    <a:solidFill>
                      <a:srgbClr val="FFFFFF"/>
                    </a:solidFill>
                  </a:tcPr>
                </a:tc>
                <a:tc>
                  <a:txBody>
                    <a:bodyPr wrap="square"/>
                    <a:lstStyle/>
                    <a:p>
                      <a:pPr algn="ctr"/>
                      <a:r>
                        <a:rPr sz="850" b="0" i="0">
                          <a:solidFill>
                            <a:srgbClr val="14313B"/>
                          </a:solidFill>
                          <a:latin typeface="Calibri (MS)"/>
                        </a:rPr>
                        <a:t>0,727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183</a:t>
                      </a:r>
                    </a:p>
                  </a:txBody>
                  <a:tcPr marL="73152" marR="73152" marT="36576" marB="36576" anchor="ctr">
                    <a:solidFill>
                      <a:srgbClr val="EAF8FA"/>
                    </a:solidFill>
                  </a:tcPr>
                </a:tc>
                <a:tc>
                  <a:txBody>
                    <a:bodyPr wrap="square"/>
                    <a:lstStyle/>
                    <a:p>
                      <a:pPr algn="ctr"/>
                      <a:r>
                        <a:rPr sz="850" b="0" i="0">
                          <a:solidFill>
                            <a:srgbClr val="14313B"/>
                          </a:solidFill>
                          <a:latin typeface="Calibri (MS)"/>
                        </a:rPr>
                        <a:t>110,38961</a:t>
                      </a:r>
                    </a:p>
                  </a:txBody>
                  <a:tcPr marL="73152" marR="73152" marT="36576" marB="36576" anchor="ctr">
                    <a:solidFill>
                      <a:srgbClr val="EAF8FA"/>
                    </a:solidFill>
                  </a:tcPr>
                </a:tc>
                <a:tc>
                  <a:txBody>
                    <a:bodyPr wrap="square"/>
                    <a:lstStyle/>
                    <a:p>
                      <a:pPr algn="ctr"/>
                      <a:r>
                        <a:rPr sz="850" b="0" i="0">
                          <a:solidFill>
                            <a:srgbClr val="14313B"/>
                          </a:solidFill>
                          <a:latin typeface="Calibri (MS)"/>
                        </a:rPr>
                        <a:t>-7,75340</a:t>
                      </a:r>
                    </a:p>
                  </a:txBody>
                  <a:tcPr marL="73152" marR="73152" marT="36576" marB="36576" anchor="ctr">
                    <a:solidFill>
                      <a:srgbClr val="EAF8FA"/>
                    </a:solidFill>
                  </a:tcPr>
                </a:tc>
                <a:tc>
                  <a:txBody>
                    <a:bodyPr wrap="square"/>
                    <a:lstStyle/>
                    <a:p>
                      <a:pPr algn="ctr"/>
                      <a:r>
                        <a:rPr sz="850" b="0" i="0">
                          <a:solidFill>
                            <a:srgbClr val="14313B"/>
                          </a:solidFill>
                          <a:latin typeface="Calibri (MS)"/>
                        </a:rPr>
                        <a:t>0,669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184</a:t>
                      </a:r>
                    </a:p>
                  </a:txBody>
                  <a:tcPr marL="73152" marR="73152" marT="36576" marB="36576" anchor="ctr">
                    <a:solidFill>
                      <a:srgbClr val="FFFFFF"/>
                    </a:solidFill>
                  </a:tcPr>
                </a:tc>
                <a:tc>
                  <a:txBody>
                    <a:bodyPr wrap="square"/>
                    <a:lstStyle/>
                    <a:p>
                      <a:pPr algn="ctr"/>
                      <a:r>
                        <a:rPr sz="850" b="0" i="0">
                          <a:solidFill>
                            <a:srgbClr val="14313B"/>
                          </a:solidFill>
                          <a:latin typeface="Calibri (MS)"/>
                        </a:rPr>
                        <a:t>110,22333</a:t>
                      </a:r>
                    </a:p>
                  </a:txBody>
                  <a:tcPr marL="73152" marR="73152" marT="36576" marB="36576" anchor="ctr">
                    <a:solidFill>
                      <a:srgbClr val="FFFFFF"/>
                    </a:solidFill>
                  </a:tcPr>
                </a:tc>
                <a:tc>
                  <a:txBody>
                    <a:bodyPr wrap="square"/>
                    <a:lstStyle/>
                    <a:p>
                      <a:pPr algn="ctr"/>
                      <a:r>
                        <a:rPr sz="850" b="0" i="0">
                          <a:solidFill>
                            <a:srgbClr val="14313B"/>
                          </a:solidFill>
                          <a:latin typeface="Calibri (MS)"/>
                        </a:rPr>
                        <a:t>-7,77487</a:t>
                      </a:r>
                    </a:p>
                  </a:txBody>
                  <a:tcPr marL="73152" marR="73152" marT="36576" marB="36576" anchor="ctr">
                    <a:solidFill>
                      <a:srgbClr val="FFFFFF"/>
                    </a:solidFill>
                  </a:tcPr>
                </a:tc>
                <a:tc>
                  <a:txBody>
                    <a:bodyPr wrap="square"/>
                    <a:lstStyle/>
                    <a:p>
                      <a:pPr algn="ctr"/>
                      <a:r>
                        <a:rPr sz="850" b="0" i="0">
                          <a:solidFill>
                            <a:srgbClr val="14313B"/>
                          </a:solidFill>
                          <a:latin typeface="Calibri (MS)"/>
                        </a:rPr>
                        <a:t>0,524</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185</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110,46803</a:t>
                      </a:r>
                    </a:p>
                  </a:txBody>
                  <a:tcPr marL="73152" marR="73152" marT="36576" marB="36576" anchor="ctr">
                    <a:solidFill>
                      <a:srgbClr val="EAF8FA"/>
                    </a:solidFill>
                  </a:tcPr>
                </a:tc>
                <a:tc>
                  <a:txBody>
                    <a:bodyPr wrap="square"/>
                    <a:lstStyle/>
                    <a:p>
                      <a:pPr algn="ctr"/>
                      <a:r>
                        <a:rPr sz="850" b="0" i="0">
                          <a:solidFill>
                            <a:srgbClr val="14313B"/>
                          </a:solidFill>
                          <a:latin typeface="Calibri (MS)"/>
                        </a:rPr>
                        <a:t>-7,83641</a:t>
                      </a:r>
                    </a:p>
                  </a:txBody>
                  <a:tcPr marL="73152" marR="73152" marT="36576" marB="36576" anchor="ctr">
                    <a:solidFill>
                      <a:srgbClr val="EAF8FA"/>
                    </a:solidFill>
                  </a:tcPr>
                </a:tc>
                <a:tc>
                  <a:txBody>
                    <a:bodyPr wrap="square"/>
                    <a:lstStyle/>
                    <a:p>
                      <a:pPr algn="ctr"/>
                      <a:r>
                        <a:rPr sz="850" b="0" i="0">
                          <a:solidFill>
                            <a:srgbClr val="14313B"/>
                          </a:solidFill>
                          <a:latin typeface="Calibri (MS)"/>
                        </a:rPr>
                        <a:t>0,576</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186</a:t>
                      </a:r>
                    </a:p>
                  </a:txBody>
                  <a:tcPr marL="73152" marR="73152" marT="36576" marB="36576" anchor="ctr">
                    <a:solidFill>
                      <a:srgbClr val="FFFFFF"/>
                    </a:solidFill>
                  </a:tcPr>
                </a:tc>
                <a:tc>
                  <a:txBody>
                    <a:bodyPr wrap="square"/>
                    <a:lstStyle/>
                    <a:p>
                      <a:pPr algn="ctr"/>
                      <a:r>
                        <a:rPr sz="850" b="0" i="0">
                          <a:solidFill>
                            <a:srgbClr val="14313B"/>
                          </a:solidFill>
                          <a:latin typeface="Calibri (MS)"/>
                        </a:rPr>
                        <a:t>110,71363</a:t>
                      </a:r>
                    </a:p>
                  </a:txBody>
                  <a:tcPr marL="73152" marR="73152" marT="36576" marB="36576" anchor="ctr">
                    <a:solidFill>
                      <a:srgbClr val="FFFFFF"/>
                    </a:solidFill>
                  </a:tcPr>
                </a:tc>
                <a:tc>
                  <a:txBody>
                    <a:bodyPr wrap="square"/>
                    <a:lstStyle/>
                    <a:p>
                      <a:pPr algn="ctr"/>
                      <a:r>
                        <a:rPr sz="850" b="0" i="0">
                          <a:solidFill>
                            <a:srgbClr val="14313B"/>
                          </a:solidFill>
                          <a:latin typeface="Calibri (MS)"/>
                        </a:rPr>
                        <a:t>-7,82689</a:t>
                      </a:r>
                    </a:p>
                  </a:txBody>
                  <a:tcPr marL="73152" marR="73152" marT="36576" marB="36576" anchor="ctr">
                    <a:solidFill>
                      <a:srgbClr val="FFFFFF"/>
                    </a:solidFill>
                  </a:tcPr>
                </a:tc>
                <a:tc>
                  <a:txBody>
                    <a:bodyPr wrap="square"/>
                    <a:lstStyle/>
                    <a:p>
                      <a:pPr algn="ctr"/>
                      <a:r>
                        <a:rPr sz="850" b="0" i="0">
                          <a:solidFill>
                            <a:srgbClr val="14313B"/>
                          </a:solidFill>
                          <a:latin typeface="Calibri (MS)"/>
                        </a:rPr>
                        <a:t>0,518</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187</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110,46947</a:t>
                      </a:r>
                    </a:p>
                  </a:txBody>
                  <a:tcPr marL="73152" marR="73152" marT="36576" marB="36576" anchor="ctr">
                    <a:solidFill>
                      <a:srgbClr val="EAF8FA"/>
                    </a:solidFill>
                  </a:tcPr>
                </a:tc>
                <a:tc>
                  <a:txBody>
                    <a:bodyPr wrap="square"/>
                    <a:lstStyle/>
                    <a:p>
                      <a:pPr algn="ctr"/>
                      <a:r>
                        <a:rPr sz="850" b="0" i="0">
                          <a:solidFill>
                            <a:srgbClr val="14313B"/>
                          </a:solidFill>
                          <a:latin typeface="Calibri (MS)"/>
                        </a:rPr>
                        <a:t>-7,77065</a:t>
                      </a:r>
                    </a:p>
                  </a:txBody>
                  <a:tcPr marL="73152" marR="73152" marT="36576" marB="36576" anchor="ctr">
                    <a:solidFill>
                      <a:srgbClr val="EAF8FA"/>
                    </a:solidFill>
                  </a:tcPr>
                </a:tc>
                <a:tc>
                  <a:txBody>
                    <a:bodyPr wrap="square"/>
                    <a:lstStyle/>
                    <a:p>
                      <a:pPr algn="ctr"/>
                      <a:r>
                        <a:rPr sz="850" b="0" i="0">
                          <a:solidFill>
                            <a:srgbClr val="14313B"/>
                          </a:solidFill>
                          <a:latin typeface="Calibri (MS)"/>
                        </a:rPr>
                        <a:t>0,633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188</a:t>
                      </a:r>
                    </a:p>
                  </a:txBody>
                  <a:tcPr marL="73152" marR="73152" marT="36576" marB="36576" anchor="ctr">
                    <a:solidFill>
                      <a:srgbClr val="FFFFFF"/>
                    </a:solidFill>
                  </a:tcPr>
                </a:tc>
                <a:tc>
                  <a:txBody>
                    <a:bodyPr wrap="square"/>
                    <a:lstStyle/>
                    <a:p>
                      <a:pPr algn="ctr"/>
                      <a:r>
                        <a:rPr sz="850" b="0" i="0">
                          <a:solidFill>
                            <a:srgbClr val="14313B"/>
                          </a:solidFill>
                          <a:latin typeface="Calibri (MS)"/>
                        </a:rPr>
                        <a:t>110,10897</a:t>
                      </a:r>
                    </a:p>
                  </a:txBody>
                  <a:tcPr marL="73152" marR="73152" marT="36576" marB="36576" anchor="ctr">
                    <a:solidFill>
                      <a:srgbClr val="FFFFFF"/>
                    </a:solidFill>
                  </a:tcPr>
                </a:tc>
                <a:tc>
                  <a:txBody>
                    <a:bodyPr wrap="square"/>
                    <a:lstStyle/>
                    <a:p>
                      <a:pPr algn="ctr"/>
                      <a:r>
                        <a:rPr sz="850" b="0" i="0">
                          <a:solidFill>
                            <a:srgbClr val="14313B"/>
                          </a:solidFill>
                          <a:latin typeface="Calibri (MS)"/>
                        </a:rPr>
                        <a:t>-7,88734</a:t>
                      </a:r>
                    </a:p>
                  </a:txBody>
                  <a:tcPr marL="73152" marR="73152" marT="36576" marB="36576" anchor="ctr">
                    <a:solidFill>
                      <a:srgbClr val="FFFFFF"/>
                    </a:solidFill>
                  </a:tcPr>
                </a:tc>
                <a:tc>
                  <a:txBody>
                    <a:bodyPr wrap="square"/>
                    <a:lstStyle/>
                    <a:p>
                      <a:pPr algn="ctr"/>
                      <a:r>
                        <a:rPr sz="850" b="0" i="0">
                          <a:solidFill>
                            <a:srgbClr val="14313B"/>
                          </a:solidFill>
                          <a:latin typeface="Calibri (MS)"/>
                        </a:rPr>
                        <a:t>0,521</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189</a:t>
                      </a:r>
                    </a:p>
                  </a:txBody>
                  <a:tcPr marL="73152" marR="73152" marT="36576" marB="36576" anchor="ctr">
                    <a:solidFill>
                      <a:srgbClr val="EAF8FA"/>
                    </a:solidFill>
                  </a:tcPr>
                </a:tc>
                <a:tc>
                  <a:txBody>
                    <a:bodyPr wrap="square"/>
                    <a:lstStyle/>
                    <a:p>
                      <a:pPr algn="ctr"/>
                      <a:r>
                        <a:rPr sz="850" b="0" i="0">
                          <a:solidFill>
                            <a:srgbClr val="14313B"/>
                          </a:solidFill>
                          <a:latin typeface="Calibri (MS)"/>
                        </a:rPr>
                        <a:t>110,41341</a:t>
                      </a:r>
                    </a:p>
                  </a:txBody>
                  <a:tcPr marL="73152" marR="73152" marT="36576" marB="36576" anchor="ctr">
                    <a:solidFill>
                      <a:srgbClr val="EAF8FA"/>
                    </a:solidFill>
                  </a:tcPr>
                </a:tc>
                <a:tc>
                  <a:txBody>
                    <a:bodyPr wrap="square"/>
                    <a:lstStyle/>
                    <a:p>
                      <a:pPr algn="ctr"/>
                      <a:r>
                        <a:rPr sz="850" b="0" i="0">
                          <a:solidFill>
                            <a:srgbClr val="14313B"/>
                          </a:solidFill>
                          <a:latin typeface="Calibri (MS)"/>
                        </a:rPr>
                        <a:t>-7,68882</a:t>
                      </a:r>
                    </a:p>
                  </a:txBody>
                  <a:tcPr marL="73152" marR="73152" marT="36576" marB="36576" anchor="ctr">
                    <a:solidFill>
                      <a:srgbClr val="EAF8FA"/>
                    </a:solidFill>
                  </a:tcPr>
                </a:tc>
                <a:tc>
                  <a:txBody>
                    <a:bodyPr wrap="square"/>
                    <a:lstStyle/>
                    <a:p>
                      <a:pPr algn="ctr"/>
                      <a:r>
                        <a:rPr sz="850" b="0" i="0">
                          <a:solidFill>
                            <a:srgbClr val="14313B"/>
                          </a:solidFill>
                          <a:latin typeface="Calibri (MS)"/>
                        </a:rPr>
                        <a:t>0,740</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190</a:t>
                      </a:r>
                    </a:p>
                  </a:txBody>
                  <a:tcPr marL="73152" marR="73152" marT="36576" marB="36576" anchor="ctr">
                    <a:solidFill>
                      <a:srgbClr val="FFFFFF"/>
                    </a:solidFill>
                  </a:tcPr>
                </a:tc>
                <a:tc>
                  <a:txBody>
                    <a:bodyPr wrap="square"/>
                    <a:lstStyle/>
                    <a:p>
                      <a:pPr algn="ctr"/>
                      <a:r>
                        <a:rPr sz="850" b="0" i="0">
                          <a:solidFill>
                            <a:srgbClr val="14313B"/>
                          </a:solidFill>
                          <a:latin typeface="Calibri (MS)"/>
                        </a:rPr>
                        <a:t>110,27956</a:t>
                      </a:r>
                    </a:p>
                  </a:txBody>
                  <a:tcPr marL="73152" marR="73152" marT="36576" marB="36576" anchor="ctr">
                    <a:solidFill>
                      <a:srgbClr val="FFFFFF"/>
                    </a:solidFill>
                  </a:tcPr>
                </a:tc>
                <a:tc>
                  <a:txBody>
                    <a:bodyPr wrap="square"/>
                    <a:lstStyle/>
                    <a:p>
                      <a:pPr algn="ctr"/>
                      <a:r>
                        <a:rPr sz="850" b="0" i="0">
                          <a:solidFill>
                            <a:srgbClr val="14313B"/>
                          </a:solidFill>
                          <a:latin typeface="Calibri (MS)"/>
                        </a:rPr>
                        <a:t>-7,72538</a:t>
                      </a:r>
                    </a:p>
                  </a:txBody>
                  <a:tcPr marL="73152" marR="73152" marT="36576" marB="36576" anchor="ctr">
                    <a:solidFill>
                      <a:srgbClr val="FFFFFF"/>
                    </a:solidFill>
                  </a:tcPr>
                </a:tc>
                <a:tc>
                  <a:txBody>
                    <a:bodyPr wrap="square"/>
                    <a:lstStyle/>
                    <a:p>
                      <a:pPr algn="ctr"/>
                      <a:r>
                        <a:rPr sz="850" b="0" i="0">
                          <a:solidFill>
                            <a:srgbClr val="14313B"/>
                          </a:solidFill>
                          <a:latin typeface="Calibri (MS)"/>
                        </a:rPr>
                        <a:t>0,657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191</a:t>
                      </a:r>
                    </a:p>
                  </a:txBody>
                  <a:tcPr marL="73152" marR="73152" marT="36576" marB="36576" anchor="ctr">
                    <a:solidFill>
                      <a:srgbClr val="EAF8FA"/>
                    </a:solidFill>
                  </a:tcPr>
                </a:tc>
                <a:tc>
                  <a:txBody>
                    <a:bodyPr wrap="square"/>
                    <a:lstStyle/>
                    <a:p>
                      <a:pPr algn="ctr"/>
                      <a:r>
                        <a:rPr sz="850" b="0" i="0">
                          <a:solidFill>
                            <a:srgbClr val="14313B"/>
                          </a:solidFill>
                          <a:latin typeface="Calibri (MS)"/>
                        </a:rPr>
                        <a:t>110,47944</a:t>
                      </a:r>
                    </a:p>
                  </a:txBody>
                  <a:tcPr marL="73152" marR="73152" marT="36576" marB="36576" anchor="ctr">
                    <a:solidFill>
                      <a:srgbClr val="EAF8FA"/>
                    </a:solidFill>
                  </a:tcPr>
                </a:tc>
                <a:tc>
                  <a:txBody>
                    <a:bodyPr wrap="square"/>
                    <a:lstStyle/>
                    <a:p>
                      <a:pPr algn="ctr"/>
                      <a:r>
                        <a:rPr sz="850" b="0" i="0">
                          <a:solidFill>
                            <a:srgbClr val="14313B"/>
                          </a:solidFill>
                          <a:latin typeface="Calibri (MS)"/>
                        </a:rPr>
                        <a:t>-7,78970</a:t>
                      </a:r>
                    </a:p>
                  </a:txBody>
                  <a:tcPr marL="73152" marR="73152" marT="36576" marB="36576" anchor="ctr">
                    <a:solidFill>
                      <a:srgbClr val="EAF8FA"/>
                    </a:solidFill>
                  </a:tcPr>
                </a:tc>
                <a:tc>
                  <a:txBody>
                    <a:bodyPr wrap="square"/>
                    <a:lstStyle/>
                    <a:p>
                      <a:pPr algn="ctr"/>
                      <a:r>
                        <a:rPr sz="850" b="0" i="0">
                          <a:solidFill>
                            <a:srgbClr val="14313B"/>
                          </a:solidFill>
                          <a:latin typeface="Calibri (MS)"/>
                        </a:rPr>
                        <a:t>0,553</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192</a:t>
                      </a:r>
                    </a:p>
                  </a:txBody>
                  <a:tcPr marL="73152" marR="73152" marT="36576" marB="36576" anchor="ctr">
                    <a:solidFill>
                      <a:srgbClr val="FFFFFF"/>
                    </a:solidFill>
                  </a:tcPr>
                </a:tc>
                <a:tc>
                  <a:txBody>
                    <a:bodyPr wrap="square"/>
                    <a:lstStyle/>
                    <a:p>
                      <a:pPr algn="ctr"/>
                      <a:r>
                        <a:rPr sz="850" b="0" i="0">
                          <a:solidFill>
                            <a:srgbClr val="14313B"/>
                          </a:solidFill>
                          <a:latin typeface="Calibri (MS)"/>
                        </a:rPr>
                        <a:t>110,41171</a:t>
                      </a:r>
                    </a:p>
                  </a:txBody>
                  <a:tcPr marL="73152" marR="73152" marT="36576" marB="36576" anchor="ctr">
                    <a:solidFill>
                      <a:srgbClr val="FFFFFF"/>
                    </a:solidFill>
                  </a:tcPr>
                </a:tc>
                <a:tc>
                  <a:txBody>
                    <a:bodyPr wrap="square"/>
                    <a:lstStyle/>
                    <a:p>
                      <a:pPr algn="ctr"/>
                      <a:r>
                        <a:rPr sz="850" b="0" i="0">
                          <a:solidFill>
                            <a:srgbClr val="14313B"/>
                          </a:solidFill>
                          <a:latin typeface="Calibri (MS)"/>
                        </a:rPr>
                        <a:t>-7,82967</a:t>
                      </a:r>
                    </a:p>
                  </a:txBody>
                  <a:tcPr marL="73152" marR="73152" marT="36576" marB="36576" anchor="ctr">
                    <a:solidFill>
                      <a:srgbClr val="FFFFFF"/>
                    </a:solidFill>
                  </a:tcPr>
                </a:tc>
                <a:tc>
                  <a:txBody>
                    <a:bodyPr wrap="square"/>
                    <a:lstStyle/>
                    <a:p>
                      <a:pPr algn="ctr"/>
                      <a:r>
                        <a:rPr sz="850" b="0" i="0">
                          <a:solidFill>
                            <a:srgbClr val="14313B"/>
                          </a:solidFill>
                          <a:latin typeface="Calibri (MS)"/>
                        </a:rPr>
                        <a:t>0,738</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193</a:t>
                      </a:r>
                    </a:p>
                  </a:txBody>
                  <a:tcPr marL="73152" marR="73152" marT="36576" marB="36576" anchor="ctr">
                    <a:solidFill>
                      <a:srgbClr val="EAF8FA"/>
                    </a:solidFill>
                  </a:tcPr>
                </a:tc>
                <a:tc>
                  <a:txBody>
                    <a:bodyPr wrap="square"/>
                    <a:lstStyle/>
                    <a:p>
                      <a:pPr algn="ctr"/>
                      <a:r>
                        <a:rPr sz="850" b="0" i="0">
                          <a:solidFill>
                            <a:srgbClr val="14313B"/>
                          </a:solidFill>
                          <a:latin typeface="Calibri (MS)"/>
                        </a:rPr>
                        <a:t>110,44432</a:t>
                      </a:r>
                    </a:p>
                  </a:txBody>
                  <a:tcPr marL="73152" marR="73152" marT="36576" marB="36576" anchor="ctr">
                    <a:solidFill>
                      <a:srgbClr val="EAF8FA"/>
                    </a:solidFill>
                  </a:tcPr>
                </a:tc>
                <a:tc>
                  <a:txBody>
                    <a:bodyPr wrap="square"/>
                    <a:lstStyle/>
                    <a:p>
                      <a:pPr algn="ctr"/>
                      <a:r>
                        <a:rPr sz="850" b="0" i="0">
                          <a:solidFill>
                            <a:srgbClr val="14313B"/>
                          </a:solidFill>
                          <a:latin typeface="Calibri (MS)"/>
                        </a:rPr>
                        <a:t>-7,66034</a:t>
                      </a:r>
                    </a:p>
                  </a:txBody>
                  <a:tcPr marL="73152" marR="73152" marT="36576" marB="36576" anchor="ctr">
                    <a:solidFill>
                      <a:srgbClr val="EAF8FA"/>
                    </a:solidFill>
                  </a:tcPr>
                </a:tc>
                <a:tc>
                  <a:txBody>
                    <a:bodyPr wrap="square"/>
                    <a:lstStyle/>
                    <a:p>
                      <a:pPr algn="ctr"/>
                      <a:r>
                        <a:rPr sz="850" b="0" i="0">
                          <a:solidFill>
                            <a:srgbClr val="14313B"/>
                          </a:solidFill>
                          <a:latin typeface="Calibri (MS)"/>
                        </a:rPr>
                        <a:t>0,719</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194</a:t>
                      </a:r>
                    </a:p>
                  </a:txBody>
                  <a:tcPr marL="73152" marR="73152" marT="36576" marB="36576" anchor="ctr">
                    <a:solidFill>
                      <a:srgbClr val="FFFFFF"/>
                    </a:solidFill>
                  </a:tcPr>
                </a:tc>
                <a:tc>
                  <a:txBody>
                    <a:bodyPr wrap="square"/>
                    <a:lstStyle/>
                    <a:p>
                      <a:pPr algn="ctr"/>
                      <a:r>
                        <a:rPr sz="850" b="0" i="0">
                          <a:solidFill>
                            <a:srgbClr val="14313B"/>
                          </a:solidFill>
                          <a:latin typeface="Calibri (MS)"/>
                        </a:rPr>
                        <a:t>110,36544</a:t>
                      </a:r>
                    </a:p>
                  </a:txBody>
                  <a:tcPr marL="73152" marR="73152" marT="36576" marB="36576" anchor="ctr">
                    <a:solidFill>
                      <a:srgbClr val="FFFFFF"/>
                    </a:solidFill>
                  </a:tcPr>
                </a:tc>
                <a:tc>
                  <a:txBody>
                    <a:bodyPr wrap="square"/>
                    <a:lstStyle/>
                    <a:p>
                      <a:pPr algn="ctr"/>
                      <a:r>
                        <a:rPr sz="850" b="0" i="0">
                          <a:solidFill>
                            <a:srgbClr val="14313B"/>
                          </a:solidFill>
                          <a:latin typeface="Calibri (MS)"/>
                        </a:rPr>
                        <a:t>-7,82626</a:t>
                      </a:r>
                    </a:p>
                  </a:txBody>
                  <a:tcPr marL="73152" marR="73152" marT="36576" marB="36576" anchor="ctr">
                    <a:solidFill>
                      <a:srgbClr val="FFFFFF"/>
                    </a:solidFill>
                  </a:tcPr>
                </a:tc>
                <a:tc>
                  <a:txBody>
                    <a:bodyPr wrap="square"/>
                    <a:lstStyle/>
                    <a:p>
                      <a:pPr algn="ctr"/>
                      <a:r>
                        <a:rPr sz="850" b="0" i="0">
                          <a:solidFill>
                            <a:srgbClr val="14313B"/>
                          </a:solidFill>
                          <a:latin typeface="Calibri (MS)"/>
                        </a:rPr>
                        <a:t>0,697</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195</a:t>
                      </a:r>
                    </a:p>
                  </a:txBody>
                  <a:tcPr marL="73152" marR="73152" marT="36576" marB="36576" anchor="ctr">
                    <a:solidFill>
                      <a:srgbClr val="EAF8FA"/>
                    </a:solidFill>
                  </a:tcPr>
                </a:tc>
                <a:tc>
                  <a:txBody>
                    <a:bodyPr wrap="square"/>
                    <a:lstStyle/>
                    <a:p>
                      <a:pPr algn="ctr"/>
                      <a:r>
                        <a:rPr sz="850" b="0" i="0">
                          <a:solidFill>
                            <a:srgbClr val="14313B"/>
                          </a:solidFill>
                          <a:latin typeface="Calibri (MS)"/>
                        </a:rPr>
                        <a:t>110,30283</a:t>
                      </a:r>
                    </a:p>
                  </a:txBody>
                  <a:tcPr marL="73152" marR="73152" marT="36576" marB="36576" anchor="ctr">
                    <a:solidFill>
                      <a:srgbClr val="EAF8FA"/>
                    </a:solidFill>
                  </a:tcPr>
                </a:tc>
                <a:tc>
                  <a:txBody>
                    <a:bodyPr wrap="square"/>
                    <a:lstStyle/>
                    <a:p>
                      <a:pPr algn="ctr"/>
                      <a:r>
                        <a:rPr sz="850" b="0" i="0">
                          <a:solidFill>
                            <a:srgbClr val="14313B"/>
                          </a:solidFill>
                          <a:latin typeface="Calibri (MS)"/>
                        </a:rPr>
                        <a:t>-7,89758</a:t>
                      </a:r>
                    </a:p>
                  </a:txBody>
                  <a:tcPr marL="73152" marR="73152" marT="36576" marB="36576" anchor="ctr">
                    <a:solidFill>
                      <a:srgbClr val="EAF8FA"/>
                    </a:solidFill>
                  </a:tcPr>
                </a:tc>
                <a:tc>
                  <a:txBody>
                    <a:bodyPr wrap="square"/>
                    <a:lstStyle/>
                    <a:p>
                      <a:pPr algn="ctr"/>
                      <a:r>
                        <a:rPr sz="850" b="0" i="0">
                          <a:solidFill>
                            <a:srgbClr val="14313B"/>
                          </a:solidFill>
                          <a:latin typeface="Calibri (MS)"/>
                        </a:rPr>
                        <a:t>0,695</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196</a:t>
                      </a:r>
                    </a:p>
                  </a:txBody>
                  <a:tcPr marL="73152" marR="73152" marT="36576" marB="36576" anchor="ctr">
                    <a:solidFill>
                      <a:srgbClr val="FFFFFF"/>
                    </a:solidFill>
                  </a:tcPr>
                </a:tc>
                <a:tc>
                  <a:txBody>
                    <a:bodyPr wrap="square"/>
                    <a:lstStyle/>
                    <a:p>
                      <a:pPr algn="ctr"/>
                      <a:r>
                        <a:rPr sz="850" b="0" i="0">
                          <a:solidFill>
                            <a:srgbClr val="14313B"/>
                          </a:solidFill>
                          <a:latin typeface="Calibri (MS)"/>
                        </a:rPr>
                        <a:t>110,25118</a:t>
                      </a:r>
                    </a:p>
                  </a:txBody>
                  <a:tcPr marL="73152" marR="73152" marT="36576" marB="36576" anchor="ctr">
                    <a:solidFill>
                      <a:srgbClr val="FFFFFF"/>
                    </a:solidFill>
                  </a:tcPr>
                </a:tc>
                <a:tc>
                  <a:txBody>
                    <a:bodyPr wrap="square"/>
                    <a:lstStyle/>
                    <a:p>
                      <a:pPr algn="ctr"/>
                      <a:r>
                        <a:rPr sz="850" b="0" i="0">
                          <a:solidFill>
                            <a:srgbClr val="14313B"/>
                          </a:solidFill>
                          <a:latin typeface="Calibri (MS)"/>
                        </a:rPr>
                        <a:t>-7,82114</a:t>
                      </a:r>
                    </a:p>
                  </a:txBody>
                  <a:tcPr marL="73152" marR="73152" marT="36576" marB="36576" anchor="ctr">
                    <a:solidFill>
                      <a:srgbClr val="FFFFFF"/>
                    </a:solidFill>
                  </a:tcPr>
                </a:tc>
                <a:tc>
                  <a:txBody>
                    <a:bodyPr wrap="square"/>
                    <a:lstStyle/>
                    <a:p>
                      <a:pPr algn="ctr"/>
                      <a:r>
                        <a:rPr sz="850" b="0" i="0">
                          <a:solidFill>
                            <a:srgbClr val="14313B"/>
                          </a:solidFill>
                          <a:latin typeface="Calibri (MS)"/>
                        </a:rPr>
                        <a:t>0,533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Bukan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197</a:t>
                      </a:r>
                    </a:p>
                  </a:txBody>
                  <a:tcPr marL="73152" marR="73152" marT="36576" marB="36576" anchor="ctr">
                    <a:solidFill>
                      <a:srgbClr val="EAF8FA"/>
                    </a:solidFill>
                  </a:tcPr>
                </a:tc>
                <a:tc>
                  <a:txBody>
                    <a:bodyPr wrap="square"/>
                    <a:lstStyle/>
                    <a:p>
                      <a:pPr algn="ctr"/>
                      <a:r>
                        <a:rPr sz="850" b="0" i="0">
                          <a:solidFill>
                            <a:srgbClr val="14313B"/>
                          </a:solidFill>
                          <a:latin typeface="Calibri (MS)"/>
                        </a:rPr>
                        <a:t>110,46920</a:t>
                      </a:r>
                    </a:p>
                  </a:txBody>
                  <a:tcPr marL="73152" marR="73152" marT="36576" marB="36576" anchor="ctr">
                    <a:solidFill>
                      <a:srgbClr val="EAF8FA"/>
                    </a:solidFill>
                  </a:tcPr>
                </a:tc>
                <a:tc>
                  <a:txBody>
                    <a:bodyPr wrap="square"/>
                    <a:lstStyle/>
                    <a:p>
                      <a:pPr algn="ctr"/>
                      <a:r>
                        <a:rPr sz="850" b="0" i="0">
                          <a:solidFill>
                            <a:srgbClr val="14313B"/>
                          </a:solidFill>
                          <a:latin typeface="Calibri (MS)"/>
                        </a:rPr>
                        <a:t>-7,79733</a:t>
                      </a:r>
                    </a:p>
                  </a:txBody>
                  <a:tcPr marL="73152" marR="73152" marT="36576" marB="36576" anchor="ctr">
                    <a:solidFill>
                      <a:srgbClr val="EAF8FA"/>
                    </a:solidFill>
                  </a:tcPr>
                </a:tc>
                <a:tc>
                  <a:txBody>
                    <a:bodyPr wrap="square"/>
                    <a:lstStyle/>
                    <a:p>
                      <a:pPr algn="ctr"/>
                      <a:r>
                        <a:rPr sz="850" b="0" i="0">
                          <a:solidFill>
                            <a:srgbClr val="14313B"/>
                          </a:solidFill>
                          <a:latin typeface="Calibri (MS)"/>
                        </a:rPr>
                        <a:t>0,578</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Bukan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FDE2DE"/>
                    </a:solidFill>
                  </a:tcPr>
                </a:tc>
              </a:tr>
              <a:tr h="260603">
                <a:tc>
                  <a:txBody>
                    <a:bodyPr wrap="square"/>
                    <a:lstStyle/>
                    <a:p>
                      <a:pPr algn="ctr"/>
                      <a:r>
                        <a:rPr sz="850" b="0" i="0">
                          <a:solidFill>
                            <a:srgbClr val="14313B"/>
                          </a:solidFill>
                          <a:latin typeface="Calibri (MS)"/>
                        </a:rPr>
                        <a:t>198</a:t>
                      </a:r>
                    </a:p>
                  </a:txBody>
                  <a:tcPr marL="73152" marR="73152" marT="36576" marB="36576" anchor="ctr">
                    <a:solidFill>
                      <a:srgbClr val="FFFFFF"/>
                    </a:solidFill>
                  </a:tcPr>
                </a:tc>
                <a:tc>
                  <a:txBody>
                    <a:bodyPr wrap="square"/>
                    <a:lstStyle/>
                    <a:p>
                      <a:pPr algn="ctr"/>
                      <a:r>
                        <a:rPr sz="850" b="0" i="0">
                          <a:solidFill>
                            <a:srgbClr val="14313B"/>
                          </a:solidFill>
                          <a:latin typeface="Calibri (MS)"/>
                        </a:rPr>
                        <a:t>110,60017</a:t>
                      </a:r>
                    </a:p>
                  </a:txBody>
                  <a:tcPr marL="73152" marR="73152" marT="36576" marB="36576" anchor="ctr">
                    <a:solidFill>
                      <a:srgbClr val="FFFFFF"/>
                    </a:solidFill>
                  </a:tcPr>
                </a:tc>
                <a:tc>
                  <a:txBody>
                    <a:bodyPr wrap="square"/>
                    <a:lstStyle/>
                    <a:p>
                      <a:pPr algn="ctr"/>
                      <a:r>
                        <a:rPr sz="850" b="0" i="0">
                          <a:solidFill>
                            <a:srgbClr val="14313B"/>
                          </a:solidFill>
                          <a:latin typeface="Calibri (MS)"/>
                        </a:rPr>
                        <a:t>-7,97026</a:t>
                      </a:r>
                    </a:p>
                  </a:txBody>
                  <a:tcPr marL="73152" marR="73152" marT="36576" marB="36576" anchor="ctr">
                    <a:solidFill>
                      <a:srgbClr val="FFFFFF"/>
                    </a:solidFill>
                  </a:tcPr>
                </a:tc>
                <a:tc>
                  <a:txBody>
                    <a:bodyPr wrap="square"/>
                    <a:lstStyle/>
                    <a:p>
                      <a:pPr algn="ctr"/>
                      <a:r>
                        <a:rPr sz="850" b="0" i="0">
                          <a:solidFill>
                            <a:srgbClr val="14313B"/>
                          </a:solidFill>
                          <a:latin typeface="Calibri (MS)"/>
                        </a:rPr>
                        <a:t>0,730</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r h="260603">
                <a:tc>
                  <a:txBody>
                    <a:bodyPr wrap="square"/>
                    <a:lstStyle/>
                    <a:p>
                      <a:pPr algn="ctr"/>
                      <a:r>
                        <a:rPr sz="850" b="0" i="0">
                          <a:solidFill>
                            <a:srgbClr val="14313B"/>
                          </a:solidFill>
                          <a:latin typeface="Calibri (MS)"/>
                        </a:rPr>
                        <a:t>199</a:t>
                      </a:r>
                    </a:p>
                  </a:txBody>
                  <a:tcPr marL="73152" marR="73152" marT="36576" marB="36576" anchor="ctr">
                    <a:solidFill>
                      <a:srgbClr val="EAF8FA"/>
                    </a:solidFill>
                  </a:tcPr>
                </a:tc>
                <a:tc>
                  <a:txBody>
                    <a:bodyPr wrap="square"/>
                    <a:lstStyle/>
                    <a:p>
                      <a:pPr algn="ctr"/>
                      <a:r>
                        <a:rPr sz="850" b="0" i="0">
                          <a:solidFill>
                            <a:srgbClr val="14313B"/>
                          </a:solidFill>
                          <a:latin typeface="Calibri (MS)"/>
                        </a:rPr>
                        <a:t>110,24417</a:t>
                      </a:r>
                    </a:p>
                  </a:txBody>
                  <a:tcPr marL="73152" marR="73152" marT="36576" marB="36576" anchor="ctr">
                    <a:solidFill>
                      <a:srgbClr val="EAF8FA"/>
                    </a:solidFill>
                  </a:tcPr>
                </a:tc>
                <a:tc>
                  <a:txBody>
                    <a:bodyPr wrap="square"/>
                    <a:lstStyle/>
                    <a:p>
                      <a:pPr algn="ctr"/>
                      <a:r>
                        <a:rPr sz="850" b="0" i="0">
                          <a:solidFill>
                            <a:srgbClr val="14313B"/>
                          </a:solidFill>
                          <a:latin typeface="Calibri (MS)"/>
                        </a:rPr>
                        <a:t>-7,79922</a:t>
                      </a:r>
                    </a:p>
                  </a:txBody>
                  <a:tcPr marL="73152" marR="73152" marT="36576" marB="36576" anchor="ctr">
                    <a:solidFill>
                      <a:srgbClr val="EAF8FA"/>
                    </a:solidFill>
                  </a:tcPr>
                </a:tc>
                <a:tc>
                  <a:txBody>
                    <a:bodyPr wrap="square"/>
                    <a:lstStyle/>
                    <a:p>
                      <a:pPr algn="ctr"/>
                      <a:r>
                        <a:rPr sz="850" b="0" i="0">
                          <a:solidFill>
                            <a:srgbClr val="14313B"/>
                          </a:solidFill>
                          <a:latin typeface="Calibri (MS)"/>
                        </a:rPr>
                        <a:t>0,646</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Terbangun</a:t>
                      </a:r>
                    </a:p>
                  </a:txBody>
                  <a:tcPr marL="73152" marR="73152" marT="36576" marB="36576" anchor="ctr">
                    <a:solidFill>
                      <a:srgbClr val="EAF8FA"/>
                    </a:solidFill>
                  </a:tcPr>
                </a:tc>
                <a:tc>
                  <a:txBody>
                    <a:bodyPr wrap="square"/>
                    <a:lstStyle/>
                    <a:p>
                      <a:pPr algn="ctr"/>
                      <a:r>
                        <a:rPr sz="850" b="0" i="0">
                          <a:solidFill>
                            <a:srgbClr val="14313B"/>
                          </a:solidFill>
                          <a:latin typeface="Calibri (MS)"/>
                        </a:rPr>
                        <a:t>✓</a:t>
                      </a:r>
                    </a:p>
                  </a:txBody>
                  <a:tcPr marL="73152" marR="73152" marT="36576" marB="36576" anchor="ctr">
                    <a:solidFill>
                      <a:srgbClr val="EAF8FA"/>
                    </a:solidFill>
                  </a:tcPr>
                </a:tc>
              </a:tr>
              <a:tr h="260603">
                <a:tc>
                  <a:txBody>
                    <a:bodyPr wrap="square"/>
                    <a:lstStyle/>
                    <a:p>
                      <a:pPr algn="ctr"/>
                      <a:r>
                        <a:rPr sz="850" b="0" i="0">
                          <a:solidFill>
                            <a:srgbClr val="14313B"/>
                          </a:solidFill>
                          <a:latin typeface="Calibri (MS)"/>
                        </a:rPr>
                        <a:t>200</a:t>
                      </a:r>
                    </a:p>
                  </a:txBody>
                  <a:tcPr marL="73152" marR="73152" marT="36576" marB="36576" anchor="ctr">
                    <a:solidFill>
                      <a:srgbClr val="FFFFFF"/>
                    </a:solidFill>
                  </a:tcPr>
                </a:tc>
                <a:tc>
                  <a:txBody>
                    <a:bodyPr wrap="square"/>
                    <a:lstStyle/>
                    <a:p>
                      <a:pPr algn="ctr"/>
                      <a:r>
                        <a:rPr sz="850" b="0" i="0">
                          <a:solidFill>
                            <a:srgbClr val="14313B"/>
                          </a:solidFill>
                          <a:latin typeface="Calibri (MS)"/>
                        </a:rPr>
                        <a:t>110,25414</a:t>
                      </a:r>
                    </a:p>
                  </a:txBody>
                  <a:tcPr marL="73152" marR="73152" marT="36576" marB="36576" anchor="ctr">
                    <a:solidFill>
                      <a:srgbClr val="FFFFFF"/>
                    </a:solidFill>
                  </a:tcPr>
                </a:tc>
                <a:tc>
                  <a:txBody>
                    <a:bodyPr wrap="square"/>
                    <a:lstStyle/>
                    <a:p>
                      <a:pPr algn="ctr"/>
                      <a:r>
                        <a:rPr sz="850" b="0" i="0">
                          <a:solidFill>
                            <a:srgbClr val="14313B"/>
                          </a:solidFill>
                          <a:latin typeface="Calibri (MS)"/>
                        </a:rPr>
                        <a:t>-7,94115</a:t>
                      </a:r>
                    </a:p>
                  </a:txBody>
                  <a:tcPr marL="73152" marR="73152" marT="36576" marB="36576" anchor="ctr">
                    <a:solidFill>
                      <a:srgbClr val="FFFFFF"/>
                    </a:solidFill>
                  </a:tcPr>
                </a:tc>
                <a:tc>
                  <a:txBody>
                    <a:bodyPr wrap="square"/>
                    <a:lstStyle/>
                    <a:p>
                      <a:pPr algn="ctr"/>
                      <a:r>
                        <a:rPr sz="850" b="0" i="0">
                          <a:solidFill>
                            <a:srgbClr val="14313B"/>
                          </a:solidFill>
                          <a:latin typeface="Calibri (MS)"/>
                        </a:rPr>
                        <a:t>0,533</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Terbangun</a:t>
                      </a:r>
                    </a:p>
                  </a:txBody>
                  <a:tcPr marL="73152" marR="73152" marT="36576" marB="36576" anchor="ctr">
                    <a:solidFill>
                      <a:srgbClr val="FFFFFF"/>
                    </a:solidFill>
                  </a:tcPr>
                </a:tc>
                <a:tc>
                  <a:txBody>
                    <a:bodyPr wrap="square"/>
                    <a:lstStyle/>
                    <a:p>
                      <a:pPr algn="ctr"/>
                      <a:r>
                        <a:rPr sz="850" b="0" i="0">
                          <a:solidFill>
                            <a:srgbClr val="14313B"/>
                          </a:solidFill>
                          <a:latin typeface="Calibri (MS)"/>
                        </a:rPr>
                        <a:t>✓</a:t>
                      </a:r>
                    </a:p>
                  </a:txBody>
                  <a:tcPr marL="73152" marR="73152" marT="36576" marB="36576" anchor="ctr">
                    <a:solidFill>
                      <a:srgbClr val="FFFFFF"/>
                    </a:solidFill>
                  </a:tcPr>
                </a:tc>
              </a:tr>
            </a:tbl>
          </a:graphicData>
        </a:graphic>
      </p:graphicFrame>
      <p:sp>
        <p:nvSpPr>
          <p:cNvPr id="29" name="TextBox 28"/>
          <p:cNvSpPr txBox="1"/>
          <p:nvPr/>
        </p:nvSpPr>
        <p:spPr>
          <a:xfrm>
            <a:off x="822960" y="877824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KunciModel_DW_2025.csv dan LembarKerja_UjiAkurasi_DW_2025.xlsx (repository). Merah muda = tidak sesuai (20 titik pada halaman ini). Peta: kelas built bila prob ≥ 0,5.</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779907"/>
            <a:ext cx="16637508" cy="885825"/>
          </a:xfrm>
          <a:prstGeom prst="rect">
            <a:avLst/>
          </a:prstGeom>
        </p:spPr>
        <p:txBody>
          <a:bodyPr anchor="t" rtlCol="false" tIns="0" lIns="0" bIns="0" rIns="0">
            <a:spAutoFit/>
          </a:bodyPr>
          <a:lstStyle/>
          <a:p>
            <a:pPr algn="l">
              <a:lnSpc>
                <a:spcPts val="3840"/>
              </a:lnSpc>
            </a:pPr>
            <a:r>
              <a:rPr lang="en-US" sz="3000" b="true">
                <a:solidFill>
                  <a:srgbClr val="0B5E6E"/>
                </a:solidFill>
                <a:latin typeface="Calibri (MS) Bold"/>
                <a:ea typeface="Calibri (MS) Bold"/>
                <a:cs typeface="Calibri (MS) Bold"/>
                <a:sym typeface="Calibri (MS) Bold"/>
              </a:rPr>
              <a:t>Lampiran 24 · Kriteria Evaluasi Struktur Konseptual CLD</a:t>
            </a:r>
          </a:p>
          <a:p>
            <a:pPr algn="l">
              <a:lnSpc>
                <a:spcPts val="2279"/>
              </a:lnSpc>
            </a:pPr>
            <a:r>
              <a:rPr lang="en-US" sz="1899">
                <a:solidFill>
                  <a:srgbClr val="4A5A63"/>
                </a:solidFill>
                <a:latin typeface="Calibri (MS)"/>
                <a:ea typeface="Calibri (MS)"/>
                <a:cs typeface="Calibri (MS)"/>
                <a:sym typeface="Calibri (MS)"/>
              </a:rPr>
              <a:t>Variabel disusun dari model rujukan, disesuaikan dengan kondisi DIY, lalu dievaluasi</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0" id="80"/>
          <p:cNvSpPr txBox="true"/>
          <p:nvPr/>
        </p:nvSpPr>
        <p:spPr>
          <a:xfrm rot="0">
            <a:off x="16550640" y="9604248"/>
            <a:ext cx="818388" cy="3810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graphicFrame>
        <p:nvGraphicFramePr>
          <p:cNvPr name="Table 81" id="81"/>
          <p:cNvGraphicFramePr>
            <a:graphicFrameLocks noGrp="true"/>
          </p:cNvGraphicFramePr>
          <p:nvPr/>
        </p:nvGraphicFramePr>
        <p:xfrm>
          <a:off x="822960" y="1818132"/>
          <a:ext cx="16586200" cy="2755900"/>
        </p:xfrm>
        <a:graphic>
          <a:graphicData uri="http://schemas.openxmlformats.org/drawingml/2006/table">
            <a:tbl>
              <a:tblPr/>
              <a:tblGrid>
                <a:gridCol w="2330279"/>
                <a:gridCol w="2330279"/>
                <a:gridCol w="8687228"/>
                <a:gridCol w="3238414"/>
              </a:tblGrid>
              <a:tr h="3937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Tingkat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Aspek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Pertanyaan evaluasi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&amp; terdefinisi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terhadap masalah dan punya definisi operasional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Mekanisme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Ada mekanisme yang menjelaskan perubahan variabel akibat?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 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Arah hubungan (+/−)</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Tanda (+/−) konsisten dengan arah pengaruh ceteris paribus?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Richardson (1997)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Dukungan 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Didukung teori, bukti empiris, atau definisi model yang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Feedback 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Konsistensi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Rangkaian menghasilkan mekanisme reinforcing/balancing yang logis?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Batas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Kecukupan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Cukup menjelaskan masalah tanpa aspek yang tidak diperlukan?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82" id="82"/>
          <p:cNvGrpSpPr/>
          <p:nvPr/>
        </p:nvGrpSpPr>
        <p:grpSpPr>
          <a:xfrm rot="0">
            <a:off x="16047720" y="9646920"/>
            <a:ext cx="420624" cy="420624"/>
            <a:chOff x="0" y="0"/>
            <a:chExt cx="560832" cy="560832"/>
          </a:xfrm>
        </p:grpSpPr>
        <p:sp>
          <p:nvSpPr>
            <p:cNvPr name="Freeform 83" id="8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sp>
      </p:grpSp>
      <p:grpSp>
        <p:nvGrpSpPr>
          <p:cNvPr name="Group 84" id="84"/>
          <p:cNvGrpSpPr/>
          <p:nvPr/>
        </p:nvGrpSpPr>
        <p:grpSpPr>
          <a:xfrm rot="0">
            <a:off x="16047720" y="9625489"/>
            <a:ext cx="420624" cy="442055"/>
            <a:chOff x="0" y="0"/>
            <a:chExt cx="560832" cy="589407"/>
          </a:xfrm>
        </p:grpSpPr>
        <p:sp>
          <p:nvSpPr>
            <p:cNvPr name="Freeform 85" id="85"/>
            <p:cNvSpPr/>
            <p:nvPr/>
          </p:nvSpPr>
          <p:spPr>
            <a:xfrm flipH="false" flipV="false" rot="0">
              <a:off x="0" y="0"/>
              <a:ext cx="560832" cy="589407"/>
            </a:xfrm>
            <a:custGeom>
              <a:avLst/>
              <a:gdLst/>
              <a:ahLst/>
              <a:cxnLst/>
              <a:rect r="r" b="b" t="t" l="l"/>
              <a:pathLst>
                <a:path h="589407" w="560832">
                  <a:moveTo>
                    <a:pt x="0" y="0"/>
                  </a:moveTo>
                  <a:lnTo>
                    <a:pt x="560832" y="0"/>
                  </a:lnTo>
                  <a:lnTo>
                    <a:pt x="560832" y="589407"/>
                  </a:lnTo>
                  <a:lnTo>
                    <a:pt x="0" y="589407"/>
                  </a:lnTo>
                  <a:close/>
                </a:path>
              </a:pathLst>
            </a:custGeom>
            <a:blipFill>
              <a:blip r:embed="rId7">
                <a:alphaModFix amt="0"/>
              </a:blip>
              <a:stretch>
                <a:fillRect l="-84840" t="0" r="-84840" b="0"/>
              </a:stretch>
            </a:blipFill>
          </p:spPr>
        </p:sp>
        <p:sp>
          <p:nvSpPr>
            <p:cNvPr name="TextBox 86" id="86"/>
            <p:cNvSpPr txBox="true"/>
            <p:nvPr/>
          </p:nvSpPr>
          <p:spPr>
            <a:xfrm>
              <a:off x="0" y="-28575"/>
              <a:ext cx="560832" cy="617982"/>
            </a:xfrm>
            <a:prstGeom prst="rect">
              <a:avLst/>
            </a:prstGeom>
          </p:spPr>
          <p:txBody>
            <a:bodyPr anchor="ctr" rtlCol="false" tIns="0" lIns="0" bIns="0" rIns="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25 · Hasil Evaluasi Kandidat Variabel CLD</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Seluruh kandidat dipertahankan; hanya peran tenaga kerja yang direvisi</a:t>
            </a:r>
          </a:p>
        </p:txBody>
      </p:sp>
      <p:graphicFrame>
        <p:nvGraphicFramePr>
          <p:cNvPr id="27" name="Table 26"/>
          <p:cNvGraphicFramePr>
            <a:graphicFrameLocks noGrp="1"/>
          </p:cNvGraphicFramePr>
          <p:nvPr/>
        </p:nvGraphicFramePr>
        <p:xfrm>
          <a:off x="822960" y="1874519"/>
          <a:ext cx="16642075" cy="6291072"/>
        </p:xfrm>
        <a:graphic>
          <a:graphicData uri="http://schemas.openxmlformats.org/drawingml/2006/table">
            <a:tbl>
              <a:tblPr firstRow="1" bandRow="1">
                <a:tableStyleId>{5C22544A-7EE6-4342-B048-85BDC9FD1C3A}</a:tableStyleId>
              </a:tblPr>
              <a:tblGrid>
                <a:gridCol w="2194559"/>
                <a:gridCol w="3291839"/>
                <a:gridCol w="5120639"/>
                <a:gridCol w="2011679"/>
                <a:gridCol w="4023359"/>
              </a:tblGrid>
              <a:tr h="393192">
                <a:tc>
                  <a:txBody>
                    <a:bodyPr wrap="square"/>
                    <a:lstStyle/>
                    <a:p>
                      <a:r>
                        <a:rPr sz="1000" b="1" i="0">
                          <a:solidFill>
                            <a:srgbClr val="FFFFFF"/>
                          </a:solidFill>
                          <a:latin typeface="Calibri (MS) Bold"/>
                        </a:rPr>
                        <a:t>Kelompok</a:t>
                      </a:r>
                    </a:p>
                  </a:txBody>
                  <a:tcPr marL="73152" marR="73152" marT="36576" marB="36576" anchor="ctr">
                    <a:solidFill>
                      <a:srgbClr val="0B5E6E"/>
                    </a:solidFill>
                  </a:tcPr>
                </a:tc>
                <a:tc>
                  <a:txBody>
                    <a:bodyPr wrap="square"/>
                    <a:lstStyle/>
                    <a:p>
                      <a:r>
                        <a:rPr sz="1000" b="1" i="0">
                          <a:solidFill>
                            <a:srgbClr val="FFFFFF"/>
                          </a:solidFill>
                          <a:latin typeface="Calibri (MS) Bold"/>
                        </a:rPr>
                        <a:t>Kandidat variabel</a:t>
                      </a:r>
                    </a:p>
                  </a:txBody>
                  <a:tcPr marL="73152" marR="73152" marT="36576" marB="36576" anchor="ctr">
                    <a:solidFill>
                      <a:srgbClr val="0B5E6E"/>
                    </a:solidFill>
                  </a:tcPr>
                </a:tc>
                <a:tc>
                  <a:txBody>
                    <a:bodyPr wrap="square"/>
                    <a:lstStyle/>
                    <a:p>
                      <a:r>
                        <a:rPr sz="1000" b="1" i="0">
                          <a:solidFill>
                            <a:srgbClr val="FFFFFF"/>
                          </a:solidFill>
                          <a:latin typeface="Calibri (MS) Bold"/>
                        </a:rPr>
                        <a:t>Hasil evaluasi</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Status</a:t>
                      </a:r>
                    </a:p>
                  </a:txBody>
                  <a:tcPr marL="73152" marR="73152" marT="36576" marB="36576" anchor="ctr">
                    <a:solidFill>
                      <a:srgbClr val="0B5E6E"/>
                    </a:solidFill>
                  </a:tcPr>
                </a:tc>
                <a:tc>
                  <a:txBody>
                    <a:bodyPr wrap="square"/>
                    <a:lstStyle/>
                    <a:p>
                      <a:r>
                        <a:rPr sz="1000" b="1" i="0">
                          <a:solidFill>
                            <a:srgbClr val="FFFFFF"/>
                          </a:solidFill>
                          <a:latin typeface="Calibri (MS) Bold"/>
                        </a:rPr>
                        <a:t>Peran akhir dalam CLD</a:t>
                      </a:r>
                    </a:p>
                  </a:txBody>
                  <a:tcPr marL="73152" marR="73152" marT="36576" marB="36576" anchor="ctr">
                    <a:solidFill>
                      <a:srgbClr val="0B5E6E"/>
                    </a:solidFill>
                  </a:tcPr>
                </a:tc>
              </a:tr>
              <a:tr h="393192">
                <a:tc>
                  <a:txBody>
                    <a:bodyPr wrap="square"/>
                    <a:lstStyle/>
                    <a:p>
                      <a:r>
                        <a:rPr sz="1000" b="1" i="0">
                          <a:solidFill>
                            <a:srgbClr val="0B5E6E"/>
                          </a:solidFill>
                          <a:latin typeface="Calibri (MS)"/>
                        </a:rPr>
                        <a:t>Permintaan &amp; daya tarik</a:t>
                      </a:r>
                    </a:p>
                  </a:txBody>
                  <a:tcPr marL="73152" marR="73152" marT="36576" marB="36576" anchor="ctr">
                    <a:solidFill>
                      <a:srgbClr val="FFFFFF"/>
                    </a:solidFill>
                  </a:tcPr>
                </a:tc>
                <a:tc>
                  <a:txBody>
                    <a:bodyPr wrap="square"/>
                    <a:lstStyle/>
                    <a:p>
                      <a:r>
                        <a:rPr sz="1000" b="0" i="0">
                          <a:solidFill>
                            <a:srgbClr val="14313B"/>
                          </a:solidFill>
                          <a:latin typeface="Calibri (MS)"/>
                        </a:rPr>
                        <a:t>Jumlah Wisatawan</a:t>
                      </a:r>
                    </a:p>
                  </a:txBody>
                  <a:tcPr marL="73152" marR="73152" marT="36576" marB="36576" anchor="ctr">
                    <a:solidFill>
                      <a:srgbClr val="FFFFFF"/>
                    </a:solidFill>
                  </a:tcPr>
                </a:tc>
                <a:tc>
                  <a:txBody>
                    <a:bodyPr wrap="square"/>
                    <a:lstStyle/>
                    <a:p>
                      <a:r>
                        <a:rPr sz="1000" b="0" i="0">
                          <a:solidFill>
                            <a:srgbClr val="14313B"/>
                          </a:solidFill>
                          <a:latin typeface="Calibri (MS)"/>
                        </a:rPr>
                        <a:t>Besarnya aktivitas kunjungan; pusat mekanisme pertumbuhan dan kepadatan</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Variabel utama R1, R2, B1, B2</a:t>
                      </a:r>
                    </a:p>
                  </a:txBody>
                  <a:tcPr marL="73152" marR="73152" marT="36576" marB="36576" anchor="ctr">
                    <a:solidFill>
                      <a:srgbClr val="FFFFFF"/>
                    </a:solidFill>
                  </a:tcPr>
                </a:tc>
              </a:tr>
              <a:tr h="393192">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Laju Kedatangan Wisatawan</a:t>
                      </a:r>
                    </a:p>
                  </a:txBody>
                  <a:tcPr marL="73152" marR="73152" marT="36576" marB="36576" anchor="ctr">
                    <a:solidFill>
                      <a:srgbClr val="EAF8FA"/>
                    </a:solidFill>
                  </a:tcPr>
                </a:tc>
                <a:tc>
                  <a:txBody>
                    <a:bodyPr wrap="square"/>
                    <a:lstStyle/>
                    <a:p>
                      <a:r>
                        <a:rPr sz="1000" b="0" i="0">
                          <a:solidFill>
                            <a:srgbClr val="14313B"/>
                          </a:solidFill>
                          <a:latin typeface="Calibri (MS)"/>
                        </a:rPr>
                        <a:t>Proses perubahan Jumlah Wisatawan</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Aliran penghubung daya tarik dan kunjungan</a:t>
                      </a:r>
                    </a:p>
                  </a:txBody>
                  <a:tcPr marL="73152" marR="73152" marT="36576" marB="36576" anchor="ctr">
                    <a:solidFill>
                      <a:srgbClr val="EAF8FA"/>
                    </a:solidFill>
                  </a:tcPr>
                </a:tc>
              </a:tr>
              <a:tr h="393192">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Daya Tarik Destinasi Wisata</a:t>
                      </a:r>
                    </a:p>
                  </a:txBody>
                  <a:tcPr marL="73152" marR="73152" marT="36576" marB="36576" anchor="ctr">
                    <a:solidFill>
                      <a:srgbClr val="FFFFFF"/>
                    </a:solidFill>
                  </a:tcPr>
                </a:tc>
                <a:tc>
                  <a:txBody>
                    <a:bodyPr wrap="square"/>
                    <a:lstStyle/>
                    <a:p>
                      <a:r>
                        <a:rPr sz="1000" b="0" i="0">
                          <a:solidFill>
                            <a:srgbClr val="14313B"/>
                          </a:solidFill>
                          <a:latin typeface="Calibri (MS)"/>
                        </a:rPr>
                        <a:t>Menghubungkan atraksi, kepadatan, dan daya dukung dengan kedatangan</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Penghubung utama loop penguat dan penyeimbang</a:t>
                      </a:r>
                    </a:p>
                  </a:txBody>
                  <a:tcPr marL="73152" marR="73152" marT="36576" marB="36576" anchor="ctr">
                    <a:solidFill>
                      <a:srgbClr val="FFFFFF"/>
                    </a:solidFill>
                  </a:tcPr>
                </a:tc>
              </a:tr>
              <a:tr h="393192">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Kepadatan Wisatawan</a:t>
                      </a:r>
                    </a:p>
                  </a:txBody>
                  <a:tcPr marL="73152" marR="73152" marT="36576" marB="36576" anchor="ctr">
                    <a:solidFill>
                      <a:srgbClr val="EAF8FA"/>
                    </a:solidFill>
                  </a:tcPr>
                </a:tc>
                <a:tc>
                  <a:txBody>
                    <a:bodyPr wrap="square"/>
                    <a:lstStyle/>
                    <a:p>
                      <a:r>
                        <a:rPr sz="1000" b="0" i="0">
                          <a:solidFill>
                            <a:srgbClr val="14313B"/>
                          </a:solidFill>
                          <a:latin typeface="Calibri (MS)"/>
                        </a:rPr>
                        <a:t>Tekanan jumlah kunjungan terhadap ruang destinasi</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Mekanisme pembatas B1</a:t>
                      </a:r>
                    </a:p>
                  </a:txBody>
                  <a:tcPr marL="73152" marR="73152" marT="36576" marB="36576" anchor="ctr">
                    <a:solidFill>
                      <a:srgbClr val="EAF8FA"/>
                    </a:solidFill>
                  </a:tcPr>
                </a:tc>
              </a:tr>
              <a:tr h="393192">
                <a:tc>
                  <a:txBody>
                    <a:bodyPr wrap="square"/>
                    <a:lstStyle/>
                    <a:p>
                      <a:r>
                        <a:rPr sz="1000" b="1" i="0">
                          <a:solidFill>
                            <a:srgbClr val="0B5E6E"/>
                          </a:solidFill>
                          <a:latin typeface="Calibri (MS)"/>
                        </a:rPr>
                        <a:t>Atraksi/ODTW</a:t>
                      </a:r>
                    </a:p>
                  </a:txBody>
                  <a:tcPr marL="73152" marR="73152" marT="36576" marB="36576" anchor="ctr">
                    <a:solidFill>
                      <a:srgbClr val="FFFFFF"/>
                    </a:solidFill>
                  </a:tcPr>
                </a:tc>
                <a:tc>
                  <a:txBody>
                    <a:bodyPr wrap="square"/>
                    <a:lstStyle/>
                    <a:p>
                      <a:r>
                        <a:rPr sz="1000" b="0" i="0">
                          <a:solidFill>
                            <a:srgbClr val="14313B"/>
                          </a:solidFill>
                          <a:latin typeface="Calibri (MS)"/>
                        </a:rPr>
                        <a:t>Jumlah ODTW</a:t>
                      </a:r>
                    </a:p>
                  </a:txBody>
                  <a:tcPr marL="73152" marR="73152" marT="36576" marB="36576" anchor="ctr">
                    <a:solidFill>
                      <a:srgbClr val="FFFFFF"/>
                    </a:solidFill>
                  </a:tcPr>
                </a:tc>
                <a:tc>
                  <a:txBody>
                    <a:bodyPr wrap="square"/>
                    <a:lstStyle/>
                    <a:p>
                      <a:r>
                        <a:rPr sz="1000" b="0" i="0">
                          <a:solidFill>
                            <a:srgbClr val="14313B"/>
                          </a:solidFill>
                          <a:latin typeface="Calibri (MS)"/>
                        </a:rPr>
                        <a:t>Ketersediaan atraksi pendukung daya tarik</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Jalur ekonomi–atraksi R2</a:t>
                      </a:r>
                    </a:p>
                  </a:txBody>
                  <a:tcPr marL="73152" marR="73152" marT="36576" marB="36576" anchor="ctr">
                    <a:solidFill>
                      <a:srgbClr val="FFFFFF"/>
                    </a:solidFill>
                  </a:tcPr>
                </a:tc>
              </a:tr>
              <a:tr h="393192">
                <a:tc>
                  <a:txBody>
                    <a:bodyPr wrap="square"/>
                    <a:lstStyle/>
                    <a:p>
                      <a:r>
                        <a:rPr sz="1000" b="1" i="0">
                          <a:solidFill>
                            <a:srgbClr val="0B5E6E"/>
                          </a:solidFill>
                          <a:latin typeface="Calibri (MS)"/>
                        </a:rPr>
                        <a:t>Ekonomi &amp; investasi</a:t>
                      </a:r>
                    </a:p>
                  </a:txBody>
                  <a:tcPr marL="73152" marR="73152" marT="36576" marB="36576" anchor="ctr">
                    <a:solidFill>
                      <a:srgbClr val="EAF8FA"/>
                    </a:solidFill>
                  </a:tcPr>
                </a:tc>
                <a:tc>
                  <a:txBody>
                    <a:bodyPr wrap="square"/>
                    <a:lstStyle/>
                    <a:p>
                      <a:r>
                        <a:rPr sz="1000" b="0" i="0">
                          <a:solidFill>
                            <a:srgbClr val="14313B"/>
                          </a:solidFill>
                          <a:latin typeface="Calibri (MS)"/>
                        </a:rPr>
                        <a:t>Pengeluaran Wisatawan</a:t>
                      </a:r>
                    </a:p>
                  </a:txBody>
                  <a:tcPr marL="73152" marR="73152" marT="36576" marB="36576" anchor="ctr">
                    <a:solidFill>
                      <a:srgbClr val="EAF8FA"/>
                    </a:solidFill>
                  </a:tcPr>
                </a:tc>
                <a:tc>
                  <a:txBody>
                    <a:bodyPr wrap="square"/>
                    <a:lstStyle/>
                    <a:p>
                      <a:r>
                        <a:rPr sz="1000" b="0" i="0">
                          <a:solidFill>
                            <a:srgbClr val="14313B"/>
                          </a:solidFill>
                          <a:latin typeface="Calibri (MS)"/>
                        </a:rPr>
                        <a:t>Menyalurkan kunjungan ke aktivitas ekonomi</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Jalur ekonomi R2</a:t>
                      </a:r>
                    </a:p>
                  </a:txBody>
                  <a:tcPr marL="73152" marR="73152" marT="36576" marB="36576" anchor="ctr">
                    <a:solidFill>
                      <a:srgbClr val="EAF8FA"/>
                    </a:solidFill>
                  </a:tcPr>
                </a:tc>
              </a:tr>
              <a:tr h="393192">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PDRB Sektor Pariwisata</a:t>
                      </a:r>
                    </a:p>
                  </a:txBody>
                  <a:tcPr marL="73152" marR="73152" marT="36576" marB="36576" anchor="ctr">
                    <a:solidFill>
                      <a:srgbClr val="FFFFFF"/>
                    </a:solidFill>
                  </a:tcPr>
                </a:tc>
                <a:tc>
                  <a:txBody>
                    <a:bodyPr wrap="square"/>
                    <a:lstStyle/>
                    <a:p>
                      <a:r>
                        <a:rPr sz="1000" b="0" i="0">
                          <a:solidFill>
                            <a:srgbClr val="14313B"/>
                          </a:solidFill>
                          <a:latin typeface="Calibri (MS)"/>
                        </a:rPr>
                        <a:t>Nilai tambah ekonomi aktivitas wisata</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Menghubungkan pengeluaran, investasi, kebutuhan TK</a:t>
                      </a:r>
                    </a:p>
                  </a:txBody>
                  <a:tcPr marL="73152" marR="73152" marT="36576" marB="36576" anchor="ctr">
                    <a:solidFill>
                      <a:srgbClr val="FFFFFF"/>
                    </a:solidFill>
                  </a:tcPr>
                </a:tc>
              </a:tr>
              <a:tr h="393192">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Investasi Sektor Pariwisata</a:t>
                      </a:r>
                    </a:p>
                  </a:txBody>
                  <a:tcPr marL="73152" marR="73152" marT="36576" marB="36576" anchor="ctr">
                    <a:solidFill>
                      <a:srgbClr val="EAF8FA"/>
                    </a:solidFill>
                  </a:tcPr>
                </a:tc>
                <a:tc>
                  <a:txBody>
                    <a:bodyPr wrap="square"/>
                    <a:lstStyle/>
                    <a:p>
                      <a:r>
                        <a:rPr sz="1000" b="0" i="0">
                          <a:solidFill>
                            <a:srgbClr val="14313B"/>
                          </a:solidFill>
                          <a:latin typeface="Calibri (MS)"/>
                        </a:rPr>
                        <a:t>Sumber pengembangan kapasitas</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Mendorong pembangunan ODTW dan konstruksi</a:t>
                      </a:r>
                    </a:p>
                  </a:txBody>
                  <a:tcPr marL="73152" marR="73152" marT="36576" marB="36576" anchor="ctr">
                    <a:solidFill>
                      <a:srgbClr val="EAF8FA"/>
                    </a:solidFill>
                  </a:tcPr>
                </a:tc>
              </a:tr>
              <a:tr h="393192">
                <a:tc>
                  <a:txBody>
                    <a:bodyPr wrap="square"/>
                    <a:lstStyle/>
                    <a:p>
                      <a:r>
                        <a:rPr sz="1000" b="1" i="0">
                          <a:solidFill>
                            <a:srgbClr val="0B5E6E"/>
                          </a:solidFill>
                          <a:latin typeface="Calibri (MS)"/>
                        </a:rPr>
                        <a:t>Akomodasi</a:t>
                      </a:r>
                    </a:p>
                  </a:txBody>
                  <a:tcPr marL="73152" marR="73152" marT="36576" marB="36576" anchor="ctr">
                    <a:solidFill>
                      <a:srgbClr val="FFFFFF"/>
                    </a:solidFill>
                  </a:tcPr>
                </a:tc>
                <a:tc>
                  <a:txBody>
                    <a:bodyPr wrap="square"/>
                    <a:lstStyle/>
                    <a:p>
                      <a:r>
                        <a:rPr sz="1000" b="0" i="0">
                          <a:solidFill>
                            <a:srgbClr val="14313B"/>
                          </a:solidFill>
                          <a:latin typeface="Calibri (MS)"/>
                        </a:rPr>
                        <a:t>Jumlah Hotel dan Akomodasi</a:t>
                      </a:r>
                    </a:p>
                  </a:txBody>
                  <a:tcPr marL="73152" marR="73152" marT="36576" marB="36576" anchor="ctr">
                    <a:solidFill>
                      <a:srgbClr val="FFFFFF"/>
                    </a:solidFill>
                  </a:tcPr>
                </a:tc>
                <a:tc>
                  <a:txBody>
                    <a:bodyPr wrap="square"/>
                    <a:lstStyle/>
                    <a:p>
                      <a:r>
                        <a:rPr sz="1000" b="0" i="0">
                          <a:solidFill>
                            <a:srgbClr val="14313B"/>
                          </a:solidFill>
                          <a:latin typeface="Calibri (MS)"/>
                        </a:rPr>
                        <a:t>Kapasitas akomodasi tersedia</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Stock utama subsistem akomodasi</a:t>
                      </a:r>
                    </a:p>
                  </a:txBody>
                  <a:tcPr marL="73152" marR="73152" marT="36576" marB="36576" anchor="ctr">
                    <a:solidFill>
                      <a:srgbClr val="FFFFFF"/>
                    </a:solidFill>
                  </a:tcPr>
                </a:tc>
              </a:tr>
              <a:tr h="393192">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Rasio Permintaan thd Kapasitas Kamar</a:t>
                      </a:r>
                    </a:p>
                  </a:txBody>
                  <a:tcPr marL="73152" marR="73152" marT="36576" marB="36576" anchor="ctr">
                    <a:solidFill>
                      <a:srgbClr val="EAF8FA"/>
                    </a:solidFill>
                  </a:tcPr>
                </a:tc>
                <a:tc>
                  <a:txBody>
                    <a:bodyPr wrap="square"/>
                    <a:lstStyle/>
                    <a:p>
                      <a:r>
                        <a:rPr sz="1000" b="0" i="0">
                          <a:solidFill>
                            <a:srgbClr val="14313B"/>
                          </a:solidFill>
                          <a:latin typeface="Calibri (MS)"/>
                        </a:rPr>
                        <a:t>Tekanan permintaan relatif terhadap kapasitas</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Sinyal konstruksi pada B3</a:t>
                      </a:r>
                    </a:p>
                  </a:txBody>
                  <a:tcPr marL="73152" marR="73152" marT="36576" marB="36576" anchor="ctr">
                    <a:solidFill>
                      <a:srgbClr val="EAF8FA"/>
                    </a:solidFill>
                  </a:tcPr>
                </a:tc>
              </a:tr>
              <a:tr h="393192">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Laju Konstruksi Hotel dan Akomodasi</a:t>
                      </a:r>
                    </a:p>
                  </a:txBody>
                  <a:tcPr marL="73152" marR="73152" marT="36576" marB="36576" anchor="ctr">
                    <a:solidFill>
                      <a:srgbClr val="FFFFFF"/>
                    </a:solidFill>
                  </a:tcPr>
                </a:tc>
                <a:tc>
                  <a:txBody>
                    <a:bodyPr wrap="square"/>
                    <a:lstStyle/>
                    <a:p>
                      <a:r>
                        <a:rPr sz="1000" b="0" i="0">
                          <a:solidFill>
                            <a:srgbClr val="14313B"/>
                          </a:solidFill>
                          <a:latin typeface="Calibri (MS)"/>
                        </a:rPr>
                        <a:t>Penambahan kapasitas akomodasi</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Flow akomodasi; pendorong konversi lahan</a:t>
                      </a:r>
                    </a:p>
                  </a:txBody>
                  <a:tcPr marL="73152" marR="73152" marT="36576" marB="36576" anchor="ctr">
                    <a:solidFill>
                      <a:srgbClr val="FFFFFF"/>
                    </a:solidFill>
                  </a:tcPr>
                </a:tc>
              </a:tr>
              <a:tr h="393192">
                <a:tc>
                  <a:txBody>
                    <a:bodyPr wrap="square"/>
                    <a:lstStyle/>
                    <a:p>
                      <a:r>
                        <a:rPr sz="1000" b="1" i="0">
                          <a:solidFill>
                            <a:srgbClr val="0B5E6E"/>
                          </a:solidFill>
                          <a:latin typeface="Calibri (MS)"/>
                        </a:rPr>
                        <a:t>Lahan &amp; daya dukung</a:t>
                      </a:r>
                    </a:p>
                  </a:txBody>
                  <a:tcPr marL="73152" marR="73152" marT="36576" marB="36576" anchor="ctr">
                    <a:solidFill>
                      <a:srgbClr val="EAF8FA"/>
                    </a:solidFill>
                  </a:tcPr>
                </a:tc>
                <a:tc>
                  <a:txBody>
                    <a:bodyPr wrap="square"/>
                    <a:lstStyle/>
                    <a:p>
                      <a:r>
                        <a:rPr sz="1000" b="0" i="0">
                          <a:solidFill>
                            <a:srgbClr val="14313B"/>
                          </a:solidFill>
                          <a:latin typeface="Calibri (MS)"/>
                        </a:rPr>
                        <a:t>Rasio Daya Dukung Lahan</a:t>
                      </a:r>
                    </a:p>
                  </a:txBody>
                  <a:tcPr marL="73152" marR="73152" marT="36576" marB="36576" anchor="ctr">
                    <a:solidFill>
                      <a:srgbClr val="EAF8FA"/>
                    </a:solidFill>
                  </a:tcPr>
                </a:tc>
                <a:tc>
                  <a:txBody>
                    <a:bodyPr wrap="square"/>
                    <a:lstStyle/>
                    <a:p>
                      <a:r>
                        <a:rPr sz="1000" b="0" i="0">
                          <a:solidFill>
                            <a:srgbClr val="14313B"/>
                          </a:solidFill>
                          <a:latin typeface="Calibri (MS)"/>
                        </a:rPr>
                        <a:t>Proporsi kapasitas fisik yang masih tersedia</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Pembatas daya tarik pada B2</a:t>
                      </a:r>
                    </a:p>
                  </a:txBody>
                  <a:tcPr marL="73152" marR="73152" marT="36576" marB="36576" anchor="ctr">
                    <a:solidFill>
                      <a:srgbClr val="EAF8FA"/>
                    </a:solidFill>
                  </a:tcPr>
                </a:tc>
              </a:tr>
              <a:tr h="393192">
                <a:tc>
                  <a:txBody>
                    <a:bodyPr wrap="square"/>
                    <a:lstStyle/>
                    <a:p>
                      <a:r>
                        <a:rPr sz="1000" b="1" i="0">
                          <a:solidFill>
                            <a:srgbClr val="0B5E6E"/>
                          </a:solidFill>
                          <a:latin typeface="Calibri (MS)"/>
                        </a:rPr>
                        <a:t>Tenaga kerja</a:t>
                      </a:r>
                    </a:p>
                  </a:txBody>
                  <a:tcPr marL="73152" marR="73152" marT="36576" marB="36576" anchor="ctr">
                    <a:solidFill>
                      <a:srgbClr val="FFFFFF"/>
                    </a:solidFill>
                  </a:tcPr>
                </a:tc>
                <a:tc>
                  <a:txBody>
                    <a:bodyPr wrap="square"/>
                    <a:lstStyle/>
                    <a:p>
                      <a:r>
                        <a:rPr sz="1000" b="0" i="0">
                          <a:solidFill>
                            <a:srgbClr val="14313B"/>
                          </a:solidFill>
                          <a:latin typeface="Calibri (MS)"/>
                        </a:rPr>
                        <a:t>Tenaga Kerja Pariwisata</a:t>
                      </a:r>
                    </a:p>
                  </a:txBody>
                  <a:tcPr marL="73152" marR="73152" marT="36576" marB="36576" anchor="ctr">
                    <a:solidFill>
                      <a:srgbClr val="FFFFFF"/>
                    </a:solidFill>
                  </a:tcPr>
                </a:tc>
                <a:tc>
                  <a:txBody>
                    <a:bodyPr wrap="square"/>
                    <a:lstStyle/>
                    <a:p>
                      <a:r>
                        <a:rPr sz="1000" b="0" i="0">
                          <a:solidFill>
                            <a:srgbClr val="14313B"/>
                          </a:solidFill>
                          <a:latin typeface="Calibri (MS)"/>
                        </a:rPr>
                        <a:t>Keluaran aktivitas ekonomi; tidak diberi pengaruh langsung ke pembangunan ODTW</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 peran direvisi</a:t>
                      </a:r>
                    </a:p>
                  </a:txBody>
                  <a:tcPr marL="73152" marR="73152" marT="36576" marB="36576" anchor="ctr">
                    <a:solidFill>
                      <a:srgbClr val="FFF1BF"/>
                    </a:solidFill>
                  </a:tcPr>
                </a:tc>
                <a:tc>
                  <a:txBody>
                    <a:bodyPr wrap="square"/>
                    <a:lstStyle/>
                    <a:p>
                      <a:r>
                        <a:rPr sz="1000" b="0" i="0">
                          <a:solidFill>
                            <a:srgbClr val="14313B"/>
                          </a:solidFill>
                          <a:latin typeface="Calibri (MS)"/>
                        </a:rPr>
                        <a:t>Indikator keluaran dan bagian B4</a:t>
                      </a:r>
                    </a:p>
                  </a:txBody>
                  <a:tcPr marL="73152" marR="73152" marT="36576" marB="36576" anchor="ctr">
                    <a:solidFill>
                      <a:srgbClr val="FFFFFF"/>
                    </a:solidFill>
                  </a:tcPr>
                </a:tc>
              </a:tr>
              <a:tr h="393192">
                <a:tc>
                  <a:txBody>
                    <a:bodyPr wrap="square"/>
                    <a:lstStyle/>
                    <a:p>
                      <a:r>
                        <a:rPr sz="1000" b="1" i="0">
                          <a:solidFill>
                            <a:srgbClr val="0B5E6E"/>
                          </a:solidFill>
                          <a:latin typeface="Calibri (MS)"/>
                        </a:rPr>
                        <a:t/>
                      </a:r>
                    </a:p>
                  </a:txBody>
                  <a:tcPr marL="73152" marR="73152" marT="36576" marB="36576" anchor="ctr">
                    <a:solidFill>
                      <a:srgbClr val="EAF8FA"/>
                    </a:solidFill>
                  </a:tcPr>
                </a:tc>
                <a:tc>
                  <a:txBody>
                    <a:bodyPr wrap="square"/>
                    <a:lstStyle/>
                    <a:p>
                      <a:r>
                        <a:rPr sz="1000" b="0" i="0">
                          <a:solidFill>
                            <a:srgbClr val="14313B"/>
                          </a:solidFill>
                          <a:latin typeface="Calibri (MS)"/>
                        </a:rPr>
                        <a:t>Selisih Tenaga Kerja Dibutuhkan</a:t>
                      </a:r>
                    </a:p>
                  </a:txBody>
                  <a:tcPr marL="73152" marR="73152" marT="36576" marB="36576" anchor="ctr">
                    <a:solidFill>
                      <a:srgbClr val="EAF8FA"/>
                    </a:solidFill>
                  </a:tcPr>
                </a:tc>
                <a:tc>
                  <a:txBody>
                    <a:bodyPr wrap="square"/>
                    <a:lstStyle/>
                    <a:p>
                      <a:r>
                        <a:rPr sz="1000" b="0" i="0">
                          <a:solidFill>
                            <a:srgbClr val="14313B"/>
                          </a:solidFill>
                          <a:latin typeface="Calibri (MS)"/>
                        </a:rPr>
                        <a:t>Kesenjangan kebutuhan dan TK aktual</a:t>
                      </a:r>
                    </a:p>
                  </a:txBody>
                  <a:tcPr marL="73152" marR="73152" marT="36576" marB="36576" anchor="ctr">
                    <a:solidFill>
                      <a:srgbClr val="EAF8FA"/>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Sinyal penyesuaian B4</a:t>
                      </a:r>
                    </a:p>
                  </a:txBody>
                  <a:tcPr marL="73152" marR="73152" marT="36576" marB="36576" anchor="ctr">
                    <a:solidFill>
                      <a:srgbClr val="EAF8FA"/>
                    </a:solidFill>
                  </a:tcPr>
                </a:tc>
              </a:tr>
              <a:tr h="393192">
                <a:tc>
                  <a:txBody>
                    <a:bodyPr wrap="square"/>
                    <a:lstStyle/>
                    <a:p>
                      <a:r>
                        <a:rPr sz="1000" b="1" i="0">
                          <a:solidFill>
                            <a:srgbClr val="0B5E6E"/>
                          </a:solidFill>
                          <a:latin typeface="Calibri (MS)"/>
                        </a:rPr>
                        <a:t/>
                      </a:r>
                    </a:p>
                  </a:txBody>
                  <a:tcPr marL="73152" marR="73152" marT="36576" marB="36576" anchor="ctr">
                    <a:solidFill>
                      <a:srgbClr val="FFFFFF"/>
                    </a:solidFill>
                  </a:tcPr>
                </a:tc>
                <a:tc>
                  <a:txBody>
                    <a:bodyPr wrap="square"/>
                    <a:lstStyle/>
                    <a:p>
                      <a:r>
                        <a:rPr sz="1000" b="0" i="0">
                          <a:solidFill>
                            <a:srgbClr val="14313B"/>
                          </a:solidFill>
                          <a:latin typeface="Calibri (MS)"/>
                        </a:rPr>
                        <a:t>Laju Penyerapan Tenaga Kerja</a:t>
                      </a:r>
                    </a:p>
                  </a:txBody>
                  <a:tcPr marL="73152" marR="73152" marT="36576" marB="36576" anchor="ctr">
                    <a:solidFill>
                      <a:srgbClr val="FFFFFF"/>
                    </a:solidFill>
                  </a:tcPr>
                </a:tc>
                <a:tc>
                  <a:txBody>
                    <a:bodyPr wrap="square"/>
                    <a:lstStyle/>
                    <a:p>
                      <a:r>
                        <a:rPr sz="1000" b="0" i="0">
                          <a:solidFill>
                            <a:srgbClr val="14313B"/>
                          </a:solidFill>
                          <a:latin typeface="Calibri (MS)"/>
                        </a:rPr>
                        <a:t>Penyesuaian TK menuju kebutuhan</a:t>
                      </a:r>
                    </a:p>
                  </a:txBody>
                  <a:tcPr marL="73152" marR="73152" marT="36576" marB="36576" anchor="ctr">
                    <a:solidFill>
                      <a:srgbClr val="FFFFFF"/>
                    </a:solidFill>
                  </a:tcPr>
                </a:tc>
                <a:tc>
                  <a:txBody>
                    <a:bodyPr wrap="square"/>
                    <a:lstStyle/>
                    <a:p>
                      <a:pPr algn="ctr"/>
                      <a:r>
                        <a:rPr sz="1000" b="0" i="0">
                          <a:solidFill>
                            <a:srgbClr val="14313B"/>
                          </a:solidFill>
                          <a:latin typeface="Calibri (MS)"/>
                        </a:rPr>
                        <a:t>Dipertahankan</a:t>
                      </a:r>
                    </a:p>
                  </a:txBody>
                  <a:tcPr marL="73152" marR="73152" marT="36576" marB="36576" anchor="ctr">
                    <a:solidFill>
                      <a:srgbClr val="C9F0D6"/>
                    </a:solidFill>
                  </a:tcPr>
                </a:tc>
                <a:tc>
                  <a:txBody>
                    <a:bodyPr wrap="square"/>
                    <a:lstStyle/>
                    <a:p>
                      <a:r>
                        <a:rPr sz="1000" b="0" i="0">
                          <a:solidFill>
                            <a:srgbClr val="14313B"/>
                          </a:solidFill>
                          <a:latin typeface="Calibri (MS)"/>
                        </a:rPr>
                        <a:t>Flow penyesuaian B4</a:t>
                      </a:r>
                    </a:p>
                  </a:txBody>
                  <a:tcPr marL="73152" marR="73152" marT="36576" marB="36576" anchor="ctr">
                    <a:solidFill>
                      <a:srgbClr val="FFFFFF"/>
                    </a:solidFill>
                  </a:tcPr>
                </a:tc>
              </a:tr>
            </a:tbl>
          </a:graphicData>
        </a:graphic>
      </p:graphicFrame>
      <p:sp>
        <p:nvSpPr>
          <p:cNvPr id="28" name="Rounded Rectangle 27"/>
          <p:cNvSpPr/>
          <p:nvPr/>
        </p:nvSpPr>
        <p:spPr>
          <a:xfrm>
            <a:off x="822960" y="822960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Hubungan langsung Tenaga Kerja → pembangunan ODTW dihapus karena tidak ada dasar kausal yang memadai. Populasi, limbah, dan air (ada di Mai &amp; Smith, 2018) sejak awal di luar batas model, sehingga tidak dihitung sebagai kandidat yang ditolak.</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4.1.1 (Tabel 24); kriteria evaluasi pada Tabel 11.</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56082"/>
            <a:ext cx="16637508" cy="1344930"/>
          </a:xfrm>
          <a:prstGeom prst="rect">
            <a:avLst/>
          </a:prstGeom>
        </p:spPr>
        <p:txBody>
          <a:bodyPr anchor="t" rtlCol="false" tIns="0" lIns="0" bIns="0" rIns="0">
            <a:spAutoFit/>
          </a:bodyPr>
          <a:lstStyle/>
          <a:p>
            <a:pPr algn="l">
              <a:lnSpc>
                <a:spcPts val="3840"/>
              </a:lnSpc>
            </a:pPr>
            <a:r>
              <a:rPr lang="en-US" sz="3200" b="true">
                <a:solidFill>
                  <a:srgbClr val="0B5E6E"/>
                </a:solidFill>
                <a:latin typeface="Calibri (MS) Bold"/>
                <a:ea typeface="Calibri (MS) Bold"/>
                <a:cs typeface="Calibri (MS) Bold"/>
                <a:sym typeface="Calibri (MS) Bold"/>
              </a:rPr>
              <a:t>Lampiran 26 · Matriks Hubungan Kausal Penyusun CLD</a:t>
            </a:r>
          </a:p>
          <a:p>
            <a:pPr algn="l">
              <a:lnSpc>
                <a:spcPts val="2279"/>
              </a:lnSpc>
            </a:pPr>
            <a:r>
              <a:rPr lang="en-US" sz="1899">
                <a:solidFill>
                  <a:srgbClr val="4A5A63"/>
                </a:solidFill>
                <a:latin typeface="Calibri (MS)"/>
                <a:ea typeface="Calibri (MS)"/>
                <a:cs typeface="Calibri (MS)"/>
                <a:sym typeface="Calibri (MS)"/>
              </a:rPr>
              <a:t>18 hubungan sebab-akibat: arah hubungan, cara kerjanya dalam model, dan dasarnya</a:t>
            </a:r>
          </a:p>
        </p:txBody>
      </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6" id="16"/>
          <p:cNvGrpSpPr/>
          <p:nvPr/>
        </p:nvGrpSpPr>
        <p:grpSpPr>
          <a:xfrm rot="0">
            <a:off x="822960" y="274320"/>
            <a:ext cx="2040922" cy="411480"/>
            <a:chOff x="0" y="0"/>
            <a:chExt cx="2721229" cy="548640"/>
          </a:xfrm>
        </p:grpSpPr>
        <p:sp>
          <p:nvSpPr>
            <p:cNvPr name="Freeform 17" id="1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sp>
      </p:grpSp>
      <p:grpSp>
        <p:nvGrpSpPr>
          <p:cNvPr name="Group 18" id="18"/>
          <p:cNvGrpSpPr/>
          <p:nvPr/>
        </p:nvGrpSpPr>
        <p:grpSpPr>
          <a:xfrm rot="0">
            <a:off x="822960" y="260033"/>
            <a:ext cx="2040922" cy="425768"/>
            <a:chOff x="0" y="0"/>
            <a:chExt cx="2721229" cy="567690"/>
          </a:xfrm>
        </p:grpSpPr>
        <p:sp>
          <p:nvSpPr>
            <p:cNvPr name="Freeform 19" id="19"/>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5"/>
              </a:stretch>
            </a:blipFill>
          </p:spPr>
        </p:sp>
      </p:grpSp>
      <p:grpSp>
        <p:nvGrpSpPr>
          <p:cNvPr name="Group 20" id="20"/>
          <p:cNvGrpSpPr/>
          <p:nvPr/>
        </p:nvGrpSpPr>
        <p:grpSpPr>
          <a:xfrm rot="0">
            <a:off x="822960" y="245745"/>
            <a:ext cx="2040941" cy="440055"/>
            <a:chOff x="0" y="0"/>
            <a:chExt cx="2721254" cy="586740"/>
          </a:xfrm>
        </p:grpSpPr>
        <p:sp>
          <p:nvSpPr>
            <p:cNvPr name="Freeform 21" id="21"/>
            <p:cNvSpPr/>
            <p:nvPr/>
          </p:nvSpPr>
          <p:spPr>
            <a:xfrm flipH="false" flipV="false" rot="0">
              <a:off x="0" y="0"/>
              <a:ext cx="2721229" cy="586740"/>
            </a:xfrm>
            <a:custGeom>
              <a:avLst/>
              <a:gdLst/>
              <a:ahLst/>
              <a:cxnLst/>
              <a:rect r="r" b="b" t="t" l="l"/>
              <a:pathLst>
                <a:path h="586740" w="2721229">
                  <a:moveTo>
                    <a:pt x="0" y="0"/>
                  </a:moveTo>
                  <a:lnTo>
                    <a:pt x="2721229" y="0"/>
                  </a:lnTo>
                  <a:lnTo>
                    <a:pt x="2721229" y="586740"/>
                  </a:lnTo>
                  <a:lnTo>
                    <a:pt x="0" y="586740"/>
                  </a:lnTo>
                  <a:close/>
                </a:path>
              </a:pathLst>
            </a:custGeom>
            <a:blipFill>
              <a:blip r:embed="rId6">
                <a:alphaModFix amt="0"/>
              </a:blip>
              <a:stretch>
                <a:fillRect l="0" t="-40307" r="0" b="-40307"/>
              </a:stretch>
            </a:blipFill>
          </p:spPr>
        </p:sp>
      </p:grpSp>
      <p:grpSp>
        <p:nvGrpSpPr>
          <p:cNvPr name="Group 22" id="22"/>
          <p:cNvGrpSpPr/>
          <p:nvPr/>
        </p:nvGrpSpPr>
        <p:grpSpPr>
          <a:xfrm rot="0">
            <a:off x="822960" y="231458"/>
            <a:ext cx="2040941" cy="454343"/>
            <a:chOff x="0" y="0"/>
            <a:chExt cx="2721254" cy="605790"/>
          </a:xfrm>
        </p:grpSpPr>
        <p:sp>
          <p:nvSpPr>
            <p:cNvPr name="Freeform 23" id="23"/>
            <p:cNvSpPr/>
            <p:nvPr/>
          </p:nvSpPr>
          <p:spPr>
            <a:xfrm flipH="false" flipV="false" rot="0">
              <a:off x="0" y="0"/>
              <a:ext cx="2721255" cy="605790"/>
            </a:xfrm>
            <a:custGeom>
              <a:avLst/>
              <a:gdLst/>
              <a:ahLst/>
              <a:cxnLst/>
              <a:rect r="r" b="b" t="t" l="l"/>
              <a:pathLst>
                <a:path h="605790" w="2721255">
                  <a:moveTo>
                    <a:pt x="0" y="0"/>
                  </a:moveTo>
                  <a:lnTo>
                    <a:pt x="2721255" y="0"/>
                  </a:lnTo>
                  <a:lnTo>
                    <a:pt x="2721255" y="605790"/>
                  </a:lnTo>
                  <a:lnTo>
                    <a:pt x="0" y="605790"/>
                  </a:lnTo>
                  <a:close/>
                </a:path>
              </a:pathLst>
            </a:custGeom>
            <a:blipFill>
              <a:blip r:embed="rId7">
                <a:alphaModFix amt="0"/>
              </a:blip>
              <a:stretch>
                <a:fillRect l="0" t="-37528" r="0" b="-37528"/>
              </a:stretch>
            </a:blipFill>
          </p:spPr>
        </p:sp>
        <p:sp>
          <p:nvSpPr>
            <p:cNvPr name="TextBox 24" id="24"/>
            <p:cNvSpPr txBox="true"/>
            <p:nvPr/>
          </p:nvSpPr>
          <p:spPr>
            <a:xfrm>
              <a:off x="0" y="-19050"/>
              <a:ext cx="2721254"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5" id="25"/>
          <p:cNvGrpSpPr/>
          <p:nvPr/>
        </p:nvGrpSpPr>
        <p:grpSpPr>
          <a:xfrm rot="0">
            <a:off x="2973629" y="274320"/>
            <a:ext cx="2378392" cy="411480"/>
            <a:chOff x="0" y="0"/>
            <a:chExt cx="3171190" cy="548640"/>
          </a:xfrm>
        </p:grpSpPr>
        <p:sp>
          <p:nvSpPr>
            <p:cNvPr name="Freeform 26" id="26"/>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27" id="27"/>
          <p:cNvGrpSpPr/>
          <p:nvPr/>
        </p:nvGrpSpPr>
        <p:grpSpPr>
          <a:xfrm rot="0">
            <a:off x="2973629" y="274320"/>
            <a:ext cx="2378392" cy="411480"/>
            <a:chOff x="0" y="0"/>
            <a:chExt cx="3171190" cy="548640"/>
          </a:xfrm>
        </p:grpSpPr>
        <p:sp>
          <p:nvSpPr>
            <p:cNvPr name="Freeform 28" id="28"/>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sp>
      </p:grpSp>
      <p:grpSp>
        <p:nvGrpSpPr>
          <p:cNvPr name="Group 29" id="29"/>
          <p:cNvGrpSpPr/>
          <p:nvPr/>
        </p:nvGrpSpPr>
        <p:grpSpPr>
          <a:xfrm rot="0">
            <a:off x="2973629" y="260033"/>
            <a:ext cx="2378392" cy="425768"/>
            <a:chOff x="0" y="0"/>
            <a:chExt cx="3171190" cy="567690"/>
          </a:xfrm>
        </p:grpSpPr>
        <p:sp>
          <p:nvSpPr>
            <p:cNvPr name="Freeform 30" id="30"/>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9" r="0" b="-58771"/>
              </a:stretch>
            </a:blipFill>
          </p:spPr>
        </p:sp>
      </p:grpSp>
      <p:grpSp>
        <p:nvGrpSpPr>
          <p:cNvPr name="Group 31" id="31"/>
          <p:cNvGrpSpPr/>
          <p:nvPr/>
        </p:nvGrpSpPr>
        <p:grpSpPr>
          <a:xfrm rot="0">
            <a:off x="2973629" y="245745"/>
            <a:ext cx="2378354" cy="440055"/>
            <a:chOff x="0" y="0"/>
            <a:chExt cx="3171139" cy="586740"/>
          </a:xfrm>
        </p:grpSpPr>
        <p:sp>
          <p:nvSpPr>
            <p:cNvPr name="Freeform 32" id="32"/>
            <p:cNvSpPr/>
            <p:nvPr/>
          </p:nvSpPr>
          <p:spPr>
            <a:xfrm flipH="false" flipV="false" rot="0">
              <a:off x="0" y="0"/>
              <a:ext cx="3171190" cy="586740"/>
            </a:xfrm>
            <a:custGeom>
              <a:avLst/>
              <a:gdLst/>
              <a:ahLst/>
              <a:cxnLst/>
              <a:rect r="r" b="b" t="t" l="l"/>
              <a:pathLst>
                <a:path h="586740" w="3171190">
                  <a:moveTo>
                    <a:pt x="0" y="0"/>
                  </a:moveTo>
                  <a:lnTo>
                    <a:pt x="3171190" y="0"/>
                  </a:lnTo>
                  <a:lnTo>
                    <a:pt x="3171190" y="586740"/>
                  </a:lnTo>
                  <a:lnTo>
                    <a:pt x="0" y="586740"/>
                  </a:lnTo>
                  <a:close/>
                </a:path>
              </a:pathLst>
            </a:custGeom>
            <a:blipFill>
              <a:blip r:embed="rId6">
                <a:alphaModFix amt="0"/>
              </a:blip>
              <a:stretch>
                <a:fillRect l="0" t="-55235" r="1" b="-55238"/>
              </a:stretch>
            </a:blipFill>
          </p:spPr>
        </p:sp>
      </p:grpSp>
      <p:grpSp>
        <p:nvGrpSpPr>
          <p:cNvPr name="Group 33" id="33"/>
          <p:cNvGrpSpPr/>
          <p:nvPr/>
        </p:nvGrpSpPr>
        <p:grpSpPr>
          <a:xfrm rot="0">
            <a:off x="2973629" y="231458"/>
            <a:ext cx="2378354" cy="454343"/>
            <a:chOff x="0" y="0"/>
            <a:chExt cx="3171139" cy="605790"/>
          </a:xfrm>
        </p:grpSpPr>
        <p:sp>
          <p:nvSpPr>
            <p:cNvPr name="Freeform 34" id="34"/>
            <p:cNvSpPr/>
            <p:nvPr/>
          </p:nvSpPr>
          <p:spPr>
            <a:xfrm flipH="false" flipV="false" rot="0">
              <a:off x="0" y="0"/>
              <a:ext cx="3171139" cy="605790"/>
            </a:xfrm>
            <a:custGeom>
              <a:avLst/>
              <a:gdLst/>
              <a:ahLst/>
              <a:cxnLst/>
              <a:rect r="r" b="b" t="t" l="l"/>
              <a:pathLst>
                <a:path h="605790" w="3171139">
                  <a:moveTo>
                    <a:pt x="0" y="0"/>
                  </a:moveTo>
                  <a:lnTo>
                    <a:pt x="3171139" y="0"/>
                  </a:lnTo>
                  <a:lnTo>
                    <a:pt x="3171139" y="605790"/>
                  </a:lnTo>
                  <a:lnTo>
                    <a:pt x="0" y="605790"/>
                  </a:lnTo>
                  <a:close/>
                </a:path>
              </a:pathLst>
            </a:custGeom>
            <a:blipFill>
              <a:blip r:embed="rId7">
                <a:alphaModFix amt="0"/>
              </a:blip>
              <a:stretch>
                <a:fillRect l="0" t="-51998" r="0" b="-51998"/>
              </a:stretch>
            </a:blipFill>
          </p:spPr>
        </p:sp>
        <p:sp>
          <p:nvSpPr>
            <p:cNvPr name="TextBox 35" id="35"/>
            <p:cNvSpPr txBox="true"/>
            <p:nvPr/>
          </p:nvSpPr>
          <p:spPr>
            <a:xfrm>
              <a:off x="0" y="-19050"/>
              <a:ext cx="3171139"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6" id="36"/>
          <p:cNvGrpSpPr/>
          <p:nvPr/>
        </p:nvGrpSpPr>
        <p:grpSpPr>
          <a:xfrm rot="0">
            <a:off x="5461711" y="274320"/>
            <a:ext cx="1591056" cy="411480"/>
            <a:chOff x="0" y="0"/>
            <a:chExt cx="2121408" cy="548640"/>
          </a:xfrm>
        </p:grpSpPr>
        <p:sp>
          <p:nvSpPr>
            <p:cNvPr name="Freeform 37" id="37"/>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38" id="38"/>
          <p:cNvGrpSpPr/>
          <p:nvPr/>
        </p:nvGrpSpPr>
        <p:grpSpPr>
          <a:xfrm rot="0">
            <a:off x="5461711" y="274320"/>
            <a:ext cx="1591056" cy="411480"/>
            <a:chOff x="0" y="0"/>
            <a:chExt cx="2121408" cy="548640"/>
          </a:xfrm>
        </p:grpSpPr>
        <p:sp>
          <p:nvSpPr>
            <p:cNvPr name="Freeform 39" id="39"/>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40" id="40"/>
          <p:cNvGrpSpPr/>
          <p:nvPr/>
        </p:nvGrpSpPr>
        <p:grpSpPr>
          <a:xfrm rot="0">
            <a:off x="5461711" y="260033"/>
            <a:ext cx="1591056" cy="425768"/>
            <a:chOff x="0" y="0"/>
            <a:chExt cx="2121408" cy="567690"/>
          </a:xfrm>
        </p:grpSpPr>
        <p:sp>
          <p:nvSpPr>
            <p:cNvPr name="Freeform 41" id="41"/>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sp>
      </p:grpSp>
      <p:grpSp>
        <p:nvGrpSpPr>
          <p:cNvPr name="Group 42" id="42"/>
          <p:cNvGrpSpPr/>
          <p:nvPr/>
        </p:nvGrpSpPr>
        <p:grpSpPr>
          <a:xfrm rot="0">
            <a:off x="5461711" y="245745"/>
            <a:ext cx="1591056" cy="440055"/>
            <a:chOff x="0" y="0"/>
            <a:chExt cx="2121408" cy="586740"/>
          </a:xfrm>
        </p:grpSpPr>
        <p:sp>
          <p:nvSpPr>
            <p:cNvPr name="Freeform 43" id="43"/>
            <p:cNvSpPr/>
            <p:nvPr/>
          </p:nvSpPr>
          <p:spPr>
            <a:xfrm flipH="false" flipV="false" rot="0">
              <a:off x="0" y="0"/>
              <a:ext cx="2121408" cy="586740"/>
            </a:xfrm>
            <a:custGeom>
              <a:avLst/>
              <a:gdLst/>
              <a:ahLst/>
              <a:cxnLst/>
              <a:rect r="r" b="b" t="t" l="l"/>
              <a:pathLst>
                <a:path h="586740" w="2121408">
                  <a:moveTo>
                    <a:pt x="0" y="0"/>
                  </a:moveTo>
                  <a:lnTo>
                    <a:pt x="2121408" y="0"/>
                  </a:lnTo>
                  <a:lnTo>
                    <a:pt x="2121408" y="586740"/>
                  </a:lnTo>
                  <a:lnTo>
                    <a:pt x="0" y="586740"/>
                  </a:lnTo>
                  <a:close/>
                </a:path>
              </a:pathLst>
            </a:custGeom>
            <a:blipFill>
              <a:blip r:embed="rId6">
                <a:alphaModFix amt="0"/>
              </a:blip>
              <a:stretch>
                <a:fillRect l="0" t="-20400" r="0" b="-20400"/>
              </a:stretch>
            </a:blipFill>
          </p:spPr>
        </p:sp>
      </p:grpSp>
      <p:grpSp>
        <p:nvGrpSpPr>
          <p:cNvPr name="Group 44" id="44"/>
          <p:cNvGrpSpPr/>
          <p:nvPr/>
        </p:nvGrpSpPr>
        <p:grpSpPr>
          <a:xfrm rot="0">
            <a:off x="5461711" y="231458"/>
            <a:ext cx="1591056" cy="454343"/>
            <a:chOff x="0" y="0"/>
            <a:chExt cx="2121408" cy="605790"/>
          </a:xfrm>
        </p:grpSpPr>
        <p:sp>
          <p:nvSpPr>
            <p:cNvPr name="Freeform 45" id="45"/>
            <p:cNvSpPr/>
            <p:nvPr/>
          </p:nvSpPr>
          <p:spPr>
            <a:xfrm flipH="false" flipV="false" rot="0">
              <a:off x="0" y="0"/>
              <a:ext cx="2121408" cy="605790"/>
            </a:xfrm>
            <a:custGeom>
              <a:avLst/>
              <a:gdLst/>
              <a:ahLst/>
              <a:cxnLst/>
              <a:rect r="r" b="b" t="t" l="l"/>
              <a:pathLst>
                <a:path h="605790" w="2121408">
                  <a:moveTo>
                    <a:pt x="0" y="0"/>
                  </a:moveTo>
                  <a:lnTo>
                    <a:pt x="2121408" y="0"/>
                  </a:lnTo>
                  <a:lnTo>
                    <a:pt x="2121408" y="605790"/>
                  </a:lnTo>
                  <a:lnTo>
                    <a:pt x="0" y="605790"/>
                  </a:lnTo>
                  <a:close/>
                </a:path>
              </a:pathLst>
            </a:custGeom>
            <a:blipFill>
              <a:blip r:embed="rId7">
                <a:alphaModFix amt="0"/>
              </a:blip>
              <a:stretch>
                <a:fillRect l="0" t="-18234" r="0" b="-18234"/>
              </a:stretch>
            </a:blipFill>
          </p:spPr>
        </p:sp>
        <p:sp>
          <p:nvSpPr>
            <p:cNvPr name="TextBox 46" id="46"/>
            <p:cNvSpPr txBox="true"/>
            <p:nvPr/>
          </p:nvSpPr>
          <p:spPr>
            <a:xfrm>
              <a:off x="0" y="-19050"/>
              <a:ext cx="2121408" cy="6248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47" id="47"/>
          <p:cNvGrpSpPr/>
          <p:nvPr/>
        </p:nvGrpSpPr>
        <p:grpSpPr>
          <a:xfrm rot="0">
            <a:off x="7162495" y="274320"/>
            <a:ext cx="2490788" cy="411480"/>
            <a:chOff x="0" y="0"/>
            <a:chExt cx="3321050" cy="548640"/>
          </a:xfrm>
        </p:grpSpPr>
        <p:sp>
          <p:nvSpPr>
            <p:cNvPr name="Freeform 48" id="48"/>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49" id="49"/>
          <p:cNvGrpSpPr/>
          <p:nvPr/>
        </p:nvGrpSpPr>
        <p:grpSpPr>
          <a:xfrm rot="0">
            <a:off x="7162495" y="274320"/>
            <a:ext cx="2490788" cy="411480"/>
            <a:chOff x="0" y="0"/>
            <a:chExt cx="3321050" cy="548640"/>
          </a:xfrm>
        </p:grpSpPr>
        <p:sp>
          <p:nvSpPr>
            <p:cNvPr name="Freeform 50" id="50"/>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sp>
      </p:grpSp>
      <p:grpSp>
        <p:nvGrpSpPr>
          <p:cNvPr name="Group 51" id="51"/>
          <p:cNvGrpSpPr/>
          <p:nvPr/>
        </p:nvGrpSpPr>
        <p:grpSpPr>
          <a:xfrm rot="0">
            <a:off x="7162495" y="260033"/>
            <a:ext cx="2490788" cy="425768"/>
            <a:chOff x="0" y="0"/>
            <a:chExt cx="3321050" cy="567690"/>
          </a:xfrm>
        </p:grpSpPr>
        <p:sp>
          <p:nvSpPr>
            <p:cNvPr name="Freeform 52" id="52"/>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0" r="0" b="-63910"/>
              </a:stretch>
            </a:blipFill>
          </p:spPr>
        </p:sp>
      </p:grpSp>
      <p:grpSp>
        <p:nvGrpSpPr>
          <p:cNvPr name="Group 53" id="53"/>
          <p:cNvGrpSpPr/>
          <p:nvPr/>
        </p:nvGrpSpPr>
        <p:grpSpPr>
          <a:xfrm rot="0">
            <a:off x="7162495" y="245745"/>
            <a:ext cx="2490826" cy="440055"/>
            <a:chOff x="0" y="0"/>
            <a:chExt cx="3321101" cy="586740"/>
          </a:xfrm>
        </p:grpSpPr>
        <p:sp>
          <p:nvSpPr>
            <p:cNvPr name="Freeform 54" id="54"/>
            <p:cNvSpPr/>
            <p:nvPr/>
          </p:nvSpPr>
          <p:spPr>
            <a:xfrm flipH="false" flipV="false" rot="0">
              <a:off x="0" y="0"/>
              <a:ext cx="3321050" cy="586740"/>
            </a:xfrm>
            <a:custGeom>
              <a:avLst/>
              <a:gdLst/>
              <a:ahLst/>
              <a:cxnLst/>
              <a:rect r="r" b="b" t="t" l="l"/>
              <a:pathLst>
                <a:path h="586740" w="3321050">
                  <a:moveTo>
                    <a:pt x="0" y="0"/>
                  </a:moveTo>
                  <a:lnTo>
                    <a:pt x="3321050" y="0"/>
                  </a:lnTo>
                  <a:lnTo>
                    <a:pt x="3321050" y="586740"/>
                  </a:lnTo>
                  <a:lnTo>
                    <a:pt x="0" y="586740"/>
                  </a:lnTo>
                  <a:close/>
                </a:path>
              </a:pathLst>
            </a:custGeom>
            <a:blipFill>
              <a:blip r:embed="rId6">
                <a:alphaModFix amt="0"/>
              </a:blip>
              <a:stretch>
                <a:fillRect l="0" t="-60214" r="-1" b="-60212"/>
              </a:stretch>
            </a:blipFill>
          </p:spPr>
        </p:sp>
      </p:grpSp>
      <p:grpSp>
        <p:nvGrpSpPr>
          <p:cNvPr name="Group 55" id="55"/>
          <p:cNvGrpSpPr/>
          <p:nvPr/>
        </p:nvGrpSpPr>
        <p:grpSpPr>
          <a:xfrm rot="0">
            <a:off x="7162495" y="231458"/>
            <a:ext cx="2490826" cy="454343"/>
            <a:chOff x="0" y="0"/>
            <a:chExt cx="3321101" cy="605790"/>
          </a:xfrm>
        </p:grpSpPr>
        <p:sp>
          <p:nvSpPr>
            <p:cNvPr name="Freeform 56" id="56"/>
            <p:cNvSpPr/>
            <p:nvPr/>
          </p:nvSpPr>
          <p:spPr>
            <a:xfrm flipH="false" flipV="false" rot="0">
              <a:off x="0" y="0"/>
              <a:ext cx="3321101" cy="605790"/>
            </a:xfrm>
            <a:custGeom>
              <a:avLst/>
              <a:gdLst/>
              <a:ahLst/>
              <a:cxnLst/>
              <a:rect r="r" b="b" t="t" l="l"/>
              <a:pathLst>
                <a:path h="605790" w="3321101">
                  <a:moveTo>
                    <a:pt x="0" y="0"/>
                  </a:moveTo>
                  <a:lnTo>
                    <a:pt x="3321101" y="0"/>
                  </a:lnTo>
                  <a:lnTo>
                    <a:pt x="3321101" y="605790"/>
                  </a:lnTo>
                  <a:lnTo>
                    <a:pt x="0" y="605790"/>
                  </a:lnTo>
                  <a:close/>
                </a:path>
              </a:pathLst>
            </a:custGeom>
            <a:blipFill>
              <a:blip r:embed="rId7">
                <a:alphaModFix amt="0"/>
              </a:blip>
              <a:stretch>
                <a:fillRect l="0" t="-56822" r="0" b="-56822"/>
              </a:stretch>
            </a:blipFill>
          </p:spPr>
        </p:sp>
        <p:sp>
          <p:nvSpPr>
            <p:cNvPr name="TextBox 57" id="57"/>
            <p:cNvSpPr txBox="true"/>
            <p:nvPr/>
          </p:nvSpPr>
          <p:spPr>
            <a:xfrm>
              <a:off x="0" y="-19050"/>
              <a:ext cx="3321101"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58" id="58"/>
          <p:cNvGrpSpPr/>
          <p:nvPr/>
        </p:nvGrpSpPr>
        <p:grpSpPr>
          <a:xfrm rot="0">
            <a:off x="9763049" y="274320"/>
            <a:ext cx="1366076" cy="411480"/>
            <a:chOff x="0" y="0"/>
            <a:chExt cx="1821434" cy="548640"/>
          </a:xfrm>
        </p:grpSpPr>
        <p:sp>
          <p:nvSpPr>
            <p:cNvPr name="Freeform 59" id="5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60" id="60"/>
          <p:cNvGrpSpPr/>
          <p:nvPr/>
        </p:nvGrpSpPr>
        <p:grpSpPr>
          <a:xfrm rot="0">
            <a:off x="9763049" y="274320"/>
            <a:ext cx="1366076" cy="411480"/>
            <a:chOff x="0" y="0"/>
            <a:chExt cx="1821434" cy="548640"/>
          </a:xfrm>
        </p:grpSpPr>
        <p:sp>
          <p:nvSpPr>
            <p:cNvPr name="Freeform 61" id="6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62" id="62"/>
          <p:cNvGrpSpPr/>
          <p:nvPr/>
        </p:nvGrpSpPr>
        <p:grpSpPr>
          <a:xfrm rot="0">
            <a:off x="9763049" y="260033"/>
            <a:ext cx="1366076" cy="425768"/>
            <a:chOff x="0" y="0"/>
            <a:chExt cx="1821434" cy="567690"/>
          </a:xfrm>
        </p:grpSpPr>
        <p:sp>
          <p:nvSpPr>
            <p:cNvPr name="Freeform 63" id="6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64" id="64"/>
          <p:cNvGrpSpPr/>
          <p:nvPr/>
        </p:nvGrpSpPr>
        <p:grpSpPr>
          <a:xfrm rot="0">
            <a:off x="9763049" y="245745"/>
            <a:ext cx="1366114" cy="440055"/>
            <a:chOff x="0" y="0"/>
            <a:chExt cx="1821485" cy="586740"/>
          </a:xfrm>
        </p:grpSpPr>
        <p:sp>
          <p:nvSpPr>
            <p:cNvPr name="Freeform 65" id="65"/>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66" id="66"/>
          <p:cNvGrpSpPr/>
          <p:nvPr/>
        </p:nvGrpSpPr>
        <p:grpSpPr>
          <a:xfrm rot="0">
            <a:off x="9763049" y="231458"/>
            <a:ext cx="1366114" cy="454343"/>
            <a:chOff x="0" y="0"/>
            <a:chExt cx="1821485" cy="605790"/>
          </a:xfrm>
        </p:grpSpPr>
        <p:sp>
          <p:nvSpPr>
            <p:cNvPr name="Freeform 67" id="67"/>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68" id="68"/>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69" id="69"/>
          <p:cNvGrpSpPr/>
          <p:nvPr/>
        </p:nvGrpSpPr>
        <p:grpSpPr>
          <a:xfrm rot="0">
            <a:off x="11238890" y="274320"/>
            <a:ext cx="1253680" cy="411480"/>
            <a:chOff x="0" y="0"/>
            <a:chExt cx="1671574" cy="548640"/>
          </a:xfrm>
        </p:grpSpPr>
        <p:sp>
          <p:nvSpPr>
            <p:cNvPr name="Freeform 70" id="7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71" id="71"/>
          <p:cNvGrpSpPr/>
          <p:nvPr/>
        </p:nvGrpSpPr>
        <p:grpSpPr>
          <a:xfrm rot="0">
            <a:off x="11238890" y="274320"/>
            <a:ext cx="1253680" cy="411480"/>
            <a:chOff x="0" y="0"/>
            <a:chExt cx="1671574" cy="548640"/>
          </a:xfrm>
        </p:grpSpPr>
        <p:sp>
          <p:nvSpPr>
            <p:cNvPr name="Freeform 72" id="7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sp>
      </p:grpSp>
      <p:grpSp>
        <p:nvGrpSpPr>
          <p:cNvPr name="Group 73" id="73"/>
          <p:cNvGrpSpPr/>
          <p:nvPr/>
        </p:nvGrpSpPr>
        <p:grpSpPr>
          <a:xfrm rot="0">
            <a:off x="11238890" y="260033"/>
            <a:ext cx="1253680" cy="425768"/>
            <a:chOff x="0" y="0"/>
            <a:chExt cx="1671574" cy="567690"/>
          </a:xfrm>
        </p:grpSpPr>
        <p:sp>
          <p:nvSpPr>
            <p:cNvPr name="Freeform 74" id="74"/>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0" b="-7335"/>
              </a:stretch>
            </a:blipFill>
          </p:spPr>
        </p:sp>
      </p:grpSp>
      <p:grpSp>
        <p:nvGrpSpPr>
          <p:cNvPr name="Group 75" id="75"/>
          <p:cNvGrpSpPr/>
          <p:nvPr/>
        </p:nvGrpSpPr>
        <p:grpSpPr>
          <a:xfrm rot="0">
            <a:off x="11238890" y="245745"/>
            <a:ext cx="1253642" cy="440055"/>
            <a:chOff x="0" y="0"/>
            <a:chExt cx="1671523" cy="586740"/>
          </a:xfrm>
        </p:grpSpPr>
        <p:sp>
          <p:nvSpPr>
            <p:cNvPr name="Freeform 76" id="76"/>
            <p:cNvSpPr/>
            <p:nvPr/>
          </p:nvSpPr>
          <p:spPr>
            <a:xfrm flipH="false" flipV="false" rot="0">
              <a:off x="0" y="0"/>
              <a:ext cx="1671574" cy="586740"/>
            </a:xfrm>
            <a:custGeom>
              <a:avLst/>
              <a:gdLst/>
              <a:ahLst/>
              <a:cxnLst/>
              <a:rect r="r" b="b" t="t" l="l"/>
              <a:pathLst>
                <a:path h="586740" w="1671574">
                  <a:moveTo>
                    <a:pt x="0" y="0"/>
                  </a:moveTo>
                  <a:lnTo>
                    <a:pt x="1671574" y="0"/>
                  </a:lnTo>
                  <a:lnTo>
                    <a:pt x="1671574" y="586740"/>
                  </a:lnTo>
                  <a:lnTo>
                    <a:pt x="0" y="586740"/>
                  </a:lnTo>
                  <a:close/>
                </a:path>
              </a:pathLst>
            </a:custGeom>
            <a:blipFill>
              <a:blip r:embed="rId6">
                <a:alphaModFix amt="0"/>
              </a:blip>
              <a:stretch>
                <a:fillRect l="0" t="-5471" r="3" b="-5469"/>
              </a:stretch>
            </a:blipFill>
          </p:spPr>
        </p:sp>
      </p:grpSp>
      <p:grpSp>
        <p:nvGrpSpPr>
          <p:cNvPr name="Group 77" id="77"/>
          <p:cNvGrpSpPr/>
          <p:nvPr/>
        </p:nvGrpSpPr>
        <p:grpSpPr>
          <a:xfrm rot="0">
            <a:off x="11238890" y="231458"/>
            <a:ext cx="1253642" cy="454343"/>
            <a:chOff x="0" y="0"/>
            <a:chExt cx="1671523" cy="605790"/>
          </a:xfrm>
        </p:grpSpPr>
        <p:sp>
          <p:nvSpPr>
            <p:cNvPr name="Freeform 78" id="78"/>
            <p:cNvSpPr/>
            <p:nvPr/>
          </p:nvSpPr>
          <p:spPr>
            <a:xfrm flipH="false" flipV="false" rot="0">
              <a:off x="0" y="0"/>
              <a:ext cx="1671523" cy="605790"/>
            </a:xfrm>
            <a:custGeom>
              <a:avLst/>
              <a:gdLst/>
              <a:ahLst/>
              <a:cxnLst/>
              <a:rect r="r" b="b" t="t" l="l"/>
              <a:pathLst>
                <a:path h="605790" w="1671523">
                  <a:moveTo>
                    <a:pt x="0" y="0"/>
                  </a:moveTo>
                  <a:lnTo>
                    <a:pt x="1671523" y="0"/>
                  </a:lnTo>
                  <a:lnTo>
                    <a:pt x="1671523" y="605790"/>
                  </a:lnTo>
                  <a:lnTo>
                    <a:pt x="0" y="605790"/>
                  </a:lnTo>
                  <a:close/>
                </a:path>
              </a:pathLst>
            </a:custGeom>
            <a:blipFill>
              <a:blip r:embed="rId7">
                <a:alphaModFix amt="0"/>
              </a:blip>
              <a:stretch>
                <a:fillRect l="0" t="-3763" r="0" b="-3763"/>
              </a:stretch>
            </a:blipFill>
          </p:spPr>
        </p:sp>
        <p:sp>
          <p:nvSpPr>
            <p:cNvPr name="TextBox 79" id="79"/>
            <p:cNvSpPr txBox="true"/>
            <p:nvPr/>
          </p:nvSpPr>
          <p:spPr>
            <a:xfrm>
              <a:off x="0" y="-19050"/>
              <a:ext cx="1671523" cy="6248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0" id="80"/>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graphicFrame>
        <p:nvGraphicFramePr>
          <p:cNvPr name="Table 81" id="81"/>
          <p:cNvGraphicFramePr>
            <a:graphicFrameLocks noGrp="true"/>
          </p:cNvGraphicFramePr>
          <p:nvPr/>
        </p:nvGraphicFramePr>
        <p:xfrm>
          <a:off x="822960" y="1783080"/>
          <a:ext cx="16624300" cy="6756400"/>
        </p:xfrm>
        <a:graphic>
          <a:graphicData uri="http://schemas.openxmlformats.org/drawingml/2006/table">
            <a:tbl>
              <a:tblPr/>
              <a:tblGrid>
                <a:gridCol w="959094"/>
                <a:gridCol w="4384431"/>
                <a:gridCol w="456712"/>
                <a:gridCol w="6942015"/>
                <a:gridCol w="3882048"/>
              </a:tblGrid>
              <a:tr h="355600">
                <a:tc>
                  <a:txBody>
                    <a:bodyPr anchor="t" rtlCol="false"/>
                    <a:lstStyle/>
                    <a:p>
                      <a:pPr algn="l">
                        <a:lnSpc>
                          <a:spcPts val="1307"/>
                        </a:lnSpc>
                        <a:defRPr/>
                      </a:pPr>
                      <a:r>
                        <a:rPr lang="en-US" sz="1089"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307"/>
                        </a:lnSpc>
                        <a:defRPr/>
                      </a:pPr>
                      <a:r>
                        <a:rPr lang="en-US" sz="1089" b="true">
                          <a:solidFill>
                            <a:srgbClr val="FFFFFF"/>
                          </a:solidFill>
                          <a:latin typeface="Calibri (MS) Bold"/>
                          <a:ea typeface="Calibri (MS) Bold"/>
                          <a:cs typeface="Calibri (MS) Bold"/>
                          <a:sym typeface="Calibri (MS) Bold"/>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307"/>
                        </a:lnSpc>
                        <a:defRPr/>
                      </a:pPr>
                      <a:r>
                        <a:rPr lang="en-US" sz="1089" b="true">
                          <a:solidFill>
                            <a:srgbClr val="FFFFFF"/>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307"/>
                        </a:lnSpc>
                        <a:defRPr/>
                      </a:pPr>
                      <a:r>
                        <a:rPr lang="en-US" sz="1089" b="true">
                          <a:solidFill>
                            <a:srgbClr val="FFFFFF"/>
                          </a:solidFill>
                          <a:latin typeface="Calibri (MS) Bold"/>
                          <a:ea typeface="Calibri (MS) Bold"/>
                          <a:cs typeface="Calibri (MS) Bold"/>
                          <a:sym typeface="Calibri (MS) Bold"/>
                        </a:rPr>
                        <a:t>Cara kerja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307"/>
                        </a:lnSpc>
                        <a:defRPr/>
                      </a:pPr>
                      <a:r>
                        <a:rPr lang="en-US" sz="1089" b="true">
                          <a:solidFill>
                            <a:srgbClr val="FFFFFF"/>
                          </a:solidFill>
                          <a:latin typeface="Calibri (MS) Bold"/>
                          <a:ea typeface="Calibri (MS) Bold"/>
                          <a:cs typeface="Calibri (MS) Bold"/>
                          <a:sym typeface="Calibri (MS) Bold"/>
                        </a:rPr>
                        <a:t>Dasar / rujukan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Jumlah Wisatawan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Makin banyak wisatawan, makin besar basis yang tumbuh, sehingga kedatangan bertambah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Struktur pertumbuhan; Sterman (2000); 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R1, R2, B1, 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Daya Tarik Destinasi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Daya tarik yang lebih tinggi membuat destinasi lebih mampu menarik kunjungan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Hu &amp; Ritchie (1993); Leiper (1990)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Jumlah Wisatawan → Pengeluaran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Dengan pengeluaran per kunjungan tetap, kunjungan lebih banyak berarti total pengeluaran lebih besar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Definisi penjumlahan; Frechtling (2010); Dispar DIY (2024)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Pengeluaran Wisatawan → PDRB Sektor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Pengeluaran wisatawan menjadi nilai tambah melalui rasio nilai tambah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Frechtling (2010); Munjal (2013)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PDRB Sektor Pariwisata → Investasi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Investasi dihitung sebagai proporsi PDRB dari data historis (formulasi data, bukan klaim umum)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Formulasi berbasis data; RIPPARDA DIY (2012)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Investasi → Laju Pembangunan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Investasi lebih besar menambah pembangunan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Fatina dkk. (2023); RIPPARDA DIY (2012)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Jumlah ODTW → Daya Tarik Destinasi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Ketersediaan atraksi adalah salah satu pembentuk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Leiper (1990); Hu &amp; Ritchie (1993); Gazoni &amp; da Silva (2022)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Jumlah Wisatawan → Kepadatan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Luas wilayah tetap, sehingga kunjungan lebih banyak berarti lebih padat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Definisi model; IPKN 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Kepadatan Wisatawan → Daya Tarik Destinasi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DE2DE"/>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Destinasi yang terlalu padat menurunkan kenyamanan berwisata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Saveriades (2000); 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Konstruksi Hotel &amp; Pembangunan ODTW → Konversi Lahan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Fasilitas baru butuh lahan, sehingga konversi lahan pariwisata bertambah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Formulasi model; Mai &amp; Smith (2018); Fatina dkk. (2023)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Konversi Lahan Pariwisata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Konversi lahan adalah aliran yang menambah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Persamaan stok-aliran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Lahan Terbangun → Rasio Daya Dukung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DE2DE"/>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Makin banyak lahan terbangun, makin kecil sisa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Definisi model; IPKN 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Rasio Daya Dukung Lahan → Daya Tarik Destinasi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Lingkungan yang lebih terjaga menaikkan komponen lingkungan pada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Saveriades (2000); 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Jumlah Hotel → Rasio Permintaan thd Kapasitas Kamar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DE2DE"/>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Dengan permintaan yang sama, kamar lebih banyak berarti tekanan permintaan lebih kecil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Definisi kapasitas; Wheaton &amp; Rossoff (1998)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Rasio Permintaan thd Kapasitas Kamar → Laju Konstruksi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Jika permintaan kamar di atas batas, pembangunan akomodasi baru terdorong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Wheaton &amp; Rossoff (1998); formulasi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PDRB Sektor Pariwisata → Tenaga Kerja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Aktivitas ekonomi pariwisata lebih besar membutuhkan tenaga kerja lebih banyak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Munjal (2013); Sánchez López (2023)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Tenaga Kerja Pariwisata → Selisih TK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DE2DE"/>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Tenaga kerja yang sudah ada memperkecil kekurangan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Definisi penyesuaian stok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55600">
                <a:tc>
                  <a:txBody>
                    <a:bodyPr anchor="t" rtlCol="false"/>
                    <a:lstStyle/>
                    <a:p>
                      <a:pPr algn="l">
                        <a:lnSpc>
                          <a:spcPts val="1307"/>
                        </a:lnSpc>
                        <a:defRPr/>
                      </a:pPr>
                      <a:r>
                        <a:rPr lang="en-US" sz="1089" b="true">
                          <a:solidFill>
                            <a:srgbClr val="14313B"/>
                          </a:solidFill>
                          <a:latin typeface="Calibri (MS) Bold"/>
                          <a:ea typeface="Calibri (MS) Bold"/>
                          <a:cs typeface="Calibri (MS) Bold"/>
                          <a:sym typeface="Calibri (MS) Bold"/>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Selisih TK Dibutuhkan → Laju Penyerapan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ctr">
                        <a:lnSpc>
                          <a:spcPts val="1307"/>
                        </a:lnSpc>
                        <a:defRPr/>
                      </a:pPr>
                      <a:r>
                        <a:rPr lang="en-US" sz="1089" b="true">
                          <a:solidFill>
                            <a:srgbClr val="14313B"/>
                          </a:solidFill>
                          <a:latin typeface="Calibri (MS) Bold"/>
                          <a:ea typeface="Calibri (MS) Bold"/>
                          <a:cs typeface="Calibri (MS) Bold"/>
                          <a:sym typeface="Calibri (MS) Bold"/>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7F2F6"/>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Kekurangan tenaga kerja yang lebih besar mendorong penyerapan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307"/>
                        </a:lnSpc>
                        <a:defRPr/>
                      </a:pPr>
                      <a:r>
                        <a:rPr lang="en-US" sz="1089">
                          <a:solidFill>
                            <a:srgbClr val="14313B"/>
                          </a:solidFill>
                          <a:latin typeface="Calibri (MS)"/>
                          <a:ea typeface="Calibri (MS)"/>
                          <a:cs typeface="Calibri (MS)"/>
                          <a:sym typeface="Calibri (MS)"/>
                        </a:rPr>
                        <a:t>Struktur goal-seeking; 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27 · Loop Umpan Balik dan Polaritas Hubungan Kunci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Dua reinforcing loop dan empat balancing loop membentuk hipotesis dinamis penelitian</a:t>
            </a:r>
          </a:p>
        </p:txBody>
      </p:sp>
      <p:graphicFrame>
        <p:nvGraphicFramePr>
          <p:cNvPr id="27" name="Table 26"/>
          <p:cNvGraphicFramePr>
            <a:graphicFrameLocks noGrp="1"/>
          </p:cNvGraphicFramePr>
          <p:nvPr/>
        </p:nvGraphicFramePr>
        <p:xfrm>
          <a:off x="822960" y="1874519"/>
          <a:ext cx="10241278" cy="6080760"/>
        </p:xfrm>
        <a:graphic>
          <a:graphicData uri="http://schemas.openxmlformats.org/drawingml/2006/table">
            <a:tbl>
              <a:tblPr firstRow="1" bandRow="1">
                <a:tableStyleId>{5C22544A-7EE6-4342-B048-85BDC9FD1C3A}</a:tableStyleId>
              </a:tblPr>
              <a:tblGrid>
                <a:gridCol w="640080"/>
                <a:gridCol w="1371599"/>
                <a:gridCol w="5303520"/>
                <a:gridCol w="2926079"/>
              </a:tblGrid>
              <a:tr h="868680">
                <a:tc>
                  <a:txBody>
                    <a:bodyPr wrap="square"/>
                    <a:lstStyle/>
                    <a:p>
                      <a:pPr algn="ctr"/>
                      <a:r>
                        <a:rPr sz="1000" b="1" i="0">
                          <a:solidFill>
                            <a:srgbClr val="FFFFFF"/>
                          </a:solidFill>
                          <a:latin typeface="Calibri (MS) Bold"/>
                        </a:rPr>
                        <a:t>Loop</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Jenis</a:t>
                      </a:r>
                    </a:p>
                  </a:txBody>
                  <a:tcPr marL="73152" marR="73152" marT="36576" marB="36576" anchor="ctr">
                    <a:solidFill>
                      <a:srgbClr val="0B5E6E"/>
                    </a:solidFill>
                  </a:tcPr>
                </a:tc>
                <a:tc>
                  <a:txBody>
                    <a:bodyPr wrap="square"/>
                    <a:lstStyle/>
                    <a:p>
                      <a:r>
                        <a:rPr sz="1000" b="1" i="0">
                          <a:solidFill>
                            <a:srgbClr val="FFFFFF"/>
                          </a:solidFill>
                          <a:latin typeface="Calibri (MS) Bold"/>
                        </a:rPr>
                        <a:t>Rantai kausal ringkas</a:t>
                      </a:r>
                    </a:p>
                  </a:txBody>
                  <a:tcPr marL="73152" marR="73152" marT="36576" marB="36576" anchor="ctr">
                    <a:solidFill>
                      <a:srgbClr val="0B5E6E"/>
                    </a:solidFill>
                  </a:tcPr>
                </a:tc>
                <a:tc>
                  <a:txBody>
                    <a:bodyPr wrap="square"/>
                    <a:lstStyle/>
                    <a:p>
                      <a:r>
                        <a:rPr sz="1000" b="1" i="0">
                          <a:solidFill>
                            <a:srgbClr val="FFFFFF"/>
                          </a:solidFill>
                          <a:latin typeface="Calibri (MS) Bold"/>
                        </a:rPr>
                        <a:t>Makna</a:t>
                      </a:r>
                    </a:p>
                  </a:txBody>
                  <a:tcPr marL="73152" marR="73152" marT="36576" marB="36576" anchor="ctr">
                    <a:solidFill>
                      <a:srgbClr val="0B5E6E"/>
                    </a:solidFill>
                  </a:tcPr>
                </a:tc>
              </a:tr>
              <a:tr h="868680">
                <a:tc>
                  <a:txBody>
                    <a:bodyPr wrap="square"/>
                    <a:lstStyle/>
                    <a:p>
                      <a:pPr algn="ctr"/>
                      <a:r>
                        <a:rPr sz="1000" b="0" i="0">
                          <a:solidFill>
                            <a:srgbClr val="14313B"/>
                          </a:solidFill>
                          <a:latin typeface="Calibri (MS)"/>
                        </a:rPr>
                        <a:t>R1</a:t>
                      </a:r>
                    </a:p>
                  </a:txBody>
                  <a:tcPr marL="73152" marR="73152" marT="36576" marB="36576" anchor="ctr">
                    <a:solidFill>
                      <a:srgbClr val="FFFFFF"/>
                    </a:solidFill>
                  </a:tcPr>
                </a:tc>
                <a:tc>
                  <a:txBody>
                    <a:bodyPr wrap="square"/>
                    <a:lstStyle/>
                    <a:p>
                      <a:pPr algn="ctr"/>
                      <a:r>
                        <a:rPr sz="1000" b="0" i="0">
                          <a:solidFill>
                            <a:srgbClr val="14313B"/>
                          </a:solidFill>
                          <a:latin typeface="Calibri (MS)"/>
                        </a:rPr>
                        <a:t>Reinforcing</a:t>
                      </a:r>
                    </a:p>
                  </a:txBody>
                  <a:tcPr marL="73152" marR="73152" marT="36576" marB="36576" anchor="ctr">
                    <a:solidFill>
                      <a:srgbClr val="C9F0D6"/>
                    </a:solidFill>
                  </a:tcPr>
                </a:tc>
                <a:tc>
                  <a:txBody>
                    <a:bodyPr wrap="square"/>
                    <a:lstStyle/>
                    <a:p>
                      <a:r>
                        <a:rPr sz="1000" b="0" i="0">
                          <a:solidFill>
                            <a:srgbClr val="14313B"/>
                          </a:solidFill>
                          <a:latin typeface="Calibri (MS)"/>
                        </a:rPr>
                        <a:t>Jumlah Wisatawan (+) → Laju Kedatangan (+) → Jumlah Wisatawan</a:t>
                      </a:r>
                    </a:p>
                  </a:txBody>
                  <a:tcPr marL="73152" marR="73152" marT="36576" marB="36576" anchor="ctr">
                    <a:solidFill>
                      <a:srgbClr val="FFFFFF"/>
                    </a:solidFill>
                  </a:tcPr>
                </a:tc>
                <a:tc>
                  <a:txBody>
                    <a:bodyPr wrap="square"/>
                    <a:lstStyle/>
                    <a:p>
                      <a:r>
                        <a:rPr sz="1000" b="0" i="0">
                          <a:solidFill>
                            <a:srgbClr val="14313B"/>
                          </a:solidFill>
                          <a:latin typeface="Calibri (MS)"/>
                        </a:rPr>
                        <a:t>Pertumbuhan wisatawan bersifat akumulatif.</a:t>
                      </a:r>
                    </a:p>
                  </a:txBody>
                  <a:tcPr marL="73152" marR="73152" marT="36576" marB="36576" anchor="ctr">
                    <a:solidFill>
                      <a:srgbClr val="FFFFFF"/>
                    </a:solidFill>
                  </a:tcPr>
                </a:tc>
              </a:tr>
              <a:tr h="868680">
                <a:tc>
                  <a:txBody>
                    <a:bodyPr wrap="square"/>
                    <a:lstStyle/>
                    <a:p>
                      <a:pPr algn="ctr"/>
                      <a:r>
                        <a:rPr sz="1000" b="0" i="0">
                          <a:solidFill>
                            <a:srgbClr val="14313B"/>
                          </a:solidFill>
                          <a:latin typeface="Calibri (MS)"/>
                        </a:rPr>
                        <a:t>R2</a:t>
                      </a:r>
                    </a:p>
                  </a:txBody>
                  <a:tcPr marL="73152" marR="73152" marT="36576" marB="36576" anchor="ctr">
                    <a:solidFill>
                      <a:srgbClr val="EAF8FA"/>
                    </a:solidFill>
                  </a:tcPr>
                </a:tc>
                <a:tc>
                  <a:txBody>
                    <a:bodyPr wrap="square"/>
                    <a:lstStyle/>
                    <a:p>
                      <a:pPr algn="ctr"/>
                      <a:r>
                        <a:rPr sz="1000" b="0" i="0">
                          <a:solidFill>
                            <a:srgbClr val="14313B"/>
                          </a:solidFill>
                          <a:latin typeface="Calibri (MS)"/>
                        </a:rPr>
                        <a:t>Reinforcing</a:t>
                      </a:r>
                    </a:p>
                  </a:txBody>
                  <a:tcPr marL="73152" marR="73152" marT="36576" marB="36576" anchor="ctr">
                    <a:solidFill>
                      <a:srgbClr val="C9F0D6"/>
                    </a:solidFill>
                  </a:tcPr>
                </a:tc>
                <a:tc>
                  <a:txBody>
                    <a:bodyPr wrap="square"/>
                    <a:lstStyle/>
                    <a:p>
                      <a:r>
                        <a:rPr sz="1000" b="0" i="0">
                          <a:solidFill>
                            <a:srgbClr val="14313B"/>
                          </a:solidFill>
                          <a:latin typeface="Calibri (MS)"/>
                        </a:rPr>
                        <a:t>Wisatawan (+) → Pengeluaran (+) → PDRB (+) → Investasi (+) → Pembangunan ODTW (+) → ODTW (+) → Daya Tarik (+) → Kedatangan (+) → Wisatawan</a:t>
                      </a:r>
                    </a:p>
                  </a:txBody>
                  <a:tcPr marL="73152" marR="73152" marT="36576" marB="36576" anchor="ctr">
                    <a:solidFill>
                      <a:srgbClr val="EAF8FA"/>
                    </a:solidFill>
                  </a:tcPr>
                </a:tc>
                <a:tc>
                  <a:txBody>
                    <a:bodyPr wrap="square"/>
                    <a:lstStyle/>
                    <a:p>
                      <a:r>
                        <a:rPr sz="1000" b="0" i="0">
                          <a:solidFill>
                            <a:srgbClr val="14313B"/>
                          </a:solidFill>
                          <a:latin typeface="Calibri (MS)"/>
                        </a:rPr>
                        <a:t>Loop ekonomi–investasi–atraksi; jalur kerja Insentif Kebijakan.</a:t>
                      </a:r>
                    </a:p>
                  </a:txBody>
                  <a:tcPr marL="73152" marR="73152" marT="36576" marB="36576" anchor="ctr">
                    <a:solidFill>
                      <a:srgbClr val="EAF8FA"/>
                    </a:solidFill>
                  </a:tcPr>
                </a:tc>
              </a:tr>
              <a:tr h="868680">
                <a:tc>
                  <a:txBody>
                    <a:bodyPr wrap="square"/>
                    <a:lstStyle/>
                    <a:p>
                      <a:pPr algn="ctr"/>
                      <a:r>
                        <a:rPr sz="1000" b="0" i="0">
                          <a:solidFill>
                            <a:srgbClr val="14313B"/>
                          </a:solidFill>
                          <a:latin typeface="Calibri (MS)"/>
                        </a:rPr>
                        <a:t>B1</a:t>
                      </a:r>
                    </a:p>
                  </a:txBody>
                  <a:tcPr marL="73152" marR="73152" marT="36576" marB="36576" anchor="ctr">
                    <a:solidFill>
                      <a:srgbClr val="FFFFFF"/>
                    </a:solidFill>
                  </a:tcPr>
                </a:tc>
                <a:tc>
                  <a:txBody>
                    <a:bodyPr wrap="square"/>
                    <a:lstStyle/>
                    <a:p>
                      <a:pPr algn="ctr"/>
                      <a:r>
                        <a:rPr sz="1000" b="0" i="0">
                          <a:solidFill>
                            <a:srgbClr val="14313B"/>
                          </a:solidFill>
                          <a:latin typeface="Calibri (MS)"/>
                        </a:rPr>
                        <a:t>Balancing</a:t>
                      </a:r>
                    </a:p>
                  </a:txBody>
                  <a:tcPr marL="73152" marR="73152" marT="36576" marB="36576" anchor="ctr">
                    <a:solidFill>
                      <a:srgbClr val="FDE2DE"/>
                    </a:solidFill>
                  </a:tcPr>
                </a:tc>
                <a:tc>
                  <a:txBody>
                    <a:bodyPr wrap="square"/>
                    <a:lstStyle/>
                    <a:p>
                      <a:r>
                        <a:rPr sz="1000" b="0" i="0">
                          <a:solidFill>
                            <a:srgbClr val="14313B"/>
                          </a:solidFill>
                          <a:latin typeface="Calibri (MS)"/>
                        </a:rPr>
                        <a:t>Wisatawan (+) → Kepadatan (+) → Daya Tarik (−) → Kedatangan (−) → Wisatawan</a:t>
                      </a:r>
                    </a:p>
                  </a:txBody>
                  <a:tcPr marL="73152" marR="73152" marT="36576" marB="36576" anchor="ctr">
                    <a:solidFill>
                      <a:srgbClr val="FFFFFF"/>
                    </a:solidFill>
                  </a:tcPr>
                </a:tc>
                <a:tc>
                  <a:txBody>
                    <a:bodyPr wrap="square"/>
                    <a:lstStyle/>
                    <a:p>
                      <a:r>
                        <a:rPr sz="1000" b="0" i="0">
                          <a:solidFill>
                            <a:srgbClr val="14313B"/>
                          </a:solidFill>
                          <a:latin typeface="Calibri (MS)"/>
                        </a:rPr>
                        <a:t>Kepadatan menekan daya tarik; rem pertumbuhan.</a:t>
                      </a:r>
                    </a:p>
                  </a:txBody>
                  <a:tcPr marL="73152" marR="73152" marT="36576" marB="36576" anchor="ctr">
                    <a:solidFill>
                      <a:srgbClr val="FFFFFF"/>
                    </a:solidFill>
                  </a:tcPr>
                </a:tc>
              </a:tr>
              <a:tr h="868680">
                <a:tc>
                  <a:txBody>
                    <a:bodyPr wrap="square"/>
                    <a:lstStyle/>
                    <a:p>
                      <a:pPr algn="ctr"/>
                      <a:r>
                        <a:rPr sz="1000" b="0" i="0">
                          <a:solidFill>
                            <a:srgbClr val="14313B"/>
                          </a:solidFill>
                          <a:latin typeface="Calibri (MS)"/>
                        </a:rPr>
                        <a:t>B2</a:t>
                      </a:r>
                    </a:p>
                  </a:txBody>
                  <a:tcPr marL="73152" marR="73152" marT="36576" marB="36576" anchor="ctr">
                    <a:solidFill>
                      <a:srgbClr val="EAF8FA"/>
                    </a:solidFill>
                  </a:tcPr>
                </a:tc>
                <a:tc>
                  <a:txBody>
                    <a:bodyPr wrap="square"/>
                    <a:lstStyle/>
                    <a:p>
                      <a:pPr algn="ctr"/>
                      <a:r>
                        <a:rPr sz="1000" b="0" i="0">
                          <a:solidFill>
                            <a:srgbClr val="14313B"/>
                          </a:solidFill>
                          <a:latin typeface="Calibri (MS)"/>
                        </a:rPr>
                        <a:t>Balancing</a:t>
                      </a:r>
                    </a:p>
                  </a:txBody>
                  <a:tcPr marL="73152" marR="73152" marT="36576" marB="36576" anchor="ctr">
                    <a:solidFill>
                      <a:srgbClr val="FDE2DE"/>
                    </a:solidFill>
                  </a:tcPr>
                </a:tc>
                <a:tc>
                  <a:txBody>
                    <a:bodyPr wrap="square"/>
                    <a:lstStyle/>
                    <a:p>
                      <a:r>
                        <a:rPr sz="1000" b="0" i="0">
                          <a:solidFill>
                            <a:srgbClr val="14313B"/>
                          </a:solidFill>
                          <a:latin typeface="Calibri (MS)"/>
                        </a:rPr>
                        <a:t>Wisatawan (+) → permintaan/investasi (+) → Konstruksi &amp; Pembangunan ODTW (+) → Konversi Lahan (+) → Lahan Terbangun (+) → RDDL (−) → Daya Tarik (+) → Kedatangan (+) → Wisatawan</a:t>
                      </a:r>
                    </a:p>
                  </a:txBody>
                  <a:tcPr marL="73152" marR="73152" marT="36576" marB="36576" anchor="ctr">
                    <a:solidFill>
                      <a:srgbClr val="EAF8FA"/>
                    </a:solidFill>
                  </a:tcPr>
                </a:tc>
                <a:tc>
                  <a:txBody>
                    <a:bodyPr wrap="square"/>
                    <a:lstStyle/>
                    <a:p>
                      <a:r>
                        <a:rPr sz="1000" b="0" i="0">
                          <a:solidFill>
                            <a:srgbClr val="14313B"/>
                          </a:solidFill>
                          <a:latin typeface="Calibri (MS)"/>
                        </a:rPr>
                        <a:t>Ekspansi fasilitas menekan daya dukung lahan; jalur kerja Konservasi Lahan.</a:t>
                      </a:r>
                    </a:p>
                  </a:txBody>
                  <a:tcPr marL="73152" marR="73152" marT="36576" marB="36576" anchor="ctr">
                    <a:solidFill>
                      <a:srgbClr val="EAF8FA"/>
                    </a:solidFill>
                  </a:tcPr>
                </a:tc>
              </a:tr>
              <a:tr h="868680">
                <a:tc>
                  <a:txBody>
                    <a:bodyPr wrap="square"/>
                    <a:lstStyle/>
                    <a:p>
                      <a:pPr algn="ctr"/>
                      <a:r>
                        <a:rPr sz="1000" b="0" i="0">
                          <a:solidFill>
                            <a:srgbClr val="14313B"/>
                          </a:solidFill>
                          <a:latin typeface="Calibri (MS)"/>
                        </a:rPr>
                        <a:t>B3</a:t>
                      </a:r>
                    </a:p>
                  </a:txBody>
                  <a:tcPr marL="73152" marR="73152" marT="36576" marB="36576" anchor="ctr">
                    <a:solidFill>
                      <a:srgbClr val="FFFFFF"/>
                    </a:solidFill>
                  </a:tcPr>
                </a:tc>
                <a:tc>
                  <a:txBody>
                    <a:bodyPr wrap="square"/>
                    <a:lstStyle/>
                    <a:p>
                      <a:pPr algn="ctr"/>
                      <a:r>
                        <a:rPr sz="1000" b="0" i="0">
                          <a:solidFill>
                            <a:srgbClr val="14313B"/>
                          </a:solidFill>
                          <a:latin typeface="Calibri (MS)"/>
                        </a:rPr>
                        <a:t>Balancing</a:t>
                      </a:r>
                    </a:p>
                  </a:txBody>
                  <a:tcPr marL="73152" marR="73152" marT="36576" marB="36576" anchor="ctr">
                    <a:solidFill>
                      <a:srgbClr val="FDE2DE"/>
                    </a:solidFill>
                  </a:tcPr>
                </a:tc>
                <a:tc>
                  <a:txBody>
                    <a:bodyPr wrap="square"/>
                    <a:lstStyle/>
                    <a:p>
                      <a:r>
                        <a:rPr sz="1000" b="0" i="0">
                          <a:solidFill>
                            <a:srgbClr val="14313B"/>
                          </a:solidFill>
                          <a:latin typeface="Calibri (MS)"/>
                        </a:rPr>
                        <a:t>Hotel (+) → Kapasitas Kamar (+) → Rasio Permintaan/Kapasitas (−) → Konstruksi (+) → Hotel</a:t>
                      </a:r>
                    </a:p>
                  </a:txBody>
                  <a:tcPr marL="73152" marR="73152" marT="36576" marB="36576" anchor="ctr">
                    <a:solidFill>
                      <a:srgbClr val="FFFFFF"/>
                    </a:solidFill>
                  </a:tcPr>
                </a:tc>
                <a:tc>
                  <a:txBody>
                    <a:bodyPr wrap="square"/>
                    <a:lstStyle/>
                    <a:p>
                      <a:r>
                        <a:rPr sz="1000" b="0" i="0">
                          <a:solidFill>
                            <a:srgbClr val="14313B"/>
                          </a:solidFill>
                          <a:latin typeface="Calibri (MS)"/>
                        </a:rPr>
                        <a:t>Penambahan kapasitas menahan konstruksi berikutnya.</a:t>
                      </a:r>
                    </a:p>
                  </a:txBody>
                  <a:tcPr marL="73152" marR="73152" marT="36576" marB="36576" anchor="ctr">
                    <a:solidFill>
                      <a:srgbClr val="FFFFFF"/>
                    </a:solidFill>
                  </a:tcPr>
                </a:tc>
              </a:tr>
              <a:tr h="868680">
                <a:tc>
                  <a:txBody>
                    <a:bodyPr wrap="square"/>
                    <a:lstStyle/>
                    <a:p>
                      <a:pPr algn="ctr"/>
                      <a:r>
                        <a:rPr sz="1000" b="0" i="0">
                          <a:solidFill>
                            <a:srgbClr val="14313B"/>
                          </a:solidFill>
                          <a:latin typeface="Calibri (MS)"/>
                        </a:rPr>
                        <a:t>B4</a:t>
                      </a:r>
                    </a:p>
                  </a:txBody>
                  <a:tcPr marL="73152" marR="73152" marT="36576" marB="36576" anchor="ctr">
                    <a:solidFill>
                      <a:srgbClr val="EAF8FA"/>
                    </a:solidFill>
                  </a:tcPr>
                </a:tc>
                <a:tc>
                  <a:txBody>
                    <a:bodyPr wrap="square"/>
                    <a:lstStyle/>
                    <a:p>
                      <a:pPr algn="ctr"/>
                      <a:r>
                        <a:rPr sz="1000" b="0" i="0">
                          <a:solidFill>
                            <a:srgbClr val="14313B"/>
                          </a:solidFill>
                          <a:latin typeface="Calibri (MS)"/>
                        </a:rPr>
                        <a:t>Balancing</a:t>
                      </a:r>
                    </a:p>
                  </a:txBody>
                  <a:tcPr marL="73152" marR="73152" marT="36576" marB="36576" anchor="ctr">
                    <a:solidFill>
                      <a:srgbClr val="FDE2DE"/>
                    </a:solidFill>
                  </a:tcPr>
                </a:tc>
                <a:tc>
                  <a:txBody>
                    <a:bodyPr wrap="square"/>
                    <a:lstStyle/>
                    <a:p>
                      <a:r>
                        <a:rPr sz="1000" b="0" i="0">
                          <a:solidFill>
                            <a:srgbClr val="14313B"/>
                          </a:solidFill>
                          <a:latin typeface="Calibri (MS)"/>
                        </a:rPr>
                        <a:t>TK (+) → Selisih TK Dibutuhkan (−) → Penyerapan TK (+) → TK</a:t>
                      </a:r>
                    </a:p>
                  </a:txBody>
                  <a:tcPr marL="73152" marR="73152" marT="36576" marB="36576" anchor="ctr">
                    <a:solidFill>
                      <a:srgbClr val="EAF8FA"/>
                    </a:solidFill>
                  </a:tcPr>
                </a:tc>
                <a:tc>
                  <a:txBody>
                    <a:bodyPr wrap="square"/>
                    <a:lstStyle/>
                    <a:p>
                      <a:r>
                        <a:rPr sz="1000" b="0" i="0">
                          <a:solidFill>
                            <a:srgbClr val="14313B"/>
                          </a:solidFill>
                          <a:latin typeface="Calibri (MS)"/>
                        </a:rPr>
                        <a:t>Goal-seeking tenaga kerja; dampaknya terbatas pada TK.</a:t>
                      </a:r>
                    </a:p>
                  </a:txBody>
                  <a:tcPr marL="73152" marR="73152" marT="36576" marB="36576" anchor="ctr">
                    <a:solidFill>
                      <a:srgbClr val="EAF8FA"/>
                    </a:solidFill>
                  </a:tcPr>
                </a:tc>
              </a:tr>
            </a:tbl>
          </a:graphicData>
        </a:graphic>
      </p:graphicFrame>
      <p:pic>
        <p:nvPicPr>
          <p:cNvPr id="28" name="Picture 27" descr="image11.png"/>
          <p:cNvPicPr>
            <a:picLocks noChangeAspect="1"/>
          </p:cNvPicPr>
          <p:nvPr/>
        </p:nvPicPr>
        <p:blipFill>
          <a:blip r:embed="rId7"/>
          <a:stretch>
            <a:fillRect/>
          </a:stretch>
        </p:blipFill>
        <p:spPr>
          <a:xfrm>
            <a:off x="11338560" y="2487919"/>
            <a:ext cx="6126479" cy="4533920"/>
          </a:xfrm>
          <a:prstGeom prst="rect">
            <a:avLst/>
          </a:prstGeom>
          <a:ln w="12700">
            <a:solidFill>
              <a:srgbClr val="CFE5E9"/>
            </a:solidFill>
          </a:ln>
        </p:spPr>
      </p:pic>
      <p:sp>
        <p:nvSpPr>
          <p:cNvPr id="29" name="TextBox 28"/>
          <p:cNvSpPr txBox="1"/>
          <p:nvPr/>
        </p:nvSpPr>
        <p:spPr>
          <a:xfrm>
            <a:off x="11338560" y="7680960"/>
            <a:ext cx="6126480" cy="36576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Causal loop diagram final (Buku Gambar 7)</a:t>
            </a:r>
          </a:p>
        </p:txBody>
      </p:sp>
      <p:sp>
        <p:nvSpPr>
          <p:cNvPr id="30" name="Rounded Rectangle 29"/>
          <p:cNvSpPr/>
          <p:nvPr/>
        </p:nvSpPr>
        <p:spPr>
          <a:xfrm>
            <a:off x="822960" y="822960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Polaritas dibaca ceteris paribus: tanda (+) berarti kenaikan penyebab membuat akibat lebih tinggi dibanding tanpa kenaikan itu; tanda (−) sebaliknya (Sterman, 2000; Richardson, 1997).</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4.1.3 (Tabel 26).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28 · Peran Variabel Hasil Konversi CLD ke SFD</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61 variabel: 5 stock, 10 flow, 11 auxiliary, 35 parameter; ditambah nilai awal stock tahun dasar 2025</a:t>
            </a:r>
          </a:p>
        </p:txBody>
      </p:sp>
      <p:sp>
        <p:nvSpPr>
          <p:cNvPr id="27" name="Rounded Rectangle 26"/>
          <p:cNvSpPr/>
          <p:nvPr/>
        </p:nvSpPr>
        <p:spPr>
          <a:xfrm>
            <a:off x="822960" y="1874519"/>
            <a:ext cx="32004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Stock (5)</a:t>
            </a:r>
          </a:p>
        </p:txBody>
      </p:sp>
      <p:sp>
        <p:nvSpPr>
          <p:cNvPr id="28" name="Rounded Rectangle 27"/>
          <p:cNvSpPr/>
          <p:nvPr/>
        </p:nvSpPr>
        <p:spPr>
          <a:xfrm>
            <a:off x="822960" y="2377440"/>
            <a:ext cx="3200400" cy="4160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050" b="1" i="0">
                <a:solidFill>
                  <a:srgbClr val="0B5E6E"/>
                </a:solidFill>
                <a:latin typeface="Calibri (MS) Bold"/>
              </a:rPr>
              <a:t>1. </a:t>
            </a:r>
            <a:r>
              <a:rPr sz="1050" b="0" i="0">
                <a:solidFill>
                  <a:srgbClr val="14313B"/>
                </a:solidFill>
                <a:latin typeface="Calibri (MS)"/>
              </a:rPr>
              <a:t>Jumlah Wisatawan</a:t>
            </a:r>
          </a:p>
          <a:p>
            <a:pPr algn="l">
              <a:spcAft>
                <a:spcPts val="300"/>
              </a:spcAft>
            </a:pPr>
            <a:r>
              <a:rPr sz="1050" b="1" i="0">
                <a:solidFill>
                  <a:srgbClr val="0B5E6E"/>
                </a:solidFill>
                <a:latin typeface="Calibri (MS) Bold"/>
              </a:rPr>
              <a:t>2. </a:t>
            </a:r>
            <a:r>
              <a:rPr sz="1050" b="0" i="0">
                <a:solidFill>
                  <a:srgbClr val="14313B"/>
                </a:solidFill>
                <a:latin typeface="Calibri (MS)"/>
              </a:rPr>
              <a:t>Jumlah Hotel dan Akomodasi</a:t>
            </a:r>
          </a:p>
          <a:p>
            <a:pPr algn="l">
              <a:spcAft>
                <a:spcPts val="300"/>
              </a:spcAft>
            </a:pPr>
            <a:r>
              <a:rPr sz="1050" b="1" i="0">
                <a:solidFill>
                  <a:srgbClr val="0B5E6E"/>
                </a:solidFill>
                <a:latin typeface="Calibri (MS) Bold"/>
              </a:rPr>
              <a:t>3. </a:t>
            </a:r>
            <a:r>
              <a:rPr sz="1050" b="0" i="0">
                <a:solidFill>
                  <a:srgbClr val="14313B"/>
                </a:solidFill>
                <a:latin typeface="Calibri (MS)"/>
              </a:rPr>
              <a:t>Jumlah Objek Daya Tarik Wisata</a:t>
            </a:r>
          </a:p>
          <a:p>
            <a:pPr algn="l">
              <a:spcAft>
                <a:spcPts val="300"/>
              </a:spcAft>
            </a:pPr>
            <a:r>
              <a:rPr sz="1050" b="1" i="0">
                <a:solidFill>
                  <a:srgbClr val="0B5E6E"/>
                </a:solidFill>
                <a:latin typeface="Calibri (MS) Bold"/>
              </a:rPr>
              <a:t>4. </a:t>
            </a:r>
            <a:r>
              <a:rPr sz="1050" b="0" i="0">
                <a:solidFill>
                  <a:srgbClr val="14313B"/>
                </a:solidFill>
                <a:latin typeface="Calibri (MS)"/>
              </a:rPr>
              <a:t>Tenaga Kerja Pariwisata</a:t>
            </a:r>
          </a:p>
          <a:p>
            <a:pPr algn="l">
              <a:spcAft>
                <a:spcPts val="300"/>
              </a:spcAft>
            </a:pPr>
            <a:r>
              <a:rPr sz="1050" b="1" i="0">
                <a:solidFill>
                  <a:srgbClr val="0B5E6E"/>
                </a:solidFill>
                <a:latin typeface="Calibri (MS) Bold"/>
              </a:rPr>
              <a:t>5. </a:t>
            </a:r>
            <a:r>
              <a:rPr sz="1050" b="0" i="0">
                <a:solidFill>
                  <a:srgbClr val="14313B"/>
                </a:solidFill>
                <a:latin typeface="Calibri (MS)"/>
              </a:rPr>
              <a:t>Lahan Terbangun</a:t>
            </a:r>
          </a:p>
        </p:txBody>
      </p:sp>
      <p:sp>
        <p:nvSpPr>
          <p:cNvPr id="29" name="Rounded Rectangle 28"/>
          <p:cNvSpPr/>
          <p:nvPr/>
        </p:nvSpPr>
        <p:spPr>
          <a:xfrm>
            <a:off x="4206240" y="1874519"/>
            <a:ext cx="3840480" cy="438912"/>
          </a:xfrm>
          <a:prstGeom prst="roundRect">
            <a:avLst>
              <a:gd name="adj" fmla="val 8000"/>
            </a:avLst>
          </a:prstGeom>
          <a:solidFill>
            <a:srgbClr val="2A9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Flow (10)</a:t>
            </a:r>
          </a:p>
        </p:txBody>
      </p:sp>
      <p:sp>
        <p:nvSpPr>
          <p:cNvPr id="30" name="Rounded Rectangle 29"/>
          <p:cNvSpPr/>
          <p:nvPr/>
        </p:nvSpPr>
        <p:spPr>
          <a:xfrm>
            <a:off x="4206240" y="2377440"/>
            <a:ext cx="3840480" cy="4160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050" b="1" i="0">
                <a:solidFill>
                  <a:srgbClr val="0B5E6E"/>
                </a:solidFill>
                <a:latin typeface="Calibri (MS) Bold"/>
              </a:rPr>
              <a:t>1. </a:t>
            </a:r>
            <a:r>
              <a:rPr sz="1050" b="0" i="0">
                <a:solidFill>
                  <a:srgbClr val="14313B"/>
                </a:solidFill>
                <a:latin typeface="Calibri (MS)"/>
              </a:rPr>
              <a:t>Laju Kedatangan Wisatawan</a:t>
            </a:r>
          </a:p>
          <a:p>
            <a:pPr algn="l">
              <a:spcAft>
                <a:spcPts val="300"/>
              </a:spcAft>
            </a:pPr>
            <a:r>
              <a:rPr sz="1050" b="1" i="0">
                <a:solidFill>
                  <a:srgbClr val="0B5E6E"/>
                </a:solidFill>
                <a:latin typeface="Calibri (MS) Bold"/>
              </a:rPr>
              <a:t>2. </a:t>
            </a:r>
            <a:r>
              <a:rPr sz="1050" b="0" i="0">
                <a:solidFill>
                  <a:srgbClr val="14313B"/>
                </a:solidFill>
                <a:latin typeface="Calibri (MS)"/>
              </a:rPr>
              <a:t>Laju Penurunan Wisatawan</a:t>
            </a:r>
          </a:p>
          <a:p>
            <a:pPr algn="l">
              <a:spcAft>
                <a:spcPts val="300"/>
              </a:spcAft>
            </a:pPr>
            <a:r>
              <a:rPr sz="1050" b="1" i="0">
                <a:solidFill>
                  <a:srgbClr val="0B5E6E"/>
                </a:solidFill>
                <a:latin typeface="Calibri (MS) Bold"/>
              </a:rPr>
              <a:t>3. </a:t>
            </a:r>
            <a:r>
              <a:rPr sz="1050" b="0" i="0">
                <a:solidFill>
                  <a:srgbClr val="14313B"/>
                </a:solidFill>
                <a:latin typeface="Calibri (MS)"/>
              </a:rPr>
              <a:t>Laju Konstruksi Hotel dan Akomodasi</a:t>
            </a:r>
          </a:p>
          <a:p>
            <a:pPr algn="l">
              <a:spcAft>
                <a:spcPts val="300"/>
              </a:spcAft>
            </a:pPr>
            <a:r>
              <a:rPr sz="1050" b="1" i="0">
                <a:solidFill>
                  <a:srgbClr val="0B5E6E"/>
                </a:solidFill>
                <a:latin typeface="Calibri (MS) Bold"/>
              </a:rPr>
              <a:t>4. </a:t>
            </a:r>
            <a:r>
              <a:rPr sz="1050" b="0" i="0">
                <a:solidFill>
                  <a:srgbClr val="14313B"/>
                </a:solidFill>
                <a:latin typeface="Calibri (MS)"/>
              </a:rPr>
              <a:t>Laju Demolisi Hotel dan Akomodasi</a:t>
            </a:r>
          </a:p>
          <a:p>
            <a:pPr algn="l">
              <a:spcAft>
                <a:spcPts val="300"/>
              </a:spcAft>
            </a:pPr>
            <a:r>
              <a:rPr sz="1050" b="1" i="0">
                <a:solidFill>
                  <a:srgbClr val="0B5E6E"/>
                </a:solidFill>
                <a:latin typeface="Calibri (MS) Bold"/>
              </a:rPr>
              <a:t>5. </a:t>
            </a:r>
            <a:r>
              <a:rPr sz="1050" b="0" i="0">
                <a:solidFill>
                  <a:srgbClr val="14313B"/>
                </a:solidFill>
                <a:latin typeface="Calibri (MS)"/>
              </a:rPr>
              <a:t>Laju Pembangunan/Penambahan ODTW</a:t>
            </a:r>
          </a:p>
          <a:p>
            <a:pPr algn="l">
              <a:spcAft>
                <a:spcPts val="300"/>
              </a:spcAft>
            </a:pPr>
            <a:r>
              <a:rPr sz="1050" b="1" i="0">
                <a:solidFill>
                  <a:srgbClr val="0B5E6E"/>
                </a:solidFill>
                <a:latin typeface="Calibri (MS) Bold"/>
              </a:rPr>
              <a:t>6. </a:t>
            </a:r>
            <a:r>
              <a:rPr sz="1050" b="0" i="0">
                <a:solidFill>
                  <a:srgbClr val="14313B"/>
                </a:solidFill>
                <a:latin typeface="Calibri (MS)"/>
              </a:rPr>
              <a:t>Laju Penutupan ODTW</a:t>
            </a:r>
          </a:p>
          <a:p>
            <a:pPr algn="l">
              <a:spcAft>
                <a:spcPts val="300"/>
              </a:spcAft>
            </a:pPr>
            <a:r>
              <a:rPr sz="1050" b="1" i="0">
                <a:solidFill>
                  <a:srgbClr val="0B5E6E"/>
                </a:solidFill>
                <a:latin typeface="Calibri (MS) Bold"/>
              </a:rPr>
              <a:t>7. </a:t>
            </a:r>
            <a:r>
              <a:rPr sz="1050" b="0" i="0">
                <a:solidFill>
                  <a:srgbClr val="14313B"/>
                </a:solidFill>
                <a:latin typeface="Calibri (MS)"/>
              </a:rPr>
              <a:t>Laju Penyerapan Tenaga Kerja Pariwisata</a:t>
            </a:r>
          </a:p>
          <a:p>
            <a:pPr algn="l">
              <a:spcAft>
                <a:spcPts val="300"/>
              </a:spcAft>
            </a:pPr>
            <a:r>
              <a:rPr sz="1050" b="1" i="0">
                <a:solidFill>
                  <a:srgbClr val="0B5E6E"/>
                </a:solidFill>
                <a:latin typeface="Calibri (MS) Bold"/>
              </a:rPr>
              <a:t>8. </a:t>
            </a:r>
            <a:r>
              <a:rPr sz="1050" b="0" i="0">
                <a:solidFill>
                  <a:srgbClr val="14313B"/>
                </a:solidFill>
                <a:latin typeface="Calibri (MS)"/>
              </a:rPr>
              <a:t>Laju Keluar Tenaga Kerja Pariwisata</a:t>
            </a:r>
          </a:p>
          <a:p>
            <a:pPr algn="l">
              <a:spcAft>
                <a:spcPts val="300"/>
              </a:spcAft>
            </a:pPr>
            <a:r>
              <a:rPr sz="1050" b="1" i="0">
                <a:solidFill>
                  <a:srgbClr val="0B5E6E"/>
                </a:solidFill>
                <a:latin typeface="Calibri (MS) Bold"/>
              </a:rPr>
              <a:t>9. </a:t>
            </a:r>
            <a:r>
              <a:rPr sz="1050" b="0" i="0">
                <a:solidFill>
                  <a:srgbClr val="14313B"/>
                </a:solidFill>
                <a:latin typeface="Calibri (MS)"/>
              </a:rPr>
              <a:t>Laju Konversi Lahan Pariwisata</a:t>
            </a:r>
          </a:p>
          <a:p>
            <a:pPr algn="l">
              <a:spcAft>
                <a:spcPts val="300"/>
              </a:spcAft>
            </a:pPr>
            <a:r>
              <a:rPr sz="1050" b="1" i="0">
                <a:solidFill>
                  <a:srgbClr val="0B5E6E"/>
                </a:solidFill>
                <a:latin typeface="Calibri (MS) Bold"/>
              </a:rPr>
              <a:t>10. </a:t>
            </a:r>
            <a:r>
              <a:rPr sz="1050" b="0" i="0">
                <a:solidFill>
                  <a:srgbClr val="14313B"/>
                </a:solidFill>
                <a:latin typeface="Calibri (MS)"/>
              </a:rPr>
              <a:t>Laju Konversi Lahan Non-Pariwisata</a:t>
            </a:r>
          </a:p>
        </p:txBody>
      </p:sp>
      <p:sp>
        <p:nvSpPr>
          <p:cNvPr id="31" name="Rounded Rectangle 30"/>
          <p:cNvSpPr/>
          <p:nvPr/>
        </p:nvSpPr>
        <p:spPr>
          <a:xfrm>
            <a:off x="8229600" y="1874519"/>
            <a:ext cx="3931920" cy="438912"/>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Auxiliary (11)</a:t>
            </a:r>
          </a:p>
        </p:txBody>
      </p:sp>
      <p:sp>
        <p:nvSpPr>
          <p:cNvPr id="32" name="Rounded Rectangle 31"/>
          <p:cNvSpPr/>
          <p:nvPr/>
        </p:nvSpPr>
        <p:spPr>
          <a:xfrm>
            <a:off x="8229600" y="2377440"/>
            <a:ext cx="3931920" cy="4160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050" b="1" i="0">
                <a:solidFill>
                  <a:srgbClr val="0B5E6E"/>
                </a:solidFill>
                <a:latin typeface="Calibri (MS) Bold"/>
              </a:rPr>
              <a:t>1. </a:t>
            </a:r>
            <a:r>
              <a:rPr sz="1050" b="0" i="0">
                <a:solidFill>
                  <a:srgbClr val="14313B"/>
                </a:solidFill>
                <a:latin typeface="Calibri (MS)"/>
              </a:rPr>
              <a:t>PDRB Sektor Pariwisata</a:t>
            </a:r>
          </a:p>
          <a:p>
            <a:pPr algn="l">
              <a:spcAft>
                <a:spcPts val="300"/>
              </a:spcAft>
            </a:pPr>
            <a:r>
              <a:rPr sz="1050" b="1" i="0">
                <a:solidFill>
                  <a:srgbClr val="0B5E6E"/>
                </a:solidFill>
                <a:latin typeface="Calibri (MS) Bold"/>
              </a:rPr>
              <a:t>2. </a:t>
            </a:r>
            <a:r>
              <a:rPr sz="1050" b="0" i="0">
                <a:solidFill>
                  <a:srgbClr val="14313B"/>
                </a:solidFill>
                <a:latin typeface="Calibri (MS)"/>
              </a:rPr>
              <a:t>Total Malam Menginap</a:t>
            </a:r>
          </a:p>
          <a:p>
            <a:pPr algn="l">
              <a:spcAft>
                <a:spcPts val="300"/>
              </a:spcAft>
            </a:pPr>
            <a:r>
              <a:rPr sz="1050" b="1" i="0">
                <a:solidFill>
                  <a:srgbClr val="0B5E6E"/>
                </a:solidFill>
                <a:latin typeface="Calibri (MS) Bold"/>
              </a:rPr>
              <a:t>3. </a:t>
            </a:r>
            <a:r>
              <a:rPr sz="1050" b="0" i="0">
                <a:solidFill>
                  <a:srgbClr val="14313B"/>
                </a:solidFill>
                <a:latin typeface="Calibri (MS)"/>
              </a:rPr>
              <a:t>Pengeluaran Wisatawan</a:t>
            </a:r>
          </a:p>
          <a:p>
            <a:pPr algn="l">
              <a:spcAft>
                <a:spcPts val="300"/>
              </a:spcAft>
            </a:pPr>
            <a:r>
              <a:rPr sz="1050" b="1" i="0">
                <a:solidFill>
                  <a:srgbClr val="0B5E6E"/>
                </a:solidFill>
                <a:latin typeface="Calibri (MS) Bold"/>
              </a:rPr>
              <a:t>4. </a:t>
            </a:r>
            <a:r>
              <a:rPr sz="1050" b="0" i="0">
                <a:solidFill>
                  <a:srgbClr val="14313B"/>
                </a:solidFill>
                <a:latin typeface="Calibri (MS)"/>
              </a:rPr>
              <a:t>Tingkat Penghunian Kamar (TPK)</a:t>
            </a:r>
          </a:p>
          <a:p>
            <a:pPr algn="l">
              <a:spcAft>
                <a:spcPts val="300"/>
              </a:spcAft>
            </a:pPr>
            <a:r>
              <a:rPr sz="1050" b="1" i="0">
                <a:solidFill>
                  <a:srgbClr val="0B5E6E"/>
                </a:solidFill>
                <a:latin typeface="Calibri (MS) Bold"/>
              </a:rPr>
              <a:t>5. </a:t>
            </a:r>
            <a:r>
              <a:rPr sz="1050" b="0" i="0">
                <a:solidFill>
                  <a:srgbClr val="14313B"/>
                </a:solidFill>
                <a:latin typeface="Calibri (MS)"/>
              </a:rPr>
              <a:t>Investasi Sektor Pariwisata</a:t>
            </a:r>
          </a:p>
          <a:p>
            <a:pPr algn="l">
              <a:spcAft>
                <a:spcPts val="300"/>
              </a:spcAft>
            </a:pPr>
            <a:r>
              <a:rPr sz="1050" b="1" i="0">
                <a:solidFill>
                  <a:srgbClr val="0B5E6E"/>
                </a:solidFill>
                <a:latin typeface="Calibri (MS) Bold"/>
              </a:rPr>
              <a:t>6. </a:t>
            </a:r>
            <a:r>
              <a:rPr sz="1050" b="0" i="0">
                <a:solidFill>
                  <a:srgbClr val="14313B"/>
                </a:solidFill>
                <a:latin typeface="Calibri (MS)"/>
              </a:rPr>
              <a:t>Daya Tarik Destinasi Wisata</a:t>
            </a:r>
          </a:p>
          <a:p>
            <a:pPr algn="l">
              <a:spcAft>
                <a:spcPts val="300"/>
              </a:spcAft>
            </a:pPr>
            <a:r>
              <a:rPr sz="1050" b="1" i="0">
                <a:solidFill>
                  <a:srgbClr val="0B5E6E"/>
                </a:solidFill>
                <a:latin typeface="Calibri (MS) Bold"/>
              </a:rPr>
              <a:t>7. </a:t>
            </a:r>
            <a:r>
              <a:rPr sz="1050" b="0" i="0">
                <a:solidFill>
                  <a:srgbClr val="14313B"/>
                </a:solidFill>
                <a:latin typeface="Calibri (MS)"/>
              </a:rPr>
              <a:t>Kepadatan Wisatawan</a:t>
            </a:r>
          </a:p>
          <a:p>
            <a:pPr algn="l">
              <a:spcAft>
                <a:spcPts val="300"/>
              </a:spcAft>
            </a:pPr>
            <a:r>
              <a:rPr sz="1050" b="1" i="0">
                <a:solidFill>
                  <a:srgbClr val="0B5E6E"/>
                </a:solidFill>
                <a:latin typeface="Calibri (MS) Bold"/>
              </a:rPr>
              <a:t>8. </a:t>
            </a:r>
            <a:r>
              <a:rPr sz="1050" b="0" i="0">
                <a:solidFill>
                  <a:srgbClr val="14313B"/>
                </a:solidFill>
                <a:latin typeface="Calibri (MS)"/>
              </a:rPr>
              <a:t>Rasio Daya Dukung Lahan</a:t>
            </a:r>
          </a:p>
          <a:p>
            <a:pPr algn="l">
              <a:spcAft>
                <a:spcPts val="300"/>
              </a:spcAft>
            </a:pPr>
            <a:r>
              <a:rPr sz="1050" b="1" i="0">
                <a:solidFill>
                  <a:srgbClr val="0B5E6E"/>
                </a:solidFill>
                <a:latin typeface="Calibri (MS) Bold"/>
              </a:rPr>
              <a:t>9. </a:t>
            </a:r>
            <a:r>
              <a:rPr sz="1050" b="0" i="0">
                <a:solidFill>
                  <a:srgbClr val="14313B"/>
                </a:solidFill>
                <a:latin typeface="Calibri (MS)"/>
              </a:rPr>
              <a:t>Intensitas Tenaga Kerja</a:t>
            </a:r>
          </a:p>
          <a:p>
            <a:pPr algn="l">
              <a:spcAft>
                <a:spcPts val="300"/>
              </a:spcAft>
            </a:pPr>
            <a:r>
              <a:rPr sz="1050" b="1" i="0">
                <a:solidFill>
                  <a:srgbClr val="0B5E6E"/>
                </a:solidFill>
                <a:latin typeface="Calibri (MS) Bold"/>
              </a:rPr>
              <a:t>10. </a:t>
            </a:r>
            <a:r>
              <a:rPr sz="1050" b="0" i="0">
                <a:solidFill>
                  <a:srgbClr val="14313B"/>
                </a:solidFill>
                <a:latin typeface="Calibri (MS)"/>
              </a:rPr>
              <a:t>Tenaga Kerja Dibutuhkan</a:t>
            </a:r>
          </a:p>
          <a:p>
            <a:pPr algn="l">
              <a:spcAft>
                <a:spcPts val="300"/>
              </a:spcAft>
            </a:pPr>
            <a:r>
              <a:rPr sz="1050" b="1" i="0">
                <a:solidFill>
                  <a:srgbClr val="0B5E6E"/>
                </a:solidFill>
                <a:latin typeface="Calibri (MS) Bold"/>
              </a:rPr>
              <a:t>11. </a:t>
            </a:r>
            <a:r>
              <a:rPr sz="1050" b="0" i="0">
                <a:solidFill>
                  <a:srgbClr val="14313B"/>
                </a:solidFill>
                <a:latin typeface="Calibri (MS)"/>
              </a:rPr>
              <a:t>Rasio Permintaan terhadap Kapasitas Kamar</a:t>
            </a:r>
          </a:p>
        </p:txBody>
      </p:sp>
      <p:sp>
        <p:nvSpPr>
          <p:cNvPr id="33" name="Rounded Rectangle 32"/>
          <p:cNvSpPr/>
          <p:nvPr/>
        </p:nvSpPr>
        <p:spPr>
          <a:xfrm>
            <a:off x="12435840" y="1874519"/>
            <a:ext cx="5029200" cy="438912"/>
          </a:xfrm>
          <a:prstGeom prst="roundRect">
            <a:avLst>
              <a:gd name="adj" fmla="val 8000"/>
            </a:avLst>
          </a:prstGeom>
          <a:solidFill>
            <a:srgbClr val="8A97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Parameter (35)</a:t>
            </a:r>
          </a:p>
        </p:txBody>
      </p:sp>
      <p:sp>
        <p:nvSpPr>
          <p:cNvPr id="34" name="Rounded Rectangle 33"/>
          <p:cNvSpPr/>
          <p:nvPr/>
        </p:nvSpPr>
        <p:spPr>
          <a:xfrm>
            <a:off x="12435840" y="2377440"/>
            <a:ext cx="2514600" cy="4160520"/>
          </a:xfrm>
          <a:prstGeom prst="roundRect">
            <a:avLst>
              <a:gd name="adj" fmla="val 8000"/>
            </a:avLst>
          </a:prstGeom>
          <a:solidFill>
            <a:srgbClr val="F3F5F6"/>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300"/>
              </a:spcAft>
            </a:pPr>
            <a:r>
              <a:rPr sz="900" b="1" i="0">
                <a:solidFill>
                  <a:srgbClr val="5E6E78"/>
                </a:solidFill>
                <a:latin typeface="Calibri (MS) Bold"/>
              </a:rPr>
              <a:t>1. </a:t>
            </a:r>
            <a:r>
              <a:rPr sz="900" b="0" i="0">
                <a:solidFill>
                  <a:srgbClr val="14313B"/>
                </a:solidFill>
                <a:latin typeface="Calibri (MS)"/>
              </a:rPr>
              <a:t>Pengeluaran per Kunjungan</a:t>
            </a:r>
          </a:p>
          <a:p>
            <a:pPr algn="l">
              <a:spcAft>
                <a:spcPts val="300"/>
              </a:spcAft>
            </a:pPr>
            <a:r>
              <a:rPr sz="900" b="1" i="0">
                <a:solidFill>
                  <a:srgbClr val="5E6E78"/>
                </a:solidFill>
                <a:latin typeface="Calibri (MS) Bold"/>
              </a:rPr>
              <a:t>2. </a:t>
            </a:r>
            <a:r>
              <a:rPr sz="900" b="0" i="0">
                <a:solidFill>
                  <a:srgbClr val="14313B"/>
                </a:solidFill>
                <a:latin typeface="Calibri (MS)"/>
              </a:rPr>
              <a:t>Rasio Nilai Tambah Pariwisata</a:t>
            </a:r>
          </a:p>
          <a:p>
            <a:pPr algn="l">
              <a:spcAft>
                <a:spcPts val="300"/>
              </a:spcAft>
            </a:pPr>
            <a:r>
              <a:rPr sz="900" b="1" i="0">
                <a:solidFill>
                  <a:srgbClr val="5E6E78"/>
                </a:solidFill>
                <a:latin typeface="Calibri (MS) Bold"/>
              </a:rPr>
              <a:t>3. </a:t>
            </a:r>
            <a:r>
              <a:rPr sz="900" b="0" i="0">
                <a:solidFill>
                  <a:srgbClr val="14313B"/>
                </a:solidFill>
                <a:latin typeface="Calibri (MS)"/>
              </a:rPr>
              <a:t>Rasio Investasi thd PDRB</a:t>
            </a:r>
          </a:p>
          <a:p>
            <a:pPr algn="l">
              <a:spcAft>
                <a:spcPts val="300"/>
              </a:spcAft>
            </a:pPr>
            <a:r>
              <a:rPr sz="900" b="1" i="0">
                <a:solidFill>
                  <a:srgbClr val="5E6E78"/>
                </a:solidFill>
                <a:latin typeface="Calibri (MS) Bold"/>
              </a:rPr>
              <a:t>4. </a:t>
            </a:r>
            <a:r>
              <a:rPr sz="900" b="0" i="0">
                <a:solidFill>
                  <a:srgbClr val="14313B"/>
                </a:solidFill>
                <a:latin typeface="Calibri (MS)"/>
              </a:rPr>
              <a:t>Proporsi Wisatawan Menginap</a:t>
            </a:r>
          </a:p>
          <a:p>
            <a:pPr algn="l">
              <a:spcAft>
                <a:spcPts val="300"/>
              </a:spcAft>
            </a:pPr>
            <a:r>
              <a:rPr sz="900" b="1" i="0">
                <a:solidFill>
                  <a:srgbClr val="5E6E78"/>
                </a:solidFill>
                <a:latin typeface="Calibri (MS) Bold"/>
              </a:rPr>
              <a:t>5. </a:t>
            </a:r>
            <a:r>
              <a:rPr sz="900" b="0" i="0">
                <a:solidFill>
                  <a:srgbClr val="14313B"/>
                </a:solidFill>
                <a:latin typeface="Calibri (MS)"/>
              </a:rPr>
              <a:t>Rata-rata Lama Menginap Tamu</a:t>
            </a:r>
          </a:p>
          <a:p>
            <a:pPr algn="l">
              <a:spcAft>
                <a:spcPts val="300"/>
              </a:spcAft>
            </a:pPr>
            <a:r>
              <a:rPr sz="900" b="1" i="0">
                <a:solidFill>
                  <a:srgbClr val="5E6E78"/>
                </a:solidFill>
                <a:latin typeface="Calibri (MS) Bold"/>
              </a:rPr>
              <a:t>6. </a:t>
            </a:r>
            <a:r>
              <a:rPr sz="900" b="0" i="0">
                <a:solidFill>
                  <a:srgbClr val="14313B"/>
                </a:solidFill>
                <a:latin typeface="Calibri (MS)"/>
              </a:rPr>
              <a:t>Tingkat Penghunian Ganda Kamar</a:t>
            </a:r>
          </a:p>
          <a:p>
            <a:pPr algn="l">
              <a:spcAft>
                <a:spcPts val="300"/>
              </a:spcAft>
            </a:pPr>
            <a:r>
              <a:rPr sz="900" b="1" i="0">
                <a:solidFill>
                  <a:srgbClr val="5E6E78"/>
                </a:solidFill>
                <a:latin typeface="Calibri (MS) Bold"/>
              </a:rPr>
              <a:t>7. </a:t>
            </a:r>
            <a:r>
              <a:rPr sz="900" b="0" i="0">
                <a:solidFill>
                  <a:srgbClr val="14313B"/>
                </a:solidFill>
                <a:latin typeface="Calibri (MS)"/>
              </a:rPr>
              <a:t>Rata-rata Kamar per Unit</a:t>
            </a:r>
          </a:p>
          <a:p>
            <a:pPr algn="l">
              <a:spcAft>
                <a:spcPts val="300"/>
              </a:spcAft>
            </a:pPr>
            <a:r>
              <a:rPr sz="900" b="1" i="0">
                <a:solidFill>
                  <a:srgbClr val="5E6E78"/>
                </a:solidFill>
                <a:latin typeface="Calibri (MS) Bold"/>
              </a:rPr>
              <a:t>8. </a:t>
            </a:r>
            <a:r>
              <a:rPr sz="900" b="0" i="0">
                <a:solidFill>
                  <a:srgbClr val="14313B"/>
                </a:solidFill>
                <a:latin typeface="Calibri (MS)"/>
              </a:rPr>
              <a:t>Malam Tersedia per Kamar</a:t>
            </a:r>
          </a:p>
          <a:p>
            <a:pPr algn="l">
              <a:spcAft>
                <a:spcPts val="300"/>
              </a:spcAft>
            </a:pPr>
            <a:r>
              <a:rPr sz="900" b="1" i="0">
                <a:solidFill>
                  <a:srgbClr val="5E6E78"/>
                </a:solidFill>
                <a:latin typeface="Calibri (MS) Bold"/>
              </a:rPr>
              <a:t>9. </a:t>
            </a:r>
            <a:r>
              <a:rPr sz="900" b="0" i="0">
                <a:solidFill>
                  <a:srgbClr val="14313B"/>
                </a:solidFill>
                <a:latin typeface="Calibri (MS)"/>
              </a:rPr>
              <a:t>Luas Lahan Tersedia</a:t>
            </a:r>
          </a:p>
          <a:p>
            <a:pPr algn="l">
              <a:spcAft>
                <a:spcPts val="300"/>
              </a:spcAft>
            </a:pPr>
            <a:r>
              <a:rPr sz="900" b="1" i="0">
                <a:solidFill>
                  <a:srgbClr val="5E6E78"/>
                </a:solidFill>
                <a:latin typeface="Calibri (MS) Bold"/>
              </a:rPr>
              <a:t>10. </a:t>
            </a:r>
            <a:r>
              <a:rPr sz="900" b="0" i="0">
                <a:solidFill>
                  <a:srgbClr val="14313B"/>
                </a:solidFill>
                <a:latin typeface="Calibri (MS)"/>
              </a:rPr>
              <a:t>Intensitas TK Awal</a:t>
            </a:r>
          </a:p>
          <a:p>
            <a:pPr algn="l">
              <a:spcAft>
                <a:spcPts val="300"/>
              </a:spcAft>
            </a:pPr>
            <a:r>
              <a:rPr sz="900" b="1" i="0">
                <a:solidFill>
                  <a:srgbClr val="5E6E78"/>
                </a:solidFill>
                <a:latin typeface="Calibri (MS) Bold"/>
              </a:rPr>
              <a:t>11. </a:t>
            </a:r>
            <a:r>
              <a:rPr sz="900" b="0" i="0">
                <a:solidFill>
                  <a:srgbClr val="14313B"/>
                </a:solidFill>
                <a:latin typeface="Calibri (MS)"/>
              </a:rPr>
              <a:t>Laju Kenaikan Produktivitas</a:t>
            </a:r>
          </a:p>
          <a:p>
            <a:pPr algn="l">
              <a:spcAft>
                <a:spcPts val="300"/>
              </a:spcAft>
            </a:pPr>
            <a:r>
              <a:rPr sz="900" b="1" i="0">
                <a:solidFill>
                  <a:srgbClr val="5E6E78"/>
                </a:solidFill>
                <a:latin typeface="Calibri (MS) Bold"/>
              </a:rPr>
              <a:t>12. </a:t>
            </a:r>
            <a:r>
              <a:rPr sz="900" b="0" i="0">
                <a:solidFill>
                  <a:srgbClr val="14313B"/>
                </a:solidFill>
                <a:latin typeface="Calibri (MS)"/>
              </a:rPr>
              <a:t>Laju Pertumbuhan Eksternal</a:t>
            </a:r>
          </a:p>
          <a:p>
            <a:pPr algn="l">
              <a:spcAft>
                <a:spcPts val="300"/>
              </a:spcAft>
            </a:pPr>
            <a:r>
              <a:rPr sz="900" b="1" i="0">
                <a:solidFill>
                  <a:srgbClr val="5E6E78"/>
                </a:solidFill>
                <a:latin typeface="Calibri (MS) Bold"/>
              </a:rPr>
              <a:t>13. </a:t>
            </a:r>
            <a:r>
              <a:rPr sz="900" b="0" i="0">
                <a:solidFill>
                  <a:srgbClr val="14313B"/>
                </a:solidFill>
                <a:latin typeface="Calibri (MS)"/>
              </a:rPr>
              <a:t>Laju Penurunan Dasar</a:t>
            </a:r>
          </a:p>
          <a:p>
            <a:pPr algn="l">
              <a:spcAft>
                <a:spcPts val="300"/>
              </a:spcAft>
            </a:pPr>
            <a:r>
              <a:rPr sz="900" b="1" i="0">
                <a:solidFill>
                  <a:srgbClr val="5E6E78"/>
                </a:solidFill>
                <a:latin typeface="Calibri (MS) Bold"/>
              </a:rPr>
              <a:t>14. </a:t>
            </a:r>
            <a:r>
              <a:rPr sz="900" b="0" i="0">
                <a:solidFill>
                  <a:srgbClr val="14313B"/>
                </a:solidFill>
                <a:latin typeface="Calibri (MS)"/>
              </a:rPr>
              <a:t>Sensitivitas Konstruksi thd TPK</a:t>
            </a:r>
          </a:p>
          <a:p>
            <a:pPr algn="l">
              <a:spcAft>
                <a:spcPts val="300"/>
              </a:spcAft>
            </a:pPr>
            <a:r>
              <a:rPr sz="900" b="1" i="0">
                <a:solidFill>
                  <a:srgbClr val="5E6E78"/>
                </a:solidFill>
                <a:latin typeface="Calibri (MS) Bold"/>
              </a:rPr>
              <a:t>15. </a:t>
            </a:r>
            <a:r>
              <a:rPr sz="900" b="0" i="0">
                <a:solidFill>
                  <a:srgbClr val="14313B"/>
                </a:solidFill>
                <a:latin typeface="Calibri (MS)"/>
              </a:rPr>
              <a:t>TPK Ambang</a:t>
            </a:r>
          </a:p>
          <a:p>
            <a:pPr algn="l">
              <a:spcAft>
                <a:spcPts val="300"/>
              </a:spcAft>
            </a:pPr>
            <a:r>
              <a:rPr sz="900" b="1" i="0">
                <a:solidFill>
                  <a:srgbClr val="5E6E78"/>
                </a:solidFill>
                <a:latin typeface="Calibri (MS) Bold"/>
              </a:rPr>
              <a:t>16. </a:t>
            </a:r>
            <a:r>
              <a:rPr sz="900" b="0" i="0">
                <a:solidFill>
                  <a:srgbClr val="14313B"/>
                </a:solidFill>
                <a:latin typeface="Calibri (MS)"/>
              </a:rPr>
              <a:t>Sensitivitas ODTW thd Investasi</a:t>
            </a:r>
          </a:p>
          <a:p>
            <a:pPr algn="l">
              <a:spcAft>
                <a:spcPts val="300"/>
              </a:spcAft>
            </a:pPr>
            <a:r>
              <a:rPr sz="900" b="1" i="0">
                <a:solidFill>
                  <a:srgbClr val="5E6E78"/>
                </a:solidFill>
                <a:latin typeface="Calibri (MS) Bold"/>
              </a:rPr>
              <a:t>17. </a:t>
            </a:r>
            <a:r>
              <a:rPr sz="900" b="0" i="0">
                <a:solidFill>
                  <a:srgbClr val="14313B"/>
                </a:solidFill>
                <a:latin typeface="Calibri (MS)"/>
              </a:rPr>
              <a:t>Pembangunan ODTW Non Investasi</a:t>
            </a:r>
          </a:p>
          <a:p>
            <a:pPr algn="l">
              <a:spcAft>
                <a:spcPts val="300"/>
              </a:spcAft>
            </a:pPr>
            <a:r>
              <a:rPr sz="900" b="1" i="0">
                <a:solidFill>
                  <a:srgbClr val="5E6E78"/>
                </a:solidFill>
                <a:latin typeface="Calibri (MS) Bold"/>
              </a:rPr>
              <a:t>18. </a:t>
            </a:r>
            <a:r>
              <a:rPr sz="900" b="0" i="0">
                <a:solidFill>
                  <a:srgbClr val="14313B"/>
                </a:solidFill>
                <a:latin typeface="Calibri (MS)"/>
              </a:rPr>
              <a:t>Laju Penutupan Dasar ODTW</a:t>
            </a:r>
          </a:p>
        </p:txBody>
      </p:sp>
      <p:sp>
        <p:nvSpPr>
          <p:cNvPr id="35" name="Rounded Rectangle 34"/>
          <p:cNvSpPr/>
          <p:nvPr/>
        </p:nvSpPr>
        <p:spPr>
          <a:xfrm>
            <a:off x="14950440" y="2377440"/>
            <a:ext cx="2514600" cy="4160520"/>
          </a:xfrm>
          <a:prstGeom prst="roundRect">
            <a:avLst>
              <a:gd name="adj" fmla="val 8000"/>
            </a:avLst>
          </a:prstGeom>
          <a:solidFill>
            <a:srgbClr val="F3F5F6"/>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300"/>
              </a:spcAft>
            </a:pPr>
            <a:r>
              <a:rPr sz="900" b="1" i="0">
                <a:solidFill>
                  <a:srgbClr val="5E6E78"/>
                </a:solidFill>
                <a:latin typeface="Calibri (MS) Bold"/>
              </a:rPr>
              <a:t>19. </a:t>
            </a:r>
            <a:r>
              <a:rPr sz="900" b="0" i="0">
                <a:solidFill>
                  <a:srgbClr val="14313B"/>
                </a:solidFill>
                <a:latin typeface="Calibri (MS)"/>
              </a:rPr>
              <a:t>Laju Konversi Dasar</a:t>
            </a:r>
          </a:p>
          <a:p>
            <a:pPr algn="l">
              <a:spcAft>
                <a:spcPts val="300"/>
              </a:spcAft>
            </a:pPr>
            <a:r>
              <a:rPr sz="900" b="1" i="0">
                <a:solidFill>
                  <a:srgbClr val="5E6E78"/>
                </a:solidFill>
                <a:latin typeface="Calibri (MS) Bold"/>
              </a:rPr>
              <a:t>20. </a:t>
            </a:r>
            <a:r>
              <a:rPr sz="900" b="0" i="0">
                <a:solidFill>
                  <a:srgbClr val="14313B"/>
                </a:solidFill>
                <a:latin typeface="Calibri (MS)"/>
              </a:rPr>
              <a:t>Laju Demolisi Dasar</a:t>
            </a:r>
          </a:p>
          <a:p>
            <a:pPr algn="l">
              <a:spcAft>
                <a:spcPts val="300"/>
              </a:spcAft>
            </a:pPr>
            <a:r>
              <a:rPr sz="900" b="1" i="0">
                <a:solidFill>
                  <a:srgbClr val="5E6E78"/>
                </a:solidFill>
                <a:latin typeface="Calibri (MS) Bold"/>
              </a:rPr>
              <a:t>21. </a:t>
            </a:r>
            <a:r>
              <a:rPr sz="900" b="0" i="0">
                <a:solidFill>
                  <a:srgbClr val="14313B"/>
                </a:solidFill>
                <a:latin typeface="Calibri (MS)"/>
              </a:rPr>
              <a:t>Laju Keluar Dasar TK</a:t>
            </a:r>
          </a:p>
          <a:p>
            <a:pPr algn="l">
              <a:spcAft>
                <a:spcPts val="300"/>
              </a:spcAft>
            </a:pPr>
            <a:r>
              <a:rPr sz="900" b="1" i="0">
                <a:solidFill>
                  <a:srgbClr val="5E6E78"/>
                </a:solidFill>
                <a:latin typeface="Calibri (MS) Bold"/>
              </a:rPr>
              <a:t>22. </a:t>
            </a:r>
            <a:r>
              <a:rPr sz="900" b="0" i="0">
                <a:solidFill>
                  <a:srgbClr val="14313B"/>
                </a:solidFill>
                <a:latin typeface="Calibri (MS)"/>
              </a:rPr>
              <a:t>Bobot ODTW</a:t>
            </a:r>
          </a:p>
          <a:p>
            <a:pPr algn="l">
              <a:spcAft>
                <a:spcPts val="300"/>
              </a:spcAft>
            </a:pPr>
            <a:r>
              <a:rPr sz="900" b="1" i="0">
                <a:solidFill>
                  <a:srgbClr val="5E6E78"/>
                </a:solidFill>
                <a:latin typeface="Calibri (MS) Bold"/>
              </a:rPr>
              <a:t>23. </a:t>
            </a:r>
            <a:r>
              <a:rPr sz="900" b="0" i="0">
                <a:solidFill>
                  <a:srgbClr val="14313B"/>
                </a:solidFill>
                <a:latin typeface="Calibri (MS)"/>
              </a:rPr>
              <a:t>Bobot Kepadatan</a:t>
            </a:r>
          </a:p>
          <a:p>
            <a:pPr algn="l">
              <a:spcAft>
                <a:spcPts val="300"/>
              </a:spcAft>
            </a:pPr>
            <a:r>
              <a:rPr sz="900" b="1" i="0">
                <a:solidFill>
                  <a:srgbClr val="5E6E78"/>
                </a:solidFill>
                <a:latin typeface="Calibri (MS) Bold"/>
              </a:rPr>
              <a:t>24. </a:t>
            </a:r>
            <a:r>
              <a:rPr sz="900" b="0" i="0">
                <a:solidFill>
                  <a:srgbClr val="14313B"/>
                </a:solidFill>
                <a:latin typeface="Calibri (MS)"/>
              </a:rPr>
              <a:t>Bobot Daya Dukung Lahan</a:t>
            </a:r>
          </a:p>
          <a:p>
            <a:pPr algn="l">
              <a:spcAft>
                <a:spcPts val="300"/>
              </a:spcAft>
            </a:pPr>
            <a:r>
              <a:rPr sz="900" b="1" i="0">
                <a:solidFill>
                  <a:srgbClr val="5E6E78"/>
                </a:solidFill>
                <a:latin typeface="Calibri (MS) Bold"/>
              </a:rPr>
              <a:t>25. </a:t>
            </a:r>
            <a:r>
              <a:rPr sz="900" b="0" i="0">
                <a:solidFill>
                  <a:srgbClr val="14313B"/>
                </a:solidFill>
                <a:latin typeface="Calibri (MS)"/>
              </a:rPr>
              <a:t>Elastisitas Daya Tarik ODTW</a:t>
            </a:r>
          </a:p>
          <a:p>
            <a:pPr algn="l">
              <a:spcAft>
                <a:spcPts val="300"/>
              </a:spcAft>
            </a:pPr>
            <a:r>
              <a:rPr sz="900" b="1" i="0">
                <a:solidFill>
                  <a:srgbClr val="5E6E78"/>
                </a:solidFill>
                <a:latin typeface="Calibri (MS) Bold"/>
              </a:rPr>
              <a:t>26. </a:t>
            </a:r>
            <a:r>
              <a:rPr sz="900" b="0" i="0">
                <a:solidFill>
                  <a:srgbClr val="14313B"/>
                </a:solidFill>
                <a:latin typeface="Calibri (MS)"/>
              </a:rPr>
              <a:t>Batas Maksimum Efek ODTW</a:t>
            </a:r>
          </a:p>
          <a:p>
            <a:pPr algn="l">
              <a:spcAft>
                <a:spcPts val="300"/>
              </a:spcAft>
            </a:pPr>
            <a:r>
              <a:rPr sz="900" b="1" i="0">
                <a:solidFill>
                  <a:srgbClr val="5E6E78"/>
                </a:solidFill>
                <a:latin typeface="Calibri (MS) Bold"/>
              </a:rPr>
              <a:t>27. </a:t>
            </a:r>
            <a:r>
              <a:rPr sz="900" b="0" i="0">
                <a:solidFill>
                  <a:srgbClr val="14313B"/>
                </a:solidFill>
                <a:latin typeface="Calibri (MS)"/>
              </a:rPr>
              <a:t>Lahan per Hotel dan Akomodasi</a:t>
            </a:r>
          </a:p>
          <a:p>
            <a:pPr algn="l">
              <a:spcAft>
                <a:spcPts val="300"/>
              </a:spcAft>
            </a:pPr>
            <a:r>
              <a:rPr sz="900" b="1" i="0">
                <a:solidFill>
                  <a:srgbClr val="5E6E78"/>
                </a:solidFill>
                <a:latin typeface="Calibri (MS) Bold"/>
              </a:rPr>
              <a:t>28. </a:t>
            </a:r>
            <a:r>
              <a:rPr sz="900" b="0" i="0">
                <a:solidFill>
                  <a:srgbClr val="14313B"/>
                </a:solidFill>
                <a:latin typeface="Calibri (MS)"/>
              </a:rPr>
              <a:t>Lahan per ODTW</a:t>
            </a:r>
          </a:p>
          <a:p>
            <a:pPr algn="l">
              <a:spcAft>
                <a:spcPts val="300"/>
              </a:spcAft>
            </a:pPr>
            <a:r>
              <a:rPr sz="900" b="1" i="0">
                <a:solidFill>
                  <a:srgbClr val="5E6E78"/>
                </a:solidFill>
                <a:latin typeface="Calibri (MS) Bold"/>
              </a:rPr>
              <a:t>29. </a:t>
            </a:r>
            <a:r>
              <a:rPr sz="900" b="0" i="0">
                <a:solidFill>
                  <a:srgbClr val="14313B"/>
                </a:solidFill>
                <a:latin typeface="Calibri (MS)"/>
              </a:rPr>
              <a:t>Waktu Penyesuaian TK</a:t>
            </a:r>
          </a:p>
          <a:p>
            <a:pPr algn="l">
              <a:spcAft>
                <a:spcPts val="300"/>
              </a:spcAft>
            </a:pPr>
            <a:r>
              <a:rPr sz="900" b="1" i="0">
                <a:solidFill>
                  <a:srgbClr val="5E6E78"/>
                </a:solidFill>
                <a:latin typeface="Calibri (MS) Bold"/>
              </a:rPr>
              <a:t>30. </a:t>
            </a:r>
            <a:r>
              <a:rPr sz="900" b="0" i="0">
                <a:solidFill>
                  <a:srgbClr val="14313B"/>
                </a:solidFill>
                <a:latin typeface="Calibri (MS)"/>
              </a:rPr>
              <a:t>ODTW Referensi</a:t>
            </a:r>
          </a:p>
          <a:p>
            <a:pPr algn="l">
              <a:spcAft>
                <a:spcPts val="300"/>
              </a:spcAft>
            </a:pPr>
            <a:r>
              <a:rPr sz="900" b="1" i="0">
                <a:solidFill>
                  <a:srgbClr val="5E6E78"/>
                </a:solidFill>
                <a:latin typeface="Calibri (MS) Bold"/>
              </a:rPr>
              <a:t>31. </a:t>
            </a:r>
            <a:r>
              <a:rPr sz="900" b="0" i="0">
                <a:solidFill>
                  <a:srgbClr val="14313B"/>
                </a:solidFill>
                <a:latin typeface="Calibri (MS)"/>
              </a:rPr>
              <a:t>Kepadatan Referensi</a:t>
            </a:r>
          </a:p>
          <a:p>
            <a:pPr algn="l">
              <a:spcAft>
                <a:spcPts val="300"/>
              </a:spcAft>
            </a:pPr>
            <a:r>
              <a:rPr sz="900" b="1" i="0">
                <a:solidFill>
                  <a:srgbClr val="5E6E78"/>
                </a:solidFill>
                <a:latin typeface="Calibri (MS) Bold"/>
              </a:rPr>
              <a:t>32. </a:t>
            </a:r>
            <a:r>
              <a:rPr sz="900" b="0" i="0">
                <a:solidFill>
                  <a:srgbClr val="14313B"/>
                </a:solidFill>
                <a:latin typeface="Calibri (MS)"/>
              </a:rPr>
              <a:t>RDDL Referensi</a:t>
            </a:r>
          </a:p>
          <a:p>
            <a:pPr algn="l">
              <a:spcAft>
                <a:spcPts val="300"/>
              </a:spcAft>
            </a:pPr>
            <a:r>
              <a:rPr sz="900" b="1" i="0">
                <a:solidFill>
                  <a:srgbClr val="5E6E78"/>
                </a:solidFill>
                <a:latin typeface="Calibri (MS) Bold"/>
              </a:rPr>
              <a:t>33. </a:t>
            </a:r>
            <a:r>
              <a:rPr sz="900" b="0" i="0">
                <a:solidFill>
                  <a:srgbClr val="14313B"/>
                </a:solidFill>
                <a:latin typeface="Calibri (MS)"/>
              </a:rPr>
              <a:t>Tahun Dasar Intensitas TK</a:t>
            </a:r>
          </a:p>
          <a:p>
            <a:pPr algn="l">
              <a:spcAft>
                <a:spcPts val="300"/>
              </a:spcAft>
            </a:pPr>
            <a:r>
              <a:rPr sz="900" b="1" i="0">
                <a:solidFill>
                  <a:srgbClr val="5E6E78"/>
                </a:solidFill>
                <a:latin typeface="Calibri (MS) Bold"/>
              </a:rPr>
              <a:t>34. </a:t>
            </a:r>
            <a:r>
              <a:rPr sz="900" b="0" i="0">
                <a:solidFill>
                  <a:srgbClr val="14313B"/>
                </a:solidFill>
                <a:latin typeface="Calibri (MS)"/>
              </a:rPr>
              <a:t>Insentif Kebijakan</a:t>
            </a:r>
          </a:p>
          <a:p>
            <a:pPr algn="l">
              <a:spcAft>
                <a:spcPts val="300"/>
              </a:spcAft>
            </a:pPr>
            <a:r>
              <a:rPr sz="900" b="1" i="0">
                <a:solidFill>
                  <a:srgbClr val="5E6E78"/>
                </a:solidFill>
                <a:latin typeface="Calibri (MS) Bold"/>
              </a:rPr>
              <a:t>35. </a:t>
            </a:r>
            <a:r>
              <a:rPr sz="900" b="0" i="0">
                <a:solidFill>
                  <a:srgbClr val="14313B"/>
                </a:solidFill>
                <a:latin typeface="Calibri (MS)"/>
              </a:rPr>
              <a:t>Kebijakan Konservasi Lahan</a:t>
            </a:r>
          </a:p>
        </p:txBody>
      </p:sp>
      <p:sp>
        <p:nvSpPr>
          <p:cNvPr id="36" name="Rounded Rectangle 35"/>
          <p:cNvSpPr/>
          <p:nvPr/>
        </p:nvSpPr>
        <p:spPr>
          <a:xfrm>
            <a:off x="822960" y="672084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Nilai awal stock tahun dasar 2025</a:t>
            </a:r>
          </a:p>
        </p:txBody>
      </p:sp>
      <p:graphicFrame>
        <p:nvGraphicFramePr>
          <p:cNvPr id="37" name="Table 36"/>
          <p:cNvGraphicFramePr>
            <a:graphicFrameLocks noGrp="1"/>
          </p:cNvGraphicFramePr>
          <p:nvPr/>
        </p:nvGraphicFramePr>
        <p:xfrm>
          <a:off x="822960" y="7223760"/>
          <a:ext cx="16642074" cy="1097280"/>
        </p:xfrm>
        <a:graphic>
          <a:graphicData uri="http://schemas.openxmlformats.org/drawingml/2006/table">
            <a:tbl>
              <a:tblPr firstRow="1" bandRow="1">
                <a:tableStyleId>{5C22544A-7EE6-4342-B048-85BDC9FD1C3A}</a:tableStyleId>
              </a:tblPr>
              <a:tblGrid>
                <a:gridCol w="1828799"/>
                <a:gridCol w="3017519"/>
                <a:gridCol w="2834639"/>
                <a:gridCol w="2926079"/>
                <a:gridCol w="3017519"/>
                <a:gridCol w="3017519"/>
              </a:tblGrid>
              <a:tr h="365760">
                <a:tc>
                  <a:txBody>
                    <a:bodyPr wrap="square"/>
                    <a:lstStyle/>
                    <a:p>
                      <a:r>
                        <a:rPr sz="1050" b="1" i="0">
                          <a:solidFill>
                            <a:srgbClr val="FFFFFF"/>
                          </a:solidFill>
                          <a:latin typeface="Calibri (MS) Bold"/>
                        </a:rPr>
                        <a:t>Stock</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Jumlah Wisatawan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Hotel dan Akomodasi</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Jumlah ODTW</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Tenaga Kerja Pariwisata</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Lahan Terbangun</a:t>
                      </a:r>
                    </a:p>
                  </a:txBody>
                  <a:tcPr marL="73152" marR="73152" marT="36576" marB="36576" anchor="ctr">
                    <a:solidFill>
                      <a:srgbClr val="0B5E6E"/>
                    </a:solidFill>
                  </a:tcPr>
                </a:tc>
              </a:tr>
              <a:tr h="365760">
                <a:tc>
                  <a:txBody>
                    <a:bodyPr wrap="square"/>
                    <a:lstStyle/>
                    <a:p>
                      <a:r>
                        <a:rPr sz="1050" b="0" i="0">
                          <a:solidFill>
                            <a:srgbClr val="14313B"/>
                          </a:solidFill>
                          <a:latin typeface="Calibri (MS)"/>
                        </a:rPr>
                        <a:t>Nilai awal</a:t>
                      </a:r>
                    </a:p>
                  </a:txBody>
                  <a:tcPr marL="73152" marR="73152" marT="36576" marB="36576" anchor="ctr">
                    <a:solidFill>
                      <a:srgbClr val="FFFFFF"/>
                    </a:solidFill>
                  </a:tcPr>
                </a:tc>
                <a:tc>
                  <a:txBody>
                    <a:bodyPr wrap="square"/>
                    <a:lstStyle/>
                    <a:p>
                      <a:pPr algn="ctr"/>
                      <a:r>
                        <a:rPr sz="1050" b="0" i="0">
                          <a:solidFill>
                            <a:srgbClr val="14313B"/>
                          </a:solidFill>
                          <a:latin typeface="Calibri (MS)"/>
                        </a:rPr>
                        <a:t>40.695.654 kunjungan</a:t>
                      </a:r>
                    </a:p>
                  </a:txBody>
                  <a:tcPr marL="73152" marR="73152" marT="36576" marB="36576" anchor="ctr">
                    <a:solidFill>
                      <a:srgbClr val="FFFFFF"/>
                    </a:solidFill>
                  </a:tcPr>
                </a:tc>
                <a:tc>
                  <a:txBody>
                    <a:bodyPr wrap="square"/>
                    <a:lstStyle/>
                    <a:p>
                      <a:pPr algn="ctr"/>
                      <a:r>
                        <a:rPr sz="1050" b="0" i="0">
                          <a:solidFill>
                            <a:srgbClr val="14313B"/>
                          </a:solidFill>
                          <a:latin typeface="Calibri (MS)"/>
                        </a:rPr>
                        <a:t>2.291 unit</a:t>
                      </a:r>
                    </a:p>
                  </a:txBody>
                  <a:tcPr marL="73152" marR="73152" marT="36576" marB="36576" anchor="ctr">
                    <a:solidFill>
                      <a:srgbClr val="FFFFFF"/>
                    </a:solidFill>
                  </a:tcPr>
                </a:tc>
                <a:tc>
                  <a:txBody>
                    <a:bodyPr wrap="square"/>
                    <a:lstStyle/>
                    <a:p>
                      <a:pPr algn="ctr"/>
                      <a:r>
                        <a:rPr sz="1050" b="0" i="0">
                          <a:solidFill>
                            <a:srgbClr val="14313B"/>
                          </a:solidFill>
                          <a:latin typeface="Calibri (MS)"/>
                        </a:rPr>
                        <a:t>201 unit</a:t>
                      </a:r>
                    </a:p>
                  </a:txBody>
                  <a:tcPr marL="73152" marR="73152" marT="36576" marB="36576" anchor="ctr">
                    <a:solidFill>
                      <a:srgbClr val="FFFFFF"/>
                    </a:solidFill>
                  </a:tcPr>
                </a:tc>
                <a:tc>
                  <a:txBody>
                    <a:bodyPr wrap="square"/>
                    <a:lstStyle/>
                    <a:p>
                      <a:pPr algn="ctr"/>
                      <a:r>
                        <a:rPr sz="1050" b="0" i="0">
                          <a:solidFill>
                            <a:srgbClr val="14313B"/>
                          </a:solidFill>
                          <a:latin typeface="Calibri (MS)"/>
                        </a:rPr>
                        <a:t>364.994 jiwa</a:t>
                      </a:r>
                    </a:p>
                  </a:txBody>
                  <a:tcPr marL="73152" marR="73152" marT="36576" marB="36576" anchor="ctr">
                    <a:solidFill>
                      <a:srgbClr val="FFFFFF"/>
                    </a:solidFill>
                  </a:tcPr>
                </a:tc>
                <a:tc>
                  <a:txBody>
                    <a:bodyPr wrap="square"/>
                    <a:lstStyle/>
                    <a:p>
                      <a:pPr algn="ctr"/>
                      <a:r>
                        <a:rPr sz="1050" b="0" i="0">
                          <a:solidFill>
                            <a:srgbClr val="14313B"/>
                          </a:solidFill>
                          <a:latin typeface="Calibri (MS)"/>
                        </a:rPr>
                        <a:t>55.029,54 ha</a:t>
                      </a:r>
                    </a:p>
                  </a:txBody>
                  <a:tcPr marL="73152" marR="73152" marT="36576" marB="36576" anchor="ctr">
                    <a:solidFill>
                      <a:srgbClr val="FFFFFF"/>
                    </a:solidFill>
                  </a:tcPr>
                </a:tc>
              </a:tr>
              <a:tr h="365760">
                <a:tc>
                  <a:txBody>
                    <a:bodyPr wrap="square"/>
                    <a:lstStyle/>
                    <a:p>
                      <a:r>
                        <a:rPr sz="1050" b="0" i="0">
                          <a:solidFill>
                            <a:srgbClr val="14313B"/>
                          </a:solidFill>
                          <a:latin typeface="Calibri (MS)"/>
                        </a:rPr>
                        <a:t>Sumber</a:t>
                      </a:r>
                    </a:p>
                  </a:txBody>
                  <a:tcPr marL="73152" marR="73152" marT="36576" marB="36576" anchor="ctr">
                    <a:solidFill>
                      <a:srgbClr val="EAF8FA"/>
                    </a:solidFill>
                  </a:tcPr>
                </a:tc>
                <a:tc>
                  <a:txBody>
                    <a:bodyPr wrap="square"/>
                    <a:lstStyle/>
                    <a:p>
                      <a:pPr algn="ctr"/>
                      <a:r>
                        <a:rPr sz="1050" b="0" i="0">
                          <a:solidFill>
                            <a:srgbClr val="14313B"/>
                          </a:solidFill>
                          <a:latin typeface="Calibri (MS)"/>
                        </a:rPr>
                        <a:t>BPS DIY</a:t>
                      </a:r>
                    </a:p>
                  </a:txBody>
                  <a:tcPr marL="73152" marR="73152" marT="36576" marB="36576" anchor="ctr">
                    <a:solidFill>
                      <a:srgbClr val="EAF8FA"/>
                    </a:solidFill>
                  </a:tcPr>
                </a:tc>
                <a:tc>
                  <a:txBody>
                    <a:bodyPr wrap="square"/>
                    <a:lstStyle/>
                    <a:p>
                      <a:pPr algn="ctr"/>
                      <a:r>
                        <a:rPr sz="1050" b="0" i="0">
                          <a:solidFill>
                            <a:srgbClr val="14313B"/>
                          </a:solidFill>
                          <a:latin typeface="Calibri (MS)"/>
                        </a:rPr>
                        <a:t>BPS DIY</a:t>
                      </a:r>
                    </a:p>
                  </a:txBody>
                  <a:tcPr marL="73152" marR="73152" marT="36576" marB="36576" anchor="ctr">
                    <a:solidFill>
                      <a:srgbClr val="EAF8FA"/>
                    </a:solidFill>
                  </a:tcPr>
                </a:tc>
                <a:tc>
                  <a:txBody>
                    <a:bodyPr wrap="square"/>
                    <a:lstStyle/>
                    <a:p>
                      <a:pPr algn="ctr"/>
                      <a:r>
                        <a:rPr sz="1050" b="0" i="0">
                          <a:solidFill>
                            <a:srgbClr val="14313B"/>
                          </a:solidFill>
                          <a:latin typeface="Calibri (MS)"/>
                        </a:rPr>
                        <a:t>BPS DIY &amp; estimasi NTL</a:t>
                      </a:r>
                    </a:p>
                  </a:txBody>
                  <a:tcPr marL="73152" marR="73152" marT="36576" marB="36576" anchor="ctr">
                    <a:solidFill>
                      <a:srgbClr val="EAF8FA"/>
                    </a:solidFill>
                  </a:tcPr>
                </a:tc>
                <a:tc>
                  <a:txBody>
                    <a:bodyPr wrap="square"/>
                    <a:lstStyle/>
                    <a:p>
                      <a:pPr algn="ctr"/>
                      <a:r>
                        <a:rPr sz="1050" b="0" i="0">
                          <a:solidFill>
                            <a:srgbClr val="14313B"/>
                          </a:solidFill>
                          <a:latin typeface="Calibri (MS)"/>
                        </a:rPr>
                        <a:t>Sakernas (KBLI I, R–U)</a:t>
                      </a:r>
                    </a:p>
                  </a:txBody>
                  <a:tcPr marL="73152" marR="73152" marT="36576" marB="36576" anchor="ctr">
                    <a:solidFill>
                      <a:srgbClr val="EAF8FA"/>
                    </a:solidFill>
                  </a:tcPr>
                </a:tc>
                <a:tc>
                  <a:txBody>
                    <a:bodyPr wrap="square"/>
                    <a:lstStyle/>
                    <a:p>
                      <a:pPr algn="ctr"/>
                      <a:r>
                        <a:rPr sz="1050" b="0" i="0">
                          <a:solidFill>
                            <a:srgbClr val="14313B"/>
                          </a:solidFill>
                          <a:latin typeface="Calibri (MS)"/>
                        </a:rPr>
                        <a:t>Dynamic World</a:t>
                      </a:r>
                    </a:p>
                  </a:txBody>
                  <a:tcPr marL="73152" marR="73152" marT="36576" marB="36576" anchor="ctr">
                    <a:solidFill>
                      <a:srgbClr val="EAF8FA"/>
                    </a:solidFill>
                  </a:tcPr>
                </a:tc>
              </a:tr>
            </a:tbl>
          </a:graphicData>
        </a:graphic>
      </p:graphicFrame>
      <p:sp>
        <p:nvSpPr>
          <p:cNvPr id="38" name="TextBox 37"/>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4.1.4 (Tabel 27–28).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29 · Batas Model (1/3): Ringkasan Kecukupan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Model boundary chart: apa yang dihitung model, apa yang menjadi input, dan apa yang sengaja dikeluarkan</a:t>
            </a:r>
          </a:p>
        </p:txBody>
      </p:sp>
      <p:sp>
        <p:nvSpPr>
          <p:cNvPr id="27" name="Rounded Rectangle 26"/>
          <p:cNvSpPr/>
          <p:nvPr/>
        </p:nvSpPr>
        <p:spPr>
          <a:xfrm>
            <a:off x="822960" y="1920240"/>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Dihitung model (endogen): 26 variabel</a:t>
            </a:r>
          </a:p>
        </p:txBody>
      </p:sp>
      <p:sp>
        <p:nvSpPr>
          <p:cNvPr id="28" name="TextBox 27"/>
          <p:cNvSpPr txBox="1"/>
          <p:nvPr/>
        </p:nvSpPr>
        <p:spPr>
          <a:xfrm>
            <a:off x="914400" y="2514600"/>
            <a:ext cx="5212080" cy="5120640"/>
          </a:xfrm>
          <a:prstGeom prst="rect">
            <a:avLst/>
          </a:prstGeom>
          <a:noFill/>
        </p:spPr>
        <p:txBody>
          <a:bodyPr wrap="square" anchor="t" lIns="0" rIns="0" tIns="0" bIns="0">
            <a:spAutoFit/>
          </a:bodyPr>
          <a:lstStyle/>
          <a:p>
            <a:pPr algn="l">
              <a:spcAft>
                <a:spcPts val="400"/>
              </a:spcAft>
            </a:pPr>
            <a:r>
              <a:rPr sz="1200" b="1" i="0">
                <a:solidFill>
                  <a:srgbClr val="0B5E6E"/>
                </a:solidFill>
                <a:latin typeface="Calibri (MS) Bold"/>
              </a:rPr>
              <a:t>•  </a:t>
            </a:r>
            <a:r>
              <a:rPr sz="1200" b="0" i="0">
                <a:solidFill>
                  <a:srgbClr val="14313B"/>
                </a:solidFill>
                <a:latin typeface="Calibri (MS)"/>
              </a:rPr>
              <a:t>Jumlah wisatawan, kedatangan, penurunan</a:t>
            </a:r>
          </a:p>
          <a:p>
            <a:pPr algn="l">
              <a:spcAft>
                <a:spcPts val="400"/>
              </a:spcAft>
            </a:pPr>
            <a:r>
              <a:rPr sz="1200" b="1" i="0">
                <a:solidFill>
                  <a:srgbClr val="0B5E6E"/>
                </a:solidFill>
                <a:latin typeface="Calibri (MS) Bold"/>
              </a:rPr>
              <a:t>•  </a:t>
            </a:r>
            <a:r>
              <a:rPr sz="1200" b="0" i="0">
                <a:solidFill>
                  <a:srgbClr val="14313B"/>
                </a:solidFill>
                <a:latin typeface="Calibri (MS)"/>
              </a:rPr>
              <a:t>Jumlah akomodasi, konstruksi, demolisi</a:t>
            </a:r>
          </a:p>
          <a:p>
            <a:pPr algn="l">
              <a:spcAft>
                <a:spcPts val="400"/>
              </a:spcAft>
            </a:pPr>
            <a:r>
              <a:rPr sz="1200" b="1" i="0">
                <a:solidFill>
                  <a:srgbClr val="0B5E6E"/>
                </a:solidFill>
                <a:latin typeface="Calibri (MS) Bold"/>
              </a:rPr>
              <a:t>•  </a:t>
            </a:r>
            <a:r>
              <a:rPr sz="1200" b="0" i="0">
                <a:solidFill>
                  <a:srgbClr val="14313B"/>
                </a:solidFill>
                <a:latin typeface="Calibri (MS)"/>
              </a:rPr>
              <a:t>Jumlah ODTW, pembangunan, penutupan</a:t>
            </a:r>
          </a:p>
          <a:p>
            <a:pPr algn="l">
              <a:spcAft>
                <a:spcPts val="400"/>
              </a:spcAft>
            </a:pPr>
            <a:r>
              <a:rPr sz="1200" b="1" i="0">
                <a:solidFill>
                  <a:srgbClr val="0B5E6E"/>
                </a:solidFill>
                <a:latin typeface="Calibri (MS) Bold"/>
              </a:rPr>
              <a:t>•  </a:t>
            </a:r>
            <a:r>
              <a:rPr sz="1200" b="0" i="0">
                <a:solidFill>
                  <a:srgbClr val="14313B"/>
                </a:solidFill>
                <a:latin typeface="Calibri (MS)"/>
              </a:rPr>
              <a:t>PDRB, pengeluaran, investasi pariwisata</a:t>
            </a:r>
          </a:p>
          <a:p>
            <a:pPr algn="l">
              <a:spcAft>
                <a:spcPts val="400"/>
              </a:spcAft>
            </a:pPr>
            <a:r>
              <a:rPr sz="1200" b="1" i="0">
                <a:solidFill>
                  <a:srgbClr val="0B5E6E"/>
                </a:solidFill>
                <a:latin typeface="Calibri (MS) Bold"/>
              </a:rPr>
              <a:t>•  </a:t>
            </a:r>
            <a:r>
              <a:rPr sz="1200" b="0" i="0">
                <a:solidFill>
                  <a:srgbClr val="14313B"/>
                </a:solidFill>
                <a:latin typeface="Calibri (MS)"/>
              </a:rPr>
              <a:t>Tenaga kerja, penyerapan, keluar</a:t>
            </a:r>
          </a:p>
          <a:p>
            <a:pPr algn="l">
              <a:spcAft>
                <a:spcPts val="400"/>
              </a:spcAft>
            </a:pPr>
            <a:r>
              <a:rPr sz="1200" b="1" i="0">
                <a:solidFill>
                  <a:srgbClr val="0B5E6E"/>
                </a:solidFill>
                <a:latin typeface="Calibri (MS) Bold"/>
              </a:rPr>
              <a:t>•  </a:t>
            </a:r>
            <a:r>
              <a:rPr sz="1200" b="0" i="0">
                <a:solidFill>
                  <a:srgbClr val="14313B"/>
                </a:solidFill>
                <a:latin typeface="Calibri (MS)"/>
              </a:rPr>
              <a:t>Lahan terbangun dan konversinya</a:t>
            </a:r>
          </a:p>
          <a:p>
            <a:pPr algn="l">
              <a:spcAft>
                <a:spcPts val="400"/>
              </a:spcAft>
            </a:pPr>
            <a:r>
              <a:rPr sz="1200" b="1" i="0">
                <a:solidFill>
                  <a:srgbClr val="0B5E6E"/>
                </a:solidFill>
                <a:latin typeface="Calibri (MS) Bold"/>
              </a:rPr>
              <a:t>•  </a:t>
            </a:r>
            <a:r>
              <a:rPr sz="1200" b="0" i="0">
                <a:solidFill>
                  <a:srgbClr val="14313B"/>
                </a:solidFill>
                <a:latin typeface="Calibri (MS)"/>
              </a:rPr>
              <a:t>Daya tarik, kepadatan, daya dukung lahan</a:t>
            </a:r>
          </a:p>
          <a:p>
            <a:pPr algn="l">
              <a:spcAft>
                <a:spcPts val="400"/>
              </a:spcAft>
            </a:pPr>
            <a:r>
              <a:rPr sz="1200" b="1" i="0">
                <a:solidFill>
                  <a:srgbClr val="0B5E6E"/>
                </a:solidFill>
                <a:latin typeface="Calibri (MS) Bold"/>
              </a:rPr>
              <a:t>•  </a:t>
            </a:r>
            <a:r>
              <a:rPr sz="1200" b="0" i="0">
                <a:solidFill>
                  <a:srgbClr val="14313B"/>
                </a:solidFill>
                <a:latin typeface="Calibri (MS)"/>
              </a:rPr>
              <a:t>Okupansi dan tekanan permintaan kamar</a:t>
            </a:r>
          </a:p>
        </p:txBody>
      </p:sp>
      <p:sp>
        <p:nvSpPr>
          <p:cNvPr id="29" name="Rounded Rectangle 28"/>
          <p:cNvSpPr/>
          <p:nvPr/>
        </p:nvSpPr>
        <p:spPr>
          <a:xfrm>
            <a:off x="6446520" y="1920240"/>
            <a:ext cx="5394960" cy="438912"/>
          </a:xfrm>
          <a:prstGeom prst="roundRect">
            <a:avLst>
              <a:gd name="adj" fmla="val 8000"/>
            </a:avLst>
          </a:prstGeom>
          <a:solidFill>
            <a:srgbClr val="2A9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Input dari luar model (eksogen): 35 parameter</a:t>
            </a:r>
          </a:p>
        </p:txBody>
      </p:sp>
      <p:sp>
        <p:nvSpPr>
          <p:cNvPr id="30" name="TextBox 29"/>
          <p:cNvSpPr txBox="1"/>
          <p:nvPr/>
        </p:nvSpPr>
        <p:spPr>
          <a:xfrm>
            <a:off x="6537960" y="2514600"/>
            <a:ext cx="5212080" cy="5120640"/>
          </a:xfrm>
          <a:prstGeom prst="rect">
            <a:avLst/>
          </a:prstGeom>
          <a:noFill/>
        </p:spPr>
        <p:txBody>
          <a:bodyPr wrap="square" anchor="t" lIns="0" rIns="0" tIns="0" bIns="0">
            <a:spAutoFit/>
          </a:bodyPr>
          <a:lstStyle/>
          <a:p>
            <a:pPr algn="l">
              <a:spcAft>
                <a:spcPts val="400"/>
              </a:spcAft>
            </a:pPr>
            <a:r>
              <a:rPr sz="1200" b="1" i="0">
                <a:solidFill>
                  <a:srgbClr val="0B5E6E"/>
                </a:solidFill>
                <a:latin typeface="Calibri (MS) Bold"/>
              </a:rPr>
              <a:t>•  </a:t>
            </a:r>
            <a:r>
              <a:rPr sz="1200" b="0" i="0">
                <a:solidFill>
                  <a:srgbClr val="14313B"/>
                </a:solidFill>
                <a:latin typeface="Calibri (MS)"/>
              </a:rPr>
              <a:t>Pendorong permintaan eksternal</a:t>
            </a:r>
          </a:p>
          <a:p>
            <a:pPr algn="l">
              <a:spcAft>
                <a:spcPts val="400"/>
              </a:spcAft>
            </a:pPr>
            <a:r>
              <a:rPr sz="1200" b="1" i="0">
                <a:solidFill>
                  <a:srgbClr val="0B5E6E"/>
                </a:solidFill>
                <a:latin typeface="Calibri (MS) Bold"/>
              </a:rPr>
              <a:t>•  </a:t>
            </a:r>
            <a:r>
              <a:rPr sz="1200" b="0" i="0">
                <a:solidFill>
                  <a:srgbClr val="14313B"/>
                </a:solidFill>
                <a:latin typeface="Calibri (MS)"/>
              </a:rPr>
              <a:t>Perilaku dan karakteristik wisatawan</a:t>
            </a:r>
          </a:p>
          <a:p>
            <a:pPr algn="l">
              <a:spcAft>
                <a:spcPts val="400"/>
              </a:spcAft>
            </a:pPr>
            <a:r>
              <a:rPr sz="1200" b="1" i="0">
                <a:solidFill>
                  <a:srgbClr val="0B5E6E"/>
                </a:solidFill>
                <a:latin typeface="Calibri (MS) Bold"/>
              </a:rPr>
              <a:t>•  </a:t>
            </a:r>
            <a:r>
              <a:rPr sz="1200" b="0" i="0">
                <a:solidFill>
                  <a:srgbClr val="14313B"/>
                </a:solidFill>
                <a:latin typeface="Calibri (MS)"/>
              </a:rPr>
              <a:t>Karakteristik struktural akomodasi</a:t>
            </a:r>
          </a:p>
          <a:p>
            <a:pPr algn="l">
              <a:spcAft>
                <a:spcPts val="400"/>
              </a:spcAft>
            </a:pPr>
            <a:r>
              <a:rPr sz="1200" b="1" i="0">
                <a:solidFill>
                  <a:srgbClr val="0B5E6E"/>
                </a:solidFill>
                <a:latin typeface="Calibri (MS) Bold"/>
              </a:rPr>
              <a:t>•  </a:t>
            </a:r>
            <a:r>
              <a:rPr sz="1200" b="0" i="0">
                <a:solidFill>
                  <a:srgbClr val="14313B"/>
                </a:solidFill>
                <a:latin typeface="Calibri (MS)"/>
              </a:rPr>
              <a:t>Koefisien hasil derivasi data historis</a:t>
            </a:r>
          </a:p>
          <a:p>
            <a:pPr algn="l">
              <a:spcAft>
                <a:spcPts val="400"/>
              </a:spcAft>
            </a:pPr>
            <a:r>
              <a:rPr sz="1200" b="1" i="0">
                <a:solidFill>
                  <a:srgbClr val="0B5E6E"/>
                </a:solidFill>
                <a:latin typeface="Calibri (MS) Bold"/>
              </a:rPr>
              <a:t>•  </a:t>
            </a:r>
            <a:r>
              <a:rPr sz="1200" b="0" i="0">
                <a:solidFill>
                  <a:srgbClr val="14313B"/>
                </a:solidFill>
                <a:latin typeface="Calibri (MS)"/>
              </a:rPr>
              <a:t>Koefisien dan batas kebutuhan lahan</a:t>
            </a:r>
          </a:p>
          <a:p>
            <a:pPr algn="l">
              <a:spcAft>
                <a:spcPts val="400"/>
              </a:spcAft>
            </a:pPr>
            <a:r>
              <a:rPr sz="1200" b="1" i="0">
                <a:solidFill>
                  <a:srgbClr val="0B5E6E"/>
                </a:solidFill>
                <a:latin typeface="Calibri (MS) Bold"/>
              </a:rPr>
              <a:t>•  </a:t>
            </a:r>
            <a:r>
              <a:rPr sz="1200" b="0" i="0">
                <a:solidFill>
                  <a:srgbClr val="14313B"/>
                </a:solidFill>
                <a:latin typeface="Calibri (MS)"/>
              </a:rPr>
              <a:t>Parameter dan nilai referensi daya tarik</a:t>
            </a:r>
          </a:p>
          <a:p>
            <a:pPr algn="l">
              <a:spcAft>
                <a:spcPts val="400"/>
              </a:spcAft>
            </a:pPr>
            <a:r>
              <a:rPr sz="1200" b="1" i="0">
                <a:solidFill>
                  <a:srgbClr val="0B5E6E"/>
                </a:solidFill>
                <a:latin typeface="Calibri (MS) Bold"/>
              </a:rPr>
              <a:t>•  </a:t>
            </a:r>
            <a:r>
              <a:rPr sz="1200" b="0" i="0">
                <a:solidFill>
                  <a:srgbClr val="14313B"/>
                </a:solidFill>
                <a:latin typeface="Calibri (MS)"/>
              </a:rPr>
              <a:t>Parameter tenaga kerja</a:t>
            </a:r>
          </a:p>
          <a:p>
            <a:pPr algn="l">
              <a:spcAft>
                <a:spcPts val="400"/>
              </a:spcAft>
            </a:pPr>
            <a:r>
              <a:rPr sz="1200" b="1" i="0">
                <a:solidFill>
                  <a:srgbClr val="0B5E6E"/>
                </a:solidFill>
                <a:latin typeface="Calibri (MS) Bold"/>
              </a:rPr>
              <a:t>•  </a:t>
            </a:r>
            <a:r>
              <a:rPr sz="1200" b="0" i="0">
                <a:solidFill>
                  <a:srgbClr val="14313B"/>
                </a:solidFill>
                <a:latin typeface="Calibri (MS)"/>
              </a:rPr>
              <a:t>Pembangunan ODTW non-investasi</a:t>
            </a:r>
          </a:p>
          <a:p>
            <a:pPr algn="l">
              <a:spcAft>
                <a:spcPts val="400"/>
              </a:spcAft>
            </a:pPr>
            <a:r>
              <a:rPr sz="1200" b="1" i="0">
                <a:solidFill>
                  <a:srgbClr val="0B5E6E"/>
                </a:solidFill>
                <a:latin typeface="Calibri (MS) Bold"/>
              </a:rPr>
              <a:t>•  </a:t>
            </a:r>
            <a:r>
              <a:rPr sz="1200" b="0" i="0">
                <a:solidFill>
                  <a:srgbClr val="14313B"/>
                </a:solidFill>
                <a:latin typeface="Calibri (MS)"/>
              </a:rPr>
              <a:t>Dua tuas kebijakan</a:t>
            </a:r>
          </a:p>
        </p:txBody>
      </p:sp>
      <p:sp>
        <p:nvSpPr>
          <p:cNvPr id="31" name="Rounded Rectangle 30"/>
          <p:cNvSpPr/>
          <p:nvPr/>
        </p:nvSpPr>
        <p:spPr>
          <a:xfrm>
            <a:off x="12070080" y="1920240"/>
            <a:ext cx="5394960" cy="438912"/>
          </a:xfrm>
          <a:prstGeom prst="roundRect">
            <a:avLst>
              <a:gd name="adj" fmla="val 8000"/>
            </a:avLst>
          </a:prstGeom>
          <a:solidFill>
            <a:srgbClr val="8A97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Dikeluarkan: 15 aspek</a:t>
            </a:r>
          </a:p>
        </p:txBody>
      </p:sp>
      <p:sp>
        <p:nvSpPr>
          <p:cNvPr id="32" name="TextBox 31"/>
          <p:cNvSpPr txBox="1"/>
          <p:nvPr/>
        </p:nvSpPr>
        <p:spPr>
          <a:xfrm>
            <a:off x="12161520" y="2514600"/>
            <a:ext cx="5212080" cy="5120640"/>
          </a:xfrm>
          <a:prstGeom prst="rect">
            <a:avLst/>
          </a:prstGeom>
          <a:noFill/>
        </p:spPr>
        <p:txBody>
          <a:bodyPr wrap="square" anchor="t" lIns="0" rIns="0" tIns="0" bIns="0">
            <a:spAutoFit/>
          </a:bodyPr>
          <a:lstStyle/>
          <a:p>
            <a:pPr algn="l">
              <a:spcAft>
                <a:spcPts val="400"/>
              </a:spcAft>
            </a:pPr>
            <a:r>
              <a:rPr sz="1200" b="1" i="0">
                <a:solidFill>
                  <a:srgbClr val="0B5E6E"/>
                </a:solidFill>
                <a:latin typeface="Calibri (MS) Bold"/>
              </a:rPr>
              <a:t>•  </a:t>
            </a:r>
            <a:r>
              <a:rPr sz="1200" b="0" i="0">
                <a:solidFill>
                  <a:srgbClr val="14313B"/>
                </a:solidFill>
                <a:latin typeface="Calibri (MS)"/>
              </a:rPr>
              <a:t>Pemisahan wisman dan wisnus</a:t>
            </a:r>
          </a:p>
          <a:p>
            <a:pPr algn="l">
              <a:spcAft>
                <a:spcPts val="400"/>
              </a:spcAft>
            </a:pPr>
            <a:r>
              <a:rPr sz="1200" b="1" i="0">
                <a:solidFill>
                  <a:srgbClr val="0B5E6E"/>
                </a:solidFill>
                <a:latin typeface="Calibri (MS) Bold"/>
              </a:rPr>
              <a:t>•  </a:t>
            </a:r>
            <a:r>
              <a:rPr sz="1200" b="0" i="0">
                <a:solidFill>
                  <a:srgbClr val="14313B"/>
                </a:solidFill>
                <a:latin typeface="Calibri (MS)"/>
              </a:rPr>
              <a:t>Harga dan daya saing harga</a:t>
            </a:r>
          </a:p>
          <a:p>
            <a:pPr algn="l">
              <a:spcAft>
                <a:spcPts val="400"/>
              </a:spcAft>
            </a:pPr>
            <a:r>
              <a:rPr sz="1200" b="1" i="0">
                <a:solidFill>
                  <a:srgbClr val="0B5E6E"/>
                </a:solidFill>
                <a:latin typeface="Calibri (MS) Bold"/>
              </a:rPr>
              <a:t>•  </a:t>
            </a:r>
            <a:r>
              <a:rPr sz="1200" b="0" i="0">
                <a:solidFill>
                  <a:srgbClr val="14313B"/>
                </a:solidFill>
                <a:latin typeface="Calibri (MS)"/>
              </a:rPr>
              <a:t>Aksesibilitas dan transportasi</a:t>
            </a:r>
          </a:p>
          <a:p>
            <a:pPr algn="l">
              <a:spcAft>
                <a:spcPts val="400"/>
              </a:spcAft>
            </a:pPr>
            <a:r>
              <a:rPr sz="1200" b="1" i="0">
                <a:solidFill>
                  <a:srgbClr val="0B5E6E"/>
                </a:solidFill>
                <a:latin typeface="Calibri (MS) Bold"/>
              </a:rPr>
              <a:t>•  </a:t>
            </a:r>
            <a:r>
              <a:rPr sz="1200" b="0" i="0">
                <a:solidFill>
                  <a:srgbClr val="14313B"/>
                </a:solidFill>
                <a:latin typeface="Calibri (MS)"/>
              </a:rPr>
              <a:t>Promosi dan citra destinasi</a:t>
            </a:r>
          </a:p>
          <a:p>
            <a:pPr algn="l">
              <a:spcAft>
                <a:spcPts val="400"/>
              </a:spcAft>
            </a:pPr>
            <a:r>
              <a:rPr sz="1200" b="1" i="0">
                <a:solidFill>
                  <a:srgbClr val="0B5E6E"/>
                </a:solidFill>
                <a:latin typeface="Calibri (MS) Bold"/>
              </a:rPr>
              <a:t>•  </a:t>
            </a:r>
            <a:r>
              <a:rPr sz="1200" b="0" i="0">
                <a:solidFill>
                  <a:srgbClr val="14313B"/>
                </a:solidFill>
                <a:latin typeface="Calibri (MS)"/>
              </a:rPr>
              <a:t>Kualitas SDM dan sertifikasi usaha</a:t>
            </a:r>
          </a:p>
          <a:p>
            <a:pPr algn="l">
              <a:spcAft>
                <a:spcPts val="400"/>
              </a:spcAft>
            </a:pPr>
            <a:r>
              <a:rPr sz="1200" b="1" i="0">
                <a:solidFill>
                  <a:srgbClr val="0B5E6E"/>
                </a:solidFill>
                <a:latin typeface="Calibri (MS) Bold"/>
              </a:rPr>
              <a:t>•  </a:t>
            </a:r>
            <a:r>
              <a:rPr sz="1200" b="0" i="0">
                <a:solidFill>
                  <a:srgbClr val="14313B"/>
                </a:solidFill>
                <a:latin typeface="Calibri (MS)"/>
              </a:rPr>
              <a:t>Musim dan fluktuasi bulanan</a:t>
            </a:r>
          </a:p>
          <a:p>
            <a:pPr algn="l">
              <a:spcAft>
                <a:spcPts val="400"/>
              </a:spcAft>
            </a:pPr>
            <a:r>
              <a:rPr sz="1200" b="1" i="0">
                <a:solidFill>
                  <a:srgbClr val="0B5E6E"/>
                </a:solidFill>
                <a:latin typeface="Calibri (MS) Bold"/>
              </a:rPr>
              <a:t>•  </a:t>
            </a:r>
            <a:r>
              <a:rPr sz="1200" b="0" i="0">
                <a:solidFill>
                  <a:srgbClr val="14313B"/>
                </a:solidFill>
                <a:latin typeface="Calibri (MS)"/>
              </a:rPr>
              <a:t>Kejadian mendadak (pandemi, bencana)</a:t>
            </a:r>
          </a:p>
          <a:p>
            <a:pPr algn="l">
              <a:spcAft>
                <a:spcPts val="400"/>
              </a:spcAft>
            </a:pPr>
            <a:r>
              <a:rPr sz="1200" b="1" i="0">
                <a:solidFill>
                  <a:srgbClr val="0B5E6E"/>
                </a:solidFill>
                <a:latin typeface="Calibri (MS) Bold"/>
              </a:rPr>
              <a:t>•  </a:t>
            </a:r>
            <a:r>
              <a:rPr sz="1200" b="0" i="0">
                <a:solidFill>
                  <a:srgbClr val="14313B"/>
                </a:solidFill>
                <a:latin typeface="Calibri (MS)"/>
              </a:rPr>
              <a:t>Persaingan antardestinasi</a:t>
            </a:r>
          </a:p>
          <a:p>
            <a:pPr algn="l">
              <a:spcAft>
                <a:spcPts val="400"/>
              </a:spcAft>
            </a:pPr>
            <a:r>
              <a:rPr sz="1200" b="1" i="0">
                <a:solidFill>
                  <a:srgbClr val="0B5E6E"/>
                </a:solidFill>
                <a:latin typeface="Calibri (MS) Bold"/>
              </a:rPr>
              <a:t>•  </a:t>
            </a:r>
            <a:r>
              <a:rPr sz="1200" b="0" i="0">
                <a:solidFill>
                  <a:srgbClr val="14313B"/>
                </a:solidFill>
                <a:latin typeface="Calibri (MS)"/>
              </a:rPr>
              <a:t>Zonasi rinci RTRW</a:t>
            </a:r>
          </a:p>
          <a:p>
            <a:pPr algn="l">
              <a:spcAft>
                <a:spcPts val="400"/>
              </a:spcAft>
            </a:pPr>
            <a:r>
              <a:rPr sz="1200" b="1" i="0">
                <a:solidFill>
                  <a:srgbClr val="0B5E6E"/>
                </a:solidFill>
                <a:latin typeface="Calibri (MS) Bold"/>
              </a:rPr>
              <a:t>•  </a:t>
            </a:r>
            <a:r>
              <a:rPr sz="1200" b="0" i="0">
                <a:solidFill>
                  <a:srgbClr val="14313B"/>
                </a:solidFill>
                <a:latin typeface="Calibri (MS)"/>
              </a:rPr>
              <a:t>Dampak lingkungan dan daya dukung sosial</a:t>
            </a:r>
          </a:p>
          <a:p>
            <a:pPr algn="l">
              <a:spcAft>
                <a:spcPts val="400"/>
              </a:spcAft>
            </a:pPr>
            <a:r>
              <a:rPr sz="1200" b="1" i="0">
                <a:solidFill>
                  <a:srgbClr val="0B5E6E"/>
                </a:solidFill>
                <a:latin typeface="Calibri (MS) Bold"/>
              </a:rPr>
              <a:t>•  </a:t>
            </a:r>
            <a:r>
              <a:rPr sz="1200" b="0" i="0">
                <a:solidFill>
                  <a:srgbClr val="14313B"/>
                </a:solidFill>
                <a:latin typeface="Calibri (MS)"/>
              </a:rPr>
              <a:t>Distribusi manfaat ekonomi</a:t>
            </a:r>
          </a:p>
          <a:p>
            <a:pPr algn="l">
              <a:spcAft>
                <a:spcPts val="400"/>
              </a:spcAft>
            </a:pPr>
            <a:r>
              <a:rPr sz="1200" b="1" i="0">
                <a:solidFill>
                  <a:srgbClr val="0B5E6E"/>
                </a:solidFill>
                <a:latin typeface="Calibri (MS) Bold"/>
              </a:rPr>
              <a:t>•  </a:t>
            </a:r>
            <a:r>
              <a:rPr sz="1200" b="0" i="0">
                <a:solidFill>
                  <a:srgbClr val="14313B"/>
                </a:solidFill>
                <a:latin typeface="Calibri (MS)"/>
              </a:rPr>
              <a:t>Investasi pemerintah; perpindahan TK; harga lahan</a:t>
            </a:r>
          </a:p>
        </p:txBody>
      </p:sp>
      <p:sp>
        <p:nvSpPr>
          <p:cNvPr id="33" name="Rounded Rectangle 32"/>
          <p:cNvSpPr/>
          <p:nvPr/>
        </p:nvSpPr>
        <p:spPr>
          <a:xfrm>
            <a:off x="822960" y="78638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Konsekuensinya, hasil model dibaca sebagai lintasan jangka panjang dalam kondisi normal; model tidak dipakai menjelaskan harga, promosi, musim, atau kejadian mendadak. Daftar per variabel ada di dua slide berikut.</a:t>
            </a:r>
          </a:p>
        </p:txBody>
      </p:sp>
      <p:sp>
        <p:nvSpPr>
          <p:cNvPr id="34" name="TextBox 3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13) dan 4.4.2.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30 · Batas Model (2/3): Variabel Eksogen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dan alasan setiap parameter diperlakukan sebagai input dari luar model</a:t>
            </a:r>
          </a:p>
        </p:txBody>
      </p:sp>
      <p:graphicFrame>
        <p:nvGraphicFramePr>
          <p:cNvPr id="27" name="Table 26"/>
          <p:cNvGraphicFramePr>
            <a:graphicFrameLocks noGrp="1"/>
          </p:cNvGraphicFramePr>
          <p:nvPr/>
        </p:nvGraphicFramePr>
        <p:xfrm>
          <a:off x="822960" y="1874519"/>
          <a:ext cx="16642076" cy="6949440"/>
        </p:xfrm>
        <a:graphic>
          <a:graphicData uri="http://schemas.openxmlformats.org/drawingml/2006/table">
            <a:tbl>
              <a:tblPr firstRow="1" bandRow="1">
                <a:tableStyleId>{5C22544A-7EE6-4342-B048-85BDC9FD1C3A}</a:tableStyleId>
              </a:tblPr>
              <a:tblGrid>
                <a:gridCol w="548639"/>
                <a:gridCol w="4571999"/>
                <a:gridCol w="2926079"/>
                <a:gridCol w="8595359"/>
              </a:tblGrid>
              <a:tr h="36576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Variabel eksogen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Nilai</a:t>
                      </a:r>
                    </a:p>
                  </a:txBody>
                  <a:tcPr marL="73152" marR="73152" marT="36576" marB="36576" anchor="ctr">
                    <a:solidFill>
                      <a:srgbClr val="0B5E6E"/>
                    </a:solidFill>
                  </a:tcPr>
                </a:tc>
                <a:tc>
                  <a:txBody>
                    <a:bodyPr wrap="square"/>
                    <a:lstStyle/>
                    <a:p>
                      <a:r>
                        <a:rPr sz="1050" b="1" i="0">
                          <a:solidFill>
                            <a:srgbClr val="FFFFFF"/>
                          </a:solidFill>
                          <a:latin typeface="Calibri (MS) Bold"/>
                        </a:rPr>
                        <a:t>Alasan diperlakukan eksogen</a:t>
                      </a:r>
                    </a:p>
                  </a:txBody>
                  <a:tcPr marL="73152" marR="73152" marT="36576" marB="36576" anchor="ctr">
                    <a:solidFill>
                      <a:srgbClr val="0B5E6E"/>
                    </a:solidFill>
                  </a:tcPr>
                </a:tc>
              </a:tr>
              <a:tr h="365760">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r>
                        <a:rPr sz="1050" b="0" i="0">
                          <a:solidFill>
                            <a:srgbClr val="14313B"/>
                          </a:solidFill>
                          <a:latin typeface="Calibri (MS)"/>
                        </a:rPr>
                        <a:t>Laju Pertumbuhan Eksternal</a:t>
                      </a:r>
                    </a:p>
                  </a:txBody>
                  <a:tcPr marL="73152" marR="73152" marT="36576" marB="36576" anchor="ctr">
                    <a:solidFill>
                      <a:srgbClr val="FFFFFF"/>
                    </a:solidFill>
                  </a:tcPr>
                </a:tc>
                <a:tc>
                  <a:txBody>
                    <a:bodyPr wrap="square"/>
                    <a:lstStyle/>
                    <a:p>
                      <a:pPr algn="ctr"/>
                      <a:r>
                        <a:rPr sz="1050" b="0" i="0">
                          <a:solidFill>
                            <a:srgbClr val="14313B"/>
                          </a:solidFill>
                          <a:latin typeface="Calibri (MS)"/>
                        </a:rPr>
                        <a:t>0,27726 /th</a:t>
                      </a:r>
                    </a:p>
                  </a:txBody>
                  <a:tcPr marL="73152" marR="73152" marT="36576" marB="36576" anchor="ctr">
                    <a:solidFill>
                      <a:srgbClr val="FFFFFF"/>
                    </a:solidFill>
                  </a:tcPr>
                </a:tc>
                <a:tc>
                  <a:txBody>
                    <a:bodyPr wrap="square"/>
                    <a:lstStyle/>
                    <a:p>
                      <a:r>
                        <a:rPr sz="1050" b="0" i="0">
                          <a:solidFill>
                            <a:srgbClr val="14313B"/>
                          </a:solidFill>
                          <a:latin typeface="Calibri (MS)"/>
                        </a:rPr>
                        <a:t>Tren permintaan wisata nasional, di luar kendali DIY</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a:t>
                      </a:r>
                    </a:p>
                  </a:txBody>
                  <a:tcPr marL="73152" marR="73152" marT="36576" marB="36576" anchor="ctr">
                    <a:solidFill>
                      <a:srgbClr val="EAF8FA"/>
                    </a:solidFill>
                  </a:tcPr>
                </a:tc>
                <a:tc>
                  <a:txBody>
                    <a:bodyPr wrap="square"/>
                    <a:lstStyle/>
                    <a:p>
                      <a:r>
                        <a:rPr sz="1050" b="0" i="0">
                          <a:solidFill>
                            <a:srgbClr val="14313B"/>
                          </a:solidFill>
                          <a:latin typeface="Calibri (MS)"/>
                        </a:rPr>
                        <a:t>Laju Penurunan Dasar</a:t>
                      </a:r>
                    </a:p>
                  </a:txBody>
                  <a:tcPr marL="73152" marR="73152" marT="36576" marB="36576" anchor="ctr">
                    <a:solidFill>
                      <a:srgbClr val="EAF8FA"/>
                    </a:solidFill>
                  </a:tcPr>
                </a:tc>
                <a:tc>
                  <a:txBody>
                    <a:bodyPr wrap="square"/>
                    <a:lstStyle/>
                    <a:p>
                      <a:pPr algn="ctr"/>
                      <a:r>
                        <a:rPr sz="1050" b="0" i="0">
                          <a:solidFill>
                            <a:srgbClr val="14313B"/>
                          </a:solidFill>
                          <a:latin typeface="Calibri (MS)"/>
                        </a:rPr>
                        <a:t>0,207945 /th</a:t>
                      </a:r>
                    </a:p>
                  </a:txBody>
                  <a:tcPr marL="73152" marR="73152" marT="36576" marB="36576" anchor="ctr">
                    <a:solidFill>
                      <a:srgbClr val="EAF8FA"/>
                    </a:solidFill>
                  </a:tcPr>
                </a:tc>
                <a:tc>
                  <a:txBody>
                    <a:bodyPr wrap="square"/>
                    <a:lstStyle/>
                    <a:p>
                      <a:r>
                        <a:rPr sz="1050" b="0" i="0">
                          <a:solidFill>
                            <a:srgbClr val="14313B"/>
                          </a:solidFill>
                          <a:latin typeface="Calibri (MS)"/>
                        </a:rPr>
                        <a:t>Preferensi dan perpindahan pasar wisatawan</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3</a:t>
                      </a:r>
                    </a:p>
                  </a:txBody>
                  <a:tcPr marL="73152" marR="73152" marT="36576" marB="36576" anchor="ctr">
                    <a:solidFill>
                      <a:srgbClr val="FFFFFF"/>
                    </a:solidFill>
                  </a:tcPr>
                </a:tc>
                <a:tc>
                  <a:txBody>
                    <a:bodyPr wrap="square"/>
                    <a:lstStyle/>
                    <a:p>
                      <a:r>
                        <a:rPr sz="1050" b="0" i="0">
                          <a:solidFill>
                            <a:srgbClr val="14313B"/>
                          </a:solidFill>
                          <a:latin typeface="Calibri (MS)"/>
                        </a:rPr>
                        <a:t>Pengeluaran per Kunjungan</a:t>
                      </a:r>
                    </a:p>
                  </a:txBody>
                  <a:tcPr marL="73152" marR="73152" marT="36576" marB="36576" anchor="ctr">
                    <a:solidFill>
                      <a:srgbClr val="FFFFFF"/>
                    </a:solidFill>
                  </a:tcPr>
                </a:tc>
                <a:tc>
                  <a:txBody>
                    <a:bodyPr wrap="square"/>
                    <a:lstStyle/>
                    <a:p>
                      <a:pPr algn="ctr"/>
                      <a:r>
                        <a:rPr sz="1050" b="0" i="0">
                          <a:solidFill>
                            <a:srgbClr val="14313B"/>
                          </a:solidFill>
                          <a:latin typeface="Calibri (MS)"/>
                        </a:rPr>
                        <a:t>0,00272 miliar Rp</a:t>
                      </a:r>
                    </a:p>
                  </a:txBody>
                  <a:tcPr marL="73152" marR="73152" marT="36576" marB="36576" anchor="ctr">
                    <a:solidFill>
                      <a:srgbClr val="FFFFFF"/>
                    </a:solidFill>
                  </a:tcPr>
                </a:tc>
                <a:tc>
                  <a:txBody>
                    <a:bodyPr wrap="square"/>
                    <a:lstStyle/>
                    <a:p>
                      <a:r>
                        <a:rPr sz="1050" b="0" i="0">
                          <a:solidFill>
                            <a:srgbClr val="14313B"/>
                          </a:solidFill>
                          <a:latin typeface="Calibri (MS)"/>
                        </a:rPr>
                        <a:t>Pola belanja wisatawan</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4</a:t>
                      </a:r>
                    </a:p>
                  </a:txBody>
                  <a:tcPr marL="73152" marR="73152" marT="36576" marB="36576" anchor="ctr">
                    <a:solidFill>
                      <a:srgbClr val="EAF8FA"/>
                    </a:solidFill>
                  </a:tcPr>
                </a:tc>
                <a:tc>
                  <a:txBody>
                    <a:bodyPr wrap="square"/>
                    <a:lstStyle/>
                    <a:p>
                      <a:r>
                        <a:rPr sz="105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pPr algn="ctr"/>
                      <a:r>
                        <a:rPr sz="1050" b="0" i="0">
                          <a:solidFill>
                            <a:srgbClr val="14313B"/>
                          </a:solidFill>
                          <a:latin typeface="Calibri (MS)"/>
                        </a:rPr>
                        <a:t>0,1531</a:t>
                      </a:r>
                    </a:p>
                  </a:txBody>
                  <a:tcPr marL="73152" marR="73152" marT="36576" marB="36576" anchor="ctr">
                    <a:solidFill>
                      <a:srgbClr val="EAF8FA"/>
                    </a:solidFill>
                  </a:tcPr>
                </a:tc>
                <a:tc>
                  <a:txBody>
                    <a:bodyPr wrap="square"/>
                    <a:lstStyle/>
                    <a:p>
                      <a:r>
                        <a:rPr sz="1050" b="0" i="0">
                          <a:solidFill>
                            <a:srgbClr val="14313B"/>
                          </a:solidFill>
                          <a:latin typeface="Calibri (MS)"/>
                        </a:rPr>
                        <a:t>Struktur nilai tambah sektor, berubah lambat</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5</a:t>
                      </a:r>
                    </a:p>
                  </a:txBody>
                  <a:tcPr marL="73152" marR="73152" marT="36576" marB="36576" anchor="ctr">
                    <a:solidFill>
                      <a:srgbClr val="FFFFFF"/>
                    </a:solidFill>
                  </a:tcPr>
                </a:tc>
                <a:tc>
                  <a:txBody>
                    <a:bodyPr wrap="square"/>
                    <a:lstStyle/>
                    <a:p>
                      <a:r>
                        <a:rPr sz="1050" b="0" i="0">
                          <a:solidFill>
                            <a:srgbClr val="14313B"/>
                          </a:solidFill>
                          <a:latin typeface="Calibri (MS)"/>
                        </a:rPr>
                        <a:t>Rasio Investasi thd PDRB</a:t>
                      </a:r>
                    </a:p>
                  </a:txBody>
                  <a:tcPr marL="73152" marR="73152" marT="36576" marB="36576" anchor="ctr">
                    <a:solidFill>
                      <a:srgbClr val="FFFFFF"/>
                    </a:solidFill>
                  </a:tcPr>
                </a:tc>
                <a:tc>
                  <a:txBody>
                    <a:bodyPr wrap="square"/>
                    <a:lstStyle/>
                    <a:p>
                      <a:pPr algn="ctr"/>
                      <a:r>
                        <a:rPr sz="1050" b="0" i="0">
                          <a:solidFill>
                            <a:srgbClr val="14313B"/>
                          </a:solidFill>
                          <a:latin typeface="Calibri (MS)"/>
                        </a:rPr>
                        <a:t>0,0488</a:t>
                      </a:r>
                    </a:p>
                  </a:txBody>
                  <a:tcPr marL="73152" marR="73152" marT="36576" marB="36576" anchor="ctr">
                    <a:solidFill>
                      <a:srgbClr val="FFFFFF"/>
                    </a:solidFill>
                  </a:tcPr>
                </a:tc>
                <a:tc>
                  <a:txBody>
                    <a:bodyPr wrap="square"/>
                    <a:lstStyle/>
                    <a:p>
                      <a:r>
                        <a:rPr sz="1050" b="0" i="0">
                          <a:solidFill>
                            <a:srgbClr val="14313B"/>
                          </a:solidFill>
                          <a:latin typeface="Calibri (MS)"/>
                        </a:rPr>
                        <a:t>Perilaku investasi historis 2015–2025</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6</a:t>
                      </a:r>
                    </a:p>
                  </a:txBody>
                  <a:tcPr marL="73152" marR="73152" marT="36576" marB="36576" anchor="ctr">
                    <a:solidFill>
                      <a:srgbClr val="EAF8FA"/>
                    </a:solidFill>
                  </a:tcPr>
                </a:tc>
                <a:tc>
                  <a:txBody>
                    <a:bodyPr wrap="square"/>
                    <a:lstStyle/>
                    <a:p>
                      <a:r>
                        <a:rPr sz="1050" b="0" i="0">
                          <a:solidFill>
                            <a:srgbClr val="14313B"/>
                          </a:solidFill>
                          <a:latin typeface="Calibri (MS)"/>
                        </a:rPr>
                        <a:t>Sensitivitas Konstruksi thd TPK</a:t>
                      </a:r>
                    </a:p>
                  </a:txBody>
                  <a:tcPr marL="73152" marR="73152" marT="36576" marB="36576" anchor="ctr">
                    <a:solidFill>
                      <a:srgbClr val="EAF8FA"/>
                    </a:solidFill>
                  </a:tcPr>
                </a:tc>
                <a:tc>
                  <a:txBody>
                    <a:bodyPr wrap="square"/>
                    <a:lstStyle/>
                    <a:p>
                      <a:pPr algn="ctr"/>
                      <a:r>
                        <a:rPr sz="1050" b="0" i="0">
                          <a:solidFill>
                            <a:srgbClr val="14313B"/>
                          </a:solidFill>
                          <a:latin typeface="Calibri (MS)"/>
                        </a:rPr>
                        <a:t>2,3139</a:t>
                      </a:r>
                    </a:p>
                  </a:txBody>
                  <a:tcPr marL="73152" marR="73152" marT="36576" marB="36576" anchor="ctr">
                    <a:solidFill>
                      <a:srgbClr val="EAF8FA"/>
                    </a:solidFill>
                  </a:tcPr>
                </a:tc>
                <a:tc>
                  <a:txBody>
                    <a:bodyPr wrap="square"/>
                    <a:lstStyle/>
                    <a:p>
                      <a:r>
                        <a:rPr sz="1050" b="0" i="0">
                          <a:solidFill>
                            <a:srgbClr val="14313B"/>
                          </a:solidFill>
                          <a:latin typeface="Calibri (MS)"/>
                        </a:rPr>
                        <a:t>Derivasi identitas stok-aliran akomodasi</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7</a:t>
                      </a:r>
                    </a:p>
                  </a:txBody>
                  <a:tcPr marL="73152" marR="73152" marT="36576" marB="36576" anchor="ctr">
                    <a:solidFill>
                      <a:srgbClr val="FFFFFF"/>
                    </a:solidFill>
                  </a:tcPr>
                </a:tc>
                <a:tc>
                  <a:txBody>
                    <a:bodyPr wrap="square"/>
                    <a:lstStyle/>
                    <a:p>
                      <a:r>
                        <a:rPr sz="1050" b="0" i="0">
                          <a:solidFill>
                            <a:srgbClr val="14313B"/>
                          </a:solidFill>
                          <a:latin typeface="Calibri (MS)"/>
                        </a:rPr>
                        <a:t>TPK Ambang</a:t>
                      </a:r>
                    </a:p>
                  </a:txBody>
                  <a:tcPr marL="73152" marR="73152" marT="36576" marB="36576" anchor="ctr">
                    <a:solidFill>
                      <a:srgbClr val="FFFFFF"/>
                    </a:solidFill>
                  </a:tcPr>
                </a:tc>
                <a:tc>
                  <a:txBody>
                    <a:bodyPr wrap="square"/>
                    <a:lstStyle/>
                    <a:p>
                      <a:pPr algn="ctr"/>
                      <a:r>
                        <a:rPr sz="1050" b="0" i="0">
                          <a:solidFill>
                            <a:srgbClr val="14313B"/>
                          </a:solidFill>
                          <a:latin typeface="Calibri (MS)"/>
                        </a:rPr>
                        <a:t>0,275</a:t>
                      </a:r>
                    </a:p>
                  </a:txBody>
                  <a:tcPr marL="73152" marR="73152" marT="36576" marB="36576" anchor="ctr">
                    <a:solidFill>
                      <a:srgbClr val="FFFFFF"/>
                    </a:solidFill>
                  </a:tcPr>
                </a:tc>
                <a:tc>
                  <a:txBody>
                    <a:bodyPr wrap="square"/>
                    <a:lstStyle/>
                    <a:p>
                      <a:r>
                        <a:rPr sz="1050" b="0" i="0">
                          <a:solidFill>
                            <a:srgbClr val="14313B"/>
                          </a:solidFill>
                          <a:latin typeface="Calibri (MS)"/>
                        </a:rPr>
                        <a:t>Tingkat hunian pemicu konstruksi, dari data okupansi</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8</a:t>
                      </a:r>
                    </a:p>
                  </a:txBody>
                  <a:tcPr marL="73152" marR="73152" marT="36576" marB="36576" anchor="ctr">
                    <a:solidFill>
                      <a:srgbClr val="EAF8FA"/>
                    </a:solidFill>
                  </a:tcPr>
                </a:tc>
                <a:tc>
                  <a:txBody>
                    <a:bodyPr wrap="square"/>
                    <a:lstStyle/>
                    <a:p>
                      <a:r>
                        <a:rPr sz="1050" b="0" i="0">
                          <a:solidFill>
                            <a:srgbClr val="14313B"/>
                          </a:solidFill>
                          <a:latin typeface="Calibri (MS)"/>
                        </a:rPr>
                        <a:t>Laju Demolisi Dasar</a:t>
                      </a:r>
                    </a:p>
                  </a:txBody>
                  <a:tcPr marL="73152" marR="73152" marT="36576" marB="36576" anchor="ctr">
                    <a:solidFill>
                      <a:srgbClr val="EAF8FA"/>
                    </a:solidFill>
                  </a:tcPr>
                </a:tc>
                <a:tc>
                  <a:txBody>
                    <a:bodyPr wrap="square"/>
                    <a:lstStyle/>
                    <a:p>
                      <a:pPr algn="ctr"/>
                      <a:r>
                        <a:rPr sz="1050" b="0" i="0">
                          <a:solidFill>
                            <a:srgbClr val="14313B"/>
                          </a:solidFill>
                          <a:latin typeface="Calibri (MS)"/>
                        </a:rPr>
                        <a:t>0,05 /th</a:t>
                      </a:r>
                    </a:p>
                  </a:txBody>
                  <a:tcPr marL="73152" marR="73152" marT="36576" marB="36576" anchor="ctr">
                    <a:solidFill>
                      <a:srgbClr val="EAF8FA"/>
                    </a:solidFill>
                  </a:tcPr>
                </a:tc>
                <a:tc>
                  <a:txBody>
                    <a:bodyPr wrap="square"/>
                    <a:lstStyle/>
                    <a:p>
                      <a:r>
                        <a:rPr sz="1050" b="0" i="0">
                          <a:solidFill>
                            <a:srgbClr val="14313B"/>
                          </a:solidFill>
                          <a:latin typeface="Calibri (MS)"/>
                        </a:rPr>
                        <a:t>Umur operasi usaha akomodasi</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9</a:t>
                      </a:r>
                    </a:p>
                  </a:txBody>
                  <a:tcPr marL="73152" marR="73152" marT="36576" marB="36576" anchor="ctr">
                    <a:solidFill>
                      <a:srgbClr val="FFFFFF"/>
                    </a:solidFill>
                  </a:tcPr>
                </a:tc>
                <a:tc>
                  <a:txBody>
                    <a:bodyPr wrap="square"/>
                    <a:lstStyle/>
                    <a:p>
                      <a:r>
                        <a:rPr sz="1050" b="0" i="0">
                          <a:solidFill>
                            <a:srgbClr val="14313B"/>
                          </a:solidFill>
                          <a:latin typeface="Calibri (MS)"/>
                        </a:rPr>
                        <a:t>Sensitivitas ODTW thd Investasi</a:t>
                      </a:r>
                    </a:p>
                  </a:txBody>
                  <a:tcPr marL="73152" marR="73152" marT="36576" marB="36576" anchor="ctr">
                    <a:solidFill>
                      <a:srgbClr val="FFFFFF"/>
                    </a:solidFill>
                  </a:tcPr>
                </a:tc>
                <a:tc>
                  <a:txBody>
                    <a:bodyPr wrap="square"/>
                    <a:lstStyle/>
                    <a:p>
                      <a:pPr algn="ctr"/>
                      <a:r>
                        <a:rPr sz="1050" b="0" i="0">
                          <a:solidFill>
                            <a:srgbClr val="14313B"/>
                          </a:solidFill>
                          <a:latin typeface="Calibri (MS)"/>
                        </a:rPr>
                        <a:t>0,01052</a:t>
                      </a:r>
                    </a:p>
                  </a:txBody>
                  <a:tcPr marL="73152" marR="73152" marT="36576" marB="36576" anchor="ctr">
                    <a:solidFill>
                      <a:srgbClr val="FFFFFF"/>
                    </a:solidFill>
                  </a:tcPr>
                </a:tc>
                <a:tc>
                  <a:txBody>
                    <a:bodyPr wrap="square"/>
                    <a:lstStyle/>
                    <a:p>
                      <a:r>
                        <a:rPr sz="1050" b="0" i="0">
                          <a:solidFill>
                            <a:srgbClr val="14313B"/>
                          </a:solidFill>
                          <a:latin typeface="Calibri (MS)"/>
                        </a:rPr>
                        <a:t>Derivasi identitas stok-aliran ODTW</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10</a:t>
                      </a:r>
                    </a:p>
                  </a:txBody>
                  <a:tcPr marL="73152" marR="73152" marT="36576" marB="36576" anchor="ctr">
                    <a:solidFill>
                      <a:srgbClr val="EAF8FA"/>
                    </a:solidFill>
                  </a:tcPr>
                </a:tc>
                <a:tc>
                  <a:txBody>
                    <a:bodyPr wrap="square"/>
                    <a:lstStyle/>
                    <a:p>
                      <a:r>
                        <a:rPr sz="1050" b="0" i="0">
                          <a:solidFill>
                            <a:srgbClr val="14313B"/>
                          </a:solidFill>
                          <a:latin typeface="Calibri (MS)"/>
                        </a:rPr>
                        <a:t>Pembangunan ODTW Non Investasi</a:t>
                      </a:r>
                    </a:p>
                  </a:txBody>
                  <a:tcPr marL="73152" marR="73152" marT="36576" marB="36576" anchor="ctr">
                    <a:solidFill>
                      <a:srgbClr val="EAF8FA"/>
                    </a:solidFill>
                  </a:tcPr>
                </a:tc>
                <a:tc>
                  <a:txBody>
                    <a:bodyPr wrap="square"/>
                    <a:lstStyle/>
                    <a:p>
                      <a:pPr algn="ctr"/>
                      <a:r>
                        <a:rPr sz="1050" b="0" i="0">
                          <a:solidFill>
                            <a:srgbClr val="14313B"/>
                          </a:solidFill>
                          <a:latin typeface="Calibri (MS)"/>
                        </a:rPr>
                        <a:t>5,427 unit/th</a:t>
                      </a:r>
                    </a:p>
                  </a:txBody>
                  <a:tcPr marL="73152" marR="73152" marT="36576" marB="36576" anchor="ctr">
                    <a:solidFill>
                      <a:srgbClr val="EAF8FA"/>
                    </a:solidFill>
                  </a:tcPr>
                </a:tc>
                <a:tc>
                  <a:txBody>
                    <a:bodyPr wrap="square"/>
                    <a:lstStyle/>
                    <a:p>
                      <a:r>
                        <a:rPr sz="1050" b="0" i="0">
                          <a:solidFill>
                            <a:srgbClr val="14313B"/>
                          </a:solidFill>
                          <a:latin typeface="Calibri (MS)"/>
                        </a:rPr>
                        <a:t>Anggaran publik dan inisiatif masyarakat</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11</a:t>
                      </a:r>
                    </a:p>
                  </a:txBody>
                  <a:tcPr marL="73152" marR="73152" marT="36576" marB="36576" anchor="ctr">
                    <a:solidFill>
                      <a:srgbClr val="FFFFFF"/>
                    </a:solidFill>
                  </a:tcPr>
                </a:tc>
                <a:tc>
                  <a:txBody>
                    <a:bodyPr wrap="square"/>
                    <a:lstStyle/>
                    <a:p>
                      <a:r>
                        <a:rPr sz="1050" b="0" i="0">
                          <a:solidFill>
                            <a:srgbClr val="14313B"/>
                          </a:solidFill>
                          <a:latin typeface="Calibri (MS)"/>
                        </a:rPr>
                        <a:t>Laju Penutupan Dasar ODTW</a:t>
                      </a:r>
                    </a:p>
                  </a:txBody>
                  <a:tcPr marL="73152" marR="73152" marT="36576" marB="36576" anchor="ctr">
                    <a:solidFill>
                      <a:srgbClr val="FFFFFF"/>
                    </a:solidFill>
                  </a:tcPr>
                </a:tc>
                <a:tc>
                  <a:txBody>
                    <a:bodyPr wrap="square"/>
                    <a:lstStyle/>
                    <a:p>
                      <a:pPr algn="ctr"/>
                      <a:r>
                        <a:rPr sz="1050" b="0" i="0">
                          <a:solidFill>
                            <a:srgbClr val="14313B"/>
                          </a:solidFill>
                          <a:latin typeface="Calibri (MS)"/>
                        </a:rPr>
                        <a:t>0,0499 /th</a:t>
                      </a:r>
                    </a:p>
                  </a:txBody>
                  <a:tcPr marL="73152" marR="73152" marT="36576" marB="36576" anchor="ctr">
                    <a:solidFill>
                      <a:srgbClr val="FFFFFF"/>
                    </a:solidFill>
                  </a:tcPr>
                </a:tc>
                <a:tc>
                  <a:txBody>
                    <a:bodyPr wrap="square"/>
                    <a:lstStyle/>
                    <a:p>
                      <a:r>
                        <a:rPr sz="1050" b="0" i="0">
                          <a:solidFill>
                            <a:srgbClr val="14313B"/>
                          </a:solidFill>
                          <a:latin typeface="Calibri (MS)"/>
                        </a:rPr>
                        <a:t>Umur usaha ODTW, dari distribusi umur BPS</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12</a:t>
                      </a:r>
                    </a:p>
                  </a:txBody>
                  <a:tcPr marL="73152" marR="73152" marT="36576" marB="36576" anchor="ctr">
                    <a:solidFill>
                      <a:srgbClr val="EAF8FA"/>
                    </a:solidFill>
                  </a:tcPr>
                </a:tc>
                <a:tc>
                  <a:txBody>
                    <a:bodyPr wrap="square"/>
                    <a:lstStyle/>
                    <a:p>
                      <a:r>
                        <a:rPr sz="1050" b="0" i="0">
                          <a:solidFill>
                            <a:srgbClr val="14313B"/>
                          </a:solidFill>
                          <a:latin typeface="Calibri (MS)"/>
                        </a:rPr>
                        <a:t>Laju Konversi Dasar</a:t>
                      </a:r>
                    </a:p>
                  </a:txBody>
                  <a:tcPr marL="73152" marR="73152" marT="36576" marB="36576" anchor="ctr">
                    <a:solidFill>
                      <a:srgbClr val="EAF8FA"/>
                    </a:solidFill>
                  </a:tcPr>
                </a:tc>
                <a:tc>
                  <a:txBody>
                    <a:bodyPr wrap="square"/>
                    <a:lstStyle/>
                    <a:p>
                      <a:pPr algn="ctr"/>
                      <a:r>
                        <a:rPr sz="1050" b="0" i="0">
                          <a:solidFill>
                            <a:srgbClr val="14313B"/>
                          </a:solidFill>
                          <a:latin typeface="Calibri (MS)"/>
                        </a:rPr>
                        <a:t>0,0436 /th</a:t>
                      </a:r>
                    </a:p>
                  </a:txBody>
                  <a:tcPr marL="73152" marR="73152" marT="36576" marB="36576" anchor="ctr">
                    <a:solidFill>
                      <a:srgbClr val="EAF8FA"/>
                    </a:solidFill>
                  </a:tcPr>
                </a:tc>
                <a:tc>
                  <a:txBody>
                    <a:bodyPr wrap="square"/>
                    <a:lstStyle/>
                    <a:p>
                      <a:r>
                        <a:rPr sz="1050" b="0" i="0">
                          <a:solidFill>
                            <a:srgbClr val="14313B"/>
                          </a:solidFill>
                          <a:latin typeface="Calibri (MS)"/>
                        </a:rPr>
                        <a:t>Konversi lahan nonpariwisata, di luar fokus model</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13</a:t>
                      </a:r>
                    </a:p>
                  </a:txBody>
                  <a:tcPr marL="73152" marR="73152" marT="36576" marB="36576" anchor="ctr">
                    <a:solidFill>
                      <a:srgbClr val="FFFFFF"/>
                    </a:solidFill>
                  </a:tcPr>
                </a:tc>
                <a:tc>
                  <a:txBody>
                    <a:bodyPr wrap="square"/>
                    <a:lstStyle/>
                    <a:p>
                      <a:r>
                        <a:rPr sz="1050" b="0" i="0">
                          <a:solidFill>
                            <a:srgbClr val="14313B"/>
                          </a:solidFill>
                          <a:latin typeface="Calibri (MS)"/>
                        </a:rPr>
                        <a:t>Lahan per Hotel dan Akomodasi</a:t>
                      </a:r>
                    </a:p>
                  </a:txBody>
                  <a:tcPr marL="73152" marR="73152" marT="36576" marB="36576" anchor="ctr">
                    <a:solidFill>
                      <a:srgbClr val="FFFFFF"/>
                    </a:solidFill>
                  </a:tcPr>
                </a:tc>
                <a:tc>
                  <a:txBody>
                    <a:bodyPr wrap="square"/>
                    <a:lstStyle/>
                    <a:p>
                      <a:pPr algn="ctr"/>
                      <a:r>
                        <a:rPr sz="1050" b="0" i="0">
                          <a:solidFill>
                            <a:srgbClr val="14313B"/>
                          </a:solidFill>
                          <a:latin typeface="Calibri (MS)"/>
                        </a:rPr>
                        <a:t>0,1 ha/unit</a:t>
                      </a:r>
                    </a:p>
                  </a:txBody>
                  <a:tcPr marL="73152" marR="73152" marT="36576" marB="36576" anchor="ctr">
                    <a:solidFill>
                      <a:srgbClr val="FFFFFF"/>
                    </a:solidFill>
                  </a:tcPr>
                </a:tc>
                <a:tc>
                  <a:txBody>
                    <a:bodyPr wrap="square"/>
                    <a:lstStyle/>
                    <a:p>
                      <a:r>
                        <a:rPr sz="1050" b="0" i="0">
                          <a:solidFill>
                            <a:srgbClr val="14313B"/>
                          </a:solidFill>
                          <a:latin typeface="Calibri (MS)"/>
                        </a:rPr>
                        <a:t>Asumsi tapak bangunan akomodasi</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14</a:t>
                      </a:r>
                    </a:p>
                  </a:txBody>
                  <a:tcPr marL="73152" marR="73152" marT="36576" marB="36576" anchor="ctr">
                    <a:solidFill>
                      <a:srgbClr val="EAF8FA"/>
                    </a:solidFill>
                  </a:tcPr>
                </a:tc>
                <a:tc>
                  <a:txBody>
                    <a:bodyPr wrap="square"/>
                    <a:lstStyle/>
                    <a:p>
                      <a:r>
                        <a:rPr sz="1050" b="0" i="0">
                          <a:solidFill>
                            <a:srgbClr val="14313B"/>
                          </a:solidFill>
                          <a:latin typeface="Calibri (MS)"/>
                        </a:rPr>
                        <a:t>Lahan per ODTW</a:t>
                      </a:r>
                    </a:p>
                  </a:txBody>
                  <a:tcPr marL="73152" marR="73152" marT="36576" marB="36576" anchor="ctr">
                    <a:solidFill>
                      <a:srgbClr val="EAF8FA"/>
                    </a:solidFill>
                  </a:tcPr>
                </a:tc>
                <a:tc>
                  <a:txBody>
                    <a:bodyPr wrap="square"/>
                    <a:lstStyle/>
                    <a:p>
                      <a:pPr algn="ctr"/>
                      <a:r>
                        <a:rPr sz="1050" b="0" i="0">
                          <a:solidFill>
                            <a:srgbClr val="14313B"/>
                          </a:solidFill>
                          <a:latin typeface="Calibri (MS)"/>
                        </a:rPr>
                        <a:t>0,5 ha/unit</a:t>
                      </a:r>
                    </a:p>
                  </a:txBody>
                  <a:tcPr marL="73152" marR="73152" marT="36576" marB="36576" anchor="ctr">
                    <a:solidFill>
                      <a:srgbClr val="EAF8FA"/>
                    </a:solidFill>
                  </a:tcPr>
                </a:tc>
                <a:tc>
                  <a:txBody>
                    <a:bodyPr wrap="square"/>
                    <a:lstStyle/>
                    <a:p>
                      <a:r>
                        <a:rPr sz="1050" b="0" i="0">
                          <a:solidFill>
                            <a:srgbClr val="14313B"/>
                          </a:solidFill>
                          <a:latin typeface="Calibri (MS)"/>
                        </a:rPr>
                        <a:t>Asumsi tapak fasilitas terbangun ODTW</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15</a:t>
                      </a:r>
                    </a:p>
                  </a:txBody>
                  <a:tcPr marL="73152" marR="73152" marT="36576" marB="36576" anchor="ctr">
                    <a:solidFill>
                      <a:srgbClr val="FFFFFF"/>
                    </a:solidFill>
                  </a:tcPr>
                </a:tc>
                <a:tc>
                  <a:txBody>
                    <a:bodyPr wrap="square"/>
                    <a:lstStyle/>
                    <a:p>
                      <a:r>
                        <a:rPr sz="1050" b="0" i="0">
                          <a:solidFill>
                            <a:srgbClr val="14313B"/>
                          </a:solidFill>
                          <a:latin typeface="Calibri (MS)"/>
                        </a:rPr>
                        <a:t>Luas Lahan Tersedia</a:t>
                      </a:r>
                    </a:p>
                  </a:txBody>
                  <a:tcPr marL="73152" marR="73152" marT="36576" marB="36576" anchor="ctr">
                    <a:solidFill>
                      <a:srgbClr val="FFFFFF"/>
                    </a:solidFill>
                  </a:tcPr>
                </a:tc>
                <a:tc>
                  <a:txBody>
                    <a:bodyPr wrap="square"/>
                    <a:lstStyle/>
                    <a:p>
                      <a:pPr algn="ctr"/>
                      <a:r>
                        <a:rPr sz="1050" b="0" i="0">
                          <a:solidFill>
                            <a:srgbClr val="14313B"/>
                          </a:solidFill>
                          <a:latin typeface="Calibri (MS)"/>
                        </a:rPr>
                        <a:t>317.036 ha</a:t>
                      </a:r>
                    </a:p>
                  </a:txBody>
                  <a:tcPr marL="73152" marR="73152" marT="36576" marB="36576" anchor="ctr">
                    <a:solidFill>
                      <a:srgbClr val="FFFFFF"/>
                    </a:solidFill>
                  </a:tcPr>
                </a:tc>
                <a:tc>
                  <a:txBody>
                    <a:bodyPr wrap="square"/>
                    <a:lstStyle/>
                    <a:p>
                      <a:r>
                        <a:rPr sz="1050" b="0" i="0">
                          <a:solidFill>
                            <a:srgbClr val="14313B"/>
                          </a:solidFill>
                          <a:latin typeface="Calibri (MS)"/>
                        </a:rPr>
                        <a:t>Luas wilayah administratif DIY</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16</a:t>
                      </a:r>
                    </a:p>
                  </a:txBody>
                  <a:tcPr marL="73152" marR="73152" marT="36576" marB="36576" anchor="ctr">
                    <a:solidFill>
                      <a:srgbClr val="EAF8FA"/>
                    </a:solidFill>
                  </a:tcPr>
                </a:tc>
                <a:tc>
                  <a:txBody>
                    <a:bodyPr wrap="square"/>
                    <a:lstStyle/>
                    <a:p>
                      <a:r>
                        <a:rPr sz="1050" b="0" i="0">
                          <a:solidFill>
                            <a:srgbClr val="14313B"/>
                          </a:solidFill>
                          <a:latin typeface="Calibri (MS)"/>
                        </a:rPr>
                        <a:t>Proporsi Wisatawan Menginap</a:t>
                      </a:r>
                    </a:p>
                  </a:txBody>
                  <a:tcPr marL="73152" marR="73152" marT="36576" marB="36576" anchor="ctr">
                    <a:solidFill>
                      <a:srgbClr val="EAF8FA"/>
                    </a:solidFill>
                  </a:tcPr>
                </a:tc>
                <a:tc>
                  <a:txBody>
                    <a:bodyPr wrap="square"/>
                    <a:lstStyle/>
                    <a:p>
                      <a:pPr algn="ctr"/>
                      <a:r>
                        <a:rPr sz="1050" b="0" i="0">
                          <a:solidFill>
                            <a:srgbClr val="14313B"/>
                          </a:solidFill>
                          <a:latin typeface="Calibri (MS)"/>
                        </a:rPr>
                        <a:t>0,2058</a:t>
                      </a:r>
                    </a:p>
                  </a:txBody>
                  <a:tcPr marL="73152" marR="73152" marT="36576" marB="36576" anchor="ctr">
                    <a:solidFill>
                      <a:srgbClr val="EAF8FA"/>
                    </a:solidFill>
                  </a:tcPr>
                </a:tc>
                <a:tc>
                  <a:txBody>
                    <a:bodyPr wrap="square"/>
                    <a:lstStyle/>
                    <a:p>
                      <a:r>
                        <a:rPr sz="1050" b="0" i="0">
                          <a:solidFill>
                            <a:srgbClr val="14313B"/>
                          </a:solidFill>
                          <a:latin typeface="Calibri (MS)"/>
                        </a:rPr>
                        <a:t>Pola perilaku wisatawan</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17</a:t>
                      </a:r>
                    </a:p>
                  </a:txBody>
                  <a:tcPr marL="73152" marR="73152" marT="36576" marB="36576" anchor="ctr">
                    <a:solidFill>
                      <a:srgbClr val="FFFFFF"/>
                    </a:solidFill>
                  </a:tcPr>
                </a:tc>
                <a:tc>
                  <a:txBody>
                    <a:bodyPr wrap="square"/>
                    <a:lstStyle/>
                    <a:p>
                      <a:r>
                        <a:rPr sz="1050" b="0" i="0">
                          <a:solidFill>
                            <a:srgbClr val="14313B"/>
                          </a:solidFill>
                          <a:latin typeface="Calibri (MS)"/>
                        </a:rPr>
                        <a:t>Rata-rata Lama Menginap Tamu</a:t>
                      </a:r>
                    </a:p>
                  </a:txBody>
                  <a:tcPr marL="73152" marR="73152" marT="36576" marB="36576" anchor="ctr">
                    <a:solidFill>
                      <a:srgbClr val="FFFFFF"/>
                    </a:solidFill>
                  </a:tcPr>
                </a:tc>
                <a:tc>
                  <a:txBody>
                    <a:bodyPr wrap="square"/>
                    <a:lstStyle/>
                    <a:p>
                      <a:pPr algn="ctr"/>
                      <a:r>
                        <a:rPr sz="1050" b="0" i="0">
                          <a:solidFill>
                            <a:srgbClr val="14313B"/>
                          </a:solidFill>
                          <a:latin typeface="Calibri (MS)"/>
                        </a:rPr>
                        <a:t>1,427 malam</a:t>
                      </a:r>
                    </a:p>
                  </a:txBody>
                  <a:tcPr marL="73152" marR="73152" marT="36576" marB="36576" anchor="ctr">
                    <a:solidFill>
                      <a:srgbClr val="FFFFFF"/>
                    </a:solidFill>
                  </a:tcPr>
                </a:tc>
                <a:tc>
                  <a:txBody>
                    <a:bodyPr wrap="square"/>
                    <a:lstStyle/>
                    <a:p>
                      <a:r>
                        <a:rPr sz="1050" b="0" i="0">
                          <a:solidFill>
                            <a:srgbClr val="14313B"/>
                          </a:solidFill>
                          <a:latin typeface="Calibri (MS)"/>
                        </a:rPr>
                        <a:t>Pola perilaku wisatawan</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18</a:t>
                      </a:r>
                    </a:p>
                  </a:txBody>
                  <a:tcPr marL="73152" marR="73152" marT="36576" marB="36576" anchor="ctr">
                    <a:solidFill>
                      <a:srgbClr val="EAF8FA"/>
                    </a:solidFill>
                  </a:tcPr>
                </a:tc>
                <a:tc>
                  <a:txBody>
                    <a:bodyPr wrap="square"/>
                    <a:lstStyle/>
                    <a:p>
                      <a:r>
                        <a:rPr sz="1050" b="0" i="0">
                          <a:solidFill>
                            <a:srgbClr val="14313B"/>
                          </a:solidFill>
                          <a:latin typeface="Calibri (MS)"/>
                        </a:rPr>
                        <a:t>Tingkat Penghunian Ganda Kamar</a:t>
                      </a:r>
                    </a:p>
                  </a:txBody>
                  <a:tcPr marL="73152" marR="73152" marT="36576" marB="36576" anchor="ctr">
                    <a:solidFill>
                      <a:srgbClr val="EAF8FA"/>
                    </a:solidFill>
                  </a:tcPr>
                </a:tc>
                <a:tc>
                  <a:txBody>
                    <a:bodyPr wrap="square"/>
                    <a:lstStyle/>
                    <a:p>
                      <a:pPr algn="ctr"/>
                      <a:r>
                        <a:rPr sz="1050" b="0" i="0">
                          <a:solidFill>
                            <a:srgbClr val="14313B"/>
                          </a:solidFill>
                          <a:latin typeface="Calibri (MS)"/>
                        </a:rPr>
                        <a:t>2,07</a:t>
                      </a:r>
                    </a:p>
                  </a:txBody>
                  <a:tcPr marL="73152" marR="73152" marT="36576" marB="36576" anchor="ctr">
                    <a:solidFill>
                      <a:srgbClr val="EAF8FA"/>
                    </a:solidFill>
                  </a:tcPr>
                </a:tc>
                <a:tc>
                  <a:txBody>
                    <a:bodyPr wrap="square"/>
                    <a:lstStyle/>
                    <a:p>
                      <a:r>
                        <a:rPr sz="1050" b="0" i="0">
                          <a:solidFill>
                            <a:srgbClr val="14313B"/>
                          </a:solidFill>
                          <a:latin typeface="Calibri (MS)"/>
                        </a:rPr>
                        <a:t>Karakteristik penggunaan kamar</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14) dan 4.4.2 (Tabel 38).</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30 · Batas Model (2/3): Variabel Eksogen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dan alasan setiap parameter diperlakukan sebagai input dari luar model</a:t>
            </a:r>
          </a:p>
        </p:txBody>
      </p:sp>
      <p:graphicFrame>
        <p:nvGraphicFramePr>
          <p:cNvPr id="27" name="Table 26"/>
          <p:cNvGraphicFramePr>
            <a:graphicFrameLocks noGrp="1"/>
          </p:cNvGraphicFramePr>
          <p:nvPr/>
        </p:nvGraphicFramePr>
        <p:xfrm>
          <a:off x="822960" y="1874519"/>
          <a:ext cx="16642076" cy="6583680"/>
        </p:xfrm>
        <a:graphic>
          <a:graphicData uri="http://schemas.openxmlformats.org/drawingml/2006/table">
            <a:tbl>
              <a:tblPr firstRow="1" bandRow="1">
                <a:tableStyleId>{5C22544A-7EE6-4342-B048-85BDC9FD1C3A}</a:tableStyleId>
              </a:tblPr>
              <a:tblGrid>
                <a:gridCol w="548639"/>
                <a:gridCol w="4571999"/>
                <a:gridCol w="2926079"/>
                <a:gridCol w="8595359"/>
              </a:tblGrid>
              <a:tr h="36576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Variabel eksogen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Nilai</a:t>
                      </a:r>
                    </a:p>
                  </a:txBody>
                  <a:tcPr marL="73152" marR="73152" marT="36576" marB="36576" anchor="ctr">
                    <a:solidFill>
                      <a:srgbClr val="0B5E6E"/>
                    </a:solidFill>
                  </a:tcPr>
                </a:tc>
                <a:tc>
                  <a:txBody>
                    <a:bodyPr wrap="square"/>
                    <a:lstStyle/>
                    <a:p>
                      <a:r>
                        <a:rPr sz="1050" b="1" i="0">
                          <a:solidFill>
                            <a:srgbClr val="FFFFFF"/>
                          </a:solidFill>
                          <a:latin typeface="Calibri (MS) Bold"/>
                        </a:rPr>
                        <a:t>Alasan diperlakukan eksogen</a:t>
                      </a:r>
                    </a:p>
                  </a:txBody>
                  <a:tcPr marL="73152" marR="73152" marT="36576" marB="36576" anchor="ctr">
                    <a:solidFill>
                      <a:srgbClr val="0B5E6E"/>
                    </a:solidFill>
                  </a:tcPr>
                </a:tc>
              </a:tr>
              <a:tr h="365760">
                <a:tc>
                  <a:txBody>
                    <a:bodyPr wrap="square"/>
                    <a:lstStyle/>
                    <a:p>
                      <a:pPr algn="ctr"/>
                      <a:r>
                        <a:rPr sz="1050" b="0" i="0">
                          <a:solidFill>
                            <a:srgbClr val="14313B"/>
                          </a:solidFill>
                          <a:latin typeface="Calibri (MS)"/>
                        </a:rPr>
                        <a:t>19</a:t>
                      </a:r>
                    </a:p>
                  </a:txBody>
                  <a:tcPr marL="73152" marR="73152" marT="36576" marB="36576" anchor="ctr">
                    <a:solidFill>
                      <a:srgbClr val="FFFFFF"/>
                    </a:solidFill>
                  </a:tcPr>
                </a:tc>
                <a:tc>
                  <a:txBody>
                    <a:bodyPr wrap="square"/>
                    <a:lstStyle/>
                    <a:p>
                      <a:r>
                        <a:rPr sz="1050" b="0" i="0">
                          <a:solidFill>
                            <a:srgbClr val="14313B"/>
                          </a:solidFill>
                          <a:latin typeface="Calibri (MS)"/>
                        </a:rPr>
                        <a:t>Rata-rata Kamar per Unit</a:t>
                      </a:r>
                    </a:p>
                  </a:txBody>
                  <a:tcPr marL="73152" marR="73152" marT="36576" marB="36576" anchor="ctr">
                    <a:solidFill>
                      <a:srgbClr val="FFFFFF"/>
                    </a:solidFill>
                  </a:tcPr>
                </a:tc>
                <a:tc>
                  <a:txBody>
                    <a:bodyPr wrap="square"/>
                    <a:lstStyle/>
                    <a:p>
                      <a:pPr algn="ctr"/>
                      <a:r>
                        <a:rPr sz="1050" b="0" i="0">
                          <a:solidFill>
                            <a:srgbClr val="14313B"/>
                          </a:solidFill>
                          <a:latin typeface="Calibri (MS)"/>
                        </a:rPr>
                        <a:t>21,4168 kamar</a:t>
                      </a:r>
                    </a:p>
                  </a:txBody>
                  <a:tcPr marL="73152" marR="73152" marT="36576" marB="36576" anchor="ctr">
                    <a:solidFill>
                      <a:srgbClr val="FFFFFF"/>
                    </a:solidFill>
                  </a:tcPr>
                </a:tc>
                <a:tc>
                  <a:txBody>
                    <a:bodyPr wrap="square"/>
                    <a:lstStyle/>
                    <a:p>
                      <a:r>
                        <a:rPr sz="1050" b="0" i="0">
                          <a:solidFill>
                            <a:srgbClr val="14313B"/>
                          </a:solidFill>
                          <a:latin typeface="Calibri (MS)"/>
                        </a:rPr>
                        <a:t>Karakteristik struktural akomodasi</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20</a:t>
                      </a:r>
                    </a:p>
                  </a:txBody>
                  <a:tcPr marL="73152" marR="73152" marT="36576" marB="36576" anchor="ctr">
                    <a:solidFill>
                      <a:srgbClr val="EAF8FA"/>
                    </a:solidFill>
                  </a:tcPr>
                </a:tc>
                <a:tc>
                  <a:txBody>
                    <a:bodyPr wrap="square"/>
                    <a:lstStyle/>
                    <a:p>
                      <a:r>
                        <a:rPr sz="1050" b="0" i="0">
                          <a:solidFill>
                            <a:srgbClr val="14313B"/>
                          </a:solidFill>
                          <a:latin typeface="Calibri (MS)"/>
                        </a:rPr>
                        <a:t>Malam Tersedia per Kamar</a:t>
                      </a:r>
                    </a:p>
                  </a:txBody>
                  <a:tcPr marL="73152" marR="73152" marT="36576" marB="36576" anchor="ctr">
                    <a:solidFill>
                      <a:srgbClr val="EAF8FA"/>
                    </a:solidFill>
                  </a:tcPr>
                </a:tc>
                <a:tc>
                  <a:txBody>
                    <a:bodyPr wrap="square"/>
                    <a:lstStyle/>
                    <a:p>
                      <a:pPr algn="ctr"/>
                      <a:r>
                        <a:rPr sz="1050" b="0" i="0">
                          <a:solidFill>
                            <a:srgbClr val="14313B"/>
                          </a:solidFill>
                          <a:latin typeface="Calibri (MS)"/>
                        </a:rPr>
                        <a:t>329,03 malam</a:t>
                      </a:r>
                    </a:p>
                  </a:txBody>
                  <a:tcPr marL="73152" marR="73152" marT="36576" marB="36576" anchor="ctr">
                    <a:solidFill>
                      <a:srgbClr val="EAF8FA"/>
                    </a:solidFill>
                  </a:tcPr>
                </a:tc>
                <a:tc>
                  <a:txBody>
                    <a:bodyPr wrap="square"/>
                    <a:lstStyle/>
                    <a:p>
                      <a:r>
                        <a:rPr sz="1050" b="0" i="0">
                          <a:solidFill>
                            <a:srgbClr val="14313B"/>
                          </a:solidFill>
                          <a:latin typeface="Calibri (MS)"/>
                        </a:rPr>
                        <a:t>Hari operasi efektif kamar per tahun</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21</a:t>
                      </a:r>
                    </a:p>
                  </a:txBody>
                  <a:tcPr marL="73152" marR="73152" marT="36576" marB="36576" anchor="ctr">
                    <a:solidFill>
                      <a:srgbClr val="FFFFFF"/>
                    </a:solidFill>
                  </a:tcPr>
                </a:tc>
                <a:tc>
                  <a:txBody>
                    <a:bodyPr wrap="square"/>
                    <a:lstStyle/>
                    <a:p>
                      <a:r>
                        <a:rPr sz="1050" b="0" i="0">
                          <a:solidFill>
                            <a:srgbClr val="14313B"/>
                          </a:solidFill>
                          <a:latin typeface="Calibri (MS)"/>
                        </a:rPr>
                        <a:t>Bobot ODTW</a:t>
                      </a:r>
                    </a:p>
                  </a:txBody>
                  <a:tcPr marL="73152" marR="73152" marT="36576" marB="36576" anchor="ctr">
                    <a:solidFill>
                      <a:srgbClr val="FFFFFF"/>
                    </a:solidFill>
                  </a:tcPr>
                </a:tc>
                <a:tc>
                  <a:txBody>
                    <a:bodyPr wrap="square"/>
                    <a:lstStyle/>
                    <a:p>
                      <a:pPr algn="ctr"/>
                      <a:r>
                        <a:rPr sz="1050" b="0" i="0">
                          <a:solidFill>
                            <a:srgbClr val="14313B"/>
                          </a:solidFill>
                          <a:latin typeface="Calibri (MS)"/>
                        </a:rPr>
                        <a:t>0,40</a:t>
                      </a:r>
                    </a:p>
                  </a:txBody>
                  <a:tcPr marL="73152" marR="73152" marT="36576" marB="36576" anchor="ctr">
                    <a:solidFill>
                      <a:srgbClr val="FFFFFF"/>
                    </a:solidFill>
                  </a:tcPr>
                </a:tc>
                <a:tc>
                  <a:txBody>
                    <a:bodyPr wrap="square"/>
                    <a:lstStyle/>
                    <a:p>
                      <a:r>
                        <a:rPr sz="1050" b="0" i="0">
                          <a:solidFill>
                            <a:srgbClr val="14313B"/>
                          </a:solidFill>
                          <a:latin typeface="Calibri (MS)"/>
                        </a:rPr>
                        <a:t>Kerangka teori daya saing destinasi</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22</a:t>
                      </a:r>
                    </a:p>
                  </a:txBody>
                  <a:tcPr marL="73152" marR="73152" marT="36576" marB="36576" anchor="ctr">
                    <a:solidFill>
                      <a:srgbClr val="EAF8FA"/>
                    </a:solidFill>
                  </a:tcPr>
                </a:tc>
                <a:tc>
                  <a:txBody>
                    <a:bodyPr wrap="square"/>
                    <a:lstStyle/>
                    <a:p>
                      <a:r>
                        <a:rPr sz="1050" b="0" i="0">
                          <a:solidFill>
                            <a:srgbClr val="14313B"/>
                          </a:solidFill>
                          <a:latin typeface="Calibri (MS)"/>
                        </a:rPr>
                        <a:t>Bobot Kepadatan</a:t>
                      </a:r>
                    </a:p>
                  </a:txBody>
                  <a:tcPr marL="73152" marR="73152" marT="36576" marB="36576" anchor="ctr">
                    <a:solidFill>
                      <a:srgbClr val="EAF8FA"/>
                    </a:solidFill>
                  </a:tcPr>
                </a:tc>
                <a:tc>
                  <a:txBody>
                    <a:bodyPr wrap="square"/>
                    <a:lstStyle/>
                    <a:p>
                      <a:pPr algn="ctr"/>
                      <a:r>
                        <a:rPr sz="1050" b="0" i="0">
                          <a:solidFill>
                            <a:srgbClr val="14313B"/>
                          </a:solidFill>
                          <a:latin typeface="Calibri (MS)"/>
                        </a:rPr>
                        <a:t>0,35</a:t>
                      </a:r>
                    </a:p>
                  </a:txBody>
                  <a:tcPr marL="73152" marR="73152" marT="36576" marB="36576" anchor="ctr">
                    <a:solidFill>
                      <a:srgbClr val="EAF8FA"/>
                    </a:solidFill>
                  </a:tcPr>
                </a:tc>
                <a:tc>
                  <a:txBody>
                    <a:bodyPr wrap="square"/>
                    <a:lstStyle/>
                    <a:p>
                      <a:r>
                        <a:rPr sz="1050" b="0" i="0">
                          <a:solidFill>
                            <a:srgbClr val="14313B"/>
                          </a:solidFill>
                          <a:latin typeface="Calibri (MS)"/>
                        </a:rPr>
                        <a:t>Kerangka teori, memenuhi syarat kestabilan</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23</a:t>
                      </a:r>
                    </a:p>
                  </a:txBody>
                  <a:tcPr marL="73152" marR="73152" marT="36576" marB="36576" anchor="ctr">
                    <a:solidFill>
                      <a:srgbClr val="FFFFFF"/>
                    </a:solidFill>
                  </a:tcPr>
                </a:tc>
                <a:tc>
                  <a:txBody>
                    <a:bodyPr wrap="square"/>
                    <a:lstStyle/>
                    <a:p>
                      <a:r>
                        <a:rPr sz="1050" b="0" i="0">
                          <a:solidFill>
                            <a:srgbClr val="14313B"/>
                          </a:solidFill>
                          <a:latin typeface="Calibri (MS)"/>
                        </a:rPr>
                        <a:t>Bobot Daya Dukung Lahan</a:t>
                      </a:r>
                    </a:p>
                  </a:txBody>
                  <a:tcPr marL="73152" marR="73152" marT="36576" marB="36576" anchor="ctr">
                    <a:solidFill>
                      <a:srgbClr val="FFFFFF"/>
                    </a:solidFill>
                  </a:tcPr>
                </a:tc>
                <a:tc>
                  <a:txBody>
                    <a:bodyPr wrap="square"/>
                    <a:lstStyle/>
                    <a:p>
                      <a:pPr algn="ctr"/>
                      <a:r>
                        <a:rPr sz="1050" b="0" i="0">
                          <a:solidFill>
                            <a:srgbClr val="14313B"/>
                          </a:solidFill>
                          <a:latin typeface="Calibri (MS)"/>
                        </a:rPr>
                        <a:t>0,25</a:t>
                      </a:r>
                    </a:p>
                  </a:txBody>
                  <a:tcPr marL="73152" marR="73152" marT="36576" marB="36576" anchor="ctr">
                    <a:solidFill>
                      <a:srgbClr val="FFFFFF"/>
                    </a:solidFill>
                  </a:tcPr>
                </a:tc>
                <a:tc>
                  <a:txBody>
                    <a:bodyPr wrap="square"/>
                    <a:lstStyle/>
                    <a:p>
                      <a:r>
                        <a:rPr sz="1050" b="0" i="0">
                          <a:solidFill>
                            <a:srgbClr val="14313B"/>
                          </a:solidFill>
                          <a:latin typeface="Calibri (MS)"/>
                        </a:rPr>
                        <a:t>Kerangka teori</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24</a:t>
                      </a:r>
                    </a:p>
                  </a:txBody>
                  <a:tcPr marL="73152" marR="73152" marT="36576" marB="36576" anchor="ctr">
                    <a:solidFill>
                      <a:srgbClr val="EAF8FA"/>
                    </a:solidFill>
                  </a:tcPr>
                </a:tc>
                <a:tc>
                  <a:txBody>
                    <a:bodyPr wrap="square"/>
                    <a:lstStyle/>
                    <a:p>
                      <a:r>
                        <a:rPr sz="1050" b="0" i="0">
                          <a:solidFill>
                            <a:srgbClr val="14313B"/>
                          </a:solidFill>
                          <a:latin typeface="Calibri (MS)"/>
                        </a:rPr>
                        <a:t>Elastisitas Daya Tarik ODTW</a:t>
                      </a:r>
                    </a:p>
                  </a:txBody>
                  <a:tcPr marL="73152" marR="73152" marT="36576" marB="36576" anchor="ctr">
                    <a:solidFill>
                      <a:srgbClr val="EAF8FA"/>
                    </a:solidFill>
                  </a:tcPr>
                </a:tc>
                <a:tc>
                  <a:txBody>
                    <a:bodyPr wrap="square"/>
                    <a:lstStyle/>
                    <a:p>
                      <a:pPr algn="ctr"/>
                      <a:r>
                        <a:rPr sz="1050" b="0" i="0">
                          <a:solidFill>
                            <a:srgbClr val="14313B"/>
                          </a:solidFill>
                          <a:latin typeface="Calibri (MS)"/>
                        </a:rPr>
                        <a:t>0,3</a:t>
                      </a:r>
                    </a:p>
                  </a:txBody>
                  <a:tcPr marL="73152" marR="73152" marT="36576" marB="36576" anchor="ctr">
                    <a:solidFill>
                      <a:srgbClr val="EAF8FA"/>
                    </a:solidFill>
                  </a:tcPr>
                </a:tc>
                <a:tc>
                  <a:txBody>
                    <a:bodyPr wrap="square"/>
                    <a:lstStyle/>
                    <a:p>
                      <a:r>
                        <a:rPr sz="1050" b="0" i="0">
                          <a:solidFill>
                            <a:srgbClr val="14313B"/>
                          </a:solidFill>
                          <a:latin typeface="Calibri (MS)"/>
                        </a:rPr>
                        <a:t>Asumsi diminishing returns</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25</a:t>
                      </a:r>
                    </a:p>
                  </a:txBody>
                  <a:tcPr marL="73152" marR="73152" marT="36576" marB="36576" anchor="ctr">
                    <a:solidFill>
                      <a:srgbClr val="FFFFFF"/>
                    </a:solidFill>
                  </a:tcPr>
                </a:tc>
                <a:tc>
                  <a:txBody>
                    <a:bodyPr wrap="square"/>
                    <a:lstStyle/>
                    <a:p>
                      <a:r>
                        <a:rPr sz="1050" b="0" i="0">
                          <a:solidFill>
                            <a:srgbClr val="14313B"/>
                          </a:solidFill>
                          <a:latin typeface="Calibri (MS)"/>
                        </a:rPr>
                        <a:t>Batas Maksimum Efek ODTW</a:t>
                      </a:r>
                    </a:p>
                  </a:txBody>
                  <a:tcPr marL="73152" marR="73152" marT="36576" marB="36576" anchor="ctr">
                    <a:solidFill>
                      <a:srgbClr val="FFFFFF"/>
                    </a:solidFill>
                  </a:tcPr>
                </a:tc>
                <a:tc>
                  <a:txBody>
                    <a:bodyPr wrap="square"/>
                    <a:lstStyle/>
                    <a:p>
                      <a:pPr algn="ctr"/>
                      <a:r>
                        <a:rPr sz="1050" b="0" i="0">
                          <a:solidFill>
                            <a:srgbClr val="14313B"/>
                          </a:solidFill>
                          <a:latin typeface="Calibri (MS)"/>
                        </a:rPr>
                        <a:t>1,5</a:t>
                      </a:r>
                    </a:p>
                  </a:txBody>
                  <a:tcPr marL="73152" marR="73152" marT="36576" marB="36576" anchor="ctr">
                    <a:solidFill>
                      <a:srgbClr val="FFFFFF"/>
                    </a:solidFill>
                  </a:tcPr>
                </a:tc>
                <a:tc>
                  <a:txBody>
                    <a:bodyPr wrap="square"/>
                    <a:lstStyle/>
                    <a:p>
                      <a:r>
                        <a:rPr sz="1050" b="0" i="0">
                          <a:solidFill>
                            <a:srgbClr val="14313B"/>
                          </a:solidFill>
                          <a:latin typeface="Calibri (MS)"/>
                        </a:rPr>
                        <a:t>Kejenuhan efek ODTW, syarat kestabilan</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26</a:t>
                      </a:r>
                    </a:p>
                  </a:txBody>
                  <a:tcPr marL="73152" marR="73152" marT="36576" marB="36576" anchor="ctr">
                    <a:solidFill>
                      <a:srgbClr val="EAF8FA"/>
                    </a:solidFill>
                  </a:tcPr>
                </a:tc>
                <a:tc>
                  <a:txBody>
                    <a:bodyPr wrap="square"/>
                    <a:lstStyle/>
                    <a:p>
                      <a:r>
                        <a:rPr sz="1050" b="0" i="0">
                          <a:solidFill>
                            <a:srgbClr val="14313B"/>
                          </a:solidFill>
                          <a:latin typeface="Calibri (MS)"/>
                        </a:rPr>
                        <a:t>ODTW Referensi</a:t>
                      </a:r>
                    </a:p>
                  </a:txBody>
                  <a:tcPr marL="73152" marR="73152" marT="36576" marB="36576" anchor="ctr">
                    <a:solidFill>
                      <a:srgbClr val="EAF8FA"/>
                    </a:solidFill>
                  </a:tcPr>
                </a:tc>
                <a:tc>
                  <a:txBody>
                    <a:bodyPr wrap="square"/>
                    <a:lstStyle/>
                    <a:p>
                      <a:pPr algn="ctr"/>
                      <a:r>
                        <a:rPr sz="1050" b="0" i="0">
                          <a:solidFill>
                            <a:srgbClr val="14313B"/>
                          </a:solidFill>
                          <a:latin typeface="Calibri (MS)"/>
                        </a:rPr>
                        <a:t>201 unit</a:t>
                      </a:r>
                    </a:p>
                  </a:txBody>
                  <a:tcPr marL="73152" marR="73152" marT="36576" marB="36576" anchor="ctr">
                    <a:solidFill>
                      <a:srgbClr val="EAF8FA"/>
                    </a:solidFill>
                  </a:tcPr>
                </a:tc>
                <a:tc>
                  <a:txBody>
                    <a:bodyPr wrap="square"/>
                    <a:lstStyle/>
                    <a:p>
                      <a:r>
                        <a:rPr sz="1050" b="0" i="0">
                          <a:solidFill>
                            <a:srgbClr val="14313B"/>
                          </a:solidFill>
                          <a:latin typeface="Calibri (MS)"/>
                        </a:rPr>
                        <a:t>Kondisi 2025 untuk normalisasi</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27</a:t>
                      </a:r>
                    </a:p>
                  </a:txBody>
                  <a:tcPr marL="73152" marR="73152" marT="36576" marB="36576" anchor="ctr">
                    <a:solidFill>
                      <a:srgbClr val="FFFFFF"/>
                    </a:solidFill>
                  </a:tcPr>
                </a:tc>
                <a:tc>
                  <a:txBody>
                    <a:bodyPr wrap="square"/>
                    <a:lstStyle/>
                    <a:p>
                      <a:r>
                        <a:rPr sz="1050" b="0" i="0">
                          <a:solidFill>
                            <a:srgbClr val="14313B"/>
                          </a:solidFill>
                          <a:latin typeface="Calibri (MS)"/>
                        </a:rPr>
                        <a:t>Kepadatan Referensi</a:t>
                      </a:r>
                    </a:p>
                  </a:txBody>
                  <a:tcPr marL="73152" marR="73152" marT="36576" marB="36576" anchor="ctr">
                    <a:solidFill>
                      <a:srgbClr val="FFFFFF"/>
                    </a:solidFill>
                  </a:tcPr>
                </a:tc>
                <a:tc>
                  <a:txBody>
                    <a:bodyPr wrap="square"/>
                    <a:lstStyle/>
                    <a:p>
                      <a:pPr algn="ctr"/>
                      <a:r>
                        <a:rPr sz="1050" b="0" i="0">
                          <a:solidFill>
                            <a:srgbClr val="14313B"/>
                          </a:solidFill>
                          <a:latin typeface="Calibri (MS)"/>
                        </a:rPr>
                        <a:t>128,363 kunj./ha</a:t>
                      </a:r>
                    </a:p>
                  </a:txBody>
                  <a:tcPr marL="73152" marR="73152" marT="36576" marB="36576" anchor="ctr">
                    <a:solidFill>
                      <a:srgbClr val="FFFFFF"/>
                    </a:solidFill>
                  </a:tcPr>
                </a:tc>
                <a:tc>
                  <a:txBody>
                    <a:bodyPr wrap="square"/>
                    <a:lstStyle/>
                    <a:p>
                      <a:r>
                        <a:rPr sz="1050" b="0" i="0">
                          <a:solidFill>
                            <a:srgbClr val="14313B"/>
                          </a:solidFill>
                          <a:latin typeface="Calibri (MS)"/>
                        </a:rPr>
                        <a:t>Kondisi 2025</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28</a:t>
                      </a:r>
                    </a:p>
                  </a:txBody>
                  <a:tcPr marL="73152" marR="73152" marT="36576" marB="36576" anchor="ctr">
                    <a:solidFill>
                      <a:srgbClr val="EAF8FA"/>
                    </a:solidFill>
                  </a:tcPr>
                </a:tc>
                <a:tc>
                  <a:txBody>
                    <a:bodyPr wrap="square"/>
                    <a:lstStyle/>
                    <a:p>
                      <a:r>
                        <a:rPr sz="1050" b="0" i="0">
                          <a:solidFill>
                            <a:srgbClr val="14313B"/>
                          </a:solidFill>
                          <a:latin typeface="Calibri (MS)"/>
                        </a:rPr>
                        <a:t>RDDL Referensi</a:t>
                      </a:r>
                    </a:p>
                  </a:txBody>
                  <a:tcPr marL="73152" marR="73152" marT="36576" marB="36576" anchor="ctr">
                    <a:solidFill>
                      <a:srgbClr val="EAF8FA"/>
                    </a:solidFill>
                  </a:tcPr>
                </a:tc>
                <a:tc>
                  <a:txBody>
                    <a:bodyPr wrap="square"/>
                    <a:lstStyle/>
                    <a:p>
                      <a:pPr algn="ctr"/>
                      <a:r>
                        <a:rPr sz="1050" b="0" i="0">
                          <a:solidFill>
                            <a:srgbClr val="14313B"/>
                          </a:solidFill>
                          <a:latin typeface="Calibri (MS)"/>
                        </a:rPr>
                        <a:t>0,8264</a:t>
                      </a:r>
                    </a:p>
                  </a:txBody>
                  <a:tcPr marL="73152" marR="73152" marT="36576" marB="36576" anchor="ctr">
                    <a:solidFill>
                      <a:srgbClr val="EAF8FA"/>
                    </a:solidFill>
                  </a:tcPr>
                </a:tc>
                <a:tc>
                  <a:txBody>
                    <a:bodyPr wrap="square"/>
                    <a:lstStyle/>
                    <a:p>
                      <a:r>
                        <a:rPr sz="1050" b="0" i="0">
                          <a:solidFill>
                            <a:srgbClr val="14313B"/>
                          </a:solidFill>
                          <a:latin typeface="Calibri (MS)"/>
                        </a:rPr>
                        <a:t>Kondisi 2025</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29</a:t>
                      </a:r>
                    </a:p>
                  </a:txBody>
                  <a:tcPr marL="73152" marR="73152" marT="36576" marB="36576" anchor="ctr">
                    <a:solidFill>
                      <a:srgbClr val="FFFFFF"/>
                    </a:solidFill>
                  </a:tcPr>
                </a:tc>
                <a:tc>
                  <a:txBody>
                    <a:bodyPr wrap="square"/>
                    <a:lstStyle/>
                    <a:p>
                      <a:r>
                        <a:rPr sz="1050" b="0" i="0">
                          <a:solidFill>
                            <a:srgbClr val="14313B"/>
                          </a:solidFill>
                          <a:latin typeface="Calibri (MS)"/>
                        </a:rPr>
                        <a:t>Tahun Dasar Intensitas TK</a:t>
                      </a:r>
                    </a:p>
                  </a:txBody>
                  <a:tcPr marL="73152" marR="73152" marT="36576" marB="36576" anchor="ctr">
                    <a:solidFill>
                      <a:srgbClr val="FFFFFF"/>
                    </a:solidFill>
                  </a:tcPr>
                </a:tc>
                <a:tc>
                  <a:txBody>
                    <a:bodyPr wrap="square"/>
                    <a:lstStyle/>
                    <a:p>
                      <a:pPr algn="ctr"/>
                      <a:r>
                        <a:rPr sz="1050" b="0" i="0">
                          <a:solidFill>
                            <a:srgbClr val="14313B"/>
                          </a:solidFill>
                          <a:latin typeface="Calibri (MS)"/>
                        </a:rPr>
                        <a:t>2025</a:t>
                      </a:r>
                    </a:p>
                  </a:txBody>
                  <a:tcPr marL="73152" marR="73152" marT="36576" marB="36576" anchor="ctr">
                    <a:solidFill>
                      <a:srgbClr val="FFFFFF"/>
                    </a:solidFill>
                  </a:tcPr>
                </a:tc>
                <a:tc>
                  <a:txBody>
                    <a:bodyPr wrap="square"/>
                    <a:lstStyle/>
                    <a:p>
                      <a:r>
                        <a:rPr sz="1050" b="0" i="0">
                          <a:solidFill>
                            <a:srgbClr val="14313B"/>
                          </a:solidFill>
                          <a:latin typeface="Calibri (MS)"/>
                        </a:rPr>
                        <a:t>Tahun acuan peluruhan intensitas TK</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30</a:t>
                      </a:r>
                    </a:p>
                  </a:txBody>
                  <a:tcPr marL="73152" marR="73152" marT="36576" marB="36576" anchor="ctr">
                    <a:solidFill>
                      <a:srgbClr val="EAF8FA"/>
                    </a:solidFill>
                  </a:tcPr>
                </a:tc>
                <a:tc>
                  <a:txBody>
                    <a:bodyPr wrap="square"/>
                    <a:lstStyle/>
                    <a:p>
                      <a:r>
                        <a:rPr sz="1050" b="0" i="0">
                          <a:solidFill>
                            <a:srgbClr val="14313B"/>
                          </a:solidFill>
                          <a:latin typeface="Calibri (MS)"/>
                        </a:rPr>
                        <a:t>Intensitas TK Awal</a:t>
                      </a:r>
                    </a:p>
                  </a:txBody>
                  <a:tcPr marL="73152" marR="73152" marT="36576" marB="36576" anchor="ctr">
                    <a:solidFill>
                      <a:srgbClr val="EAF8FA"/>
                    </a:solidFill>
                  </a:tcPr>
                </a:tc>
                <a:tc>
                  <a:txBody>
                    <a:bodyPr wrap="square"/>
                    <a:lstStyle/>
                    <a:p>
                      <a:pPr algn="ctr"/>
                      <a:r>
                        <a:rPr sz="1050" b="0" i="0">
                          <a:solidFill>
                            <a:srgbClr val="14313B"/>
                          </a:solidFill>
                          <a:latin typeface="Calibri (MS)"/>
                        </a:rPr>
                        <a:t>21,5366 jiwa/miliar Rp</a:t>
                      </a:r>
                    </a:p>
                  </a:txBody>
                  <a:tcPr marL="73152" marR="73152" marT="36576" marB="36576" anchor="ctr">
                    <a:solidFill>
                      <a:srgbClr val="EAF8FA"/>
                    </a:solidFill>
                  </a:tcPr>
                </a:tc>
                <a:tc>
                  <a:txBody>
                    <a:bodyPr wrap="square"/>
                    <a:lstStyle/>
                    <a:p>
                      <a:r>
                        <a:rPr sz="1050" b="0" i="0">
                          <a:solidFill>
                            <a:srgbClr val="14313B"/>
                          </a:solidFill>
                          <a:latin typeface="Calibri (MS)"/>
                        </a:rPr>
                        <a:t>Produktivitas TK tahun dasar</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31</a:t>
                      </a:r>
                    </a:p>
                  </a:txBody>
                  <a:tcPr marL="73152" marR="73152" marT="36576" marB="36576" anchor="ctr">
                    <a:solidFill>
                      <a:srgbClr val="FFFFFF"/>
                    </a:solidFill>
                  </a:tcPr>
                </a:tc>
                <a:tc>
                  <a:txBody>
                    <a:bodyPr wrap="square"/>
                    <a:lstStyle/>
                    <a:p>
                      <a:r>
                        <a:rPr sz="1050" b="0" i="0">
                          <a:solidFill>
                            <a:srgbClr val="14313B"/>
                          </a:solidFill>
                          <a:latin typeface="Calibri (MS)"/>
                        </a:rPr>
                        <a:t>Laju Kenaikan Produktivitas</a:t>
                      </a:r>
                    </a:p>
                  </a:txBody>
                  <a:tcPr marL="73152" marR="73152" marT="36576" marB="36576" anchor="ctr">
                    <a:solidFill>
                      <a:srgbClr val="FFFFFF"/>
                    </a:solidFill>
                  </a:tcPr>
                </a:tc>
                <a:tc>
                  <a:txBody>
                    <a:bodyPr wrap="square"/>
                    <a:lstStyle/>
                    <a:p>
                      <a:pPr algn="ctr"/>
                      <a:r>
                        <a:rPr sz="1050" b="0" i="0">
                          <a:solidFill>
                            <a:srgbClr val="14313B"/>
                          </a:solidFill>
                          <a:latin typeface="Calibri (MS)"/>
                        </a:rPr>
                        <a:t>0,0110 /th</a:t>
                      </a:r>
                    </a:p>
                  </a:txBody>
                  <a:tcPr marL="73152" marR="73152" marT="36576" marB="36576" anchor="ctr">
                    <a:solidFill>
                      <a:srgbClr val="FFFFFF"/>
                    </a:solidFill>
                  </a:tcPr>
                </a:tc>
                <a:tc>
                  <a:txBody>
                    <a:bodyPr wrap="square"/>
                    <a:lstStyle/>
                    <a:p>
                      <a:r>
                        <a:rPr sz="1050" b="0" i="0">
                          <a:solidFill>
                            <a:srgbClr val="14313B"/>
                          </a:solidFill>
                          <a:latin typeface="Calibri (MS)"/>
                        </a:rPr>
                        <a:t>Tren produktivitas riil 2015–2025</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32</a:t>
                      </a:r>
                    </a:p>
                  </a:txBody>
                  <a:tcPr marL="73152" marR="73152" marT="36576" marB="36576" anchor="ctr">
                    <a:solidFill>
                      <a:srgbClr val="EAF8FA"/>
                    </a:solidFill>
                  </a:tcPr>
                </a:tc>
                <a:tc>
                  <a:txBody>
                    <a:bodyPr wrap="square"/>
                    <a:lstStyle/>
                    <a:p>
                      <a:r>
                        <a:rPr sz="1050" b="0" i="0">
                          <a:solidFill>
                            <a:srgbClr val="14313B"/>
                          </a:solidFill>
                          <a:latin typeface="Calibri (MS)"/>
                        </a:rPr>
                        <a:t>Laju Keluar Dasar TK</a:t>
                      </a:r>
                    </a:p>
                  </a:txBody>
                  <a:tcPr marL="73152" marR="73152" marT="36576" marB="36576" anchor="ctr">
                    <a:solidFill>
                      <a:srgbClr val="EAF8FA"/>
                    </a:solidFill>
                  </a:tcPr>
                </a:tc>
                <a:tc>
                  <a:txBody>
                    <a:bodyPr wrap="square"/>
                    <a:lstStyle/>
                    <a:p>
                      <a:pPr algn="ctr"/>
                      <a:r>
                        <a:rPr sz="1050" b="0" i="0">
                          <a:solidFill>
                            <a:srgbClr val="14313B"/>
                          </a:solidFill>
                          <a:latin typeface="Calibri (MS)"/>
                        </a:rPr>
                        <a:t>0,03 /th</a:t>
                      </a:r>
                    </a:p>
                  </a:txBody>
                  <a:tcPr marL="73152" marR="73152" marT="36576" marB="36576" anchor="ctr">
                    <a:solidFill>
                      <a:srgbClr val="EAF8FA"/>
                    </a:solidFill>
                  </a:tcPr>
                </a:tc>
                <a:tc>
                  <a:txBody>
                    <a:bodyPr wrap="square"/>
                    <a:lstStyle/>
                    <a:p>
                      <a:r>
                        <a:rPr sz="1050" b="0" i="0">
                          <a:solidFill>
                            <a:srgbClr val="14313B"/>
                          </a:solidFill>
                          <a:latin typeface="Calibri (MS)"/>
                        </a:rPr>
                        <a:t>Masa kerja sampai usia pensiun</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33</a:t>
                      </a:r>
                    </a:p>
                  </a:txBody>
                  <a:tcPr marL="73152" marR="73152" marT="36576" marB="36576" anchor="ctr">
                    <a:solidFill>
                      <a:srgbClr val="FFFFFF"/>
                    </a:solidFill>
                  </a:tcPr>
                </a:tc>
                <a:tc>
                  <a:txBody>
                    <a:bodyPr wrap="square"/>
                    <a:lstStyle/>
                    <a:p>
                      <a:r>
                        <a:rPr sz="1050" b="0" i="0">
                          <a:solidFill>
                            <a:srgbClr val="14313B"/>
                          </a:solidFill>
                          <a:latin typeface="Calibri (MS)"/>
                        </a:rPr>
                        <a:t>Waktu Penyesuaian TK</a:t>
                      </a:r>
                    </a:p>
                  </a:txBody>
                  <a:tcPr marL="73152" marR="73152" marT="36576" marB="36576" anchor="ctr">
                    <a:solidFill>
                      <a:srgbClr val="FFFFFF"/>
                    </a:solidFill>
                  </a:tcPr>
                </a:tc>
                <a:tc>
                  <a:txBody>
                    <a:bodyPr wrap="square"/>
                    <a:lstStyle/>
                    <a:p>
                      <a:pPr algn="ctr"/>
                      <a:r>
                        <a:rPr sz="1050" b="0" i="0">
                          <a:solidFill>
                            <a:srgbClr val="14313B"/>
                          </a:solidFill>
                          <a:latin typeface="Calibri (MS)"/>
                        </a:rPr>
                        <a:t>1 tahun</a:t>
                      </a:r>
                    </a:p>
                  </a:txBody>
                  <a:tcPr marL="73152" marR="73152" marT="36576" marB="36576" anchor="ctr">
                    <a:solidFill>
                      <a:srgbClr val="FFFFFF"/>
                    </a:solidFill>
                  </a:tcPr>
                </a:tc>
                <a:tc>
                  <a:txBody>
                    <a:bodyPr wrap="square"/>
                    <a:lstStyle/>
                    <a:p>
                      <a:r>
                        <a:rPr sz="1050" b="0" i="0">
                          <a:solidFill>
                            <a:srgbClr val="14313B"/>
                          </a:solidFill>
                          <a:latin typeface="Calibri (MS)"/>
                        </a:rPr>
                        <a:t>Kecepatan perekrutan sektor jasa</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34</a:t>
                      </a:r>
                    </a:p>
                  </a:txBody>
                  <a:tcPr marL="73152" marR="73152" marT="36576" marB="36576" anchor="ctr">
                    <a:solidFill>
                      <a:srgbClr val="EAF8FA"/>
                    </a:solidFill>
                  </a:tcPr>
                </a:tc>
                <a:tc>
                  <a:txBody>
                    <a:bodyPr wrap="square"/>
                    <a:lstStyle/>
                    <a:p>
                      <a:r>
                        <a:rPr sz="1050" b="0" i="0">
                          <a:solidFill>
                            <a:srgbClr val="14313B"/>
                          </a:solidFill>
                          <a:latin typeface="Calibri (MS)"/>
                        </a:rPr>
                        <a:t>Insentif Kebijakan</a:t>
                      </a:r>
                    </a:p>
                  </a:txBody>
                  <a:tcPr marL="73152" marR="73152" marT="36576" marB="36576" anchor="ctr">
                    <a:solidFill>
                      <a:srgbClr val="EAF8FA"/>
                    </a:solidFill>
                  </a:tcPr>
                </a:tc>
                <a:tc>
                  <a:txBody>
                    <a:bodyPr wrap="square"/>
                    <a:lstStyle/>
                    <a:p>
                      <a:pPr algn="ctr"/>
                      <a:r>
                        <a:rPr sz="1050" b="0" i="0">
                          <a:solidFill>
                            <a:srgbClr val="14313B"/>
                          </a:solidFill>
                          <a:latin typeface="Calibri (MS)"/>
                        </a:rPr>
                        <a:t>0 (BAU)</a:t>
                      </a:r>
                    </a:p>
                  </a:txBody>
                  <a:tcPr marL="73152" marR="73152" marT="36576" marB="36576" anchor="ctr">
                    <a:solidFill>
                      <a:srgbClr val="EAF8FA"/>
                    </a:solidFill>
                  </a:tcPr>
                </a:tc>
                <a:tc>
                  <a:txBody>
                    <a:bodyPr wrap="square"/>
                    <a:lstStyle/>
                    <a:p>
                      <a:r>
                        <a:rPr sz="1050" b="0" i="0">
                          <a:solidFill>
                            <a:srgbClr val="14313B"/>
                          </a:solidFill>
                          <a:latin typeface="Calibri (MS)"/>
                        </a:rPr>
                        <a:t>Tuas kebijakan, per skenario</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35</a:t>
                      </a:r>
                    </a:p>
                  </a:txBody>
                  <a:tcPr marL="73152" marR="73152" marT="36576" marB="36576" anchor="ctr">
                    <a:solidFill>
                      <a:srgbClr val="FFFFFF"/>
                    </a:solidFill>
                  </a:tcPr>
                </a:tc>
                <a:tc>
                  <a:txBody>
                    <a:bodyPr wrap="square"/>
                    <a:lstStyle/>
                    <a:p>
                      <a:r>
                        <a:rPr sz="1050" b="0" i="0">
                          <a:solidFill>
                            <a:srgbClr val="14313B"/>
                          </a:solidFill>
                          <a:latin typeface="Calibri (MS)"/>
                        </a:rPr>
                        <a:t>Kebijakan Konservasi Lahan</a:t>
                      </a:r>
                    </a:p>
                  </a:txBody>
                  <a:tcPr marL="73152" marR="73152" marT="36576" marB="36576" anchor="ctr">
                    <a:solidFill>
                      <a:srgbClr val="FFFFFF"/>
                    </a:solidFill>
                  </a:tcPr>
                </a:tc>
                <a:tc>
                  <a:txBody>
                    <a:bodyPr wrap="square"/>
                    <a:lstStyle/>
                    <a:p>
                      <a:pPr algn="ctr"/>
                      <a:r>
                        <a:rPr sz="1050" b="0" i="0">
                          <a:solidFill>
                            <a:srgbClr val="14313B"/>
                          </a:solidFill>
                          <a:latin typeface="Calibri (MS)"/>
                        </a:rPr>
                        <a:t>0 (BAU)</a:t>
                      </a:r>
                    </a:p>
                  </a:txBody>
                  <a:tcPr marL="73152" marR="73152" marT="36576" marB="36576" anchor="ctr">
                    <a:solidFill>
                      <a:srgbClr val="FFFFFF"/>
                    </a:solidFill>
                  </a:tcPr>
                </a:tc>
                <a:tc>
                  <a:txBody>
                    <a:bodyPr wrap="square"/>
                    <a:lstStyle/>
                    <a:p>
                      <a:r>
                        <a:rPr sz="1050" b="0" i="0">
                          <a:solidFill>
                            <a:srgbClr val="14313B"/>
                          </a:solidFill>
                          <a:latin typeface="Calibri (MS)"/>
                        </a:rPr>
                        <a:t>Tuas kebijakan, per skenario</a:t>
                      </a:r>
                    </a:p>
                  </a:txBody>
                  <a:tcPr marL="73152" marR="73152" marT="36576" marB="36576" anchor="ctr">
                    <a:solidFill>
                      <a:srgbClr val="FFFFFF"/>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14) dan 4.4.2 (Tabel 38).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31 · Batas Model (3/3): Aspek yang Dikeluarkan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Setiap aspek dicatat alasan dan konsekuensinya agar jelas sejauh mana kesimpulan berlaku</a:t>
            </a:r>
          </a:p>
        </p:txBody>
      </p:sp>
      <p:graphicFrame>
        <p:nvGraphicFramePr>
          <p:cNvPr id="27" name="Table 26"/>
          <p:cNvGraphicFramePr>
            <a:graphicFrameLocks noGrp="1"/>
          </p:cNvGraphicFramePr>
          <p:nvPr/>
        </p:nvGraphicFramePr>
        <p:xfrm>
          <a:off x="822960" y="1874519"/>
          <a:ext cx="16642080" cy="6729984"/>
        </p:xfrm>
        <a:graphic>
          <a:graphicData uri="http://schemas.openxmlformats.org/drawingml/2006/table">
            <a:tbl>
              <a:tblPr firstRow="1" bandRow="1">
                <a:tableStyleId>{5C22544A-7EE6-4342-B048-85BDC9FD1C3A}</a:tableStyleId>
              </a:tblPr>
              <a:tblGrid>
                <a:gridCol w="548640"/>
                <a:gridCol w="4206240"/>
                <a:gridCol w="6035040"/>
                <a:gridCol w="5852160"/>
              </a:tblGrid>
              <a:tr h="420624">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Aspek</a:t>
                      </a:r>
                    </a:p>
                  </a:txBody>
                  <a:tcPr marL="73152" marR="73152" marT="36576" marB="36576" anchor="ctr">
                    <a:solidFill>
                      <a:srgbClr val="0B5E6E"/>
                    </a:solidFill>
                  </a:tcPr>
                </a:tc>
                <a:tc>
                  <a:txBody>
                    <a:bodyPr wrap="square"/>
                    <a:lstStyle/>
                    <a:p>
                      <a:r>
                        <a:rPr sz="1050" b="1" i="0">
                          <a:solidFill>
                            <a:srgbClr val="FFFFFF"/>
                          </a:solidFill>
                          <a:latin typeface="Calibri (MS) Bold"/>
                        </a:rPr>
                        <a:t>Alasan dikeluarkan</a:t>
                      </a:r>
                    </a:p>
                  </a:txBody>
                  <a:tcPr marL="73152" marR="73152" marT="36576" marB="36576" anchor="ctr">
                    <a:solidFill>
                      <a:srgbClr val="0B5E6E"/>
                    </a:solidFill>
                  </a:tcPr>
                </a:tc>
                <a:tc>
                  <a:txBody>
                    <a:bodyPr wrap="square"/>
                    <a:lstStyle/>
                    <a:p>
                      <a:r>
                        <a:rPr sz="1050" b="1" i="0">
                          <a:solidFill>
                            <a:srgbClr val="FFFFFF"/>
                          </a:solidFill>
                          <a:latin typeface="Calibri (MS) Bold"/>
                        </a:rPr>
                        <a:t>Konsekuensi terhadap hasil</a:t>
                      </a:r>
                    </a:p>
                  </a:txBody>
                  <a:tcPr marL="73152" marR="73152" marT="36576" marB="36576" anchor="ctr">
                    <a:solidFill>
                      <a:srgbClr val="0B5E6E"/>
                    </a:solidFill>
                  </a:tcPr>
                </a:tc>
              </a:tr>
              <a:tr h="420624">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r>
                        <a:rPr sz="1050" b="0" i="0">
                          <a:solidFill>
                            <a:srgbClr val="14313B"/>
                          </a:solidFill>
                          <a:latin typeface="Calibri (MS)"/>
                        </a:rPr>
                        <a:t>Pemisahan wisman dan wisnus</a:t>
                      </a:r>
                    </a:p>
                  </a:txBody>
                  <a:tcPr marL="73152" marR="73152" marT="36576" marB="36576" anchor="ctr">
                    <a:solidFill>
                      <a:srgbClr val="FFFFFF"/>
                    </a:solidFill>
                  </a:tcPr>
                </a:tc>
                <a:tc>
                  <a:txBody>
                    <a:bodyPr wrap="square"/>
                    <a:lstStyle/>
                    <a:p>
                      <a:r>
                        <a:rPr sz="1050" b="0" i="0">
                          <a:solidFill>
                            <a:srgbClr val="14313B"/>
                          </a:solidFill>
                          <a:latin typeface="Calibri (MS)"/>
                        </a:rPr>
                        <a:t>Wisnus mendominasi kunjungan DIY; menambah stok tanpa pertanyaan kebijakan berbeda</a:t>
                      </a:r>
                    </a:p>
                  </a:txBody>
                  <a:tcPr marL="73152" marR="73152" marT="36576" marB="36576" anchor="ctr">
                    <a:solidFill>
                      <a:srgbClr val="FFFFFF"/>
                    </a:solidFill>
                  </a:tcPr>
                </a:tc>
                <a:tc>
                  <a:txBody>
                    <a:bodyPr wrap="square"/>
                    <a:lstStyle/>
                    <a:p>
                      <a:r>
                        <a:rPr sz="1050" b="0" i="0">
                          <a:solidFill>
                            <a:srgbClr val="14313B"/>
                          </a:solidFill>
                          <a:latin typeface="Calibri (MS)"/>
                        </a:rPr>
                        <a:t>Perbedaan pola belanja dan lama tinggal tidak terlihat</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2</a:t>
                      </a:r>
                    </a:p>
                  </a:txBody>
                  <a:tcPr marL="73152" marR="73152" marT="36576" marB="36576" anchor="ctr">
                    <a:solidFill>
                      <a:srgbClr val="EAF8FA"/>
                    </a:solidFill>
                  </a:tcPr>
                </a:tc>
                <a:tc>
                  <a:txBody>
                    <a:bodyPr wrap="square"/>
                    <a:lstStyle/>
                    <a:p>
                      <a:r>
                        <a:rPr sz="1050" b="0" i="0">
                          <a:solidFill>
                            <a:srgbClr val="14313B"/>
                          </a:solidFill>
                          <a:latin typeface="Calibri (MS)"/>
                        </a:rPr>
                        <a:t>Harga dan daya saing harga</a:t>
                      </a:r>
                    </a:p>
                  </a:txBody>
                  <a:tcPr marL="73152" marR="73152" marT="36576" marB="36576" anchor="ctr">
                    <a:solidFill>
                      <a:srgbClr val="EAF8FA"/>
                    </a:solidFill>
                  </a:tcPr>
                </a:tc>
                <a:tc>
                  <a:txBody>
                    <a:bodyPr wrap="square"/>
                    <a:lstStyle/>
                    <a:p>
                      <a:r>
                        <a:rPr sz="1050" b="0" i="0">
                          <a:solidFill>
                            <a:srgbClr val="14313B"/>
                          </a:solidFill>
                          <a:latin typeface="Calibri (MS)"/>
                        </a:rPr>
                        <a:t>Tidak ada indeks harga pariwisata tingkat provinsi</a:t>
                      </a:r>
                    </a:p>
                  </a:txBody>
                  <a:tcPr marL="73152" marR="73152" marT="36576" marB="36576" anchor="ctr">
                    <a:solidFill>
                      <a:srgbClr val="EAF8FA"/>
                    </a:solidFill>
                  </a:tcPr>
                </a:tc>
                <a:tc>
                  <a:txBody>
                    <a:bodyPr wrap="square"/>
                    <a:lstStyle/>
                    <a:p>
                      <a:r>
                        <a:rPr sz="1050" b="0" i="0">
                          <a:solidFill>
                            <a:srgbClr val="14313B"/>
                          </a:solidFill>
                          <a:latin typeface="Calibri (MS)"/>
                        </a:rPr>
                        <a:t>Penyeimbang lewat harga tidak tercakup</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3</a:t>
                      </a:r>
                    </a:p>
                  </a:txBody>
                  <a:tcPr marL="73152" marR="73152" marT="36576" marB="36576" anchor="ctr">
                    <a:solidFill>
                      <a:srgbClr val="FFFFFF"/>
                    </a:solidFill>
                  </a:tcPr>
                </a:tc>
                <a:tc>
                  <a:txBody>
                    <a:bodyPr wrap="square"/>
                    <a:lstStyle/>
                    <a:p>
                      <a:r>
                        <a:rPr sz="1050" b="0" i="0">
                          <a:solidFill>
                            <a:srgbClr val="14313B"/>
                          </a:solidFill>
                          <a:latin typeface="Calibri (MS)"/>
                        </a:rPr>
                        <a:t>Aksesibilitas dan transportasi</a:t>
                      </a:r>
                    </a:p>
                  </a:txBody>
                  <a:tcPr marL="73152" marR="73152" marT="36576" marB="36576" anchor="ctr">
                    <a:solidFill>
                      <a:srgbClr val="FFFFFF"/>
                    </a:solidFill>
                  </a:tcPr>
                </a:tc>
                <a:tc>
                  <a:txBody>
                    <a:bodyPr wrap="square"/>
                    <a:lstStyle/>
                    <a:p>
                      <a:r>
                        <a:rPr sz="1050" b="0" i="0">
                          <a:solidFill>
                            <a:srgbClr val="14313B"/>
                          </a:solidFill>
                          <a:latin typeface="Calibri (MS)"/>
                        </a:rPr>
                        <a:t>Ditentukan kebijakan nasional</a:t>
                      </a:r>
                    </a:p>
                  </a:txBody>
                  <a:tcPr marL="73152" marR="73152" marT="36576" marB="36576" anchor="ctr">
                    <a:solidFill>
                      <a:srgbClr val="FFFFFF"/>
                    </a:solidFill>
                  </a:tcPr>
                </a:tc>
                <a:tc>
                  <a:txBody>
                    <a:bodyPr wrap="square"/>
                    <a:lstStyle/>
                    <a:p>
                      <a:r>
                        <a:rPr sz="1050" b="0" i="0">
                          <a:solidFill>
                            <a:srgbClr val="14313B"/>
                          </a:solidFill>
                          <a:latin typeface="Calibri (MS)"/>
                        </a:rPr>
                        <a:t>Efeknya tersirat dalam laju pertumbuhan eksternal</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4</a:t>
                      </a:r>
                    </a:p>
                  </a:txBody>
                  <a:tcPr marL="73152" marR="73152" marT="36576" marB="36576" anchor="ctr">
                    <a:solidFill>
                      <a:srgbClr val="EAF8FA"/>
                    </a:solidFill>
                  </a:tcPr>
                </a:tc>
                <a:tc>
                  <a:txBody>
                    <a:bodyPr wrap="square"/>
                    <a:lstStyle/>
                    <a:p>
                      <a:r>
                        <a:rPr sz="1050" b="0" i="0">
                          <a:solidFill>
                            <a:srgbClr val="14313B"/>
                          </a:solidFill>
                          <a:latin typeface="Calibri (MS)"/>
                        </a:rPr>
                        <a:t>Promosi, pemasaran, citra</a:t>
                      </a:r>
                    </a:p>
                  </a:txBody>
                  <a:tcPr marL="73152" marR="73152" marT="36576" marB="36576" anchor="ctr">
                    <a:solidFill>
                      <a:srgbClr val="EAF8FA"/>
                    </a:solidFill>
                  </a:tcPr>
                </a:tc>
                <a:tc>
                  <a:txBody>
                    <a:bodyPr wrap="square"/>
                    <a:lstStyle/>
                    <a:p>
                      <a:r>
                        <a:rPr sz="1050" b="0" i="0">
                          <a:solidFill>
                            <a:srgbClr val="14313B"/>
                          </a:solidFill>
                          <a:latin typeface="Calibri (MS)"/>
                        </a:rPr>
                        <a:t>Data anggaran dan efektivitas promosi tidak tersedia tahunan</a:t>
                      </a:r>
                    </a:p>
                  </a:txBody>
                  <a:tcPr marL="73152" marR="73152" marT="36576" marB="36576" anchor="ctr">
                    <a:solidFill>
                      <a:srgbClr val="EAF8FA"/>
                    </a:solidFill>
                  </a:tcPr>
                </a:tc>
                <a:tc>
                  <a:txBody>
                    <a:bodyPr wrap="square"/>
                    <a:lstStyle/>
                    <a:p>
                      <a:r>
                        <a:rPr sz="1050" b="0" i="0">
                          <a:solidFill>
                            <a:srgbClr val="14313B"/>
                          </a:solidFill>
                          <a:latin typeface="Calibri (MS)"/>
                        </a:rPr>
                        <a:t>Tersirat dalam laju pertumbuhan eksternal</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5</a:t>
                      </a:r>
                    </a:p>
                  </a:txBody>
                  <a:tcPr marL="73152" marR="73152" marT="36576" marB="36576" anchor="ctr">
                    <a:solidFill>
                      <a:srgbClr val="FFFFFF"/>
                    </a:solidFill>
                  </a:tcPr>
                </a:tc>
                <a:tc>
                  <a:txBody>
                    <a:bodyPr wrap="square"/>
                    <a:lstStyle/>
                    <a:p>
                      <a:r>
                        <a:rPr sz="1050" b="0" i="0">
                          <a:solidFill>
                            <a:srgbClr val="14313B"/>
                          </a:solidFill>
                          <a:latin typeface="Calibri (MS)"/>
                        </a:rPr>
                        <a:t>Kualitas SDM dan sertifikasi</a:t>
                      </a:r>
                    </a:p>
                  </a:txBody>
                  <a:tcPr marL="73152" marR="73152" marT="36576" marB="36576" anchor="ctr">
                    <a:solidFill>
                      <a:srgbClr val="FFFFFF"/>
                    </a:solidFill>
                  </a:tcPr>
                </a:tc>
                <a:tc>
                  <a:txBody>
                    <a:bodyPr wrap="square"/>
                    <a:lstStyle/>
                    <a:p>
                      <a:r>
                        <a:rPr sz="1050" b="0" i="0">
                          <a:solidFill>
                            <a:srgbClr val="14313B"/>
                          </a:solidFill>
                          <a:latin typeface="Calibri (MS)"/>
                        </a:rPr>
                        <a:t>Data tidak lengkap; fokus pada jumlah, bukan mutu</a:t>
                      </a:r>
                    </a:p>
                  </a:txBody>
                  <a:tcPr marL="73152" marR="73152" marT="36576" marB="36576" anchor="ctr">
                    <a:solidFill>
                      <a:srgbClr val="FFFFFF"/>
                    </a:solidFill>
                  </a:tcPr>
                </a:tc>
                <a:tc>
                  <a:txBody>
                    <a:bodyPr wrap="square"/>
                    <a:lstStyle/>
                    <a:p>
                      <a:r>
                        <a:rPr sz="1050" b="0" i="0">
                          <a:solidFill>
                            <a:srgbClr val="14313B"/>
                          </a:solidFill>
                          <a:latin typeface="Calibri (MS)"/>
                        </a:rPr>
                        <a:t>Perbedaan mutu layanan tidak terlihat</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6</a:t>
                      </a:r>
                    </a:p>
                  </a:txBody>
                  <a:tcPr marL="73152" marR="73152" marT="36576" marB="36576" anchor="ctr">
                    <a:solidFill>
                      <a:srgbClr val="EAF8FA"/>
                    </a:solidFill>
                  </a:tcPr>
                </a:tc>
                <a:tc>
                  <a:txBody>
                    <a:bodyPr wrap="square"/>
                    <a:lstStyle/>
                    <a:p>
                      <a:r>
                        <a:rPr sz="1050" b="0" i="0">
                          <a:solidFill>
                            <a:srgbClr val="14313B"/>
                          </a:solidFill>
                          <a:latin typeface="Calibri (MS)"/>
                        </a:rPr>
                        <a:t>Musim dan fluktuasi bulanan</a:t>
                      </a:r>
                    </a:p>
                  </a:txBody>
                  <a:tcPr marL="73152" marR="73152" marT="36576" marB="36576" anchor="ctr">
                    <a:solidFill>
                      <a:srgbClr val="EAF8FA"/>
                    </a:solidFill>
                  </a:tcPr>
                </a:tc>
                <a:tc>
                  <a:txBody>
                    <a:bodyPr wrap="square"/>
                    <a:lstStyle/>
                    <a:p>
                      <a:r>
                        <a:rPr sz="1050" b="0" i="0">
                          <a:solidFill>
                            <a:srgbClr val="14313B"/>
                          </a:solidFill>
                          <a:latin typeface="Calibri (MS)"/>
                        </a:rPr>
                        <a:t>Satuan waktu model tahunan</a:t>
                      </a:r>
                    </a:p>
                  </a:txBody>
                  <a:tcPr marL="73152" marR="73152" marT="36576" marB="36576" anchor="ctr">
                    <a:solidFill>
                      <a:srgbClr val="EAF8FA"/>
                    </a:solidFill>
                  </a:tcPr>
                </a:tc>
                <a:tc>
                  <a:txBody>
                    <a:bodyPr wrap="square"/>
                    <a:lstStyle/>
                    <a:p>
                      <a:r>
                        <a:rPr sz="1050" b="0" i="0">
                          <a:solidFill>
                            <a:srgbClr val="14313B"/>
                          </a:solidFill>
                          <a:latin typeface="Calibri (MS)"/>
                        </a:rPr>
                        <a:t>Okupansi puncak musim ramai tidak tergambar</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7</a:t>
                      </a:r>
                    </a:p>
                  </a:txBody>
                  <a:tcPr marL="73152" marR="73152" marT="36576" marB="36576" anchor="ctr">
                    <a:solidFill>
                      <a:srgbClr val="FFFFFF"/>
                    </a:solidFill>
                  </a:tcPr>
                </a:tc>
                <a:tc>
                  <a:txBody>
                    <a:bodyPr wrap="square"/>
                    <a:lstStyle/>
                    <a:p>
                      <a:r>
                        <a:rPr sz="1050" b="0" i="0">
                          <a:solidFill>
                            <a:srgbClr val="14313B"/>
                          </a:solidFill>
                          <a:latin typeface="Calibri (MS)"/>
                        </a:rPr>
                        <a:t>Kejadian mendadak: pandemi, erupsi, gempa</a:t>
                      </a:r>
                    </a:p>
                  </a:txBody>
                  <a:tcPr marL="73152" marR="73152" marT="36576" marB="36576" anchor="ctr">
                    <a:solidFill>
                      <a:srgbClr val="FFFFFF"/>
                    </a:solidFill>
                  </a:tcPr>
                </a:tc>
                <a:tc>
                  <a:txBody>
                    <a:bodyPr wrap="square"/>
                    <a:lstStyle/>
                    <a:p>
                      <a:r>
                        <a:rPr sz="1050" b="0" i="0">
                          <a:solidFill>
                            <a:srgbClr val="14313B"/>
                          </a:solidFill>
                          <a:latin typeface="Calibri (MS)"/>
                        </a:rPr>
                        <a:t>Peristiwa acak di luar struktur umpan balik</a:t>
                      </a:r>
                    </a:p>
                  </a:txBody>
                  <a:tcPr marL="73152" marR="73152" marT="36576" marB="36576" anchor="ctr">
                    <a:solidFill>
                      <a:srgbClr val="FFFFFF"/>
                    </a:solidFill>
                  </a:tcPr>
                </a:tc>
                <a:tc>
                  <a:txBody>
                    <a:bodyPr wrap="square"/>
                    <a:lstStyle/>
                    <a:p>
                      <a:r>
                        <a:rPr sz="1050" b="0" i="0">
                          <a:solidFill>
                            <a:srgbClr val="14313B"/>
                          </a:solidFill>
                          <a:latin typeface="Calibri (MS)"/>
                        </a:rPr>
                        <a:t>Lintasan digambarkan tanpa kejadian mendadak</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8</a:t>
                      </a:r>
                    </a:p>
                  </a:txBody>
                  <a:tcPr marL="73152" marR="73152" marT="36576" marB="36576" anchor="ctr">
                    <a:solidFill>
                      <a:srgbClr val="EAF8FA"/>
                    </a:solidFill>
                  </a:tcPr>
                </a:tc>
                <a:tc>
                  <a:txBody>
                    <a:bodyPr wrap="square"/>
                    <a:lstStyle/>
                    <a:p>
                      <a:r>
                        <a:rPr sz="1050" b="0" i="0">
                          <a:solidFill>
                            <a:srgbClr val="14313B"/>
                          </a:solidFill>
                          <a:latin typeface="Calibri (MS)"/>
                        </a:rPr>
                        <a:t>Persaingan antardestinasi</a:t>
                      </a:r>
                    </a:p>
                  </a:txBody>
                  <a:tcPr marL="73152" marR="73152" marT="36576" marB="36576" anchor="ctr">
                    <a:solidFill>
                      <a:srgbClr val="EAF8FA"/>
                    </a:solidFill>
                  </a:tcPr>
                </a:tc>
                <a:tc>
                  <a:txBody>
                    <a:bodyPr wrap="square"/>
                    <a:lstStyle/>
                    <a:p>
                      <a:r>
                        <a:rPr sz="1050" b="0" i="0">
                          <a:solidFill>
                            <a:srgbClr val="14313B"/>
                          </a:solidFill>
                          <a:latin typeface="Calibri (MS)"/>
                        </a:rPr>
                        <a:t>Membutuhkan model multi-destinasi</a:t>
                      </a:r>
                    </a:p>
                  </a:txBody>
                  <a:tcPr marL="73152" marR="73152" marT="36576" marB="36576" anchor="ctr">
                    <a:solidFill>
                      <a:srgbClr val="EAF8FA"/>
                    </a:solidFill>
                  </a:tcPr>
                </a:tc>
                <a:tc>
                  <a:txBody>
                    <a:bodyPr wrap="square"/>
                    <a:lstStyle/>
                    <a:p>
                      <a:r>
                        <a:rPr sz="1050" b="0" i="0">
                          <a:solidFill>
                            <a:srgbClr val="14313B"/>
                          </a:solidFill>
                          <a:latin typeface="Calibri (MS)"/>
                        </a:rPr>
                        <a:t>Perpindahan wisatawan ke destinasi lain tidak dimodelkan</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9</a:t>
                      </a:r>
                    </a:p>
                  </a:txBody>
                  <a:tcPr marL="73152" marR="73152" marT="36576" marB="36576" anchor="ctr">
                    <a:solidFill>
                      <a:srgbClr val="FFFFFF"/>
                    </a:solidFill>
                  </a:tcPr>
                </a:tc>
                <a:tc>
                  <a:txBody>
                    <a:bodyPr wrap="square"/>
                    <a:lstStyle/>
                    <a:p>
                      <a:r>
                        <a:rPr sz="1050" b="0" i="0">
                          <a:solidFill>
                            <a:srgbClr val="14313B"/>
                          </a:solidFill>
                          <a:latin typeface="Calibri (MS)"/>
                        </a:rPr>
                        <a:t>Zonasi rinci RTRW dan kawasan lindung</a:t>
                      </a:r>
                    </a:p>
                  </a:txBody>
                  <a:tcPr marL="73152" marR="73152" marT="36576" marB="36576" anchor="ctr">
                    <a:solidFill>
                      <a:srgbClr val="FFFFFF"/>
                    </a:solidFill>
                  </a:tcPr>
                </a:tc>
                <a:tc>
                  <a:txBody>
                    <a:bodyPr wrap="square"/>
                    <a:lstStyle/>
                    <a:p>
                      <a:r>
                        <a:rPr sz="1050" b="0" i="0">
                          <a:solidFill>
                            <a:srgbClr val="14313B"/>
                          </a:solidFill>
                          <a:latin typeface="Calibri (MS)"/>
                        </a:rPr>
                        <a:t>Model memakai luas wilayah administratif</a:t>
                      </a:r>
                    </a:p>
                  </a:txBody>
                  <a:tcPr marL="73152" marR="73152" marT="36576" marB="36576" anchor="ctr">
                    <a:solidFill>
                      <a:srgbClr val="FFFFFF"/>
                    </a:solidFill>
                  </a:tcPr>
                </a:tc>
                <a:tc>
                  <a:txBody>
                    <a:bodyPr wrap="square"/>
                    <a:lstStyle/>
                    <a:p>
                      <a:r>
                        <a:rPr sz="1050" b="0" i="0">
                          <a:solidFill>
                            <a:srgbClr val="14313B"/>
                          </a:solidFill>
                          <a:latin typeface="Calibri (MS)"/>
                        </a:rPr>
                        <a:t>Daya dukung lahan cenderung terlalu longgar</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10</a:t>
                      </a:r>
                    </a:p>
                  </a:txBody>
                  <a:tcPr marL="73152" marR="73152" marT="36576" marB="36576" anchor="ctr">
                    <a:solidFill>
                      <a:srgbClr val="EAF8FA"/>
                    </a:solidFill>
                  </a:tcPr>
                </a:tc>
                <a:tc>
                  <a:txBody>
                    <a:bodyPr wrap="square"/>
                    <a:lstStyle/>
                    <a:p>
                      <a:r>
                        <a:rPr sz="1050" b="0" i="0">
                          <a:solidFill>
                            <a:srgbClr val="14313B"/>
                          </a:solidFill>
                          <a:latin typeface="Calibri (MS)"/>
                        </a:rPr>
                        <a:t>Dampak lingkungan: sampah, air, emisi</a:t>
                      </a:r>
                    </a:p>
                  </a:txBody>
                  <a:tcPr marL="73152" marR="73152" marT="36576" marB="36576" anchor="ctr">
                    <a:solidFill>
                      <a:srgbClr val="EAF8FA"/>
                    </a:solidFill>
                  </a:tcPr>
                </a:tc>
                <a:tc>
                  <a:txBody>
                    <a:bodyPr wrap="square"/>
                    <a:lstStyle/>
                    <a:p>
                      <a:r>
                        <a:rPr sz="1050" b="0" i="0">
                          <a:solidFill>
                            <a:srgbClr val="14313B"/>
                          </a:solidFill>
                          <a:latin typeface="Calibri (MS)"/>
                        </a:rPr>
                        <a:t>Data provinsi tidak konsisten</a:t>
                      </a:r>
                    </a:p>
                  </a:txBody>
                  <a:tcPr marL="73152" marR="73152" marT="36576" marB="36576" anchor="ctr">
                    <a:solidFill>
                      <a:srgbClr val="EAF8FA"/>
                    </a:solidFill>
                  </a:tcPr>
                </a:tc>
                <a:tc>
                  <a:txBody>
                    <a:bodyPr wrap="square"/>
                    <a:lstStyle/>
                    <a:p>
                      <a:r>
                        <a:rPr sz="1050" b="0" i="0">
                          <a:solidFill>
                            <a:srgbClr val="14313B"/>
                          </a:solidFill>
                          <a:latin typeface="Calibri (MS)"/>
                        </a:rPr>
                        <a:t>Lingkungan hanya diwakili lahan terbangun</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11</a:t>
                      </a:r>
                    </a:p>
                  </a:txBody>
                  <a:tcPr marL="73152" marR="73152" marT="36576" marB="36576" anchor="ctr">
                    <a:solidFill>
                      <a:srgbClr val="FFFFFF"/>
                    </a:solidFill>
                  </a:tcPr>
                </a:tc>
                <a:tc>
                  <a:txBody>
                    <a:bodyPr wrap="square"/>
                    <a:lstStyle/>
                    <a:p>
                      <a:r>
                        <a:rPr sz="1050" b="0" i="0">
                          <a:solidFill>
                            <a:srgbClr val="14313B"/>
                          </a:solidFill>
                          <a:latin typeface="Calibri (MS)"/>
                        </a:rPr>
                        <a:t>Daya dukung sosial budaya</a:t>
                      </a:r>
                    </a:p>
                  </a:txBody>
                  <a:tcPr marL="73152" marR="73152" marT="36576" marB="36576" anchor="ctr">
                    <a:solidFill>
                      <a:srgbClr val="FFFFFF"/>
                    </a:solidFill>
                  </a:tcPr>
                </a:tc>
                <a:tc>
                  <a:txBody>
                    <a:bodyPr wrap="square"/>
                    <a:lstStyle/>
                    <a:p>
                      <a:r>
                        <a:rPr sz="1050" b="0" i="0">
                          <a:solidFill>
                            <a:srgbClr val="14313B"/>
                          </a:solidFill>
                          <a:latin typeface="Calibri (MS)"/>
                        </a:rPr>
                        <a:t>Sulit diukur kuantitatif di tingkat provinsi</a:t>
                      </a:r>
                    </a:p>
                  </a:txBody>
                  <a:tcPr marL="73152" marR="73152" marT="36576" marB="36576" anchor="ctr">
                    <a:solidFill>
                      <a:srgbClr val="FFFFFF"/>
                    </a:solidFill>
                  </a:tcPr>
                </a:tc>
                <a:tc>
                  <a:txBody>
                    <a:bodyPr wrap="square"/>
                    <a:lstStyle/>
                    <a:p>
                      <a:r>
                        <a:rPr sz="1050" b="0" i="0">
                          <a:solidFill>
                            <a:srgbClr val="14313B"/>
                          </a:solidFill>
                          <a:latin typeface="Calibri (MS)"/>
                        </a:rPr>
                        <a:t>Aspek sosial keberlanjutan tidak terwakili</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12</a:t>
                      </a:r>
                    </a:p>
                  </a:txBody>
                  <a:tcPr marL="73152" marR="73152" marT="36576" marB="36576" anchor="ctr">
                    <a:solidFill>
                      <a:srgbClr val="EAF8FA"/>
                    </a:solidFill>
                  </a:tcPr>
                </a:tc>
                <a:tc>
                  <a:txBody>
                    <a:bodyPr wrap="square"/>
                    <a:lstStyle/>
                    <a:p>
                      <a:r>
                        <a:rPr sz="1050" b="0" i="0">
                          <a:solidFill>
                            <a:srgbClr val="14313B"/>
                          </a:solidFill>
                          <a:latin typeface="Calibri (MS)"/>
                        </a:rPr>
                        <a:t>Distribusi manfaat ekonomi</a:t>
                      </a:r>
                    </a:p>
                  </a:txBody>
                  <a:tcPr marL="73152" marR="73152" marT="36576" marB="36576" anchor="ctr">
                    <a:solidFill>
                      <a:srgbClr val="EAF8FA"/>
                    </a:solidFill>
                  </a:tcPr>
                </a:tc>
                <a:tc>
                  <a:txBody>
                    <a:bodyPr wrap="square"/>
                    <a:lstStyle/>
                    <a:p>
                      <a:r>
                        <a:rPr sz="1050" b="0" i="0">
                          <a:solidFill>
                            <a:srgbClr val="14313B"/>
                          </a:solidFill>
                          <a:latin typeface="Calibri (MS)"/>
                        </a:rPr>
                        <a:t>Model bekerja pada tingkat agregat</a:t>
                      </a:r>
                    </a:p>
                  </a:txBody>
                  <a:tcPr marL="73152" marR="73152" marT="36576" marB="36576" anchor="ctr">
                    <a:solidFill>
                      <a:srgbClr val="EAF8FA"/>
                    </a:solidFill>
                  </a:tcPr>
                </a:tc>
                <a:tc>
                  <a:txBody>
                    <a:bodyPr wrap="square"/>
                    <a:lstStyle/>
                    <a:p>
                      <a:r>
                        <a:rPr sz="1050" b="0" i="0">
                          <a:solidFill>
                            <a:srgbClr val="14313B"/>
                          </a:solidFill>
                          <a:latin typeface="Calibri (MS)"/>
                        </a:rPr>
                        <a:t>Tidak menjawab siapa penerima manfaat</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13</a:t>
                      </a:r>
                    </a:p>
                  </a:txBody>
                  <a:tcPr marL="73152" marR="73152" marT="36576" marB="36576" anchor="ctr">
                    <a:solidFill>
                      <a:srgbClr val="FFFFFF"/>
                    </a:solidFill>
                  </a:tcPr>
                </a:tc>
                <a:tc>
                  <a:txBody>
                    <a:bodyPr wrap="square"/>
                    <a:lstStyle/>
                    <a:p>
                      <a:r>
                        <a:rPr sz="1050" b="0" i="0">
                          <a:solidFill>
                            <a:srgbClr val="14313B"/>
                          </a:solidFill>
                          <a:latin typeface="Calibri (MS)"/>
                        </a:rPr>
                        <a:t>Investasi pemerintah (APBN/APBD)</a:t>
                      </a:r>
                    </a:p>
                  </a:txBody>
                  <a:tcPr marL="73152" marR="73152" marT="36576" marB="36576" anchor="ctr">
                    <a:solidFill>
                      <a:srgbClr val="FFFFFF"/>
                    </a:solidFill>
                  </a:tcPr>
                </a:tc>
                <a:tc>
                  <a:txBody>
                    <a:bodyPr wrap="square"/>
                    <a:lstStyle/>
                    <a:p>
                      <a:r>
                        <a:rPr sz="1050" b="0" i="0">
                          <a:solidFill>
                            <a:srgbClr val="14313B"/>
                          </a:solidFill>
                          <a:latin typeface="Calibri (MS)"/>
                        </a:rPr>
                        <a:t>Data investasi memakai realisasi PMA dan PMDN</a:t>
                      </a:r>
                    </a:p>
                  </a:txBody>
                  <a:tcPr marL="73152" marR="73152" marT="36576" marB="36576" anchor="ctr">
                    <a:solidFill>
                      <a:srgbClr val="FFFFFF"/>
                    </a:solidFill>
                  </a:tcPr>
                </a:tc>
                <a:tc>
                  <a:txBody>
                    <a:bodyPr wrap="square"/>
                    <a:lstStyle/>
                    <a:p>
                      <a:r>
                        <a:rPr sz="1050" b="0" i="0">
                          <a:solidFill>
                            <a:srgbClr val="14313B"/>
                          </a:solidFill>
                          <a:latin typeface="Calibri (MS)"/>
                        </a:rPr>
                        <a:t>Pembangunan pemerintah masuk jalur non-investasi eksogen</a:t>
                      </a:r>
                    </a:p>
                  </a:txBody>
                  <a:tcPr marL="73152" marR="73152" marT="36576" marB="36576" anchor="ctr">
                    <a:solidFill>
                      <a:srgbClr val="FFFFFF"/>
                    </a:solidFill>
                  </a:tcPr>
                </a:tc>
              </a:tr>
              <a:tr h="420624">
                <a:tc>
                  <a:txBody>
                    <a:bodyPr wrap="square"/>
                    <a:lstStyle/>
                    <a:p>
                      <a:pPr algn="ctr"/>
                      <a:r>
                        <a:rPr sz="1050" b="0" i="0">
                          <a:solidFill>
                            <a:srgbClr val="14313B"/>
                          </a:solidFill>
                          <a:latin typeface="Calibri (MS)"/>
                        </a:rPr>
                        <a:t>14</a:t>
                      </a:r>
                    </a:p>
                  </a:txBody>
                  <a:tcPr marL="73152" marR="73152" marT="36576" marB="36576" anchor="ctr">
                    <a:solidFill>
                      <a:srgbClr val="EAF8FA"/>
                    </a:solidFill>
                  </a:tcPr>
                </a:tc>
                <a:tc>
                  <a:txBody>
                    <a:bodyPr wrap="square"/>
                    <a:lstStyle/>
                    <a:p>
                      <a:r>
                        <a:rPr sz="1050" b="0" i="0">
                          <a:solidFill>
                            <a:srgbClr val="14313B"/>
                          </a:solidFill>
                          <a:latin typeface="Calibri (MS)"/>
                        </a:rPr>
                        <a:t>Perpindahan TK antarsektor</a:t>
                      </a:r>
                    </a:p>
                  </a:txBody>
                  <a:tcPr marL="73152" marR="73152" marT="36576" marB="36576" anchor="ctr">
                    <a:solidFill>
                      <a:srgbClr val="EAF8FA"/>
                    </a:solidFill>
                  </a:tcPr>
                </a:tc>
                <a:tc>
                  <a:txBody>
                    <a:bodyPr wrap="square"/>
                    <a:lstStyle/>
                    <a:p>
                      <a:r>
                        <a:rPr sz="1050" b="0" i="0">
                          <a:solidFill>
                            <a:srgbClr val="14313B"/>
                          </a:solidFill>
                          <a:latin typeface="Calibri (MS)"/>
                        </a:rPr>
                        <a:t>Sakernas tidak menerbitkan data perpindahan sektor</a:t>
                      </a:r>
                    </a:p>
                  </a:txBody>
                  <a:tcPr marL="73152" marR="73152" marT="36576" marB="36576" anchor="ctr">
                    <a:solidFill>
                      <a:srgbClr val="EAF8FA"/>
                    </a:solidFill>
                  </a:tcPr>
                </a:tc>
                <a:tc>
                  <a:txBody>
                    <a:bodyPr wrap="square"/>
                    <a:lstStyle/>
                    <a:p>
                      <a:r>
                        <a:rPr sz="1050" b="0" i="0">
                          <a:solidFill>
                            <a:srgbClr val="14313B"/>
                          </a:solidFill>
                          <a:latin typeface="Calibri (MS)"/>
                        </a:rPr>
                        <a:t>Laju keluar TK merupakan batas bawah</a:t>
                      </a:r>
                    </a:p>
                  </a:txBody>
                  <a:tcPr marL="73152" marR="73152" marT="36576" marB="36576" anchor="ctr">
                    <a:solidFill>
                      <a:srgbClr val="EAF8FA"/>
                    </a:solidFill>
                  </a:tcPr>
                </a:tc>
              </a:tr>
              <a:tr h="420624">
                <a:tc>
                  <a:txBody>
                    <a:bodyPr wrap="square"/>
                    <a:lstStyle/>
                    <a:p>
                      <a:pPr algn="ctr"/>
                      <a:r>
                        <a:rPr sz="1050" b="0" i="0">
                          <a:solidFill>
                            <a:srgbClr val="14313B"/>
                          </a:solidFill>
                          <a:latin typeface="Calibri (MS)"/>
                        </a:rPr>
                        <a:t>15</a:t>
                      </a:r>
                    </a:p>
                  </a:txBody>
                  <a:tcPr marL="73152" marR="73152" marT="36576" marB="36576" anchor="ctr">
                    <a:solidFill>
                      <a:srgbClr val="FFFFFF"/>
                    </a:solidFill>
                  </a:tcPr>
                </a:tc>
                <a:tc>
                  <a:txBody>
                    <a:bodyPr wrap="square"/>
                    <a:lstStyle/>
                    <a:p>
                      <a:r>
                        <a:rPr sz="1050" b="0" i="0">
                          <a:solidFill>
                            <a:srgbClr val="14313B"/>
                          </a:solidFill>
                          <a:latin typeface="Calibri (MS)"/>
                        </a:rPr>
                        <a:t>Harga dan kepemilikan lahan</a:t>
                      </a:r>
                    </a:p>
                  </a:txBody>
                  <a:tcPr marL="73152" marR="73152" marT="36576" marB="36576" anchor="ctr">
                    <a:solidFill>
                      <a:srgbClr val="FFFFFF"/>
                    </a:solidFill>
                  </a:tcPr>
                </a:tc>
                <a:tc>
                  <a:txBody>
                    <a:bodyPr wrap="square"/>
                    <a:lstStyle/>
                    <a:p>
                      <a:r>
                        <a:rPr sz="1050" b="0" i="0">
                          <a:solidFill>
                            <a:srgbClr val="14313B"/>
                          </a:solidFill>
                          <a:latin typeface="Calibri (MS)"/>
                        </a:rPr>
                        <a:t>Tidak ada seri harga lahan tingkat provinsi</a:t>
                      </a:r>
                    </a:p>
                  </a:txBody>
                  <a:tcPr marL="73152" marR="73152" marT="36576" marB="36576" anchor="ctr">
                    <a:solidFill>
                      <a:srgbClr val="FFFFFF"/>
                    </a:solidFill>
                  </a:tcPr>
                </a:tc>
                <a:tc>
                  <a:txBody>
                    <a:bodyPr wrap="square"/>
                    <a:lstStyle/>
                    <a:p>
                      <a:r>
                        <a:rPr sz="1050" b="0" i="0">
                          <a:solidFill>
                            <a:srgbClr val="14313B"/>
                          </a:solidFill>
                          <a:latin typeface="Calibri (MS)"/>
                        </a:rPr>
                        <a:t>Hambatan ekonomi konversi lahan tidak dimodelkan</a:t>
                      </a:r>
                    </a:p>
                  </a:txBody>
                  <a:tcPr marL="73152" marR="73152" marT="36576" marB="36576" anchor="ctr">
                    <a:solidFill>
                      <a:srgbClr val="FFFFFF"/>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15) dan 4.4.2 (Tabel 39).</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32 · Nilai 35 parameter menurut jenis sumbernya</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25" id="25"/>
          <p:cNvGrpSpPr/>
          <p:nvPr/>
        </p:nvGrpSpPr>
        <p:grpSpPr>
          <a:xfrm rot="0">
            <a:off x="822960" y="2331720"/>
            <a:ext cx="3154680" cy="6858000"/>
            <a:chOff x="0" y="0"/>
            <a:chExt cx="4206240" cy="9144000"/>
          </a:xfrm>
        </p:grpSpPr>
        <p:sp>
          <p:nvSpPr>
            <p:cNvPr name="Freeform 26" id="26"/>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27" id="27"/>
          <p:cNvSpPr txBox="true"/>
          <p:nvPr/>
        </p:nvSpPr>
        <p:spPr>
          <a:xfrm rot="0">
            <a:off x="1028700" y="2343912"/>
            <a:ext cx="2743200" cy="8382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8" id="28"/>
          <p:cNvGrpSpPr/>
          <p:nvPr/>
        </p:nvGrpSpPr>
        <p:grpSpPr>
          <a:xfrm rot="0">
            <a:off x="1028700" y="3236976"/>
            <a:ext cx="1783080" cy="384048"/>
            <a:chOff x="0" y="0"/>
            <a:chExt cx="2377440" cy="512064"/>
          </a:xfrm>
        </p:grpSpPr>
        <p:sp>
          <p:nvSpPr>
            <p:cNvPr name="Freeform 29" id="29"/>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0" id="30"/>
          <p:cNvGrpSpPr/>
          <p:nvPr/>
        </p:nvGrpSpPr>
        <p:grpSpPr>
          <a:xfrm rot="0">
            <a:off x="1028700" y="3236976"/>
            <a:ext cx="1783080" cy="384048"/>
            <a:chOff x="0" y="0"/>
            <a:chExt cx="2377440" cy="512064"/>
          </a:xfrm>
        </p:grpSpPr>
        <p:sp>
          <p:nvSpPr>
            <p:cNvPr name="Freeform 31" id="31"/>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2" id="32"/>
          <p:cNvGrpSpPr/>
          <p:nvPr/>
        </p:nvGrpSpPr>
        <p:grpSpPr>
          <a:xfrm rot="0">
            <a:off x="1028700" y="3208401"/>
            <a:ext cx="1783080" cy="412623"/>
            <a:chOff x="0" y="0"/>
            <a:chExt cx="2377440" cy="550164"/>
          </a:xfrm>
        </p:grpSpPr>
        <p:sp>
          <p:nvSpPr>
            <p:cNvPr name="Freeform 33" id="33"/>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sp>
      </p:grpSp>
      <p:grpSp>
        <p:nvGrpSpPr>
          <p:cNvPr name="Group 34" id="34"/>
          <p:cNvGrpSpPr/>
          <p:nvPr/>
        </p:nvGrpSpPr>
        <p:grpSpPr>
          <a:xfrm rot="0">
            <a:off x="1028700" y="3179826"/>
            <a:ext cx="1783080" cy="441198"/>
            <a:chOff x="0" y="0"/>
            <a:chExt cx="2377440" cy="588264"/>
          </a:xfrm>
        </p:grpSpPr>
        <p:sp>
          <p:nvSpPr>
            <p:cNvPr name="Freeform 35" id="35"/>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693" r="0" b="-28691"/>
              </a:stretch>
            </a:blipFill>
          </p:spPr>
        </p:sp>
      </p:grpSp>
      <p:grpSp>
        <p:nvGrpSpPr>
          <p:cNvPr name="Group 36" id="36"/>
          <p:cNvGrpSpPr/>
          <p:nvPr/>
        </p:nvGrpSpPr>
        <p:grpSpPr>
          <a:xfrm rot="0">
            <a:off x="1028700" y="3151251"/>
            <a:ext cx="1783080" cy="469773"/>
            <a:chOff x="0" y="0"/>
            <a:chExt cx="2377440" cy="626364"/>
          </a:xfrm>
        </p:grpSpPr>
        <p:sp>
          <p:nvSpPr>
            <p:cNvPr name="Freeform 37" id="37"/>
            <p:cNvSpPr/>
            <p:nvPr/>
          </p:nvSpPr>
          <p:spPr>
            <a:xfrm flipH="false" flipV="false" rot="0">
              <a:off x="0" y="0"/>
              <a:ext cx="2377440" cy="626364"/>
            </a:xfrm>
            <a:custGeom>
              <a:avLst/>
              <a:gdLst/>
              <a:ahLst/>
              <a:cxnLst/>
              <a:rect r="r" b="b" t="t" l="l"/>
              <a:pathLst>
                <a:path h="626364" w="2377440">
                  <a:moveTo>
                    <a:pt x="0" y="0"/>
                  </a:moveTo>
                  <a:lnTo>
                    <a:pt x="2377440" y="0"/>
                  </a:lnTo>
                  <a:lnTo>
                    <a:pt x="2377440" y="626364"/>
                  </a:lnTo>
                  <a:lnTo>
                    <a:pt x="0" y="626364"/>
                  </a:lnTo>
                  <a:close/>
                </a:path>
              </a:pathLst>
            </a:custGeom>
            <a:blipFill>
              <a:blip r:embed="rId7">
                <a:alphaModFix amt="0"/>
              </a:blip>
              <a:stretch>
                <a:fillRect l="0" t="-23957" r="0" b="-23957"/>
              </a:stretch>
            </a:blipFill>
          </p:spPr>
        </p:sp>
        <p:sp>
          <p:nvSpPr>
            <p:cNvPr name="TextBox 38" id="38"/>
            <p:cNvSpPr txBox="true"/>
            <p:nvPr/>
          </p:nvSpPr>
          <p:spPr>
            <a:xfrm>
              <a:off x="0" y="-38100"/>
              <a:ext cx="2377440" cy="6644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39" id="39"/>
          <p:cNvSpPr txBox="true"/>
          <p:nvPr/>
        </p:nvSpPr>
        <p:spPr>
          <a:xfrm rot="0">
            <a:off x="1028700" y="3764280"/>
            <a:ext cx="2811780" cy="5356860"/>
          </a:xfrm>
          <a:prstGeom prst="rect">
            <a:avLst/>
          </a:prstGeom>
        </p:spPr>
        <p:txBody>
          <a:bodyPr anchor="t" rtlCol="false" tIns="0" lIns="0" bIns="0" rIns="0">
            <a:spAutoFit/>
          </a:bodyPr>
          <a:lstStyle/>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TPG: 2,07</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40" id="40"/>
          <p:cNvGrpSpPr/>
          <p:nvPr/>
        </p:nvGrpSpPr>
        <p:grpSpPr>
          <a:xfrm rot="0">
            <a:off x="4197096" y="2331720"/>
            <a:ext cx="3154680" cy="6858000"/>
            <a:chOff x="0" y="0"/>
            <a:chExt cx="4206240" cy="9144000"/>
          </a:xfrm>
        </p:grpSpPr>
        <p:sp>
          <p:nvSpPr>
            <p:cNvPr name="Freeform 41" id="4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2" id="42"/>
          <p:cNvSpPr txBox="true"/>
          <p:nvPr/>
        </p:nvSpPr>
        <p:spPr>
          <a:xfrm rot="0">
            <a:off x="4402836" y="2343912"/>
            <a:ext cx="2743200" cy="8382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Persamaan stok-aliran</a:t>
            </a:r>
          </a:p>
        </p:txBody>
      </p:sp>
      <p:grpSp>
        <p:nvGrpSpPr>
          <p:cNvPr name="Group 43" id="43"/>
          <p:cNvGrpSpPr/>
          <p:nvPr/>
        </p:nvGrpSpPr>
        <p:grpSpPr>
          <a:xfrm rot="0">
            <a:off x="4402836" y="3236976"/>
            <a:ext cx="1783080" cy="384048"/>
            <a:chOff x="0" y="0"/>
            <a:chExt cx="2377440" cy="512064"/>
          </a:xfrm>
        </p:grpSpPr>
        <p:sp>
          <p:nvSpPr>
            <p:cNvPr name="Freeform 44" id="4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45" id="45"/>
          <p:cNvGrpSpPr/>
          <p:nvPr/>
        </p:nvGrpSpPr>
        <p:grpSpPr>
          <a:xfrm rot="0">
            <a:off x="4402836" y="3236976"/>
            <a:ext cx="1783080" cy="384048"/>
            <a:chOff x="0" y="0"/>
            <a:chExt cx="2377440" cy="512064"/>
          </a:xfrm>
        </p:grpSpPr>
        <p:sp>
          <p:nvSpPr>
            <p:cNvPr name="Freeform 46" id="4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7" id="47"/>
          <p:cNvGrpSpPr/>
          <p:nvPr/>
        </p:nvGrpSpPr>
        <p:grpSpPr>
          <a:xfrm rot="0">
            <a:off x="4402836" y="3208401"/>
            <a:ext cx="1783080" cy="412623"/>
            <a:chOff x="0" y="0"/>
            <a:chExt cx="2377440" cy="550164"/>
          </a:xfrm>
        </p:grpSpPr>
        <p:sp>
          <p:nvSpPr>
            <p:cNvPr name="Freeform 48" id="4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sp>
      </p:grpSp>
      <p:grpSp>
        <p:nvGrpSpPr>
          <p:cNvPr name="Group 49" id="49"/>
          <p:cNvGrpSpPr/>
          <p:nvPr/>
        </p:nvGrpSpPr>
        <p:grpSpPr>
          <a:xfrm rot="0">
            <a:off x="4402836" y="3179826"/>
            <a:ext cx="1783080" cy="441198"/>
            <a:chOff x="0" y="0"/>
            <a:chExt cx="2377440" cy="588264"/>
          </a:xfrm>
        </p:grpSpPr>
        <p:sp>
          <p:nvSpPr>
            <p:cNvPr name="Freeform 50" id="50"/>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693" r="0" b="-28691"/>
              </a:stretch>
            </a:blipFill>
          </p:spPr>
        </p:sp>
      </p:grpSp>
      <p:grpSp>
        <p:nvGrpSpPr>
          <p:cNvPr name="Group 51" id="51"/>
          <p:cNvGrpSpPr/>
          <p:nvPr/>
        </p:nvGrpSpPr>
        <p:grpSpPr>
          <a:xfrm rot="0">
            <a:off x="4402836" y="3151251"/>
            <a:ext cx="1783080" cy="469773"/>
            <a:chOff x="0" y="0"/>
            <a:chExt cx="2377440" cy="626364"/>
          </a:xfrm>
        </p:grpSpPr>
        <p:sp>
          <p:nvSpPr>
            <p:cNvPr name="Freeform 52" id="52"/>
            <p:cNvSpPr/>
            <p:nvPr/>
          </p:nvSpPr>
          <p:spPr>
            <a:xfrm flipH="false" flipV="false" rot="0">
              <a:off x="0" y="0"/>
              <a:ext cx="2377440" cy="626364"/>
            </a:xfrm>
            <a:custGeom>
              <a:avLst/>
              <a:gdLst/>
              <a:ahLst/>
              <a:cxnLst/>
              <a:rect r="r" b="b" t="t" l="l"/>
              <a:pathLst>
                <a:path h="626364" w="2377440">
                  <a:moveTo>
                    <a:pt x="0" y="0"/>
                  </a:moveTo>
                  <a:lnTo>
                    <a:pt x="2377440" y="0"/>
                  </a:lnTo>
                  <a:lnTo>
                    <a:pt x="2377440" y="626364"/>
                  </a:lnTo>
                  <a:lnTo>
                    <a:pt x="0" y="626364"/>
                  </a:lnTo>
                  <a:close/>
                </a:path>
              </a:pathLst>
            </a:custGeom>
            <a:blipFill>
              <a:blip r:embed="rId7">
                <a:alphaModFix amt="0"/>
              </a:blip>
              <a:stretch>
                <a:fillRect l="0" t="-23957" r="0" b="-23957"/>
              </a:stretch>
            </a:blipFill>
          </p:spPr>
        </p:sp>
        <p:sp>
          <p:nvSpPr>
            <p:cNvPr name="TextBox 53" id="53"/>
            <p:cNvSpPr txBox="true"/>
            <p:nvPr/>
          </p:nvSpPr>
          <p:spPr>
            <a:xfrm>
              <a:off x="0" y="-38100"/>
              <a:ext cx="2377440" cy="6644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54" id="54"/>
          <p:cNvSpPr txBox="true"/>
          <p:nvPr/>
        </p:nvSpPr>
        <p:spPr>
          <a:xfrm rot="0">
            <a:off x="4402836" y="3764280"/>
            <a:ext cx="2811780" cy="5356860"/>
          </a:xfrm>
          <a:prstGeom prst="rect">
            <a:avLst/>
          </a:prstGeom>
        </p:spPr>
        <p:txBody>
          <a:bodyPr anchor="t" rtlCol="false" tIns="0" lIns="0" bIns="0" rIns="0">
            <a:spAutoFit/>
          </a:bodyPr>
          <a:lstStyle/>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LPE: 0,27726</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LPD: 0,207945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Batas TPK: 0,275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55" id="55"/>
          <p:cNvGrpSpPr/>
          <p:nvPr/>
        </p:nvGrpSpPr>
        <p:grpSpPr>
          <a:xfrm rot="0">
            <a:off x="7571232" y="2331720"/>
            <a:ext cx="3154680" cy="6858000"/>
            <a:chOff x="0" y="0"/>
            <a:chExt cx="4206240" cy="9144000"/>
          </a:xfrm>
        </p:grpSpPr>
        <p:sp>
          <p:nvSpPr>
            <p:cNvPr name="Freeform 56" id="56"/>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7" id="57"/>
          <p:cNvSpPr txBox="true"/>
          <p:nvPr/>
        </p:nvSpPr>
        <p:spPr>
          <a:xfrm rot="0">
            <a:off x="7776972" y="2343912"/>
            <a:ext cx="2743200" cy="8382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58" id="58"/>
          <p:cNvGrpSpPr/>
          <p:nvPr/>
        </p:nvGrpSpPr>
        <p:grpSpPr>
          <a:xfrm rot="0">
            <a:off x="7776972" y="3236976"/>
            <a:ext cx="1783080" cy="384048"/>
            <a:chOff x="0" y="0"/>
            <a:chExt cx="2377440" cy="512064"/>
          </a:xfrm>
        </p:grpSpPr>
        <p:sp>
          <p:nvSpPr>
            <p:cNvPr name="Freeform 59" id="59"/>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60" id="60"/>
          <p:cNvGrpSpPr/>
          <p:nvPr/>
        </p:nvGrpSpPr>
        <p:grpSpPr>
          <a:xfrm rot="0">
            <a:off x="7776972" y="3236976"/>
            <a:ext cx="1783080" cy="384048"/>
            <a:chOff x="0" y="0"/>
            <a:chExt cx="2377440" cy="512064"/>
          </a:xfrm>
        </p:grpSpPr>
        <p:sp>
          <p:nvSpPr>
            <p:cNvPr name="Freeform 61" id="61"/>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2" id="62"/>
          <p:cNvGrpSpPr/>
          <p:nvPr/>
        </p:nvGrpSpPr>
        <p:grpSpPr>
          <a:xfrm rot="0">
            <a:off x="7776972" y="3208401"/>
            <a:ext cx="1783080" cy="412623"/>
            <a:chOff x="0" y="0"/>
            <a:chExt cx="2377440" cy="550164"/>
          </a:xfrm>
        </p:grpSpPr>
        <p:sp>
          <p:nvSpPr>
            <p:cNvPr name="Freeform 63" id="63"/>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sp>
      </p:grpSp>
      <p:grpSp>
        <p:nvGrpSpPr>
          <p:cNvPr name="Group 64" id="64"/>
          <p:cNvGrpSpPr/>
          <p:nvPr/>
        </p:nvGrpSpPr>
        <p:grpSpPr>
          <a:xfrm rot="0">
            <a:off x="7776972" y="3179826"/>
            <a:ext cx="1783080" cy="441198"/>
            <a:chOff x="0" y="0"/>
            <a:chExt cx="2377440" cy="588264"/>
          </a:xfrm>
        </p:grpSpPr>
        <p:sp>
          <p:nvSpPr>
            <p:cNvPr name="Freeform 65" id="65"/>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693" r="0" b="-28691"/>
              </a:stretch>
            </a:blipFill>
          </p:spPr>
        </p:sp>
      </p:grpSp>
      <p:grpSp>
        <p:nvGrpSpPr>
          <p:cNvPr name="Group 66" id="66"/>
          <p:cNvGrpSpPr/>
          <p:nvPr/>
        </p:nvGrpSpPr>
        <p:grpSpPr>
          <a:xfrm rot="0">
            <a:off x="7776972" y="3151251"/>
            <a:ext cx="1783080" cy="469773"/>
            <a:chOff x="0" y="0"/>
            <a:chExt cx="2377440" cy="626364"/>
          </a:xfrm>
        </p:grpSpPr>
        <p:sp>
          <p:nvSpPr>
            <p:cNvPr name="Freeform 67" id="67"/>
            <p:cNvSpPr/>
            <p:nvPr/>
          </p:nvSpPr>
          <p:spPr>
            <a:xfrm flipH="false" flipV="false" rot="0">
              <a:off x="0" y="0"/>
              <a:ext cx="2377440" cy="626364"/>
            </a:xfrm>
            <a:custGeom>
              <a:avLst/>
              <a:gdLst/>
              <a:ahLst/>
              <a:cxnLst/>
              <a:rect r="r" b="b" t="t" l="l"/>
              <a:pathLst>
                <a:path h="626364" w="2377440">
                  <a:moveTo>
                    <a:pt x="0" y="0"/>
                  </a:moveTo>
                  <a:lnTo>
                    <a:pt x="2377440" y="0"/>
                  </a:lnTo>
                  <a:lnTo>
                    <a:pt x="2377440" y="626364"/>
                  </a:lnTo>
                  <a:lnTo>
                    <a:pt x="0" y="626364"/>
                  </a:lnTo>
                  <a:close/>
                </a:path>
              </a:pathLst>
            </a:custGeom>
            <a:blipFill>
              <a:blip r:embed="rId7">
                <a:alphaModFix amt="0"/>
              </a:blip>
              <a:stretch>
                <a:fillRect l="0" t="-23957" r="0" b="-23957"/>
              </a:stretch>
            </a:blipFill>
          </p:spPr>
        </p:sp>
        <p:sp>
          <p:nvSpPr>
            <p:cNvPr name="TextBox 68" id="68"/>
            <p:cNvSpPr txBox="true"/>
            <p:nvPr/>
          </p:nvSpPr>
          <p:spPr>
            <a:xfrm>
              <a:off x="0" y="-38100"/>
              <a:ext cx="2377440" cy="6644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69" id="69"/>
          <p:cNvSpPr txBox="true"/>
          <p:nvPr/>
        </p:nvSpPr>
        <p:spPr>
          <a:xfrm rot="0">
            <a:off x="7776972" y="3764280"/>
            <a:ext cx="2811780" cy="5356860"/>
          </a:xfrm>
          <a:prstGeom prst="rect">
            <a:avLst/>
          </a:prstGeom>
        </p:spPr>
        <p:txBody>
          <a:bodyPr anchor="t" rtlCol="false" tIns="0" lIns="0" bIns="0" rIns="0">
            <a:spAutoFit/>
          </a:bodyPr>
          <a:lstStyle/>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70" id="70"/>
          <p:cNvGrpSpPr/>
          <p:nvPr/>
        </p:nvGrpSpPr>
        <p:grpSpPr>
          <a:xfrm rot="0">
            <a:off x="10945368" y="2331720"/>
            <a:ext cx="3154680" cy="6858000"/>
            <a:chOff x="0" y="0"/>
            <a:chExt cx="4206240" cy="9144000"/>
          </a:xfrm>
        </p:grpSpPr>
        <p:sp>
          <p:nvSpPr>
            <p:cNvPr name="Freeform 71" id="7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72" id="72"/>
          <p:cNvSpPr txBox="true"/>
          <p:nvPr/>
        </p:nvSpPr>
        <p:spPr>
          <a:xfrm rot="0">
            <a:off x="11151108" y="2343912"/>
            <a:ext cx="2743200" cy="8382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73" id="73"/>
          <p:cNvGrpSpPr/>
          <p:nvPr/>
        </p:nvGrpSpPr>
        <p:grpSpPr>
          <a:xfrm rot="0">
            <a:off x="11151108" y="3236976"/>
            <a:ext cx="1783080" cy="384048"/>
            <a:chOff x="0" y="0"/>
            <a:chExt cx="2377440" cy="512064"/>
          </a:xfrm>
        </p:grpSpPr>
        <p:sp>
          <p:nvSpPr>
            <p:cNvPr name="Freeform 74" id="7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75" id="75"/>
          <p:cNvGrpSpPr/>
          <p:nvPr/>
        </p:nvGrpSpPr>
        <p:grpSpPr>
          <a:xfrm rot="0">
            <a:off x="11151108" y="3236976"/>
            <a:ext cx="1783080" cy="384048"/>
            <a:chOff x="0" y="0"/>
            <a:chExt cx="2377440" cy="512064"/>
          </a:xfrm>
        </p:grpSpPr>
        <p:sp>
          <p:nvSpPr>
            <p:cNvPr name="Freeform 76" id="7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77" id="77"/>
          <p:cNvGrpSpPr/>
          <p:nvPr/>
        </p:nvGrpSpPr>
        <p:grpSpPr>
          <a:xfrm rot="0">
            <a:off x="11151108" y="3208401"/>
            <a:ext cx="1783080" cy="412623"/>
            <a:chOff x="0" y="0"/>
            <a:chExt cx="2377440" cy="550164"/>
          </a:xfrm>
        </p:grpSpPr>
        <p:sp>
          <p:nvSpPr>
            <p:cNvPr name="Freeform 78" id="7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sp>
      </p:grpSp>
      <p:grpSp>
        <p:nvGrpSpPr>
          <p:cNvPr name="Group 79" id="79"/>
          <p:cNvGrpSpPr/>
          <p:nvPr/>
        </p:nvGrpSpPr>
        <p:grpSpPr>
          <a:xfrm rot="0">
            <a:off x="11151108" y="3179826"/>
            <a:ext cx="1783080" cy="441198"/>
            <a:chOff x="0" y="0"/>
            <a:chExt cx="2377440" cy="588264"/>
          </a:xfrm>
        </p:grpSpPr>
        <p:sp>
          <p:nvSpPr>
            <p:cNvPr name="Freeform 80" id="80"/>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693" r="0" b="-28691"/>
              </a:stretch>
            </a:blipFill>
          </p:spPr>
        </p:sp>
      </p:grpSp>
      <p:grpSp>
        <p:nvGrpSpPr>
          <p:cNvPr name="Group 81" id="81"/>
          <p:cNvGrpSpPr/>
          <p:nvPr/>
        </p:nvGrpSpPr>
        <p:grpSpPr>
          <a:xfrm rot="0">
            <a:off x="11151108" y="3151251"/>
            <a:ext cx="1783080" cy="469773"/>
            <a:chOff x="0" y="0"/>
            <a:chExt cx="2377440" cy="626364"/>
          </a:xfrm>
        </p:grpSpPr>
        <p:sp>
          <p:nvSpPr>
            <p:cNvPr name="Freeform 82" id="82"/>
            <p:cNvSpPr/>
            <p:nvPr/>
          </p:nvSpPr>
          <p:spPr>
            <a:xfrm flipH="false" flipV="false" rot="0">
              <a:off x="0" y="0"/>
              <a:ext cx="2377440" cy="626364"/>
            </a:xfrm>
            <a:custGeom>
              <a:avLst/>
              <a:gdLst/>
              <a:ahLst/>
              <a:cxnLst/>
              <a:rect r="r" b="b" t="t" l="l"/>
              <a:pathLst>
                <a:path h="626364" w="2377440">
                  <a:moveTo>
                    <a:pt x="0" y="0"/>
                  </a:moveTo>
                  <a:lnTo>
                    <a:pt x="2377440" y="0"/>
                  </a:lnTo>
                  <a:lnTo>
                    <a:pt x="2377440" y="626364"/>
                  </a:lnTo>
                  <a:lnTo>
                    <a:pt x="0" y="626364"/>
                  </a:lnTo>
                  <a:close/>
                </a:path>
              </a:pathLst>
            </a:custGeom>
            <a:blipFill>
              <a:blip r:embed="rId7">
                <a:alphaModFix amt="0"/>
              </a:blip>
              <a:stretch>
                <a:fillRect l="0" t="-23957" r="0" b="-23957"/>
              </a:stretch>
            </a:blipFill>
          </p:spPr>
        </p:sp>
        <p:sp>
          <p:nvSpPr>
            <p:cNvPr name="TextBox 83" id="83"/>
            <p:cNvSpPr txBox="true"/>
            <p:nvPr/>
          </p:nvSpPr>
          <p:spPr>
            <a:xfrm>
              <a:off x="0" y="-38100"/>
              <a:ext cx="2377440" cy="6644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84" id="84"/>
          <p:cNvSpPr txBox="true"/>
          <p:nvPr/>
        </p:nvSpPr>
        <p:spPr>
          <a:xfrm rot="0">
            <a:off x="11151108" y="3764280"/>
            <a:ext cx="2811780" cy="5356860"/>
          </a:xfrm>
          <a:prstGeom prst="rect">
            <a:avLst/>
          </a:prstGeom>
        </p:spPr>
        <p:txBody>
          <a:bodyPr anchor="t" rtlCol="false" tIns="0" lIns="0" bIns="0" rIns="0">
            <a:spAutoFit/>
          </a:bodyPr>
          <a:lstStyle/>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85" id="85"/>
          <p:cNvGrpSpPr/>
          <p:nvPr/>
        </p:nvGrpSpPr>
        <p:grpSpPr>
          <a:xfrm rot="0">
            <a:off x="14319504" y="2331720"/>
            <a:ext cx="3154680" cy="6858000"/>
            <a:chOff x="0" y="0"/>
            <a:chExt cx="4206240" cy="9144000"/>
          </a:xfrm>
        </p:grpSpPr>
        <p:sp>
          <p:nvSpPr>
            <p:cNvPr name="Freeform 86" id="86"/>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87" id="87"/>
          <p:cNvSpPr txBox="true"/>
          <p:nvPr/>
        </p:nvSpPr>
        <p:spPr>
          <a:xfrm rot="0">
            <a:off x="14525244" y="2343912"/>
            <a:ext cx="2743200" cy="8382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kebijakan</a:t>
            </a:r>
          </a:p>
        </p:txBody>
      </p:sp>
      <p:grpSp>
        <p:nvGrpSpPr>
          <p:cNvPr name="Group 88" id="88"/>
          <p:cNvGrpSpPr/>
          <p:nvPr/>
        </p:nvGrpSpPr>
        <p:grpSpPr>
          <a:xfrm rot="0">
            <a:off x="14525244" y="3236976"/>
            <a:ext cx="1783080" cy="384048"/>
            <a:chOff x="0" y="0"/>
            <a:chExt cx="2377440" cy="512064"/>
          </a:xfrm>
        </p:grpSpPr>
        <p:sp>
          <p:nvSpPr>
            <p:cNvPr name="Freeform 89" id="89"/>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90" id="90"/>
          <p:cNvGrpSpPr/>
          <p:nvPr/>
        </p:nvGrpSpPr>
        <p:grpSpPr>
          <a:xfrm rot="0">
            <a:off x="14525244" y="3236976"/>
            <a:ext cx="1783080" cy="384048"/>
            <a:chOff x="0" y="0"/>
            <a:chExt cx="2377440" cy="512064"/>
          </a:xfrm>
        </p:grpSpPr>
        <p:sp>
          <p:nvSpPr>
            <p:cNvPr name="Freeform 91" id="91"/>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92" id="92"/>
          <p:cNvGrpSpPr/>
          <p:nvPr/>
        </p:nvGrpSpPr>
        <p:grpSpPr>
          <a:xfrm rot="0">
            <a:off x="14525244" y="3208401"/>
            <a:ext cx="1783080" cy="412623"/>
            <a:chOff x="0" y="0"/>
            <a:chExt cx="2377440" cy="550164"/>
          </a:xfrm>
        </p:grpSpPr>
        <p:sp>
          <p:nvSpPr>
            <p:cNvPr name="Freeform 93" id="93"/>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sp>
      </p:grpSp>
      <p:grpSp>
        <p:nvGrpSpPr>
          <p:cNvPr name="Group 94" id="94"/>
          <p:cNvGrpSpPr/>
          <p:nvPr/>
        </p:nvGrpSpPr>
        <p:grpSpPr>
          <a:xfrm rot="0">
            <a:off x="14525244" y="3179826"/>
            <a:ext cx="1783080" cy="441198"/>
            <a:chOff x="0" y="0"/>
            <a:chExt cx="2377440" cy="588264"/>
          </a:xfrm>
        </p:grpSpPr>
        <p:sp>
          <p:nvSpPr>
            <p:cNvPr name="Freeform 95" id="95"/>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693" r="0" b="-28691"/>
              </a:stretch>
            </a:blipFill>
          </p:spPr>
        </p:sp>
      </p:grpSp>
      <p:grpSp>
        <p:nvGrpSpPr>
          <p:cNvPr name="Group 96" id="96"/>
          <p:cNvGrpSpPr/>
          <p:nvPr/>
        </p:nvGrpSpPr>
        <p:grpSpPr>
          <a:xfrm rot="0">
            <a:off x="14525244" y="3151251"/>
            <a:ext cx="1783080" cy="469773"/>
            <a:chOff x="0" y="0"/>
            <a:chExt cx="2377440" cy="626364"/>
          </a:xfrm>
        </p:grpSpPr>
        <p:sp>
          <p:nvSpPr>
            <p:cNvPr name="Freeform 97" id="97"/>
            <p:cNvSpPr/>
            <p:nvPr/>
          </p:nvSpPr>
          <p:spPr>
            <a:xfrm flipH="false" flipV="false" rot="0">
              <a:off x="0" y="0"/>
              <a:ext cx="2377440" cy="626364"/>
            </a:xfrm>
            <a:custGeom>
              <a:avLst/>
              <a:gdLst/>
              <a:ahLst/>
              <a:cxnLst/>
              <a:rect r="r" b="b" t="t" l="l"/>
              <a:pathLst>
                <a:path h="626364" w="2377440">
                  <a:moveTo>
                    <a:pt x="0" y="0"/>
                  </a:moveTo>
                  <a:lnTo>
                    <a:pt x="2377440" y="0"/>
                  </a:lnTo>
                  <a:lnTo>
                    <a:pt x="2377440" y="626364"/>
                  </a:lnTo>
                  <a:lnTo>
                    <a:pt x="0" y="626364"/>
                  </a:lnTo>
                  <a:close/>
                </a:path>
              </a:pathLst>
            </a:custGeom>
            <a:blipFill>
              <a:blip r:embed="rId7">
                <a:alphaModFix amt="0"/>
              </a:blip>
              <a:stretch>
                <a:fillRect l="0" t="-23957" r="0" b="-23957"/>
              </a:stretch>
            </a:blipFill>
          </p:spPr>
        </p:sp>
        <p:sp>
          <p:nvSpPr>
            <p:cNvPr name="TextBox 98" id="98"/>
            <p:cNvSpPr txBox="true"/>
            <p:nvPr/>
          </p:nvSpPr>
          <p:spPr>
            <a:xfrm>
              <a:off x="0" y="-38100"/>
              <a:ext cx="2377440" cy="6644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99" id="99"/>
          <p:cNvSpPr txBox="true"/>
          <p:nvPr/>
        </p:nvSpPr>
        <p:spPr>
          <a:xfrm rot="0">
            <a:off x="14525244" y="3764280"/>
            <a:ext cx="2811780" cy="5356860"/>
          </a:xfrm>
          <a:prstGeom prst="rect">
            <a:avLst/>
          </a:prstGeom>
        </p:spPr>
        <p:txBody>
          <a:bodyPr anchor="t" rtlCol="false" tIns="0" lIns="0" bIns="0" rIns="0">
            <a:spAutoFit/>
          </a:bodyPr>
          <a:lstStyle/>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498812" indent="-99762" lvl="4">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100" id="100"/>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33 · Parameter Berbasis Data Statistik Resmi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Diambil langsung atau dihitung sederhana dari data resmi; rujukan mendukung bentuk hubungan, bukan nilainya</a:t>
            </a:r>
          </a:p>
        </p:txBody>
      </p:sp>
      <p:graphicFrame>
        <p:nvGraphicFramePr>
          <p:cNvPr id="27" name="Table 26"/>
          <p:cNvGraphicFramePr>
            <a:graphicFrameLocks noGrp="1"/>
          </p:cNvGraphicFramePr>
          <p:nvPr/>
        </p:nvGraphicFramePr>
        <p:xfrm>
          <a:off x="822960" y="1874519"/>
          <a:ext cx="16642080" cy="6885432"/>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078992">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r>
                        <a:rPr sz="1050" b="1" i="0">
                          <a:solidFill>
                            <a:srgbClr val="0B5E6E"/>
                          </a:solidFill>
                          <a:latin typeface="Calibri (MS)"/>
                        </a:rPr>
                        <a:t>Pengeluaran per Kunjungan (e)</a:t>
                      </a:r>
                    </a:p>
                  </a:txBody>
                  <a:tcPr marL="73152" marR="73152" marT="36576" marB="36576" anchor="ctr">
                    <a:solidFill>
                      <a:srgbClr val="FFFFFF"/>
                    </a:solidFill>
                  </a:tcPr>
                </a:tc>
                <a:tc>
                  <a:txBody>
                    <a:bodyPr wrap="square"/>
                    <a:lstStyle/>
                    <a:p>
                      <a:r>
                        <a:rPr sz="1050" b="0" i="0">
                          <a:solidFill>
                            <a:srgbClr val="14313B"/>
                          </a:solidFill>
                          <a:latin typeface="Calibri (MS)"/>
                        </a:rPr>
                        <a:t>0,00272021 miliar Rp/kunjungan</a:t>
                      </a:r>
                    </a:p>
                  </a:txBody>
                  <a:tcPr marL="73152" marR="73152" marT="36576" marB="36576" anchor="ctr">
                    <a:solidFill>
                      <a:srgbClr val="FFFFFF"/>
                    </a:solidFill>
                  </a:tcPr>
                </a:tc>
                <a:tc>
                  <a:txBody>
                    <a:bodyPr wrap="square"/>
                    <a:lstStyle/>
                    <a:p>
                      <a:r>
                        <a:rPr sz="1050" b="0" i="1">
                          <a:solidFill>
                            <a:srgbClr val="14313B"/>
                          </a:solidFill>
                          <a:latin typeface="Calibri (MS)"/>
                        </a:rPr>
                        <a:t>e = Pengeluaran wisatawan₂₀₂₅ ÷ Jumlah wisatawan₂₀₂₅</a:t>
                      </a:r>
                    </a:p>
                  </a:txBody>
                  <a:tcPr marL="73152" marR="73152" marT="36576" marB="36576" anchor="ctr">
                    <a:solidFill>
                      <a:srgbClr val="FFF1BF"/>
                    </a:solidFill>
                  </a:tcPr>
                </a:tc>
                <a:tc>
                  <a:txBody>
                    <a:bodyPr wrap="square"/>
                    <a:lstStyle/>
                    <a:p>
                      <a:r>
                        <a:rPr sz="1050" b="0" i="0">
                          <a:solidFill>
                            <a:srgbClr val="14313B"/>
                          </a:solidFill>
                          <a:latin typeface="Calibri (MS)"/>
                        </a:rPr>
                        <a:t>Menjaga jalur ekonomi sisi permintaan; nilai tahun dasar karena seri historis sangat bervariasi</a:t>
                      </a:r>
                    </a:p>
                  </a:txBody>
                  <a:tcPr marL="73152" marR="73152" marT="36576" marB="36576" anchor="ctr">
                    <a:solidFill>
                      <a:srgbClr val="FFFFFF"/>
                    </a:solidFill>
                  </a:tcPr>
                </a:tc>
                <a:tc>
                  <a:txBody>
                    <a:bodyPr wrap="square"/>
                    <a:lstStyle/>
                    <a:p>
                      <a:r>
                        <a:rPr sz="1050" b="0" i="0">
                          <a:solidFill>
                            <a:srgbClr val="14313B"/>
                          </a:solidFill>
                          <a:latin typeface="Calibri (MS)"/>
                        </a:rPr>
                        <a:t>BPS: wisnus dan Passenger Exit Survey (wisman)</a:t>
                      </a:r>
                    </a:p>
                  </a:txBody>
                  <a:tcPr marL="73152" marR="73152" marT="36576" marB="36576" anchor="ctr">
                    <a:solidFill>
                      <a:srgbClr val="FFFFFF"/>
                    </a:solidFill>
                  </a:tcPr>
                </a:tc>
                <a:tc>
                  <a:txBody>
                    <a:bodyPr wrap="square"/>
                    <a:lstStyle/>
                    <a:p>
                      <a:r>
                        <a:rPr sz="1050" b="0" i="0">
                          <a:solidFill>
                            <a:srgbClr val="14313B"/>
                          </a:solidFill>
                          <a:latin typeface="Calibri (MS)"/>
                        </a:rPr>
                        <a:t>Jones, Munday &amp; Roberts (2003); kerangka TSA</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2</a:t>
                      </a:r>
                    </a:p>
                  </a:txBody>
                  <a:tcPr marL="73152" marR="73152" marT="36576" marB="36576" anchor="ctr">
                    <a:solidFill>
                      <a:srgbClr val="EAF8FA"/>
                    </a:solidFill>
                  </a:tcPr>
                </a:tc>
                <a:tc>
                  <a:txBody>
                    <a:bodyPr wrap="square"/>
                    <a:lstStyle/>
                    <a:p>
                      <a:r>
                        <a:rPr sz="1050" b="1" i="0">
                          <a:solidFill>
                            <a:srgbClr val="0B5E6E"/>
                          </a:solidFill>
                          <a:latin typeface="Calibri (MS)"/>
                        </a:rPr>
                        <a:t>Rasio Nilai Tambah Pariwisata (r_NT)</a:t>
                      </a:r>
                    </a:p>
                  </a:txBody>
                  <a:tcPr marL="73152" marR="73152" marT="36576" marB="36576" anchor="ctr">
                    <a:solidFill>
                      <a:srgbClr val="EAF8FA"/>
                    </a:solidFill>
                  </a:tcPr>
                </a:tc>
                <a:tc>
                  <a:txBody>
                    <a:bodyPr wrap="square"/>
                    <a:lstStyle/>
                    <a:p>
                      <a:r>
                        <a:rPr sz="1050" b="0" i="0">
                          <a:solidFill>
                            <a:srgbClr val="14313B"/>
                          </a:solidFill>
                          <a:latin typeface="Calibri (MS)"/>
                        </a:rPr>
                        <a:t>0,153094 Dmnl</a:t>
                      </a:r>
                    </a:p>
                  </a:txBody>
                  <a:tcPr marL="73152" marR="73152" marT="36576" marB="36576" anchor="ctr">
                    <a:solidFill>
                      <a:srgbClr val="EAF8FA"/>
                    </a:solidFill>
                  </a:tcPr>
                </a:tc>
                <a:tc>
                  <a:txBody>
                    <a:bodyPr wrap="square"/>
                    <a:lstStyle/>
                    <a:p>
                      <a:r>
                        <a:rPr sz="1050" b="0" i="1">
                          <a:solidFill>
                            <a:srgbClr val="14313B"/>
                          </a:solidFill>
                          <a:latin typeface="Calibri (MS)"/>
                        </a:rPr>
                        <a:t>r_NT = PDRB pariwisata₂₀₂₅ ÷ Pengeluaran wisatawan₂₀₂₅</a:t>
                      </a:r>
                    </a:p>
                  </a:txBody>
                  <a:tcPr marL="73152" marR="73152" marT="36576" marB="36576" anchor="ctr">
                    <a:solidFill>
                      <a:srgbClr val="FFF1BF"/>
                    </a:solidFill>
                  </a:tcPr>
                </a:tc>
                <a:tc>
                  <a:txBody>
                    <a:bodyPr wrap="square"/>
                    <a:lstStyle/>
                    <a:p>
                      <a:r>
                        <a:rPr sz="1050" b="0" i="0">
                          <a:solidFill>
                            <a:srgbClr val="14313B"/>
                          </a:solidFill>
                          <a:latin typeface="Calibri (MS)"/>
                        </a:rPr>
                        <a:t>Mengubah pengeluaran bruto menjadi nilai tambah agar tidak dihitung ganda</a:t>
                      </a:r>
                    </a:p>
                  </a:txBody>
                  <a:tcPr marL="73152" marR="73152" marT="36576" marB="36576" anchor="ctr">
                    <a:solidFill>
                      <a:srgbClr val="EAF8FA"/>
                    </a:solidFill>
                  </a:tcPr>
                </a:tc>
                <a:tc>
                  <a:txBody>
                    <a:bodyPr wrap="square"/>
                    <a:lstStyle/>
                    <a:p>
                      <a:r>
                        <a:rPr sz="1050" b="0" i="0">
                          <a:solidFill>
                            <a:srgbClr val="14313B"/>
                          </a:solidFill>
                          <a:latin typeface="Calibri (MS)"/>
                        </a:rPr>
                        <a:t>PDRB ADHK I, R–U (BPS DIY); pengeluaran wisatawan</a:t>
                      </a:r>
                    </a:p>
                  </a:txBody>
                  <a:tcPr marL="73152" marR="73152" marT="36576" marB="36576" anchor="ctr">
                    <a:solidFill>
                      <a:srgbClr val="EAF8FA"/>
                    </a:solidFill>
                  </a:tcPr>
                </a:tc>
                <a:tc>
                  <a:txBody>
                    <a:bodyPr wrap="square"/>
                    <a:lstStyle/>
                    <a:p>
                      <a:r>
                        <a:rPr sz="1050" b="0" i="0">
                          <a:solidFill>
                            <a:srgbClr val="14313B"/>
                          </a:solidFill>
                          <a:latin typeface="Calibri (MS)"/>
                        </a:rPr>
                        <a:t>Jones et al. (2003); TSA</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3</a:t>
                      </a:r>
                    </a:p>
                  </a:txBody>
                  <a:tcPr marL="73152" marR="73152" marT="36576" marB="36576" anchor="ctr">
                    <a:solidFill>
                      <a:srgbClr val="FFFFFF"/>
                    </a:solidFill>
                  </a:tcPr>
                </a:tc>
                <a:tc>
                  <a:txBody>
                    <a:bodyPr wrap="square"/>
                    <a:lstStyle/>
                    <a:p>
                      <a:r>
                        <a:rPr sz="1050" b="1" i="0">
                          <a:solidFill>
                            <a:srgbClr val="0B5E6E"/>
                          </a:solidFill>
                          <a:latin typeface="Calibri (MS)"/>
                        </a:rPr>
                        <a:t>Rasio Investasi thd PDRB (r_I)</a:t>
                      </a:r>
                    </a:p>
                  </a:txBody>
                  <a:tcPr marL="73152" marR="73152" marT="36576" marB="36576" anchor="ctr">
                    <a:solidFill>
                      <a:srgbClr val="FFFFFF"/>
                    </a:solidFill>
                  </a:tcPr>
                </a:tc>
                <a:tc>
                  <a:txBody>
                    <a:bodyPr wrap="square"/>
                    <a:lstStyle/>
                    <a:p>
                      <a:r>
                        <a:rPr sz="1050" b="0" i="0">
                          <a:solidFill>
                            <a:srgbClr val="14313B"/>
                          </a:solidFill>
                          <a:latin typeface="Calibri (MS)"/>
                        </a:rPr>
                        <a:t>0,0488174 Dmnl</a:t>
                      </a:r>
                    </a:p>
                  </a:txBody>
                  <a:tcPr marL="73152" marR="73152" marT="36576" marB="36576" anchor="ctr">
                    <a:solidFill>
                      <a:srgbClr val="FFFFFF"/>
                    </a:solidFill>
                  </a:tcPr>
                </a:tc>
                <a:tc>
                  <a:txBody>
                    <a:bodyPr wrap="square"/>
                    <a:lstStyle/>
                    <a:p>
                      <a:r>
                        <a:rPr sz="1050" b="0" i="1">
                          <a:solidFill>
                            <a:srgbClr val="14313B"/>
                          </a:solidFill>
                          <a:latin typeface="Calibri (MS)"/>
                        </a:rPr>
                        <a:t>r_I = Σ Investasiₜ ÷ Σ PDRBₜ,  t = 2015–2025</a:t>
                      </a:r>
                    </a:p>
                  </a:txBody>
                  <a:tcPr marL="73152" marR="73152" marT="36576" marB="36576" anchor="ctr">
                    <a:solidFill>
                      <a:srgbClr val="FFF1BF"/>
                    </a:solidFill>
                  </a:tcPr>
                </a:tc>
                <a:tc>
                  <a:txBody>
                    <a:bodyPr wrap="square"/>
                    <a:lstStyle/>
                    <a:p>
                      <a:r>
                        <a:rPr sz="1050" b="0" i="0">
                          <a:solidFill>
                            <a:srgbClr val="14313B"/>
                          </a:solidFill>
                          <a:latin typeface="Calibri (MS)"/>
                        </a:rPr>
                        <a:t>Rasio kumulatif meredam fluktuasi tahunan investasi</a:t>
                      </a:r>
                    </a:p>
                  </a:txBody>
                  <a:tcPr marL="73152" marR="73152" marT="36576" marB="36576" anchor="ctr">
                    <a:solidFill>
                      <a:srgbClr val="FFFFFF"/>
                    </a:solidFill>
                  </a:tcPr>
                </a:tc>
                <a:tc>
                  <a:txBody>
                    <a:bodyPr wrap="square"/>
                    <a:lstStyle/>
                    <a:p>
                      <a:r>
                        <a:rPr sz="1050" b="0" i="0">
                          <a:solidFill>
                            <a:srgbClr val="14313B"/>
                          </a:solidFill>
                          <a:latin typeface="Calibri (MS)"/>
                        </a:rPr>
                        <a:t>PMA + PMDN pariwisata (BKPM); PDRB ADHK (BPS DIY)</a:t>
                      </a:r>
                    </a:p>
                  </a:txBody>
                  <a:tcPr marL="73152" marR="73152" marT="36576" marB="36576" anchor="ctr">
                    <a:solidFill>
                      <a:srgbClr val="FFFFFF"/>
                    </a:solidFill>
                  </a:tcPr>
                </a:tc>
                <a:tc>
                  <a:txBody>
                    <a:bodyPr wrap="square"/>
                    <a:lstStyle/>
                    <a:p>
                      <a:r>
                        <a:rPr sz="1050" b="0" i="0">
                          <a:solidFill>
                            <a:srgbClr val="14313B"/>
                          </a:solidFill>
                          <a:latin typeface="Calibri (MS)"/>
                        </a:rPr>
                        <a:t>Harrod (1939); Domar (1946)</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4</a:t>
                      </a:r>
                    </a:p>
                  </a:txBody>
                  <a:tcPr marL="73152" marR="73152" marT="36576" marB="36576" anchor="ctr">
                    <a:solidFill>
                      <a:srgbClr val="EAF8FA"/>
                    </a:solidFill>
                  </a:tcPr>
                </a:tc>
                <a:tc>
                  <a:txBody>
                    <a:bodyPr wrap="square"/>
                    <a:lstStyle/>
                    <a:p>
                      <a:r>
                        <a:rPr sz="1050" b="1" i="0">
                          <a:solidFill>
                            <a:srgbClr val="0B5E6E"/>
                          </a:solidFill>
                          <a:latin typeface="Calibri (MS)"/>
                        </a:rPr>
                        <a:t>Proporsi Wisatawan Menginap (p)</a:t>
                      </a:r>
                    </a:p>
                  </a:txBody>
                  <a:tcPr marL="73152" marR="73152" marT="36576" marB="36576" anchor="ctr">
                    <a:solidFill>
                      <a:srgbClr val="EAF8FA"/>
                    </a:solidFill>
                  </a:tcPr>
                </a:tc>
                <a:tc>
                  <a:txBody>
                    <a:bodyPr wrap="square"/>
                    <a:lstStyle/>
                    <a:p>
                      <a:r>
                        <a:rPr sz="1050" b="0" i="0">
                          <a:solidFill>
                            <a:srgbClr val="14313B"/>
                          </a:solidFill>
                          <a:latin typeface="Calibri (MS)"/>
                        </a:rPr>
                        <a:t>0,2058 Dmnl</a:t>
                      </a:r>
                    </a:p>
                  </a:txBody>
                  <a:tcPr marL="73152" marR="73152" marT="36576" marB="36576" anchor="ctr">
                    <a:solidFill>
                      <a:srgbClr val="EAF8FA"/>
                    </a:solidFill>
                  </a:tcPr>
                </a:tc>
                <a:tc>
                  <a:txBody>
                    <a:bodyPr wrap="square"/>
                    <a:lstStyle/>
                    <a:p>
                      <a:r>
                        <a:rPr sz="1050" b="0" i="1">
                          <a:solidFill>
                            <a:srgbClr val="14313B"/>
                          </a:solidFill>
                          <a:latin typeface="Calibri (MS)"/>
                        </a:rPr>
                        <a:t>p = Wisatawan menginap₂₀₂₅ ÷ Jumlah wisatawan₂₀₂₅</a:t>
                      </a:r>
                    </a:p>
                  </a:txBody>
                  <a:tcPr marL="73152" marR="73152" marT="36576" marB="36576" anchor="ctr">
                    <a:solidFill>
                      <a:srgbClr val="FFF1BF"/>
                    </a:solidFill>
                  </a:tcPr>
                </a:tc>
                <a:tc>
                  <a:txBody>
                    <a:bodyPr wrap="square"/>
                    <a:lstStyle/>
                    <a:p>
                      <a:r>
                        <a:rPr sz="1050" b="0" i="0">
                          <a:solidFill>
                            <a:srgbClr val="14313B"/>
                          </a:solidFill>
                          <a:latin typeface="Calibri (MS)"/>
                        </a:rPr>
                        <a:t>Hanya wisatawan menginap yang menimbulkan permintaan kamar</a:t>
                      </a:r>
                    </a:p>
                  </a:txBody>
                  <a:tcPr marL="73152" marR="73152" marT="36576" marB="36576" anchor="ctr">
                    <a:solidFill>
                      <a:srgbClr val="EAF8FA"/>
                    </a:solidFill>
                  </a:tcPr>
                </a:tc>
                <a:tc>
                  <a:txBody>
                    <a:bodyPr wrap="square"/>
                    <a:lstStyle/>
                    <a:p>
                      <a:r>
                        <a:rPr sz="1050" b="0" i="0">
                          <a:solidFill>
                            <a:srgbClr val="14313B"/>
                          </a:solidFill>
                          <a:latin typeface="Calibri (MS)"/>
                        </a:rPr>
                        <a:t>Tamu menginap dan jumlah wisatawan, BPS 2025</a:t>
                      </a:r>
                    </a:p>
                  </a:txBody>
                  <a:tcPr marL="73152" marR="73152" marT="36576" marB="36576" anchor="ctr">
                    <a:solidFill>
                      <a:srgbClr val="EAF8FA"/>
                    </a:solidFill>
                  </a:tcPr>
                </a:tc>
                <a:tc>
                  <a:txBody>
                    <a:bodyPr wrap="square"/>
                    <a:lstStyle/>
                    <a:p>
                      <a:r>
                        <a:rPr sz="1050" b="0" i="0">
                          <a:solidFill>
                            <a:srgbClr val="14313B"/>
                          </a:solidFill>
                          <a:latin typeface="Calibri (MS)"/>
                        </a:rPr>
                        <a:t>UNWTO (2008), IRTS 2008</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5</a:t>
                      </a:r>
                    </a:p>
                  </a:txBody>
                  <a:tcPr marL="73152" marR="73152" marT="36576" marB="36576" anchor="ctr">
                    <a:solidFill>
                      <a:srgbClr val="FFFFFF"/>
                    </a:solidFill>
                  </a:tcPr>
                </a:tc>
                <a:tc>
                  <a:txBody>
                    <a:bodyPr wrap="square"/>
                    <a:lstStyle/>
                    <a:p>
                      <a:r>
                        <a:rPr sz="1050" b="1" i="0">
                          <a:solidFill>
                            <a:srgbClr val="0B5E6E"/>
                          </a:solidFill>
                          <a:latin typeface="Calibri (MS)"/>
                        </a:rPr>
                        <a:t>Rata-rata Lama Menginap (LOS)</a:t>
                      </a:r>
                    </a:p>
                  </a:txBody>
                  <a:tcPr marL="73152" marR="73152" marT="36576" marB="36576" anchor="ctr">
                    <a:solidFill>
                      <a:srgbClr val="FFFFFF"/>
                    </a:solidFill>
                  </a:tcPr>
                </a:tc>
                <a:tc>
                  <a:txBody>
                    <a:bodyPr wrap="square"/>
                    <a:lstStyle/>
                    <a:p>
                      <a:r>
                        <a:rPr sz="1050" b="0" i="0">
                          <a:solidFill>
                            <a:srgbClr val="14313B"/>
                          </a:solidFill>
                          <a:latin typeface="Calibri (MS)"/>
                        </a:rPr>
                        <a:t>1,427 malam/kunjungan</a:t>
                      </a:r>
                    </a:p>
                  </a:txBody>
                  <a:tcPr marL="73152" marR="73152" marT="36576" marB="36576" anchor="ctr">
                    <a:solidFill>
                      <a:srgbClr val="FFFFFF"/>
                    </a:solidFill>
                  </a:tcPr>
                </a:tc>
                <a:tc>
                  <a:txBody>
                    <a:bodyPr wrap="square"/>
                    <a:lstStyle/>
                    <a:p>
                      <a:r>
                        <a:rPr sz="1050" b="0" i="1">
                          <a:solidFill>
                            <a:srgbClr val="14313B"/>
                          </a:solidFill>
                          <a:latin typeface="Calibri (MS)"/>
                        </a:rPr>
                        <a:t>LOS = Total malam₂₀₂₅ ÷ Wisatawan menginap₂₀₂₅</a:t>
                      </a:r>
                    </a:p>
                  </a:txBody>
                  <a:tcPr marL="73152" marR="73152" marT="36576" marB="36576" anchor="ctr">
                    <a:solidFill>
                      <a:srgbClr val="FFF1BF"/>
                    </a:solidFill>
                  </a:tcPr>
                </a:tc>
                <a:tc>
                  <a:txBody>
                    <a:bodyPr wrap="square"/>
                    <a:lstStyle/>
                    <a:p>
                      <a:r>
                        <a:rPr sz="1050" b="0" i="0">
                          <a:solidFill>
                            <a:srgbClr val="14313B"/>
                          </a:solidFill>
                          <a:latin typeface="Calibri (MS)"/>
                        </a:rPr>
                        <a:t>Mengubah wisatawan menginap menjadi permintaan malam</a:t>
                      </a:r>
                    </a:p>
                  </a:txBody>
                  <a:tcPr marL="73152" marR="73152" marT="36576" marB="36576" anchor="ctr">
                    <a:solidFill>
                      <a:srgbClr val="FFFFFF"/>
                    </a:solidFill>
                  </a:tcPr>
                </a:tc>
                <a:tc>
                  <a:txBody>
                    <a:bodyPr wrap="square"/>
                    <a:lstStyle/>
                    <a:p>
                      <a:r>
                        <a:rPr sz="1050" b="0" i="0">
                          <a:solidFill>
                            <a:srgbClr val="14313B"/>
                          </a:solidFill>
                          <a:latin typeface="Calibri (MS)"/>
                        </a:rPr>
                        <a:t>Publikasi TPK, BPS DIY</a:t>
                      </a:r>
                    </a:p>
                  </a:txBody>
                  <a:tcPr marL="73152" marR="73152" marT="36576" marB="36576" anchor="ctr">
                    <a:solidFill>
                      <a:srgbClr val="FFFFFF"/>
                    </a:solidFill>
                  </a:tcPr>
                </a:tc>
                <a:tc>
                  <a:txBody>
                    <a:bodyPr wrap="square"/>
                    <a:lstStyle/>
                    <a:p>
                      <a:r>
                        <a:rPr sz="1050" b="0" i="0">
                          <a:solidFill>
                            <a:srgbClr val="14313B"/>
                          </a:solidFill>
                          <a:latin typeface="Calibri (MS)"/>
                        </a:rPr>
                        <a:t>Mai &amp; Smith (2018); Alegre &amp; Pou (2006); Gössling et al. (2018)</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6</a:t>
                      </a:r>
                    </a:p>
                  </a:txBody>
                  <a:tcPr marL="73152" marR="73152" marT="36576" marB="36576" anchor="ctr">
                    <a:solidFill>
                      <a:srgbClr val="EAF8FA"/>
                    </a:solidFill>
                  </a:tcPr>
                </a:tc>
                <a:tc>
                  <a:txBody>
                    <a:bodyPr wrap="square"/>
                    <a:lstStyle/>
                    <a:p>
                      <a:r>
                        <a:rPr sz="1050" b="1" i="0">
                          <a:solidFill>
                            <a:srgbClr val="0B5E6E"/>
                          </a:solidFill>
                          <a:latin typeface="Calibri (MS)"/>
                        </a:rPr>
                        <a:t>Tingkat Penghunian Ganda (TPG)</a:t>
                      </a:r>
                    </a:p>
                  </a:txBody>
                  <a:tcPr marL="73152" marR="73152" marT="36576" marB="36576" anchor="ctr">
                    <a:solidFill>
                      <a:srgbClr val="EAF8FA"/>
                    </a:solidFill>
                  </a:tcPr>
                </a:tc>
                <a:tc>
                  <a:txBody>
                    <a:bodyPr wrap="square"/>
                    <a:lstStyle/>
                    <a:p>
                      <a:r>
                        <a:rPr sz="1050" b="0" i="0">
                          <a:solidFill>
                            <a:srgbClr val="14313B"/>
                          </a:solidFill>
                          <a:latin typeface="Calibri (MS)"/>
                        </a:rPr>
                        <a:t>2,07 orang/kamar</a:t>
                      </a:r>
                    </a:p>
                  </a:txBody>
                  <a:tcPr marL="73152" marR="73152" marT="36576" marB="36576" anchor="ctr">
                    <a:solidFill>
                      <a:srgbClr val="EAF8FA"/>
                    </a:solidFill>
                  </a:tcPr>
                </a:tc>
                <a:tc>
                  <a:txBody>
                    <a:bodyPr wrap="square"/>
                    <a:lstStyle/>
                    <a:p>
                      <a:r>
                        <a:rPr sz="1050" b="0" i="1">
                          <a:solidFill>
                            <a:srgbClr val="14313B"/>
                          </a:solidFill>
                          <a:latin typeface="Calibri (MS)"/>
                        </a:rPr>
                        <a:t>Nilai BPS tahun dasar 2025</a:t>
                      </a:r>
                    </a:p>
                  </a:txBody>
                  <a:tcPr marL="73152" marR="73152" marT="36576" marB="36576" anchor="ctr">
                    <a:solidFill>
                      <a:srgbClr val="FFF1BF"/>
                    </a:solidFill>
                  </a:tcPr>
                </a:tc>
                <a:tc>
                  <a:txBody>
                    <a:bodyPr wrap="square"/>
                    <a:lstStyle/>
                    <a:p>
                      <a:r>
                        <a:rPr sz="1050" b="0" i="0">
                          <a:solidFill>
                            <a:srgbClr val="14313B"/>
                          </a:solidFill>
                          <a:latin typeface="Calibri (MS)"/>
                        </a:rPr>
                        <a:t>Mengubah malam tamu menjadi malam kamar, konsisten dengan definisi TPK</a:t>
                      </a:r>
                    </a:p>
                  </a:txBody>
                  <a:tcPr marL="73152" marR="73152" marT="36576" marB="36576" anchor="ctr">
                    <a:solidFill>
                      <a:srgbClr val="EAF8FA"/>
                    </a:solidFill>
                  </a:tcPr>
                </a:tc>
                <a:tc>
                  <a:txBody>
                    <a:bodyPr wrap="square"/>
                    <a:lstStyle/>
                    <a:p>
                      <a:r>
                        <a:rPr sz="1050" b="0" i="0">
                          <a:solidFill>
                            <a:srgbClr val="14313B"/>
                          </a:solidFill>
                          <a:latin typeface="Calibri (MS)"/>
                        </a:rPr>
                        <a:t>Publikasi TPK, BPS DIY</a:t>
                      </a:r>
                    </a:p>
                  </a:txBody>
                  <a:tcPr marL="73152" marR="73152" marT="36576" marB="36576" anchor="ctr">
                    <a:solidFill>
                      <a:srgbClr val="EAF8FA"/>
                    </a:solidFill>
                  </a:tcPr>
                </a:tc>
                <a:tc>
                  <a:txBody>
                    <a:bodyPr wrap="square"/>
                    <a:lstStyle/>
                    <a:p>
                      <a:r>
                        <a:rPr sz="1050" b="0" i="0">
                          <a:solidFill>
                            <a:srgbClr val="14313B"/>
                          </a:solidFill>
                          <a:latin typeface="Calibri (MS)"/>
                        </a:rPr>
                        <a:t>Definisi operasional BPS</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33 · Parameter Berbasis Data Statistik Resmi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Diambil langsung atau dihitung sederhana dari data resmi; rujukan mendukung bentuk hubungan, bukan nilainya</a:t>
            </a:r>
          </a:p>
        </p:txBody>
      </p:sp>
      <p:graphicFrame>
        <p:nvGraphicFramePr>
          <p:cNvPr id="27" name="Table 26"/>
          <p:cNvGraphicFramePr>
            <a:graphicFrameLocks noGrp="1"/>
          </p:cNvGraphicFramePr>
          <p:nvPr/>
        </p:nvGraphicFramePr>
        <p:xfrm>
          <a:off x="822960" y="1874519"/>
          <a:ext cx="16642080" cy="580644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078992">
                <a:tc>
                  <a:txBody>
                    <a:bodyPr wrap="square"/>
                    <a:lstStyle/>
                    <a:p>
                      <a:pPr algn="ctr"/>
                      <a:r>
                        <a:rPr sz="1050" b="0" i="0">
                          <a:solidFill>
                            <a:srgbClr val="14313B"/>
                          </a:solidFill>
                          <a:latin typeface="Calibri (MS)"/>
                        </a:rPr>
                        <a:t>7</a:t>
                      </a:r>
                    </a:p>
                  </a:txBody>
                  <a:tcPr marL="73152" marR="73152" marT="36576" marB="36576" anchor="ctr">
                    <a:solidFill>
                      <a:srgbClr val="FFFFFF"/>
                    </a:solidFill>
                  </a:tcPr>
                </a:tc>
                <a:tc>
                  <a:txBody>
                    <a:bodyPr wrap="square"/>
                    <a:lstStyle/>
                    <a:p>
                      <a:r>
                        <a:rPr sz="1050" b="1" i="0">
                          <a:solidFill>
                            <a:srgbClr val="0B5E6E"/>
                          </a:solidFill>
                          <a:latin typeface="Calibri (MS)"/>
                        </a:rPr>
                        <a:t>Rata-rata Kamar per Unit (K_unit)</a:t>
                      </a:r>
                    </a:p>
                  </a:txBody>
                  <a:tcPr marL="73152" marR="73152" marT="36576" marB="36576" anchor="ctr">
                    <a:solidFill>
                      <a:srgbClr val="FFFFFF"/>
                    </a:solidFill>
                  </a:tcPr>
                </a:tc>
                <a:tc>
                  <a:txBody>
                    <a:bodyPr wrap="square"/>
                    <a:lstStyle/>
                    <a:p>
                      <a:r>
                        <a:rPr sz="1050" b="0" i="0">
                          <a:solidFill>
                            <a:srgbClr val="14313B"/>
                          </a:solidFill>
                          <a:latin typeface="Calibri (MS)"/>
                        </a:rPr>
                        <a:t>21,4168 kamar/unit</a:t>
                      </a:r>
                    </a:p>
                  </a:txBody>
                  <a:tcPr marL="73152" marR="73152" marT="36576" marB="36576" anchor="ctr">
                    <a:solidFill>
                      <a:srgbClr val="FFFFFF"/>
                    </a:solidFill>
                  </a:tcPr>
                </a:tc>
                <a:tc>
                  <a:txBody>
                    <a:bodyPr wrap="square"/>
                    <a:lstStyle/>
                    <a:p>
                      <a:r>
                        <a:rPr sz="1050" b="0" i="1">
                          <a:solidFill>
                            <a:srgbClr val="14313B"/>
                          </a:solidFill>
                          <a:latin typeface="Calibri (MS)"/>
                        </a:rPr>
                        <a:t>K_unit = Jumlah kamar₂₀₂₅ ÷ Jumlah unit₂₀₂₅</a:t>
                      </a:r>
                    </a:p>
                  </a:txBody>
                  <a:tcPr marL="73152" marR="73152" marT="36576" marB="36576" anchor="ctr">
                    <a:solidFill>
                      <a:srgbClr val="FFF1BF"/>
                    </a:solidFill>
                  </a:tcPr>
                </a:tc>
                <a:tc>
                  <a:txBody>
                    <a:bodyPr wrap="square"/>
                    <a:lstStyle/>
                    <a:p>
                      <a:r>
                        <a:rPr sz="1050" b="0" i="0">
                          <a:solidFill>
                            <a:srgbClr val="14313B"/>
                          </a:solidFill>
                          <a:latin typeface="Calibri (MS)"/>
                        </a:rPr>
                        <a:t>Menghubungkan stok unit akomodasi dengan kapasitas kamar</a:t>
                      </a:r>
                    </a:p>
                  </a:txBody>
                  <a:tcPr marL="73152" marR="73152" marT="36576" marB="36576" anchor="ctr">
                    <a:solidFill>
                      <a:srgbClr val="FFFFFF"/>
                    </a:solidFill>
                  </a:tcPr>
                </a:tc>
                <a:tc>
                  <a:txBody>
                    <a:bodyPr wrap="square"/>
                    <a:lstStyle/>
                    <a:p>
                      <a:r>
                        <a:rPr sz="1050" b="0" i="0">
                          <a:solidFill>
                            <a:srgbClr val="14313B"/>
                          </a:solidFill>
                          <a:latin typeface="Calibri (MS)"/>
                        </a:rPr>
                        <a:t>Statistik Hotel &amp; Akomodasi Lain, BPS DIY</a:t>
                      </a:r>
                    </a:p>
                  </a:txBody>
                  <a:tcPr marL="73152" marR="73152" marT="36576" marB="36576" anchor="ctr">
                    <a:solidFill>
                      <a:srgbClr val="FFFFFF"/>
                    </a:solidFill>
                  </a:tcPr>
                </a:tc>
                <a:tc>
                  <a:txBody>
                    <a:bodyPr wrap="square"/>
                    <a:lstStyle/>
                    <a:p>
                      <a:r>
                        <a:rPr sz="1050" b="0" i="0">
                          <a:solidFill>
                            <a:srgbClr val="14313B"/>
                          </a:solidFill>
                          <a:latin typeface="Calibri (MS)"/>
                        </a:rPr>
                        <a:t>Identitas kapasitas; definisi BPS</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8</a:t>
                      </a:r>
                    </a:p>
                  </a:txBody>
                  <a:tcPr marL="73152" marR="73152" marT="36576" marB="36576" anchor="ctr">
                    <a:solidFill>
                      <a:srgbClr val="EAF8FA"/>
                    </a:solidFill>
                  </a:tcPr>
                </a:tc>
                <a:tc>
                  <a:txBody>
                    <a:bodyPr wrap="square"/>
                    <a:lstStyle/>
                    <a:p>
                      <a:r>
                        <a:rPr sz="1050" b="1" i="0">
                          <a:solidFill>
                            <a:srgbClr val="0B5E6E"/>
                          </a:solidFill>
                          <a:latin typeface="Calibri (MS)"/>
                        </a:rPr>
                        <a:t>Malam Tersedia per Kamar (M)</a:t>
                      </a:r>
                    </a:p>
                  </a:txBody>
                  <a:tcPr marL="73152" marR="73152" marT="36576" marB="36576" anchor="ctr">
                    <a:solidFill>
                      <a:srgbClr val="EAF8FA"/>
                    </a:solidFill>
                  </a:tcPr>
                </a:tc>
                <a:tc>
                  <a:txBody>
                    <a:bodyPr wrap="square"/>
                    <a:lstStyle/>
                    <a:p>
                      <a:r>
                        <a:rPr sz="1050" b="0" i="0">
                          <a:solidFill>
                            <a:srgbClr val="14313B"/>
                          </a:solidFill>
                          <a:latin typeface="Calibri (MS)"/>
                        </a:rPr>
                        <a:t>329,03 malam/kamar</a:t>
                      </a:r>
                    </a:p>
                  </a:txBody>
                  <a:tcPr marL="73152" marR="73152" marT="36576" marB="36576" anchor="ctr">
                    <a:solidFill>
                      <a:srgbClr val="EAF8FA"/>
                    </a:solidFill>
                  </a:tcPr>
                </a:tc>
                <a:tc>
                  <a:txBody>
                    <a:bodyPr wrap="square"/>
                    <a:lstStyle/>
                    <a:p>
                      <a:r>
                        <a:rPr sz="1050" b="0" i="1">
                          <a:solidFill>
                            <a:srgbClr val="14313B"/>
                          </a:solidFill>
                          <a:latin typeface="Calibri (MS)"/>
                        </a:rPr>
                        <a:t>M = Σ(Total malamₜ ÷ TPGₜ) ÷ Σ(TPKₜ × Kamarₜ),  2015–2025</a:t>
                      </a:r>
                    </a:p>
                  </a:txBody>
                  <a:tcPr marL="73152" marR="73152" marT="36576" marB="36576" anchor="ctr">
                    <a:solidFill>
                      <a:srgbClr val="FFF1BF"/>
                    </a:solidFill>
                  </a:tcPr>
                </a:tc>
                <a:tc>
                  <a:txBody>
                    <a:bodyPr wrap="square"/>
                    <a:lstStyle/>
                    <a:p>
                      <a:r>
                        <a:rPr sz="1050" b="0" i="0">
                          <a:solidFill>
                            <a:srgbClr val="14313B"/>
                          </a:solidFill>
                          <a:latin typeface="Calibri (MS)"/>
                        </a:rPr>
                        <a:t>Kapasitas malam kamar konsisten dengan TPK historis, tidak diasumsikan 365</a:t>
                      </a:r>
                    </a:p>
                  </a:txBody>
                  <a:tcPr marL="73152" marR="73152" marT="36576" marB="36576" anchor="ctr">
                    <a:solidFill>
                      <a:srgbClr val="EAF8FA"/>
                    </a:solidFill>
                  </a:tcPr>
                </a:tc>
                <a:tc>
                  <a:txBody>
                    <a:bodyPr wrap="square"/>
                    <a:lstStyle/>
                    <a:p>
                      <a:r>
                        <a:rPr sz="1050" b="0" i="0">
                          <a:solidFill>
                            <a:srgbClr val="14313B"/>
                          </a:solidFill>
                          <a:latin typeface="Calibri (MS)"/>
                        </a:rPr>
                        <a:t>Malam tamu, TPG, TPK, kamar (BPS DIY)</a:t>
                      </a:r>
                    </a:p>
                  </a:txBody>
                  <a:tcPr marL="73152" marR="73152" marT="36576" marB="36576" anchor="ctr">
                    <a:solidFill>
                      <a:srgbClr val="EAF8FA"/>
                    </a:solidFill>
                  </a:tcPr>
                </a:tc>
                <a:tc>
                  <a:txBody>
                    <a:bodyPr wrap="square"/>
                    <a:lstStyle/>
                    <a:p>
                      <a:r>
                        <a:rPr sz="1050" b="0" i="0">
                          <a:solidFill>
                            <a:srgbClr val="14313B"/>
                          </a:solidFill>
                          <a:latin typeface="Calibri (MS)"/>
                        </a:rPr>
                        <a:t>Identitas TPK BPS</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9</a:t>
                      </a:r>
                    </a:p>
                  </a:txBody>
                  <a:tcPr marL="73152" marR="73152" marT="36576" marB="36576" anchor="ctr">
                    <a:solidFill>
                      <a:srgbClr val="FFFFFF"/>
                    </a:solidFill>
                  </a:tcPr>
                </a:tc>
                <a:tc>
                  <a:txBody>
                    <a:bodyPr wrap="square"/>
                    <a:lstStyle/>
                    <a:p>
                      <a:r>
                        <a:rPr sz="1050" b="1" i="0">
                          <a:solidFill>
                            <a:srgbClr val="0B5E6E"/>
                          </a:solidFill>
                          <a:latin typeface="Calibri (MS)"/>
                        </a:rPr>
                        <a:t>Luas Lahan Tersedia (A)</a:t>
                      </a:r>
                    </a:p>
                  </a:txBody>
                  <a:tcPr marL="73152" marR="73152" marT="36576" marB="36576" anchor="ctr">
                    <a:solidFill>
                      <a:srgbClr val="FFFFFF"/>
                    </a:solidFill>
                  </a:tcPr>
                </a:tc>
                <a:tc>
                  <a:txBody>
                    <a:bodyPr wrap="square"/>
                    <a:lstStyle/>
                    <a:p>
                      <a:r>
                        <a:rPr sz="1050" b="0" i="0">
                          <a:solidFill>
                            <a:srgbClr val="14313B"/>
                          </a:solidFill>
                          <a:latin typeface="Calibri (MS)"/>
                        </a:rPr>
                        <a:t>317.036 ha</a:t>
                      </a:r>
                    </a:p>
                  </a:txBody>
                  <a:tcPr marL="73152" marR="73152" marT="36576" marB="36576" anchor="ctr">
                    <a:solidFill>
                      <a:srgbClr val="FFFFFF"/>
                    </a:solidFill>
                  </a:tcPr>
                </a:tc>
                <a:tc>
                  <a:txBody>
                    <a:bodyPr wrap="square"/>
                    <a:lstStyle/>
                    <a:p>
                      <a:r>
                        <a:rPr sz="1050" b="0" i="1">
                          <a:solidFill>
                            <a:srgbClr val="14313B"/>
                          </a:solidFill>
                          <a:latin typeface="Calibri (MS)"/>
                        </a:rPr>
                        <a:t>A = luas wilayah administratif DIY</a:t>
                      </a:r>
                    </a:p>
                  </a:txBody>
                  <a:tcPr marL="73152" marR="73152" marT="36576" marB="36576" anchor="ctr">
                    <a:solidFill>
                      <a:srgbClr val="FFF1BF"/>
                    </a:solidFill>
                  </a:tcPr>
                </a:tc>
                <a:tc>
                  <a:txBody>
                    <a:bodyPr wrap="square"/>
                    <a:lstStyle/>
                    <a:p>
                      <a:r>
                        <a:rPr sz="1050" b="0" i="0">
                          <a:solidFill>
                            <a:srgbClr val="14313B"/>
                          </a:solidFill>
                          <a:latin typeface="Calibri (MS)"/>
                        </a:rPr>
                        <a:t>Penyebut kepadatan dan batas fisik lahan agregat</a:t>
                      </a:r>
                    </a:p>
                  </a:txBody>
                  <a:tcPr marL="73152" marR="73152" marT="36576" marB="36576" anchor="ctr">
                    <a:solidFill>
                      <a:srgbClr val="FFFFFF"/>
                    </a:solidFill>
                  </a:tcPr>
                </a:tc>
                <a:tc>
                  <a:txBody>
                    <a:bodyPr wrap="square"/>
                    <a:lstStyle/>
                    <a:p>
                      <a:r>
                        <a:rPr sz="1050" b="0" i="0">
                          <a:solidFill>
                            <a:srgbClr val="14313B"/>
                          </a:solidFill>
                          <a:latin typeface="Calibri (MS)"/>
                        </a:rPr>
                        <a:t>Kepmendagri, dikutip BPS DIY</a:t>
                      </a:r>
                    </a:p>
                  </a:txBody>
                  <a:tcPr marL="73152" marR="73152" marT="36576" marB="36576" anchor="ctr">
                    <a:solidFill>
                      <a:srgbClr val="FFFFFF"/>
                    </a:solidFill>
                  </a:tcPr>
                </a:tc>
                <a:tc>
                  <a:txBody>
                    <a:bodyPr wrap="square"/>
                    <a:lstStyle/>
                    <a:p>
                      <a:r>
                        <a:rPr sz="1050" b="0" i="0">
                          <a:solidFill>
                            <a:srgbClr val="14313B"/>
                          </a:solidFill>
                          <a:latin typeface="Calibri (MS)"/>
                        </a:rPr>
                        <a:t>Definisi batas wilayah penelitian</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10</a:t>
                      </a:r>
                    </a:p>
                  </a:txBody>
                  <a:tcPr marL="73152" marR="73152" marT="36576" marB="36576" anchor="ctr">
                    <a:solidFill>
                      <a:srgbClr val="EAF8FA"/>
                    </a:solidFill>
                  </a:tcPr>
                </a:tc>
                <a:tc>
                  <a:txBody>
                    <a:bodyPr wrap="square"/>
                    <a:lstStyle/>
                    <a:p>
                      <a:r>
                        <a:rPr sz="1050" b="1" i="0">
                          <a:solidFill>
                            <a:srgbClr val="0B5E6E"/>
                          </a:solidFill>
                          <a:latin typeface="Calibri (MS)"/>
                        </a:rPr>
                        <a:t>Intensitas TK Awal (i₀)</a:t>
                      </a:r>
                    </a:p>
                  </a:txBody>
                  <a:tcPr marL="73152" marR="73152" marT="36576" marB="36576" anchor="ctr">
                    <a:solidFill>
                      <a:srgbClr val="EAF8FA"/>
                    </a:solidFill>
                  </a:tcPr>
                </a:tc>
                <a:tc>
                  <a:txBody>
                    <a:bodyPr wrap="square"/>
                    <a:lstStyle/>
                    <a:p>
                      <a:r>
                        <a:rPr sz="1050" b="0" i="0">
                          <a:solidFill>
                            <a:srgbClr val="14313B"/>
                          </a:solidFill>
                          <a:latin typeface="Calibri (MS)"/>
                        </a:rPr>
                        <a:t>21,5366 jiwa/miliar Rp</a:t>
                      </a:r>
                    </a:p>
                  </a:txBody>
                  <a:tcPr marL="73152" marR="73152" marT="36576" marB="36576" anchor="ctr">
                    <a:solidFill>
                      <a:srgbClr val="EAF8FA"/>
                    </a:solidFill>
                  </a:tcPr>
                </a:tc>
                <a:tc>
                  <a:txBody>
                    <a:bodyPr wrap="square"/>
                    <a:lstStyle/>
                    <a:p>
                      <a:r>
                        <a:rPr sz="1050" b="0" i="1">
                          <a:solidFill>
                            <a:srgbClr val="14313B"/>
                          </a:solidFill>
                          <a:latin typeface="Calibri (MS)"/>
                        </a:rPr>
                        <a:t>i₀ = TK pariwisata₂₀₂₅ ÷ PDRB pariwisata₂₀₂₅</a:t>
                      </a:r>
                    </a:p>
                  </a:txBody>
                  <a:tcPr marL="73152" marR="73152" marT="36576" marB="36576" anchor="ctr">
                    <a:solidFill>
                      <a:srgbClr val="FFF1BF"/>
                    </a:solidFill>
                  </a:tcPr>
                </a:tc>
                <a:tc>
                  <a:txBody>
                    <a:bodyPr wrap="square"/>
                    <a:lstStyle/>
                    <a:p>
                      <a:r>
                        <a:rPr sz="1050" b="0" i="0">
                          <a:solidFill>
                            <a:srgbClr val="14313B"/>
                          </a:solidFill>
                          <a:latin typeface="Calibri (MS)"/>
                        </a:rPr>
                        <a:t>Kebutuhan TK per unit output pada tahun dasar</a:t>
                      </a:r>
                    </a:p>
                  </a:txBody>
                  <a:tcPr marL="73152" marR="73152" marT="36576" marB="36576" anchor="ctr">
                    <a:solidFill>
                      <a:srgbClr val="EAF8FA"/>
                    </a:solidFill>
                  </a:tcPr>
                </a:tc>
                <a:tc>
                  <a:txBody>
                    <a:bodyPr wrap="square"/>
                    <a:lstStyle/>
                    <a:p>
                      <a:r>
                        <a:rPr sz="1050" b="0" i="0">
                          <a:solidFill>
                            <a:srgbClr val="14313B"/>
                          </a:solidFill>
                          <a:latin typeface="Calibri (MS)"/>
                        </a:rPr>
                        <a:t>TK KBLI I, R–U (BPS) dan PDRB ADHK 2025</a:t>
                      </a:r>
                    </a:p>
                  </a:txBody>
                  <a:tcPr marL="73152" marR="73152" marT="36576" marB="36576" anchor="ctr">
                    <a:solidFill>
                      <a:srgbClr val="EAF8FA"/>
                    </a:solidFill>
                  </a:tcPr>
                </a:tc>
                <a:tc>
                  <a:txBody>
                    <a:bodyPr wrap="square"/>
                    <a:lstStyle/>
                    <a:p>
                      <a:r>
                        <a:rPr sz="1050" b="0" i="0">
                          <a:solidFill>
                            <a:srgbClr val="14313B"/>
                          </a:solidFill>
                          <a:latin typeface="Calibri (MS)"/>
                        </a:rPr>
                        <a:t>Hamermesh (1993); Kapsos (2005)</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11</a:t>
                      </a:r>
                    </a:p>
                  </a:txBody>
                  <a:tcPr marL="73152" marR="73152" marT="36576" marB="36576" anchor="ctr">
                    <a:solidFill>
                      <a:srgbClr val="FFFFFF"/>
                    </a:solidFill>
                  </a:tcPr>
                </a:tc>
                <a:tc>
                  <a:txBody>
                    <a:bodyPr wrap="square"/>
                    <a:lstStyle/>
                    <a:p>
                      <a:r>
                        <a:rPr sz="1050" b="1" i="0">
                          <a:solidFill>
                            <a:srgbClr val="0B5E6E"/>
                          </a:solidFill>
                          <a:latin typeface="Calibri (MS)"/>
                        </a:rPr>
                        <a:t>Laju Kenaikan Produktivitas (g)</a:t>
                      </a:r>
                    </a:p>
                  </a:txBody>
                  <a:tcPr marL="73152" marR="73152" marT="36576" marB="36576" anchor="ctr">
                    <a:solidFill>
                      <a:srgbClr val="FFFFFF"/>
                    </a:solidFill>
                  </a:tcPr>
                </a:tc>
                <a:tc>
                  <a:txBody>
                    <a:bodyPr wrap="square"/>
                    <a:lstStyle/>
                    <a:p>
                      <a:r>
                        <a:rPr sz="1050" b="0" i="0">
                          <a:solidFill>
                            <a:srgbClr val="14313B"/>
                          </a:solidFill>
                          <a:latin typeface="Calibri (MS)"/>
                        </a:rPr>
                        <a:t>0,0110205 /tahun</a:t>
                      </a:r>
                    </a:p>
                  </a:txBody>
                  <a:tcPr marL="73152" marR="73152" marT="36576" marB="36576" anchor="ctr">
                    <a:solidFill>
                      <a:srgbClr val="FFFFFF"/>
                    </a:solidFill>
                  </a:tcPr>
                </a:tc>
                <a:tc>
                  <a:txBody>
                    <a:bodyPr wrap="square"/>
                    <a:lstStyle/>
                    <a:p>
                      <a:r>
                        <a:rPr sz="1050" b="0" i="1">
                          <a:solidFill>
                            <a:srgbClr val="14313B"/>
                          </a:solidFill>
                          <a:latin typeface="Calibri (MS)"/>
                        </a:rPr>
                        <a:t>ln(TKₜ/PDRBₜ) = a + b·t;  g = −b;  iₜ = i₀·e^(−g(t−2025))</a:t>
                      </a:r>
                    </a:p>
                  </a:txBody>
                  <a:tcPr marL="73152" marR="73152" marT="36576" marB="36576" anchor="ctr">
                    <a:solidFill>
                      <a:srgbClr val="FFF1BF"/>
                    </a:solidFill>
                  </a:tcPr>
                </a:tc>
                <a:tc>
                  <a:txBody>
                    <a:bodyPr wrap="square"/>
                    <a:lstStyle/>
                    <a:p>
                      <a:r>
                        <a:rPr sz="1050" b="0" i="0">
                          <a:solidFill>
                            <a:srgbClr val="14313B"/>
                          </a:solidFill>
                          <a:latin typeface="Calibri (MS)"/>
                        </a:rPr>
                        <a:t>Regresi log-linear menjaga intensitas tetap positif</a:t>
                      </a:r>
                    </a:p>
                  </a:txBody>
                  <a:tcPr marL="73152" marR="73152" marT="36576" marB="36576" anchor="ctr">
                    <a:solidFill>
                      <a:srgbClr val="FFFFFF"/>
                    </a:solidFill>
                  </a:tcPr>
                </a:tc>
                <a:tc>
                  <a:txBody>
                    <a:bodyPr wrap="square"/>
                    <a:lstStyle/>
                    <a:p>
                      <a:r>
                        <a:rPr sz="1050" b="0" i="0">
                          <a:solidFill>
                            <a:srgbClr val="14313B"/>
                          </a:solidFill>
                          <a:latin typeface="Calibri (MS)"/>
                        </a:rPr>
                        <a:t>Rasio TK/PDRB, BPS 2015–2025</a:t>
                      </a:r>
                    </a:p>
                  </a:txBody>
                  <a:tcPr marL="73152" marR="73152" marT="36576" marB="36576" anchor="ctr">
                    <a:solidFill>
                      <a:srgbClr val="FFFFFF"/>
                    </a:solidFill>
                  </a:tcPr>
                </a:tc>
                <a:tc>
                  <a:txBody>
                    <a:bodyPr wrap="square"/>
                    <a:lstStyle/>
                    <a:p>
                      <a:r>
                        <a:rPr sz="1050" b="0" i="0">
                          <a:solidFill>
                            <a:srgbClr val="14313B"/>
                          </a:solidFill>
                          <a:latin typeface="Calibri (MS)"/>
                        </a:rPr>
                        <a:t>Kapsos (2005)</a:t>
                      </a:r>
                    </a:p>
                  </a:txBody>
                  <a:tcPr marL="73152" marR="73152" marT="36576" marB="36576" anchor="ctr">
                    <a:solidFill>
                      <a:srgbClr val="FFFFFF"/>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34 · Parameter Hasil Penurunan Identitas Stok-Aliran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Diturunkan dari perubahan stok teramati dan komponen alirannya; parameter berpasangan dihitung ulang bersama</a:t>
            </a:r>
          </a:p>
        </p:txBody>
      </p:sp>
      <p:graphicFrame>
        <p:nvGraphicFramePr>
          <p:cNvPr id="27" name="Table 26"/>
          <p:cNvGraphicFramePr>
            <a:graphicFrameLocks noGrp="1"/>
          </p:cNvGraphicFramePr>
          <p:nvPr/>
        </p:nvGraphicFramePr>
        <p:xfrm>
          <a:off x="822960" y="1874519"/>
          <a:ext cx="16642080" cy="681228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600200">
                <a:tc>
                  <a:txBody>
                    <a:bodyPr wrap="square"/>
                    <a:lstStyle/>
                    <a:p>
                      <a:pPr algn="ctr"/>
                      <a:r>
                        <a:rPr sz="1050" b="0" i="0">
                          <a:solidFill>
                            <a:srgbClr val="14313B"/>
                          </a:solidFill>
                          <a:latin typeface="Calibri (MS)"/>
                        </a:rPr>
                        <a:t>12</a:t>
                      </a:r>
                    </a:p>
                  </a:txBody>
                  <a:tcPr marL="73152" marR="73152" marT="36576" marB="36576" anchor="ctr">
                    <a:solidFill>
                      <a:srgbClr val="FFFFFF"/>
                    </a:solidFill>
                  </a:tcPr>
                </a:tc>
                <a:tc>
                  <a:txBody>
                    <a:bodyPr wrap="square"/>
                    <a:lstStyle/>
                    <a:p>
                      <a:r>
                        <a:rPr sz="1050" b="1" i="0">
                          <a:solidFill>
                            <a:srgbClr val="0B5E6E"/>
                          </a:solidFill>
                          <a:latin typeface="Calibri (MS)"/>
                        </a:rPr>
                        <a:t>Laju Pertumbuhan Eksternal (LPE)</a:t>
                      </a:r>
                    </a:p>
                  </a:txBody>
                  <a:tcPr marL="73152" marR="73152" marT="36576" marB="36576" anchor="ctr">
                    <a:solidFill>
                      <a:srgbClr val="FFFFFF"/>
                    </a:solidFill>
                  </a:tcPr>
                </a:tc>
                <a:tc>
                  <a:txBody>
                    <a:bodyPr wrap="square"/>
                    <a:lstStyle/>
                    <a:p>
                      <a:r>
                        <a:rPr sz="1050" b="0" i="0">
                          <a:solidFill>
                            <a:srgbClr val="14313B"/>
                          </a:solidFill>
                          <a:latin typeface="Calibri (MS)"/>
                        </a:rPr>
                        <a:t>0,27726 /tahun</a:t>
                      </a:r>
                    </a:p>
                  </a:txBody>
                  <a:tcPr marL="73152" marR="73152" marT="36576" marB="36576" anchor="ctr">
                    <a:solidFill>
                      <a:srgbClr val="FFFFFF"/>
                    </a:solidFill>
                  </a:tcPr>
                </a:tc>
                <a:tc>
                  <a:txBody>
                    <a:bodyPr wrap="square"/>
                    <a:lstStyle/>
                    <a:p>
                      <a:r>
                        <a:rPr sz="1050" b="0" i="1">
                          <a:solidFill>
                            <a:srgbClr val="14313B"/>
                          </a:solidFill>
                          <a:latin typeface="Calibri (MS)"/>
                        </a:rPr>
                        <a:t>LPE = g₂₀₂₄→₂₀₂₅ ÷ (DT₂₀₂₄ − r) = 0,06716 ÷ (0,99223 − 0,75)</a:t>
                      </a:r>
                    </a:p>
                  </a:txBody>
                  <a:tcPr marL="73152" marR="73152" marT="36576" marB="36576" anchor="ctr">
                    <a:solidFill>
                      <a:srgbClr val="FFF1BF"/>
                    </a:solidFill>
                  </a:tcPr>
                </a:tc>
                <a:tc>
                  <a:txBody>
                    <a:bodyPr wrap="square"/>
                    <a:lstStyle/>
                    <a:p>
                      <a:r>
                        <a:rPr sz="1050" b="0" i="0">
                          <a:solidFill>
                            <a:srgbClr val="14313B"/>
                          </a:solidFill>
                          <a:latin typeface="Calibri (MS)"/>
                        </a:rPr>
                        <a:t>Euler: memakai daya tarik tahun awal periode; berpasangan dengan LPD</a:t>
                      </a:r>
                    </a:p>
                  </a:txBody>
                  <a:tcPr marL="73152" marR="73152" marT="36576" marB="36576" anchor="ctr">
                    <a:solidFill>
                      <a:srgbClr val="FFFFFF"/>
                    </a:solidFill>
                  </a:tcPr>
                </a:tc>
                <a:tc>
                  <a:txBody>
                    <a:bodyPr wrap="square"/>
                    <a:lstStyle/>
                    <a:p>
                      <a:r>
                        <a:rPr sz="1050" b="0" i="0">
                          <a:solidFill>
                            <a:srgbClr val="14313B"/>
                          </a:solidFill>
                          <a:latin typeface="Calibri (MS)"/>
                        </a:rPr>
                        <a:t>Wisatawan 2024–2025; daya tarik 2024</a:t>
                      </a:r>
                    </a:p>
                  </a:txBody>
                  <a:tcPr marL="73152" marR="73152" marT="36576" marB="36576" anchor="ctr">
                    <a:solidFill>
                      <a:srgbClr val="FFFFFF"/>
                    </a:solidFill>
                  </a:tcPr>
                </a:tc>
                <a:tc>
                  <a:txBody>
                    <a:bodyPr wrap="square"/>
                    <a:lstStyle/>
                    <a:p>
                      <a:r>
                        <a:rPr sz="1050" b="0" i="0">
                          <a:solidFill>
                            <a:srgbClr val="14313B"/>
                          </a:solidFill>
                          <a:latin typeface="Calibri (MS)"/>
                        </a:rPr>
                        <a:t>Sterman (2000); Mai &amp; Smith (2018)</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13</a:t>
                      </a:r>
                    </a:p>
                  </a:txBody>
                  <a:tcPr marL="73152" marR="73152" marT="36576" marB="36576" anchor="ctr">
                    <a:solidFill>
                      <a:srgbClr val="EAF8FA"/>
                    </a:solidFill>
                  </a:tcPr>
                </a:tc>
                <a:tc>
                  <a:txBody>
                    <a:bodyPr wrap="square"/>
                    <a:lstStyle/>
                    <a:p>
                      <a:r>
                        <a:rPr sz="1050" b="1" i="0">
                          <a:solidFill>
                            <a:srgbClr val="0B5E6E"/>
                          </a:solidFill>
                          <a:latin typeface="Calibri (MS)"/>
                        </a:rPr>
                        <a:t>Laju Penurunan Dasar (LPD)</a:t>
                      </a:r>
                    </a:p>
                  </a:txBody>
                  <a:tcPr marL="73152" marR="73152" marT="36576" marB="36576" anchor="ctr">
                    <a:solidFill>
                      <a:srgbClr val="EAF8FA"/>
                    </a:solidFill>
                  </a:tcPr>
                </a:tc>
                <a:tc>
                  <a:txBody>
                    <a:bodyPr wrap="square"/>
                    <a:lstStyle/>
                    <a:p>
                      <a:r>
                        <a:rPr sz="1050" b="0" i="0">
                          <a:solidFill>
                            <a:srgbClr val="14313B"/>
                          </a:solidFill>
                          <a:latin typeface="Calibri (MS)"/>
                        </a:rPr>
                        <a:t>0,207945 /tahun</a:t>
                      </a:r>
                    </a:p>
                  </a:txBody>
                  <a:tcPr marL="73152" marR="73152" marT="36576" marB="36576" anchor="ctr">
                    <a:solidFill>
                      <a:srgbClr val="EAF8FA"/>
                    </a:solidFill>
                  </a:tcPr>
                </a:tc>
                <a:tc>
                  <a:txBody>
                    <a:bodyPr wrap="square"/>
                    <a:lstStyle/>
                    <a:p>
                      <a:r>
                        <a:rPr sz="1050" b="0" i="1">
                          <a:solidFill>
                            <a:srgbClr val="14313B"/>
                          </a:solidFill>
                          <a:latin typeface="Calibri (MS)"/>
                        </a:rPr>
                        <a:t>LPD = r × LPE,  r = 0,75</a:t>
                      </a:r>
                    </a:p>
                  </a:txBody>
                  <a:tcPr marL="73152" marR="73152" marT="36576" marB="36576" anchor="ctr">
                    <a:solidFill>
                      <a:srgbClr val="FFF1BF"/>
                    </a:solidFill>
                  </a:tcPr>
                </a:tc>
                <a:tc>
                  <a:txBody>
                    <a:bodyPr wrap="square"/>
                    <a:lstStyle/>
                    <a:p>
                      <a:r>
                        <a:rPr sz="1050" b="0" i="0">
                          <a:solidFill>
                            <a:srgbClr val="14313B"/>
                          </a:solidFill>
                          <a:latin typeface="Calibri (MS)"/>
                        </a:rPr>
                        <a:t>Agar pertumbuhan bersih 2024–2025 direproduksi; r asumsi struktural, diuji sensitivitas</a:t>
                      </a:r>
                    </a:p>
                  </a:txBody>
                  <a:tcPr marL="73152" marR="73152" marT="36576" marB="36576" anchor="ctr">
                    <a:solidFill>
                      <a:srgbClr val="EAF8FA"/>
                    </a:solidFill>
                  </a:tcPr>
                </a:tc>
                <a:tc>
                  <a:txBody>
                    <a:bodyPr wrap="square"/>
                    <a:lstStyle/>
                    <a:p>
                      <a:r>
                        <a:rPr sz="1050" b="0" i="0">
                          <a:solidFill>
                            <a:srgbClr val="14313B"/>
                          </a:solidFill>
                          <a:latin typeface="Calibri (MS)"/>
                        </a:rPr>
                        <a:t>Wisatawan 2024–2025; hasil LPE</a:t>
                      </a:r>
                    </a:p>
                  </a:txBody>
                  <a:tcPr marL="73152" marR="73152" marT="36576" marB="36576" anchor="ctr">
                    <a:solidFill>
                      <a:srgbClr val="EAF8FA"/>
                    </a:solidFill>
                  </a:tcPr>
                </a:tc>
                <a:tc>
                  <a:txBody>
                    <a:bodyPr wrap="square"/>
                    <a:lstStyle/>
                    <a:p>
                      <a:r>
                        <a:rPr sz="1050" b="0" i="0">
                          <a:solidFill>
                            <a:srgbClr val="14313B"/>
                          </a:solidFill>
                          <a:latin typeface="Calibri (MS)"/>
                        </a:rPr>
                        <a:t>Sterman (2000)</a:t>
                      </a:r>
                    </a:p>
                  </a:txBody>
                  <a:tcPr marL="73152" marR="73152" marT="36576" marB="36576" anchor="ctr">
                    <a:solidFill>
                      <a:srgbClr val="EAF8FA"/>
                    </a:solidFill>
                  </a:tcPr>
                </a:tc>
              </a:tr>
              <a:tr h="1600200">
                <a:tc>
                  <a:txBody>
                    <a:bodyPr wrap="square"/>
                    <a:lstStyle/>
                    <a:p>
                      <a:pPr algn="ctr"/>
                      <a:r>
                        <a:rPr sz="1050" b="0" i="0">
                          <a:solidFill>
                            <a:srgbClr val="14313B"/>
                          </a:solidFill>
                          <a:latin typeface="Calibri (MS)"/>
                        </a:rPr>
                        <a:t>14</a:t>
                      </a:r>
                    </a:p>
                  </a:txBody>
                  <a:tcPr marL="73152" marR="73152" marT="36576" marB="36576" anchor="ctr">
                    <a:solidFill>
                      <a:srgbClr val="FFFFFF"/>
                    </a:solidFill>
                  </a:tcPr>
                </a:tc>
                <a:tc>
                  <a:txBody>
                    <a:bodyPr wrap="square"/>
                    <a:lstStyle/>
                    <a:p>
                      <a:r>
                        <a:rPr sz="1050" b="1" i="0">
                          <a:solidFill>
                            <a:srgbClr val="0B5E6E"/>
                          </a:solidFill>
                          <a:latin typeface="Calibri (MS)"/>
                        </a:rPr>
                        <a:t>Sensitivitas Konstruksi thd TPK (S_H)</a:t>
                      </a:r>
                    </a:p>
                  </a:txBody>
                  <a:tcPr marL="73152" marR="73152" marT="36576" marB="36576" anchor="ctr">
                    <a:solidFill>
                      <a:srgbClr val="FFFFFF"/>
                    </a:solidFill>
                  </a:tcPr>
                </a:tc>
                <a:tc>
                  <a:txBody>
                    <a:bodyPr wrap="square"/>
                    <a:lstStyle/>
                    <a:p>
                      <a:r>
                        <a:rPr sz="1050" b="0" i="0">
                          <a:solidFill>
                            <a:srgbClr val="14313B"/>
                          </a:solidFill>
                          <a:latin typeface="Calibri (MS)"/>
                        </a:rPr>
                        <a:t>2,31385 unit/(miliar Rp·tahun)</a:t>
                      </a:r>
                    </a:p>
                  </a:txBody>
                  <a:tcPr marL="73152" marR="73152" marT="36576" marB="36576" anchor="ctr">
                    <a:solidFill>
                      <a:srgbClr val="FFFFFF"/>
                    </a:solidFill>
                  </a:tcPr>
                </a:tc>
                <a:tc>
                  <a:txBody>
                    <a:bodyPr wrap="square"/>
                    <a:lstStyle/>
                    <a:p>
                      <a:r>
                        <a:rPr sz="1050" b="0" i="1">
                          <a:solidFill>
                            <a:srgbClr val="14313B"/>
                          </a:solidFill>
                          <a:latin typeface="Calibri (MS)"/>
                        </a:rPr>
                        <a:t>Konstr*ₜ = Hotelₜ − Hotelₜ₋₁ + d_H·Hotelₜ₋₁;  S_H = Σ Konstr*ₜ ÷ Σ[Invₜ·max(0, TPKₜ − TPK*)]</a:t>
                      </a:r>
                    </a:p>
                  </a:txBody>
                  <a:tcPr marL="73152" marR="73152" marT="36576" marB="36576" anchor="ctr">
                    <a:solidFill>
                      <a:srgbClr val="FFF1BF"/>
                    </a:solidFill>
                  </a:tcPr>
                </a:tc>
                <a:tc>
                  <a:txBody>
                    <a:bodyPr wrap="square"/>
                    <a:lstStyle/>
                    <a:p>
                      <a:r>
                        <a:rPr sz="1050" b="0" i="0">
                          <a:solidFill>
                            <a:srgbClr val="14313B"/>
                          </a:solidFill>
                          <a:latin typeface="Calibri (MS)"/>
                        </a:rPr>
                        <a:t>Konstruksi bruto tersirat menjaga identitas stok-aliran hotel</a:t>
                      </a:r>
                    </a:p>
                  </a:txBody>
                  <a:tcPr marL="73152" marR="73152" marT="36576" marB="36576" anchor="ctr">
                    <a:solidFill>
                      <a:srgbClr val="FFFFFF"/>
                    </a:solidFill>
                  </a:tcPr>
                </a:tc>
                <a:tc>
                  <a:txBody>
                    <a:bodyPr wrap="square"/>
                    <a:lstStyle/>
                    <a:p>
                      <a:r>
                        <a:rPr sz="1050" b="0" i="0">
                          <a:solidFill>
                            <a:srgbClr val="14313B"/>
                          </a:solidFill>
                          <a:latin typeface="Calibri (MS)"/>
                        </a:rPr>
                        <a:t>Hotel dan TPK (BPS); investasi (BKPM) 2015–2025</a:t>
                      </a:r>
                    </a:p>
                  </a:txBody>
                  <a:tcPr marL="73152" marR="73152" marT="36576" marB="36576" anchor="ctr">
                    <a:solidFill>
                      <a:srgbClr val="FFFFFF"/>
                    </a:solidFill>
                  </a:tcPr>
                </a:tc>
                <a:tc>
                  <a:txBody>
                    <a:bodyPr wrap="square"/>
                    <a:lstStyle/>
                    <a:p>
                      <a:r>
                        <a:rPr sz="1050" b="0" i="0">
                          <a:solidFill>
                            <a:srgbClr val="14313B"/>
                          </a:solidFill>
                          <a:latin typeface="Calibri (MS)"/>
                        </a:rPr>
                        <a:t>Wheaton &amp; Rossoff (1998); Sterman (2000)</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15</a:t>
                      </a:r>
                    </a:p>
                  </a:txBody>
                  <a:tcPr marL="73152" marR="73152" marT="36576" marB="36576" anchor="ctr">
                    <a:solidFill>
                      <a:srgbClr val="EAF8FA"/>
                    </a:solidFill>
                  </a:tcPr>
                </a:tc>
                <a:tc>
                  <a:txBody>
                    <a:bodyPr wrap="square"/>
                    <a:lstStyle/>
                    <a:p>
                      <a:r>
                        <a:rPr sz="1050" b="1" i="0">
                          <a:solidFill>
                            <a:srgbClr val="0B5E6E"/>
                          </a:solidFill>
                          <a:latin typeface="Calibri (MS)"/>
                        </a:rPr>
                        <a:t>TPK Ambang (TPK*)</a:t>
                      </a:r>
                    </a:p>
                  </a:txBody>
                  <a:tcPr marL="73152" marR="73152" marT="36576" marB="36576" anchor="ctr">
                    <a:solidFill>
                      <a:srgbClr val="EAF8FA"/>
                    </a:solidFill>
                  </a:tcPr>
                </a:tc>
                <a:tc>
                  <a:txBody>
                    <a:bodyPr wrap="square"/>
                    <a:lstStyle/>
                    <a:p>
                      <a:r>
                        <a:rPr sz="1050" b="0" i="0">
                          <a:solidFill>
                            <a:srgbClr val="14313B"/>
                          </a:solidFill>
                          <a:latin typeface="Calibri (MS)"/>
                        </a:rPr>
                        <a:t>0,275 Dmnl</a:t>
                      </a:r>
                    </a:p>
                  </a:txBody>
                  <a:tcPr marL="73152" marR="73152" marT="36576" marB="36576" anchor="ctr">
                    <a:solidFill>
                      <a:srgbClr val="EAF8FA"/>
                    </a:solidFill>
                  </a:tcPr>
                </a:tc>
                <a:tc>
                  <a:txBody>
                    <a:bodyPr wrap="square"/>
                    <a:lstStyle/>
                    <a:p>
                      <a:r>
                        <a:rPr sz="1050" b="0" i="1">
                          <a:solidFill>
                            <a:srgbClr val="14313B"/>
                          </a:solidFill>
                          <a:latin typeface="Calibri (MS)"/>
                        </a:rPr>
                        <a:t>TPK terendah yang masih diikuti konstruksi tersirat positif (TPK 2021 = 0,2748)</a:t>
                      </a:r>
                    </a:p>
                  </a:txBody>
                  <a:tcPr marL="73152" marR="73152" marT="36576" marB="36576" anchor="ctr">
                    <a:solidFill>
                      <a:srgbClr val="FFF1BF"/>
                    </a:solidFill>
                  </a:tcPr>
                </a:tc>
                <a:tc>
                  <a:txBody>
                    <a:bodyPr wrap="square"/>
                    <a:lstStyle/>
                    <a:p>
                      <a:r>
                        <a:rPr sz="1050" b="0" i="0">
                          <a:solidFill>
                            <a:srgbClr val="14313B"/>
                          </a:solidFill>
                          <a:latin typeface="Calibri (MS)"/>
                        </a:rPr>
                        <a:t>Ambang hunian sebelum sinyal pembangunan aktif</a:t>
                      </a:r>
                    </a:p>
                  </a:txBody>
                  <a:tcPr marL="73152" marR="73152" marT="36576" marB="36576" anchor="ctr">
                    <a:solidFill>
                      <a:srgbClr val="EAF8FA"/>
                    </a:solidFill>
                  </a:tcPr>
                </a:tc>
                <a:tc>
                  <a:txBody>
                    <a:bodyPr wrap="square"/>
                    <a:lstStyle/>
                    <a:p>
                      <a:r>
                        <a:rPr sz="1050" b="0" i="0">
                          <a:solidFill>
                            <a:srgbClr val="14313B"/>
                          </a:solidFill>
                          <a:latin typeface="Calibri (MS)"/>
                        </a:rPr>
                        <a:t>TPK dan hotel, BPS DIY 2015–2025</a:t>
                      </a:r>
                    </a:p>
                  </a:txBody>
                  <a:tcPr marL="73152" marR="73152" marT="36576" marB="36576" anchor="ctr">
                    <a:solidFill>
                      <a:srgbClr val="EAF8FA"/>
                    </a:solidFill>
                  </a:tcPr>
                </a:tc>
                <a:tc>
                  <a:txBody>
                    <a:bodyPr wrap="square"/>
                    <a:lstStyle/>
                    <a:p>
                      <a:r>
                        <a:rPr sz="1050" b="0" i="0">
                          <a:solidFill>
                            <a:srgbClr val="14313B"/>
                          </a:solidFill>
                          <a:latin typeface="Calibri (MS)"/>
                        </a:rPr>
                        <a:t>Wheaton &amp; Rossoff (1998), natural occupancy</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34 · Parameter Hasil Penurunan Identitas Stok-Aliran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Diturunkan dari perubahan stok teramati dan komponen alirannya; parameter berpasangan dihitung ulang bersama</a:t>
            </a:r>
          </a:p>
        </p:txBody>
      </p:sp>
      <p:graphicFrame>
        <p:nvGraphicFramePr>
          <p:cNvPr id="27" name="Table 26"/>
          <p:cNvGraphicFramePr>
            <a:graphicFrameLocks noGrp="1"/>
          </p:cNvGraphicFramePr>
          <p:nvPr/>
        </p:nvGraphicFramePr>
        <p:xfrm>
          <a:off x="822960" y="1874519"/>
          <a:ext cx="16642080" cy="681228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600200">
                <a:tc>
                  <a:txBody>
                    <a:bodyPr wrap="square"/>
                    <a:lstStyle/>
                    <a:p>
                      <a:pPr algn="ctr"/>
                      <a:r>
                        <a:rPr sz="1050" b="0" i="0">
                          <a:solidFill>
                            <a:srgbClr val="14313B"/>
                          </a:solidFill>
                          <a:latin typeface="Calibri (MS)"/>
                        </a:rPr>
                        <a:t>16</a:t>
                      </a:r>
                    </a:p>
                  </a:txBody>
                  <a:tcPr marL="73152" marR="73152" marT="36576" marB="36576" anchor="ctr">
                    <a:solidFill>
                      <a:srgbClr val="FFFFFF"/>
                    </a:solidFill>
                  </a:tcPr>
                </a:tc>
                <a:tc>
                  <a:txBody>
                    <a:bodyPr wrap="square"/>
                    <a:lstStyle/>
                    <a:p>
                      <a:r>
                        <a:rPr sz="1050" b="1" i="0">
                          <a:solidFill>
                            <a:srgbClr val="0B5E6E"/>
                          </a:solidFill>
                          <a:latin typeface="Calibri (MS)"/>
                        </a:rPr>
                        <a:t>Sensitivitas ODTW thd Investasi (S_O)</a:t>
                      </a:r>
                    </a:p>
                  </a:txBody>
                  <a:tcPr marL="73152" marR="73152" marT="36576" marB="36576" anchor="ctr">
                    <a:solidFill>
                      <a:srgbClr val="FFFFFF"/>
                    </a:solidFill>
                  </a:tcPr>
                </a:tc>
                <a:tc>
                  <a:txBody>
                    <a:bodyPr wrap="square"/>
                    <a:lstStyle/>
                    <a:p>
                      <a:r>
                        <a:rPr sz="1050" b="0" i="0">
                          <a:solidFill>
                            <a:srgbClr val="14313B"/>
                          </a:solidFill>
                          <a:latin typeface="Calibri (MS)"/>
                        </a:rPr>
                        <a:t>0,01052 unit/(miliar Rp·tahun)</a:t>
                      </a:r>
                    </a:p>
                  </a:txBody>
                  <a:tcPr marL="73152" marR="73152" marT="36576" marB="36576" anchor="ctr">
                    <a:solidFill>
                      <a:srgbClr val="FFFFFF"/>
                    </a:solidFill>
                  </a:tcPr>
                </a:tc>
                <a:tc>
                  <a:txBody>
                    <a:bodyPr wrap="square"/>
                    <a:lstStyle/>
                    <a:p>
                      <a:r>
                        <a:rPr sz="1050" b="0" i="1">
                          <a:solidFill>
                            <a:srgbClr val="14313B"/>
                          </a:solidFill>
                          <a:latin typeface="Calibri (MS)"/>
                        </a:rPr>
                        <a:t>Bruto = ΔODTW + d_O·ODTWₜ₋₁;  S_O = p_swasta·Σ Brutoₜ ÷ Σ Invₜ</a:t>
                      </a:r>
                    </a:p>
                  </a:txBody>
                  <a:tcPr marL="73152" marR="73152" marT="36576" marB="36576" anchor="ctr">
                    <a:solidFill>
                      <a:srgbClr val="FFF1BF"/>
                    </a:solidFill>
                  </a:tcPr>
                </a:tc>
                <a:tc>
                  <a:txBody>
                    <a:bodyPr wrap="square"/>
                    <a:lstStyle/>
                    <a:p>
                      <a:r>
                        <a:rPr sz="1050" b="0" i="0">
                          <a:solidFill>
                            <a:srgbClr val="14313B"/>
                          </a:solidFill>
                          <a:latin typeface="Calibri (MS)"/>
                        </a:rPr>
                        <a:t>Memisahkan pembangunan ODTW oleh swasta</a:t>
                      </a:r>
                    </a:p>
                  </a:txBody>
                  <a:tcPr marL="73152" marR="73152" marT="36576" marB="36576" anchor="ctr">
                    <a:solidFill>
                      <a:srgbClr val="FFFFFF"/>
                    </a:solidFill>
                  </a:tcPr>
                </a:tc>
                <a:tc>
                  <a:txBody>
                    <a:bodyPr wrap="square"/>
                    <a:lstStyle/>
                    <a:p>
                      <a:r>
                        <a:rPr sz="1050" b="0" i="0">
                          <a:solidFill>
                            <a:srgbClr val="14313B"/>
                          </a:solidFill>
                          <a:latin typeface="Calibri (MS)"/>
                        </a:rPr>
                        <a:t>ODTW BPS/NTL; BKPM; porsi pengelola swasta (Statistik ODTW 2024)</a:t>
                      </a:r>
                    </a:p>
                  </a:txBody>
                  <a:tcPr marL="73152" marR="73152" marT="36576" marB="36576" anchor="ctr">
                    <a:solidFill>
                      <a:srgbClr val="FFFFFF"/>
                    </a:solidFill>
                  </a:tcPr>
                </a:tc>
                <a:tc>
                  <a:txBody>
                    <a:bodyPr wrap="square"/>
                    <a:lstStyle/>
                    <a:p>
                      <a:r>
                        <a:rPr sz="1050" b="0" i="0">
                          <a:solidFill>
                            <a:srgbClr val="14313B"/>
                          </a:solidFill>
                          <a:latin typeface="Calibri (MS)"/>
                        </a:rPr>
                        <a:t>Fatina et al. (2023); Sterman (2000)</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17</a:t>
                      </a:r>
                    </a:p>
                  </a:txBody>
                  <a:tcPr marL="73152" marR="73152" marT="36576" marB="36576" anchor="ctr">
                    <a:solidFill>
                      <a:srgbClr val="EAF8FA"/>
                    </a:solidFill>
                  </a:tcPr>
                </a:tc>
                <a:tc>
                  <a:txBody>
                    <a:bodyPr wrap="square"/>
                    <a:lstStyle/>
                    <a:p>
                      <a:r>
                        <a:rPr sz="1050" b="1" i="0">
                          <a:solidFill>
                            <a:srgbClr val="0B5E6E"/>
                          </a:solidFill>
                          <a:latin typeface="Calibri (MS)"/>
                        </a:rPr>
                        <a:t>Pembangunan ODTW Non Investasi (B_O)</a:t>
                      </a:r>
                    </a:p>
                  </a:txBody>
                  <a:tcPr marL="73152" marR="73152" marT="36576" marB="36576" anchor="ctr">
                    <a:solidFill>
                      <a:srgbClr val="EAF8FA"/>
                    </a:solidFill>
                  </a:tcPr>
                </a:tc>
                <a:tc>
                  <a:txBody>
                    <a:bodyPr wrap="square"/>
                    <a:lstStyle/>
                    <a:p>
                      <a:r>
                        <a:rPr sz="1050" b="0" i="0">
                          <a:solidFill>
                            <a:srgbClr val="14313B"/>
                          </a:solidFill>
                          <a:latin typeface="Calibri (MS)"/>
                        </a:rPr>
                        <a:t>5,427 unit/tahun</a:t>
                      </a:r>
                    </a:p>
                  </a:txBody>
                  <a:tcPr marL="73152" marR="73152" marT="36576" marB="36576" anchor="ctr">
                    <a:solidFill>
                      <a:srgbClr val="EAF8FA"/>
                    </a:solidFill>
                  </a:tcPr>
                </a:tc>
                <a:tc>
                  <a:txBody>
                    <a:bodyPr wrap="square"/>
                    <a:lstStyle/>
                    <a:p>
                      <a:r>
                        <a:rPr sz="1050" b="0" i="1">
                          <a:solidFill>
                            <a:srgbClr val="14313B"/>
                          </a:solidFill>
                          <a:latin typeface="Calibri (MS)"/>
                        </a:rPr>
                        <a:t>B_O = (1 − p_swasta)·Σ Bruto ÷ jumlah tahun</a:t>
                      </a:r>
                    </a:p>
                  </a:txBody>
                  <a:tcPr marL="73152" marR="73152" marT="36576" marB="36576" anchor="ctr">
                    <a:solidFill>
                      <a:srgbClr val="FFF1BF"/>
                    </a:solidFill>
                  </a:tcPr>
                </a:tc>
                <a:tc>
                  <a:txBody>
                    <a:bodyPr wrap="square"/>
                    <a:lstStyle/>
                    <a:p>
                      <a:r>
                        <a:rPr sz="1050" b="0" i="0">
                          <a:solidFill>
                            <a:srgbClr val="14313B"/>
                          </a:solidFill>
                          <a:latin typeface="Calibri (MS)"/>
                        </a:rPr>
                        <a:t>Pembangunan pemerintah/komunitas di luar PMA+PMDN</a:t>
                      </a:r>
                    </a:p>
                  </a:txBody>
                  <a:tcPr marL="73152" marR="73152" marT="36576" marB="36576" anchor="ctr">
                    <a:solidFill>
                      <a:srgbClr val="EAF8FA"/>
                    </a:solidFill>
                  </a:tcPr>
                </a:tc>
                <a:tc>
                  <a:txBody>
                    <a:bodyPr wrap="square"/>
                    <a:lstStyle/>
                    <a:p>
                      <a:r>
                        <a:rPr sz="1050" b="0" i="0">
                          <a:solidFill>
                            <a:srgbClr val="14313B"/>
                          </a:solidFill>
                          <a:latin typeface="Calibri (MS)"/>
                        </a:rPr>
                        <a:t>ODTW 2015–2025; porsi non-swasta Statistik ODTW 2024</a:t>
                      </a:r>
                    </a:p>
                  </a:txBody>
                  <a:tcPr marL="73152" marR="73152" marT="36576" marB="36576" anchor="ctr">
                    <a:solidFill>
                      <a:srgbClr val="EAF8FA"/>
                    </a:solidFill>
                  </a:tcPr>
                </a:tc>
                <a:tc>
                  <a:txBody>
                    <a:bodyPr wrap="square"/>
                    <a:lstStyle/>
                    <a:p>
                      <a:r>
                        <a:rPr sz="1050" b="0" i="0">
                          <a:solidFill>
                            <a:srgbClr val="14313B"/>
                          </a:solidFill>
                          <a:latin typeface="Calibri (MS)"/>
                        </a:rPr>
                        <a:t>Formulasi model</a:t>
                      </a:r>
                    </a:p>
                  </a:txBody>
                  <a:tcPr marL="73152" marR="73152" marT="36576" marB="36576" anchor="ctr">
                    <a:solidFill>
                      <a:srgbClr val="EAF8FA"/>
                    </a:solidFill>
                  </a:tcPr>
                </a:tc>
              </a:tr>
              <a:tr h="1600200">
                <a:tc>
                  <a:txBody>
                    <a:bodyPr wrap="square"/>
                    <a:lstStyle/>
                    <a:p>
                      <a:pPr algn="ctr"/>
                      <a:r>
                        <a:rPr sz="1050" b="0" i="0">
                          <a:solidFill>
                            <a:srgbClr val="14313B"/>
                          </a:solidFill>
                          <a:latin typeface="Calibri (MS)"/>
                        </a:rPr>
                        <a:t>18</a:t>
                      </a:r>
                    </a:p>
                  </a:txBody>
                  <a:tcPr marL="73152" marR="73152" marT="36576" marB="36576" anchor="ctr">
                    <a:solidFill>
                      <a:srgbClr val="FFFFFF"/>
                    </a:solidFill>
                  </a:tcPr>
                </a:tc>
                <a:tc>
                  <a:txBody>
                    <a:bodyPr wrap="square"/>
                    <a:lstStyle/>
                    <a:p>
                      <a:r>
                        <a:rPr sz="1050" b="1" i="0">
                          <a:solidFill>
                            <a:srgbClr val="0B5E6E"/>
                          </a:solidFill>
                          <a:latin typeface="Calibri (MS)"/>
                        </a:rPr>
                        <a:t>Laju Penutupan Dasar ODTW (d_O)</a:t>
                      </a:r>
                    </a:p>
                  </a:txBody>
                  <a:tcPr marL="73152" marR="73152" marT="36576" marB="36576" anchor="ctr">
                    <a:solidFill>
                      <a:srgbClr val="FFFFFF"/>
                    </a:solidFill>
                  </a:tcPr>
                </a:tc>
                <a:tc>
                  <a:txBody>
                    <a:bodyPr wrap="square"/>
                    <a:lstStyle/>
                    <a:p>
                      <a:r>
                        <a:rPr sz="1050" b="0" i="0">
                          <a:solidFill>
                            <a:srgbClr val="14313B"/>
                          </a:solidFill>
                          <a:latin typeface="Calibri (MS)"/>
                        </a:rPr>
                        <a:t>0,0499327 /tahun</a:t>
                      </a:r>
                    </a:p>
                  </a:txBody>
                  <a:tcPr marL="73152" marR="73152" marT="36576" marB="36576" anchor="ctr">
                    <a:solidFill>
                      <a:srgbClr val="FFFFFF"/>
                    </a:solidFill>
                  </a:tcPr>
                </a:tc>
                <a:tc>
                  <a:txBody>
                    <a:bodyPr wrap="square"/>
                    <a:lstStyle/>
                    <a:p>
                      <a:r>
                        <a:rPr sz="1050" b="0" i="1">
                          <a:solidFill>
                            <a:srgbClr val="14313B"/>
                          </a:solidFill>
                          <a:latin typeface="Calibri (MS)"/>
                        </a:rPr>
                        <a:t>Penutupan = ODTW·d_O; d_O dari distribusi lama beroperasi, dikoreksi pertumbuhan stok</a:t>
                      </a:r>
                    </a:p>
                  </a:txBody>
                  <a:tcPr marL="73152" marR="73152" marT="36576" marB="36576" anchor="ctr">
                    <a:solidFill>
                      <a:srgbClr val="FFF1BF"/>
                    </a:solidFill>
                  </a:tcPr>
                </a:tc>
                <a:tc>
                  <a:txBody>
                    <a:bodyPr wrap="square"/>
                    <a:lstStyle/>
                    <a:p>
                      <a:r>
                        <a:rPr sz="1050" b="0" i="0">
                          <a:solidFill>
                            <a:srgbClr val="14313B"/>
                          </a:solidFill>
                          <a:latin typeface="Calibri (MS)"/>
                        </a:rPr>
                        <a:t>Mengubah distribusi umur usaha menjadi laju keluar normal</a:t>
                      </a:r>
                    </a:p>
                  </a:txBody>
                  <a:tcPr marL="73152" marR="73152" marT="36576" marB="36576" anchor="ctr">
                    <a:solidFill>
                      <a:srgbClr val="FFFFFF"/>
                    </a:solidFill>
                  </a:tcPr>
                </a:tc>
                <a:tc>
                  <a:txBody>
                    <a:bodyPr wrap="square"/>
                    <a:lstStyle/>
                    <a:p>
                      <a:r>
                        <a:rPr sz="1050" b="0" i="0">
                          <a:solidFill>
                            <a:srgbClr val="14313B"/>
                          </a:solidFill>
                          <a:latin typeface="Calibri (MS)"/>
                        </a:rPr>
                        <a:t>Statistik ODTW 2024 BPS; seri ODTW</a:t>
                      </a:r>
                    </a:p>
                  </a:txBody>
                  <a:tcPr marL="73152" marR="73152" marT="36576" marB="36576" anchor="ctr">
                    <a:solidFill>
                      <a:srgbClr val="FFFFFF"/>
                    </a:solidFill>
                  </a:tcPr>
                </a:tc>
                <a:tc>
                  <a:txBody>
                    <a:bodyPr wrap="square"/>
                    <a:lstStyle/>
                    <a:p>
                      <a:r>
                        <a:rPr sz="1050" b="0" i="0">
                          <a:solidFill>
                            <a:srgbClr val="14313B"/>
                          </a:solidFill>
                          <a:latin typeface="Calibri (MS)"/>
                        </a:rPr>
                        <a:t>Sterman (2000), average lifetime</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19</a:t>
                      </a:r>
                    </a:p>
                  </a:txBody>
                  <a:tcPr marL="73152" marR="73152" marT="36576" marB="36576" anchor="ctr">
                    <a:solidFill>
                      <a:srgbClr val="EAF8FA"/>
                    </a:solidFill>
                  </a:tcPr>
                </a:tc>
                <a:tc>
                  <a:txBody>
                    <a:bodyPr wrap="square"/>
                    <a:lstStyle/>
                    <a:p>
                      <a:r>
                        <a:rPr sz="1050" b="1" i="0">
                          <a:solidFill>
                            <a:srgbClr val="0B5E6E"/>
                          </a:solidFill>
                          <a:latin typeface="Calibri (MS)"/>
                        </a:rPr>
                        <a:t>Laju Konversi Dasar (k)</a:t>
                      </a:r>
                    </a:p>
                  </a:txBody>
                  <a:tcPr marL="73152" marR="73152" marT="36576" marB="36576" anchor="ctr">
                    <a:solidFill>
                      <a:srgbClr val="EAF8FA"/>
                    </a:solidFill>
                  </a:tcPr>
                </a:tc>
                <a:tc>
                  <a:txBody>
                    <a:bodyPr wrap="square"/>
                    <a:lstStyle/>
                    <a:p>
                      <a:r>
                        <a:rPr sz="1050" b="0" i="0">
                          <a:solidFill>
                            <a:srgbClr val="14313B"/>
                          </a:solidFill>
                          <a:latin typeface="Calibri (MS)"/>
                        </a:rPr>
                        <a:t>0,0436052 /tahun</a:t>
                      </a:r>
                    </a:p>
                  </a:txBody>
                  <a:tcPr marL="73152" marR="73152" marT="36576" marB="36576" anchor="ctr">
                    <a:solidFill>
                      <a:srgbClr val="EAF8FA"/>
                    </a:solidFill>
                  </a:tcPr>
                </a:tc>
                <a:tc>
                  <a:txBody>
                    <a:bodyPr wrap="square"/>
                    <a:lstStyle/>
                    <a:p>
                      <a:r>
                        <a:rPr sz="1050" b="0" i="1">
                          <a:solidFill>
                            <a:srgbClr val="14313B"/>
                          </a:solidFill>
                          <a:latin typeface="Calibri (MS)"/>
                        </a:rPr>
                        <a:t>ln Lₜ = a + β·t;  k = (e^β − 1) ÷ R̄DDL₂₀₁₆–₂₀₂₅ = 0,0354 ÷ 0,8121</a:t>
                      </a:r>
                    </a:p>
                  </a:txBody>
                  <a:tcPr marL="73152" marR="73152" marT="36576" marB="36576" anchor="ctr">
                    <a:solidFill>
                      <a:srgbClr val="FFF1BF"/>
                    </a:solidFill>
                  </a:tcPr>
                </a:tc>
                <a:tc>
                  <a:txBody>
                    <a:bodyPr wrap="square"/>
                    <a:lstStyle/>
                    <a:p>
                      <a:r>
                        <a:rPr sz="1050" b="0" i="0">
                          <a:solidFill>
                            <a:srgbClr val="14313B"/>
                          </a:solidFill>
                          <a:latin typeface="Calibri (MS)"/>
                        </a:rPr>
                        <a:t>Tekanan konversi nonpariwisata; perlambatan lewat RDDL</a:t>
                      </a:r>
                    </a:p>
                  </a:txBody>
                  <a:tcPr marL="73152" marR="73152" marT="36576" marB="36576" anchor="ctr">
                    <a:solidFill>
                      <a:srgbClr val="EAF8FA"/>
                    </a:solidFill>
                  </a:tcPr>
                </a:tc>
                <a:tc>
                  <a:txBody>
                    <a:bodyPr wrap="square"/>
                    <a:lstStyle/>
                    <a:p>
                      <a:r>
                        <a:rPr sz="1050" b="0" i="0">
                          <a:solidFill>
                            <a:srgbClr val="14313B"/>
                          </a:solidFill>
                          <a:latin typeface="Calibri (MS)"/>
                        </a:rPr>
                        <a:t>Lahan terbangun Dynamic World 2016–2025</a:t>
                      </a:r>
                    </a:p>
                  </a:txBody>
                  <a:tcPr marL="73152" marR="73152" marT="36576" marB="36576" anchor="ctr">
                    <a:solidFill>
                      <a:srgbClr val="EAF8FA"/>
                    </a:solidFill>
                  </a:tcPr>
                </a:tc>
                <a:tc>
                  <a:txBody>
                    <a:bodyPr wrap="square"/>
                    <a:lstStyle/>
                    <a:p>
                      <a:r>
                        <a:rPr sz="105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35 · Parameter Nilai Diadopsi dari Ketentuan Regulasi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Angka diambil dari ketentuan peraturan; tetap diuji sensitivitas</a:t>
            </a:r>
          </a:p>
        </p:txBody>
      </p:sp>
      <p:graphicFrame>
        <p:nvGraphicFramePr>
          <p:cNvPr id="27" name="Table 26"/>
          <p:cNvGraphicFramePr>
            <a:graphicFrameLocks noGrp="1"/>
          </p:cNvGraphicFramePr>
          <p:nvPr/>
        </p:nvGraphicFramePr>
        <p:xfrm>
          <a:off x="822960" y="1874519"/>
          <a:ext cx="16642080" cy="361188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600200">
                <a:tc>
                  <a:txBody>
                    <a:bodyPr wrap="square"/>
                    <a:lstStyle/>
                    <a:p>
                      <a:pPr algn="ctr"/>
                      <a:r>
                        <a:rPr sz="1050" b="0" i="0">
                          <a:solidFill>
                            <a:srgbClr val="14313B"/>
                          </a:solidFill>
                          <a:latin typeface="Calibri (MS)"/>
                        </a:rPr>
                        <a:t>20</a:t>
                      </a:r>
                    </a:p>
                  </a:txBody>
                  <a:tcPr marL="73152" marR="73152" marT="36576" marB="36576" anchor="ctr">
                    <a:solidFill>
                      <a:srgbClr val="FFFFFF"/>
                    </a:solidFill>
                  </a:tcPr>
                </a:tc>
                <a:tc>
                  <a:txBody>
                    <a:bodyPr wrap="square"/>
                    <a:lstStyle/>
                    <a:p>
                      <a:r>
                        <a:rPr sz="1050" b="1" i="0">
                          <a:solidFill>
                            <a:srgbClr val="0B5E6E"/>
                          </a:solidFill>
                          <a:latin typeface="Calibri (MS)"/>
                        </a:rPr>
                        <a:t>Laju Demolisi Dasar (d_H)</a:t>
                      </a:r>
                    </a:p>
                  </a:txBody>
                  <a:tcPr marL="73152" marR="73152" marT="36576" marB="36576" anchor="ctr">
                    <a:solidFill>
                      <a:srgbClr val="FFFFFF"/>
                    </a:solidFill>
                  </a:tcPr>
                </a:tc>
                <a:tc>
                  <a:txBody>
                    <a:bodyPr wrap="square"/>
                    <a:lstStyle/>
                    <a:p>
                      <a:r>
                        <a:rPr sz="1050" b="0" i="0">
                          <a:solidFill>
                            <a:srgbClr val="14313B"/>
                          </a:solidFill>
                          <a:latin typeface="Calibri (MS)"/>
                        </a:rPr>
                        <a:t>0,05 /tahun</a:t>
                      </a:r>
                    </a:p>
                  </a:txBody>
                  <a:tcPr marL="73152" marR="73152" marT="36576" marB="36576" anchor="ctr">
                    <a:solidFill>
                      <a:srgbClr val="FFFFFF"/>
                    </a:solidFill>
                  </a:tcPr>
                </a:tc>
                <a:tc>
                  <a:txBody>
                    <a:bodyPr wrap="square"/>
                    <a:lstStyle/>
                    <a:p>
                      <a:r>
                        <a:rPr sz="1050" b="0" i="1">
                          <a:solidFill>
                            <a:srgbClr val="14313B"/>
                          </a:solidFill>
                          <a:latin typeface="Calibri (MS)"/>
                        </a:rPr>
                        <a:t>d_H = 1 ÷ umur operasi rata-rata = 1 ÷ 20 tahun</a:t>
                      </a:r>
                    </a:p>
                  </a:txBody>
                  <a:tcPr marL="73152" marR="73152" marT="36576" marB="36576" anchor="ctr">
                    <a:solidFill>
                      <a:srgbClr val="FFF1BF"/>
                    </a:solidFill>
                  </a:tcPr>
                </a:tc>
                <a:tc>
                  <a:txBody>
                    <a:bodyPr wrap="square"/>
                    <a:lstStyle/>
                    <a:p>
                      <a:r>
                        <a:rPr sz="1050" b="0" i="0">
                          <a:solidFill>
                            <a:srgbClr val="14313B"/>
                          </a:solidFill>
                          <a:latin typeface="Calibri (MS)"/>
                        </a:rPr>
                        <a:t>Laju keluar normal dari konsep average lifetime; 20 tahun ditriangulasi dari umur manfaat bangunan (rentang 0,02–0,082)</a:t>
                      </a:r>
                    </a:p>
                  </a:txBody>
                  <a:tcPr marL="73152" marR="73152" marT="36576" marB="36576" anchor="ctr">
                    <a:solidFill>
                      <a:srgbClr val="FFFFFF"/>
                    </a:solidFill>
                  </a:tcPr>
                </a:tc>
                <a:tc>
                  <a:txBody>
                    <a:bodyPr wrap="square"/>
                    <a:lstStyle/>
                    <a:p>
                      <a:r>
                        <a:rPr sz="1050" b="0" i="0">
                          <a:solidFill>
                            <a:srgbClr val="14313B"/>
                          </a:solidFill>
                          <a:latin typeface="Calibri (MS)"/>
                        </a:rPr>
                        <a:t>Ketentuan umur manfaat bangunan permanen</a:t>
                      </a:r>
                    </a:p>
                  </a:txBody>
                  <a:tcPr marL="73152" marR="73152" marT="36576" marB="36576" anchor="ctr">
                    <a:solidFill>
                      <a:srgbClr val="FFFFFF"/>
                    </a:solidFill>
                  </a:tcPr>
                </a:tc>
                <a:tc>
                  <a:txBody>
                    <a:bodyPr wrap="square"/>
                    <a:lstStyle/>
                    <a:p>
                      <a:r>
                        <a:rPr sz="1050" b="0" i="0">
                          <a:solidFill>
                            <a:srgbClr val="14313B"/>
                          </a:solidFill>
                          <a:latin typeface="Calibri (MS)"/>
                        </a:rPr>
                        <a:t>Sterman (2000); Mai &amp; Smith (2018); PP 36/2005; UU PPh (penyusutan)</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21</a:t>
                      </a:r>
                    </a:p>
                  </a:txBody>
                  <a:tcPr marL="73152" marR="73152" marT="36576" marB="36576" anchor="ctr">
                    <a:solidFill>
                      <a:srgbClr val="EAF8FA"/>
                    </a:solidFill>
                  </a:tcPr>
                </a:tc>
                <a:tc>
                  <a:txBody>
                    <a:bodyPr wrap="square"/>
                    <a:lstStyle/>
                    <a:p>
                      <a:r>
                        <a:rPr sz="1050" b="1" i="0">
                          <a:solidFill>
                            <a:srgbClr val="0B5E6E"/>
                          </a:solidFill>
                          <a:latin typeface="Calibri (MS)"/>
                        </a:rPr>
                        <a:t>Laju Keluar Dasar TK (d_TK)</a:t>
                      </a:r>
                    </a:p>
                  </a:txBody>
                  <a:tcPr marL="73152" marR="73152" marT="36576" marB="36576" anchor="ctr">
                    <a:solidFill>
                      <a:srgbClr val="EAF8FA"/>
                    </a:solidFill>
                  </a:tcPr>
                </a:tc>
                <a:tc>
                  <a:txBody>
                    <a:bodyPr wrap="square"/>
                    <a:lstStyle/>
                    <a:p>
                      <a:r>
                        <a:rPr sz="1050" b="0" i="0">
                          <a:solidFill>
                            <a:srgbClr val="14313B"/>
                          </a:solidFill>
                          <a:latin typeface="Calibri (MS)"/>
                        </a:rPr>
                        <a:t>0,03 /tahun</a:t>
                      </a:r>
                    </a:p>
                  </a:txBody>
                  <a:tcPr marL="73152" marR="73152" marT="36576" marB="36576" anchor="ctr">
                    <a:solidFill>
                      <a:srgbClr val="EAF8FA"/>
                    </a:solidFill>
                  </a:tcPr>
                </a:tc>
                <a:tc>
                  <a:txBody>
                    <a:bodyPr wrap="square"/>
                    <a:lstStyle/>
                    <a:p>
                      <a:r>
                        <a:rPr sz="1050" b="0" i="1">
                          <a:solidFill>
                            <a:srgbClr val="14313B"/>
                          </a:solidFill>
                          <a:latin typeface="Calibri (MS)"/>
                        </a:rPr>
                        <a:t>d_TK ≈ 1 ÷ (usia pensiun − usia mulai kerja) = 1 ÷ (59 − 25)</a:t>
                      </a:r>
                    </a:p>
                  </a:txBody>
                  <a:tcPr marL="73152" marR="73152" marT="36576" marB="36576" anchor="ctr">
                    <a:solidFill>
                      <a:srgbClr val="FFF1BF"/>
                    </a:solidFill>
                  </a:tcPr>
                </a:tc>
                <a:tc>
                  <a:txBody>
                    <a:bodyPr wrap="square"/>
                    <a:lstStyle/>
                    <a:p>
                      <a:r>
                        <a:rPr sz="1050" b="0" i="0">
                          <a:solidFill>
                            <a:srgbClr val="14313B"/>
                          </a:solidFill>
                          <a:latin typeface="Calibri (MS)"/>
                        </a:rPr>
                        <a:t>Seri keluar-masuk sektoral tidak tersedia; diproksi masa kerja efektif</a:t>
                      </a:r>
                    </a:p>
                  </a:txBody>
                  <a:tcPr marL="73152" marR="73152" marT="36576" marB="36576" anchor="ctr">
                    <a:solidFill>
                      <a:srgbClr val="EAF8FA"/>
                    </a:solidFill>
                  </a:tcPr>
                </a:tc>
                <a:tc>
                  <a:txBody>
                    <a:bodyPr wrap="square"/>
                    <a:lstStyle/>
                    <a:p>
                      <a:r>
                        <a:rPr sz="1050" b="0" i="0">
                          <a:solidFill>
                            <a:srgbClr val="14313B"/>
                          </a:solidFill>
                          <a:latin typeface="Calibri (MS)"/>
                        </a:rPr>
                        <a:t>PP 45/2015 Pasal 15; usia mulai kerja asumsi operasional</a:t>
                      </a:r>
                    </a:p>
                  </a:txBody>
                  <a:tcPr marL="73152" marR="73152" marT="36576" marB="36576" anchor="ctr">
                    <a:solidFill>
                      <a:srgbClr val="EAF8FA"/>
                    </a:solidFill>
                  </a:tcPr>
                </a:tc>
                <a:tc>
                  <a:txBody>
                    <a:bodyPr wrap="square"/>
                    <a:lstStyle/>
                    <a:p>
                      <a:r>
                        <a:rPr sz="1050" b="0" i="0">
                          <a:solidFill>
                            <a:srgbClr val="14313B"/>
                          </a:solidFill>
                          <a:latin typeface="Calibri (MS)"/>
                        </a:rPr>
                        <a:t>Sterman (2000); PP 45/2015</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36 · Parameter Asumsi Pemodelan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Ditetapkan peneliti berdasarkan teori, lalu diuji ±10% dan pada seluruh rentang nilainya</a:t>
            </a:r>
          </a:p>
        </p:txBody>
      </p:sp>
      <p:graphicFrame>
        <p:nvGraphicFramePr>
          <p:cNvPr id="27" name="Table 26"/>
          <p:cNvGraphicFramePr>
            <a:graphicFrameLocks noGrp="1"/>
          </p:cNvGraphicFramePr>
          <p:nvPr/>
        </p:nvGraphicFramePr>
        <p:xfrm>
          <a:off x="822960" y="1874519"/>
          <a:ext cx="16642080" cy="681228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600200">
                <a:tc>
                  <a:txBody>
                    <a:bodyPr wrap="square"/>
                    <a:lstStyle/>
                    <a:p>
                      <a:pPr algn="ctr"/>
                      <a:r>
                        <a:rPr sz="1050" b="0" i="0">
                          <a:solidFill>
                            <a:srgbClr val="14313B"/>
                          </a:solidFill>
                          <a:latin typeface="Calibri (MS)"/>
                        </a:rPr>
                        <a:t>22</a:t>
                      </a:r>
                    </a:p>
                  </a:txBody>
                  <a:tcPr marL="73152" marR="73152" marT="36576" marB="36576" anchor="ctr">
                    <a:solidFill>
                      <a:srgbClr val="FFFFFF"/>
                    </a:solidFill>
                  </a:tcPr>
                </a:tc>
                <a:tc>
                  <a:txBody>
                    <a:bodyPr wrap="square"/>
                    <a:lstStyle/>
                    <a:p>
                      <a:r>
                        <a:rPr sz="1050" b="1" i="0">
                          <a:solidFill>
                            <a:srgbClr val="0B5E6E"/>
                          </a:solidFill>
                          <a:latin typeface="Calibri (MS)"/>
                        </a:rPr>
                        <a:t>Bobot ODTW (w_O)</a:t>
                      </a:r>
                    </a:p>
                  </a:txBody>
                  <a:tcPr marL="73152" marR="73152" marT="36576" marB="36576" anchor="ctr">
                    <a:solidFill>
                      <a:srgbClr val="FFFFFF"/>
                    </a:solidFill>
                  </a:tcPr>
                </a:tc>
                <a:tc>
                  <a:txBody>
                    <a:bodyPr wrap="square"/>
                    <a:lstStyle/>
                    <a:p>
                      <a:r>
                        <a:rPr sz="1050" b="0" i="0">
                          <a:solidFill>
                            <a:srgbClr val="14313B"/>
                          </a:solidFill>
                          <a:latin typeface="Calibri (MS)"/>
                        </a:rPr>
                        <a:t>0,40 Dmnl</a:t>
                      </a:r>
                    </a:p>
                  </a:txBody>
                  <a:tcPr marL="73152" marR="73152" marT="36576" marB="36576" anchor="ctr">
                    <a:solidFill>
                      <a:srgbClr val="FFFFFF"/>
                    </a:solidFill>
                  </a:tcPr>
                </a:tc>
                <a:tc>
                  <a:txBody>
                    <a:bodyPr wrap="square"/>
                    <a:lstStyle/>
                    <a:p>
                      <a:r>
                        <a:rPr sz="1050" b="0" i="1">
                          <a:solidFill>
                            <a:srgbClr val="14313B"/>
                          </a:solidFill>
                          <a:latin typeface="Calibri (MS)"/>
                        </a:rPr>
                        <a:t>DT = w_O·min[M, (ODTW/ODTW_ref)^ε] + …</a:t>
                      </a:r>
                    </a:p>
                  </a:txBody>
                  <a:tcPr marL="73152" marR="73152" marT="36576" marB="36576" anchor="ctr">
                    <a:solidFill>
                      <a:srgbClr val="FFF1BF"/>
                    </a:solidFill>
                  </a:tcPr>
                </a:tc>
                <a:tc>
                  <a:txBody>
                    <a:bodyPr wrap="square"/>
                    <a:lstStyle/>
                    <a:p>
                      <a:r>
                        <a:rPr sz="1050" b="0" i="0">
                          <a:solidFill>
                            <a:srgbClr val="14313B"/>
                          </a:solidFill>
                          <a:latin typeface="Calibri (MS)"/>
                        </a:rPr>
                        <a:t>Porsi terbesar pada atraksi; tetap memenuhi syarat kestabilan</a:t>
                      </a:r>
                    </a:p>
                  </a:txBody>
                  <a:tcPr marL="73152" marR="73152" marT="36576" marB="36576" anchor="ctr">
                    <a:solidFill>
                      <a:srgbClr val="FFFFFF"/>
                    </a:solidFill>
                  </a:tcPr>
                </a:tc>
                <a:tc>
                  <a:txBody>
                    <a:bodyPr wrap="square"/>
                    <a:lstStyle/>
                    <a:p>
                      <a:r>
                        <a:rPr sz="1050" b="0" i="0">
                          <a:solidFill>
                            <a:srgbClr val="14313B"/>
                          </a:solidFill>
                          <a:latin typeface="Calibri (MS)"/>
                        </a:rPr>
                        <a:t>Asumsi; diuji perilaku dan sensitivitas</a:t>
                      </a:r>
                    </a:p>
                  </a:txBody>
                  <a:tcPr marL="73152" marR="73152" marT="36576" marB="36576" anchor="ctr">
                    <a:solidFill>
                      <a:srgbClr val="FFFFFF"/>
                    </a:solidFill>
                  </a:tcPr>
                </a:tc>
                <a:tc>
                  <a:txBody>
                    <a:bodyPr wrap="square"/>
                    <a:lstStyle/>
                    <a:p>
                      <a:r>
                        <a:rPr sz="1050" b="0" i="0">
                          <a:solidFill>
                            <a:srgbClr val="14313B"/>
                          </a:solidFill>
                          <a:latin typeface="Calibri (MS)"/>
                        </a:rPr>
                        <a:t>Ritchie &amp; Crouch (2003); Butler (1980); OECD-JRC (2008); Mai &amp; Smith (2018)</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23</a:t>
                      </a:r>
                    </a:p>
                  </a:txBody>
                  <a:tcPr marL="73152" marR="73152" marT="36576" marB="36576" anchor="ctr">
                    <a:solidFill>
                      <a:srgbClr val="EAF8FA"/>
                    </a:solidFill>
                  </a:tcPr>
                </a:tc>
                <a:tc>
                  <a:txBody>
                    <a:bodyPr wrap="square"/>
                    <a:lstStyle/>
                    <a:p>
                      <a:r>
                        <a:rPr sz="1050" b="1" i="0">
                          <a:solidFill>
                            <a:srgbClr val="0B5E6E"/>
                          </a:solidFill>
                          <a:latin typeface="Calibri (MS)"/>
                        </a:rPr>
                        <a:t>Bobot Kepadatan (w_K)</a:t>
                      </a:r>
                    </a:p>
                  </a:txBody>
                  <a:tcPr marL="73152" marR="73152" marT="36576" marB="36576" anchor="ctr">
                    <a:solidFill>
                      <a:srgbClr val="EAF8FA"/>
                    </a:solidFill>
                  </a:tcPr>
                </a:tc>
                <a:tc>
                  <a:txBody>
                    <a:bodyPr wrap="square"/>
                    <a:lstStyle/>
                    <a:p>
                      <a:r>
                        <a:rPr sz="1050" b="0" i="0">
                          <a:solidFill>
                            <a:srgbClr val="14313B"/>
                          </a:solidFill>
                          <a:latin typeface="Calibri (MS)"/>
                        </a:rPr>
                        <a:t>0,35 Dmnl</a:t>
                      </a:r>
                    </a:p>
                  </a:txBody>
                  <a:tcPr marL="73152" marR="73152" marT="36576" marB="36576" anchor="ctr">
                    <a:solidFill>
                      <a:srgbClr val="EAF8FA"/>
                    </a:solidFill>
                  </a:tcPr>
                </a:tc>
                <a:tc>
                  <a:txBody>
                    <a:bodyPr wrap="square"/>
                    <a:lstStyle/>
                    <a:p>
                      <a:r>
                        <a:rPr sz="1050" b="0" i="1">
                          <a:solidFill>
                            <a:srgbClr val="14313B"/>
                          </a:solidFill>
                          <a:latin typeface="Calibri (MS)"/>
                        </a:rPr>
                        <a:t>… + w_K·min[1, K_ref ÷ Kepadatan] + …</a:t>
                      </a:r>
                    </a:p>
                  </a:txBody>
                  <a:tcPr marL="73152" marR="73152" marT="36576" marB="36576" anchor="ctr">
                    <a:solidFill>
                      <a:srgbClr val="FFF1BF"/>
                    </a:solidFill>
                  </a:tcPr>
                </a:tc>
                <a:tc>
                  <a:txBody>
                    <a:bodyPr wrap="square"/>
                    <a:lstStyle/>
                    <a:p>
                      <a:r>
                        <a:rPr sz="1050" b="0" i="0">
                          <a:solidFill>
                            <a:srgbClr val="14313B"/>
                          </a:solidFill>
                          <a:latin typeface="Calibri (MS)"/>
                        </a:rPr>
                        <a:t>Kepadatan sebagai faktor pembatas</a:t>
                      </a:r>
                    </a:p>
                  </a:txBody>
                  <a:tcPr marL="73152" marR="73152" marT="36576" marB="36576" anchor="ctr">
                    <a:solidFill>
                      <a:srgbClr val="EAF8FA"/>
                    </a:solidFill>
                  </a:tcPr>
                </a:tc>
                <a:tc>
                  <a:txBody>
                    <a:bodyPr wrap="square"/>
                    <a:lstStyle/>
                    <a:p>
                      <a:r>
                        <a:rPr sz="1050" b="0" i="0">
                          <a:solidFill>
                            <a:srgbClr val="14313B"/>
                          </a:solidFill>
                          <a:latin typeface="Calibri (MS)"/>
                        </a:rPr>
                        <a:t>Asumsi; sensitivitas</a:t>
                      </a:r>
                    </a:p>
                  </a:txBody>
                  <a:tcPr marL="73152" marR="73152" marT="36576" marB="36576" anchor="ctr">
                    <a:solidFill>
                      <a:srgbClr val="EAF8FA"/>
                    </a:solidFill>
                  </a:tcPr>
                </a:tc>
                <a:tc>
                  <a:txBody>
                    <a:bodyPr wrap="square"/>
                    <a:lstStyle/>
                    <a:p>
                      <a:r>
                        <a:rPr sz="1050" b="0" i="0">
                          <a:solidFill>
                            <a:srgbClr val="14313B"/>
                          </a:solidFill>
                          <a:latin typeface="Calibri (MS)"/>
                        </a:rPr>
                        <a:t>Ritchie &amp; Crouch (2003); Butler (1980); OECD-JRC (2008)</a:t>
                      </a:r>
                    </a:p>
                  </a:txBody>
                  <a:tcPr marL="73152" marR="73152" marT="36576" marB="36576" anchor="ctr">
                    <a:solidFill>
                      <a:srgbClr val="EAF8FA"/>
                    </a:solidFill>
                  </a:tcPr>
                </a:tc>
              </a:tr>
              <a:tr h="1600200">
                <a:tc>
                  <a:txBody>
                    <a:bodyPr wrap="square"/>
                    <a:lstStyle/>
                    <a:p>
                      <a:pPr algn="ctr"/>
                      <a:r>
                        <a:rPr sz="1050" b="0" i="0">
                          <a:solidFill>
                            <a:srgbClr val="14313B"/>
                          </a:solidFill>
                          <a:latin typeface="Calibri (MS)"/>
                        </a:rPr>
                        <a:t>24</a:t>
                      </a:r>
                    </a:p>
                  </a:txBody>
                  <a:tcPr marL="73152" marR="73152" marT="36576" marB="36576" anchor="ctr">
                    <a:solidFill>
                      <a:srgbClr val="FFFFFF"/>
                    </a:solidFill>
                  </a:tcPr>
                </a:tc>
                <a:tc>
                  <a:txBody>
                    <a:bodyPr wrap="square"/>
                    <a:lstStyle/>
                    <a:p>
                      <a:r>
                        <a:rPr sz="1050" b="1" i="0">
                          <a:solidFill>
                            <a:srgbClr val="0B5E6E"/>
                          </a:solidFill>
                          <a:latin typeface="Calibri (MS)"/>
                        </a:rPr>
                        <a:t>Bobot Daya Dukung Lahan (w_L)</a:t>
                      </a:r>
                    </a:p>
                  </a:txBody>
                  <a:tcPr marL="73152" marR="73152" marT="36576" marB="36576" anchor="ctr">
                    <a:solidFill>
                      <a:srgbClr val="FFFFFF"/>
                    </a:solidFill>
                  </a:tcPr>
                </a:tc>
                <a:tc>
                  <a:txBody>
                    <a:bodyPr wrap="square"/>
                    <a:lstStyle/>
                    <a:p>
                      <a:r>
                        <a:rPr sz="1050" b="0" i="0">
                          <a:solidFill>
                            <a:srgbClr val="14313B"/>
                          </a:solidFill>
                          <a:latin typeface="Calibri (MS)"/>
                        </a:rPr>
                        <a:t>0,25 Dmnl</a:t>
                      </a:r>
                    </a:p>
                  </a:txBody>
                  <a:tcPr marL="73152" marR="73152" marT="36576" marB="36576" anchor="ctr">
                    <a:solidFill>
                      <a:srgbClr val="FFFFFF"/>
                    </a:solidFill>
                  </a:tcPr>
                </a:tc>
                <a:tc>
                  <a:txBody>
                    <a:bodyPr wrap="square"/>
                    <a:lstStyle/>
                    <a:p>
                      <a:r>
                        <a:rPr sz="1050" b="0" i="1">
                          <a:solidFill>
                            <a:srgbClr val="14313B"/>
                          </a:solidFill>
                          <a:latin typeface="Calibri (MS)"/>
                        </a:rPr>
                        <a:t>… + w_L·(RDDL ÷ RDDL_ref);  w_O + w_K + w_L = 1</a:t>
                      </a:r>
                    </a:p>
                  </a:txBody>
                  <a:tcPr marL="73152" marR="73152" marT="36576" marB="36576" anchor="ctr">
                    <a:solidFill>
                      <a:srgbClr val="FFF1BF"/>
                    </a:solidFill>
                  </a:tcPr>
                </a:tc>
                <a:tc>
                  <a:txBody>
                    <a:bodyPr wrap="square"/>
                    <a:lstStyle/>
                    <a:p>
                      <a:r>
                        <a:rPr sz="1050" b="0" i="0">
                          <a:solidFill>
                            <a:srgbClr val="14313B"/>
                          </a:solidFill>
                          <a:latin typeface="Calibri (MS)"/>
                        </a:rPr>
                        <a:t>Menangkap tekanan lahan tanpa mendominasi indeks</a:t>
                      </a:r>
                    </a:p>
                  </a:txBody>
                  <a:tcPr marL="73152" marR="73152" marT="36576" marB="36576" anchor="ctr">
                    <a:solidFill>
                      <a:srgbClr val="FFFFFF"/>
                    </a:solidFill>
                  </a:tcPr>
                </a:tc>
                <a:tc>
                  <a:txBody>
                    <a:bodyPr wrap="square"/>
                    <a:lstStyle/>
                    <a:p>
                      <a:r>
                        <a:rPr sz="1050" b="0" i="0">
                          <a:solidFill>
                            <a:srgbClr val="14313B"/>
                          </a:solidFill>
                          <a:latin typeface="Calibri (MS)"/>
                        </a:rPr>
                        <a:t>Asumsi; sensitivitas</a:t>
                      </a:r>
                    </a:p>
                  </a:txBody>
                  <a:tcPr marL="73152" marR="73152" marT="36576" marB="36576" anchor="ctr">
                    <a:solidFill>
                      <a:srgbClr val="FFFFFF"/>
                    </a:solidFill>
                  </a:tcPr>
                </a:tc>
                <a:tc>
                  <a:txBody>
                    <a:bodyPr wrap="square"/>
                    <a:lstStyle/>
                    <a:p>
                      <a:r>
                        <a:rPr sz="1050" b="0" i="0">
                          <a:solidFill>
                            <a:srgbClr val="14313B"/>
                          </a:solidFill>
                          <a:latin typeface="Calibri (MS)"/>
                        </a:rPr>
                        <a:t>Ritchie &amp; Crouch (2003); Mai &amp; Smith (2018)</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25</a:t>
                      </a:r>
                    </a:p>
                  </a:txBody>
                  <a:tcPr marL="73152" marR="73152" marT="36576" marB="36576" anchor="ctr">
                    <a:solidFill>
                      <a:srgbClr val="EAF8FA"/>
                    </a:solidFill>
                  </a:tcPr>
                </a:tc>
                <a:tc>
                  <a:txBody>
                    <a:bodyPr wrap="square"/>
                    <a:lstStyle/>
                    <a:p>
                      <a:r>
                        <a:rPr sz="1050" b="1" i="0">
                          <a:solidFill>
                            <a:srgbClr val="0B5E6E"/>
                          </a:solidFill>
                          <a:latin typeface="Calibri (MS)"/>
                        </a:rPr>
                        <a:t>Elastisitas Daya Tarik ODTW (ε)</a:t>
                      </a:r>
                    </a:p>
                  </a:txBody>
                  <a:tcPr marL="73152" marR="73152" marT="36576" marB="36576" anchor="ctr">
                    <a:solidFill>
                      <a:srgbClr val="EAF8FA"/>
                    </a:solidFill>
                  </a:tcPr>
                </a:tc>
                <a:tc>
                  <a:txBody>
                    <a:bodyPr wrap="square"/>
                    <a:lstStyle/>
                    <a:p>
                      <a:r>
                        <a:rPr sz="1050" b="0" i="0">
                          <a:solidFill>
                            <a:srgbClr val="14313B"/>
                          </a:solidFill>
                          <a:latin typeface="Calibri (MS)"/>
                        </a:rPr>
                        <a:t>0,30 Dmnl</a:t>
                      </a:r>
                    </a:p>
                  </a:txBody>
                  <a:tcPr marL="73152" marR="73152" marT="36576" marB="36576" anchor="ctr">
                    <a:solidFill>
                      <a:srgbClr val="EAF8FA"/>
                    </a:solidFill>
                  </a:tcPr>
                </a:tc>
                <a:tc>
                  <a:txBody>
                    <a:bodyPr wrap="square"/>
                    <a:lstStyle/>
                    <a:p>
                      <a:r>
                        <a:rPr sz="1050" b="0" i="1">
                          <a:solidFill>
                            <a:srgbClr val="14313B"/>
                          </a:solidFill>
                          <a:latin typeface="Calibri (MS)"/>
                        </a:rPr>
                        <a:t>Efek ODTW = (ODTW ÷ ODTW_ref)^ε</a:t>
                      </a:r>
                    </a:p>
                  </a:txBody>
                  <a:tcPr marL="73152" marR="73152" marT="36576" marB="36576" anchor="ctr">
                    <a:solidFill>
                      <a:srgbClr val="FFF1BF"/>
                    </a:solidFill>
                  </a:tcPr>
                </a:tc>
                <a:tc>
                  <a:txBody>
                    <a:bodyPr wrap="square"/>
                    <a:lstStyle/>
                    <a:p>
                      <a:r>
                        <a:rPr sz="1050" b="0" i="0">
                          <a:solidFill>
                            <a:srgbClr val="14313B"/>
                          </a:solidFill>
                          <a:latin typeface="Calibri (MS)"/>
                        </a:rPr>
                        <a:t>Nilai &lt; 1: diminishing returns</a:t>
                      </a:r>
                    </a:p>
                  </a:txBody>
                  <a:tcPr marL="73152" marR="73152" marT="36576" marB="36576" anchor="ctr">
                    <a:solidFill>
                      <a:srgbClr val="EAF8FA"/>
                    </a:solidFill>
                  </a:tcPr>
                </a:tc>
                <a:tc>
                  <a:txBody>
                    <a:bodyPr wrap="square"/>
                    <a:lstStyle/>
                    <a:p>
                      <a:r>
                        <a:rPr sz="1050" b="0" i="0">
                          <a:solidFill>
                            <a:srgbClr val="14313B"/>
                          </a:solidFill>
                          <a:latin typeface="Calibri (MS)"/>
                        </a:rPr>
                        <a:t>Asumsi; diuji 0–1</a:t>
                      </a:r>
                    </a:p>
                  </a:txBody>
                  <a:tcPr marL="73152" marR="73152" marT="36576" marB="36576" anchor="ctr">
                    <a:solidFill>
                      <a:srgbClr val="EAF8FA"/>
                    </a:solidFill>
                  </a:tcPr>
                </a:tc>
                <a:tc>
                  <a:txBody>
                    <a:bodyPr wrap="square"/>
                    <a:lstStyle/>
                    <a:p>
                      <a:r>
                        <a:rPr sz="1050" b="0" i="0">
                          <a:solidFill>
                            <a:srgbClr val="14313B"/>
                          </a:solidFill>
                          <a:latin typeface="Calibri (MS)"/>
                        </a:rPr>
                        <a:t>Sterman (2000); Mai &amp; Smith (2018)</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36 · Parameter Asumsi Pemodelan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Ditetapkan peneliti berdasarkan teori, lalu diuji ±10% dan pada seluruh rentang nilainya</a:t>
            </a:r>
          </a:p>
        </p:txBody>
      </p:sp>
      <p:graphicFrame>
        <p:nvGraphicFramePr>
          <p:cNvPr id="27" name="Table 26"/>
          <p:cNvGraphicFramePr>
            <a:graphicFrameLocks noGrp="1"/>
          </p:cNvGraphicFramePr>
          <p:nvPr/>
        </p:nvGraphicFramePr>
        <p:xfrm>
          <a:off x="822960" y="1874519"/>
          <a:ext cx="16642080" cy="6812280"/>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600200">
                <a:tc>
                  <a:txBody>
                    <a:bodyPr wrap="square"/>
                    <a:lstStyle/>
                    <a:p>
                      <a:pPr algn="ctr"/>
                      <a:r>
                        <a:rPr sz="1050" b="0" i="0">
                          <a:solidFill>
                            <a:srgbClr val="14313B"/>
                          </a:solidFill>
                          <a:latin typeface="Calibri (MS)"/>
                        </a:rPr>
                        <a:t>26</a:t>
                      </a:r>
                    </a:p>
                  </a:txBody>
                  <a:tcPr marL="73152" marR="73152" marT="36576" marB="36576" anchor="ctr">
                    <a:solidFill>
                      <a:srgbClr val="FFFFFF"/>
                    </a:solidFill>
                  </a:tcPr>
                </a:tc>
                <a:tc>
                  <a:txBody>
                    <a:bodyPr wrap="square"/>
                    <a:lstStyle/>
                    <a:p>
                      <a:r>
                        <a:rPr sz="1050" b="1" i="0">
                          <a:solidFill>
                            <a:srgbClr val="0B5E6E"/>
                          </a:solidFill>
                          <a:latin typeface="Calibri (MS)"/>
                        </a:rPr>
                        <a:t>Batas Maksimum Efek ODTW (M)</a:t>
                      </a:r>
                    </a:p>
                  </a:txBody>
                  <a:tcPr marL="73152" marR="73152" marT="36576" marB="36576" anchor="ctr">
                    <a:solidFill>
                      <a:srgbClr val="FFFFFF"/>
                    </a:solidFill>
                  </a:tcPr>
                </a:tc>
                <a:tc>
                  <a:txBody>
                    <a:bodyPr wrap="square"/>
                    <a:lstStyle/>
                    <a:p>
                      <a:r>
                        <a:rPr sz="1050" b="0" i="0">
                          <a:solidFill>
                            <a:srgbClr val="14313B"/>
                          </a:solidFill>
                          <a:latin typeface="Calibri (MS)"/>
                        </a:rPr>
                        <a:t>1,50 Dmnl</a:t>
                      </a:r>
                    </a:p>
                  </a:txBody>
                  <a:tcPr marL="73152" marR="73152" marT="36576" marB="36576" anchor="ctr">
                    <a:solidFill>
                      <a:srgbClr val="FFFFFF"/>
                    </a:solidFill>
                  </a:tcPr>
                </a:tc>
                <a:tc>
                  <a:txBody>
                    <a:bodyPr wrap="square"/>
                    <a:lstStyle/>
                    <a:p>
                      <a:r>
                        <a:rPr sz="1050" b="0" i="1">
                          <a:solidFill>
                            <a:srgbClr val="14313B"/>
                          </a:solidFill>
                          <a:latin typeface="Calibri (MS)"/>
                        </a:rPr>
                        <a:t>min[M, (ODTW/ODTW_ref)^ε];  syarat w_O·M &lt; LPD/LPE (0,60 &lt; 0,75)</a:t>
                      </a:r>
                    </a:p>
                  </a:txBody>
                  <a:tcPr marL="73152" marR="73152" marT="36576" marB="36576" anchor="ctr">
                    <a:solidFill>
                      <a:srgbClr val="FFF1BF"/>
                    </a:solidFill>
                  </a:tcPr>
                </a:tc>
                <a:tc>
                  <a:txBody>
                    <a:bodyPr wrap="square"/>
                    <a:lstStyle/>
                    <a:p>
                      <a:r>
                        <a:rPr sz="1050" b="0" i="0">
                          <a:solidFill>
                            <a:srgbClr val="14313B"/>
                          </a:solidFill>
                          <a:latin typeface="Calibri (MS)"/>
                        </a:rPr>
                        <a:t>Saturasi efek ODTW maksimum 50% di atas referensi</a:t>
                      </a:r>
                    </a:p>
                  </a:txBody>
                  <a:tcPr marL="73152" marR="73152" marT="36576" marB="36576" anchor="ctr">
                    <a:solidFill>
                      <a:srgbClr val="FFFFFF"/>
                    </a:solidFill>
                  </a:tcPr>
                </a:tc>
                <a:tc>
                  <a:txBody>
                    <a:bodyPr wrap="square"/>
                    <a:lstStyle/>
                    <a:p>
                      <a:r>
                        <a:rPr sz="1050" b="0" i="0">
                          <a:solidFill>
                            <a:srgbClr val="14313B"/>
                          </a:solidFill>
                          <a:latin typeface="Calibri (MS)"/>
                        </a:rPr>
                        <a:t>Asumsi struktur; sensitivitas</a:t>
                      </a:r>
                    </a:p>
                  </a:txBody>
                  <a:tcPr marL="73152" marR="73152" marT="36576" marB="36576" anchor="ctr">
                    <a:solidFill>
                      <a:srgbClr val="FFFFFF"/>
                    </a:solidFill>
                  </a:tcPr>
                </a:tc>
                <a:tc>
                  <a:txBody>
                    <a:bodyPr wrap="square"/>
                    <a:lstStyle/>
                    <a:p>
                      <a:r>
                        <a:rPr sz="1050" b="0" i="0">
                          <a:solidFill>
                            <a:srgbClr val="14313B"/>
                          </a:solidFill>
                          <a:latin typeface="Calibri (MS)"/>
                        </a:rPr>
                        <a:t>Mai &amp; Smith (2018), bounded multiplier</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27</a:t>
                      </a:r>
                    </a:p>
                  </a:txBody>
                  <a:tcPr marL="73152" marR="73152" marT="36576" marB="36576" anchor="ctr">
                    <a:solidFill>
                      <a:srgbClr val="EAF8FA"/>
                    </a:solidFill>
                  </a:tcPr>
                </a:tc>
                <a:tc>
                  <a:txBody>
                    <a:bodyPr wrap="square"/>
                    <a:lstStyle/>
                    <a:p>
                      <a:r>
                        <a:rPr sz="1050" b="1" i="0">
                          <a:solidFill>
                            <a:srgbClr val="0B5E6E"/>
                          </a:solidFill>
                          <a:latin typeface="Calibri (MS)"/>
                        </a:rPr>
                        <a:t>Lahan per Hotel dan Akomodasi (a_H)</a:t>
                      </a:r>
                    </a:p>
                  </a:txBody>
                  <a:tcPr marL="73152" marR="73152" marT="36576" marB="36576" anchor="ctr">
                    <a:solidFill>
                      <a:srgbClr val="EAF8FA"/>
                    </a:solidFill>
                  </a:tcPr>
                </a:tc>
                <a:tc>
                  <a:txBody>
                    <a:bodyPr wrap="square"/>
                    <a:lstStyle/>
                    <a:p>
                      <a:r>
                        <a:rPr sz="1050" b="0" i="0">
                          <a:solidFill>
                            <a:srgbClr val="14313B"/>
                          </a:solidFill>
                          <a:latin typeface="Calibri (MS)"/>
                        </a:rPr>
                        <a:t>0,10 ha/unit</a:t>
                      </a:r>
                    </a:p>
                  </a:txBody>
                  <a:tcPr marL="73152" marR="73152" marT="36576" marB="36576" anchor="ctr">
                    <a:solidFill>
                      <a:srgbClr val="EAF8FA"/>
                    </a:solidFill>
                  </a:tcPr>
                </a:tc>
                <a:tc>
                  <a:txBody>
                    <a:bodyPr wrap="square"/>
                    <a:lstStyle/>
                    <a:p>
                      <a:r>
                        <a:rPr sz="1050" b="0" i="1">
                          <a:solidFill>
                            <a:srgbClr val="14313B"/>
                          </a:solidFill>
                          <a:latin typeface="Calibri (MS)"/>
                        </a:rPr>
                        <a:t>Konversi pariwisata memuat Konstruksi × a_H</a:t>
                      </a:r>
                    </a:p>
                  </a:txBody>
                  <a:tcPr marL="73152" marR="73152" marT="36576" marB="36576" anchor="ctr">
                    <a:solidFill>
                      <a:srgbClr val="FFF1BF"/>
                    </a:solidFill>
                  </a:tcPr>
                </a:tc>
                <a:tc>
                  <a:txBody>
                    <a:bodyPr wrap="square"/>
                    <a:lstStyle/>
                    <a:p>
                      <a:r>
                        <a:rPr sz="1050" b="0" i="0">
                          <a:solidFill>
                            <a:srgbClr val="14313B"/>
                          </a:solidFill>
                          <a:latin typeface="Calibri (MS)"/>
                        </a:rPr>
                        <a:t>Data tapak per usaha tidak tersedia</a:t>
                      </a:r>
                    </a:p>
                  </a:txBody>
                  <a:tcPr marL="73152" marR="73152" marT="36576" marB="36576" anchor="ctr">
                    <a:solidFill>
                      <a:srgbClr val="EAF8FA"/>
                    </a:solidFill>
                  </a:tcPr>
                </a:tc>
                <a:tc>
                  <a:txBody>
                    <a:bodyPr wrap="square"/>
                    <a:lstStyle/>
                    <a:p>
                      <a:r>
                        <a:rPr sz="1050" b="0" i="0">
                          <a:solidFill>
                            <a:srgbClr val="14313B"/>
                          </a:solidFill>
                          <a:latin typeface="Calibri (MS)"/>
                        </a:rPr>
                        <a:t>Asumsi; pemeriksaan kewajaran</a:t>
                      </a:r>
                    </a:p>
                  </a:txBody>
                  <a:tcPr marL="73152" marR="73152" marT="36576" marB="36576" anchor="ctr">
                    <a:solidFill>
                      <a:srgbClr val="EAF8FA"/>
                    </a:solidFill>
                  </a:tcPr>
                </a:tc>
                <a:tc>
                  <a:txBody>
                    <a:bodyPr wrap="square"/>
                    <a:lstStyle/>
                    <a:p>
                      <a:r>
                        <a:rPr sz="1050" b="0" i="0">
                          <a:solidFill>
                            <a:srgbClr val="14313B"/>
                          </a:solidFill>
                          <a:latin typeface="Calibri (MS)"/>
                        </a:rPr>
                        <a:t>Koefisien fisik model (bukan angka regulasi)</a:t>
                      </a:r>
                    </a:p>
                  </a:txBody>
                  <a:tcPr marL="73152" marR="73152" marT="36576" marB="36576" anchor="ctr">
                    <a:solidFill>
                      <a:srgbClr val="EAF8FA"/>
                    </a:solidFill>
                  </a:tcPr>
                </a:tc>
              </a:tr>
              <a:tr h="1600200">
                <a:tc>
                  <a:txBody>
                    <a:bodyPr wrap="square"/>
                    <a:lstStyle/>
                    <a:p>
                      <a:pPr algn="ctr"/>
                      <a:r>
                        <a:rPr sz="1050" b="0" i="0">
                          <a:solidFill>
                            <a:srgbClr val="14313B"/>
                          </a:solidFill>
                          <a:latin typeface="Calibri (MS)"/>
                        </a:rPr>
                        <a:t>28</a:t>
                      </a:r>
                    </a:p>
                  </a:txBody>
                  <a:tcPr marL="73152" marR="73152" marT="36576" marB="36576" anchor="ctr">
                    <a:solidFill>
                      <a:srgbClr val="FFFFFF"/>
                    </a:solidFill>
                  </a:tcPr>
                </a:tc>
                <a:tc>
                  <a:txBody>
                    <a:bodyPr wrap="square"/>
                    <a:lstStyle/>
                    <a:p>
                      <a:r>
                        <a:rPr sz="1050" b="1" i="0">
                          <a:solidFill>
                            <a:srgbClr val="0B5E6E"/>
                          </a:solidFill>
                          <a:latin typeface="Calibri (MS)"/>
                        </a:rPr>
                        <a:t>Lahan per ODTW (a_O)</a:t>
                      </a:r>
                    </a:p>
                  </a:txBody>
                  <a:tcPr marL="73152" marR="73152" marT="36576" marB="36576" anchor="ctr">
                    <a:solidFill>
                      <a:srgbClr val="FFFFFF"/>
                    </a:solidFill>
                  </a:tcPr>
                </a:tc>
                <a:tc>
                  <a:txBody>
                    <a:bodyPr wrap="square"/>
                    <a:lstStyle/>
                    <a:p>
                      <a:r>
                        <a:rPr sz="1050" b="0" i="0">
                          <a:solidFill>
                            <a:srgbClr val="14313B"/>
                          </a:solidFill>
                          <a:latin typeface="Calibri (MS)"/>
                        </a:rPr>
                        <a:t>0,50 ha/unit</a:t>
                      </a:r>
                    </a:p>
                  </a:txBody>
                  <a:tcPr marL="73152" marR="73152" marT="36576" marB="36576" anchor="ctr">
                    <a:solidFill>
                      <a:srgbClr val="FFFFFF"/>
                    </a:solidFill>
                  </a:tcPr>
                </a:tc>
                <a:tc>
                  <a:txBody>
                    <a:bodyPr wrap="square"/>
                    <a:lstStyle/>
                    <a:p>
                      <a:r>
                        <a:rPr sz="1050" b="0" i="1">
                          <a:solidFill>
                            <a:srgbClr val="14313B"/>
                          </a:solidFill>
                          <a:latin typeface="Calibri (MS)"/>
                        </a:rPr>
                        <a:t>Konversi pariwisata memuat Pembangunan ODTW × a_O</a:t>
                      </a:r>
                    </a:p>
                  </a:txBody>
                  <a:tcPr marL="73152" marR="73152" marT="36576" marB="36576" anchor="ctr">
                    <a:solidFill>
                      <a:srgbClr val="FFF1BF"/>
                    </a:solidFill>
                  </a:tcPr>
                </a:tc>
                <a:tc>
                  <a:txBody>
                    <a:bodyPr wrap="square"/>
                    <a:lstStyle/>
                    <a:p>
                      <a:r>
                        <a:rPr sz="1050" b="0" i="0">
                          <a:solidFill>
                            <a:srgbClr val="14313B"/>
                          </a:solidFill>
                          <a:latin typeface="Calibri (MS)"/>
                        </a:rPr>
                        <a:t>Tapak fasilitas terbangun (parkir, loket, toilet, kios), bukan seluruh luas objek; diuji 0,1–2 ha</a:t>
                      </a:r>
                    </a:p>
                  </a:txBody>
                  <a:tcPr marL="73152" marR="73152" marT="36576" marB="36576" anchor="ctr">
                    <a:solidFill>
                      <a:srgbClr val="FFFFFF"/>
                    </a:solidFill>
                  </a:tcPr>
                </a:tc>
                <a:tc>
                  <a:txBody>
                    <a:bodyPr wrap="square"/>
                    <a:lstStyle/>
                    <a:p>
                      <a:r>
                        <a:rPr sz="1050" b="0" i="0">
                          <a:solidFill>
                            <a:srgbClr val="14313B"/>
                          </a:solidFill>
                          <a:latin typeface="Calibri (MS)"/>
                        </a:rPr>
                        <a:t>Komposisi ODTW BPS 2024; asumsi</a:t>
                      </a:r>
                    </a:p>
                  </a:txBody>
                  <a:tcPr marL="73152" marR="73152" marT="36576" marB="36576" anchor="ctr">
                    <a:solidFill>
                      <a:srgbClr val="FFFFFF"/>
                    </a:solidFill>
                  </a:tcPr>
                </a:tc>
                <a:tc>
                  <a:txBody>
                    <a:bodyPr wrap="square"/>
                    <a:lstStyle/>
                    <a:p>
                      <a:r>
                        <a:rPr sz="1050" b="0" i="0">
                          <a:solidFill>
                            <a:srgbClr val="14313B"/>
                          </a:solidFill>
                          <a:latin typeface="Calibri (MS)"/>
                        </a:rPr>
                        <a:t>PP 36/2010 Ps. 18; Permen LHK P.8/2019 (pembanding)</a:t>
                      </a:r>
                    </a:p>
                  </a:txBody>
                  <a:tcPr marL="73152" marR="73152" marT="36576" marB="36576" anchor="ctr">
                    <a:solidFill>
                      <a:srgbClr val="FFFFFF"/>
                    </a:solidFill>
                  </a:tcPr>
                </a:tc>
              </a:tr>
              <a:tr h="1600200">
                <a:tc>
                  <a:txBody>
                    <a:bodyPr wrap="square"/>
                    <a:lstStyle/>
                    <a:p>
                      <a:pPr algn="ctr"/>
                      <a:r>
                        <a:rPr sz="1050" b="0" i="0">
                          <a:solidFill>
                            <a:srgbClr val="14313B"/>
                          </a:solidFill>
                          <a:latin typeface="Calibri (MS)"/>
                        </a:rPr>
                        <a:t>29</a:t>
                      </a:r>
                    </a:p>
                  </a:txBody>
                  <a:tcPr marL="73152" marR="73152" marT="36576" marB="36576" anchor="ctr">
                    <a:solidFill>
                      <a:srgbClr val="EAF8FA"/>
                    </a:solidFill>
                  </a:tcPr>
                </a:tc>
                <a:tc>
                  <a:txBody>
                    <a:bodyPr wrap="square"/>
                    <a:lstStyle/>
                    <a:p>
                      <a:r>
                        <a:rPr sz="1050" b="1" i="0">
                          <a:solidFill>
                            <a:srgbClr val="0B5E6E"/>
                          </a:solidFill>
                          <a:latin typeface="Calibri (MS)"/>
                        </a:rPr>
                        <a:t>Waktu Penyesuaian TK (τ)</a:t>
                      </a:r>
                    </a:p>
                  </a:txBody>
                  <a:tcPr marL="73152" marR="73152" marT="36576" marB="36576" anchor="ctr">
                    <a:solidFill>
                      <a:srgbClr val="EAF8FA"/>
                    </a:solidFill>
                  </a:tcPr>
                </a:tc>
                <a:tc>
                  <a:txBody>
                    <a:bodyPr wrap="square"/>
                    <a:lstStyle/>
                    <a:p>
                      <a:r>
                        <a:rPr sz="1050" b="0" i="0">
                          <a:solidFill>
                            <a:srgbClr val="14313B"/>
                          </a:solidFill>
                          <a:latin typeface="Calibri (MS)"/>
                        </a:rPr>
                        <a:t>1 tahun</a:t>
                      </a:r>
                    </a:p>
                  </a:txBody>
                  <a:tcPr marL="73152" marR="73152" marT="36576" marB="36576" anchor="ctr">
                    <a:solidFill>
                      <a:srgbClr val="EAF8FA"/>
                    </a:solidFill>
                  </a:tcPr>
                </a:tc>
                <a:tc>
                  <a:txBody>
                    <a:bodyPr wrap="square"/>
                    <a:lstStyle/>
                    <a:p>
                      <a:r>
                        <a:rPr sz="1050" b="0" i="1">
                          <a:solidFill>
                            <a:srgbClr val="14313B"/>
                          </a:solidFill>
                          <a:latin typeface="Calibri (MS)"/>
                        </a:rPr>
                        <a:t>Penyerapan = max[0, Keluar + (TK_dibutuhkan − TK) ÷ τ]</a:t>
                      </a:r>
                    </a:p>
                  </a:txBody>
                  <a:tcPr marL="73152" marR="73152" marT="36576" marB="36576" anchor="ctr">
                    <a:solidFill>
                      <a:srgbClr val="FFF1BF"/>
                    </a:solidFill>
                  </a:tcPr>
                </a:tc>
                <a:tc>
                  <a:txBody>
                    <a:bodyPr wrap="square"/>
                    <a:lstStyle/>
                    <a:p>
                      <a:r>
                        <a:rPr sz="1050" b="0" i="0">
                          <a:solidFill>
                            <a:srgbClr val="14313B"/>
                          </a:solidFill>
                          <a:latin typeface="Calibri (MS)"/>
                        </a:rPr>
                        <a:t>Batas bawah = TIME STEP 1 tahun agar tidak overshoot pada Euler; diuji 1–3 tahun</a:t>
                      </a:r>
                    </a:p>
                  </a:txBody>
                  <a:tcPr marL="73152" marR="73152" marT="36576" marB="36576" anchor="ctr">
                    <a:solidFill>
                      <a:srgbClr val="EAF8FA"/>
                    </a:solidFill>
                  </a:tcPr>
                </a:tc>
                <a:tc>
                  <a:txBody>
                    <a:bodyPr wrap="square"/>
                    <a:lstStyle/>
                    <a:p>
                      <a:r>
                        <a:rPr sz="1050" b="0" i="0">
                          <a:solidFill>
                            <a:srgbClr val="14313B"/>
                          </a:solidFill>
                          <a:latin typeface="Calibri (MS)"/>
                        </a:rPr>
                        <a:t>Asumsi; sensitivitas</a:t>
                      </a:r>
                    </a:p>
                  </a:txBody>
                  <a:tcPr marL="73152" marR="73152" marT="36576" marB="36576" anchor="ctr">
                    <a:solidFill>
                      <a:srgbClr val="EAF8FA"/>
                    </a:solidFill>
                  </a:tcPr>
                </a:tc>
                <a:tc>
                  <a:txBody>
                    <a:bodyPr wrap="square"/>
                    <a:lstStyle/>
                    <a:p>
                      <a:r>
                        <a:rPr sz="1050" b="0" i="0">
                          <a:solidFill>
                            <a:srgbClr val="14313B"/>
                          </a:solidFill>
                          <a:latin typeface="Calibri (MS)"/>
                        </a:rPr>
                        <a:t>Sterman (2000); Forrester (1961)</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37 · Parameter Normalisasi dan Tuas Kebijakan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acuan tahun dasar untuk normalisasi indeks dan dua tuas skenario kebijakan</a:t>
            </a:r>
          </a:p>
        </p:txBody>
      </p:sp>
      <p:graphicFrame>
        <p:nvGraphicFramePr>
          <p:cNvPr id="27" name="Table 26"/>
          <p:cNvGraphicFramePr>
            <a:graphicFrameLocks noGrp="1"/>
          </p:cNvGraphicFramePr>
          <p:nvPr/>
        </p:nvGraphicFramePr>
        <p:xfrm>
          <a:off x="822960" y="1874519"/>
          <a:ext cx="16642080" cy="6885432"/>
        </p:xfrm>
        <a:graphic>
          <a:graphicData uri="http://schemas.openxmlformats.org/drawingml/2006/table">
            <a:tbl>
              <a:tblPr firstRow="1" bandRow="1">
                <a:tableStyleId>{5C22544A-7EE6-4342-B048-85BDC9FD1C3A}</a:tableStyleId>
              </a:tblPr>
              <a:tblGrid>
                <a:gridCol w="457200"/>
                <a:gridCol w="2286000"/>
                <a:gridCol w="1828800"/>
                <a:gridCol w="3840480"/>
                <a:gridCol w="3108960"/>
                <a:gridCol w="2651760"/>
                <a:gridCol w="2468880"/>
              </a:tblGrid>
              <a:tr h="41148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Parameter (notasi)</a:t>
                      </a:r>
                    </a:p>
                  </a:txBody>
                  <a:tcPr marL="73152" marR="73152" marT="36576" marB="36576" anchor="ctr">
                    <a:solidFill>
                      <a:srgbClr val="0B5E6E"/>
                    </a:solidFill>
                  </a:tcPr>
                </a:tc>
                <a:tc>
                  <a:txBody>
                    <a:bodyPr wrap="square"/>
                    <a:lstStyle/>
                    <a:p>
                      <a:r>
                        <a:rPr sz="1050" b="1" i="0">
                          <a:solidFill>
                            <a:srgbClr val="FFFFFF"/>
                          </a:solidFill>
                          <a:latin typeface="Calibri (MS) Bold"/>
                        </a:rPr>
                        <a:t>Nilai dan satuan</a:t>
                      </a:r>
                    </a:p>
                  </a:txBody>
                  <a:tcPr marL="73152" marR="73152" marT="36576" marB="36576" anchor="ctr">
                    <a:solidFill>
                      <a:srgbClr val="0B5E6E"/>
                    </a:solidFill>
                  </a:tcPr>
                </a:tc>
                <a:tc>
                  <a:txBody>
                    <a:bodyPr wrap="square"/>
                    <a:lstStyle/>
                    <a:p>
                      <a:r>
                        <a:rPr sz="1050" b="1" i="0">
                          <a:solidFill>
                            <a:srgbClr val="FFFFFF"/>
                          </a:solidFill>
                          <a:latin typeface="Calibri (MS) Bold"/>
                        </a:rPr>
                        <a:t>Rumus / cara penentuan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Data dan sumber</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1078992">
                <a:tc>
                  <a:txBody>
                    <a:bodyPr wrap="square"/>
                    <a:lstStyle/>
                    <a:p>
                      <a:pPr algn="ctr"/>
                      <a:r>
                        <a:rPr sz="1050" b="0" i="0">
                          <a:solidFill>
                            <a:srgbClr val="14313B"/>
                          </a:solidFill>
                          <a:latin typeface="Calibri (MS)"/>
                        </a:rPr>
                        <a:t>30</a:t>
                      </a:r>
                    </a:p>
                  </a:txBody>
                  <a:tcPr marL="73152" marR="73152" marT="36576" marB="36576" anchor="ctr">
                    <a:solidFill>
                      <a:srgbClr val="FFFFFF"/>
                    </a:solidFill>
                  </a:tcPr>
                </a:tc>
                <a:tc>
                  <a:txBody>
                    <a:bodyPr wrap="square"/>
                    <a:lstStyle/>
                    <a:p>
                      <a:r>
                        <a:rPr sz="1050" b="1" i="0">
                          <a:solidFill>
                            <a:srgbClr val="0B5E6E"/>
                          </a:solidFill>
                          <a:latin typeface="Calibri (MS)"/>
                        </a:rPr>
                        <a:t>ODTW Referensi (ODTW_ref)</a:t>
                      </a:r>
                    </a:p>
                  </a:txBody>
                  <a:tcPr marL="73152" marR="73152" marT="36576" marB="36576" anchor="ctr">
                    <a:solidFill>
                      <a:srgbClr val="FFFFFF"/>
                    </a:solidFill>
                  </a:tcPr>
                </a:tc>
                <a:tc>
                  <a:txBody>
                    <a:bodyPr wrap="square"/>
                    <a:lstStyle/>
                    <a:p>
                      <a:r>
                        <a:rPr sz="1050" b="0" i="0">
                          <a:solidFill>
                            <a:srgbClr val="14313B"/>
                          </a:solidFill>
                          <a:latin typeface="Calibri (MS)"/>
                        </a:rPr>
                        <a:t>201 unit</a:t>
                      </a:r>
                    </a:p>
                  </a:txBody>
                  <a:tcPr marL="73152" marR="73152" marT="36576" marB="36576" anchor="ctr">
                    <a:solidFill>
                      <a:srgbClr val="FFFFFF"/>
                    </a:solidFill>
                  </a:tcPr>
                </a:tc>
                <a:tc>
                  <a:txBody>
                    <a:bodyPr wrap="square"/>
                    <a:lstStyle/>
                    <a:p>
                      <a:r>
                        <a:rPr sz="1050" b="0" i="1">
                          <a:solidFill>
                            <a:srgbClr val="14313B"/>
                          </a:solidFill>
                          <a:latin typeface="Calibri (MS)"/>
                        </a:rPr>
                        <a:t>ODTW_ref = Jumlah ODTW 2025</a:t>
                      </a:r>
                    </a:p>
                  </a:txBody>
                  <a:tcPr marL="73152" marR="73152" marT="36576" marB="36576" anchor="ctr">
                    <a:solidFill>
                      <a:srgbClr val="FFF1BF"/>
                    </a:solidFill>
                  </a:tcPr>
                </a:tc>
                <a:tc>
                  <a:txBody>
                    <a:bodyPr wrap="square"/>
                    <a:lstStyle/>
                    <a:p>
                      <a:r>
                        <a:rPr sz="1050" b="0" i="0">
                          <a:solidFill>
                            <a:srgbClr val="14313B"/>
                          </a:solidFill>
                          <a:latin typeface="Calibri (MS)"/>
                        </a:rPr>
                        <a:t>Rasio ODTW bernilai 1 pada tahun dasar</a:t>
                      </a:r>
                    </a:p>
                  </a:txBody>
                  <a:tcPr marL="73152" marR="73152" marT="36576" marB="36576" anchor="ctr">
                    <a:solidFill>
                      <a:srgbClr val="FFFFFF"/>
                    </a:solidFill>
                  </a:tcPr>
                </a:tc>
                <a:tc>
                  <a:txBody>
                    <a:bodyPr wrap="square"/>
                    <a:lstStyle/>
                    <a:p>
                      <a:r>
                        <a:rPr sz="1050" b="0" i="0">
                          <a:solidFill>
                            <a:srgbClr val="14313B"/>
                          </a:solidFill>
                          <a:latin typeface="Calibri (MS)"/>
                        </a:rPr>
                        <a:t>ODTW 2025 (estimasi NTL)</a:t>
                      </a:r>
                    </a:p>
                  </a:txBody>
                  <a:tcPr marL="73152" marR="73152" marT="36576" marB="36576" anchor="ctr">
                    <a:solidFill>
                      <a:srgbClr val="FFFFFF"/>
                    </a:solidFill>
                  </a:tcPr>
                </a:tc>
                <a:tc>
                  <a:txBody>
                    <a:bodyPr wrap="square"/>
                    <a:lstStyle/>
                    <a:p>
                      <a:r>
                        <a:rPr sz="1050" b="0" i="0">
                          <a:solidFill>
                            <a:srgbClr val="14313B"/>
                          </a:solidFill>
                          <a:latin typeface="Calibri (MS)"/>
                        </a:rPr>
                        <a:t>Kerangka indeks daya tarik model</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31</a:t>
                      </a:r>
                    </a:p>
                  </a:txBody>
                  <a:tcPr marL="73152" marR="73152" marT="36576" marB="36576" anchor="ctr">
                    <a:solidFill>
                      <a:srgbClr val="EAF8FA"/>
                    </a:solidFill>
                  </a:tcPr>
                </a:tc>
                <a:tc>
                  <a:txBody>
                    <a:bodyPr wrap="square"/>
                    <a:lstStyle/>
                    <a:p>
                      <a:r>
                        <a:rPr sz="1050" b="1" i="0">
                          <a:solidFill>
                            <a:srgbClr val="0B5E6E"/>
                          </a:solidFill>
                          <a:latin typeface="Calibri (MS)"/>
                        </a:rPr>
                        <a:t>Kepadatan Referensi (K_ref)</a:t>
                      </a:r>
                    </a:p>
                  </a:txBody>
                  <a:tcPr marL="73152" marR="73152" marT="36576" marB="36576" anchor="ctr">
                    <a:solidFill>
                      <a:srgbClr val="EAF8FA"/>
                    </a:solidFill>
                  </a:tcPr>
                </a:tc>
                <a:tc>
                  <a:txBody>
                    <a:bodyPr wrap="square"/>
                    <a:lstStyle/>
                    <a:p>
                      <a:r>
                        <a:rPr sz="1050" b="0" i="0">
                          <a:solidFill>
                            <a:srgbClr val="14313B"/>
                          </a:solidFill>
                          <a:latin typeface="Calibri (MS)"/>
                        </a:rPr>
                        <a:t>128,363 kunjungan/ha</a:t>
                      </a:r>
                    </a:p>
                  </a:txBody>
                  <a:tcPr marL="73152" marR="73152" marT="36576" marB="36576" anchor="ctr">
                    <a:solidFill>
                      <a:srgbClr val="EAF8FA"/>
                    </a:solidFill>
                  </a:tcPr>
                </a:tc>
                <a:tc>
                  <a:txBody>
                    <a:bodyPr wrap="square"/>
                    <a:lstStyle/>
                    <a:p>
                      <a:r>
                        <a:rPr sz="1050" b="0" i="1">
                          <a:solidFill>
                            <a:srgbClr val="14313B"/>
                          </a:solidFill>
                          <a:latin typeface="Calibri (MS)"/>
                        </a:rPr>
                        <a:t>K_ref = Jumlah wisatawan₂₀₂₅ ÷ A = 40.695.654 ÷ 317.036</a:t>
                      </a:r>
                    </a:p>
                  </a:txBody>
                  <a:tcPr marL="73152" marR="73152" marT="36576" marB="36576" anchor="ctr">
                    <a:solidFill>
                      <a:srgbClr val="FFF1BF"/>
                    </a:solidFill>
                  </a:tcPr>
                </a:tc>
                <a:tc>
                  <a:txBody>
                    <a:bodyPr wrap="square"/>
                    <a:lstStyle/>
                    <a:p>
                      <a:r>
                        <a:rPr sz="1050" b="0" i="0">
                          <a:solidFill>
                            <a:srgbClr val="14313B"/>
                          </a:solidFill>
                          <a:latin typeface="Calibri (MS)"/>
                        </a:rPr>
                        <a:t>Kepadatan 2025 sebagai kondisi normal; lebih rendah tidak memberi bonus</a:t>
                      </a:r>
                    </a:p>
                  </a:txBody>
                  <a:tcPr marL="73152" marR="73152" marT="36576" marB="36576" anchor="ctr">
                    <a:solidFill>
                      <a:srgbClr val="EAF8FA"/>
                    </a:solidFill>
                  </a:tcPr>
                </a:tc>
                <a:tc>
                  <a:txBody>
                    <a:bodyPr wrap="square"/>
                    <a:lstStyle/>
                    <a:p>
                      <a:r>
                        <a:rPr sz="1050" b="0" i="0">
                          <a:solidFill>
                            <a:srgbClr val="14313B"/>
                          </a:solidFill>
                          <a:latin typeface="Calibri (MS)"/>
                        </a:rPr>
                        <a:t>Wisatawan 2025; luas DIY</a:t>
                      </a:r>
                    </a:p>
                  </a:txBody>
                  <a:tcPr marL="73152" marR="73152" marT="36576" marB="36576" anchor="ctr">
                    <a:solidFill>
                      <a:srgbClr val="EAF8FA"/>
                    </a:solidFill>
                  </a:tcPr>
                </a:tc>
                <a:tc>
                  <a:txBody>
                    <a:bodyPr wrap="square"/>
                    <a:lstStyle/>
                    <a:p>
                      <a:r>
                        <a:rPr sz="1050" b="0" i="0">
                          <a:solidFill>
                            <a:srgbClr val="14313B"/>
                          </a:solidFill>
                          <a:latin typeface="Calibri (MS)"/>
                        </a:rPr>
                        <a:t>Ritchie &amp; Crouch (2003); Butler (1980)</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32</a:t>
                      </a:r>
                    </a:p>
                  </a:txBody>
                  <a:tcPr marL="73152" marR="73152" marT="36576" marB="36576" anchor="ctr">
                    <a:solidFill>
                      <a:srgbClr val="FFFFFF"/>
                    </a:solidFill>
                  </a:tcPr>
                </a:tc>
                <a:tc>
                  <a:txBody>
                    <a:bodyPr wrap="square"/>
                    <a:lstStyle/>
                    <a:p>
                      <a:r>
                        <a:rPr sz="1050" b="1" i="0">
                          <a:solidFill>
                            <a:srgbClr val="0B5E6E"/>
                          </a:solidFill>
                          <a:latin typeface="Calibri (MS)"/>
                        </a:rPr>
                        <a:t>RDDL Referensi (RDDL_ref)</a:t>
                      </a:r>
                    </a:p>
                  </a:txBody>
                  <a:tcPr marL="73152" marR="73152" marT="36576" marB="36576" anchor="ctr">
                    <a:solidFill>
                      <a:srgbClr val="FFFFFF"/>
                    </a:solidFill>
                  </a:tcPr>
                </a:tc>
                <a:tc>
                  <a:txBody>
                    <a:bodyPr wrap="square"/>
                    <a:lstStyle/>
                    <a:p>
                      <a:r>
                        <a:rPr sz="1050" b="0" i="0">
                          <a:solidFill>
                            <a:srgbClr val="14313B"/>
                          </a:solidFill>
                          <a:latin typeface="Calibri (MS)"/>
                        </a:rPr>
                        <a:t>0,826425 Dmnl</a:t>
                      </a:r>
                    </a:p>
                  </a:txBody>
                  <a:tcPr marL="73152" marR="73152" marT="36576" marB="36576" anchor="ctr">
                    <a:solidFill>
                      <a:srgbClr val="FFFFFF"/>
                    </a:solidFill>
                  </a:tcPr>
                </a:tc>
                <a:tc>
                  <a:txBody>
                    <a:bodyPr wrap="square"/>
                    <a:lstStyle/>
                    <a:p>
                      <a:r>
                        <a:rPr sz="1050" b="0" i="1">
                          <a:solidFill>
                            <a:srgbClr val="14313B"/>
                          </a:solidFill>
                          <a:latin typeface="Calibri (MS)"/>
                        </a:rPr>
                        <a:t>RDDL_ref = 1 − Lahan₂₀₂₅ ÷ A = 1 − 55.029,54 ÷ 317.036</a:t>
                      </a:r>
                    </a:p>
                  </a:txBody>
                  <a:tcPr marL="73152" marR="73152" marT="36576" marB="36576" anchor="ctr">
                    <a:solidFill>
                      <a:srgbClr val="FFF1BF"/>
                    </a:solidFill>
                  </a:tcPr>
                </a:tc>
                <a:tc>
                  <a:txBody>
                    <a:bodyPr wrap="square"/>
                    <a:lstStyle/>
                    <a:p>
                      <a:r>
                        <a:rPr sz="1050" b="0" i="0">
                          <a:solidFill>
                            <a:srgbClr val="14313B"/>
                          </a:solidFill>
                          <a:latin typeface="Calibri (MS)"/>
                        </a:rPr>
                        <a:t>Pengali lahan = 1 pada tahun dasar, menuju 0 saat lahan habis</a:t>
                      </a:r>
                    </a:p>
                  </a:txBody>
                  <a:tcPr marL="73152" marR="73152" marT="36576" marB="36576" anchor="ctr">
                    <a:solidFill>
                      <a:srgbClr val="FFFFFF"/>
                    </a:solidFill>
                  </a:tcPr>
                </a:tc>
                <a:tc>
                  <a:txBody>
                    <a:bodyPr wrap="square"/>
                    <a:lstStyle/>
                    <a:p>
                      <a:r>
                        <a:rPr sz="1050" b="0" i="0">
                          <a:solidFill>
                            <a:srgbClr val="14313B"/>
                          </a:solidFill>
                          <a:latin typeface="Calibri (MS)"/>
                        </a:rPr>
                        <a:t>Dynamic World 2025; luas DIY</a:t>
                      </a:r>
                    </a:p>
                  </a:txBody>
                  <a:tcPr marL="73152" marR="73152" marT="36576" marB="36576" anchor="ctr">
                    <a:solidFill>
                      <a:srgbClr val="FFFFFF"/>
                    </a:solidFill>
                  </a:tcPr>
                </a:tc>
                <a:tc>
                  <a:txBody>
                    <a:bodyPr wrap="square"/>
                    <a:lstStyle/>
                    <a:p>
                      <a:r>
                        <a:rPr sz="1050" b="0" i="0">
                          <a:solidFill>
                            <a:srgbClr val="14313B"/>
                          </a:solidFill>
                          <a:latin typeface="Calibri (MS)"/>
                        </a:rPr>
                        <a:t>Mai &amp; Smith (2018), limited land multiplier</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33</a:t>
                      </a:r>
                    </a:p>
                  </a:txBody>
                  <a:tcPr marL="73152" marR="73152" marT="36576" marB="36576" anchor="ctr">
                    <a:solidFill>
                      <a:srgbClr val="EAF8FA"/>
                    </a:solidFill>
                  </a:tcPr>
                </a:tc>
                <a:tc>
                  <a:txBody>
                    <a:bodyPr wrap="square"/>
                    <a:lstStyle/>
                    <a:p>
                      <a:r>
                        <a:rPr sz="1050" b="1" i="0">
                          <a:solidFill>
                            <a:srgbClr val="0B5E6E"/>
                          </a:solidFill>
                          <a:latin typeface="Calibri (MS)"/>
                        </a:rPr>
                        <a:t>Tahun Dasar Intensitas TK (t₀)</a:t>
                      </a:r>
                    </a:p>
                  </a:txBody>
                  <a:tcPr marL="73152" marR="73152" marT="36576" marB="36576" anchor="ctr">
                    <a:solidFill>
                      <a:srgbClr val="EAF8FA"/>
                    </a:solidFill>
                  </a:tcPr>
                </a:tc>
                <a:tc>
                  <a:txBody>
                    <a:bodyPr wrap="square"/>
                    <a:lstStyle/>
                    <a:p>
                      <a:r>
                        <a:rPr sz="1050" b="0" i="0">
                          <a:solidFill>
                            <a:srgbClr val="14313B"/>
                          </a:solidFill>
                          <a:latin typeface="Calibri (MS)"/>
                        </a:rPr>
                        <a:t>2025</a:t>
                      </a:r>
                    </a:p>
                  </a:txBody>
                  <a:tcPr marL="73152" marR="73152" marT="36576" marB="36576" anchor="ctr">
                    <a:solidFill>
                      <a:srgbClr val="EAF8FA"/>
                    </a:solidFill>
                  </a:tcPr>
                </a:tc>
                <a:tc>
                  <a:txBody>
                    <a:bodyPr wrap="square"/>
                    <a:lstStyle/>
                    <a:p>
                      <a:r>
                        <a:rPr sz="1050" b="0" i="1">
                          <a:solidFill>
                            <a:srgbClr val="14313B"/>
                          </a:solidFill>
                          <a:latin typeface="Calibri (MS)"/>
                        </a:rPr>
                        <a:t>t₀ = tahun dasar model</a:t>
                      </a:r>
                    </a:p>
                  </a:txBody>
                  <a:tcPr marL="73152" marR="73152" marT="36576" marB="36576" anchor="ctr">
                    <a:solidFill>
                      <a:srgbClr val="FFF1BF"/>
                    </a:solidFill>
                  </a:tcPr>
                </a:tc>
                <a:tc>
                  <a:txBody>
                    <a:bodyPr wrap="square"/>
                    <a:lstStyle/>
                    <a:p>
                      <a:r>
                        <a:rPr sz="1050" b="0" i="0">
                          <a:solidFill>
                            <a:srgbClr val="14313B"/>
                          </a:solidFill>
                          <a:latin typeface="Calibri (MS)"/>
                        </a:rPr>
                        <a:t>Agar iₜ = i₀ pada tahun dasar</a:t>
                      </a:r>
                    </a:p>
                  </a:txBody>
                  <a:tcPr marL="73152" marR="73152" marT="36576" marB="36576" anchor="ctr">
                    <a:solidFill>
                      <a:srgbClr val="EAF8FA"/>
                    </a:solidFill>
                  </a:tcPr>
                </a:tc>
                <a:tc>
                  <a:txBody>
                    <a:bodyPr wrap="square"/>
                    <a:lstStyle/>
                    <a:p>
                      <a:r>
                        <a:rPr sz="1050" b="0" i="0">
                          <a:solidFill>
                            <a:srgbClr val="14313B"/>
                          </a:solidFill>
                          <a:latin typeface="Calibri (MS)"/>
                        </a:rPr>
                        <a:t>Tahun dasar simulasi</a:t>
                      </a:r>
                    </a:p>
                  </a:txBody>
                  <a:tcPr marL="73152" marR="73152" marT="36576" marB="36576" anchor="ctr">
                    <a:solidFill>
                      <a:srgbClr val="EAF8FA"/>
                    </a:solidFill>
                  </a:tcPr>
                </a:tc>
                <a:tc>
                  <a:txBody>
                    <a:bodyPr wrap="square"/>
                    <a:lstStyle/>
                    <a:p>
                      <a:r>
                        <a:rPr sz="1050" b="0" i="0">
                          <a:solidFill>
                            <a:srgbClr val="14313B"/>
                          </a:solidFill>
                          <a:latin typeface="Calibri (MS)"/>
                        </a:rPr>
                        <a:t>Nilai acuan matematis</a:t>
                      </a:r>
                    </a:p>
                  </a:txBody>
                  <a:tcPr marL="73152" marR="73152" marT="36576" marB="36576" anchor="ctr">
                    <a:solidFill>
                      <a:srgbClr val="EAF8FA"/>
                    </a:solidFill>
                  </a:tcPr>
                </a:tc>
              </a:tr>
              <a:tr h="1078992">
                <a:tc>
                  <a:txBody>
                    <a:bodyPr wrap="square"/>
                    <a:lstStyle/>
                    <a:p>
                      <a:pPr algn="ctr"/>
                      <a:r>
                        <a:rPr sz="1050" b="0" i="0">
                          <a:solidFill>
                            <a:srgbClr val="14313B"/>
                          </a:solidFill>
                          <a:latin typeface="Calibri (MS)"/>
                        </a:rPr>
                        <a:t>34</a:t>
                      </a:r>
                    </a:p>
                  </a:txBody>
                  <a:tcPr marL="73152" marR="73152" marT="36576" marB="36576" anchor="ctr">
                    <a:solidFill>
                      <a:srgbClr val="FFFFFF"/>
                    </a:solidFill>
                  </a:tcPr>
                </a:tc>
                <a:tc>
                  <a:txBody>
                    <a:bodyPr wrap="square"/>
                    <a:lstStyle/>
                    <a:p>
                      <a:r>
                        <a:rPr sz="1050" b="1" i="0">
                          <a:solidFill>
                            <a:srgbClr val="0B5E6E"/>
                          </a:solidFill>
                          <a:latin typeface="Calibri (MS)"/>
                        </a:rPr>
                        <a:t>Insentif Kebijakan (I)</a:t>
                      </a:r>
                    </a:p>
                  </a:txBody>
                  <a:tcPr marL="73152" marR="73152" marT="36576" marB="36576" anchor="ctr">
                    <a:solidFill>
                      <a:srgbClr val="FFFFFF"/>
                    </a:solidFill>
                  </a:tcPr>
                </a:tc>
                <a:tc>
                  <a:txBody>
                    <a:bodyPr wrap="square"/>
                    <a:lstStyle/>
                    <a:p>
                      <a:r>
                        <a:rPr sz="1050" b="0" i="0">
                          <a:solidFill>
                            <a:srgbClr val="14313B"/>
                          </a:solidFill>
                          <a:latin typeface="Calibri (MS)"/>
                        </a:rPr>
                        <a:t>BAU 0; Sustainable 0,1; DP 0,3</a:t>
                      </a:r>
                    </a:p>
                  </a:txBody>
                  <a:tcPr marL="73152" marR="73152" marT="36576" marB="36576" anchor="ctr">
                    <a:solidFill>
                      <a:srgbClr val="FFFFFF"/>
                    </a:solidFill>
                  </a:tcPr>
                </a:tc>
                <a:tc>
                  <a:txBody>
                    <a:bodyPr wrap="square"/>
                    <a:lstStyle/>
                    <a:p>
                      <a:r>
                        <a:rPr sz="1050" b="0" i="1">
                          <a:solidFill>
                            <a:srgbClr val="14313B"/>
                          </a:solidFill>
                          <a:latin typeface="Calibri (MS)"/>
                        </a:rPr>
                        <a:t>Investasi = PDRB × r_I × (1 + I)</a:t>
                      </a:r>
                    </a:p>
                  </a:txBody>
                  <a:tcPr marL="73152" marR="73152" marT="36576" marB="36576" anchor="ctr">
                    <a:solidFill>
                      <a:srgbClr val="FFF1BF"/>
                    </a:solidFill>
                  </a:tcPr>
                </a:tc>
                <a:tc>
                  <a:txBody>
                    <a:bodyPr wrap="square"/>
                    <a:lstStyle/>
                    <a:p>
                      <a:r>
                        <a:rPr sz="1050" b="0" i="0">
                          <a:solidFill>
                            <a:srgbClr val="14313B"/>
                          </a:solidFill>
                          <a:latin typeface="Calibri (MS)"/>
                        </a:rPr>
                        <a:t>Tuas skenario jalur R2; ketetapan peneliti, bukan target resmi</a:t>
                      </a:r>
                    </a:p>
                  </a:txBody>
                  <a:tcPr marL="73152" marR="73152" marT="36576" marB="36576" anchor="ctr">
                    <a:solidFill>
                      <a:srgbClr val="FFFFFF"/>
                    </a:solidFill>
                  </a:tcPr>
                </a:tc>
                <a:tc>
                  <a:txBody>
                    <a:bodyPr wrap="square"/>
                    <a:lstStyle/>
                    <a:p>
                      <a:r>
                        <a:rPr sz="1050" b="0" i="0">
                          <a:solidFill>
                            <a:srgbClr val="14313B"/>
                          </a:solidFill>
                          <a:latin typeface="Calibri (MS)"/>
                        </a:rPr>
                        <a:t>Ditetapkan peneliti (rentang 0–0,5)</a:t>
                      </a:r>
                    </a:p>
                  </a:txBody>
                  <a:tcPr marL="73152" marR="73152" marT="36576" marB="36576" anchor="ctr">
                    <a:solidFill>
                      <a:srgbClr val="FFFFFF"/>
                    </a:solidFill>
                  </a:tcPr>
                </a:tc>
                <a:tc>
                  <a:txBody>
                    <a:bodyPr wrap="square"/>
                    <a:lstStyle/>
                    <a:p>
                      <a:r>
                        <a:rPr sz="1050" b="0" i="0">
                          <a:solidFill>
                            <a:srgbClr val="14313B"/>
                          </a:solidFill>
                          <a:latin typeface="Calibri (MS)"/>
                        </a:rPr>
                        <a:t>UU 10/2009; Perda DIY 1/2012</a:t>
                      </a:r>
                    </a:p>
                  </a:txBody>
                  <a:tcPr marL="73152" marR="73152" marT="36576" marB="36576" anchor="ctr">
                    <a:solidFill>
                      <a:srgbClr val="FFFFFF"/>
                    </a:solidFill>
                  </a:tcPr>
                </a:tc>
              </a:tr>
              <a:tr h="1078992">
                <a:tc>
                  <a:txBody>
                    <a:bodyPr wrap="square"/>
                    <a:lstStyle/>
                    <a:p>
                      <a:pPr algn="ctr"/>
                      <a:r>
                        <a:rPr sz="1050" b="0" i="0">
                          <a:solidFill>
                            <a:srgbClr val="14313B"/>
                          </a:solidFill>
                          <a:latin typeface="Calibri (MS)"/>
                        </a:rPr>
                        <a:t>35</a:t>
                      </a:r>
                    </a:p>
                  </a:txBody>
                  <a:tcPr marL="73152" marR="73152" marT="36576" marB="36576" anchor="ctr">
                    <a:solidFill>
                      <a:srgbClr val="EAF8FA"/>
                    </a:solidFill>
                  </a:tcPr>
                </a:tc>
                <a:tc>
                  <a:txBody>
                    <a:bodyPr wrap="square"/>
                    <a:lstStyle/>
                    <a:p>
                      <a:r>
                        <a:rPr sz="1050" b="1" i="0">
                          <a:solidFill>
                            <a:srgbClr val="0B5E6E"/>
                          </a:solidFill>
                          <a:latin typeface="Calibri (MS)"/>
                        </a:rPr>
                        <a:t>Kebijakan Konservasi Lahan (C)</a:t>
                      </a:r>
                    </a:p>
                  </a:txBody>
                  <a:tcPr marL="73152" marR="73152" marT="36576" marB="36576" anchor="ctr">
                    <a:solidFill>
                      <a:srgbClr val="EAF8FA"/>
                    </a:solidFill>
                  </a:tcPr>
                </a:tc>
                <a:tc>
                  <a:txBody>
                    <a:bodyPr wrap="square"/>
                    <a:lstStyle/>
                    <a:p>
                      <a:r>
                        <a:rPr sz="1050" b="0" i="0">
                          <a:solidFill>
                            <a:srgbClr val="14313B"/>
                          </a:solidFill>
                          <a:latin typeface="Calibri (MS)"/>
                        </a:rPr>
                        <a:t>BAU 0; Sustainable 1,0; DP 0</a:t>
                      </a:r>
                    </a:p>
                  </a:txBody>
                  <a:tcPr marL="73152" marR="73152" marT="36576" marB="36576" anchor="ctr">
                    <a:solidFill>
                      <a:srgbClr val="EAF8FA"/>
                    </a:solidFill>
                  </a:tcPr>
                </a:tc>
                <a:tc>
                  <a:txBody>
                    <a:bodyPr wrap="square"/>
                    <a:lstStyle/>
                    <a:p>
                      <a:r>
                        <a:rPr sz="1050" b="0" i="1">
                          <a:solidFill>
                            <a:srgbClr val="14313B"/>
                          </a:solidFill>
                          <a:latin typeface="Calibri (MS)"/>
                        </a:rPr>
                        <a:t>Konversi pariwisata = (Konstr·a_H + Pemb.ODTW·a_O) × (1 − C) × RDDL ÷ RDDL_ref</a:t>
                      </a:r>
                    </a:p>
                  </a:txBody>
                  <a:tcPr marL="73152" marR="73152" marT="36576" marB="36576" anchor="ctr">
                    <a:solidFill>
                      <a:srgbClr val="FFF1BF"/>
                    </a:solidFill>
                  </a:tcPr>
                </a:tc>
                <a:tc>
                  <a:txBody>
                    <a:bodyPr wrap="square"/>
                    <a:lstStyle/>
                    <a:p>
                      <a:r>
                        <a:rPr sz="1050" b="0" i="0">
                          <a:solidFill>
                            <a:srgbClr val="14313B"/>
                          </a:solidFill>
                          <a:latin typeface="Calibri (MS)"/>
                        </a:rPr>
                        <a:t>Menahan konversi dari pembangunan pariwisata; tidak menghentikan konversi nonpariwisata</a:t>
                      </a:r>
                    </a:p>
                  </a:txBody>
                  <a:tcPr marL="73152" marR="73152" marT="36576" marB="36576" anchor="ctr">
                    <a:solidFill>
                      <a:srgbClr val="EAF8FA"/>
                    </a:solidFill>
                  </a:tcPr>
                </a:tc>
                <a:tc>
                  <a:txBody>
                    <a:bodyPr wrap="square"/>
                    <a:lstStyle/>
                    <a:p>
                      <a:r>
                        <a:rPr sz="1050" b="0" i="0">
                          <a:solidFill>
                            <a:srgbClr val="14313B"/>
                          </a:solidFill>
                          <a:latin typeface="Calibri (MS)"/>
                        </a:rPr>
                        <a:t>Ditetapkan peneliti (rentang 0–1)</a:t>
                      </a:r>
                    </a:p>
                  </a:txBody>
                  <a:tcPr marL="73152" marR="73152" marT="36576" marB="36576" anchor="ctr">
                    <a:solidFill>
                      <a:srgbClr val="EAF8FA"/>
                    </a:solidFill>
                  </a:tcPr>
                </a:tc>
                <a:tc>
                  <a:txBody>
                    <a:bodyPr wrap="square"/>
                    <a:lstStyle/>
                    <a:p>
                      <a:r>
                        <a:rPr sz="1050" b="0" i="0">
                          <a:solidFill>
                            <a:srgbClr val="14313B"/>
                          </a:solidFill>
                          <a:latin typeface="Calibri (MS)"/>
                        </a:rPr>
                        <a:t>UU 26/2007; UU 41/2009; Perda DIY 6/2021; Permen LHK P.8/2019</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3.4.2 (Tabel 3–8), Subbab 4.3 (Tabel 33–37), dan Lampiran 1–5. Rumus ditulis ulang dari buku dalam bentuk yang lebih mudah dibaca.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38 · Formulasi Stock, Flow, dan Auxiliary (1/3)</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Persamaan model final (Vensim, integrasi Euler, Δt = 1 tahun): Sₜ₊Δₜ = Sₜ + Δt × (Σ inflow − Σ outflow)</a:t>
            </a:r>
          </a:p>
        </p:txBody>
      </p:sp>
      <p:graphicFrame>
        <p:nvGraphicFramePr>
          <p:cNvPr id="27" name="Table 26"/>
          <p:cNvGraphicFramePr>
            <a:graphicFrameLocks noGrp="1"/>
          </p:cNvGraphicFramePr>
          <p:nvPr/>
        </p:nvGraphicFramePr>
        <p:xfrm>
          <a:off x="822960" y="1874519"/>
          <a:ext cx="16642080" cy="7269480"/>
        </p:xfrm>
        <a:graphic>
          <a:graphicData uri="http://schemas.openxmlformats.org/drawingml/2006/table">
            <a:tbl>
              <a:tblPr firstRow="1" bandRow="1">
                <a:tableStyleId>{5C22544A-7EE6-4342-B048-85BDC9FD1C3A}</a:tableStyleId>
              </a:tblPr>
              <a:tblGrid>
                <a:gridCol w="914400"/>
                <a:gridCol w="3017520"/>
                <a:gridCol w="5303520"/>
                <a:gridCol w="1463040"/>
                <a:gridCol w="3291840"/>
                <a:gridCol w="2651760"/>
              </a:tblGrid>
              <a:tr h="411480">
                <a:tc>
                  <a:txBody>
                    <a:bodyPr wrap="square"/>
                    <a:lstStyle/>
                    <a:p>
                      <a:pPr algn="ctr"/>
                      <a:r>
                        <a:rPr sz="1050" b="1" i="0">
                          <a:solidFill>
                            <a:srgbClr val="FFFFFF"/>
                          </a:solidFill>
                          <a:latin typeface="Calibri (MS) Bold"/>
                        </a:rPr>
                        <a:t>Peran</a:t>
                      </a:r>
                    </a:p>
                  </a:txBody>
                  <a:tcPr marL="73152" marR="73152" marT="36576" marB="36576" anchor="ctr">
                    <a:solidFill>
                      <a:srgbClr val="0B5E6E"/>
                    </a:solidFill>
                  </a:tcPr>
                </a:tc>
                <a:tc>
                  <a:txBody>
                    <a:bodyPr wrap="square"/>
                    <a:lstStyle/>
                    <a:p>
                      <a:r>
                        <a:rPr sz="1050" b="1" i="0">
                          <a:solidFill>
                            <a:srgbClr val="FFFFFF"/>
                          </a:solidFill>
                          <a:latin typeface="Calibri (MS) Bold"/>
                        </a:rPr>
                        <a:t>Variabel</a:t>
                      </a:r>
                    </a:p>
                  </a:txBody>
                  <a:tcPr marL="73152" marR="73152" marT="36576" marB="36576" anchor="ctr">
                    <a:solidFill>
                      <a:srgbClr val="0B5E6E"/>
                    </a:solidFill>
                  </a:tcPr>
                </a:tc>
                <a:tc>
                  <a:txBody>
                    <a:bodyPr wrap="square"/>
                    <a:lstStyle/>
                    <a:p>
                      <a:r>
                        <a:rPr sz="1050" b="1" i="0">
                          <a:solidFill>
                            <a:srgbClr val="FFFFFF"/>
                          </a:solidFill>
                          <a:latin typeface="Calibri (MS) Bold"/>
                        </a:rPr>
                        <a:t>Persamaan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Satuan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685800">
                <a:tc>
                  <a:txBody>
                    <a:bodyPr wrap="square"/>
                    <a:lstStyle/>
                    <a:p>
                      <a:pPr algn="ctr"/>
                      <a:r>
                        <a:rPr sz="1050" b="0" i="0">
                          <a:solidFill>
                            <a:srgbClr val="14313B"/>
                          </a:solidFill>
                          <a:latin typeface="Calibri (MS)"/>
                        </a:rPr>
                        <a:t>Stock</a:t>
                      </a:r>
                    </a:p>
                  </a:txBody>
                  <a:tcPr marL="73152" marR="73152" marT="36576" marB="36576" anchor="ctr">
                    <a:solidFill>
                      <a:srgbClr val="B7E3EA"/>
                    </a:solidFill>
                  </a:tcPr>
                </a:tc>
                <a:tc>
                  <a:txBody>
                    <a:bodyPr wrap="square"/>
                    <a:lstStyle/>
                    <a:p>
                      <a:r>
                        <a:rPr sz="1050" b="1" i="0">
                          <a:solidFill>
                            <a:srgbClr val="0B5E6E"/>
                          </a:solidFill>
                          <a:latin typeface="Calibri (MS)"/>
                        </a:rPr>
                        <a:t>Jumlah Wisatawan</a:t>
                      </a:r>
                    </a:p>
                  </a:txBody>
                  <a:tcPr marL="73152" marR="73152" marT="36576" marB="36576" anchor="ctr">
                    <a:solidFill>
                      <a:srgbClr val="FFFFFF"/>
                    </a:solidFill>
                  </a:tcPr>
                </a:tc>
                <a:tc>
                  <a:txBody>
                    <a:bodyPr wrap="square"/>
                    <a:lstStyle/>
                    <a:p>
                      <a:r>
                        <a:rPr sz="1050" b="0" i="1">
                          <a:solidFill>
                            <a:srgbClr val="14313B"/>
                          </a:solidFill>
                          <a:latin typeface="Calibri (MS)"/>
                        </a:rPr>
                        <a:t>∫(Laju Kedatangan − Laju Penurunan) dt;  awal 40.695.654</a:t>
                      </a:r>
                    </a:p>
                  </a:txBody>
                  <a:tcPr marL="73152" marR="73152" marT="36576" marB="36576" anchor="ctr">
                    <a:solidFill>
                      <a:srgbClr val="FFF1BF"/>
                    </a:solidFill>
                  </a:tcPr>
                </a:tc>
                <a:tc>
                  <a:txBody>
                    <a:bodyPr wrap="square"/>
                    <a:lstStyle/>
                    <a:p>
                      <a:pPr algn="ctr"/>
                      <a:r>
                        <a:rPr sz="1050" b="0" i="0">
                          <a:solidFill>
                            <a:srgbClr val="14313B"/>
                          </a:solidFill>
                          <a:latin typeface="Calibri (MS)"/>
                        </a:rPr>
                        <a:t>Kunjungan</a:t>
                      </a:r>
                    </a:p>
                  </a:txBody>
                  <a:tcPr marL="73152" marR="73152" marT="36576" marB="36576" anchor="ctr">
                    <a:solidFill>
                      <a:srgbClr val="FFFFFF"/>
                    </a:solidFill>
                  </a:tcPr>
                </a:tc>
                <a:tc>
                  <a:txBody>
                    <a:bodyPr wrap="square"/>
                    <a:lstStyle/>
                    <a:p>
                      <a:r>
                        <a:rPr sz="1050" b="0" i="0">
                          <a:solidFill>
                            <a:srgbClr val="14313B"/>
                          </a:solidFill>
                          <a:latin typeface="Calibri (MS)"/>
                        </a:rPr>
                        <a:t>Identitas stok-aliran</a:t>
                      </a:r>
                    </a:p>
                  </a:txBody>
                  <a:tcPr marL="73152" marR="73152" marT="36576" marB="36576" anchor="ctr">
                    <a:solidFill>
                      <a:srgbClr val="FFFFFF"/>
                    </a:solidFill>
                  </a:tcPr>
                </a:tc>
                <a:tc>
                  <a:txBody>
                    <a:bodyPr wrap="square"/>
                    <a:lstStyle/>
                    <a:p>
                      <a:r>
                        <a:rPr sz="1050" b="0" i="0">
                          <a:solidFill>
                            <a:srgbClr val="14313B"/>
                          </a:solidFill>
                          <a:latin typeface="Calibri (MS)"/>
                        </a:rPr>
                        <a:t>Sterman (2000)</a:t>
                      </a:r>
                    </a:p>
                  </a:txBody>
                  <a:tcPr marL="73152" marR="73152" marT="36576" marB="36576" anchor="ctr">
                    <a:solidFill>
                      <a:srgbClr val="FFFFFF"/>
                    </a:solidFill>
                  </a:tcPr>
                </a:tc>
              </a:tr>
              <a:tr h="685800">
                <a:tc>
                  <a:txBody>
                    <a:bodyPr wrap="square"/>
                    <a:lstStyle/>
                    <a:p>
                      <a:pPr algn="ctr"/>
                      <a:r>
                        <a:rPr sz="1050" b="0" i="0">
                          <a:solidFill>
                            <a:srgbClr val="14313B"/>
                          </a:solidFill>
                          <a:latin typeface="Calibri (MS)"/>
                        </a:rPr>
                        <a:t>Stock</a:t>
                      </a:r>
                    </a:p>
                  </a:txBody>
                  <a:tcPr marL="73152" marR="73152" marT="36576" marB="36576" anchor="ctr">
                    <a:solidFill>
                      <a:srgbClr val="B7E3EA"/>
                    </a:solidFill>
                  </a:tcPr>
                </a:tc>
                <a:tc>
                  <a:txBody>
                    <a:bodyPr wrap="square"/>
                    <a:lstStyle/>
                    <a:p>
                      <a:r>
                        <a:rPr sz="1050" b="1" i="0">
                          <a:solidFill>
                            <a:srgbClr val="0B5E6E"/>
                          </a:solidFill>
                          <a:latin typeface="Calibri (MS)"/>
                        </a:rPr>
                        <a:t>Jumlah Hotel dan Akomodasi</a:t>
                      </a:r>
                    </a:p>
                  </a:txBody>
                  <a:tcPr marL="73152" marR="73152" marT="36576" marB="36576" anchor="ctr">
                    <a:solidFill>
                      <a:srgbClr val="EAF8FA"/>
                    </a:solidFill>
                  </a:tcPr>
                </a:tc>
                <a:tc>
                  <a:txBody>
                    <a:bodyPr wrap="square"/>
                    <a:lstStyle/>
                    <a:p>
                      <a:r>
                        <a:rPr sz="1050" b="0" i="1">
                          <a:solidFill>
                            <a:srgbClr val="14313B"/>
                          </a:solidFill>
                          <a:latin typeface="Calibri (MS)"/>
                        </a:rPr>
                        <a:t>∫(Laju Konstruksi − Laju Demolisi) dt;  awal 2.291</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a:t>
                      </a:r>
                    </a:p>
                  </a:txBody>
                  <a:tcPr marL="73152" marR="73152" marT="36576" marB="36576" anchor="ctr">
                    <a:solidFill>
                      <a:srgbClr val="EAF8FA"/>
                    </a:solidFill>
                  </a:tcPr>
                </a:tc>
                <a:tc>
                  <a:txBody>
                    <a:bodyPr wrap="square"/>
                    <a:lstStyle/>
                    <a:p>
                      <a:r>
                        <a:rPr sz="1050" b="0" i="0">
                          <a:solidFill>
                            <a:srgbClr val="14313B"/>
                          </a:solidFill>
                          <a:latin typeface="Calibri (MS)"/>
                        </a:rPr>
                        <a:t>Identitas stok-aliran</a:t>
                      </a:r>
                    </a:p>
                  </a:txBody>
                  <a:tcPr marL="73152" marR="73152" marT="36576" marB="36576" anchor="ctr">
                    <a:solidFill>
                      <a:srgbClr val="EAF8FA"/>
                    </a:solidFill>
                  </a:tcPr>
                </a:tc>
                <a:tc>
                  <a:txBody>
                    <a:bodyPr wrap="square"/>
                    <a:lstStyle/>
                    <a:p>
                      <a:r>
                        <a:rPr sz="1050" b="0" i="0">
                          <a:solidFill>
                            <a:srgbClr val="14313B"/>
                          </a:solidFill>
                          <a:latin typeface="Calibri (MS)"/>
                        </a:rPr>
                        <a:t>Sterman (2000)</a:t>
                      </a:r>
                    </a:p>
                  </a:txBody>
                  <a:tcPr marL="73152" marR="73152" marT="36576" marB="36576" anchor="ctr">
                    <a:solidFill>
                      <a:srgbClr val="EAF8FA"/>
                    </a:solidFill>
                  </a:tcPr>
                </a:tc>
              </a:tr>
              <a:tr h="685800">
                <a:tc>
                  <a:txBody>
                    <a:bodyPr wrap="square"/>
                    <a:lstStyle/>
                    <a:p>
                      <a:pPr algn="ctr"/>
                      <a:r>
                        <a:rPr sz="1050" b="0" i="0">
                          <a:solidFill>
                            <a:srgbClr val="14313B"/>
                          </a:solidFill>
                          <a:latin typeface="Calibri (MS)"/>
                        </a:rPr>
                        <a:t>Stock</a:t>
                      </a:r>
                    </a:p>
                  </a:txBody>
                  <a:tcPr marL="73152" marR="73152" marT="36576" marB="36576" anchor="ctr">
                    <a:solidFill>
                      <a:srgbClr val="B7E3EA"/>
                    </a:solidFill>
                  </a:tcPr>
                </a:tc>
                <a:tc>
                  <a:txBody>
                    <a:bodyPr wrap="square"/>
                    <a:lstStyle/>
                    <a:p>
                      <a:r>
                        <a:rPr sz="1050" b="1" i="0">
                          <a:solidFill>
                            <a:srgbClr val="0B5E6E"/>
                          </a:solidFill>
                          <a:latin typeface="Calibri (MS)"/>
                        </a:rPr>
                        <a:t>Jumlah ODTW</a:t>
                      </a:r>
                    </a:p>
                  </a:txBody>
                  <a:tcPr marL="73152" marR="73152" marT="36576" marB="36576" anchor="ctr">
                    <a:solidFill>
                      <a:srgbClr val="FFFFFF"/>
                    </a:solidFill>
                  </a:tcPr>
                </a:tc>
                <a:tc>
                  <a:txBody>
                    <a:bodyPr wrap="square"/>
                    <a:lstStyle/>
                    <a:p>
                      <a:r>
                        <a:rPr sz="1050" b="0" i="1">
                          <a:solidFill>
                            <a:srgbClr val="14313B"/>
                          </a:solidFill>
                          <a:latin typeface="Calibri (MS)"/>
                        </a:rPr>
                        <a:t>∫(Laju Pembangunan ODTW − Laju Penutupan ODTW) dt;  awal 201</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a:t>
                      </a:r>
                    </a:p>
                  </a:txBody>
                  <a:tcPr marL="73152" marR="73152" marT="36576" marB="36576" anchor="ctr">
                    <a:solidFill>
                      <a:srgbClr val="FFFFFF"/>
                    </a:solidFill>
                  </a:tcPr>
                </a:tc>
                <a:tc>
                  <a:txBody>
                    <a:bodyPr wrap="square"/>
                    <a:lstStyle/>
                    <a:p>
                      <a:r>
                        <a:rPr sz="1050" b="0" i="0">
                          <a:solidFill>
                            <a:srgbClr val="14313B"/>
                          </a:solidFill>
                          <a:latin typeface="Calibri (MS)"/>
                        </a:rPr>
                        <a:t>Identitas stok-aliran</a:t>
                      </a:r>
                    </a:p>
                  </a:txBody>
                  <a:tcPr marL="73152" marR="73152" marT="36576" marB="36576" anchor="ctr">
                    <a:solidFill>
                      <a:srgbClr val="FFFFFF"/>
                    </a:solidFill>
                  </a:tcPr>
                </a:tc>
                <a:tc>
                  <a:txBody>
                    <a:bodyPr wrap="square"/>
                    <a:lstStyle/>
                    <a:p>
                      <a:r>
                        <a:rPr sz="1050" b="0" i="0">
                          <a:solidFill>
                            <a:srgbClr val="14313B"/>
                          </a:solidFill>
                          <a:latin typeface="Calibri (MS)"/>
                        </a:rPr>
                        <a:t>Sterman (2000)</a:t>
                      </a:r>
                    </a:p>
                  </a:txBody>
                  <a:tcPr marL="73152" marR="73152" marT="36576" marB="36576" anchor="ctr">
                    <a:solidFill>
                      <a:srgbClr val="FFFFFF"/>
                    </a:solidFill>
                  </a:tcPr>
                </a:tc>
              </a:tr>
              <a:tr h="685800">
                <a:tc>
                  <a:txBody>
                    <a:bodyPr wrap="square"/>
                    <a:lstStyle/>
                    <a:p>
                      <a:pPr algn="ctr"/>
                      <a:r>
                        <a:rPr sz="1050" b="0" i="0">
                          <a:solidFill>
                            <a:srgbClr val="14313B"/>
                          </a:solidFill>
                          <a:latin typeface="Calibri (MS)"/>
                        </a:rPr>
                        <a:t>Stock</a:t>
                      </a:r>
                    </a:p>
                  </a:txBody>
                  <a:tcPr marL="73152" marR="73152" marT="36576" marB="36576" anchor="ctr">
                    <a:solidFill>
                      <a:srgbClr val="B7E3EA"/>
                    </a:solidFill>
                  </a:tcPr>
                </a:tc>
                <a:tc>
                  <a:txBody>
                    <a:bodyPr wrap="square"/>
                    <a:lstStyle/>
                    <a:p>
                      <a:r>
                        <a:rPr sz="1050" b="1" i="0">
                          <a:solidFill>
                            <a:srgbClr val="0B5E6E"/>
                          </a:solidFill>
                          <a:latin typeface="Calibri (MS)"/>
                        </a:rPr>
                        <a:t>Tenaga Kerja Pariwisata</a:t>
                      </a:r>
                    </a:p>
                  </a:txBody>
                  <a:tcPr marL="73152" marR="73152" marT="36576" marB="36576" anchor="ctr">
                    <a:solidFill>
                      <a:srgbClr val="EAF8FA"/>
                    </a:solidFill>
                  </a:tcPr>
                </a:tc>
                <a:tc>
                  <a:txBody>
                    <a:bodyPr wrap="square"/>
                    <a:lstStyle/>
                    <a:p>
                      <a:r>
                        <a:rPr sz="1050" b="0" i="1">
                          <a:solidFill>
                            <a:srgbClr val="14313B"/>
                          </a:solidFill>
                          <a:latin typeface="Calibri (MS)"/>
                        </a:rPr>
                        <a:t>∫(Laju Penyerapan TK − Laju Keluar TK) dt;  awal 364.994</a:t>
                      </a:r>
                    </a:p>
                  </a:txBody>
                  <a:tcPr marL="73152" marR="73152" marT="36576" marB="36576" anchor="ctr">
                    <a:solidFill>
                      <a:srgbClr val="FFF1BF"/>
                    </a:solidFill>
                  </a:tcPr>
                </a:tc>
                <a:tc>
                  <a:txBody>
                    <a:bodyPr wrap="square"/>
                    <a:lstStyle/>
                    <a:p>
                      <a:pPr algn="ctr"/>
                      <a:r>
                        <a:rPr sz="1050" b="0" i="0">
                          <a:solidFill>
                            <a:srgbClr val="14313B"/>
                          </a:solidFill>
                          <a:latin typeface="Calibri (MS)"/>
                        </a:rPr>
                        <a:t>Jiwa</a:t>
                      </a:r>
                    </a:p>
                  </a:txBody>
                  <a:tcPr marL="73152" marR="73152" marT="36576" marB="36576" anchor="ctr">
                    <a:solidFill>
                      <a:srgbClr val="EAF8FA"/>
                    </a:solidFill>
                  </a:tcPr>
                </a:tc>
                <a:tc>
                  <a:txBody>
                    <a:bodyPr wrap="square"/>
                    <a:lstStyle/>
                    <a:p>
                      <a:r>
                        <a:rPr sz="1050" b="0" i="0">
                          <a:solidFill>
                            <a:srgbClr val="14313B"/>
                          </a:solidFill>
                          <a:latin typeface="Calibri (MS)"/>
                        </a:rPr>
                        <a:t>Identitas stok-aliran</a:t>
                      </a:r>
                    </a:p>
                  </a:txBody>
                  <a:tcPr marL="73152" marR="73152" marT="36576" marB="36576" anchor="ctr">
                    <a:solidFill>
                      <a:srgbClr val="EAF8FA"/>
                    </a:solidFill>
                  </a:tcPr>
                </a:tc>
                <a:tc>
                  <a:txBody>
                    <a:bodyPr wrap="square"/>
                    <a:lstStyle/>
                    <a:p>
                      <a:r>
                        <a:rPr sz="1050" b="0" i="0">
                          <a:solidFill>
                            <a:srgbClr val="14313B"/>
                          </a:solidFill>
                          <a:latin typeface="Calibri (MS)"/>
                        </a:rPr>
                        <a:t>Sterman (2000)</a:t>
                      </a:r>
                    </a:p>
                  </a:txBody>
                  <a:tcPr marL="73152" marR="73152" marT="36576" marB="36576" anchor="ctr">
                    <a:solidFill>
                      <a:srgbClr val="EAF8FA"/>
                    </a:solidFill>
                  </a:tcPr>
                </a:tc>
              </a:tr>
              <a:tr h="685800">
                <a:tc>
                  <a:txBody>
                    <a:bodyPr wrap="square"/>
                    <a:lstStyle/>
                    <a:p>
                      <a:pPr algn="ctr"/>
                      <a:r>
                        <a:rPr sz="1050" b="0" i="0">
                          <a:solidFill>
                            <a:srgbClr val="14313B"/>
                          </a:solidFill>
                          <a:latin typeface="Calibri (MS)"/>
                        </a:rPr>
                        <a:t>Stock</a:t>
                      </a:r>
                    </a:p>
                  </a:txBody>
                  <a:tcPr marL="73152" marR="73152" marT="36576" marB="36576" anchor="ctr">
                    <a:solidFill>
                      <a:srgbClr val="B7E3EA"/>
                    </a:solidFill>
                  </a:tcPr>
                </a:tc>
                <a:tc>
                  <a:txBody>
                    <a:bodyPr wrap="square"/>
                    <a:lstStyle/>
                    <a:p>
                      <a:r>
                        <a:rPr sz="1050" b="1" i="0">
                          <a:solidFill>
                            <a:srgbClr val="0B5E6E"/>
                          </a:solidFill>
                          <a:latin typeface="Calibri (MS)"/>
                        </a:rPr>
                        <a:t>Lahan Terbangun</a:t>
                      </a:r>
                    </a:p>
                  </a:txBody>
                  <a:tcPr marL="73152" marR="73152" marT="36576" marB="36576" anchor="ctr">
                    <a:solidFill>
                      <a:srgbClr val="FFFFFF"/>
                    </a:solidFill>
                  </a:tcPr>
                </a:tc>
                <a:tc>
                  <a:txBody>
                    <a:bodyPr wrap="square"/>
                    <a:lstStyle/>
                    <a:p>
                      <a:r>
                        <a:rPr sz="1050" b="0" i="1">
                          <a:solidFill>
                            <a:srgbClr val="14313B"/>
                          </a:solidFill>
                          <a:latin typeface="Calibri (MS)"/>
                        </a:rPr>
                        <a:t>∫(Konversi Pariwisata + Konversi Nonpariwisata) dt;  awal 55.029,5</a:t>
                      </a:r>
                    </a:p>
                  </a:txBody>
                  <a:tcPr marL="73152" marR="73152" marT="36576" marB="36576" anchor="ctr">
                    <a:solidFill>
                      <a:srgbClr val="FFF1BF"/>
                    </a:solidFill>
                  </a:tcPr>
                </a:tc>
                <a:tc>
                  <a:txBody>
                    <a:bodyPr wrap="square"/>
                    <a:lstStyle/>
                    <a:p>
                      <a:pPr algn="ctr"/>
                      <a:r>
                        <a:rPr sz="1050" b="0" i="0">
                          <a:solidFill>
                            <a:srgbClr val="14313B"/>
                          </a:solidFill>
                          <a:latin typeface="Calibri (MS)"/>
                        </a:rPr>
                        <a:t>Hektar</a:t>
                      </a:r>
                    </a:p>
                  </a:txBody>
                  <a:tcPr marL="73152" marR="73152" marT="36576" marB="36576" anchor="ctr">
                    <a:solidFill>
                      <a:srgbClr val="FFFFFF"/>
                    </a:solidFill>
                  </a:tcPr>
                </a:tc>
                <a:tc>
                  <a:txBody>
                    <a:bodyPr wrap="square"/>
                    <a:lstStyle/>
                    <a:p>
                      <a:r>
                        <a:rPr sz="1050" b="0" i="0">
                          <a:solidFill>
                            <a:srgbClr val="14313B"/>
                          </a:solidFill>
                          <a:latin typeface="Calibri (MS)"/>
                        </a:rPr>
                        <a:t>Identitas stok-aliran (tanpa outflow)</a:t>
                      </a:r>
                    </a:p>
                  </a:txBody>
                  <a:tcPr marL="73152" marR="73152" marT="36576" marB="36576" anchor="ctr">
                    <a:solidFill>
                      <a:srgbClr val="FFFFFF"/>
                    </a:solidFill>
                  </a:tcPr>
                </a:tc>
                <a:tc>
                  <a:txBody>
                    <a:bodyPr wrap="square"/>
                    <a:lstStyle/>
                    <a:p>
                      <a:r>
                        <a:rPr sz="1050" b="0" i="0">
                          <a:solidFill>
                            <a:srgbClr val="14313B"/>
                          </a:solidFill>
                          <a:latin typeface="Calibri (MS)"/>
                        </a:rPr>
                        <a:t>Sterman (2000)</a:t>
                      </a:r>
                    </a:p>
                  </a:txBody>
                  <a:tcPr marL="73152" marR="73152" marT="36576" marB="36576" anchor="ctr">
                    <a:solidFill>
                      <a:srgbClr val="FFFFFF"/>
                    </a:solidFill>
                  </a:tcPr>
                </a:tc>
              </a:tr>
              <a:tr h="68580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Kedatangan Wisatawan</a:t>
                      </a:r>
                    </a:p>
                  </a:txBody>
                  <a:tcPr marL="73152" marR="73152" marT="36576" marB="36576" anchor="ctr">
                    <a:solidFill>
                      <a:srgbClr val="EAF8FA"/>
                    </a:solidFill>
                  </a:tcPr>
                </a:tc>
                <a:tc>
                  <a:txBody>
                    <a:bodyPr wrap="square"/>
                    <a:lstStyle/>
                    <a:p>
                      <a:r>
                        <a:rPr sz="1050" b="0" i="1">
                          <a:solidFill>
                            <a:srgbClr val="14313B"/>
                          </a:solidFill>
                          <a:latin typeface="Calibri (MS)"/>
                        </a:rPr>
                        <a:t>Jumlah Wisatawan × LPE × Daya Tarik</a:t>
                      </a:r>
                    </a:p>
                  </a:txBody>
                  <a:tcPr marL="73152" marR="73152" marT="36576" marB="36576" anchor="ctr">
                    <a:solidFill>
                      <a:srgbClr val="FFF1BF"/>
                    </a:solidFill>
                  </a:tcPr>
                </a:tc>
                <a:tc>
                  <a:txBody>
                    <a:bodyPr wrap="square"/>
                    <a:lstStyle/>
                    <a:p>
                      <a:pPr algn="ctr"/>
                      <a:r>
                        <a:rPr sz="1050" b="0" i="0">
                          <a:solidFill>
                            <a:srgbClr val="14313B"/>
                          </a:solidFill>
                          <a:latin typeface="Calibri (MS)"/>
                        </a:rPr>
                        <a:t>Kunjungan/th</a:t>
                      </a:r>
                    </a:p>
                  </a:txBody>
                  <a:tcPr marL="73152" marR="73152" marT="36576" marB="36576" anchor="ctr">
                    <a:solidFill>
                      <a:srgbClr val="EAF8FA"/>
                    </a:solidFill>
                  </a:tcPr>
                </a:tc>
                <a:tc>
                  <a:txBody>
                    <a:bodyPr wrap="square"/>
                    <a:lstStyle/>
                    <a:p>
                      <a:r>
                        <a:rPr sz="1050" b="0" i="0">
                          <a:solidFill>
                            <a:srgbClr val="14313B"/>
                          </a:solidFill>
                          <a:latin typeface="Calibri (MS)"/>
                        </a:rPr>
                        <a:t>Pertumbuhan endogen (R1); daya tarik menarik kunjungan</a:t>
                      </a:r>
                    </a:p>
                  </a:txBody>
                  <a:tcPr marL="73152" marR="73152" marT="36576" marB="36576" anchor="ctr">
                    <a:solidFill>
                      <a:srgbClr val="EAF8FA"/>
                    </a:solidFill>
                  </a:tcPr>
                </a:tc>
                <a:tc>
                  <a:txBody>
                    <a:bodyPr wrap="square"/>
                    <a:lstStyle/>
                    <a:p>
                      <a:r>
                        <a:rPr sz="1050" b="0" i="0">
                          <a:solidFill>
                            <a:srgbClr val="14313B"/>
                          </a:solidFill>
                          <a:latin typeface="Calibri (MS)"/>
                        </a:rPr>
                        <a:t>Sterman (2000); Mai &amp; Smith (2018); Hu &amp; Ritchie (1993)</a:t>
                      </a:r>
                    </a:p>
                  </a:txBody>
                  <a:tcPr marL="73152" marR="73152" marT="36576" marB="36576" anchor="ctr">
                    <a:solidFill>
                      <a:srgbClr val="EAF8FA"/>
                    </a:solidFill>
                  </a:tcPr>
                </a:tc>
              </a:tr>
              <a:tr h="68580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Penurunan Wisatawan</a:t>
                      </a:r>
                    </a:p>
                  </a:txBody>
                  <a:tcPr marL="73152" marR="73152" marT="36576" marB="36576" anchor="ctr">
                    <a:solidFill>
                      <a:srgbClr val="FFFFFF"/>
                    </a:solidFill>
                  </a:tcPr>
                </a:tc>
                <a:tc>
                  <a:txBody>
                    <a:bodyPr wrap="square"/>
                    <a:lstStyle/>
                    <a:p>
                      <a:r>
                        <a:rPr sz="1050" b="0" i="1">
                          <a:solidFill>
                            <a:srgbClr val="14313B"/>
                          </a:solidFill>
                          <a:latin typeface="Calibri (MS)"/>
                        </a:rPr>
                        <a:t>Jumlah Wisatawan × LPD</a:t>
                      </a:r>
                    </a:p>
                  </a:txBody>
                  <a:tcPr marL="73152" marR="73152" marT="36576" marB="36576" anchor="ctr">
                    <a:solidFill>
                      <a:srgbClr val="FFF1BF"/>
                    </a:solidFill>
                  </a:tcPr>
                </a:tc>
                <a:tc>
                  <a:txBody>
                    <a:bodyPr wrap="square"/>
                    <a:lstStyle/>
                    <a:p>
                      <a:pPr algn="ctr"/>
                      <a:r>
                        <a:rPr sz="1050" b="0" i="0">
                          <a:solidFill>
                            <a:srgbClr val="14313B"/>
                          </a:solidFill>
                          <a:latin typeface="Calibri (MS)"/>
                        </a:rPr>
                        <a:t>Kunjungan/th</a:t>
                      </a:r>
                    </a:p>
                  </a:txBody>
                  <a:tcPr marL="73152" marR="73152" marT="36576" marB="36576" anchor="ctr">
                    <a:solidFill>
                      <a:srgbClr val="FFFFFF"/>
                    </a:solidFill>
                  </a:tcPr>
                </a:tc>
                <a:tc>
                  <a:txBody>
                    <a:bodyPr wrap="square"/>
                    <a:lstStyle/>
                    <a:p>
                      <a:r>
                        <a:rPr sz="1050" b="0" i="0">
                          <a:solidFill>
                            <a:srgbClr val="14313B"/>
                          </a:solidFill>
                          <a:latin typeface="Calibri (MS)"/>
                        </a:rPr>
                        <a:t>Laju keluar proporsional stok</a:t>
                      </a:r>
                    </a:p>
                  </a:txBody>
                  <a:tcPr marL="73152" marR="73152" marT="36576" marB="36576" anchor="ctr">
                    <a:solidFill>
                      <a:srgbClr val="FFFFFF"/>
                    </a:solidFill>
                  </a:tcPr>
                </a:tc>
                <a:tc>
                  <a:txBody>
                    <a:bodyPr wrap="square"/>
                    <a:lstStyle/>
                    <a:p>
                      <a:r>
                        <a:rPr sz="1050" b="0" i="0">
                          <a:solidFill>
                            <a:srgbClr val="14313B"/>
                          </a:solidFill>
                          <a:latin typeface="Calibri (MS)"/>
                        </a:rPr>
                        <a:t>Sterman (2000)</a:t>
                      </a:r>
                    </a:p>
                  </a:txBody>
                  <a:tcPr marL="73152" marR="73152" marT="36576" marB="36576" anchor="ctr">
                    <a:solidFill>
                      <a:srgbClr val="FFFFFF"/>
                    </a:solidFill>
                  </a:tcPr>
                </a:tc>
              </a:tr>
              <a:tr h="68580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Konstruksi Hotel dan Akomodasi</a:t>
                      </a:r>
                    </a:p>
                  </a:txBody>
                  <a:tcPr marL="73152" marR="73152" marT="36576" marB="36576" anchor="ctr">
                    <a:solidFill>
                      <a:srgbClr val="EAF8FA"/>
                    </a:solidFill>
                  </a:tcPr>
                </a:tc>
                <a:tc>
                  <a:txBody>
                    <a:bodyPr wrap="square"/>
                    <a:lstStyle/>
                    <a:p>
                      <a:r>
                        <a:rPr sz="1050" b="0" i="1">
                          <a:solidFill>
                            <a:srgbClr val="14313B"/>
                          </a:solidFill>
                          <a:latin typeface="Calibri (MS)"/>
                        </a:rPr>
                        <a:t>Investasi × S_H × max(0, Rasio Permintaan − TPK Ambang)</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Unit/th</a:t>
                      </a:r>
                    </a:p>
                  </a:txBody>
                  <a:tcPr marL="73152" marR="73152" marT="36576" marB="36576" anchor="ctr">
                    <a:solidFill>
                      <a:srgbClr val="EAF8FA"/>
                    </a:solidFill>
                  </a:tcPr>
                </a:tc>
                <a:tc>
                  <a:txBody>
                    <a:bodyPr wrap="square"/>
                    <a:lstStyle/>
                    <a:p>
                      <a:r>
                        <a:rPr sz="1050" b="0" i="0">
                          <a:solidFill>
                            <a:srgbClr val="14313B"/>
                          </a:solidFill>
                          <a:latin typeface="Calibri (MS)"/>
                        </a:rPr>
                        <a:t>Konstruksi aktif bila permintaan melewati ambang (B3)</a:t>
                      </a:r>
                    </a:p>
                  </a:txBody>
                  <a:tcPr marL="73152" marR="73152" marT="36576" marB="36576" anchor="ctr">
                    <a:solidFill>
                      <a:srgbClr val="EAF8FA"/>
                    </a:solidFill>
                  </a:tcPr>
                </a:tc>
                <a:tc>
                  <a:txBody>
                    <a:bodyPr wrap="square"/>
                    <a:lstStyle/>
                    <a:p>
                      <a:r>
                        <a:rPr sz="1050" b="0" i="0">
                          <a:solidFill>
                            <a:srgbClr val="14313B"/>
                          </a:solidFill>
                          <a:latin typeface="Calibri (MS)"/>
                        </a:rPr>
                        <a:t>Wheaton &amp; Rossoff (1998)</a:t>
                      </a:r>
                    </a:p>
                  </a:txBody>
                  <a:tcPr marL="73152" marR="73152" marT="36576" marB="36576" anchor="ctr">
                    <a:solidFill>
                      <a:srgbClr val="EAF8FA"/>
                    </a:solidFill>
                  </a:tcPr>
                </a:tc>
              </a:tr>
              <a:tr h="68580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Demolisi Hotel dan Akomodasi</a:t>
                      </a:r>
                    </a:p>
                  </a:txBody>
                  <a:tcPr marL="73152" marR="73152" marT="36576" marB="36576" anchor="ctr">
                    <a:solidFill>
                      <a:srgbClr val="FFFFFF"/>
                    </a:solidFill>
                  </a:tcPr>
                </a:tc>
                <a:tc>
                  <a:txBody>
                    <a:bodyPr wrap="square"/>
                    <a:lstStyle/>
                    <a:p>
                      <a:r>
                        <a:rPr sz="1050" b="0" i="1">
                          <a:solidFill>
                            <a:srgbClr val="14313B"/>
                          </a:solidFill>
                          <a:latin typeface="Calibri (MS)"/>
                        </a:rPr>
                        <a:t>Jumlah Hotel × Laju Demolisi Dasar</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Unit/th</a:t>
                      </a:r>
                    </a:p>
                  </a:txBody>
                  <a:tcPr marL="73152" marR="73152" marT="36576" marB="36576" anchor="ctr">
                    <a:solidFill>
                      <a:srgbClr val="FFFFFF"/>
                    </a:solidFill>
                  </a:tcPr>
                </a:tc>
                <a:tc>
                  <a:txBody>
                    <a:bodyPr wrap="square"/>
                    <a:lstStyle/>
                    <a:p>
                      <a:r>
                        <a:rPr sz="1050" b="0" i="0">
                          <a:solidFill>
                            <a:srgbClr val="14313B"/>
                          </a:solidFill>
                          <a:latin typeface="Calibri (MS)"/>
                        </a:rPr>
                        <a:t>Average lifetime</a:t>
                      </a:r>
                    </a:p>
                  </a:txBody>
                  <a:tcPr marL="73152" marR="73152" marT="36576" marB="36576" anchor="ctr">
                    <a:solidFill>
                      <a:srgbClr val="FFFFFF"/>
                    </a:solidFill>
                  </a:tcPr>
                </a:tc>
                <a:tc>
                  <a:txBody>
                    <a:bodyPr wrap="square"/>
                    <a:lstStyle/>
                    <a:p>
                      <a:r>
                        <a:rPr sz="1050" b="0" i="0">
                          <a:solidFill>
                            <a:srgbClr val="14313B"/>
                          </a:solidFill>
                          <a:latin typeface="Calibri (MS)"/>
                        </a:rPr>
                        <a:t>Sterman (2000); Mai &amp; Smith (2018)</a:t>
                      </a:r>
                    </a:p>
                  </a:txBody>
                  <a:tcPr marL="73152" marR="73152" marT="36576" marB="36576" anchor="ctr">
                    <a:solidFill>
                      <a:srgbClr val="FFFFFF"/>
                    </a:solidFill>
                  </a:tcPr>
                </a:tc>
              </a:tr>
              <a:tr h="68580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Pembangunan/Penambahan ODTW</a:t>
                      </a:r>
                    </a:p>
                  </a:txBody>
                  <a:tcPr marL="73152" marR="73152" marT="36576" marB="36576" anchor="ctr">
                    <a:solidFill>
                      <a:srgbClr val="EAF8FA"/>
                    </a:solidFill>
                  </a:tcPr>
                </a:tc>
                <a:tc>
                  <a:txBody>
                    <a:bodyPr wrap="square"/>
                    <a:lstStyle/>
                    <a:p>
                      <a:r>
                        <a:rPr sz="1050" b="0" i="1">
                          <a:solidFill>
                            <a:srgbClr val="14313B"/>
                          </a:solidFill>
                          <a:latin typeface="Calibri (MS)"/>
                        </a:rPr>
                        <a:t>Investasi × S_O + Pembangunan ODTW Non Investasi</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Unit/th</a:t>
                      </a:r>
                    </a:p>
                  </a:txBody>
                  <a:tcPr marL="73152" marR="73152" marT="36576" marB="36576" anchor="ctr">
                    <a:solidFill>
                      <a:srgbClr val="EAF8FA"/>
                    </a:solidFill>
                  </a:tcPr>
                </a:tc>
                <a:tc>
                  <a:txBody>
                    <a:bodyPr wrap="square"/>
                    <a:lstStyle/>
                    <a:p>
                      <a:r>
                        <a:rPr sz="1050" b="0" i="0">
                          <a:solidFill>
                            <a:srgbClr val="14313B"/>
                          </a:solidFill>
                          <a:latin typeface="Calibri (MS)"/>
                        </a:rPr>
                        <a:t>Jalur swasta (R2) dan jalur pemerintah/masyarakat</a:t>
                      </a:r>
                    </a:p>
                  </a:txBody>
                  <a:tcPr marL="73152" marR="73152" marT="36576" marB="36576" anchor="ctr">
                    <a:solidFill>
                      <a:srgbClr val="EAF8FA"/>
                    </a:solidFill>
                  </a:tcPr>
                </a:tc>
                <a:tc>
                  <a:txBody>
                    <a:bodyPr wrap="square"/>
                    <a:lstStyle/>
                    <a:p>
                      <a:r>
                        <a:rPr sz="1050" b="0" i="0">
                          <a:solidFill>
                            <a:srgbClr val="14313B"/>
                          </a:solidFill>
                          <a:latin typeface="Calibri (MS)"/>
                        </a:rPr>
                        <a:t>Fatina et al. (2023)</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4.3 dan Lampiran 6 (Daftar Persamaan); rujukan mengikuti matriks hubungan kausal (Tabel 25). Notasi parameter lihat lampiran parameter.</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38 · Formulasi Stock, Flow, dan Auxiliary (2/3)</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Persamaan model final (Vensim, integrasi Euler, Δt = 1 tahun): Sₜ₊Δₜ = Sₜ + Δt × (Σ inflow − Σ outflow)</a:t>
            </a:r>
          </a:p>
        </p:txBody>
      </p:sp>
      <p:graphicFrame>
        <p:nvGraphicFramePr>
          <p:cNvPr id="27" name="Table 26"/>
          <p:cNvGraphicFramePr>
            <a:graphicFrameLocks noGrp="1"/>
          </p:cNvGraphicFramePr>
          <p:nvPr/>
        </p:nvGraphicFramePr>
        <p:xfrm>
          <a:off x="822960" y="1874519"/>
          <a:ext cx="16642080" cy="6629400"/>
        </p:xfrm>
        <a:graphic>
          <a:graphicData uri="http://schemas.openxmlformats.org/drawingml/2006/table">
            <a:tbl>
              <a:tblPr firstRow="1" bandRow="1">
                <a:tableStyleId>{5C22544A-7EE6-4342-B048-85BDC9FD1C3A}</a:tableStyleId>
              </a:tblPr>
              <a:tblGrid>
                <a:gridCol w="914400"/>
                <a:gridCol w="3017520"/>
                <a:gridCol w="5303520"/>
                <a:gridCol w="1463040"/>
                <a:gridCol w="3291840"/>
                <a:gridCol w="2651760"/>
              </a:tblGrid>
              <a:tr h="411480">
                <a:tc>
                  <a:txBody>
                    <a:bodyPr wrap="square"/>
                    <a:lstStyle/>
                    <a:p>
                      <a:pPr algn="ctr"/>
                      <a:r>
                        <a:rPr sz="1050" b="1" i="0">
                          <a:solidFill>
                            <a:srgbClr val="FFFFFF"/>
                          </a:solidFill>
                          <a:latin typeface="Calibri (MS) Bold"/>
                        </a:rPr>
                        <a:t>Peran</a:t>
                      </a:r>
                    </a:p>
                  </a:txBody>
                  <a:tcPr marL="73152" marR="73152" marT="36576" marB="36576" anchor="ctr">
                    <a:solidFill>
                      <a:srgbClr val="0B5E6E"/>
                    </a:solidFill>
                  </a:tcPr>
                </a:tc>
                <a:tc>
                  <a:txBody>
                    <a:bodyPr wrap="square"/>
                    <a:lstStyle/>
                    <a:p>
                      <a:r>
                        <a:rPr sz="1050" b="1" i="0">
                          <a:solidFill>
                            <a:srgbClr val="FFFFFF"/>
                          </a:solidFill>
                          <a:latin typeface="Calibri (MS) Bold"/>
                        </a:rPr>
                        <a:t>Variabel</a:t>
                      </a:r>
                    </a:p>
                  </a:txBody>
                  <a:tcPr marL="73152" marR="73152" marT="36576" marB="36576" anchor="ctr">
                    <a:solidFill>
                      <a:srgbClr val="0B5E6E"/>
                    </a:solidFill>
                  </a:tcPr>
                </a:tc>
                <a:tc>
                  <a:txBody>
                    <a:bodyPr wrap="square"/>
                    <a:lstStyle/>
                    <a:p>
                      <a:r>
                        <a:rPr sz="1050" b="1" i="0">
                          <a:solidFill>
                            <a:srgbClr val="FFFFFF"/>
                          </a:solidFill>
                          <a:latin typeface="Calibri (MS) Bold"/>
                        </a:rPr>
                        <a:t>Persamaan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Satuan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77724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Penutupan ODTW</a:t>
                      </a:r>
                    </a:p>
                  </a:txBody>
                  <a:tcPr marL="73152" marR="73152" marT="36576" marB="36576" anchor="ctr">
                    <a:solidFill>
                      <a:srgbClr val="FFFFFF"/>
                    </a:solidFill>
                  </a:tcPr>
                </a:tc>
                <a:tc>
                  <a:txBody>
                    <a:bodyPr wrap="square"/>
                    <a:lstStyle/>
                    <a:p>
                      <a:r>
                        <a:rPr sz="1050" b="0" i="1">
                          <a:solidFill>
                            <a:srgbClr val="14313B"/>
                          </a:solidFill>
                          <a:latin typeface="Calibri (MS)"/>
                        </a:rPr>
                        <a:t>Jumlah ODTW × Laju Penutupan Dasar ODTW</a:t>
                      </a:r>
                    </a:p>
                  </a:txBody>
                  <a:tcPr marL="73152" marR="73152" marT="36576" marB="36576" anchor="ctr">
                    <a:solidFill>
                      <a:srgbClr val="FFF1BF"/>
                    </a:solidFill>
                  </a:tcPr>
                </a:tc>
                <a:tc>
                  <a:txBody>
                    <a:bodyPr wrap="square"/>
                    <a:lstStyle/>
                    <a:p>
                      <a:pPr algn="ctr"/>
                      <a:r>
                        <a:rPr sz="1050" b="0" i="0">
                          <a:solidFill>
                            <a:srgbClr val="14313B"/>
                          </a:solidFill>
                          <a:latin typeface="Calibri (MS)"/>
                        </a:rPr>
                        <a:t>Unit/th</a:t>
                      </a:r>
                    </a:p>
                  </a:txBody>
                  <a:tcPr marL="73152" marR="73152" marT="36576" marB="36576" anchor="ctr">
                    <a:solidFill>
                      <a:srgbClr val="FFFFFF"/>
                    </a:solidFill>
                  </a:tcPr>
                </a:tc>
                <a:tc>
                  <a:txBody>
                    <a:bodyPr wrap="square"/>
                    <a:lstStyle/>
                    <a:p>
                      <a:r>
                        <a:rPr sz="1050" b="0" i="0">
                          <a:solidFill>
                            <a:srgbClr val="14313B"/>
                          </a:solidFill>
                          <a:latin typeface="Calibri (MS)"/>
                        </a:rPr>
                        <a:t>Average lifetime</a:t>
                      </a:r>
                    </a:p>
                  </a:txBody>
                  <a:tcPr marL="73152" marR="73152" marT="36576" marB="36576" anchor="ctr">
                    <a:solidFill>
                      <a:srgbClr val="FFFFFF"/>
                    </a:solidFill>
                  </a:tcPr>
                </a:tc>
                <a:tc>
                  <a:txBody>
                    <a:bodyPr wrap="square"/>
                    <a:lstStyle/>
                    <a:p>
                      <a:r>
                        <a:rPr sz="1050" b="0" i="0">
                          <a:solidFill>
                            <a:srgbClr val="14313B"/>
                          </a:solidFill>
                          <a:latin typeface="Calibri (MS)"/>
                        </a:rPr>
                        <a:t>Sterman (2000)</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Penyerapan TK Pariwisata</a:t>
                      </a:r>
                    </a:p>
                  </a:txBody>
                  <a:tcPr marL="73152" marR="73152" marT="36576" marB="36576" anchor="ctr">
                    <a:solidFill>
                      <a:srgbClr val="EAF8FA"/>
                    </a:solidFill>
                  </a:tcPr>
                </a:tc>
                <a:tc>
                  <a:txBody>
                    <a:bodyPr wrap="square"/>
                    <a:lstStyle/>
                    <a:p>
                      <a:r>
                        <a:rPr sz="1050" b="0" i="1">
                          <a:solidFill>
                            <a:srgbClr val="14313B"/>
                          </a:solidFill>
                          <a:latin typeface="Calibri (MS)"/>
                        </a:rPr>
                        <a:t>max[0, Laju Keluar TK + (TK Dibutuhkan − TK) ÷ τ]</a:t>
                      </a:r>
                    </a:p>
                  </a:txBody>
                  <a:tcPr marL="73152" marR="73152" marT="36576" marB="36576" anchor="ctr">
                    <a:solidFill>
                      <a:srgbClr val="FFF1BF"/>
                    </a:solidFill>
                  </a:tcPr>
                </a:tc>
                <a:tc>
                  <a:txBody>
                    <a:bodyPr wrap="square"/>
                    <a:lstStyle/>
                    <a:p>
                      <a:pPr algn="ctr"/>
                      <a:r>
                        <a:rPr sz="1050" b="0" i="0">
                          <a:solidFill>
                            <a:srgbClr val="14313B"/>
                          </a:solidFill>
                          <a:latin typeface="Calibri (MS)"/>
                        </a:rPr>
                        <a:t>Jiwa/th</a:t>
                      </a:r>
                    </a:p>
                  </a:txBody>
                  <a:tcPr marL="73152" marR="73152" marT="36576" marB="36576" anchor="ctr">
                    <a:solidFill>
                      <a:srgbClr val="EAF8FA"/>
                    </a:solidFill>
                  </a:tcPr>
                </a:tc>
                <a:tc>
                  <a:txBody>
                    <a:bodyPr wrap="square"/>
                    <a:lstStyle/>
                    <a:p>
                      <a:r>
                        <a:rPr sz="1050" b="0" i="0">
                          <a:solidFill>
                            <a:srgbClr val="14313B"/>
                          </a:solidFill>
                          <a:latin typeface="Calibri (MS)"/>
                        </a:rPr>
                        <a:t>Goal-seeking (B4)</a:t>
                      </a:r>
                    </a:p>
                  </a:txBody>
                  <a:tcPr marL="73152" marR="73152" marT="36576" marB="36576" anchor="ctr">
                    <a:solidFill>
                      <a:srgbClr val="EAF8FA"/>
                    </a:solidFill>
                  </a:tcPr>
                </a:tc>
                <a:tc>
                  <a:txBody>
                    <a:bodyPr wrap="square"/>
                    <a:lstStyle/>
                    <a:p>
                      <a:r>
                        <a:rPr sz="1050" b="0" i="0">
                          <a:solidFill>
                            <a:srgbClr val="14313B"/>
                          </a:solidFill>
                          <a:latin typeface="Calibri (MS)"/>
                        </a:rPr>
                        <a:t>Sterman (2000)</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Keluar TK Pariwisata</a:t>
                      </a:r>
                    </a:p>
                  </a:txBody>
                  <a:tcPr marL="73152" marR="73152" marT="36576" marB="36576" anchor="ctr">
                    <a:solidFill>
                      <a:srgbClr val="FFFFFF"/>
                    </a:solidFill>
                  </a:tcPr>
                </a:tc>
                <a:tc>
                  <a:txBody>
                    <a:bodyPr wrap="square"/>
                    <a:lstStyle/>
                    <a:p>
                      <a:r>
                        <a:rPr sz="1050" b="0" i="1">
                          <a:solidFill>
                            <a:srgbClr val="14313B"/>
                          </a:solidFill>
                          <a:latin typeface="Calibri (MS)"/>
                        </a:rPr>
                        <a:t>TK Pariwisata × Laju Keluar Dasar TK</a:t>
                      </a:r>
                    </a:p>
                  </a:txBody>
                  <a:tcPr marL="73152" marR="73152" marT="36576" marB="36576" anchor="ctr">
                    <a:solidFill>
                      <a:srgbClr val="FFF1BF"/>
                    </a:solidFill>
                  </a:tcPr>
                </a:tc>
                <a:tc>
                  <a:txBody>
                    <a:bodyPr wrap="square"/>
                    <a:lstStyle/>
                    <a:p>
                      <a:pPr algn="ctr"/>
                      <a:r>
                        <a:rPr sz="1050" b="0" i="0">
                          <a:solidFill>
                            <a:srgbClr val="14313B"/>
                          </a:solidFill>
                          <a:latin typeface="Calibri (MS)"/>
                        </a:rPr>
                        <a:t>Jiwa/th</a:t>
                      </a:r>
                    </a:p>
                  </a:txBody>
                  <a:tcPr marL="73152" marR="73152" marT="36576" marB="36576" anchor="ctr">
                    <a:solidFill>
                      <a:srgbClr val="FFFFFF"/>
                    </a:solidFill>
                  </a:tcPr>
                </a:tc>
                <a:tc>
                  <a:txBody>
                    <a:bodyPr wrap="square"/>
                    <a:lstStyle/>
                    <a:p>
                      <a:r>
                        <a:rPr sz="1050" b="0" i="0">
                          <a:solidFill>
                            <a:srgbClr val="14313B"/>
                          </a:solidFill>
                          <a:latin typeface="Calibri (MS)"/>
                        </a:rPr>
                        <a:t>Average lifetime (masa kerja)</a:t>
                      </a:r>
                    </a:p>
                  </a:txBody>
                  <a:tcPr marL="73152" marR="73152" marT="36576" marB="36576" anchor="ctr">
                    <a:solidFill>
                      <a:srgbClr val="FFFFFF"/>
                    </a:solidFill>
                  </a:tcPr>
                </a:tc>
                <a:tc>
                  <a:txBody>
                    <a:bodyPr wrap="square"/>
                    <a:lstStyle/>
                    <a:p>
                      <a:r>
                        <a:rPr sz="1050" b="0" i="0">
                          <a:solidFill>
                            <a:srgbClr val="14313B"/>
                          </a:solidFill>
                          <a:latin typeface="Calibri (MS)"/>
                        </a:rPr>
                        <a:t>Sterman (2000); PP 45/2015</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Konversi Lahan Pariwisata</a:t>
                      </a:r>
                    </a:p>
                  </a:txBody>
                  <a:tcPr marL="73152" marR="73152" marT="36576" marB="36576" anchor="ctr">
                    <a:solidFill>
                      <a:srgbClr val="EAF8FA"/>
                    </a:solidFill>
                  </a:tcPr>
                </a:tc>
                <a:tc>
                  <a:txBody>
                    <a:bodyPr wrap="square"/>
                    <a:lstStyle/>
                    <a:p>
                      <a:r>
                        <a:rPr sz="1050" b="0" i="1">
                          <a:solidFill>
                            <a:srgbClr val="14313B"/>
                          </a:solidFill>
                          <a:latin typeface="Calibri (MS)"/>
                        </a:rPr>
                        <a:t>(Konstruksi × a_H + Pemb. ODTW × a_O) × (1 − C) × RDDL ÷ RDDL_ref</a:t>
                      </a:r>
                    </a:p>
                  </a:txBody>
                  <a:tcPr marL="73152" marR="73152" marT="36576" marB="36576" anchor="ctr">
                    <a:solidFill>
                      <a:srgbClr val="FFF1BF"/>
                    </a:solidFill>
                  </a:tcPr>
                </a:tc>
                <a:tc>
                  <a:txBody>
                    <a:bodyPr wrap="square"/>
                    <a:lstStyle/>
                    <a:p>
                      <a:pPr algn="ctr"/>
                      <a:r>
                        <a:rPr sz="1050" b="0" i="0">
                          <a:solidFill>
                            <a:srgbClr val="14313B"/>
                          </a:solidFill>
                          <a:latin typeface="Calibri (MS)"/>
                        </a:rPr>
                        <a:t>Ha/th</a:t>
                      </a:r>
                    </a:p>
                  </a:txBody>
                  <a:tcPr marL="73152" marR="73152" marT="36576" marB="36576" anchor="ctr">
                    <a:solidFill>
                      <a:srgbClr val="EAF8FA"/>
                    </a:solidFill>
                  </a:tcPr>
                </a:tc>
                <a:tc>
                  <a:txBody>
                    <a:bodyPr wrap="square"/>
                    <a:lstStyle/>
                    <a:p>
                      <a:r>
                        <a:rPr sz="1050" b="0" i="0">
                          <a:solidFill>
                            <a:srgbClr val="14313B"/>
                          </a:solidFill>
                          <a:latin typeface="Calibri (MS)"/>
                        </a:rPr>
                        <a:t>Ekspansi fasilitas butuh tapak (B2)</a:t>
                      </a:r>
                    </a:p>
                  </a:txBody>
                  <a:tcPr marL="73152" marR="73152" marT="36576" marB="36576" anchor="ctr">
                    <a:solidFill>
                      <a:srgbClr val="EAF8FA"/>
                    </a:solidFill>
                  </a:tcPr>
                </a:tc>
                <a:tc>
                  <a:txBody>
                    <a:bodyPr wrap="square"/>
                    <a:lstStyle/>
                    <a:p>
                      <a:r>
                        <a:rPr sz="1050" b="0" i="0">
                          <a:solidFill>
                            <a:srgbClr val="14313B"/>
                          </a:solidFill>
                          <a:latin typeface="Calibri (MS)"/>
                        </a:rPr>
                        <a:t>Mai &amp; Smith (2018); Fatina et al. (2023)</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Flow</a:t>
                      </a:r>
                    </a:p>
                  </a:txBody>
                  <a:tcPr marL="73152" marR="73152" marT="36576" marB="36576" anchor="ctr">
                    <a:solidFill>
                      <a:srgbClr val="D7EEF2"/>
                    </a:solidFill>
                  </a:tcPr>
                </a:tc>
                <a:tc>
                  <a:txBody>
                    <a:bodyPr wrap="square"/>
                    <a:lstStyle/>
                    <a:p>
                      <a:r>
                        <a:rPr sz="1050" b="1" i="0">
                          <a:solidFill>
                            <a:srgbClr val="0B5E6E"/>
                          </a:solidFill>
                          <a:latin typeface="Calibri (MS)"/>
                        </a:rPr>
                        <a:t>Laju Konversi Lahan Nonpariwisata</a:t>
                      </a:r>
                    </a:p>
                  </a:txBody>
                  <a:tcPr marL="73152" marR="73152" marT="36576" marB="36576" anchor="ctr">
                    <a:solidFill>
                      <a:srgbClr val="FFFFFF"/>
                    </a:solidFill>
                  </a:tcPr>
                </a:tc>
                <a:tc>
                  <a:txBody>
                    <a:bodyPr wrap="square"/>
                    <a:lstStyle/>
                    <a:p>
                      <a:r>
                        <a:rPr sz="1050" b="0" i="1">
                          <a:solidFill>
                            <a:srgbClr val="14313B"/>
                          </a:solidFill>
                          <a:latin typeface="Calibri (MS)"/>
                        </a:rPr>
                        <a:t>Laju Konversi Dasar × Lahan Terbangun × RDDL</a:t>
                      </a:r>
                    </a:p>
                  </a:txBody>
                  <a:tcPr marL="73152" marR="73152" marT="36576" marB="36576" anchor="ctr">
                    <a:solidFill>
                      <a:srgbClr val="FFF1BF"/>
                    </a:solidFill>
                  </a:tcPr>
                </a:tc>
                <a:tc>
                  <a:txBody>
                    <a:bodyPr wrap="square"/>
                    <a:lstStyle/>
                    <a:p>
                      <a:pPr algn="ctr"/>
                      <a:r>
                        <a:rPr sz="1050" b="0" i="0">
                          <a:solidFill>
                            <a:srgbClr val="14313B"/>
                          </a:solidFill>
                          <a:latin typeface="Calibri (MS)"/>
                        </a:rPr>
                        <a:t>Ha/th</a:t>
                      </a:r>
                    </a:p>
                  </a:txBody>
                  <a:tcPr marL="73152" marR="73152" marT="36576" marB="36576" anchor="ctr">
                    <a:solidFill>
                      <a:srgbClr val="FFFFFF"/>
                    </a:solidFill>
                  </a:tcPr>
                </a:tc>
                <a:tc>
                  <a:txBody>
                    <a:bodyPr wrap="square"/>
                    <a:lstStyle/>
                    <a:p>
                      <a:r>
                        <a:rPr sz="1050" b="0" i="0">
                          <a:solidFill>
                            <a:srgbClr val="14313B"/>
                          </a:solidFill>
                          <a:latin typeface="Calibri (MS)"/>
                        </a:rPr>
                        <a:t>Tekanan konversi di luar pariwisata, melambat saat lahan menipis</a:t>
                      </a:r>
                    </a:p>
                  </a:txBody>
                  <a:tcPr marL="73152" marR="73152" marT="36576" marB="36576" anchor="ctr">
                    <a:solidFill>
                      <a:srgbClr val="FFFFFF"/>
                    </a:solidFill>
                  </a:tcPr>
                </a:tc>
                <a:tc>
                  <a:txBody>
                    <a:bodyPr wrap="square"/>
                    <a:lstStyle/>
                    <a:p>
                      <a:r>
                        <a:rPr sz="1050" b="0" i="0">
                          <a:solidFill>
                            <a:srgbClr val="14313B"/>
                          </a:solidFill>
                          <a:latin typeface="Calibri (MS)"/>
                        </a:rPr>
                        <a:t>Mai &amp; Smith (2018)</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Daya Tarik Destinasi Wisata</a:t>
                      </a:r>
                    </a:p>
                  </a:txBody>
                  <a:tcPr marL="73152" marR="73152" marT="36576" marB="36576" anchor="ctr">
                    <a:solidFill>
                      <a:srgbClr val="EAF8FA"/>
                    </a:solidFill>
                  </a:tcPr>
                </a:tc>
                <a:tc>
                  <a:txBody>
                    <a:bodyPr wrap="square"/>
                    <a:lstStyle/>
                    <a:p>
                      <a:r>
                        <a:rPr sz="1050" b="0" i="1">
                          <a:solidFill>
                            <a:srgbClr val="14313B"/>
                          </a:solidFill>
                          <a:latin typeface="Calibri (MS)"/>
                        </a:rPr>
                        <a:t>w_O·min[M, (ODTW/ODTW_ref)^ε] + w_K·min[1, K_ref/Kepadatan] + w_L·(RDDL/RDDL_ref)</a:t>
                      </a:r>
                    </a:p>
                  </a:txBody>
                  <a:tcPr marL="73152" marR="73152" marT="36576" marB="36576" anchor="ctr">
                    <a:solidFill>
                      <a:srgbClr val="FFF1BF"/>
                    </a:solidFill>
                  </a:tcPr>
                </a:tc>
                <a:tc>
                  <a:txBody>
                    <a:bodyPr wrap="square"/>
                    <a:lstStyle/>
                    <a:p>
                      <a:pPr algn="ctr"/>
                      <a:r>
                        <a:rPr sz="1050" b="0" i="0">
                          <a:solidFill>
                            <a:srgbClr val="14313B"/>
                          </a:solidFill>
                          <a:latin typeface="Calibri (MS)"/>
                        </a:rPr>
                        <a:t>Dmnl</a:t>
                      </a:r>
                    </a:p>
                  </a:txBody>
                  <a:tcPr marL="73152" marR="73152" marT="36576" marB="36576" anchor="ctr">
                    <a:solidFill>
                      <a:srgbClr val="EAF8FA"/>
                    </a:solidFill>
                  </a:tcPr>
                </a:tc>
                <a:tc>
                  <a:txBody>
                    <a:bodyPr wrap="square"/>
                    <a:lstStyle/>
                    <a:p>
                      <a:r>
                        <a:rPr sz="1050" b="0" i="0">
                          <a:solidFill>
                            <a:srgbClr val="14313B"/>
                          </a:solidFill>
                          <a:latin typeface="Calibri (MS)"/>
                        </a:rPr>
                        <a:t>Indeks berbobot tiga komponen; dua batas atas hasil uji ekstrem</a:t>
                      </a:r>
                    </a:p>
                  </a:txBody>
                  <a:tcPr marL="73152" marR="73152" marT="36576" marB="36576" anchor="ctr">
                    <a:solidFill>
                      <a:srgbClr val="EAF8FA"/>
                    </a:solidFill>
                  </a:tcPr>
                </a:tc>
                <a:tc>
                  <a:txBody>
                    <a:bodyPr wrap="square"/>
                    <a:lstStyle/>
                    <a:p>
                      <a:r>
                        <a:rPr sz="1050" b="0" i="0">
                          <a:solidFill>
                            <a:srgbClr val="14313B"/>
                          </a:solidFill>
                          <a:latin typeface="Calibri (MS)"/>
                        </a:rPr>
                        <a:t>Ritchie &amp; Crouch (2003); Saveriades (2000); Mai &amp; Smith (2018)</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Tingkat Penghunian Kamar (TPK)</a:t>
                      </a:r>
                    </a:p>
                  </a:txBody>
                  <a:tcPr marL="73152" marR="73152" marT="36576" marB="36576" anchor="ctr">
                    <a:solidFill>
                      <a:srgbClr val="FFFFFF"/>
                    </a:solidFill>
                  </a:tcPr>
                </a:tc>
                <a:tc>
                  <a:txBody>
                    <a:bodyPr wrap="square"/>
                    <a:lstStyle/>
                    <a:p>
                      <a:r>
                        <a:rPr sz="1050" b="0" i="1">
                          <a:solidFill>
                            <a:srgbClr val="14313B"/>
                          </a:solidFill>
                          <a:latin typeface="Calibri (MS)"/>
                        </a:rPr>
                        <a:t>min(1, Rasio Permintaan thd Kapasitas Kamar)</a:t>
                      </a:r>
                    </a:p>
                  </a:txBody>
                  <a:tcPr marL="73152" marR="73152" marT="36576" marB="36576" anchor="ctr">
                    <a:solidFill>
                      <a:srgbClr val="FFF1BF"/>
                    </a:solidFill>
                  </a:tcPr>
                </a:tc>
                <a:tc>
                  <a:txBody>
                    <a:bodyPr wrap="square"/>
                    <a:lstStyle/>
                    <a:p>
                      <a:pPr algn="ctr"/>
                      <a:r>
                        <a:rPr sz="1050" b="0" i="0">
                          <a:solidFill>
                            <a:srgbClr val="14313B"/>
                          </a:solidFill>
                          <a:latin typeface="Calibri (MS)"/>
                        </a:rPr>
                        <a:t>Dmnl</a:t>
                      </a:r>
                    </a:p>
                  </a:txBody>
                  <a:tcPr marL="73152" marR="73152" marT="36576" marB="36576" anchor="ctr">
                    <a:solidFill>
                      <a:srgbClr val="FFFFFF"/>
                    </a:solidFill>
                  </a:tcPr>
                </a:tc>
                <a:tc>
                  <a:txBody>
                    <a:bodyPr wrap="square"/>
                    <a:lstStyle/>
                    <a:p>
                      <a:r>
                        <a:rPr sz="1050" b="0" i="0">
                          <a:solidFill>
                            <a:srgbClr val="14313B"/>
                          </a:solidFill>
                          <a:latin typeface="Calibri (MS)"/>
                        </a:rPr>
                        <a:t>Okupansi tidak boleh &gt; 100% (hasil uji ekstrem)</a:t>
                      </a:r>
                    </a:p>
                  </a:txBody>
                  <a:tcPr marL="73152" marR="73152" marT="36576" marB="36576" anchor="ctr">
                    <a:solidFill>
                      <a:srgbClr val="FFFFFF"/>
                    </a:solidFill>
                  </a:tcPr>
                </a:tc>
                <a:tc>
                  <a:txBody>
                    <a:bodyPr wrap="square"/>
                    <a:lstStyle/>
                    <a:p>
                      <a:r>
                        <a:rPr sz="1050" b="0" i="0">
                          <a:solidFill>
                            <a:srgbClr val="14313B"/>
                          </a:solidFill>
                          <a:latin typeface="Calibri (MS)"/>
                        </a:rPr>
                        <a:t>Definisi TPK BPS</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Rasio Permintaan thd Kapasitas Kamar</a:t>
                      </a:r>
                    </a:p>
                  </a:txBody>
                  <a:tcPr marL="73152" marR="73152" marT="36576" marB="36576" anchor="ctr">
                    <a:solidFill>
                      <a:srgbClr val="EAF8FA"/>
                    </a:solidFill>
                  </a:tcPr>
                </a:tc>
                <a:tc>
                  <a:txBody>
                    <a:bodyPr wrap="square"/>
                    <a:lstStyle/>
                    <a:p>
                      <a:r>
                        <a:rPr sz="1050" b="0" i="1">
                          <a:solidFill>
                            <a:srgbClr val="14313B"/>
                          </a:solidFill>
                          <a:latin typeface="Calibri (MS)"/>
                        </a:rPr>
                        <a:t>(Total Malam ÷ TPG) ÷ (Hotel × K_unit × M)</a:t>
                      </a:r>
                    </a:p>
                  </a:txBody>
                  <a:tcPr marL="73152" marR="73152" marT="36576" marB="36576" anchor="ctr">
                    <a:solidFill>
                      <a:srgbClr val="FFF1BF"/>
                    </a:solidFill>
                  </a:tcPr>
                </a:tc>
                <a:tc>
                  <a:txBody>
                    <a:bodyPr wrap="square"/>
                    <a:lstStyle/>
                    <a:p>
                      <a:pPr algn="ctr"/>
                      <a:r>
                        <a:rPr sz="1050" b="0" i="0">
                          <a:solidFill>
                            <a:srgbClr val="14313B"/>
                          </a:solidFill>
                          <a:latin typeface="Calibri (MS)"/>
                        </a:rPr>
                        <a:t>Dmnl</a:t>
                      </a:r>
                    </a:p>
                  </a:txBody>
                  <a:tcPr marL="73152" marR="73152" marT="36576" marB="36576" anchor="ctr">
                    <a:solidFill>
                      <a:srgbClr val="EAF8FA"/>
                    </a:solidFill>
                  </a:tcPr>
                </a:tc>
                <a:tc>
                  <a:txBody>
                    <a:bodyPr wrap="square"/>
                    <a:lstStyle/>
                    <a:p>
                      <a:r>
                        <a:rPr sz="1050" b="0" i="0">
                          <a:solidFill>
                            <a:srgbClr val="14313B"/>
                          </a:solidFill>
                          <a:latin typeface="Calibri (MS)"/>
                        </a:rPr>
                        <a:t>Permintaan malam kamar dibanding kapasitas</a:t>
                      </a:r>
                    </a:p>
                  </a:txBody>
                  <a:tcPr marL="73152" marR="73152" marT="36576" marB="36576" anchor="ctr">
                    <a:solidFill>
                      <a:srgbClr val="EAF8FA"/>
                    </a:solidFill>
                  </a:tcPr>
                </a:tc>
                <a:tc>
                  <a:txBody>
                    <a:bodyPr wrap="square"/>
                    <a:lstStyle/>
                    <a:p>
                      <a:r>
                        <a:rPr sz="1050" b="0" i="0">
                          <a:solidFill>
                            <a:srgbClr val="14313B"/>
                          </a:solidFill>
                          <a:latin typeface="Calibri (MS)"/>
                        </a:rPr>
                        <a:t>Identitas kapasitas; Wheaton &amp; Rossoff (1998)</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4.3 dan Lampiran 6 (Daftar Persamaan); rujukan mengikuti matriks hubungan kausal (Tabel 25). Notasi parameter lihat lampiran parameter.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38 · Formulasi Stock, Flow, dan Auxiliary (3/3)</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Persamaan model final (Vensim, integrasi Euler, Δt = 1 tahun): Sₜ₊Δₜ = Sₜ + Δt × (Σ inflow − Σ outflow)</a:t>
            </a:r>
          </a:p>
        </p:txBody>
      </p:sp>
      <p:graphicFrame>
        <p:nvGraphicFramePr>
          <p:cNvPr id="27" name="Table 26"/>
          <p:cNvGraphicFramePr>
            <a:graphicFrameLocks noGrp="1"/>
          </p:cNvGraphicFramePr>
          <p:nvPr/>
        </p:nvGraphicFramePr>
        <p:xfrm>
          <a:off x="822960" y="1874519"/>
          <a:ext cx="16642080" cy="6629400"/>
        </p:xfrm>
        <a:graphic>
          <a:graphicData uri="http://schemas.openxmlformats.org/drawingml/2006/table">
            <a:tbl>
              <a:tblPr firstRow="1" bandRow="1">
                <a:tableStyleId>{5C22544A-7EE6-4342-B048-85BDC9FD1C3A}</a:tableStyleId>
              </a:tblPr>
              <a:tblGrid>
                <a:gridCol w="914400"/>
                <a:gridCol w="3017520"/>
                <a:gridCol w="5303520"/>
                <a:gridCol w="1463040"/>
                <a:gridCol w="3291840"/>
                <a:gridCol w="2651760"/>
              </a:tblGrid>
              <a:tr h="411480">
                <a:tc>
                  <a:txBody>
                    <a:bodyPr wrap="square"/>
                    <a:lstStyle/>
                    <a:p>
                      <a:pPr algn="ctr"/>
                      <a:r>
                        <a:rPr sz="1050" b="1" i="0">
                          <a:solidFill>
                            <a:srgbClr val="FFFFFF"/>
                          </a:solidFill>
                          <a:latin typeface="Calibri (MS) Bold"/>
                        </a:rPr>
                        <a:t>Peran</a:t>
                      </a:r>
                    </a:p>
                  </a:txBody>
                  <a:tcPr marL="73152" marR="73152" marT="36576" marB="36576" anchor="ctr">
                    <a:solidFill>
                      <a:srgbClr val="0B5E6E"/>
                    </a:solidFill>
                  </a:tcPr>
                </a:tc>
                <a:tc>
                  <a:txBody>
                    <a:bodyPr wrap="square"/>
                    <a:lstStyle/>
                    <a:p>
                      <a:r>
                        <a:rPr sz="1050" b="1" i="0">
                          <a:solidFill>
                            <a:srgbClr val="FFFFFF"/>
                          </a:solidFill>
                          <a:latin typeface="Calibri (MS) Bold"/>
                        </a:rPr>
                        <a:t>Variabel</a:t>
                      </a:r>
                    </a:p>
                  </a:txBody>
                  <a:tcPr marL="73152" marR="73152" marT="36576" marB="36576" anchor="ctr">
                    <a:solidFill>
                      <a:srgbClr val="0B5E6E"/>
                    </a:solidFill>
                  </a:tcPr>
                </a:tc>
                <a:tc>
                  <a:txBody>
                    <a:bodyPr wrap="square"/>
                    <a:lstStyle/>
                    <a:p>
                      <a:r>
                        <a:rPr sz="1050" b="1" i="0">
                          <a:solidFill>
                            <a:srgbClr val="FFFFFF"/>
                          </a:solidFill>
                          <a:latin typeface="Calibri (MS) Bold"/>
                        </a:rPr>
                        <a:t>Persamaan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Satuan</a:t>
                      </a:r>
                    </a:p>
                  </a:txBody>
                  <a:tcPr marL="73152" marR="73152" marT="36576" marB="36576" anchor="ctr">
                    <a:solidFill>
                      <a:srgbClr val="0B5E6E"/>
                    </a:solidFill>
                  </a:tcPr>
                </a:tc>
                <a:tc>
                  <a:txBody>
                    <a:bodyPr wrap="square"/>
                    <a:lstStyle/>
                    <a:p>
                      <a:r>
                        <a:rPr sz="1050" b="1" i="0">
                          <a:solidFill>
                            <a:srgbClr val="FFFFFF"/>
                          </a:solidFill>
                          <a:latin typeface="Calibri (MS) Bold"/>
                        </a:rPr>
                        <a:t>Dasar penetapan</a:t>
                      </a:r>
                    </a:p>
                  </a:txBody>
                  <a:tcPr marL="73152" marR="73152" marT="36576" marB="36576" anchor="ctr">
                    <a:solidFill>
                      <a:srgbClr val="0B5E6E"/>
                    </a:solidFill>
                  </a:tcPr>
                </a:tc>
                <a:tc>
                  <a:txBody>
                    <a:bodyPr wrap="square"/>
                    <a:lstStyle/>
                    <a:p>
                      <a:r>
                        <a:rPr sz="1050" b="1" i="0">
                          <a:solidFill>
                            <a:srgbClr val="FFFFFF"/>
                          </a:solidFill>
                          <a:latin typeface="Calibri (MS) Bold"/>
                        </a:rPr>
                        <a:t>Rujukan</a:t>
                      </a:r>
                    </a:p>
                  </a:txBody>
                  <a:tcPr marL="73152" marR="73152" marT="36576" marB="36576" anchor="ctr">
                    <a:solidFill>
                      <a:srgbClr val="0B5E6E"/>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Total Malam Menginap</a:t>
                      </a:r>
                    </a:p>
                  </a:txBody>
                  <a:tcPr marL="73152" marR="73152" marT="36576" marB="36576" anchor="ctr">
                    <a:solidFill>
                      <a:srgbClr val="FFFFFF"/>
                    </a:solidFill>
                  </a:tcPr>
                </a:tc>
                <a:tc>
                  <a:txBody>
                    <a:bodyPr wrap="square"/>
                    <a:lstStyle/>
                    <a:p>
                      <a:r>
                        <a:rPr sz="1050" b="0" i="1">
                          <a:solidFill>
                            <a:srgbClr val="14313B"/>
                          </a:solidFill>
                          <a:latin typeface="Calibri (MS)"/>
                        </a:rPr>
                        <a:t>Jumlah Wisatawan × p_menginap × LOS</a:t>
                      </a:r>
                    </a:p>
                  </a:txBody>
                  <a:tcPr marL="73152" marR="73152" marT="36576" marB="36576" anchor="ctr">
                    <a:solidFill>
                      <a:srgbClr val="FFF1BF"/>
                    </a:solidFill>
                  </a:tcPr>
                </a:tc>
                <a:tc>
                  <a:txBody>
                    <a:bodyPr wrap="square"/>
                    <a:lstStyle/>
                    <a:p>
                      <a:pPr algn="ctr"/>
                      <a:r>
                        <a:rPr sz="1050" b="0" i="0">
                          <a:solidFill>
                            <a:srgbClr val="14313B"/>
                          </a:solidFill>
                          <a:latin typeface="Calibri (MS)"/>
                        </a:rPr>
                        <a:t>Malam</a:t>
                      </a:r>
                    </a:p>
                  </a:txBody>
                  <a:tcPr marL="73152" marR="73152" marT="36576" marB="36576" anchor="ctr">
                    <a:solidFill>
                      <a:srgbClr val="FFFFFF"/>
                    </a:solidFill>
                  </a:tcPr>
                </a:tc>
                <a:tc>
                  <a:txBody>
                    <a:bodyPr wrap="square"/>
                    <a:lstStyle/>
                    <a:p>
                      <a:r>
                        <a:rPr sz="1050" b="0" i="0">
                          <a:solidFill>
                            <a:srgbClr val="14313B"/>
                          </a:solidFill>
                          <a:latin typeface="Calibri (MS)"/>
                        </a:rPr>
                        <a:t>Hanya wisatawan menginap memakai kamar</a:t>
                      </a:r>
                    </a:p>
                  </a:txBody>
                  <a:tcPr marL="73152" marR="73152" marT="36576" marB="36576" anchor="ctr">
                    <a:solidFill>
                      <a:srgbClr val="FFFFFF"/>
                    </a:solidFill>
                  </a:tcPr>
                </a:tc>
                <a:tc>
                  <a:txBody>
                    <a:bodyPr wrap="square"/>
                    <a:lstStyle/>
                    <a:p>
                      <a:r>
                        <a:rPr sz="1050" b="0" i="0">
                          <a:solidFill>
                            <a:srgbClr val="14313B"/>
                          </a:solidFill>
                          <a:latin typeface="Calibri (MS)"/>
                        </a:rPr>
                        <a:t>UNWTO (2008); Mai &amp; Smith (2018)</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Pengeluaran Wisatawan</a:t>
                      </a:r>
                    </a:p>
                  </a:txBody>
                  <a:tcPr marL="73152" marR="73152" marT="36576" marB="36576" anchor="ctr">
                    <a:solidFill>
                      <a:srgbClr val="EAF8FA"/>
                    </a:solidFill>
                  </a:tcPr>
                </a:tc>
                <a:tc>
                  <a:txBody>
                    <a:bodyPr wrap="square"/>
                    <a:lstStyle/>
                    <a:p>
                      <a:r>
                        <a:rPr sz="1050" b="0" i="1">
                          <a:solidFill>
                            <a:srgbClr val="14313B"/>
                          </a:solidFill>
                          <a:latin typeface="Calibri (MS)"/>
                        </a:rPr>
                        <a:t>Jumlah Wisatawan × Pengeluaran per Kunjungan</a:t>
                      </a:r>
                    </a:p>
                  </a:txBody>
                  <a:tcPr marL="73152" marR="73152" marT="36576" marB="36576" anchor="ctr">
                    <a:solidFill>
                      <a:srgbClr val="FFF1BF"/>
                    </a:solidFill>
                  </a:tcPr>
                </a:tc>
                <a:tc>
                  <a:txBody>
                    <a:bodyPr wrap="square"/>
                    <a:lstStyle/>
                    <a:p>
                      <a:pPr algn="ctr"/>
                      <a:r>
                        <a:rPr sz="1050" b="0" i="0">
                          <a:solidFill>
                            <a:srgbClr val="14313B"/>
                          </a:solidFill>
                          <a:latin typeface="Calibri (MS)"/>
                        </a:rPr>
                        <a:t>Miliar Rp</a:t>
                      </a:r>
                    </a:p>
                  </a:txBody>
                  <a:tcPr marL="73152" marR="73152" marT="36576" marB="36576" anchor="ctr">
                    <a:solidFill>
                      <a:srgbClr val="EAF8FA"/>
                    </a:solidFill>
                  </a:tcPr>
                </a:tc>
                <a:tc>
                  <a:txBody>
                    <a:bodyPr wrap="square"/>
                    <a:lstStyle/>
                    <a:p>
                      <a:r>
                        <a:rPr sz="1050" b="0" i="0">
                          <a:solidFill>
                            <a:srgbClr val="14313B"/>
                          </a:solidFill>
                          <a:latin typeface="Calibri (MS)"/>
                        </a:rPr>
                        <a:t>Identitas agregasi</a:t>
                      </a:r>
                    </a:p>
                  </a:txBody>
                  <a:tcPr marL="73152" marR="73152" marT="36576" marB="36576" anchor="ctr">
                    <a:solidFill>
                      <a:srgbClr val="EAF8FA"/>
                    </a:solidFill>
                  </a:tcPr>
                </a:tc>
                <a:tc>
                  <a:txBody>
                    <a:bodyPr wrap="square"/>
                    <a:lstStyle/>
                    <a:p>
                      <a:r>
                        <a:rPr sz="1050" b="0" i="0">
                          <a:solidFill>
                            <a:srgbClr val="14313B"/>
                          </a:solidFill>
                          <a:latin typeface="Calibri (MS)"/>
                        </a:rPr>
                        <a:t>Frechtling (2010); Jones et al. (2003)</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PDRB Sektor Pariwisata</a:t>
                      </a:r>
                    </a:p>
                  </a:txBody>
                  <a:tcPr marL="73152" marR="73152" marT="36576" marB="36576" anchor="ctr">
                    <a:solidFill>
                      <a:srgbClr val="FFFFFF"/>
                    </a:solidFill>
                  </a:tcPr>
                </a:tc>
                <a:tc>
                  <a:txBody>
                    <a:bodyPr wrap="square"/>
                    <a:lstStyle/>
                    <a:p>
                      <a:r>
                        <a:rPr sz="1050" b="0" i="1">
                          <a:solidFill>
                            <a:srgbClr val="14313B"/>
                          </a:solidFill>
                          <a:latin typeface="Calibri (MS)"/>
                        </a:rPr>
                        <a:t>Pengeluaran Wisatawan × r_NT</a:t>
                      </a:r>
                    </a:p>
                  </a:txBody>
                  <a:tcPr marL="73152" marR="73152" marT="36576" marB="36576" anchor="ctr">
                    <a:solidFill>
                      <a:srgbClr val="FFF1BF"/>
                    </a:solidFill>
                  </a:tcPr>
                </a:tc>
                <a:tc>
                  <a:txBody>
                    <a:bodyPr wrap="square"/>
                    <a:lstStyle/>
                    <a:p>
                      <a:pPr algn="ctr"/>
                      <a:r>
                        <a:rPr sz="1050" b="0" i="0">
                          <a:solidFill>
                            <a:srgbClr val="14313B"/>
                          </a:solidFill>
                          <a:latin typeface="Calibri (MS)"/>
                        </a:rPr>
                        <a:t>Miliar Rp</a:t>
                      </a:r>
                    </a:p>
                  </a:txBody>
                  <a:tcPr marL="73152" marR="73152" marT="36576" marB="36576" anchor="ctr">
                    <a:solidFill>
                      <a:srgbClr val="FFFFFF"/>
                    </a:solidFill>
                  </a:tcPr>
                </a:tc>
                <a:tc>
                  <a:txBody>
                    <a:bodyPr wrap="square"/>
                    <a:lstStyle/>
                    <a:p>
                      <a:r>
                        <a:rPr sz="1050" b="0" i="0">
                          <a:solidFill>
                            <a:srgbClr val="14313B"/>
                          </a:solidFill>
                          <a:latin typeface="Calibri (MS)"/>
                        </a:rPr>
                        <a:t>Pengeluaran menjadi nilai tambah</a:t>
                      </a:r>
                    </a:p>
                  </a:txBody>
                  <a:tcPr marL="73152" marR="73152" marT="36576" marB="36576" anchor="ctr">
                    <a:solidFill>
                      <a:srgbClr val="FFFFFF"/>
                    </a:solidFill>
                  </a:tcPr>
                </a:tc>
                <a:tc>
                  <a:txBody>
                    <a:bodyPr wrap="square"/>
                    <a:lstStyle/>
                    <a:p>
                      <a:r>
                        <a:rPr sz="1050" b="0" i="0">
                          <a:solidFill>
                            <a:srgbClr val="14313B"/>
                          </a:solidFill>
                          <a:latin typeface="Calibri (MS)"/>
                        </a:rPr>
                        <a:t>Frechtling (2010); Munjal (2013)</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Investasi Sektor Pariwisata</a:t>
                      </a:r>
                    </a:p>
                  </a:txBody>
                  <a:tcPr marL="73152" marR="73152" marT="36576" marB="36576" anchor="ctr">
                    <a:solidFill>
                      <a:srgbClr val="EAF8FA"/>
                    </a:solidFill>
                  </a:tcPr>
                </a:tc>
                <a:tc>
                  <a:txBody>
                    <a:bodyPr wrap="square"/>
                    <a:lstStyle/>
                    <a:p>
                      <a:r>
                        <a:rPr sz="1050" b="0" i="1">
                          <a:solidFill>
                            <a:srgbClr val="14313B"/>
                          </a:solidFill>
                          <a:latin typeface="Calibri (MS)"/>
                        </a:rPr>
                        <a:t>PDRB × r_I × (1 + Insentif Kebijakan)</a:t>
                      </a:r>
                    </a:p>
                  </a:txBody>
                  <a:tcPr marL="73152" marR="73152" marT="36576" marB="36576" anchor="ctr">
                    <a:solidFill>
                      <a:srgbClr val="FFF1BF"/>
                    </a:solidFill>
                  </a:tcPr>
                </a:tc>
                <a:tc>
                  <a:txBody>
                    <a:bodyPr wrap="square"/>
                    <a:lstStyle/>
                    <a:p>
                      <a:pPr algn="ctr"/>
                      <a:r>
                        <a:rPr sz="1050" b="0" i="0">
                          <a:solidFill>
                            <a:srgbClr val="14313B"/>
                          </a:solidFill>
                          <a:latin typeface="Calibri (MS)"/>
                        </a:rPr>
                        <a:t>Miliar Rp</a:t>
                      </a:r>
                    </a:p>
                  </a:txBody>
                  <a:tcPr marL="73152" marR="73152" marT="36576" marB="36576" anchor="ctr">
                    <a:solidFill>
                      <a:srgbClr val="EAF8FA"/>
                    </a:solidFill>
                  </a:tcPr>
                </a:tc>
                <a:tc>
                  <a:txBody>
                    <a:bodyPr wrap="square"/>
                    <a:lstStyle/>
                    <a:p>
                      <a:r>
                        <a:rPr sz="1050" b="0" i="0">
                          <a:solidFill>
                            <a:srgbClr val="14313B"/>
                          </a:solidFill>
                          <a:latin typeface="Calibri (MS)"/>
                        </a:rPr>
                        <a:t>Formulasi berbasis rasio historis; tuas insentif</a:t>
                      </a:r>
                    </a:p>
                  </a:txBody>
                  <a:tcPr marL="73152" marR="73152" marT="36576" marB="36576" anchor="ctr">
                    <a:solidFill>
                      <a:srgbClr val="EAF8FA"/>
                    </a:solidFill>
                  </a:tcPr>
                </a:tc>
                <a:tc>
                  <a:txBody>
                    <a:bodyPr wrap="square"/>
                    <a:lstStyle/>
                    <a:p>
                      <a:r>
                        <a:rPr sz="1050" b="0" i="0">
                          <a:solidFill>
                            <a:srgbClr val="14313B"/>
                          </a:solidFill>
                          <a:latin typeface="Calibri (MS)"/>
                        </a:rPr>
                        <a:t>Harrod (1939); Domar (1946)</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Intensitas Tenaga Kerja</a:t>
                      </a:r>
                    </a:p>
                  </a:txBody>
                  <a:tcPr marL="73152" marR="73152" marT="36576" marB="36576" anchor="ctr">
                    <a:solidFill>
                      <a:srgbClr val="FFFFFF"/>
                    </a:solidFill>
                  </a:tcPr>
                </a:tc>
                <a:tc>
                  <a:txBody>
                    <a:bodyPr wrap="square"/>
                    <a:lstStyle/>
                    <a:p>
                      <a:r>
                        <a:rPr sz="1050" b="0" i="1">
                          <a:solidFill>
                            <a:srgbClr val="14313B"/>
                          </a:solidFill>
                          <a:latin typeface="Calibri (MS)"/>
                        </a:rPr>
                        <a:t>i₀ × e^(−g·(Tahun − t₀))</a:t>
                      </a:r>
                    </a:p>
                  </a:txBody>
                  <a:tcPr marL="73152" marR="73152" marT="36576" marB="36576" anchor="ctr">
                    <a:solidFill>
                      <a:srgbClr val="FFF1BF"/>
                    </a:solidFill>
                  </a:tcPr>
                </a:tc>
                <a:tc>
                  <a:txBody>
                    <a:bodyPr wrap="square"/>
                    <a:lstStyle/>
                    <a:p>
                      <a:pPr algn="ctr"/>
                      <a:r>
                        <a:rPr sz="1050" b="0" i="0">
                          <a:solidFill>
                            <a:srgbClr val="14313B"/>
                          </a:solidFill>
                          <a:latin typeface="Calibri (MS)"/>
                        </a:rPr>
                        <a:t>Jiwa/miliar Rp</a:t>
                      </a:r>
                    </a:p>
                  </a:txBody>
                  <a:tcPr marL="73152" marR="73152" marT="36576" marB="36576" anchor="ctr">
                    <a:solidFill>
                      <a:srgbClr val="FFFFFF"/>
                    </a:solidFill>
                  </a:tcPr>
                </a:tc>
                <a:tc>
                  <a:txBody>
                    <a:bodyPr wrap="square"/>
                    <a:lstStyle/>
                    <a:p>
                      <a:r>
                        <a:rPr sz="1050" b="0" i="0">
                          <a:solidFill>
                            <a:srgbClr val="14313B"/>
                          </a:solidFill>
                          <a:latin typeface="Calibri (MS)"/>
                        </a:rPr>
                        <a:t>Produktivitas meningkat, intensitas menurun</a:t>
                      </a:r>
                    </a:p>
                  </a:txBody>
                  <a:tcPr marL="73152" marR="73152" marT="36576" marB="36576" anchor="ctr">
                    <a:solidFill>
                      <a:srgbClr val="FFFFFF"/>
                    </a:solidFill>
                  </a:tcPr>
                </a:tc>
                <a:tc>
                  <a:txBody>
                    <a:bodyPr wrap="square"/>
                    <a:lstStyle/>
                    <a:p>
                      <a:r>
                        <a:rPr sz="1050" b="0" i="0">
                          <a:solidFill>
                            <a:srgbClr val="14313B"/>
                          </a:solidFill>
                          <a:latin typeface="Calibri (MS)"/>
                        </a:rPr>
                        <a:t>Kapsos (2005)</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Tenaga Kerja Dibutuhkan</a:t>
                      </a:r>
                    </a:p>
                  </a:txBody>
                  <a:tcPr marL="73152" marR="73152" marT="36576" marB="36576" anchor="ctr">
                    <a:solidFill>
                      <a:srgbClr val="EAF8FA"/>
                    </a:solidFill>
                  </a:tcPr>
                </a:tc>
                <a:tc>
                  <a:txBody>
                    <a:bodyPr wrap="square"/>
                    <a:lstStyle/>
                    <a:p>
                      <a:r>
                        <a:rPr sz="1050" b="0" i="1">
                          <a:solidFill>
                            <a:srgbClr val="14313B"/>
                          </a:solidFill>
                          <a:latin typeface="Calibri (MS)"/>
                        </a:rPr>
                        <a:t>PDRB × Intensitas Tenaga Kerja</a:t>
                      </a:r>
                    </a:p>
                  </a:txBody>
                  <a:tcPr marL="73152" marR="73152" marT="36576" marB="36576" anchor="ctr">
                    <a:solidFill>
                      <a:srgbClr val="FFF1BF"/>
                    </a:solidFill>
                  </a:tcPr>
                </a:tc>
                <a:tc>
                  <a:txBody>
                    <a:bodyPr wrap="square"/>
                    <a:lstStyle/>
                    <a:p>
                      <a:pPr algn="ctr"/>
                      <a:r>
                        <a:rPr sz="1050" b="0" i="0">
                          <a:solidFill>
                            <a:srgbClr val="14313B"/>
                          </a:solidFill>
                          <a:latin typeface="Calibri (MS)"/>
                        </a:rPr>
                        <a:t>Jiwa</a:t>
                      </a:r>
                    </a:p>
                  </a:txBody>
                  <a:tcPr marL="73152" marR="73152" marT="36576" marB="36576" anchor="ctr">
                    <a:solidFill>
                      <a:srgbClr val="EAF8FA"/>
                    </a:solidFill>
                  </a:tcPr>
                </a:tc>
                <a:tc>
                  <a:txBody>
                    <a:bodyPr wrap="square"/>
                    <a:lstStyle/>
                    <a:p>
                      <a:r>
                        <a:rPr sz="1050" b="0" i="0">
                          <a:solidFill>
                            <a:srgbClr val="14313B"/>
                          </a:solidFill>
                          <a:latin typeface="Calibri (MS)"/>
                        </a:rPr>
                        <a:t>Derived labor demand</a:t>
                      </a:r>
                    </a:p>
                  </a:txBody>
                  <a:tcPr marL="73152" marR="73152" marT="36576" marB="36576" anchor="ctr">
                    <a:solidFill>
                      <a:srgbClr val="EAF8FA"/>
                    </a:solidFill>
                  </a:tcPr>
                </a:tc>
                <a:tc>
                  <a:txBody>
                    <a:bodyPr wrap="square"/>
                    <a:lstStyle/>
                    <a:p>
                      <a:r>
                        <a:rPr sz="1050" b="0" i="0">
                          <a:solidFill>
                            <a:srgbClr val="14313B"/>
                          </a:solidFill>
                          <a:latin typeface="Calibri (MS)"/>
                        </a:rPr>
                        <a:t>Hamermesh (1993); Munjal (2013); Sánchez López (2023)</a:t>
                      </a:r>
                    </a:p>
                  </a:txBody>
                  <a:tcPr marL="73152" marR="73152" marT="36576" marB="36576" anchor="ctr">
                    <a:solidFill>
                      <a:srgbClr val="EAF8FA"/>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Kepadatan Wisatawan</a:t>
                      </a:r>
                    </a:p>
                  </a:txBody>
                  <a:tcPr marL="73152" marR="73152" marT="36576" marB="36576" anchor="ctr">
                    <a:solidFill>
                      <a:srgbClr val="FFFFFF"/>
                    </a:solidFill>
                  </a:tcPr>
                </a:tc>
                <a:tc>
                  <a:txBody>
                    <a:bodyPr wrap="square"/>
                    <a:lstStyle/>
                    <a:p>
                      <a:r>
                        <a:rPr sz="1050" b="0" i="1">
                          <a:solidFill>
                            <a:srgbClr val="14313B"/>
                          </a:solidFill>
                          <a:latin typeface="Calibri (MS)"/>
                        </a:rPr>
                        <a:t>Jumlah Wisatawan ÷ Luas Lahan Tersedia</a:t>
                      </a:r>
                    </a:p>
                  </a:txBody>
                  <a:tcPr marL="73152" marR="73152" marT="36576" marB="36576" anchor="ctr">
                    <a:solidFill>
                      <a:srgbClr val="FFF1BF"/>
                    </a:solidFill>
                  </a:tcPr>
                </a:tc>
                <a:tc>
                  <a:txBody>
                    <a:bodyPr wrap="square"/>
                    <a:lstStyle/>
                    <a:p>
                      <a:pPr algn="ctr"/>
                      <a:r>
                        <a:rPr sz="1050" b="0" i="0">
                          <a:solidFill>
                            <a:srgbClr val="14313B"/>
                          </a:solidFill>
                          <a:latin typeface="Calibri (MS)"/>
                        </a:rPr>
                        <a:t>Kunjungan/ha</a:t>
                      </a:r>
                    </a:p>
                  </a:txBody>
                  <a:tcPr marL="73152" marR="73152" marT="36576" marB="36576" anchor="ctr">
                    <a:solidFill>
                      <a:srgbClr val="FFFFFF"/>
                    </a:solidFill>
                  </a:tcPr>
                </a:tc>
                <a:tc>
                  <a:txBody>
                    <a:bodyPr wrap="square"/>
                    <a:lstStyle/>
                    <a:p>
                      <a:r>
                        <a:rPr sz="1050" b="0" i="0">
                          <a:solidFill>
                            <a:srgbClr val="14313B"/>
                          </a:solidFill>
                          <a:latin typeface="Calibri (MS)"/>
                        </a:rPr>
                        <a:t>Identitas; tekanan kunjungan (B1)</a:t>
                      </a:r>
                    </a:p>
                  </a:txBody>
                  <a:tcPr marL="73152" marR="73152" marT="36576" marB="36576" anchor="ctr">
                    <a:solidFill>
                      <a:srgbClr val="FFFFFF"/>
                    </a:solidFill>
                  </a:tcPr>
                </a:tc>
                <a:tc>
                  <a:txBody>
                    <a:bodyPr wrap="square"/>
                    <a:lstStyle/>
                    <a:p>
                      <a:r>
                        <a:rPr sz="1050" b="0" i="0">
                          <a:solidFill>
                            <a:srgbClr val="14313B"/>
                          </a:solidFill>
                          <a:latin typeface="Calibri (MS)"/>
                        </a:rPr>
                        <a:t>Saveriades (2000)</a:t>
                      </a:r>
                    </a:p>
                  </a:txBody>
                  <a:tcPr marL="73152" marR="73152" marT="36576" marB="36576" anchor="ctr">
                    <a:solidFill>
                      <a:srgbClr val="FFFFFF"/>
                    </a:solidFill>
                  </a:tcPr>
                </a:tc>
              </a:tr>
              <a:tr h="777240">
                <a:tc>
                  <a:txBody>
                    <a:bodyPr wrap="square"/>
                    <a:lstStyle/>
                    <a:p>
                      <a:pPr algn="ctr"/>
                      <a:r>
                        <a:rPr sz="1050" b="0" i="0">
                          <a:solidFill>
                            <a:srgbClr val="14313B"/>
                          </a:solidFill>
                          <a:latin typeface="Calibri (MS)"/>
                        </a:rPr>
                        <a:t>Aux</a:t>
                      </a:r>
                    </a:p>
                  </a:txBody>
                  <a:tcPr marL="73152" marR="73152" marT="36576" marB="36576" anchor="ctr">
                    <a:solidFill>
                      <a:srgbClr val="EEF7F9"/>
                    </a:solidFill>
                  </a:tcPr>
                </a:tc>
                <a:tc>
                  <a:txBody>
                    <a:bodyPr wrap="square"/>
                    <a:lstStyle/>
                    <a:p>
                      <a:r>
                        <a:rPr sz="1050" b="1" i="0">
                          <a:solidFill>
                            <a:srgbClr val="0B5E6E"/>
                          </a:solidFill>
                          <a:latin typeface="Calibri (MS)"/>
                        </a:rPr>
                        <a:t>Rasio Daya Dukung Lahan</a:t>
                      </a:r>
                    </a:p>
                  </a:txBody>
                  <a:tcPr marL="73152" marR="73152" marT="36576" marB="36576" anchor="ctr">
                    <a:solidFill>
                      <a:srgbClr val="EAF8FA"/>
                    </a:solidFill>
                  </a:tcPr>
                </a:tc>
                <a:tc>
                  <a:txBody>
                    <a:bodyPr wrap="square"/>
                    <a:lstStyle/>
                    <a:p>
                      <a:r>
                        <a:rPr sz="1050" b="0" i="1">
                          <a:solidFill>
                            <a:srgbClr val="14313B"/>
                          </a:solidFill>
                          <a:latin typeface="Calibri (MS)"/>
                        </a:rPr>
                        <a:t>max(0, 1 − Lahan Terbangun ÷ Luas Lahan Tersedia)</a:t>
                      </a:r>
                    </a:p>
                  </a:txBody>
                  <a:tcPr marL="73152" marR="73152" marT="36576" marB="36576" anchor="ctr">
                    <a:solidFill>
                      <a:srgbClr val="FFF1BF"/>
                    </a:solidFill>
                  </a:tcPr>
                </a:tc>
                <a:tc>
                  <a:txBody>
                    <a:bodyPr wrap="square"/>
                    <a:lstStyle/>
                    <a:p>
                      <a:pPr algn="ctr"/>
                      <a:r>
                        <a:rPr sz="1050" b="0" i="0">
                          <a:solidFill>
                            <a:srgbClr val="14313B"/>
                          </a:solidFill>
                          <a:latin typeface="Calibri (MS)"/>
                        </a:rPr>
                        <a:t>Dmnl</a:t>
                      </a:r>
                    </a:p>
                  </a:txBody>
                  <a:tcPr marL="73152" marR="73152" marT="36576" marB="36576" anchor="ctr">
                    <a:solidFill>
                      <a:srgbClr val="EAF8FA"/>
                    </a:solidFill>
                  </a:tcPr>
                </a:tc>
                <a:tc>
                  <a:txBody>
                    <a:bodyPr wrap="square"/>
                    <a:lstStyle/>
                    <a:p>
                      <a:r>
                        <a:rPr sz="1050" b="0" i="0">
                          <a:solidFill>
                            <a:srgbClr val="14313B"/>
                          </a:solidFill>
                          <a:latin typeface="Calibri (MS)"/>
                        </a:rPr>
                        <a:t>Sisa lahan tidak boleh negatif (hasil uji ekstrem)</a:t>
                      </a:r>
                    </a:p>
                  </a:txBody>
                  <a:tcPr marL="73152" marR="73152" marT="36576" marB="36576" anchor="ctr">
                    <a:solidFill>
                      <a:srgbClr val="EAF8FA"/>
                    </a:solidFill>
                  </a:tcPr>
                </a:tc>
                <a:tc>
                  <a:txBody>
                    <a:bodyPr wrap="square"/>
                    <a:lstStyle/>
                    <a:p>
                      <a:r>
                        <a:rPr sz="105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4.3 dan Lampiran 6 (Daftar Persamaan); rujukan mengikuti matriks hubungan kausal (Tabel 25). Notasi parameter lihat lampiran parameter.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39 · Tahapan Uji Struktur: Gambaran Umum</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Enam uji dijalankan berurutan sebelum uji perilaku (Barlas, 1996; Sterman, 2000)</a:t>
            </a:r>
          </a:p>
        </p:txBody>
      </p:sp>
      <p:graphicFrame>
        <p:nvGraphicFramePr>
          <p:cNvPr id="27" name="Table 26"/>
          <p:cNvGraphicFramePr>
            <a:graphicFrameLocks noGrp="1"/>
          </p:cNvGraphicFramePr>
          <p:nvPr/>
        </p:nvGraphicFramePr>
        <p:xfrm>
          <a:off x="822960" y="1874519"/>
          <a:ext cx="16642078" cy="5998464"/>
        </p:xfrm>
        <a:graphic>
          <a:graphicData uri="http://schemas.openxmlformats.org/drawingml/2006/table">
            <a:tbl>
              <a:tblPr firstRow="1" bandRow="1">
                <a:tableStyleId>{5C22544A-7EE6-4342-B048-85BDC9FD1C3A}</a:tableStyleId>
              </a:tblPr>
              <a:tblGrid>
                <a:gridCol w="548640"/>
                <a:gridCol w="2560320"/>
                <a:gridCol w="3566159"/>
                <a:gridCol w="4206240"/>
                <a:gridCol w="3566159"/>
                <a:gridCol w="2194560"/>
              </a:tblGrid>
              <a:tr h="749808">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Uji</a:t>
                      </a:r>
                    </a:p>
                  </a:txBody>
                  <a:tcPr marL="73152" marR="73152" marT="36576" marB="36576" anchor="ctr">
                    <a:solidFill>
                      <a:srgbClr val="0B5E6E"/>
                    </a:solidFill>
                  </a:tcPr>
                </a:tc>
                <a:tc>
                  <a:txBody>
                    <a:bodyPr wrap="square"/>
                    <a:lstStyle/>
                    <a:p>
                      <a:r>
                        <a:rPr sz="1050" b="1" i="0">
                          <a:solidFill>
                            <a:srgbClr val="FFFFFF"/>
                          </a:solidFill>
                          <a:latin typeface="Calibri (MS) Bold"/>
                        </a:rPr>
                        <a:t>Yang diperiksa</a:t>
                      </a:r>
                    </a:p>
                  </a:txBody>
                  <a:tcPr marL="73152" marR="73152" marT="36576" marB="36576" anchor="ctr">
                    <a:solidFill>
                      <a:srgbClr val="0B5E6E"/>
                    </a:solidFill>
                  </a:tcPr>
                </a:tc>
                <a:tc>
                  <a:txBody>
                    <a:bodyPr wrap="square"/>
                    <a:lstStyle/>
                    <a:p>
                      <a:r>
                        <a:rPr sz="1050" b="1" i="0">
                          <a:solidFill>
                            <a:srgbClr val="FFFFFF"/>
                          </a:solidFill>
                          <a:latin typeface="Calibri (MS) Bold"/>
                        </a:rPr>
                        <a:t>Cara / langkah</a:t>
                      </a:r>
                    </a:p>
                  </a:txBody>
                  <a:tcPr marL="73152" marR="73152" marT="36576" marB="36576" anchor="ctr">
                    <a:solidFill>
                      <a:srgbClr val="0B5E6E"/>
                    </a:solidFill>
                  </a:tcPr>
                </a:tc>
                <a:tc>
                  <a:txBody>
                    <a:bodyPr wrap="square"/>
                    <a:lstStyle/>
                    <a:p>
                      <a:r>
                        <a:rPr sz="1050" b="1" i="0">
                          <a:solidFill>
                            <a:srgbClr val="FFFFFF"/>
                          </a:solidFill>
                          <a:latin typeface="Calibri (MS) Bold"/>
                        </a:rPr>
                        <a:t>Kriteria lolos</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Hasil</a:t>
                      </a:r>
                    </a:p>
                  </a:txBody>
                  <a:tcPr marL="73152" marR="73152" marT="36576" marB="36576" anchor="ctr">
                    <a:solidFill>
                      <a:srgbClr val="0B5E6E"/>
                    </a:solidFill>
                  </a:tcPr>
                </a:tc>
              </a:tr>
              <a:tr h="749808">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r>
                        <a:rPr sz="1050" b="0" i="0">
                          <a:solidFill>
                            <a:srgbClr val="14313B"/>
                          </a:solidFill>
                          <a:latin typeface="Calibri (MS)"/>
                        </a:rPr>
                        <a:t>Kesesuaian struktur dan parameter</a:t>
                      </a:r>
                    </a:p>
                  </a:txBody>
                  <a:tcPr marL="73152" marR="73152" marT="36576" marB="36576" anchor="ctr">
                    <a:solidFill>
                      <a:srgbClr val="FFFFFF"/>
                    </a:solidFill>
                  </a:tcPr>
                </a:tc>
                <a:tc>
                  <a:txBody>
                    <a:bodyPr wrap="square"/>
                    <a:lstStyle/>
                    <a:p>
                      <a:r>
                        <a:rPr sz="1050" b="0" i="0">
                          <a:solidFill>
                            <a:srgbClr val="14313B"/>
                          </a:solidFill>
                          <a:latin typeface="Calibri (MS)"/>
                        </a:rPr>
                        <a:t>Setiap hubungan sebab-akibat dan parameter punya dasar</a:t>
                      </a:r>
                    </a:p>
                  </a:txBody>
                  <a:tcPr marL="73152" marR="73152" marT="36576" marB="36576" anchor="ctr">
                    <a:solidFill>
                      <a:srgbClr val="FFFFFF"/>
                    </a:solidFill>
                  </a:tcPr>
                </a:tc>
                <a:tc>
                  <a:txBody>
                    <a:bodyPr wrap="square"/>
                    <a:lstStyle/>
                    <a:p>
                      <a:r>
                        <a:rPr sz="1050" b="0" i="0">
                          <a:solidFill>
                            <a:srgbClr val="14313B"/>
                          </a:solidFill>
                          <a:latin typeface="Calibri (MS)"/>
                        </a:rPr>
                        <a:t>Telusuri tiap variabel terhadap kriteria Tabel 11 dan kategori sumber Tabel 12</a:t>
                      </a:r>
                    </a:p>
                  </a:txBody>
                  <a:tcPr marL="73152" marR="73152" marT="36576" marB="36576" anchor="ctr">
                    <a:solidFill>
                      <a:srgbClr val="FFFFFF"/>
                    </a:solidFill>
                  </a:tcPr>
                </a:tc>
                <a:tc>
                  <a:txBody>
                    <a:bodyPr wrap="square"/>
                    <a:lstStyle/>
                    <a:p>
                      <a:r>
                        <a:rPr sz="1050" b="0" i="0">
                          <a:solidFill>
                            <a:srgbClr val="14313B"/>
                          </a:solidFill>
                          <a:latin typeface="Calibri (MS)"/>
                        </a:rPr>
                        <a:t>Semua hubungan berdasar teori/data; tiap parameter masuk satu kategori</a:t>
                      </a:r>
                    </a:p>
                  </a:txBody>
                  <a:tcPr marL="73152" marR="73152" marT="36576" marB="36576" anchor="ctr">
                    <a:solidFill>
                      <a:srgbClr val="FFFFFF"/>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749808">
                <a:tc>
                  <a:txBody>
                    <a:bodyPr wrap="square"/>
                    <a:lstStyle/>
                    <a:p>
                      <a:pPr algn="ctr"/>
                      <a:r>
                        <a:rPr sz="1050" b="0" i="0">
                          <a:solidFill>
                            <a:srgbClr val="14313B"/>
                          </a:solidFill>
                          <a:latin typeface="Calibri (MS)"/>
                        </a:rPr>
                        <a:t>2</a:t>
                      </a:r>
                    </a:p>
                  </a:txBody>
                  <a:tcPr marL="73152" marR="73152" marT="36576" marB="36576" anchor="ctr">
                    <a:solidFill>
                      <a:srgbClr val="EAF8FA"/>
                    </a:solidFill>
                  </a:tcPr>
                </a:tc>
                <a:tc>
                  <a:txBody>
                    <a:bodyPr wrap="square"/>
                    <a:lstStyle/>
                    <a:p>
                      <a:r>
                        <a:rPr sz="1050" b="0" i="0">
                          <a:solidFill>
                            <a:srgbClr val="14313B"/>
                          </a:solidFill>
                          <a:latin typeface="Calibri (MS)"/>
                        </a:rPr>
                        <a:t>Konsistensi dimensi</a:t>
                      </a:r>
                    </a:p>
                  </a:txBody>
                  <a:tcPr marL="73152" marR="73152" marT="36576" marB="36576" anchor="ctr">
                    <a:solidFill>
                      <a:srgbClr val="EAF8FA"/>
                    </a:solidFill>
                  </a:tcPr>
                </a:tc>
                <a:tc>
                  <a:txBody>
                    <a:bodyPr wrap="square"/>
                    <a:lstStyle/>
                    <a:p>
                      <a:r>
                        <a:rPr sz="1050" b="0" i="0">
                          <a:solidFill>
                            <a:srgbClr val="14313B"/>
                          </a:solidFill>
                          <a:latin typeface="Calibri (MS)"/>
                        </a:rPr>
                        <a:t>Satuan di kiri dan kanan setiap persamaan sama</a:t>
                      </a:r>
                    </a:p>
                  </a:txBody>
                  <a:tcPr marL="73152" marR="73152" marT="36576" marB="36576" anchor="ctr">
                    <a:solidFill>
                      <a:srgbClr val="EAF8FA"/>
                    </a:solidFill>
                  </a:tcPr>
                </a:tc>
                <a:tc>
                  <a:txBody>
                    <a:bodyPr wrap="square"/>
                    <a:lstStyle/>
                    <a:p>
                      <a:r>
                        <a:rPr sz="1050" b="0" i="0">
                          <a:solidFill>
                            <a:srgbClr val="14313B"/>
                          </a:solidFill>
                          <a:latin typeface="Calibri (MS)"/>
                        </a:rPr>
                        <a:t>Vensim: Units Check lalu Check Model</a:t>
                      </a:r>
                    </a:p>
                  </a:txBody>
                  <a:tcPr marL="73152" marR="73152" marT="36576" marB="36576" anchor="ctr">
                    <a:solidFill>
                      <a:srgbClr val="EAF8FA"/>
                    </a:solidFill>
                  </a:tcPr>
                </a:tc>
                <a:tc>
                  <a:txBody>
                    <a:bodyPr wrap="square"/>
                    <a:lstStyle/>
                    <a:p>
                      <a:r>
                        <a:rPr sz="1050" b="0" i="0">
                          <a:solidFill>
                            <a:srgbClr val="14313B"/>
                          </a:solidFill>
                          <a:latin typeface="Calibri (MS)"/>
                        </a:rPr>
                        <a:t>Tidak ada peringatan satuan</a:t>
                      </a:r>
                    </a:p>
                  </a:txBody>
                  <a:tcPr marL="73152" marR="73152" marT="36576" marB="36576" anchor="ctr">
                    <a:solidFill>
                      <a:srgbClr val="EAF8FA"/>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749808">
                <a:tc>
                  <a:txBody>
                    <a:bodyPr wrap="square"/>
                    <a:lstStyle/>
                    <a:p>
                      <a:pPr algn="ctr"/>
                      <a:r>
                        <a:rPr sz="1050" b="0" i="0">
                          <a:solidFill>
                            <a:srgbClr val="14313B"/>
                          </a:solidFill>
                          <a:latin typeface="Calibri (MS)"/>
                        </a:rPr>
                        <a:t>3</a:t>
                      </a:r>
                    </a:p>
                  </a:txBody>
                  <a:tcPr marL="73152" marR="73152" marT="36576" marB="36576" anchor="ctr">
                    <a:solidFill>
                      <a:srgbClr val="FFFFFF"/>
                    </a:solidFill>
                  </a:tcPr>
                </a:tc>
                <a:tc>
                  <a:txBody>
                    <a:bodyPr wrap="square"/>
                    <a:lstStyle/>
                    <a:p>
                      <a:r>
                        <a:rPr sz="1050" b="0" i="0">
                          <a:solidFill>
                            <a:srgbClr val="14313B"/>
                          </a:solidFill>
                          <a:latin typeface="Calibri (MS)"/>
                        </a:rPr>
                        <a:t>Kecukupan batas model</a:t>
                      </a:r>
                    </a:p>
                  </a:txBody>
                  <a:tcPr marL="73152" marR="73152" marT="36576" marB="36576" anchor="ctr">
                    <a:solidFill>
                      <a:srgbClr val="FFFFFF"/>
                    </a:solidFill>
                  </a:tcPr>
                </a:tc>
                <a:tc>
                  <a:txBody>
                    <a:bodyPr wrap="square"/>
                    <a:lstStyle/>
                    <a:p>
                      <a:r>
                        <a:rPr sz="1050" b="0" i="0">
                          <a:solidFill>
                            <a:srgbClr val="14313B"/>
                          </a:solidFill>
                          <a:latin typeface="Calibri (MS)"/>
                        </a:rPr>
                        <a:t>Apa yang dihitung model, apa yang jadi input, apa yang dikeluarkan</a:t>
                      </a:r>
                    </a:p>
                  </a:txBody>
                  <a:tcPr marL="73152" marR="73152" marT="36576" marB="36576" anchor="ctr">
                    <a:solidFill>
                      <a:srgbClr val="FFFFFF"/>
                    </a:solidFill>
                  </a:tcPr>
                </a:tc>
                <a:tc>
                  <a:txBody>
                    <a:bodyPr wrap="square"/>
                    <a:lstStyle/>
                    <a:p>
                      <a:r>
                        <a:rPr sz="1050" b="0" i="0">
                          <a:solidFill>
                            <a:srgbClr val="14313B"/>
                          </a:solidFill>
                          <a:latin typeface="Calibri (MS)"/>
                        </a:rPr>
                        <a:t>Susun model boundary chart beserta konsekuensi tiap aspek yang dikeluarkan</a:t>
                      </a:r>
                    </a:p>
                  </a:txBody>
                  <a:tcPr marL="73152" marR="73152" marT="36576" marB="36576" anchor="ctr">
                    <a:solidFill>
                      <a:srgbClr val="FFFFFF"/>
                    </a:solidFill>
                  </a:tcPr>
                </a:tc>
                <a:tc>
                  <a:txBody>
                    <a:bodyPr wrap="square"/>
                    <a:lstStyle/>
                    <a:p>
                      <a:r>
                        <a:rPr sz="1050" b="0" i="0">
                          <a:solidFill>
                            <a:srgbClr val="14313B"/>
                          </a:solidFill>
                          <a:latin typeface="Calibri (MS)"/>
                        </a:rPr>
                        <a:t>Variabel penting untuk pertanyaan penelitian sudah endogen</a:t>
                      </a:r>
                    </a:p>
                  </a:txBody>
                  <a:tcPr marL="73152" marR="73152" marT="36576" marB="36576" anchor="ctr">
                    <a:solidFill>
                      <a:srgbClr val="FFFFFF"/>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749808">
                <a:tc>
                  <a:txBody>
                    <a:bodyPr wrap="square"/>
                    <a:lstStyle/>
                    <a:p>
                      <a:pPr algn="ctr"/>
                      <a:r>
                        <a:rPr sz="1050" b="0" i="0">
                          <a:solidFill>
                            <a:srgbClr val="14313B"/>
                          </a:solidFill>
                          <a:latin typeface="Calibri (MS)"/>
                        </a:rPr>
                        <a:t>4</a:t>
                      </a:r>
                    </a:p>
                  </a:txBody>
                  <a:tcPr marL="73152" marR="73152" marT="36576" marB="36576" anchor="ctr">
                    <a:solidFill>
                      <a:srgbClr val="EAF8FA"/>
                    </a:solidFill>
                  </a:tcPr>
                </a:tc>
                <a:tc>
                  <a:txBody>
                    <a:bodyPr wrap="square"/>
                    <a:lstStyle/>
                    <a:p>
                      <a:r>
                        <a:rPr sz="1050" b="0" i="0">
                          <a:solidFill>
                            <a:srgbClr val="14313B"/>
                          </a:solidFill>
                          <a:latin typeface="Calibri (MS)"/>
                        </a:rPr>
                        <a:t>Kekekalan materi</a:t>
                      </a:r>
                    </a:p>
                  </a:txBody>
                  <a:tcPr marL="73152" marR="73152" marT="36576" marB="36576" anchor="ctr">
                    <a:solidFill>
                      <a:srgbClr val="EAF8FA"/>
                    </a:solidFill>
                  </a:tcPr>
                </a:tc>
                <a:tc>
                  <a:txBody>
                    <a:bodyPr wrap="square"/>
                    <a:lstStyle/>
                    <a:p>
                      <a:r>
                        <a:rPr sz="1050" b="0" i="0">
                          <a:solidFill>
                            <a:srgbClr val="14313B"/>
                          </a:solidFill>
                          <a:latin typeface="Calibri (MS)"/>
                        </a:rPr>
                        <a:t>Isi stok hanya berubah lewat aliran yang didefinisikan</a:t>
                      </a:r>
                    </a:p>
                  </a:txBody>
                  <a:tcPr marL="73152" marR="73152" marT="36576" marB="36576" anchor="ctr">
                    <a:solidFill>
                      <a:srgbClr val="EAF8FA"/>
                    </a:solidFill>
                  </a:tcPr>
                </a:tc>
                <a:tc>
                  <a:txBody>
                    <a:bodyPr wrap="square"/>
                    <a:lstStyle/>
                    <a:p>
                      <a:r>
                        <a:rPr sz="1050" b="0" i="0">
                          <a:solidFill>
                            <a:srgbClr val="14313B"/>
                          </a:solidFill>
                          <a:latin typeface="Calibri (MS)"/>
                        </a:rPr>
                        <a:t>Bandingkan Sₖ(t+1) dengan Sₖ(t) + masuk − keluar, 2025–2049, lima stok</a:t>
                      </a:r>
                    </a:p>
                  </a:txBody>
                  <a:tcPr marL="73152" marR="73152" marT="36576" marB="36576" anchor="ctr">
                    <a:solidFill>
                      <a:srgbClr val="EAF8FA"/>
                    </a:solidFill>
                  </a:tcPr>
                </a:tc>
                <a:tc>
                  <a:txBody>
                    <a:bodyPr wrap="square"/>
                    <a:lstStyle/>
                    <a:p>
                      <a:r>
                        <a:rPr sz="1050" b="0" i="0">
                          <a:solidFill>
                            <a:srgbClr val="14313B"/>
                          </a:solidFill>
                          <a:latin typeface="Calibri (MS)"/>
                        </a:rPr>
                        <a:t>Selisih relatif &lt; 10⁻⁹</a:t>
                      </a:r>
                    </a:p>
                  </a:txBody>
                  <a:tcPr marL="73152" marR="73152" marT="36576" marB="36576" anchor="ctr">
                    <a:solidFill>
                      <a:srgbClr val="EAF8FA"/>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749808">
                <a:tc>
                  <a:txBody>
                    <a:bodyPr wrap="square"/>
                    <a:lstStyle/>
                    <a:p>
                      <a:pPr algn="ctr"/>
                      <a:r>
                        <a:rPr sz="1050" b="0" i="0">
                          <a:solidFill>
                            <a:srgbClr val="14313B"/>
                          </a:solidFill>
                          <a:latin typeface="Calibri (MS)"/>
                        </a:rPr>
                        <a:t>5</a:t>
                      </a:r>
                    </a:p>
                  </a:txBody>
                  <a:tcPr marL="73152" marR="73152" marT="36576" marB="36576" anchor="ctr">
                    <a:solidFill>
                      <a:srgbClr val="FFFFFF"/>
                    </a:solidFill>
                  </a:tcPr>
                </a:tc>
                <a:tc>
                  <a:txBody>
                    <a:bodyPr wrap="square"/>
                    <a:lstStyle/>
                    <a:p>
                      <a:r>
                        <a:rPr sz="1050" b="0" i="0">
                          <a:solidFill>
                            <a:srgbClr val="14313B"/>
                          </a:solidFill>
                          <a:latin typeface="Calibri (MS)"/>
                        </a:rPr>
                        <a:t>Loop umpan balik</a:t>
                      </a:r>
                    </a:p>
                  </a:txBody>
                  <a:tcPr marL="73152" marR="73152" marT="36576" marB="36576" anchor="ctr">
                    <a:solidFill>
                      <a:srgbClr val="FFFFFF"/>
                    </a:solidFill>
                  </a:tcPr>
                </a:tc>
                <a:tc>
                  <a:txBody>
                    <a:bodyPr wrap="square"/>
                    <a:lstStyle/>
                    <a:p>
                      <a:r>
                        <a:rPr sz="1050" b="0" i="0">
                          <a:solidFill>
                            <a:srgbClr val="14313B"/>
                          </a:solidFill>
                          <a:latin typeface="Calibri (MS)"/>
                        </a:rPr>
                        <a:t>Setiap loop CLD benar-benar bekerja sesuai arah</a:t>
                      </a:r>
                    </a:p>
                  </a:txBody>
                  <a:tcPr marL="73152" marR="73152" marT="36576" marB="36576" anchor="ctr">
                    <a:solidFill>
                      <a:srgbClr val="FFFFFF"/>
                    </a:solidFill>
                  </a:tcPr>
                </a:tc>
                <a:tc>
                  <a:txBody>
                    <a:bodyPr wrap="square"/>
                    <a:lstStyle/>
                    <a:p>
                      <a:r>
                        <a:rPr sz="1050" b="0" i="0">
                          <a:solidFill>
                            <a:srgbClr val="14313B"/>
                          </a:solidFill>
                          <a:latin typeface="Calibri (MS)"/>
                        </a:rPr>
                        <a:t>Matikan satu loop (tahan variabel penutupnya), bandingkan nilai 2050 dengan simulasi dasar</a:t>
                      </a:r>
                    </a:p>
                  </a:txBody>
                  <a:tcPr marL="73152" marR="73152" marT="36576" marB="36576" anchor="ctr">
                    <a:solidFill>
                      <a:srgbClr val="FFFFFF"/>
                    </a:solidFill>
                  </a:tcPr>
                </a:tc>
                <a:tc>
                  <a:txBody>
                    <a:bodyPr wrap="square"/>
                    <a:lstStyle/>
                    <a:p>
                      <a:r>
                        <a:rPr sz="1050" b="0" i="0">
                          <a:solidFill>
                            <a:srgbClr val="14313B"/>
                          </a:solidFill>
                          <a:latin typeface="Calibri (MS)"/>
                        </a:rPr>
                        <a:t>Arah perubahan sesuai jenis loop</a:t>
                      </a:r>
                    </a:p>
                  </a:txBody>
                  <a:tcPr marL="73152" marR="73152" marT="36576" marB="36576" anchor="ctr">
                    <a:solidFill>
                      <a:srgbClr val="FFFFFF"/>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749808">
                <a:tc>
                  <a:txBody>
                    <a:bodyPr wrap="square"/>
                    <a:lstStyle/>
                    <a:p>
                      <a:pPr algn="ctr"/>
                      <a:r>
                        <a:rPr sz="1050" b="0" i="0">
                          <a:solidFill>
                            <a:srgbClr val="14313B"/>
                          </a:solidFill>
                          <a:latin typeface="Calibri (MS)"/>
                        </a:rPr>
                        <a:t>6</a:t>
                      </a:r>
                    </a:p>
                  </a:txBody>
                  <a:tcPr marL="73152" marR="73152" marT="36576" marB="36576" anchor="ctr">
                    <a:solidFill>
                      <a:srgbClr val="EAF8FA"/>
                    </a:solidFill>
                  </a:tcPr>
                </a:tc>
                <a:tc>
                  <a:txBody>
                    <a:bodyPr wrap="square"/>
                    <a:lstStyle/>
                    <a:p>
                      <a:r>
                        <a:rPr sz="1050" b="0" i="0">
                          <a:solidFill>
                            <a:srgbClr val="14313B"/>
                          </a:solidFill>
                          <a:latin typeface="Calibri (MS)"/>
                        </a:rPr>
                        <a:t>Kondisi ekstrem</a:t>
                      </a:r>
                    </a:p>
                  </a:txBody>
                  <a:tcPr marL="73152" marR="73152" marT="36576" marB="36576" anchor="ctr">
                    <a:solidFill>
                      <a:srgbClr val="EAF8FA"/>
                    </a:solidFill>
                  </a:tcPr>
                </a:tc>
                <a:tc>
                  <a:txBody>
                    <a:bodyPr wrap="square"/>
                    <a:lstStyle/>
                    <a:p>
                      <a:r>
                        <a:rPr sz="1050" b="0" i="0">
                          <a:solidFill>
                            <a:srgbClr val="14313B"/>
                          </a:solidFill>
                          <a:latin typeface="Calibri (MS)"/>
                        </a:rPr>
                        <a:t>Model tetap logis pada nilai parameter ekstrem</a:t>
                      </a:r>
                    </a:p>
                  </a:txBody>
                  <a:tcPr marL="73152" marR="73152" marT="36576" marB="36576" anchor="ctr">
                    <a:solidFill>
                      <a:srgbClr val="EAF8FA"/>
                    </a:solidFill>
                  </a:tcPr>
                </a:tc>
                <a:tc>
                  <a:txBody>
                    <a:bodyPr wrap="square"/>
                    <a:lstStyle/>
                    <a:p>
                      <a:r>
                        <a:rPr sz="1050" b="0" i="0">
                          <a:solidFill>
                            <a:srgbClr val="14313B"/>
                          </a:solidFill>
                          <a:latin typeface="Calibri (MS)"/>
                        </a:rPr>
                        <a:t>17 uji; hipotesis ditulis sebelum simulasi; periksa 6 aturan fisik</a:t>
                      </a:r>
                    </a:p>
                  </a:txBody>
                  <a:tcPr marL="73152" marR="73152" marT="36576" marB="36576" anchor="ctr">
                    <a:solidFill>
                      <a:srgbClr val="EAF8FA"/>
                    </a:solidFill>
                  </a:tcPr>
                </a:tc>
                <a:tc>
                  <a:txBody>
                    <a:bodyPr wrap="square"/>
                    <a:lstStyle/>
                    <a:p>
                      <a:r>
                        <a:rPr sz="1050" b="0" i="0">
                          <a:solidFill>
                            <a:srgbClr val="14313B"/>
                          </a:solidFill>
                          <a:latin typeface="Calibri (MS)"/>
                        </a:rPr>
                        <a:t>Keenam aturan terpenuhi dan hipotesis sesuai</a:t>
                      </a:r>
                    </a:p>
                  </a:txBody>
                  <a:tcPr marL="73152" marR="73152" marT="36576" marB="36576" anchor="ctr">
                    <a:solidFill>
                      <a:srgbClr val="EAF8FA"/>
                    </a:solidFill>
                  </a:tcPr>
                </a:tc>
                <a:tc>
                  <a:txBody>
                    <a:bodyPr wrap="square"/>
                    <a:lstStyle/>
                    <a:p>
                      <a:pPr algn="ctr"/>
                      <a:r>
                        <a:rPr sz="1050" b="0" i="0">
                          <a:solidFill>
                            <a:srgbClr val="14313B"/>
                          </a:solidFill>
                          <a:latin typeface="Calibri (MS)"/>
                        </a:rPr>
                        <a:t>15 lolos, 2 lolos dengan catatan</a:t>
                      </a:r>
                    </a:p>
                  </a:txBody>
                  <a:tcPr marL="73152" marR="73152" marT="36576" marB="36576" anchor="ctr">
                    <a:solidFill>
                      <a:srgbClr val="FFF1BF"/>
                    </a:solidFill>
                  </a:tcPr>
                </a:tc>
              </a:tr>
              <a:tr h="749808">
                <a:tc>
                  <a:txBody>
                    <a:bodyPr wrap="square"/>
                    <a:lstStyle/>
                    <a:p>
                      <a:pPr algn="ctr"/>
                      <a:r>
                        <a:rPr sz="1050" b="0" i="0">
                          <a:solidFill>
                            <a:srgbClr val="14313B"/>
                          </a:solidFill>
                          <a:latin typeface="Calibri (MS)"/>
                        </a:rPr>
                        <a:t>7</a:t>
                      </a:r>
                    </a:p>
                  </a:txBody>
                  <a:tcPr marL="73152" marR="73152" marT="36576" marB="36576" anchor="ctr">
                    <a:solidFill>
                      <a:srgbClr val="FFFFFF"/>
                    </a:solidFill>
                  </a:tcPr>
                </a:tc>
                <a:tc>
                  <a:txBody>
                    <a:bodyPr wrap="square"/>
                    <a:lstStyle/>
                    <a:p>
                      <a:r>
                        <a:rPr sz="1050" b="0" i="0">
                          <a:solidFill>
                            <a:srgbClr val="14313B"/>
                          </a:solidFill>
                          <a:latin typeface="Calibri (MS)"/>
                        </a:rPr>
                        <a:t>Galat integrasi</a:t>
                      </a:r>
                    </a:p>
                  </a:txBody>
                  <a:tcPr marL="73152" marR="73152" marT="36576" marB="36576" anchor="ctr">
                    <a:solidFill>
                      <a:srgbClr val="FFFFFF"/>
                    </a:solidFill>
                  </a:tcPr>
                </a:tc>
                <a:tc>
                  <a:txBody>
                    <a:bodyPr wrap="square"/>
                    <a:lstStyle/>
                    <a:p>
                      <a:r>
                        <a:rPr sz="1050" b="0" i="0">
                          <a:solidFill>
                            <a:srgbClr val="14313B"/>
                          </a:solidFill>
                          <a:latin typeface="Calibri (MS)"/>
                        </a:rPr>
                        <a:t>Hasil tidak bergantung pada ukuran langkah waktu</a:t>
                      </a:r>
                    </a:p>
                  </a:txBody>
                  <a:tcPr marL="73152" marR="73152" marT="36576" marB="36576" anchor="ctr">
                    <a:solidFill>
                      <a:srgbClr val="FFFFFF"/>
                    </a:solidFill>
                  </a:tcPr>
                </a:tc>
                <a:tc>
                  <a:txBody>
                    <a:bodyPr wrap="square"/>
                    <a:lstStyle/>
                    <a:p>
                      <a:r>
                        <a:rPr sz="1050" b="0" i="0">
                          <a:solidFill>
                            <a:srgbClr val="14313B"/>
                          </a:solidFill>
                          <a:latin typeface="Calibri (MS)"/>
                        </a:rPr>
                        <a:t>Jalankan ulang pada Δt 0,5; 0,25; 0,125 tahun</a:t>
                      </a:r>
                    </a:p>
                  </a:txBody>
                  <a:tcPr marL="73152" marR="73152" marT="36576" marB="36576" anchor="ctr">
                    <a:solidFill>
                      <a:srgbClr val="FFFFFF"/>
                    </a:solidFill>
                  </a:tcPr>
                </a:tc>
                <a:tc>
                  <a:txBody>
                    <a:bodyPr wrap="square"/>
                    <a:lstStyle/>
                    <a:p>
                      <a:r>
                        <a:rPr sz="1050" b="0" i="0">
                          <a:solidFill>
                            <a:srgbClr val="14313B"/>
                          </a:solidFill>
                          <a:latin typeface="Calibri (MS)"/>
                        </a:rPr>
                        <a:t>Selisih kecil dan mengecil teratur</a:t>
                      </a:r>
                    </a:p>
                  </a:txBody>
                  <a:tcPr marL="73152" marR="73152" marT="36576" marB="36576" anchor="ctr">
                    <a:solidFill>
                      <a:srgbClr val="FFFFFF"/>
                    </a:solidFill>
                  </a:tcPr>
                </a:tc>
                <a:tc>
                  <a:txBody>
                    <a:bodyPr wrap="square"/>
                    <a:lstStyle/>
                    <a:p>
                      <a:pPr algn="ctr"/>
                      <a:r>
                        <a:rPr sz="1050" b="0" i="0">
                          <a:solidFill>
                            <a:srgbClr val="14313B"/>
                          </a:solidFill>
                          <a:latin typeface="Calibri (MS)"/>
                        </a:rPr>
                        <a:t>Lolos (Δt = 1 memadai)</a:t>
                      </a:r>
                    </a:p>
                  </a:txBody>
                  <a:tcPr marL="73152" marR="73152" marT="36576" marB="36576" anchor="ctr">
                    <a:solidFill>
                      <a:srgbClr val="C9F0D6"/>
                    </a:solidFill>
                  </a:tcPr>
                </a:tc>
              </a:tr>
            </a:tbl>
          </a:graphicData>
        </a:graphic>
      </p:graphicFrame>
      <p:sp>
        <p:nvSpPr>
          <p:cNvPr id="28" name="Rounded Rectangle 27"/>
          <p:cNvSpPr/>
          <p:nvPr/>
        </p:nvSpPr>
        <p:spPr>
          <a:xfrm>
            <a:off x="822960" y="822960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Uji 1–2 memeriksa bahan penyusun model, uji 3 menetapkan ranah tafsir, uji 4–5 memeriksa mekanisme di dalam model, dan uji 6–7 memeriksa ketahanan model pada kondisi di luar kebiasaan.</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dan 4.4.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40 · Uji Kesesuaian Struktur dan Konsistensi Dimensi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Langkah pengujian dan tampilan hasil pemeriksaan di Vensim</a:t>
            </a:r>
          </a:p>
        </p:txBody>
      </p:sp>
      <p:sp>
        <p:nvSpPr>
          <p:cNvPr id="27" name="Rounded Rectangle 26"/>
          <p:cNvSpPr/>
          <p:nvPr/>
        </p:nvSpPr>
        <p:spPr>
          <a:xfrm>
            <a:off x="822960" y="1874519"/>
            <a:ext cx="57607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Kesesuaian struktur dan parameter</a:t>
            </a:r>
          </a:p>
        </p:txBody>
      </p:sp>
      <p:sp>
        <p:nvSpPr>
          <p:cNvPr id="28" name="Oval 27"/>
          <p:cNvSpPr/>
          <p:nvPr/>
        </p:nvSpPr>
        <p:spPr>
          <a:xfrm>
            <a:off x="822960" y="265176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29" name="Rounded Rectangle 28"/>
          <p:cNvSpPr/>
          <p:nvPr/>
        </p:nvSpPr>
        <p:spPr>
          <a:xfrm>
            <a:off x="1417320" y="2423160"/>
            <a:ext cx="5166359"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Telusuri hubungan</a:t>
            </a:r>
          </a:p>
          <a:p>
            <a:pPr algn="l">
              <a:spcAft>
                <a:spcPts val="300"/>
              </a:spcAft>
            </a:pPr>
            <a:r>
              <a:rPr sz="1100" b="0" i="0">
                <a:solidFill>
                  <a:srgbClr val="14313B"/>
                </a:solidFill>
                <a:latin typeface="Calibri (MS)"/>
              </a:rPr>
              <a:t>Setiap panah CLD/SFD dicek terhadap kriteria evaluasi struktural (Tabel 11).</a:t>
            </a:r>
          </a:p>
        </p:txBody>
      </p:sp>
      <p:sp>
        <p:nvSpPr>
          <p:cNvPr id="30" name="Oval 29"/>
          <p:cNvSpPr/>
          <p:nvPr/>
        </p:nvSpPr>
        <p:spPr>
          <a:xfrm>
            <a:off x="822960" y="3675887"/>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1" name="Rounded Rectangle 30"/>
          <p:cNvSpPr/>
          <p:nvPr/>
        </p:nvSpPr>
        <p:spPr>
          <a:xfrm>
            <a:off x="1417320" y="3447288"/>
            <a:ext cx="5166359"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Golongkan parameter</a:t>
            </a:r>
          </a:p>
          <a:p>
            <a:pPr algn="l">
              <a:spcAft>
                <a:spcPts val="300"/>
              </a:spcAft>
            </a:pPr>
            <a:r>
              <a:rPr sz="1100" b="0" i="0">
                <a:solidFill>
                  <a:srgbClr val="14313B"/>
                </a:solidFill>
                <a:latin typeface="Calibri (MS)"/>
              </a:rPr>
              <a:t>35 parameter: 11 data resmi, 8 identitas stok-aliran, 2 regulasi, 8 asumsi, 6 normalisasi/tuas.</a:t>
            </a:r>
          </a:p>
        </p:txBody>
      </p:sp>
      <p:sp>
        <p:nvSpPr>
          <p:cNvPr id="32" name="Oval 31"/>
          <p:cNvSpPr/>
          <p:nvPr/>
        </p:nvSpPr>
        <p:spPr>
          <a:xfrm>
            <a:off x="822960" y="4700016"/>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33" name="Rounded Rectangle 32"/>
          <p:cNvSpPr/>
          <p:nvPr/>
        </p:nvSpPr>
        <p:spPr>
          <a:xfrm>
            <a:off x="1417320" y="4471416"/>
            <a:ext cx="5166359"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Dokumentasikan</a:t>
            </a:r>
          </a:p>
          <a:p>
            <a:pPr algn="l">
              <a:spcAft>
                <a:spcPts val="300"/>
              </a:spcAft>
            </a:pPr>
            <a:r>
              <a:rPr sz="1100" b="0" i="0">
                <a:solidFill>
                  <a:srgbClr val="14313B"/>
                </a:solidFill>
                <a:latin typeface="Calibri (MS)"/>
              </a:rPr>
              <a:t>Nilai, rumus, dasar, dan rujukan tiap parameter dicatat (lampiran parameter).</a:t>
            </a:r>
          </a:p>
        </p:txBody>
      </p:sp>
      <p:sp>
        <p:nvSpPr>
          <p:cNvPr id="34" name="Rounded Rectangle 33"/>
          <p:cNvSpPr/>
          <p:nvPr/>
        </p:nvSpPr>
        <p:spPr>
          <a:xfrm>
            <a:off x="822960" y="5532120"/>
            <a:ext cx="57607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Konsistensi dimensi</a:t>
            </a:r>
          </a:p>
        </p:txBody>
      </p:sp>
      <p:sp>
        <p:nvSpPr>
          <p:cNvPr id="35" name="Rounded Rectangle 34"/>
          <p:cNvSpPr/>
          <p:nvPr/>
        </p:nvSpPr>
        <p:spPr>
          <a:xfrm>
            <a:off x="822960" y="6080760"/>
            <a:ext cx="576072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0" i="1">
                <a:solidFill>
                  <a:srgbClr val="14313B"/>
                </a:solidFill>
                <a:latin typeface="Calibri (MS)"/>
              </a:rPr>
              <a:t>[Aliran] = [Stok] / [Waktu]</a:t>
            </a:r>
          </a:p>
          <a:p>
            <a:pPr algn="l">
              <a:spcAft>
                <a:spcPts val="300"/>
              </a:spcAft>
            </a:pPr>
            <a:r>
              <a:rPr sz="1200" b="0" i="1">
                <a:solidFill>
                  <a:srgbClr val="14313B"/>
                </a:solidFill>
                <a:latin typeface="Calibri (MS)"/>
              </a:rPr>
              <a:t>contoh: Laju Kedatangan (kunjungan/tahun)</a:t>
            </a:r>
            <a:r>
              <a:rPr sz="950" b="0" i="0">
                <a:solidFill>
                  <a:srgbClr val="5E6E78"/>
                </a:solidFill>
                <a:latin typeface="Calibri (MS)"/>
              </a:rPr>
              <a:t>  = Jumlah Wisatawan (kunjungan) × LPE (1/tahun)</a:t>
            </a:r>
          </a:p>
        </p:txBody>
      </p:sp>
      <p:sp>
        <p:nvSpPr>
          <p:cNvPr id="36" name="TextBox 35"/>
          <p:cNvSpPr txBox="1"/>
          <p:nvPr/>
        </p:nvSpPr>
        <p:spPr>
          <a:xfrm>
            <a:off x="822960" y="7086600"/>
            <a:ext cx="5760720" cy="1188720"/>
          </a:xfrm>
          <a:prstGeom prst="rect">
            <a:avLst/>
          </a:prstGeom>
          <a:noFill/>
        </p:spPr>
        <p:txBody>
          <a:bodyPr wrap="square" anchor="t" lIns="0" rIns="0" tIns="0" bIns="0">
            <a:spAutoFit/>
          </a:bodyPr>
          <a:lstStyle/>
          <a:p>
            <a:pPr algn="l">
              <a:spcAft>
                <a:spcPts val="400"/>
              </a:spcAft>
            </a:pPr>
            <a:r>
              <a:rPr sz="1100" b="1" i="0">
                <a:solidFill>
                  <a:srgbClr val="0B5E6E"/>
                </a:solidFill>
                <a:latin typeface="Calibri (MS) Bold"/>
              </a:rPr>
              <a:t>•  </a:t>
            </a:r>
            <a:r>
              <a:rPr sz="1100" b="0" i="0">
                <a:solidFill>
                  <a:srgbClr val="14313B"/>
                </a:solidFill>
                <a:latin typeface="Calibri (MS)"/>
              </a:rPr>
              <a:t>Model → Units Check: memeriksa satuan semua persamaan.</a:t>
            </a:r>
          </a:p>
          <a:p>
            <a:pPr algn="l">
              <a:spcAft>
                <a:spcPts val="400"/>
              </a:spcAft>
            </a:pPr>
            <a:r>
              <a:rPr sz="1100" b="1" i="0">
                <a:solidFill>
                  <a:srgbClr val="0B5E6E"/>
                </a:solidFill>
                <a:latin typeface="Calibri (MS) Bold"/>
              </a:rPr>
              <a:t>•  </a:t>
            </a:r>
            <a:r>
              <a:rPr sz="1100" b="0" i="0">
                <a:solidFill>
                  <a:srgbClr val="14313B"/>
                </a:solidFill>
                <a:latin typeface="Calibri (MS)"/>
              </a:rPr>
              <a:t>Model → Check Model: memeriksa persamaan yang belum lengkap atau keliru.</a:t>
            </a:r>
          </a:p>
          <a:p>
            <a:pPr algn="l">
              <a:spcAft>
                <a:spcPts val="400"/>
              </a:spcAft>
            </a:pPr>
            <a:r>
              <a:rPr sz="1100" b="1" i="0">
                <a:solidFill>
                  <a:srgbClr val="0B5E6E"/>
                </a:solidFill>
                <a:latin typeface="Calibri (MS) Bold"/>
              </a:rPr>
              <a:t>•  </a:t>
            </a:r>
            <a:r>
              <a:rPr sz="1100" b="0" i="0">
                <a:solidFill>
                  <a:srgbClr val="14313B"/>
                </a:solidFill>
                <a:latin typeface="Calibri (MS)"/>
              </a:rPr>
              <a:t>Hasil: tidak ada peringatan satuan maupun persamaan.</a:t>
            </a:r>
          </a:p>
        </p:txBody>
      </p:sp>
      <p:pic>
        <p:nvPicPr>
          <p:cNvPr id="37" name="Picture 36" descr="image9.png"/>
          <p:cNvPicPr>
            <a:picLocks noChangeAspect="1"/>
          </p:cNvPicPr>
          <p:nvPr/>
        </p:nvPicPr>
        <p:blipFill>
          <a:blip r:embed="rId7"/>
          <a:stretch>
            <a:fillRect/>
          </a:stretch>
        </p:blipFill>
        <p:spPr>
          <a:xfrm>
            <a:off x="6871948" y="1874519"/>
            <a:ext cx="3263943" cy="3291840"/>
          </a:xfrm>
          <a:prstGeom prst="rect">
            <a:avLst/>
          </a:prstGeom>
          <a:ln w="12700">
            <a:solidFill>
              <a:srgbClr val="CFE5E9"/>
            </a:solidFill>
          </a:ln>
        </p:spPr>
      </p:pic>
      <p:sp>
        <p:nvSpPr>
          <p:cNvPr id="38" name="TextBox 37"/>
          <p:cNvSpPr txBox="1"/>
          <p:nvPr/>
        </p:nvSpPr>
        <p:spPr>
          <a:xfrm>
            <a:off x="6858000" y="5212080"/>
            <a:ext cx="329184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Menu Units Check &amp; Check Model</a:t>
            </a:r>
          </a:p>
        </p:txBody>
      </p:sp>
      <p:pic>
        <p:nvPicPr>
          <p:cNvPr id="39" name="Picture 38" descr="image18.png"/>
          <p:cNvPicPr>
            <a:picLocks noChangeAspect="1"/>
          </p:cNvPicPr>
          <p:nvPr/>
        </p:nvPicPr>
        <p:blipFill>
          <a:blip r:embed="rId8"/>
          <a:stretch>
            <a:fillRect/>
          </a:stretch>
        </p:blipFill>
        <p:spPr>
          <a:xfrm>
            <a:off x="11265408" y="1874519"/>
            <a:ext cx="5266944" cy="3291840"/>
          </a:xfrm>
          <a:prstGeom prst="rect">
            <a:avLst/>
          </a:prstGeom>
          <a:ln w="12700">
            <a:solidFill>
              <a:srgbClr val="CFE5E9"/>
            </a:solidFill>
          </a:ln>
        </p:spPr>
      </p:pic>
      <p:pic>
        <p:nvPicPr>
          <p:cNvPr id="40" name="Picture 39" descr="image19.png"/>
          <p:cNvPicPr>
            <a:picLocks noChangeAspect="1"/>
          </p:cNvPicPr>
          <p:nvPr/>
        </p:nvPicPr>
        <p:blipFill>
          <a:blip r:embed="rId9"/>
          <a:stretch>
            <a:fillRect/>
          </a:stretch>
        </p:blipFill>
        <p:spPr>
          <a:xfrm>
            <a:off x="11484864" y="5257800"/>
            <a:ext cx="4828032" cy="3017520"/>
          </a:xfrm>
          <a:prstGeom prst="rect">
            <a:avLst/>
          </a:prstGeom>
          <a:ln w="12700">
            <a:solidFill>
              <a:srgbClr val="CFE5E9"/>
            </a:solidFill>
          </a:ln>
        </p:spPr>
      </p:pic>
      <p:sp>
        <p:nvSpPr>
          <p:cNvPr id="41" name="TextBox 40"/>
          <p:cNvSpPr txBox="1"/>
          <p:nvPr/>
        </p:nvSpPr>
        <p:spPr>
          <a:xfrm>
            <a:off x="10332720" y="8302752"/>
            <a:ext cx="713232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Hasil Units Check (atas) dan Check Model (bawah): model OK</a:t>
            </a:r>
          </a:p>
        </p:txBody>
      </p:sp>
      <p:sp>
        <p:nvSpPr>
          <p:cNvPr id="42" name="TextBox 4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(Gambar 8) dan 4.4.1 (Gambar 16).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41 · Uji Kekekalan Materi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Isi setiap stok hanya boleh berubah lewat aliran masuk dan keluar yang sudah didefinisikan</a:t>
            </a:r>
          </a:p>
        </p:txBody>
      </p:sp>
      <p:sp>
        <p:nvSpPr>
          <p:cNvPr id="27" name="Rounded Rectangle 26"/>
          <p:cNvSpPr/>
          <p:nvPr/>
        </p:nvSpPr>
        <p:spPr>
          <a:xfrm>
            <a:off x="822960" y="1874519"/>
            <a:ext cx="7863840" cy="13716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50" b="0" i="1">
                <a:solidFill>
                  <a:srgbClr val="14313B"/>
                </a:solidFill>
                <a:latin typeface="Calibri (MS)"/>
              </a:rPr>
              <a:t>Sₖ(t+1) = Sₖ(t) + Σ Inflowₖ(t) − Σ Outflowₖ(t)</a:t>
            </a:r>
          </a:p>
          <a:p>
            <a:pPr algn="l">
              <a:spcAft>
                <a:spcPts val="300"/>
              </a:spcAft>
            </a:pPr>
            <a:r>
              <a:rPr sz="1250" b="0" i="1">
                <a:solidFill>
                  <a:srgbClr val="14313B"/>
                </a:solidFill>
                <a:latin typeface="Calibri (MS)"/>
              </a:rPr>
              <a:t>Selisih relatif = maks |Sₖ,simulasi − Sₖ,hitung| ÷ rata-rata Sₖ</a:t>
            </a:r>
          </a:p>
          <a:p>
            <a:pPr algn="l">
              <a:spcAft>
                <a:spcPts val="300"/>
              </a:spcAft>
            </a:pPr>
            <a:r>
              <a:rPr sz="1250" b="0" i="1">
                <a:solidFill>
                  <a:srgbClr val="14313B"/>
                </a:solidFill>
                <a:latin typeface="Calibri (MS)"/>
              </a:rPr>
              <a:t>Kriteria: kekal bila selisih relatif &lt; 10⁻⁹</a:t>
            </a:r>
            <a:r>
              <a:rPr sz="1000" b="0" i="0">
                <a:solidFill>
                  <a:srgbClr val="5E6E78"/>
                </a:solidFill>
                <a:latin typeface="Calibri (MS)"/>
              </a:rPr>
              <a:t>  (sisa pembulatan komputer)</a:t>
            </a:r>
          </a:p>
        </p:txBody>
      </p:sp>
      <p:sp>
        <p:nvSpPr>
          <p:cNvPr id="28" name="Rounded Rectangle 27"/>
          <p:cNvSpPr/>
          <p:nvPr/>
        </p:nvSpPr>
        <p:spPr>
          <a:xfrm>
            <a:off x="8961120" y="1874519"/>
            <a:ext cx="850392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Contoh hitung: Jumlah Hotel dan Akomodasi</a:t>
            </a:r>
          </a:p>
          <a:p>
            <a:pPr algn="l">
              <a:spcAft>
                <a:spcPts val="300"/>
              </a:spcAft>
            </a:pPr>
            <a:r>
              <a:rPr sz="1300" b="1" i="0">
                <a:solidFill>
                  <a:srgbClr val="14313B"/>
                </a:solidFill>
                <a:latin typeface="Calibri (MS) Bold"/>
              </a:rPr>
              <a:t>2.291 + 158,17937 − 114,55 = 2.334,62937 unit</a:t>
            </a:r>
          </a:p>
          <a:p>
            <a:pPr algn="l">
              <a:spcAft>
                <a:spcPts val="300"/>
              </a:spcAft>
            </a:pPr>
            <a:r>
              <a:rPr sz="1100" b="0" i="0">
                <a:solidFill>
                  <a:srgbClr val="5E6E78"/>
                </a:solidFill>
                <a:latin typeface="Calibri (MS)"/>
              </a:rPr>
              <a:t>stok 2025 + konstruksi − demolisi = stok 2026 hasil simulasi (2.334,62937) → selisih 0</a:t>
            </a:r>
          </a:p>
        </p:txBody>
      </p:sp>
      <p:graphicFrame>
        <p:nvGraphicFramePr>
          <p:cNvPr id="29" name="Table 28"/>
          <p:cNvGraphicFramePr>
            <a:graphicFrameLocks noGrp="1"/>
          </p:cNvGraphicFramePr>
          <p:nvPr/>
        </p:nvGraphicFramePr>
        <p:xfrm>
          <a:off x="822960" y="3520440"/>
          <a:ext cx="16642080" cy="3401568"/>
        </p:xfrm>
        <a:graphic>
          <a:graphicData uri="http://schemas.openxmlformats.org/drawingml/2006/table">
            <a:tbl>
              <a:tblPr firstRow="1" bandRow="1">
                <a:tableStyleId>{5C22544A-7EE6-4342-B048-85BDC9FD1C3A}</a:tableStyleId>
              </a:tblPr>
              <a:tblGrid>
                <a:gridCol w="2926080"/>
                <a:gridCol w="3108960"/>
                <a:gridCol w="1828800"/>
                <a:gridCol w="1554480"/>
                <a:gridCol w="2011680"/>
                <a:gridCol w="1828800"/>
                <a:gridCol w="2011680"/>
                <a:gridCol w="1371600"/>
              </a:tblGrid>
              <a:tr h="566928">
                <a:tc>
                  <a:txBody>
                    <a:bodyPr wrap="square"/>
                    <a:lstStyle/>
                    <a:p>
                      <a:r>
                        <a:rPr sz="1100" b="1" i="0">
                          <a:solidFill>
                            <a:srgbClr val="FFFFFF"/>
                          </a:solidFill>
                          <a:latin typeface="Calibri (MS) Bold"/>
                        </a:rPr>
                        <a:t>Stok</a:t>
                      </a:r>
                    </a:p>
                  </a:txBody>
                  <a:tcPr marL="73152" marR="73152" marT="36576" marB="36576" anchor="ctr">
                    <a:solidFill>
                      <a:srgbClr val="0B5E6E"/>
                    </a:solidFill>
                  </a:tcPr>
                </a:tc>
                <a:tc>
                  <a:txBody>
                    <a:bodyPr wrap="square"/>
                    <a:lstStyle/>
                    <a:p>
                      <a:r>
                        <a:rPr sz="1100" b="1" i="0">
                          <a:solidFill>
                            <a:srgbClr val="FFFFFF"/>
                          </a:solidFill>
                          <a:latin typeface="Calibri (MS) Bold"/>
                        </a:rPr>
                        <a:t>Aliran masuk</a:t>
                      </a:r>
                    </a:p>
                  </a:txBody>
                  <a:tcPr marL="73152" marR="73152" marT="36576" marB="36576" anchor="ctr">
                    <a:solidFill>
                      <a:srgbClr val="0B5E6E"/>
                    </a:solidFill>
                  </a:tcPr>
                </a:tc>
                <a:tc>
                  <a:txBody>
                    <a:bodyPr wrap="square"/>
                    <a:lstStyle/>
                    <a:p>
                      <a:r>
                        <a:rPr sz="1100" b="1" i="0">
                          <a:solidFill>
                            <a:srgbClr val="FFFFFF"/>
                          </a:solidFill>
                          <a:latin typeface="Calibri (MS) Bold"/>
                        </a:rPr>
                        <a:t>Aliran keluar</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Stok 2025</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Hitung manual 2026</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Simulasi 2026</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Selisih maks 2025–2049</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Status</a:t>
                      </a:r>
                    </a:p>
                  </a:txBody>
                  <a:tcPr marL="73152" marR="73152" marT="36576" marB="36576" anchor="ctr">
                    <a:solidFill>
                      <a:srgbClr val="0B5E6E"/>
                    </a:solidFill>
                  </a:tcPr>
                </a:tc>
              </a:tr>
              <a:tr h="566928">
                <a:tc>
                  <a:txBody>
                    <a:bodyPr wrap="square"/>
                    <a:lstStyle/>
                    <a:p>
                      <a:r>
                        <a:rPr sz="1100" b="1" i="0">
                          <a:solidFill>
                            <a:srgbClr val="14313B"/>
                          </a:solidFill>
                          <a:latin typeface="Calibri (MS) Bold"/>
                        </a:rPr>
                        <a:t>Jumlah Wisatawan</a:t>
                      </a:r>
                    </a:p>
                  </a:txBody>
                  <a:tcPr marL="73152" marR="73152" marT="36576" marB="36576" anchor="ctr">
                    <a:solidFill>
                      <a:srgbClr val="FFFFFF"/>
                    </a:solidFill>
                  </a:tcPr>
                </a:tc>
                <a:tc>
                  <a:txBody>
                    <a:bodyPr wrap="square"/>
                    <a:lstStyle/>
                    <a:p>
                      <a:r>
                        <a:rPr sz="1100" b="0" i="0">
                          <a:solidFill>
                            <a:srgbClr val="14313B"/>
                          </a:solidFill>
                          <a:latin typeface="Calibri (MS)"/>
                        </a:rPr>
                        <a:t>Laju Kedatangan</a:t>
                      </a:r>
                    </a:p>
                  </a:txBody>
                  <a:tcPr marL="73152" marR="73152" marT="36576" marB="36576" anchor="ctr">
                    <a:solidFill>
                      <a:srgbClr val="FFFFFF"/>
                    </a:solidFill>
                  </a:tcPr>
                </a:tc>
                <a:tc>
                  <a:txBody>
                    <a:bodyPr wrap="square"/>
                    <a:lstStyle/>
                    <a:p>
                      <a:r>
                        <a:rPr sz="1100" b="0" i="0">
                          <a:solidFill>
                            <a:srgbClr val="14313B"/>
                          </a:solidFill>
                          <a:latin typeface="Calibri (MS)"/>
                        </a:rPr>
                        <a:t>Laju Penurunan</a:t>
                      </a:r>
                    </a:p>
                  </a:txBody>
                  <a:tcPr marL="73152" marR="73152" marT="36576" marB="36576" anchor="ctr">
                    <a:solidFill>
                      <a:srgbClr val="FFFFFF"/>
                    </a:solidFill>
                  </a:tcPr>
                </a:tc>
                <a:tc>
                  <a:txBody>
                    <a:bodyPr wrap="square"/>
                    <a:lstStyle/>
                    <a:p>
                      <a:pPr algn="ctr"/>
                      <a:r>
                        <a:rPr sz="1100" b="0" i="0">
                          <a:solidFill>
                            <a:srgbClr val="14313B"/>
                          </a:solidFill>
                          <a:latin typeface="Calibri (MS)"/>
                        </a:rPr>
                        <a:t>40.695.700*</a:t>
                      </a:r>
                    </a:p>
                  </a:txBody>
                  <a:tcPr marL="73152" marR="73152" marT="36576" marB="36576" anchor="ctr">
                    <a:solidFill>
                      <a:srgbClr val="FFFFFF"/>
                    </a:solidFill>
                  </a:tcPr>
                </a:tc>
                <a:tc>
                  <a:txBody>
                    <a:bodyPr wrap="square"/>
                    <a:lstStyle/>
                    <a:p>
                      <a:pPr algn="ctr"/>
                      <a:r>
                        <a:rPr sz="1100" b="0" i="0">
                          <a:solidFill>
                            <a:srgbClr val="14313B"/>
                          </a:solidFill>
                          <a:latin typeface="Calibri (MS)"/>
                        </a:rPr>
                        <a:t>43.516.521,93</a:t>
                      </a:r>
                    </a:p>
                  </a:txBody>
                  <a:tcPr marL="73152" marR="73152" marT="36576" marB="36576" anchor="ctr">
                    <a:solidFill>
                      <a:srgbClr val="FFFFFF"/>
                    </a:solidFill>
                  </a:tcPr>
                </a:tc>
                <a:tc>
                  <a:txBody>
                    <a:bodyPr wrap="square"/>
                    <a:lstStyle/>
                    <a:p>
                      <a:pPr algn="ctr"/>
                      <a:r>
                        <a:rPr sz="1100" b="0" i="0">
                          <a:solidFill>
                            <a:srgbClr val="14313B"/>
                          </a:solidFill>
                          <a:latin typeface="Calibri (MS)"/>
                        </a:rPr>
                        <a:t>43.516.521,93</a:t>
                      </a:r>
                    </a:p>
                  </a:txBody>
                  <a:tcPr marL="73152" marR="73152" marT="36576" marB="36576" anchor="ctr">
                    <a:solidFill>
                      <a:srgbClr val="FFFFFF"/>
                    </a:solidFill>
                  </a:tcPr>
                </a:tc>
                <a:tc>
                  <a:txBody>
                    <a:bodyPr wrap="square"/>
                    <a:lstStyle/>
                    <a:p>
                      <a:pPr algn="ctr"/>
                      <a:r>
                        <a:rPr sz="1100" b="0" i="0">
                          <a:solidFill>
                            <a:srgbClr val="14313B"/>
                          </a:solidFill>
                          <a:latin typeface="Calibri (MS)"/>
                        </a:rPr>
                        <a:t>≈0 (10⁻⁸)</a:t>
                      </a:r>
                    </a:p>
                  </a:txBody>
                  <a:tcPr marL="73152" marR="73152" marT="36576" marB="36576" anchor="ctr">
                    <a:solidFill>
                      <a:srgbClr val="FFFFFF"/>
                    </a:solidFill>
                  </a:tcPr>
                </a:tc>
                <a:tc>
                  <a:txBody>
                    <a:bodyPr wrap="square"/>
                    <a:lstStyle/>
                    <a:p>
                      <a:pPr algn="ctr"/>
                      <a:r>
                        <a:rPr sz="1100" b="0" i="0">
                          <a:solidFill>
                            <a:srgbClr val="14313B"/>
                          </a:solidFill>
                          <a:latin typeface="Calibri (MS)"/>
                        </a:rPr>
                        <a:t>Kekal</a:t>
                      </a:r>
                    </a:p>
                  </a:txBody>
                  <a:tcPr marL="73152" marR="73152" marT="36576" marB="36576" anchor="ctr">
                    <a:solidFill>
                      <a:srgbClr val="C9F0D6"/>
                    </a:solidFill>
                  </a:tcPr>
                </a:tc>
              </a:tr>
              <a:tr h="566928">
                <a:tc>
                  <a:txBody>
                    <a:bodyPr wrap="square"/>
                    <a:lstStyle/>
                    <a:p>
                      <a:r>
                        <a:rPr sz="1100" b="1" i="0">
                          <a:solidFill>
                            <a:srgbClr val="14313B"/>
                          </a:solidFill>
                          <a:latin typeface="Calibri (MS) Bold"/>
                        </a:rPr>
                        <a:t>Jumlah Hotel dan Akomodasi</a:t>
                      </a:r>
                    </a:p>
                  </a:txBody>
                  <a:tcPr marL="73152" marR="73152" marT="36576" marB="36576" anchor="ctr">
                    <a:solidFill>
                      <a:srgbClr val="EAF8FA"/>
                    </a:solidFill>
                  </a:tcPr>
                </a:tc>
                <a:tc>
                  <a:txBody>
                    <a:bodyPr wrap="square"/>
                    <a:lstStyle/>
                    <a:p>
                      <a:r>
                        <a:rPr sz="1100" b="0" i="0">
                          <a:solidFill>
                            <a:srgbClr val="14313B"/>
                          </a:solidFill>
                          <a:latin typeface="Calibri (MS)"/>
                        </a:rPr>
                        <a:t>Laju Konstruksi</a:t>
                      </a:r>
                    </a:p>
                  </a:txBody>
                  <a:tcPr marL="73152" marR="73152" marT="36576" marB="36576" anchor="ctr">
                    <a:solidFill>
                      <a:srgbClr val="EAF8FA"/>
                    </a:solidFill>
                  </a:tcPr>
                </a:tc>
                <a:tc>
                  <a:txBody>
                    <a:bodyPr wrap="square"/>
                    <a:lstStyle/>
                    <a:p>
                      <a:r>
                        <a:rPr sz="1100" b="0" i="0">
                          <a:solidFill>
                            <a:srgbClr val="14313B"/>
                          </a:solidFill>
                          <a:latin typeface="Calibri (MS)"/>
                        </a:rPr>
                        <a:t>Laju Demolisi</a:t>
                      </a:r>
                    </a:p>
                  </a:txBody>
                  <a:tcPr marL="73152" marR="73152" marT="36576" marB="36576" anchor="ctr">
                    <a:solidFill>
                      <a:srgbClr val="EAF8FA"/>
                    </a:solidFill>
                  </a:tcPr>
                </a:tc>
                <a:tc>
                  <a:txBody>
                    <a:bodyPr wrap="square"/>
                    <a:lstStyle/>
                    <a:p>
                      <a:pPr algn="ctr"/>
                      <a:r>
                        <a:rPr sz="1100" b="0" i="0">
                          <a:solidFill>
                            <a:srgbClr val="14313B"/>
                          </a:solidFill>
                          <a:latin typeface="Calibri (MS)"/>
                        </a:rPr>
                        <a:t>2.291</a:t>
                      </a:r>
                    </a:p>
                  </a:txBody>
                  <a:tcPr marL="73152" marR="73152" marT="36576" marB="36576" anchor="ctr">
                    <a:solidFill>
                      <a:srgbClr val="EAF8FA"/>
                    </a:solidFill>
                  </a:tcPr>
                </a:tc>
                <a:tc>
                  <a:txBody>
                    <a:bodyPr wrap="square"/>
                    <a:lstStyle/>
                    <a:p>
                      <a:pPr algn="ctr"/>
                      <a:r>
                        <a:rPr sz="1100" b="0" i="0">
                          <a:solidFill>
                            <a:srgbClr val="14313B"/>
                          </a:solidFill>
                          <a:latin typeface="Calibri (MS)"/>
                        </a:rPr>
                        <a:t>2.334,63</a:t>
                      </a:r>
                    </a:p>
                  </a:txBody>
                  <a:tcPr marL="73152" marR="73152" marT="36576" marB="36576" anchor="ctr">
                    <a:solidFill>
                      <a:srgbClr val="EAF8FA"/>
                    </a:solidFill>
                  </a:tcPr>
                </a:tc>
                <a:tc>
                  <a:txBody>
                    <a:bodyPr wrap="square"/>
                    <a:lstStyle/>
                    <a:p>
                      <a:pPr algn="ctr"/>
                      <a:r>
                        <a:rPr sz="1100" b="0" i="0">
                          <a:solidFill>
                            <a:srgbClr val="14313B"/>
                          </a:solidFill>
                          <a:latin typeface="Calibri (MS)"/>
                        </a:rPr>
                        <a:t>2.334,63</a:t>
                      </a:r>
                    </a:p>
                  </a:txBody>
                  <a:tcPr marL="73152" marR="73152" marT="36576" marB="36576" anchor="ctr">
                    <a:solidFill>
                      <a:srgbClr val="EAF8FA"/>
                    </a:solidFill>
                  </a:tcPr>
                </a:tc>
                <a:tc>
                  <a:txBody>
                    <a:bodyPr wrap="square"/>
                    <a:lstStyle/>
                    <a:p>
                      <a:pPr algn="ctr"/>
                      <a:r>
                        <a:rPr sz="1100" b="0" i="0">
                          <a:solidFill>
                            <a:srgbClr val="14313B"/>
                          </a:solidFill>
                          <a:latin typeface="Calibri (MS)"/>
                        </a:rPr>
                        <a:t>0</a:t>
                      </a:r>
                    </a:p>
                  </a:txBody>
                  <a:tcPr marL="73152" marR="73152" marT="36576" marB="36576" anchor="ctr">
                    <a:solidFill>
                      <a:srgbClr val="EAF8FA"/>
                    </a:solidFill>
                  </a:tcPr>
                </a:tc>
                <a:tc>
                  <a:txBody>
                    <a:bodyPr wrap="square"/>
                    <a:lstStyle/>
                    <a:p>
                      <a:pPr algn="ctr"/>
                      <a:r>
                        <a:rPr sz="1100" b="0" i="0">
                          <a:solidFill>
                            <a:srgbClr val="14313B"/>
                          </a:solidFill>
                          <a:latin typeface="Calibri (MS)"/>
                        </a:rPr>
                        <a:t>Kekal</a:t>
                      </a:r>
                    </a:p>
                  </a:txBody>
                  <a:tcPr marL="73152" marR="73152" marT="36576" marB="36576" anchor="ctr">
                    <a:solidFill>
                      <a:srgbClr val="C9F0D6"/>
                    </a:solidFill>
                  </a:tcPr>
                </a:tc>
              </a:tr>
              <a:tr h="566928">
                <a:tc>
                  <a:txBody>
                    <a:bodyPr wrap="square"/>
                    <a:lstStyle/>
                    <a:p>
                      <a:r>
                        <a:rPr sz="1100" b="1" i="0">
                          <a:solidFill>
                            <a:srgbClr val="14313B"/>
                          </a:solidFill>
                          <a:latin typeface="Calibri (MS) Bold"/>
                        </a:rPr>
                        <a:t>Jumlah ODTW</a:t>
                      </a:r>
                    </a:p>
                  </a:txBody>
                  <a:tcPr marL="73152" marR="73152" marT="36576" marB="36576" anchor="ctr">
                    <a:solidFill>
                      <a:srgbClr val="FFFFFF"/>
                    </a:solidFill>
                  </a:tcPr>
                </a:tc>
                <a:tc>
                  <a:txBody>
                    <a:bodyPr wrap="square"/>
                    <a:lstStyle/>
                    <a:p>
                      <a:r>
                        <a:rPr sz="1100" b="0" i="0">
                          <a:solidFill>
                            <a:srgbClr val="14313B"/>
                          </a:solidFill>
                          <a:latin typeface="Calibri (MS)"/>
                        </a:rPr>
                        <a:t>Laju Pembangunan/Penambahan</a:t>
                      </a:r>
                    </a:p>
                  </a:txBody>
                  <a:tcPr marL="73152" marR="73152" marT="36576" marB="36576" anchor="ctr">
                    <a:solidFill>
                      <a:srgbClr val="FFFFFF"/>
                    </a:solidFill>
                  </a:tcPr>
                </a:tc>
                <a:tc>
                  <a:txBody>
                    <a:bodyPr wrap="square"/>
                    <a:lstStyle/>
                    <a:p>
                      <a:r>
                        <a:rPr sz="1100" b="0" i="0">
                          <a:solidFill>
                            <a:srgbClr val="14313B"/>
                          </a:solidFill>
                          <a:latin typeface="Calibri (MS)"/>
                        </a:rPr>
                        <a:t>Laju Penutupan</a:t>
                      </a:r>
                    </a:p>
                  </a:txBody>
                  <a:tcPr marL="73152" marR="73152" marT="36576" marB="36576" anchor="ctr">
                    <a:solidFill>
                      <a:srgbClr val="FFFFFF"/>
                    </a:solidFill>
                  </a:tcPr>
                </a:tc>
                <a:tc>
                  <a:txBody>
                    <a:bodyPr wrap="square"/>
                    <a:lstStyle/>
                    <a:p>
                      <a:pPr algn="ctr"/>
                      <a:r>
                        <a:rPr sz="1100" b="0" i="0">
                          <a:solidFill>
                            <a:srgbClr val="14313B"/>
                          </a:solidFill>
                          <a:latin typeface="Calibri (MS)"/>
                        </a:rPr>
                        <a:t>201</a:t>
                      </a:r>
                    </a:p>
                  </a:txBody>
                  <a:tcPr marL="73152" marR="73152" marT="36576" marB="36576" anchor="ctr">
                    <a:solidFill>
                      <a:srgbClr val="FFFFFF"/>
                    </a:solidFill>
                  </a:tcPr>
                </a:tc>
                <a:tc>
                  <a:txBody>
                    <a:bodyPr wrap="square"/>
                    <a:lstStyle/>
                    <a:p>
                      <a:pPr algn="ctr"/>
                      <a:r>
                        <a:rPr sz="1100" b="0" i="0">
                          <a:solidFill>
                            <a:srgbClr val="14313B"/>
                          </a:solidFill>
                          <a:latin typeface="Calibri (MS)"/>
                        </a:rPr>
                        <a:t>205,09</a:t>
                      </a:r>
                    </a:p>
                  </a:txBody>
                  <a:tcPr marL="73152" marR="73152" marT="36576" marB="36576" anchor="ctr">
                    <a:solidFill>
                      <a:srgbClr val="FFFFFF"/>
                    </a:solidFill>
                  </a:tcPr>
                </a:tc>
                <a:tc>
                  <a:txBody>
                    <a:bodyPr wrap="square"/>
                    <a:lstStyle/>
                    <a:p>
                      <a:pPr algn="ctr"/>
                      <a:r>
                        <a:rPr sz="1100" b="0" i="0">
                          <a:solidFill>
                            <a:srgbClr val="14313B"/>
                          </a:solidFill>
                          <a:latin typeface="Calibri (MS)"/>
                        </a:rPr>
                        <a:t>205,09</a:t>
                      </a:r>
                    </a:p>
                  </a:txBody>
                  <a:tcPr marL="73152" marR="73152" marT="36576" marB="36576" anchor="ctr">
                    <a:solidFill>
                      <a:srgbClr val="FFFFFF"/>
                    </a:solidFill>
                  </a:tcPr>
                </a:tc>
                <a:tc>
                  <a:txBody>
                    <a:bodyPr wrap="square"/>
                    <a:lstStyle/>
                    <a:p>
                      <a:pPr algn="ctr"/>
                      <a:r>
                        <a:rPr sz="1100" b="0" i="0">
                          <a:solidFill>
                            <a:srgbClr val="14313B"/>
                          </a:solidFill>
                          <a:latin typeface="Calibri (MS)"/>
                        </a:rPr>
                        <a:t>0</a:t>
                      </a:r>
                    </a:p>
                  </a:txBody>
                  <a:tcPr marL="73152" marR="73152" marT="36576" marB="36576" anchor="ctr">
                    <a:solidFill>
                      <a:srgbClr val="FFFFFF"/>
                    </a:solidFill>
                  </a:tcPr>
                </a:tc>
                <a:tc>
                  <a:txBody>
                    <a:bodyPr wrap="square"/>
                    <a:lstStyle/>
                    <a:p>
                      <a:pPr algn="ctr"/>
                      <a:r>
                        <a:rPr sz="1100" b="0" i="0">
                          <a:solidFill>
                            <a:srgbClr val="14313B"/>
                          </a:solidFill>
                          <a:latin typeface="Calibri (MS)"/>
                        </a:rPr>
                        <a:t>Kekal</a:t>
                      </a:r>
                    </a:p>
                  </a:txBody>
                  <a:tcPr marL="73152" marR="73152" marT="36576" marB="36576" anchor="ctr">
                    <a:solidFill>
                      <a:srgbClr val="C9F0D6"/>
                    </a:solidFill>
                  </a:tcPr>
                </a:tc>
              </a:tr>
              <a:tr h="566928">
                <a:tc>
                  <a:txBody>
                    <a:bodyPr wrap="square"/>
                    <a:lstStyle/>
                    <a:p>
                      <a:r>
                        <a:rPr sz="1100" b="1" i="0">
                          <a:solidFill>
                            <a:srgbClr val="14313B"/>
                          </a:solidFill>
                          <a:latin typeface="Calibri (MS) Bold"/>
                        </a:rPr>
                        <a:t>Tenaga Kerja Pariwisata</a:t>
                      </a:r>
                    </a:p>
                  </a:txBody>
                  <a:tcPr marL="73152" marR="73152" marT="36576" marB="36576" anchor="ctr">
                    <a:solidFill>
                      <a:srgbClr val="EAF8FA"/>
                    </a:solidFill>
                  </a:tcPr>
                </a:tc>
                <a:tc>
                  <a:txBody>
                    <a:bodyPr wrap="square"/>
                    <a:lstStyle/>
                    <a:p>
                      <a:r>
                        <a:rPr sz="1100" b="0" i="0">
                          <a:solidFill>
                            <a:srgbClr val="14313B"/>
                          </a:solidFill>
                          <a:latin typeface="Calibri (MS)"/>
                        </a:rPr>
                        <a:t>Laju Penyerapan</a:t>
                      </a:r>
                    </a:p>
                  </a:txBody>
                  <a:tcPr marL="73152" marR="73152" marT="36576" marB="36576" anchor="ctr">
                    <a:solidFill>
                      <a:srgbClr val="EAF8FA"/>
                    </a:solidFill>
                  </a:tcPr>
                </a:tc>
                <a:tc>
                  <a:txBody>
                    <a:bodyPr wrap="square"/>
                    <a:lstStyle/>
                    <a:p>
                      <a:r>
                        <a:rPr sz="1100" b="0" i="0">
                          <a:solidFill>
                            <a:srgbClr val="14313B"/>
                          </a:solidFill>
                          <a:latin typeface="Calibri (MS)"/>
                        </a:rPr>
                        <a:t>Laju Keluar</a:t>
                      </a:r>
                    </a:p>
                  </a:txBody>
                  <a:tcPr marL="73152" marR="73152" marT="36576" marB="36576" anchor="ctr">
                    <a:solidFill>
                      <a:srgbClr val="EAF8FA"/>
                    </a:solidFill>
                  </a:tcPr>
                </a:tc>
                <a:tc>
                  <a:txBody>
                    <a:bodyPr wrap="square"/>
                    <a:lstStyle/>
                    <a:p>
                      <a:pPr algn="ctr"/>
                      <a:r>
                        <a:rPr sz="1100" b="0" i="0">
                          <a:solidFill>
                            <a:srgbClr val="14313B"/>
                          </a:solidFill>
                          <a:latin typeface="Calibri (MS)"/>
                        </a:rPr>
                        <a:t>364.994</a:t>
                      </a:r>
                    </a:p>
                  </a:txBody>
                  <a:tcPr marL="73152" marR="73152" marT="36576" marB="36576" anchor="ctr">
                    <a:solidFill>
                      <a:srgbClr val="EAF8FA"/>
                    </a:solidFill>
                  </a:tcPr>
                </a:tc>
                <a:tc>
                  <a:txBody>
                    <a:bodyPr wrap="square"/>
                    <a:lstStyle/>
                    <a:p>
                      <a:pPr algn="ctr"/>
                      <a:r>
                        <a:rPr sz="1100" b="0" i="0">
                          <a:solidFill>
                            <a:srgbClr val="14313B"/>
                          </a:solidFill>
                          <a:latin typeface="Calibri (MS)"/>
                        </a:rPr>
                        <a:t>364.994,46</a:t>
                      </a:r>
                    </a:p>
                  </a:txBody>
                  <a:tcPr marL="73152" marR="73152" marT="36576" marB="36576" anchor="ctr">
                    <a:solidFill>
                      <a:srgbClr val="EAF8FA"/>
                    </a:solidFill>
                  </a:tcPr>
                </a:tc>
                <a:tc>
                  <a:txBody>
                    <a:bodyPr wrap="square"/>
                    <a:lstStyle/>
                    <a:p>
                      <a:pPr algn="ctr"/>
                      <a:r>
                        <a:rPr sz="1100" b="0" i="0">
                          <a:solidFill>
                            <a:srgbClr val="14313B"/>
                          </a:solidFill>
                          <a:latin typeface="Calibri (MS)"/>
                        </a:rPr>
                        <a:t>364.994,46</a:t>
                      </a:r>
                    </a:p>
                  </a:txBody>
                  <a:tcPr marL="73152" marR="73152" marT="36576" marB="36576" anchor="ctr">
                    <a:solidFill>
                      <a:srgbClr val="EAF8FA"/>
                    </a:solidFill>
                  </a:tcPr>
                </a:tc>
                <a:tc>
                  <a:txBody>
                    <a:bodyPr wrap="square"/>
                    <a:lstStyle/>
                    <a:p>
                      <a:pPr algn="ctr"/>
                      <a:r>
                        <a:rPr sz="1100" b="0" i="0">
                          <a:solidFill>
                            <a:srgbClr val="14313B"/>
                          </a:solidFill>
                          <a:latin typeface="Calibri (MS)"/>
                        </a:rPr>
                        <a:t>0</a:t>
                      </a:r>
                    </a:p>
                  </a:txBody>
                  <a:tcPr marL="73152" marR="73152" marT="36576" marB="36576" anchor="ctr">
                    <a:solidFill>
                      <a:srgbClr val="EAF8FA"/>
                    </a:solidFill>
                  </a:tcPr>
                </a:tc>
                <a:tc>
                  <a:txBody>
                    <a:bodyPr wrap="square"/>
                    <a:lstStyle/>
                    <a:p>
                      <a:pPr algn="ctr"/>
                      <a:r>
                        <a:rPr sz="1100" b="0" i="0">
                          <a:solidFill>
                            <a:srgbClr val="14313B"/>
                          </a:solidFill>
                          <a:latin typeface="Calibri (MS)"/>
                        </a:rPr>
                        <a:t>Kekal</a:t>
                      </a:r>
                    </a:p>
                  </a:txBody>
                  <a:tcPr marL="73152" marR="73152" marT="36576" marB="36576" anchor="ctr">
                    <a:solidFill>
                      <a:srgbClr val="C9F0D6"/>
                    </a:solidFill>
                  </a:tcPr>
                </a:tc>
              </a:tr>
              <a:tr h="566928">
                <a:tc>
                  <a:txBody>
                    <a:bodyPr wrap="square"/>
                    <a:lstStyle/>
                    <a:p>
                      <a:r>
                        <a:rPr sz="1100" b="1" i="0">
                          <a:solidFill>
                            <a:srgbClr val="14313B"/>
                          </a:solidFill>
                          <a:latin typeface="Calibri (MS) Bold"/>
                        </a:rPr>
                        <a:t>Lahan Terbangun</a:t>
                      </a:r>
                    </a:p>
                  </a:txBody>
                  <a:tcPr marL="73152" marR="73152" marT="36576" marB="36576" anchor="ctr">
                    <a:solidFill>
                      <a:srgbClr val="FFFFFF"/>
                    </a:solidFill>
                  </a:tcPr>
                </a:tc>
                <a:tc>
                  <a:txBody>
                    <a:bodyPr wrap="square"/>
                    <a:lstStyle/>
                    <a:p>
                      <a:r>
                        <a:rPr sz="1100" b="0" i="0">
                          <a:solidFill>
                            <a:srgbClr val="14313B"/>
                          </a:solidFill>
                          <a:latin typeface="Calibri (MS)"/>
                        </a:rPr>
                        <a:t>Konversi Pariwisata + Non-Pariwisata</a:t>
                      </a:r>
                    </a:p>
                  </a:txBody>
                  <a:tcPr marL="73152" marR="73152" marT="36576" marB="36576" anchor="ctr">
                    <a:solidFill>
                      <a:srgbClr val="FFFFFF"/>
                    </a:solidFill>
                  </a:tcPr>
                </a:tc>
                <a:tc>
                  <a:txBody>
                    <a:bodyPr wrap="square"/>
                    <a:lstStyle/>
                    <a:p>
                      <a:r>
                        <a:rPr sz="1100" b="0" i="0">
                          <a:solidFill>
                            <a:srgbClr val="14313B"/>
                          </a:solidFill>
                          <a:latin typeface="Calibri (MS)"/>
                        </a:rPr>
                        <a:t>(tidak ada)</a:t>
                      </a:r>
                    </a:p>
                  </a:txBody>
                  <a:tcPr marL="73152" marR="73152" marT="36576" marB="36576" anchor="ctr">
                    <a:solidFill>
                      <a:srgbClr val="FFFFFF"/>
                    </a:solidFill>
                  </a:tcPr>
                </a:tc>
                <a:tc>
                  <a:txBody>
                    <a:bodyPr wrap="square"/>
                    <a:lstStyle/>
                    <a:p>
                      <a:pPr algn="ctr"/>
                      <a:r>
                        <a:rPr sz="1100" b="0" i="0">
                          <a:solidFill>
                            <a:srgbClr val="14313B"/>
                          </a:solidFill>
                          <a:latin typeface="Calibri (MS)"/>
                        </a:rPr>
                        <a:t>55.029,5</a:t>
                      </a:r>
                    </a:p>
                  </a:txBody>
                  <a:tcPr marL="73152" marR="73152" marT="36576" marB="36576" anchor="ctr">
                    <a:solidFill>
                      <a:srgbClr val="FFFFFF"/>
                    </a:solidFill>
                  </a:tcPr>
                </a:tc>
                <a:tc>
                  <a:txBody>
                    <a:bodyPr wrap="square"/>
                    <a:lstStyle/>
                    <a:p>
                      <a:pPr algn="ctr"/>
                      <a:r>
                        <a:rPr sz="1100" b="0" i="0">
                          <a:solidFill>
                            <a:srgbClr val="14313B"/>
                          </a:solidFill>
                          <a:latin typeface="Calibri (MS)"/>
                        </a:rPr>
                        <a:t>57.035,45</a:t>
                      </a:r>
                    </a:p>
                  </a:txBody>
                  <a:tcPr marL="73152" marR="73152" marT="36576" marB="36576" anchor="ctr">
                    <a:solidFill>
                      <a:srgbClr val="FFFFFF"/>
                    </a:solidFill>
                  </a:tcPr>
                </a:tc>
                <a:tc>
                  <a:txBody>
                    <a:bodyPr wrap="square"/>
                    <a:lstStyle/>
                    <a:p>
                      <a:pPr algn="ctr"/>
                      <a:r>
                        <a:rPr sz="1100" b="0" i="0">
                          <a:solidFill>
                            <a:srgbClr val="14313B"/>
                          </a:solidFill>
                          <a:latin typeface="Calibri (MS)"/>
                        </a:rPr>
                        <a:t>57.035,45</a:t>
                      </a:r>
                    </a:p>
                  </a:txBody>
                  <a:tcPr marL="73152" marR="73152" marT="36576" marB="36576" anchor="ctr">
                    <a:solidFill>
                      <a:srgbClr val="FFFFFF"/>
                    </a:solidFill>
                  </a:tcPr>
                </a:tc>
                <a:tc>
                  <a:txBody>
                    <a:bodyPr wrap="square"/>
                    <a:lstStyle/>
                    <a:p>
                      <a:pPr algn="ctr"/>
                      <a:r>
                        <a:rPr sz="1100" b="0" i="0">
                          <a:solidFill>
                            <a:srgbClr val="14313B"/>
                          </a:solidFill>
                          <a:latin typeface="Calibri (MS)"/>
                        </a:rPr>
                        <a:t>0</a:t>
                      </a:r>
                    </a:p>
                  </a:txBody>
                  <a:tcPr marL="73152" marR="73152" marT="36576" marB="36576" anchor="ctr">
                    <a:solidFill>
                      <a:srgbClr val="FFFFFF"/>
                    </a:solidFill>
                  </a:tcPr>
                </a:tc>
                <a:tc>
                  <a:txBody>
                    <a:bodyPr wrap="square"/>
                    <a:lstStyle/>
                    <a:p>
                      <a:pPr algn="ctr"/>
                      <a:r>
                        <a:rPr sz="1100" b="0" i="0">
                          <a:solidFill>
                            <a:srgbClr val="14313B"/>
                          </a:solidFill>
                          <a:latin typeface="Calibri (MS)"/>
                        </a:rPr>
                        <a:t>Kekal</a:t>
                      </a:r>
                    </a:p>
                  </a:txBody>
                  <a:tcPr marL="73152" marR="73152" marT="36576" marB="36576" anchor="ctr">
                    <a:solidFill>
                      <a:srgbClr val="C9F0D6"/>
                    </a:solidFill>
                  </a:tcPr>
                </a:tc>
              </a:tr>
            </a:tbl>
          </a:graphicData>
        </a:graphic>
      </p:graphicFrame>
      <p:sp>
        <p:nvSpPr>
          <p:cNvPr id="30" name="Rounded Rectangle 29"/>
          <p:cNvSpPr/>
          <p:nvPr/>
        </p:nvSpPr>
        <p:spPr>
          <a:xfrm>
            <a:off x="822960" y="7315200"/>
            <a:ext cx="16642080" cy="9601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Kelima stok kekal di seluruh periode: tidak ada isi stok yang muncul atau hilang tanpa lewat aliran. *Nilai awal wisatawan di berkas Vensim tercatat 40.695.700 (dibulatkan dari 40.695.654 BPS); pembulatan ini tidak memengaruhi pemeriksaan karena yang diuji adalah selisih antartahun.</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dan 4.4.3 (Tabel 40); hasil_uji_loop_dan_kekekalan.xlsx.</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42 · Uji Loop Umpan Balik (1/2): Rancangan dan Nilai 2050</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Satu loop dimatikan pada satu waktu dengan menahan variabel penutupnya pada nilai tahun dasar</a:t>
            </a:r>
          </a:p>
        </p:txBody>
      </p:sp>
      <p:graphicFrame>
        <p:nvGraphicFramePr>
          <p:cNvPr id="27" name="Table 26"/>
          <p:cNvGraphicFramePr>
            <a:graphicFrameLocks noGrp="1"/>
          </p:cNvGraphicFramePr>
          <p:nvPr/>
        </p:nvGraphicFramePr>
        <p:xfrm>
          <a:off x="822960" y="1874519"/>
          <a:ext cx="8229600" cy="3520440"/>
        </p:xfrm>
        <a:graphic>
          <a:graphicData uri="http://schemas.openxmlformats.org/drawingml/2006/table">
            <a:tbl>
              <a:tblPr firstRow="1" bandRow="1">
                <a:tableStyleId>{5C22544A-7EE6-4342-B048-85BDC9FD1C3A}</a:tableStyleId>
              </a:tblPr>
              <a:tblGrid>
                <a:gridCol w="2468880"/>
                <a:gridCol w="2560320"/>
                <a:gridCol w="3200400"/>
              </a:tblGrid>
              <a:tr h="502920">
                <a:tc>
                  <a:txBody>
                    <a:bodyPr wrap="square"/>
                    <a:lstStyle/>
                    <a:p>
                      <a:r>
                        <a:rPr sz="1050" b="1" i="0">
                          <a:solidFill>
                            <a:srgbClr val="FFFFFF"/>
                          </a:solidFill>
                          <a:latin typeface="Calibri (MS) Bold"/>
                        </a:rPr>
                        <a:t>Loop dimatikan</a:t>
                      </a:r>
                    </a:p>
                  </a:txBody>
                  <a:tcPr marL="73152" marR="73152" marT="36576" marB="36576" anchor="ctr">
                    <a:solidFill>
                      <a:srgbClr val="0B5E6E"/>
                    </a:solidFill>
                  </a:tcPr>
                </a:tc>
                <a:tc>
                  <a:txBody>
                    <a:bodyPr wrap="square"/>
                    <a:lstStyle/>
                    <a:p>
                      <a:r>
                        <a:rPr sz="1050" b="1" i="0">
                          <a:solidFill>
                            <a:srgbClr val="FFFFFF"/>
                          </a:solidFill>
                          <a:latin typeface="Calibri (MS) Bold"/>
                        </a:rPr>
                        <a:t>Variabel ditahan</a:t>
                      </a:r>
                    </a:p>
                  </a:txBody>
                  <a:tcPr marL="73152" marR="73152" marT="36576" marB="36576" anchor="ctr">
                    <a:solidFill>
                      <a:srgbClr val="0B5E6E"/>
                    </a:solidFill>
                  </a:tcPr>
                </a:tc>
                <a:tc>
                  <a:txBody>
                    <a:bodyPr wrap="square"/>
                    <a:lstStyle/>
                    <a:p>
                      <a:r>
                        <a:rPr sz="1050" b="1" i="0">
                          <a:solidFill>
                            <a:srgbClr val="FFFFFF"/>
                          </a:solidFill>
                          <a:latin typeface="Calibri (MS) Bold"/>
                        </a:rPr>
                        <a:t>Yang diputus</a:t>
                      </a:r>
                    </a:p>
                  </a:txBody>
                  <a:tcPr marL="73152" marR="73152" marT="36576" marB="36576" anchor="ctr">
                    <a:solidFill>
                      <a:srgbClr val="0B5E6E"/>
                    </a:solidFill>
                  </a:tcPr>
                </a:tc>
              </a:tr>
              <a:tr h="502920">
                <a:tc>
                  <a:txBody>
                    <a:bodyPr wrap="square"/>
                    <a:lstStyle/>
                    <a:p>
                      <a:r>
                        <a:rPr sz="1050" b="1" i="0">
                          <a:solidFill>
                            <a:srgbClr val="14313B"/>
                          </a:solidFill>
                          <a:latin typeface="Calibri (MS) Bold"/>
                        </a:rPr>
                        <a:t>B1 kepadatan</a:t>
                      </a:r>
                    </a:p>
                  </a:txBody>
                  <a:tcPr marL="73152" marR="73152" marT="36576" marB="36576" anchor="ctr">
                    <a:solidFill>
                      <a:srgbClr val="FFFFFF"/>
                    </a:solidFill>
                  </a:tcPr>
                </a:tc>
                <a:tc>
                  <a:txBody>
                    <a:bodyPr wrap="square"/>
                    <a:lstStyle/>
                    <a:p>
                      <a:r>
                        <a:rPr sz="1050" b="0" i="0">
                          <a:solidFill>
                            <a:srgbClr val="14313B"/>
                          </a:solidFill>
                          <a:latin typeface="Calibri (MS)"/>
                        </a:rPr>
                        <a:t>Kepadatan Wisatawan</a:t>
                      </a:r>
                    </a:p>
                  </a:txBody>
                  <a:tcPr marL="73152" marR="73152" marT="36576" marB="36576" anchor="ctr">
                    <a:solidFill>
                      <a:srgbClr val="FFFFFF"/>
                    </a:solidFill>
                  </a:tcPr>
                </a:tc>
                <a:tc>
                  <a:txBody>
                    <a:bodyPr wrap="square"/>
                    <a:lstStyle/>
                    <a:p>
                      <a:r>
                        <a:rPr sz="1050" b="0" i="0">
                          <a:solidFill>
                            <a:srgbClr val="14313B"/>
                          </a:solidFill>
                          <a:latin typeface="Calibri (MS)"/>
                        </a:rPr>
                        <a:t>Wisatawan → Kepadatan → Daya Tarik</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B2 daya dukung lahan</a:t>
                      </a:r>
                    </a:p>
                  </a:txBody>
                  <a:tcPr marL="73152" marR="73152" marT="36576" marB="36576" anchor="ctr">
                    <a:solidFill>
                      <a:srgbClr val="EAF8FA"/>
                    </a:solidFill>
                  </a:tcPr>
                </a:tc>
                <a:tc>
                  <a:txBody>
                    <a:bodyPr wrap="square"/>
                    <a:lstStyle/>
                    <a:p>
                      <a:r>
                        <a:rPr sz="1050" b="0" i="0">
                          <a:solidFill>
                            <a:srgbClr val="14313B"/>
                          </a:solidFill>
                          <a:latin typeface="Calibri (MS)"/>
                        </a:rPr>
                        <a:t>Rasio Daya Dukung Lahan</a:t>
                      </a:r>
                    </a:p>
                  </a:txBody>
                  <a:tcPr marL="73152" marR="73152" marT="36576" marB="36576" anchor="ctr">
                    <a:solidFill>
                      <a:srgbClr val="EAF8FA"/>
                    </a:solidFill>
                  </a:tcPr>
                </a:tc>
                <a:tc>
                  <a:txBody>
                    <a:bodyPr wrap="square"/>
                    <a:lstStyle/>
                    <a:p>
                      <a:r>
                        <a:rPr sz="1050" b="0" i="0">
                          <a:solidFill>
                            <a:srgbClr val="14313B"/>
                          </a:solidFill>
                          <a:latin typeface="Calibri (MS)"/>
                        </a:rPr>
                        <a:t>Lahan → RDDL → Daya Tarik dan konversi</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R2 ekonomi–atraksi</a:t>
                      </a:r>
                    </a:p>
                  </a:txBody>
                  <a:tcPr marL="73152" marR="73152" marT="36576" marB="36576" anchor="ctr">
                    <a:solidFill>
                      <a:srgbClr val="FFFFFF"/>
                    </a:solidFill>
                  </a:tcPr>
                </a:tc>
                <a:tc>
                  <a:txBody>
                    <a:bodyPr wrap="square"/>
                    <a:lstStyle/>
                    <a:p>
                      <a:r>
                        <a:rPr sz="1050" b="0" i="0">
                          <a:solidFill>
                            <a:srgbClr val="14313B"/>
                          </a:solidFill>
                          <a:latin typeface="Calibri (MS)"/>
                        </a:rPr>
                        <a:t>Jumlah ODTW</a:t>
                      </a:r>
                    </a:p>
                  </a:txBody>
                  <a:tcPr marL="73152" marR="73152" marT="36576" marB="36576" anchor="ctr">
                    <a:solidFill>
                      <a:srgbClr val="FFFFFF"/>
                    </a:solidFill>
                  </a:tcPr>
                </a:tc>
                <a:tc>
                  <a:txBody>
                    <a:bodyPr wrap="square"/>
                    <a:lstStyle/>
                    <a:p>
                      <a:r>
                        <a:rPr sz="1050" b="0" i="0">
                          <a:solidFill>
                            <a:srgbClr val="14313B"/>
                          </a:solidFill>
                          <a:latin typeface="Calibri (MS)"/>
                        </a:rPr>
                        <a:t>Investasi → ODTW → Daya Tarik</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B3 okupansi hotel</a:t>
                      </a:r>
                    </a:p>
                  </a:txBody>
                  <a:tcPr marL="73152" marR="73152" marT="36576" marB="36576" anchor="ctr">
                    <a:solidFill>
                      <a:srgbClr val="EAF8FA"/>
                    </a:solidFill>
                  </a:tcPr>
                </a:tc>
                <a:tc>
                  <a:txBody>
                    <a:bodyPr wrap="square"/>
                    <a:lstStyle/>
                    <a:p>
                      <a:r>
                        <a:rPr sz="1050" b="0" i="0">
                          <a:solidFill>
                            <a:srgbClr val="14313B"/>
                          </a:solidFill>
                          <a:latin typeface="Calibri (MS)"/>
                        </a:rPr>
                        <a:t>Rasio Permintaan thd Kapasitas</a:t>
                      </a:r>
                    </a:p>
                  </a:txBody>
                  <a:tcPr marL="73152" marR="73152" marT="36576" marB="36576" anchor="ctr">
                    <a:solidFill>
                      <a:srgbClr val="EAF8FA"/>
                    </a:solidFill>
                  </a:tcPr>
                </a:tc>
                <a:tc>
                  <a:txBody>
                    <a:bodyPr wrap="square"/>
                    <a:lstStyle/>
                    <a:p>
                      <a:r>
                        <a:rPr sz="1050" b="0" i="0">
                          <a:solidFill>
                            <a:srgbClr val="14313B"/>
                          </a:solidFill>
                          <a:latin typeface="Calibri (MS)"/>
                        </a:rPr>
                        <a:t>Hotel → Rasio Permintaan → Konstruksi</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B4 goal-seeking TK</a:t>
                      </a:r>
                    </a:p>
                  </a:txBody>
                  <a:tcPr marL="73152" marR="73152" marT="36576" marB="36576" anchor="ctr">
                    <a:solidFill>
                      <a:srgbClr val="FFFFFF"/>
                    </a:solidFill>
                  </a:tcPr>
                </a:tc>
                <a:tc>
                  <a:txBody>
                    <a:bodyPr wrap="square"/>
                    <a:lstStyle/>
                    <a:p>
                      <a:r>
                        <a:rPr sz="1050" b="0" i="0">
                          <a:solidFill>
                            <a:srgbClr val="14313B"/>
                          </a:solidFill>
                          <a:latin typeface="Calibri (MS)"/>
                        </a:rPr>
                        <a:t>Tenaga Kerja Dibutuhkan</a:t>
                      </a:r>
                    </a:p>
                  </a:txBody>
                  <a:tcPr marL="73152" marR="73152" marT="36576" marB="36576" anchor="ctr">
                    <a:solidFill>
                      <a:srgbClr val="FFFFFF"/>
                    </a:solidFill>
                  </a:tcPr>
                </a:tc>
                <a:tc>
                  <a:txBody>
                    <a:bodyPr wrap="square"/>
                    <a:lstStyle/>
                    <a:p>
                      <a:r>
                        <a:rPr sz="1050" b="0" i="0">
                          <a:solidFill>
                            <a:srgbClr val="14313B"/>
                          </a:solidFill>
                          <a:latin typeface="Calibri (MS)"/>
                        </a:rPr>
                        <a:t>Selisih kebutuhan → Penyerapan</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Semua rem mati (R1 murni)</a:t>
                      </a:r>
                    </a:p>
                  </a:txBody>
                  <a:tcPr marL="73152" marR="73152" marT="36576" marB="36576" anchor="ctr">
                    <a:solidFill>
                      <a:srgbClr val="EAF8FA"/>
                    </a:solidFill>
                  </a:tcPr>
                </a:tc>
                <a:tc>
                  <a:txBody>
                    <a:bodyPr wrap="square"/>
                    <a:lstStyle/>
                    <a:p>
                      <a:r>
                        <a:rPr sz="1050" b="0" i="0">
                          <a:solidFill>
                            <a:srgbClr val="14313B"/>
                          </a:solidFill>
                          <a:latin typeface="Calibri (MS)"/>
                        </a:rPr>
                        <a:t>Daya Tarik = 1</a:t>
                      </a:r>
                    </a:p>
                  </a:txBody>
                  <a:tcPr marL="73152" marR="73152" marT="36576" marB="36576" anchor="ctr">
                    <a:solidFill>
                      <a:srgbClr val="EAF8FA"/>
                    </a:solidFill>
                  </a:tcPr>
                </a:tc>
                <a:tc>
                  <a:txBody>
                    <a:bodyPr wrap="square"/>
                    <a:lstStyle/>
                    <a:p>
                      <a:r>
                        <a:rPr sz="1050" b="0" i="0">
                          <a:solidFill>
                            <a:srgbClr val="14313B"/>
                          </a:solidFill>
                          <a:latin typeface="Calibri (MS)"/>
                        </a:rPr>
                        <a:t>Seluruh rem sekaligus</a:t>
                      </a:r>
                    </a:p>
                  </a:txBody>
                  <a:tcPr marL="73152" marR="73152" marT="36576" marB="36576" anchor="ctr">
                    <a:solidFill>
                      <a:srgbClr val="EAF8FA"/>
                    </a:solidFill>
                  </a:tcPr>
                </a:tc>
              </a:tr>
            </a:tbl>
          </a:graphicData>
        </a:graphic>
      </p:graphicFrame>
      <p:sp>
        <p:nvSpPr>
          <p:cNvPr id="28" name="Rounded Rectangle 27"/>
          <p:cNvSpPr/>
          <p:nvPr/>
        </p:nvSpPr>
        <p:spPr>
          <a:xfrm>
            <a:off x="9326880" y="1874519"/>
            <a:ext cx="8138160" cy="10972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50" b="0" i="1">
                <a:solidFill>
                  <a:srgbClr val="14313B"/>
                </a:solidFill>
                <a:latin typeface="Calibri (MS)"/>
              </a:rPr>
              <a:t>Selisih % = (X_mati,2050 − X_dasar,2050) ÷ X_dasar,2050 × 100%</a:t>
            </a:r>
          </a:p>
          <a:p>
            <a:pPr algn="l">
              <a:spcAft>
                <a:spcPts val="300"/>
              </a:spcAft>
            </a:pPr>
            <a:r>
              <a:rPr sz="1250" b="0" i="1">
                <a:solidFill>
                  <a:srgbClr val="14313B"/>
                </a:solidFill>
                <a:latin typeface="Calibri (MS)"/>
              </a:rPr>
              <a:t>Penggantian hanya saat simulasi dijalankan;</a:t>
            </a:r>
            <a:r>
              <a:rPr sz="1000" b="0" i="0">
                <a:solidFill>
                  <a:srgbClr val="5E6E78"/>
                </a:solidFill>
                <a:latin typeface="Calibri (MS)"/>
              </a:rPr>
              <a:t> struktur model tidak diubah.</a:t>
            </a:r>
          </a:p>
        </p:txBody>
      </p:sp>
      <p:sp>
        <p:nvSpPr>
          <p:cNvPr id="29" name="Rounded Rectangle 28"/>
          <p:cNvSpPr/>
          <p:nvPr/>
        </p:nvSpPr>
        <p:spPr>
          <a:xfrm>
            <a:off x="9326880" y="3154680"/>
            <a:ext cx="8138160"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Cara membaca</a:t>
            </a:r>
          </a:p>
          <a:p>
            <a:pPr algn="l">
              <a:spcAft>
                <a:spcPts val="300"/>
              </a:spcAft>
            </a:pPr>
            <a:r>
              <a:rPr sz="1100" b="0" i="0">
                <a:solidFill>
                  <a:srgbClr val="14313B"/>
                </a:solidFill>
                <a:latin typeface="Calibri (MS)"/>
              </a:rPr>
              <a:t>Loop balancing (B) yang dimatikan seharusnya membuat pertumbuhan lebih cepat (selisih positif).</a:t>
            </a:r>
          </a:p>
          <a:p>
            <a:pPr algn="l">
              <a:spcAft>
                <a:spcPts val="300"/>
              </a:spcAft>
            </a:pPr>
            <a:r>
              <a:rPr sz="1100" b="0" i="0">
                <a:solidFill>
                  <a:srgbClr val="14313B"/>
                </a:solidFill>
                <a:latin typeface="Calibri (MS)"/>
              </a:rPr>
              <a:t>Loop reinforcing (R) yang dimatikan seharusnya membuat pertumbuhan lebih lambat (selisih negatif).</a:t>
            </a:r>
          </a:p>
          <a:p>
            <a:pPr algn="l">
              <a:spcAft>
                <a:spcPts val="300"/>
              </a:spcAft>
            </a:pPr>
            <a:r>
              <a:rPr sz="1100" b="0" i="0">
                <a:solidFill>
                  <a:srgbClr val="14313B"/>
                </a:solidFill>
                <a:latin typeface="Calibri (MS)"/>
              </a:rPr>
              <a:t>Loop dianggap berjangkauan luas bila mengubah lebih dari 1% pada banyak variabel.</a:t>
            </a:r>
          </a:p>
        </p:txBody>
      </p:sp>
      <p:graphicFrame>
        <p:nvGraphicFramePr>
          <p:cNvPr id="30" name="Table 29"/>
          <p:cNvGraphicFramePr>
            <a:graphicFrameLocks noGrp="1"/>
          </p:cNvGraphicFramePr>
          <p:nvPr/>
        </p:nvGraphicFramePr>
        <p:xfrm>
          <a:off x="822960" y="5669280"/>
          <a:ext cx="16642080" cy="3072384"/>
        </p:xfrm>
        <a:graphic>
          <a:graphicData uri="http://schemas.openxmlformats.org/drawingml/2006/table">
            <a:tbl>
              <a:tblPr firstRow="1" bandRow="1">
                <a:tableStyleId>{5C22544A-7EE6-4342-B048-85BDC9FD1C3A}</a:tableStyleId>
              </a:tblPr>
              <a:tblGrid>
                <a:gridCol w="4754880"/>
                <a:gridCol w="2103120"/>
                <a:gridCol w="1920240"/>
                <a:gridCol w="1828800"/>
                <a:gridCol w="1920240"/>
                <a:gridCol w="2103120"/>
                <a:gridCol w="2011680"/>
              </a:tblGrid>
              <a:tr h="384048">
                <a:tc>
                  <a:txBody>
                    <a:bodyPr wrap="square"/>
                    <a:lstStyle/>
                    <a:p>
                      <a:r>
                        <a:rPr sz="1100" b="1" i="0">
                          <a:solidFill>
                            <a:srgbClr val="FFFFFF"/>
                          </a:solidFill>
                          <a:latin typeface="Calibri (MS) Bold"/>
                        </a:rPr>
                        <a:t>Kondisi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Wisatawan (juta)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Hotel (unit)</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ODTW (unit)</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TK (ribu)</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Lahan (ha)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Daya Tarik</a:t>
                      </a:r>
                    </a:p>
                  </a:txBody>
                  <a:tcPr marL="73152" marR="73152" marT="36576" marB="36576" anchor="ctr">
                    <a:solidFill>
                      <a:srgbClr val="0B5E6E"/>
                    </a:solidFill>
                  </a:tcPr>
                </a:tc>
              </a:tr>
              <a:tr h="384048">
                <a:tc>
                  <a:txBody>
                    <a:bodyPr wrap="square"/>
                    <a:lstStyle/>
                    <a:p>
                      <a:r>
                        <a:rPr sz="1100" b="1" i="0">
                          <a:solidFill>
                            <a:srgbClr val="14313B"/>
                          </a:solidFill>
                          <a:latin typeface="Calibri (MS) Bold"/>
                        </a:rPr>
                        <a:t>Simulasi dasar (semua loop aktif)</a:t>
                      </a:r>
                    </a:p>
                  </a:txBody>
                  <a:tcPr marL="73152" marR="73152" marT="36576" marB="36576" anchor="ctr">
                    <a:solidFill>
                      <a:srgbClr val="EAF8FA"/>
                    </a:solidFill>
                  </a:tcPr>
                </a:tc>
                <a:tc>
                  <a:txBody>
                    <a:bodyPr wrap="square"/>
                    <a:lstStyle/>
                    <a:p>
                      <a:pPr algn="ctr"/>
                      <a:r>
                        <a:rPr sz="1100" b="0" i="0">
                          <a:solidFill>
                            <a:srgbClr val="14313B"/>
                          </a:solidFill>
                          <a:latin typeface="Calibri (MS)"/>
                        </a:rPr>
                        <a:t>96,20</a:t>
                      </a:r>
                    </a:p>
                  </a:txBody>
                  <a:tcPr marL="73152" marR="73152" marT="36576" marB="36576" anchor="ctr">
                    <a:solidFill>
                      <a:srgbClr val="EAF8FA"/>
                    </a:solidFill>
                  </a:tcPr>
                </a:tc>
                <a:tc>
                  <a:txBody>
                    <a:bodyPr wrap="square"/>
                    <a:lstStyle/>
                    <a:p>
                      <a:pPr algn="ctr"/>
                      <a:r>
                        <a:rPr sz="1100" b="0" i="0">
                          <a:solidFill>
                            <a:srgbClr val="14313B"/>
                          </a:solidFill>
                          <a:latin typeface="Calibri (MS)"/>
                        </a:rPr>
                        <a:t>5.404</a:t>
                      </a:r>
                    </a:p>
                  </a:txBody>
                  <a:tcPr marL="73152" marR="73152" marT="36576" marB="36576" anchor="ctr">
                    <a:solidFill>
                      <a:srgbClr val="EAF8FA"/>
                    </a:solidFill>
                  </a:tcPr>
                </a:tc>
                <a:tc>
                  <a:txBody>
                    <a:bodyPr wrap="square"/>
                    <a:lstStyle/>
                    <a:p>
                      <a:pPr algn="ctr"/>
                      <a:r>
                        <a:rPr sz="1100" b="0" i="0">
                          <a:solidFill>
                            <a:srgbClr val="14313B"/>
                          </a:solidFill>
                          <a:latin typeface="Calibri (MS)"/>
                        </a:rPr>
                        <a:t>367</a:t>
                      </a:r>
                    </a:p>
                  </a:txBody>
                  <a:tcPr marL="73152" marR="73152" marT="36576" marB="36576" anchor="ctr">
                    <a:solidFill>
                      <a:srgbClr val="EAF8FA"/>
                    </a:solidFill>
                  </a:tcPr>
                </a:tc>
                <a:tc>
                  <a:txBody>
                    <a:bodyPr wrap="square"/>
                    <a:lstStyle/>
                    <a:p>
                      <a:pPr algn="ctr"/>
                      <a:r>
                        <a:rPr sz="1100" b="0" i="0">
                          <a:solidFill>
                            <a:srgbClr val="14313B"/>
                          </a:solidFill>
                          <a:latin typeface="Calibri (MS)"/>
                        </a:rPr>
                        <a:t>650,36</a:t>
                      </a:r>
                    </a:p>
                  </a:txBody>
                  <a:tcPr marL="73152" marR="73152" marT="36576" marB="36576" anchor="ctr">
                    <a:solidFill>
                      <a:srgbClr val="EAF8FA"/>
                    </a:solidFill>
                  </a:tcPr>
                </a:tc>
                <a:tc>
                  <a:txBody>
                    <a:bodyPr wrap="square"/>
                    <a:lstStyle/>
                    <a:p>
                      <a:pPr algn="ctr"/>
                      <a:r>
                        <a:rPr sz="1100" b="0" i="0">
                          <a:solidFill>
                            <a:srgbClr val="14313B"/>
                          </a:solidFill>
                          <a:latin typeface="Calibri (MS)"/>
                        </a:rPr>
                        <a:t>122.208</a:t>
                      </a:r>
                    </a:p>
                  </a:txBody>
                  <a:tcPr marL="73152" marR="73152" marT="36576" marB="36576" anchor="ctr">
                    <a:solidFill>
                      <a:srgbClr val="EAF8FA"/>
                    </a:solidFill>
                  </a:tcPr>
                </a:tc>
                <a:tc>
                  <a:txBody>
                    <a:bodyPr wrap="square"/>
                    <a:lstStyle/>
                    <a:p>
                      <a:pPr algn="ctr"/>
                      <a:r>
                        <a:rPr sz="1100" b="0" i="0">
                          <a:solidFill>
                            <a:srgbClr val="14313B"/>
                          </a:solidFill>
                          <a:latin typeface="Calibri (MS)"/>
                        </a:rPr>
                        <a:t>0,8132</a:t>
                      </a:r>
                    </a:p>
                  </a:txBody>
                  <a:tcPr marL="73152" marR="73152" marT="36576" marB="36576" anchor="ctr">
                    <a:solidFill>
                      <a:srgbClr val="EAF8FA"/>
                    </a:solidFill>
                  </a:tcPr>
                </a:tc>
              </a:tr>
              <a:tr h="384048">
                <a:tc>
                  <a:txBody>
                    <a:bodyPr wrap="square"/>
                    <a:lstStyle/>
                    <a:p>
                      <a:r>
                        <a:rPr sz="1100" b="1" i="0">
                          <a:solidFill>
                            <a:srgbClr val="14313B"/>
                          </a:solidFill>
                          <a:latin typeface="Calibri (MS) Bold"/>
                        </a:rPr>
                        <a:t>B1 kepadatan dimatikan</a:t>
                      </a:r>
                    </a:p>
                  </a:txBody>
                  <a:tcPr marL="73152" marR="73152" marT="36576" marB="36576" anchor="ctr">
                    <a:solidFill>
                      <a:srgbClr val="EAF8FA"/>
                    </a:solidFill>
                  </a:tcPr>
                </a:tc>
                <a:tc>
                  <a:txBody>
                    <a:bodyPr wrap="square"/>
                    <a:lstStyle/>
                    <a:p>
                      <a:pPr algn="ctr"/>
                      <a:r>
                        <a:rPr sz="1100" b="0" i="0">
                          <a:solidFill>
                            <a:srgbClr val="14313B"/>
                          </a:solidFill>
                          <a:latin typeface="Calibri (MS)"/>
                        </a:rPr>
                        <a:t>250,32</a:t>
                      </a:r>
                    </a:p>
                  </a:txBody>
                  <a:tcPr marL="73152" marR="73152" marT="36576" marB="36576" anchor="ctr">
                    <a:solidFill>
                      <a:srgbClr val="EAF8FA"/>
                    </a:solidFill>
                  </a:tcPr>
                </a:tc>
                <a:tc>
                  <a:txBody>
                    <a:bodyPr wrap="square"/>
                    <a:lstStyle/>
                    <a:p>
                      <a:pPr algn="ctr"/>
                      <a:r>
                        <a:rPr sz="1100" b="0" i="0">
                          <a:solidFill>
                            <a:srgbClr val="14313B"/>
                          </a:solidFill>
                          <a:latin typeface="Calibri (MS)"/>
                        </a:rPr>
                        <a:t>12.151</a:t>
                      </a:r>
                    </a:p>
                  </a:txBody>
                  <a:tcPr marL="73152" marR="73152" marT="36576" marB="36576" anchor="ctr">
                    <a:solidFill>
                      <a:srgbClr val="EAF8FA"/>
                    </a:solidFill>
                  </a:tcPr>
                </a:tc>
                <a:tc>
                  <a:txBody>
                    <a:bodyPr wrap="square"/>
                    <a:lstStyle/>
                    <a:p>
                      <a:pPr algn="ctr"/>
                      <a:r>
                        <a:rPr sz="1100" b="0" i="0">
                          <a:solidFill>
                            <a:srgbClr val="14313B"/>
                          </a:solidFill>
                          <a:latin typeface="Calibri (MS)"/>
                        </a:rPr>
                        <a:t>528</a:t>
                      </a:r>
                    </a:p>
                  </a:txBody>
                  <a:tcPr marL="73152" marR="73152" marT="36576" marB="36576" anchor="ctr">
                    <a:solidFill>
                      <a:srgbClr val="EAF8FA"/>
                    </a:solidFill>
                  </a:tcPr>
                </a:tc>
                <a:tc>
                  <a:txBody>
                    <a:bodyPr wrap="square"/>
                    <a:lstStyle/>
                    <a:p>
                      <a:pPr algn="ctr"/>
                      <a:r>
                        <a:rPr sz="1100" b="0" i="0">
                          <a:solidFill>
                            <a:srgbClr val="14313B"/>
                          </a:solidFill>
                          <a:latin typeface="Calibri (MS)"/>
                        </a:rPr>
                        <a:t>1.585,46</a:t>
                      </a:r>
                    </a:p>
                  </a:txBody>
                  <a:tcPr marL="73152" marR="73152" marT="36576" marB="36576" anchor="ctr">
                    <a:solidFill>
                      <a:srgbClr val="EAF8FA"/>
                    </a:solidFill>
                  </a:tcPr>
                </a:tc>
                <a:tc>
                  <a:txBody>
                    <a:bodyPr wrap="square"/>
                    <a:lstStyle/>
                    <a:p>
                      <a:pPr algn="ctr"/>
                      <a:r>
                        <a:rPr sz="1100" b="0" i="0">
                          <a:solidFill>
                            <a:srgbClr val="14313B"/>
                          </a:solidFill>
                          <a:latin typeface="Calibri (MS)"/>
                        </a:rPr>
                        <a:t>123.070</a:t>
                      </a:r>
                    </a:p>
                  </a:txBody>
                  <a:tcPr marL="73152" marR="73152" marT="36576" marB="36576" anchor="ctr">
                    <a:solidFill>
                      <a:srgbClr val="EAF8FA"/>
                    </a:solidFill>
                  </a:tcPr>
                </a:tc>
                <a:tc>
                  <a:txBody>
                    <a:bodyPr wrap="square"/>
                    <a:lstStyle/>
                    <a:p>
                      <a:pPr algn="ctr"/>
                      <a:r>
                        <a:rPr sz="1100" b="0" i="0">
                          <a:solidFill>
                            <a:srgbClr val="14313B"/>
                          </a:solidFill>
                          <a:latin typeface="Calibri (MS)"/>
                        </a:rPr>
                        <a:t>1,0696</a:t>
                      </a:r>
                    </a:p>
                  </a:txBody>
                  <a:tcPr marL="73152" marR="73152" marT="36576" marB="36576" anchor="ctr">
                    <a:solidFill>
                      <a:srgbClr val="EAF8FA"/>
                    </a:solidFill>
                  </a:tcPr>
                </a:tc>
              </a:tr>
              <a:tr h="384048">
                <a:tc>
                  <a:txBody>
                    <a:bodyPr wrap="square"/>
                    <a:lstStyle/>
                    <a:p>
                      <a:r>
                        <a:rPr sz="1100" b="1" i="0">
                          <a:solidFill>
                            <a:srgbClr val="14313B"/>
                          </a:solidFill>
                          <a:latin typeface="Calibri (MS) Bold"/>
                        </a:rPr>
                        <a:t>B2 daya dukung lahan dimatikan</a:t>
                      </a:r>
                    </a:p>
                  </a:txBody>
                  <a:tcPr marL="73152" marR="73152" marT="36576" marB="36576" anchor="ctr">
                    <a:solidFill>
                      <a:srgbClr val="FFFFFF"/>
                    </a:solidFill>
                  </a:tcPr>
                </a:tc>
                <a:tc>
                  <a:txBody>
                    <a:bodyPr wrap="square"/>
                    <a:lstStyle/>
                    <a:p>
                      <a:pPr algn="ctr"/>
                      <a:r>
                        <a:rPr sz="1100" b="0" i="0">
                          <a:solidFill>
                            <a:srgbClr val="14313B"/>
                          </a:solidFill>
                          <a:latin typeface="Calibri (MS)"/>
                        </a:rPr>
                        <a:t>111,66</a:t>
                      </a:r>
                    </a:p>
                  </a:txBody>
                  <a:tcPr marL="73152" marR="73152" marT="36576" marB="36576" anchor="ctr">
                    <a:solidFill>
                      <a:srgbClr val="FFFFFF"/>
                    </a:solidFill>
                  </a:tcPr>
                </a:tc>
                <a:tc>
                  <a:txBody>
                    <a:bodyPr wrap="square"/>
                    <a:lstStyle/>
                    <a:p>
                      <a:pPr algn="ctr"/>
                      <a:r>
                        <a:rPr sz="1100" b="0" i="0">
                          <a:solidFill>
                            <a:srgbClr val="14313B"/>
                          </a:solidFill>
                          <a:latin typeface="Calibri (MS)"/>
                        </a:rPr>
                        <a:t>6.081</a:t>
                      </a:r>
                    </a:p>
                  </a:txBody>
                  <a:tcPr marL="73152" marR="73152" marT="36576" marB="36576" anchor="ctr">
                    <a:solidFill>
                      <a:srgbClr val="FFFFFF"/>
                    </a:solidFill>
                  </a:tcPr>
                </a:tc>
                <a:tc>
                  <a:txBody>
                    <a:bodyPr wrap="square"/>
                    <a:lstStyle/>
                    <a:p>
                      <a:pPr algn="ctr"/>
                      <a:r>
                        <a:rPr sz="1100" b="0" i="0">
                          <a:solidFill>
                            <a:srgbClr val="14313B"/>
                          </a:solidFill>
                          <a:latin typeface="Calibri (MS)"/>
                        </a:rPr>
                        <a:t>384</a:t>
                      </a:r>
                    </a:p>
                  </a:txBody>
                  <a:tcPr marL="73152" marR="73152" marT="36576" marB="36576" anchor="ctr">
                    <a:solidFill>
                      <a:srgbClr val="FFFFFF"/>
                    </a:solidFill>
                  </a:tcPr>
                </a:tc>
                <a:tc>
                  <a:txBody>
                    <a:bodyPr wrap="square"/>
                    <a:lstStyle/>
                    <a:p>
                      <a:pPr algn="ctr"/>
                      <a:r>
                        <a:rPr sz="1100" b="0" i="0">
                          <a:solidFill>
                            <a:srgbClr val="14313B"/>
                          </a:solidFill>
                          <a:latin typeface="Calibri (MS)"/>
                        </a:rPr>
                        <a:t>745,26</a:t>
                      </a:r>
                    </a:p>
                  </a:txBody>
                  <a:tcPr marL="73152" marR="73152" marT="36576" marB="36576" anchor="ctr">
                    <a:solidFill>
                      <a:srgbClr val="FFFFFF"/>
                    </a:solidFill>
                  </a:tcPr>
                </a:tc>
                <a:tc>
                  <a:txBody>
                    <a:bodyPr wrap="square"/>
                    <a:lstStyle/>
                    <a:p>
                      <a:pPr algn="ctr"/>
                      <a:r>
                        <a:rPr sz="1100" b="0" i="0">
                          <a:solidFill>
                            <a:srgbClr val="14313B"/>
                          </a:solidFill>
                          <a:latin typeface="Calibri (MS)"/>
                        </a:rPr>
                        <a:t>135.035</a:t>
                      </a:r>
                    </a:p>
                  </a:txBody>
                  <a:tcPr marL="73152" marR="73152" marT="36576" marB="36576" anchor="ctr">
                    <a:solidFill>
                      <a:srgbClr val="FFFFFF"/>
                    </a:solidFill>
                  </a:tcPr>
                </a:tc>
                <a:tc>
                  <a:txBody>
                    <a:bodyPr wrap="square"/>
                    <a:lstStyle/>
                    <a:p>
                      <a:pPr algn="ctr"/>
                      <a:r>
                        <a:rPr sz="1100" b="0" i="0">
                          <a:solidFill>
                            <a:srgbClr val="14313B"/>
                          </a:solidFill>
                          <a:latin typeface="Calibri (MS)"/>
                        </a:rPr>
                        <a:t>0,8632</a:t>
                      </a:r>
                    </a:p>
                  </a:txBody>
                  <a:tcPr marL="73152" marR="73152" marT="36576" marB="36576" anchor="ctr">
                    <a:solidFill>
                      <a:srgbClr val="FFFFFF"/>
                    </a:solidFill>
                  </a:tcPr>
                </a:tc>
              </a:tr>
              <a:tr h="384048">
                <a:tc>
                  <a:txBody>
                    <a:bodyPr wrap="square"/>
                    <a:lstStyle/>
                    <a:p>
                      <a:r>
                        <a:rPr sz="1100" b="1" i="0">
                          <a:solidFill>
                            <a:srgbClr val="14313B"/>
                          </a:solidFill>
                          <a:latin typeface="Calibri (MS) Bold"/>
                        </a:rPr>
                        <a:t>R2 ekonomi–atraksi dimatikan</a:t>
                      </a:r>
                    </a:p>
                  </a:txBody>
                  <a:tcPr marL="73152" marR="73152" marT="36576" marB="36576" anchor="ctr">
                    <a:solidFill>
                      <a:srgbClr val="EAF8FA"/>
                    </a:solidFill>
                  </a:tcPr>
                </a:tc>
                <a:tc>
                  <a:txBody>
                    <a:bodyPr wrap="square"/>
                    <a:lstStyle/>
                    <a:p>
                      <a:pPr algn="ctr"/>
                      <a:r>
                        <a:rPr sz="1100" b="0" i="0">
                          <a:solidFill>
                            <a:srgbClr val="14313B"/>
                          </a:solidFill>
                          <a:latin typeface="Calibri (MS)"/>
                        </a:rPr>
                        <a:t>80,24</a:t>
                      </a:r>
                    </a:p>
                  </a:txBody>
                  <a:tcPr marL="73152" marR="73152" marT="36576" marB="36576" anchor="ctr">
                    <a:solidFill>
                      <a:srgbClr val="EAF8FA"/>
                    </a:solidFill>
                  </a:tcPr>
                </a:tc>
                <a:tc>
                  <a:txBody>
                    <a:bodyPr wrap="square"/>
                    <a:lstStyle/>
                    <a:p>
                      <a:pPr algn="ctr"/>
                      <a:r>
                        <a:rPr sz="1100" b="0" i="0">
                          <a:solidFill>
                            <a:srgbClr val="14313B"/>
                          </a:solidFill>
                          <a:latin typeface="Calibri (MS)"/>
                        </a:rPr>
                        <a:t>4.671</a:t>
                      </a:r>
                    </a:p>
                  </a:txBody>
                  <a:tcPr marL="73152" marR="73152" marT="36576" marB="36576" anchor="ctr">
                    <a:solidFill>
                      <a:srgbClr val="EAF8FA"/>
                    </a:solidFill>
                  </a:tcPr>
                </a:tc>
                <a:tc>
                  <a:txBody>
                    <a:bodyPr wrap="square"/>
                    <a:lstStyle/>
                    <a:p>
                      <a:pPr algn="ctr"/>
                      <a:r>
                        <a:rPr sz="1100" b="0" i="0">
                          <a:solidFill>
                            <a:srgbClr val="14313B"/>
                          </a:solidFill>
                          <a:latin typeface="Calibri (MS)"/>
                        </a:rPr>
                        <a:t>201</a:t>
                      </a:r>
                    </a:p>
                  </a:txBody>
                  <a:tcPr marL="73152" marR="73152" marT="36576" marB="36576" anchor="ctr">
                    <a:solidFill>
                      <a:srgbClr val="EAF8FA"/>
                    </a:solidFill>
                  </a:tcPr>
                </a:tc>
                <a:tc>
                  <a:txBody>
                    <a:bodyPr wrap="square"/>
                    <a:lstStyle/>
                    <a:p>
                      <a:pPr algn="ctr"/>
                      <a:r>
                        <a:rPr sz="1100" b="0" i="0">
                          <a:solidFill>
                            <a:srgbClr val="14313B"/>
                          </a:solidFill>
                          <a:latin typeface="Calibri (MS)"/>
                        </a:rPr>
                        <a:t>549,73</a:t>
                      </a:r>
                    </a:p>
                  </a:txBody>
                  <a:tcPr marL="73152" marR="73152" marT="36576" marB="36576" anchor="ctr">
                    <a:solidFill>
                      <a:srgbClr val="EAF8FA"/>
                    </a:solidFill>
                  </a:tcPr>
                </a:tc>
                <a:tc>
                  <a:txBody>
                    <a:bodyPr wrap="square"/>
                    <a:lstStyle/>
                    <a:p>
                      <a:pPr algn="ctr"/>
                      <a:r>
                        <a:rPr sz="1100" b="0" i="0">
                          <a:solidFill>
                            <a:srgbClr val="14313B"/>
                          </a:solidFill>
                          <a:latin typeface="Calibri (MS)"/>
                        </a:rPr>
                        <a:t>122.109</a:t>
                      </a:r>
                    </a:p>
                  </a:txBody>
                  <a:tcPr marL="73152" marR="73152" marT="36576" marB="36576" anchor="ctr">
                    <a:solidFill>
                      <a:srgbClr val="EAF8FA"/>
                    </a:solidFill>
                  </a:tcPr>
                </a:tc>
                <a:tc>
                  <a:txBody>
                    <a:bodyPr wrap="square"/>
                    <a:lstStyle/>
                    <a:p>
                      <a:pPr algn="ctr"/>
                      <a:r>
                        <a:rPr sz="1100" b="0" i="0">
                          <a:solidFill>
                            <a:srgbClr val="14313B"/>
                          </a:solidFill>
                          <a:latin typeface="Calibri (MS)"/>
                        </a:rPr>
                        <a:t>0,7635</a:t>
                      </a:r>
                    </a:p>
                  </a:txBody>
                  <a:tcPr marL="73152" marR="73152" marT="36576" marB="36576" anchor="ctr">
                    <a:solidFill>
                      <a:srgbClr val="EAF8FA"/>
                    </a:solidFill>
                  </a:tcPr>
                </a:tc>
              </a:tr>
              <a:tr h="384048">
                <a:tc>
                  <a:txBody>
                    <a:bodyPr wrap="square"/>
                    <a:lstStyle/>
                    <a:p>
                      <a:r>
                        <a:rPr sz="1100" b="1" i="0">
                          <a:solidFill>
                            <a:srgbClr val="14313B"/>
                          </a:solidFill>
                          <a:latin typeface="Calibri (MS) Bold"/>
                        </a:rPr>
                        <a:t>B3 okupansi dimatikan</a:t>
                      </a:r>
                    </a:p>
                  </a:txBody>
                  <a:tcPr marL="73152" marR="73152" marT="36576" marB="36576" anchor="ctr">
                    <a:solidFill>
                      <a:srgbClr val="FFFFFF"/>
                    </a:solidFill>
                  </a:tcPr>
                </a:tc>
                <a:tc>
                  <a:txBody>
                    <a:bodyPr wrap="square"/>
                    <a:lstStyle/>
                    <a:p>
                      <a:pPr algn="ctr"/>
                      <a:r>
                        <a:rPr sz="1100" b="0" i="0">
                          <a:solidFill>
                            <a:srgbClr val="14313B"/>
                          </a:solidFill>
                          <a:latin typeface="Calibri (MS)"/>
                        </a:rPr>
                        <a:t>96,23</a:t>
                      </a:r>
                    </a:p>
                  </a:txBody>
                  <a:tcPr marL="73152" marR="73152" marT="36576" marB="36576" anchor="ctr">
                    <a:solidFill>
                      <a:srgbClr val="FFFFFF"/>
                    </a:solidFill>
                  </a:tcPr>
                </a:tc>
                <a:tc>
                  <a:txBody>
                    <a:bodyPr wrap="square"/>
                    <a:lstStyle/>
                    <a:p>
                      <a:pPr algn="ctr"/>
                      <a:r>
                        <a:rPr sz="1100" b="0" i="0">
                          <a:solidFill>
                            <a:srgbClr val="14313B"/>
                          </a:solidFill>
                          <a:latin typeface="Calibri (MS)"/>
                        </a:rPr>
                        <a:t>4.867</a:t>
                      </a:r>
                    </a:p>
                  </a:txBody>
                  <a:tcPr marL="73152" marR="73152" marT="36576" marB="36576" anchor="ctr">
                    <a:solidFill>
                      <a:srgbClr val="FFFFFF"/>
                    </a:solidFill>
                  </a:tcPr>
                </a:tc>
                <a:tc>
                  <a:txBody>
                    <a:bodyPr wrap="square"/>
                    <a:lstStyle/>
                    <a:p>
                      <a:pPr algn="ctr"/>
                      <a:r>
                        <a:rPr sz="1100" b="0" i="0">
                          <a:solidFill>
                            <a:srgbClr val="14313B"/>
                          </a:solidFill>
                          <a:latin typeface="Calibri (MS)"/>
                        </a:rPr>
                        <a:t>367</a:t>
                      </a:r>
                    </a:p>
                  </a:txBody>
                  <a:tcPr marL="73152" marR="73152" marT="36576" marB="36576" anchor="ctr">
                    <a:solidFill>
                      <a:srgbClr val="FFFFFF"/>
                    </a:solidFill>
                  </a:tcPr>
                </a:tc>
                <a:tc>
                  <a:txBody>
                    <a:bodyPr wrap="square"/>
                    <a:lstStyle/>
                    <a:p>
                      <a:pPr algn="ctr"/>
                      <a:r>
                        <a:rPr sz="1100" b="0" i="0">
                          <a:solidFill>
                            <a:srgbClr val="14313B"/>
                          </a:solidFill>
                          <a:latin typeface="Calibri (MS)"/>
                        </a:rPr>
                        <a:t>650,56</a:t>
                      </a:r>
                    </a:p>
                  </a:txBody>
                  <a:tcPr marL="73152" marR="73152" marT="36576" marB="36576" anchor="ctr">
                    <a:solidFill>
                      <a:srgbClr val="FFFFFF"/>
                    </a:solidFill>
                  </a:tcPr>
                </a:tc>
                <a:tc>
                  <a:txBody>
                    <a:bodyPr wrap="square"/>
                    <a:lstStyle/>
                    <a:p>
                      <a:pPr algn="ctr"/>
                      <a:r>
                        <a:rPr sz="1100" b="0" i="0">
                          <a:solidFill>
                            <a:srgbClr val="14313B"/>
                          </a:solidFill>
                          <a:latin typeface="Calibri (MS)"/>
                        </a:rPr>
                        <a:t>122.080</a:t>
                      </a:r>
                    </a:p>
                  </a:txBody>
                  <a:tcPr marL="73152" marR="73152" marT="36576" marB="36576" anchor="ctr">
                    <a:solidFill>
                      <a:srgbClr val="FFFFFF"/>
                    </a:solidFill>
                  </a:tcPr>
                </a:tc>
                <a:tc>
                  <a:txBody>
                    <a:bodyPr wrap="square"/>
                    <a:lstStyle/>
                    <a:p>
                      <a:pPr algn="ctr"/>
                      <a:r>
                        <a:rPr sz="1100" b="0" i="0">
                          <a:solidFill>
                            <a:srgbClr val="14313B"/>
                          </a:solidFill>
                          <a:latin typeface="Calibri (MS)"/>
                        </a:rPr>
                        <a:t>0,8133</a:t>
                      </a:r>
                    </a:p>
                  </a:txBody>
                  <a:tcPr marL="73152" marR="73152" marT="36576" marB="36576" anchor="ctr">
                    <a:solidFill>
                      <a:srgbClr val="FFFFFF"/>
                    </a:solidFill>
                  </a:tcPr>
                </a:tc>
              </a:tr>
              <a:tr h="384048">
                <a:tc>
                  <a:txBody>
                    <a:bodyPr wrap="square"/>
                    <a:lstStyle/>
                    <a:p>
                      <a:r>
                        <a:rPr sz="1100" b="1" i="0">
                          <a:solidFill>
                            <a:srgbClr val="14313B"/>
                          </a:solidFill>
                          <a:latin typeface="Calibri (MS) Bold"/>
                        </a:rPr>
                        <a:t>B4 goal-seeking TK dimatikan</a:t>
                      </a:r>
                    </a:p>
                  </a:txBody>
                  <a:tcPr marL="73152" marR="73152" marT="36576" marB="36576" anchor="ctr">
                    <a:solidFill>
                      <a:srgbClr val="EAF8FA"/>
                    </a:solidFill>
                  </a:tcPr>
                </a:tc>
                <a:tc>
                  <a:txBody>
                    <a:bodyPr wrap="square"/>
                    <a:lstStyle/>
                    <a:p>
                      <a:pPr algn="ctr"/>
                      <a:r>
                        <a:rPr sz="1100" b="0" i="0">
                          <a:solidFill>
                            <a:srgbClr val="14313B"/>
                          </a:solidFill>
                          <a:latin typeface="Calibri (MS)"/>
                        </a:rPr>
                        <a:t>96,20</a:t>
                      </a:r>
                    </a:p>
                  </a:txBody>
                  <a:tcPr marL="73152" marR="73152" marT="36576" marB="36576" anchor="ctr">
                    <a:solidFill>
                      <a:srgbClr val="EAF8FA"/>
                    </a:solidFill>
                  </a:tcPr>
                </a:tc>
                <a:tc>
                  <a:txBody>
                    <a:bodyPr wrap="square"/>
                    <a:lstStyle/>
                    <a:p>
                      <a:pPr algn="ctr"/>
                      <a:r>
                        <a:rPr sz="1100" b="0" i="0">
                          <a:solidFill>
                            <a:srgbClr val="14313B"/>
                          </a:solidFill>
                          <a:latin typeface="Calibri (MS)"/>
                        </a:rPr>
                        <a:t>5.404</a:t>
                      </a:r>
                    </a:p>
                  </a:txBody>
                  <a:tcPr marL="73152" marR="73152" marT="36576" marB="36576" anchor="ctr">
                    <a:solidFill>
                      <a:srgbClr val="EAF8FA"/>
                    </a:solidFill>
                  </a:tcPr>
                </a:tc>
                <a:tc>
                  <a:txBody>
                    <a:bodyPr wrap="square"/>
                    <a:lstStyle/>
                    <a:p>
                      <a:pPr algn="ctr"/>
                      <a:r>
                        <a:rPr sz="1100" b="0" i="0">
                          <a:solidFill>
                            <a:srgbClr val="14313B"/>
                          </a:solidFill>
                          <a:latin typeface="Calibri (MS)"/>
                        </a:rPr>
                        <a:t>367</a:t>
                      </a:r>
                    </a:p>
                  </a:txBody>
                  <a:tcPr marL="73152" marR="73152" marT="36576" marB="36576" anchor="ctr">
                    <a:solidFill>
                      <a:srgbClr val="EAF8FA"/>
                    </a:solidFill>
                  </a:tcPr>
                </a:tc>
                <a:tc>
                  <a:txBody>
                    <a:bodyPr wrap="square"/>
                    <a:lstStyle/>
                    <a:p>
                      <a:pPr algn="ctr"/>
                      <a:r>
                        <a:rPr sz="1100" b="0" i="0">
                          <a:solidFill>
                            <a:srgbClr val="14313B"/>
                          </a:solidFill>
                          <a:latin typeface="Calibri (MS)"/>
                        </a:rPr>
                        <a:t>364,99</a:t>
                      </a:r>
                    </a:p>
                  </a:txBody>
                  <a:tcPr marL="73152" marR="73152" marT="36576" marB="36576" anchor="ctr">
                    <a:solidFill>
                      <a:srgbClr val="EAF8FA"/>
                    </a:solidFill>
                  </a:tcPr>
                </a:tc>
                <a:tc>
                  <a:txBody>
                    <a:bodyPr wrap="square"/>
                    <a:lstStyle/>
                    <a:p>
                      <a:pPr algn="ctr"/>
                      <a:r>
                        <a:rPr sz="1100" b="0" i="0">
                          <a:solidFill>
                            <a:srgbClr val="14313B"/>
                          </a:solidFill>
                          <a:latin typeface="Calibri (MS)"/>
                        </a:rPr>
                        <a:t>122.208</a:t>
                      </a:r>
                    </a:p>
                  </a:txBody>
                  <a:tcPr marL="73152" marR="73152" marT="36576" marB="36576" anchor="ctr">
                    <a:solidFill>
                      <a:srgbClr val="EAF8FA"/>
                    </a:solidFill>
                  </a:tcPr>
                </a:tc>
                <a:tc>
                  <a:txBody>
                    <a:bodyPr wrap="square"/>
                    <a:lstStyle/>
                    <a:p>
                      <a:pPr algn="ctr"/>
                      <a:r>
                        <a:rPr sz="1100" b="0" i="0">
                          <a:solidFill>
                            <a:srgbClr val="14313B"/>
                          </a:solidFill>
                          <a:latin typeface="Calibri (MS)"/>
                        </a:rPr>
                        <a:t>0,8132</a:t>
                      </a:r>
                    </a:p>
                  </a:txBody>
                  <a:tcPr marL="73152" marR="73152" marT="36576" marB="36576" anchor="ctr">
                    <a:solidFill>
                      <a:srgbClr val="EAF8FA"/>
                    </a:solidFill>
                  </a:tcPr>
                </a:tc>
              </a:tr>
              <a:tr h="384048">
                <a:tc>
                  <a:txBody>
                    <a:bodyPr wrap="square"/>
                    <a:lstStyle/>
                    <a:p>
                      <a:r>
                        <a:rPr sz="1100" b="1" i="0">
                          <a:solidFill>
                            <a:srgbClr val="14313B"/>
                          </a:solidFill>
                          <a:latin typeface="Calibri (MS) Bold"/>
                        </a:rPr>
                        <a:t>Semua rem mati (R1 murni)</a:t>
                      </a:r>
                    </a:p>
                  </a:txBody>
                  <a:tcPr marL="73152" marR="73152" marT="36576" marB="36576" anchor="ctr">
                    <a:solidFill>
                      <a:srgbClr val="FFFFFF"/>
                    </a:solidFill>
                  </a:tcPr>
                </a:tc>
                <a:tc>
                  <a:txBody>
                    <a:bodyPr wrap="square"/>
                    <a:lstStyle/>
                    <a:p>
                      <a:pPr algn="ctr"/>
                      <a:r>
                        <a:rPr sz="1100" b="0" i="0">
                          <a:solidFill>
                            <a:srgbClr val="14313B"/>
                          </a:solidFill>
                          <a:latin typeface="Calibri (MS)"/>
                        </a:rPr>
                        <a:t>217,37</a:t>
                      </a:r>
                    </a:p>
                  </a:txBody>
                  <a:tcPr marL="73152" marR="73152" marT="36576" marB="36576" anchor="ctr">
                    <a:solidFill>
                      <a:srgbClr val="FFFFFF"/>
                    </a:solidFill>
                  </a:tcPr>
                </a:tc>
                <a:tc>
                  <a:txBody>
                    <a:bodyPr wrap="square"/>
                    <a:lstStyle/>
                    <a:p>
                      <a:pPr algn="ctr"/>
                      <a:r>
                        <a:rPr sz="1100" b="0" i="0">
                          <a:solidFill>
                            <a:srgbClr val="14313B"/>
                          </a:solidFill>
                          <a:latin typeface="Calibri (MS)"/>
                        </a:rPr>
                        <a:t>10.885</a:t>
                      </a:r>
                    </a:p>
                  </a:txBody>
                  <a:tcPr marL="73152" marR="73152" marT="36576" marB="36576" anchor="ctr">
                    <a:solidFill>
                      <a:srgbClr val="FFFFFF"/>
                    </a:solidFill>
                  </a:tcPr>
                </a:tc>
                <a:tc>
                  <a:txBody>
                    <a:bodyPr wrap="square"/>
                    <a:lstStyle/>
                    <a:p>
                      <a:pPr algn="ctr"/>
                      <a:r>
                        <a:rPr sz="1100" b="0" i="0">
                          <a:solidFill>
                            <a:srgbClr val="14313B"/>
                          </a:solidFill>
                          <a:latin typeface="Calibri (MS)"/>
                        </a:rPr>
                        <a:t>504</a:t>
                      </a:r>
                    </a:p>
                  </a:txBody>
                  <a:tcPr marL="73152" marR="73152" marT="36576" marB="36576" anchor="ctr">
                    <a:solidFill>
                      <a:srgbClr val="FFFFFF"/>
                    </a:solidFill>
                  </a:tcPr>
                </a:tc>
                <a:tc>
                  <a:txBody>
                    <a:bodyPr wrap="square"/>
                    <a:lstStyle/>
                    <a:p>
                      <a:pPr algn="ctr"/>
                      <a:r>
                        <a:rPr sz="1100" b="0" i="0">
                          <a:solidFill>
                            <a:srgbClr val="14313B"/>
                          </a:solidFill>
                          <a:latin typeface="Calibri (MS)"/>
                        </a:rPr>
                        <a:t>1.399,44</a:t>
                      </a:r>
                    </a:p>
                  </a:txBody>
                  <a:tcPr marL="73152" marR="73152" marT="36576" marB="36576" anchor="ctr">
                    <a:solidFill>
                      <a:srgbClr val="FFFFFF"/>
                    </a:solidFill>
                  </a:tcPr>
                </a:tc>
                <a:tc>
                  <a:txBody>
                    <a:bodyPr wrap="square"/>
                    <a:lstStyle/>
                    <a:p>
                      <a:pPr algn="ctr"/>
                      <a:r>
                        <a:rPr sz="1100" b="0" i="0">
                          <a:solidFill>
                            <a:srgbClr val="14313B"/>
                          </a:solidFill>
                          <a:latin typeface="Calibri (MS)"/>
                        </a:rPr>
                        <a:t>122.930</a:t>
                      </a:r>
                    </a:p>
                  </a:txBody>
                  <a:tcPr marL="73152" marR="73152" marT="36576" marB="36576" anchor="ctr">
                    <a:solidFill>
                      <a:srgbClr val="FFFFFF"/>
                    </a:solidFill>
                  </a:tcPr>
                </a:tc>
                <a:tc>
                  <a:txBody>
                    <a:bodyPr wrap="square"/>
                    <a:lstStyle/>
                    <a:p>
                      <a:pPr algn="ctr"/>
                      <a:r>
                        <a:rPr sz="1100" b="0" i="0">
                          <a:solidFill>
                            <a:srgbClr val="14313B"/>
                          </a:solidFill>
                          <a:latin typeface="Calibri (MS)"/>
                        </a:rPr>
                        <a:t>1,0000</a:t>
                      </a:r>
                    </a:p>
                  </a:txBody>
                  <a:tcPr marL="73152" marR="73152" marT="36576" marB="36576" anchor="ctr">
                    <a:solidFill>
                      <a:srgbClr val="FFFFFF"/>
                    </a:solidFill>
                  </a:tcPr>
                </a:tc>
              </a:tr>
            </a:tbl>
          </a:graphicData>
        </a:graphic>
      </p:graphicFrame>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16) dan 4.4.4 (Tabel 41).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43 · Uji Loop Umpan Balik (2/2): Selisih dan Grafik</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Setiap loop balancing yang dimatikan mempercepat pertumbuhan; mematikan R2 memperlambatnya</a:t>
            </a:r>
          </a:p>
        </p:txBody>
      </p:sp>
      <p:graphicFrame>
        <p:nvGraphicFramePr>
          <p:cNvPr id="27" name="Table 26"/>
          <p:cNvGraphicFramePr>
            <a:graphicFrameLocks noGrp="1"/>
          </p:cNvGraphicFramePr>
          <p:nvPr/>
        </p:nvGraphicFramePr>
        <p:xfrm>
          <a:off x="822960" y="1874519"/>
          <a:ext cx="9509759" cy="3520440"/>
        </p:xfrm>
        <a:graphic>
          <a:graphicData uri="http://schemas.openxmlformats.org/drawingml/2006/table">
            <a:tbl>
              <a:tblPr firstRow="1" bandRow="1">
                <a:tableStyleId>{5C22544A-7EE6-4342-B048-85BDC9FD1C3A}</a:tableStyleId>
              </a:tblPr>
              <a:tblGrid>
                <a:gridCol w="2377440"/>
                <a:gridCol w="1051560"/>
                <a:gridCol w="914400"/>
                <a:gridCol w="914400"/>
                <a:gridCol w="914400"/>
                <a:gridCol w="868679"/>
                <a:gridCol w="1097280"/>
                <a:gridCol w="1371600"/>
              </a:tblGrid>
              <a:tr h="502920">
                <a:tc>
                  <a:txBody>
                    <a:bodyPr wrap="square"/>
                    <a:lstStyle/>
                    <a:p>
                      <a:r>
                        <a:rPr sz="1050" b="1" i="0">
                          <a:solidFill>
                            <a:srgbClr val="FFFFFF"/>
                          </a:solidFill>
                          <a:latin typeface="Calibri (MS) Bold"/>
                        </a:rPr>
                        <a:t>Loop dimatikan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Wisatawan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Hotel</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ODTW</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TK</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Lahan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Daya Tarik</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Berubah &gt;1%</a:t>
                      </a:r>
                    </a:p>
                  </a:txBody>
                  <a:tcPr marL="73152" marR="73152" marT="36576" marB="36576" anchor="ctr">
                    <a:solidFill>
                      <a:srgbClr val="0B5E6E"/>
                    </a:solidFill>
                  </a:tcPr>
                </a:tc>
              </a:tr>
              <a:tr h="502920">
                <a:tc>
                  <a:txBody>
                    <a:bodyPr wrap="square"/>
                    <a:lstStyle/>
                    <a:p>
                      <a:r>
                        <a:rPr sz="1050" b="1" i="0">
                          <a:solidFill>
                            <a:srgbClr val="14313B"/>
                          </a:solidFill>
                          <a:latin typeface="Calibri (MS) Bold"/>
                        </a:rPr>
                        <a:t>B1 kepadatan</a:t>
                      </a:r>
                    </a:p>
                  </a:txBody>
                  <a:tcPr marL="73152" marR="73152" marT="36576" marB="36576" anchor="ctr">
                    <a:solidFill>
                      <a:srgbClr val="FFFFFF"/>
                    </a:solidFill>
                  </a:tcPr>
                </a:tc>
                <a:tc>
                  <a:txBody>
                    <a:bodyPr wrap="square"/>
                    <a:lstStyle/>
                    <a:p>
                      <a:pPr algn="ctr"/>
                      <a:r>
                        <a:rPr sz="1050" b="0" i="0">
                          <a:solidFill>
                            <a:srgbClr val="14313B"/>
                          </a:solidFill>
                          <a:latin typeface="Calibri (MS)"/>
                        </a:rPr>
                        <a:t>+160,2%</a:t>
                      </a:r>
                    </a:p>
                  </a:txBody>
                  <a:tcPr marL="73152" marR="73152" marT="36576" marB="36576" anchor="ctr">
                    <a:solidFill>
                      <a:srgbClr val="C9F0D6"/>
                    </a:solidFill>
                  </a:tcPr>
                </a:tc>
                <a:tc>
                  <a:txBody>
                    <a:bodyPr wrap="square"/>
                    <a:lstStyle/>
                    <a:p>
                      <a:pPr algn="ctr"/>
                      <a:r>
                        <a:rPr sz="1050" b="0" i="0">
                          <a:solidFill>
                            <a:srgbClr val="14313B"/>
                          </a:solidFill>
                          <a:latin typeface="Calibri (MS)"/>
                        </a:rPr>
                        <a:t>+124,8%</a:t>
                      </a:r>
                    </a:p>
                  </a:txBody>
                  <a:tcPr marL="73152" marR="73152" marT="36576" marB="36576" anchor="ctr">
                    <a:solidFill>
                      <a:srgbClr val="C9F0D6"/>
                    </a:solidFill>
                  </a:tcPr>
                </a:tc>
                <a:tc>
                  <a:txBody>
                    <a:bodyPr wrap="square"/>
                    <a:lstStyle/>
                    <a:p>
                      <a:pPr algn="ctr"/>
                      <a:r>
                        <a:rPr sz="1050" b="0" i="0">
                          <a:solidFill>
                            <a:srgbClr val="14313B"/>
                          </a:solidFill>
                          <a:latin typeface="Calibri (MS)"/>
                        </a:rPr>
                        <a:t>+43,9%</a:t>
                      </a:r>
                    </a:p>
                  </a:txBody>
                  <a:tcPr marL="73152" marR="73152" marT="36576" marB="36576" anchor="ctr">
                    <a:solidFill>
                      <a:srgbClr val="C9F0D6"/>
                    </a:solidFill>
                  </a:tcPr>
                </a:tc>
                <a:tc>
                  <a:txBody>
                    <a:bodyPr wrap="square"/>
                    <a:lstStyle/>
                    <a:p>
                      <a:pPr algn="ctr"/>
                      <a:r>
                        <a:rPr sz="1050" b="0" i="0">
                          <a:solidFill>
                            <a:srgbClr val="14313B"/>
                          </a:solidFill>
                          <a:latin typeface="Calibri (MS)"/>
                        </a:rPr>
                        <a:t>+143,8%</a:t>
                      </a:r>
                    </a:p>
                  </a:txBody>
                  <a:tcPr marL="73152" marR="73152" marT="36576" marB="36576" anchor="ctr">
                    <a:solidFill>
                      <a:srgbClr val="C9F0D6"/>
                    </a:solidFill>
                  </a:tcPr>
                </a:tc>
                <a:tc>
                  <a:txBody>
                    <a:bodyPr wrap="square"/>
                    <a:lstStyle/>
                    <a:p>
                      <a:pPr algn="ctr"/>
                      <a:r>
                        <a:rPr sz="1050" b="0" i="0">
                          <a:solidFill>
                            <a:srgbClr val="14313B"/>
                          </a:solidFill>
                          <a:latin typeface="Calibri (MS)"/>
                        </a:rPr>
                        <a:t>+0,7%</a:t>
                      </a:r>
                    </a:p>
                  </a:txBody>
                  <a:tcPr marL="73152" marR="73152" marT="36576" marB="36576" anchor="ctr">
                    <a:solidFill>
                      <a:srgbClr val="FFFFFF"/>
                    </a:solidFill>
                  </a:tcPr>
                </a:tc>
                <a:tc>
                  <a:txBody>
                    <a:bodyPr wrap="square"/>
                    <a:lstStyle/>
                    <a:p>
                      <a:pPr algn="ctr"/>
                      <a:r>
                        <a:rPr sz="1050" b="0" i="0">
                          <a:solidFill>
                            <a:srgbClr val="14313B"/>
                          </a:solidFill>
                          <a:latin typeface="Calibri (MS)"/>
                        </a:rPr>
                        <a:t>+31,5%</a:t>
                      </a:r>
                    </a:p>
                  </a:txBody>
                  <a:tcPr marL="73152" marR="73152" marT="36576" marB="36576" anchor="ctr">
                    <a:solidFill>
                      <a:srgbClr val="C9F0D6"/>
                    </a:solidFill>
                  </a:tcPr>
                </a:tc>
                <a:tc>
                  <a:txBody>
                    <a:bodyPr wrap="square"/>
                    <a:lstStyle/>
                    <a:p>
                      <a:pPr algn="ctr"/>
                      <a:r>
                        <a:rPr sz="1050" b="0" i="0">
                          <a:solidFill>
                            <a:srgbClr val="14313B"/>
                          </a:solidFill>
                          <a:latin typeface="Calibri (MS)"/>
                        </a:rPr>
                        <a:t>5 dari 6</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B2 daya dukung lahan</a:t>
                      </a:r>
                    </a:p>
                  </a:txBody>
                  <a:tcPr marL="73152" marR="73152" marT="36576" marB="36576" anchor="ctr">
                    <a:solidFill>
                      <a:srgbClr val="EAF8FA"/>
                    </a:solidFill>
                  </a:tcPr>
                </a:tc>
                <a:tc>
                  <a:txBody>
                    <a:bodyPr wrap="square"/>
                    <a:lstStyle/>
                    <a:p>
                      <a:pPr algn="ctr"/>
                      <a:r>
                        <a:rPr sz="1050" b="0" i="0">
                          <a:solidFill>
                            <a:srgbClr val="14313B"/>
                          </a:solidFill>
                          <a:latin typeface="Calibri (MS)"/>
                        </a:rPr>
                        <a:t>+16,1%</a:t>
                      </a:r>
                    </a:p>
                  </a:txBody>
                  <a:tcPr marL="73152" marR="73152" marT="36576" marB="36576" anchor="ctr">
                    <a:solidFill>
                      <a:srgbClr val="C9F0D6"/>
                    </a:solidFill>
                  </a:tcPr>
                </a:tc>
                <a:tc>
                  <a:txBody>
                    <a:bodyPr wrap="square"/>
                    <a:lstStyle/>
                    <a:p>
                      <a:pPr algn="ctr"/>
                      <a:r>
                        <a:rPr sz="1050" b="0" i="0">
                          <a:solidFill>
                            <a:srgbClr val="14313B"/>
                          </a:solidFill>
                          <a:latin typeface="Calibri (MS)"/>
                        </a:rPr>
                        <a:t>+12,5%</a:t>
                      </a:r>
                    </a:p>
                  </a:txBody>
                  <a:tcPr marL="73152" marR="73152" marT="36576" marB="36576" anchor="ctr">
                    <a:solidFill>
                      <a:srgbClr val="C9F0D6"/>
                    </a:solidFill>
                  </a:tcPr>
                </a:tc>
                <a:tc>
                  <a:txBody>
                    <a:bodyPr wrap="square"/>
                    <a:lstStyle/>
                    <a:p>
                      <a:pPr algn="ctr"/>
                      <a:r>
                        <a:rPr sz="1050" b="0" i="0">
                          <a:solidFill>
                            <a:srgbClr val="14313B"/>
                          </a:solidFill>
                          <a:latin typeface="Calibri (MS)"/>
                        </a:rPr>
                        <a:t>+4,5%</a:t>
                      </a:r>
                    </a:p>
                  </a:txBody>
                  <a:tcPr marL="73152" marR="73152" marT="36576" marB="36576" anchor="ctr">
                    <a:solidFill>
                      <a:srgbClr val="C9F0D6"/>
                    </a:solidFill>
                  </a:tcPr>
                </a:tc>
                <a:tc>
                  <a:txBody>
                    <a:bodyPr wrap="square"/>
                    <a:lstStyle/>
                    <a:p>
                      <a:pPr algn="ctr"/>
                      <a:r>
                        <a:rPr sz="1050" b="0" i="0">
                          <a:solidFill>
                            <a:srgbClr val="14313B"/>
                          </a:solidFill>
                          <a:latin typeface="Calibri (MS)"/>
                        </a:rPr>
                        <a:t>+14,6%</a:t>
                      </a:r>
                    </a:p>
                  </a:txBody>
                  <a:tcPr marL="73152" marR="73152" marT="36576" marB="36576" anchor="ctr">
                    <a:solidFill>
                      <a:srgbClr val="C9F0D6"/>
                    </a:solidFill>
                  </a:tcPr>
                </a:tc>
                <a:tc>
                  <a:txBody>
                    <a:bodyPr wrap="square"/>
                    <a:lstStyle/>
                    <a:p>
                      <a:pPr algn="ctr"/>
                      <a:r>
                        <a:rPr sz="1050" b="0" i="0">
                          <a:solidFill>
                            <a:srgbClr val="14313B"/>
                          </a:solidFill>
                          <a:latin typeface="Calibri (MS)"/>
                        </a:rPr>
                        <a:t>+10,5%</a:t>
                      </a:r>
                    </a:p>
                  </a:txBody>
                  <a:tcPr marL="73152" marR="73152" marT="36576" marB="36576" anchor="ctr">
                    <a:solidFill>
                      <a:srgbClr val="C9F0D6"/>
                    </a:solidFill>
                  </a:tcPr>
                </a:tc>
                <a:tc>
                  <a:txBody>
                    <a:bodyPr wrap="square"/>
                    <a:lstStyle/>
                    <a:p>
                      <a:pPr algn="ctr"/>
                      <a:r>
                        <a:rPr sz="1050" b="0" i="0">
                          <a:solidFill>
                            <a:srgbClr val="14313B"/>
                          </a:solidFill>
                          <a:latin typeface="Calibri (MS)"/>
                        </a:rPr>
                        <a:t>+6,1%</a:t>
                      </a:r>
                    </a:p>
                  </a:txBody>
                  <a:tcPr marL="73152" marR="73152" marT="36576" marB="36576" anchor="ctr">
                    <a:solidFill>
                      <a:srgbClr val="C9F0D6"/>
                    </a:solidFill>
                  </a:tcPr>
                </a:tc>
                <a:tc>
                  <a:txBody>
                    <a:bodyPr wrap="square"/>
                    <a:lstStyle/>
                    <a:p>
                      <a:pPr algn="ctr"/>
                      <a:r>
                        <a:rPr sz="1050" b="0" i="0">
                          <a:solidFill>
                            <a:srgbClr val="14313B"/>
                          </a:solidFill>
                          <a:latin typeface="Calibri (MS)"/>
                        </a:rPr>
                        <a:t>6 dari 6</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R2 ekonomi–atraksi</a:t>
                      </a:r>
                    </a:p>
                  </a:txBody>
                  <a:tcPr marL="73152" marR="73152" marT="36576" marB="36576" anchor="ctr">
                    <a:solidFill>
                      <a:srgbClr val="FFFFFF"/>
                    </a:solidFill>
                  </a:tcPr>
                </a:tc>
                <a:tc>
                  <a:txBody>
                    <a:bodyPr wrap="square"/>
                    <a:lstStyle/>
                    <a:p>
                      <a:pPr algn="ctr"/>
                      <a:r>
                        <a:rPr sz="1050" b="0" i="0">
                          <a:solidFill>
                            <a:srgbClr val="14313B"/>
                          </a:solidFill>
                          <a:latin typeface="Calibri (MS)"/>
                        </a:rPr>
                        <a:t>−16,6%</a:t>
                      </a:r>
                    </a:p>
                  </a:txBody>
                  <a:tcPr marL="73152" marR="73152" marT="36576" marB="36576" anchor="ctr">
                    <a:solidFill>
                      <a:srgbClr val="FDE2DE"/>
                    </a:solidFill>
                  </a:tcPr>
                </a:tc>
                <a:tc>
                  <a:txBody>
                    <a:bodyPr wrap="square"/>
                    <a:lstStyle/>
                    <a:p>
                      <a:pPr algn="ctr"/>
                      <a:r>
                        <a:rPr sz="1050" b="0" i="0">
                          <a:solidFill>
                            <a:srgbClr val="14313B"/>
                          </a:solidFill>
                          <a:latin typeface="Calibri (MS)"/>
                        </a:rPr>
                        <a:t>−13,6%</a:t>
                      </a:r>
                    </a:p>
                  </a:txBody>
                  <a:tcPr marL="73152" marR="73152" marT="36576" marB="36576" anchor="ctr">
                    <a:solidFill>
                      <a:srgbClr val="FDE2DE"/>
                    </a:solidFill>
                  </a:tcPr>
                </a:tc>
                <a:tc>
                  <a:txBody>
                    <a:bodyPr wrap="square"/>
                    <a:lstStyle/>
                    <a:p>
                      <a:pPr algn="ctr"/>
                      <a:r>
                        <a:rPr sz="1050" b="0" i="0">
                          <a:solidFill>
                            <a:srgbClr val="14313B"/>
                          </a:solidFill>
                          <a:latin typeface="Calibri (MS)"/>
                        </a:rPr>
                        <a:t>−45,3%</a:t>
                      </a:r>
                    </a:p>
                  </a:txBody>
                  <a:tcPr marL="73152" marR="73152" marT="36576" marB="36576" anchor="ctr">
                    <a:solidFill>
                      <a:srgbClr val="FDE2DE"/>
                    </a:solidFill>
                  </a:tcPr>
                </a:tc>
                <a:tc>
                  <a:txBody>
                    <a:bodyPr wrap="square"/>
                    <a:lstStyle/>
                    <a:p>
                      <a:pPr algn="ctr"/>
                      <a:r>
                        <a:rPr sz="1050" b="0" i="0">
                          <a:solidFill>
                            <a:srgbClr val="14313B"/>
                          </a:solidFill>
                          <a:latin typeface="Calibri (MS)"/>
                        </a:rPr>
                        <a:t>−15,5%</a:t>
                      </a:r>
                    </a:p>
                  </a:txBody>
                  <a:tcPr marL="73152" marR="73152" marT="36576" marB="36576" anchor="ctr">
                    <a:solidFill>
                      <a:srgbClr val="FDE2DE"/>
                    </a:solidFill>
                  </a:tcPr>
                </a:tc>
                <a:tc>
                  <a:txBody>
                    <a:bodyPr wrap="square"/>
                    <a:lstStyle/>
                    <a:p>
                      <a:pPr algn="ctr"/>
                      <a:r>
                        <a:rPr sz="1050" b="0" i="0">
                          <a:solidFill>
                            <a:srgbClr val="14313B"/>
                          </a:solidFill>
                          <a:latin typeface="Calibri (MS)"/>
                        </a:rPr>
                        <a:t>−0,1%</a:t>
                      </a:r>
                    </a:p>
                  </a:txBody>
                  <a:tcPr marL="73152" marR="73152" marT="36576" marB="36576" anchor="ctr">
                    <a:solidFill>
                      <a:srgbClr val="FFFFFF"/>
                    </a:solidFill>
                  </a:tcPr>
                </a:tc>
                <a:tc>
                  <a:txBody>
                    <a:bodyPr wrap="square"/>
                    <a:lstStyle/>
                    <a:p>
                      <a:pPr algn="ctr"/>
                      <a:r>
                        <a:rPr sz="1050" b="0" i="0">
                          <a:solidFill>
                            <a:srgbClr val="14313B"/>
                          </a:solidFill>
                          <a:latin typeface="Calibri (MS)"/>
                        </a:rPr>
                        <a:t>−6,1%</a:t>
                      </a:r>
                    </a:p>
                  </a:txBody>
                  <a:tcPr marL="73152" marR="73152" marT="36576" marB="36576" anchor="ctr">
                    <a:solidFill>
                      <a:srgbClr val="FDE2DE"/>
                    </a:solidFill>
                  </a:tcPr>
                </a:tc>
                <a:tc>
                  <a:txBody>
                    <a:bodyPr wrap="square"/>
                    <a:lstStyle/>
                    <a:p>
                      <a:pPr algn="ctr"/>
                      <a:r>
                        <a:rPr sz="1050" b="0" i="0">
                          <a:solidFill>
                            <a:srgbClr val="14313B"/>
                          </a:solidFill>
                          <a:latin typeface="Calibri (MS)"/>
                        </a:rPr>
                        <a:t>5 dari 6</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B3 okupansi</a:t>
                      </a:r>
                    </a:p>
                  </a:txBody>
                  <a:tcPr marL="73152" marR="73152" marT="36576" marB="36576" anchor="ctr">
                    <a:solidFill>
                      <a:srgbClr val="EAF8FA"/>
                    </a:solidFill>
                  </a:tcPr>
                </a:tc>
                <a:tc>
                  <a:txBody>
                    <a:bodyPr wrap="square"/>
                    <a:lstStyle/>
                    <a:p>
                      <a:pPr algn="ctr"/>
                      <a:r>
                        <a:rPr sz="1050" b="0" i="0">
                          <a:solidFill>
                            <a:srgbClr val="14313B"/>
                          </a:solidFill>
                          <a:latin typeface="Calibri (MS)"/>
                        </a:rPr>
                        <a:t>0,0%</a:t>
                      </a:r>
                    </a:p>
                  </a:txBody>
                  <a:tcPr marL="73152" marR="73152" marT="36576" marB="36576" anchor="ctr">
                    <a:solidFill>
                      <a:srgbClr val="EAF8FA"/>
                    </a:solidFill>
                  </a:tcPr>
                </a:tc>
                <a:tc>
                  <a:txBody>
                    <a:bodyPr wrap="square"/>
                    <a:lstStyle/>
                    <a:p>
                      <a:pPr algn="ctr"/>
                      <a:r>
                        <a:rPr sz="1050" b="0" i="0">
                          <a:solidFill>
                            <a:srgbClr val="14313B"/>
                          </a:solidFill>
                          <a:latin typeface="Calibri (MS)"/>
                        </a:rPr>
                        <a:t>−10,0%</a:t>
                      </a:r>
                    </a:p>
                  </a:txBody>
                  <a:tcPr marL="73152" marR="73152" marT="36576" marB="36576" anchor="ctr">
                    <a:solidFill>
                      <a:srgbClr val="FDE2DE"/>
                    </a:solidFill>
                  </a:tcPr>
                </a:tc>
                <a:tc>
                  <a:txBody>
                    <a:bodyPr wrap="square"/>
                    <a:lstStyle/>
                    <a:p>
                      <a:pPr algn="ctr"/>
                      <a:r>
                        <a:rPr sz="1050" b="0" i="0">
                          <a:solidFill>
                            <a:srgbClr val="14313B"/>
                          </a:solidFill>
                          <a:latin typeface="Calibri (MS)"/>
                        </a:rPr>
                        <a:t>0,0%</a:t>
                      </a:r>
                    </a:p>
                  </a:txBody>
                  <a:tcPr marL="73152" marR="73152" marT="36576" marB="36576" anchor="ctr">
                    <a:solidFill>
                      <a:srgbClr val="EAF8FA"/>
                    </a:solidFill>
                  </a:tcPr>
                </a:tc>
                <a:tc>
                  <a:txBody>
                    <a:bodyPr wrap="square"/>
                    <a:lstStyle/>
                    <a:p>
                      <a:pPr algn="ctr"/>
                      <a:r>
                        <a:rPr sz="1050" b="0" i="0">
                          <a:solidFill>
                            <a:srgbClr val="14313B"/>
                          </a:solidFill>
                          <a:latin typeface="Calibri (MS)"/>
                        </a:rPr>
                        <a:t>0,0%</a:t>
                      </a:r>
                    </a:p>
                  </a:txBody>
                  <a:tcPr marL="73152" marR="73152" marT="36576" marB="36576" anchor="ctr">
                    <a:solidFill>
                      <a:srgbClr val="EAF8FA"/>
                    </a:solidFill>
                  </a:tcPr>
                </a:tc>
                <a:tc>
                  <a:txBody>
                    <a:bodyPr wrap="square"/>
                    <a:lstStyle/>
                    <a:p>
                      <a:pPr algn="ctr"/>
                      <a:r>
                        <a:rPr sz="1050" b="0" i="0">
                          <a:solidFill>
                            <a:srgbClr val="14313B"/>
                          </a:solidFill>
                          <a:latin typeface="Calibri (MS)"/>
                        </a:rPr>
                        <a:t>−0,1%</a:t>
                      </a:r>
                    </a:p>
                  </a:txBody>
                  <a:tcPr marL="73152" marR="73152" marT="36576" marB="36576" anchor="ctr">
                    <a:solidFill>
                      <a:srgbClr val="EAF8FA"/>
                    </a:solidFill>
                  </a:tcPr>
                </a:tc>
                <a:tc>
                  <a:txBody>
                    <a:bodyPr wrap="square"/>
                    <a:lstStyle/>
                    <a:p>
                      <a:pPr algn="ctr"/>
                      <a:r>
                        <a:rPr sz="1050" b="0" i="0">
                          <a:solidFill>
                            <a:srgbClr val="14313B"/>
                          </a:solidFill>
                          <a:latin typeface="Calibri (MS)"/>
                        </a:rPr>
                        <a:t>0,0%</a:t>
                      </a:r>
                    </a:p>
                  </a:txBody>
                  <a:tcPr marL="73152" marR="73152" marT="36576" marB="36576" anchor="ctr">
                    <a:solidFill>
                      <a:srgbClr val="EAF8FA"/>
                    </a:solidFill>
                  </a:tcPr>
                </a:tc>
                <a:tc>
                  <a:txBody>
                    <a:bodyPr wrap="square"/>
                    <a:lstStyle/>
                    <a:p>
                      <a:pPr algn="ctr"/>
                      <a:r>
                        <a:rPr sz="1050" b="0" i="0">
                          <a:solidFill>
                            <a:srgbClr val="14313B"/>
                          </a:solidFill>
                          <a:latin typeface="Calibri (MS)"/>
                        </a:rPr>
                        <a:t>1 dari 6</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B4 goal-seeking TK</a:t>
                      </a:r>
                    </a:p>
                  </a:txBody>
                  <a:tcPr marL="73152" marR="73152" marT="36576" marB="36576" anchor="ctr">
                    <a:solidFill>
                      <a:srgbClr val="FFFFFF"/>
                    </a:solidFill>
                  </a:tcPr>
                </a:tc>
                <a:tc>
                  <a:txBody>
                    <a:bodyPr wrap="square"/>
                    <a:lstStyle/>
                    <a:p>
                      <a:pPr algn="ctr"/>
                      <a:r>
                        <a:rPr sz="1050" b="0" i="0">
                          <a:solidFill>
                            <a:srgbClr val="14313B"/>
                          </a:solidFill>
                          <a:latin typeface="Calibri (MS)"/>
                        </a:rPr>
                        <a:t>0,0%</a:t>
                      </a:r>
                    </a:p>
                  </a:txBody>
                  <a:tcPr marL="73152" marR="73152" marT="36576" marB="36576" anchor="ctr">
                    <a:solidFill>
                      <a:srgbClr val="FFFFFF"/>
                    </a:solidFill>
                  </a:tcPr>
                </a:tc>
                <a:tc>
                  <a:txBody>
                    <a:bodyPr wrap="square"/>
                    <a:lstStyle/>
                    <a:p>
                      <a:pPr algn="ctr"/>
                      <a:r>
                        <a:rPr sz="1050" b="0" i="0">
                          <a:solidFill>
                            <a:srgbClr val="14313B"/>
                          </a:solidFill>
                          <a:latin typeface="Calibri (MS)"/>
                        </a:rPr>
                        <a:t>0,0%</a:t>
                      </a:r>
                    </a:p>
                  </a:txBody>
                  <a:tcPr marL="73152" marR="73152" marT="36576" marB="36576" anchor="ctr">
                    <a:solidFill>
                      <a:srgbClr val="FFFFFF"/>
                    </a:solidFill>
                  </a:tcPr>
                </a:tc>
                <a:tc>
                  <a:txBody>
                    <a:bodyPr wrap="square"/>
                    <a:lstStyle/>
                    <a:p>
                      <a:pPr algn="ctr"/>
                      <a:r>
                        <a:rPr sz="1050" b="0" i="0">
                          <a:solidFill>
                            <a:srgbClr val="14313B"/>
                          </a:solidFill>
                          <a:latin typeface="Calibri (MS)"/>
                        </a:rPr>
                        <a:t>0,0%</a:t>
                      </a:r>
                    </a:p>
                  </a:txBody>
                  <a:tcPr marL="73152" marR="73152" marT="36576" marB="36576" anchor="ctr">
                    <a:solidFill>
                      <a:srgbClr val="FFFFFF"/>
                    </a:solidFill>
                  </a:tcPr>
                </a:tc>
                <a:tc>
                  <a:txBody>
                    <a:bodyPr wrap="square"/>
                    <a:lstStyle/>
                    <a:p>
                      <a:pPr algn="ctr"/>
                      <a:r>
                        <a:rPr sz="1050" b="0" i="0">
                          <a:solidFill>
                            <a:srgbClr val="14313B"/>
                          </a:solidFill>
                          <a:latin typeface="Calibri (MS)"/>
                        </a:rPr>
                        <a:t>−43,9%</a:t>
                      </a:r>
                    </a:p>
                  </a:txBody>
                  <a:tcPr marL="73152" marR="73152" marT="36576" marB="36576" anchor="ctr">
                    <a:solidFill>
                      <a:srgbClr val="FDE2DE"/>
                    </a:solidFill>
                  </a:tcPr>
                </a:tc>
                <a:tc>
                  <a:txBody>
                    <a:bodyPr wrap="square"/>
                    <a:lstStyle/>
                    <a:p>
                      <a:pPr algn="ctr"/>
                      <a:r>
                        <a:rPr sz="1050" b="0" i="0">
                          <a:solidFill>
                            <a:srgbClr val="14313B"/>
                          </a:solidFill>
                          <a:latin typeface="Calibri (MS)"/>
                        </a:rPr>
                        <a:t>0,0%</a:t>
                      </a:r>
                    </a:p>
                  </a:txBody>
                  <a:tcPr marL="73152" marR="73152" marT="36576" marB="36576" anchor="ctr">
                    <a:solidFill>
                      <a:srgbClr val="FFFFFF"/>
                    </a:solidFill>
                  </a:tcPr>
                </a:tc>
                <a:tc>
                  <a:txBody>
                    <a:bodyPr wrap="square"/>
                    <a:lstStyle/>
                    <a:p>
                      <a:pPr algn="ctr"/>
                      <a:r>
                        <a:rPr sz="1050" b="0" i="0">
                          <a:solidFill>
                            <a:srgbClr val="14313B"/>
                          </a:solidFill>
                          <a:latin typeface="Calibri (MS)"/>
                        </a:rPr>
                        <a:t>0,0%</a:t>
                      </a:r>
                    </a:p>
                  </a:txBody>
                  <a:tcPr marL="73152" marR="73152" marT="36576" marB="36576" anchor="ctr">
                    <a:solidFill>
                      <a:srgbClr val="FFFFFF"/>
                    </a:solidFill>
                  </a:tcPr>
                </a:tc>
                <a:tc>
                  <a:txBody>
                    <a:bodyPr wrap="square"/>
                    <a:lstStyle/>
                    <a:p>
                      <a:pPr algn="ctr"/>
                      <a:r>
                        <a:rPr sz="1050" b="0" i="0">
                          <a:solidFill>
                            <a:srgbClr val="14313B"/>
                          </a:solidFill>
                          <a:latin typeface="Calibri (MS)"/>
                        </a:rPr>
                        <a:t>1 dari 6</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Semua rem mati</a:t>
                      </a:r>
                    </a:p>
                  </a:txBody>
                  <a:tcPr marL="73152" marR="73152" marT="36576" marB="36576" anchor="ctr">
                    <a:solidFill>
                      <a:srgbClr val="EAF8FA"/>
                    </a:solidFill>
                  </a:tcPr>
                </a:tc>
                <a:tc>
                  <a:txBody>
                    <a:bodyPr wrap="square"/>
                    <a:lstStyle/>
                    <a:p>
                      <a:pPr algn="ctr"/>
                      <a:r>
                        <a:rPr sz="1050" b="0" i="0">
                          <a:solidFill>
                            <a:srgbClr val="14313B"/>
                          </a:solidFill>
                          <a:latin typeface="Calibri (MS)"/>
                        </a:rPr>
                        <a:t>+126,0%</a:t>
                      </a:r>
                    </a:p>
                  </a:txBody>
                  <a:tcPr marL="73152" marR="73152" marT="36576" marB="36576" anchor="ctr">
                    <a:solidFill>
                      <a:srgbClr val="C9F0D6"/>
                    </a:solidFill>
                  </a:tcPr>
                </a:tc>
                <a:tc>
                  <a:txBody>
                    <a:bodyPr wrap="square"/>
                    <a:lstStyle/>
                    <a:p>
                      <a:pPr algn="ctr"/>
                      <a:r>
                        <a:rPr sz="1050" b="0" i="0">
                          <a:solidFill>
                            <a:srgbClr val="14313B"/>
                          </a:solidFill>
                          <a:latin typeface="Calibri (MS)"/>
                        </a:rPr>
                        <a:t>+101,4%</a:t>
                      </a:r>
                    </a:p>
                  </a:txBody>
                  <a:tcPr marL="73152" marR="73152" marT="36576" marB="36576" anchor="ctr">
                    <a:solidFill>
                      <a:srgbClr val="C9F0D6"/>
                    </a:solidFill>
                  </a:tcPr>
                </a:tc>
                <a:tc>
                  <a:txBody>
                    <a:bodyPr wrap="square"/>
                    <a:lstStyle/>
                    <a:p>
                      <a:pPr algn="ctr"/>
                      <a:r>
                        <a:rPr sz="1050" b="0" i="0">
                          <a:solidFill>
                            <a:srgbClr val="14313B"/>
                          </a:solidFill>
                          <a:latin typeface="Calibri (MS)"/>
                        </a:rPr>
                        <a:t>+37,2%</a:t>
                      </a:r>
                    </a:p>
                  </a:txBody>
                  <a:tcPr marL="73152" marR="73152" marT="36576" marB="36576" anchor="ctr">
                    <a:solidFill>
                      <a:srgbClr val="C9F0D6"/>
                    </a:solidFill>
                  </a:tcPr>
                </a:tc>
                <a:tc>
                  <a:txBody>
                    <a:bodyPr wrap="square"/>
                    <a:lstStyle/>
                    <a:p>
                      <a:pPr algn="ctr"/>
                      <a:r>
                        <a:rPr sz="1050" b="0" i="0">
                          <a:solidFill>
                            <a:srgbClr val="14313B"/>
                          </a:solidFill>
                          <a:latin typeface="Calibri (MS)"/>
                        </a:rPr>
                        <a:t>+115,2%</a:t>
                      </a:r>
                    </a:p>
                  </a:txBody>
                  <a:tcPr marL="73152" marR="73152" marT="36576" marB="36576" anchor="ctr">
                    <a:solidFill>
                      <a:srgbClr val="C9F0D6"/>
                    </a:solidFill>
                  </a:tcPr>
                </a:tc>
                <a:tc>
                  <a:txBody>
                    <a:bodyPr wrap="square"/>
                    <a:lstStyle/>
                    <a:p>
                      <a:pPr algn="ctr"/>
                      <a:r>
                        <a:rPr sz="1050" b="0" i="0">
                          <a:solidFill>
                            <a:srgbClr val="14313B"/>
                          </a:solidFill>
                          <a:latin typeface="Calibri (MS)"/>
                        </a:rPr>
                        <a:t>+0,6%</a:t>
                      </a:r>
                    </a:p>
                  </a:txBody>
                  <a:tcPr marL="73152" marR="73152" marT="36576" marB="36576" anchor="ctr">
                    <a:solidFill>
                      <a:srgbClr val="EAF8FA"/>
                    </a:solidFill>
                  </a:tcPr>
                </a:tc>
                <a:tc>
                  <a:txBody>
                    <a:bodyPr wrap="square"/>
                    <a:lstStyle/>
                    <a:p>
                      <a:pPr algn="ctr"/>
                      <a:r>
                        <a:rPr sz="1050" b="0" i="0">
                          <a:solidFill>
                            <a:srgbClr val="14313B"/>
                          </a:solidFill>
                          <a:latin typeface="Calibri (MS)"/>
                        </a:rPr>
                        <a:t>+23,0%</a:t>
                      </a:r>
                    </a:p>
                  </a:txBody>
                  <a:tcPr marL="73152" marR="73152" marT="36576" marB="36576" anchor="ctr">
                    <a:solidFill>
                      <a:srgbClr val="C9F0D6"/>
                    </a:solidFill>
                  </a:tcPr>
                </a:tc>
                <a:tc>
                  <a:txBody>
                    <a:bodyPr wrap="square"/>
                    <a:lstStyle/>
                    <a:p>
                      <a:pPr algn="ctr"/>
                      <a:r>
                        <a:rPr sz="1050" b="0" i="0">
                          <a:solidFill>
                            <a:srgbClr val="14313B"/>
                          </a:solidFill>
                          <a:latin typeface="Calibri (MS)"/>
                        </a:rPr>
                        <a:t>5 dari 6</a:t>
                      </a:r>
                    </a:p>
                  </a:txBody>
                  <a:tcPr marL="73152" marR="73152" marT="36576" marB="36576" anchor="ctr">
                    <a:solidFill>
                      <a:srgbClr val="EAF8FA"/>
                    </a:solidFill>
                  </a:tcPr>
                </a:tc>
              </a:tr>
            </a:tbl>
          </a:graphicData>
        </a:graphic>
      </p:graphicFrame>
      <p:sp>
        <p:nvSpPr>
          <p:cNvPr id="28" name="TextBox 27"/>
          <p:cNvSpPr txBox="1"/>
          <p:nvPr/>
        </p:nvSpPr>
        <p:spPr>
          <a:xfrm>
            <a:off x="822960" y="5440680"/>
            <a:ext cx="950976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Hijau: naik &gt;1% terhadap simulasi dasar · merah muda: turun &gt;1%</a:t>
            </a:r>
          </a:p>
        </p:txBody>
      </p:sp>
      <p:sp>
        <p:nvSpPr>
          <p:cNvPr id="29" name="TextBox 28"/>
          <p:cNvSpPr txBox="1"/>
          <p:nvPr/>
        </p:nvSpPr>
        <p:spPr>
          <a:xfrm>
            <a:off x="822960" y="5806440"/>
            <a:ext cx="9509760" cy="2377440"/>
          </a:xfrm>
          <a:prstGeom prst="rect">
            <a:avLst/>
          </a:prstGeom>
          <a:noFill/>
        </p:spPr>
        <p:txBody>
          <a:bodyPr wrap="square" anchor="t" lIns="0" rIns="0" tIns="0" bIns="0">
            <a:spAutoFit/>
          </a:bodyPr>
          <a:lstStyle/>
          <a:p>
            <a:pPr algn="l">
              <a:spcAft>
                <a:spcPts val="400"/>
              </a:spcAft>
            </a:pPr>
            <a:r>
              <a:rPr sz="1150" b="1" i="0">
                <a:solidFill>
                  <a:srgbClr val="0B5E6E"/>
                </a:solidFill>
                <a:latin typeface="Calibri (MS) Bold"/>
              </a:rPr>
              <a:t>•  </a:t>
            </a:r>
            <a:r>
              <a:rPr sz="1150" b="1" i="0">
                <a:solidFill>
                  <a:srgbClr val="14313B"/>
                </a:solidFill>
                <a:latin typeface="Calibri (MS) Bold"/>
              </a:rPr>
              <a:t>B1 paling kuat: </a:t>
            </a:r>
            <a:r>
              <a:rPr sz="1150" b="0" i="0">
                <a:solidFill>
                  <a:srgbClr val="14313B"/>
                </a:solidFill>
                <a:latin typeface="Calibri (MS)"/>
              </a:rPr>
              <a:t>tanpa rem kepadatan wisatawan 2050 naik 160%.</a:t>
            </a:r>
          </a:p>
          <a:p>
            <a:pPr algn="l">
              <a:spcAft>
                <a:spcPts val="400"/>
              </a:spcAft>
            </a:pPr>
            <a:r>
              <a:rPr sz="1150" b="1" i="0">
                <a:solidFill>
                  <a:srgbClr val="0B5E6E"/>
                </a:solidFill>
                <a:latin typeface="Calibri (MS) Bold"/>
              </a:rPr>
              <a:t>•  </a:t>
            </a:r>
            <a:r>
              <a:rPr sz="1150" b="1" i="0">
                <a:solidFill>
                  <a:srgbClr val="14313B"/>
                </a:solidFill>
                <a:latin typeface="Calibri (MS) Bold"/>
              </a:rPr>
              <a:t>R2 terasa paling besar di ODTW </a:t>
            </a:r>
            <a:r>
              <a:rPr sz="1150" b="0" i="0">
                <a:solidFill>
                  <a:srgbClr val="14313B"/>
                </a:solidFill>
                <a:latin typeface="Calibri (MS)"/>
              </a:rPr>
              <a:t>(−45,3%), sesuai perannya sebagai jalur investasi → atraksi.</a:t>
            </a:r>
          </a:p>
          <a:p>
            <a:pPr algn="l">
              <a:spcAft>
                <a:spcPts val="400"/>
              </a:spcAft>
            </a:pPr>
            <a:r>
              <a:rPr sz="1150" b="1" i="0">
                <a:solidFill>
                  <a:srgbClr val="0B5E6E"/>
                </a:solidFill>
                <a:latin typeface="Calibri (MS) Bold"/>
              </a:rPr>
              <a:t>•  </a:t>
            </a:r>
            <a:r>
              <a:rPr sz="1150" b="1" i="0">
                <a:solidFill>
                  <a:srgbClr val="14313B"/>
                </a:solidFill>
                <a:latin typeface="Calibri (MS) Bold"/>
              </a:rPr>
              <a:t>B2 menyentuh semua variabel </a:t>
            </a:r>
            <a:r>
              <a:rPr sz="1150" b="0" i="0">
                <a:solidFill>
                  <a:srgbClr val="14313B"/>
                </a:solidFill>
                <a:latin typeface="Calibri (MS)"/>
              </a:rPr>
              <a:t>karena lahan dipakai bersama oleh akomodasi, atraksi, dan kepadatan.</a:t>
            </a:r>
          </a:p>
          <a:p>
            <a:pPr algn="l">
              <a:spcAft>
                <a:spcPts val="400"/>
              </a:spcAft>
            </a:pPr>
            <a:r>
              <a:rPr sz="1150" b="1" i="0">
                <a:solidFill>
                  <a:srgbClr val="0B5E6E"/>
                </a:solidFill>
                <a:latin typeface="Calibri (MS) Bold"/>
              </a:rPr>
              <a:t>•  </a:t>
            </a:r>
            <a:r>
              <a:rPr sz="1150" b="1" i="0">
                <a:solidFill>
                  <a:srgbClr val="14313B"/>
                </a:solidFill>
                <a:latin typeface="Calibri (MS) Bold"/>
              </a:rPr>
              <a:t>B3 dan B4 bersifat lokal: </a:t>
            </a:r>
            <a:r>
              <a:rPr sz="1150" b="0" i="0">
                <a:solidFill>
                  <a:srgbClr val="14313B"/>
                </a:solidFill>
                <a:latin typeface="Calibri (MS)"/>
              </a:rPr>
              <a:t>hanya mengubah hotel (−10,0%) dan TK (−43,9%).</a:t>
            </a:r>
          </a:p>
        </p:txBody>
      </p:sp>
      <p:pic>
        <p:nvPicPr>
          <p:cNvPr id="30" name="Picture 29" descr="image20.png"/>
          <p:cNvPicPr>
            <a:picLocks noChangeAspect="1"/>
          </p:cNvPicPr>
          <p:nvPr/>
        </p:nvPicPr>
        <p:blipFill>
          <a:blip r:embed="rId7"/>
          <a:stretch>
            <a:fillRect/>
          </a:stretch>
        </p:blipFill>
        <p:spPr>
          <a:xfrm>
            <a:off x="10616979" y="1874519"/>
            <a:ext cx="6838121" cy="3931920"/>
          </a:xfrm>
          <a:prstGeom prst="rect">
            <a:avLst/>
          </a:prstGeom>
          <a:ln w="12700">
            <a:solidFill>
              <a:srgbClr val="CFE5E9"/>
            </a:solidFill>
          </a:ln>
        </p:spPr>
      </p:pic>
      <p:sp>
        <p:nvSpPr>
          <p:cNvPr id="31" name="TextBox 30"/>
          <p:cNvSpPr txBox="1"/>
          <p:nvPr/>
        </p:nvSpPr>
        <p:spPr>
          <a:xfrm>
            <a:off x="10607040" y="5852160"/>
            <a:ext cx="685800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Lintasan Jumlah Wisatawan 2025–2050 pada keenam kondisi (Buku Gambar 17)</a:t>
            </a:r>
          </a:p>
        </p:txBody>
      </p:sp>
      <p:sp>
        <p:nvSpPr>
          <p:cNvPr id="32" name="Rounded Rectangle 31"/>
          <p:cNvSpPr/>
          <p:nvPr/>
        </p:nvSpPr>
        <p:spPr>
          <a:xfrm>
            <a:off x="10607040" y="6263640"/>
            <a:ext cx="6858000" cy="19659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Membaca grafik</a:t>
            </a:r>
          </a:p>
          <a:p>
            <a:pPr algn="l">
              <a:spcAft>
                <a:spcPts val="300"/>
              </a:spcAft>
            </a:pPr>
            <a:r>
              <a:rPr sz="1050" b="0" i="0">
                <a:solidFill>
                  <a:srgbClr val="14313B"/>
                </a:solidFill>
                <a:latin typeface="Calibri (MS)"/>
              </a:rPr>
              <a:t>Awal simulasi: semua garis berhimpit karena R1 dan R2 masih dominan.</a:t>
            </a:r>
          </a:p>
          <a:p>
            <a:pPr algn="l">
              <a:spcAft>
                <a:spcPts val="300"/>
              </a:spcAft>
            </a:pPr>
            <a:r>
              <a:rPr sz="1050" b="0" i="0">
                <a:solidFill>
                  <a:srgbClr val="14313B"/>
                </a:solidFill>
                <a:latin typeface="Calibri (MS)"/>
              </a:rPr>
              <a:t>Jangka panjang: B1 menjadi penentu utama lintasan.</a:t>
            </a:r>
          </a:p>
          <a:p>
            <a:pPr algn="l">
              <a:spcAft>
                <a:spcPts val="300"/>
              </a:spcAft>
            </a:pPr>
            <a:r>
              <a:rPr sz="1050" b="0" i="0">
                <a:solidFill>
                  <a:srgbClr val="14313B"/>
                </a:solidFill>
                <a:latin typeface="Calibri (MS)"/>
              </a:rPr>
              <a:t>B1 dimatikan (250,32 juta) &gt; semua rem mati (217,37 juta) karena R2 masih aktif menaikkan Daya Tarik ke 1,0696.</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4.4.4 (Tabel 42, Gambar 17); hasil_uji_loop_dan_kekekalan.xlsx.</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44 · Uji Kondisi Ekstrem (1/3): Rancangan dan Aturan Penilaian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Hipotesis perilaku ditulis sebelum simulasi dijalankan agar penilaian tidak menyesuaikan hasil</a:t>
            </a:r>
          </a:p>
        </p:txBody>
      </p:sp>
      <p:graphicFrame>
        <p:nvGraphicFramePr>
          <p:cNvPr id="27" name="Table 26"/>
          <p:cNvGraphicFramePr>
            <a:graphicFrameLocks noGrp="1"/>
          </p:cNvGraphicFramePr>
          <p:nvPr/>
        </p:nvGraphicFramePr>
        <p:xfrm>
          <a:off x="822960" y="1874519"/>
          <a:ext cx="11521437" cy="6336792"/>
        </p:xfrm>
        <a:graphic>
          <a:graphicData uri="http://schemas.openxmlformats.org/drawingml/2006/table">
            <a:tbl>
              <a:tblPr firstRow="1" bandRow="1">
                <a:tableStyleId>{5C22544A-7EE6-4342-B048-85BDC9FD1C3A}</a:tableStyleId>
              </a:tblPr>
              <a:tblGrid>
                <a:gridCol w="731519"/>
                <a:gridCol w="1463039"/>
                <a:gridCol w="3931920"/>
                <a:gridCol w="5394959"/>
              </a:tblGrid>
              <a:tr h="352044">
                <a:tc>
                  <a:txBody>
                    <a:bodyPr wrap="square"/>
                    <a:lstStyle/>
                    <a:p>
                      <a:pPr algn="ctr"/>
                      <a:r>
                        <a:rPr sz="950" b="1" i="0">
                          <a:solidFill>
                            <a:srgbClr val="FFFFFF"/>
                          </a:solidFill>
                          <a:latin typeface="Calibri (MS) Bold"/>
                        </a:rPr>
                        <a:t>Kode</a:t>
                      </a:r>
                    </a:p>
                  </a:txBody>
                  <a:tcPr marL="73152" marR="73152" marT="36576" marB="36576" anchor="ctr">
                    <a:solidFill>
                      <a:srgbClr val="0B5E6E"/>
                    </a:solidFill>
                  </a:tcPr>
                </a:tc>
                <a:tc>
                  <a:txBody>
                    <a:bodyPr wrap="square"/>
                    <a:lstStyle/>
                    <a:p>
                      <a:r>
                        <a:rPr sz="950" b="1" i="0">
                          <a:solidFill>
                            <a:srgbClr val="FFFFFF"/>
                          </a:solidFill>
                          <a:latin typeface="Calibri (MS) Bold"/>
                        </a:rPr>
                        <a:t>Subsistem</a:t>
                      </a:r>
                    </a:p>
                  </a:txBody>
                  <a:tcPr marL="73152" marR="73152" marT="36576" marB="36576" anchor="ctr">
                    <a:solidFill>
                      <a:srgbClr val="0B5E6E"/>
                    </a:solidFill>
                  </a:tcPr>
                </a:tc>
                <a:tc>
                  <a:txBody>
                    <a:bodyPr wrap="square"/>
                    <a:lstStyle/>
                    <a:p>
                      <a:r>
                        <a:rPr sz="950" b="1" i="0">
                          <a:solidFill>
                            <a:srgbClr val="FFFFFF"/>
                          </a:solidFill>
                          <a:latin typeface="Calibri (MS) Bold"/>
                        </a:rPr>
                        <a:t>Parameter &amp; nilai ekstrem</a:t>
                      </a:r>
                    </a:p>
                  </a:txBody>
                  <a:tcPr marL="73152" marR="73152" marT="36576" marB="36576" anchor="ctr">
                    <a:solidFill>
                      <a:srgbClr val="0B5E6E"/>
                    </a:solidFill>
                  </a:tcPr>
                </a:tc>
                <a:tc>
                  <a:txBody>
                    <a:bodyPr wrap="square"/>
                    <a:lstStyle/>
                    <a:p>
                      <a:r>
                        <a:rPr sz="950" b="1" i="0">
                          <a:solidFill>
                            <a:srgbClr val="FFFFFF"/>
                          </a:solidFill>
                          <a:latin typeface="Calibri (MS) Bold"/>
                        </a:rPr>
                        <a:t>Hipotesis perilaku</a:t>
                      </a:r>
                    </a:p>
                  </a:txBody>
                  <a:tcPr marL="73152" marR="73152" marT="36576" marB="36576" anchor="ctr">
                    <a:solidFill>
                      <a:srgbClr val="0B5E6E"/>
                    </a:solidFill>
                  </a:tcPr>
                </a:tc>
              </a:tr>
              <a:tr h="352044">
                <a:tc>
                  <a:txBody>
                    <a:bodyPr wrap="square"/>
                    <a:lstStyle/>
                    <a:p>
                      <a:pPr algn="ctr"/>
                      <a:r>
                        <a:rPr sz="950" b="1" i="0">
                          <a:solidFill>
                            <a:srgbClr val="14313B"/>
                          </a:solidFill>
                          <a:latin typeface="Calibri (MS) Bold"/>
                        </a:rPr>
                        <a:t>E01</a:t>
                      </a:r>
                    </a:p>
                  </a:txBody>
                  <a:tcPr marL="73152" marR="73152" marT="36576" marB="36576" anchor="ctr">
                    <a:solidFill>
                      <a:srgbClr val="FFFFFF"/>
                    </a:solidFill>
                  </a:tcPr>
                </a:tc>
                <a:tc>
                  <a:txBody>
                    <a:bodyPr wrap="square"/>
                    <a:lstStyle/>
                    <a:p>
                      <a:r>
                        <a:rPr sz="950" b="0" i="0">
                          <a:solidFill>
                            <a:srgbClr val="14313B"/>
                          </a:solidFill>
                          <a:latin typeface="Calibri (MS)"/>
                        </a:rPr>
                        <a:t>Wisatawan</a:t>
                      </a:r>
                    </a:p>
                  </a:txBody>
                  <a:tcPr marL="73152" marR="73152" marT="36576" marB="36576" anchor="ctr">
                    <a:solidFill>
                      <a:srgbClr val="FFFFFF"/>
                    </a:solidFill>
                  </a:tcPr>
                </a:tc>
                <a:tc>
                  <a:txBody>
                    <a:bodyPr wrap="square"/>
                    <a:lstStyle/>
                    <a:p>
                      <a:r>
                        <a:rPr sz="950" b="0" i="0">
                          <a:solidFill>
                            <a:srgbClr val="14313B"/>
                          </a:solidFill>
                          <a:latin typeface="Calibri (MS)"/>
                        </a:rPr>
                        <a:t>Laju Pertumbuhan Eksternal = 0</a:t>
                      </a:r>
                    </a:p>
                  </a:txBody>
                  <a:tcPr marL="73152" marR="73152" marT="36576" marB="36576" anchor="ctr">
                    <a:solidFill>
                      <a:srgbClr val="FFFFFF"/>
                    </a:solidFill>
                  </a:tcPr>
                </a:tc>
                <a:tc>
                  <a:txBody>
                    <a:bodyPr wrap="square"/>
                    <a:lstStyle/>
                    <a:p>
                      <a:r>
                        <a:rPr sz="950" b="0" i="0">
                          <a:solidFill>
                            <a:srgbClr val="14313B"/>
                          </a:solidFill>
                          <a:latin typeface="Calibri (MS)"/>
                        </a:rPr>
                        <a:t>Wisatawan turun eksponensial mendekati nol, tidak negatif; Daya Tarik tidak melonjak</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E02</a:t>
                      </a:r>
                    </a:p>
                  </a:txBody>
                  <a:tcPr marL="73152" marR="73152" marT="36576" marB="36576" anchor="ctr">
                    <a:solidFill>
                      <a:srgbClr val="EAF8FA"/>
                    </a:solidFill>
                  </a:tcPr>
                </a:tc>
                <a:tc>
                  <a:txBody>
                    <a:bodyPr wrap="square"/>
                    <a:lstStyle/>
                    <a:p>
                      <a:r>
                        <a:rPr sz="950" b="0" i="0">
                          <a:solidFill>
                            <a:srgbClr val="14313B"/>
                          </a:solidFill>
                          <a:latin typeface="Calibri (MS)"/>
                        </a:rPr>
                        <a:t>Wisatawan</a:t>
                      </a:r>
                    </a:p>
                  </a:txBody>
                  <a:tcPr marL="73152" marR="73152" marT="36576" marB="36576" anchor="ctr">
                    <a:solidFill>
                      <a:srgbClr val="EAF8FA"/>
                    </a:solidFill>
                  </a:tcPr>
                </a:tc>
                <a:tc>
                  <a:txBody>
                    <a:bodyPr wrap="square"/>
                    <a:lstStyle/>
                    <a:p>
                      <a:r>
                        <a:rPr sz="950" b="0" i="0">
                          <a:solidFill>
                            <a:srgbClr val="14313B"/>
                          </a:solidFill>
                          <a:latin typeface="Calibri (MS)"/>
                        </a:rPr>
                        <a:t>Laju Penurunan Dasar = 0</a:t>
                      </a:r>
                    </a:p>
                  </a:txBody>
                  <a:tcPr marL="73152" marR="73152" marT="36576" marB="36576" anchor="ctr">
                    <a:solidFill>
                      <a:srgbClr val="EAF8FA"/>
                    </a:solidFill>
                  </a:tcPr>
                </a:tc>
                <a:tc>
                  <a:txBody>
                    <a:bodyPr wrap="square"/>
                    <a:lstStyle/>
                    <a:p>
                      <a:r>
                        <a:rPr sz="950" b="0" i="0">
                          <a:solidFill>
                            <a:srgbClr val="14313B"/>
                          </a:solidFill>
                          <a:latin typeface="Calibri (MS)"/>
                        </a:rPr>
                        <a:t>Wisatawan tidak pernah turun; rem tetap menurunkan Daya Tarik di bawah 1</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E03</a:t>
                      </a:r>
                    </a:p>
                  </a:txBody>
                  <a:tcPr marL="73152" marR="73152" marT="36576" marB="36576" anchor="ctr">
                    <a:solidFill>
                      <a:srgbClr val="FFFFFF"/>
                    </a:solidFill>
                  </a:tcPr>
                </a:tc>
                <a:tc>
                  <a:txBody>
                    <a:bodyPr wrap="square"/>
                    <a:lstStyle/>
                    <a:p>
                      <a:r>
                        <a:rPr sz="950" b="0" i="0">
                          <a:solidFill>
                            <a:srgbClr val="14313B"/>
                          </a:solidFill>
                          <a:latin typeface="Calibri (MS)"/>
                        </a:rPr>
                        <a:t>Ekonomi</a:t>
                      </a:r>
                    </a:p>
                  </a:txBody>
                  <a:tcPr marL="73152" marR="73152" marT="36576" marB="36576" anchor="ctr">
                    <a:solidFill>
                      <a:srgbClr val="FFFFFF"/>
                    </a:solidFill>
                  </a:tcPr>
                </a:tc>
                <a:tc>
                  <a:txBody>
                    <a:bodyPr wrap="square"/>
                    <a:lstStyle/>
                    <a:p>
                      <a:r>
                        <a:rPr sz="950" b="0" i="0">
                          <a:solidFill>
                            <a:srgbClr val="14313B"/>
                          </a:solidFill>
                          <a:latin typeface="Calibri (MS)"/>
                        </a:rPr>
                        <a:t>Pengeluaran per Kunjungan = 0</a:t>
                      </a:r>
                    </a:p>
                  </a:txBody>
                  <a:tcPr marL="73152" marR="73152" marT="36576" marB="36576" anchor="ctr">
                    <a:solidFill>
                      <a:srgbClr val="FFFFFF"/>
                    </a:solidFill>
                  </a:tcPr>
                </a:tc>
                <a:tc>
                  <a:txBody>
                    <a:bodyPr wrap="square"/>
                    <a:lstStyle/>
                    <a:p>
                      <a:r>
                        <a:rPr sz="950" b="0" i="0">
                          <a:solidFill>
                            <a:srgbClr val="14313B"/>
                          </a:solidFill>
                          <a:latin typeface="Calibri (MS)"/>
                        </a:rPr>
                        <a:t>PDRB dan investasi nol; konstruksi berhenti; TPK naik tetapi ≤ 1</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E04</a:t>
                      </a:r>
                    </a:p>
                  </a:txBody>
                  <a:tcPr marL="73152" marR="73152" marT="36576" marB="36576" anchor="ctr">
                    <a:solidFill>
                      <a:srgbClr val="EAF8FA"/>
                    </a:solidFill>
                  </a:tcPr>
                </a:tc>
                <a:tc>
                  <a:txBody>
                    <a:bodyPr wrap="square"/>
                    <a:lstStyle/>
                    <a:p>
                      <a:r>
                        <a:rPr sz="950" b="0" i="0">
                          <a:solidFill>
                            <a:srgbClr val="14313B"/>
                          </a:solidFill>
                          <a:latin typeface="Calibri (MS)"/>
                        </a:rPr>
                        <a:t>Hotel</a:t>
                      </a:r>
                    </a:p>
                  </a:txBody>
                  <a:tcPr marL="73152" marR="73152" marT="36576" marB="36576" anchor="ctr">
                    <a:solidFill>
                      <a:srgbClr val="EAF8FA"/>
                    </a:solidFill>
                  </a:tcPr>
                </a:tc>
                <a:tc>
                  <a:txBody>
                    <a:bodyPr wrap="square"/>
                    <a:lstStyle/>
                    <a:p>
                      <a:r>
                        <a:rPr sz="950" b="0" i="0">
                          <a:solidFill>
                            <a:srgbClr val="14313B"/>
                          </a:solidFill>
                          <a:latin typeface="Calibri (MS)"/>
                        </a:rPr>
                        <a:t>Rasio Investasi thd PDRB = 0</a:t>
                      </a:r>
                    </a:p>
                  </a:txBody>
                  <a:tcPr marL="73152" marR="73152" marT="36576" marB="36576" anchor="ctr">
                    <a:solidFill>
                      <a:srgbClr val="EAF8FA"/>
                    </a:solidFill>
                  </a:tcPr>
                </a:tc>
                <a:tc>
                  <a:txBody>
                    <a:bodyPr wrap="square"/>
                    <a:lstStyle/>
                    <a:p>
                      <a:r>
                        <a:rPr sz="950" b="0" i="0">
                          <a:solidFill>
                            <a:srgbClr val="14313B"/>
                          </a:solidFill>
                          <a:latin typeface="Calibri (MS)"/>
                        </a:rPr>
                        <a:t>Konstruksi berhenti, akomodasi turun; PDRB tetap tumbuh</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E05</a:t>
                      </a:r>
                    </a:p>
                  </a:txBody>
                  <a:tcPr marL="73152" marR="73152" marT="36576" marB="36576" anchor="ctr">
                    <a:solidFill>
                      <a:srgbClr val="FFFFFF"/>
                    </a:solidFill>
                  </a:tcPr>
                </a:tc>
                <a:tc>
                  <a:txBody>
                    <a:bodyPr wrap="square"/>
                    <a:lstStyle/>
                    <a:p>
                      <a:r>
                        <a:rPr sz="950" b="0" i="0">
                          <a:solidFill>
                            <a:srgbClr val="14313B"/>
                          </a:solidFill>
                          <a:latin typeface="Calibri (MS)"/>
                        </a:rPr>
                        <a:t>Hotel</a:t>
                      </a:r>
                    </a:p>
                  </a:txBody>
                  <a:tcPr marL="73152" marR="73152" marT="36576" marB="36576" anchor="ctr">
                    <a:solidFill>
                      <a:srgbClr val="FFFFFF"/>
                    </a:solidFill>
                  </a:tcPr>
                </a:tc>
                <a:tc>
                  <a:txBody>
                    <a:bodyPr wrap="square"/>
                    <a:lstStyle/>
                    <a:p>
                      <a:r>
                        <a:rPr sz="950" b="0" i="0">
                          <a:solidFill>
                            <a:srgbClr val="14313B"/>
                          </a:solidFill>
                          <a:latin typeface="Calibri (MS)"/>
                        </a:rPr>
                        <a:t>Laju Demolisi Dasar = 0</a:t>
                      </a:r>
                    </a:p>
                  </a:txBody>
                  <a:tcPr marL="73152" marR="73152" marT="36576" marB="36576" anchor="ctr">
                    <a:solidFill>
                      <a:srgbClr val="FFFFFF"/>
                    </a:solidFill>
                  </a:tcPr>
                </a:tc>
                <a:tc>
                  <a:txBody>
                    <a:bodyPr wrap="square"/>
                    <a:lstStyle/>
                    <a:p>
                      <a:r>
                        <a:rPr sz="950" b="0" i="0">
                          <a:solidFill>
                            <a:srgbClr val="14313B"/>
                          </a:solidFill>
                          <a:latin typeface="Calibri (MS)"/>
                        </a:rPr>
                        <a:t>Akomodasi tidak pernah turun, lebih tinggi dari dasar</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E06</a:t>
                      </a:r>
                    </a:p>
                  </a:txBody>
                  <a:tcPr marL="73152" marR="73152" marT="36576" marB="36576" anchor="ctr">
                    <a:solidFill>
                      <a:srgbClr val="EAF8FA"/>
                    </a:solidFill>
                  </a:tcPr>
                </a:tc>
                <a:tc>
                  <a:txBody>
                    <a:bodyPr wrap="square"/>
                    <a:lstStyle/>
                    <a:p>
                      <a:r>
                        <a:rPr sz="950" b="0" i="0">
                          <a:solidFill>
                            <a:srgbClr val="14313B"/>
                          </a:solidFill>
                          <a:latin typeface="Calibri (MS)"/>
                        </a:rPr>
                        <a:t>Hotel</a:t>
                      </a:r>
                    </a:p>
                  </a:txBody>
                  <a:tcPr marL="73152" marR="73152" marT="36576" marB="36576" anchor="ctr">
                    <a:solidFill>
                      <a:srgbClr val="EAF8FA"/>
                    </a:solidFill>
                  </a:tcPr>
                </a:tc>
                <a:tc>
                  <a:txBody>
                    <a:bodyPr wrap="square"/>
                    <a:lstStyle/>
                    <a:p>
                      <a:r>
                        <a:rPr sz="950" b="0" i="0">
                          <a:solidFill>
                            <a:srgbClr val="14313B"/>
                          </a:solidFill>
                          <a:latin typeface="Calibri (MS)"/>
                        </a:rPr>
                        <a:t>TPK Ambang = 1</a:t>
                      </a:r>
                    </a:p>
                  </a:txBody>
                  <a:tcPr marL="73152" marR="73152" marT="36576" marB="36576" anchor="ctr">
                    <a:solidFill>
                      <a:srgbClr val="EAF8FA"/>
                    </a:solidFill>
                  </a:tcPr>
                </a:tc>
                <a:tc>
                  <a:txBody>
                    <a:bodyPr wrap="square"/>
                    <a:lstStyle/>
                    <a:p>
                      <a:r>
                        <a:rPr sz="950" b="0" i="0">
                          <a:solidFill>
                            <a:srgbClr val="14313B"/>
                          </a:solidFill>
                          <a:latin typeface="Calibri (MS)"/>
                        </a:rPr>
                        <a:t>Konstruksi berhenti sampai permintaan melebihi 100% kapasitas</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E07</a:t>
                      </a:r>
                    </a:p>
                  </a:txBody>
                  <a:tcPr marL="73152" marR="73152" marT="36576" marB="36576" anchor="ctr">
                    <a:solidFill>
                      <a:srgbClr val="FFFFFF"/>
                    </a:solidFill>
                  </a:tcPr>
                </a:tc>
                <a:tc>
                  <a:txBody>
                    <a:bodyPr wrap="square"/>
                    <a:lstStyle/>
                    <a:p>
                      <a:r>
                        <a:rPr sz="950" b="0" i="0">
                          <a:solidFill>
                            <a:srgbClr val="14313B"/>
                          </a:solidFill>
                          <a:latin typeface="Calibri (MS)"/>
                        </a:rPr>
                        <a:t>Hotel</a:t>
                      </a:r>
                    </a:p>
                  </a:txBody>
                  <a:tcPr marL="73152" marR="73152" marT="36576" marB="36576" anchor="ctr">
                    <a:solidFill>
                      <a:srgbClr val="FFFFFF"/>
                    </a:solidFill>
                  </a:tcPr>
                </a:tc>
                <a:tc>
                  <a:txBody>
                    <a:bodyPr wrap="square"/>
                    <a:lstStyle/>
                    <a:p>
                      <a:r>
                        <a:rPr sz="950" b="0" i="0">
                          <a:solidFill>
                            <a:srgbClr val="14313B"/>
                          </a:solidFill>
                          <a:latin typeface="Calibri (MS)"/>
                        </a:rPr>
                        <a:t>Proporsi Wisatawan Menginap = 0</a:t>
                      </a:r>
                    </a:p>
                  </a:txBody>
                  <a:tcPr marL="73152" marR="73152" marT="36576" marB="36576" anchor="ctr">
                    <a:solidFill>
                      <a:srgbClr val="FFFFFF"/>
                    </a:solidFill>
                  </a:tcPr>
                </a:tc>
                <a:tc>
                  <a:txBody>
                    <a:bodyPr wrap="square"/>
                    <a:lstStyle/>
                    <a:p>
                      <a:r>
                        <a:rPr sz="950" b="0" i="0">
                          <a:solidFill>
                            <a:srgbClr val="14313B"/>
                          </a:solidFill>
                          <a:latin typeface="Calibri (MS)"/>
                        </a:rPr>
                        <a:t>TPK dan Rasio Permintaan nol; akomodasi turun hanya oleh demolisi</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E08</a:t>
                      </a:r>
                    </a:p>
                  </a:txBody>
                  <a:tcPr marL="73152" marR="73152" marT="36576" marB="36576" anchor="ctr">
                    <a:solidFill>
                      <a:srgbClr val="EAF8FA"/>
                    </a:solidFill>
                  </a:tcPr>
                </a:tc>
                <a:tc>
                  <a:txBody>
                    <a:bodyPr wrap="square"/>
                    <a:lstStyle/>
                    <a:p>
                      <a:r>
                        <a:rPr sz="950" b="0" i="0">
                          <a:solidFill>
                            <a:srgbClr val="14313B"/>
                          </a:solidFill>
                          <a:latin typeface="Calibri (MS)"/>
                        </a:rPr>
                        <a:t>ODTW</a:t>
                      </a:r>
                    </a:p>
                  </a:txBody>
                  <a:tcPr marL="73152" marR="73152" marT="36576" marB="36576" anchor="ctr">
                    <a:solidFill>
                      <a:srgbClr val="EAF8FA"/>
                    </a:solidFill>
                  </a:tcPr>
                </a:tc>
                <a:tc>
                  <a:txBody>
                    <a:bodyPr wrap="square"/>
                    <a:lstStyle/>
                    <a:p>
                      <a:r>
                        <a:rPr sz="950" b="0" i="0">
                          <a:solidFill>
                            <a:srgbClr val="14313B"/>
                          </a:solidFill>
                          <a:latin typeface="Calibri (MS)"/>
                        </a:rPr>
                        <a:t>Sensitivitas ODTW thd Investasi = 0; Pembangunan Non-Investasi = 0</a:t>
                      </a:r>
                    </a:p>
                  </a:txBody>
                  <a:tcPr marL="73152" marR="73152" marT="36576" marB="36576" anchor="ctr">
                    <a:solidFill>
                      <a:srgbClr val="EAF8FA"/>
                    </a:solidFill>
                  </a:tcPr>
                </a:tc>
                <a:tc>
                  <a:txBody>
                    <a:bodyPr wrap="square"/>
                    <a:lstStyle/>
                    <a:p>
                      <a:r>
                        <a:rPr sz="950" b="0" i="0">
                          <a:solidFill>
                            <a:srgbClr val="14313B"/>
                          </a:solidFill>
                          <a:latin typeface="Calibri (MS)"/>
                        </a:rPr>
                        <a:t>ODTW turun eksponensial; Daya Tarik turun; wisatawan memuncak lalu turun</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E09</a:t>
                      </a:r>
                    </a:p>
                  </a:txBody>
                  <a:tcPr marL="73152" marR="73152" marT="36576" marB="36576" anchor="ctr">
                    <a:solidFill>
                      <a:srgbClr val="FFFFFF"/>
                    </a:solidFill>
                  </a:tcPr>
                </a:tc>
                <a:tc>
                  <a:txBody>
                    <a:bodyPr wrap="square"/>
                    <a:lstStyle/>
                    <a:p>
                      <a:r>
                        <a:rPr sz="950" b="0" i="0">
                          <a:solidFill>
                            <a:srgbClr val="14313B"/>
                          </a:solidFill>
                          <a:latin typeface="Calibri (MS)"/>
                        </a:rPr>
                        <a:t>Lahan</a:t>
                      </a:r>
                    </a:p>
                  </a:txBody>
                  <a:tcPr marL="73152" marR="73152" marT="36576" marB="36576" anchor="ctr">
                    <a:solidFill>
                      <a:srgbClr val="FFFFFF"/>
                    </a:solidFill>
                  </a:tcPr>
                </a:tc>
                <a:tc>
                  <a:txBody>
                    <a:bodyPr wrap="square"/>
                    <a:lstStyle/>
                    <a:p>
                      <a:r>
                        <a:rPr sz="950" b="0" i="0">
                          <a:solidFill>
                            <a:srgbClr val="14313B"/>
                          </a:solidFill>
                          <a:latin typeface="Calibri (MS)"/>
                        </a:rPr>
                        <a:t>Laju Konversi Dasar ×10 (0,436)</a:t>
                      </a:r>
                    </a:p>
                  </a:txBody>
                  <a:tcPr marL="73152" marR="73152" marT="36576" marB="36576" anchor="ctr">
                    <a:solidFill>
                      <a:srgbClr val="FFFFFF"/>
                    </a:solidFill>
                  </a:tcPr>
                </a:tc>
                <a:tc>
                  <a:txBody>
                    <a:bodyPr wrap="square"/>
                    <a:lstStyle/>
                    <a:p>
                      <a:r>
                        <a:rPr sz="950" b="0" i="0">
                          <a:solidFill>
                            <a:srgbClr val="14313B"/>
                          </a:solidFill>
                          <a:latin typeface="Calibri (MS)"/>
                        </a:rPr>
                        <a:t>Lahan mendekati tetapi tidak melebihi luas wilayah</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E10</a:t>
                      </a:r>
                    </a:p>
                  </a:txBody>
                  <a:tcPr marL="73152" marR="73152" marT="36576" marB="36576" anchor="ctr">
                    <a:solidFill>
                      <a:srgbClr val="EAF8FA"/>
                    </a:solidFill>
                  </a:tcPr>
                </a:tc>
                <a:tc>
                  <a:txBody>
                    <a:bodyPr wrap="square"/>
                    <a:lstStyle/>
                    <a:p>
                      <a:r>
                        <a:rPr sz="950" b="0" i="0">
                          <a:solidFill>
                            <a:srgbClr val="14313B"/>
                          </a:solidFill>
                          <a:latin typeface="Calibri (MS)"/>
                        </a:rPr>
                        <a:t>Lahan</a:t>
                      </a:r>
                    </a:p>
                  </a:txBody>
                  <a:tcPr marL="73152" marR="73152" marT="36576" marB="36576" anchor="ctr">
                    <a:solidFill>
                      <a:srgbClr val="EAF8FA"/>
                    </a:solidFill>
                  </a:tcPr>
                </a:tc>
                <a:tc>
                  <a:txBody>
                    <a:bodyPr wrap="square"/>
                    <a:lstStyle/>
                    <a:p>
                      <a:r>
                        <a:rPr sz="950" b="0" i="0">
                          <a:solidFill>
                            <a:srgbClr val="14313B"/>
                          </a:solidFill>
                          <a:latin typeface="Calibri (MS)"/>
                        </a:rPr>
                        <a:t>Kebijakan Konservasi Lahan = 1</a:t>
                      </a:r>
                    </a:p>
                  </a:txBody>
                  <a:tcPr marL="73152" marR="73152" marT="36576" marB="36576" anchor="ctr">
                    <a:solidFill>
                      <a:srgbClr val="EAF8FA"/>
                    </a:solidFill>
                  </a:tcPr>
                </a:tc>
                <a:tc>
                  <a:txBody>
                    <a:bodyPr wrap="square"/>
                    <a:lstStyle/>
                    <a:p>
                      <a:r>
                        <a:rPr sz="950" b="0" i="0">
                          <a:solidFill>
                            <a:srgbClr val="14313B"/>
                          </a:solidFill>
                          <a:latin typeface="Calibri (MS)"/>
                        </a:rPr>
                        <a:t>Konversi pariwisata nol; non-pariwisata tetap berjalan</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E11</a:t>
                      </a:r>
                    </a:p>
                  </a:txBody>
                  <a:tcPr marL="73152" marR="73152" marT="36576" marB="36576" anchor="ctr">
                    <a:solidFill>
                      <a:srgbClr val="FFFFFF"/>
                    </a:solidFill>
                  </a:tcPr>
                </a:tc>
                <a:tc>
                  <a:txBody>
                    <a:bodyPr wrap="square"/>
                    <a:lstStyle/>
                    <a:p>
                      <a:r>
                        <a:rPr sz="950" b="0" i="0">
                          <a:solidFill>
                            <a:srgbClr val="14313B"/>
                          </a:solidFill>
                          <a:latin typeface="Calibri (MS)"/>
                        </a:rPr>
                        <a:t>Lahan</a:t>
                      </a:r>
                    </a:p>
                  </a:txBody>
                  <a:tcPr marL="73152" marR="73152" marT="36576" marB="36576" anchor="ctr">
                    <a:solidFill>
                      <a:srgbClr val="FFFFFF"/>
                    </a:solidFill>
                  </a:tcPr>
                </a:tc>
                <a:tc>
                  <a:txBody>
                    <a:bodyPr wrap="square"/>
                    <a:lstStyle/>
                    <a:p>
                      <a:r>
                        <a:rPr sz="950" b="0" i="0">
                          <a:solidFill>
                            <a:srgbClr val="14313B"/>
                          </a:solidFill>
                          <a:latin typeface="Calibri (MS)"/>
                        </a:rPr>
                        <a:t>Lahan per Hotel dan per ODTW = 0</a:t>
                      </a:r>
                    </a:p>
                  </a:txBody>
                  <a:tcPr marL="73152" marR="73152" marT="36576" marB="36576" anchor="ctr">
                    <a:solidFill>
                      <a:srgbClr val="FFFFFF"/>
                    </a:solidFill>
                  </a:tcPr>
                </a:tc>
                <a:tc>
                  <a:txBody>
                    <a:bodyPr wrap="square"/>
                    <a:lstStyle/>
                    <a:p>
                      <a:r>
                        <a:rPr sz="950" b="0" i="0">
                          <a:solidFill>
                            <a:srgbClr val="14313B"/>
                          </a:solidFill>
                          <a:latin typeface="Calibri (MS)"/>
                        </a:rPr>
                        <a:t>Setara E10</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E12</a:t>
                      </a:r>
                    </a:p>
                  </a:txBody>
                  <a:tcPr marL="73152" marR="73152" marT="36576" marB="36576" anchor="ctr">
                    <a:solidFill>
                      <a:srgbClr val="EAF8FA"/>
                    </a:solidFill>
                  </a:tcPr>
                </a:tc>
                <a:tc>
                  <a:txBody>
                    <a:bodyPr wrap="square"/>
                    <a:lstStyle/>
                    <a:p>
                      <a:r>
                        <a:rPr sz="950" b="0" i="0">
                          <a:solidFill>
                            <a:srgbClr val="14313B"/>
                          </a:solidFill>
                          <a:latin typeface="Calibri (MS)"/>
                        </a:rPr>
                        <a:t>Tenaga Kerja</a:t>
                      </a:r>
                    </a:p>
                  </a:txBody>
                  <a:tcPr marL="73152" marR="73152" marT="36576" marB="36576" anchor="ctr">
                    <a:solidFill>
                      <a:srgbClr val="EAF8FA"/>
                    </a:solidFill>
                  </a:tcPr>
                </a:tc>
                <a:tc>
                  <a:txBody>
                    <a:bodyPr wrap="square"/>
                    <a:lstStyle/>
                    <a:p>
                      <a:r>
                        <a:rPr sz="950" b="0" i="0">
                          <a:solidFill>
                            <a:srgbClr val="14313B"/>
                          </a:solidFill>
                          <a:latin typeface="Calibri (MS)"/>
                        </a:rPr>
                        <a:t>Laju Kenaikan Produktivitas = 0</a:t>
                      </a:r>
                    </a:p>
                  </a:txBody>
                  <a:tcPr marL="73152" marR="73152" marT="36576" marB="36576" anchor="ctr">
                    <a:solidFill>
                      <a:srgbClr val="EAF8FA"/>
                    </a:solidFill>
                  </a:tcPr>
                </a:tc>
                <a:tc>
                  <a:txBody>
                    <a:bodyPr wrap="square"/>
                    <a:lstStyle/>
                    <a:p>
                      <a:r>
                        <a:rPr sz="950" b="0" i="0">
                          <a:solidFill>
                            <a:srgbClr val="14313B"/>
                          </a:solidFill>
                          <a:latin typeface="Calibri (MS)"/>
                        </a:rPr>
                        <a:t>TK tumbuh sebanding PDRB, lebih tinggi dari dasar</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E13</a:t>
                      </a:r>
                    </a:p>
                  </a:txBody>
                  <a:tcPr marL="73152" marR="73152" marT="36576" marB="36576" anchor="ctr">
                    <a:solidFill>
                      <a:srgbClr val="FFFFFF"/>
                    </a:solidFill>
                  </a:tcPr>
                </a:tc>
                <a:tc>
                  <a:txBody>
                    <a:bodyPr wrap="square"/>
                    <a:lstStyle/>
                    <a:p>
                      <a:r>
                        <a:rPr sz="950" b="0" i="0">
                          <a:solidFill>
                            <a:srgbClr val="14313B"/>
                          </a:solidFill>
                          <a:latin typeface="Calibri (MS)"/>
                        </a:rPr>
                        <a:t>Tenaga Kerja</a:t>
                      </a:r>
                    </a:p>
                  </a:txBody>
                  <a:tcPr marL="73152" marR="73152" marT="36576" marB="36576" anchor="ctr">
                    <a:solidFill>
                      <a:srgbClr val="FFFFFF"/>
                    </a:solidFill>
                  </a:tcPr>
                </a:tc>
                <a:tc>
                  <a:txBody>
                    <a:bodyPr wrap="square"/>
                    <a:lstStyle/>
                    <a:p>
                      <a:r>
                        <a:rPr sz="950" b="0" i="0">
                          <a:solidFill>
                            <a:srgbClr val="14313B"/>
                          </a:solidFill>
                          <a:latin typeface="Calibri (MS)"/>
                        </a:rPr>
                        <a:t>Laju Keluar Dasar TK = 0</a:t>
                      </a:r>
                    </a:p>
                  </a:txBody>
                  <a:tcPr marL="73152" marR="73152" marT="36576" marB="36576" anchor="ctr">
                    <a:solidFill>
                      <a:srgbClr val="FFFFFF"/>
                    </a:solidFill>
                  </a:tcPr>
                </a:tc>
                <a:tc>
                  <a:txBody>
                    <a:bodyPr wrap="square"/>
                    <a:lstStyle/>
                    <a:p>
                      <a:r>
                        <a:rPr sz="950" b="0" i="0">
                          <a:solidFill>
                            <a:srgbClr val="14313B"/>
                          </a:solidFill>
                          <a:latin typeface="Calibri (MS)"/>
                        </a:rPr>
                        <a:t>TK mengikuti kebutuhan tanpa menumpuk</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E14</a:t>
                      </a:r>
                    </a:p>
                  </a:txBody>
                  <a:tcPr marL="73152" marR="73152" marT="36576" marB="36576" anchor="ctr">
                    <a:solidFill>
                      <a:srgbClr val="EAF8FA"/>
                    </a:solidFill>
                  </a:tcPr>
                </a:tc>
                <a:tc>
                  <a:txBody>
                    <a:bodyPr wrap="square"/>
                    <a:lstStyle/>
                    <a:p>
                      <a:r>
                        <a:rPr sz="950" b="0" i="0">
                          <a:solidFill>
                            <a:srgbClr val="14313B"/>
                          </a:solidFill>
                          <a:latin typeface="Calibri (MS)"/>
                        </a:rPr>
                        <a:t>Kebijakan</a:t>
                      </a:r>
                    </a:p>
                  </a:txBody>
                  <a:tcPr marL="73152" marR="73152" marT="36576" marB="36576" anchor="ctr">
                    <a:solidFill>
                      <a:srgbClr val="EAF8FA"/>
                    </a:solidFill>
                  </a:tcPr>
                </a:tc>
                <a:tc>
                  <a:txBody>
                    <a:bodyPr wrap="square"/>
                    <a:lstStyle/>
                    <a:p>
                      <a:r>
                        <a:rPr sz="950" b="0" i="0">
                          <a:solidFill>
                            <a:srgbClr val="14313B"/>
                          </a:solidFill>
                          <a:latin typeface="Calibri (MS)"/>
                        </a:rPr>
                        <a:t>Insentif Kebijakan = 5</a:t>
                      </a:r>
                    </a:p>
                  </a:txBody>
                  <a:tcPr marL="73152" marR="73152" marT="36576" marB="36576" anchor="ctr">
                    <a:solidFill>
                      <a:srgbClr val="EAF8FA"/>
                    </a:solidFill>
                  </a:tcPr>
                </a:tc>
                <a:tc>
                  <a:txBody>
                    <a:bodyPr wrap="square"/>
                    <a:lstStyle/>
                    <a:p>
                      <a:r>
                        <a:rPr sz="950" b="0" i="0">
                          <a:solidFill>
                            <a:srgbClr val="14313B"/>
                          </a:solidFill>
                          <a:latin typeface="Calibri (MS)"/>
                        </a:rPr>
                        <a:t>Konstruksi melonjak lalu melambat sendiri; Daya Tarik tidak lepas kendali</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E15</a:t>
                      </a:r>
                    </a:p>
                  </a:txBody>
                  <a:tcPr marL="73152" marR="73152" marT="36576" marB="36576" anchor="ctr">
                    <a:solidFill>
                      <a:srgbClr val="FFFFFF"/>
                    </a:solidFill>
                  </a:tcPr>
                </a:tc>
                <a:tc>
                  <a:txBody>
                    <a:bodyPr wrap="square"/>
                    <a:lstStyle/>
                    <a:p>
                      <a:r>
                        <a:rPr sz="950" b="0" i="0">
                          <a:solidFill>
                            <a:srgbClr val="14313B"/>
                          </a:solidFill>
                          <a:latin typeface="Calibri (MS)"/>
                        </a:rPr>
                        <a:t>Wisatawan</a:t>
                      </a:r>
                    </a:p>
                  </a:txBody>
                  <a:tcPr marL="73152" marR="73152" marT="36576" marB="36576" anchor="ctr">
                    <a:solidFill>
                      <a:srgbClr val="FFFFFF"/>
                    </a:solidFill>
                  </a:tcPr>
                </a:tc>
                <a:tc>
                  <a:txBody>
                    <a:bodyPr wrap="square"/>
                    <a:lstStyle/>
                    <a:p>
                      <a:r>
                        <a:rPr sz="950" b="0" i="0">
                          <a:solidFill>
                            <a:srgbClr val="14313B"/>
                          </a:solidFill>
                          <a:latin typeface="Calibri (MS)"/>
                        </a:rPr>
                        <a:t>Laju Pertumbuhan Eksternal ×3 (0,832)</a:t>
                      </a:r>
                    </a:p>
                  </a:txBody>
                  <a:tcPr marL="73152" marR="73152" marT="36576" marB="36576" anchor="ctr">
                    <a:solidFill>
                      <a:srgbClr val="FFFFFF"/>
                    </a:solidFill>
                  </a:tcPr>
                </a:tc>
                <a:tc>
                  <a:txBody>
                    <a:bodyPr wrap="square"/>
                    <a:lstStyle/>
                    <a:p>
                      <a:r>
                        <a:rPr sz="950" b="0" i="0">
                          <a:solidFill>
                            <a:srgbClr val="14313B"/>
                          </a:solidFill>
                          <a:latin typeface="Calibri (MS)"/>
                        </a:rPr>
                        <a:t>Seluruh rem struktural bekerja (lahan, okupansi, daya tarik)</a:t>
                      </a:r>
                    </a:p>
                  </a:txBody>
                  <a:tcPr marL="73152" marR="73152" marT="36576" marB="36576" anchor="ctr">
                    <a:solidFill>
                      <a:srgbClr val="FFFFFF"/>
                    </a:solidFill>
                  </a:tcPr>
                </a:tc>
              </a:tr>
              <a:tr h="352044">
                <a:tc>
                  <a:txBody>
                    <a:bodyPr wrap="square"/>
                    <a:lstStyle/>
                    <a:p>
                      <a:pPr algn="ctr"/>
                      <a:r>
                        <a:rPr sz="950" b="1" i="0">
                          <a:solidFill>
                            <a:srgbClr val="14313B"/>
                          </a:solidFill>
                          <a:latin typeface="Calibri (MS) Bold"/>
                        </a:rPr>
                        <a:t>E16</a:t>
                      </a:r>
                    </a:p>
                  </a:txBody>
                  <a:tcPr marL="73152" marR="73152" marT="36576" marB="36576" anchor="ctr">
                    <a:solidFill>
                      <a:srgbClr val="EAF8FA"/>
                    </a:solidFill>
                  </a:tcPr>
                </a:tc>
                <a:tc>
                  <a:txBody>
                    <a:bodyPr wrap="square"/>
                    <a:lstStyle/>
                    <a:p>
                      <a:r>
                        <a:rPr sz="950" b="0" i="0">
                          <a:solidFill>
                            <a:srgbClr val="14313B"/>
                          </a:solidFill>
                          <a:latin typeface="Calibri (MS)"/>
                        </a:rPr>
                        <a:t>ODTW</a:t>
                      </a:r>
                    </a:p>
                  </a:txBody>
                  <a:tcPr marL="73152" marR="73152" marT="36576" marB="36576" anchor="ctr">
                    <a:solidFill>
                      <a:srgbClr val="EAF8FA"/>
                    </a:solidFill>
                  </a:tcPr>
                </a:tc>
                <a:tc>
                  <a:txBody>
                    <a:bodyPr wrap="square"/>
                    <a:lstStyle/>
                    <a:p>
                      <a:r>
                        <a:rPr sz="950" b="0" i="0">
                          <a:solidFill>
                            <a:srgbClr val="14313B"/>
                          </a:solidFill>
                          <a:latin typeface="Calibri (MS)"/>
                        </a:rPr>
                        <a:t>Laju Penutupan Dasar ODTW = 0</a:t>
                      </a:r>
                    </a:p>
                  </a:txBody>
                  <a:tcPr marL="73152" marR="73152" marT="36576" marB="36576" anchor="ctr">
                    <a:solidFill>
                      <a:srgbClr val="EAF8FA"/>
                    </a:solidFill>
                  </a:tcPr>
                </a:tc>
                <a:tc>
                  <a:txBody>
                    <a:bodyPr wrap="square"/>
                    <a:lstStyle/>
                    <a:p>
                      <a:r>
                        <a:rPr sz="950" b="0" i="0">
                          <a:solidFill>
                            <a:srgbClr val="14313B"/>
                          </a:solidFill>
                          <a:latin typeface="Calibri (MS)"/>
                        </a:rPr>
                        <a:t>ODTW naik monoton, lebih tinggi dari dasar</a:t>
                      </a:r>
                    </a:p>
                  </a:txBody>
                  <a:tcPr marL="73152" marR="73152" marT="36576" marB="36576" anchor="ctr">
                    <a:solidFill>
                      <a:srgbClr val="EAF8FA"/>
                    </a:solidFill>
                  </a:tcPr>
                </a:tc>
              </a:tr>
              <a:tr h="352044">
                <a:tc>
                  <a:txBody>
                    <a:bodyPr wrap="square"/>
                    <a:lstStyle/>
                    <a:p>
                      <a:pPr algn="ctr"/>
                      <a:r>
                        <a:rPr sz="950" b="1" i="0">
                          <a:solidFill>
                            <a:srgbClr val="14313B"/>
                          </a:solidFill>
                          <a:latin typeface="Calibri (MS) Bold"/>
                        </a:rPr>
                        <a:t>E17</a:t>
                      </a:r>
                    </a:p>
                  </a:txBody>
                  <a:tcPr marL="73152" marR="73152" marT="36576" marB="36576" anchor="ctr">
                    <a:solidFill>
                      <a:srgbClr val="FFFFFF"/>
                    </a:solidFill>
                  </a:tcPr>
                </a:tc>
                <a:tc>
                  <a:txBody>
                    <a:bodyPr wrap="square"/>
                    <a:lstStyle/>
                    <a:p>
                      <a:r>
                        <a:rPr sz="950" b="0" i="0">
                          <a:solidFill>
                            <a:srgbClr val="14313B"/>
                          </a:solidFill>
                          <a:latin typeface="Calibri (MS)"/>
                        </a:rPr>
                        <a:t>Lahan</a:t>
                      </a:r>
                    </a:p>
                  </a:txBody>
                  <a:tcPr marL="73152" marR="73152" marT="36576" marB="36576" anchor="ctr">
                    <a:solidFill>
                      <a:srgbClr val="FFFFFF"/>
                    </a:solidFill>
                  </a:tcPr>
                </a:tc>
                <a:tc>
                  <a:txBody>
                    <a:bodyPr wrap="square"/>
                    <a:lstStyle/>
                    <a:p>
                      <a:r>
                        <a:rPr sz="950" b="0" i="0">
                          <a:solidFill>
                            <a:srgbClr val="14313B"/>
                          </a:solidFill>
                          <a:latin typeface="Calibri (MS)"/>
                        </a:rPr>
                        <a:t>Laju Konversi Dasar = 0</a:t>
                      </a:r>
                    </a:p>
                  </a:txBody>
                  <a:tcPr marL="73152" marR="73152" marT="36576" marB="36576" anchor="ctr">
                    <a:solidFill>
                      <a:srgbClr val="FFFFFF"/>
                    </a:solidFill>
                  </a:tcPr>
                </a:tc>
                <a:tc>
                  <a:txBody>
                    <a:bodyPr wrap="square"/>
                    <a:lstStyle/>
                    <a:p>
                      <a:r>
                        <a:rPr sz="950" b="0" i="0">
                          <a:solidFill>
                            <a:srgbClr val="14313B"/>
                          </a:solidFill>
                          <a:latin typeface="Calibri (MS)"/>
                        </a:rPr>
                        <a:t>Lahan naik sangat lambat; RDDL hampir tidak berubah</a:t>
                      </a:r>
                    </a:p>
                  </a:txBody>
                  <a:tcPr marL="73152" marR="73152" marT="36576" marB="36576" anchor="ctr">
                    <a:solidFill>
                      <a:srgbClr val="FFFFFF"/>
                    </a:solidFill>
                  </a:tcPr>
                </a:tc>
              </a:tr>
            </a:tbl>
          </a:graphicData>
        </a:graphic>
      </p:graphicFrame>
      <p:sp>
        <p:nvSpPr>
          <p:cNvPr id="28" name="Rounded Rectangle 27"/>
          <p:cNvSpPr/>
          <p:nvPr/>
        </p:nvSpPr>
        <p:spPr>
          <a:xfrm>
            <a:off x="12618720" y="1874519"/>
            <a:ext cx="48463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Enam aturan logika fisik</a:t>
            </a:r>
          </a:p>
        </p:txBody>
      </p:sp>
      <p:sp>
        <p:nvSpPr>
          <p:cNvPr id="29" name="Oval 28"/>
          <p:cNvSpPr/>
          <p:nvPr/>
        </p:nvSpPr>
        <p:spPr>
          <a:xfrm>
            <a:off x="12618720" y="2459736"/>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1</a:t>
            </a:r>
          </a:p>
        </p:txBody>
      </p:sp>
      <p:sp>
        <p:nvSpPr>
          <p:cNvPr id="30" name="Rounded Rectangle 29"/>
          <p:cNvSpPr/>
          <p:nvPr/>
        </p:nvSpPr>
        <p:spPr>
          <a:xfrm>
            <a:off x="13167360" y="2423160"/>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Stok tidak boleh negatif</a:t>
            </a:r>
          </a:p>
        </p:txBody>
      </p:sp>
      <p:sp>
        <p:nvSpPr>
          <p:cNvPr id="31" name="Oval 30"/>
          <p:cNvSpPr/>
          <p:nvPr/>
        </p:nvSpPr>
        <p:spPr>
          <a:xfrm>
            <a:off x="12618720" y="3026664"/>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2</a:t>
            </a:r>
          </a:p>
        </p:txBody>
      </p:sp>
      <p:sp>
        <p:nvSpPr>
          <p:cNvPr id="32" name="Rounded Rectangle 31"/>
          <p:cNvSpPr/>
          <p:nvPr/>
        </p:nvSpPr>
        <p:spPr>
          <a:xfrm>
            <a:off x="13167360" y="2990088"/>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TPK ≤ 1</a:t>
            </a:r>
          </a:p>
        </p:txBody>
      </p:sp>
      <p:sp>
        <p:nvSpPr>
          <p:cNvPr id="33" name="Oval 32"/>
          <p:cNvSpPr/>
          <p:nvPr/>
        </p:nvSpPr>
        <p:spPr>
          <a:xfrm>
            <a:off x="12618720" y="3593591"/>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3</a:t>
            </a:r>
          </a:p>
        </p:txBody>
      </p:sp>
      <p:sp>
        <p:nvSpPr>
          <p:cNvPr id="34" name="Rounded Rectangle 33"/>
          <p:cNvSpPr/>
          <p:nvPr/>
        </p:nvSpPr>
        <p:spPr>
          <a:xfrm>
            <a:off x="13167360" y="3557015"/>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RDDL ≥ 0</a:t>
            </a:r>
          </a:p>
        </p:txBody>
      </p:sp>
      <p:sp>
        <p:nvSpPr>
          <p:cNvPr id="35" name="Oval 34"/>
          <p:cNvSpPr/>
          <p:nvPr/>
        </p:nvSpPr>
        <p:spPr>
          <a:xfrm>
            <a:off x="12618720" y="4160520"/>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4</a:t>
            </a:r>
          </a:p>
        </p:txBody>
      </p:sp>
      <p:sp>
        <p:nvSpPr>
          <p:cNvPr id="36" name="Rounded Rectangle 35"/>
          <p:cNvSpPr/>
          <p:nvPr/>
        </p:nvSpPr>
        <p:spPr>
          <a:xfrm>
            <a:off x="13167360" y="4123944"/>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Lahan terbangun ≤ luas wilayah (317.036 ha)</a:t>
            </a:r>
          </a:p>
        </p:txBody>
      </p:sp>
      <p:sp>
        <p:nvSpPr>
          <p:cNvPr id="37" name="Oval 36"/>
          <p:cNvSpPr/>
          <p:nvPr/>
        </p:nvSpPr>
        <p:spPr>
          <a:xfrm>
            <a:off x="12618720" y="4727448"/>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5</a:t>
            </a:r>
          </a:p>
        </p:txBody>
      </p:sp>
      <p:sp>
        <p:nvSpPr>
          <p:cNvPr id="38" name="Rounded Rectangle 37"/>
          <p:cNvSpPr/>
          <p:nvPr/>
        </p:nvSpPr>
        <p:spPr>
          <a:xfrm>
            <a:off x="13167360" y="4690872"/>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0 ≤ Daya Tarik ≤ 3</a:t>
            </a:r>
          </a:p>
        </p:txBody>
      </p:sp>
      <p:sp>
        <p:nvSpPr>
          <p:cNvPr id="39" name="Oval 38"/>
          <p:cNvSpPr/>
          <p:nvPr/>
        </p:nvSpPr>
        <p:spPr>
          <a:xfrm>
            <a:off x="12618720" y="5294376"/>
            <a:ext cx="411480" cy="41148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Calibri (MS) Bold"/>
              </a:rPr>
              <a:t>6</a:t>
            </a:r>
          </a:p>
        </p:txBody>
      </p:sp>
      <p:sp>
        <p:nvSpPr>
          <p:cNvPr id="40" name="Rounded Rectangle 39"/>
          <p:cNvSpPr/>
          <p:nvPr/>
        </p:nvSpPr>
        <p:spPr>
          <a:xfrm>
            <a:off x="13167360" y="5257800"/>
            <a:ext cx="429768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150" b="0" i="0">
                <a:solidFill>
                  <a:srgbClr val="14313B"/>
                </a:solidFill>
                <a:latin typeface="Calibri (MS)"/>
              </a:rPr>
              <a:t>Wisatawan akhir ≤ 5 × simulasi dasar*</a:t>
            </a:r>
          </a:p>
        </p:txBody>
      </p:sp>
      <p:sp>
        <p:nvSpPr>
          <p:cNvPr id="41" name="Rounded Rectangle 40"/>
          <p:cNvSpPr/>
          <p:nvPr/>
        </p:nvSpPr>
        <p:spPr>
          <a:xfrm>
            <a:off x="12618720" y="5897880"/>
            <a:ext cx="4846320" cy="2194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Kategori hasil</a:t>
            </a:r>
          </a:p>
          <a:p>
            <a:pPr algn="l">
              <a:spcAft>
                <a:spcPts val="300"/>
              </a:spcAft>
            </a:pPr>
            <a:r>
              <a:rPr sz="1050" b="1" i="0">
                <a:solidFill>
                  <a:srgbClr val="14313B"/>
                </a:solidFill>
                <a:latin typeface="Calibri (MS) Bold"/>
              </a:rPr>
              <a:t>Lolos:  </a:t>
            </a:r>
            <a:r>
              <a:rPr sz="1050" b="0" i="0">
                <a:solidFill>
                  <a:srgbClr val="14313B"/>
                </a:solidFill>
                <a:latin typeface="Calibri (MS)"/>
              </a:rPr>
              <a:t>keenam aturan terpenuhi dan hipotesis sesuai.</a:t>
            </a:r>
          </a:p>
          <a:p>
            <a:pPr algn="l">
              <a:spcAft>
                <a:spcPts val="300"/>
              </a:spcAft>
            </a:pPr>
            <a:r>
              <a:rPr sz="1050" b="1" i="0">
                <a:solidFill>
                  <a:srgbClr val="14313B"/>
                </a:solidFill>
                <a:latin typeface="Calibri (MS) Bold"/>
              </a:rPr>
              <a:t>Lolos dengan catatan:  </a:t>
            </a:r>
            <a:r>
              <a:rPr sz="1050" b="0" i="0">
                <a:solidFill>
                  <a:srgbClr val="14313B"/>
                </a:solidFill>
                <a:latin typeface="Calibri (MS)"/>
              </a:rPr>
              <a:t>kelima aturan lain terpenuhi; aturan 6 tidak diterapkan karena ujinya sengaja menghapus rem (E02, E15).</a:t>
            </a:r>
          </a:p>
          <a:p>
            <a:pPr algn="l">
              <a:spcAft>
                <a:spcPts val="300"/>
              </a:spcAft>
            </a:pPr>
            <a:r>
              <a:rPr sz="1050" b="1" i="0">
                <a:solidFill>
                  <a:srgbClr val="14313B"/>
                </a:solidFill>
                <a:latin typeface="Calibri (MS) Bold"/>
              </a:rPr>
              <a:t>Gagal:  </a:t>
            </a:r>
            <a:r>
              <a:rPr sz="1050" b="0" i="0">
                <a:solidFill>
                  <a:srgbClr val="14313B"/>
                </a:solidFill>
                <a:latin typeface="Calibri (MS)"/>
              </a:rPr>
              <a:t>ada aturan yang dilanggar.</a:t>
            </a:r>
          </a:p>
        </p:txBody>
      </p:sp>
      <p:sp>
        <p:nvSpPr>
          <p:cNvPr id="42" name="TextBox 41"/>
          <p:cNvSpPr txBox="1"/>
          <p:nvPr/>
        </p:nvSpPr>
        <p:spPr>
          <a:xfrm>
            <a:off x="12618720" y="8138160"/>
            <a:ext cx="4846320" cy="457200"/>
          </a:xfrm>
          <a:prstGeom prst="rect">
            <a:avLst/>
          </a:prstGeom>
          <a:noFill/>
        </p:spPr>
        <p:txBody>
          <a:bodyPr wrap="square" anchor="t" lIns="0" rIns="0" tIns="0" bIns="0">
            <a:spAutoFit/>
          </a:bodyPr>
          <a:lstStyle/>
          <a:p>
            <a:pPr algn="l">
              <a:spcAft>
                <a:spcPts val="400"/>
              </a:spcAft>
            </a:pPr>
            <a:r>
              <a:rPr sz="950" b="0" i="1">
                <a:solidFill>
                  <a:srgbClr val="5E6E78"/>
                </a:solidFill>
                <a:latin typeface="Calibri (MS)"/>
              </a:rPr>
              <a:t>*Ambang 3 dan 5× ditetapkan peneliti sebagai ambang kewajaran.</a:t>
            </a:r>
          </a:p>
        </p:txBody>
      </p:sp>
      <p:sp>
        <p:nvSpPr>
          <p:cNvPr id="43" name="TextBox 4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45 · Uji Kondisi Ekstrem (2/3): Nilai Variabel Tahun 2050</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Simulasi dasar 2050: wisatawan 96,20 juta; hotel 5.404; ODTW 367; TK 650,36 ribu; lahan 122.208 ha</a:t>
            </a:r>
          </a:p>
        </p:txBody>
      </p:sp>
      <p:graphicFrame>
        <p:nvGraphicFramePr>
          <p:cNvPr id="27" name="Table 26"/>
          <p:cNvGraphicFramePr>
            <a:graphicFrameLocks noGrp="1"/>
          </p:cNvGraphicFramePr>
          <p:nvPr/>
        </p:nvGraphicFramePr>
        <p:xfrm>
          <a:off x="822960" y="1874519"/>
          <a:ext cx="16642080" cy="5993892"/>
        </p:xfrm>
        <a:graphic>
          <a:graphicData uri="http://schemas.openxmlformats.org/drawingml/2006/table">
            <a:tbl>
              <a:tblPr firstRow="1" bandRow="1">
                <a:tableStyleId>{5C22544A-7EE6-4342-B048-85BDC9FD1C3A}</a:tableStyleId>
              </a:tblPr>
              <a:tblGrid>
                <a:gridCol w="822960"/>
                <a:gridCol w="1554480"/>
                <a:gridCol w="5669280"/>
                <a:gridCol w="1828800"/>
                <a:gridCol w="1737360"/>
                <a:gridCol w="1463040"/>
                <a:gridCol w="1828800"/>
                <a:gridCol w="1737360"/>
              </a:tblGrid>
              <a:tr h="315468">
                <a:tc>
                  <a:txBody>
                    <a:bodyPr wrap="square"/>
                    <a:lstStyle/>
                    <a:p>
                      <a:pPr algn="ctr"/>
                      <a:r>
                        <a:rPr sz="950" b="1" i="0">
                          <a:solidFill>
                            <a:srgbClr val="FFFFFF"/>
                          </a:solidFill>
                          <a:latin typeface="Calibri (MS) Bold"/>
                        </a:rPr>
                        <a:t>Kode</a:t>
                      </a:r>
                    </a:p>
                  </a:txBody>
                  <a:tcPr marL="73152" marR="73152" marT="36576" marB="36576" anchor="ctr">
                    <a:solidFill>
                      <a:srgbClr val="0B5E6E"/>
                    </a:solidFill>
                  </a:tcPr>
                </a:tc>
                <a:tc>
                  <a:txBody>
                    <a:bodyPr wrap="square"/>
                    <a:lstStyle/>
                    <a:p>
                      <a:r>
                        <a:rPr sz="950" b="1" i="0">
                          <a:solidFill>
                            <a:srgbClr val="FFFFFF"/>
                          </a:solidFill>
                          <a:latin typeface="Calibri (MS) Bold"/>
                        </a:rPr>
                        <a:t>Subsistem</a:t>
                      </a:r>
                    </a:p>
                  </a:txBody>
                  <a:tcPr marL="73152" marR="73152" marT="36576" marB="36576" anchor="ctr">
                    <a:solidFill>
                      <a:srgbClr val="0B5E6E"/>
                    </a:solidFill>
                  </a:tcPr>
                </a:tc>
                <a:tc>
                  <a:txBody>
                    <a:bodyPr wrap="square"/>
                    <a:lstStyle/>
                    <a:p>
                      <a:r>
                        <a:rPr sz="950" b="1" i="0">
                          <a:solidFill>
                            <a:srgbClr val="FFFFFF"/>
                          </a:solidFill>
                          <a:latin typeface="Calibri (MS) Bold"/>
                        </a:rPr>
                        <a:t>Parameter diubah</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Wisatawan (juta)</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Hotel (unit)</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ODTW (unit)</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TK (ribu)</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Lahan (ha)</a:t>
                      </a:r>
                    </a:p>
                  </a:txBody>
                  <a:tcPr marL="73152" marR="73152" marT="36576" marB="36576" anchor="ctr">
                    <a:solidFill>
                      <a:srgbClr val="0B5E6E"/>
                    </a:solidFill>
                  </a:tcPr>
                </a:tc>
              </a:tr>
              <a:tr h="315468">
                <a:tc>
                  <a:txBody>
                    <a:bodyPr wrap="square"/>
                    <a:lstStyle/>
                    <a:p>
                      <a:pPr algn="ctr"/>
                      <a:r>
                        <a:rPr sz="950" b="1" i="0">
                          <a:solidFill>
                            <a:srgbClr val="14313B"/>
                          </a:solidFill>
                          <a:latin typeface="Calibri (MS) Bold"/>
                        </a:rPr>
                        <a:t>Dasar</a:t>
                      </a:r>
                    </a:p>
                  </a:txBody>
                  <a:tcPr marL="73152" marR="73152" marT="36576" marB="36576" anchor="ctr">
                    <a:solidFill>
                      <a:srgbClr val="EAF8FA"/>
                    </a:solidFill>
                  </a:tcPr>
                </a:tc>
                <a:tc>
                  <a:txBody>
                    <a:bodyPr wrap="square"/>
                    <a:lstStyle/>
                    <a:p>
                      <a:r>
                        <a:rPr sz="950" b="0" i="0">
                          <a:solidFill>
                            <a:srgbClr val="14313B"/>
                          </a:solidFill>
                          <a:latin typeface="Calibri (MS)"/>
                        </a:rPr>
                        <a:t>—</a:t>
                      </a:r>
                    </a:p>
                  </a:txBody>
                  <a:tcPr marL="73152" marR="73152" marT="36576" marB="36576" anchor="ctr">
                    <a:solidFill>
                      <a:srgbClr val="EAF8FA"/>
                    </a:solidFill>
                  </a:tcPr>
                </a:tc>
                <a:tc>
                  <a:txBody>
                    <a:bodyPr wrap="square"/>
                    <a:lstStyle/>
                    <a:p>
                      <a:r>
                        <a:rPr sz="950" b="0" i="0">
                          <a:solidFill>
                            <a:srgbClr val="14313B"/>
                          </a:solidFill>
                          <a:latin typeface="Calibri (MS)"/>
                        </a:rPr>
                        <a:t>Nilai final</a:t>
                      </a:r>
                    </a:p>
                  </a:txBody>
                  <a:tcPr marL="73152" marR="73152" marT="36576" marB="36576" anchor="ctr">
                    <a:solidFill>
                      <a:srgbClr val="EAF8FA"/>
                    </a:solidFill>
                  </a:tcPr>
                </a:tc>
                <a:tc>
                  <a:txBody>
                    <a:bodyPr wrap="square"/>
                    <a:lstStyle/>
                    <a:p>
                      <a:pPr algn="ctr"/>
                      <a:r>
                        <a:rPr sz="950" b="0" i="0">
                          <a:solidFill>
                            <a:srgbClr val="14313B"/>
                          </a:solidFill>
                          <a:latin typeface="Calibri (MS)"/>
                        </a:rPr>
                        <a:t>96,20</a:t>
                      </a:r>
                    </a:p>
                  </a:txBody>
                  <a:tcPr marL="73152" marR="73152" marT="36576" marB="36576" anchor="ctr">
                    <a:solidFill>
                      <a:srgbClr val="EAF8FA"/>
                    </a:solidFill>
                  </a:tcPr>
                </a:tc>
                <a:tc>
                  <a:txBody>
                    <a:bodyPr wrap="square"/>
                    <a:lstStyle/>
                    <a:p>
                      <a:pPr algn="ctr"/>
                      <a:r>
                        <a:rPr sz="950" b="0" i="0">
                          <a:solidFill>
                            <a:srgbClr val="14313B"/>
                          </a:solidFill>
                          <a:latin typeface="Calibri (MS)"/>
                        </a:rPr>
                        <a:t>5.404</a:t>
                      </a:r>
                    </a:p>
                  </a:txBody>
                  <a:tcPr marL="73152" marR="73152" marT="36576" marB="36576" anchor="ctr">
                    <a:solidFill>
                      <a:srgbClr val="EAF8FA"/>
                    </a:solidFill>
                  </a:tcPr>
                </a:tc>
                <a:tc>
                  <a:txBody>
                    <a:bodyPr wrap="square"/>
                    <a:lstStyle/>
                    <a:p>
                      <a:pPr algn="ctr"/>
                      <a:r>
                        <a:rPr sz="950" b="0" i="0">
                          <a:solidFill>
                            <a:srgbClr val="14313B"/>
                          </a:solidFill>
                          <a:latin typeface="Calibri (MS)"/>
                        </a:rPr>
                        <a:t>367</a:t>
                      </a:r>
                    </a:p>
                  </a:txBody>
                  <a:tcPr marL="73152" marR="73152" marT="36576" marB="36576" anchor="ctr">
                    <a:solidFill>
                      <a:srgbClr val="EAF8FA"/>
                    </a:solidFill>
                  </a:tcPr>
                </a:tc>
                <a:tc>
                  <a:txBody>
                    <a:bodyPr wrap="square"/>
                    <a:lstStyle/>
                    <a:p>
                      <a:pPr algn="ctr"/>
                      <a:r>
                        <a:rPr sz="950" b="0" i="0">
                          <a:solidFill>
                            <a:srgbClr val="14313B"/>
                          </a:solidFill>
                          <a:latin typeface="Calibri (MS)"/>
                        </a:rPr>
                        <a:t>650,36</a:t>
                      </a:r>
                    </a:p>
                  </a:txBody>
                  <a:tcPr marL="73152" marR="73152" marT="36576" marB="36576" anchor="ctr">
                    <a:solidFill>
                      <a:srgbClr val="EAF8FA"/>
                    </a:solidFill>
                  </a:tcPr>
                </a:tc>
                <a:tc>
                  <a:txBody>
                    <a:bodyPr wrap="square"/>
                    <a:lstStyle/>
                    <a:p>
                      <a:pPr algn="ctr"/>
                      <a:r>
                        <a:rPr sz="950" b="0" i="0">
                          <a:solidFill>
                            <a:srgbClr val="14313B"/>
                          </a:solidFill>
                          <a:latin typeface="Calibri (MS)"/>
                        </a:rPr>
                        <a:t>122.208</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E01</a:t>
                      </a:r>
                    </a:p>
                  </a:txBody>
                  <a:tcPr marL="73152" marR="73152" marT="36576" marB="36576" anchor="ctr">
                    <a:solidFill>
                      <a:srgbClr val="EAF8FA"/>
                    </a:solidFill>
                  </a:tcPr>
                </a:tc>
                <a:tc>
                  <a:txBody>
                    <a:bodyPr wrap="square"/>
                    <a:lstStyle/>
                    <a:p>
                      <a:r>
                        <a:rPr sz="950" b="0" i="0">
                          <a:solidFill>
                            <a:srgbClr val="14313B"/>
                          </a:solidFill>
                          <a:latin typeface="Calibri (MS)"/>
                        </a:rPr>
                        <a:t>Wisatawan</a:t>
                      </a:r>
                    </a:p>
                  </a:txBody>
                  <a:tcPr marL="73152" marR="73152" marT="36576" marB="36576" anchor="ctr">
                    <a:solidFill>
                      <a:srgbClr val="EAF8FA"/>
                    </a:solidFill>
                  </a:tcPr>
                </a:tc>
                <a:tc>
                  <a:txBody>
                    <a:bodyPr wrap="square"/>
                    <a:lstStyle/>
                    <a:p>
                      <a:r>
                        <a:rPr sz="950" b="0" i="0">
                          <a:solidFill>
                            <a:srgbClr val="14313B"/>
                          </a:solidFill>
                          <a:latin typeface="Calibri (MS)"/>
                        </a:rPr>
                        <a:t>Laju Pertumbuhan Eksternal = 0</a:t>
                      </a:r>
                    </a:p>
                  </a:txBody>
                  <a:tcPr marL="73152" marR="73152" marT="36576" marB="36576" anchor="ctr">
                    <a:solidFill>
                      <a:srgbClr val="EAF8FA"/>
                    </a:solidFill>
                  </a:tcPr>
                </a:tc>
                <a:tc>
                  <a:txBody>
                    <a:bodyPr wrap="square"/>
                    <a:lstStyle/>
                    <a:p>
                      <a:pPr algn="ctr"/>
                      <a:r>
                        <a:rPr sz="950" b="0" i="0">
                          <a:solidFill>
                            <a:srgbClr val="14313B"/>
                          </a:solidFill>
                          <a:latin typeface="Calibri (MS)"/>
                        </a:rPr>
                        <a:t>0,12</a:t>
                      </a:r>
                    </a:p>
                  </a:txBody>
                  <a:tcPr marL="73152" marR="73152" marT="36576" marB="36576" anchor="ctr">
                    <a:solidFill>
                      <a:srgbClr val="EAF8FA"/>
                    </a:solidFill>
                  </a:tcPr>
                </a:tc>
                <a:tc>
                  <a:txBody>
                    <a:bodyPr wrap="square"/>
                    <a:lstStyle/>
                    <a:p>
                      <a:pPr algn="ctr"/>
                      <a:r>
                        <a:rPr sz="950" b="0" i="0">
                          <a:solidFill>
                            <a:srgbClr val="14313B"/>
                          </a:solidFill>
                          <a:latin typeface="Calibri (MS)"/>
                        </a:rPr>
                        <a:t>683</a:t>
                      </a:r>
                    </a:p>
                  </a:txBody>
                  <a:tcPr marL="73152" marR="73152" marT="36576" marB="36576" anchor="ctr">
                    <a:solidFill>
                      <a:srgbClr val="EAF8FA"/>
                    </a:solidFill>
                  </a:tcPr>
                </a:tc>
                <a:tc>
                  <a:txBody>
                    <a:bodyPr wrap="square"/>
                    <a:lstStyle/>
                    <a:p>
                      <a:pPr algn="ctr"/>
                      <a:r>
                        <a:rPr sz="950" b="0" i="0">
                          <a:solidFill>
                            <a:srgbClr val="14313B"/>
                          </a:solidFill>
                          <a:latin typeface="Calibri (MS)"/>
                        </a:rPr>
                        <a:t>149</a:t>
                      </a:r>
                    </a:p>
                  </a:txBody>
                  <a:tcPr marL="73152" marR="73152" marT="36576" marB="36576" anchor="ctr">
                    <a:solidFill>
                      <a:srgbClr val="EAF8FA"/>
                    </a:solidFill>
                  </a:tcPr>
                </a:tc>
                <a:tc>
                  <a:txBody>
                    <a:bodyPr wrap="square"/>
                    <a:lstStyle/>
                    <a:p>
                      <a:pPr algn="ctr"/>
                      <a:r>
                        <a:rPr sz="950" b="0" i="0">
                          <a:solidFill>
                            <a:srgbClr val="14313B"/>
                          </a:solidFill>
                          <a:latin typeface="Calibri (MS)"/>
                        </a:rPr>
                        <a:t>175,71</a:t>
                      </a:r>
                    </a:p>
                  </a:txBody>
                  <a:tcPr marL="73152" marR="73152" marT="36576" marB="36576" anchor="ctr">
                    <a:solidFill>
                      <a:srgbClr val="EAF8FA"/>
                    </a:solidFill>
                  </a:tcPr>
                </a:tc>
                <a:tc>
                  <a:txBody>
                    <a:bodyPr wrap="square"/>
                    <a:lstStyle/>
                    <a:p>
                      <a:pPr algn="ctr"/>
                      <a:r>
                        <a:rPr sz="950" b="0" i="0">
                          <a:solidFill>
                            <a:srgbClr val="14313B"/>
                          </a:solidFill>
                          <a:latin typeface="Calibri (MS)"/>
                        </a:rPr>
                        <a:t>121.226</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E02</a:t>
                      </a:r>
                    </a:p>
                  </a:txBody>
                  <a:tcPr marL="73152" marR="73152" marT="36576" marB="36576" anchor="ctr">
                    <a:solidFill>
                      <a:srgbClr val="FFFFFF"/>
                    </a:solidFill>
                  </a:tcPr>
                </a:tc>
                <a:tc>
                  <a:txBody>
                    <a:bodyPr wrap="square"/>
                    <a:lstStyle/>
                    <a:p>
                      <a:r>
                        <a:rPr sz="950" b="0" i="0">
                          <a:solidFill>
                            <a:srgbClr val="14313B"/>
                          </a:solidFill>
                          <a:latin typeface="Calibri (MS)"/>
                        </a:rPr>
                        <a:t>Wisatawan</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 = 0</a:t>
                      </a:r>
                    </a:p>
                  </a:txBody>
                  <a:tcPr marL="73152" marR="73152" marT="36576" marB="36576" anchor="ctr">
                    <a:solidFill>
                      <a:srgbClr val="FFFFFF"/>
                    </a:solidFill>
                  </a:tcPr>
                </a:tc>
                <a:tc>
                  <a:txBody>
                    <a:bodyPr wrap="square"/>
                    <a:lstStyle/>
                    <a:p>
                      <a:pPr algn="ctr"/>
                      <a:r>
                        <a:rPr sz="950" b="0" i="0">
                          <a:solidFill>
                            <a:srgbClr val="14313B"/>
                          </a:solidFill>
                          <a:latin typeface="Calibri (MS)"/>
                        </a:rPr>
                        <a:t>6.343,72</a:t>
                      </a:r>
                    </a:p>
                  </a:txBody>
                  <a:tcPr marL="73152" marR="73152" marT="36576" marB="36576" anchor="ctr">
                    <a:solidFill>
                      <a:srgbClr val="FFF1BF"/>
                    </a:solidFill>
                  </a:tcPr>
                </a:tc>
                <a:tc>
                  <a:txBody>
                    <a:bodyPr wrap="square"/>
                    <a:lstStyle/>
                    <a:p>
                      <a:pPr algn="ctr"/>
                      <a:r>
                        <a:rPr sz="950" b="0" i="0">
                          <a:solidFill>
                            <a:srgbClr val="14313B"/>
                          </a:solidFill>
                          <a:latin typeface="Calibri (MS)"/>
                        </a:rPr>
                        <a:t>254.956</a:t>
                      </a:r>
                    </a:p>
                  </a:txBody>
                  <a:tcPr marL="73152" marR="73152" marT="36576" marB="36576" anchor="ctr">
                    <a:solidFill>
                      <a:srgbClr val="FFFFFF"/>
                    </a:solidFill>
                  </a:tcPr>
                </a:tc>
                <a:tc>
                  <a:txBody>
                    <a:bodyPr wrap="square"/>
                    <a:lstStyle/>
                    <a:p>
                      <a:pPr algn="ctr"/>
                      <a:r>
                        <a:rPr sz="950" b="0" i="0">
                          <a:solidFill>
                            <a:srgbClr val="14313B"/>
                          </a:solidFill>
                          <a:latin typeface="Calibri (MS)"/>
                        </a:rPr>
                        <a:t>5.179</a:t>
                      </a:r>
                    </a:p>
                  </a:txBody>
                  <a:tcPr marL="73152" marR="73152" marT="36576" marB="36576" anchor="ctr">
                    <a:solidFill>
                      <a:srgbClr val="FFFFFF"/>
                    </a:solidFill>
                  </a:tcPr>
                </a:tc>
                <a:tc>
                  <a:txBody>
                    <a:bodyPr wrap="square"/>
                    <a:lstStyle/>
                    <a:p>
                      <a:pPr algn="ctr"/>
                      <a:r>
                        <a:rPr sz="950" b="0" i="0">
                          <a:solidFill>
                            <a:srgbClr val="14313B"/>
                          </a:solidFill>
                          <a:latin typeface="Calibri (MS)"/>
                        </a:rPr>
                        <a:t>35.985,56</a:t>
                      </a:r>
                    </a:p>
                  </a:txBody>
                  <a:tcPr marL="73152" marR="73152" marT="36576" marB="36576" anchor="ctr">
                    <a:solidFill>
                      <a:srgbClr val="FFFFFF"/>
                    </a:solidFill>
                  </a:tcPr>
                </a:tc>
                <a:tc>
                  <a:txBody>
                    <a:bodyPr wrap="square"/>
                    <a:lstStyle/>
                    <a:p>
                      <a:pPr algn="ctr"/>
                      <a:r>
                        <a:rPr sz="950" b="0" i="0">
                          <a:solidFill>
                            <a:srgbClr val="14313B"/>
                          </a:solidFill>
                          <a:latin typeface="Calibri (MS)"/>
                        </a:rPr>
                        <a:t>148.742</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E03</a:t>
                      </a:r>
                    </a:p>
                  </a:txBody>
                  <a:tcPr marL="73152" marR="73152" marT="36576" marB="36576" anchor="ctr">
                    <a:solidFill>
                      <a:srgbClr val="EAF8FA"/>
                    </a:solidFill>
                  </a:tcPr>
                </a:tc>
                <a:tc>
                  <a:txBody>
                    <a:bodyPr wrap="square"/>
                    <a:lstStyle/>
                    <a:p>
                      <a:r>
                        <a:rPr sz="950" b="0" i="0">
                          <a:solidFill>
                            <a:srgbClr val="14313B"/>
                          </a:solidFill>
                          <a:latin typeface="Calibri (MS)"/>
                        </a:rPr>
                        <a:t>Ekonomi</a:t>
                      </a:r>
                    </a:p>
                  </a:txBody>
                  <a:tcPr marL="73152" marR="73152" marT="36576" marB="36576" anchor="ctr">
                    <a:solidFill>
                      <a:srgbClr val="EAF8FA"/>
                    </a:solidFill>
                  </a:tcPr>
                </a:tc>
                <a:tc>
                  <a:txBody>
                    <a:bodyPr wrap="square"/>
                    <a:lstStyle/>
                    <a:p>
                      <a:r>
                        <a:rPr sz="950" b="0" i="0">
                          <a:solidFill>
                            <a:srgbClr val="14313B"/>
                          </a:solidFill>
                          <a:latin typeface="Calibri (MS)"/>
                        </a:rPr>
                        <a:t>Pengeluaran per Kunjungan = 0</a:t>
                      </a:r>
                    </a:p>
                  </a:txBody>
                  <a:tcPr marL="73152" marR="73152" marT="36576" marB="36576" anchor="ctr">
                    <a:solidFill>
                      <a:srgbClr val="EAF8FA"/>
                    </a:solidFill>
                  </a:tcPr>
                </a:tc>
                <a:tc>
                  <a:txBody>
                    <a:bodyPr wrap="square"/>
                    <a:lstStyle/>
                    <a:p>
                      <a:pPr algn="ctr"/>
                      <a:r>
                        <a:rPr sz="950" b="0" i="0">
                          <a:solidFill>
                            <a:srgbClr val="14313B"/>
                          </a:solidFill>
                          <a:latin typeface="Calibri (MS)"/>
                        </a:rPr>
                        <a:t>71,56</a:t>
                      </a:r>
                    </a:p>
                  </a:txBody>
                  <a:tcPr marL="73152" marR="73152" marT="36576" marB="36576" anchor="ctr">
                    <a:solidFill>
                      <a:srgbClr val="EAF8FA"/>
                    </a:solidFill>
                  </a:tcPr>
                </a:tc>
                <a:tc>
                  <a:txBody>
                    <a:bodyPr wrap="square"/>
                    <a:lstStyle/>
                    <a:p>
                      <a:pPr algn="ctr"/>
                      <a:r>
                        <a:rPr sz="950" b="0" i="0">
                          <a:solidFill>
                            <a:srgbClr val="14313B"/>
                          </a:solidFill>
                          <a:latin typeface="Calibri (MS)"/>
                        </a:rPr>
                        <a:t>635</a:t>
                      </a:r>
                    </a:p>
                  </a:txBody>
                  <a:tcPr marL="73152" marR="73152" marT="36576" marB="36576" anchor="ctr">
                    <a:solidFill>
                      <a:srgbClr val="EAF8FA"/>
                    </a:solidFill>
                  </a:tcPr>
                </a:tc>
                <a:tc>
                  <a:txBody>
                    <a:bodyPr wrap="square"/>
                    <a:lstStyle/>
                    <a:p>
                      <a:pPr algn="ctr"/>
                      <a:r>
                        <a:rPr sz="950" b="0" i="0">
                          <a:solidFill>
                            <a:srgbClr val="14313B"/>
                          </a:solidFill>
                          <a:latin typeface="Calibri (MS)"/>
                        </a:rPr>
                        <a:t>134</a:t>
                      </a:r>
                    </a:p>
                  </a:txBody>
                  <a:tcPr marL="73152" marR="73152" marT="36576" marB="36576" anchor="ctr">
                    <a:solidFill>
                      <a:srgbClr val="EAF8FA"/>
                    </a:solidFill>
                  </a:tcPr>
                </a:tc>
                <a:tc>
                  <a:txBody>
                    <a:bodyPr wrap="square"/>
                    <a:lstStyle/>
                    <a:p>
                      <a:pPr algn="ctr"/>
                      <a:r>
                        <a:rPr sz="950" b="0" i="0">
                          <a:solidFill>
                            <a:srgbClr val="14313B"/>
                          </a:solidFill>
                          <a:latin typeface="Calibri (MS)"/>
                        </a:rPr>
                        <a:t>170,44</a:t>
                      </a:r>
                    </a:p>
                  </a:txBody>
                  <a:tcPr marL="73152" marR="73152" marT="36576" marB="36576" anchor="ctr">
                    <a:solidFill>
                      <a:srgbClr val="EAF8FA"/>
                    </a:solidFill>
                  </a:tcPr>
                </a:tc>
                <a:tc>
                  <a:txBody>
                    <a:bodyPr wrap="square"/>
                    <a:lstStyle/>
                    <a:p>
                      <a:pPr algn="ctr"/>
                      <a:r>
                        <a:rPr sz="950" b="0" i="0">
                          <a:solidFill>
                            <a:srgbClr val="14313B"/>
                          </a:solidFill>
                          <a:latin typeface="Calibri (MS)"/>
                        </a:rPr>
                        <a:t>121.169</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E04</a:t>
                      </a:r>
                    </a:p>
                  </a:txBody>
                  <a:tcPr marL="73152" marR="73152" marT="36576" marB="36576" anchor="ctr">
                    <a:solidFill>
                      <a:srgbClr val="FFFFFF"/>
                    </a:solidFill>
                  </a:tcPr>
                </a:tc>
                <a:tc>
                  <a:txBody>
                    <a:bodyPr wrap="square"/>
                    <a:lstStyle/>
                    <a:p>
                      <a:r>
                        <a:rPr sz="950" b="0" i="0">
                          <a:solidFill>
                            <a:srgbClr val="14313B"/>
                          </a:solidFill>
                          <a:latin typeface="Calibri (MS)"/>
                        </a:rPr>
                        <a:t>Hotel</a:t>
                      </a:r>
                    </a:p>
                  </a:txBody>
                  <a:tcPr marL="73152" marR="73152" marT="36576" marB="36576" anchor="ctr">
                    <a:solidFill>
                      <a:srgbClr val="FFFFFF"/>
                    </a:solidFill>
                  </a:tcPr>
                </a:tc>
                <a:tc>
                  <a:txBody>
                    <a:bodyPr wrap="square"/>
                    <a:lstStyle/>
                    <a:p>
                      <a:r>
                        <a:rPr sz="950" b="0" i="0">
                          <a:solidFill>
                            <a:srgbClr val="14313B"/>
                          </a:solidFill>
                          <a:latin typeface="Calibri (MS)"/>
                        </a:rPr>
                        <a:t>Rasio Investasi thd PDRB = 0</a:t>
                      </a:r>
                    </a:p>
                  </a:txBody>
                  <a:tcPr marL="73152" marR="73152" marT="36576" marB="36576" anchor="ctr">
                    <a:solidFill>
                      <a:srgbClr val="FFFFFF"/>
                    </a:solidFill>
                  </a:tcPr>
                </a:tc>
                <a:tc>
                  <a:txBody>
                    <a:bodyPr wrap="square"/>
                    <a:lstStyle/>
                    <a:p>
                      <a:pPr algn="ctr"/>
                      <a:r>
                        <a:rPr sz="950" b="0" i="0">
                          <a:solidFill>
                            <a:srgbClr val="14313B"/>
                          </a:solidFill>
                          <a:latin typeface="Calibri (MS)"/>
                        </a:rPr>
                        <a:t>71,56</a:t>
                      </a:r>
                    </a:p>
                  </a:txBody>
                  <a:tcPr marL="73152" marR="73152" marT="36576" marB="36576" anchor="ctr">
                    <a:solidFill>
                      <a:srgbClr val="FFFFFF"/>
                    </a:solidFill>
                  </a:tcPr>
                </a:tc>
                <a:tc>
                  <a:txBody>
                    <a:bodyPr wrap="square"/>
                    <a:lstStyle/>
                    <a:p>
                      <a:pPr algn="ctr"/>
                      <a:r>
                        <a:rPr sz="950" b="0" i="0">
                          <a:solidFill>
                            <a:srgbClr val="14313B"/>
                          </a:solidFill>
                          <a:latin typeface="Calibri (MS)"/>
                        </a:rPr>
                        <a:t>635</a:t>
                      </a:r>
                    </a:p>
                  </a:txBody>
                  <a:tcPr marL="73152" marR="73152" marT="36576" marB="36576" anchor="ctr">
                    <a:solidFill>
                      <a:srgbClr val="FFFFFF"/>
                    </a:solidFill>
                  </a:tcPr>
                </a:tc>
                <a:tc>
                  <a:txBody>
                    <a:bodyPr wrap="square"/>
                    <a:lstStyle/>
                    <a:p>
                      <a:pPr algn="ctr"/>
                      <a:r>
                        <a:rPr sz="950" b="0" i="0">
                          <a:solidFill>
                            <a:srgbClr val="14313B"/>
                          </a:solidFill>
                          <a:latin typeface="Calibri (MS)"/>
                        </a:rPr>
                        <a:t>134</a:t>
                      </a:r>
                    </a:p>
                  </a:txBody>
                  <a:tcPr marL="73152" marR="73152" marT="36576" marB="36576" anchor="ctr">
                    <a:solidFill>
                      <a:srgbClr val="FFFFFF"/>
                    </a:solidFill>
                  </a:tcPr>
                </a:tc>
                <a:tc>
                  <a:txBody>
                    <a:bodyPr wrap="square"/>
                    <a:lstStyle/>
                    <a:p>
                      <a:pPr algn="ctr"/>
                      <a:r>
                        <a:rPr sz="950" b="0" i="0">
                          <a:solidFill>
                            <a:srgbClr val="14313B"/>
                          </a:solidFill>
                          <a:latin typeface="Calibri (MS)"/>
                        </a:rPr>
                        <a:t>493,42</a:t>
                      </a:r>
                    </a:p>
                  </a:txBody>
                  <a:tcPr marL="73152" marR="73152" marT="36576" marB="36576" anchor="ctr">
                    <a:solidFill>
                      <a:srgbClr val="FFFFFF"/>
                    </a:solidFill>
                  </a:tcPr>
                </a:tc>
                <a:tc>
                  <a:txBody>
                    <a:bodyPr wrap="square"/>
                    <a:lstStyle/>
                    <a:p>
                      <a:pPr algn="ctr"/>
                      <a:r>
                        <a:rPr sz="950" b="0" i="0">
                          <a:solidFill>
                            <a:srgbClr val="14313B"/>
                          </a:solidFill>
                          <a:latin typeface="Calibri (MS)"/>
                        </a:rPr>
                        <a:t>121.169</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E05</a:t>
                      </a:r>
                    </a:p>
                  </a:txBody>
                  <a:tcPr marL="73152" marR="73152" marT="36576" marB="36576" anchor="ctr">
                    <a:solidFill>
                      <a:srgbClr val="EAF8FA"/>
                    </a:solidFill>
                  </a:tcPr>
                </a:tc>
                <a:tc>
                  <a:txBody>
                    <a:bodyPr wrap="square"/>
                    <a:lstStyle/>
                    <a:p>
                      <a:r>
                        <a:rPr sz="950" b="0" i="0">
                          <a:solidFill>
                            <a:srgbClr val="14313B"/>
                          </a:solidFill>
                          <a:latin typeface="Calibri (MS)"/>
                        </a:rPr>
                        <a:t>Hotel</a:t>
                      </a:r>
                    </a:p>
                  </a:txBody>
                  <a:tcPr marL="73152" marR="73152" marT="36576" marB="36576" anchor="ctr">
                    <a:solidFill>
                      <a:srgbClr val="EAF8FA"/>
                    </a:solidFill>
                  </a:tcPr>
                </a:tc>
                <a:tc>
                  <a:txBody>
                    <a:bodyPr wrap="square"/>
                    <a:lstStyle/>
                    <a:p>
                      <a:r>
                        <a:rPr sz="950" b="0" i="0">
                          <a:solidFill>
                            <a:srgbClr val="14313B"/>
                          </a:solidFill>
                          <a:latin typeface="Calibri (MS)"/>
                        </a:rPr>
                        <a:t>Laju Demolisi Dasar = 0</a:t>
                      </a:r>
                    </a:p>
                  </a:txBody>
                  <a:tcPr marL="73152" marR="73152" marT="36576" marB="36576" anchor="ctr">
                    <a:solidFill>
                      <a:srgbClr val="EAF8FA"/>
                    </a:solidFill>
                  </a:tcPr>
                </a:tc>
                <a:tc>
                  <a:txBody>
                    <a:bodyPr wrap="square"/>
                    <a:lstStyle/>
                    <a:p>
                      <a:pPr algn="ctr"/>
                      <a:r>
                        <a:rPr sz="950" b="0" i="0">
                          <a:solidFill>
                            <a:srgbClr val="14313B"/>
                          </a:solidFill>
                          <a:latin typeface="Calibri (MS)"/>
                        </a:rPr>
                        <a:t>96,27</a:t>
                      </a:r>
                    </a:p>
                  </a:txBody>
                  <a:tcPr marL="73152" marR="73152" marT="36576" marB="36576" anchor="ctr">
                    <a:solidFill>
                      <a:srgbClr val="EAF8FA"/>
                    </a:solidFill>
                  </a:tcPr>
                </a:tc>
                <a:tc>
                  <a:txBody>
                    <a:bodyPr wrap="square"/>
                    <a:lstStyle/>
                    <a:p>
                      <a:pPr algn="ctr"/>
                      <a:r>
                        <a:rPr sz="950" b="0" i="0">
                          <a:solidFill>
                            <a:srgbClr val="14313B"/>
                          </a:solidFill>
                          <a:latin typeface="Calibri (MS)"/>
                        </a:rPr>
                        <a:t>6.357</a:t>
                      </a:r>
                    </a:p>
                  </a:txBody>
                  <a:tcPr marL="73152" marR="73152" marT="36576" marB="36576" anchor="ctr">
                    <a:solidFill>
                      <a:srgbClr val="EAF8FA"/>
                    </a:solidFill>
                  </a:tcPr>
                </a:tc>
                <a:tc>
                  <a:txBody>
                    <a:bodyPr wrap="square"/>
                    <a:lstStyle/>
                    <a:p>
                      <a:pPr algn="ctr"/>
                      <a:r>
                        <a:rPr sz="950" b="0" i="0">
                          <a:solidFill>
                            <a:srgbClr val="14313B"/>
                          </a:solidFill>
                          <a:latin typeface="Calibri (MS)"/>
                        </a:rPr>
                        <a:t>367</a:t>
                      </a:r>
                    </a:p>
                  </a:txBody>
                  <a:tcPr marL="73152" marR="73152" marT="36576" marB="36576" anchor="ctr">
                    <a:solidFill>
                      <a:srgbClr val="EAF8FA"/>
                    </a:solidFill>
                  </a:tcPr>
                </a:tc>
                <a:tc>
                  <a:txBody>
                    <a:bodyPr wrap="square"/>
                    <a:lstStyle/>
                    <a:p>
                      <a:pPr algn="ctr"/>
                      <a:r>
                        <a:rPr sz="950" b="0" i="0">
                          <a:solidFill>
                            <a:srgbClr val="14313B"/>
                          </a:solidFill>
                          <a:latin typeface="Calibri (MS)"/>
                        </a:rPr>
                        <a:t>650,79</a:t>
                      </a:r>
                    </a:p>
                  </a:txBody>
                  <a:tcPr marL="73152" marR="73152" marT="36576" marB="36576" anchor="ctr">
                    <a:solidFill>
                      <a:srgbClr val="EAF8FA"/>
                    </a:solidFill>
                  </a:tcPr>
                </a:tc>
                <a:tc>
                  <a:txBody>
                    <a:bodyPr wrap="square"/>
                    <a:lstStyle/>
                    <a:p>
                      <a:pPr algn="ctr"/>
                      <a:r>
                        <a:rPr sz="950" b="0" i="0">
                          <a:solidFill>
                            <a:srgbClr val="14313B"/>
                          </a:solidFill>
                          <a:latin typeface="Calibri (MS)"/>
                        </a:rPr>
                        <a:t>121.826</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E06</a:t>
                      </a:r>
                    </a:p>
                  </a:txBody>
                  <a:tcPr marL="73152" marR="73152" marT="36576" marB="36576" anchor="ctr">
                    <a:solidFill>
                      <a:srgbClr val="FFFFFF"/>
                    </a:solidFill>
                  </a:tcPr>
                </a:tc>
                <a:tc>
                  <a:txBody>
                    <a:bodyPr wrap="square"/>
                    <a:lstStyle/>
                    <a:p>
                      <a:r>
                        <a:rPr sz="950" b="0" i="0">
                          <a:solidFill>
                            <a:srgbClr val="14313B"/>
                          </a:solidFill>
                          <a:latin typeface="Calibri (MS)"/>
                        </a:rPr>
                        <a:t>Hotel</a:t>
                      </a:r>
                    </a:p>
                  </a:txBody>
                  <a:tcPr marL="73152" marR="73152" marT="36576" marB="36576" anchor="ctr">
                    <a:solidFill>
                      <a:srgbClr val="FFFFFF"/>
                    </a:solidFill>
                  </a:tcPr>
                </a:tc>
                <a:tc>
                  <a:txBody>
                    <a:bodyPr wrap="square"/>
                    <a:lstStyle/>
                    <a:p>
                      <a:r>
                        <a:rPr sz="950" b="0" i="0">
                          <a:solidFill>
                            <a:srgbClr val="14313B"/>
                          </a:solidFill>
                          <a:latin typeface="Calibri (MS)"/>
                        </a:rPr>
                        <a:t>TPK Ambang = 1</a:t>
                      </a:r>
                    </a:p>
                  </a:txBody>
                  <a:tcPr marL="73152" marR="73152" marT="36576" marB="36576" anchor="ctr">
                    <a:solidFill>
                      <a:srgbClr val="FFFFFF"/>
                    </a:solidFill>
                  </a:tcPr>
                </a:tc>
                <a:tc>
                  <a:txBody>
                    <a:bodyPr wrap="square"/>
                    <a:lstStyle/>
                    <a:p>
                      <a:pPr algn="ctr"/>
                      <a:r>
                        <a:rPr sz="950" b="0" i="0">
                          <a:solidFill>
                            <a:srgbClr val="14313B"/>
                          </a:solidFill>
                          <a:latin typeface="Calibri (MS)"/>
                        </a:rPr>
                        <a:t>96,35</a:t>
                      </a:r>
                    </a:p>
                  </a:txBody>
                  <a:tcPr marL="73152" marR="73152" marT="36576" marB="36576" anchor="ctr">
                    <a:solidFill>
                      <a:srgbClr val="FFFFFF"/>
                    </a:solidFill>
                  </a:tcPr>
                </a:tc>
                <a:tc>
                  <a:txBody>
                    <a:bodyPr wrap="square"/>
                    <a:lstStyle/>
                    <a:p>
                      <a:pPr algn="ctr"/>
                      <a:r>
                        <a:rPr sz="950" b="0" i="0">
                          <a:solidFill>
                            <a:srgbClr val="14313B"/>
                          </a:solidFill>
                          <a:latin typeface="Calibri (MS)"/>
                        </a:rPr>
                        <a:t>1.821</a:t>
                      </a:r>
                    </a:p>
                  </a:txBody>
                  <a:tcPr marL="73152" marR="73152" marT="36576" marB="36576" anchor="ctr">
                    <a:solidFill>
                      <a:srgbClr val="FFFFFF"/>
                    </a:solidFill>
                  </a:tcPr>
                </a:tc>
                <a:tc>
                  <a:txBody>
                    <a:bodyPr wrap="square"/>
                    <a:lstStyle/>
                    <a:p>
                      <a:pPr algn="ctr"/>
                      <a:r>
                        <a:rPr sz="950" b="0" i="0">
                          <a:solidFill>
                            <a:srgbClr val="14313B"/>
                          </a:solidFill>
                          <a:latin typeface="Calibri (MS)"/>
                        </a:rPr>
                        <a:t>367</a:t>
                      </a:r>
                    </a:p>
                  </a:txBody>
                  <a:tcPr marL="73152" marR="73152" marT="36576" marB="36576" anchor="ctr">
                    <a:solidFill>
                      <a:srgbClr val="FFFFFF"/>
                    </a:solidFill>
                  </a:tcPr>
                </a:tc>
                <a:tc>
                  <a:txBody>
                    <a:bodyPr wrap="square"/>
                    <a:lstStyle/>
                    <a:p>
                      <a:pPr algn="ctr"/>
                      <a:r>
                        <a:rPr sz="950" b="0" i="0">
                          <a:solidFill>
                            <a:srgbClr val="14313B"/>
                          </a:solidFill>
                          <a:latin typeface="Calibri (MS)"/>
                        </a:rPr>
                        <a:t>651,33</a:t>
                      </a:r>
                    </a:p>
                  </a:txBody>
                  <a:tcPr marL="73152" marR="73152" marT="36576" marB="36576" anchor="ctr">
                    <a:solidFill>
                      <a:srgbClr val="FFFFFF"/>
                    </a:solidFill>
                  </a:tcPr>
                </a:tc>
                <a:tc>
                  <a:txBody>
                    <a:bodyPr wrap="square"/>
                    <a:lstStyle/>
                    <a:p>
                      <a:pPr algn="ctr"/>
                      <a:r>
                        <a:rPr sz="950" b="0" i="0">
                          <a:solidFill>
                            <a:srgbClr val="14313B"/>
                          </a:solidFill>
                          <a:latin typeface="Calibri (MS)"/>
                        </a:rPr>
                        <a:t>121.519</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E07</a:t>
                      </a:r>
                    </a:p>
                  </a:txBody>
                  <a:tcPr marL="73152" marR="73152" marT="36576" marB="36576" anchor="ctr">
                    <a:solidFill>
                      <a:srgbClr val="EAF8FA"/>
                    </a:solidFill>
                  </a:tcPr>
                </a:tc>
                <a:tc>
                  <a:txBody>
                    <a:bodyPr wrap="square"/>
                    <a:lstStyle/>
                    <a:p>
                      <a:r>
                        <a:rPr sz="950" b="0" i="0">
                          <a:solidFill>
                            <a:srgbClr val="14313B"/>
                          </a:solidFill>
                          <a:latin typeface="Calibri (MS)"/>
                        </a:rPr>
                        <a:t>Hotel</a:t>
                      </a:r>
                    </a:p>
                  </a:txBody>
                  <a:tcPr marL="73152" marR="73152" marT="36576" marB="36576" anchor="ctr">
                    <a:solidFill>
                      <a:srgbClr val="EAF8FA"/>
                    </a:solidFill>
                  </a:tcPr>
                </a:tc>
                <a:tc>
                  <a:txBody>
                    <a:bodyPr wrap="square"/>
                    <a:lstStyle/>
                    <a:p>
                      <a:r>
                        <a:rPr sz="950" b="0" i="0">
                          <a:solidFill>
                            <a:srgbClr val="14313B"/>
                          </a:solidFill>
                          <a:latin typeface="Calibri (MS)"/>
                        </a:rPr>
                        <a:t>Proporsi Wisatawan Menginap = 0</a:t>
                      </a:r>
                    </a:p>
                  </a:txBody>
                  <a:tcPr marL="73152" marR="73152" marT="36576" marB="36576" anchor="ctr">
                    <a:solidFill>
                      <a:srgbClr val="EAF8FA"/>
                    </a:solidFill>
                  </a:tcPr>
                </a:tc>
                <a:tc>
                  <a:txBody>
                    <a:bodyPr wrap="square"/>
                    <a:lstStyle/>
                    <a:p>
                      <a:pPr algn="ctr"/>
                      <a:r>
                        <a:rPr sz="950" b="0" i="0">
                          <a:solidFill>
                            <a:srgbClr val="14313B"/>
                          </a:solidFill>
                          <a:latin typeface="Calibri (MS)"/>
                        </a:rPr>
                        <a:t>96,38</a:t>
                      </a:r>
                    </a:p>
                  </a:txBody>
                  <a:tcPr marL="73152" marR="73152" marT="36576" marB="36576" anchor="ctr">
                    <a:solidFill>
                      <a:srgbClr val="EAF8FA"/>
                    </a:solidFill>
                  </a:tcPr>
                </a:tc>
                <a:tc>
                  <a:txBody>
                    <a:bodyPr wrap="square"/>
                    <a:lstStyle/>
                    <a:p>
                      <a:pPr algn="ctr"/>
                      <a:r>
                        <a:rPr sz="950" b="0" i="0">
                          <a:solidFill>
                            <a:srgbClr val="14313B"/>
                          </a:solidFill>
                          <a:latin typeface="Calibri (MS)"/>
                        </a:rPr>
                        <a:t>635</a:t>
                      </a:r>
                    </a:p>
                  </a:txBody>
                  <a:tcPr marL="73152" marR="73152" marT="36576" marB="36576" anchor="ctr">
                    <a:solidFill>
                      <a:srgbClr val="EAF8FA"/>
                    </a:solidFill>
                  </a:tcPr>
                </a:tc>
                <a:tc>
                  <a:txBody>
                    <a:bodyPr wrap="square"/>
                    <a:lstStyle/>
                    <a:p>
                      <a:pPr algn="ctr"/>
                      <a:r>
                        <a:rPr sz="950" b="0" i="0">
                          <a:solidFill>
                            <a:srgbClr val="14313B"/>
                          </a:solidFill>
                          <a:latin typeface="Calibri (MS)"/>
                        </a:rPr>
                        <a:t>367</a:t>
                      </a:r>
                    </a:p>
                  </a:txBody>
                  <a:tcPr marL="73152" marR="73152" marT="36576" marB="36576" anchor="ctr">
                    <a:solidFill>
                      <a:srgbClr val="EAF8FA"/>
                    </a:solidFill>
                  </a:tcPr>
                </a:tc>
                <a:tc>
                  <a:txBody>
                    <a:bodyPr wrap="square"/>
                    <a:lstStyle/>
                    <a:p>
                      <a:pPr algn="ctr"/>
                      <a:r>
                        <a:rPr sz="950" b="0" i="0">
                          <a:solidFill>
                            <a:srgbClr val="14313B"/>
                          </a:solidFill>
                          <a:latin typeface="Calibri (MS)"/>
                        </a:rPr>
                        <a:t>651,46</a:t>
                      </a:r>
                    </a:p>
                  </a:txBody>
                  <a:tcPr marL="73152" marR="73152" marT="36576" marB="36576" anchor="ctr">
                    <a:solidFill>
                      <a:srgbClr val="EAF8FA"/>
                    </a:solidFill>
                  </a:tcPr>
                </a:tc>
                <a:tc>
                  <a:txBody>
                    <a:bodyPr wrap="square"/>
                    <a:lstStyle/>
                    <a:p>
                      <a:pPr algn="ctr"/>
                      <a:r>
                        <a:rPr sz="950" b="0" i="0">
                          <a:solidFill>
                            <a:srgbClr val="14313B"/>
                          </a:solidFill>
                          <a:latin typeface="Calibri (MS)"/>
                        </a:rPr>
                        <a:t>121.366</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E08</a:t>
                      </a:r>
                    </a:p>
                  </a:txBody>
                  <a:tcPr marL="73152" marR="73152" marT="36576" marB="36576" anchor="ctr">
                    <a:solidFill>
                      <a:srgbClr val="FFFFFF"/>
                    </a:solidFill>
                  </a:tcPr>
                </a:tc>
                <a:tc>
                  <a:txBody>
                    <a:bodyPr wrap="square"/>
                    <a:lstStyle/>
                    <a:p>
                      <a:r>
                        <a:rPr sz="950" b="0" i="0">
                          <a:solidFill>
                            <a:srgbClr val="14313B"/>
                          </a:solidFill>
                          <a:latin typeface="Calibri (MS)"/>
                        </a:rPr>
                        <a:t>ODTW</a:t>
                      </a:r>
                    </a:p>
                  </a:txBody>
                  <a:tcPr marL="73152" marR="73152" marT="36576" marB="36576" anchor="ctr">
                    <a:solidFill>
                      <a:srgbClr val="FFFFFF"/>
                    </a:solidFill>
                  </a:tcPr>
                </a:tc>
                <a:tc>
                  <a:txBody>
                    <a:bodyPr wrap="square"/>
                    <a:lstStyle/>
                    <a:p>
                      <a:r>
                        <a:rPr sz="950" b="0" i="0">
                          <a:solidFill>
                            <a:srgbClr val="14313B"/>
                          </a:solidFill>
                          <a:latin typeface="Calibri (MS)"/>
                        </a:rPr>
                        <a:t>Sensitivitas ODTW thd Investasi = 0; Pembangunan Non-Investasi = 0</a:t>
                      </a:r>
                    </a:p>
                  </a:txBody>
                  <a:tcPr marL="73152" marR="73152" marT="36576" marB="36576" anchor="ctr">
                    <a:solidFill>
                      <a:srgbClr val="FFFFFF"/>
                    </a:solidFill>
                  </a:tcPr>
                </a:tc>
                <a:tc>
                  <a:txBody>
                    <a:bodyPr wrap="square"/>
                    <a:lstStyle/>
                    <a:p>
                      <a:pPr algn="ctr"/>
                      <a:r>
                        <a:rPr sz="950" b="0" i="0">
                          <a:solidFill>
                            <a:srgbClr val="14313B"/>
                          </a:solidFill>
                          <a:latin typeface="Calibri (MS)"/>
                        </a:rPr>
                        <a:t>59,62</a:t>
                      </a:r>
                    </a:p>
                  </a:txBody>
                  <a:tcPr marL="73152" marR="73152" marT="36576" marB="36576" anchor="ctr">
                    <a:solidFill>
                      <a:srgbClr val="FFFFFF"/>
                    </a:solidFill>
                  </a:tcPr>
                </a:tc>
                <a:tc>
                  <a:txBody>
                    <a:bodyPr wrap="square"/>
                    <a:lstStyle/>
                    <a:p>
                      <a:pPr algn="ctr"/>
                      <a:r>
                        <a:rPr sz="950" b="0" i="0">
                          <a:solidFill>
                            <a:srgbClr val="14313B"/>
                          </a:solidFill>
                          <a:latin typeface="Calibri (MS)"/>
                        </a:rPr>
                        <a:t>3.667</a:t>
                      </a:r>
                    </a:p>
                  </a:txBody>
                  <a:tcPr marL="73152" marR="73152" marT="36576" marB="36576" anchor="ctr">
                    <a:solidFill>
                      <a:srgbClr val="FFFFFF"/>
                    </a:solidFill>
                  </a:tcPr>
                </a:tc>
                <a:tc>
                  <a:txBody>
                    <a:bodyPr wrap="square"/>
                    <a:lstStyle/>
                    <a:p>
                      <a:pPr algn="ctr"/>
                      <a:r>
                        <a:rPr sz="950" b="0" i="0">
                          <a:solidFill>
                            <a:srgbClr val="14313B"/>
                          </a:solidFill>
                          <a:latin typeface="Calibri (MS)"/>
                        </a:rPr>
                        <a:t>56</a:t>
                      </a:r>
                    </a:p>
                  </a:txBody>
                  <a:tcPr marL="73152" marR="73152" marT="36576" marB="36576" anchor="ctr">
                    <a:solidFill>
                      <a:srgbClr val="FFFFFF"/>
                    </a:solidFill>
                  </a:tcPr>
                </a:tc>
                <a:tc>
                  <a:txBody>
                    <a:bodyPr wrap="square"/>
                    <a:lstStyle/>
                    <a:p>
                      <a:pPr algn="ctr"/>
                      <a:r>
                        <a:rPr sz="950" b="0" i="0">
                          <a:solidFill>
                            <a:srgbClr val="14313B"/>
                          </a:solidFill>
                          <a:latin typeface="Calibri (MS)"/>
                        </a:rPr>
                        <a:t>416,04</a:t>
                      </a:r>
                    </a:p>
                  </a:txBody>
                  <a:tcPr marL="73152" marR="73152" marT="36576" marB="36576" anchor="ctr">
                    <a:solidFill>
                      <a:srgbClr val="FFFFFF"/>
                    </a:solidFill>
                  </a:tcPr>
                </a:tc>
                <a:tc>
                  <a:txBody>
                    <a:bodyPr wrap="square"/>
                    <a:lstStyle/>
                    <a:p>
                      <a:pPr algn="ctr"/>
                      <a:r>
                        <a:rPr sz="950" b="0" i="0">
                          <a:solidFill>
                            <a:srgbClr val="14313B"/>
                          </a:solidFill>
                          <a:latin typeface="Calibri (MS)"/>
                        </a:rPr>
                        <a:t>121.719</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E09</a:t>
                      </a:r>
                    </a:p>
                  </a:txBody>
                  <a:tcPr marL="73152" marR="73152" marT="36576" marB="36576" anchor="ctr">
                    <a:solidFill>
                      <a:srgbClr val="EAF8FA"/>
                    </a:solidFill>
                  </a:tcPr>
                </a:tc>
                <a:tc>
                  <a:txBody>
                    <a:bodyPr wrap="square"/>
                    <a:lstStyle/>
                    <a:p>
                      <a:r>
                        <a:rPr sz="950" b="0" i="0">
                          <a:solidFill>
                            <a:srgbClr val="14313B"/>
                          </a:solidFill>
                          <a:latin typeface="Calibri (MS)"/>
                        </a:rPr>
                        <a:t>Lahan</a:t>
                      </a:r>
                    </a:p>
                  </a:txBody>
                  <a:tcPr marL="73152" marR="73152" marT="36576" marB="36576" anchor="ctr">
                    <a:solidFill>
                      <a:srgbClr val="EAF8FA"/>
                    </a:solidFill>
                  </a:tcPr>
                </a:tc>
                <a:tc>
                  <a:txBody>
                    <a:bodyPr wrap="square"/>
                    <a:lstStyle/>
                    <a:p>
                      <a:r>
                        <a:rPr sz="950" b="0" i="0">
                          <a:solidFill>
                            <a:srgbClr val="14313B"/>
                          </a:solidFill>
                          <a:latin typeface="Calibri (MS)"/>
                        </a:rPr>
                        <a:t>Laju Konversi Dasar ×10 (0,436)</a:t>
                      </a:r>
                    </a:p>
                  </a:txBody>
                  <a:tcPr marL="73152" marR="73152" marT="36576" marB="36576" anchor="ctr">
                    <a:solidFill>
                      <a:srgbClr val="EAF8FA"/>
                    </a:solidFill>
                  </a:tcPr>
                </a:tc>
                <a:tc>
                  <a:txBody>
                    <a:bodyPr wrap="square"/>
                    <a:lstStyle/>
                    <a:p>
                      <a:pPr algn="ctr"/>
                      <a:r>
                        <a:rPr sz="950" b="0" i="0">
                          <a:solidFill>
                            <a:srgbClr val="14313B"/>
                          </a:solidFill>
                          <a:latin typeface="Calibri (MS)"/>
                        </a:rPr>
                        <a:t>47,40</a:t>
                      </a:r>
                    </a:p>
                  </a:txBody>
                  <a:tcPr marL="73152" marR="73152" marT="36576" marB="36576" anchor="ctr">
                    <a:solidFill>
                      <a:srgbClr val="EAF8FA"/>
                    </a:solidFill>
                  </a:tcPr>
                </a:tc>
                <a:tc>
                  <a:txBody>
                    <a:bodyPr wrap="square"/>
                    <a:lstStyle/>
                    <a:p>
                      <a:pPr algn="ctr"/>
                      <a:r>
                        <a:rPr sz="950" b="0" i="0">
                          <a:solidFill>
                            <a:srgbClr val="14313B"/>
                          </a:solidFill>
                          <a:latin typeface="Calibri (MS)"/>
                        </a:rPr>
                        <a:t>2.846</a:t>
                      </a:r>
                    </a:p>
                  </a:txBody>
                  <a:tcPr marL="73152" marR="73152" marT="36576" marB="36576" anchor="ctr">
                    <a:solidFill>
                      <a:srgbClr val="EAF8FA"/>
                    </a:solidFill>
                  </a:tcPr>
                </a:tc>
                <a:tc>
                  <a:txBody>
                    <a:bodyPr wrap="square"/>
                    <a:lstStyle/>
                    <a:p>
                      <a:pPr algn="ctr"/>
                      <a:r>
                        <a:rPr sz="950" b="0" i="0">
                          <a:solidFill>
                            <a:srgbClr val="14313B"/>
                          </a:solidFill>
                          <a:latin typeface="Calibri (MS)"/>
                        </a:rPr>
                        <a:t>286</a:t>
                      </a:r>
                    </a:p>
                  </a:txBody>
                  <a:tcPr marL="73152" marR="73152" marT="36576" marB="36576" anchor="ctr">
                    <a:solidFill>
                      <a:srgbClr val="EAF8FA"/>
                    </a:solidFill>
                  </a:tcPr>
                </a:tc>
                <a:tc>
                  <a:txBody>
                    <a:bodyPr wrap="square"/>
                    <a:lstStyle/>
                    <a:p>
                      <a:pPr algn="ctr"/>
                      <a:r>
                        <a:rPr sz="950" b="0" i="0">
                          <a:solidFill>
                            <a:srgbClr val="14313B"/>
                          </a:solidFill>
                          <a:latin typeface="Calibri (MS)"/>
                        </a:rPr>
                        <a:t>326,91</a:t>
                      </a:r>
                    </a:p>
                  </a:txBody>
                  <a:tcPr marL="73152" marR="73152" marT="36576" marB="36576" anchor="ctr">
                    <a:solidFill>
                      <a:srgbClr val="EAF8FA"/>
                    </a:solidFill>
                  </a:tcPr>
                </a:tc>
                <a:tc>
                  <a:txBody>
                    <a:bodyPr wrap="square"/>
                    <a:lstStyle/>
                    <a:p>
                      <a:pPr algn="ctr"/>
                      <a:r>
                        <a:rPr sz="950" b="0" i="0">
                          <a:solidFill>
                            <a:srgbClr val="14313B"/>
                          </a:solidFill>
                          <a:latin typeface="Calibri (MS)"/>
                        </a:rPr>
                        <a:t>317.033</a:t>
                      </a:r>
                    </a:p>
                  </a:txBody>
                  <a:tcPr marL="73152" marR="73152" marT="36576" marB="36576" anchor="ctr">
                    <a:solidFill>
                      <a:srgbClr val="FFF1BF"/>
                    </a:solidFill>
                  </a:tcPr>
                </a:tc>
              </a:tr>
              <a:tr h="315468">
                <a:tc>
                  <a:txBody>
                    <a:bodyPr wrap="square"/>
                    <a:lstStyle/>
                    <a:p>
                      <a:pPr algn="ctr"/>
                      <a:r>
                        <a:rPr sz="950" b="1" i="0">
                          <a:solidFill>
                            <a:srgbClr val="14313B"/>
                          </a:solidFill>
                          <a:latin typeface="Calibri (MS) Bold"/>
                        </a:rPr>
                        <a:t>E10</a:t>
                      </a:r>
                    </a:p>
                  </a:txBody>
                  <a:tcPr marL="73152" marR="73152" marT="36576" marB="36576" anchor="ctr">
                    <a:solidFill>
                      <a:srgbClr val="FFFFFF"/>
                    </a:solidFill>
                  </a:tcPr>
                </a:tc>
                <a:tc>
                  <a:txBody>
                    <a:bodyPr wrap="square"/>
                    <a:lstStyle/>
                    <a:p>
                      <a:r>
                        <a:rPr sz="950" b="0" i="0">
                          <a:solidFill>
                            <a:srgbClr val="14313B"/>
                          </a:solidFill>
                          <a:latin typeface="Calibri (MS)"/>
                        </a:rPr>
                        <a:t>Lahan</a:t>
                      </a:r>
                    </a:p>
                  </a:txBody>
                  <a:tcPr marL="73152" marR="73152" marT="36576" marB="36576" anchor="ctr">
                    <a:solidFill>
                      <a:srgbClr val="FFFFFF"/>
                    </a:solidFill>
                  </a:tcPr>
                </a:tc>
                <a:tc>
                  <a:txBody>
                    <a:bodyPr wrap="square"/>
                    <a:lstStyle/>
                    <a:p>
                      <a:r>
                        <a:rPr sz="950" b="0" i="0">
                          <a:solidFill>
                            <a:srgbClr val="14313B"/>
                          </a:solidFill>
                          <a:latin typeface="Calibri (MS)"/>
                        </a:rPr>
                        <a:t>Kebijakan Konservasi Lahan = 1</a:t>
                      </a:r>
                    </a:p>
                  </a:txBody>
                  <a:tcPr marL="73152" marR="73152" marT="36576" marB="36576" anchor="ctr">
                    <a:solidFill>
                      <a:srgbClr val="FFFFFF"/>
                    </a:solidFill>
                  </a:tcPr>
                </a:tc>
                <a:tc>
                  <a:txBody>
                    <a:bodyPr wrap="square"/>
                    <a:lstStyle/>
                    <a:p>
                      <a:pPr algn="ctr"/>
                      <a:r>
                        <a:rPr sz="950" b="0" i="0">
                          <a:solidFill>
                            <a:srgbClr val="14313B"/>
                          </a:solidFill>
                          <a:latin typeface="Calibri (MS)"/>
                        </a:rPr>
                        <a:t>96,43</a:t>
                      </a:r>
                    </a:p>
                  </a:txBody>
                  <a:tcPr marL="73152" marR="73152" marT="36576" marB="36576" anchor="ctr">
                    <a:solidFill>
                      <a:srgbClr val="FFFFFF"/>
                    </a:solidFill>
                  </a:tcPr>
                </a:tc>
                <a:tc>
                  <a:txBody>
                    <a:bodyPr wrap="square"/>
                    <a:lstStyle/>
                    <a:p>
                      <a:pPr algn="ctr"/>
                      <a:r>
                        <a:rPr sz="950" b="0" i="0">
                          <a:solidFill>
                            <a:srgbClr val="14313B"/>
                          </a:solidFill>
                          <a:latin typeface="Calibri (MS)"/>
                        </a:rPr>
                        <a:t>5.415</a:t>
                      </a:r>
                    </a:p>
                  </a:txBody>
                  <a:tcPr marL="73152" marR="73152" marT="36576" marB="36576" anchor="ctr">
                    <a:solidFill>
                      <a:srgbClr val="FFFFFF"/>
                    </a:solidFill>
                  </a:tcPr>
                </a:tc>
                <a:tc>
                  <a:txBody>
                    <a:bodyPr wrap="square"/>
                    <a:lstStyle/>
                    <a:p>
                      <a:pPr algn="ctr"/>
                      <a:r>
                        <a:rPr sz="950" b="0" i="0">
                          <a:solidFill>
                            <a:srgbClr val="14313B"/>
                          </a:solidFill>
                          <a:latin typeface="Calibri (MS)"/>
                        </a:rPr>
                        <a:t>367</a:t>
                      </a:r>
                    </a:p>
                  </a:txBody>
                  <a:tcPr marL="73152" marR="73152" marT="36576" marB="36576" anchor="ctr">
                    <a:solidFill>
                      <a:srgbClr val="FFFFFF"/>
                    </a:solidFill>
                  </a:tcPr>
                </a:tc>
                <a:tc>
                  <a:txBody>
                    <a:bodyPr wrap="square"/>
                    <a:lstStyle/>
                    <a:p>
                      <a:pPr algn="ctr"/>
                      <a:r>
                        <a:rPr sz="950" b="0" i="0">
                          <a:solidFill>
                            <a:srgbClr val="14313B"/>
                          </a:solidFill>
                          <a:latin typeface="Calibri (MS)"/>
                        </a:rPr>
                        <a:t>651,81</a:t>
                      </a:r>
                    </a:p>
                  </a:txBody>
                  <a:tcPr marL="73152" marR="73152" marT="36576" marB="36576" anchor="ctr">
                    <a:solidFill>
                      <a:srgbClr val="FFFFFF"/>
                    </a:solidFill>
                  </a:tcPr>
                </a:tc>
                <a:tc>
                  <a:txBody>
                    <a:bodyPr wrap="square"/>
                    <a:lstStyle/>
                    <a:p>
                      <a:pPr algn="ctr"/>
                      <a:r>
                        <a:rPr sz="950" b="0" i="0">
                          <a:solidFill>
                            <a:srgbClr val="14313B"/>
                          </a:solidFill>
                          <a:latin typeface="Calibri (MS)"/>
                        </a:rPr>
                        <a:t>121.094</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E11</a:t>
                      </a:r>
                    </a:p>
                  </a:txBody>
                  <a:tcPr marL="73152" marR="73152" marT="36576" marB="36576" anchor="ctr">
                    <a:solidFill>
                      <a:srgbClr val="EAF8FA"/>
                    </a:solidFill>
                  </a:tcPr>
                </a:tc>
                <a:tc>
                  <a:txBody>
                    <a:bodyPr wrap="square"/>
                    <a:lstStyle/>
                    <a:p>
                      <a:r>
                        <a:rPr sz="950" b="0" i="0">
                          <a:solidFill>
                            <a:srgbClr val="14313B"/>
                          </a:solidFill>
                          <a:latin typeface="Calibri (MS)"/>
                        </a:rPr>
                        <a:t>Lahan</a:t>
                      </a:r>
                    </a:p>
                  </a:txBody>
                  <a:tcPr marL="73152" marR="73152" marT="36576" marB="36576" anchor="ctr">
                    <a:solidFill>
                      <a:srgbClr val="EAF8FA"/>
                    </a:solidFill>
                  </a:tcPr>
                </a:tc>
                <a:tc>
                  <a:txBody>
                    <a:bodyPr wrap="square"/>
                    <a:lstStyle/>
                    <a:p>
                      <a:r>
                        <a:rPr sz="950" b="0" i="0">
                          <a:solidFill>
                            <a:srgbClr val="14313B"/>
                          </a:solidFill>
                          <a:latin typeface="Calibri (MS)"/>
                        </a:rPr>
                        <a:t>Lahan per Hotel dan per ODTW = 0</a:t>
                      </a:r>
                    </a:p>
                  </a:txBody>
                  <a:tcPr marL="73152" marR="73152" marT="36576" marB="36576" anchor="ctr">
                    <a:solidFill>
                      <a:srgbClr val="EAF8FA"/>
                    </a:solidFill>
                  </a:tcPr>
                </a:tc>
                <a:tc>
                  <a:txBody>
                    <a:bodyPr wrap="square"/>
                    <a:lstStyle/>
                    <a:p>
                      <a:pPr algn="ctr"/>
                      <a:r>
                        <a:rPr sz="950" b="0" i="0">
                          <a:solidFill>
                            <a:srgbClr val="14313B"/>
                          </a:solidFill>
                          <a:latin typeface="Calibri (MS)"/>
                        </a:rPr>
                        <a:t>96,43</a:t>
                      </a:r>
                    </a:p>
                  </a:txBody>
                  <a:tcPr marL="73152" marR="73152" marT="36576" marB="36576" anchor="ctr">
                    <a:solidFill>
                      <a:srgbClr val="EAF8FA"/>
                    </a:solidFill>
                  </a:tcPr>
                </a:tc>
                <a:tc>
                  <a:txBody>
                    <a:bodyPr wrap="square"/>
                    <a:lstStyle/>
                    <a:p>
                      <a:pPr algn="ctr"/>
                      <a:r>
                        <a:rPr sz="950" b="0" i="0">
                          <a:solidFill>
                            <a:srgbClr val="14313B"/>
                          </a:solidFill>
                          <a:latin typeface="Calibri (MS)"/>
                        </a:rPr>
                        <a:t>5.415</a:t>
                      </a:r>
                    </a:p>
                  </a:txBody>
                  <a:tcPr marL="73152" marR="73152" marT="36576" marB="36576" anchor="ctr">
                    <a:solidFill>
                      <a:srgbClr val="EAF8FA"/>
                    </a:solidFill>
                  </a:tcPr>
                </a:tc>
                <a:tc>
                  <a:txBody>
                    <a:bodyPr wrap="square"/>
                    <a:lstStyle/>
                    <a:p>
                      <a:pPr algn="ctr"/>
                      <a:r>
                        <a:rPr sz="950" b="0" i="0">
                          <a:solidFill>
                            <a:srgbClr val="14313B"/>
                          </a:solidFill>
                          <a:latin typeface="Calibri (MS)"/>
                        </a:rPr>
                        <a:t>367</a:t>
                      </a:r>
                    </a:p>
                  </a:txBody>
                  <a:tcPr marL="73152" marR="73152" marT="36576" marB="36576" anchor="ctr">
                    <a:solidFill>
                      <a:srgbClr val="EAF8FA"/>
                    </a:solidFill>
                  </a:tcPr>
                </a:tc>
                <a:tc>
                  <a:txBody>
                    <a:bodyPr wrap="square"/>
                    <a:lstStyle/>
                    <a:p>
                      <a:pPr algn="ctr"/>
                      <a:r>
                        <a:rPr sz="950" b="0" i="0">
                          <a:solidFill>
                            <a:srgbClr val="14313B"/>
                          </a:solidFill>
                          <a:latin typeface="Calibri (MS)"/>
                        </a:rPr>
                        <a:t>651,81</a:t>
                      </a:r>
                    </a:p>
                  </a:txBody>
                  <a:tcPr marL="73152" marR="73152" marT="36576" marB="36576" anchor="ctr">
                    <a:solidFill>
                      <a:srgbClr val="EAF8FA"/>
                    </a:solidFill>
                  </a:tcPr>
                </a:tc>
                <a:tc>
                  <a:txBody>
                    <a:bodyPr wrap="square"/>
                    <a:lstStyle/>
                    <a:p>
                      <a:pPr algn="ctr"/>
                      <a:r>
                        <a:rPr sz="950" b="0" i="0">
                          <a:solidFill>
                            <a:srgbClr val="14313B"/>
                          </a:solidFill>
                          <a:latin typeface="Calibri (MS)"/>
                        </a:rPr>
                        <a:t>121.094</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E12</a:t>
                      </a:r>
                    </a:p>
                  </a:txBody>
                  <a:tcPr marL="73152" marR="73152" marT="36576" marB="36576" anchor="ctr">
                    <a:solidFill>
                      <a:srgbClr val="FFFFFF"/>
                    </a:solidFill>
                  </a:tcPr>
                </a:tc>
                <a:tc>
                  <a:txBody>
                    <a:bodyPr wrap="square"/>
                    <a:lstStyle/>
                    <a:p>
                      <a:r>
                        <a:rPr sz="950" b="0" i="0">
                          <a:solidFill>
                            <a:srgbClr val="14313B"/>
                          </a:solidFill>
                          <a:latin typeface="Calibri (MS)"/>
                        </a:rPr>
                        <a:t>Tenaga Kerja</a:t>
                      </a:r>
                    </a:p>
                  </a:txBody>
                  <a:tcPr marL="73152" marR="73152" marT="36576" marB="36576" anchor="ctr">
                    <a:solidFill>
                      <a:srgbClr val="FFFFFF"/>
                    </a:solidFill>
                  </a:tcPr>
                </a:tc>
                <a:tc>
                  <a:txBody>
                    <a:bodyPr wrap="square"/>
                    <a:lstStyle/>
                    <a:p>
                      <a:r>
                        <a:rPr sz="950" b="0" i="0">
                          <a:solidFill>
                            <a:srgbClr val="14313B"/>
                          </a:solidFill>
                          <a:latin typeface="Calibri (MS)"/>
                        </a:rPr>
                        <a:t>Laju Kenaikan Produktivitas = 0</a:t>
                      </a:r>
                    </a:p>
                  </a:txBody>
                  <a:tcPr marL="73152" marR="73152" marT="36576" marB="36576" anchor="ctr">
                    <a:solidFill>
                      <a:srgbClr val="FFFFFF"/>
                    </a:solidFill>
                  </a:tcPr>
                </a:tc>
                <a:tc>
                  <a:txBody>
                    <a:bodyPr wrap="square"/>
                    <a:lstStyle/>
                    <a:p>
                      <a:pPr algn="ctr"/>
                      <a:r>
                        <a:rPr sz="950" b="0" i="0">
                          <a:solidFill>
                            <a:srgbClr val="14313B"/>
                          </a:solidFill>
                          <a:latin typeface="Calibri (MS)"/>
                        </a:rPr>
                        <a:t>96,20</a:t>
                      </a:r>
                    </a:p>
                  </a:txBody>
                  <a:tcPr marL="73152" marR="73152" marT="36576" marB="36576" anchor="ctr">
                    <a:solidFill>
                      <a:srgbClr val="FFFFFF"/>
                    </a:solidFill>
                  </a:tcPr>
                </a:tc>
                <a:tc>
                  <a:txBody>
                    <a:bodyPr wrap="square"/>
                    <a:lstStyle/>
                    <a:p>
                      <a:pPr algn="ctr"/>
                      <a:r>
                        <a:rPr sz="950" b="0" i="0">
                          <a:solidFill>
                            <a:srgbClr val="14313B"/>
                          </a:solidFill>
                          <a:latin typeface="Calibri (MS)"/>
                        </a:rPr>
                        <a:t>5.404</a:t>
                      </a:r>
                    </a:p>
                  </a:txBody>
                  <a:tcPr marL="73152" marR="73152" marT="36576" marB="36576" anchor="ctr">
                    <a:solidFill>
                      <a:srgbClr val="FFFFFF"/>
                    </a:solidFill>
                  </a:tcPr>
                </a:tc>
                <a:tc>
                  <a:txBody>
                    <a:bodyPr wrap="square"/>
                    <a:lstStyle/>
                    <a:p>
                      <a:pPr algn="ctr"/>
                      <a:r>
                        <a:rPr sz="950" b="0" i="0">
                          <a:solidFill>
                            <a:srgbClr val="14313B"/>
                          </a:solidFill>
                          <a:latin typeface="Calibri (MS)"/>
                        </a:rPr>
                        <a:t>367</a:t>
                      </a:r>
                    </a:p>
                  </a:txBody>
                  <a:tcPr marL="73152" marR="73152" marT="36576" marB="36576" anchor="ctr">
                    <a:solidFill>
                      <a:srgbClr val="FFFFFF"/>
                    </a:solidFill>
                  </a:tcPr>
                </a:tc>
                <a:tc>
                  <a:txBody>
                    <a:bodyPr wrap="square"/>
                    <a:lstStyle/>
                    <a:p>
                      <a:pPr algn="ctr"/>
                      <a:r>
                        <a:rPr sz="950" b="0" i="0">
                          <a:solidFill>
                            <a:srgbClr val="14313B"/>
                          </a:solidFill>
                          <a:latin typeface="Calibri (MS)"/>
                        </a:rPr>
                        <a:t>847,26</a:t>
                      </a:r>
                    </a:p>
                  </a:txBody>
                  <a:tcPr marL="73152" marR="73152" marT="36576" marB="36576" anchor="ctr">
                    <a:solidFill>
                      <a:srgbClr val="FFFFFF"/>
                    </a:solidFill>
                  </a:tcPr>
                </a:tc>
                <a:tc>
                  <a:txBody>
                    <a:bodyPr wrap="square"/>
                    <a:lstStyle/>
                    <a:p>
                      <a:pPr algn="ctr"/>
                      <a:r>
                        <a:rPr sz="950" b="0" i="0">
                          <a:solidFill>
                            <a:srgbClr val="14313B"/>
                          </a:solidFill>
                          <a:latin typeface="Calibri (MS)"/>
                        </a:rPr>
                        <a:t>122.208</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E13</a:t>
                      </a:r>
                    </a:p>
                  </a:txBody>
                  <a:tcPr marL="73152" marR="73152" marT="36576" marB="36576" anchor="ctr">
                    <a:solidFill>
                      <a:srgbClr val="EAF8FA"/>
                    </a:solidFill>
                  </a:tcPr>
                </a:tc>
                <a:tc>
                  <a:txBody>
                    <a:bodyPr wrap="square"/>
                    <a:lstStyle/>
                    <a:p>
                      <a:r>
                        <a:rPr sz="950" b="0" i="0">
                          <a:solidFill>
                            <a:srgbClr val="14313B"/>
                          </a:solidFill>
                          <a:latin typeface="Calibri (MS)"/>
                        </a:rPr>
                        <a:t>Tenaga Kerja</a:t>
                      </a:r>
                    </a:p>
                  </a:txBody>
                  <a:tcPr marL="73152" marR="73152" marT="36576" marB="36576" anchor="ctr">
                    <a:solidFill>
                      <a:srgbClr val="EAF8FA"/>
                    </a:solidFill>
                  </a:tcPr>
                </a:tc>
                <a:tc>
                  <a:txBody>
                    <a:bodyPr wrap="square"/>
                    <a:lstStyle/>
                    <a:p>
                      <a:r>
                        <a:rPr sz="950" b="0" i="0">
                          <a:solidFill>
                            <a:srgbClr val="14313B"/>
                          </a:solidFill>
                          <a:latin typeface="Calibri (MS)"/>
                        </a:rPr>
                        <a:t>Laju Keluar Dasar TK = 0</a:t>
                      </a:r>
                    </a:p>
                  </a:txBody>
                  <a:tcPr marL="73152" marR="73152" marT="36576" marB="36576" anchor="ctr">
                    <a:solidFill>
                      <a:srgbClr val="EAF8FA"/>
                    </a:solidFill>
                  </a:tcPr>
                </a:tc>
                <a:tc>
                  <a:txBody>
                    <a:bodyPr wrap="square"/>
                    <a:lstStyle/>
                    <a:p>
                      <a:pPr algn="ctr"/>
                      <a:r>
                        <a:rPr sz="950" b="0" i="0">
                          <a:solidFill>
                            <a:srgbClr val="14313B"/>
                          </a:solidFill>
                          <a:latin typeface="Calibri (MS)"/>
                        </a:rPr>
                        <a:t>96,20</a:t>
                      </a:r>
                    </a:p>
                  </a:txBody>
                  <a:tcPr marL="73152" marR="73152" marT="36576" marB="36576" anchor="ctr">
                    <a:solidFill>
                      <a:srgbClr val="EAF8FA"/>
                    </a:solidFill>
                  </a:tcPr>
                </a:tc>
                <a:tc>
                  <a:txBody>
                    <a:bodyPr wrap="square"/>
                    <a:lstStyle/>
                    <a:p>
                      <a:pPr algn="ctr"/>
                      <a:r>
                        <a:rPr sz="950" b="0" i="0">
                          <a:solidFill>
                            <a:srgbClr val="14313B"/>
                          </a:solidFill>
                          <a:latin typeface="Calibri (MS)"/>
                        </a:rPr>
                        <a:t>5.404</a:t>
                      </a:r>
                    </a:p>
                  </a:txBody>
                  <a:tcPr marL="73152" marR="73152" marT="36576" marB="36576" anchor="ctr">
                    <a:solidFill>
                      <a:srgbClr val="EAF8FA"/>
                    </a:solidFill>
                  </a:tcPr>
                </a:tc>
                <a:tc>
                  <a:txBody>
                    <a:bodyPr wrap="square"/>
                    <a:lstStyle/>
                    <a:p>
                      <a:pPr algn="ctr"/>
                      <a:r>
                        <a:rPr sz="950" b="0" i="0">
                          <a:solidFill>
                            <a:srgbClr val="14313B"/>
                          </a:solidFill>
                          <a:latin typeface="Calibri (MS)"/>
                        </a:rPr>
                        <a:t>367</a:t>
                      </a:r>
                    </a:p>
                  </a:txBody>
                  <a:tcPr marL="73152" marR="73152" marT="36576" marB="36576" anchor="ctr">
                    <a:solidFill>
                      <a:srgbClr val="EAF8FA"/>
                    </a:solidFill>
                  </a:tcPr>
                </a:tc>
                <a:tc>
                  <a:txBody>
                    <a:bodyPr wrap="square"/>
                    <a:lstStyle/>
                    <a:p>
                      <a:pPr algn="ctr"/>
                      <a:r>
                        <a:rPr sz="950" b="0" i="0">
                          <a:solidFill>
                            <a:srgbClr val="14313B"/>
                          </a:solidFill>
                          <a:latin typeface="Calibri (MS)"/>
                        </a:rPr>
                        <a:t>650,36</a:t>
                      </a:r>
                    </a:p>
                  </a:txBody>
                  <a:tcPr marL="73152" marR="73152" marT="36576" marB="36576" anchor="ctr">
                    <a:solidFill>
                      <a:srgbClr val="EAF8FA"/>
                    </a:solidFill>
                  </a:tcPr>
                </a:tc>
                <a:tc>
                  <a:txBody>
                    <a:bodyPr wrap="square"/>
                    <a:lstStyle/>
                    <a:p>
                      <a:pPr algn="ctr"/>
                      <a:r>
                        <a:rPr sz="950" b="0" i="0">
                          <a:solidFill>
                            <a:srgbClr val="14313B"/>
                          </a:solidFill>
                          <a:latin typeface="Calibri (MS)"/>
                        </a:rPr>
                        <a:t>122.208</a:t>
                      </a:r>
                    </a:p>
                  </a:txBody>
                  <a:tcPr marL="73152" marR="73152" marT="36576" marB="36576" anchor="ctr">
                    <a:solidFill>
                      <a:srgbClr val="EAF8FA"/>
                    </a:solidFill>
                  </a:tcPr>
                </a:tc>
              </a:tr>
              <a:tr h="315468">
                <a:tc>
                  <a:txBody>
                    <a:bodyPr wrap="square"/>
                    <a:lstStyle/>
                    <a:p>
                      <a:pPr algn="ctr"/>
                      <a:r>
                        <a:rPr sz="950" b="1" i="0">
                          <a:solidFill>
                            <a:srgbClr val="14313B"/>
                          </a:solidFill>
                          <a:latin typeface="Calibri (MS) Bold"/>
                        </a:rPr>
                        <a:t>E14</a:t>
                      </a:r>
                    </a:p>
                  </a:txBody>
                  <a:tcPr marL="73152" marR="73152" marT="36576" marB="36576" anchor="ctr">
                    <a:solidFill>
                      <a:srgbClr val="FFFFFF"/>
                    </a:solidFill>
                  </a:tcPr>
                </a:tc>
                <a:tc>
                  <a:txBody>
                    <a:bodyPr wrap="square"/>
                    <a:lstStyle/>
                    <a:p>
                      <a:r>
                        <a:rPr sz="950" b="0" i="0">
                          <a:solidFill>
                            <a:srgbClr val="14313B"/>
                          </a:solidFill>
                          <a:latin typeface="Calibri (MS)"/>
                        </a:rPr>
                        <a:t>Kebijakan</a:t>
                      </a:r>
                    </a:p>
                  </a:txBody>
                  <a:tcPr marL="73152" marR="73152" marT="36576" marB="36576" anchor="ctr">
                    <a:solidFill>
                      <a:srgbClr val="FFFFFF"/>
                    </a:solidFill>
                  </a:tcPr>
                </a:tc>
                <a:tc>
                  <a:txBody>
                    <a:bodyPr wrap="square"/>
                    <a:lstStyle/>
                    <a:p>
                      <a:r>
                        <a:rPr sz="950" b="0" i="0">
                          <a:solidFill>
                            <a:srgbClr val="14313B"/>
                          </a:solidFill>
                          <a:latin typeface="Calibri (MS)"/>
                        </a:rPr>
                        <a:t>Insentif Kebijakan = 5</a:t>
                      </a:r>
                    </a:p>
                  </a:txBody>
                  <a:tcPr marL="73152" marR="73152" marT="36576" marB="36576" anchor="ctr">
                    <a:solidFill>
                      <a:srgbClr val="FFFFFF"/>
                    </a:solidFill>
                  </a:tcPr>
                </a:tc>
                <a:tc>
                  <a:txBody>
                    <a:bodyPr wrap="square"/>
                    <a:lstStyle/>
                    <a:p>
                      <a:pPr algn="ctr"/>
                      <a:r>
                        <a:rPr sz="950" b="0" i="0">
                          <a:solidFill>
                            <a:srgbClr val="14313B"/>
                          </a:solidFill>
                          <a:latin typeface="Calibri (MS)"/>
                        </a:rPr>
                        <a:t>166,59</a:t>
                      </a:r>
                    </a:p>
                  </a:txBody>
                  <a:tcPr marL="73152" marR="73152" marT="36576" marB="36576" anchor="ctr">
                    <a:solidFill>
                      <a:srgbClr val="FFFFFF"/>
                    </a:solidFill>
                  </a:tcPr>
                </a:tc>
                <a:tc>
                  <a:txBody>
                    <a:bodyPr wrap="square"/>
                    <a:lstStyle/>
                    <a:p>
                      <a:pPr algn="ctr"/>
                      <a:r>
                        <a:rPr sz="950" b="0" i="0">
                          <a:solidFill>
                            <a:srgbClr val="14313B"/>
                          </a:solidFill>
                          <a:latin typeface="Calibri (MS)"/>
                        </a:rPr>
                        <a:t>11.355</a:t>
                      </a:r>
                    </a:p>
                  </a:txBody>
                  <a:tcPr marL="73152" marR="73152" marT="36576" marB="36576" anchor="ctr">
                    <a:solidFill>
                      <a:srgbClr val="FFFFFF"/>
                    </a:solidFill>
                  </a:tcPr>
                </a:tc>
                <a:tc>
                  <a:txBody>
                    <a:bodyPr wrap="square"/>
                    <a:lstStyle/>
                    <a:p>
                      <a:pPr algn="ctr"/>
                      <a:r>
                        <a:rPr sz="950" b="0" i="0">
                          <a:solidFill>
                            <a:srgbClr val="14313B"/>
                          </a:solidFill>
                          <a:latin typeface="Calibri (MS)"/>
                        </a:rPr>
                        <a:t>2.143</a:t>
                      </a:r>
                    </a:p>
                  </a:txBody>
                  <a:tcPr marL="73152" marR="73152" marT="36576" marB="36576" anchor="ctr">
                    <a:solidFill>
                      <a:srgbClr val="FFFFFF"/>
                    </a:solidFill>
                  </a:tcPr>
                </a:tc>
                <a:tc>
                  <a:txBody>
                    <a:bodyPr wrap="square"/>
                    <a:lstStyle/>
                    <a:p>
                      <a:pPr algn="ctr"/>
                      <a:r>
                        <a:rPr sz="950" b="0" i="0">
                          <a:solidFill>
                            <a:srgbClr val="14313B"/>
                          </a:solidFill>
                          <a:latin typeface="Calibri (MS)"/>
                        </a:rPr>
                        <a:t>1.108,34</a:t>
                      </a:r>
                    </a:p>
                  </a:txBody>
                  <a:tcPr marL="73152" marR="73152" marT="36576" marB="36576" anchor="ctr">
                    <a:solidFill>
                      <a:srgbClr val="FFFFFF"/>
                    </a:solidFill>
                  </a:tcPr>
                </a:tc>
                <a:tc>
                  <a:txBody>
                    <a:bodyPr wrap="square"/>
                    <a:lstStyle/>
                    <a:p>
                      <a:pPr algn="ctr"/>
                      <a:r>
                        <a:rPr sz="950" b="0" i="0">
                          <a:solidFill>
                            <a:srgbClr val="14313B"/>
                          </a:solidFill>
                          <a:latin typeface="Calibri (MS)"/>
                        </a:rPr>
                        <a:t>124.478</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E15</a:t>
                      </a:r>
                    </a:p>
                  </a:txBody>
                  <a:tcPr marL="73152" marR="73152" marT="36576" marB="36576" anchor="ctr">
                    <a:solidFill>
                      <a:srgbClr val="EAF8FA"/>
                    </a:solidFill>
                  </a:tcPr>
                </a:tc>
                <a:tc>
                  <a:txBody>
                    <a:bodyPr wrap="square"/>
                    <a:lstStyle/>
                    <a:p>
                      <a:r>
                        <a:rPr sz="950" b="0" i="0">
                          <a:solidFill>
                            <a:srgbClr val="14313B"/>
                          </a:solidFill>
                          <a:latin typeface="Calibri (MS)"/>
                        </a:rPr>
                        <a:t>Wisatawan</a:t>
                      </a:r>
                    </a:p>
                  </a:txBody>
                  <a:tcPr marL="73152" marR="73152" marT="36576" marB="36576" anchor="ctr">
                    <a:solidFill>
                      <a:srgbClr val="EAF8FA"/>
                    </a:solidFill>
                  </a:tcPr>
                </a:tc>
                <a:tc>
                  <a:txBody>
                    <a:bodyPr wrap="square"/>
                    <a:lstStyle/>
                    <a:p>
                      <a:r>
                        <a:rPr sz="950" b="0" i="0">
                          <a:solidFill>
                            <a:srgbClr val="14313B"/>
                          </a:solidFill>
                          <a:latin typeface="Calibri (MS)"/>
                        </a:rPr>
                        <a:t>Laju Pertumbuhan Eksternal ×3 (0,832)</a:t>
                      </a:r>
                    </a:p>
                  </a:txBody>
                  <a:tcPr marL="73152" marR="73152" marT="36576" marB="36576" anchor="ctr">
                    <a:solidFill>
                      <a:srgbClr val="EAF8FA"/>
                    </a:solidFill>
                  </a:tcPr>
                </a:tc>
                <a:tc>
                  <a:txBody>
                    <a:bodyPr wrap="square"/>
                    <a:lstStyle/>
                    <a:p>
                      <a:pPr algn="ctr"/>
                      <a:r>
                        <a:rPr sz="950" b="0" i="0">
                          <a:solidFill>
                            <a:srgbClr val="14313B"/>
                          </a:solidFill>
                          <a:latin typeface="Calibri (MS)"/>
                        </a:rPr>
                        <a:t>581.801,49</a:t>
                      </a:r>
                    </a:p>
                  </a:txBody>
                  <a:tcPr marL="73152" marR="73152" marT="36576" marB="36576" anchor="ctr">
                    <a:solidFill>
                      <a:srgbClr val="FFF1BF"/>
                    </a:solidFill>
                  </a:tcPr>
                </a:tc>
                <a:tc>
                  <a:txBody>
                    <a:bodyPr wrap="square"/>
                    <a:lstStyle/>
                    <a:p>
                      <a:pPr algn="ctr"/>
                      <a:r>
                        <a:rPr sz="950" b="0" i="0">
                          <a:solidFill>
                            <a:srgbClr val="14313B"/>
                          </a:solidFill>
                          <a:latin typeface="Calibri (MS)"/>
                        </a:rPr>
                        <a:t>21.542.004</a:t>
                      </a:r>
                    </a:p>
                  </a:txBody>
                  <a:tcPr marL="73152" marR="73152" marT="36576" marB="36576" anchor="ctr">
                    <a:solidFill>
                      <a:srgbClr val="EAF8FA"/>
                    </a:solidFill>
                  </a:tcPr>
                </a:tc>
                <a:tc>
                  <a:txBody>
                    <a:bodyPr wrap="square"/>
                    <a:lstStyle/>
                    <a:p>
                      <a:pPr algn="ctr"/>
                      <a:r>
                        <a:rPr sz="950" b="0" i="0">
                          <a:solidFill>
                            <a:srgbClr val="14313B"/>
                          </a:solidFill>
                          <a:latin typeface="Calibri (MS)"/>
                        </a:rPr>
                        <a:t>353.870</a:t>
                      </a:r>
                    </a:p>
                  </a:txBody>
                  <a:tcPr marL="73152" marR="73152" marT="36576" marB="36576" anchor="ctr">
                    <a:solidFill>
                      <a:srgbClr val="EAF8FA"/>
                    </a:solidFill>
                  </a:tcPr>
                </a:tc>
                <a:tc>
                  <a:txBody>
                    <a:bodyPr wrap="square"/>
                    <a:lstStyle/>
                    <a:p>
                      <a:pPr algn="ctr"/>
                      <a:r>
                        <a:rPr sz="950" b="0" i="0">
                          <a:solidFill>
                            <a:srgbClr val="14313B"/>
                          </a:solidFill>
                          <a:latin typeface="Calibri (MS)"/>
                        </a:rPr>
                        <a:t>3.096.262,46</a:t>
                      </a:r>
                    </a:p>
                  </a:txBody>
                  <a:tcPr marL="73152" marR="73152" marT="36576" marB="36576" anchor="ctr">
                    <a:solidFill>
                      <a:srgbClr val="EAF8FA"/>
                    </a:solidFill>
                  </a:tcPr>
                </a:tc>
                <a:tc>
                  <a:txBody>
                    <a:bodyPr wrap="square"/>
                    <a:lstStyle/>
                    <a:p>
                      <a:pPr algn="ctr"/>
                      <a:r>
                        <a:rPr sz="950" b="0" i="0">
                          <a:solidFill>
                            <a:srgbClr val="14313B"/>
                          </a:solidFill>
                          <a:latin typeface="Calibri (MS)"/>
                        </a:rPr>
                        <a:t>317.036</a:t>
                      </a:r>
                    </a:p>
                  </a:txBody>
                  <a:tcPr marL="73152" marR="73152" marT="36576" marB="36576" anchor="ctr">
                    <a:solidFill>
                      <a:srgbClr val="FFF1BF"/>
                    </a:solidFill>
                  </a:tcPr>
                </a:tc>
              </a:tr>
              <a:tr h="315468">
                <a:tc>
                  <a:txBody>
                    <a:bodyPr wrap="square"/>
                    <a:lstStyle/>
                    <a:p>
                      <a:pPr algn="ctr"/>
                      <a:r>
                        <a:rPr sz="950" b="1" i="0">
                          <a:solidFill>
                            <a:srgbClr val="14313B"/>
                          </a:solidFill>
                          <a:latin typeface="Calibri (MS) Bold"/>
                        </a:rPr>
                        <a:t>E16</a:t>
                      </a:r>
                    </a:p>
                  </a:txBody>
                  <a:tcPr marL="73152" marR="73152" marT="36576" marB="36576" anchor="ctr">
                    <a:solidFill>
                      <a:srgbClr val="FFFFFF"/>
                    </a:solidFill>
                  </a:tcPr>
                </a:tc>
                <a:tc>
                  <a:txBody>
                    <a:bodyPr wrap="square"/>
                    <a:lstStyle/>
                    <a:p>
                      <a:r>
                        <a:rPr sz="950" b="0" i="0">
                          <a:solidFill>
                            <a:srgbClr val="14313B"/>
                          </a:solidFill>
                          <a:latin typeface="Calibri (MS)"/>
                        </a:rPr>
                        <a:t>ODTW</a:t>
                      </a:r>
                    </a:p>
                  </a:txBody>
                  <a:tcPr marL="73152" marR="73152" marT="36576" marB="36576" anchor="ctr">
                    <a:solidFill>
                      <a:srgbClr val="FFFFFF"/>
                    </a:solidFill>
                  </a:tcPr>
                </a:tc>
                <a:tc>
                  <a:txBody>
                    <a:bodyPr wrap="square"/>
                    <a:lstStyle/>
                    <a:p>
                      <a:r>
                        <a:rPr sz="950" b="0" i="0">
                          <a:solidFill>
                            <a:srgbClr val="14313B"/>
                          </a:solidFill>
                          <a:latin typeface="Calibri (MS)"/>
                        </a:rPr>
                        <a:t>Laju Penutupan Dasar ODTW = 0</a:t>
                      </a:r>
                    </a:p>
                  </a:txBody>
                  <a:tcPr marL="73152" marR="73152" marT="36576" marB="36576" anchor="ctr">
                    <a:solidFill>
                      <a:srgbClr val="FFFFFF"/>
                    </a:solidFill>
                  </a:tcPr>
                </a:tc>
                <a:tc>
                  <a:txBody>
                    <a:bodyPr wrap="square"/>
                    <a:lstStyle/>
                    <a:p>
                      <a:pPr algn="ctr"/>
                      <a:r>
                        <a:rPr sz="950" b="0" i="0">
                          <a:solidFill>
                            <a:srgbClr val="14313B"/>
                          </a:solidFill>
                          <a:latin typeface="Calibri (MS)"/>
                        </a:rPr>
                        <a:t>127,78</a:t>
                      </a:r>
                    </a:p>
                  </a:txBody>
                  <a:tcPr marL="73152" marR="73152" marT="36576" marB="36576" anchor="ctr">
                    <a:solidFill>
                      <a:srgbClr val="FFFFFF"/>
                    </a:solidFill>
                  </a:tcPr>
                </a:tc>
                <a:tc>
                  <a:txBody>
                    <a:bodyPr wrap="square"/>
                    <a:lstStyle/>
                    <a:p>
                      <a:pPr algn="ctr"/>
                      <a:r>
                        <a:rPr sz="950" b="0" i="0">
                          <a:solidFill>
                            <a:srgbClr val="14313B"/>
                          </a:solidFill>
                          <a:latin typeface="Calibri (MS)"/>
                        </a:rPr>
                        <a:t>6.829</a:t>
                      </a:r>
                    </a:p>
                  </a:txBody>
                  <a:tcPr marL="73152" marR="73152" marT="36576" marB="36576" anchor="ctr">
                    <a:solidFill>
                      <a:srgbClr val="FFFFFF"/>
                    </a:solidFill>
                  </a:tcPr>
                </a:tc>
                <a:tc>
                  <a:txBody>
                    <a:bodyPr wrap="square"/>
                    <a:lstStyle/>
                    <a:p>
                      <a:pPr algn="ctr"/>
                      <a:r>
                        <a:rPr sz="950" b="0" i="0">
                          <a:solidFill>
                            <a:srgbClr val="14313B"/>
                          </a:solidFill>
                          <a:latin typeface="Calibri (MS)"/>
                        </a:rPr>
                        <a:t>755</a:t>
                      </a:r>
                    </a:p>
                  </a:txBody>
                  <a:tcPr marL="73152" marR="73152" marT="36576" marB="36576" anchor="ctr">
                    <a:solidFill>
                      <a:srgbClr val="FFFFFF"/>
                    </a:solidFill>
                  </a:tcPr>
                </a:tc>
                <a:tc>
                  <a:txBody>
                    <a:bodyPr wrap="square"/>
                    <a:lstStyle/>
                    <a:p>
                      <a:pPr algn="ctr"/>
                      <a:r>
                        <a:rPr sz="950" b="0" i="0">
                          <a:solidFill>
                            <a:srgbClr val="14313B"/>
                          </a:solidFill>
                          <a:latin typeface="Calibri (MS)"/>
                        </a:rPr>
                        <a:t>846,35</a:t>
                      </a:r>
                    </a:p>
                  </a:txBody>
                  <a:tcPr marL="73152" marR="73152" marT="36576" marB="36576" anchor="ctr">
                    <a:solidFill>
                      <a:srgbClr val="FFFFFF"/>
                    </a:solidFill>
                  </a:tcPr>
                </a:tc>
                <a:tc>
                  <a:txBody>
                    <a:bodyPr wrap="square"/>
                    <a:lstStyle/>
                    <a:p>
                      <a:pPr algn="ctr"/>
                      <a:r>
                        <a:rPr sz="950" b="0" i="0">
                          <a:solidFill>
                            <a:srgbClr val="14313B"/>
                          </a:solidFill>
                          <a:latin typeface="Calibri (MS)"/>
                        </a:rPr>
                        <a:t>122.397</a:t>
                      </a:r>
                    </a:p>
                  </a:txBody>
                  <a:tcPr marL="73152" marR="73152" marT="36576" marB="36576" anchor="ctr">
                    <a:solidFill>
                      <a:srgbClr val="FFFFFF"/>
                    </a:solidFill>
                  </a:tcPr>
                </a:tc>
              </a:tr>
              <a:tr h="315468">
                <a:tc>
                  <a:txBody>
                    <a:bodyPr wrap="square"/>
                    <a:lstStyle/>
                    <a:p>
                      <a:pPr algn="ctr"/>
                      <a:r>
                        <a:rPr sz="950" b="1" i="0">
                          <a:solidFill>
                            <a:srgbClr val="14313B"/>
                          </a:solidFill>
                          <a:latin typeface="Calibri (MS) Bold"/>
                        </a:rPr>
                        <a:t>E17</a:t>
                      </a:r>
                    </a:p>
                  </a:txBody>
                  <a:tcPr marL="73152" marR="73152" marT="36576" marB="36576" anchor="ctr">
                    <a:solidFill>
                      <a:srgbClr val="EAF8FA"/>
                    </a:solidFill>
                  </a:tcPr>
                </a:tc>
                <a:tc>
                  <a:txBody>
                    <a:bodyPr wrap="square"/>
                    <a:lstStyle/>
                    <a:p>
                      <a:r>
                        <a:rPr sz="950" b="0" i="0">
                          <a:solidFill>
                            <a:srgbClr val="14313B"/>
                          </a:solidFill>
                          <a:latin typeface="Calibri (MS)"/>
                        </a:rPr>
                        <a:t>Lahan</a:t>
                      </a:r>
                    </a:p>
                  </a:txBody>
                  <a:tcPr marL="73152" marR="73152" marT="36576" marB="36576" anchor="ctr">
                    <a:solidFill>
                      <a:srgbClr val="EAF8FA"/>
                    </a:solidFill>
                  </a:tcPr>
                </a:tc>
                <a:tc>
                  <a:txBody>
                    <a:bodyPr wrap="square"/>
                    <a:lstStyle/>
                    <a:p>
                      <a:r>
                        <a:rPr sz="950" b="0" i="0">
                          <a:solidFill>
                            <a:srgbClr val="14313B"/>
                          </a:solidFill>
                          <a:latin typeface="Calibri (MS)"/>
                        </a:rPr>
                        <a:t>Laju Konversi Dasar = 0</a:t>
                      </a:r>
                    </a:p>
                  </a:txBody>
                  <a:tcPr marL="73152" marR="73152" marT="36576" marB="36576" anchor="ctr">
                    <a:solidFill>
                      <a:srgbClr val="EAF8FA"/>
                    </a:solidFill>
                  </a:tcPr>
                </a:tc>
                <a:tc>
                  <a:txBody>
                    <a:bodyPr wrap="square"/>
                    <a:lstStyle/>
                    <a:p>
                      <a:pPr algn="ctr"/>
                      <a:r>
                        <a:rPr sz="950" b="0" i="0">
                          <a:solidFill>
                            <a:srgbClr val="14313B"/>
                          </a:solidFill>
                          <a:latin typeface="Calibri (MS)"/>
                        </a:rPr>
                        <a:t>111,39</a:t>
                      </a:r>
                    </a:p>
                  </a:txBody>
                  <a:tcPr marL="73152" marR="73152" marT="36576" marB="36576" anchor="ctr">
                    <a:solidFill>
                      <a:srgbClr val="EAF8FA"/>
                    </a:solidFill>
                  </a:tcPr>
                </a:tc>
                <a:tc>
                  <a:txBody>
                    <a:bodyPr wrap="square"/>
                    <a:lstStyle/>
                    <a:p>
                      <a:pPr algn="ctr"/>
                      <a:r>
                        <a:rPr sz="950" b="0" i="0">
                          <a:solidFill>
                            <a:srgbClr val="14313B"/>
                          </a:solidFill>
                          <a:latin typeface="Calibri (MS)"/>
                        </a:rPr>
                        <a:t>6.070</a:t>
                      </a:r>
                    </a:p>
                  </a:txBody>
                  <a:tcPr marL="73152" marR="73152" marT="36576" marB="36576" anchor="ctr">
                    <a:solidFill>
                      <a:srgbClr val="EAF8FA"/>
                    </a:solidFill>
                  </a:tcPr>
                </a:tc>
                <a:tc>
                  <a:txBody>
                    <a:bodyPr wrap="square"/>
                    <a:lstStyle/>
                    <a:p>
                      <a:pPr algn="ctr"/>
                      <a:r>
                        <a:rPr sz="950" b="0" i="0">
                          <a:solidFill>
                            <a:srgbClr val="14313B"/>
                          </a:solidFill>
                          <a:latin typeface="Calibri (MS)"/>
                        </a:rPr>
                        <a:t>384</a:t>
                      </a:r>
                    </a:p>
                  </a:txBody>
                  <a:tcPr marL="73152" marR="73152" marT="36576" marB="36576" anchor="ctr">
                    <a:solidFill>
                      <a:srgbClr val="EAF8FA"/>
                    </a:solidFill>
                  </a:tcPr>
                </a:tc>
                <a:tc>
                  <a:txBody>
                    <a:bodyPr wrap="square"/>
                    <a:lstStyle/>
                    <a:p>
                      <a:pPr algn="ctr"/>
                      <a:r>
                        <a:rPr sz="950" b="0" i="0">
                          <a:solidFill>
                            <a:srgbClr val="14313B"/>
                          </a:solidFill>
                          <a:latin typeface="Calibri (MS)"/>
                        </a:rPr>
                        <a:t>743,62</a:t>
                      </a:r>
                    </a:p>
                  </a:txBody>
                  <a:tcPr marL="73152" marR="73152" marT="36576" marB="36576" anchor="ctr">
                    <a:solidFill>
                      <a:srgbClr val="EAF8FA"/>
                    </a:solidFill>
                  </a:tcPr>
                </a:tc>
                <a:tc>
                  <a:txBody>
                    <a:bodyPr wrap="square"/>
                    <a:lstStyle/>
                    <a:p>
                      <a:pPr algn="ctr"/>
                      <a:r>
                        <a:rPr sz="950" b="0" i="0">
                          <a:solidFill>
                            <a:srgbClr val="14313B"/>
                          </a:solidFill>
                          <a:latin typeface="Calibri (MS)"/>
                        </a:rPr>
                        <a:t>56.161</a:t>
                      </a:r>
                    </a:p>
                  </a:txBody>
                  <a:tcPr marL="73152" marR="73152" marT="36576" marB="36576" anchor="ctr">
                    <a:solidFill>
                      <a:srgbClr val="EAF8FA"/>
                    </a:solidFill>
                  </a:tcPr>
                </a:tc>
              </a:tr>
            </a:tbl>
          </a:graphicData>
        </a:graphic>
      </p:graphicFrame>
      <p:sp>
        <p:nvSpPr>
          <p:cNvPr id="28" name="Rounded Rectangle 27"/>
          <p:cNvSpPr/>
          <p:nvPr/>
        </p:nvSpPr>
        <p:spPr>
          <a:xfrm>
            <a:off x="822960" y="841248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Nilai besar pada E02 dan E15 adalah konsekuensi desain uji (rem pertumbuhan dihapus/pendorong dilipatgandakan). Lahan E09 (317.033 ha) dan E15 (317.036 ha, Δt 0,25) berhenti tepat di bawah luas wilayah. E10 = E11 persis, sesuai hipotesis.</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(Tabel 43); hasil_uji_kondisi_ekstrem_v2.xlsx. E15 dijalankan pada Δt 0,25 tahun.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46 · Uji Kondisi Ekstrem (3/3): Pemeriksaan Aturan Fisik</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Seluruh 17 uji memenuhi aturan fisik dan hipotesisnya; pembatas hasil perbaikan struktur terbukti aktif</a:t>
            </a:r>
          </a:p>
        </p:txBody>
      </p:sp>
      <p:graphicFrame>
        <p:nvGraphicFramePr>
          <p:cNvPr id="27" name="Table 26"/>
          <p:cNvGraphicFramePr>
            <a:graphicFrameLocks noGrp="1"/>
          </p:cNvGraphicFramePr>
          <p:nvPr/>
        </p:nvGraphicFramePr>
        <p:xfrm>
          <a:off x="822960" y="1874519"/>
          <a:ext cx="10607039" cy="6336792"/>
        </p:xfrm>
        <a:graphic>
          <a:graphicData uri="http://schemas.openxmlformats.org/drawingml/2006/table">
            <a:tbl>
              <a:tblPr firstRow="1" bandRow="1">
                <a:tableStyleId>{5C22544A-7EE6-4342-B048-85BDC9FD1C3A}</a:tableStyleId>
              </a:tblPr>
              <a:tblGrid>
                <a:gridCol w="731519"/>
                <a:gridCol w="1554480"/>
                <a:gridCol w="1188720"/>
                <a:gridCol w="1828800"/>
                <a:gridCol w="1188720"/>
                <a:gridCol w="1371600"/>
                <a:gridCol w="1097280"/>
                <a:gridCol w="1645920"/>
              </a:tblGrid>
              <a:tr h="352044">
                <a:tc>
                  <a:txBody>
                    <a:bodyPr wrap="square"/>
                    <a:lstStyle/>
                    <a:p>
                      <a:r>
                        <a:rPr sz="1000" b="1" i="0">
                          <a:solidFill>
                            <a:srgbClr val="FFFFFF"/>
                          </a:solidFill>
                          <a:latin typeface="Calibri (MS) Bold"/>
                        </a:rPr>
                        <a:t>Kode</a:t>
                      </a:r>
                    </a:p>
                  </a:txBody>
                  <a:tcPr marL="73152" marR="73152" marT="36576" marB="36576" anchor="ctr">
                    <a:solidFill>
                      <a:srgbClr val="0B5E6E"/>
                    </a:solidFill>
                  </a:tcPr>
                </a:tc>
                <a:tc>
                  <a:txBody>
                    <a:bodyPr wrap="square"/>
                    <a:lstStyle/>
                    <a:p>
                      <a:r>
                        <a:rPr sz="1000" b="1" i="0">
                          <a:solidFill>
                            <a:srgbClr val="FFFFFF"/>
                          </a:solidFill>
                          <a:latin typeface="Calibri (MS) Bold"/>
                        </a:rPr>
                        <a:t>Subsistem</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TPK maks</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Rasio Permintaan maks</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RDDL min</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Daya Tarik min</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Hipotesis</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Status</a:t>
                      </a:r>
                    </a:p>
                  </a:txBody>
                  <a:tcPr marL="73152" marR="73152" marT="36576" marB="36576" anchor="ctr">
                    <a:solidFill>
                      <a:srgbClr val="0B5E6E"/>
                    </a:solidFill>
                  </a:tcPr>
                </a:tc>
              </a:tr>
              <a:tr h="352044">
                <a:tc>
                  <a:txBody>
                    <a:bodyPr wrap="square"/>
                    <a:lstStyle/>
                    <a:p>
                      <a:r>
                        <a:rPr sz="1000" b="1" i="0">
                          <a:solidFill>
                            <a:srgbClr val="14313B"/>
                          </a:solidFill>
                          <a:latin typeface="Calibri (MS) Bold"/>
                        </a:rPr>
                        <a:t>E01</a:t>
                      </a:r>
                    </a:p>
                  </a:txBody>
                  <a:tcPr marL="73152" marR="73152" marT="36576" marB="36576" anchor="ctr">
                    <a:solidFill>
                      <a:srgbClr val="FFFFFF"/>
                    </a:solidFill>
                  </a:tcPr>
                </a:tc>
                <a:tc>
                  <a:txBody>
                    <a:bodyPr wrap="square"/>
                    <a:lstStyle/>
                    <a:p>
                      <a:r>
                        <a:rPr sz="1000" b="0" i="0">
                          <a:solidFill>
                            <a:srgbClr val="14313B"/>
                          </a:solidFill>
                          <a:latin typeface="Calibri (MS)"/>
                        </a:rPr>
                        <a:t>Wisatawan</a:t>
                      </a:r>
                    </a:p>
                  </a:txBody>
                  <a:tcPr marL="73152" marR="73152" marT="36576" marB="36576" anchor="ctr">
                    <a:solidFill>
                      <a:srgbClr val="FFFFFF"/>
                    </a:solidFill>
                  </a:tcPr>
                </a:tc>
                <a:tc>
                  <a:txBody>
                    <a:bodyPr wrap="square"/>
                    <a:lstStyle/>
                    <a:p>
                      <a:pPr algn="ctr"/>
                      <a:r>
                        <a:rPr sz="1000" b="0" i="0">
                          <a:solidFill>
                            <a:srgbClr val="14313B"/>
                          </a:solidFill>
                          <a:latin typeface="Calibri (MS)"/>
                        </a:rPr>
                        <a:t>0,358</a:t>
                      </a:r>
                    </a:p>
                  </a:txBody>
                  <a:tcPr marL="73152" marR="73152" marT="36576" marB="36576" anchor="ctr">
                    <a:solidFill>
                      <a:srgbClr val="FFFFFF"/>
                    </a:solidFill>
                  </a:tcPr>
                </a:tc>
                <a:tc>
                  <a:txBody>
                    <a:bodyPr wrap="square"/>
                    <a:lstStyle/>
                    <a:p>
                      <a:pPr algn="ctr"/>
                      <a:r>
                        <a:rPr sz="1000" b="0" i="0">
                          <a:solidFill>
                            <a:srgbClr val="14313B"/>
                          </a:solidFill>
                          <a:latin typeface="Calibri (MS)"/>
                        </a:rPr>
                        <a:t>0,358</a:t>
                      </a:r>
                    </a:p>
                  </a:txBody>
                  <a:tcPr marL="73152" marR="73152" marT="36576" marB="36576" anchor="ctr">
                    <a:solidFill>
                      <a:srgbClr val="FFFFFF"/>
                    </a:solidFill>
                  </a:tcPr>
                </a:tc>
                <a:tc>
                  <a:txBody>
                    <a:bodyPr wrap="square"/>
                    <a:lstStyle/>
                    <a:p>
                      <a:pPr algn="ctr"/>
                      <a:r>
                        <a:rPr sz="1000" b="0" i="0">
                          <a:solidFill>
                            <a:srgbClr val="14313B"/>
                          </a:solidFill>
                          <a:latin typeface="Calibri (MS)"/>
                        </a:rPr>
                        <a:t>0,618</a:t>
                      </a:r>
                    </a:p>
                  </a:txBody>
                  <a:tcPr marL="73152" marR="73152" marT="36576" marB="36576" anchor="ctr">
                    <a:solidFill>
                      <a:srgbClr val="FFFFFF"/>
                    </a:solidFill>
                  </a:tcPr>
                </a:tc>
                <a:tc>
                  <a:txBody>
                    <a:bodyPr wrap="square"/>
                    <a:lstStyle/>
                    <a:p>
                      <a:pPr algn="ctr"/>
                      <a:r>
                        <a:rPr sz="1000" b="0" i="0">
                          <a:solidFill>
                            <a:srgbClr val="14313B"/>
                          </a:solidFill>
                          <a:latin typeface="Calibri (MS)"/>
                        </a:rPr>
                        <a:t>0,903</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E02</a:t>
                      </a:r>
                    </a:p>
                  </a:txBody>
                  <a:tcPr marL="73152" marR="73152" marT="36576" marB="36576" anchor="ctr">
                    <a:solidFill>
                      <a:srgbClr val="EAF8FA"/>
                    </a:solidFill>
                  </a:tcPr>
                </a:tc>
                <a:tc>
                  <a:txBody>
                    <a:bodyPr wrap="square"/>
                    <a:lstStyle/>
                    <a:p>
                      <a:r>
                        <a:rPr sz="1000" b="0" i="0">
                          <a:solidFill>
                            <a:srgbClr val="14313B"/>
                          </a:solidFill>
                          <a:latin typeface="Calibri (MS)"/>
                        </a:rPr>
                        <a:t>Wisatawan</a:t>
                      </a:r>
                    </a:p>
                  </a:txBody>
                  <a:tcPr marL="73152" marR="73152" marT="36576" marB="36576" anchor="ctr">
                    <a:solidFill>
                      <a:srgbClr val="EAF8FA"/>
                    </a:solidFill>
                  </a:tcPr>
                </a:tc>
                <a:tc>
                  <a:txBody>
                    <a:bodyPr wrap="square"/>
                    <a:lstStyle/>
                    <a:p>
                      <a:pPr algn="ctr"/>
                      <a:r>
                        <a:rPr sz="1000" b="0" i="0">
                          <a:solidFill>
                            <a:srgbClr val="14313B"/>
                          </a:solidFill>
                          <a:latin typeface="Calibri (MS)"/>
                        </a:rPr>
                        <a:t>0,511</a:t>
                      </a:r>
                    </a:p>
                  </a:txBody>
                  <a:tcPr marL="73152" marR="73152" marT="36576" marB="36576" anchor="ctr">
                    <a:solidFill>
                      <a:srgbClr val="EAF8FA"/>
                    </a:solidFill>
                  </a:tcPr>
                </a:tc>
                <a:tc>
                  <a:txBody>
                    <a:bodyPr wrap="square"/>
                    <a:lstStyle/>
                    <a:p>
                      <a:pPr algn="ctr"/>
                      <a:r>
                        <a:rPr sz="1000" b="0" i="0">
                          <a:solidFill>
                            <a:srgbClr val="14313B"/>
                          </a:solidFill>
                          <a:latin typeface="Calibri (MS)"/>
                        </a:rPr>
                        <a:t>0,511</a:t>
                      </a:r>
                    </a:p>
                  </a:txBody>
                  <a:tcPr marL="73152" marR="73152" marT="36576" marB="36576" anchor="ctr">
                    <a:solidFill>
                      <a:srgbClr val="EAF8FA"/>
                    </a:solidFill>
                  </a:tcPr>
                </a:tc>
                <a:tc>
                  <a:txBody>
                    <a:bodyPr wrap="square"/>
                    <a:lstStyle/>
                    <a:p>
                      <a:pPr algn="ctr"/>
                      <a:r>
                        <a:rPr sz="1000" b="0" i="0">
                          <a:solidFill>
                            <a:srgbClr val="14313B"/>
                          </a:solidFill>
                          <a:latin typeface="Calibri (MS)"/>
                        </a:rPr>
                        <a:t>0,531</a:t>
                      </a:r>
                    </a:p>
                  </a:txBody>
                  <a:tcPr marL="73152" marR="73152" marT="36576" marB="36576" anchor="ctr">
                    <a:solidFill>
                      <a:srgbClr val="EAF8FA"/>
                    </a:solidFill>
                  </a:tcPr>
                </a:tc>
                <a:tc>
                  <a:txBody>
                    <a:bodyPr wrap="square"/>
                    <a:lstStyle/>
                    <a:p>
                      <a:pPr algn="ctr"/>
                      <a:r>
                        <a:rPr sz="1000" b="0" i="0">
                          <a:solidFill>
                            <a:srgbClr val="14313B"/>
                          </a:solidFill>
                          <a:latin typeface="Calibri (MS)"/>
                        </a:rPr>
                        <a:t>0,758</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 dgn catatan</a:t>
                      </a:r>
                    </a:p>
                  </a:txBody>
                  <a:tcPr marL="73152" marR="73152" marT="36576" marB="36576" anchor="ctr">
                    <a:solidFill>
                      <a:srgbClr val="FFF1BF"/>
                    </a:solidFill>
                  </a:tcPr>
                </a:tc>
              </a:tr>
              <a:tr h="352044">
                <a:tc>
                  <a:txBody>
                    <a:bodyPr wrap="square"/>
                    <a:lstStyle/>
                    <a:p>
                      <a:r>
                        <a:rPr sz="1000" b="1" i="0">
                          <a:solidFill>
                            <a:srgbClr val="14313B"/>
                          </a:solidFill>
                          <a:latin typeface="Calibri (MS) Bold"/>
                        </a:rPr>
                        <a:t>E03</a:t>
                      </a:r>
                    </a:p>
                  </a:txBody>
                  <a:tcPr marL="73152" marR="73152" marT="36576" marB="36576" anchor="ctr">
                    <a:solidFill>
                      <a:srgbClr val="FFFFFF"/>
                    </a:solidFill>
                  </a:tcPr>
                </a:tc>
                <a:tc>
                  <a:txBody>
                    <a:bodyPr wrap="square"/>
                    <a:lstStyle/>
                    <a:p>
                      <a:r>
                        <a:rPr sz="1000" b="0" i="0">
                          <a:solidFill>
                            <a:srgbClr val="14313B"/>
                          </a:solidFill>
                          <a:latin typeface="Calibri (MS)"/>
                        </a:rPr>
                        <a:t>Ekonomi</a:t>
                      </a:r>
                    </a:p>
                  </a:txBody>
                  <a:tcPr marL="73152" marR="73152" marT="36576" marB="36576" anchor="ctr">
                    <a:solidFill>
                      <a:srgbClr val="FFFFFF"/>
                    </a:solidFill>
                  </a:tcPr>
                </a:tc>
                <a:tc>
                  <a:txBody>
                    <a:bodyPr wrap="square"/>
                    <a:lstStyle/>
                    <a:p>
                      <a:pPr algn="ctr"/>
                      <a:r>
                        <a:rPr sz="1000" b="0" i="0">
                          <a:solidFill>
                            <a:srgbClr val="14313B"/>
                          </a:solidFill>
                          <a:latin typeface="Calibri (MS)"/>
                        </a:rPr>
                        <a:t>1,000</a:t>
                      </a:r>
                    </a:p>
                  </a:txBody>
                  <a:tcPr marL="73152" marR="73152" marT="36576" marB="36576" anchor="ctr">
                    <a:solidFill>
                      <a:srgbClr val="FFF1BF"/>
                    </a:solidFill>
                  </a:tcPr>
                </a:tc>
                <a:tc>
                  <a:txBody>
                    <a:bodyPr wrap="square"/>
                    <a:lstStyle/>
                    <a:p>
                      <a:pPr algn="ctr"/>
                      <a:r>
                        <a:rPr sz="1000" b="0" i="0">
                          <a:solidFill>
                            <a:srgbClr val="14313B"/>
                          </a:solidFill>
                          <a:latin typeface="Calibri (MS)"/>
                        </a:rPr>
                        <a:t>2,267</a:t>
                      </a:r>
                    </a:p>
                  </a:txBody>
                  <a:tcPr marL="73152" marR="73152" marT="36576" marB="36576" anchor="ctr">
                    <a:solidFill>
                      <a:srgbClr val="FFFFFF"/>
                    </a:solidFill>
                  </a:tcPr>
                </a:tc>
                <a:tc>
                  <a:txBody>
                    <a:bodyPr wrap="square"/>
                    <a:lstStyle/>
                    <a:p>
                      <a:pPr algn="ctr"/>
                      <a:r>
                        <a:rPr sz="1000" b="0" i="0">
                          <a:solidFill>
                            <a:srgbClr val="14313B"/>
                          </a:solidFill>
                          <a:latin typeface="Calibri (MS)"/>
                        </a:rPr>
                        <a:t>0,618</a:t>
                      </a:r>
                    </a:p>
                  </a:txBody>
                  <a:tcPr marL="73152" marR="73152" marT="36576" marB="36576" anchor="ctr">
                    <a:solidFill>
                      <a:srgbClr val="FFFFFF"/>
                    </a:solidFill>
                  </a:tcPr>
                </a:tc>
                <a:tc>
                  <a:txBody>
                    <a:bodyPr wrap="square"/>
                    <a:lstStyle/>
                    <a:p>
                      <a:pPr algn="ctr"/>
                      <a:r>
                        <a:rPr sz="1000" b="0" i="0">
                          <a:solidFill>
                            <a:srgbClr val="14313B"/>
                          </a:solidFill>
                          <a:latin typeface="Calibri (MS)"/>
                        </a:rPr>
                        <a:t>0,740</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E04</a:t>
                      </a:r>
                    </a:p>
                  </a:txBody>
                  <a:tcPr marL="73152" marR="73152" marT="36576" marB="36576" anchor="ctr">
                    <a:solidFill>
                      <a:srgbClr val="EAF8FA"/>
                    </a:solidFill>
                  </a:tcPr>
                </a:tc>
                <a:tc>
                  <a:txBody>
                    <a:bodyPr wrap="square"/>
                    <a:lstStyle/>
                    <a:p>
                      <a:r>
                        <a:rPr sz="1000" b="0" i="0">
                          <a:solidFill>
                            <a:srgbClr val="14313B"/>
                          </a:solidFill>
                          <a:latin typeface="Calibri (MS)"/>
                        </a:rPr>
                        <a:t>Hotel</a:t>
                      </a:r>
                    </a:p>
                  </a:txBody>
                  <a:tcPr marL="73152" marR="73152" marT="36576" marB="36576" anchor="ctr">
                    <a:solidFill>
                      <a:srgbClr val="EAF8FA"/>
                    </a:solidFill>
                  </a:tcPr>
                </a:tc>
                <a:tc>
                  <a:txBody>
                    <a:bodyPr wrap="square"/>
                    <a:lstStyle/>
                    <a:p>
                      <a:pPr algn="ctr"/>
                      <a:r>
                        <a:rPr sz="1000" b="0" i="0">
                          <a:solidFill>
                            <a:srgbClr val="14313B"/>
                          </a:solidFill>
                          <a:latin typeface="Calibri (MS)"/>
                        </a:rPr>
                        <a:t>1,000</a:t>
                      </a:r>
                    </a:p>
                  </a:txBody>
                  <a:tcPr marL="73152" marR="73152" marT="36576" marB="36576" anchor="ctr">
                    <a:solidFill>
                      <a:srgbClr val="FFF1BF"/>
                    </a:solidFill>
                  </a:tcPr>
                </a:tc>
                <a:tc>
                  <a:txBody>
                    <a:bodyPr wrap="square"/>
                    <a:lstStyle/>
                    <a:p>
                      <a:pPr algn="ctr"/>
                      <a:r>
                        <a:rPr sz="1000" b="0" i="0">
                          <a:solidFill>
                            <a:srgbClr val="14313B"/>
                          </a:solidFill>
                          <a:latin typeface="Calibri (MS)"/>
                        </a:rPr>
                        <a:t>2,267</a:t>
                      </a:r>
                    </a:p>
                  </a:txBody>
                  <a:tcPr marL="73152" marR="73152" marT="36576" marB="36576" anchor="ctr">
                    <a:solidFill>
                      <a:srgbClr val="EAF8FA"/>
                    </a:solidFill>
                  </a:tcPr>
                </a:tc>
                <a:tc>
                  <a:txBody>
                    <a:bodyPr wrap="square"/>
                    <a:lstStyle/>
                    <a:p>
                      <a:pPr algn="ctr"/>
                      <a:r>
                        <a:rPr sz="1000" b="0" i="0">
                          <a:solidFill>
                            <a:srgbClr val="14313B"/>
                          </a:solidFill>
                          <a:latin typeface="Calibri (MS)"/>
                        </a:rPr>
                        <a:t>0,618</a:t>
                      </a:r>
                    </a:p>
                  </a:txBody>
                  <a:tcPr marL="73152" marR="73152" marT="36576" marB="36576" anchor="ctr">
                    <a:solidFill>
                      <a:srgbClr val="EAF8FA"/>
                    </a:solidFill>
                  </a:tcPr>
                </a:tc>
                <a:tc>
                  <a:txBody>
                    <a:bodyPr wrap="square"/>
                    <a:lstStyle/>
                    <a:p>
                      <a:pPr algn="ctr"/>
                      <a:r>
                        <a:rPr sz="1000" b="0" i="0">
                          <a:solidFill>
                            <a:srgbClr val="14313B"/>
                          </a:solidFill>
                          <a:latin typeface="Calibri (MS)"/>
                        </a:rPr>
                        <a:t>0,740</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E05</a:t>
                      </a:r>
                    </a:p>
                  </a:txBody>
                  <a:tcPr marL="73152" marR="73152" marT="36576" marB="36576" anchor="ctr">
                    <a:solidFill>
                      <a:srgbClr val="FFFFFF"/>
                    </a:solidFill>
                  </a:tcPr>
                </a:tc>
                <a:tc>
                  <a:txBody>
                    <a:bodyPr wrap="square"/>
                    <a:lstStyle/>
                    <a:p>
                      <a:r>
                        <a:rPr sz="1000" b="0" i="0">
                          <a:solidFill>
                            <a:srgbClr val="14313B"/>
                          </a:solidFill>
                          <a:latin typeface="Calibri (MS)"/>
                        </a:rPr>
                        <a:t>Hotel</a:t>
                      </a:r>
                    </a:p>
                  </a:txBody>
                  <a:tcPr marL="73152" marR="73152" marT="36576" marB="36576" anchor="ctr">
                    <a:solidFill>
                      <a:srgbClr val="FFFFFF"/>
                    </a:solidFill>
                  </a:tcPr>
                </a:tc>
                <a:tc>
                  <a:txBody>
                    <a:bodyPr wrap="square"/>
                    <a:lstStyle/>
                    <a:p>
                      <a:pPr algn="ctr"/>
                      <a:r>
                        <a:rPr sz="1000" b="0" i="0">
                          <a:solidFill>
                            <a:srgbClr val="14313B"/>
                          </a:solidFill>
                          <a:latin typeface="Calibri (MS)"/>
                        </a:rPr>
                        <a:t>0,358</a:t>
                      </a:r>
                    </a:p>
                  </a:txBody>
                  <a:tcPr marL="73152" marR="73152" marT="36576" marB="36576" anchor="ctr">
                    <a:solidFill>
                      <a:srgbClr val="FFFFFF"/>
                    </a:solidFill>
                  </a:tcPr>
                </a:tc>
                <a:tc>
                  <a:txBody>
                    <a:bodyPr wrap="square"/>
                    <a:lstStyle/>
                    <a:p>
                      <a:pPr algn="ctr"/>
                      <a:r>
                        <a:rPr sz="1000" b="0" i="0">
                          <a:solidFill>
                            <a:srgbClr val="14313B"/>
                          </a:solidFill>
                          <a:latin typeface="Calibri (MS)"/>
                        </a:rPr>
                        <a:t>0,358</a:t>
                      </a:r>
                    </a:p>
                  </a:txBody>
                  <a:tcPr marL="73152" marR="73152" marT="36576" marB="36576" anchor="ctr">
                    <a:solidFill>
                      <a:srgbClr val="FFFFFF"/>
                    </a:solidFill>
                  </a:tcPr>
                </a:tc>
                <a:tc>
                  <a:txBody>
                    <a:bodyPr wrap="square"/>
                    <a:lstStyle/>
                    <a:p>
                      <a:pPr algn="ctr"/>
                      <a:r>
                        <a:rPr sz="1000" b="0" i="0">
                          <a:solidFill>
                            <a:srgbClr val="14313B"/>
                          </a:solidFill>
                          <a:latin typeface="Calibri (MS)"/>
                        </a:rPr>
                        <a:t>0,616</a:t>
                      </a:r>
                    </a:p>
                  </a:txBody>
                  <a:tcPr marL="73152" marR="73152" marT="36576" marB="36576" anchor="ctr">
                    <a:solidFill>
                      <a:srgbClr val="FFFFFF"/>
                    </a:solidFill>
                  </a:tcPr>
                </a:tc>
                <a:tc>
                  <a:txBody>
                    <a:bodyPr wrap="square"/>
                    <a:lstStyle/>
                    <a:p>
                      <a:pPr algn="ctr"/>
                      <a:r>
                        <a:rPr sz="1000" b="0" i="0">
                          <a:solidFill>
                            <a:srgbClr val="14313B"/>
                          </a:solidFill>
                          <a:latin typeface="Calibri (MS)"/>
                        </a:rPr>
                        <a:t>0,814</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E06</a:t>
                      </a:r>
                    </a:p>
                  </a:txBody>
                  <a:tcPr marL="73152" marR="73152" marT="36576" marB="36576" anchor="ctr">
                    <a:solidFill>
                      <a:srgbClr val="EAF8FA"/>
                    </a:solidFill>
                  </a:tcPr>
                </a:tc>
                <a:tc>
                  <a:txBody>
                    <a:bodyPr wrap="square"/>
                    <a:lstStyle/>
                    <a:p>
                      <a:r>
                        <a:rPr sz="1000" b="0" i="0">
                          <a:solidFill>
                            <a:srgbClr val="14313B"/>
                          </a:solidFill>
                          <a:latin typeface="Calibri (MS)"/>
                        </a:rPr>
                        <a:t>Hotel</a:t>
                      </a:r>
                    </a:p>
                  </a:txBody>
                  <a:tcPr marL="73152" marR="73152" marT="36576" marB="36576" anchor="ctr">
                    <a:solidFill>
                      <a:srgbClr val="EAF8FA"/>
                    </a:solidFill>
                  </a:tcPr>
                </a:tc>
                <a:tc>
                  <a:txBody>
                    <a:bodyPr wrap="square"/>
                    <a:lstStyle/>
                    <a:p>
                      <a:pPr algn="ctr"/>
                      <a:r>
                        <a:rPr sz="1000" b="0" i="0">
                          <a:solidFill>
                            <a:srgbClr val="14313B"/>
                          </a:solidFill>
                          <a:latin typeface="Calibri (MS)"/>
                        </a:rPr>
                        <a:t>1,000</a:t>
                      </a:r>
                    </a:p>
                  </a:txBody>
                  <a:tcPr marL="73152" marR="73152" marT="36576" marB="36576" anchor="ctr">
                    <a:solidFill>
                      <a:srgbClr val="FFF1BF"/>
                    </a:solidFill>
                  </a:tcPr>
                </a:tc>
                <a:tc>
                  <a:txBody>
                    <a:bodyPr wrap="square"/>
                    <a:lstStyle/>
                    <a:p>
                      <a:pPr algn="ctr"/>
                      <a:r>
                        <a:rPr sz="1000" b="0" i="0">
                          <a:solidFill>
                            <a:srgbClr val="14313B"/>
                          </a:solidFill>
                          <a:latin typeface="Calibri (MS)"/>
                        </a:rPr>
                        <a:t>1,085</a:t>
                      </a:r>
                    </a:p>
                  </a:txBody>
                  <a:tcPr marL="73152" marR="73152" marT="36576" marB="36576" anchor="ctr">
                    <a:solidFill>
                      <a:srgbClr val="EAF8FA"/>
                    </a:solidFill>
                  </a:tcPr>
                </a:tc>
                <a:tc>
                  <a:txBody>
                    <a:bodyPr wrap="square"/>
                    <a:lstStyle/>
                    <a:p>
                      <a:pPr algn="ctr"/>
                      <a:r>
                        <a:rPr sz="1000" b="0" i="0">
                          <a:solidFill>
                            <a:srgbClr val="14313B"/>
                          </a:solidFill>
                          <a:latin typeface="Calibri (MS)"/>
                        </a:rPr>
                        <a:t>0,617</a:t>
                      </a:r>
                    </a:p>
                  </a:txBody>
                  <a:tcPr marL="73152" marR="73152" marT="36576" marB="36576" anchor="ctr">
                    <a:solidFill>
                      <a:srgbClr val="EAF8FA"/>
                    </a:solidFill>
                  </a:tcPr>
                </a:tc>
                <a:tc>
                  <a:txBody>
                    <a:bodyPr wrap="square"/>
                    <a:lstStyle/>
                    <a:p>
                      <a:pPr algn="ctr"/>
                      <a:r>
                        <a:rPr sz="1000" b="0" i="0">
                          <a:solidFill>
                            <a:srgbClr val="14313B"/>
                          </a:solidFill>
                          <a:latin typeface="Calibri (MS)"/>
                        </a:rPr>
                        <a:t>0,814</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E07</a:t>
                      </a:r>
                    </a:p>
                  </a:txBody>
                  <a:tcPr marL="73152" marR="73152" marT="36576" marB="36576" anchor="ctr">
                    <a:solidFill>
                      <a:srgbClr val="FFFFFF"/>
                    </a:solidFill>
                  </a:tcPr>
                </a:tc>
                <a:tc>
                  <a:txBody>
                    <a:bodyPr wrap="square"/>
                    <a:lstStyle/>
                    <a:p>
                      <a:r>
                        <a:rPr sz="1000" b="0" i="0">
                          <a:solidFill>
                            <a:srgbClr val="14313B"/>
                          </a:solidFill>
                          <a:latin typeface="Calibri (MS)"/>
                        </a:rPr>
                        <a:t>Hotel</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a:t>
                      </a:r>
                    </a:p>
                  </a:txBody>
                  <a:tcPr marL="73152" marR="73152" marT="36576" marB="36576" anchor="ctr">
                    <a:solidFill>
                      <a:srgbClr val="FFFFFF"/>
                    </a:solidFill>
                  </a:tcPr>
                </a:tc>
                <a:tc>
                  <a:txBody>
                    <a:bodyPr wrap="square"/>
                    <a:lstStyle/>
                    <a:p>
                      <a:pPr algn="ctr"/>
                      <a:r>
                        <a:rPr sz="1000" b="0" i="0">
                          <a:solidFill>
                            <a:srgbClr val="14313B"/>
                          </a:solidFill>
                          <a:latin typeface="Calibri (MS)"/>
                        </a:rPr>
                        <a:t>0,617</a:t>
                      </a:r>
                    </a:p>
                  </a:txBody>
                  <a:tcPr marL="73152" marR="73152" marT="36576" marB="36576" anchor="ctr">
                    <a:solidFill>
                      <a:srgbClr val="FFFFFF"/>
                    </a:solidFill>
                  </a:tcPr>
                </a:tc>
                <a:tc>
                  <a:txBody>
                    <a:bodyPr wrap="square"/>
                    <a:lstStyle/>
                    <a:p>
                      <a:pPr algn="ctr"/>
                      <a:r>
                        <a:rPr sz="1000" b="0" i="0">
                          <a:solidFill>
                            <a:srgbClr val="14313B"/>
                          </a:solidFill>
                          <a:latin typeface="Calibri (MS)"/>
                        </a:rPr>
                        <a:t>0,814</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E08</a:t>
                      </a:r>
                    </a:p>
                  </a:txBody>
                  <a:tcPr marL="73152" marR="73152" marT="36576" marB="36576" anchor="ctr">
                    <a:solidFill>
                      <a:srgbClr val="EAF8FA"/>
                    </a:solidFill>
                  </a:tcPr>
                </a:tc>
                <a:tc>
                  <a:txBody>
                    <a:bodyPr wrap="square"/>
                    <a:lstStyle/>
                    <a:p>
                      <a:r>
                        <a:rPr sz="1000" b="0" i="0">
                          <a:solidFill>
                            <a:srgbClr val="14313B"/>
                          </a:solidFill>
                          <a:latin typeface="Calibri (MS)"/>
                        </a:rPr>
                        <a:t>ODTW</a:t>
                      </a:r>
                    </a:p>
                  </a:txBody>
                  <a:tcPr marL="73152" marR="73152" marT="36576" marB="36576" anchor="ctr">
                    <a:solidFill>
                      <a:srgbClr val="EAF8FA"/>
                    </a:solidFill>
                  </a:tcPr>
                </a:tc>
                <a:tc>
                  <a:txBody>
                    <a:bodyPr wrap="square"/>
                    <a:lstStyle/>
                    <a:p>
                      <a:pPr algn="ctr"/>
                      <a:r>
                        <a:rPr sz="1000" b="0" i="0">
                          <a:solidFill>
                            <a:srgbClr val="14313B"/>
                          </a:solidFill>
                          <a:latin typeface="Calibri (MS)"/>
                        </a:rPr>
                        <a:t>0,386</a:t>
                      </a:r>
                    </a:p>
                  </a:txBody>
                  <a:tcPr marL="73152" marR="73152" marT="36576" marB="36576" anchor="ctr">
                    <a:solidFill>
                      <a:srgbClr val="EAF8FA"/>
                    </a:solidFill>
                  </a:tcPr>
                </a:tc>
                <a:tc>
                  <a:txBody>
                    <a:bodyPr wrap="square"/>
                    <a:lstStyle/>
                    <a:p>
                      <a:pPr algn="ctr"/>
                      <a:r>
                        <a:rPr sz="1000" b="0" i="0">
                          <a:solidFill>
                            <a:srgbClr val="14313B"/>
                          </a:solidFill>
                          <a:latin typeface="Calibri (MS)"/>
                        </a:rPr>
                        <a:t>0,386</a:t>
                      </a:r>
                    </a:p>
                  </a:txBody>
                  <a:tcPr marL="73152" marR="73152" marT="36576" marB="36576" anchor="ctr">
                    <a:solidFill>
                      <a:srgbClr val="EAF8FA"/>
                    </a:solidFill>
                  </a:tcPr>
                </a:tc>
                <a:tc>
                  <a:txBody>
                    <a:bodyPr wrap="square"/>
                    <a:lstStyle/>
                    <a:p>
                      <a:pPr algn="ctr"/>
                      <a:r>
                        <a:rPr sz="1000" b="0" i="0">
                          <a:solidFill>
                            <a:srgbClr val="14313B"/>
                          </a:solidFill>
                          <a:latin typeface="Calibri (MS)"/>
                        </a:rPr>
                        <a:t>0,616</a:t>
                      </a:r>
                    </a:p>
                  </a:txBody>
                  <a:tcPr marL="73152" marR="73152" marT="36576" marB="36576" anchor="ctr">
                    <a:solidFill>
                      <a:srgbClr val="EAF8FA"/>
                    </a:solidFill>
                  </a:tcPr>
                </a:tc>
                <a:tc>
                  <a:txBody>
                    <a:bodyPr wrap="square"/>
                    <a:lstStyle/>
                    <a:p>
                      <a:pPr algn="ctr"/>
                      <a:r>
                        <a:rPr sz="1000" b="0" i="0">
                          <a:solidFill>
                            <a:srgbClr val="14313B"/>
                          </a:solidFill>
                          <a:latin typeface="Calibri (MS)"/>
                        </a:rPr>
                        <a:t>0,698</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E09</a:t>
                      </a:r>
                    </a:p>
                  </a:txBody>
                  <a:tcPr marL="73152" marR="73152" marT="36576" marB="36576" anchor="ctr">
                    <a:solidFill>
                      <a:srgbClr val="FFFFFF"/>
                    </a:solidFill>
                  </a:tcPr>
                </a:tc>
                <a:tc>
                  <a:txBody>
                    <a:bodyPr wrap="square"/>
                    <a:lstStyle/>
                    <a:p>
                      <a:r>
                        <a:rPr sz="1000" b="0" i="0">
                          <a:solidFill>
                            <a:srgbClr val="14313B"/>
                          </a:solidFill>
                          <a:latin typeface="Calibri (MS)"/>
                        </a:rPr>
                        <a:t>Lahan</a:t>
                      </a:r>
                    </a:p>
                  </a:txBody>
                  <a:tcPr marL="73152" marR="73152" marT="36576" marB="36576" anchor="ctr">
                    <a:solidFill>
                      <a:srgbClr val="FFFFFF"/>
                    </a:solidFill>
                  </a:tcPr>
                </a:tc>
                <a:tc>
                  <a:txBody>
                    <a:bodyPr wrap="square"/>
                    <a:lstStyle/>
                    <a:p>
                      <a:pPr algn="ctr"/>
                      <a:r>
                        <a:rPr sz="1000" b="0" i="0">
                          <a:solidFill>
                            <a:srgbClr val="14313B"/>
                          </a:solidFill>
                          <a:latin typeface="Calibri (MS)"/>
                        </a:rPr>
                        <a:t>0,383</a:t>
                      </a:r>
                    </a:p>
                  </a:txBody>
                  <a:tcPr marL="73152" marR="73152" marT="36576" marB="36576" anchor="ctr">
                    <a:solidFill>
                      <a:srgbClr val="FFFFFF"/>
                    </a:solidFill>
                  </a:tcPr>
                </a:tc>
                <a:tc>
                  <a:txBody>
                    <a:bodyPr wrap="square"/>
                    <a:lstStyle/>
                    <a:p>
                      <a:pPr algn="ctr"/>
                      <a:r>
                        <a:rPr sz="1000" b="0" i="0">
                          <a:solidFill>
                            <a:srgbClr val="14313B"/>
                          </a:solidFill>
                          <a:latin typeface="Calibri (MS)"/>
                        </a:rPr>
                        <a:t>0,383</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a:t>
                      </a:r>
                    </a:p>
                  </a:txBody>
                  <a:tcPr marL="73152" marR="73152" marT="36576" marB="36576" anchor="ctr">
                    <a:solidFill>
                      <a:srgbClr val="FFF1BF"/>
                    </a:solidFill>
                  </a:tcPr>
                </a:tc>
                <a:tc>
                  <a:txBody>
                    <a:bodyPr wrap="square"/>
                    <a:lstStyle/>
                    <a:p>
                      <a:pPr algn="ctr"/>
                      <a:r>
                        <a:rPr sz="1000" b="0" i="0">
                          <a:solidFill>
                            <a:srgbClr val="14313B"/>
                          </a:solidFill>
                          <a:latin typeface="Calibri (MS)"/>
                        </a:rPr>
                        <a:t>0,715</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E10</a:t>
                      </a:r>
                    </a:p>
                  </a:txBody>
                  <a:tcPr marL="73152" marR="73152" marT="36576" marB="36576" anchor="ctr">
                    <a:solidFill>
                      <a:srgbClr val="EAF8FA"/>
                    </a:solidFill>
                  </a:tcPr>
                </a:tc>
                <a:tc>
                  <a:txBody>
                    <a:bodyPr wrap="square"/>
                    <a:lstStyle/>
                    <a:p>
                      <a:r>
                        <a:rPr sz="1000" b="0" i="0">
                          <a:solidFill>
                            <a:srgbClr val="14313B"/>
                          </a:solidFill>
                          <a:latin typeface="Calibri (MS)"/>
                        </a:rPr>
                        <a:t>Lahan</a:t>
                      </a:r>
                    </a:p>
                  </a:txBody>
                  <a:tcPr marL="73152" marR="73152" marT="36576" marB="36576" anchor="ctr">
                    <a:solidFill>
                      <a:srgbClr val="EAF8FA"/>
                    </a:solidFill>
                  </a:tcPr>
                </a:tc>
                <a:tc>
                  <a:txBody>
                    <a:bodyPr wrap="square"/>
                    <a:lstStyle/>
                    <a:p>
                      <a:pPr algn="ctr"/>
                      <a:r>
                        <a:rPr sz="1000" b="0" i="0">
                          <a:solidFill>
                            <a:srgbClr val="14313B"/>
                          </a:solidFill>
                          <a:latin typeface="Calibri (MS)"/>
                        </a:rPr>
                        <a:t>0,388</a:t>
                      </a:r>
                    </a:p>
                  </a:txBody>
                  <a:tcPr marL="73152" marR="73152" marT="36576" marB="36576" anchor="ctr">
                    <a:solidFill>
                      <a:srgbClr val="EAF8FA"/>
                    </a:solidFill>
                  </a:tcPr>
                </a:tc>
                <a:tc>
                  <a:txBody>
                    <a:bodyPr wrap="square"/>
                    <a:lstStyle/>
                    <a:p>
                      <a:pPr algn="ctr"/>
                      <a:r>
                        <a:rPr sz="1000" b="0" i="0">
                          <a:solidFill>
                            <a:srgbClr val="14313B"/>
                          </a:solidFill>
                          <a:latin typeface="Calibri (MS)"/>
                        </a:rPr>
                        <a:t>0,388</a:t>
                      </a:r>
                    </a:p>
                  </a:txBody>
                  <a:tcPr marL="73152" marR="73152" marT="36576" marB="36576" anchor="ctr">
                    <a:solidFill>
                      <a:srgbClr val="EAF8FA"/>
                    </a:solidFill>
                  </a:tcPr>
                </a:tc>
                <a:tc>
                  <a:txBody>
                    <a:bodyPr wrap="square"/>
                    <a:lstStyle/>
                    <a:p>
                      <a:pPr algn="ctr"/>
                      <a:r>
                        <a:rPr sz="1000" b="0" i="0">
                          <a:solidFill>
                            <a:srgbClr val="14313B"/>
                          </a:solidFill>
                          <a:latin typeface="Calibri (MS)"/>
                        </a:rPr>
                        <a:t>0,618</a:t>
                      </a:r>
                    </a:p>
                  </a:txBody>
                  <a:tcPr marL="73152" marR="73152" marT="36576" marB="36576" anchor="ctr">
                    <a:solidFill>
                      <a:srgbClr val="EAF8FA"/>
                    </a:solidFill>
                  </a:tcPr>
                </a:tc>
                <a:tc>
                  <a:txBody>
                    <a:bodyPr wrap="square"/>
                    <a:lstStyle/>
                    <a:p>
                      <a:pPr algn="ctr"/>
                      <a:r>
                        <a:rPr sz="1000" b="0" i="0">
                          <a:solidFill>
                            <a:srgbClr val="14313B"/>
                          </a:solidFill>
                          <a:latin typeface="Calibri (MS)"/>
                        </a:rPr>
                        <a:t>0,814</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E11</a:t>
                      </a:r>
                    </a:p>
                  </a:txBody>
                  <a:tcPr marL="73152" marR="73152" marT="36576" marB="36576" anchor="ctr">
                    <a:solidFill>
                      <a:srgbClr val="FFFFFF"/>
                    </a:solidFill>
                  </a:tcPr>
                </a:tc>
                <a:tc>
                  <a:txBody>
                    <a:bodyPr wrap="square"/>
                    <a:lstStyle/>
                    <a:p>
                      <a:r>
                        <a:rPr sz="1000" b="0" i="0">
                          <a:solidFill>
                            <a:srgbClr val="14313B"/>
                          </a:solidFill>
                          <a:latin typeface="Calibri (MS)"/>
                        </a:rPr>
                        <a:t>Lahan</a:t>
                      </a:r>
                    </a:p>
                  </a:txBody>
                  <a:tcPr marL="73152" marR="73152" marT="36576" marB="36576" anchor="ctr">
                    <a:solidFill>
                      <a:srgbClr val="FFFFFF"/>
                    </a:solidFill>
                  </a:tcPr>
                </a:tc>
                <a:tc>
                  <a:txBody>
                    <a:bodyPr wrap="square"/>
                    <a:lstStyle/>
                    <a:p>
                      <a:pPr algn="ctr"/>
                      <a:r>
                        <a:rPr sz="1000" b="0" i="0">
                          <a:solidFill>
                            <a:srgbClr val="14313B"/>
                          </a:solidFill>
                          <a:latin typeface="Calibri (MS)"/>
                        </a:rPr>
                        <a:t>0,388</a:t>
                      </a:r>
                    </a:p>
                  </a:txBody>
                  <a:tcPr marL="73152" marR="73152" marT="36576" marB="36576" anchor="ctr">
                    <a:solidFill>
                      <a:srgbClr val="FFFFFF"/>
                    </a:solidFill>
                  </a:tcPr>
                </a:tc>
                <a:tc>
                  <a:txBody>
                    <a:bodyPr wrap="square"/>
                    <a:lstStyle/>
                    <a:p>
                      <a:pPr algn="ctr"/>
                      <a:r>
                        <a:rPr sz="1000" b="0" i="0">
                          <a:solidFill>
                            <a:srgbClr val="14313B"/>
                          </a:solidFill>
                          <a:latin typeface="Calibri (MS)"/>
                        </a:rPr>
                        <a:t>0,388</a:t>
                      </a:r>
                    </a:p>
                  </a:txBody>
                  <a:tcPr marL="73152" marR="73152" marT="36576" marB="36576" anchor="ctr">
                    <a:solidFill>
                      <a:srgbClr val="FFFFFF"/>
                    </a:solidFill>
                  </a:tcPr>
                </a:tc>
                <a:tc>
                  <a:txBody>
                    <a:bodyPr wrap="square"/>
                    <a:lstStyle/>
                    <a:p>
                      <a:pPr algn="ctr"/>
                      <a:r>
                        <a:rPr sz="1000" b="0" i="0">
                          <a:solidFill>
                            <a:srgbClr val="14313B"/>
                          </a:solidFill>
                          <a:latin typeface="Calibri (MS)"/>
                        </a:rPr>
                        <a:t>0,618</a:t>
                      </a:r>
                    </a:p>
                  </a:txBody>
                  <a:tcPr marL="73152" marR="73152" marT="36576" marB="36576" anchor="ctr">
                    <a:solidFill>
                      <a:srgbClr val="FFFFFF"/>
                    </a:solidFill>
                  </a:tcPr>
                </a:tc>
                <a:tc>
                  <a:txBody>
                    <a:bodyPr wrap="square"/>
                    <a:lstStyle/>
                    <a:p>
                      <a:pPr algn="ctr"/>
                      <a:r>
                        <a:rPr sz="1000" b="0" i="0">
                          <a:solidFill>
                            <a:srgbClr val="14313B"/>
                          </a:solidFill>
                          <a:latin typeface="Calibri (MS)"/>
                        </a:rPr>
                        <a:t>0,814</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E12</a:t>
                      </a:r>
                    </a:p>
                  </a:txBody>
                  <a:tcPr marL="73152" marR="73152" marT="36576" marB="36576" anchor="ctr">
                    <a:solidFill>
                      <a:srgbClr val="EAF8FA"/>
                    </a:solidFill>
                  </a:tcPr>
                </a:tc>
                <a:tc>
                  <a:txBody>
                    <a:bodyPr wrap="square"/>
                    <a:lstStyle/>
                    <a:p>
                      <a:r>
                        <a:rPr sz="1000" b="0" i="0">
                          <a:solidFill>
                            <a:srgbClr val="14313B"/>
                          </a:solidFill>
                          <a:latin typeface="Calibri (MS)"/>
                        </a:rPr>
                        <a:t>Tenaga Kerja</a:t>
                      </a:r>
                    </a:p>
                  </a:txBody>
                  <a:tcPr marL="73152" marR="73152" marT="36576" marB="36576" anchor="ctr">
                    <a:solidFill>
                      <a:srgbClr val="EAF8FA"/>
                    </a:solidFill>
                  </a:tcPr>
                </a:tc>
                <a:tc>
                  <a:txBody>
                    <a:bodyPr wrap="square"/>
                    <a:lstStyle/>
                    <a:p>
                      <a:pPr algn="ctr"/>
                      <a:r>
                        <a:rPr sz="1000" b="0" i="0">
                          <a:solidFill>
                            <a:srgbClr val="14313B"/>
                          </a:solidFill>
                          <a:latin typeface="Calibri (MS)"/>
                        </a:rPr>
                        <a:t>0,388</a:t>
                      </a:r>
                    </a:p>
                  </a:txBody>
                  <a:tcPr marL="73152" marR="73152" marT="36576" marB="36576" anchor="ctr">
                    <a:solidFill>
                      <a:srgbClr val="EAF8FA"/>
                    </a:solidFill>
                  </a:tcPr>
                </a:tc>
                <a:tc>
                  <a:txBody>
                    <a:bodyPr wrap="square"/>
                    <a:lstStyle/>
                    <a:p>
                      <a:pPr algn="ctr"/>
                      <a:r>
                        <a:rPr sz="1000" b="0" i="0">
                          <a:solidFill>
                            <a:srgbClr val="14313B"/>
                          </a:solidFill>
                          <a:latin typeface="Calibri (MS)"/>
                        </a:rPr>
                        <a:t>0,388</a:t>
                      </a:r>
                    </a:p>
                  </a:txBody>
                  <a:tcPr marL="73152" marR="73152" marT="36576" marB="36576" anchor="ctr">
                    <a:solidFill>
                      <a:srgbClr val="EAF8FA"/>
                    </a:solidFill>
                  </a:tcPr>
                </a:tc>
                <a:tc>
                  <a:txBody>
                    <a:bodyPr wrap="square"/>
                    <a:lstStyle/>
                    <a:p>
                      <a:pPr algn="ctr"/>
                      <a:r>
                        <a:rPr sz="1000" b="0" i="0">
                          <a:solidFill>
                            <a:srgbClr val="14313B"/>
                          </a:solidFill>
                          <a:latin typeface="Calibri (MS)"/>
                        </a:rPr>
                        <a:t>0,615</a:t>
                      </a:r>
                    </a:p>
                  </a:txBody>
                  <a:tcPr marL="73152" marR="73152" marT="36576" marB="36576" anchor="ctr">
                    <a:solidFill>
                      <a:srgbClr val="EAF8FA"/>
                    </a:solidFill>
                  </a:tcPr>
                </a:tc>
                <a:tc>
                  <a:txBody>
                    <a:bodyPr wrap="square"/>
                    <a:lstStyle/>
                    <a:p>
                      <a:pPr algn="ctr"/>
                      <a:r>
                        <a:rPr sz="1000" b="0" i="0">
                          <a:solidFill>
                            <a:srgbClr val="14313B"/>
                          </a:solidFill>
                          <a:latin typeface="Calibri (MS)"/>
                        </a:rPr>
                        <a:t>0,813</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E13</a:t>
                      </a:r>
                    </a:p>
                  </a:txBody>
                  <a:tcPr marL="73152" marR="73152" marT="36576" marB="36576" anchor="ctr">
                    <a:solidFill>
                      <a:srgbClr val="FFFFFF"/>
                    </a:solidFill>
                  </a:tcPr>
                </a:tc>
                <a:tc>
                  <a:txBody>
                    <a:bodyPr wrap="square"/>
                    <a:lstStyle/>
                    <a:p>
                      <a:r>
                        <a:rPr sz="1000" b="0" i="0">
                          <a:solidFill>
                            <a:srgbClr val="14313B"/>
                          </a:solidFill>
                          <a:latin typeface="Calibri (MS)"/>
                        </a:rPr>
                        <a:t>Tenaga Kerja</a:t>
                      </a:r>
                    </a:p>
                  </a:txBody>
                  <a:tcPr marL="73152" marR="73152" marT="36576" marB="36576" anchor="ctr">
                    <a:solidFill>
                      <a:srgbClr val="FFFFFF"/>
                    </a:solidFill>
                  </a:tcPr>
                </a:tc>
                <a:tc>
                  <a:txBody>
                    <a:bodyPr wrap="square"/>
                    <a:lstStyle/>
                    <a:p>
                      <a:pPr algn="ctr"/>
                      <a:r>
                        <a:rPr sz="1000" b="0" i="0">
                          <a:solidFill>
                            <a:srgbClr val="14313B"/>
                          </a:solidFill>
                          <a:latin typeface="Calibri (MS)"/>
                        </a:rPr>
                        <a:t>0,388</a:t>
                      </a:r>
                    </a:p>
                  </a:txBody>
                  <a:tcPr marL="73152" marR="73152" marT="36576" marB="36576" anchor="ctr">
                    <a:solidFill>
                      <a:srgbClr val="FFFFFF"/>
                    </a:solidFill>
                  </a:tcPr>
                </a:tc>
                <a:tc>
                  <a:txBody>
                    <a:bodyPr wrap="square"/>
                    <a:lstStyle/>
                    <a:p>
                      <a:pPr algn="ctr"/>
                      <a:r>
                        <a:rPr sz="1000" b="0" i="0">
                          <a:solidFill>
                            <a:srgbClr val="14313B"/>
                          </a:solidFill>
                          <a:latin typeface="Calibri (MS)"/>
                        </a:rPr>
                        <a:t>0,388</a:t>
                      </a:r>
                    </a:p>
                  </a:txBody>
                  <a:tcPr marL="73152" marR="73152" marT="36576" marB="36576" anchor="ctr">
                    <a:solidFill>
                      <a:srgbClr val="FFFFFF"/>
                    </a:solidFill>
                  </a:tcPr>
                </a:tc>
                <a:tc>
                  <a:txBody>
                    <a:bodyPr wrap="square"/>
                    <a:lstStyle/>
                    <a:p>
                      <a:pPr algn="ctr"/>
                      <a:r>
                        <a:rPr sz="1000" b="0" i="0">
                          <a:solidFill>
                            <a:srgbClr val="14313B"/>
                          </a:solidFill>
                          <a:latin typeface="Calibri (MS)"/>
                        </a:rPr>
                        <a:t>0,615</a:t>
                      </a:r>
                    </a:p>
                  </a:txBody>
                  <a:tcPr marL="73152" marR="73152" marT="36576" marB="36576" anchor="ctr">
                    <a:solidFill>
                      <a:srgbClr val="FFFFFF"/>
                    </a:solidFill>
                  </a:tcPr>
                </a:tc>
                <a:tc>
                  <a:txBody>
                    <a:bodyPr wrap="square"/>
                    <a:lstStyle/>
                    <a:p>
                      <a:pPr algn="ctr"/>
                      <a:r>
                        <a:rPr sz="1000" b="0" i="0">
                          <a:solidFill>
                            <a:srgbClr val="14313B"/>
                          </a:solidFill>
                          <a:latin typeface="Calibri (MS)"/>
                        </a:rPr>
                        <a:t>0,813</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E14</a:t>
                      </a:r>
                    </a:p>
                  </a:txBody>
                  <a:tcPr marL="73152" marR="73152" marT="36576" marB="36576" anchor="ctr">
                    <a:solidFill>
                      <a:srgbClr val="EAF8FA"/>
                    </a:solidFill>
                  </a:tcPr>
                </a:tc>
                <a:tc>
                  <a:txBody>
                    <a:bodyPr wrap="square"/>
                    <a:lstStyle/>
                    <a:p>
                      <a:r>
                        <a:rPr sz="1000" b="0" i="0">
                          <a:solidFill>
                            <a:srgbClr val="14313B"/>
                          </a:solidFill>
                          <a:latin typeface="Calibri (MS)"/>
                        </a:rPr>
                        <a:t>Kebijakan</a:t>
                      </a:r>
                    </a:p>
                  </a:txBody>
                  <a:tcPr marL="73152" marR="73152" marT="36576" marB="36576" anchor="ctr">
                    <a:solidFill>
                      <a:srgbClr val="EAF8FA"/>
                    </a:solidFill>
                  </a:tcPr>
                </a:tc>
                <a:tc>
                  <a:txBody>
                    <a:bodyPr wrap="square"/>
                    <a:lstStyle/>
                    <a:p>
                      <a:pPr algn="ctr"/>
                      <a:r>
                        <a:rPr sz="1000" b="0" i="0">
                          <a:solidFill>
                            <a:srgbClr val="14313B"/>
                          </a:solidFill>
                          <a:latin typeface="Calibri (MS)"/>
                        </a:rPr>
                        <a:t>0,358</a:t>
                      </a:r>
                    </a:p>
                  </a:txBody>
                  <a:tcPr marL="73152" marR="73152" marT="36576" marB="36576" anchor="ctr">
                    <a:solidFill>
                      <a:srgbClr val="EAF8FA"/>
                    </a:solidFill>
                  </a:tcPr>
                </a:tc>
                <a:tc>
                  <a:txBody>
                    <a:bodyPr wrap="square"/>
                    <a:lstStyle/>
                    <a:p>
                      <a:pPr algn="ctr"/>
                      <a:r>
                        <a:rPr sz="1000" b="0" i="0">
                          <a:solidFill>
                            <a:srgbClr val="14313B"/>
                          </a:solidFill>
                          <a:latin typeface="Calibri (MS)"/>
                        </a:rPr>
                        <a:t>0,358</a:t>
                      </a:r>
                    </a:p>
                  </a:txBody>
                  <a:tcPr marL="73152" marR="73152" marT="36576" marB="36576" anchor="ctr">
                    <a:solidFill>
                      <a:srgbClr val="EAF8FA"/>
                    </a:solidFill>
                  </a:tcPr>
                </a:tc>
                <a:tc>
                  <a:txBody>
                    <a:bodyPr wrap="square"/>
                    <a:lstStyle/>
                    <a:p>
                      <a:pPr algn="ctr"/>
                      <a:r>
                        <a:rPr sz="1000" b="0" i="0">
                          <a:solidFill>
                            <a:srgbClr val="14313B"/>
                          </a:solidFill>
                          <a:latin typeface="Calibri (MS)"/>
                        </a:rPr>
                        <a:t>0,607</a:t>
                      </a:r>
                    </a:p>
                  </a:txBody>
                  <a:tcPr marL="73152" marR="73152" marT="36576" marB="36576" anchor="ctr">
                    <a:solidFill>
                      <a:srgbClr val="EAF8FA"/>
                    </a:solidFill>
                  </a:tcPr>
                </a:tc>
                <a:tc>
                  <a:txBody>
                    <a:bodyPr wrap="square"/>
                    <a:lstStyle/>
                    <a:p>
                      <a:pPr algn="ctr"/>
                      <a:r>
                        <a:rPr sz="1000" b="0" i="0">
                          <a:solidFill>
                            <a:srgbClr val="14313B"/>
                          </a:solidFill>
                          <a:latin typeface="Calibri (MS)"/>
                        </a:rPr>
                        <a:t>0,869</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E15</a:t>
                      </a:r>
                    </a:p>
                  </a:txBody>
                  <a:tcPr marL="73152" marR="73152" marT="36576" marB="36576" anchor="ctr">
                    <a:solidFill>
                      <a:srgbClr val="FFFFFF"/>
                    </a:solidFill>
                  </a:tcPr>
                </a:tc>
                <a:tc>
                  <a:txBody>
                    <a:bodyPr wrap="square"/>
                    <a:lstStyle/>
                    <a:p>
                      <a:r>
                        <a:rPr sz="1000" b="0" i="0">
                          <a:solidFill>
                            <a:srgbClr val="14313B"/>
                          </a:solidFill>
                          <a:latin typeface="Calibri (MS)"/>
                        </a:rPr>
                        <a:t>Wisatawan</a:t>
                      </a:r>
                    </a:p>
                  </a:txBody>
                  <a:tcPr marL="73152" marR="73152" marT="36576" marB="36576" anchor="ctr">
                    <a:solidFill>
                      <a:srgbClr val="FFFFFF"/>
                    </a:solidFill>
                  </a:tcPr>
                </a:tc>
                <a:tc>
                  <a:txBody>
                    <a:bodyPr wrap="square"/>
                    <a:lstStyle/>
                    <a:p>
                      <a:pPr algn="ctr"/>
                      <a:r>
                        <a:rPr sz="1000" b="0" i="0">
                          <a:solidFill>
                            <a:srgbClr val="14313B"/>
                          </a:solidFill>
                          <a:latin typeface="Calibri (MS)"/>
                        </a:rPr>
                        <a:t>0,633</a:t>
                      </a:r>
                    </a:p>
                  </a:txBody>
                  <a:tcPr marL="73152" marR="73152" marT="36576" marB="36576" anchor="ctr">
                    <a:solidFill>
                      <a:srgbClr val="FFFFFF"/>
                    </a:solidFill>
                  </a:tcPr>
                </a:tc>
                <a:tc>
                  <a:txBody>
                    <a:bodyPr wrap="square"/>
                    <a:lstStyle/>
                    <a:p>
                      <a:pPr algn="ctr"/>
                      <a:r>
                        <a:rPr sz="1000" b="0" i="0">
                          <a:solidFill>
                            <a:srgbClr val="14313B"/>
                          </a:solidFill>
                          <a:latin typeface="Calibri (MS)"/>
                        </a:rPr>
                        <a:t>0,633</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a:t>
                      </a:r>
                    </a:p>
                  </a:txBody>
                  <a:tcPr marL="73152" marR="73152" marT="36576" marB="36576" anchor="ctr">
                    <a:solidFill>
                      <a:srgbClr val="FFF1BF"/>
                    </a:solidFill>
                  </a:tcPr>
                </a:tc>
                <a:tc>
                  <a:txBody>
                    <a:bodyPr wrap="square"/>
                    <a:lstStyle/>
                    <a:p>
                      <a:pPr algn="ctr"/>
                      <a:r>
                        <a:rPr sz="1000" b="0" i="0">
                          <a:solidFill>
                            <a:srgbClr val="14313B"/>
                          </a:solidFill>
                          <a:latin typeface="Calibri (MS)"/>
                        </a:rPr>
                        <a:t>0,600</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 dgn catatan</a:t>
                      </a:r>
                    </a:p>
                  </a:txBody>
                  <a:tcPr marL="73152" marR="73152" marT="36576" marB="36576" anchor="ctr">
                    <a:solidFill>
                      <a:srgbClr val="FFF1BF"/>
                    </a:solidFill>
                  </a:tcPr>
                </a:tc>
              </a:tr>
              <a:tr h="352044">
                <a:tc>
                  <a:txBody>
                    <a:bodyPr wrap="square"/>
                    <a:lstStyle/>
                    <a:p>
                      <a:r>
                        <a:rPr sz="1000" b="1" i="0">
                          <a:solidFill>
                            <a:srgbClr val="14313B"/>
                          </a:solidFill>
                          <a:latin typeface="Calibri (MS) Bold"/>
                        </a:rPr>
                        <a:t>E16</a:t>
                      </a:r>
                    </a:p>
                  </a:txBody>
                  <a:tcPr marL="73152" marR="73152" marT="36576" marB="36576" anchor="ctr">
                    <a:solidFill>
                      <a:srgbClr val="EAF8FA"/>
                    </a:solidFill>
                  </a:tcPr>
                </a:tc>
                <a:tc>
                  <a:txBody>
                    <a:bodyPr wrap="square"/>
                    <a:lstStyle/>
                    <a:p>
                      <a:r>
                        <a:rPr sz="1000" b="0" i="0">
                          <a:solidFill>
                            <a:srgbClr val="14313B"/>
                          </a:solidFill>
                          <a:latin typeface="Calibri (MS)"/>
                        </a:rPr>
                        <a:t>ODTW</a:t>
                      </a:r>
                    </a:p>
                  </a:txBody>
                  <a:tcPr marL="73152" marR="73152" marT="36576" marB="36576" anchor="ctr">
                    <a:solidFill>
                      <a:srgbClr val="EAF8FA"/>
                    </a:solidFill>
                  </a:tcPr>
                </a:tc>
                <a:tc>
                  <a:txBody>
                    <a:bodyPr wrap="square"/>
                    <a:lstStyle/>
                    <a:p>
                      <a:pPr algn="ctr"/>
                      <a:r>
                        <a:rPr sz="1000" b="0" i="0">
                          <a:solidFill>
                            <a:srgbClr val="14313B"/>
                          </a:solidFill>
                          <a:latin typeface="Calibri (MS)"/>
                        </a:rPr>
                        <a:t>0,391</a:t>
                      </a:r>
                    </a:p>
                  </a:txBody>
                  <a:tcPr marL="73152" marR="73152" marT="36576" marB="36576" anchor="ctr">
                    <a:solidFill>
                      <a:srgbClr val="EAF8FA"/>
                    </a:solidFill>
                  </a:tcPr>
                </a:tc>
                <a:tc>
                  <a:txBody>
                    <a:bodyPr wrap="square"/>
                    <a:lstStyle/>
                    <a:p>
                      <a:pPr algn="ctr"/>
                      <a:r>
                        <a:rPr sz="1000" b="0" i="0">
                          <a:solidFill>
                            <a:srgbClr val="14313B"/>
                          </a:solidFill>
                          <a:latin typeface="Calibri (MS)"/>
                        </a:rPr>
                        <a:t>0,391</a:t>
                      </a:r>
                    </a:p>
                  </a:txBody>
                  <a:tcPr marL="73152" marR="73152" marT="36576" marB="36576" anchor="ctr">
                    <a:solidFill>
                      <a:srgbClr val="EAF8FA"/>
                    </a:solidFill>
                  </a:tcPr>
                </a:tc>
                <a:tc>
                  <a:txBody>
                    <a:bodyPr wrap="square"/>
                    <a:lstStyle/>
                    <a:p>
                      <a:pPr algn="ctr"/>
                      <a:r>
                        <a:rPr sz="1000" b="0" i="0">
                          <a:solidFill>
                            <a:srgbClr val="14313B"/>
                          </a:solidFill>
                          <a:latin typeface="Calibri (MS)"/>
                        </a:rPr>
                        <a:t>0,614</a:t>
                      </a:r>
                    </a:p>
                  </a:txBody>
                  <a:tcPr marL="73152" marR="73152" marT="36576" marB="36576" anchor="ctr">
                    <a:solidFill>
                      <a:srgbClr val="EAF8FA"/>
                    </a:solidFill>
                  </a:tcPr>
                </a:tc>
                <a:tc>
                  <a:txBody>
                    <a:bodyPr wrap="square"/>
                    <a:lstStyle/>
                    <a:p>
                      <a:pPr algn="ctr"/>
                      <a:r>
                        <a:rPr sz="1000" b="0" i="0">
                          <a:solidFill>
                            <a:srgbClr val="14313B"/>
                          </a:solidFill>
                          <a:latin typeface="Calibri (MS)"/>
                        </a:rPr>
                        <a:t>0,892</a:t>
                      </a:r>
                    </a:p>
                  </a:txBody>
                  <a:tcPr marL="73152" marR="73152" marT="36576" marB="36576" anchor="ctr">
                    <a:solidFill>
                      <a:srgbClr val="EAF8FA"/>
                    </a:solidFill>
                  </a:tcPr>
                </a:tc>
                <a:tc>
                  <a:txBody>
                    <a:bodyPr wrap="square"/>
                    <a:lstStyle/>
                    <a:p>
                      <a:pPr algn="ctr"/>
                      <a:r>
                        <a:rPr sz="1000" b="0" i="0">
                          <a:solidFill>
                            <a:srgbClr val="14313B"/>
                          </a:solidFill>
                          <a:latin typeface="Calibri (MS)"/>
                        </a:rPr>
                        <a:t>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r h="352044">
                <a:tc>
                  <a:txBody>
                    <a:bodyPr wrap="square"/>
                    <a:lstStyle/>
                    <a:p>
                      <a:r>
                        <a:rPr sz="1000" b="1" i="0">
                          <a:solidFill>
                            <a:srgbClr val="14313B"/>
                          </a:solidFill>
                          <a:latin typeface="Calibri (MS) Bold"/>
                        </a:rPr>
                        <a:t>E17</a:t>
                      </a:r>
                    </a:p>
                  </a:txBody>
                  <a:tcPr marL="73152" marR="73152" marT="36576" marB="36576" anchor="ctr">
                    <a:solidFill>
                      <a:srgbClr val="FFFFFF"/>
                    </a:solidFill>
                  </a:tcPr>
                </a:tc>
                <a:tc>
                  <a:txBody>
                    <a:bodyPr wrap="square"/>
                    <a:lstStyle/>
                    <a:p>
                      <a:r>
                        <a:rPr sz="1000" b="0" i="0">
                          <a:solidFill>
                            <a:srgbClr val="14313B"/>
                          </a:solidFill>
                          <a:latin typeface="Calibri (MS)"/>
                        </a:rPr>
                        <a:t>Lahan</a:t>
                      </a:r>
                    </a:p>
                  </a:txBody>
                  <a:tcPr marL="73152" marR="73152" marT="36576" marB="36576" anchor="ctr">
                    <a:solidFill>
                      <a:srgbClr val="FFFFFF"/>
                    </a:solidFill>
                  </a:tcPr>
                </a:tc>
                <a:tc>
                  <a:txBody>
                    <a:bodyPr wrap="square"/>
                    <a:lstStyle/>
                    <a:p>
                      <a:pPr algn="ctr"/>
                      <a:r>
                        <a:rPr sz="1000" b="0" i="0">
                          <a:solidFill>
                            <a:srgbClr val="14313B"/>
                          </a:solidFill>
                          <a:latin typeface="Calibri (MS)"/>
                        </a:rPr>
                        <a:t>0,389</a:t>
                      </a:r>
                    </a:p>
                  </a:txBody>
                  <a:tcPr marL="73152" marR="73152" marT="36576" marB="36576" anchor="ctr">
                    <a:solidFill>
                      <a:srgbClr val="FFFFFF"/>
                    </a:solidFill>
                  </a:tcPr>
                </a:tc>
                <a:tc>
                  <a:txBody>
                    <a:bodyPr wrap="square"/>
                    <a:lstStyle/>
                    <a:p>
                      <a:pPr algn="ctr"/>
                      <a:r>
                        <a:rPr sz="1000" b="0" i="0">
                          <a:solidFill>
                            <a:srgbClr val="14313B"/>
                          </a:solidFill>
                          <a:latin typeface="Calibri (MS)"/>
                        </a:rPr>
                        <a:t>0,389</a:t>
                      </a:r>
                    </a:p>
                  </a:txBody>
                  <a:tcPr marL="73152" marR="73152" marT="36576" marB="36576" anchor="ctr">
                    <a:solidFill>
                      <a:srgbClr val="FFFFFF"/>
                    </a:solidFill>
                  </a:tcPr>
                </a:tc>
                <a:tc>
                  <a:txBody>
                    <a:bodyPr wrap="square"/>
                    <a:lstStyle/>
                    <a:p>
                      <a:pPr algn="ctr"/>
                      <a:r>
                        <a:rPr sz="1000" b="0" i="0">
                          <a:solidFill>
                            <a:srgbClr val="14313B"/>
                          </a:solidFill>
                          <a:latin typeface="Calibri (MS)"/>
                        </a:rPr>
                        <a:t>0,823</a:t>
                      </a:r>
                    </a:p>
                  </a:txBody>
                  <a:tcPr marL="73152" marR="73152" marT="36576" marB="36576" anchor="ctr">
                    <a:solidFill>
                      <a:srgbClr val="FFFFFF"/>
                    </a:solidFill>
                  </a:tcPr>
                </a:tc>
                <a:tc>
                  <a:txBody>
                    <a:bodyPr wrap="square"/>
                    <a:lstStyle/>
                    <a:p>
                      <a:pPr algn="ctr"/>
                      <a:r>
                        <a:rPr sz="1000" b="0" i="0">
                          <a:solidFill>
                            <a:srgbClr val="14313B"/>
                          </a:solidFill>
                          <a:latin typeface="Calibri (MS)"/>
                        </a:rPr>
                        <a:t>0,862</a:t>
                      </a:r>
                    </a:p>
                  </a:txBody>
                  <a:tcPr marL="73152" marR="73152" marT="36576" marB="36576" anchor="ctr">
                    <a:solidFill>
                      <a:srgbClr val="FFFFFF"/>
                    </a:solidFill>
                  </a:tcPr>
                </a:tc>
                <a:tc>
                  <a:txBody>
                    <a:bodyPr wrap="square"/>
                    <a:lstStyle/>
                    <a:p>
                      <a:pPr algn="ctr"/>
                      <a:r>
                        <a:rPr sz="1000" b="0" i="0">
                          <a:solidFill>
                            <a:srgbClr val="14313B"/>
                          </a:solidFill>
                          <a:latin typeface="Calibri (MS)"/>
                        </a:rPr>
                        <a:t>Sesuai</a:t>
                      </a:r>
                    </a:p>
                  </a:txBody>
                  <a:tcPr marL="73152" marR="73152" marT="36576" marB="36576" anchor="ctr">
                    <a:solidFill>
                      <a:srgbClr val="FFFFFF"/>
                    </a:solidFill>
                  </a:tcPr>
                </a:tc>
                <a:tc>
                  <a:txBody>
                    <a:bodyPr wrap="square"/>
                    <a:lstStyle/>
                    <a:p>
                      <a:pPr algn="ctr"/>
                      <a:r>
                        <a:rPr sz="1000" b="0" i="0">
                          <a:solidFill>
                            <a:srgbClr val="14313B"/>
                          </a:solidFill>
                          <a:latin typeface="Calibri (MS)"/>
                        </a:rPr>
                        <a:t>Lolos</a:t>
                      </a:r>
                    </a:p>
                  </a:txBody>
                  <a:tcPr marL="73152" marR="73152" marT="36576" marB="36576" anchor="ctr">
                    <a:solidFill>
                      <a:srgbClr val="C9F0D6"/>
                    </a:solidFill>
                  </a:tcPr>
                </a:tc>
              </a:tr>
            </a:tbl>
          </a:graphicData>
        </a:graphic>
      </p:graphicFrame>
      <p:sp>
        <p:nvSpPr>
          <p:cNvPr id="28" name="Rounded Rectangle 27"/>
          <p:cNvSpPr/>
          <p:nvPr/>
        </p:nvSpPr>
        <p:spPr>
          <a:xfrm>
            <a:off x="11704320" y="1874519"/>
            <a:ext cx="57607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Bukti pembatas bekerja (sel kuning)</a:t>
            </a:r>
          </a:p>
        </p:txBody>
      </p:sp>
      <p:sp>
        <p:nvSpPr>
          <p:cNvPr id="29" name="TextBox 28"/>
          <p:cNvSpPr txBox="1"/>
          <p:nvPr/>
        </p:nvSpPr>
        <p:spPr>
          <a:xfrm>
            <a:off x="11704320" y="2423160"/>
            <a:ext cx="5760720" cy="3291840"/>
          </a:xfrm>
          <a:prstGeom prst="rect">
            <a:avLst/>
          </a:prstGeom>
          <a:noFill/>
        </p:spPr>
        <p:txBody>
          <a:bodyPr wrap="square" anchor="t" lIns="0" rIns="0" tIns="0" bIns="0">
            <a:spAutoFit/>
          </a:bodyPr>
          <a:lstStyle/>
          <a:p>
            <a:pPr algn="l">
              <a:spcAft>
                <a:spcPts val="400"/>
              </a:spcAft>
            </a:pPr>
            <a:r>
              <a:rPr sz="1100" b="1" i="0">
                <a:solidFill>
                  <a:srgbClr val="0B5E6E"/>
                </a:solidFill>
                <a:latin typeface="Calibri (MS) Bold"/>
              </a:rPr>
              <a:t>•  </a:t>
            </a:r>
            <a:r>
              <a:rPr sz="1100" b="1" i="0">
                <a:solidFill>
                  <a:srgbClr val="14313B"/>
                </a:solidFill>
                <a:latin typeface="Calibri (MS) Bold"/>
              </a:rPr>
              <a:t>TPK ≤ 1: </a:t>
            </a:r>
            <a:r>
              <a:rPr sz="1100" b="0" i="0">
                <a:solidFill>
                  <a:srgbClr val="14313B"/>
                </a:solidFill>
                <a:latin typeface="Calibri (MS)"/>
              </a:rPr>
              <a:t>TPK tertahan tepat 1,000 pada E03, E04, E06 walau Rasio Permintaan mencapai 2,267.</a:t>
            </a:r>
          </a:p>
          <a:p>
            <a:pPr algn="l">
              <a:spcAft>
                <a:spcPts val="400"/>
              </a:spcAft>
            </a:pPr>
            <a:r>
              <a:rPr sz="1100" b="1" i="0">
                <a:solidFill>
                  <a:srgbClr val="0B5E6E"/>
                </a:solidFill>
                <a:latin typeface="Calibri (MS) Bold"/>
              </a:rPr>
              <a:t>•  </a:t>
            </a:r>
            <a:r>
              <a:rPr sz="1100" b="1" i="0">
                <a:solidFill>
                  <a:srgbClr val="14313B"/>
                </a:solidFill>
                <a:latin typeface="Calibri (MS) Bold"/>
              </a:rPr>
              <a:t>RDDL ≥ 0 dan lahan ≤ wilayah: </a:t>
            </a:r>
            <a:r>
              <a:rPr sz="1100" b="0" i="0">
                <a:solidFill>
                  <a:srgbClr val="14313B"/>
                </a:solidFill>
                <a:latin typeface="Calibri (MS)"/>
              </a:rPr>
              <a:t>RDDL menyentuh 0,000 pada E09 dan E15 tanpa menjadi negatif.</a:t>
            </a:r>
          </a:p>
          <a:p>
            <a:pPr algn="l">
              <a:spcAft>
                <a:spcPts val="400"/>
              </a:spcAft>
            </a:pPr>
            <a:r>
              <a:rPr sz="1100" b="1" i="0">
                <a:solidFill>
                  <a:srgbClr val="0B5E6E"/>
                </a:solidFill>
                <a:latin typeface="Calibri (MS) Bold"/>
              </a:rPr>
              <a:t>•  </a:t>
            </a:r>
            <a:r>
              <a:rPr sz="1100" b="1" i="0">
                <a:solidFill>
                  <a:srgbClr val="14313B"/>
                </a:solidFill>
                <a:latin typeface="Calibri (MS) Bold"/>
              </a:rPr>
              <a:t>Daya Tarik terkendali: </a:t>
            </a:r>
            <a:r>
              <a:rPr sz="1100" b="0" i="0">
                <a:solidFill>
                  <a:srgbClr val="14313B"/>
                </a:solidFill>
                <a:latin typeface="Calibri (MS)"/>
              </a:rPr>
              <a:t>tetap 0,60–1,00 bahkan pada E01 dan E15.</a:t>
            </a:r>
          </a:p>
          <a:p>
            <a:pPr algn="l">
              <a:spcAft>
                <a:spcPts val="400"/>
              </a:spcAft>
            </a:pPr>
            <a:r>
              <a:rPr sz="1100" b="1" i="0">
                <a:solidFill>
                  <a:srgbClr val="0B5E6E"/>
                </a:solidFill>
                <a:latin typeface="Calibri (MS) Bold"/>
              </a:rPr>
              <a:t>•  </a:t>
            </a:r>
            <a:r>
              <a:rPr sz="1100" b="1" i="0">
                <a:solidFill>
                  <a:srgbClr val="14313B"/>
                </a:solidFill>
                <a:latin typeface="Calibri (MS) Bold"/>
              </a:rPr>
              <a:t>Pola halus sesuai hipotesis: </a:t>
            </a:r>
            <a:r>
              <a:rPr sz="1100" b="0" i="0">
                <a:solidFill>
                  <a:srgbClr val="14313B"/>
                </a:solidFill>
                <a:latin typeface="Calibri (MS)"/>
              </a:rPr>
              <a:t>E10 = E11; E12–E13 hanya mengubah TK; E08 memuncak 2041.</a:t>
            </a:r>
          </a:p>
        </p:txBody>
      </p:sp>
      <p:sp>
        <p:nvSpPr>
          <p:cNvPr id="30" name="Rounded Rectangle 29"/>
          <p:cNvSpPr/>
          <p:nvPr/>
        </p:nvSpPr>
        <p:spPr>
          <a:xfrm>
            <a:off x="11704320" y="5897880"/>
            <a:ext cx="5760720"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Empat perbaikan struktur sebelumnya</a:t>
            </a:r>
          </a:p>
          <a:p>
            <a:pPr algn="l">
              <a:spcAft>
                <a:spcPts val="300"/>
              </a:spcAft>
            </a:pPr>
            <a:r>
              <a:rPr sz="1100" b="0" i="0">
                <a:solidFill>
                  <a:srgbClr val="14313B"/>
                </a:solidFill>
                <a:latin typeface="Calibri (MS)"/>
              </a:rPr>
              <a:t>1. Batas TPK ≤ 1 (min pada Rasio Permintaan).</a:t>
            </a:r>
          </a:p>
          <a:p>
            <a:pPr algn="l">
              <a:spcAft>
                <a:spcPts val="300"/>
              </a:spcAft>
            </a:pPr>
            <a:r>
              <a:rPr sz="1100" b="0" i="0">
                <a:solidFill>
                  <a:srgbClr val="14313B"/>
                </a:solidFill>
                <a:latin typeface="Calibri (MS)"/>
              </a:rPr>
              <a:t>2. RDDL = max(0, …) agar tidak negatif.</a:t>
            </a:r>
          </a:p>
          <a:p>
            <a:pPr algn="l">
              <a:spcAft>
                <a:spcPts val="300"/>
              </a:spcAft>
            </a:pPr>
            <a:r>
              <a:rPr sz="1100" b="0" i="0">
                <a:solidFill>
                  <a:srgbClr val="14313B"/>
                </a:solidFill>
                <a:latin typeface="Calibri (MS)"/>
              </a:rPr>
              <a:t>3. Batas atas komponen kepadatan pada Daya Tarik.</a:t>
            </a:r>
          </a:p>
          <a:p>
            <a:pPr algn="l">
              <a:spcAft>
                <a:spcPts val="300"/>
              </a:spcAft>
            </a:pPr>
            <a:r>
              <a:rPr sz="1100" b="0" i="0">
                <a:solidFill>
                  <a:srgbClr val="14313B"/>
                </a:solidFill>
                <a:latin typeface="Calibri (MS)"/>
              </a:rPr>
              <a:t>4. Batas maksimum efek ODTW pada Daya Tarik.</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(Tabel 44); hasil_uji_kondisi_ekstrem_v2.xlsx.</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(1/9)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01.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E01  </a:t>
            </a:r>
            <a:r>
              <a:rPr sz="1100" b="0" i="0">
                <a:solidFill>
                  <a:srgbClr val="D7EEF2"/>
                </a:solidFill>
                <a:latin typeface="Calibri (MS)"/>
              </a:rPr>
              <a:t>Laju Pertumbuhan Eksternal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Wisatawan turun eksponensial mendekati nol, tidak negatif; Daya Tarik tidak melonjak</a:t>
            </a:r>
          </a:p>
          <a:p>
            <a:pPr algn="l">
              <a:spcAft>
                <a:spcPts val="300"/>
              </a:spcAft>
            </a:pPr>
            <a:r>
              <a:rPr sz="1100" b="0" i="0">
                <a:solidFill>
                  <a:srgbClr val="14313B"/>
                </a:solidFill>
                <a:latin typeface="Calibri (MS)"/>
              </a:rPr>
              <a:t>Tanpa kedatangan baru, wisatawan meluruh dari 40,7 juta ke 0,12 juta (2050) tanpa pernah negatif. Daya Tarik hanya bergerak di 0,90–1,00 meski kepadatan nyaris nol, tanda batas atas komponen kepadatan bekerja.</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02.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E02  </a:t>
            </a:r>
            <a:r>
              <a:rPr sz="1100" b="0" i="0">
                <a:solidFill>
                  <a:srgbClr val="D7EEF2"/>
                </a:solidFill>
                <a:latin typeface="Calibri (MS)"/>
              </a:rPr>
              <a:t>Laju Penurunan Dasar = 0</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Wisatawan tidak pernah turun; rem tetap menurunkan Daya Tarik di bawah 1</a:t>
            </a:r>
          </a:p>
          <a:p>
            <a:pPr algn="l">
              <a:spcAft>
                <a:spcPts val="300"/>
              </a:spcAft>
            </a:pPr>
            <a:r>
              <a:rPr sz="1100" b="0" i="0">
                <a:solidFill>
                  <a:srgbClr val="14313B"/>
                </a:solidFill>
                <a:latin typeface="Calibri (MS)"/>
              </a:rPr>
              <a:t>Tanpa penurunan, wisatawan terus menumpuk sampai 6.343,72 juta. Daya Tarik turun tajam sampai ±2033, sempat naik sampai 2040, lalu turun lagi (min 0,758): rem kepadatan dan lahan tetap aktif. Lolos dengan catatan.</a:t>
            </a:r>
          </a:p>
        </p:txBody>
      </p:sp>
      <p:sp>
        <p:nvSpPr>
          <p:cNvPr id="34" name="Rounded Rectangle 33"/>
          <p:cNvSpPr/>
          <p:nvPr/>
        </p:nvSpPr>
        <p:spPr>
          <a:xfrm>
            <a:off x="11704320" y="7726679"/>
            <a:ext cx="5760720" cy="438912"/>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 dengan catatan</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(2/9)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03.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E03  </a:t>
            </a:r>
            <a:r>
              <a:rPr sz="1100" b="0" i="0">
                <a:solidFill>
                  <a:srgbClr val="D7EEF2"/>
                </a:solidFill>
                <a:latin typeface="Calibri (MS)"/>
              </a:rPr>
              <a:t>Pengeluaran per Kunjungan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PDRB dan investasi nol; konstruksi berhenti; TPK naik tetapi ≤ 1</a:t>
            </a:r>
          </a:p>
          <a:p>
            <a:pPr algn="l">
              <a:spcAft>
                <a:spcPts val="300"/>
              </a:spcAft>
            </a:pPr>
            <a:r>
              <a:rPr sz="1100" b="0" i="0">
                <a:solidFill>
                  <a:srgbClr val="14313B"/>
                </a:solidFill>
                <a:latin typeface="Calibri (MS)"/>
              </a:rPr>
              <a:t>Tanpa belanja wisatawan, PDRB nol sepanjang simulasi sehingga investasi dan konstruksi berhenti. TPK naik lalu mendatar tepat di 1,000 sejak ±2036, walau Rasio Permintaan mencapai 2,267.</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04.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E04  </a:t>
            </a:r>
            <a:r>
              <a:rPr sz="1100" b="0" i="0">
                <a:solidFill>
                  <a:srgbClr val="D7EEF2"/>
                </a:solidFill>
                <a:latin typeface="Calibri (MS)"/>
              </a:rPr>
              <a:t>Rasio Investasi thd PDRB = 0</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Konstruksi berhenti, akomodasi turun; PDRB tetap tumbuh</a:t>
            </a:r>
          </a:p>
          <a:p>
            <a:pPr algn="l">
              <a:spcAft>
                <a:spcPts val="300"/>
              </a:spcAft>
            </a:pPr>
            <a:r>
              <a:rPr sz="1100" b="0" i="0">
                <a:solidFill>
                  <a:srgbClr val="14313B"/>
                </a:solidFill>
                <a:latin typeface="Calibri (MS)"/>
              </a:rPr>
              <a:t>Tanpa investasi, hotel turun dari 2.291 ke 635 unit karena hanya ada demolisi. TPK tertahan di 1,000. PDRB tetap tumbuh karena wisatawan masih berbelanja (TK 2050: 493,42 ribu).</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(3/9)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05.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E05  </a:t>
            </a:r>
            <a:r>
              <a:rPr sz="1100" b="0" i="0">
                <a:solidFill>
                  <a:srgbClr val="D7EEF2"/>
                </a:solidFill>
                <a:latin typeface="Calibri (MS)"/>
              </a:rPr>
              <a:t>Laju Demolisi Dasar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Akomodasi tidak pernah turun, lebih tinggi dari dasar</a:t>
            </a:r>
          </a:p>
          <a:p>
            <a:pPr algn="l">
              <a:spcAft>
                <a:spcPts val="300"/>
              </a:spcAft>
            </a:pPr>
            <a:r>
              <a:rPr sz="1100" b="0" i="0">
                <a:solidFill>
                  <a:srgbClr val="14313B"/>
                </a:solidFill>
                <a:latin typeface="Calibri (MS)"/>
              </a:rPr>
              <a:t>Tanpa demolisi, hotel tidak pernah berkurang dan mencapai 6.357 unit (dasar 5.404). Laju konstruksi justru lebih rendah karena kapasitas yang tidak berkurang menurunkan tekanan permintaan.</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06.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E06  </a:t>
            </a:r>
            <a:r>
              <a:rPr sz="1100" b="0" i="0">
                <a:solidFill>
                  <a:srgbClr val="D7EEF2"/>
                </a:solidFill>
                <a:latin typeface="Calibri (MS)"/>
              </a:rPr>
              <a:t>TPK Ambang = 1</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Konstruksi berhenti sampai permintaan melebihi 100% kapasitas</a:t>
            </a:r>
          </a:p>
          <a:p>
            <a:pPr algn="l">
              <a:spcAft>
                <a:spcPts val="300"/>
              </a:spcAft>
            </a:pPr>
            <a:r>
              <a:rPr sz="1100" b="0" i="0">
                <a:solidFill>
                  <a:srgbClr val="14313B"/>
                </a:solidFill>
                <a:latin typeface="Calibri (MS)"/>
              </a:rPr>
              <a:t>Konstruksi nol sampai ±2035, lalu menyala-mati berulang setiap permintaan melewati kapasitas penuh. Hotel turun lalu bergelombang ke 1.821 unit. TPK tidak pernah &gt; 1; catatan: ambang ekstrem memicu osilasi.</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(4/9)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07.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E07  </a:t>
            </a:r>
            <a:r>
              <a:rPr sz="1100" b="0" i="0">
                <a:solidFill>
                  <a:srgbClr val="D7EEF2"/>
                </a:solidFill>
                <a:latin typeface="Calibri (MS)"/>
              </a:rPr>
              <a:t>Proporsi Wisatawan Menginap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TPK dan Rasio Permintaan nol; akomodasi turun hanya oleh demolisi</a:t>
            </a:r>
          </a:p>
          <a:p>
            <a:pPr algn="l">
              <a:spcAft>
                <a:spcPts val="300"/>
              </a:spcAft>
            </a:pPr>
            <a:r>
              <a:rPr sz="1100" b="0" i="0">
                <a:solidFill>
                  <a:srgbClr val="14313B"/>
                </a:solidFill>
                <a:latin typeface="Calibri (MS)"/>
              </a:rPr>
              <a:t>Tanpa wisatawan menginap, TPK dan Rasio Permintaan nol sepanjang simulasi. Konstruksi berhenti dan hotel turun hanya karena demolisi, ke 635 unit.</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08.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E08  </a:t>
            </a:r>
            <a:r>
              <a:rPr sz="1100" b="0" i="0">
                <a:solidFill>
                  <a:srgbClr val="D7EEF2"/>
                </a:solidFill>
                <a:latin typeface="Calibri (MS)"/>
              </a:rPr>
              <a:t>Sensitivitas ODTW thd Investasi = 0; Pembangunan Non-Investasi = 0</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ODTW turun eksponensial; Daya Tarik turun; wisatawan memuncak lalu turun</a:t>
            </a:r>
          </a:p>
          <a:p>
            <a:pPr algn="l">
              <a:spcAft>
                <a:spcPts val="300"/>
              </a:spcAft>
            </a:pPr>
            <a:r>
              <a:rPr sz="1100" b="0" i="0">
                <a:solidFill>
                  <a:srgbClr val="14313B"/>
                </a:solidFill>
                <a:latin typeface="Calibri (MS)"/>
              </a:rPr>
              <a:t>Tanpa pembangunan, ODTW turun dari 201 ke 56 unit. Daya Tarik melemah sehingga wisatawan memuncak sekitar 2041 lalu turun ke 59,62 juta, sesuai hipotesis "memuncak lalu menurun".</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(5/9)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09.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E09  </a:t>
            </a:r>
            <a:r>
              <a:rPr sz="1100" b="0" i="0">
                <a:solidFill>
                  <a:srgbClr val="D7EEF2"/>
                </a:solidFill>
                <a:latin typeface="Calibri (MS)"/>
              </a:rPr>
              <a:t>Laju Konversi Dasar ×10 (0,436)</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Lahan mendekati tetapi tidak melebihi luas wilayah</a:t>
            </a:r>
          </a:p>
          <a:p>
            <a:pPr algn="l">
              <a:spcAft>
                <a:spcPts val="300"/>
              </a:spcAft>
            </a:pPr>
            <a:r>
              <a:rPr sz="1100" b="0" i="0">
                <a:solidFill>
                  <a:srgbClr val="14313B"/>
                </a:solidFill>
                <a:latin typeface="Calibri (MS)"/>
              </a:rPr>
              <a:t>Konversi non-pariwisata 10× membuat lahan naik berbentuk kurva-S dan mendatar di 317.033 ha, tepat di bawah luas wilayah. RDDL turun dan menyentuh 0 tanpa menjadi negatif.</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10.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E10  </a:t>
            </a:r>
            <a:r>
              <a:rPr sz="1100" b="0" i="0">
                <a:solidFill>
                  <a:srgbClr val="D7EEF2"/>
                </a:solidFill>
                <a:latin typeface="Calibri (MS)"/>
              </a:rPr>
              <a:t>Kebijakan Konservasi Lahan = 1</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Konversi pariwisata nol; non-pariwisata tetap berjalan</a:t>
            </a:r>
          </a:p>
          <a:p>
            <a:pPr algn="l">
              <a:spcAft>
                <a:spcPts val="300"/>
              </a:spcAft>
            </a:pPr>
            <a:r>
              <a:rPr sz="1100" b="0" i="0">
                <a:solidFill>
                  <a:srgbClr val="14313B"/>
                </a:solidFill>
                <a:latin typeface="Calibri (MS)"/>
              </a:rPr>
              <a:t>Konservasi penuh membuat laju konversi lahan pariwisata nol sepanjang simulasi. Lahan terbangun tetap naik dari konversi non-pariwisata (121.094 ha vs 122.208 ha dasar).</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(6/9)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11.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E11  </a:t>
            </a:r>
            <a:r>
              <a:rPr sz="1100" b="0" i="0">
                <a:solidFill>
                  <a:srgbClr val="D7EEF2"/>
                </a:solidFill>
                <a:latin typeface="Calibri (MS)"/>
              </a:rPr>
              <a:t>Lahan per Hotel dan per ODTW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Setara E10</a:t>
            </a:r>
          </a:p>
          <a:p>
            <a:pPr algn="l">
              <a:spcAft>
                <a:spcPts val="300"/>
              </a:spcAft>
            </a:pPr>
            <a:r>
              <a:rPr sz="1100" b="0" i="0">
                <a:solidFill>
                  <a:srgbClr val="14313B"/>
                </a:solidFill>
                <a:latin typeface="Calibri (MS)"/>
              </a:rPr>
              <a:t>Kebutuhan lahan per hotel dan per ODTW dinolkan: konversi pariwisata nol dan seluruh hasil identik dengan E10, sesuai hipotesis.</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12.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E12  </a:t>
            </a:r>
            <a:r>
              <a:rPr sz="1100" b="0" i="0">
                <a:solidFill>
                  <a:srgbClr val="D7EEF2"/>
                </a:solidFill>
                <a:latin typeface="Calibri (MS)"/>
              </a:rPr>
              <a:t>Laju Kenaikan Produktivitas = 0</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TK tumbuh sebanding PDRB, lebih tinggi dari dasar</a:t>
            </a:r>
          </a:p>
          <a:p>
            <a:pPr algn="l">
              <a:spcAft>
                <a:spcPts val="300"/>
              </a:spcAft>
            </a:pPr>
            <a:r>
              <a:rPr sz="1100" b="0" i="0">
                <a:solidFill>
                  <a:srgbClr val="14313B"/>
                </a:solidFill>
                <a:latin typeface="Calibri (MS)"/>
              </a:rPr>
              <a:t>Produktivitas tetap membuat intensitas TK datar di 21,54 jiwa/miliar Rp, sehingga TK tumbuh mengikuti PDRB sampai 847,26 ribu (dasar 650,36 ribu). Variabel lain tidak berubah.</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(7/9)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13.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E13  </a:t>
            </a:r>
            <a:r>
              <a:rPr sz="1100" b="0" i="0">
                <a:solidFill>
                  <a:srgbClr val="D7EEF2"/>
                </a:solidFill>
                <a:latin typeface="Calibri (MS)"/>
              </a:rPr>
              <a:t>Laju Keluar Dasar TK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TK mengikuti kebutuhan tanpa menumpuk</a:t>
            </a:r>
          </a:p>
          <a:p>
            <a:pPr algn="l">
              <a:spcAft>
                <a:spcPts val="300"/>
              </a:spcAft>
            </a:pPr>
            <a:r>
              <a:rPr sz="1100" b="0" i="0">
                <a:solidFill>
                  <a:srgbClr val="14313B"/>
                </a:solidFill>
                <a:latin typeface="Calibri (MS)"/>
              </a:rPr>
              <a:t>Tanpa pekerja keluar, TK tetap mengikuti kebutuhan (650,36 ribu, sama dengan dasar). Yang berubah hanya laju penyerapan, yang lebih rendah karena tidak perlu mengganti pekerja keluar.</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pic>
        <p:nvPicPr>
          <p:cNvPr id="31" name="Picture 30" descr="E14.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E14  </a:t>
            </a:r>
            <a:r>
              <a:rPr sz="1100" b="0" i="0">
                <a:solidFill>
                  <a:srgbClr val="D7EEF2"/>
                </a:solidFill>
                <a:latin typeface="Calibri (MS)"/>
              </a:rPr>
              <a:t>Insentif Kebijakan = 5</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Konstruksi melonjak lalu melambat sendiri; Daya Tarik tidak lepas kendali</a:t>
            </a:r>
          </a:p>
          <a:p>
            <a:pPr algn="l">
              <a:spcAft>
                <a:spcPts val="300"/>
              </a:spcAft>
            </a:pPr>
            <a:r>
              <a:rPr sz="1100" b="0" i="0">
                <a:solidFill>
                  <a:srgbClr val="14313B"/>
                </a:solidFill>
                <a:latin typeface="Calibri (MS)"/>
              </a:rPr>
              <a:t>Insentif 5 membuat hotel naik sampai 11.355 unit. TPK turun cepat ke ±0,28 lalu stabil di ±0,30 karena konstruksi melambat sendiri (loop okupansi). Daya Tarik maks 1,002, tidak lepas kendali.</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(8/9)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15.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E15  </a:t>
            </a:r>
            <a:r>
              <a:rPr sz="1100" b="0" i="0">
                <a:solidFill>
                  <a:srgbClr val="D7EEF2"/>
                </a:solidFill>
                <a:latin typeface="Calibri (MS)"/>
              </a:rPr>
              <a:t>Laju Pertumbuhan Eksternal ×3 (0,832)</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Seluruh rem struktural bekerja (lahan, okupansi, daya tarik)</a:t>
            </a:r>
          </a:p>
          <a:p>
            <a:pPr algn="l">
              <a:spcAft>
                <a:spcPts val="300"/>
              </a:spcAft>
            </a:pPr>
            <a:r>
              <a:rPr sz="1100" b="0" i="0">
                <a:solidFill>
                  <a:srgbClr val="14313B"/>
                </a:solidFill>
                <a:latin typeface="Calibri (MS)"/>
              </a:rPr>
              <a:t>LPE tiga kali membuat wisatawan melonjak eksponensial. Lahan naik kurva-S dan mendatar di 317.035,82 ha (Δt 0,25), RDDL ≈ 0, Daya Tarik di batas bawah 0,600. Lolos dengan catatan; lihat uji galat integrasi.</a:t>
            </a:r>
          </a:p>
        </p:txBody>
      </p:sp>
      <p:sp>
        <p:nvSpPr>
          <p:cNvPr id="30" name="Rounded Rectangle 29"/>
          <p:cNvSpPr/>
          <p:nvPr/>
        </p:nvSpPr>
        <p:spPr>
          <a:xfrm>
            <a:off x="11704320" y="4480560"/>
            <a:ext cx="5760720" cy="438912"/>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 dengan catatan</a:t>
            </a:r>
          </a:p>
        </p:txBody>
      </p:sp>
      <p:pic>
        <p:nvPicPr>
          <p:cNvPr id="31" name="Picture 30" descr="E16.png"/>
          <p:cNvPicPr>
            <a:picLocks noChangeAspect="1"/>
          </p:cNvPicPr>
          <p:nvPr/>
        </p:nvPicPr>
        <p:blipFill>
          <a:blip r:embed="rId8"/>
          <a:stretch>
            <a:fillRect/>
          </a:stretch>
        </p:blipFill>
        <p:spPr>
          <a:xfrm>
            <a:off x="1692843" y="5120640"/>
            <a:ext cx="8867273" cy="3063240"/>
          </a:xfrm>
          <a:prstGeom prst="rect">
            <a:avLst/>
          </a:prstGeom>
          <a:ln w="12700">
            <a:solidFill>
              <a:srgbClr val="CFE5E9"/>
            </a:solidFill>
          </a:ln>
        </p:spPr>
      </p:pic>
      <p:sp>
        <p:nvSpPr>
          <p:cNvPr id="32" name="Rounded Rectangle 31"/>
          <p:cNvSpPr/>
          <p:nvPr/>
        </p:nvSpPr>
        <p:spPr>
          <a:xfrm>
            <a:off x="11704320" y="5120640"/>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E16  </a:t>
            </a:r>
            <a:r>
              <a:rPr sz="1100" b="0" i="0">
                <a:solidFill>
                  <a:srgbClr val="D7EEF2"/>
                </a:solidFill>
                <a:latin typeface="Calibri (MS)"/>
              </a:rPr>
              <a:t>Laju Penutupan Dasar ODTW = 0</a:t>
            </a:r>
          </a:p>
        </p:txBody>
      </p:sp>
      <p:sp>
        <p:nvSpPr>
          <p:cNvPr id="33" name="Rounded Rectangle 32"/>
          <p:cNvSpPr/>
          <p:nvPr/>
        </p:nvSpPr>
        <p:spPr>
          <a:xfrm>
            <a:off x="11704320" y="562355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ODTW naik monoton, lebih tinggi dari dasar</a:t>
            </a:r>
          </a:p>
          <a:p>
            <a:pPr algn="l">
              <a:spcAft>
                <a:spcPts val="300"/>
              </a:spcAft>
            </a:pPr>
            <a:r>
              <a:rPr sz="1100" b="0" i="0">
                <a:solidFill>
                  <a:srgbClr val="14313B"/>
                </a:solidFill>
                <a:latin typeface="Calibri (MS)"/>
              </a:rPr>
              <a:t>Tanpa penutupan, ODTW naik monoton sampai 755 unit. Daya Tarik lebih tinggi dari dasar (±0,89 vs 0,81) sehingga wisatawan 2050 mencapai 127,78 juta.</a:t>
            </a:r>
          </a:p>
        </p:txBody>
      </p:sp>
      <p:sp>
        <p:nvSpPr>
          <p:cNvPr id="34" name="Rounded Rectangle 33"/>
          <p:cNvSpPr/>
          <p:nvPr/>
        </p:nvSpPr>
        <p:spPr>
          <a:xfrm>
            <a:off x="11704320" y="7726679"/>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47 · Grafik Uji Kondisi Ekstrem (9/9)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Garis biru: simulasi dasar · garis oranye putus-putus: hasil uji</a:t>
            </a:r>
          </a:p>
        </p:txBody>
      </p:sp>
      <p:pic>
        <p:nvPicPr>
          <p:cNvPr id="27" name="Picture 26" descr="E17.png"/>
          <p:cNvPicPr>
            <a:picLocks noChangeAspect="1"/>
          </p:cNvPicPr>
          <p:nvPr/>
        </p:nvPicPr>
        <p:blipFill>
          <a:blip r:embed="rId7"/>
          <a:stretch>
            <a:fillRect/>
          </a:stretch>
        </p:blipFill>
        <p:spPr>
          <a:xfrm>
            <a:off x="1692843" y="1874519"/>
            <a:ext cx="8867273" cy="3063240"/>
          </a:xfrm>
          <a:prstGeom prst="rect">
            <a:avLst/>
          </a:prstGeom>
          <a:ln w="12700">
            <a:solidFill>
              <a:srgbClr val="CFE5E9"/>
            </a:solidFill>
          </a:ln>
        </p:spPr>
      </p:pic>
      <p:sp>
        <p:nvSpPr>
          <p:cNvPr id="28" name="Rounded Rectangle 27"/>
          <p:cNvSpPr/>
          <p:nvPr/>
        </p:nvSpPr>
        <p:spPr>
          <a:xfrm>
            <a:off x="11704320" y="1874519"/>
            <a:ext cx="5760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400" b="1" i="0">
                <a:solidFill>
                  <a:srgbClr val="FFFFFF"/>
                </a:solidFill>
                <a:latin typeface="Calibri (MS) Bold"/>
              </a:rPr>
              <a:t>E17  </a:t>
            </a:r>
            <a:r>
              <a:rPr sz="1100" b="0" i="0">
                <a:solidFill>
                  <a:srgbClr val="D7EEF2"/>
                </a:solidFill>
                <a:latin typeface="Calibri (MS)"/>
              </a:rPr>
              <a:t>Laju Konversi Dasar = 0</a:t>
            </a:r>
          </a:p>
        </p:txBody>
      </p:sp>
      <p:sp>
        <p:nvSpPr>
          <p:cNvPr id="29" name="Rounded Rectangle 28"/>
          <p:cNvSpPr/>
          <p:nvPr/>
        </p:nvSpPr>
        <p:spPr>
          <a:xfrm>
            <a:off x="11704320" y="2377439"/>
            <a:ext cx="57607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1" i="0">
                <a:solidFill>
                  <a:srgbClr val="0B5E6E"/>
                </a:solidFill>
                <a:latin typeface="Calibri (MS) Bold"/>
              </a:rPr>
              <a:t>Hipotesis: </a:t>
            </a:r>
            <a:r>
              <a:rPr sz="1100" b="0" i="0">
                <a:solidFill>
                  <a:srgbClr val="14313B"/>
                </a:solidFill>
                <a:latin typeface="Calibri (MS)"/>
              </a:rPr>
              <a:t>Lahan naik sangat lambat; RDDL hampir tidak berubah</a:t>
            </a:r>
          </a:p>
          <a:p>
            <a:pPr algn="l">
              <a:spcAft>
                <a:spcPts val="300"/>
              </a:spcAft>
            </a:pPr>
            <a:r>
              <a:rPr sz="1100" b="0" i="0">
                <a:solidFill>
                  <a:srgbClr val="14313B"/>
                </a:solidFill>
                <a:latin typeface="Calibri (MS)"/>
              </a:rPr>
              <a:t>Tanpa konversi non-pariwisata, lahan hanya bertambah dari konversi pariwisata dan nyaris datar (56.161 ha). RDDL bertahan di sekitar 0,823.</a:t>
            </a:r>
          </a:p>
        </p:txBody>
      </p:sp>
      <p:sp>
        <p:nvSpPr>
          <p:cNvPr id="30" name="Rounded Rectangle 29"/>
          <p:cNvSpPr/>
          <p:nvPr/>
        </p:nvSpPr>
        <p:spPr>
          <a:xfrm>
            <a:off x="11704320" y="4480560"/>
            <a:ext cx="5760720" cy="438912"/>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Status: Lolos</a:t>
            </a:r>
          </a:p>
        </p:txBody>
      </p:sp>
      <p:sp>
        <p:nvSpPr>
          <p:cNvPr id="31" name="Rounded Rectangle 30"/>
          <p:cNvSpPr/>
          <p:nvPr/>
        </p:nvSpPr>
        <p:spPr>
          <a:xfrm>
            <a:off x="822960" y="539496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Rangkuman  </a:t>
            </a:r>
            <a:r>
              <a:rPr sz="1200" b="0" i="0">
                <a:solidFill>
                  <a:srgbClr val="14313B"/>
                </a:solidFill>
                <a:latin typeface="Calibri (MS)"/>
              </a:rPr>
              <a:t>Ketujuh belas uji memenuhi keenam aturan fisik dan seluruh hipotesis terkonfirmasi. Model dinyatakan logis secara struktural selama Laju Pertumbuhan Eksternal tidak melampaui sekitar 0,336 (±1,25 × nilai dasar).</a:t>
            </a:r>
          </a:p>
        </p:txBody>
      </p:sp>
      <p:sp>
        <p:nvSpPr>
          <p:cNvPr id="32" name="TextBox 3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4.4.5 (Gambar 18–23); grafik E01–E17 dari Pengujian Model Sistem Dinamis/Kalibrasi.</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48 · Uji Galat Integrasi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Memastikan hasil berasal dari struktur model, bukan dari ukuran langkah waktu (Δt) yang terlalu besar</a:t>
            </a:r>
          </a:p>
        </p:txBody>
      </p:sp>
      <p:sp>
        <p:nvSpPr>
          <p:cNvPr id="27" name="Rounded Rectangle 26"/>
          <p:cNvSpPr/>
          <p:nvPr/>
        </p:nvSpPr>
        <p:spPr>
          <a:xfrm>
            <a:off x="822960" y="1874519"/>
            <a:ext cx="7863840" cy="9601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50" b="0" i="1">
                <a:solidFill>
                  <a:srgbClr val="14313B"/>
                </a:solidFill>
                <a:latin typeface="Calibri (MS)"/>
              </a:rPr>
              <a:t>Selisih % = (X_Δt − X_Δt=1) ÷ X_Δt=1 × 100%</a:t>
            </a:r>
          </a:p>
          <a:p>
            <a:pPr algn="l">
              <a:spcAft>
                <a:spcPts val="300"/>
              </a:spcAft>
            </a:pPr>
            <a:r>
              <a:rPr sz="1250" b="0" i="1">
                <a:solidFill>
                  <a:srgbClr val="14313B"/>
                </a:solidFill>
                <a:latin typeface="Calibri (MS)"/>
              </a:rPr>
              <a:t>Euler: S(t+Δt) = S(t) + Δt × (masuk − keluar)</a:t>
            </a:r>
            <a:r>
              <a:rPr sz="1000" b="0" i="0">
                <a:solidFill>
                  <a:srgbClr val="5E6E78"/>
                </a:solidFill>
                <a:latin typeface="Calibri (MS)"/>
              </a:rPr>
              <a:t/>
            </a:r>
          </a:p>
        </p:txBody>
      </p:sp>
      <p:sp>
        <p:nvSpPr>
          <p:cNvPr id="28" name="Rounded Rectangle 27"/>
          <p:cNvSpPr/>
          <p:nvPr/>
        </p:nvSpPr>
        <p:spPr>
          <a:xfrm>
            <a:off x="822960" y="3017520"/>
            <a:ext cx="78638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Pemeriksaan 1 · E15 pada berbagai Δt</a:t>
            </a:r>
          </a:p>
        </p:txBody>
      </p:sp>
      <p:graphicFrame>
        <p:nvGraphicFramePr>
          <p:cNvPr id="29" name="Table 28"/>
          <p:cNvGraphicFramePr>
            <a:graphicFrameLocks noGrp="1"/>
          </p:cNvGraphicFramePr>
          <p:nvPr/>
        </p:nvGraphicFramePr>
        <p:xfrm>
          <a:off x="822960" y="3520440"/>
          <a:ext cx="7863840" cy="2057400"/>
        </p:xfrm>
        <a:graphic>
          <a:graphicData uri="http://schemas.openxmlformats.org/drawingml/2006/table">
            <a:tbl>
              <a:tblPr firstRow="1" bandRow="1">
                <a:tableStyleId>{5C22544A-7EE6-4342-B048-85BDC9FD1C3A}</a:tableStyleId>
              </a:tblPr>
              <a:tblGrid>
                <a:gridCol w="1463040"/>
                <a:gridCol w="1645920"/>
                <a:gridCol w="1645920"/>
                <a:gridCol w="1737360"/>
                <a:gridCol w="1371600"/>
              </a:tblGrid>
              <a:tr h="411480">
                <a:tc>
                  <a:txBody>
                    <a:bodyPr wrap="square"/>
                    <a:lstStyle/>
                    <a:p>
                      <a:pPr algn="ctr"/>
                      <a:r>
                        <a:rPr sz="1050" b="1" i="0">
                          <a:solidFill>
                            <a:srgbClr val="FFFFFF"/>
                          </a:solidFill>
                          <a:latin typeface="Calibri (MS) Bold"/>
                        </a:rPr>
                        <a:t>Δt (tahun)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Lahan maks (ha)</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Selisih thd 317.036 ha</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Konversi pariwisata 2049 (ha)</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Aturan lahan</a:t>
                      </a:r>
                    </a:p>
                  </a:txBody>
                  <a:tcPr marL="73152" marR="73152" marT="36576" marB="36576" anchor="ctr">
                    <a:solidFill>
                      <a:srgbClr val="0B5E6E"/>
                    </a:solidFill>
                  </a:tcPr>
                </a:tc>
              </a:tr>
              <a:tr h="411480">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pPr algn="ctr"/>
                      <a:r>
                        <a:rPr sz="1050" b="0" i="0">
                          <a:solidFill>
                            <a:srgbClr val="14313B"/>
                          </a:solidFill>
                          <a:latin typeface="Calibri (MS)"/>
                        </a:rPr>
                        <a:t>317.093,70</a:t>
                      </a:r>
                    </a:p>
                  </a:txBody>
                  <a:tcPr marL="73152" marR="73152" marT="36576" marB="36576" anchor="ctr">
                    <a:solidFill>
                      <a:srgbClr val="FFFFFF"/>
                    </a:solidFill>
                  </a:tcPr>
                </a:tc>
                <a:tc>
                  <a:txBody>
                    <a:bodyPr wrap="square"/>
                    <a:lstStyle/>
                    <a:p>
                      <a:pPr algn="ctr"/>
                      <a:r>
                        <a:rPr sz="1050" b="0" i="0">
                          <a:solidFill>
                            <a:srgbClr val="14313B"/>
                          </a:solidFill>
                          <a:latin typeface="Calibri (MS)"/>
                        </a:rPr>
                        <a:t>+57,70</a:t>
                      </a:r>
                    </a:p>
                  </a:txBody>
                  <a:tcPr marL="73152" marR="73152" marT="36576" marB="36576" anchor="ctr">
                    <a:solidFill>
                      <a:srgbClr val="FFFFFF"/>
                    </a:solidFill>
                  </a:tcPr>
                </a:tc>
                <a:tc>
                  <a:txBody>
                    <a:bodyPr wrap="square"/>
                    <a:lstStyle/>
                    <a:p>
                      <a:pPr algn="ctr"/>
                      <a:r>
                        <a:rPr sz="1050" b="0" i="0">
                          <a:solidFill>
                            <a:srgbClr val="14313B"/>
                          </a:solidFill>
                          <a:latin typeface="Calibri (MS)"/>
                        </a:rPr>
                        <a:t>823,51</a:t>
                      </a:r>
                    </a:p>
                  </a:txBody>
                  <a:tcPr marL="73152" marR="73152" marT="36576" marB="36576" anchor="ctr">
                    <a:solidFill>
                      <a:srgbClr val="FFFFFF"/>
                    </a:solidFill>
                  </a:tcPr>
                </a:tc>
                <a:tc>
                  <a:txBody>
                    <a:bodyPr wrap="square"/>
                    <a:lstStyle/>
                    <a:p>
                      <a:pPr algn="ctr"/>
                      <a:r>
                        <a:rPr sz="1050" b="0" i="0">
                          <a:solidFill>
                            <a:srgbClr val="14313B"/>
                          </a:solidFill>
                          <a:latin typeface="Calibri (MS)"/>
                        </a:rPr>
                        <a:t>Dilanggar</a:t>
                      </a:r>
                    </a:p>
                  </a:txBody>
                  <a:tcPr marL="73152" marR="73152" marT="36576" marB="36576" anchor="ctr">
                    <a:solidFill>
                      <a:srgbClr val="FDE2DE"/>
                    </a:solidFill>
                  </a:tcPr>
                </a:tc>
              </a:tr>
              <a:tr h="411480">
                <a:tc>
                  <a:txBody>
                    <a:bodyPr wrap="square"/>
                    <a:lstStyle/>
                    <a:p>
                      <a:pPr algn="ctr"/>
                      <a:r>
                        <a:rPr sz="1050" b="0" i="0">
                          <a:solidFill>
                            <a:srgbClr val="14313B"/>
                          </a:solidFill>
                          <a:latin typeface="Calibri (MS)"/>
                        </a:rPr>
                        <a:t>0,5</a:t>
                      </a:r>
                    </a:p>
                  </a:txBody>
                  <a:tcPr marL="73152" marR="73152" marT="36576" marB="36576" anchor="ctr">
                    <a:solidFill>
                      <a:srgbClr val="EAF8FA"/>
                    </a:solidFill>
                  </a:tcPr>
                </a:tc>
                <a:tc>
                  <a:txBody>
                    <a:bodyPr wrap="square"/>
                    <a:lstStyle/>
                    <a:p>
                      <a:pPr algn="ctr"/>
                      <a:r>
                        <a:rPr sz="1050" b="0" i="0">
                          <a:solidFill>
                            <a:srgbClr val="14313B"/>
                          </a:solidFill>
                          <a:latin typeface="Calibri (MS)"/>
                        </a:rPr>
                        <a:t>317.036,01</a:t>
                      </a:r>
                    </a:p>
                  </a:txBody>
                  <a:tcPr marL="73152" marR="73152" marT="36576" marB="36576" anchor="ctr">
                    <a:solidFill>
                      <a:srgbClr val="EAF8FA"/>
                    </a:solidFill>
                  </a:tcPr>
                </a:tc>
                <a:tc>
                  <a:txBody>
                    <a:bodyPr wrap="square"/>
                    <a:lstStyle/>
                    <a:p>
                      <a:pPr algn="ctr"/>
                      <a:r>
                        <a:rPr sz="1050" b="0" i="0">
                          <a:solidFill>
                            <a:srgbClr val="14313B"/>
                          </a:solidFill>
                          <a:latin typeface="Calibri (MS)"/>
                        </a:rPr>
                        <a:t>+0,01</a:t>
                      </a:r>
                    </a:p>
                  </a:txBody>
                  <a:tcPr marL="73152" marR="73152" marT="36576" marB="36576" anchor="ctr">
                    <a:solidFill>
                      <a:srgbClr val="EAF8FA"/>
                    </a:solidFill>
                  </a:tcPr>
                </a:tc>
                <a:tc>
                  <a:txBody>
                    <a:bodyPr wrap="square"/>
                    <a:lstStyle/>
                    <a:p>
                      <a:pPr algn="ctr"/>
                      <a:r>
                        <a:rPr sz="1050" b="0" i="0">
                          <a:solidFill>
                            <a:srgbClr val="14313B"/>
                          </a:solidFill>
                          <a:latin typeface="Calibri (MS)"/>
                        </a:rPr>
                        <a:t>88,29</a:t>
                      </a:r>
                    </a:p>
                  </a:txBody>
                  <a:tcPr marL="73152" marR="73152" marT="36576" marB="36576" anchor="ctr">
                    <a:solidFill>
                      <a:srgbClr val="EAF8FA"/>
                    </a:solidFill>
                  </a:tcPr>
                </a:tc>
                <a:tc>
                  <a:txBody>
                    <a:bodyPr wrap="square"/>
                    <a:lstStyle/>
                    <a:p>
                      <a:pPr algn="ctr"/>
                      <a:r>
                        <a:rPr sz="1050" b="0" i="0">
                          <a:solidFill>
                            <a:srgbClr val="14313B"/>
                          </a:solidFill>
                          <a:latin typeface="Calibri (MS)"/>
                        </a:rPr>
                        <a:t>Dilanggar</a:t>
                      </a:r>
                    </a:p>
                  </a:txBody>
                  <a:tcPr marL="73152" marR="73152" marT="36576" marB="36576" anchor="ctr">
                    <a:solidFill>
                      <a:srgbClr val="FDE2DE"/>
                    </a:solidFill>
                  </a:tcPr>
                </a:tc>
              </a:tr>
              <a:tr h="411480">
                <a:tc>
                  <a:txBody>
                    <a:bodyPr wrap="square"/>
                    <a:lstStyle/>
                    <a:p>
                      <a:pPr algn="ctr"/>
                      <a:r>
                        <a:rPr sz="1050" b="0" i="0">
                          <a:solidFill>
                            <a:srgbClr val="14313B"/>
                          </a:solidFill>
                          <a:latin typeface="Calibri (MS)"/>
                        </a:rPr>
                        <a:t>0,25 (dipakai)</a:t>
                      </a:r>
                    </a:p>
                  </a:txBody>
                  <a:tcPr marL="73152" marR="73152" marT="36576" marB="36576" anchor="ctr">
                    <a:solidFill>
                      <a:srgbClr val="FFF1BF"/>
                    </a:solidFill>
                  </a:tcPr>
                </a:tc>
                <a:tc>
                  <a:txBody>
                    <a:bodyPr wrap="square"/>
                    <a:lstStyle/>
                    <a:p>
                      <a:pPr algn="ctr"/>
                      <a:r>
                        <a:rPr sz="1050" b="0" i="0">
                          <a:solidFill>
                            <a:srgbClr val="14313B"/>
                          </a:solidFill>
                          <a:latin typeface="Calibri (MS)"/>
                        </a:rPr>
                        <a:t>317.035,82</a:t>
                      </a:r>
                    </a:p>
                  </a:txBody>
                  <a:tcPr marL="73152" marR="73152" marT="36576" marB="36576" anchor="ctr">
                    <a:solidFill>
                      <a:srgbClr val="FFFFFF"/>
                    </a:solidFill>
                  </a:tcPr>
                </a:tc>
                <a:tc>
                  <a:txBody>
                    <a:bodyPr wrap="square"/>
                    <a:lstStyle/>
                    <a:p>
                      <a:pPr algn="ctr"/>
                      <a:r>
                        <a:rPr sz="1050" b="0" i="0">
                          <a:solidFill>
                            <a:srgbClr val="14313B"/>
                          </a:solidFill>
                          <a:latin typeface="Calibri (MS)"/>
                        </a:rPr>
                        <a:t>−0,18</a:t>
                      </a:r>
                    </a:p>
                  </a:txBody>
                  <a:tcPr marL="73152" marR="73152" marT="36576" marB="36576" anchor="ctr">
                    <a:solidFill>
                      <a:srgbClr val="FFFFFF"/>
                    </a:solidFill>
                  </a:tcPr>
                </a:tc>
                <a:tc>
                  <a:txBody>
                    <a:bodyPr wrap="square"/>
                    <a:lstStyle/>
                    <a:p>
                      <a:pPr algn="ctr"/>
                      <a:r>
                        <a:rPr sz="1050" b="0" i="0">
                          <a:solidFill>
                            <a:srgbClr val="14313B"/>
                          </a:solidFill>
                          <a:latin typeface="Calibri (MS)"/>
                        </a:rPr>
                        <a:t>29,79</a:t>
                      </a:r>
                    </a:p>
                  </a:txBody>
                  <a:tcPr marL="73152" marR="73152" marT="36576" marB="36576" anchor="ctr">
                    <a:solidFill>
                      <a:srgbClr val="FFFFFF"/>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r h="411480">
                <a:tc>
                  <a:txBody>
                    <a:bodyPr wrap="square"/>
                    <a:lstStyle/>
                    <a:p>
                      <a:pPr algn="ctr"/>
                      <a:r>
                        <a:rPr sz="1050" b="0" i="0">
                          <a:solidFill>
                            <a:srgbClr val="14313B"/>
                          </a:solidFill>
                          <a:latin typeface="Calibri (MS)"/>
                        </a:rPr>
                        <a:t>0,125</a:t>
                      </a:r>
                    </a:p>
                  </a:txBody>
                  <a:tcPr marL="73152" marR="73152" marT="36576" marB="36576" anchor="ctr">
                    <a:solidFill>
                      <a:srgbClr val="EAF8FA"/>
                    </a:solidFill>
                  </a:tcPr>
                </a:tc>
                <a:tc>
                  <a:txBody>
                    <a:bodyPr wrap="square"/>
                    <a:lstStyle/>
                    <a:p>
                      <a:pPr algn="ctr"/>
                      <a:r>
                        <a:rPr sz="1050" b="0" i="0">
                          <a:solidFill>
                            <a:srgbClr val="14313B"/>
                          </a:solidFill>
                          <a:latin typeface="Calibri (MS)"/>
                        </a:rPr>
                        <a:t>317.035,88</a:t>
                      </a:r>
                    </a:p>
                  </a:txBody>
                  <a:tcPr marL="73152" marR="73152" marT="36576" marB="36576" anchor="ctr">
                    <a:solidFill>
                      <a:srgbClr val="EAF8FA"/>
                    </a:solidFill>
                  </a:tcPr>
                </a:tc>
                <a:tc>
                  <a:txBody>
                    <a:bodyPr wrap="square"/>
                    <a:lstStyle/>
                    <a:p>
                      <a:pPr algn="ctr"/>
                      <a:r>
                        <a:rPr sz="1050" b="0" i="0">
                          <a:solidFill>
                            <a:srgbClr val="14313B"/>
                          </a:solidFill>
                          <a:latin typeface="Calibri (MS)"/>
                        </a:rPr>
                        <a:t>−0,12</a:t>
                      </a:r>
                    </a:p>
                  </a:txBody>
                  <a:tcPr marL="73152" marR="73152" marT="36576" marB="36576" anchor="ctr">
                    <a:solidFill>
                      <a:srgbClr val="EAF8FA"/>
                    </a:solidFill>
                  </a:tcPr>
                </a:tc>
                <a:tc>
                  <a:txBody>
                    <a:bodyPr wrap="square"/>
                    <a:lstStyle/>
                    <a:p>
                      <a:pPr algn="ctr"/>
                      <a:r>
                        <a:rPr sz="1050" b="0" i="0">
                          <a:solidFill>
                            <a:srgbClr val="14313B"/>
                          </a:solidFill>
                          <a:latin typeface="Calibri (MS)"/>
                        </a:rPr>
                        <a:t>17,26</a:t>
                      </a:r>
                    </a:p>
                  </a:txBody>
                  <a:tcPr marL="73152" marR="73152" marT="36576" marB="36576" anchor="ctr">
                    <a:solidFill>
                      <a:srgbClr val="EAF8FA"/>
                    </a:solidFill>
                  </a:tcPr>
                </a:tc>
                <a:tc>
                  <a:txBody>
                    <a:bodyPr wrap="square"/>
                    <a:lstStyle/>
                    <a:p>
                      <a:pPr algn="ctr"/>
                      <a:r>
                        <a:rPr sz="1050" b="0" i="0">
                          <a:solidFill>
                            <a:srgbClr val="14313B"/>
                          </a:solidFill>
                          <a:latin typeface="Calibri (MS)"/>
                        </a:rPr>
                        <a:t>Lolos</a:t>
                      </a:r>
                    </a:p>
                  </a:txBody>
                  <a:tcPr marL="73152" marR="73152" marT="36576" marB="36576" anchor="ctr">
                    <a:solidFill>
                      <a:srgbClr val="C9F0D6"/>
                    </a:solidFill>
                  </a:tcPr>
                </a:tc>
              </a:tr>
            </a:tbl>
          </a:graphicData>
        </a:graphic>
      </p:graphicFrame>
      <p:sp>
        <p:nvSpPr>
          <p:cNvPr id="30" name="Rounded Rectangle 29"/>
          <p:cNvSpPr/>
          <p:nvPr/>
        </p:nvSpPr>
        <p:spPr>
          <a:xfrm>
            <a:off x="822960" y="5715000"/>
            <a:ext cx="78638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Pemeriksaan 2 · Simulasi dasar, Δt 1 vs 0,5</a:t>
            </a:r>
          </a:p>
        </p:txBody>
      </p:sp>
      <p:graphicFrame>
        <p:nvGraphicFramePr>
          <p:cNvPr id="31" name="Table 30"/>
          <p:cNvGraphicFramePr>
            <a:graphicFrameLocks noGrp="1"/>
          </p:cNvGraphicFramePr>
          <p:nvPr/>
        </p:nvGraphicFramePr>
        <p:xfrm>
          <a:off x="822960" y="6217920"/>
          <a:ext cx="7863840" cy="2304288"/>
        </p:xfrm>
        <a:graphic>
          <a:graphicData uri="http://schemas.openxmlformats.org/drawingml/2006/table">
            <a:tbl>
              <a:tblPr firstRow="1" bandRow="1">
                <a:tableStyleId>{5C22544A-7EE6-4342-B048-85BDC9FD1C3A}</a:tableStyleId>
              </a:tblPr>
              <a:tblGrid>
                <a:gridCol w="2560320"/>
                <a:gridCol w="1737360"/>
                <a:gridCol w="1737360"/>
                <a:gridCol w="1828800"/>
              </a:tblGrid>
              <a:tr h="329184">
                <a:tc>
                  <a:txBody>
                    <a:bodyPr wrap="square"/>
                    <a:lstStyle/>
                    <a:p>
                      <a:r>
                        <a:rPr sz="1000" b="1" i="0">
                          <a:solidFill>
                            <a:srgbClr val="FFFFFF"/>
                          </a:solidFill>
                          <a:latin typeface="Calibri (MS) Bold"/>
                        </a:rPr>
                        <a:t>Variabel (2050)</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Δt = 1</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Δt = 0,5</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Selisih</a:t>
                      </a:r>
                    </a:p>
                  </a:txBody>
                  <a:tcPr marL="73152" marR="73152" marT="36576" marB="36576" anchor="ctr">
                    <a:solidFill>
                      <a:srgbClr val="0B5E6E"/>
                    </a:solidFill>
                  </a:tcPr>
                </a:tc>
              </a:tr>
              <a:tr h="329184">
                <a:tc>
                  <a:txBody>
                    <a:bodyPr wrap="square"/>
                    <a:lstStyle/>
                    <a:p>
                      <a:r>
                        <a:rPr sz="1000" b="1" i="0">
                          <a:solidFill>
                            <a:srgbClr val="14313B"/>
                          </a:solidFill>
                          <a:latin typeface="Calibri (MS) Bold"/>
                        </a:rPr>
                        <a:t>Jumlah Wisatawan</a:t>
                      </a:r>
                    </a:p>
                  </a:txBody>
                  <a:tcPr marL="73152" marR="73152" marT="36576" marB="36576" anchor="ctr">
                    <a:solidFill>
                      <a:srgbClr val="FFFFFF"/>
                    </a:solidFill>
                  </a:tcPr>
                </a:tc>
                <a:tc>
                  <a:txBody>
                    <a:bodyPr wrap="square"/>
                    <a:lstStyle/>
                    <a:p>
                      <a:pPr algn="ctr"/>
                      <a:r>
                        <a:rPr sz="1000" b="0" i="0">
                          <a:solidFill>
                            <a:srgbClr val="14313B"/>
                          </a:solidFill>
                          <a:latin typeface="Calibri (MS)"/>
                        </a:rPr>
                        <a:t>96.197.154</a:t>
                      </a:r>
                    </a:p>
                  </a:txBody>
                  <a:tcPr marL="73152" marR="73152" marT="36576" marB="36576" anchor="ctr">
                    <a:solidFill>
                      <a:srgbClr val="FFFFFF"/>
                    </a:solidFill>
                  </a:tcPr>
                </a:tc>
                <a:tc>
                  <a:txBody>
                    <a:bodyPr wrap="square"/>
                    <a:lstStyle/>
                    <a:p>
                      <a:pPr algn="ctr"/>
                      <a:r>
                        <a:rPr sz="1000" b="0" i="0">
                          <a:solidFill>
                            <a:srgbClr val="14313B"/>
                          </a:solidFill>
                          <a:latin typeface="Calibri (MS)"/>
                        </a:rPr>
                        <a:t>95.940.352</a:t>
                      </a:r>
                    </a:p>
                  </a:txBody>
                  <a:tcPr marL="73152" marR="73152" marT="36576" marB="36576" anchor="ctr">
                    <a:solidFill>
                      <a:srgbClr val="FFFFFF"/>
                    </a:solidFill>
                  </a:tcPr>
                </a:tc>
                <a:tc>
                  <a:txBody>
                    <a:bodyPr wrap="square"/>
                    <a:lstStyle/>
                    <a:p>
                      <a:pPr algn="ctr"/>
                      <a:r>
                        <a:rPr sz="1000" b="0" i="0">
                          <a:solidFill>
                            <a:srgbClr val="14313B"/>
                          </a:solidFill>
                          <a:latin typeface="Calibri (MS)"/>
                        </a:rPr>
                        <a:t>−0,27%</a:t>
                      </a:r>
                    </a:p>
                  </a:txBody>
                  <a:tcPr marL="73152" marR="73152" marT="36576" marB="36576" anchor="ctr">
                    <a:solidFill>
                      <a:srgbClr val="FFFFFF"/>
                    </a:solidFill>
                  </a:tcPr>
                </a:tc>
              </a:tr>
              <a:tr h="329184">
                <a:tc>
                  <a:txBody>
                    <a:bodyPr wrap="square"/>
                    <a:lstStyle/>
                    <a:p>
                      <a:r>
                        <a:rPr sz="1000" b="1" i="0">
                          <a:solidFill>
                            <a:srgbClr val="14313B"/>
                          </a:solidFill>
                          <a:latin typeface="Calibri (MS) Bold"/>
                        </a:rPr>
                        <a:t>Lahan Terbangun (ha)</a:t>
                      </a:r>
                    </a:p>
                  </a:txBody>
                  <a:tcPr marL="73152" marR="73152" marT="36576" marB="36576" anchor="ctr">
                    <a:solidFill>
                      <a:srgbClr val="EAF8FA"/>
                    </a:solidFill>
                  </a:tcPr>
                </a:tc>
                <a:tc>
                  <a:txBody>
                    <a:bodyPr wrap="square"/>
                    <a:lstStyle/>
                    <a:p>
                      <a:pPr algn="ctr"/>
                      <a:r>
                        <a:rPr sz="1000" b="0" i="0">
                          <a:solidFill>
                            <a:srgbClr val="14313B"/>
                          </a:solidFill>
                          <a:latin typeface="Calibri (MS)"/>
                        </a:rPr>
                        <a:t>122.207,62</a:t>
                      </a:r>
                    </a:p>
                  </a:txBody>
                  <a:tcPr marL="73152" marR="73152" marT="36576" marB="36576" anchor="ctr">
                    <a:solidFill>
                      <a:srgbClr val="EAF8FA"/>
                    </a:solidFill>
                  </a:tcPr>
                </a:tc>
                <a:tc>
                  <a:txBody>
                    <a:bodyPr wrap="square"/>
                    <a:lstStyle/>
                    <a:p>
                      <a:pPr algn="ctr"/>
                      <a:r>
                        <a:rPr sz="1000" b="0" i="0">
                          <a:solidFill>
                            <a:srgbClr val="14313B"/>
                          </a:solidFill>
                          <a:latin typeface="Calibri (MS)"/>
                        </a:rPr>
                        <a:t>122.617,51</a:t>
                      </a:r>
                    </a:p>
                  </a:txBody>
                  <a:tcPr marL="73152" marR="73152" marT="36576" marB="36576" anchor="ctr">
                    <a:solidFill>
                      <a:srgbClr val="EAF8FA"/>
                    </a:solidFill>
                  </a:tcPr>
                </a:tc>
                <a:tc>
                  <a:txBody>
                    <a:bodyPr wrap="square"/>
                    <a:lstStyle/>
                    <a:p>
                      <a:pPr algn="ctr"/>
                      <a:r>
                        <a:rPr sz="1000" b="0" i="0">
                          <a:solidFill>
                            <a:srgbClr val="14313B"/>
                          </a:solidFill>
                          <a:latin typeface="Calibri (MS)"/>
                        </a:rPr>
                        <a:t>+0,34%</a:t>
                      </a:r>
                    </a:p>
                  </a:txBody>
                  <a:tcPr marL="73152" marR="73152" marT="36576" marB="36576" anchor="ctr">
                    <a:solidFill>
                      <a:srgbClr val="EAF8FA"/>
                    </a:solidFill>
                  </a:tcPr>
                </a:tc>
              </a:tr>
              <a:tr h="329184">
                <a:tc>
                  <a:txBody>
                    <a:bodyPr wrap="square"/>
                    <a:lstStyle/>
                    <a:p>
                      <a:r>
                        <a:rPr sz="1000" b="1" i="0">
                          <a:solidFill>
                            <a:srgbClr val="14313B"/>
                          </a:solidFill>
                          <a:latin typeface="Calibri (MS) Bold"/>
                        </a:rPr>
                        <a:t>Jumlah Hotel</a:t>
                      </a:r>
                    </a:p>
                  </a:txBody>
                  <a:tcPr marL="73152" marR="73152" marT="36576" marB="36576" anchor="ctr">
                    <a:solidFill>
                      <a:srgbClr val="FFFFFF"/>
                    </a:solidFill>
                  </a:tcPr>
                </a:tc>
                <a:tc>
                  <a:txBody>
                    <a:bodyPr wrap="square"/>
                    <a:lstStyle/>
                    <a:p>
                      <a:pPr algn="ctr"/>
                      <a:r>
                        <a:rPr sz="1000" b="0" i="0">
                          <a:solidFill>
                            <a:srgbClr val="14313B"/>
                          </a:solidFill>
                          <a:latin typeface="Calibri (MS)"/>
                        </a:rPr>
                        <a:t>5.404,37</a:t>
                      </a:r>
                    </a:p>
                  </a:txBody>
                  <a:tcPr marL="73152" marR="73152" marT="36576" marB="36576" anchor="ctr">
                    <a:solidFill>
                      <a:srgbClr val="FFFFFF"/>
                    </a:solidFill>
                  </a:tcPr>
                </a:tc>
                <a:tc>
                  <a:txBody>
                    <a:bodyPr wrap="square"/>
                    <a:lstStyle/>
                    <a:p>
                      <a:pPr algn="ctr"/>
                      <a:r>
                        <a:rPr sz="1000" b="0" i="0">
                          <a:solidFill>
                            <a:srgbClr val="14313B"/>
                          </a:solidFill>
                          <a:latin typeface="Calibri (MS)"/>
                        </a:rPr>
                        <a:t>5.389,81</a:t>
                      </a:r>
                    </a:p>
                  </a:txBody>
                  <a:tcPr marL="73152" marR="73152" marT="36576" marB="36576" anchor="ctr">
                    <a:solidFill>
                      <a:srgbClr val="FFFFFF"/>
                    </a:solidFill>
                  </a:tcPr>
                </a:tc>
                <a:tc>
                  <a:txBody>
                    <a:bodyPr wrap="square"/>
                    <a:lstStyle/>
                    <a:p>
                      <a:pPr algn="ctr"/>
                      <a:r>
                        <a:rPr sz="1000" b="0" i="0">
                          <a:solidFill>
                            <a:srgbClr val="14313B"/>
                          </a:solidFill>
                          <a:latin typeface="Calibri (MS)"/>
                        </a:rPr>
                        <a:t>−0,27%</a:t>
                      </a:r>
                    </a:p>
                  </a:txBody>
                  <a:tcPr marL="73152" marR="73152" marT="36576" marB="36576" anchor="ctr">
                    <a:solidFill>
                      <a:srgbClr val="FFFFFF"/>
                    </a:solidFill>
                  </a:tcPr>
                </a:tc>
              </a:tr>
              <a:tr h="329184">
                <a:tc>
                  <a:txBody>
                    <a:bodyPr wrap="square"/>
                    <a:lstStyle/>
                    <a:p>
                      <a:r>
                        <a:rPr sz="1000" b="1" i="0">
                          <a:solidFill>
                            <a:srgbClr val="14313B"/>
                          </a:solidFill>
                          <a:latin typeface="Calibri (MS) Bold"/>
                        </a:rPr>
                        <a:t>Tenaga Kerja</a:t>
                      </a:r>
                    </a:p>
                  </a:txBody>
                  <a:tcPr marL="73152" marR="73152" marT="36576" marB="36576" anchor="ctr">
                    <a:solidFill>
                      <a:srgbClr val="EAF8FA"/>
                    </a:solidFill>
                  </a:tcPr>
                </a:tc>
                <a:tc>
                  <a:txBody>
                    <a:bodyPr wrap="square"/>
                    <a:lstStyle/>
                    <a:p>
                      <a:pPr algn="ctr"/>
                      <a:r>
                        <a:rPr sz="1000" b="0" i="0">
                          <a:solidFill>
                            <a:srgbClr val="14313B"/>
                          </a:solidFill>
                          <a:latin typeface="Calibri (MS)"/>
                        </a:rPr>
                        <a:t>650.355</a:t>
                      </a:r>
                    </a:p>
                  </a:txBody>
                  <a:tcPr marL="73152" marR="73152" marT="36576" marB="36576" anchor="ctr">
                    <a:solidFill>
                      <a:srgbClr val="EAF8FA"/>
                    </a:solidFill>
                  </a:tcPr>
                </a:tc>
                <a:tc>
                  <a:txBody>
                    <a:bodyPr wrap="square"/>
                    <a:lstStyle/>
                    <a:p>
                      <a:pPr algn="ctr"/>
                      <a:r>
                        <a:rPr sz="1000" b="0" i="0">
                          <a:solidFill>
                            <a:srgbClr val="14313B"/>
                          </a:solidFill>
                          <a:latin typeface="Calibri (MS)"/>
                        </a:rPr>
                        <a:t>648.572</a:t>
                      </a:r>
                    </a:p>
                  </a:txBody>
                  <a:tcPr marL="73152" marR="73152" marT="36576" marB="36576" anchor="ctr">
                    <a:solidFill>
                      <a:srgbClr val="EAF8FA"/>
                    </a:solidFill>
                  </a:tcPr>
                </a:tc>
                <a:tc>
                  <a:txBody>
                    <a:bodyPr wrap="square"/>
                    <a:lstStyle/>
                    <a:p>
                      <a:pPr algn="ctr"/>
                      <a:r>
                        <a:rPr sz="1000" b="0" i="0">
                          <a:solidFill>
                            <a:srgbClr val="14313B"/>
                          </a:solidFill>
                          <a:latin typeface="Calibri (MS)"/>
                        </a:rPr>
                        <a:t>−0,27%</a:t>
                      </a:r>
                    </a:p>
                  </a:txBody>
                  <a:tcPr marL="73152" marR="73152" marT="36576" marB="36576" anchor="ctr">
                    <a:solidFill>
                      <a:srgbClr val="EAF8FA"/>
                    </a:solidFill>
                  </a:tcPr>
                </a:tc>
              </a:tr>
              <a:tr h="329184">
                <a:tc>
                  <a:txBody>
                    <a:bodyPr wrap="square"/>
                    <a:lstStyle/>
                    <a:p>
                      <a:r>
                        <a:rPr sz="1000" b="1" i="0">
                          <a:solidFill>
                            <a:srgbClr val="14313B"/>
                          </a:solidFill>
                          <a:latin typeface="Calibri (MS) Bold"/>
                        </a:rPr>
                        <a:t>RDDL</a:t>
                      </a:r>
                    </a:p>
                  </a:txBody>
                  <a:tcPr marL="73152" marR="73152" marT="36576" marB="36576" anchor="ctr">
                    <a:solidFill>
                      <a:srgbClr val="FFFFFF"/>
                    </a:solidFill>
                  </a:tcPr>
                </a:tc>
                <a:tc>
                  <a:txBody>
                    <a:bodyPr wrap="square"/>
                    <a:lstStyle/>
                    <a:p>
                      <a:pPr algn="ctr"/>
                      <a:r>
                        <a:rPr sz="1000" b="0" i="0">
                          <a:solidFill>
                            <a:srgbClr val="14313B"/>
                          </a:solidFill>
                          <a:latin typeface="Calibri (MS)"/>
                        </a:rPr>
                        <a:t>0,6145</a:t>
                      </a:r>
                    </a:p>
                  </a:txBody>
                  <a:tcPr marL="73152" marR="73152" marT="36576" marB="36576" anchor="ctr">
                    <a:solidFill>
                      <a:srgbClr val="FFFFFF"/>
                    </a:solidFill>
                  </a:tcPr>
                </a:tc>
                <a:tc>
                  <a:txBody>
                    <a:bodyPr wrap="square"/>
                    <a:lstStyle/>
                    <a:p>
                      <a:pPr algn="ctr"/>
                      <a:r>
                        <a:rPr sz="1000" b="0" i="0">
                          <a:solidFill>
                            <a:srgbClr val="14313B"/>
                          </a:solidFill>
                          <a:latin typeface="Calibri (MS)"/>
                        </a:rPr>
                        <a:t>0,6132</a:t>
                      </a:r>
                    </a:p>
                  </a:txBody>
                  <a:tcPr marL="73152" marR="73152" marT="36576" marB="36576" anchor="ctr">
                    <a:solidFill>
                      <a:srgbClr val="FFFFFF"/>
                    </a:solidFill>
                  </a:tcPr>
                </a:tc>
                <a:tc>
                  <a:txBody>
                    <a:bodyPr wrap="square"/>
                    <a:lstStyle/>
                    <a:p>
                      <a:pPr algn="ctr"/>
                      <a:r>
                        <a:rPr sz="1000" b="0" i="0">
                          <a:solidFill>
                            <a:srgbClr val="14313B"/>
                          </a:solidFill>
                          <a:latin typeface="Calibri (MS)"/>
                        </a:rPr>
                        <a:t>−0,21%</a:t>
                      </a:r>
                    </a:p>
                  </a:txBody>
                  <a:tcPr marL="73152" marR="73152" marT="36576" marB="36576" anchor="ctr">
                    <a:solidFill>
                      <a:srgbClr val="FFFFFF"/>
                    </a:solidFill>
                  </a:tcPr>
                </a:tc>
              </a:tr>
              <a:tr h="329184">
                <a:tc>
                  <a:txBody>
                    <a:bodyPr wrap="square"/>
                    <a:lstStyle/>
                    <a:p>
                      <a:r>
                        <a:rPr sz="1000" b="1" i="0">
                          <a:solidFill>
                            <a:srgbClr val="14313B"/>
                          </a:solidFill>
                          <a:latin typeface="Calibri (MS) Bold"/>
                        </a:rPr>
                        <a:t>Daya Tarik · ODTW · TPK</a:t>
                      </a:r>
                    </a:p>
                  </a:txBody>
                  <a:tcPr marL="73152" marR="73152" marT="36576" marB="36576" anchor="ctr">
                    <a:solidFill>
                      <a:srgbClr val="EAF8FA"/>
                    </a:solidFill>
                  </a:tcPr>
                </a:tc>
                <a:tc>
                  <a:txBody>
                    <a:bodyPr wrap="square"/>
                    <a:lstStyle/>
                    <a:p>
                      <a:pPr algn="ctr"/>
                      <a:r>
                        <a:rPr sz="1000" b="0" i="0">
                          <a:solidFill>
                            <a:srgbClr val="14313B"/>
                          </a:solidFill>
                          <a:latin typeface="Calibri (MS)"/>
                        </a:rPr>
                        <a:t>—</a:t>
                      </a:r>
                    </a:p>
                  </a:txBody>
                  <a:tcPr marL="73152" marR="73152" marT="36576" marB="36576" anchor="ctr">
                    <a:solidFill>
                      <a:srgbClr val="EAF8FA"/>
                    </a:solidFill>
                  </a:tcPr>
                </a:tc>
                <a:tc>
                  <a:txBody>
                    <a:bodyPr wrap="square"/>
                    <a:lstStyle/>
                    <a:p>
                      <a:pPr algn="ctr"/>
                      <a:r>
                        <a:rPr sz="1000" b="0" i="0">
                          <a:solidFill>
                            <a:srgbClr val="14313B"/>
                          </a:solidFill>
                          <a:latin typeface="Calibri (MS)"/>
                        </a:rPr>
                        <a:t>—</a:t>
                      </a:r>
                    </a:p>
                  </a:txBody>
                  <a:tcPr marL="73152" marR="73152" marT="36576" marB="36576" anchor="ctr">
                    <a:solidFill>
                      <a:srgbClr val="EAF8FA"/>
                    </a:solidFill>
                  </a:tcPr>
                </a:tc>
                <a:tc>
                  <a:txBody>
                    <a:bodyPr wrap="square"/>
                    <a:lstStyle/>
                    <a:p>
                      <a:pPr algn="ctr"/>
                      <a:r>
                        <a:rPr sz="1000" b="0" i="0">
                          <a:solidFill>
                            <a:srgbClr val="14313B"/>
                          </a:solidFill>
                          <a:latin typeface="Calibri (MS)"/>
                        </a:rPr>
                        <a:t>−0,02% s.d. +0,002%</a:t>
                      </a:r>
                    </a:p>
                  </a:txBody>
                  <a:tcPr marL="73152" marR="73152" marT="36576" marB="36576" anchor="ctr">
                    <a:solidFill>
                      <a:srgbClr val="EAF8FA"/>
                    </a:solidFill>
                  </a:tcPr>
                </a:tc>
              </a:tr>
            </a:tbl>
          </a:graphicData>
        </a:graphic>
      </p:graphicFrame>
      <p:pic>
        <p:nvPicPr>
          <p:cNvPr id="32" name="Picture 31" descr="E15_diagnostik_TIME_STEP.png"/>
          <p:cNvPicPr>
            <a:picLocks noChangeAspect="1"/>
          </p:cNvPicPr>
          <p:nvPr/>
        </p:nvPicPr>
        <p:blipFill>
          <a:blip r:embed="rId7"/>
          <a:stretch>
            <a:fillRect/>
          </a:stretch>
        </p:blipFill>
        <p:spPr>
          <a:xfrm>
            <a:off x="9457508" y="1874519"/>
            <a:ext cx="7511142" cy="4206240"/>
          </a:xfrm>
          <a:prstGeom prst="rect">
            <a:avLst/>
          </a:prstGeom>
          <a:ln w="12700">
            <a:solidFill>
              <a:srgbClr val="CFE5E9"/>
            </a:solidFill>
          </a:ln>
        </p:spPr>
      </p:pic>
      <p:sp>
        <p:nvSpPr>
          <p:cNvPr id="33" name="TextBox 32"/>
          <p:cNvSpPr txBox="1"/>
          <p:nvPr/>
        </p:nvSpPr>
        <p:spPr>
          <a:xfrm>
            <a:off x="8961120" y="6126480"/>
            <a:ext cx="850392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Lahan terbangun pada uji E15 dengan berbagai langkah waktu (Buku Gambar 24)</a:t>
            </a:r>
          </a:p>
        </p:txBody>
      </p:sp>
      <p:sp>
        <p:nvSpPr>
          <p:cNvPr id="34" name="Rounded Rectangle 33"/>
          <p:cNvSpPr/>
          <p:nvPr/>
        </p:nvSpPr>
        <p:spPr>
          <a:xfrm>
            <a:off x="8961120" y="6537960"/>
            <a:ext cx="850392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Kesimpulan</a:t>
            </a:r>
          </a:p>
          <a:p>
            <a:pPr algn="l">
              <a:spcAft>
                <a:spcPts val="300"/>
              </a:spcAft>
            </a:pPr>
            <a:r>
              <a:rPr sz="1100" b="0" i="0">
                <a:solidFill>
                  <a:srgbClr val="14313B"/>
                </a:solidFill>
                <a:latin typeface="Calibri (MS)"/>
              </a:rPr>
              <a:t>Pelanggaran E15 (0,018%) mengecil teratur saat Δt diperkecil, jadi sumbernya galat numerik Euler, bukan struktur.</a:t>
            </a:r>
          </a:p>
          <a:p>
            <a:pPr algn="l">
              <a:spcAft>
                <a:spcPts val="300"/>
              </a:spcAft>
            </a:pPr>
            <a:r>
              <a:rPr sz="1100" b="0" i="0">
                <a:solidFill>
                  <a:srgbClr val="14313B"/>
                </a:solidFill>
                <a:latin typeface="Calibri (MS)"/>
              </a:rPr>
              <a:t>Δt 0,25 dipakai untuk E15 karena sudah konvergen (beda 0,06 ha dengan Δt 0,125).</a:t>
            </a:r>
          </a:p>
          <a:p>
            <a:pPr algn="l">
              <a:spcAft>
                <a:spcPts val="300"/>
              </a:spcAft>
            </a:pPr>
            <a:r>
              <a:rPr sz="1100" b="0" i="0">
                <a:solidFill>
                  <a:srgbClr val="14313B"/>
                </a:solidFill>
                <a:latin typeface="Calibri (MS)"/>
              </a:rPr>
              <a:t>Pada simulasi dasar selisih hanya −0,27% s.d. +0,34%, sehingga Δt = 1 tahun memadai.</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4.4.6 (Gambar 24); hasil_uji_kondisi_ekstrem_v2.xlsx (Diagnostik E15, Uji Galat Integrasi).</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49 · Horizon diperpanjang sampai 2150 (uji kestabilan, BAU)</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117</a:t>
            </a:r>
          </a:p>
        </p:txBody>
      </p:sp>
      <p:graphicFrame>
        <p:nvGraphicFramePr>
          <p:cNvPr name="Table 26" id="26"/>
          <p:cNvGraphicFramePr>
            <a:graphicFrameLocks noGrp="true"/>
          </p:cNvGraphicFramePr>
          <p:nvPr/>
        </p:nvGraphicFramePr>
        <p:xfrm>
          <a:off x="822960" y="2286000"/>
          <a:ext cx="16510000" cy="3276600"/>
        </p:xfrm>
        <a:graphic>
          <a:graphicData uri="http://schemas.openxmlformats.org/drawingml/2006/table">
            <a:tbl>
              <a:tblPr/>
              <a:tblGrid>
                <a:gridCol w="1568917"/>
                <a:gridCol w="2768511"/>
                <a:gridCol w="2048755"/>
                <a:gridCol w="1688876"/>
                <a:gridCol w="2408633"/>
                <a:gridCol w="2288674"/>
                <a:gridCol w="1688876"/>
                <a:gridCol w="2048755"/>
              </a:tblGrid>
              <a:tr h="5461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Wisatawan (juta)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RDDL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Lahan (ha)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Hotel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TK (ribu)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650,4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207.210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7.191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534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637,1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113,79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0,149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269.864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6.910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454,6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91,30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299.837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277,7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72,65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311.190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4.444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167,5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Freeform 27" id="27"/>
          <p:cNvSpPr/>
          <p:nvPr/>
        </p:nvSpPr>
        <p:spPr>
          <a:xfrm flipH="false" flipV="false" rot="0">
            <a:off x="811844" y="5841044"/>
            <a:ext cx="16664273" cy="1759553"/>
          </a:xfrm>
          <a:custGeom>
            <a:avLst/>
            <a:gdLst/>
            <a:ahLst/>
            <a:cxnLst/>
            <a:rect r="r" b="b" t="t" l="l"/>
            <a:pathLst>
              <a:path h="1759553" w="16664273">
                <a:moveTo>
                  <a:pt x="0" y="0"/>
                </a:moveTo>
                <a:lnTo>
                  <a:pt x="16664274" y="0"/>
                </a:lnTo>
                <a:lnTo>
                  <a:pt x="16664274" y="1759554"/>
                </a:lnTo>
                <a:lnTo>
                  <a:pt x="0" y="17595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867404" y="5829929"/>
            <a:ext cx="16553174" cy="1715129"/>
          </a:xfrm>
          <a:prstGeom prst="rect">
            <a:avLst/>
          </a:prstGeom>
        </p:spPr>
        <p:txBody>
          <a:bodyPr anchor="t" rtlCol="false" tIns="0" lIns="0" bIns="0" rIns="0">
            <a:spAutoFit/>
          </a:bodyPr>
          <a:lstStyle/>
          <a:p>
            <a:pPr algn="l">
              <a:lnSpc>
                <a:spcPts val="2063"/>
              </a:lnSpc>
            </a:pPr>
            <a:r>
              <a:rPr lang="en-US" sz="1719" b="true">
                <a:solidFill>
                  <a:srgbClr val="0B5E6E"/>
                </a:solidFill>
                <a:latin typeface="Calibri (MS) Bold"/>
                <a:ea typeface="Calibri (MS) Bold"/>
                <a:cs typeface="Calibri (MS) Bold"/>
                <a:sym typeface="Calibri (MS) Bold"/>
              </a:rPr>
              <a:t>Bacaan</a:t>
            </a:r>
          </a:p>
          <a:p>
            <a:pPr algn="l">
              <a:lnSpc>
                <a:spcPts val="1860"/>
              </a:lnSpc>
            </a:pPr>
            <a:r>
              <a:rPr lang="en-US" sz="1550">
                <a:solidFill>
                  <a:srgbClr val="14313B"/>
                </a:solidFill>
                <a:latin typeface="Calibri (MS)"/>
                <a:ea typeface="Calibri (MS)"/>
                <a:cs typeface="Calibri (MS)"/>
                <a:sym typeface="Calibri (MS)"/>
              </a:rPr>
              <a:t>Wisatawan mencapai puncak ±122,9 juta pada 2080 lalu turun ketika RDDL mendekati nol: pola overshoot lalu turun, khas model daya dukung (limits to growth). Simulasi tetap stabil (TPK maks 0,388; daya tarik min 0,715). Uji ini dirujuk di Buku 4.3.2.4 sebagai dasar pemilihan bobot dan elastisitas; tabelnya hanya ada di repository.</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50 · Ukuran Penilaian Uji Perilaku (1/2): Urutan dan Rumus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Dinilai berurutan mengikuti Barlas (1989): pola dulu (tren), lalu rata-rata (E1), lalu variasi (E2), terakhir ringkasan (DC)</a:t>
            </a:r>
          </a:p>
        </p:txBody>
      </p:sp>
      <p:sp>
        <p:nvSpPr>
          <p:cNvPr id="27" name="Rounded Rectangle 26"/>
          <p:cNvSpPr/>
          <p:nvPr/>
        </p:nvSpPr>
        <p:spPr>
          <a:xfrm>
            <a:off x="822960" y="1874519"/>
            <a:ext cx="310896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Calibri (MS) Bold"/>
              </a:rPr>
              <a:t>1 · Uji tren</a:t>
            </a:r>
          </a:p>
          <a:p>
            <a:pPr algn="ctr">
              <a:spcAft>
                <a:spcPts val="300"/>
              </a:spcAft>
            </a:pPr>
            <a:r>
              <a:rPr sz="1000" b="0" i="0">
                <a:solidFill>
                  <a:srgbClr val="D7EEF2"/>
                </a:solidFill>
                <a:latin typeface="Calibri (MS)"/>
              </a:rPr>
              <a:t>arah dan laju</a:t>
            </a:r>
          </a:p>
        </p:txBody>
      </p:sp>
      <p:sp>
        <p:nvSpPr>
          <p:cNvPr id="28" name="Right Arrow 27"/>
          <p:cNvSpPr/>
          <p:nvPr/>
        </p:nvSpPr>
        <p:spPr>
          <a:xfrm>
            <a:off x="3950207" y="218998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6240" y="1874519"/>
            <a:ext cx="310896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Calibri (MS) Bold"/>
              </a:rPr>
              <a:t>2 · E1</a:t>
            </a:r>
          </a:p>
          <a:p>
            <a:pPr algn="ctr">
              <a:spcAft>
                <a:spcPts val="300"/>
              </a:spcAft>
            </a:pPr>
            <a:r>
              <a:rPr sz="1000" b="0" i="0">
                <a:solidFill>
                  <a:srgbClr val="D7EEF2"/>
                </a:solidFill>
                <a:latin typeface="Calibri (MS)"/>
              </a:rPr>
              <a:t>rata-rata</a:t>
            </a:r>
          </a:p>
        </p:txBody>
      </p:sp>
      <p:sp>
        <p:nvSpPr>
          <p:cNvPr id="30" name="Right Arrow 29"/>
          <p:cNvSpPr/>
          <p:nvPr/>
        </p:nvSpPr>
        <p:spPr>
          <a:xfrm>
            <a:off x="7333488" y="218998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589519" y="1874519"/>
            <a:ext cx="310896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Calibri (MS) Bold"/>
              </a:rPr>
              <a:t>3 · E2</a:t>
            </a:r>
          </a:p>
          <a:p>
            <a:pPr algn="ctr">
              <a:spcAft>
                <a:spcPts val="300"/>
              </a:spcAft>
            </a:pPr>
            <a:r>
              <a:rPr sz="1000" b="0" i="0">
                <a:solidFill>
                  <a:srgbClr val="D7EEF2"/>
                </a:solidFill>
                <a:latin typeface="Calibri (MS)"/>
              </a:rPr>
              <a:t>variasi</a:t>
            </a:r>
          </a:p>
        </p:txBody>
      </p:sp>
      <p:sp>
        <p:nvSpPr>
          <p:cNvPr id="32" name="Right Arrow 31"/>
          <p:cNvSpPr/>
          <p:nvPr/>
        </p:nvSpPr>
        <p:spPr>
          <a:xfrm>
            <a:off x="10716767" y="218998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972800" y="1874519"/>
            <a:ext cx="310896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FFFFFF"/>
                </a:solidFill>
                <a:latin typeface="Calibri (MS) Bold"/>
              </a:rPr>
              <a:t>4 · DC</a:t>
            </a:r>
          </a:p>
          <a:p>
            <a:pPr algn="ctr">
              <a:spcAft>
                <a:spcPts val="300"/>
              </a:spcAft>
            </a:pPr>
            <a:r>
              <a:rPr sz="1000" b="0" i="0">
                <a:solidFill>
                  <a:srgbClr val="D7EEF2"/>
                </a:solidFill>
                <a:latin typeface="Calibri (MS)"/>
              </a:rPr>
              <a:t>ringkasan titik</a:t>
            </a:r>
          </a:p>
        </p:txBody>
      </p:sp>
      <p:sp>
        <p:nvSpPr>
          <p:cNvPr id="34" name="Right Arrow 33"/>
          <p:cNvSpPr/>
          <p:nvPr/>
        </p:nvSpPr>
        <p:spPr>
          <a:xfrm>
            <a:off x="14100048" y="2189988"/>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4356080" y="1874519"/>
            <a:ext cx="310896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0B5E6E"/>
                </a:solidFill>
                <a:latin typeface="Calibri (MS) Bold"/>
              </a:rPr>
              <a:t>Pelengkap</a:t>
            </a:r>
          </a:p>
          <a:p>
            <a:pPr algn="ctr">
              <a:spcAft>
                <a:spcPts val="300"/>
              </a:spcAft>
            </a:pPr>
            <a:r>
              <a:rPr sz="1000" b="0" i="0">
                <a:solidFill>
                  <a:srgbClr val="14313B"/>
                </a:solidFill>
                <a:latin typeface="Calibri (MS)"/>
              </a:rPr>
              <a:t>U1–U3 dan MAPE</a:t>
            </a:r>
          </a:p>
        </p:txBody>
      </p:sp>
      <p:sp>
        <p:nvSpPr>
          <p:cNvPr id="36" name="Rounded Rectangle 35"/>
          <p:cNvSpPr/>
          <p:nvPr/>
        </p:nvSpPr>
        <p:spPr>
          <a:xfrm>
            <a:off x="822960" y="2971800"/>
            <a:ext cx="3154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tren</a:t>
            </a:r>
          </a:p>
        </p:txBody>
      </p:sp>
      <p:sp>
        <p:nvSpPr>
          <p:cNvPr id="37" name="Rounded Rectangle 36"/>
          <p:cNvSpPr/>
          <p:nvPr/>
        </p:nvSpPr>
        <p:spPr>
          <a:xfrm>
            <a:off x="822960" y="3474720"/>
            <a:ext cx="31546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t = |bₛ − bₐ| ÷ √(Var(bₐ) + Var(bₛ))</a:t>
            </a:r>
          </a:p>
          <a:p>
            <a:pPr algn="l">
              <a:spcAft>
                <a:spcPts val="300"/>
              </a:spcAft>
            </a:pPr>
            <a:r>
              <a:rPr sz="1150" b="0" i="1">
                <a:solidFill>
                  <a:srgbClr val="14313B"/>
                </a:solidFill>
                <a:latin typeface="Calibri (MS)"/>
              </a:rPr>
              <a:t>db = 2n − 4; α = 0,05 dua sisi</a:t>
            </a:r>
            <a:r>
              <a:rPr sz="900" b="0" i="0">
                <a:solidFill>
                  <a:srgbClr val="5E6E78"/>
                </a:solidFill>
                <a:latin typeface="Calibri (MS)"/>
              </a:rPr>
              <a:t/>
            </a:r>
          </a:p>
        </p:txBody>
      </p:sp>
      <p:sp>
        <p:nvSpPr>
          <p:cNvPr id="38" name="Rounded Rectangle 37"/>
          <p:cNvSpPr/>
          <p:nvPr/>
        </p:nvSpPr>
        <p:spPr>
          <a:xfrm>
            <a:off x="822960" y="4709160"/>
            <a:ext cx="315468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00" b="0" i="0">
                <a:solidFill>
                  <a:srgbClr val="14313B"/>
                </a:solidFill>
                <a:latin typeface="Calibri (MS)"/>
              </a:rPr>
              <a:t>Membandingkan kemiringan garis regresi simulasi (bₛ) dan data (bₐ). Kalau arah atau lajunya sudah beda, ukuran berikutnya tidak ditafsirkan.</a:t>
            </a:r>
          </a:p>
        </p:txBody>
      </p:sp>
      <p:sp>
        <p:nvSpPr>
          <p:cNvPr id="39" name="Rounded Rectangle 38"/>
          <p:cNvSpPr/>
          <p:nvPr/>
        </p:nvSpPr>
        <p:spPr>
          <a:xfrm>
            <a:off x="822960" y="6812280"/>
            <a:ext cx="3154680" cy="100584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050" b="1" i="0">
                <a:solidFill>
                  <a:srgbClr val="14313B"/>
                </a:solidFill>
                <a:latin typeface="Calibri (MS) Bold"/>
              </a:rPr>
              <a:t>Lolos bila t hitung ≤ t tabel dan arah sama</a:t>
            </a:r>
          </a:p>
        </p:txBody>
      </p:sp>
      <p:sp>
        <p:nvSpPr>
          <p:cNvPr id="40" name="Rounded Rectangle 39"/>
          <p:cNvSpPr/>
          <p:nvPr/>
        </p:nvSpPr>
        <p:spPr>
          <a:xfrm>
            <a:off x="4206240" y="2971800"/>
            <a:ext cx="3154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E1 · galat rata-rata</a:t>
            </a:r>
          </a:p>
        </p:txBody>
      </p:sp>
      <p:sp>
        <p:nvSpPr>
          <p:cNvPr id="41" name="Rounded Rectangle 40"/>
          <p:cNvSpPr/>
          <p:nvPr/>
        </p:nvSpPr>
        <p:spPr>
          <a:xfrm>
            <a:off x="4206240" y="3474720"/>
            <a:ext cx="31546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E1 = |S̄ − Ā| ÷ Ā</a:t>
            </a:r>
          </a:p>
        </p:txBody>
      </p:sp>
      <p:sp>
        <p:nvSpPr>
          <p:cNvPr id="42" name="Rounded Rectangle 41"/>
          <p:cNvSpPr/>
          <p:nvPr/>
        </p:nvSpPr>
        <p:spPr>
          <a:xfrm>
            <a:off x="4206240" y="4709160"/>
            <a:ext cx="315468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00" b="0" i="0">
                <a:solidFill>
                  <a:srgbClr val="14313B"/>
                </a:solidFill>
                <a:latin typeface="Calibri (MS)"/>
              </a:rPr>
              <a:t>Seberapa jauh rata-rata simulasi dari rata-rata data, dalam proporsi.</a:t>
            </a:r>
          </a:p>
        </p:txBody>
      </p:sp>
      <p:sp>
        <p:nvSpPr>
          <p:cNvPr id="43" name="Rounded Rectangle 42"/>
          <p:cNvSpPr/>
          <p:nvPr/>
        </p:nvSpPr>
        <p:spPr>
          <a:xfrm>
            <a:off x="4206240" y="6812280"/>
            <a:ext cx="3154680" cy="100584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050" b="1" i="0">
                <a:solidFill>
                  <a:srgbClr val="14313B"/>
                </a:solidFill>
                <a:latin typeface="Calibri (MS) Bold"/>
              </a:rPr>
              <a:t>Pedoman: E1 ≤ 0,05</a:t>
            </a:r>
          </a:p>
        </p:txBody>
      </p:sp>
      <p:sp>
        <p:nvSpPr>
          <p:cNvPr id="44" name="Rounded Rectangle 43"/>
          <p:cNvSpPr/>
          <p:nvPr/>
        </p:nvSpPr>
        <p:spPr>
          <a:xfrm>
            <a:off x="7589520" y="2971800"/>
            <a:ext cx="3154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E2 · galat variasi</a:t>
            </a:r>
          </a:p>
        </p:txBody>
      </p:sp>
      <p:sp>
        <p:nvSpPr>
          <p:cNvPr id="45" name="Rounded Rectangle 44"/>
          <p:cNvSpPr/>
          <p:nvPr/>
        </p:nvSpPr>
        <p:spPr>
          <a:xfrm>
            <a:off x="7589520" y="3474720"/>
            <a:ext cx="31546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E2 = |σₛ − σₐ| ÷ σₐ</a:t>
            </a:r>
          </a:p>
        </p:txBody>
      </p:sp>
      <p:sp>
        <p:nvSpPr>
          <p:cNvPr id="46" name="Rounded Rectangle 45"/>
          <p:cNvSpPr/>
          <p:nvPr/>
        </p:nvSpPr>
        <p:spPr>
          <a:xfrm>
            <a:off x="7589520" y="4709160"/>
            <a:ext cx="315468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00" b="0" i="0">
                <a:solidFill>
                  <a:srgbClr val="14313B"/>
                </a:solidFill>
                <a:latin typeface="Calibri (MS)"/>
              </a:rPr>
              <a:t>Seberapa beda besar naik-turunnya (simpangan baku) simulasi dibanding data.</a:t>
            </a:r>
          </a:p>
        </p:txBody>
      </p:sp>
      <p:sp>
        <p:nvSpPr>
          <p:cNvPr id="47" name="Rounded Rectangle 46"/>
          <p:cNvSpPr/>
          <p:nvPr/>
        </p:nvSpPr>
        <p:spPr>
          <a:xfrm>
            <a:off x="7589520" y="6812280"/>
            <a:ext cx="3154680" cy="100584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050" b="1" i="0">
                <a:solidFill>
                  <a:srgbClr val="14313B"/>
                </a:solidFill>
                <a:latin typeface="Calibri (MS) Bold"/>
              </a:rPr>
              <a:t>Pedoman: E2 ≤ 0,30</a:t>
            </a:r>
          </a:p>
        </p:txBody>
      </p:sp>
      <p:sp>
        <p:nvSpPr>
          <p:cNvPr id="48" name="Rounded Rectangle 47"/>
          <p:cNvSpPr/>
          <p:nvPr/>
        </p:nvSpPr>
        <p:spPr>
          <a:xfrm>
            <a:off x="10972800" y="2971800"/>
            <a:ext cx="3154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DC · discrepancy coefficient</a:t>
            </a:r>
          </a:p>
        </p:txBody>
      </p:sp>
      <p:sp>
        <p:nvSpPr>
          <p:cNvPr id="49" name="Rounded Rectangle 48"/>
          <p:cNvSpPr/>
          <p:nvPr/>
        </p:nvSpPr>
        <p:spPr>
          <a:xfrm>
            <a:off x="10972800" y="3474720"/>
            <a:ext cx="31546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eᵢ = Aᵢ − Sᵢ</a:t>
            </a:r>
          </a:p>
          <a:p>
            <a:pPr algn="l">
              <a:spcAft>
                <a:spcPts val="300"/>
              </a:spcAft>
            </a:pPr>
            <a:r>
              <a:rPr sz="1150" b="0" i="1">
                <a:solidFill>
                  <a:srgbClr val="14313B"/>
                </a:solidFill>
                <a:latin typeface="Calibri (MS)"/>
              </a:rPr>
              <a:t>DC = SD(e) ÷ (SD(A) + SD(S))</a:t>
            </a:r>
          </a:p>
        </p:txBody>
      </p:sp>
      <p:sp>
        <p:nvSpPr>
          <p:cNvPr id="50" name="Rounded Rectangle 49"/>
          <p:cNvSpPr/>
          <p:nvPr/>
        </p:nvSpPr>
        <p:spPr>
          <a:xfrm>
            <a:off x="10972800" y="4709160"/>
            <a:ext cx="315468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00" b="0" i="0">
                <a:solidFill>
                  <a:srgbClr val="14313B"/>
                </a:solidFill>
                <a:latin typeface="Calibri (MS)"/>
              </a:rPr>
              <a:t>Ringkasan kecocokan titik demi titik; dipakai untuk melaporkan, bukan sebagai uji.</a:t>
            </a:r>
          </a:p>
        </p:txBody>
      </p:sp>
      <p:sp>
        <p:nvSpPr>
          <p:cNvPr id="51" name="Rounded Rectangle 50"/>
          <p:cNvSpPr/>
          <p:nvPr/>
        </p:nvSpPr>
        <p:spPr>
          <a:xfrm>
            <a:off x="10972800" y="6812280"/>
            <a:ext cx="3154680" cy="100584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050" b="1" i="0">
                <a:solidFill>
                  <a:srgbClr val="14313B"/>
                </a:solidFill>
                <a:latin typeface="Calibri (MS) Bold"/>
              </a:rPr>
              <a:t>&lt; 0,4 baik · 0,4–0,7 cukup (rata-rata sampai baik) · &gt; 0,7 kurang</a:t>
            </a:r>
          </a:p>
        </p:txBody>
      </p:sp>
      <p:sp>
        <p:nvSpPr>
          <p:cNvPr id="52" name="Rounded Rectangle 51"/>
          <p:cNvSpPr/>
          <p:nvPr/>
        </p:nvSpPr>
        <p:spPr>
          <a:xfrm>
            <a:off x="14356080" y="2971800"/>
            <a:ext cx="3154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MAPE</a:t>
            </a:r>
          </a:p>
        </p:txBody>
      </p:sp>
      <p:sp>
        <p:nvSpPr>
          <p:cNvPr id="53" name="Rounded Rectangle 52"/>
          <p:cNvSpPr/>
          <p:nvPr/>
        </p:nvSpPr>
        <p:spPr>
          <a:xfrm>
            <a:off x="14356080" y="3474720"/>
            <a:ext cx="31546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MAPE = (1/n) Σ |Sᵢ − Aᵢ| ÷ Aᵢ × 100%</a:t>
            </a:r>
          </a:p>
        </p:txBody>
      </p:sp>
      <p:sp>
        <p:nvSpPr>
          <p:cNvPr id="54" name="Rounded Rectangle 53"/>
          <p:cNvSpPr/>
          <p:nvPr/>
        </p:nvSpPr>
        <p:spPr>
          <a:xfrm>
            <a:off x="14356080" y="4709160"/>
            <a:ext cx="315468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00" b="0" i="0">
                <a:solidFill>
                  <a:srgbClr val="14313B"/>
                </a:solidFill>
                <a:latin typeface="Calibri (MS)"/>
              </a:rPr>
              <a:t>Rata-rata besar kesalahan dalam persen; mudah dibaca awam.</a:t>
            </a:r>
          </a:p>
        </p:txBody>
      </p:sp>
      <p:sp>
        <p:nvSpPr>
          <p:cNvPr id="55" name="Rounded Rectangle 54"/>
          <p:cNvSpPr/>
          <p:nvPr/>
        </p:nvSpPr>
        <p:spPr>
          <a:xfrm>
            <a:off x="14356080" y="6812280"/>
            <a:ext cx="3154680" cy="100584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300"/>
              </a:spcAft>
            </a:pPr>
            <a:r>
              <a:rPr sz="1050" b="1" i="0">
                <a:solidFill>
                  <a:srgbClr val="14313B"/>
                </a:solidFill>
                <a:latin typeface="Calibri (MS) Bold"/>
              </a:rPr>
              <a:t>&lt; 10% sangat baik · 10–20% baik · 20–50% layak · &gt; 50% buruk</a:t>
            </a:r>
          </a:p>
        </p:txBody>
      </p:sp>
      <p:sp>
        <p:nvSpPr>
          <p:cNvPr id="56" name="Rounded Rectangle 55"/>
          <p:cNvSpPr/>
          <p:nvPr/>
        </p:nvSpPr>
        <p:spPr>
          <a:xfrm>
            <a:off x="822960" y="80467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Notasi  </a:t>
            </a:r>
            <a:r>
              <a:rPr sz="1200" b="0" i="0">
                <a:solidFill>
                  <a:srgbClr val="14313B"/>
                </a:solidFill>
                <a:latin typeface="Calibri (MS)"/>
              </a:rPr>
              <a:t>S = simulasi, A = data aktual, garis atas = rata-rata, σ / SD = simpangan baku, n = jumlah tahun. Angka E1 dan E2 adalah pedoman empiris Barlas (1989), bukan ambang uji statistik.</a:t>
            </a:r>
          </a:p>
        </p:txBody>
      </p:sp>
      <p:sp>
        <p:nvSpPr>
          <p:cNvPr id="57" name="TextBox 5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Barlas (1989); Mai &amp; Smith (2018); kategori MAPE Lewis (1982).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600" b="true">
                <a:solidFill>
                  <a:srgbClr val="0B5E6E"/>
                </a:solidFill>
                <a:latin typeface="Calibri (MS) Bold"/>
                <a:ea typeface="Calibri (MS) Bold"/>
                <a:cs typeface="Calibri (MS) Bold"/>
                <a:sym typeface="Calibri (MS) Bold"/>
              </a:rPr>
              <a:t>Lampiran 51 · Ukuran Penilaian Uji Perilaku (2/2): Kategori Hasil Uji Tren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Tiga kemungkinan hasil uji tren dan konsekuensinya terhadap pembacaan E1 dan E2</a:t>
            </a:r>
          </a:p>
        </p:txBody>
      </p:sp>
      <p:sp>
        <p:nvSpPr>
          <p:cNvPr id="27" name="Rounded Rectangle 26"/>
          <p:cNvSpPr/>
          <p:nvPr/>
        </p:nvSpPr>
        <p:spPr>
          <a:xfrm>
            <a:off x="822960" y="1874519"/>
            <a:ext cx="5394960" cy="64008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14313B"/>
                </a:solidFill>
                <a:latin typeface="Calibri (MS) Bold"/>
              </a:rPr>
              <a:t>Tidak berbeda nyata</a:t>
            </a:r>
          </a:p>
        </p:txBody>
      </p:sp>
      <p:sp>
        <p:nvSpPr>
          <p:cNvPr id="28" name="Rounded Rectangle 27"/>
          <p:cNvSpPr/>
          <p:nvPr/>
        </p:nvSpPr>
        <p:spPr>
          <a:xfrm>
            <a:off x="822960" y="2606040"/>
            <a:ext cx="5394960" cy="1097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Syarat</a:t>
            </a:r>
          </a:p>
          <a:p>
            <a:pPr algn="l">
              <a:spcAft>
                <a:spcPts val="300"/>
              </a:spcAft>
            </a:pPr>
            <a:r>
              <a:rPr sz="1150" b="0" i="0">
                <a:solidFill>
                  <a:srgbClr val="14313B"/>
                </a:solidFill>
                <a:latin typeface="Calibri (MS)"/>
              </a:rPr>
              <a:t>Arah kemiringan sama dan t hitung ≤ t tabel.</a:t>
            </a:r>
          </a:p>
        </p:txBody>
      </p:sp>
      <p:sp>
        <p:nvSpPr>
          <p:cNvPr id="29" name="Rounded Rectangle 28"/>
          <p:cNvSpPr/>
          <p:nvPr/>
        </p:nvSpPr>
        <p:spPr>
          <a:xfrm>
            <a:off x="822960" y="3794760"/>
            <a:ext cx="539496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Artinya</a:t>
            </a:r>
          </a:p>
          <a:p>
            <a:pPr algn="l">
              <a:spcAft>
                <a:spcPts val="300"/>
              </a:spcAft>
            </a:pPr>
            <a:r>
              <a:rPr sz="1150" b="0" i="0">
                <a:solidFill>
                  <a:srgbClr val="14313B"/>
                </a:solidFill>
                <a:latin typeface="Calibri (MS)"/>
              </a:rPr>
              <a:t>Pola pertumbuhan simulasi sejalan dengan data. E1, E2, dan DC dibaca seperti biasa.</a:t>
            </a:r>
          </a:p>
        </p:txBody>
      </p:sp>
      <p:sp>
        <p:nvSpPr>
          <p:cNvPr id="30" name="Rounded Rectangle 29"/>
          <p:cNvSpPr/>
          <p:nvPr/>
        </p:nvSpPr>
        <p:spPr>
          <a:xfrm>
            <a:off x="822960" y="5349240"/>
            <a:ext cx="5394960" cy="12344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Contoh dari hasil penelitian</a:t>
            </a:r>
          </a:p>
          <a:p>
            <a:pPr algn="l">
              <a:spcAft>
                <a:spcPts val="300"/>
              </a:spcAft>
            </a:pPr>
            <a:r>
              <a:rPr sz="1100" b="0" i="0">
                <a:solidFill>
                  <a:srgbClr val="14313B"/>
                </a:solidFill>
                <a:latin typeface="Calibri (MS)"/>
              </a:rPr>
              <a:t>P4 Lahan (tanpa 2020–21): bₐ = 2.042 ha/th, bₛ = 1.914 ha/th; t = 0,131 &lt; 2,179</a:t>
            </a:r>
          </a:p>
        </p:txBody>
      </p:sp>
      <p:sp>
        <p:nvSpPr>
          <p:cNvPr id="31" name="Rounded Rectangle 30"/>
          <p:cNvSpPr/>
          <p:nvPr/>
        </p:nvSpPr>
        <p:spPr>
          <a:xfrm>
            <a:off x="6446520" y="1874519"/>
            <a:ext cx="5394960" cy="640080"/>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14313B"/>
                </a:solidFill>
                <a:latin typeface="Calibri (MS) Bold"/>
              </a:rPr>
              <a:t>Berbeda nyata</a:t>
            </a:r>
          </a:p>
        </p:txBody>
      </p:sp>
      <p:sp>
        <p:nvSpPr>
          <p:cNvPr id="32" name="Rounded Rectangle 31"/>
          <p:cNvSpPr/>
          <p:nvPr/>
        </p:nvSpPr>
        <p:spPr>
          <a:xfrm>
            <a:off x="6446520" y="2606040"/>
            <a:ext cx="5394960" cy="1097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Syarat</a:t>
            </a:r>
          </a:p>
          <a:p>
            <a:pPr algn="l">
              <a:spcAft>
                <a:spcPts val="300"/>
              </a:spcAft>
            </a:pPr>
            <a:r>
              <a:rPr sz="1150" b="0" i="0">
                <a:solidFill>
                  <a:srgbClr val="14313B"/>
                </a:solidFill>
                <a:latin typeface="Calibri (MS)"/>
              </a:rPr>
              <a:t>Arah kemiringan sama, tetapi t hitung &gt; t tabel.</a:t>
            </a:r>
          </a:p>
        </p:txBody>
      </p:sp>
      <p:sp>
        <p:nvSpPr>
          <p:cNvPr id="33" name="Rounded Rectangle 32"/>
          <p:cNvSpPr/>
          <p:nvPr/>
        </p:nvSpPr>
        <p:spPr>
          <a:xfrm>
            <a:off x="6446520" y="3794760"/>
            <a:ext cx="539496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Artinya</a:t>
            </a:r>
          </a:p>
          <a:p>
            <a:pPr algn="l">
              <a:spcAft>
                <a:spcPts val="300"/>
              </a:spcAft>
            </a:pPr>
            <a:r>
              <a:rPr sz="1150" b="0" i="0">
                <a:solidFill>
                  <a:srgbClr val="14313B"/>
                </a:solidFill>
                <a:latin typeface="Calibri (MS)"/>
              </a:rPr>
              <a:t>Arahnya benar, tetapi lajunya terlalu cepat atau lambat. E1 dan E2 tidak ditafsirkan; cukup dibaca dari DC dan MAPE.</a:t>
            </a:r>
          </a:p>
        </p:txBody>
      </p:sp>
      <p:sp>
        <p:nvSpPr>
          <p:cNvPr id="34" name="Rounded Rectangle 33"/>
          <p:cNvSpPr/>
          <p:nvPr/>
        </p:nvSpPr>
        <p:spPr>
          <a:xfrm>
            <a:off x="6446520" y="5349240"/>
            <a:ext cx="5394960" cy="12344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Contoh dari hasil penelitian</a:t>
            </a:r>
          </a:p>
          <a:p>
            <a:pPr algn="l">
              <a:spcAft>
                <a:spcPts val="300"/>
              </a:spcAft>
            </a:pPr>
            <a:r>
              <a:rPr sz="1100" b="0" i="0">
                <a:solidFill>
                  <a:srgbClr val="14313B"/>
                </a:solidFill>
                <a:latin typeface="Calibri (MS)"/>
              </a:rPr>
              <a:t>P5 Wisatawan (tanpa 2020–21): bₐ = 2,85 juta/th, bₛ = 1,26 juta/th; t = 5,554 &gt; 2,179</a:t>
            </a:r>
          </a:p>
        </p:txBody>
      </p:sp>
      <p:sp>
        <p:nvSpPr>
          <p:cNvPr id="35" name="Rounded Rectangle 34"/>
          <p:cNvSpPr/>
          <p:nvPr/>
        </p:nvSpPr>
        <p:spPr>
          <a:xfrm>
            <a:off x="12070080" y="1874519"/>
            <a:ext cx="5394960" cy="640080"/>
          </a:xfrm>
          <a:prstGeom prst="roundRect">
            <a:avLst>
              <a:gd name="adj" fmla="val 8000"/>
            </a:avLst>
          </a:prstGeom>
          <a:solidFill>
            <a:srgbClr val="FDE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14313B"/>
                </a:solidFill>
                <a:latin typeface="Calibri (MS) Bold"/>
              </a:rPr>
              <a:t>Berlawanan arah</a:t>
            </a:r>
          </a:p>
        </p:txBody>
      </p:sp>
      <p:sp>
        <p:nvSpPr>
          <p:cNvPr id="36" name="Rounded Rectangle 35"/>
          <p:cNvSpPr/>
          <p:nvPr/>
        </p:nvSpPr>
        <p:spPr>
          <a:xfrm>
            <a:off x="12070080" y="2606040"/>
            <a:ext cx="5394960" cy="1097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Syarat</a:t>
            </a:r>
          </a:p>
          <a:p>
            <a:pPr algn="l">
              <a:spcAft>
                <a:spcPts val="300"/>
              </a:spcAft>
            </a:pPr>
            <a:r>
              <a:rPr sz="1150" b="0" i="0">
                <a:solidFill>
                  <a:srgbClr val="14313B"/>
                </a:solidFill>
                <a:latin typeface="Calibri (MS)"/>
              </a:rPr>
              <a:t>Tanda kemiringan simulasi dan data berbeda (satu naik, satu turun).</a:t>
            </a:r>
          </a:p>
        </p:txBody>
      </p:sp>
      <p:sp>
        <p:nvSpPr>
          <p:cNvPr id="37" name="Rounded Rectangle 36"/>
          <p:cNvSpPr/>
          <p:nvPr/>
        </p:nvSpPr>
        <p:spPr>
          <a:xfrm>
            <a:off x="12070080" y="3794760"/>
            <a:ext cx="539496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Artinya</a:t>
            </a:r>
          </a:p>
          <a:p>
            <a:pPr algn="l">
              <a:spcAft>
                <a:spcPts val="300"/>
              </a:spcAft>
            </a:pPr>
            <a:r>
              <a:rPr sz="1150" b="0" i="0">
                <a:solidFill>
                  <a:srgbClr val="14313B"/>
                </a:solidFill>
                <a:latin typeface="Calibri (MS)"/>
              </a:rPr>
              <a:t>Pola tidak sesuai sama sekali. E1 dan E2 tidak ditafsirkan; penyebabnya ditelusuri.</a:t>
            </a:r>
          </a:p>
        </p:txBody>
      </p:sp>
      <p:sp>
        <p:nvSpPr>
          <p:cNvPr id="38" name="Rounded Rectangle 37"/>
          <p:cNvSpPr/>
          <p:nvPr/>
        </p:nvSpPr>
        <p:spPr>
          <a:xfrm>
            <a:off x="12070080" y="5349240"/>
            <a:ext cx="5394960" cy="12344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Contoh dari hasil penelitian</a:t>
            </a:r>
          </a:p>
          <a:p>
            <a:pPr algn="l">
              <a:spcAft>
                <a:spcPts val="300"/>
              </a:spcAft>
            </a:pPr>
            <a:r>
              <a:rPr sz="1100" b="0" i="0">
                <a:solidFill>
                  <a:srgbClr val="14313B"/>
                </a:solidFill>
                <a:latin typeface="Calibri (MS)"/>
              </a:rPr>
              <a:t>Uji penuh Hotel (dengan COVID): bₐ = +66,07 unit/th, bₛ = −40,67 unit/th</a:t>
            </a:r>
          </a:p>
        </p:txBody>
      </p:sp>
      <p:graphicFrame>
        <p:nvGraphicFramePr>
          <p:cNvPr id="39" name="Table 38"/>
          <p:cNvGraphicFramePr>
            <a:graphicFrameLocks noGrp="1"/>
          </p:cNvGraphicFramePr>
          <p:nvPr/>
        </p:nvGraphicFramePr>
        <p:xfrm>
          <a:off x="822960" y="6812280"/>
          <a:ext cx="16642080" cy="1152144"/>
        </p:xfrm>
        <a:graphic>
          <a:graphicData uri="http://schemas.openxmlformats.org/drawingml/2006/table">
            <a:tbl>
              <a:tblPr firstRow="1" bandRow="1">
                <a:tableStyleId>{5C22544A-7EE6-4342-B048-85BDC9FD1C3A}</a:tableStyleId>
              </a:tblPr>
              <a:tblGrid>
                <a:gridCol w="3474720"/>
                <a:gridCol w="3291840"/>
                <a:gridCol w="3291840"/>
                <a:gridCol w="3291840"/>
                <a:gridCol w="3291840"/>
              </a:tblGrid>
              <a:tr h="384048">
                <a:tc>
                  <a:txBody>
                    <a:bodyPr wrap="square"/>
                    <a:lstStyle/>
                    <a:p>
                      <a:r>
                        <a:rPr sz="1100" b="1" i="0">
                          <a:solidFill>
                            <a:srgbClr val="FFFFFF"/>
                          </a:solidFill>
                          <a:latin typeface="Calibri (MS) Bold"/>
                        </a:rPr>
                        <a:t>n (tahun dinilai)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10 (parsial, dengan COVID)</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8 (parsial, tanpa 2020–21)</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7 (penuh, dengan COVID)</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5 (penuh, tanpa 2020–21)</a:t>
                      </a:r>
                    </a:p>
                  </a:txBody>
                  <a:tcPr marL="73152" marR="73152" marT="36576" marB="36576" anchor="ctr">
                    <a:solidFill>
                      <a:srgbClr val="0B5E6E"/>
                    </a:solidFill>
                  </a:tcPr>
                </a:tc>
              </a:tr>
              <a:tr h="384048">
                <a:tc>
                  <a:txBody>
                    <a:bodyPr wrap="square"/>
                    <a:lstStyle/>
                    <a:p>
                      <a:r>
                        <a:rPr sz="1100" b="1" i="0">
                          <a:solidFill>
                            <a:srgbClr val="14313B"/>
                          </a:solidFill>
                          <a:latin typeface="Calibri (MS) Bold"/>
                        </a:rPr>
                        <a:t>db = 2n − 4</a:t>
                      </a:r>
                    </a:p>
                  </a:txBody>
                  <a:tcPr marL="73152" marR="73152" marT="36576" marB="36576" anchor="ctr">
                    <a:solidFill>
                      <a:srgbClr val="FFFFFF"/>
                    </a:solidFill>
                  </a:tcPr>
                </a:tc>
                <a:tc>
                  <a:txBody>
                    <a:bodyPr wrap="square"/>
                    <a:lstStyle/>
                    <a:p>
                      <a:pPr algn="ctr"/>
                      <a:r>
                        <a:rPr sz="1100" b="0" i="0">
                          <a:solidFill>
                            <a:srgbClr val="14313B"/>
                          </a:solidFill>
                          <a:latin typeface="Calibri (MS)"/>
                        </a:rPr>
                        <a:t>16</a:t>
                      </a:r>
                    </a:p>
                  </a:txBody>
                  <a:tcPr marL="73152" marR="73152" marT="36576" marB="36576" anchor="ctr">
                    <a:solidFill>
                      <a:srgbClr val="FFFFFF"/>
                    </a:solidFill>
                  </a:tcPr>
                </a:tc>
                <a:tc>
                  <a:txBody>
                    <a:bodyPr wrap="square"/>
                    <a:lstStyle/>
                    <a:p>
                      <a:pPr algn="ctr"/>
                      <a:r>
                        <a:rPr sz="1100" b="0" i="0">
                          <a:solidFill>
                            <a:srgbClr val="14313B"/>
                          </a:solidFill>
                          <a:latin typeface="Calibri (MS)"/>
                        </a:rPr>
                        <a:t>12</a:t>
                      </a:r>
                    </a:p>
                  </a:txBody>
                  <a:tcPr marL="73152" marR="73152" marT="36576" marB="36576" anchor="ctr">
                    <a:solidFill>
                      <a:srgbClr val="FFFFFF"/>
                    </a:solidFill>
                  </a:tcPr>
                </a:tc>
                <a:tc>
                  <a:txBody>
                    <a:bodyPr wrap="square"/>
                    <a:lstStyle/>
                    <a:p>
                      <a:pPr algn="ctr"/>
                      <a:r>
                        <a:rPr sz="1100" b="0" i="0">
                          <a:solidFill>
                            <a:srgbClr val="14313B"/>
                          </a:solidFill>
                          <a:latin typeface="Calibri (MS)"/>
                        </a:rPr>
                        <a:t>10</a:t>
                      </a:r>
                    </a:p>
                  </a:txBody>
                  <a:tcPr marL="73152" marR="73152" marT="36576" marB="36576" anchor="ctr">
                    <a:solidFill>
                      <a:srgbClr val="FFFFFF"/>
                    </a:solidFill>
                  </a:tcPr>
                </a:tc>
                <a:tc>
                  <a:txBody>
                    <a:bodyPr wrap="square"/>
                    <a:lstStyle/>
                    <a:p>
                      <a:pPr algn="ctr"/>
                      <a:r>
                        <a:rPr sz="1100" b="0" i="0">
                          <a:solidFill>
                            <a:srgbClr val="14313B"/>
                          </a:solidFill>
                          <a:latin typeface="Calibri (MS)"/>
                        </a:rPr>
                        <a:t>6</a:t>
                      </a:r>
                    </a:p>
                  </a:txBody>
                  <a:tcPr marL="73152" marR="73152" marT="36576" marB="36576" anchor="ctr">
                    <a:solidFill>
                      <a:srgbClr val="FFFFFF"/>
                    </a:solidFill>
                  </a:tcPr>
                </a:tc>
              </a:tr>
              <a:tr h="384048">
                <a:tc>
                  <a:txBody>
                    <a:bodyPr wrap="square"/>
                    <a:lstStyle/>
                    <a:p>
                      <a:r>
                        <a:rPr sz="1100" b="1" i="0">
                          <a:solidFill>
                            <a:srgbClr val="14313B"/>
                          </a:solidFill>
                          <a:latin typeface="Calibri (MS) Bold"/>
                        </a:rPr>
                        <a:t>t tabel (α 0,05 dua sisi)</a:t>
                      </a:r>
                    </a:p>
                  </a:txBody>
                  <a:tcPr marL="73152" marR="73152" marT="36576" marB="36576" anchor="ctr">
                    <a:solidFill>
                      <a:srgbClr val="EAF8FA"/>
                    </a:solidFill>
                  </a:tcPr>
                </a:tc>
                <a:tc>
                  <a:txBody>
                    <a:bodyPr wrap="square"/>
                    <a:lstStyle/>
                    <a:p>
                      <a:pPr algn="ctr"/>
                      <a:r>
                        <a:rPr sz="1100" b="0" i="0">
                          <a:solidFill>
                            <a:srgbClr val="14313B"/>
                          </a:solidFill>
                          <a:latin typeface="Calibri (MS)"/>
                        </a:rPr>
                        <a:t>2,120</a:t>
                      </a:r>
                    </a:p>
                  </a:txBody>
                  <a:tcPr marL="73152" marR="73152" marT="36576" marB="36576" anchor="ctr">
                    <a:solidFill>
                      <a:srgbClr val="EAF8FA"/>
                    </a:solidFill>
                  </a:tcPr>
                </a:tc>
                <a:tc>
                  <a:txBody>
                    <a:bodyPr wrap="square"/>
                    <a:lstStyle/>
                    <a:p>
                      <a:pPr algn="ctr"/>
                      <a:r>
                        <a:rPr sz="1100" b="0" i="0">
                          <a:solidFill>
                            <a:srgbClr val="14313B"/>
                          </a:solidFill>
                          <a:latin typeface="Calibri (MS)"/>
                        </a:rPr>
                        <a:t>2,179</a:t>
                      </a:r>
                    </a:p>
                  </a:txBody>
                  <a:tcPr marL="73152" marR="73152" marT="36576" marB="36576" anchor="ctr">
                    <a:solidFill>
                      <a:srgbClr val="EAF8FA"/>
                    </a:solidFill>
                  </a:tcPr>
                </a:tc>
                <a:tc>
                  <a:txBody>
                    <a:bodyPr wrap="square"/>
                    <a:lstStyle/>
                    <a:p>
                      <a:pPr algn="ctr"/>
                      <a:r>
                        <a:rPr sz="1100" b="0" i="0">
                          <a:solidFill>
                            <a:srgbClr val="14313B"/>
                          </a:solidFill>
                          <a:latin typeface="Calibri (MS)"/>
                        </a:rPr>
                        <a:t>2,228</a:t>
                      </a:r>
                    </a:p>
                  </a:txBody>
                  <a:tcPr marL="73152" marR="73152" marT="36576" marB="36576" anchor="ctr">
                    <a:solidFill>
                      <a:srgbClr val="EAF8FA"/>
                    </a:solidFill>
                  </a:tcPr>
                </a:tc>
                <a:tc>
                  <a:txBody>
                    <a:bodyPr wrap="square"/>
                    <a:lstStyle/>
                    <a:p>
                      <a:pPr algn="ctr"/>
                      <a:r>
                        <a:rPr sz="1100" b="0" i="0">
                          <a:solidFill>
                            <a:srgbClr val="14313B"/>
                          </a:solidFill>
                          <a:latin typeface="Calibri (MS)"/>
                        </a:rPr>
                        <a:t>2,447</a:t>
                      </a:r>
                    </a:p>
                  </a:txBody>
                  <a:tcPr marL="73152" marR="73152" marT="36576" marB="36576" anchor="ctr">
                    <a:solidFill>
                      <a:srgbClr val="EAF8FA"/>
                    </a:solidFill>
                  </a:tcPr>
                </a:tc>
              </a:tr>
            </a:tbl>
          </a:graphicData>
        </a:graphic>
      </p:graphicFrame>
      <p:sp>
        <p:nvSpPr>
          <p:cNvPr id="40" name="TextBox 3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nilai kemiringan dari hasil_P1_P4_baseline_v2.xlsx dan hasil_uji_perilaku_baseline_v2.xlsx.</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52 · Dekomposisi Galat U1, U2, U3 (Theil)</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Bukan untuk menilai besar galat, melainkan untuk menelusuri dari mana galat berasal (Sterman, 1984)</a:t>
            </a:r>
          </a:p>
        </p:txBody>
      </p:sp>
      <p:sp>
        <p:nvSpPr>
          <p:cNvPr id="27" name="Rounded Rectangle 26"/>
          <p:cNvSpPr/>
          <p:nvPr/>
        </p:nvSpPr>
        <p:spPr>
          <a:xfrm>
            <a:off x="822960" y="1874519"/>
            <a:ext cx="6400800" cy="27432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300" b="0" i="1">
                <a:solidFill>
                  <a:srgbClr val="14313B"/>
                </a:solidFill>
                <a:latin typeface="Calibri (MS)"/>
              </a:rPr>
              <a:t>MSE = (1/n) Σ (Sᵢ − Aᵢ)²</a:t>
            </a:r>
          </a:p>
          <a:p>
            <a:pPr algn="l">
              <a:spcAft>
                <a:spcPts val="300"/>
              </a:spcAft>
            </a:pPr>
            <a:r>
              <a:rPr sz="1300" b="0" i="1">
                <a:solidFill>
                  <a:srgbClr val="14313B"/>
                </a:solidFill>
                <a:latin typeface="Calibri (MS)"/>
              </a:rPr>
              <a:t>U1 = (S̄ − Ā)² ÷ MSE</a:t>
            </a:r>
          </a:p>
          <a:p>
            <a:pPr algn="l">
              <a:spcAft>
                <a:spcPts val="300"/>
              </a:spcAft>
            </a:pPr>
            <a:r>
              <a:rPr sz="1300" b="0" i="1">
                <a:solidFill>
                  <a:srgbClr val="14313B"/>
                </a:solidFill>
                <a:latin typeface="Calibri (MS)"/>
              </a:rPr>
              <a:t>U2 = (σₛ − σₐ)² ÷ MSE</a:t>
            </a:r>
          </a:p>
          <a:p>
            <a:pPr algn="l">
              <a:spcAft>
                <a:spcPts val="300"/>
              </a:spcAft>
            </a:pPr>
            <a:r>
              <a:rPr sz="1300" b="0" i="1">
                <a:solidFill>
                  <a:srgbClr val="14313B"/>
                </a:solidFill>
                <a:latin typeface="Calibri (MS)"/>
              </a:rPr>
              <a:t>U3 = 2(1 − r) σₛ σₐ ÷ MSE</a:t>
            </a:r>
          </a:p>
          <a:p>
            <a:pPr algn="l">
              <a:spcAft>
                <a:spcPts val="300"/>
              </a:spcAft>
            </a:pPr>
            <a:r>
              <a:rPr sz="1300" b="0" i="1">
                <a:solidFill>
                  <a:srgbClr val="14313B"/>
                </a:solidFill>
                <a:latin typeface="Calibri (MS)"/>
              </a:rPr>
              <a:t>U1 + U2 + U3 = 1;</a:t>
            </a:r>
            <a:r>
              <a:rPr sz="1050" b="0" i="0">
                <a:solidFill>
                  <a:srgbClr val="5E6E78"/>
                </a:solidFill>
                <a:latin typeface="Calibri (MS)"/>
              </a:rPr>
              <a:t>  r = korelasi simulasi dengan data</a:t>
            </a:r>
          </a:p>
        </p:txBody>
      </p:sp>
      <p:sp>
        <p:nvSpPr>
          <p:cNvPr id="28" name="Rounded Rectangle 27"/>
          <p:cNvSpPr/>
          <p:nvPr/>
        </p:nvSpPr>
        <p:spPr>
          <a:xfrm>
            <a:off x="7498079" y="1874519"/>
            <a:ext cx="2194560" cy="841248"/>
          </a:xfrm>
          <a:prstGeom prst="roundRect">
            <a:avLst>
              <a:gd name="adj" fmla="val 8000"/>
            </a:avLst>
          </a:prstGeom>
          <a:solidFill>
            <a:srgbClr val="FDE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300" b="1" i="0">
                <a:solidFill>
                  <a:srgbClr val="14313B"/>
                </a:solidFill>
                <a:latin typeface="Calibri (MS) Bold"/>
              </a:rPr>
              <a:t>U1 · bias</a:t>
            </a:r>
          </a:p>
        </p:txBody>
      </p:sp>
      <p:sp>
        <p:nvSpPr>
          <p:cNvPr id="29" name="Rounded Rectangle 28"/>
          <p:cNvSpPr/>
          <p:nvPr/>
        </p:nvSpPr>
        <p:spPr>
          <a:xfrm>
            <a:off x="9784080" y="1874519"/>
            <a:ext cx="7680960"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Simulasi konsisten lebih tinggi atau lebih rendah dari data sepanjang periode.</a:t>
            </a:r>
          </a:p>
          <a:p>
            <a:pPr algn="l">
              <a:spcAft>
                <a:spcPts val="300"/>
              </a:spcAft>
            </a:pPr>
            <a:r>
              <a:rPr sz="1100" b="1" i="0">
                <a:solidFill>
                  <a:srgbClr val="0B5E6E"/>
                </a:solidFill>
                <a:latin typeface="Calibri (MS) Bold"/>
              </a:rPr>
              <a:t>Galat sistematis → periksa nilai awal/parameter level atau masukan dari hulu.</a:t>
            </a:r>
          </a:p>
        </p:txBody>
      </p:sp>
      <p:sp>
        <p:nvSpPr>
          <p:cNvPr id="30" name="Rounded Rectangle 29"/>
          <p:cNvSpPr/>
          <p:nvPr/>
        </p:nvSpPr>
        <p:spPr>
          <a:xfrm>
            <a:off x="7498079" y="2807208"/>
            <a:ext cx="2194560" cy="841248"/>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300" b="1" i="0">
                <a:solidFill>
                  <a:srgbClr val="14313B"/>
                </a:solidFill>
                <a:latin typeface="Calibri (MS) Bold"/>
              </a:rPr>
              <a:t>U2 · variasi</a:t>
            </a:r>
          </a:p>
        </p:txBody>
      </p:sp>
      <p:sp>
        <p:nvSpPr>
          <p:cNvPr id="31" name="Rounded Rectangle 30"/>
          <p:cNvSpPr/>
          <p:nvPr/>
        </p:nvSpPr>
        <p:spPr>
          <a:xfrm>
            <a:off x="9784080" y="2807208"/>
            <a:ext cx="7680960"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Naik-turun simulasi lebih besar atau lebih kecil dari data, atau lajunya beda.</a:t>
            </a:r>
          </a:p>
          <a:p>
            <a:pPr algn="l">
              <a:spcAft>
                <a:spcPts val="300"/>
              </a:spcAft>
            </a:pPr>
            <a:r>
              <a:rPr sz="1100" b="1" i="0">
                <a:solidFill>
                  <a:srgbClr val="0B5E6E"/>
                </a:solidFill>
                <a:latin typeface="Calibri (MS) Bold"/>
              </a:rPr>
              <a:t>Galat sistematis → periksa parameter laju atau derau data masukan.</a:t>
            </a:r>
          </a:p>
        </p:txBody>
      </p:sp>
      <p:sp>
        <p:nvSpPr>
          <p:cNvPr id="32" name="Rounded Rectangle 31"/>
          <p:cNvSpPr/>
          <p:nvPr/>
        </p:nvSpPr>
        <p:spPr>
          <a:xfrm>
            <a:off x="7498079" y="3739896"/>
            <a:ext cx="2194560" cy="841248"/>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300" b="1" i="0">
                <a:solidFill>
                  <a:srgbClr val="14313B"/>
                </a:solidFill>
                <a:latin typeface="Calibri (MS) Bold"/>
              </a:rPr>
              <a:t>U3 · kovariasi</a:t>
            </a:r>
          </a:p>
        </p:txBody>
      </p:sp>
      <p:sp>
        <p:nvSpPr>
          <p:cNvPr id="33" name="Rounded Rectangle 32"/>
          <p:cNvSpPr/>
          <p:nvPr/>
        </p:nvSpPr>
        <p:spPr>
          <a:xfrm>
            <a:off x="9784080" y="3739896"/>
            <a:ext cx="7680960" cy="84124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Simulasi mengikuti pola umum, tetapi tidak meniru loncatan acak tiap tahun.</a:t>
            </a:r>
          </a:p>
          <a:p>
            <a:pPr algn="l">
              <a:spcAft>
                <a:spcPts val="300"/>
              </a:spcAft>
            </a:pPr>
            <a:r>
              <a:rPr sz="1100" b="1" i="0">
                <a:solidFill>
                  <a:srgbClr val="0B5E6E"/>
                </a:solidFill>
                <a:latin typeface="Calibri (MS) Bold"/>
              </a:rPr>
              <a:t>Galat tidak sistematis → wajar, model tidak perlu diubah.</a:t>
            </a:r>
          </a:p>
        </p:txBody>
      </p:sp>
      <p:sp>
        <p:nvSpPr>
          <p:cNvPr id="34" name="Rounded Rectangle 33"/>
          <p:cNvSpPr/>
          <p:nvPr/>
        </p:nvSpPr>
        <p:spPr>
          <a:xfrm>
            <a:off x="822960" y="484632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Contoh pembacaan dari hasil penelitian</a:t>
            </a:r>
          </a:p>
        </p:txBody>
      </p:sp>
      <p:graphicFrame>
        <p:nvGraphicFramePr>
          <p:cNvPr id="35" name="Chart 34"/>
          <p:cNvGraphicFramePr>
            <a:graphicFrameLocks noGrp="1"/>
          </p:cNvGraphicFramePr>
          <p:nvPr/>
        </p:nvGraphicFramePr>
        <p:xfrm>
          <a:off x="822960" y="5349240"/>
          <a:ext cx="9144000" cy="3291840"/>
        </p:xfrm>
        <a:graphic>
          <a:graphicData uri="http://schemas.openxmlformats.org/drawingml/2006/chart">
            <c:chart xmlns:c="http://schemas.openxmlformats.org/drawingml/2006/chart" r:id="rId7"/>
          </a:graphicData>
        </a:graphic>
      </p:graphicFrame>
      <p:sp>
        <p:nvSpPr>
          <p:cNvPr id="36" name="TextBox 35"/>
          <p:cNvSpPr txBox="1"/>
          <p:nvPr/>
        </p:nvSpPr>
        <p:spPr>
          <a:xfrm>
            <a:off x="10241280" y="5440680"/>
            <a:ext cx="7223760" cy="3200400"/>
          </a:xfrm>
          <a:prstGeom prst="rect">
            <a:avLst/>
          </a:prstGeom>
          <a:noFill/>
        </p:spPr>
        <p:txBody>
          <a:bodyPr wrap="square" anchor="t" lIns="0" rIns="0" tIns="0" bIns="0">
            <a:spAutoFit/>
          </a:bodyPr>
          <a:lstStyle/>
          <a:p>
            <a:pPr algn="l">
              <a:spcAft>
                <a:spcPts val="400"/>
              </a:spcAft>
            </a:pPr>
            <a:r>
              <a:rPr sz="1150" b="1" i="0">
                <a:solidFill>
                  <a:srgbClr val="0B5E6E"/>
                </a:solidFill>
                <a:latin typeface="Calibri (MS) Bold"/>
              </a:rPr>
              <a:t>•  </a:t>
            </a:r>
            <a:r>
              <a:rPr sz="1150" b="1" i="0">
                <a:solidFill>
                  <a:srgbClr val="14313B"/>
                </a:solidFill>
                <a:latin typeface="Calibri (MS) Bold"/>
              </a:rPr>
              <a:t>P1 Hotel: </a:t>
            </a:r>
            <a:r>
              <a:rPr sz="1150" b="0" i="0">
                <a:solidFill>
                  <a:srgbClr val="14313B"/>
                </a:solidFill>
                <a:latin typeface="Calibri (MS)"/>
              </a:rPr>
              <a:t>U3 ≈ 0,80 → sisa galat hanya derau; struktur akomodasi sudah tepat.</a:t>
            </a:r>
          </a:p>
          <a:p>
            <a:pPr algn="l">
              <a:spcAft>
                <a:spcPts val="400"/>
              </a:spcAft>
            </a:pPr>
            <a:r>
              <a:rPr sz="1150" b="1" i="0">
                <a:solidFill>
                  <a:srgbClr val="0B5E6E"/>
                </a:solidFill>
                <a:latin typeface="Calibri (MS) Bold"/>
              </a:rPr>
              <a:t>•  </a:t>
            </a:r>
            <a:r>
              <a:rPr sz="1150" b="1" i="0">
                <a:solidFill>
                  <a:srgbClr val="14313B"/>
                </a:solidFill>
                <a:latin typeface="Calibri (MS) Bold"/>
              </a:rPr>
              <a:t>P1 TPK: </a:t>
            </a:r>
            <a:r>
              <a:rPr sz="1150" b="0" i="0">
                <a:solidFill>
                  <a:srgbClr val="14313B"/>
                </a:solidFill>
                <a:latin typeface="Calibri (MS)"/>
              </a:rPr>
              <a:t>U2 ≈ 0,65 → naik-turun berlebih karena masukan malam menginap berderau.</a:t>
            </a:r>
          </a:p>
          <a:p>
            <a:pPr algn="l">
              <a:spcAft>
                <a:spcPts val="400"/>
              </a:spcAft>
            </a:pPr>
            <a:r>
              <a:rPr sz="1150" b="1" i="0">
                <a:solidFill>
                  <a:srgbClr val="0B5E6E"/>
                </a:solidFill>
                <a:latin typeface="Calibri (MS) Bold"/>
              </a:rPr>
              <a:t>•  </a:t>
            </a:r>
            <a:r>
              <a:rPr sz="1150" b="1" i="0">
                <a:solidFill>
                  <a:srgbClr val="14313B"/>
                </a:solidFill>
                <a:latin typeface="Calibri (MS) Bold"/>
              </a:rPr>
              <a:t>P5 Wisatawan: </a:t>
            </a:r>
            <a:r>
              <a:rPr sz="1150" b="0" i="0">
                <a:solidFill>
                  <a:srgbClr val="14313B"/>
                </a:solidFill>
                <a:latin typeface="Calibri (MS)"/>
              </a:rPr>
              <a:t>U1 + U2 &gt; 0,95 → galat sistematis; menjadi dasar kalibrasi diagnostik Tahap 3.</a:t>
            </a:r>
          </a:p>
          <a:p>
            <a:pPr algn="l">
              <a:spcAft>
                <a:spcPts val="400"/>
              </a:spcAft>
            </a:pPr>
            <a:r>
              <a:rPr sz="1150" b="1" i="0">
                <a:solidFill>
                  <a:srgbClr val="0B5E6E"/>
                </a:solidFill>
                <a:latin typeface="Calibri (MS) Bold"/>
              </a:rPr>
              <a:t>•  </a:t>
            </a:r>
            <a:r>
              <a:rPr sz="1150" b="1" i="0">
                <a:solidFill>
                  <a:srgbClr val="14313B"/>
                </a:solidFill>
                <a:latin typeface="Calibri (MS) Bold"/>
              </a:rPr>
              <a:t>Uji penuh PDRB: </a:t>
            </a:r>
            <a:r>
              <a:rPr sz="1150" b="0" i="0">
                <a:solidFill>
                  <a:srgbClr val="14313B"/>
                </a:solidFill>
                <a:latin typeface="Calibri (MS)"/>
              </a:rPr>
              <a:t>U1 ≈ 0,93 → bias level yang merambat dari galat jumlah wisatawan.</a:t>
            </a:r>
          </a:p>
        </p:txBody>
      </p:sp>
      <p:sp>
        <p:nvSpPr>
          <p:cNvPr id="37" name="TextBox 3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nilai versi tanpa 2020–2021 (parsial) dan dengan COVID (penuh).</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53 · Rancangan Uji Parsial, Uji Penuh, dan Alasan Uji P1b</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Uji parsial memeriksa struktur tiap subsistem; uji penuh memeriksa apakah galat merambat antarsubsistem</a:t>
            </a:r>
          </a:p>
        </p:txBody>
      </p:sp>
      <p:graphicFrame>
        <p:nvGraphicFramePr>
          <p:cNvPr id="27" name="Table 26"/>
          <p:cNvGraphicFramePr>
            <a:graphicFrameLocks noGrp="1"/>
          </p:cNvGraphicFramePr>
          <p:nvPr/>
        </p:nvGraphicFramePr>
        <p:xfrm>
          <a:off x="822960" y="1874519"/>
          <a:ext cx="9692639" cy="3657600"/>
        </p:xfrm>
        <a:graphic>
          <a:graphicData uri="http://schemas.openxmlformats.org/drawingml/2006/table">
            <a:tbl>
              <a:tblPr firstRow="1" bandRow="1">
                <a:tableStyleId>{5C22544A-7EE6-4342-B048-85BDC9FD1C3A}</a:tableStyleId>
              </a:tblPr>
              <a:tblGrid>
                <a:gridCol w="822959"/>
                <a:gridCol w="2011680"/>
                <a:gridCol w="3108960"/>
                <a:gridCol w="2377440"/>
                <a:gridCol w="1371600"/>
              </a:tblGrid>
              <a:tr h="457200">
                <a:tc>
                  <a:txBody>
                    <a:bodyPr wrap="square"/>
                    <a:lstStyle/>
                    <a:p>
                      <a:pPr algn="ctr"/>
                      <a:r>
                        <a:rPr sz="1050" b="1" i="0">
                          <a:solidFill>
                            <a:srgbClr val="FFFFFF"/>
                          </a:solidFill>
                          <a:latin typeface="Calibri (MS) Bold"/>
                        </a:rPr>
                        <a:t>Uji</a:t>
                      </a:r>
                    </a:p>
                  </a:txBody>
                  <a:tcPr marL="73152" marR="73152" marT="36576" marB="36576" anchor="ctr">
                    <a:solidFill>
                      <a:srgbClr val="0B5E6E"/>
                    </a:solidFill>
                  </a:tcPr>
                </a:tc>
                <a:tc>
                  <a:txBody>
                    <a:bodyPr wrap="square"/>
                    <a:lstStyle/>
                    <a:p>
                      <a:r>
                        <a:rPr sz="1050" b="1" i="0">
                          <a:solidFill>
                            <a:srgbClr val="FFFFFF"/>
                          </a:solidFill>
                          <a:latin typeface="Calibri (MS) Bold"/>
                        </a:rPr>
                        <a:t>Subsistem</a:t>
                      </a:r>
                    </a:p>
                  </a:txBody>
                  <a:tcPr marL="73152" marR="73152" marT="36576" marB="36576" anchor="ctr">
                    <a:solidFill>
                      <a:srgbClr val="0B5E6E"/>
                    </a:solidFill>
                  </a:tcPr>
                </a:tc>
                <a:tc>
                  <a:txBody>
                    <a:bodyPr wrap="square"/>
                    <a:lstStyle/>
                    <a:p>
                      <a:r>
                        <a:rPr sz="1050" b="1" i="0">
                          <a:solidFill>
                            <a:srgbClr val="FFFFFF"/>
                          </a:solidFill>
                          <a:latin typeface="Calibri (MS) Bold"/>
                        </a:rPr>
                        <a:t>Diganti data aktual</a:t>
                      </a:r>
                    </a:p>
                  </a:txBody>
                  <a:tcPr marL="73152" marR="73152" marT="36576" marB="36576" anchor="ctr">
                    <a:solidFill>
                      <a:srgbClr val="0B5E6E"/>
                    </a:solidFill>
                  </a:tcPr>
                </a:tc>
                <a:tc>
                  <a:txBody>
                    <a:bodyPr wrap="square"/>
                    <a:lstStyle/>
                    <a:p>
                      <a:r>
                        <a:rPr sz="1050" b="1" i="0">
                          <a:solidFill>
                            <a:srgbClr val="FFFFFF"/>
                          </a:solidFill>
                          <a:latin typeface="Calibri (MS) Bold"/>
                        </a:rPr>
                        <a:t>Variabel dinilai</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Periode</a:t>
                      </a:r>
                    </a:p>
                  </a:txBody>
                  <a:tcPr marL="73152" marR="73152" marT="36576" marB="36576" anchor="ctr">
                    <a:solidFill>
                      <a:srgbClr val="0B5E6E"/>
                    </a:solidFill>
                  </a:tcPr>
                </a:tc>
              </a:tr>
              <a:tr h="457200">
                <a:tc>
                  <a:txBody>
                    <a:bodyPr wrap="square"/>
                    <a:lstStyle/>
                    <a:p>
                      <a:pPr algn="ctr"/>
                      <a:r>
                        <a:rPr sz="1050" b="1" i="0">
                          <a:solidFill>
                            <a:srgbClr val="14313B"/>
                          </a:solidFill>
                          <a:latin typeface="Calibri (MS) Bold"/>
                        </a:rPr>
                        <a:t>P1</a:t>
                      </a:r>
                    </a:p>
                  </a:txBody>
                  <a:tcPr marL="73152" marR="73152" marT="36576" marB="36576" anchor="ctr">
                    <a:solidFill>
                      <a:srgbClr val="FFFFFF"/>
                    </a:solidFill>
                  </a:tcPr>
                </a:tc>
                <a:tc>
                  <a:txBody>
                    <a:bodyPr wrap="square"/>
                    <a:lstStyle/>
                    <a:p>
                      <a:r>
                        <a:rPr sz="1050" b="0" i="0">
                          <a:solidFill>
                            <a:srgbClr val="14313B"/>
                          </a:solidFill>
                          <a:latin typeface="Calibri (MS)"/>
                        </a:rPr>
                        <a:t>Akomodasi</a:t>
                      </a:r>
                    </a:p>
                  </a:txBody>
                  <a:tcPr marL="73152" marR="73152" marT="36576" marB="36576" anchor="ctr">
                    <a:solidFill>
                      <a:srgbClr val="FFFFFF"/>
                    </a:solidFill>
                  </a:tcPr>
                </a:tc>
                <a:tc>
                  <a:txBody>
                    <a:bodyPr wrap="square"/>
                    <a:lstStyle/>
                    <a:p>
                      <a:r>
                        <a:rPr sz="1050" b="0" i="0">
                          <a:solidFill>
                            <a:srgbClr val="14313B"/>
                          </a:solidFill>
                          <a:latin typeface="Calibri (MS)"/>
                        </a:rPr>
                        <a:t>Total malam menginap, investasi</a:t>
                      </a:r>
                    </a:p>
                  </a:txBody>
                  <a:tcPr marL="73152" marR="73152" marT="36576" marB="36576" anchor="ctr">
                    <a:solidFill>
                      <a:srgbClr val="FFFFFF"/>
                    </a:solidFill>
                  </a:tcPr>
                </a:tc>
                <a:tc>
                  <a:txBody>
                    <a:bodyPr wrap="square"/>
                    <a:lstStyle/>
                    <a:p>
                      <a:r>
                        <a:rPr sz="1050" b="0" i="0">
                          <a:solidFill>
                            <a:srgbClr val="14313B"/>
                          </a:solidFill>
                          <a:latin typeface="Calibri (MS)"/>
                        </a:rPr>
                        <a:t>Jumlah hotel, TPK</a:t>
                      </a:r>
                    </a:p>
                  </a:txBody>
                  <a:tcPr marL="73152" marR="73152" marT="36576" marB="36576" anchor="ctr">
                    <a:solidFill>
                      <a:srgbClr val="FFFFFF"/>
                    </a:solidFill>
                  </a:tcPr>
                </a:tc>
                <a:tc>
                  <a:txBody>
                    <a:bodyPr wrap="square"/>
                    <a:lstStyle/>
                    <a:p>
                      <a:pPr algn="ctr"/>
                      <a:r>
                        <a:rPr sz="1050" b="0" i="0">
                          <a:solidFill>
                            <a:srgbClr val="14313B"/>
                          </a:solidFill>
                          <a:latin typeface="Calibri (MS)"/>
                        </a:rPr>
                        <a:t>2016–2025</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P1b</a:t>
                      </a:r>
                    </a:p>
                  </a:txBody>
                  <a:tcPr marL="73152" marR="73152" marT="36576" marB="36576" anchor="ctr">
                    <a:solidFill>
                      <a:srgbClr val="FFF1BF"/>
                    </a:solidFill>
                  </a:tcPr>
                </a:tc>
                <a:tc>
                  <a:txBody>
                    <a:bodyPr wrap="square"/>
                    <a:lstStyle/>
                    <a:p>
                      <a:r>
                        <a:rPr sz="1050" b="0" i="0">
                          <a:solidFill>
                            <a:srgbClr val="14313B"/>
                          </a:solidFill>
                          <a:latin typeface="Calibri (MS)"/>
                        </a:rPr>
                        <a:t>Akomodasi (uji kekokohan)</a:t>
                      </a:r>
                    </a:p>
                  </a:txBody>
                  <a:tcPr marL="73152" marR="73152" marT="36576" marB="36576" anchor="ctr">
                    <a:solidFill>
                      <a:srgbClr val="FFF1BF"/>
                    </a:solidFill>
                  </a:tcPr>
                </a:tc>
                <a:tc>
                  <a:txBody>
                    <a:bodyPr wrap="square"/>
                    <a:lstStyle/>
                    <a:p>
                      <a:r>
                        <a:rPr sz="1050" b="0" i="0">
                          <a:solidFill>
                            <a:srgbClr val="14313B"/>
                          </a:solidFill>
                          <a:latin typeface="Calibri (MS)"/>
                        </a:rPr>
                        <a:t>Seperti P1 + rata-rata kamar per unit per tahun</a:t>
                      </a:r>
                    </a:p>
                  </a:txBody>
                  <a:tcPr marL="73152" marR="73152" marT="36576" marB="36576" anchor="ctr">
                    <a:solidFill>
                      <a:srgbClr val="EAF8FA"/>
                    </a:solidFill>
                  </a:tcPr>
                </a:tc>
                <a:tc>
                  <a:txBody>
                    <a:bodyPr wrap="square"/>
                    <a:lstStyle/>
                    <a:p>
                      <a:r>
                        <a:rPr sz="1050" b="0" i="0">
                          <a:solidFill>
                            <a:srgbClr val="14313B"/>
                          </a:solidFill>
                          <a:latin typeface="Calibri (MS)"/>
                        </a:rPr>
                        <a:t>Jumlah hotel, TPK</a:t>
                      </a:r>
                    </a:p>
                  </a:txBody>
                  <a:tcPr marL="73152" marR="73152" marT="36576" marB="36576" anchor="ctr">
                    <a:solidFill>
                      <a:srgbClr val="EAF8FA"/>
                    </a:solidFill>
                  </a:tcPr>
                </a:tc>
                <a:tc>
                  <a:txBody>
                    <a:bodyPr wrap="square"/>
                    <a:lstStyle/>
                    <a:p>
                      <a:pPr algn="ctr"/>
                      <a:r>
                        <a:rPr sz="1050" b="0" i="0">
                          <a:solidFill>
                            <a:srgbClr val="14313B"/>
                          </a:solidFill>
                          <a:latin typeface="Calibri (MS)"/>
                        </a:rPr>
                        <a:t>2016–2025</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P2</a:t>
                      </a:r>
                    </a:p>
                  </a:txBody>
                  <a:tcPr marL="73152" marR="73152" marT="36576" marB="36576" anchor="ctr">
                    <a:solidFill>
                      <a:srgbClr val="FFFFFF"/>
                    </a:solidFill>
                  </a:tcPr>
                </a:tc>
                <a:tc>
                  <a:txBody>
                    <a:bodyPr wrap="square"/>
                    <a:lstStyle/>
                    <a:p>
                      <a:r>
                        <a:rPr sz="1050" b="0" i="0">
                          <a:solidFill>
                            <a:srgbClr val="14313B"/>
                          </a:solidFill>
                          <a:latin typeface="Calibri (MS)"/>
                        </a:rPr>
                        <a:t>ODTW</a:t>
                      </a:r>
                    </a:p>
                  </a:txBody>
                  <a:tcPr marL="73152" marR="73152" marT="36576" marB="36576" anchor="ctr">
                    <a:solidFill>
                      <a:srgbClr val="FFFFFF"/>
                    </a:solidFill>
                  </a:tcPr>
                </a:tc>
                <a:tc>
                  <a:txBody>
                    <a:bodyPr wrap="square"/>
                    <a:lstStyle/>
                    <a:p>
                      <a:r>
                        <a:rPr sz="1050" b="0" i="0">
                          <a:solidFill>
                            <a:srgbClr val="14313B"/>
                          </a:solidFill>
                          <a:latin typeface="Calibri (MS)"/>
                        </a:rPr>
                        <a:t>Investasi</a:t>
                      </a:r>
                    </a:p>
                  </a:txBody>
                  <a:tcPr marL="73152" marR="73152" marT="36576" marB="36576" anchor="ctr">
                    <a:solidFill>
                      <a:srgbClr val="FFFFFF"/>
                    </a:solidFill>
                  </a:tcPr>
                </a:tc>
                <a:tc>
                  <a:txBody>
                    <a:bodyPr wrap="square"/>
                    <a:lstStyle/>
                    <a:p>
                      <a:r>
                        <a:rPr sz="1050" b="0" i="0">
                          <a:solidFill>
                            <a:srgbClr val="14313B"/>
                          </a:solidFill>
                          <a:latin typeface="Calibri (MS)"/>
                        </a:rPr>
                        <a:t>Jumlah ODTW</a:t>
                      </a:r>
                    </a:p>
                  </a:txBody>
                  <a:tcPr marL="73152" marR="73152" marT="36576" marB="36576" anchor="ctr">
                    <a:solidFill>
                      <a:srgbClr val="FFFFFF"/>
                    </a:solidFill>
                  </a:tcPr>
                </a:tc>
                <a:tc>
                  <a:txBody>
                    <a:bodyPr wrap="square"/>
                    <a:lstStyle/>
                    <a:p>
                      <a:pPr algn="ctr"/>
                      <a:r>
                        <a:rPr sz="1050" b="0" i="0">
                          <a:solidFill>
                            <a:srgbClr val="14313B"/>
                          </a:solidFill>
                          <a:latin typeface="Calibri (MS)"/>
                        </a:rPr>
                        <a:t>2016–2025</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P3</a:t>
                      </a:r>
                    </a:p>
                  </a:txBody>
                  <a:tcPr marL="73152" marR="73152" marT="36576" marB="36576" anchor="ctr">
                    <a:solidFill>
                      <a:srgbClr val="EAF8FA"/>
                    </a:solidFill>
                  </a:tcPr>
                </a:tc>
                <a:tc>
                  <a:txBody>
                    <a:bodyPr wrap="square"/>
                    <a:lstStyle/>
                    <a:p>
                      <a:r>
                        <a:rPr sz="1050" b="0" i="0">
                          <a:solidFill>
                            <a:srgbClr val="14313B"/>
                          </a:solidFill>
                          <a:latin typeface="Calibri (MS)"/>
                        </a:rPr>
                        <a:t>Tenaga kerja</a:t>
                      </a:r>
                    </a:p>
                  </a:txBody>
                  <a:tcPr marL="73152" marR="73152" marT="36576" marB="36576" anchor="ctr">
                    <a:solidFill>
                      <a:srgbClr val="EAF8FA"/>
                    </a:solidFill>
                  </a:tcPr>
                </a:tc>
                <a:tc>
                  <a:txBody>
                    <a:bodyPr wrap="square"/>
                    <a:lstStyle/>
                    <a:p>
                      <a:r>
                        <a:rPr sz="1050" b="0" i="0">
                          <a:solidFill>
                            <a:srgbClr val="14313B"/>
                          </a:solidFill>
                          <a:latin typeface="Calibri (MS)"/>
                        </a:rPr>
                        <a:t>PDRB pariwisata</a:t>
                      </a:r>
                    </a:p>
                  </a:txBody>
                  <a:tcPr marL="73152" marR="73152" marT="36576" marB="36576" anchor="ctr">
                    <a:solidFill>
                      <a:srgbClr val="EAF8FA"/>
                    </a:solidFill>
                  </a:tcPr>
                </a:tc>
                <a:tc>
                  <a:txBody>
                    <a:bodyPr wrap="square"/>
                    <a:lstStyle/>
                    <a:p>
                      <a:r>
                        <a:rPr sz="1050" b="0" i="0">
                          <a:solidFill>
                            <a:srgbClr val="14313B"/>
                          </a:solidFill>
                          <a:latin typeface="Calibri (MS)"/>
                        </a:rPr>
                        <a:t>Tenaga kerja pariwisata</a:t>
                      </a:r>
                    </a:p>
                  </a:txBody>
                  <a:tcPr marL="73152" marR="73152" marT="36576" marB="36576" anchor="ctr">
                    <a:solidFill>
                      <a:srgbClr val="EAF8FA"/>
                    </a:solidFill>
                  </a:tcPr>
                </a:tc>
                <a:tc>
                  <a:txBody>
                    <a:bodyPr wrap="square"/>
                    <a:lstStyle/>
                    <a:p>
                      <a:pPr algn="ctr"/>
                      <a:r>
                        <a:rPr sz="1050" b="0" i="0">
                          <a:solidFill>
                            <a:srgbClr val="14313B"/>
                          </a:solidFill>
                          <a:latin typeface="Calibri (MS)"/>
                        </a:rPr>
                        <a:t>2016–2025</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P4</a:t>
                      </a:r>
                    </a:p>
                  </a:txBody>
                  <a:tcPr marL="73152" marR="73152" marT="36576" marB="36576" anchor="ctr">
                    <a:solidFill>
                      <a:srgbClr val="FFFFFF"/>
                    </a:solidFill>
                  </a:tcPr>
                </a:tc>
                <a:tc>
                  <a:txBody>
                    <a:bodyPr wrap="square"/>
                    <a:lstStyle/>
                    <a:p>
                      <a:r>
                        <a:rPr sz="1050" b="0" i="0">
                          <a:solidFill>
                            <a:srgbClr val="14313B"/>
                          </a:solidFill>
                          <a:latin typeface="Calibri (MS)"/>
                        </a:rPr>
                        <a:t>Lahan</a:t>
                      </a:r>
                    </a:p>
                  </a:txBody>
                  <a:tcPr marL="73152" marR="73152" marT="36576" marB="36576" anchor="ctr">
                    <a:solidFill>
                      <a:srgbClr val="FFFFFF"/>
                    </a:solidFill>
                  </a:tcPr>
                </a:tc>
                <a:tc>
                  <a:txBody>
                    <a:bodyPr wrap="square"/>
                    <a:lstStyle/>
                    <a:p>
                      <a:r>
                        <a:rPr sz="1050" b="0" i="0">
                          <a:solidFill>
                            <a:srgbClr val="14313B"/>
                          </a:solidFill>
                          <a:latin typeface="Calibri (MS)"/>
                        </a:rPr>
                        <a:t>Total malam menginap, investasi</a:t>
                      </a:r>
                    </a:p>
                  </a:txBody>
                  <a:tcPr marL="73152" marR="73152" marT="36576" marB="36576" anchor="ctr">
                    <a:solidFill>
                      <a:srgbClr val="FFFFFF"/>
                    </a:solidFill>
                  </a:tcPr>
                </a:tc>
                <a:tc>
                  <a:txBody>
                    <a:bodyPr wrap="square"/>
                    <a:lstStyle/>
                    <a:p>
                      <a:r>
                        <a:rPr sz="1050" b="0" i="0">
                          <a:solidFill>
                            <a:srgbClr val="14313B"/>
                          </a:solidFill>
                          <a:latin typeface="Calibri (MS)"/>
                        </a:rPr>
                        <a:t>Lahan terbangun</a:t>
                      </a:r>
                    </a:p>
                  </a:txBody>
                  <a:tcPr marL="73152" marR="73152" marT="36576" marB="36576" anchor="ctr">
                    <a:solidFill>
                      <a:srgbClr val="FFFFFF"/>
                    </a:solidFill>
                  </a:tcPr>
                </a:tc>
                <a:tc>
                  <a:txBody>
                    <a:bodyPr wrap="square"/>
                    <a:lstStyle/>
                    <a:p>
                      <a:pPr algn="ctr"/>
                      <a:r>
                        <a:rPr sz="1050" b="0" i="0">
                          <a:solidFill>
                            <a:srgbClr val="14313B"/>
                          </a:solidFill>
                          <a:latin typeface="Calibri (MS)"/>
                        </a:rPr>
                        <a:t>2016–2025</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P5</a:t>
                      </a:r>
                    </a:p>
                  </a:txBody>
                  <a:tcPr marL="73152" marR="73152" marT="36576" marB="36576" anchor="ctr">
                    <a:solidFill>
                      <a:srgbClr val="EAF8FA"/>
                    </a:solidFill>
                  </a:tcPr>
                </a:tc>
                <a:tc>
                  <a:txBody>
                    <a:bodyPr wrap="square"/>
                    <a:lstStyle/>
                    <a:p>
                      <a:r>
                        <a:rPr sz="1050" b="0" i="0">
                          <a:solidFill>
                            <a:srgbClr val="14313B"/>
                          </a:solidFill>
                          <a:latin typeface="Calibri (MS)"/>
                        </a:rPr>
                        <a:t>Wisatawan</a:t>
                      </a:r>
                    </a:p>
                  </a:txBody>
                  <a:tcPr marL="73152" marR="73152" marT="36576" marB="36576" anchor="ctr">
                    <a:solidFill>
                      <a:srgbClr val="EAF8FA"/>
                    </a:solidFill>
                  </a:tcPr>
                </a:tc>
                <a:tc>
                  <a:txBody>
                    <a:bodyPr wrap="square"/>
                    <a:lstStyle/>
                    <a:p>
                      <a:r>
                        <a:rPr sz="1050" b="0" i="0">
                          <a:solidFill>
                            <a:srgbClr val="14313B"/>
                          </a:solidFill>
                          <a:latin typeface="Calibri (MS)"/>
                        </a:rPr>
                        <a:t>Jumlah ODTW, lahan terbangun</a:t>
                      </a:r>
                    </a:p>
                  </a:txBody>
                  <a:tcPr marL="73152" marR="73152" marT="36576" marB="36576" anchor="ctr">
                    <a:solidFill>
                      <a:srgbClr val="EAF8FA"/>
                    </a:solidFill>
                  </a:tcPr>
                </a:tc>
                <a:tc>
                  <a:txBody>
                    <a:bodyPr wrap="square"/>
                    <a:lstStyle/>
                    <a:p>
                      <a:r>
                        <a:rPr sz="1050" b="0" i="0">
                          <a:solidFill>
                            <a:srgbClr val="14313B"/>
                          </a:solidFill>
                          <a:latin typeface="Calibri (MS)"/>
                        </a:rPr>
                        <a:t>Jumlah wisatawan (seri sambungan)</a:t>
                      </a:r>
                    </a:p>
                  </a:txBody>
                  <a:tcPr marL="73152" marR="73152" marT="36576" marB="36576" anchor="ctr">
                    <a:solidFill>
                      <a:srgbClr val="EAF8FA"/>
                    </a:solidFill>
                  </a:tcPr>
                </a:tc>
                <a:tc>
                  <a:txBody>
                    <a:bodyPr wrap="square"/>
                    <a:lstStyle/>
                    <a:p>
                      <a:pPr algn="ctr"/>
                      <a:r>
                        <a:rPr sz="1050" b="0" i="0">
                          <a:solidFill>
                            <a:srgbClr val="14313B"/>
                          </a:solidFill>
                          <a:latin typeface="Calibri (MS)"/>
                        </a:rPr>
                        <a:t>2016–2025</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Penuh</a:t>
                      </a:r>
                    </a:p>
                  </a:txBody>
                  <a:tcPr marL="73152" marR="73152" marT="36576" marB="36576" anchor="ctr">
                    <a:solidFill>
                      <a:srgbClr val="FFFFFF"/>
                    </a:solidFill>
                  </a:tcPr>
                </a:tc>
                <a:tc>
                  <a:txBody>
                    <a:bodyPr wrap="square"/>
                    <a:lstStyle/>
                    <a:p>
                      <a:r>
                        <a:rPr sz="1050" b="0" i="0">
                          <a:solidFill>
                            <a:srgbClr val="14313B"/>
                          </a:solidFill>
                          <a:latin typeface="Calibri (MS)"/>
                        </a:rPr>
                        <a:t>Seluruh model</a:t>
                      </a:r>
                    </a:p>
                  </a:txBody>
                  <a:tcPr marL="73152" marR="73152" marT="36576" marB="36576" anchor="ctr">
                    <a:solidFill>
                      <a:srgbClr val="FFFFFF"/>
                    </a:solidFill>
                  </a:tcPr>
                </a:tc>
                <a:tc>
                  <a:txBody>
                    <a:bodyPr wrap="square"/>
                    <a:lstStyle/>
                    <a:p>
                      <a:r>
                        <a:rPr sz="1050" b="0" i="0">
                          <a:solidFill>
                            <a:srgbClr val="14313B"/>
                          </a:solidFill>
                          <a:latin typeface="Calibri (MS)"/>
                        </a:rPr>
                        <a:t>Tidak ada (semua umpan balik aktif)</a:t>
                      </a:r>
                    </a:p>
                  </a:txBody>
                  <a:tcPr marL="73152" marR="73152" marT="36576" marB="36576" anchor="ctr">
                    <a:solidFill>
                      <a:srgbClr val="FFFFFF"/>
                    </a:solidFill>
                  </a:tcPr>
                </a:tc>
                <a:tc>
                  <a:txBody>
                    <a:bodyPr wrap="square"/>
                    <a:lstStyle/>
                    <a:p>
                      <a:r>
                        <a:rPr sz="1050" b="0" i="0">
                          <a:solidFill>
                            <a:srgbClr val="14313B"/>
                          </a:solidFill>
                          <a:latin typeface="Calibri (MS)"/>
                        </a:rPr>
                        <a:t>9 variabel</a:t>
                      </a:r>
                    </a:p>
                  </a:txBody>
                  <a:tcPr marL="73152" marR="73152" marT="36576" marB="36576" anchor="ctr">
                    <a:solidFill>
                      <a:srgbClr val="FFFFFF"/>
                    </a:solidFill>
                  </a:tcPr>
                </a:tc>
                <a:tc>
                  <a:txBody>
                    <a:bodyPr wrap="square"/>
                    <a:lstStyle/>
                    <a:p>
                      <a:pPr algn="ctr"/>
                      <a:r>
                        <a:rPr sz="1050" b="0" i="0">
                          <a:solidFill>
                            <a:srgbClr val="14313B"/>
                          </a:solidFill>
                          <a:latin typeface="Calibri (MS)"/>
                        </a:rPr>
                        <a:t>2019–2025</a:t>
                      </a:r>
                    </a:p>
                  </a:txBody>
                  <a:tcPr marL="73152" marR="73152" marT="36576" marB="36576" anchor="ctr">
                    <a:solidFill>
                      <a:srgbClr val="FFFFFF"/>
                    </a:solidFill>
                  </a:tcPr>
                </a:tc>
              </a:tr>
            </a:tbl>
          </a:graphicData>
        </a:graphic>
      </p:graphicFrame>
      <p:sp>
        <p:nvSpPr>
          <p:cNvPr id="28" name="Rounded Rectangle 27"/>
          <p:cNvSpPr/>
          <p:nvPr/>
        </p:nvSpPr>
        <p:spPr>
          <a:xfrm>
            <a:off x="822960" y="5760720"/>
            <a:ext cx="9692640" cy="2514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Dua versi perhitungan</a:t>
            </a:r>
          </a:p>
          <a:p>
            <a:pPr algn="l">
              <a:spcAft>
                <a:spcPts val="300"/>
              </a:spcAft>
            </a:pPr>
            <a:r>
              <a:rPr sz="1100" b="1" i="0">
                <a:solidFill>
                  <a:srgbClr val="14313B"/>
                </a:solidFill>
                <a:latin typeface="Calibri (MS) Bold"/>
              </a:rPr>
              <a:t>Dengan COVID:  </a:t>
            </a:r>
            <a:r>
              <a:rPr sz="1100" b="0" i="0">
                <a:solidFill>
                  <a:srgbClr val="14313B"/>
                </a:solidFill>
                <a:latin typeface="Calibri (MS)"/>
              </a:rPr>
              <a:t>semua tahun dihitung. Angka utama uji penuh, karena tanpa 2020–21 hanya tersisa 5 titik.</a:t>
            </a:r>
          </a:p>
          <a:p>
            <a:pPr algn="l">
              <a:spcAft>
                <a:spcPts val="300"/>
              </a:spcAft>
            </a:pPr>
            <a:r>
              <a:rPr sz="1100" b="1" i="0">
                <a:solidFill>
                  <a:srgbClr val="14313B"/>
                </a:solidFill>
                <a:latin typeface="Calibri (MS) Bold"/>
              </a:rPr>
              <a:t>Tanpa 2020–2021:  </a:t>
            </a:r>
            <a:r>
              <a:rPr sz="1100" b="0" i="0">
                <a:solidFill>
                  <a:srgbClr val="14313B"/>
                </a:solidFill>
                <a:latin typeface="Calibri (MS)"/>
              </a:rPr>
              <a:t>tahun pandemi dikeluarkan karena model tidak memuat guncangan. Angka utama uji parsial (tersisa 8 dari 10 titik).</a:t>
            </a:r>
          </a:p>
          <a:p>
            <a:pPr algn="l">
              <a:spcAft>
                <a:spcPts val="300"/>
              </a:spcAft>
            </a:pPr>
            <a:r>
              <a:rPr sz="1100" b="1" i="0">
                <a:solidFill>
                  <a:srgbClr val="14313B"/>
                </a:solidFill>
                <a:latin typeface="Calibri (MS) Bold"/>
              </a:rPr>
              <a:t>Uji penuh mulai 2019:  </a:t>
            </a:r>
            <a:r>
              <a:rPr sz="1100" b="0" i="0">
                <a:solidFill>
                  <a:srgbClr val="14313B"/>
                </a:solidFill>
                <a:latin typeface="Calibri (MS)"/>
              </a:rPr>
              <a:t>data wisnus berganti metode pada 2018→2019 (8,0 → 20,5 juta), sehingga seri sebelum 2019 hanya dipakai P5 lewat penyambungan ×2,2997.</a:t>
            </a:r>
          </a:p>
        </p:txBody>
      </p:sp>
      <p:sp>
        <p:nvSpPr>
          <p:cNvPr id="29" name="Rounded Rectangle 28"/>
          <p:cNvSpPr/>
          <p:nvPr/>
        </p:nvSpPr>
        <p:spPr>
          <a:xfrm>
            <a:off x="10789920" y="1874519"/>
            <a:ext cx="66751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Kenapa ada P1b?</a:t>
            </a:r>
          </a:p>
        </p:txBody>
      </p:sp>
      <p:sp>
        <p:nvSpPr>
          <p:cNvPr id="30" name="TextBox 29"/>
          <p:cNvSpPr txBox="1"/>
          <p:nvPr/>
        </p:nvSpPr>
        <p:spPr>
          <a:xfrm>
            <a:off x="10789920" y="2377440"/>
            <a:ext cx="6675120" cy="118872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P1 memakai rata-rata kamar per unit tetap 21,4168 (nilai 2025) untuk semua tahun. Padahal data tahunannya berubah-ubah. P1b menguji apakah kesimpulan P1 berubah bila nilai tahunan yang sebenarnya dipakai.</a:t>
            </a:r>
          </a:p>
        </p:txBody>
      </p:sp>
      <p:graphicFrame>
        <p:nvGraphicFramePr>
          <p:cNvPr id="31" name="Chart 30"/>
          <p:cNvGraphicFramePr>
            <a:graphicFrameLocks noGrp="1"/>
          </p:cNvGraphicFramePr>
          <p:nvPr/>
        </p:nvGraphicFramePr>
        <p:xfrm>
          <a:off x="10789920" y="3611880"/>
          <a:ext cx="6675120" cy="2743200"/>
        </p:xfrm>
        <a:graphic>
          <a:graphicData uri="http://schemas.openxmlformats.org/drawingml/2006/chart">
            <c:chart xmlns:c="http://schemas.openxmlformats.org/drawingml/2006/chart" r:id="rId7"/>
          </a:graphicData>
        </a:graphic>
      </p:graphicFrame>
      <p:sp>
        <p:nvSpPr>
          <p:cNvPr id="32" name="Rounded Rectangle 31"/>
          <p:cNvSpPr/>
          <p:nvPr/>
        </p:nvSpPr>
        <p:spPr>
          <a:xfrm>
            <a:off x="10789920" y="6446520"/>
            <a:ext cx="6675120" cy="182880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200" b="1" i="0">
                <a:solidFill>
                  <a:srgbClr val="0B5E6E"/>
                </a:solidFill>
                <a:latin typeface="Calibri (MS) Bold"/>
              </a:rPr>
              <a:t>Hasil: </a:t>
            </a:r>
            <a:r>
              <a:rPr sz="1150" b="0" i="0">
                <a:solidFill>
                  <a:srgbClr val="14313B"/>
                </a:solidFill>
                <a:latin typeface="Calibri (MS)"/>
              </a:rPr>
              <a:t>pola P1b sama dengan P1. Jumlah hotel tetap lolos ketiga uji (DC 0,2319 vs 0,2011); TPK tetap jadi titik terlemah (DC 0,7053 vs 0,6692). </a:t>
            </a:r>
          </a:p>
          <a:p>
            <a:pPr algn="l">
              <a:spcAft>
                <a:spcPts val="300"/>
              </a:spcAft>
            </a:pPr>
            <a:r>
              <a:rPr sz="1150" b="1" i="0">
                <a:solidFill>
                  <a:srgbClr val="14313B"/>
                </a:solidFill>
                <a:latin typeface="Calibri (MS) Bold"/>
              </a:rPr>
              <a:t>Kesimpulan uji parsial akomodasi tidak bergantung pada asumsi kamar per unit yang tetap.</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18), 4.5.1–4.5.2; data kamar per unit dari model UJI Parsial P1b v2.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54 · Hasil Uji Parsial Lengkap (P1–P5, dua versi)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 = versi yang dilaporkan sebagai angka utama (tanpa 2020–2021). Periode 2016–2025</a:t>
            </a:r>
          </a:p>
        </p:txBody>
      </p:sp>
      <p:graphicFrame>
        <p:nvGraphicFramePr>
          <p:cNvPr id="27" name="Table 26"/>
          <p:cNvGraphicFramePr>
            <a:graphicFrameLocks noGrp="1"/>
          </p:cNvGraphicFramePr>
          <p:nvPr/>
        </p:nvGraphicFramePr>
        <p:xfrm>
          <a:off x="822960" y="1874519"/>
          <a:ext cx="16642071" cy="5984748"/>
        </p:xfrm>
        <a:graphic>
          <a:graphicData uri="http://schemas.openxmlformats.org/drawingml/2006/table">
            <a:tbl>
              <a:tblPr firstRow="1" bandRow="1">
                <a:tableStyleId>{5C22544A-7EE6-4342-B048-85BDC9FD1C3A}</a:tableStyleId>
              </a:tblPr>
              <a:tblGrid>
                <a:gridCol w="677293"/>
                <a:gridCol w="1838369"/>
                <a:gridCol w="1789991"/>
                <a:gridCol w="483781"/>
                <a:gridCol w="1693234"/>
                <a:gridCol w="1983503"/>
                <a:gridCol w="1015940"/>
                <a:gridCol w="1015940"/>
                <a:gridCol w="1015940"/>
                <a:gridCol w="919184"/>
                <a:gridCol w="919184"/>
                <a:gridCol w="919184"/>
                <a:gridCol w="1064319"/>
                <a:gridCol w="1306209"/>
              </a:tblGrid>
              <a:tr h="352044">
                <a:tc>
                  <a:txBody>
                    <a:bodyPr wrap="square"/>
                    <a:lstStyle/>
                    <a:p>
                      <a:r>
                        <a:rPr sz="950" b="1" i="0">
                          <a:solidFill>
                            <a:srgbClr val="FFFFFF"/>
                          </a:solidFill>
                          <a:latin typeface="Calibri (MS) Bold"/>
                        </a:rPr>
                        <a:t>Uji</a:t>
                      </a:r>
                    </a:p>
                  </a:txBody>
                  <a:tcPr marL="73152" marR="73152" marT="36576" marB="36576" anchor="ctr">
                    <a:solidFill>
                      <a:srgbClr val="0B5E6E"/>
                    </a:solidFill>
                  </a:tcPr>
                </a:tc>
                <a:tc>
                  <a:txBody>
                    <a:bodyPr wrap="square"/>
                    <a:lstStyle/>
                    <a:p>
                      <a:r>
                        <a:rPr sz="950" b="1" i="0">
                          <a:solidFill>
                            <a:srgbClr val="FFFFFF"/>
                          </a:solidFill>
                          <a:latin typeface="Calibri (MS) Bold"/>
                        </a:rPr>
                        <a:t>Variabel</a:t>
                      </a:r>
                    </a:p>
                  </a:txBody>
                  <a:tcPr marL="73152" marR="73152" marT="36576" marB="36576" anchor="ctr">
                    <a:solidFill>
                      <a:srgbClr val="0B5E6E"/>
                    </a:solidFill>
                  </a:tcPr>
                </a:tc>
                <a:tc>
                  <a:txBody>
                    <a:bodyPr wrap="square"/>
                    <a:lstStyle/>
                    <a:p>
                      <a:r>
                        <a:rPr sz="950" b="1" i="0">
                          <a:solidFill>
                            <a:srgbClr val="FFFFFF"/>
                          </a:solidFill>
                          <a:latin typeface="Calibri (MS) Bold"/>
                        </a:rPr>
                        <a:t>Versi</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 hitung / t tabel</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Tren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E1</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E2</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DC</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U1</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U2</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U3</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Dominan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MAPE</a:t>
                      </a:r>
                    </a:p>
                  </a:txBody>
                  <a:tcPr marL="73152" marR="73152" marT="36576" marB="36576" anchor="ctr">
                    <a:solidFill>
                      <a:srgbClr val="0B5E6E"/>
                    </a:solidFill>
                  </a:tcPr>
                </a:tc>
              </a:tr>
              <a:tr h="352044">
                <a:tc>
                  <a:txBody>
                    <a:bodyPr wrap="square"/>
                    <a:lstStyle/>
                    <a:p>
                      <a:r>
                        <a:rPr sz="950" b="1" i="0">
                          <a:solidFill>
                            <a:srgbClr val="14313B"/>
                          </a:solidFill>
                          <a:latin typeface="Calibri (MS) Bold"/>
                        </a:rPr>
                        <a:t>P1</a:t>
                      </a:r>
                    </a:p>
                  </a:txBody>
                  <a:tcPr marL="73152" marR="73152" marT="36576" marB="36576" anchor="ctr">
                    <a:solidFill>
                      <a:srgbClr val="FFFFFF"/>
                    </a:solidFill>
                  </a:tcPr>
                </a:tc>
                <a:tc>
                  <a:txBody>
                    <a:bodyPr wrap="square"/>
                    <a:lstStyle/>
                    <a:p>
                      <a:r>
                        <a:rPr sz="950" b="0" i="0">
                          <a:solidFill>
                            <a:srgbClr val="14313B"/>
                          </a:solidFill>
                          <a:latin typeface="Calibri (MS)"/>
                        </a:rPr>
                        <a:t>Jumlah Hotel</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0,618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0,0089</a:t>
                      </a:r>
                    </a:p>
                  </a:txBody>
                  <a:tcPr marL="73152" marR="73152" marT="36576" marB="36576" anchor="ctr">
                    <a:solidFill>
                      <a:srgbClr val="C9F0D6"/>
                    </a:solidFill>
                  </a:tcPr>
                </a:tc>
                <a:tc>
                  <a:txBody>
                    <a:bodyPr wrap="square"/>
                    <a:lstStyle/>
                    <a:p>
                      <a:pPr algn="ctr"/>
                      <a:r>
                        <a:rPr sz="950" b="0" i="0">
                          <a:solidFill>
                            <a:srgbClr val="14313B"/>
                          </a:solidFill>
                          <a:latin typeface="Calibri (MS)"/>
                        </a:rPr>
                        <a:t>0,1435</a:t>
                      </a:r>
                    </a:p>
                  </a:txBody>
                  <a:tcPr marL="73152" marR="73152" marT="36576" marB="36576" anchor="ctr">
                    <a:solidFill>
                      <a:srgbClr val="C9F0D6"/>
                    </a:solidFill>
                  </a:tcPr>
                </a:tc>
                <a:tc>
                  <a:txBody>
                    <a:bodyPr wrap="square"/>
                    <a:lstStyle/>
                    <a:p>
                      <a:pPr algn="ctr"/>
                      <a:r>
                        <a:rPr sz="950" b="0" i="0">
                          <a:solidFill>
                            <a:srgbClr val="14313B"/>
                          </a:solidFill>
                          <a:latin typeface="Calibri (MS)"/>
                        </a:rPr>
                        <a:t>0,2476</a:t>
                      </a:r>
                    </a:p>
                  </a:txBody>
                  <a:tcPr marL="73152" marR="73152" marT="36576" marB="36576" anchor="ctr">
                    <a:solidFill>
                      <a:srgbClr val="C9F0D6"/>
                    </a:solidFill>
                  </a:tcPr>
                </a:tc>
                <a:tc>
                  <a:txBody>
                    <a:bodyPr wrap="square"/>
                    <a:lstStyle/>
                    <a:p>
                      <a:pPr algn="ctr"/>
                      <a:r>
                        <a:rPr sz="950" b="0" i="0">
                          <a:solidFill>
                            <a:srgbClr val="14313B"/>
                          </a:solidFill>
                          <a:latin typeface="Calibri (MS)"/>
                        </a:rPr>
                        <a:t>0,008</a:t>
                      </a:r>
                    </a:p>
                  </a:txBody>
                  <a:tcPr marL="73152" marR="73152" marT="36576" marB="36576" anchor="ctr">
                    <a:solidFill>
                      <a:srgbClr val="FFFFFF"/>
                    </a:solidFill>
                  </a:tcPr>
                </a:tc>
                <a:tc>
                  <a:txBody>
                    <a:bodyPr wrap="square"/>
                    <a:lstStyle/>
                    <a:p>
                      <a:pPr algn="ctr"/>
                      <a:r>
                        <a:rPr sz="950" b="0" i="0">
                          <a:solidFill>
                            <a:srgbClr val="14313B"/>
                          </a:solidFill>
                          <a:latin typeface="Calibri (MS)"/>
                        </a:rPr>
                        <a:t>0,073</a:t>
                      </a:r>
                    </a:p>
                  </a:txBody>
                  <a:tcPr marL="73152" marR="73152" marT="36576" marB="36576" anchor="ctr">
                    <a:solidFill>
                      <a:srgbClr val="FFFFFF"/>
                    </a:solidFill>
                  </a:tcPr>
                </a:tc>
                <a:tc>
                  <a:txBody>
                    <a:bodyPr wrap="square"/>
                    <a:lstStyle/>
                    <a:p>
                      <a:pPr algn="ctr"/>
                      <a:r>
                        <a:rPr sz="950" b="0" i="0">
                          <a:solidFill>
                            <a:srgbClr val="14313B"/>
                          </a:solidFill>
                          <a:latin typeface="Calibri (MS)"/>
                        </a:rPr>
                        <a:t>0,920</a:t>
                      </a:r>
                    </a:p>
                  </a:txBody>
                  <a:tcPr marL="73152" marR="73152" marT="36576" marB="36576" anchor="ctr">
                    <a:solidFill>
                      <a:srgbClr val="FFFFFF"/>
                    </a:solidFill>
                  </a:tcPr>
                </a:tc>
                <a:tc>
                  <a:txBody>
                    <a:bodyPr wrap="square"/>
                    <a:lstStyle/>
                    <a:p>
                      <a:pPr algn="ctr"/>
                      <a:r>
                        <a:rPr sz="950" b="0" i="0">
                          <a:solidFill>
                            <a:srgbClr val="14313B"/>
                          </a:solidFill>
                          <a:latin typeface="Calibri (MS)"/>
                        </a:rPr>
                        <a:t>U3</a:t>
                      </a:r>
                    </a:p>
                  </a:txBody>
                  <a:tcPr marL="73152" marR="73152" marT="36576" marB="36576" anchor="ctr">
                    <a:solidFill>
                      <a:srgbClr val="FFFFFF"/>
                    </a:solidFill>
                  </a:tcPr>
                </a:tc>
                <a:tc>
                  <a:txBody>
                    <a:bodyPr wrap="square"/>
                    <a:lstStyle/>
                    <a:p>
                      <a:pPr algn="ctr"/>
                      <a:r>
                        <a:rPr sz="950" b="0" i="0">
                          <a:solidFill>
                            <a:srgbClr val="14313B"/>
                          </a:solidFill>
                          <a:latin typeface="Calibri (MS)"/>
                        </a:rPr>
                        <a:t>7,10%</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P1</a:t>
                      </a:r>
                    </a:p>
                  </a:txBody>
                  <a:tcPr marL="73152" marR="73152" marT="36576" marB="36576" anchor="ctr">
                    <a:solidFill>
                      <a:srgbClr val="EAF8FA"/>
                    </a:solidFill>
                  </a:tcPr>
                </a:tc>
                <a:tc>
                  <a:txBody>
                    <a:bodyPr wrap="square"/>
                    <a:lstStyle/>
                    <a:p>
                      <a:r>
                        <a:rPr sz="950" b="0" i="0">
                          <a:solidFill>
                            <a:srgbClr val="14313B"/>
                          </a:solidFill>
                          <a:latin typeface="Calibri (MS)"/>
                        </a:rPr>
                        <a:t>Jumlah Hotel</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0,753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0,0402</a:t>
                      </a:r>
                    </a:p>
                  </a:txBody>
                  <a:tcPr marL="73152" marR="73152" marT="36576" marB="36576" anchor="ctr">
                    <a:solidFill>
                      <a:srgbClr val="C9F0D6"/>
                    </a:solidFill>
                  </a:tcPr>
                </a:tc>
                <a:tc>
                  <a:txBody>
                    <a:bodyPr wrap="square"/>
                    <a:lstStyle/>
                    <a:p>
                      <a:pPr algn="ctr"/>
                      <a:r>
                        <a:rPr sz="950" b="0" i="0">
                          <a:solidFill>
                            <a:srgbClr val="14313B"/>
                          </a:solidFill>
                          <a:latin typeface="Calibri (MS)"/>
                        </a:rPr>
                        <a:t>0,0773</a:t>
                      </a:r>
                    </a:p>
                  </a:txBody>
                  <a:tcPr marL="73152" marR="73152" marT="36576" marB="36576" anchor="ctr">
                    <a:solidFill>
                      <a:srgbClr val="C9F0D6"/>
                    </a:solidFill>
                  </a:tcPr>
                </a:tc>
                <a:tc>
                  <a:txBody>
                    <a:bodyPr wrap="square"/>
                    <a:lstStyle/>
                    <a:p>
                      <a:pPr algn="ctr"/>
                      <a:r>
                        <a:rPr sz="950" b="0" i="0">
                          <a:solidFill>
                            <a:srgbClr val="14313B"/>
                          </a:solidFill>
                          <a:latin typeface="Calibri (MS)"/>
                        </a:rPr>
                        <a:t>0,2011</a:t>
                      </a:r>
                    </a:p>
                  </a:txBody>
                  <a:tcPr marL="73152" marR="73152" marT="36576" marB="36576" anchor="ctr">
                    <a:solidFill>
                      <a:srgbClr val="C9F0D6"/>
                    </a:solidFill>
                  </a:tcPr>
                </a:tc>
                <a:tc>
                  <a:txBody>
                    <a:bodyPr wrap="square"/>
                    <a:lstStyle/>
                    <a:p>
                      <a:pPr algn="ctr"/>
                      <a:r>
                        <a:rPr sz="950" b="0" i="0">
                          <a:solidFill>
                            <a:srgbClr val="14313B"/>
                          </a:solidFill>
                          <a:latin typeface="Calibri (MS)"/>
                        </a:rPr>
                        <a:t>0,173</a:t>
                      </a:r>
                    </a:p>
                  </a:txBody>
                  <a:tcPr marL="73152" marR="73152" marT="36576" marB="36576" anchor="ctr">
                    <a:solidFill>
                      <a:srgbClr val="EAF8FA"/>
                    </a:solidFill>
                  </a:tcPr>
                </a:tc>
                <a:tc>
                  <a:txBody>
                    <a:bodyPr wrap="square"/>
                    <a:lstStyle/>
                    <a:p>
                      <a:pPr algn="ctr"/>
                      <a:r>
                        <a:rPr sz="950" b="0" i="0">
                          <a:solidFill>
                            <a:srgbClr val="14313B"/>
                          </a:solidFill>
                          <a:latin typeface="Calibri (MS)"/>
                        </a:rPr>
                        <a:t>0,028</a:t>
                      </a:r>
                    </a:p>
                  </a:txBody>
                  <a:tcPr marL="73152" marR="73152" marT="36576" marB="36576" anchor="ctr">
                    <a:solidFill>
                      <a:srgbClr val="EAF8FA"/>
                    </a:solidFill>
                  </a:tcPr>
                </a:tc>
                <a:tc>
                  <a:txBody>
                    <a:bodyPr wrap="square"/>
                    <a:lstStyle/>
                    <a:p>
                      <a:pPr algn="ctr"/>
                      <a:r>
                        <a:rPr sz="950" b="0" i="0">
                          <a:solidFill>
                            <a:srgbClr val="14313B"/>
                          </a:solidFill>
                          <a:latin typeface="Calibri (MS)"/>
                        </a:rPr>
                        <a:t>0,799</a:t>
                      </a:r>
                    </a:p>
                  </a:txBody>
                  <a:tcPr marL="73152" marR="73152" marT="36576" marB="36576" anchor="ctr">
                    <a:solidFill>
                      <a:srgbClr val="EAF8FA"/>
                    </a:solidFill>
                  </a:tcPr>
                </a:tc>
                <a:tc>
                  <a:txBody>
                    <a:bodyPr wrap="square"/>
                    <a:lstStyle/>
                    <a:p>
                      <a:pPr algn="ctr"/>
                      <a:r>
                        <a:rPr sz="950" b="0" i="0">
                          <a:solidFill>
                            <a:srgbClr val="14313B"/>
                          </a:solidFill>
                          <a:latin typeface="Calibri (MS)"/>
                        </a:rPr>
                        <a:t>U3</a:t>
                      </a:r>
                    </a:p>
                  </a:txBody>
                  <a:tcPr marL="73152" marR="73152" marT="36576" marB="36576" anchor="ctr">
                    <a:solidFill>
                      <a:srgbClr val="EAF8FA"/>
                    </a:solidFill>
                  </a:tcPr>
                </a:tc>
                <a:tc>
                  <a:txBody>
                    <a:bodyPr wrap="square"/>
                    <a:lstStyle/>
                    <a:p>
                      <a:pPr algn="ctr"/>
                      <a:r>
                        <a:rPr sz="950" b="0" i="0">
                          <a:solidFill>
                            <a:srgbClr val="14313B"/>
                          </a:solidFill>
                          <a:latin typeface="Calibri (MS)"/>
                        </a:rPr>
                        <a:t>6,05%</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P1</a:t>
                      </a:r>
                    </a:p>
                  </a:txBody>
                  <a:tcPr marL="73152" marR="73152" marT="36576" marB="36576" anchor="ctr">
                    <a:solidFill>
                      <a:srgbClr val="FFFFFF"/>
                    </a:solidFill>
                  </a:tcPr>
                </a:tc>
                <a:tc>
                  <a:txBody>
                    <a:bodyPr wrap="square"/>
                    <a:lstStyle/>
                    <a:p>
                      <a:r>
                        <a:rPr sz="950" b="0" i="0">
                          <a:solidFill>
                            <a:srgbClr val="14313B"/>
                          </a:solidFill>
                          <a:latin typeface="Calibri (MS)"/>
                        </a:rPr>
                        <a:t>TPK</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0,926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0,0204</a:t>
                      </a:r>
                    </a:p>
                  </a:txBody>
                  <a:tcPr marL="73152" marR="73152" marT="36576" marB="36576" anchor="ctr">
                    <a:solidFill>
                      <a:srgbClr val="C9F0D6"/>
                    </a:solidFill>
                  </a:tcPr>
                </a:tc>
                <a:tc>
                  <a:txBody>
                    <a:bodyPr wrap="square"/>
                    <a:lstStyle/>
                    <a:p>
                      <a:pPr algn="ctr"/>
                      <a:r>
                        <a:rPr sz="950" b="0" i="0">
                          <a:solidFill>
                            <a:srgbClr val="14313B"/>
                          </a:solidFill>
                          <a:latin typeface="Calibri (MS)"/>
                        </a:rPr>
                        <a:t>1,1513</a:t>
                      </a:r>
                    </a:p>
                  </a:txBody>
                  <a:tcPr marL="73152" marR="73152" marT="36576" marB="36576" anchor="ctr">
                    <a:solidFill>
                      <a:srgbClr val="FDE2DE"/>
                    </a:solidFill>
                  </a:tcPr>
                </a:tc>
                <a:tc>
                  <a:txBody>
                    <a:bodyPr wrap="square"/>
                    <a:lstStyle/>
                    <a:p>
                      <a:pPr algn="ctr"/>
                      <a:r>
                        <a:rPr sz="950" b="0" i="0">
                          <a:solidFill>
                            <a:srgbClr val="14313B"/>
                          </a:solidFill>
                          <a:latin typeface="Calibri (MS)"/>
                        </a:rPr>
                        <a:t>0,4667</a:t>
                      </a:r>
                    </a:p>
                  </a:txBody>
                  <a:tcPr marL="73152" marR="73152" marT="36576" marB="36576" anchor="ctr">
                    <a:solidFill>
                      <a:srgbClr val="FFF1BF"/>
                    </a:solidFill>
                  </a:tcPr>
                </a:tc>
                <a:tc>
                  <a:txBody>
                    <a:bodyPr wrap="square"/>
                    <a:lstStyle/>
                    <a:p>
                      <a:pPr algn="ctr"/>
                      <a:r>
                        <a:rPr sz="950" b="0" i="0">
                          <a:solidFill>
                            <a:srgbClr val="14313B"/>
                          </a:solidFill>
                          <a:latin typeface="Calibri (MS)"/>
                        </a:rPr>
                        <a:t>0,007</a:t>
                      </a:r>
                    </a:p>
                  </a:txBody>
                  <a:tcPr marL="73152" marR="73152" marT="36576" marB="36576" anchor="ctr">
                    <a:solidFill>
                      <a:srgbClr val="FFFFFF"/>
                    </a:solidFill>
                  </a:tcPr>
                </a:tc>
                <a:tc>
                  <a:txBody>
                    <a:bodyPr wrap="square"/>
                    <a:lstStyle/>
                    <a:p>
                      <a:pPr algn="ctr"/>
                      <a:r>
                        <a:rPr sz="950" b="0" i="0">
                          <a:solidFill>
                            <a:srgbClr val="14313B"/>
                          </a:solidFill>
                          <a:latin typeface="Calibri (MS)"/>
                        </a:rPr>
                        <a:t>0,608</a:t>
                      </a:r>
                    </a:p>
                  </a:txBody>
                  <a:tcPr marL="73152" marR="73152" marT="36576" marB="36576" anchor="ctr">
                    <a:solidFill>
                      <a:srgbClr val="FFFFFF"/>
                    </a:solidFill>
                  </a:tcPr>
                </a:tc>
                <a:tc>
                  <a:txBody>
                    <a:bodyPr wrap="square"/>
                    <a:lstStyle/>
                    <a:p>
                      <a:pPr algn="ctr"/>
                      <a:r>
                        <a:rPr sz="950" b="0" i="0">
                          <a:solidFill>
                            <a:srgbClr val="14313B"/>
                          </a:solidFill>
                          <a:latin typeface="Calibri (MS)"/>
                        </a:rPr>
                        <a:t>0,384</a:t>
                      </a:r>
                    </a:p>
                  </a:txBody>
                  <a:tcPr marL="73152" marR="73152" marT="36576" marB="36576" anchor="ctr">
                    <a:solidFill>
                      <a:srgbClr val="FFFFFF"/>
                    </a:solidFill>
                  </a:tcPr>
                </a:tc>
                <a:tc>
                  <a:txBody>
                    <a:bodyPr wrap="square"/>
                    <a:lstStyle/>
                    <a:p>
                      <a:pPr algn="ctr"/>
                      <a:r>
                        <a:rPr sz="950" b="0" i="0">
                          <a:solidFill>
                            <a:srgbClr val="14313B"/>
                          </a:solidFill>
                          <a:latin typeface="Calibri (MS)"/>
                        </a:rPr>
                        <a:t>U2</a:t>
                      </a:r>
                    </a:p>
                  </a:txBody>
                  <a:tcPr marL="73152" marR="73152" marT="36576" marB="36576" anchor="ctr">
                    <a:solidFill>
                      <a:srgbClr val="FFFFFF"/>
                    </a:solidFill>
                  </a:tcPr>
                </a:tc>
                <a:tc>
                  <a:txBody>
                    <a:bodyPr wrap="square"/>
                    <a:lstStyle/>
                    <a:p>
                      <a:pPr algn="ctr"/>
                      <a:r>
                        <a:rPr sz="950" b="0" i="0">
                          <a:solidFill>
                            <a:srgbClr val="14313B"/>
                          </a:solidFill>
                          <a:latin typeface="Calibri (MS)"/>
                        </a:rPr>
                        <a:t>18,73%</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P1</a:t>
                      </a:r>
                    </a:p>
                  </a:txBody>
                  <a:tcPr marL="73152" marR="73152" marT="36576" marB="36576" anchor="ctr">
                    <a:solidFill>
                      <a:srgbClr val="EAF8FA"/>
                    </a:solidFill>
                  </a:tcPr>
                </a:tc>
                <a:tc>
                  <a:txBody>
                    <a:bodyPr wrap="square"/>
                    <a:lstStyle/>
                    <a:p>
                      <a:r>
                        <a:rPr sz="950" b="0" i="0">
                          <a:solidFill>
                            <a:srgbClr val="14313B"/>
                          </a:solidFill>
                          <a:latin typeface="Calibri (MS)"/>
                        </a:rPr>
                        <a:t>TPK</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1,422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0,0643</a:t>
                      </a:r>
                    </a:p>
                  </a:txBody>
                  <a:tcPr marL="73152" marR="73152" marT="36576" marB="36576" anchor="ctr">
                    <a:solidFill>
                      <a:srgbClr val="FDE2DE"/>
                    </a:solidFill>
                  </a:tcPr>
                </a:tc>
                <a:tc>
                  <a:txBody>
                    <a:bodyPr wrap="square"/>
                    <a:lstStyle/>
                    <a:p>
                      <a:pPr algn="ctr"/>
                      <a:r>
                        <a:rPr sz="950" b="0" i="0">
                          <a:solidFill>
                            <a:srgbClr val="14313B"/>
                          </a:solidFill>
                          <a:latin typeface="Calibri (MS)"/>
                        </a:rPr>
                        <a:t>2,5684</a:t>
                      </a:r>
                    </a:p>
                  </a:txBody>
                  <a:tcPr marL="73152" marR="73152" marT="36576" marB="36576" anchor="ctr">
                    <a:solidFill>
                      <a:srgbClr val="FDE2DE"/>
                    </a:solidFill>
                  </a:tcPr>
                </a:tc>
                <a:tc>
                  <a:txBody>
                    <a:bodyPr wrap="square"/>
                    <a:lstStyle/>
                    <a:p>
                      <a:pPr algn="ctr"/>
                      <a:r>
                        <a:rPr sz="950" b="0" i="0">
                          <a:solidFill>
                            <a:srgbClr val="14313B"/>
                          </a:solidFill>
                          <a:latin typeface="Calibri (MS)"/>
                        </a:rPr>
                        <a:t>0,6692</a:t>
                      </a:r>
                    </a:p>
                  </a:txBody>
                  <a:tcPr marL="73152" marR="73152" marT="36576" marB="36576" anchor="ctr">
                    <a:solidFill>
                      <a:srgbClr val="FFF1BF"/>
                    </a:solidFill>
                  </a:tcPr>
                </a:tc>
                <a:tc>
                  <a:txBody>
                    <a:bodyPr wrap="square"/>
                    <a:lstStyle/>
                    <a:p>
                      <a:pPr algn="ctr"/>
                      <a:r>
                        <a:rPr sz="950" b="0" i="0">
                          <a:solidFill>
                            <a:srgbClr val="14313B"/>
                          </a:solidFill>
                          <a:latin typeface="Calibri (MS)"/>
                        </a:rPr>
                        <a:t>0,081</a:t>
                      </a:r>
                    </a:p>
                  </a:txBody>
                  <a:tcPr marL="73152" marR="73152" marT="36576" marB="36576" anchor="ctr">
                    <a:solidFill>
                      <a:srgbClr val="EAF8FA"/>
                    </a:solidFill>
                  </a:tcPr>
                </a:tc>
                <a:tc>
                  <a:txBody>
                    <a:bodyPr wrap="square"/>
                    <a:lstStyle/>
                    <a:p>
                      <a:pPr algn="ctr"/>
                      <a:r>
                        <a:rPr sz="950" b="0" i="0">
                          <a:solidFill>
                            <a:srgbClr val="14313B"/>
                          </a:solidFill>
                          <a:latin typeface="Calibri (MS)"/>
                        </a:rPr>
                        <a:t>0,649</a:t>
                      </a:r>
                    </a:p>
                  </a:txBody>
                  <a:tcPr marL="73152" marR="73152" marT="36576" marB="36576" anchor="ctr">
                    <a:solidFill>
                      <a:srgbClr val="EAF8FA"/>
                    </a:solidFill>
                  </a:tcPr>
                </a:tc>
                <a:tc>
                  <a:txBody>
                    <a:bodyPr wrap="square"/>
                    <a:lstStyle/>
                    <a:p>
                      <a:pPr algn="ctr"/>
                      <a:r>
                        <a:rPr sz="950" b="0" i="0">
                          <a:solidFill>
                            <a:srgbClr val="14313B"/>
                          </a:solidFill>
                          <a:latin typeface="Calibri (MS)"/>
                        </a:rPr>
                        <a:t>0,271</a:t>
                      </a:r>
                    </a:p>
                  </a:txBody>
                  <a:tcPr marL="73152" marR="73152" marT="36576" marB="36576" anchor="ctr">
                    <a:solidFill>
                      <a:srgbClr val="EAF8FA"/>
                    </a:solidFill>
                  </a:tcPr>
                </a:tc>
                <a:tc>
                  <a:txBody>
                    <a:bodyPr wrap="square"/>
                    <a:lstStyle/>
                    <a:p>
                      <a:pPr algn="ctr"/>
                      <a:r>
                        <a:rPr sz="950" b="0" i="0">
                          <a:solidFill>
                            <a:srgbClr val="14313B"/>
                          </a:solidFill>
                          <a:latin typeface="Calibri (MS)"/>
                        </a:rPr>
                        <a:t>U2</a:t>
                      </a:r>
                    </a:p>
                  </a:txBody>
                  <a:tcPr marL="73152" marR="73152" marT="36576" marB="36576" anchor="ctr">
                    <a:solidFill>
                      <a:srgbClr val="EAF8FA"/>
                    </a:solidFill>
                  </a:tcPr>
                </a:tc>
                <a:tc>
                  <a:txBody>
                    <a:bodyPr wrap="square"/>
                    <a:lstStyle/>
                    <a:p>
                      <a:pPr algn="ctr"/>
                      <a:r>
                        <a:rPr sz="950" b="0" i="0">
                          <a:solidFill>
                            <a:srgbClr val="14313B"/>
                          </a:solidFill>
                          <a:latin typeface="Calibri (MS)"/>
                        </a:rPr>
                        <a:t>17,37%</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P1b</a:t>
                      </a:r>
                    </a:p>
                  </a:txBody>
                  <a:tcPr marL="73152" marR="73152" marT="36576" marB="36576" anchor="ctr">
                    <a:solidFill>
                      <a:srgbClr val="FFFFFF"/>
                    </a:solidFill>
                  </a:tcPr>
                </a:tc>
                <a:tc>
                  <a:txBody>
                    <a:bodyPr wrap="square"/>
                    <a:lstStyle/>
                    <a:p>
                      <a:r>
                        <a:rPr sz="950" b="0" i="0">
                          <a:solidFill>
                            <a:srgbClr val="14313B"/>
                          </a:solidFill>
                          <a:latin typeface="Calibri (MS)"/>
                        </a:rPr>
                        <a:t>Jumlah Hotel</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0,722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0,0200</a:t>
                      </a:r>
                    </a:p>
                  </a:txBody>
                  <a:tcPr marL="73152" marR="73152" marT="36576" marB="36576" anchor="ctr">
                    <a:solidFill>
                      <a:srgbClr val="C9F0D6"/>
                    </a:solidFill>
                  </a:tcPr>
                </a:tc>
                <a:tc>
                  <a:txBody>
                    <a:bodyPr wrap="square"/>
                    <a:lstStyle/>
                    <a:p>
                      <a:pPr algn="ctr"/>
                      <a:r>
                        <a:rPr sz="950" b="0" i="0">
                          <a:solidFill>
                            <a:srgbClr val="14313B"/>
                          </a:solidFill>
                          <a:latin typeface="Calibri (MS)"/>
                        </a:rPr>
                        <a:t>0,2128</a:t>
                      </a:r>
                    </a:p>
                  </a:txBody>
                  <a:tcPr marL="73152" marR="73152" marT="36576" marB="36576" anchor="ctr">
                    <a:solidFill>
                      <a:srgbClr val="C9F0D6"/>
                    </a:solidFill>
                  </a:tcPr>
                </a:tc>
                <a:tc>
                  <a:txBody>
                    <a:bodyPr wrap="square"/>
                    <a:lstStyle/>
                    <a:p>
                      <a:pPr algn="ctr"/>
                      <a:r>
                        <a:rPr sz="950" b="0" i="0">
                          <a:solidFill>
                            <a:srgbClr val="14313B"/>
                          </a:solidFill>
                          <a:latin typeface="Calibri (MS)"/>
                        </a:rPr>
                        <a:t>0,2868</a:t>
                      </a:r>
                    </a:p>
                  </a:txBody>
                  <a:tcPr marL="73152" marR="73152" marT="36576" marB="36576" anchor="ctr">
                    <a:solidFill>
                      <a:srgbClr val="C9F0D6"/>
                    </a:solidFill>
                  </a:tcPr>
                </a:tc>
                <a:tc>
                  <a:txBody>
                    <a:bodyPr wrap="square"/>
                    <a:lstStyle/>
                    <a:p>
                      <a:pPr algn="ctr"/>
                      <a:r>
                        <a:rPr sz="950" b="0" i="0">
                          <a:solidFill>
                            <a:srgbClr val="14313B"/>
                          </a:solidFill>
                          <a:latin typeface="Calibri (MS)"/>
                        </a:rPr>
                        <a:t>0,027</a:t>
                      </a:r>
                    </a:p>
                  </a:txBody>
                  <a:tcPr marL="73152" marR="73152" marT="36576" marB="36576" anchor="ctr">
                    <a:solidFill>
                      <a:srgbClr val="FFFFFF"/>
                    </a:solidFill>
                  </a:tcPr>
                </a:tc>
                <a:tc>
                  <a:txBody>
                    <a:bodyPr wrap="square"/>
                    <a:lstStyle/>
                    <a:p>
                      <a:pPr algn="ctr"/>
                      <a:r>
                        <a:rPr sz="950" b="0" i="0">
                          <a:solidFill>
                            <a:srgbClr val="14313B"/>
                          </a:solidFill>
                          <a:latin typeface="Calibri (MS)"/>
                        </a:rPr>
                        <a:t>0,109</a:t>
                      </a:r>
                    </a:p>
                  </a:txBody>
                  <a:tcPr marL="73152" marR="73152" marT="36576" marB="36576" anchor="ctr">
                    <a:solidFill>
                      <a:srgbClr val="FFFFFF"/>
                    </a:solidFill>
                  </a:tcPr>
                </a:tc>
                <a:tc>
                  <a:txBody>
                    <a:bodyPr wrap="square"/>
                    <a:lstStyle/>
                    <a:p>
                      <a:pPr algn="ctr"/>
                      <a:r>
                        <a:rPr sz="950" b="0" i="0">
                          <a:solidFill>
                            <a:srgbClr val="14313B"/>
                          </a:solidFill>
                          <a:latin typeface="Calibri (MS)"/>
                        </a:rPr>
                        <a:t>0,863</a:t>
                      </a:r>
                    </a:p>
                  </a:txBody>
                  <a:tcPr marL="73152" marR="73152" marT="36576" marB="36576" anchor="ctr">
                    <a:solidFill>
                      <a:srgbClr val="FFFFFF"/>
                    </a:solidFill>
                  </a:tcPr>
                </a:tc>
                <a:tc>
                  <a:txBody>
                    <a:bodyPr wrap="square"/>
                    <a:lstStyle/>
                    <a:p>
                      <a:pPr algn="ctr"/>
                      <a:r>
                        <a:rPr sz="950" b="0" i="0">
                          <a:solidFill>
                            <a:srgbClr val="14313B"/>
                          </a:solidFill>
                          <a:latin typeface="Calibri (MS)"/>
                        </a:rPr>
                        <a:t>U3</a:t>
                      </a:r>
                    </a:p>
                  </a:txBody>
                  <a:tcPr marL="73152" marR="73152" marT="36576" marB="36576" anchor="ctr">
                    <a:solidFill>
                      <a:srgbClr val="FFFFFF"/>
                    </a:solidFill>
                  </a:tcPr>
                </a:tc>
                <a:tc>
                  <a:txBody>
                    <a:bodyPr wrap="square"/>
                    <a:lstStyle/>
                    <a:p>
                      <a:pPr algn="ctr"/>
                      <a:r>
                        <a:rPr sz="950" b="0" i="0">
                          <a:solidFill>
                            <a:srgbClr val="14313B"/>
                          </a:solidFill>
                          <a:latin typeface="Calibri (MS)"/>
                        </a:rPr>
                        <a:t>9,66%</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P1b</a:t>
                      </a:r>
                    </a:p>
                  </a:txBody>
                  <a:tcPr marL="73152" marR="73152" marT="36576" marB="36576" anchor="ctr">
                    <a:solidFill>
                      <a:srgbClr val="EAF8FA"/>
                    </a:solidFill>
                  </a:tcPr>
                </a:tc>
                <a:tc>
                  <a:txBody>
                    <a:bodyPr wrap="square"/>
                    <a:lstStyle/>
                    <a:p>
                      <a:r>
                        <a:rPr sz="950" b="0" i="0">
                          <a:solidFill>
                            <a:srgbClr val="14313B"/>
                          </a:solidFill>
                          <a:latin typeface="Calibri (MS)"/>
                        </a:rPr>
                        <a:t>Jumlah Hotel</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0,935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0,0182</a:t>
                      </a:r>
                    </a:p>
                  </a:txBody>
                  <a:tcPr marL="73152" marR="73152" marT="36576" marB="36576" anchor="ctr">
                    <a:solidFill>
                      <a:srgbClr val="C9F0D6"/>
                    </a:solidFill>
                  </a:tcPr>
                </a:tc>
                <a:tc>
                  <a:txBody>
                    <a:bodyPr wrap="square"/>
                    <a:lstStyle/>
                    <a:p>
                      <a:pPr algn="ctr"/>
                      <a:r>
                        <a:rPr sz="950" b="0" i="0">
                          <a:solidFill>
                            <a:srgbClr val="14313B"/>
                          </a:solidFill>
                          <a:latin typeface="Calibri (MS)"/>
                        </a:rPr>
                        <a:t>0,1223</a:t>
                      </a:r>
                    </a:p>
                  </a:txBody>
                  <a:tcPr marL="73152" marR="73152" marT="36576" marB="36576" anchor="ctr">
                    <a:solidFill>
                      <a:srgbClr val="C9F0D6"/>
                    </a:solidFill>
                  </a:tcPr>
                </a:tc>
                <a:tc>
                  <a:txBody>
                    <a:bodyPr wrap="square"/>
                    <a:lstStyle/>
                    <a:p>
                      <a:pPr algn="ctr"/>
                      <a:r>
                        <a:rPr sz="950" b="0" i="0">
                          <a:solidFill>
                            <a:srgbClr val="14313B"/>
                          </a:solidFill>
                          <a:latin typeface="Calibri (MS)"/>
                        </a:rPr>
                        <a:t>0,2319</a:t>
                      </a:r>
                    </a:p>
                  </a:txBody>
                  <a:tcPr marL="73152" marR="73152" marT="36576" marB="36576" anchor="ctr">
                    <a:solidFill>
                      <a:srgbClr val="C9F0D6"/>
                    </a:solidFill>
                  </a:tcPr>
                </a:tc>
                <a:tc>
                  <a:txBody>
                    <a:bodyPr wrap="square"/>
                    <a:lstStyle/>
                    <a:p>
                      <a:pPr algn="ctr"/>
                      <a:r>
                        <a:rPr sz="950" b="0" i="0">
                          <a:solidFill>
                            <a:srgbClr val="14313B"/>
                          </a:solidFill>
                          <a:latin typeface="Calibri (MS)"/>
                        </a:rPr>
                        <a:t>0,030</a:t>
                      </a:r>
                    </a:p>
                  </a:txBody>
                  <a:tcPr marL="73152" marR="73152" marT="36576" marB="36576" anchor="ctr">
                    <a:solidFill>
                      <a:srgbClr val="EAF8FA"/>
                    </a:solidFill>
                  </a:tcPr>
                </a:tc>
                <a:tc>
                  <a:txBody>
                    <a:bodyPr wrap="square"/>
                    <a:lstStyle/>
                    <a:p>
                      <a:pPr algn="ctr"/>
                      <a:r>
                        <a:rPr sz="950" b="0" i="0">
                          <a:solidFill>
                            <a:srgbClr val="14313B"/>
                          </a:solidFill>
                          <a:latin typeface="Calibri (MS)"/>
                        </a:rPr>
                        <a:t>0,060</a:t>
                      </a:r>
                    </a:p>
                  </a:txBody>
                  <a:tcPr marL="73152" marR="73152" marT="36576" marB="36576" anchor="ctr">
                    <a:solidFill>
                      <a:srgbClr val="EAF8FA"/>
                    </a:solidFill>
                  </a:tcPr>
                </a:tc>
                <a:tc>
                  <a:txBody>
                    <a:bodyPr wrap="square"/>
                    <a:lstStyle/>
                    <a:p>
                      <a:pPr algn="ctr"/>
                      <a:r>
                        <a:rPr sz="950" b="0" i="0">
                          <a:solidFill>
                            <a:srgbClr val="14313B"/>
                          </a:solidFill>
                          <a:latin typeface="Calibri (MS)"/>
                        </a:rPr>
                        <a:t>0,910</a:t>
                      </a:r>
                    </a:p>
                  </a:txBody>
                  <a:tcPr marL="73152" marR="73152" marT="36576" marB="36576" anchor="ctr">
                    <a:solidFill>
                      <a:srgbClr val="EAF8FA"/>
                    </a:solidFill>
                  </a:tcPr>
                </a:tc>
                <a:tc>
                  <a:txBody>
                    <a:bodyPr wrap="square"/>
                    <a:lstStyle/>
                    <a:p>
                      <a:pPr algn="ctr"/>
                      <a:r>
                        <a:rPr sz="950" b="0" i="0">
                          <a:solidFill>
                            <a:srgbClr val="14313B"/>
                          </a:solidFill>
                          <a:latin typeface="Calibri (MS)"/>
                        </a:rPr>
                        <a:t>U3</a:t>
                      </a:r>
                    </a:p>
                  </a:txBody>
                  <a:tcPr marL="73152" marR="73152" marT="36576" marB="36576" anchor="ctr">
                    <a:solidFill>
                      <a:srgbClr val="EAF8FA"/>
                    </a:solidFill>
                  </a:tcPr>
                </a:tc>
                <a:tc>
                  <a:txBody>
                    <a:bodyPr wrap="square"/>
                    <a:lstStyle/>
                    <a:p>
                      <a:pPr algn="ctr"/>
                      <a:r>
                        <a:rPr sz="950" b="0" i="0">
                          <a:solidFill>
                            <a:srgbClr val="14313B"/>
                          </a:solidFill>
                          <a:latin typeface="Calibri (MS)"/>
                        </a:rPr>
                        <a:t>7,86%</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P1b</a:t>
                      </a:r>
                    </a:p>
                  </a:txBody>
                  <a:tcPr marL="73152" marR="73152" marT="36576" marB="36576" anchor="ctr">
                    <a:solidFill>
                      <a:srgbClr val="FFFFFF"/>
                    </a:solidFill>
                  </a:tcPr>
                </a:tc>
                <a:tc>
                  <a:txBody>
                    <a:bodyPr wrap="square"/>
                    <a:lstStyle/>
                    <a:p>
                      <a:r>
                        <a:rPr sz="950" b="0" i="0">
                          <a:solidFill>
                            <a:srgbClr val="14313B"/>
                          </a:solidFill>
                          <a:latin typeface="Calibri (MS)"/>
                        </a:rPr>
                        <a:t>TPK</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1,150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0,0193</a:t>
                      </a:r>
                    </a:p>
                  </a:txBody>
                  <a:tcPr marL="73152" marR="73152" marT="36576" marB="36576" anchor="ctr">
                    <a:solidFill>
                      <a:srgbClr val="C9F0D6"/>
                    </a:solidFill>
                  </a:tcPr>
                </a:tc>
                <a:tc>
                  <a:txBody>
                    <a:bodyPr wrap="square"/>
                    <a:lstStyle/>
                    <a:p>
                      <a:pPr algn="ctr"/>
                      <a:r>
                        <a:rPr sz="950" b="0" i="0">
                          <a:solidFill>
                            <a:srgbClr val="14313B"/>
                          </a:solidFill>
                          <a:latin typeface="Calibri (MS)"/>
                        </a:rPr>
                        <a:t>1,2416</a:t>
                      </a:r>
                    </a:p>
                  </a:txBody>
                  <a:tcPr marL="73152" marR="73152" marT="36576" marB="36576" anchor="ctr">
                    <a:solidFill>
                      <a:srgbClr val="FDE2DE"/>
                    </a:solidFill>
                  </a:tcPr>
                </a:tc>
                <a:tc>
                  <a:txBody>
                    <a:bodyPr wrap="square"/>
                    <a:lstStyle/>
                    <a:p>
                      <a:pPr algn="ctr"/>
                      <a:r>
                        <a:rPr sz="950" b="0" i="0">
                          <a:solidFill>
                            <a:srgbClr val="14313B"/>
                          </a:solidFill>
                          <a:latin typeface="Calibri (MS)"/>
                        </a:rPr>
                        <a:t>0,4985</a:t>
                      </a:r>
                    </a:p>
                  </a:txBody>
                  <a:tcPr marL="73152" marR="73152" marT="36576" marB="36576" anchor="ctr">
                    <a:solidFill>
                      <a:srgbClr val="FFF1BF"/>
                    </a:solidFill>
                  </a:tcPr>
                </a:tc>
                <a:tc>
                  <a:txBody>
                    <a:bodyPr wrap="square"/>
                    <a:lstStyle/>
                    <a:p>
                      <a:pPr algn="ctr"/>
                      <a:r>
                        <a:rPr sz="950" b="0" i="0">
                          <a:solidFill>
                            <a:srgbClr val="14313B"/>
                          </a:solidFill>
                          <a:latin typeface="Calibri (MS)"/>
                        </a:rPr>
                        <a:t>0,005</a:t>
                      </a:r>
                    </a:p>
                  </a:txBody>
                  <a:tcPr marL="73152" marR="73152" marT="36576" marB="36576" anchor="ctr">
                    <a:solidFill>
                      <a:srgbClr val="FFFFFF"/>
                    </a:solidFill>
                  </a:tcPr>
                </a:tc>
                <a:tc>
                  <a:txBody>
                    <a:bodyPr wrap="square"/>
                    <a:lstStyle/>
                    <a:p>
                      <a:pPr algn="ctr"/>
                      <a:r>
                        <a:rPr sz="950" b="0" i="0">
                          <a:solidFill>
                            <a:srgbClr val="14313B"/>
                          </a:solidFill>
                          <a:latin typeface="Calibri (MS)"/>
                        </a:rPr>
                        <a:t>0,587</a:t>
                      </a:r>
                    </a:p>
                  </a:txBody>
                  <a:tcPr marL="73152" marR="73152" marT="36576" marB="36576" anchor="ctr">
                    <a:solidFill>
                      <a:srgbClr val="FFFFFF"/>
                    </a:solidFill>
                  </a:tcPr>
                </a:tc>
                <a:tc>
                  <a:txBody>
                    <a:bodyPr wrap="square"/>
                    <a:lstStyle/>
                    <a:p>
                      <a:pPr algn="ctr"/>
                      <a:r>
                        <a:rPr sz="950" b="0" i="0">
                          <a:solidFill>
                            <a:srgbClr val="14313B"/>
                          </a:solidFill>
                          <a:latin typeface="Calibri (MS)"/>
                        </a:rPr>
                        <a:t>0,407</a:t>
                      </a:r>
                    </a:p>
                  </a:txBody>
                  <a:tcPr marL="73152" marR="73152" marT="36576" marB="36576" anchor="ctr">
                    <a:solidFill>
                      <a:srgbClr val="FFFFFF"/>
                    </a:solidFill>
                  </a:tcPr>
                </a:tc>
                <a:tc>
                  <a:txBody>
                    <a:bodyPr wrap="square"/>
                    <a:lstStyle/>
                    <a:p>
                      <a:pPr algn="ctr"/>
                      <a:r>
                        <a:rPr sz="950" b="0" i="0">
                          <a:solidFill>
                            <a:srgbClr val="14313B"/>
                          </a:solidFill>
                          <a:latin typeface="Calibri (MS)"/>
                        </a:rPr>
                        <a:t>U2</a:t>
                      </a:r>
                    </a:p>
                  </a:txBody>
                  <a:tcPr marL="73152" marR="73152" marT="36576" marB="36576" anchor="ctr">
                    <a:solidFill>
                      <a:srgbClr val="FFFFFF"/>
                    </a:solidFill>
                  </a:tcPr>
                </a:tc>
                <a:tc>
                  <a:txBody>
                    <a:bodyPr wrap="square"/>
                    <a:lstStyle/>
                    <a:p>
                      <a:pPr algn="ctr"/>
                      <a:r>
                        <a:rPr sz="950" b="0" i="0">
                          <a:solidFill>
                            <a:srgbClr val="14313B"/>
                          </a:solidFill>
                          <a:latin typeface="Calibri (MS)"/>
                        </a:rPr>
                        <a:t>20,24%</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P1b</a:t>
                      </a:r>
                    </a:p>
                  </a:txBody>
                  <a:tcPr marL="73152" marR="73152" marT="36576" marB="36576" anchor="ctr">
                    <a:solidFill>
                      <a:srgbClr val="EAF8FA"/>
                    </a:solidFill>
                  </a:tcPr>
                </a:tc>
                <a:tc>
                  <a:txBody>
                    <a:bodyPr wrap="square"/>
                    <a:lstStyle/>
                    <a:p>
                      <a:r>
                        <a:rPr sz="950" b="0" i="0">
                          <a:solidFill>
                            <a:srgbClr val="14313B"/>
                          </a:solidFill>
                          <a:latin typeface="Calibri (MS)"/>
                        </a:rPr>
                        <a:t>TPK</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1,685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0,0610</a:t>
                      </a:r>
                    </a:p>
                  </a:txBody>
                  <a:tcPr marL="73152" marR="73152" marT="36576" marB="36576" anchor="ctr">
                    <a:solidFill>
                      <a:srgbClr val="FDE2DE"/>
                    </a:solidFill>
                  </a:tcPr>
                </a:tc>
                <a:tc>
                  <a:txBody>
                    <a:bodyPr wrap="square"/>
                    <a:lstStyle/>
                    <a:p>
                      <a:pPr algn="ctr"/>
                      <a:r>
                        <a:rPr sz="950" b="0" i="0">
                          <a:solidFill>
                            <a:srgbClr val="14313B"/>
                          </a:solidFill>
                          <a:latin typeface="Calibri (MS)"/>
                        </a:rPr>
                        <a:t>2,9435</a:t>
                      </a:r>
                    </a:p>
                  </a:txBody>
                  <a:tcPr marL="73152" marR="73152" marT="36576" marB="36576" anchor="ctr">
                    <a:solidFill>
                      <a:srgbClr val="FDE2DE"/>
                    </a:solidFill>
                  </a:tcPr>
                </a:tc>
                <a:tc>
                  <a:txBody>
                    <a:bodyPr wrap="square"/>
                    <a:lstStyle/>
                    <a:p>
                      <a:pPr algn="ctr"/>
                      <a:r>
                        <a:rPr sz="950" b="0" i="0">
                          <a:solidFill>
                            <a:srgbClr val="14313B"/>
                          </a:solidFill>
                          <a:latin typeface="Calibri (MS)"/>
                        </a:rPr>
                        <a:t>0,7053</a:t>
                      </a:r>
                    </a:p>
                  </a:txBody>
                  <a:tcPr marL="73152" marR="73152" marT="36576" marB="36576" anchor="ctr">
                    <a:solidFill>
                      <a:srgbClr val="FDE2DE"/>
                    </a:solidFill>
                  </a:tcPr>
                </a:tc>
                <a:tc>
                  <a:txBody>
                    <a:bodyPr wrap="square"/>
                    <a:lstStyle/>
                    <a:p>
                      <a:pPr algn="ctr"/>
                      <a:r>
                        <a:rPr sz="950" b="0" i="0">
                          <a:solidFill>
                            <a:srgbClr val="14313B"/>
                          </a:solidFill>
                          <a:latin typeface="Calibri (MS)"/>
                        </a:rPr>
                        <a:t>0,057</a:t>
                      </a:r>
                    </a:p>
                  </a:txBody>
                  <a:tcPr marL="73152" marR="73152" marT="36576" marB="36576" anchor="ctr">
                    <a:solidFill>
                      <a:srgbClr val="EAF8FA"/>
                    </a:solidFill>
                  </a:tcPr>
                </a:tc>
                <a:tc>
                  <a:txBody>
                    <a:bodyPr wrap="square"/>
                    <a:lstStyle/>
                    <a:p>
                      <a:pPr algn="ctr"/>
                      <a:r>
                        <a:rPr sz="950" b="0" i="0">
                          <a:solidFill>
                            <a:srgbClr val="14313B"/>
                          </a:solidFill>
                          <a:latin typeface="Calibri (MS)"/>
                        </a:rPr>
                        <a:t>0,672</a:t>
                      </a:r>
                    </a:p>
                  </a:txBody>
                  <a:tcPr marL="73152" marR="73152" marT="36576" marB="36576" anchor="ctr">
                    <a:solidFill>
                      <a:srgbClr val="EAF8FA"/>
                    </a:solidFill>
                  </a:tcPr>
                </a:tc>
                <a:tc>
                  <a:txBody>
                    <a:bodyPr wrap="square"/>
                    <a:lstStyle/>
                    <a:p>
                      <a:pPr algn="ctr"/>
                      <a:r>
                        <a:rPr sz="950" b="0" i="0">
                          <a:solidFill>
                            <a:srgbClr val="14313B"/>
                          </a:solidFill>
                          <a:latin typeface="Calibri (MS)"/>
                        </a:rPr>
                        <a:t>0,271</a:t>
                      </a:r>
                    </a:p>
                  </a:txBody>
                  <a:tcPr marL="73152" marR="73152" marT="36576" marB="36576" anchor="ctr">
                    <a:solidFill>
                      <a:srgbClr val="EAF8FA"/>
                    </a:solidFill>
                  </a:tcPr>
                </a:tc>
                <a:tc>
                  <a:txBody>
                    <a:bodyPr wrap="square"/>
                    <a:lstStyle/>
                    <a:p>
                      <a:pPr algn="ctr"/>
                      <a:r>
                        <a:rPr sz="950" b="0" i="0">
                          <a:solidFill>
                            <a:srgbClr val="14313B"/>
                          </a:solidFill>
                          <a:latin typeface="Calibri (MS)"/>
                        </a:rPr>
                        <a:t>U2</a:t>
                      </a:r>
                    </a:p>
                  </a:txBody>
                  <a:tcPr marL="73152" marR="73152" marT="36576" marB="36576" anchor="ctr">
                    <a:solidFill>
                      <a:srgbClr val="EAF8FA"/>
                    </a:solidFill>
                  </a:tcPr>
                </a:tc>
                <a:tc>
                  <a:txBody>
                    <a:bodyPr wrap="square"/>
                    <a:lstStyle/>
                    <a:p>
                      <a:pPr algn="ctr"/>
                      <a:r>
                        <a:rPr sz="950" b="0" i="0">
                          <a:solidFill>
                            <a:srgbClr val="14313B"/>
                          </a:solidFill>
                          <a:latin typeface="Calibri (MS)"/>
                        </a:rPr>
                        <a:t>19,56%</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P2</a:t>
                      </a:r>
                    </a:p>
                  </a:txBody>
                  <a:tcPr marL="73152" marR="73152" marT="36576" marB="36576" anchor="ctr">
                    <a:solidFill>
                      <a:srgbClr val="FFFFFF"/>
                    </a:solidFill>
                  </a:tcPr>
                </a:tc>
                <a:tc>
                  <a:txBody>
                    <a:bodyPr wrap="square"/>
                    <a:lstStyle/>
                    <a:p>
                      <a:r>
                        <a:rPr sz="950" b="0" i="0">
                          <a:solidFill>
                            <a:srgbClr val="14313B"/>
                          </a:solidFill>
                          <a:latin typeface="Calibri (MS)"/>
                        </a:rPr>
                        <a:t>Jumlah ODTW</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1,042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0,0785</a:t>
                      </a:r>
                    </a:p>
                  </a:txBody>
                  <a:tcPr marL="73152" marR="73152" marT="36576" marB="36576" anchor="ctr">
                    <a:solidFill>
                      <a:srgbClr val="FDE2DE"/>
                    </a:solidFill>
                  </a:tcPr>
                </a:tc>
                <a:tc>
                  <a:txBody>
                    <a:bodyPr wrap="square"/>
                    <a:lstStyle/>
                    <a:p>
                      <a:pPr algn="ctr"/>
                      <a:r>
                        <a:rPr sz="950" b="0" i="0">
                          <a:solidFill>
                            <a:srgbClr val="14313B"/>
                          </a:solidFill>
                          <a:latin typeface="Calibri (MS)"/>
                        </a:rPr>
                        <a:t>0,3620</a:t>
                      </a:r>
                    </a:p>
                  </a:txBody>
                  <a:tcPr marL="73152" marR="73152" marT="36576" marB="36576" anchor="ctr">
                    <a:solidFill>
                      <a:srgbClr val="FDE2DE"/>
                    </a:solidFill>
                  </a:tcPr>
                </a:tc>
                <a:tc>
                  <a:txBody>
                    <a:bodyPr wrap="square"/>
                    <a:lstStyle/>
                    <a:p>
                      <a:pPr algn="ctr"/>
                      <a:r>
                        <a:rPr sz="950" b="0" i="0">
                          <a:solidFill>
                            <a:srgbClr val="14313B"/>
                          </a:solidFill>
                          <a:latin typeface="Calibri (MS)"/>
                        </a:rPr>
                        <a:t>0,3688</a:t>
                      </a:r>
                    </a:p>
                  </a:txBody>
                  <a:tcPr marL="73152" marR="73152" marT="36576" marB="36576" anchor="ctr">
                    <a:solidFill>
                      <a:srgbClr val="C9F0D6"/>
                    </a:solidFill>
                  </a:tcPr>
                </a:tc>
                <a:tc>
                  <a:txBody>
                    <a:bodyPr wrap="square"/>
                    <a:lstStyle/>
                    <a:p>
                      <a:pPr algn="ctr"/>
                      <a:r>
                        <a:rPr sz="950" b="0" i="0">
                          <a:solidFill>
                            <a:srgbClr val="14313B"/>
                          </a:solidFill>
                          <a:latin typeface="Calibri (MS)"/>
                        </a:rPr>
                        <a:t>0,669</a:t>
                      </a:r>
                    </a:p>
                  </a:txBody>
                  <a:tcPr marL="73152" marR="73152" marT="36576" marB="36576" anchor="ctr">
                    <a:solidFill>
                      <a:srgbClr val="FFFFFF"/>
                    </a:solidFill>
                  </a:tcPr>
                </a:tc>
                <a:tc>
                  <a:txBody>
                    <a:bodyPr wrap="square"/>
                    <a:lstStyle/>
                    <a:p>
                      <a:pPr algn="ctr"/>
                      <a:r>
                        <a:rPr sz="950" b="0" i="0">
                          <a:solidFill>
                            <a:srgbClr val="14313B"/>
                          </a:solidFill>
                          <a:latin typeface="Calibri (MS)"/>
                        </a:rPr>
                        <a:t>0,119</a:t>
                      </a:r>
                    </a:p>
                  </a:txBody>
                  <a:tcPr marL="73152" marR="73152" marT="36576" marB="36576" anchor="ctr">
                    <a:solidFill>
                      <a:srgbClr val="FFFFFF"/>
                    </a:solidFill>
                  </a:tcPr>
                </a:tc>
                <a:tc>
                  <a:txBody>
                    <a:bodyPr wrap="square"/>
                    <a:lstStyle/>
                    <a:p>
                      <a:pPr algn="ctr"/>
                      <a:r>
                        <a:rPr sz="950" b="0" i="0">
                          <a:solidFill>
                            <a:srgbClr val="14313B"/>
                          </a:solidFill>
                          <a:latin typeface="Calibri (MS)"/>
                        </a:rPr>
                        <a:t>0,212</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7,52%</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P2</a:t>
                      </a:r>
                    </a:p>
                  </a:txBody>
                  <a:tcPr marL="73152" marR="73152" marT="36576" marB="36576" anchor="ctr">
                    <a:solidFill>
                      <a:srgbClr val="EAF8FA"/>
                    </a:solidFill>
                  </a:tcPr>
                </a:tc>
                <a:tc>
                  <a:txBody>
                    <a:bodyPr wrap="square"/>
                    <a:lstStyle/>
                    <a:p>
                      <a:r>
                        <a:rPr sz="950" b="0" i="0">
                          <a:solidFill>
                            <a:srgbClr val="14313B"/>
                          </a:solidFill>
                          <a:latin typeface="Calibri (MS)"/>
                        </a:rPr>
                        <a:t>Jumlah ODTW</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1,220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0,0880</a:t>
                      </a:r>
                    </a:p>
                  </a:txBody>
                  <a:tcPr marL="73152" marR="73152" marT="36576" marB="36576" anchor="ctr">
                    <a:solidFill>
                      <a:srgbClr val="FDE2DE"/>
                    </a:solidFill>
                  </a:tcPr>
                </a:tc>
                <a:tc>
                  <a:txBody>
                    <a:bodyPr wrap="square"/>
                    <a:lstStyle/>
                    <a:p>
                      <a:pPr algn="ctr"/>
                      <a:r>
                        <a:rPr sz="950" b="0" i="0">
                          <a:solidFill>
                            <a:srgbClr val="14313B"/>
                          </a:solidFill>
                          <a:latin typeface="Calibri (MS)"/>
                        </a:rPr>
                        <a:t>0,3303</a:t>
                      </a:r>
                    </a:p>
                  </a:txBody>
                  <a:tcPr marL="73152" marR="73152" marT="36576" marB="36576" anchor="ctr">
                    <a:solidFill>
                      <a:srgbClr val="FDE2DE"/>
                    </a:solidFill>
                  </a:tcPr>
                </a:tc>
                <a:tc>
                  <a:txBody>
                    <a:bodyPr wrap="square"/>
                    <a:lstStyle/>
                    <a:p>
                      <a:pPr algn="ctr"/>
                      <a:r>
                        <a:rPr sz="950" b="0" i="0">
                          <a:solidFill>
                            <a:srgbClr val="14313B"/>
                          </a:solidFill>
                          <a:latin typeface="Calibri (MS)"/>
                        </a:rPr>
                        <a:t>0,3367</a:t>
                      </a:r>
                    </a:p>
                  </a:txBody>
                  <a:tcPr marL="73152" marR="73152" marT="36576" marB="36576" anchor="ctr">
                    <a:solidFill>
                      <a:srgbClr val="C9F0D6"/>
                    </a:solidFill>
                  </a:tcPr>
                </a:tc>
                <a:tc>
                  <a:txBody>
                    <a:bodyPr wrap="square"/>
                    <a:lstStyle/>
                    <a:p>
                      <a:pPr algn="ctr"/>
                      <a:r>
                        <a:rPr sz="950" b="0" i="0">
                          <a:solidFill>
                            <a:srgbClr val="14313B"/>
                          </a:solidFill>
                          <a:latin typeface="Calibri (MS)"/>
                        </a:rPr>
                        <a:t>0,728</a:t>
                      </a:r>
                    </a:p>
                  </a:txBody>
                  <a:tcPr marL="73152" marR="73152" marT="36576" marB="36576" anchor="ctr">
                    <a:solidFill>
                      <a:srgbClr val="EAF8FA"/>
                    </a:solidFill>
                  </a:tcPr>
                </a:tc>
                <a:tc>
                  <a:txBody>
                    <a:bodyPr wrap="square"/>
                    <a:lstStyle/>
                    <a:p>
                      <a:pPr algn="ctr"/>
                      <a:r>
                        <a:rPr sz="950" b="0" i="0">
                          <a:solidFill>
                            <a:srgbClr val="14313B"/>
                          </a:solidFill>
                          <a:latin typeface="Calibri (MS)"/>
                        </a:rPr>
                        <a:t>0,094</a:t>
                      </a:r>
                    </a:p>
                  </a:txBody>
                  <a:tcPr marL="73152" marR="73152" marT="36576" marB="36576" anchor="ctr">
                    <a:solidFill>
                      <a:srgbClr val="EAF8FA"/>
                    </a:solidFill>
                  </a:tcPr>
                </a:tc>
                <a:tc>
                  <a:txBody>
                    <a:bodyPr wrap="square"/>
                    <a:lstStyle/>
                    <a:p>
                      <a:pPr algn="ctr"/>
                      <a:r>
                        <a:rPr sz="950" b="0" i="0">
                          <a:solidFill>
                            <a:srgbClr val="14313B"/>
                          </a:solidFill>
                          <a:latin typeface="Calibri (MS)"/>
                        </a:rPr>
                        <a:t>0,178</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8,48%</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P3</a:t>
                      </a:r>
                    </a:p>
                  </a:txBody>
                  <a:tcPr marL="73152" marR="73152" marT="36576" marB="36576" anchor="ctr">
                    <a:solidFill>
                      <a:srgbClr val="FFFFFF"/>
                    </a:solidFill>
                  </a:tcPr>
                </a:tc>
                <a:tc>
                  <a:txBody>
                    <a:bodyPr wrap="square"/>
                    <a:lstStyle/>
                    <a:p>
                      <a:r>
                        <a:rPr sz="950" b="0" i="0">
                          <a:solidFill>
                            <a:srgbClr val="14313B"/>
                          </a:solidFill>
                          <a:latin typeface="Calibri (MS)"/>
                        </a:rPr>
                        <a:t>Tenaga Kerja</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0,411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0,1204</a:t>
                      </a:r>
                    </a:p>
                  </a:txBody>
                  <a:tcPr marL="73152" marR="73152" marT="36576" marB="36576" anchor="ctr">
                    <a:solidFill>
                      <a:srgbClr val="FDE2DE"/>
                    </a:solidFill>
                  </a:tcPr>
                </a:tc>
                <a:tc>
                  <a:txBody>
                    <a:bodyPr wrap="square"/>
                    <a:lstStyle/>
                    <a:p>
                      <a:pPr algn="ctr"/>
                      <a:r>
                        <a:rPr sz="950" b="0" i="0">
                          <a:solidFill>
                            <a:srgbClr val="14313B"/>
                          </a:solidFill>
                          <a:latin typeface="Calibri (MS)"/>
                        </a:rPr>
                        <a:t>0,3207</a:t>
                      </a:r>
                    </a:p>
                  </a:txBody>
                  <a:tcPr marL="73152" marR="73152" marT="36576" marB="36576" anchor="ctr">
                    <a:solidFill>
                      <a:srgbClr val="FDE2DE"/>
                    </a:solidFill>
                  </a:tcPr>
                </a:tc>
                <a:tc>
                  <a:txBody>
                    <a:bodyPr wrap="square"/>
                    <a:lstStyle/>
                    <a:p>
                      <a:pPr algn="ctr"/>
                      <a:r>
                        <a:rPr sz="950" b="0" i="0">
                          <a:solidFill>
                            <a:srgbClr val="14313B"/>
                          </a:solidFill>
                          <a:latin typeface="Calibri (MS)"/>
                        </a:rPr>
                        <a:t>0,5186</a:t>
                      </a:r>
                    </a:p>
                  </a:txBody>
                  <a:tcPr marL="73152" marR="73152" marT="36576" marB="36576" anchor="ctr">
                    <a:solidFill>
                      <a:srgbClr val="FFF1BF"/>
                    </a:solidFill>
                  </a:tcPr>
                </a:tc>
                <a:tc>
                  <a:txBody>
                    <a:bodyPr wrap="square"/>
                    <a:lstStyle/>
                    <a:p>
                      <a:pPr algn="ctr"/>
                      <a:r>
                        <a:rPr sz="950" b="0" i="0">
                          <a:solidFill>
                            <a:srgbClr val="14313B"/>
                          </a:solidFill>
                          <a:latin typeface="Calibri (MS)"/>
                        </a:rPr>
                        <a:t>0,576</a:t>
                      </a:r>
                    </a:p>
                  </a:txBody>
                  <a:tcPr marL="73152" marR="73152" marT="36576" marB="36576" anchor="ctr">
                    <a:solidFill>
                      <a:srgbClr val="FFFFFF"/>
                    </a:solidFill>
                  </a:tcPr>
                </a:tc>
                <a:tc>
                  <a:txBody>
                    <a:bodyPr wrap="square"/>
                    <a:lstStyle/>
                    <a:p>
                      <a:pPr algn="ctr"/>
                      <a:r>
                        <a:rPr sz="950" b="0" i="0">
                          <a:solidFill>
                            <a:srgbClr val="14313B"/>
                          </a:solidFill>
                          <a:latin typeface="Calibri (MS)"/>
                        </a:rPr>
                        <a:t>0,058</a:t>
                      </a:r>
                    </a:p>
                  </a:txBody>
                  <a:tcPr marL="73152" marR="73152" marT="36576" marB="36576" anchor="ctr">
                    <a:solidFill>
                      <a:srgbClr val="FFFFFF"/>
                    </a:solidFill>
                  </a:tcPr>
                </a:tc>
                <a:tc>
                  <a:txBody>
                    <a:bodyPr wrap="square"/>
                    <a:lstStyle/>
                    <a:p>
                      <a:pPr algn="ctr"/>
                      <a:r>
                        <a:rPr sz="950" b="0" i="0">
                          <a:solidFill>
                            <a:srgbClr val="14313B"/>
                          </a:solidFill>
                          <a:latin typeface="Calibri (MS)"/>
                        </a:rPr>
                        <a:t>0,367</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11,28%</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P3</a:t>
                      </a:r>
                    </a:p>
                  </a:txBody>
                  <a:tcPr marL="73152" marR="73152" marT="36576" marB="36576" anchor="ctr">
                    <a:solidFill>
                      <a:srgbClr val="EAF8FA"/>
                    </a:solidFill>
                  </a:tcPr>
                </a:tc>
                <a:tc>
                  <a:txBody>
                    <a:bodyPr wrap="square"/>
                    <a:lstStyle/>
                    <a:p>
                      <a:r>
                        <a:rPr sz="950" b="0" i="0">
                          <a:solidFill>
                            <a:srgbClr val="14313B"/>
                          </a:solidFill>
                          <a:latin typeface="Calibri (MS)"/>
                        </a:rPr>
                        <a:t>Tenaga Kerja</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0,378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0,1370</a:t>
                      </a:r>
                    </a:p>
                  </a:txBody>
                  <a:tcPr marL="73152" marR="73152" marT="36576" marB="36576" anchor="ctr">
                    <a:solidFill>
                      <a:srgbClr val="FDE2DE"/>
                    </a:solidFill>
                  </a:tcPr>
                </a:tc>
                <a:tc>
                  <a:txBody>
                    <a:bodyPr wrap="square"/>
                    <a:lstStyle/>
                    <a:p>
                      <a:pPr algn="ctr"/>
                      <a:r>
                        <a:rPr sz="950" b="0" i="0">
                          <a:solidFill>
                            <a:srgbClr val="14313B"/>
                          </a:solidFill>
                          <a:latin typeface="Calibri (MS)"/>
                        </a:rPr>
                        <a:t>0,3027</a:t>
                      </a:r>
                    </a:p>
                  </a:txBody>
                  <a:tcPr marL="73152" marR="73152" marT="36576" marB="36576" anchor="ctr">
                    <a:solidFill>
                      <a:srgbClr val="FDE2DE"/>
                    </a:solidFill>
                  </a:tcPr>
                </a:tc>
                <a:tc>
                  <a:txBody>
                    <a:bodyPr wrap="square"/>
                    <a:lstStyle/>
                    <a:p>
                      <a:pPr algn="ctr"/>
                      <a:r>
                        <a:rPr sz="950" b="0" i="0">
                          <a:solidFill>
                            <a:srgbClr val="14313B"/>
                          </a:solidFill>
                          <a:latin typeface="Calibri (MS)"/>
                        </a:rPr>
                        <a:t>0,4945</a:t>
                      </a:r>
                    </a:p>
                  </a:txBody>
                  <a:tcPr marL="73152" marR="73152" marT="36576" marB="36576" anchor="ctr">
                    <a:solidFill>
                      <a:srgbClr val="FFF1BF"/>
                    </a:solidFill>
                  </a:tcPr>
                </a:tc>
                <a:tc>
                  <a:txBody>
                    <a:bodyPr wrap="square"/>
                    <a:lstStyle/>
                    <a:p>
                      <a:pPr algn="ctr"/>
                      <a:r>
                        <a:rPr sz="950" b="0" i="0">
                          <a:solidFill>
                            <a:srgbClr val="14313B"/>
                          </a:solidFill>
                          <a:latin typeface="Calibri (MS)"/>
                        </a:rPr>
                        <a:t>0,625</a:t>
                      </a:r>
                    </a:p>
                  </a:txBody>
                  <a:tcPr marL="73152" marR="73152" marT="36576" marB="36576" anchor="ctr">
                    <a:solidFill>
                      <a:srgbClr val="EAF8FA"/>
                    </a:solidFill>
                  </a:tcPr>
                </a:tc>
                <a:tc>
                  <a:txBody>
                    <a:bodyPr wrap="square"/>
                    <a:lstStyle/>
                    <a:p>
                      <a:pPr algn="ctr"/>
                      <a:r>
                        <a:rPr sz="950" b="0" i="0">
                          <a:solidFill>
                            <a:srgbClr val="14313B"/>
                          </a:solidFill>
                          <a:latin typeface="Calibri (MS)"/>
                        </a:rPr>
                        <a:t>0,049</a:t>
                      </a:r>
                    </a:p>
                  </a:txBody>
                  <a:tcPr marL="73152" marR="73152" marT="36576" marB="36576" anchor="ctr">
                    <a:solidFill>
                      <a:srgbClr val="EAF8FA"/>
                    </a:solidFill>
                  </a:tcPr>
                </a:tc>
                <a:tc>
                  <a:txBody>
                    <a:bodyPr wrap="square"/>
                    <a:lstStyle/>
                    <a:p>
                      <a:pPr algn="ctr"/>
                      <a:r>
                        <a:rPr sz="950" b="0" i="0">
                          <a:solidFill>
                            <a:srgbClr val="14313B"/>
                          </a:solidFill>
                          <a:latin typeface="Calibri (MS)"/>
                        </a:rPr>
                        <a:t>0,327</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12,88%</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P4</a:t>
                      </a:r>
                    </a:p>
                  </a:txBody>
                  <a:tcPr marL="73152" marR="73152" marT="36576" marB="36576" anchor="ctr">
                    <a:solidFill>
                      <a:srgbClr val="FFFFFF"/>
                    </a:solidFill>
                  </a:tcPr>
                </a:tc>
                <a:tc>
                  <a:txBody>
                    <a:bodyPr wrap="square"/>
                    <a:lstStyle/>
                    <a:p>
                      <a:r>
                        <a:rPr sz="950" b="0" i="0">
                          <a:solidFill>
                            <a:srgbClr val="14313B"/>
                          </a:solidFill>
                          <a:latin typeface="Calibri (MS)"/>
                        </a:rPr>
                        <a:t>Lahan Terbangun</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0,144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0,1129</a:t>
                      </a:r>
                    </a:p>
                  </a:txBody>
                  <a:tcPr marL="73152" marR="73152" marT="36576" marB="36576" anchor="ctr">
                    <a:solidFill>
                      <a:srgbClr val="FDE2DE"/>
                    </a:solidFill>
                  </a:tcPr>
                </a:tc>
                <a:tc>
                  <a:txBody>
                    <a:bodyPr wrap="square"/>
                    <a:lstStyle/>
                    <a:p>
                      <a:pPr algn="ctr"/>
                      <a:r>
                        <a:rPr sz="950" b="0" i="0">
                          <a:solidFill>
                            <a:srgbClr val="14313B"/>
                          </a:solidFill>
                          <a:latin typeface="Calibri (MS)"/>
                        </a:rPr>
                        <a:t>0,3901</a:t>
                      </a:r>
                    </a:p>
                  </a:txBody>
                  <a:tcPr marL="73152" marR="73152" marT="36576" marB="36576" anchor="ctr">
                    <a:solidFill>
                      <a:srgbClr val="FDE2DE"/>
                    </a:solidFill>
                  </a:tcPr>
                </a:tc>
                <a:tc>
                  <a:txBody>
                    <a:bodyPr wrap="square"/>
                    <a:lstStyle/>
                    <a:p>
                      <a:pPr algn="ctr"/>
                      <a:r>
                        <a:rPr sz="950" b="0" i="0">
                          <a:solidFill>
                            <a:srgbClr val="14313B"/>
                          </a:solidFill>
                          <a:latin typeface="Calibri (MS)"/>
                        </a:rPr>
                        <a:t>0,4809</a:t>
                      </a:r>
                    </a:p>
                  </a:txBody>
                  <a:tcPr marL="73152" marR="73152" marT="36576" marB="36576" anchor="ctr">
                    <a:solidFill>
                      <a:srgbClr val="FFF1BF"/>
                    </a:solidFill>
                  </a:tcPr>
                </a:tc>
                <a:tc>
                  <a:txBody>
                    <a:bodyPr wrap="square"/>
                    <a:lstStyle/>
                    <a:p>
                      <a:pPr algn="ctr"/>
                      <a:r>
                        <a:rPr sz="950" b="0" i="0">
                          <a:solidFill>
                            <a:srgbClr val="14313B"/>
                          </a:solidFill>
                          <a:latin typeface="Calibri (MS)"/>
                        </a:rPr>
                        <a:t>0,481</a:t>
                      </a:r>
                    </a:p>
                  </a:txBody>
                  <a:tcPr marL="73152" marR="73152" marT="36576" marB="36576" anchor="ctr">
                    <a:solidFill>
                      <a:srgbClr val="FFFFFF"/>
                    </a:solidFill>
                  </a:tcPr>
                </a:tc>
                <a:tc>
                  <a:txBody>
                    <a:bodyPr wrap="square"/>
                    <a:lstStyle/>
                    <a:p>
                      <a:pPr algn="ctr"/>
                      <a:r>
                        <a:rPr sz="950" b="0" i="0">
                          <a:solidFill>
                            <a:srgbClr val="14313B"/>
                          </a:solidFill>
                          <a:latin typeface="Calibri (MS)"/>
                        </a:rPr>
                        <a:t>0,132</a:t>
                      </a:r>
                    </a:p>
                  </a:txBody>
                  <a:tcPr marL="73152" marR="73152" marT="36576" marB="36576" anchor="ctr">
                    <a:solidFill>
                      <a:srgbClr val="FFFFFF"/>
                    </a:solidFill>
                  </a:tcPr>
                </a:tc>
                <a:tc>
                  <a:txBody>
                    <a:bodyPr wrap="square"/>
                    <a:lstStyle/>
                    <a:p>
                      <a:pPr algn="ctr"/>
                      <a:r>
                        <a:rPr sz="950" b="0" i="0">
                          <a:solidFill>
                            <a:srgbClr val="14313B"/>
                          </a:solidFill>
                          <a:latin typeface="Calibri (MS)"/>
                        </a:rPr>
                        <a:t>0,387</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12,64%</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P4</a:t>
                      </a:r>
                    </a:p>
                  </a:txBody>
                  <a:tcPr marL="73152" marR="73152" marT="36576" marB="36576" anchor="ctr">
                    <a:solidFill>
                      <a:srgbClr val="EAF8FA"/>
                    </a:solidFill>
                  </a:tcPr>
                </a:tc>
                <a:tc>
                  <a:txBody>
                    <a:bodyPr wrap="square"/>
                    <a:lstStyle/>
                    <a:p>
                      <a:r>
                        <a:rPr sz="950" b="0" i="0">
                          <a:solidFill>
                            <a:srgbClr val="14313B"/>
                          </a:solidFill>
                          <a:latin typeface="Calibri (MS)"/>
                        </a:rPr>
                        <a:t>Lahan Terbangun</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0,131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0,1125</a:t>
                      </a:r>
                    </a:p>
                  </a:txBody>
                  <a:tcPr marL="73152" marR="73152" marT="36576" marB="36576" anchor="ctr">
                    <a:solidFill>
                      <a:srgbClr val="FDE2DE"/>
                    </a:solidFill>
                  </a:tcPr>
                </a:tc>
                <a:tc>
                  <a:txBody>
                    <a:bodyPr wrap="square"/>
                    <a:lstStyle/>
                    <a:p>
                      <a:pPr algn="ctr"/>
                      <a:r>
                        <a:rPr sz="950" b="0" i="0">
                          <a:solidFill>
                            <a:srgbClr val="14313B"/>
                          </a:solidFill>
                          <a:latin typeface="Calibri (MS)"/>
                        </a:rPr>
                        <a:t>0,3918</a:t>
                      </a:r>
                    </a:p>
                  </a:txBody>
                  <a:tcPr marL="73152" marR="73152" marT="36576" marB="36576" anchor="ctr">
                    <a:solidFill>
                      <a:srgbClr val="FDE2DE"/>
                    </a:solidFill>
                  </a:tcPr>
                </a:tc>
                <a:tc>
                  <a:txBody>
                    <a:bodyPr wrap="square"/>
                    <a:lstStyle/>
                    <a:p>
                      <a:pPr algn="ctr"/>
                      <a:r>
                        <a:rPr sz="950" b="0" i="0">
                          <a:solidFill>
                            <a:srgbClr val="14313B"/>
                          </a:solidFill>
                          <a:latin typeface="Calibri (MS)"/>
                        </a:rPr>
                        <a:t>0,4813</a:t>
                      </a:r>
                    </a:p>
                  </a:txBody>
                  <a:tcPr marL="73152" marR="73152" marT="36576" marB="36576" anchor="ctr">
                    <a:solidFill>
                      <a:srgbClr val="FFF1BF"/>
                    </a:solidFill>
                  </a:tcPr>
                </a:tc>
                <a:tc>
                  <a:txBody>
                    <a:bodyPr wrap="square"/>
                    <a:lstStyle/>
                    <a:p>
                      <a:pPr algn="ctr"/>
                      <a:r>
                        <a:rPr sz="950" b="0" i="0">
                          <a:solidFill>
                            <a:srgbClr val="14313B"/>
                          </a:solidFill>
                          <a:latin typeface="Calibri (MS)"/>
                        </a:rPr>
                        <a:t>0,425</a:t>
                      </a:r>
                    </a:p>
                  </a:txBody>
                  <a:tcPr marL="73152" marR="73152" marT="36576" marB="36576" anchor="ctr">
                    <a:solidFill>
                      <a:srgbClr val="EAF8FA"/>
                    </a:solidFill>
                  </a:tcPr>
                </a:tc>
                <a:tc>
                  <a:txBody>
                    <a:bodyPr wrap="square"/>
                    <a:lstStyle/>
                    <a:p>
                      <a:pPr algn="ctr"/>
                      <a:r>
                        <a:rPr sz="950" b="0" i="0">
                          <a:solidFill>
                            <a:srgbClr val="14313B"/>
                          </a:solidFill>
                          <a:latin typeface="Calibri (MS)"/>
                        </a:rPr>
                        <a:t>0,147</a:t>
                      </a:r>
                    </a:p>
                  </a:txBody>
                  <a:tcPr marL="73152" marR="73152" marT="36576" marB="36576" anchor="ctr">
                    <a:solidFill>
                      <a:srgbClr val="EAF8FA"/>
                    </a:solidFill>
                  </a:tcPr>
                </a:tc>
                <a:tc>
                  <a:txBody>
                    <a:bodyPr wrap="square"/>
                    <a:lstStyle/>
                    <a:p>
                      <a:pPr algn="ctr"/>
                      <a:r>
                        <a:rPr sz="950" b="0" i="0">
                          <a:solidFill>
                            <a:srgbClr val="14313B"/>
                          </a:solidFill>
                          <a:latin typeface="Calibri (MS)"/>
                        </a:rPr>
                        <a:t>0,428</a:t>
                      </a:r>
                    </a:p>
                  </a:txBody>
                  <a:tcPr marL="73152" marR="73152" marT="36576" marB="36576" anchor="ctr">
                    <a:solidFill>
                      <a:srgbClr val="EAF8FA"/>
                    </a:solidFill>
                  </a:tcPr>
                </a:tc>
                <a:tc>
                  <a:txBody>
                    <a:bodyPr wrap="square"/>
                    <a:lstStyle/>
                    <a:p>
                      <a:pPr algn="ctr"/>
                      <a:r>
                        <a:rPr sz="950" b="0" i="0">
                          <a:solidFill>
                            <a:srgbClr val="14313B"/>
                          </a:solidFill>
                          <a:latin typeface="Calibri (MS)"/>
                        </a:rPr>
                        <a:t>U3</a:t>
                      </a:r>
                    </a:p>
                  </a:txBody>
                  <a:tcPr marL="73152" marR="73152" marT="36576" marB="36576" anchor="ctr">
                    <a:solidFill>
                      <a:srgbClr val="EAF8FA"/>
                    </a:solidFill>
                  </a:tcPr>
                </a:tc>
                <a:tc>
                  <a:txBody>
                    <a:bodyPr wrap="square"/>
                    <a:lstStyle/>
                    <a:p>
                      <a:pPr algn="ctr"/>
                      <a:r>
                        <a:rPr sz="950" b="0" i="0">
                          <a:solidFill>
                            <a:srgbClr val="14313B"/>
                          </a:solidFill>
                          <a:latin typeface="Calibri (MS)"/>
                        </a:rPr>
                        <a:t>12,94%</a:t>
                      </a:r>
                    </a:p>
                  </a:txBody>
                  <a:tcPr marL="73152" marR="73152" marT="36576" marB="36576" anchor="ctr">
                    <a:solidFill>
                      <a:srgbClr val="EAF8FA"/>
                    </a:solidFill>
                  </a:tcPr>
                </a:tc>
              </a:tr>
              <a:tr h="352044">
                <a:tc>
                  <a:txBody>
                    <a:bodyPr wrap="square"/>
                    <a:lstStyle/>
                    <a:p>
                      <a:r>
                        <a:rPr sz="950" b="1" i="0">
                          <a:solidFill>
                            <a:srgbClr val="14313B"/>
                          </a:solidFill>
                          <a:latin typeface="Calibri (MS) Bold"/>
                        </a:rPr>
                        <a:t>P5</a:t>
                      </a:r>
                    </a:p>
                  </a:txBody>
                  <a:tcPr marL="73152" marR="73152" marT="36576" marB="36576" anchor="ctr">
                    <a:solidFill>
                      <a:srgbClr val="FFFFFF"/>
                    </a:solidFill>
                  </a:tcPr>
                </a:tc>
                <a:tc>
                  <a:txBody>
                    <a:bodyPr wrap="square"/>
                    <a:lstStyle/>
                    <a:p>
                      <a:r>
                        <a:rPr sz="950" b="0" i="0">
                          <a:solidFill>
                            <a:srgbClr val="14313B"/>
                          </a:solidFill>
                          <a:latin typeface="Calibri (MS)"/>
                        </a:rPr>
                        <a:t>Jumlah Wisatawan</a:t>
                      </a:r>
                    </a:p>
                  </a:txBody>
                  <a:tcPr marL="73152" marR="73152" marT="36576" marB="36576" anchor="ctr">
                    <a:solidFill>
                      <a:srgbClr val="FFFFFF"/>
                    </a:solidFill>
                  </a:tcPr>
                </a:tc>
                <a:tc>
                  <a:txBody>
                    <a:bodyPr wrap="square"/>
                    <a:lstStyle/>
                    <a:p>
                      <a:r>
                        <a:rPr sz="950" b="0" i="0">
                          <a:solidFill>
                            <a:srgbClr val="14313B"/>
                          </a:solidFill>
                          <a:latin typeface="Calibri (MS)"/>
                        </a:rPr>
                        <a:t>Dengan COVID</a:t>
                      </a:r>
                    </a:p>
                  </a:txBody>
                  <a:tcPr marL="73152" marR="73152" marT="36576" marB="36576" anchor="ctr">
                    <a:solidFill>
                      <a:srgbClr val="FFFFFF"/>
                    </a:solidFill>
                  </a:tcPr>
                </a:tc>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pPr algn="ctr"/>
                      <a:r>
                        <a:rPr sz="950" b="0" i="0">
                          <a:solidFill>
                            <a:srgbClr val="14313B"/>
                          </a:solidFill>
                          <a:latin typeface="Calibri (MS)"/>
                        </a:rPr>
                        <a:t>4,867 / 2,120</a:t>
                      </a:r>
                    </a:p>
                  </a:txBody>
                  <a:tcPr marL="73152" marR="73152" marT="36576" marB="36576" anchor="ctr">
                    <a:solidFill>
                      <a:srgbClr val="FFFFFF"/>
                    </a:solidFill>
                  </a:tcPr>
                </a:tc>
                <a:tc>
                  <a:txBody>
                    <a:bodyPr wrap="square"/>
                    <a:lstStyle/>
                    <a:p>
                      <a:pPr algn="ctr"/>
                      <a:r>
                        <a:rPr sz="950" b="0" i="0">
                          <a:solidFill>
                            <a:srgbClr val="14313B"/>
                          </a:solidFill>
                          <a:latin typeface="Calibri (MS)"/>
                        </a:rPr>
                        <a:t>Berbeda nyata</a:t>
                      </a:r>
                    </a:p>
                  </a:txBody>
                  <a:tcPr marL="73152" marR="73152" marT="36576" marB="36576" anchor="ctr">
                    <a:solidFill>
                      <a:srgbClr val="FFF1BF"/>
                    </a:solidFill>
                  </a:tcPr>
                </a:tc>
                <a:tc>
                  <a:txBody>
                    <a:bodyPr wrap="square"/>
                    <a:lstStyle/>
                    <a:p>
                      <a:pPr algn="ctr"/>
                      <a:r>
                        <a:rPr sz="950" b="0" i="0">
                          <a:solidFill>
                            <a:srgbClr val="14313B"/>
                          </a:solidFill>
                          <a:latin typeface="Calibri (MS)"/>
                        </a:rPr>
                        <a:t>0,1776*</a:t>
                      </a:r>
                    </a:p>
                  </a:txBody>
                  <a:tcPr marL="73152" marR="73152" marT="36576" marB="36576" anchor="ctr">
                    <a:solidFill>
                      <a:srgbClr val="FFFFFF"/>
                    </a:solidFill>
                  </a:tcPr>
                </a:tc>
                <a:tc>
                  <a:txBody>
                    <a:bodyPr wrap="square"/>
                    <a:lstStyle/>
                    <a:p>
                      <a:pPr algn="ctr"/>
                      <a:r>
                        <a:rPr sz="950" b="0" i="0">
                          <a:solidFill>
                            <a:srgbClr val="14313B"/>
                          </a:solidFill>
                          <a:latin typeface="Calibri (MS)"/>
                        </a:rPr>
                        <a:t>0,5767*</a:t>
                      </a:r>
                    </a:p>
                  </a:txBody>
                  <a:tcPr marL="73152" marR="73152" marT="36576" marB="36576" anchor="ctr">
                    <a:solidFill>
                      <a:srgbClr val="FFFFFF"/>
                    </a:solidFill>
                  </a:tcPr>
                </a:tc>
                <a:tc>
                  <a:txBody>
                    <a:bodyPr wrap="square"/>
                    <a:lstStyle/>
                    <a:p>
                      <a:pPr algn="ctr"/>
                      <a:r>
                        <a:rPr sz="950" b="0" i="0">
                          <a:solidFill>
                            <a:srgbClr val="14313B"/>
                          </a:solidFill>
                          <a:latin typeface="Calibri (MS)"/>
                        </a:rPr>
                        <a:t>0,4203</a:t>
                      </a:r>
                    </a:p>
                  </a:txBody>
                  <a:tcPr marL="73152" marR="73152" marT="36576" marB="36576" anchor="ctr">
                    <a:solidFill>
                      <a:srgbClr val="FFF1BF"/>
                    </a:solidFill>
                  </a:tcPr>
                </a:tc>
                <a:tc>
                  <a:txBody>
                    <a:bodyPr wrap="square"/>
                    <a:lstStyle/>
                    <a:p>
                      <a:pPr algn="ctr"/>
                      <a:r>
                        <a:rPr sz="950" b="0" i="0">
                          <a:solidFill>
                            <a:srgbClr val="14313B"/>
                          </a:solidFill>
                          <a:latin typeface="Calibri (MS)"/>
                        </a:rPr>
                        <a:t>0,421</a:t>
                      </a:r>
                    </a:p>
                  </a:txBody>
                  <a:tcPr marL="73152" marR="73152" marT="36576" marB="36576" anchor="ctr">
                    <a:solidFill>
                      <a:srgbClr val="FFFFFF"/>
                    </a:solidFill>
                  </a:tcPr>
                </a:tc>
                <a:tc>
                  <a:txBody>
                    <a:bodyPr wrap="square"/>
                    <a:lstStyle/>
                    <a:p>
                      <a:pPr algn="ctr"/>
                      <a:r>
                        <a:rPr sz="950" b="0" i="0">
                          <a:solidFill>
                            <a:srgbClr val="14313B"/>
                          </a:solidFill>
                          <a:latin typeface="Calibri (MS)"/>
                        </a:rPr>
                        <a:t>0,539</a:t>
                      </a:r>
                    </a:p>
                  </a:txBody>
                  <a:tcPr marL="73152" marR="73152" marT="36576" marB="36576" anchor="ctr">
                    <a:solidFill>
                      <a:srgbClr val="FFFFFF"/>
                    </a:solidFill>
                  </a:tcPr>
                </a:tc>
                <a:tc>
                  <a:txBody>
                    <a:bodyPr wrap="square"/>
                    <a:lstStyle/>
                    <a:p>
                      <a:pPr algn="ctr"/>
                      <a:r>
                        <a:rPr sz="950" b="0" i="0">
                          <a:solidFill>
                            <a:srgbClr val="14313B"/>
                          </a:solidFill>
                          <a:latin typeface="Calibri (MS)"/>
                        </a:rPr>
                        <a:t>0,041</a:t>
                      </a:r>
                    </a:p>
                  </a:txBody>
                  <a:tcPr marL="73152" marR="73152" marT="36576" marB="36576" anchor="ctr">
                    <a:solidFill>
                      <a:srgbClr val="FFFFFF"/>
                    </a:solidFill>
                  </a:tcPr>
                </a:tc>
                <a:tc>
                  <a:txBody>
                    <a:bodyPr wrap="square"/>
                    <a:lstStyle/>
                    <a:p>
                      <a:pPr algn="ctr"/>
                      <a:r>
                        <a:rPr sz="950" b="0" i="0">
                          <a:solidFill>
                            <a:srgbClr val="14313B"/>
                          </a:solidFill>
                          <a:latin typeface="Calibri (MS)"/>
                        </a:rPr>
                        <a:t>U2</a:t>
                      </a:r>
                    </a:p>
                  </a:txBody>
                  <a:tcPr marL="73152" marR="73152" marT="36576" marB="36576" anchor="ctr">
                    <a:solidFill>
                      <a:srgbClr val="FFFFFF"/>
                    </a:solidFill>
                  </a:tcPr>
                </a:tc>
                <a:tc>
                  <a:txBody>
                    <a:bodyPr wrap="square"/>
                    <a:lstStyle/>
                    <a:p>
                      <a:pPr algn="ctr"/>
                      <a:r>
                        <a:rPr sz="950" b="0" i="0">
                          <a:solidFill>
                            <a:srgbClr val="14313B"/>
                          </a:solidFill>
                          <a:latin typeface="Calibri (MS)"/>
                        </a:rPr>
                        <a:t>14,25%</a:t>
                      </a:r>
                    </a:p>
                  </a:txBody>
                  <a:tcPr marL="73152" marR="73152" marT="36576" marB="36576" anchor="ctr">
                    <a:solidFill>
                      <a:srgbClr val="FFFFFF"/>
                    </a:solidFill>
                  </a:tcPr>
                </a:tc>
              </a:tr>
              <a:tr h="352044">
                <a:tc>
                  <a:txBody>
                    <a:bodyPr wrap="square"/>
                    <a:lstStyle/>
                    <a:p>
                      <a:r>
                        <a:rPr sz="950" b="1" i="0">
                          <a:solidFill>
                            <a:srgbClr val="14313B"/>
                          </a:solidFill>
                          <a:latin typeface="Calibri (MS) Bold"/>
                        </a:rPr>
                        <a:t>P5</a:t>
                      </a:r>
                    </a:p>
                  </a:txBody>
                  <a:tcPr marL="73152" marR="73152" marT="36576" marB="36576" anchor="ctr">
                    <a:solidFill>
                      <a:srgbClr val="EAF8FA"/>
                    </a:solidFill>
                  </a:tcPr>
                </a:tc>
                <a:tc>
                  <a:txBody>
                    <a:bodyPr wrap="square"/>
                    <a:lstStyle/>
                    <a:p>
                      <a:r>
                        <a:rPr sz="950" b="0" i="0">
                          <a:solidFill>
                            <a:srgbClr val="14313B"/>
                          </a:solidFill>
                          <a:latin typeface="Calibri (MS)"/>
                        </a:rPr>
                        <a:t>Jumlah Wisatawan</a:t>
                      </a:r>
                    </a:p>
                  </a:txBody>
                  <a:tcPr marL="73152" marR="73152" marT="36576" marB="36576" anchor="ctr">
                    <a:solidFill>
                      <a:srgbClr val="EAF8FA"/>
                    </a:solidFill>
                  </a:tcPr>
                </a:tc>
                <a:tc>
                  <a:txBody>
                    <a:bodyPr wrap="square"/>
                    <a:lstStyle/>
                    <a:p>
                      <a:r>
                        <a:rPr sz="950" b="0" i="0">
                          <a:solidFill>
                            <a:srgbClr val="14313B"/>
                          </a:solidFill>
                          <a:latin typeface="Calibri (MS)"/>
                        </a:rPr>
                        <a:t>Tanpa 2020–21 ●</a:t>
                      </a:r>
                    </a:p>
                  </a:txBody>
                  <a:tcPr marL="73152" marR="73152" marT="36576" marB="36576" anchor="ctr">
                    <a:solidFill>
                      <a:srgbClr val="EAF8FA"/>
                    </a:solidFill>
                  </a:tcPr>
                </a:tc>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pPr algn="ctr"/>
                      <a:r>
                        <a:rPr sz="950" b="0" i="0">
                          <a:solidFill>
                            <a:srgbClr val="14313B"/>
                          </a:solidFill>
                          <a:latin typeface="Calibri (MS)"/>
                        </a:rPr>
                        <a:t>5,554 / 2,179</a:t>
                      </a:r>
                    </a:p>
                  </a:txBody>
                  <a:tcPr marL="73152" marR="73152" marT="36576" marB="36576" anchor="ctr">
                    <a:solidFill>
                      <a:srgbClr val="EAF8FA"/>
                    </a:solidFill>
                  </a:tcPr>
                </a:tc>
                <a:tc>
                  <a:txBody>
                    <a:bodyPr wrap="square"/>
                    <a:lstStyle/>
                    <a:p>
                      <a:pPr algn="ctr"/>
                      <a:r>
                        <a:rPr sz="950" b="0" i="0">
                          <a:solidFill>
                            <a:srgbClr val="14313B"/>
                          </a:solidFill>
                          <a:latin typeface="Calibri (MS)"/>
                        </a:rPr>
                        <a:t>Berbeda nyata</a:t>
                      </a:r>
                    </a:p>
                  </a:txBody>
                  <a:tcPr marL="73152" marR="73152" marT="36576" marB="36576" anchor="ctr">
                    <a:solidFill>
                      <a:srgbClr val="FFF1BF"/>
                    </a:solidFill>
                  </a:tcPr>
                </a:tc>
                <a:tc>
                  <a:txBody>
                    <a:bodyPr wrap="square"/>
                    <a:lstStyle/>
                    <a:p>
                      <a:pPr algn="ctr"/>
                      <a:r>
                        <a:rPr sz="950" b="0" i="0">
                          <a:solidFill>
                            <a:srgbClr val="14313B"/>
                          </a:solidFill>
                          <a:latin typeface="Calibri (MS)"/>
                        </a:rPr>
                        <a:t>0,2025*</a:t>
                      </a:r>
                    </a:p>
                  </a:txBody>
                  <a:tcPr marL="73152" marR="73152" marT="36576" marB="36576" anchor="ctr">
                    <a:solidFill>
                      <a:srgbClr val="EAF8FA"/>
                    </a:solidFill>
                  </a:tcPr>
                </a:tc>
                <a:tc>
                  <a:txBody>
                    <a:bodyPr wrap="square"/>
                    <a:lstStyle/>
                    <a:p>
                      <a:pPr algn="ctr"/>
                      <a:r>
                        <a:rPr sz="950" b="0" i="0">
                          <a:solidFill>
                            <a:srgbClr val="14313B"/>
                          </a:solidFill>
                          <a:latin typeface="Calibri (MS)"/>
                        </a:rPr>
                        <a:t>0,5680*</a:t>
                      </a:r>
                    </a:p>
                  </a:txBody>
                  <a:tcPr marL="73152" marR="73152" marT="36576" marB="36576" anchor="ctr">
                    <a:solidFill>
                      <a:srgbClr val="EAF8FA"/>
                    </a:solidFill>
                  </a:tcPr>
                </a:tc>
                <a:tc>
                  <a:txBody>
                    <a:bodyPr wrap="square"/>
                    <a:lstStyle/>
                    <a:p>
                      <a:pPr algn="ctr"/>
                      <a:r>
                        <a:rPr sz="950" b="0" i="0">
                          <a:solidFill>
                            <a:srgbClr val="14313B"/>
                          </a:solidFill>
                          <a:latin typeface="Calibri (MS)"/>
                        </a:rPr>
                        <a:t>0,4057</a:t>
                      </a:r>
                    </a:p>
                  </a:txBody>
                  <a:tcPr marL="73152" marR="73152" marT="36576" marB="36576" anchor="ctr">
                    <a:solidFill>
                      <a:srgbClr val="FFF1BF"/>
                    </a:solidFill>
                  </a:tcPr>
                </a:tc>
                <a:tc>
                  <a:txBody>
                    <a:bodyPr wrap="square"/>
                    <a:lstStyle/>
                    <a:p>
                      <a:pPr algn="ctr"/>
                      <a:r>
                        <a:rPr sz="950" b="0" i="0">
                          <a:solidFill>
                            <a:srgbClr val="14313B"/>
                          </a:solidFill>
                          <a:latin typeface="Calibri (MS)"/>
                        </a:rPr>
                        <a:t>0,474</a:t>
                      </a:r>
                    </a:p>
                  </a:txBody>
                  <a:tcPr marL="73152" marR="73152" marT="36576" marB="36576" anchor="ctr">
                    <a:solidFill>
                      <a:srgbClr val="EAF8FA"/>
                    </a:solidFill>
                  </a:tcPr>
                </a:tc>
                <a:tc>
                  <a:txBody>
                    <a:bodyPr wrap="square"/>
                    <a:lstStyle/>
                    <a:p>
                      <a:pPr algn="ctr"/>
                      <a:r>
                        <a:rPr sz="950" b="0" i="0">
                          <a:solidFill>
                            <a:srgbClr val="14313B"/>
                          </a:solidFill>
                          <a:latin typeface="Calibri (MS)"/>
                        </a:rPr>
                        <a:t>0,503</a:t>
                      </a:r>
                    </a:p>
                  </a:txBody>
                  <a:tcPr marL="73152" marR="73152" marT="36576" marB="36576" anchor="ctr">
                    <a:solidFill>
                      <a:srgbClr val="EAF8FA"/>
                    </a:solidFill>
                  </a:tcPr>
                </a:tc>
                <a:tc>
                  <a:txBody>
                    <a:bodyPr wrap="square"/>
                    <a:lstStyle/>
                    <a:p>
                      <a:pPr algn="ctr"/>
                      <a:r>
                        <a:rPr sz="950" b="0" i="0">
                          <a:solidFill>
                            <a:srgbClr val="14313B"/>
                          </a:solidFill>
                          <a:latin typeface="Calibri (MS)"/>
                        </a:rPr>
                        <a:t>0,023</a:t>
                      </a:r>
                    </a:p>
                  </a:txBody>
                  <a:tcPr marL="73152" marR="73152" marT="36576" marB="36576" anchor="ctr">
                    <a:solidFill>
                      <a:srgbClr val="EAF8FA"/>
                    </a:solidFill>
                  </a:tcPr>
                </a:tc>
                <a:tc>
                  <a:txBody>
                    <a:bodyPr wrap="square"/>
                    <a:lstStyle/>
                    <a:p>
                      <a:pPr algn="ctr"/>
                      <a:r>
                        <a:rPr sz="950" b="0" i="0">
                          <a:solidFill>
                            <a:srgbClr val="14313B"/>
                          </a:solidFill>
                          <a:latin typeface="Calibri (MS)"/>
                        </a:rPr>
                        <a:t>U2</a:t>
                      </a:r>
                    </a:p>
                  </a:txBody>
                  <a:tcPr marL="73152" marR="73152" marT="36576" marB="36576" anchor="ctr">
                    <a:solidFill>
                      <a:srgbClr val="EAF8FA"/>
                    </a:solidFill>
                  </a:tcPr>
                </a:tc>
                <a:tc>
                  <a:txBody>
                    <a:bodyPr wrap="square"/>
                    <a:lstStyle/>
                    <a:p>
                      <a:pPr algn="ctr"/>
                      <a:r>
                        <a:rPr sz="950" b="0" i="0">
                          <a:solidFill>
                            <a:srgbClr val="14313B"/>
                          </a:solidFill>
                          <a:latin typeface="Calibri (MS)"/>
                        </a:rPr>
                        <a:t>16,44%</a:t>
                      </a:r>
                    </a:p>
                  </a:txBody>
                  <a:tcPr marL="73152" marR="73152" marT="36576" marB="36576" anchor="ctr">
                    <a:solidFill>
                      <a:srgbClr val="EAF8FA"/>
                    </a:solidFill>
                  </a:tcPr>
                </a:tc>
              </a:tr>
            </a:tbl>
          </a:graphicData>
        </a:graphic>
      </p:graphicFrame>
      <p:sp>
        <p:nvSpPr>
          <p:cNvPr id="28" name="TextBox 27"/>
          <p:cNvSpPr txBox="1"/>
          <p:nvPr/>
        </p:nvSpPr>
        <p:spPr>
          <a:xfrm>
            <a:off x="822960" y="800100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Hijau: memenuhi pedoman · kuning: berbeda nyata / DC cukup · merah muda: tidak memenuhi. *Tren berbeda nyata: E1 dan E2 tidak ditafsirkan.</a:t>
            </a:r>
          </a:p>
        </p:txBody>
      </p:sp>
      <p:sp>
        <p:nvSpPr>
          <p:cNvPr id="29" name="Rounded Rectangle 28"/>
          <p:cNvSpPr/>
          <p:nvPr/>
        </p:nvSpPr>
        <p:spPr>
          <a:xfrm>
            <a:off x="822960" y="832104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Intinya  </a:t>
            </a:r>
            <a:r>
              <a:rPr sz="1200" b="0" i="0">
                <a:solidFill>
                  <a:srgbClr val="14313B"/>
                </a:solidFill>
                <a:latin typeface="Calibri (MS)"/>
              </a:rPr>
              <a:t>Semua subsistem lolos uji tren kecuali wisatawan (P5). Hotel paling baik (lolos ketiga uji). Galat P2, P3, P4 didominasi bias (U1); galat P5 sistematis (U1+U2 &gt; 0,95).</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 (Tabel 46); hasil_P1_P4_baseline_v2.xlsx, hasil_uji_perilaku.xlsx (P2, P3), hasil_uji_perilaku_baseline_v2.xlsx (P5).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55 · Hasil Uji Penuh Lengkap (9 variabel, dua versi)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 = versi yang dilaporkan sebagai angka utama (dengan COVID). Periode 2019–2025</a:t>
            </a:r>
          </a:p>
        </p:txBody>
      </p:sp>
      <p:graphicFrame>
        <p:nvGraphicFramePr>
          <p:cNvPr id="27" name="Table 26"/>
          <p:cNvGraphicFramePr>
            <a:graphicFrameLocks noGrp="1"/>
          </p:cNvGraphicFramePr>
          <p:nvPr/>
        </p:nvGraphicFramePr>
        <p:xfrm>
          <a:off x="822960" y="1874519"/>
          <a:ext cx="16642073" cy="6254496"/>
        </p:xfrm>
        <a:graphic>
          <a:graphicData uri="http://schemas.openxmlformats.org/drawingml/2006/table">
            <a:tbl>
              <a:tblPr firstRow="1" bandRow="1">
                <a:tableStyleId>{5C22544A-7EE6-4342-B048-85BDC9FD1C3A}</a:tableStyleId>
              </a:tblPr>
              <a:tblGrid>
                <a:gridCol w="2418906"/>
                <a:gridCol w="1789991"/>
                <a:gridCol w="483781"/>
                <a:gridCol w="1693234"/>
                <a:gridCol w="1983503"/>
                <a:gridCol w="1064319"/>
                <a:gridCol w="1064319"/>
                <a:gridCol w="1015940"/>
                <a:gridCol w="919184"/>
                <a:gridCol w="919184"/>
                <a:gridCol w="919184"/>
                <a:gridCol w="1064319"/>
                <a:gridCol w="1306209"/>
              </a:tblGrid>
              <a:tr h="329184">
                <a:tc>
                  <a:txBody>
                    <a:bodyPr wrap="square"/>
                    <a:lstStyle/>
                    <a:p>
                      <a:r>
                        <a:rPr sz="950" b="1" i="0">
                          <a:solidFill>
                            <a:srgbClr val="FFFFFF"/>
                          </a:solidFill>
                          <a:latin typeface="Calibri (MS) Bold"/>
                        </a:rPr>
                        <a:t>Variabel</a:t>
                      </a:r>
                    </a:p>
                  </a:txBody>
                  <a:tcPr marL="73152" marR="73152" marT="36576" marB="36576" anchor="ctr">
                    <a:solidFill>
                      <a:srgbClr val="0B5E6E"/>
                    </a:solidFill>
                  </a:tcPr>
                </a:tc>
                <a:tc>
                  <a:txBody>
                    <a:bodyPr wrap="square"/>
                    <a:lstStyle/>
                    <a:p>
                      <a:r>
                        <a:rPr sz="950" b="1" i="0">
                          <a:solidFill>
                            <a:srgbClr val="FFFFFF"/>
                          </a:solidFill>
                          <a:latin typeface="Calibri (MS) Bold"/>
                        </a:rPr>
                        <a:t>Versi</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 hitung / t tabel</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Tren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E1</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E2</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DC</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U1</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U2</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U3</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Dominan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MAPE</a:t>
                      </a:r>
                    </a:p>
                  </a:txBody>
                  <a:tcPr marL="73152" marR="73152" marT="36576" marB="36576" anchor="ctr">
                    <a:solidFill>
                      <a:srgbClr val="0B5E6E"/>
                    </a:solidFill>
                  </a:tcPr>
                </a:tc>
              </a:tr>
              <a:tr h="329184">
                <a:tc>
                  <a:txBody>
                    <a:bodyPr wrap="square"/>
                    <a:lstStyle/>
                    <a:p>
                      <a:r>
                        <a:rPr sz="950" b="1" i="0">
                          <a:solidFill>
                            <a:srgbClr val="14313B"/>
                          </a:solidFill>
                          <a:latin typeface="Calibri (MS) Bold"/>
                        </a:rPr>
                        <a:t>Jumlah Wisatawan</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4,650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Berbeda nyata</a:t>
                      </a:r>
                    </a:p>
                  </a:txBody>
                  <a:tcPr marL="73152" marR="73152" marT="36576" marB="36576" anchor="ctr">
                    <a:solidFill>
                      <a:srgbClr val="FFF1BF"/>
                    </a:solidFill>
                  </a:tcPr>
                </a:tc>
                <a:tc>
                  <a:txBody>
                    <a:bodyPr wrap="square"/>
                    <a:lstStyle/>
                    <a:p>
                      <a:pPr algn="ctr"/>
                      <a:r>
                        <a:rPr sz="950" b="0" i="0">
                          <a:solidFill>
                            <a:srgbClr val="14313B"/>
                          </a:solidFill>
                          <a:latin typeface="Calibri (MS)"/>
                        </a:rPr>
                        <a:t>0,1194*</a:t>
                      </a:r>
                    </a:p>
                  </a:txBody>
                  <a:tcPr marL="73152" marR="73152" marT="36576" marB="36576" anchor="ctr">
                    <a:solidFill>
                      <a:srgbClr val="FFFFFF"/>
                    </a:solidFill>
                  </a:tcPr>
                </a:tc>
                <a:tc>
                  <a:txBody>
                    <a:bodyPr wrap="square"/>
                    <a:lstStyle/>
                    <a:p>
                      <a:pPr algn="ctr"/>
                      <a:r>
                        <a:rPr sz="950" b="0" i="0">
                          <a:solidFill>
                            <a:srgbClr val="14313B"/>
                          </a:solidFill>
                          <a:latin typeface="Calibri (MS)"/>
                        </a:rPr>
                        <a:t>0,6064*</a:t>
                      </a:r>
                    </a:p>
                  </a:txBody>
                  <a:tcPr marL="73152" marR="73152" marT="36576" marB="36576" anchor="ctr">
                    <a:solidFill>
                      <a:srgbClr val="FFFFFF"/>
                    </a:solidFill>
                  </a:tcPr>
                </a:tc>
                <a:tc>
                  <a:txBody>
                    <a:bodyPr wrap="square"/>
                    <a:lstStyle/>
                    <a:p>
                      <a:pPr algn="ctr"/>
                      <a:r>
                        <a:rPr sz="950" b="0" i="0">
                          <a:solidFill>
                            <a:srgbClr val="14313B"/>
                          </a:solidFill>
                          <a:latin typeface="Calibri (MS)"/>
                        </a:rPr>
                        <a:t>0,4482</a:t>
                      </a:r>
                    </a:p>
                  </a:txBody>
                  <a:tcPr marL="73152" marR="73152" marT="36576" marB="36576" anchor="ctr">
                    <a:solidFill>
                      <a:srgbClr val="FFF1BF"/>
                    </a:solidFill>
                  </a:tcPr>
                </a:tc>
                <a:tc>
                  <a:txBody>
                    <a:bodyPr wrap="square"/>
                    <a:lstStyle/>
                    <a:p>
                      <a:pPr algn="ctr"/>
                      <a:r>
                        <a:rPr sz="950" b="0" i="0">
                          <a:solidFill>
                            <a:srgbClr val="14313B"/>
                          </a:solidFill>
                          <a:latin typeface="Calibri (MS)"/>
                        </a:rPr>
                        <a:t>0,324</a:t>
                      </a:r>
                    </a:p>
                  </a:txBody>
                  <a:tcPr marL="73152" marR="73152" marT="36576" marB="36576" anchor="ctr">
                    <a:solidFill>
                      <a:srgbClr val="FFFFFF"/>
                    </a:solidFill>
                  </a:tcPr>
                </a:tc>
                <a:tc>
                  <a:txBody>
                    <a:bodyPr wrap="square"/>
                    <a:lstStyle/>
                    <a:p>
                      <a:pPr algn="ctr"/>
                      <a:r>
                        <a:rPr sz="950" b="0" i="0">
                          <a:solidFill>
                            <a:srgbClr val="14313B"/>
                          </a:solidFill>
                          <a:latin typeface="Calibri (MS)"/>
                        </a:rPr>
                        <a:t>0,637</a:t>
                      </a:r>
                    </a:p>
                  </a:txBody>
                  <a:tcPr marL="73152" marR="73152" marT="36576" marB="36576" anchor="ctr">
                    <a:solidFill>
                      <a:srgbClr val="FFFFFF"/>
                    </a:solidFill>
                  </a:tcPr>
                </a:tc>
                <a:tc>
                  <a:txBody>
                    <a:bodyPr wrap="square"/>
                    <a:lstStyle/>
                    <a:p>
                      <a:pPr algn="ctr"/>
                      <a:r>
                        <a:rPr sz="950" b="0" i="0">
                          <a:solidFill>
                            <a:srgbClr val="14313B"/>
                          </a:solidFill>
                          <a:latin typeface="Calibri (MS)"/>
                        </a:rPr>
                        <a:t>0,039</a:t>
                      </a:r>
                    </a:p>
                  </a:txBody>
                  <a:tcPr marL="73152" marR="73152" marT="36576" marB="36576" anchor="ctr">
                    <a:solidFill>
                      <a:srgbClr val="FFFFFF"/>
                    </a:solidFill>
                  </a:tcPr>
                </a:tc>
                <a:tc>
                  <a:txBody>
                    <a:bodyPr wrap="square"/>
                    <a:lstStyle/>
                    <a:p>
                      <a:pPr algn="ctr"/>
                      <a:r>
                        <a:rPr sz="950" b="0" i="0">
                          <a:solidFill>
                            <a:srgbClr val="14313B"/>
                          </a:solidFill>
                          <a:latin typeface="Calibri (MS)"/>
                        </a:rPr>
                        <a:t>U2</a:t>
                      </a:r>
                    </a:p>
                  </a:txBody>
                  <a:tcPr marL="73152" marR="73152" marT="36576" marB="36576" anchor="ctr">
                    <a:solidFill>
                      <a:srgbClr val="FFFFFF"/>
                    </a:solidFill>
                  </a:tcPr>
                </a:tc>
                <a:tc>
                  <a:txBody>
                    <a:bodyPr wrap="square"/>
                    <a:lstStyle/>
                    <a:p>
                      <a:pPr algn="ctr"/>
                      <a:r>
                        <a:rPr sz="950" b="0" i="0">
                          <a:solidFill>
                            <a:srgbClr val="14313B"/>
                          </a:solidFill>
                          <a:latin typeface="Calibri (MS)"/>
                        </a:rPr>
                        <a:t>12,06%</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Jumlah Wisatawan</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3,156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Berbeda nyata</a:t>
                      </a:r>
                    </a:p>
                  </a:txBody>
                  <a:tcPr marL="73152" marR="73152" marT="36576" marB="36576" anchor="ctr">
                    <a:solidFill>
                      <a:srgbClr val="FFF1BF"/>
                    </a:solidFill>
                  </a:tcPr>
                </a:tc>
                <a:tc>
                  <a:txBody>
                    <a:bodyPr wrap="square"/>
                    <a:lstStyle/>
                    <a:p>
                      <a:pPr algn="ctr"/>
                      <a:r>
                        <a:rPr sz="950" b="0" i="0">
                          <a:solidFill>
                            <a:srgbClr val="14313B"/>
                          </a:solidFill>
                          <a:latin typeface="Calibri (MS)"/>
                        </a:rPr>
                        <a:t>0,1690*</a:t>
                      </a:r>
                    </a:p>
                  </a:txBody>
                  <a:tcPr marL="73152" marR="73152" marT="36576" marB="36576" anchor="ctr">
                    <a:solidFill>
                      <a:srgbClr val="EAF8FA"/>
                    </a:solidFill>
                  </a:tcPr>
                </a:tc>
                <a:tc>
                  <a:txBody>
                    <a:bodyPr wrap="square"/>
                    <a:lstStyle/>
                    <a:p>
                      <a:pPr algn="ctr"/>
                      <a:r>
                        <a:rPr sz="950" b="0" i="0">
                          <a:solidFill>
                            <a:srgbClr val="14313B"/>
                          </a:solidFill>
                          <a:latin typeface="Calibri (MS)"/>
                        </a:rPr>
                        <a:t>0,5808*</a:t>
                      </a:r>
                    </a:p>
                  </a:txBody>
                  <a:tcPr marL="73152" marR="73152" marT="36576" marB="36576" anchor="ctr">
                    <a:solidFill>
                      <a:srgbClr val="EAF8FA"/>
                    </a:solidFill>
                  </a:tcPr>
                </a:tc>
                <a:tc>
                  <a:txBody>
                    <a:bodyPr wrap="square"/>
                    <a:lstStyle/>
                    <a:p>
                      <a:pPr algn="ctr"/>
                      <a:r>
                        <a:rPr sz="950" b="0" i="0">
                          <a:solidFill>
                            <a:srgbClr val="14313B"/>
                          </a:solidFill>
                          <a:latin typeface="Calibri (MS)"/>
                        </a:rPr>
                        <a:t>0,4258</a:t>
                      </a:r>
                    </a:p>
                  </a:txBody>
                  <a:tcPr marL="73152" marR="73152" marT="36576" marB="36576" anchor="ctr">
                    <a:solidFill>
                      <a:srgbClr val="FFF1BF"/>
                    </a:solidFill>
                  </a:tcPr>
                </a:tc>
                <a:tc>
                  <a:txBody>
                    <a:bodyPr wrap="square"/>
                    <a:lstStyle/>
                    <a:p>
                      <a:pPr algn="ctr"/>
                      <a:r>
                        <a:rPr sz="950" b="0" i="0">
                          <a:solidFill>
                            <a:srgbClr val="14313B"/>
                          </a:solidFill>
                          <a:latin typeface="Calibri (MS)"/>
                        </a:rPr>
                        <a:t>0,573</a:t>
                      </a:r>
                    </a:p>
                  </a:txBody>
                  <a:tcPr marL="73152" marR="73152" marT="36576" marB="36576" anchor="ctr">
                    <a:solidFill>
                      <a:srgbClr val="EAF8FA"/>
                    </a:solidFill>
                  </a:tcPr>
                </a:tc>
                <a:tc>
                  <a:txBody>
                    <a:bodyPr wrap="square"/>
                    <a:lstStyle/>
                    <a:p>
                      <a:pPr algn="ctr"/>
                      <a:r>
                        <a:rPr sz="950" b="0" i="0">
                          <a:solidFill>
                            <a:srgbClr val="14313B"/>
                          </a:solidFill>
                          <a:latin typeface="Calibri (MS)"/>
                        </a:rPr>
                        <a:t>0,394</a:t>
                      </a:r>
                    </a:p>
                  </a:txBody>
                  <a:tcPr marL="73152" marR="73152" marT="36576" marB="36576" anchor="ctr">
                    <a:solidFill>
                      <a:srgbClr val="EAF8FA"/>
                    </a:solidFill>
                  </a:tcPr>
                </a:tc>
                <a:tc>
                  <a:txBody>
                    <a:bodyPr wrap="square"/>
                    <a:lstStyle/>
                    <a:p>
                      <a:pPr algn="ctr"/>
                      <a:r>
                        <a:rPr sz="950" b="0" i="0">
                          <a:solidFill>
                            <a:srgbClr val="14313B"/>
                          </a:solidFill>
                          <a:latin typeface="Calibri (MS)"/>
                        </a:rPr>
                        <a:t>0,032</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14,24%</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Jumlah Hotel</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3,604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0,1399*</a:t>
                      </a:r>
                    </a:p>
                  </a:txBody>
                  <a:tcPr marL="73152" marR="73152" marT="36576" marB="36576" anchor="ctr">
                    <a:solidFill>
                      <a:srgbClr val="FFFFFF"/>
                    </a:solidFill>
                  </a:tcPr>
                </a:tc>
                <a:tc>
                  <a:txBody>
                    <a:bodyPr wrap="square"/>
                    <a:lstStyle/>
                    <a:p>
                      <a:pPr algn="ctr"/>
                      <a:r>
                        <a:rPr sz="950" b="0" i="0">
                          <a:solidFill>
                            <a:srgbClr val="14313B"/>
                          </a:solidFill>
                          <a:latin typeface="Calibri (MS)"/>
                        </a:rPr>
                        <a:t>0,4685*</a:t>
                      </a:r>
                    </a:p>
                  </a:txBody>
                  <a:tcPr marL="73152" marR="73152" marT="36576" marB="36576" anchor="ctr">
                    <a:solidFill>
                      <a:srgbClr val="FFFFFF"/>
                    </a:solidFill>
                  </a:tcPr>
                </a:tc>
                <a:tc>
                  <a:txBody>
                    <a:bodyPr wrap="square"/>
                    <a:lstStyle/>
                    <a:p>
                      <a:pPr algn="ctr"/>
                      <a:r>
                        <a:rPr sz="950" b="0" i="0">
                          <a:solidFill>
                            <a:srgbClr val="14313B"/>
                          </a:solidFill>
                          <a:latin typeface="Calibri (MS)"/>
                        </a:rPr>
                        <a:t>0,8228</a:t>
                      </a:r>
                    </a:p>
                  </a:txBody>
                  <a:tcPr marL="73152" marR="73152" marT="36576" marB="36576" anchor="ctr">
                    <a:solidFill>
                      <a:srgbClr val="FDE2DE"/>
                    </a:solidFill>
                  </a:tcPr>
                </a:tc>
                <a:tc>
                  <a:txBody>
                    <a:bodyPr wrap="square"/>
                    <a:lstStyle/>
                    <a:p>
                      <a:pPr algn="ctr"/>
                      <a:r>
                        <a:rPr sz="950" b="0" i="0">
                          <a:solidFill>
                            <a:srgbClr val="14313B"/>
                          </a:solidFill>
                          <a:latin typeface="Calibri (MS)"/>
                        </a:rPr>
                        <a:t>0,578</a:t>
                      </a:r>
                    </a:p>
                  </a:txBody>
                  <a:tcPr marL="73152" marR="73152" marT="36576" marB="36576" anchor="ctr">
                    <a:solidFill>
                      <a:srgbClr val="FFFFFF"/>
                    </a:solidFill>
                  </a:tcPr>
                </a:tc>
                <a:tc>
                  <a:txBody>
                    <a:bodyPr wrap="square"/>
                    <a:lstStyle/>
                    <a:p>
                      <a:pPr algn="ctr"/>
                      <a:r>
                        <a:rPr sz="950" b="0" i="0">
                          <a:solidFill>
                            <a:srgbClr val="14313B"/>
                          </a:solidFill>
                          <a:latin typeface="Calibri (MS)"/>
                        </a:rPr>
                        <a:t>0,058</a:t>
                      </a:r>
                    </a:p>
                  </a:txBody>
                  <a:tcPr marL="73152" marR="73152" marT="36576" marB="36576" anchor="ctr">
                    <a:solidFill>
                      <a:srgbClr val="FFFFFF"/>
                    </a:solidFill>
                  </a:tcPr>
                </a:tc>
                <a:tc>
                  <a:txBody>
                    <a:bodyPr wrap="square"/>
                    <a:lstStyle/>
                    <a:p>
                      <a:pPr algn="ctr"/>
                      <a:r>
                        <a:rPr sz="950" b="0" i="0">
                          <a:solidFill>
                            <a:srgbClr val="14313B"/>
                          </a:solidFill>
                          <a:latin typeface="Calibri (MS)"/>
                        </a:rPr>
                        <a:t>0,364</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13,16%</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Jumlah Hotel</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2,775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0,1725*</a:t>
                      </a:r>
                    </a:p>
                  </a:txBody>
                  <a:tcPr marL="73152" marR="73152" marT="36576" marB="36576" anchor="ctr">
                    <a:solidFill>
                      <a:srgbClr val="EAF8FA"/>
                    </a:solidFill>
                  </a:tcPr>
                </a:tc>
                <a:tc>
                  <a:txBody>
                    <a:bodyPr wrap="square"/>
                    <a:lstStyle/>
                    <a:p>
                      <a:pPr algn="ctr"/>
                      <a:r>
                        <a:rPr sz="950" b="0" i="0">
                          <a:solidFill>
                            <a:srgbClr val="14313B"/>
                          </a:solidFill>
                          <a:latin typeface="Calibri (MS)"/>
                        </a:rPr>
                        <a:t>0,4406*</a:t>
                      </a:r>
                    </a:p>
                  </a:txBody>
                  <a:tcPr marL="73152" marR="73152" marT="36576" marB="36576" anchor="ctr">
                    <a:solidFill>
                      <a:srgbClr val="EAF8FA"/>
                    </a:solidFill>
                  </a:tcPr>
                </a:tc>
                <a:tc>
                  <a:txBody>
                    <a:bodyPr wrap="square"/>
                    <a:lstStyle/>
                    <a:p>
                      <a:pPr algn="ctr"/>
                      <a:r>
                        <a:rPr sz="950" b="0" i="0">
                          <a:solidFill>
                            <a:srgbClr val="14313B"/>
                          </a:solidFill>
                          <a:latin typeface="Calibri (MS)"/>
                        </a:rPr>
                        <a:t>0,8082</a:t>
                      </a:r>
                    </a:p>
                  </a:txBody>
                  <a:tcPr marL="73152" marR="73152" marT="36576" marB="36576" anchor="ctr">
                    <a:solidFill>
                      <a:srgbClr val="FDE2DE"/>
                    </a:solidFill>
                  </a:tcPr>
                </a:tc>
                <a:tc>
                  <a:txBody>
                    <a:bodyPr wrap="square"/>
                    <a:lstStyle/>
                    <a:p>
                      <a:pPr algn="ctr"/>
                      <a:r>
                        <a:rPr sz="950" b="0" i="0">
                          <a:solidFill>
                            <a:srgbClr val="14313B"/>
                          </a:solidFill>
                          <a:latin typeface="Calibri (MS)"/>
                        </a:rPr>
                        <a:t>0,676</a:t>
                      </a:r>
                    </a:p>
                  </a:txBody>
                  <a:tcPr marL="73152" marR="73152" marT="36576" marB="36576" anchor="ctr">
                    <a:solidFill>
                      <a:srgbClr val="EAF8FA"/>
                    </a:solidFill>
                  </a:tcPr>
                </a:tc>
                <a:tc>
                  <a:txBody>
                    <a:bodyPr wrap="square"/>
                    <a:lstStyle/>
                    <a:p>
                      <a:pPr algn="ctr"/>
                      <a:r>
                        <a:rPr sz="950" b="0" i="0">
                          <a:solidFill>
                            <a:srgbClr val="14313B"/>
                          </a:solidFill>
                          <a:latin typeface="Calibri (MS)"/>
                        </a:rPr>
                        <a:t>0,040</a:t>
                      </a:r>
                    </a:p>
                  </a:txBody>
                  <a:tcPr marL="73152" marR="73152" marT="36576" marB="36576" anchor="ctr">
                    <a:solidFill>
                      <a:srgbClr val="EAF8FA"/>
                    </a:solidFill>
                  </a:tcPr>
                </a:tc>
                <a:tc>
                  <a:txBody>
                    <a:bodyPr wrap="square"/>
                    <a:lstStyle/>
                    <a:p>
                      <a:pPr algn="ctr"/>
                      <a:r>
                        <a:rPr sz="950" b="0" i="0">
                          <a:solidFill>
                            <a:srgbClr val="14313B"/>
                          </a:solidFill>
                          <a:latin typeface="Calibri (MS)"/>
                        </a:rPr>
                        <a:t>0,285</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16,45%</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Jumlah ODTW</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1,668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0,0012</a:t>
                      </a:r>
                    </a:p>
                  </a:txBody>
                  <a:tcPr marL="73152" marR="73152" marT="36576" marB="36576" anchor="ctr">
                    <a:solidFill>
                      <a:srgbClr val="C9F0D6"/>
                    </a:solidFill>
                  </a:tcPr>
                </a:tc>
                <a:tc>
                  <a:txBody>
                    <a:bodyPr wrap="square"/>
                    <a:lstStyle/>
                    <a:p>
                      <a:pPr algn="ctr"/>
                      <a:r>
                        <a:rPr sz="950" b="0" i="0">
                          <a:solidFill>
                            <a:srgbClr val="14313B"/>
                          </a:solidFill>
                          <a:latin typeface="Calibri (MS)"/>
                        </a:rPr>
                        <a:t>0,8550</a:t>
                      </a:r>
                    </a:p>
                  </a:txBody>
                  <a:tcPr marL="73152" marR="73152" marT="36576" marB="36576" anchor="ctr">
                    <a:solidFill>
                      <a:srgbClr val="FDE2DE"/>
                    </a:solidFill>
                  </a:tcPr>
                </a:tc>
                <a:tc>
                  <a:txBody>
                    <a:bodyPr wrap="square"/>
                    <a:lstStyle/>
                    <a:p>
                      <a:pPr algn="ctr"/>
                      <a:r>
                        <a:rPr sz="950" b="0" i="0">
                          <a:solidFill>
                            <a:srgbClr val="14313B"/>
                          </a:solidFill>
                          <a:latin typeface="Calibri (MS)"/>
                        </a:rPr>
                        <a:t>0,7855</a:t>
                      </a:r>
                    </a:p>
                  </a:txBody>
                  <a:tcPr marL="73152" marR="73152" marT="36576" marB="36576" anchor="ctr">
                    <a:solidFill>
                      <a:srgbClr val="FDE2DE"/>
                    </a:solidFill>
                  </a:tcPr>
                </a:tc>
                <a:tc>
                  <a:txBody>
                    <a:bodyPr wrap="square"/>
                    <a:lstStyle/>
                    <a:p>
                      <a:pPr algn="ctr"/>
                      <a:r>
                        <a:rPr sz="950" b="0" i="0">
                          <a:solidFill>
                            <a:srgbClr val="14313B"/>
                          </a:solidFill>
                          <a:latin typeface="Calibri (MS)"/>
                        </a:rPr>
                        <a:t>0,000</a:t>
                      </a:r>
                    </a:p>
                  </a:txBody>
                  <a:tcPr marL="73152" marR="73152" marT="36576" marB="36576" anchor="ctr">
                    <a:solidFill>
                      <a:srgbClr val="FFFFFF"/>
                    </a:solidFill>
                  </a:tcPr>
                </a:tc>
                <a:tc>
                  <a:txBody>
                    <a:bodyPr wrap="square"/>
                    <a:lstStyle/>
                    <a:p>
                      <a:pPr algn="ctr"/>
                      <a:r>
                        <a:rPr sz="950" b="0" i="0">
                          <a:solidFill>
                            <a:srgbClr val="14313B"/>
                          </a:solidFill>
                          <a:latin typeface="Calibri (MS)"/>
                        </a:rPr>
                        <a:t>0,903</a:t>
                      </a:r>
                    </a:p>
                  </a:txBody>
                  <a:tcPr marL="73152" marR="73152" marT="36576" marB="36576" anchor="ctr">
                    <a:solidFill>
                      <a:srgbClr val="FFFFFF"/>
                    </a:solidFill>
                  </a:tcPr>
                </a:tc>
                <a:tc>
                  <a:txBody>
                    <a:bodyPr wrap="square"/>
                    <a:lstStyle/>
                    <a:p>
                      <a:pPr algn="ctr"/>
                      <a:r>
                        <a:rPr sz="950" b="0" i="0">
                          <a:solidFill>
                            <a:srgbClr val="14313B"/>
                          </a:solidFill>
                          <a:latin typeface="Calibri (MS)"/>
                        </a:rPr>
                        <a:t>0,096</a:t>
                      </a:r>
                    </a:p>
                  </a:txBody>
                  <a:tcPr marL="73152" marR="73152" marT="36576" marB="36576" anchor="ctr">
                    <a:solidFill>
                      <a:srgbClr val="FFFFFF"/>
                    </a:solidFill>
                  </a:tcPr>
                </a:tc>
                <a:tc>
                  <a:txBody>
                    <a:bodyPr wrap="square"/>
                    <a:lstStyle/>
                    <a:p>
                      <a:pPr algn="ctr"/>
                      <a:r>
                        <a:rPr sz="950" b="0" i="0">
                          <a:solidFill>
                            <a:srgbClr val="14313B"/>
                          </a:solidFill>
                          <a:latin typeface="Calibri (MS)"/>
                        </a:rPr>
                        <a:t>U2</a:t>
                      </a:r>
                    </a:p>
                  </a:txBody>
                  <a:tcPr marL="73152" marR="73152" marT="36576" marB="36576" anchor="ctr">
                    <a:solidFill>
                      <a:srgbClr val="FFFFFF"/>
                    </a:solidFill>
                  </a:tcPr>
                </a:tc>
                <a:tc>
                  <a:txBody>
                    <a:bodyPr wrap="square"/>
                    <a:lstStyle/>
                    <a:p>
                      <a:pPr algn="ctr"/>
                      <a:r>
                        <a:rPr sz="950" b="0" i="0">
                          <a:solidFill>
                            <a:srgbClr val="14313B"/>
                          </a:solidFill>
                          <a:latin typeface="Calibri (MS)"/>
                        </a:rPr>
                        <a:t>5,68%</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Jumlah ODTW</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1,007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0,0313</a:t>
                      </a:r>
                    </a:p>
                  </a:txBody>
                  <a:tcPr marL="73152" marR="73152" marT="36576" marB="36576" anchor="ctr">
                    <a:solidFill>
                      <a:srgbClr val="C9F0D6"/>
                    </a:solidFill>
                  </a:tcPr>
                </a:tc>
                <a:tc>
                  <a:txBody>
                    <a:bodyPr wrap="square"/>
                    <a:lstStyle/>
                    <a:p>
                      <a:pPr algn="ctr"/>
                      <a:r>
                        <a:rPr sz="950" b="0" i="0">
                          <a:solidFill>
                            <a:srgbClr val="14313B"/>
                          </a:solidFill>
                          <a:latin typeface="Calibri (MS)"/>
                        </a:rPr>
                        <a:t>0,8193</a:t>
                      </a:r>
                    </a:p>
                  </a:txBody>
                  <a:tcPr marL="73152" marR="73152" marT="36576" marB="36576" anchor="ctr">
                    <a:solidFill>
                      <a:srgbClr val="FDE2DE"/>
                    </a:solidFill>
                  </a:tcPr>
                </a:tc>
                <a:tc>
                  <a:txBody>
                    <a:bodyPr wrap="square"/>
                    <a:lstStyle/>
                    <a:p>
                      <a:pPr algn="ctr"/>
                      <a:r>
                        <a:rPr sz="950" b="0" i="0">
                          <a:solidFill>
                            <a:srgbClr val="14313B"/>
                          </a:solidFill>
                          <a:latin typeface="Calibri (MS)"/>
                        </a:rPr>
                        <a:t>0,7568</a:t>
                      </a:r>
                    </a:p>
                  </a:txBody>
                  <a:tcPr marL="73152" marR="73152" marT="36576" marB="36576" anchor="ctr">
                    <a:solidFill>
                      <a:srgbClr val="FDE2DE"/>
                    </a:solidFill>
                  </a:tcPr>
                </a:tc>
                <a:tc>
                  <a:txBody>
                    <a:bodyPr wrap="square"/>
                    <a:lstStyle/>
                    <a:p>
                      <a:pPr algn="ctr"/>
                      <a:r>
                        <a:rPr sz="950" b="0" i="0">
                          <a:solidFill>
                            <a:srgbClr val="14313B"/>
                          </a:solidFill>
                          <a:latin typeface="Calibri (MS)"/>
                        </a:rPr>
                        <a:t>0,250</a:t>
                      </a:r>
                    </a:p>
                  </a:txBody>
                  <a:tcPr marL="73152" marR="73152" marT="36576" marB="36576" anchor="ctr">
                    <a:solidFill>
                      <a:srgbClr val="EAF8FA"/>
                    </a:solidFill>
                  </a:tcPr>
                </a:tc>
                <a:tc>
                  <a:txBody>
                    <a:bodyPr wrap="square"/>
                    <a:lstStyle/>
                    <a:p>
                      <a:pPr algn="ctr"/>
                      <a:r>
                        <a:rPr sz="950" b="0" i="0">
                          <a:solidFill>
                            <a:srgbClr val="14313B"/>
                          </a:solidFill>
                          <a:latin typeface="Calibri (MS)"/>
                        </a:rPr>
                        <a:t>0,631</a:t>
                      </a:r>
                    </a:p>
                  </a:txBody>
                  <a:tcPr marL="73152" marR="73152" marT="36576" marB="36576" anchor="ctr">
                    <a:solidFill>
                      <a:srgbClr val="EAF8FA"/>
                    </a:solidFill>
                  </a:tcPr>
                </a:tc>
                <a:tc>
                  <a:txBody>
                    <a:bodyPr wrap="square"/>
                    <a:lstStyle/>
                    <a:p>
                      <a:pPr algn="ctr"/>
                      <a:r>
                        <a:rPr sz="950" b="0" i="0">
                          <a:solidFill>
                            <a:srgbClr val="14313B"/>
                          </a:solidFill>
                          <a:latin typeface="Calibri (MS)"/>
                        </a:rPr>
                        <a:t>0,119</a:t>
                      </a:r>
                    </a:p>
                  </a:txBody>
                  <a:tcPr marL="73152" marR="73152" marT="36576" marB="36576" anchor="ctr">
                    <a:solidFill>
                      <a:srgbClr val="EAF8FA"/>
                    </a:solidFill>
                  </a:tcPr>
                </a:tc>
                <a:tc>
                  <a:txBody>
                    <a:bodyPr wrap="square"/>
                    <a:lstStyle/>
                    <a:p>
                      <a:pPr algn="ctr"/>
                      <a:r>
                        <a:rPr sz="950" b="0" i="0">
                          <a:solidFill>
                            <a:srgbClr val="14313B"/>
                          </a:solidFill>
                          <a:latin typeface="Calibri (MS)"/>
                        </a:rPr>
                        <a:t>U2</a:t>
                      </a:r>
                    </a:p>
                  </a:txBody>
                  <a:tcPr marL="73152" marR="73152" marT="36576" marB="36576" anchor="ctr">
                    <a:solidFill>
                      <a:srgbClr val="EAF8FA"/>
                    </a:solidFill>
                  </a:tcPr>
                </a:tc>
                <a:tc>
                  <a:txBody>
                    <a:bodyPr wrap="square"/>
                    <a:lstStyle/>
                    <a:p>
                      <a:pPr algn="ctr"/>
                      <a:r>
                        <a:rPr sz="950" b="0" i="0">
                          <a:solidFill>
                            <a:srgbClr val="14313B"/>
                          </a:solidFill>
                          <a:latin typeface="Calibri (MS)"/>
                        </a:rPr>
                        <a:t>4,55%</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Tenaga Kerja</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3,269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0,1182*</a:t>
                      </a:r>
                    </a:p>
                  </a:txBody>
                  <a:tcPr marL="73152" marR="73152" marT="36576" marB="36576" anchor="ctr">
                    <a:solidFill>
                      <a:srgbClr val="FFFFFF"/>
                    </a:solidFill>
                  </a:tcPr>
                </a:tc>
                <a:tc>
                  <a:txBody>
                    <a:bodyPr wrap="square"/>
                    <a:lstStyle/>
                    <a:p>
                      <a:pPr algn="ctr"/>
                      <a:r>
                        <a:rPr sz="950" b="0" i="0">
                          <a:solidFill>
                            <a:srgbClr val="14313B"/>
                          </a:solidFill>
                          <a:latin typeface="Calibri (MS)"/>
                        </a:rPr>
                        <a:t>0,3280*</a:t>
                      </a:r>
                    </a:p>
                  </a:txBody>
                  <a:tcPr marL="73152" marR="73152" marT="36576" marB="36576" anchor="ctr">
                    <a:solidFill>
                      <a:srgbClr val="FFFFFF"/>
                    </a:solidFill>
                  </a:tcPr>
                </a:tc>
                <a:tc>
                  <a:txBody>
                    <a:bodyPr wrap="square"/>
                    <a:lstStyle/>
                    <a:p>
                      <a:pPr algn="ctr"/>
                      <a:r>
                        <a:rPr sz="950" b="0" i="0">
                          <a:solidFill>
                            <a:srgbClr val="14313B"/>
                          </a:solidFill>
                          <a:latin typeface="Calibri (MS)"/>
                        </a:rPr>
                        <a:t>0,8860</a:t>
                      </a:r>
                    </a:p>
                  </a:txBody>
                  <a:tcPr marL="73152" marR="73152" marT="36576" marB="36576" anchor="ctr">
                    <a:solidFill>
                      <a:srgbClr val="FDE2DE"/>
                    </a:solidFill>
                  </a:tcPr>
                </a:tc>
                <a:tc>
                  <a:txBody>
                    <a:bodyPr wrap="square"/>
                    <a:lstStyle/>
                    <a:p>
                      <a:pPr algn="ctr"/>
                      <a:r>
                        <a:rPr sz="950" b="0" i="0">
                          <a:solidFill>
                            <a:srgbClr val="14313B"/>
                          </a:solidFill>
                          <a:latin typeface="Calibri (MS)"/>
                        </a:rPr>
                        <a:t>0,499</a:t>
                      </a:r>
                    </a:p>
                  </a:txBody>
                  <a:tcPr marL="73152" marR="73152" marT="36576" marB="36576" anchor="ctr">
                    <a:solidFill>
                      <a:srgbClr val="FFFFFF"/>
                    </a:solidFill>
                  </a:tcPr>
                </a:tc>
                <a:tc>
                  <a:txBody>
                    <a:bodyPr wrap="square"/>
                    <a:lstStyle/>
                    <a:p>
                      <a:pPr algn="ctr"/>
                      <a:r>
                        <a:rPr sz="950" b="0" i="0">
                          <a:solidFill>
                            <a:srgbClr val="14313B"/>
                          </a:solidFill>
                          <a:latin typeface="Calibri (MS)"/>
                        </a:rPr>
                        <a:t>0,025</a:t>
                      </a:r>
                    </a:p>
                  </a:txBody>
                  <a:tcPr marL="73152" marR="73152" marT="36576" marB="36576" anchor="ctr">
                    <a:solidFill>
                      <a:srgbClr val="FFFFFF"/>
                    </a:solidFill>
                  </a:tcPr>
                </a:tc>
                <a:tc>
                  <a:txBody>
                    <a:bodyPr wrap="square"/>
                    <a:lstStyle/>
                    <a:p>
                      <a:pPr algn="ctr"/>
                      <a:r>
                        <a:rPr sz="950" b="0" i="0">
                          <a:solidFill>
                            <a:srgbClr val="14313B"/>
                          </a:solidFill>
                          <a:latin typeface="Calibri (MS)"/>
                        </a:rPr>
                        <a:t>0,476</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12,39%</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Tenaga Kerja</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2,392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0,1674*</a:t>
                      </a:r>
                    </a:p>
                  </a:txBody>
                  <a:tcPr marL="73152" marR="73152" marT="36576" marB="36576" anchor="ctr">
                    <a:solidFill>
                      <a:srgbClr val="EAF8FA"/>
                    </a:solidFill>
                  </a:tcPr>
                </a:tc>
                <a:tc>
                  <a:txBody>
                    <a:bodyPr wrap="square"/>
                    <a:lstStyle/>
                    <a:p>
                      <a:pPr algn="ctr"/>
                      <a:r>
                        <a:rPr sz="950" b="0" i="0">
                          <a:solidFill>
                            <a:srgbClr val="14313B"/>
                          </a:solidFill>
                          <a:latin typeface="Calibri (MS)"/>
                        </a:rPr>
                        <a:t>0,0327*</a:t>
                      </a:r>
                    </a:p>
                  </a:txBody>
                  <a:tcPr marL="73152" marR="73152" marT="36576" marB="36576" anchor="ctr">
                    <a:solidFill>
                      <a:srgbClr val="EAF8FA"/>
                    </a:solidFill>
                  </a:tcPr>
                </a:tc>
                <a:tc>
                  <a:txBody>
                    <a:bodyPr wrap="square"/>
                    <a:lstStyle/>
                    <a:p>
                      <a:pPr algn="ctr"/>
                      <a:r>
                        <a:rPr sz="950" b="0" i="0">
                          <a:solidFill>
                            <a:srgbClr val="14313B"/>
                          </a:solidFill>
                          <a:latin typeface="Calibri (MS)"/>
                        </a:rPr>
                        <a:t>0,8222</a:t>
                      </a:r>
                    </a:p>
                  </a:txBody>
                  <a:tcPr marL="73152" marR="73152" marT="36576" marB="36576" anchor="ctr">
                    <a:solidFill>
                      <a:srgbClr val="FDE2DE"/>
                    </a:solidFill>
                  </a:tcPr>
                </a:tc>
                <a:tc>
                  <a:txBody>
                    <a:bodyPr wrap="square"/>
                    <a:lstStyle/>
                    <a:p>
                      <a:pPr algn="ctr"/>
                      <a:r>
                        <a:rPr sz="950" b="0" i="0">
                          <a:solidFill>
                            <a:srgbClr val="14313B"/>
                          </a:solidFill>
                          <a:latin typeface="Calibri (MS)"/>
                        </a:rPr>
                        <a:t>0,779</a:t>
                      </a:r>
                    </a:p>
                  </a:txBody>
                  <a:tcPr marL="73152" marR="73152" marT="36576" marB="36576" anchor="ctr">
                    <a:solidFill>
                      <a:srgbClr val="EAF8FA"/>
                    </a:solidFill>
                  </a:tcPr>
                </a:tc>
                <a:tc>
                  <a:txBody>
                    <a:bodyPr wrap="square"/>
                    <a:lstStyle/>
                    <a:p>
                      <a:pPr algn="ctr"/>
                      <a:r>
                        <a:rPr sz="950" b="0" i="0">
                          <a:solidFill>
                            <a:srgbClr val="14313B"/>
                          </a:solidFill>
                          <a:latin typeface="Calibri (MS)"/>
                        </a:rPr>
                        <a:t>0,000</a:t>
                      </a:r>
                    </a:p>
                  </a:txBody>
                  <a:tcPr marL="73152" marR="73152" marT="36576" marB="36576" anchor="ctr">
                    <a:solidFill>
                      <a:srgbClr val="EAF8FA"/>
                    </a:solidFill>
                  </a:tcPr>
                </a:tc>
                <a:tc>
                  <a:txBody>
                    <a:bodyPr wrap="square"/>
                    <a:lstStyle/>
                    <a:p>
                      <a:pPr algn="ctr"/>
                      <a:r>
                        <a:rPr sz="950" b="0" i="0">
                          <a:solidFill>
                            <a:srgbClr val="14313B"/>
                          </a:solidFill>
                          <a:latin typeface="Calibri (MS)"/>
                        </a:rPr>
                        <a:t>0,221</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16,38%</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Lahan Terbangun</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1,024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0,1099</a:t>
                      </a:r>
                    </a:p>
                  </a:txBody>
                  <a:tcPr marL="73152" marR="73152" marT="36576" marB="36576" anchor="ctr">
                    <a:solidFill>
                      <a:srgbClr val="FDE2DE"/>
                    </a:solidFill>
                  </a:tcPr>
                </a:tc>
                <a:tc>
                  <a:txBody>
                    <a:bodyPr wrap="square"/>
                    <a:lstStyle/>
                    <a:p>
                      <a:pPr algn="ctr"/>
                      <a:r>
                        <a:rPr sz="950" b="0" i="0">
                          <a:solidFill>
                            <a:srgbClr val="14313B"/>
                          </a:solidFill>
                          <a:latin typeface="Calibri (MS)"/>
                        </a:rPr>
                        <a:t>0,3627</a:t>
                      </a:r>
                    </a:p>
                  </a:txBody>
                  <a:tcPr marL="73152" marR="73152" marT="36576" marB="36576" anchor="ctr">
                    <a:solidFill>
                      <a:srgbClr val="FDE2DE"/>
                    </a:solidFill>
                  </a:tcPr>
                </a:tc>
                <a:tc>
                  <a:txBody>
                    <a:bodyPr wrap="square"/>
                    <a:lstStyle/>
                    <a:p>
                      <a:pPr algn="ctr"/>
                      <a:r>
                        <a:rPr sz="950" b="0" i="0">
                          <a:solidFill>
                            <a:srgbClr val="14313B"/>
                          </a:solidFill>
                          <a:latin typeface="Calibri (MS)"/>
                        </a:rPr>
                        <a:t>0,6619</a:t>
                      </a:r>
                    </a:p>
                  </a:txBody>
                  <a:tcPr marL="73152" marR="73152" marT="36576" marB="36576" anchor="ctr">
                    <a:solidFill>
                      <a:srgbClr val="FFF1BF"/>
                    </a:solidFill>
                  </a:tcPr>
                </a:tc>
                <a:tc>
                  <a:txBody>
                    <a:bodyPr wrap="square"/>
                    <a:lstStyle/>
                    <a:p>
                      <a:pPr algn="ctr"/>
                      <a:r>
                        <a:rPr sz="950" b="0" i="0">
                          <a:solidFill>
                            <a:srgbClr val="14313B"/>
                          </a:solidFill>
                          <a:latin typeface="Calibri (MS)"/>
                        </a:rPr>
                        <a:t>0,429</a:t>
                      </a:r>
                    </a:p>
                  </a:txBody>
                  <a:tcPr marL="73152" marR="73152" marT="36576" marB="36576" anchor="ctr">
                    <a:solidFill>
                      <a:srgbClr val="FFFFFF"/>
                    </a:solidFill>
                  </a:tcPr>
                </a:tc>
                <a:tc>
                  <a:txBody>
                    <a:bodyPr wrap="square"/>
                    <a:lstStyle/>
                    <a:p>
                      <a:pPr algn="ctr"/>
                      <a:r>
                        <a:rPr sz="950" b="0" i="0">
                          <a:solidFill>
                            <a:srgbClr val="14313B"/>
                          </a:solidFill>
                          <a:latin typeface="Calibri (MS)"/>
                        </a:rPr>
                        <a:t>0,064</a:t>
                      </a:r>
                    </a:p>
                  </a:txBody>
                  <a:tcPr marL="73152" marR="73152" marT="36576" marB="36576" anchor="ctr">
                    <a:solidFill>
                      <a:srgbClr val="FFFFFF"/>
                    </a:solidFill>
                  </a:tcPr>
                </a:tc>
                <a:tc>
                  <a:txBody>
                    <a:bodyPr wrap="square"/>
                    <a:lstStyle/>
                    <a:p>
                      <a:pPr algn="ctr"/>
                      <a:r>
                        <a:rPr sz="950" b="0" i="0">
                          <a:solidFill>
                            <a:srgbClr val="14313B"/>
                          </a:solidFill>
                          <a:latin typeface="Calibri (MS)"/>
                        </a:rPr>
                        <a:t>0,507</a:t>
                      </a:r>
                    </a:p>
                  </a:txBody>
                  <a:tcPr marL="73152" marR="73152" marT="36576" marB="36576" anchor="ctr">
                    <a:solidFill>
                      <a:srgbClr val="FFFFFF"/>
                    </a:solidFill>
                  </a:tcPr>
                </a:tc>
                <a:tc>
                  <a:txBody>
                    <a:bodyPr wrap="square"/>
                    <a:lstStyle/>
                    <a:p>
                      <a:pPr algn="ctr"/>
                      <a:r>
                        <a:rPr sz="950" b="0" i="0">
                          <a:solidFill>
                            <a:srgbClr val="14313B"/>
                          </a:solidFill>
                          <a:latin typeface="Calibri (MS)"/>
                        </a:rPr>
                        <a:t>U3</a:t>
                      </a:r>
                    </a:p>
                  </a:txBody>
                  <a:tcPr marL="73152" marR="73152" marT="36576" marB="36576" anchor="ctr">
                    <a:solidFill>
                      <a:srgbClr val="FFFFFF"/>
                    </a:solidFill>
                  </a:tcPr>
                </a:tc>
                <a:tc>
                  <a:txBody>
                    <a:bodyPr wrap="square"/>
                    <a:lstStyle/>
                    <a:p>
                      <a:pPr algn="ctr"/>
                      <a:r>
                        <a:rPr sz="950" b="0" i="0">
                          <a:solidFill>
                            <a:srgbClr val="14313B"/>
                          </a:solidFill>
                          <a:latin typeface="Calibri (MS)"/>
                        </a:rPr>
                        <a:t>13,43%</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Lahan Terbangun</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0,978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0,1044</a:t>
                      </a:r>
                    </a:p>
                  </a:txBody>
                  <a:tcPr marL="73152" marR="73152" marT="36576" marB="36576" anchor="ctr">
                    <a:solidFill>
                      <a:srgbClr val="FDE2DE"/>
                    </a:solidFill>
                  </a:tcPr>
                </a:tc>
                <a:tc>
                  <a:txBody>
                    <a:bodyPr wrap="square"/>
                    <a:lstStyle/>
                    <a:p>
                      <a:pPr algn="ctr"/>
                      <a:r>
                        <a:rPr sz="950" b="0" i="0">
                          <a:solidFill>
                            <a:srgbClr val="14313B"/>
                          </a:solidFill>
                          <a:latin typeface="Calibri (MS)"/>
                        </a:rPr>
                        <a:t>0,4108</a:t>
                      </a:r>
                    </a:p>
                  </a:txBody>
                  <a:tcPr marL="73152" marR="73152" marT="36576" marB="36576" anchor="ctr">
                    <a:solidFill>
                      <a:srgbClr val="FDE2DE"/>
                    </a:solidFill>
                  </a:tcPr>
                </a:tc>
                <a:tc>
                  <a:txBody>
                    <a:bodyPr wrap="square"/>
                    <a:lstStyle/>
                    <a:p>
                      <a:pPr algn="ctr"/>
                      <a:r>
                        <a:rPr sz="950" b="0" i="0">
                          <a:solidFill>
                            <a:srgbClr val="14313B"/>
                          </a:solidFill>
                          <a:latin typeface="Calibri (MS)"/>
                        </a:rPr>
                        <a:t>0,7254</a:t>
                      </a:r>
                    </a:p>
                  </a:txBody>
                  <a:tcPr marL="73152" marR="73152" marT="36576" marB="36576" anchor="ctr">
                    <a:solidFill>
                      <a:srgbClr val="FDE2DE"/>
                    </a:solidFill>
                  </a:tcPr>
                </a:tc>
                <a:tc>
                  <a:txBody>
                    <a:bodyPr wrap="square"/>
                    <a:lstStyle/>
                    <a:p>
                      <a:pPr algn="ctr"/>
                      <a:r>
                        <a:rPr sz="950" b="0" i="0">
                          <a:solidFill>
                            <a:srgbClr val="14313B"/>
                          </a:solidFill>
                          <a:latin typeface="Calibri (MS)"/>
                        </a:rPr>
                        <a:t>0,338</a:t>
                      </a:r>
                    </a:p>
                  </a:txBody>
                  <a:tcPr marL="73152" marR="73152" marT="36576" marB="36576" anchor="ctr">
                    <a:solidFill>
                      <a:srgbClr val="EAF8FA"/>
                    </a:solidFill>
                  </a:tcPr>
                </a:tc>
                <a:tc>
                  <a:txBody>
                    <a:bodyPr wrap="square"/>
                    <a:lstStyle/>
                    <a:p>
                      <a:pPr algn="ctr"/>
                      <a:r>
                        <a:rPr sz="950" b="0" i="0">
                          <a:solidFill>
                            <a:srgbClr val="14313B"/>
                          </a:solidFill>
                          <a:latin typeface="Calibri (MS)"/>
                        </a:rPr>
                        <a:t>0,084</a:t>
                      </a:r>
                    </a:p>
                  </a:txBody>
                  <a:tcPr marL="73152" marR="73152" marT="36576" marB="36576" anchor="ctr">
                    <a:solidFill>
                      <a:srgbClr val="EAF8FA"/>
                    </a:solidFill>
                  </a:tcPr>
                </a:tc>
                <a:tc>
                  <a:txBody>
                    <a:bodyPr wrap="square"/>
                    <a:lstStyle/>
                    <a:p>
                      <a:pPr algn="ctr"/>
                      <a:r>
                        <a:rPr sz="950" b="0" i="0">
                          <a:solidFill>
                            <a:srgbClr val="14313B"/>
                          </a:solidFill>
                          <a:latin typeface="Calibri (MS)"/>
                        </a:rPr>
                        <a:t>0,578</a:t>
                      </a:r>
                    </a:p>
                  </a:txBody>
                  <a:tcPr marL="73152" marR="73152" marT="36576" marB="36576" anchor="ctr">
                    <a:solidFill>
                      <a:srgbClr val="EAF8FA"/>
                    </a:solidFill>
                  </a:tcPr>
                </a:tc>
                <a:tc>
                  <a:txBody>
                    <a:bodyPr wrap="square"/>
                    <a:lstStyle/>
                    <a:p>
                      <a:pPr algn="ctr"/>
                      <a:r>
                        <a:rPr sz="950" b="0" i="0">
                          <a:solidFill>
                            <a:srgbClr val="14313B"/>
                          </a:solidFill>
                          <a:latin typeface="Calibri (MS)"/>
                        </a:rPr>
                        <a:t>U3</a:t>
                      </a:r>
                    </a:p>
                  </a:txBody>
                  <a:tcPr marL="73152" marR="73152" marT="36576" marB="36576" anchor="ctr">
                    <a:solidFill>
                      <a:srgbClr val="EAF8FA"/>
                    </a:solidFill>
                  </a:tcPr>
                </a:tc>
                <a:tc>
                  <a:txBody>
                    <a:bodyPr wrap="square"/>
                    <a:lstStyle/>
                    <a:p>
                      <a:pPr algn="ctr"/>
                      <a:r>
                        <a:rPr sz="950" b="0" i="0">
                          <a:solidFill>
                            <a:srgbClr val="14313B"/>
                          </a:solidFill>
                          <a:latin typeface="Calibri (MS)"/>
                        </a:rPr>
                        <a:t>13,82%</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TPK</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1,157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0,2013</a:t>
                      </a:r>
                    </a:p>
                  </a:txBody>
                  <a:tcPr marL="73152" marR="73152" marT="36576" marB="36576" anchor="ctr">
                    <a:solidFill>
                      <a:srgbClr val="FDE2DE"/>
                    </a:solidFill>
                  </a:tcPr>
                </a:tc>
                <a:tc>
                  <a:txBody>
                    <a:bodyPr wrap="square"/>
                    <a:lstStyle/>
                    <a:p>
                      <a:pPr algn="ctr"/>
                      <a:r>
                        <a:rPr sz="950" b="0" i="0">
                          <a:solidFill>
                            <a:srgbClr val="14313B"/>
                          </a:solidFill>
                          <a:latin typeface="Calibri (MS)"/>
                        </a:rPr>
                        <a:t>0,2670</a:t>
                      </a:r>
                    </a:p>
                  </a:txBody>
                  <a:tcPr marL="73152" marR="73152" marT="36576" marB="36576" anchor="ctr">
                    <a:solidFill>
                      <a:srgbClr val="C9F0D6"/>
                    </a:solidFill>
                  </a:tcPr>
                </a:tc>
                <a:tc>
                  <a:txBody>
                    <a:bodyPr wrap="square"/>
                    <a:lstStyle/>
                    <a:p>
                      <a:pPr algn="ctr"/>
                      <a:r>
                        <a:rPr sz="950" b="0" i="0">
                          <a:solidFill>
                            <a:srgbClr val="14313B"/>
                          </a:solidFill>
                          <a:latin typeface="Calibri (MS)"/>
                        </a:rPr>
                        <a:t>0,6224</a:t>
                      </a:r>
                    </a:p>
                  </a:txBody>
                  <a:tcPr marL="73152" marR="73152" marT="36576" marB="36576" anchor="ctr">
                    <a:solidFill>
                      <a:srgbClr val="FFF1BF"/>
                    </a:solidFill>
                  </a:tcPr>
                </a:tc>
                <a:tc>
                  <a:txBody>
                    <a:bodyPr wrap="square"/>
                    <a:lstStyle/>
                    <a:p>
                      <a:pPr algn="ctr"/>
                      <a:r>
                        <a:rPr sz="950" b="0" i="0">
                          <a:solidFill>
                            <a:srgbClr val="14313B"/>
                          </a:solidFill>
                          <a:latin typeface="Calibri (MS)"/>
                        </a:rPr>
                        <a:t>0,509</a:t>
                      </a:r>
                    </a:p>
                  </a:txBody>
                  <a:tcPr marL="73152" marR="73152" marT="36576" marB="36576" anchor="ctr">
                    <a:solidFill>
                      <a:srgbClr val="FFFFFF"/>
                    </a:solidFill>
                  </a:tcPr>
                </a:tc>
                <a:tc>
                  <a:txBody>
                    <a:bodyPr wrap="square"/>
                    <a:lstStyle/>
                    <a:p>
                      <a:pPr algn="ctr"/>
                      <a:r>
                        <a:rPr sz="950" b="0" i="0">
                          <a:solidFill>
                            <a:srgbClr val="14313B"/>
                          </a:solidFill>
                          <a:latin typeface="Calibri (MS)"/>
                        </a:rPr>
                        <a:t>0,030</a:t>
                      </a:r>
                    </a:p>
                  </a:txBody>
                  <a:tcPr marL="73152" marR="73152" marT="36576" marB="36576" anchor="ctr">
                    <a:solidFill>
                      <a:srgbClr val="FFFFFF"/>
                    </a:solidFill>
                  </a:tcPr>
                </a:tc>
                <a:tc>
                  <a:txBody>
                    <a:bodyPr wrap="square"/>
                    <a:lstStyle/>
                    <a:p>
                      <a:pPr algn="ctr"/>
                      <a:r>
                        <a:rPr sz="950" b="0" i="0">
                          <a:solidFill>
                            <a:srgbClr val="14313B"/>
                          </a:solidFill>
                          <a:latin typeface="Calibri (MS)"/>
                        </a:rPr>
                        <a:t>0,461</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18,98%</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TPK</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6,842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0,2431*</a:t>
                      </a:r>
                    </a:p>
                  </a:txBody>
                  <a:tcPr marL="73152" marR="73152" marT="36576" marB="36576" anchor="ctr">
                    <a:solidFill>
                      <a:srgbClr val="EAF8FA"/>
                    </a:solidFill>
                  </a:tcPr>
                </a:tc>
                <a:tc>
                  <a:txBody>
                    <a:bodyPr wrap="square"/>
                    <a:lstStyle/>
                    <a:p>
                      <a:pPr algn="ctr"/>
                      <a:r>
                        <a:rPr sz="950" b="0" i="0">
                          <a:solidFill>
                            <a:srgbClr val="14313B"/>
                          </a:solidFill>
                          <a:latin typeface="Calibri (MS)"/>
                        </a:rPr>
                        <a:t>0,9420*</a:t>
                      </a:r>
                    </a:p>
                  </a:txBody>
                  <a:tcPr marL="73152" marR="73152" marT="36576" marB="36576" anchor="ctr">
                    <a:solidFill>
                      <a:srgbClr val="EAF8FA"/>
                    </a:solidFill>
                  </a:tcPr>
                </a:tc>
                <a:tc>
                  <a:txBody>
                    <a:bodyPr wrap="square"/>
                    <a:lstStyle/>
                    <a:p>
                      <a:pPr algn="ctr"/>
                      <a:r>
                        <a:rPr sz="950" b="0" i="0">
                          <a:solidFill>
                            <a:srgbClr val="14313B"/>
                          </a:solidFill>
                          <a:latin typeface="Calibri (MS)"/>
                        </a:rPr>
                        <a:t>0,9263</a:t>
                      </a:r>
                    </a:p>
                  </a:txBody>
                  <a:tcPr marL="73152" marR="73152" marT="36576" marB="36576" anchor="ctr">
                    <a:solidFill>
                      <a:srgbClr val="FDE2DE"/>
                    </a:solidFill>
                  </a:tcPr>
                </a:tc>
                <a:tc>
                  <a:txBody>
                    <a:bodyPr wrap="square"/>
                    <a:lstStyle/>
                    <a:p>
                      <a:pPr algn="ctr"/>
                      <a:r>
                        <a:rPr sz="950" b="0" i="0">
                          <a:solidFill>
                            <a:srgbClr val="14313B"/>
                          </a:solidFill>
                          <a:latin typeface="Calibri (MS)"/>
                        </a:rPr>
                        <a:t>0,663</a:t>
                      </a:r>
                    </a:p>
                  </a:txBody>
                  <a:tcPr marL="73152" marR="73152" marT="36576" marB="36576" anchor="ctr">
                    <a:solidFill>
                      <a:srgbClr val="EAF8FA"/>
                    </a:solidFill>
                  </a:tcPr>
                </a:tc>
                <a:tc>
                  <a:txBody>
                    <a:bodyPr wrap="square"/>
                    <a:lstStyle/>
                    <a:p>
                      <a:pPr algn="ctr"/>
                      <a:r>
                        <a:rPr sz="950" b="0" i="0">
                          <a:solidFill>
                            <a:srgbClr val="14313B"/>
                          </a:solidFill>
                          <a:latin typeface="Calibri (MS)"/>
                        </a:rPr>
                        <a:t>0,040</a:t>
                      </a:r>
                    </a:p>
                  </a:txBody>
                  <a:tcPr marL="73152" marR="73152" marT="36576" marB="36576" anchor="ctr">
                    <a:solidFill>
                      <a:srgbClr val="EAF8FA"/>
                    </a:solidFill>
                  </a:tcPr>
                </a:tc>
                <a:tc>
                  <a:txBody>
                    <a:bodyPr wrap="square"/>
                    <a:lstStyle/>
                    <a:p>
                      <a:pPr algn="ctr"/>
                      <a:r>
                        <a:rPr sz="950" b="0" i="0">
                          <a:solidFill>
                            <a:srgbClr val="14313B"/>
                          </a:solidFill>
                          <a:latin typeface="Calibri (MS)"/>
                        </a:rPr>
                        <a:t>0,297</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23,42%</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PDRB Pariwisata</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1,073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0,2543</a:t>
                      </a:r>
                    </a:p>
                  </a:txBody>
                  <a:tcPr marL="73152" marR="73152" marT="36576" marB="36576" anchor="ctr">
                    <a:solidFill>
                      <a:srgbClr val="FDE2DE"/>
                    </a:solidFill>
                  </a:tcPr>
                </a:tc>
                <a:tc>
                  <a:txBody>
                    <a:bodyPr wrap="square"/>
                    <a:lstStyle/>
                    <a:p>
                      <a:pPr algn="ctr"/>
                      <a:r>
                        <a:rPr sz="950" b="0" i="0">
                          <a:solidFill>
                            <a:srgbClr val="14313B"/>
                          </a:solidFill>
                          <a:latin typeface="Calibri (MS)"/>
                        </a:rPr>
                        <a:t>0,3450</a:t>
                      </a:r>
                    </a:p>
                  </a:txBody>
                  <a:tcPr marL="73152" marR="73152" marT="36576" marB="36576" anchor="ctr">
                    <a:solidFill>
                      <a:srgbClr val="FDE2DE"/>
                    </a:solidFill>
                  </a:tcPr>
                </a:tc>
                <a:tc>
                  <a:txBody>
                    <a:bodyPr wrap="square"/>
                    <a:lstStyle/>
                    <a:p>
                      <a:pPr algn="ctr"/>
                      <a:r>
                        <a:rPr sz="950" b="0" i="0">
                          <a:solidFill>
                            <a:srgbClr val="14313B"/>
                          </a:solidFill>
                          <a:latin typeface="Calibri (MS)"/>
                        </a:rPr>
                        <a:t>0,3062</a:t>
                      </a:r>
                    </a:p>
                  </a:txBody>
                  <a:tcPr marL="73152" marR="73152" marT="36576" marB="36576" anchor="ctr">
                    <a:solidFill>
                      <a:srgbClr val="C9F0D6"/>
                    </a:solidFill>
                  </a:tcPr>
                </a:tc>
                <a:tc>
                  <a:txBody>
                    <a:bodyPr wrap="square"/>
                    <a:lstStyle/>
                    <a:p>
                      <a:pPr algn="ctr"/>
                      <a:r>
                        <a:rPr sz="950" b="0" i="0">
                          <a:solidFill>
                            <a:srgbClr val="14313B"/>
                          </a:solidFill>
                          <a:latin typeface="Calibri (MS)"/>
                        </a:rPr>
                        <a:t>0,927</a:t>
                      </a:r>
                    </a:p>
                  </a:txBody>
                  <a:tcPr marL="73152" marR="73152" marT="36576" marB="36576" anchor="ctr">
                    <a:solidFill>
                      <a:srgbClr val="FFFFFF"/>
                    </a:solidFill>
                  </a:tcPr>
                </a:tc>
                <a:tc>
                  <a:txBody>
                    <a:bodyPr wrap="square"/>
                    <a:lstStyle/>
                    <a:p>
                      <a:pPr algn="ctr"/>
                      <a:r>
                        <a:rPr sz="950" b="0" i="0">
                          <a:solidFill>
                            <a:srgbClr val="14313B"/>
                          </a:solidFill>
                          <a:latin typeface="Calibri (MS)"/>
                        </a:rPr>
                        <a:t>0,034</a:t>
                      </a:r>
                    </a:p>
                  </a:txBody>
                  <a:tcPr marL="73152" marR="73152" marT="36576" marB="36576" anchor="ctr">
                    <a:solidFill>
                      <a:srgbClr val="FFFFFF"/>
                    </a:solidFill>
                  </a:tcPr>
                </a:tc>
                <a:tc>
                  <a:txBody>
                    <a:bodyPr wrap="square"/>
                    <a:lstStyle/>
                    <a:p>
                      <a:pPr algn="ctr"/>
                      <a:r>
                        <a:rPr sz="950" b="0" i="0">
                          <a:solidFill>
                            <a:srgbClr val="14313B"/>
                          </a:solidFill>
                          <a:latin typeface="Calibri (MS)"/>
                        </a:rPr>
                        <a:t>0,039</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25,06%</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PDRB Pariwisata</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0,015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0,2761</a:t>
                      </a:r>
                    </a:p>
                  </a:txBody>
                  <a:tcPr marL="73152" marR="73152" marT="36576" marB="36576" anchor="ctr">
                    <a:solidFill>
                      <a:srgbClr val="FDE2DE"/>
                    </a:solidFill>
                  </a:tcPr>
                </a:tc>
                <a:tc>
                  <a:txBody>
                    <a:bodyPr wrap="square"/>
                    <a:lstStyle/>
                    <a:p>
                      <a:pPr algn="ctr"/>
                      <a:r>
                        <a:rPr sz="950" b="0" i="0">
                          <a:solidFill>
                            <a:srgbClr val="14313B"/>
                          </a:solidFill>
                          <a:latin typeface="Calibri (MS)"/>
                        </a:rPr>
                        <a:t>0,0667</a:t>
                      </a:r>
                    </a:p>
                  </a:txBody>
                  <a:tcPr marL="73152" marR="73152" marT="36576" marB="36576" anchor="ctr">
                    <a:solidFill>
                      <a:srgbClr val="C9F0D6"/>
                    </a:solidFill>
                  </a:tcPr>
                </a:tc>
                <a:tc>
                  <a:txBody>
                    <a:bodyPr wrap="square"/>
                    <a:lstStyle/>
                    <a:p>
                      <a:pPr algn="ctr"/>
                      <a:r>
                        <a:rPr sz="950" b="0" i="0">
                          <a:solidFill>
                            <a:srgbClr val="14313B"/>
                          </a:solidFill>
                          <a:latin typeface="Calibri (MS)"/>
                        </a:rPr>
                        <a:t>0,1680</a:t>
                      </a:r>
                    </a:p>
                  </a:txBody>
                  <a:tcPr marL="73152" marR="73152" marT="36576" marB="36576" anchor="ctr">
                    <a:solidFill>
                      <a:srgbClr val="C9F0D6"/>
                    </a:solidFill>
                  </a:tcPr>
                </a:tc>
                <a:tc>
                  <a:txBody>
                    <a:bodyPr wrap="square"/>
                    <a:lstStyle/>
                    <a:p>
                      <a:pPr algn="ctr"/>
                      <a:r>
                        <a:rPr sz="950" b="0" i="0">
                          <a:solidFill>
                            <a:srgbClr val="14313B"/>
                          </a:solidFill>
                          <a:latin typeface="Calibri (MS)"/>
                        </a:rPr>
                        <a:t>0,988</a:t>
                      </a:r>
                    </a:p>
                  </a:txBody>
                  <a:tcPr marL="73152" marR="73152" marT="36576" marB="36576" anchor="ctr">
                    <a:solidFill>
                      <a:srgbClr val="EAF8FA"/>
                    </a:solidFill>
                  </a:tcPr>
                </a:tc>
                <a:tc>
                  <a:txBody>
                    <a:bodyPr wrap="square"/>
                    <a:lstStyle/>
                    <a:p>
                      <a:pPr algn="ctr"/>
                      <a:r>
                        <a:rPr sz="950" b="0" i="0">
                          <a:solidFill>
                            <a:srgbClr val="14313B"/>
                          </a:solidFill>
                          <a:latin typeface="Calibri (MS)"/>
                        </a:rPr>
                        <a:t>0,001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0,012</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27,76%</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Investasi Pariwisata</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1,090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0,3839</a:t>
                      </a:r>
                    </a:p>
                  </a:txBody>
                  <a:tcPr marL="73152" marR="73152" marT="36576" marB="36576" anchor="ctr">
                    <a:solidFill>
                      <a:srgbClr val="FDE2DE"/>
                    </a:solidFill>
                  </a:tcPr>
                </a:tc>
                <a:tc>
                  <a:txBody>
                    <a:bodyPr wrap="square"/>
                    <a:lstStyle/>
                    <a:p>
                      <a:pPr algn="ctr"/>
                      <a:r>
                        <a:rPr sz="950" b="0" i="0">
                          <a:solidFill>
                            <a:srgbClr val="14313B"/>
                          </a:solidFill>
                          <a:latin typeface="Calibri (MS)"/>
                        </a:rPr>
                        <a:t>0,7927</a:t>
                      </a:r>
                    </a:p>
                  </a:txBody>
                  <a:tcPr marL="73152" marR="73152" marT="36576" marB="36576" anchor="ctr">
                    <a:solidFill>
                      <a:srgbClr val="FDE2DE"/>
                    </a:solidFill>
                  </a:tcPr>
                </a:tc>
                <a:tc>
                  <a:txBody>
                    <a:bodyPr wrap="square"/>
                    <a:lstStyle/>
                    <a:p>
                      <a:pPr algn="ctr"/>
                      <a:r>
                        <a:rPr sz="950" b="0" i="0">
                          <a:solidFill>
                            <a:srgbClr val="14313B"/>
                          </a:solidFill>
                          <a:latin typeface="Calibri (MS)"/>
                        </a:rPr>
                        <a:t>0,7356</a:t>
                      </a:r>
                    </a:p>
                  </a:txBody>
                  <a:tcPr marL="73152" marR="73152" marT="36576" marB="36576" anchor="ctr">
                    <a:solidFill>
                      <a:srgbClr val="FDE2DE"/>
                    </a:solidFill>
                  </a:tcPr>
                </a:tc>
                <a:tc>
                  <a:txBody>
                    <a:bodyPr wrap="square"/>
                    <a:lstStyle/>
                    <a:p>
                      <a:pPr algn="ctr"/>
                      <a:r>
                        <a:rPr sz="950" b="0" i="0">
                          <a:solidFill>
                            <a:srgbClr val="14313B"/>
                          </a:solidFill>
                          <a:latin typeface="Calibri (MS)"/>
                        </a:rPr>
                        <a:t>0,581</a:t>
                      </a:r>
                    </a:p>
                  </a:txBody>
                  <a:tcPr marL="73152" marR="73152" marT="36576" marB="36576" anchor="ctr">
                    <a:solidFill>
                      <a:srgbClr val="FFFFFF"/>
                    </a:solidFill>
                  </a:tcPr>
                </a:tc>
                <a:tc>
                  <a:txBody>
                    <a:bodyPr wrap="square"/>
                    <a:lstStyle/>
                    <a:p>
                      <a:pPr algn="ctr"/>
                      <a:r>
                        <a:rPr sz="950" b="0" i="0">
                          <a:solidFill>
                            <a:srgbClr val="14313B"/>
                          </a:solidFill>
                          <a:latin typeface="Calibri (MS)"/>
                        </a:rPr>
                        <a:t>0,333</a:t>
                      </a:r>
                    </a:p>
                  </a:txBody>
                  <a:tcPr marL="73152" marR="73152" marT="36576" marB="36576" anchor="ctr">
                    <a:solidFill>
                      <a:srgbClr val="FFFFFF"/>
                    </a:solidFill>
                  </a:tcPr>
                </a:tc>
                <a:tc>
                  <a:txBody>
                    <a:bodyPr wrap="square"/>
                    <a:lstStyle/>
                    <a:p>
                      <a:pPr algn="ctr"/>
                      <a:r>
                        <a:rPr sz="950" b="0" i="0">
                          <a:solidFill>
                            <a:srgbClr val="14313B"/>
                          </a:solidFill>
                          <a:latin typeface="Calibri (MS)"/>
                        </a:rPr>
                        <a:t>0,085</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33,54%</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Investasi Pariwisata</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0,645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0,4049</a:t>
                      </a:r>
                    </a:p>
                  </a:txBody>
                  <a:tcPr marL="73152" marR="73152" marT="36576" marB="36576" anchor="ctr">
                    <a:solidFill>
                      <a:srgbClr val="FDE2DE"/>
                    </a:solidFill>
                  </a:tcPr>
                </a:tc>
                <a:tc>
                  <a:txBody>
                    <a:bodyPr wrap="square"/>
                    <a:lstStyle/>
                    <a:p>
                      <a:pPr algn="ctr"/>
                      <a:r>
                        <a:rPr sz="950" b="0" i="0">
                          <a:solidFill>
                            <a:srgbClr val="14313B"/>
                          </a:solidFill>
                          <a:latin typeface="Calibri (MS)"/>
                        </a:rPr>
                        <a:t>0,7988</a:t>
                      </a:r>
                    </a:p>
                  </a:txBody>
                  <a:tcPr marL="73152" marR="73152" marT="36576" marB="36576" anchor="ctr">
                    <a:solidFill>
                      <a:srgbClr val="FDE2DE"/>
                    </a:solidFill>
                  </a:tcPr>
                </a:tc>
                <a:tc>
                  <a:txBody>
                    <a:bodyPr wrap="square"/>
                    <a:lstStyle/>
                    <a:p>
                      <a:pPr algn="ctr"/>
                      <a:r>
                        <a:rPr sz="950" b="0" i="0">
                          <a:solidFill>
                            <a:srgbClr val="14313B"/>
                          </a:solidFill>
                          <a:latin typeface="Calibri (MS)"/>
                        </a:rPr>
                        <a:t>0,7551</a:t>
                      </a:r>
                    </a:p>
                  </a:txBody>
                  <a:tcPr marL="73152" marR="73152" marT="36576" marB="36576" anchor="ctr">
                    <a:solidFill>
                      <a:srgbClr val="FDE2DE"/>
                    </a:solidFill>
                  </a:tcPr>
                </a:tc>
                <a:tc>
                  <a:txBody>
                    <a:bodyPr wrap="square"/>
                    <a:lstStyle/>
                    <a:p>
                      <a:pPr algn="ctr"/>
                      <a:r>
                        <a:rPr sz="950" b="0" i="0">
                          <a:solidFill>
                            <a:srgbClr val="14313B"/>
                          </a:solidFill>
                          <a:latin typeface="Calibri (MS)"/>
                        </a:rPr>
                        <a:t>0,606</a:t>
                      </a:r>
                    </a:p>
                  </a:txBody>
                  <a:tcPr marL="73152" marR="73152" marT="36576" marB="36576" anchor="ctr">
                    <a:solidFill>
                      <a:srgbClr val="EAF8FA"/>
                    </a:solidFill>
                  </a:tcPr>
                </a:tc>
                <a:tc>
                  <a:txBody>
                    <a:bodyPr wrap="square"/>
                    <a:lstStyle/>
                    <a:p>
                      <a:pPr algn="ctr"/>
                      <a:r>
                        <a:rPr sz="950" b="0" i="0">
                          <a:solidFill>
                            <a:srgbClr val="14313B"/>
                          </a:solidFill>
                          <a:latin typeface="Calibri (MS)"/>
                        </a:rPr>
                        <a:t>0,306</a:t>
                      </a:r>
                    </a:p>
                  </a:txBody>
                  <a:tcPr marL="73152" marR="73152" marT="36576" marB="36576" anchor="ctr">
                    <a:solidFill>
                      <a:srgbClr val="EAF8FA"/>
                    </a:solidFill>
                  </a:tcPr>
                </a:tc>
                <a:tc>
                  <a:txBody>
                    <a:bodyPr wrap="square"/>
                    <a:lstStyle/>
                    <a:p>
                      <a:pPr algn="ctr"/>
                      <a:r>
                        <a:rPr sz="950" b="0" i="0">
                          <a:solidFill>
                            <a:srgbClr val="14313B"/>
                          </a:solidFill>
                          <a:latin typeface="Calibri (MS)"/>
                        </a:rPr>
                        <a:t>0,088</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36,25%</a:t>
                      </a:r>
                    </a:p>
                  </a:txBody>
                  <a:tcPr marL="73152" marR="73152" marT="36576" marB="36576" anchor="ctr">
                    <a:solidFill>
                      <a:srgbClr val="EAF8FA"/>
                    </a:solidFill>
                  </a:tcPr>
                </a:tc>
              </a:tr>
              <a:tr h="329184">
                <a:tc>
                  <a:txBody>
                    <a:bodyPr wrap="square"/>
                    <a:lstStyle/>
                    <a:p>
                      <a:r>
                        <a:rPr sz="950" b="1" i="0">
                          <a:solidFill>
                            <a:srgbClr val="14313B"/>
                          </a:solidFill>
                          <a:latin typeface="Calibri (MS) Bold"/>
                        </a:rPr>
                        <a:t>Total Malam Menginap</a:t>
                      </a:r>
                    </a:p>
                  </a:txBody>
                  <a:tcPr marL="73152" marR="73152" marT="36576" marB="36576" anchor="ctr">
                    <a:solidFill>
                      <a:srgbClr val="FFFFFF"/>
                    </a:solidFill>
                  </a:tcPr>
                </a:tc>
                <a:tc>
                  <a:txBody>
                    <a:bodyPr wrap="square"/>
                    <a:lstStyle/>
                    <a:p>
                      <a:r>
                        <a:rPr sz="950" b="0" i="0">
                          <a:solidFill>
                            <a:srgbClr val="14313B"/>
                          </a:solidFill>
                          <a:latin typeface="Calibri (MS)"/>
                        </a:rPr>
                        <a:t>Dengan COVID ●</a:t>
                      </a:r>
                    </a:p>
                  </a:txBody>
                  <a:tcPr marL="73152" marR="73152" marT="36576" marB="36576" anchor="ctr">
                    <a:solidFill>
                      <a:srgbClr val="EAF8FA"/>
                    </a:solidFill>
                  </a:tcPr>
                </a:tc>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pPr algn="ctr"/>
                      <a:r>
                        <a:rPr sz="950" b="0" i="0">
                          <a:solidFill>
                            <a:srgbClr val="14313B"/>
                          </a:solidFill>
                          <a:latin typeface="Calibri (MS)"/>
                        </a:rPr>
                        <a:t>0,041 / 2,228</a:t>
                      </a:r>
                    </a:p>
                  </a:txBody>
                  <a:tcPr marL="73152" marR="73152" marT="36576" marB="36576" anchor="ctr">
                    <a:solidFill>
                      <a:srgbClr val="FFFFFF"/>
                    </a:solidFill>
                  </a:tcPr>
                </a:tc>
                <a:tc>
                  <a:txBody>
                    <a:bodyPr wrap="square"/>
                    <a:lstStyle/>
                    <a:p>
                      <a:pPr algn="ctr"/>
                      <a:r>
                        <a:rPr sz="950" b="0" i="0">
                          <a:solidFill>
                            <a:srgbClr val="14313B"/>
                          </a:solidFill>
                          <a:latin typeface="Calibri (MS)"/>
                        </a:rPr>
                        <a:t>Tidak berbeda nyata</a:t>
                      </a:r>
                    </a:p>
                  </a:txBody>
                  <a:tcPr marL="73152" marR="73152" marT="36576" marB="36576" anchor="ctr">
                    <a:solidFill>
                      <a:srgbClr val="C9F0D6"/>
                    </a:solidFill>
                  </a:tcPr>
                </a:tc>
                <a:tc>
                  <a:txBody>
                    <a:bodyPr wrap="square"/>
                    <a:lstStyle/>
                    <a:p>
                      <a:pPr algn="ctr"/>
                      <a:r>
                        <a:rPr sz="950" b="0" i="0">
                          <a:solidFill>
                            <a:srgbClr val="14313B"/>
                          </a:solidFill>
                          <a:latin typeface="Calibri (MS)"/>
                        </a:rPr>
                        <a:t>0,2643</a:t>
                      </a:r>
                    </a:p>
                  </a:txBody>
                  <a:tcPr marL="73152" marR="73152" marT="36576" marB="36576" anchor="ctr">
                    <a:solidFill>
                      <a:srgbClr val="FDE2DE"/>
                    </a:solidFill>
                  </a:tcPr>
                </a:tc>
                <a:tc>
                  <a:txBody>
                    <a:bodyPr wrap="square"/>
                    <a:lstStyle/>
                    <a:p>
                      <a:pPr algn="ctr"/>
                      <a:r>
                        <a:rPr sz="950" b="0" i="0">
                          <a:solidFill>
                            <a:srgbClr val="14313B"/>
                          </a:solidFill>
                          <a:latin typeface="Calibri (MS)"/>
                        </a:rPr>
                        <a:t>0,6757</a:t>
                      </a:r>
                    </a:p>
                  </a:txBody>
                  <a:tcPr marL="73152" marR="73152" marT="36576" marB="36576" anchor="ctr">
                    <a:solidFill>
                      <a:srgbClr val="FDE2DE"/>
                    </a:solidFill>
                  </a:tcPr>
                </a:tc>
                <a:tc>
                  <a:txBody>
                    <a:bodyPr wrap="square"/>
                    <a:lstStyle/>
                    <a:p>
                      <a:pPr algn="ctr"/>
                      <a:r>
                        <a:rPr sz="950" b="0" i="0">
                          <a:solidFill>
                            <a:srgbClr val="14313B"/>
                          </a:solidFill>
                          <a:latin typeface="Calibri (MS)"/>
                        </a:rPr>
                        <a:t>0,7041</a:t>
                      </a:r>
                    </a:p>
                  </a:txBody>
                  <a:tcPr marL="73152" marR="73152" marT="36576" marB="36576" anchor="ctr">
                    <a:solidFill>
                      <a:srgbClr val="FDE2DE"/>
                    </a:solidFill>
                  </a:tcPr>
                </a:tc>
                <a:tc>
                  <a:txBody>
                    <a:bodyPr wrap="square"/>
                    <a:lstStyle/>
                    <a:p>
                      <a:pPr algn="ctr"/>
                      <a:r>
                        <a:rPr sz="950" b="0" i="0">
                          <a:solidFill>
                            <a:srgbClr val="14313B"/>
                          </a:solidFill>
                          <a:latin typeface="Calibri (MS)"/>
                        </a:rPr>
                        <a:t>0,506</a:t>
                      </a:r>
                    </a:p>
                  </a:txBody>
                  <a:tcPr marL="73152" marR="73152" marT="36576" marB="36576" anchor="ctr">
                    <a:solidFill>
                      <a:srgbClr val="FFFFFF"/>
                    </a:solidFill>
                  </a:tcPr>
                </a:tc>
                <a:tc>
                  <a:txBody>
                    <a:bodyPr wrap="square"/>
                    <a:lstStyle/>
                    <a:p>
                      <a:pPr algn="ctr"/>
                      <a:r>
                        <a:rPr sz="950" b="0" i="0">
                          <a:solidFill>
                            <a:srgbClr val="14313B"/>
                          </a:solidFill>
                          <a:latin typeface="Calibri (MS)"/>
                        </a:rPr>
                        <a:t>0,259</a:t>
                      </a:r>
                    </a:p>
                  </a:txBody>
                  <a:tcPr marL="73152" marR="73152" marT="36576" marB="36576" anchor="ctr">
                    <a:solidFill>
                      <a:srgbClr val="FFFFFF"/>
                    </a:solidFill>
                  </a:tcPr>
                </a:tc>
                <a:tc>
                  <a:txBody>
                    <a:bodyPr wrap="square"/>
                    <a:lstStyle/>
                    <a:p>
                      <a:pPr algn="ctr"/>
                      <a:r>
                        <a:rPr sz="950" b="0" i="0">
                          <a:solidFill>
                            <a:srgbClr val="14313B"/>
                          </a:solidFill>
                          <a:latin typeface="Calibri (MS)"/>
                        </a:rPr>
                        <a:t>0,235</a:t>
                      </a:r>
                    </a:p>
                  </a:txBody>
                  <a:tcPr marL="73152" marR="73152" marT="36576" marB="36576" anchor="ctr">
                    <a:solidFill>
                      <a:srgbClr val="FFFFFF"/>
                    </a:solidFill>
                  </a:tcPr>
                </a:tc>
                <a:tc>
                  <a:txBody>
                    <a:bodyPr wrap="square"/>
                    <a:lstStyle/>
                    <a:p>
                      <a:pPr algn="ctr"/>
                      <a:r>
                        <a:rPr sz="950" b="0" i="0">
                          <a:solidFill>
                            <a:srgbClr val="14313B"/>
                          </a:solidFill>
                          <a:latin typeface="Calibri (MS)"/>
                        </a:rPr>
                        <a:t>U1</a:t>
                      </a:r>
                    </a:p>
                  </a:txBody>
                  <a:tcPr marL="73152" marR="73152" marT="36576" marB="36576" anchor="ctr">
                    <a:solidFill>
                      <a:srgbClr val="FFFFFF"/>
                    </a:solidFill>
                  </a:tcPr>
                </a:tc>
                <a:tc>
                  <a:txBody>
                    <a:bodyPr wrap="square"/>
                    <a:lstStyle/>
                    <a:p>
                      <a:pPr algn="ctr"/>
                      <a:r>
                        <a:rPr sz="950" b="0" i="0">
                          <a:solidFill>
                            <a:srgbClr val="14313B"/>
                          </a:solidFill>
                          <a:latin typeface="Calibri (MS)"/>
                        </a:rPr>
                        <a:t>29,52%</a:t>
                      </a:r>
                    </a:p>
                  </a:txBody>
                  <a:tcPr marL="73152" marR="73152" marT="36576" marB="36576" anchor="ctr">
                    <a:solidFill>
                      <a:srgbClr val="FFFFFF"/>
                    </a:solidFill>
                  </a:tcPr>
                </a:tc>
              </a:tr>
              <a:tr h="329184">
                <a:tc>
                  <a:txBody>
                    <a:bodyPr wrap="square"/>
                    <a:lstStyle/>
                    <a:p>
                      <a:r>
                        <a:rPr sz="950" b="1" i="0">
                          <a:solidFill>
                            <a:srgbClr val="14313B"/>
                          </a:solidFill>
                          <a:latin typeface="Calibri (MS) Bold"/>
                        </a:rPr>
                        <a:t>Total Malam Menginap</a:t>
                      </a:r>
                    </a:p>
                  </a:txBody>
                  <a:tcPr marL="73152" marR="73152" marT="36576" marB="36576" anchor="ctr">
                    <a:solidFill>
                      <a:srgbClr val="EAF8FA"/>
                    </a:solidFill>
                  </a:tcPr>
                </a:tc>
                <a:tc>
                  <a:txBody>
                    <a:bodyPr wrap="square"/>
                    <a:lstStyle/>
                    <a:p>
                      <a:r>
                        <a:rPr sz="950" b="0" i="0">
                          <a:solidFill>
                            <a:srgbClr val="14313B"/>
                          </a:solidFill>
                          <a:latin typeface="Calibri (MS)"/>
                        </a:rPr>
                        <a:t>Tanpa 2020–21</a:t>
                      </a:r>
                    </a:p>
                  </a:txBody>
                  <a:tcPr marL="73152" marR="73152" marT="36576" marB="36576" anchor="ctr">
                    <a:solidFill>
                      <a:srgbClr val="EAF8FA"/>
                    </a:solidFill>
                  </a:tcPr>
                </a:tc>
                <a:tc>
                  <a:txBody>
                    <a:bodyPr wrap="square"/>
                    <a:lstStyle/>
                    <a:p>
                      <a:pPr algn="ctr"/>
                      <a:r>
                        <a:rPr sz="950" b="0" i="0">
                          <a:solidFill>
                            <a:srgbClr val="14313B"/>
                          </a:solidFill>
                          <a:latin typeface="Calibri (MS)"/>
                        </a:rPr>
                        <a:t>5</a:t>
                      </a:r>
                    </a:p>
                  </a:txBody>
                  <a:tcPr marL="73152" marR="73152" marT="36576" marB="36576" anchor="ctr">
                    <a:solidFill>
                      <a:srgbClr val="EAF8FA"/>
                    </a:solidFill>
                  </a:tcPr>
                </a:tc>
                <a:tc>
                  <a:txBody>
                    <a:bodyPr wrap="square"/>
                    <a:lstStyle/>
                    <a:p>
                      <a:pPr algn="ctr"/>
                      <a:r>
                        <a:rPr sz="950" b="0" i="0">
                          <a:solidFill>
                            <a:srgbClr val="14313B"/>
                          </a:solidFill>
                          <a:latin typeface="Calibri (MS)"/>
                        </a:rPr>
                        <a:t>1,861 / 2,447</a:t>
                      </a:r>
                    </a:p>
                  </a:txBody>
                  <a:tcPr marL="73152" marR="73152" marT="36576" marB="36576" anchor="ctr">
                    <a:solidFill>
                      <a:srgbClr val="EAF8FA"/>
                    </a:solidFill>
                  </a:tcPr>
                </a:tc>
                <a:tc>
                  <a:txBody>
                    <a:bodyPr wrap="square"/>
                    <a:lstStyle/>
                    <a:p>
                      <a:pPr algn="ctr"/>
                      <a:r>
                        <a:rPr sz="950" b="0" i="0">
                          <a:solidFill>
                            <a:srgbClr val="14313B"/>
                          </a:solidFill>
                          <a:latin typeface="Calibri (MS)"/>
                        </a:rPr>
                        <a:t>Berlawanan arah</a:t>
                      </a:r>
                    </a:p>
                  </a:txBody>
                  <a:tcPr marL="73152" marR="73152" marT="36576" marB="36576" anchor="ctr">
                    <a:solidFill>
                      <a:srgbClr val="FDE2DE"/>
                    </a:solidFill>
                  </a:tcPr>
                </a:tc>
                <a:tc>
                  <a:txBody>
                    <a:bodyPr wrap="square"/>
                    <a:lstStyle/>
                    <a:p>
                      <a:pPr algn="ctr"/>
                      <a:r>
                        <a:rPr sz="950" b="0" i="0">
                          <a:solidFill>
                            <a:srgbClr val="14313B"/>
                          </a:solidFill>
                          <a:latin typeface="Calibri (MS)"/>
                        </a:rPr>
                        <a:t>0,3395*</a:t>
                      </a:r>
                    </a:p>
                  </a:txBody>
                  <a:tcPr marL="73152" marR="73152" marT="36576" marB="36576" anchor="ctr">
                    <a:solidFill>
                      <a:srgbClr val="EAF8FA"/>
                    </a:solidFill>
                  </a:tcPr>
                </a:tc>
                <a:tc>
                  <a:txBody>
                    <a:bodyPr wrap="square"/>
                    <a:lstStyle/>
                    <a:p>
                      <a:pPr algn="ctr"/>
                      <a:r>
                        <a:rPr sz="950" b="0" i="0">
                          <a:solidFill>
                            <a:srgbClr val="14313B"/>
                          </a:solidFill>
                          <a:latin typeface="Calibri (MS)"/>
                        </a:rPr>
                        <a:t>0,2976*</a:t>
                      </a:r>
                    </a:p>
                  </a:txBody>
                  <a:tcPr marL="73152" marR="73152" marT="36576" marB="36576" anchor="ctr">
                    <a:solidFill>
                      <a:srgbClr val="EAF8FA"/>
                    </a:solidFill>
                  </a:tcPr>
                </a:tc>
                <a:tc>
                  <a:txBody>
                    <a:bodyPr wrap="square"/>
                    <a:lstStyle/>
                    <a:p>
                      <a:pPr algn="ctr"/>
                      <a:r>
                        <a:rPr sz="950" b="0" i="0">
                          <a:solidFill>
                            <a:srgbClr val="14313B"/>
                          </a:solidFill>
                          <a:latin typeface="Calibri (MS)"/>
                        </a:rPr>
                        <a:t>0,8060</a:t>
                      </a:r>
                    </a:p>
                  </a:txBody>
                  <a:tcPr marL="73152" marR="73152" marT="36576" marB="36576" anchor="ctr">
                    <a:solidFill>
                      <a:srgbClr val="FDE2DE"/>
                    </a:solidFill>
                  </a:tcPr>
                </a:tc>
                <a:tc>
                  <a:txBody>
                    <a:bodyPr wrap="square"/>
                    <a:lstStyle/>
                    <a:p>
                      <a:pPr algn="ctr"/>
                      <a:r>
                        <a:rPr sz="950" b="0" i="0">
                          <a:solidFill>
                            <a:srgbClr val="14313B"/>
                          </a:solidFill>
                          <a:latin typeface="Calibri (MS)"/>
                        </a:rPr>
                        <a:t>0,824</a:t>
                      </a:r>
                    </a:p>
                  </a:txBody>
                  <a:tcPr marL="73152" marR="73152" marT="36576" marB="36576" anchor="ctr">
                    <a:solidFill>
                      <a:srgbClr val="EAF8FA"/>
                    </a:solidFill>
                  </a:tcPr>
                </a:tc>
                <a:tc>
                  <a:txBody>
                    <a:bodyPr wrap="square"/>
                    <a:lstStyle/>
                    <a:p>
                      <a:pPr algn="ctr"/>
                      <a:r>
                        <a:rPr sz="950" b="0" i="0">
                          <a:solidFill>
                            <a:srgbClr val="14313B"/>
                          </a:solidFill>
                          <a:latin typeface="Calibri (MS)"/>
                        </a:rPr>
                        <a:t>0,008</a:t>
                      </a:r>
                    </a:p>
                  </a:txBody>
                  <a:tcPr marL="73152" marR="73152" marT="36576" marB="36576" anchor="ctr">
                    <a:solidFill>
                      <a:srgbClr val="EAF8FA"/>
                    </a:solidFill>
                  </a:tcPr>
                </a:tc>
                <a:tc>
                  <a:txBody>
                    <a:bodyPr wrap="square"/>
                    <a:lstStyle/>
                    <a:p>
                      <a:pPr algn="ctr"/>
                      <a:r>
                        <a:rPr sz="950" b="0" i="0">
                          <a:solidFill>
                            <a:srgbClr val="14313B"/>
                          </a:solidFill>
                          <a:latin typeface="Calibri (MS)"/>
                        </a:rPr>
                        <a:t>0,168</a:t>
                      </a:r>
                    </a:p>
                  </a:txBody>
                  <a:tcPr marL="73152" marR="73152" marT="36576" marB="36576" anchor="ctr">
                    <a:solidFill>
                      <a:srgbClr val="EAF8FA"/>
                    </a:solidFill>
                  </a:tcPr>
                </a:tc>
                <a:tc>
                  <a:txBody>
                    <a:bodyPr wrap="square"/>
                    <a:lstStyle/>
                    <a:p>
                      <a:pPr algn="ctr"/>
                      <a:r>
                        <a:rPr sz="950" b="0" i="0">
                          <a:solidFill>
                            <a:srgbClr val="14313B"/>
                          </a:solidFill>
                          <a:latin typeface="Calibri (MS)"/>
                        </a:rPr>
                        <a:t>U1</a:t>
                      </a:r>
                    </a:p>
                  </a:txBody>
                  <a:tcPr marL="73152" marR="73152" marT="36576" marB="36576" anchor="ctr">
                    <a:solidFill>
                      <a:srgbClr val="EAF8FA"/>
                    </a:solidFill>
                  </a:tcPr>
                </a:tc>
                <a:tc>
                  <a:txBody>
                    <a:bodyPr wrap="square"/>
                    <a:lstStyle/>
                    <a:p>
                      <a:pPr algn="ctr"/>
                      <a:r>
                        <a:rPr sz="950" b="0" i="0">
                          <a:solidFill>
                            <a:srgbClr val="14313B"/>
                          </a:solidFill>
                          <a:latin typeface="Calibri (MS)"/>
                        </a:rPr>
                        <a:t>32,84%</a:t>
                      </a:r>
                    </a:p>
                  </a:txBody>
                  <a:tcPr marL="73152" marR="73152" marT="36576" marB="36576" anchor="ctr">
                    <a:solidFill>
                      <a:srgbClr val="EAF8FA"/>
                    </a:solidFill>
                  </a:tcPr>
                </a:tc>
              </a:tr>
            </a:tbl>
          </a:graphicData>
        </a:graphic>
      </p:graphicFrame>
      <p:sp>
        <p:nvSpPr>
          <p:cNvPr id="28" name="TextBox 27"/>
          <p:cNvSpPr txBox="1"/>
          <p:nvPr/>
        </p:nvSpPr>
        <p:spPr>
          <a:xfrm>
            <a:off x="822960" y="8183879"/>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*Tren berbeda nyata atau berlawanan arah: E1 dan E2 tidak ditafsirkan (Barlas, 1989).</a:t>
            </a:r>
          </a:p>
        </p:txBody>
      </p:sp>
      <p:sp>
        <p:nvSpPr>
          <p:cNvPr id="29" name="Rounded Rectangle 28"/>
          <p:cNvSpPr/>
          <p:nvPr/>
        </p:nvSpPr>
        <p:spPr>
          <a:xfrm>
            <a:off x="822960" y="8503920"/>
            <a:ext cx="16642080" cy="685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Intinya  </a:t>
            </a:r>
            <a:r>
              <a:rPr sz="1200" b="0" i="0">
                <a:solidFill>
                  <a:srgbClr val="14313B"/>
                </a:solidFill>
                <a:latin typeface="Calibri (MS)"/>
              </a:rPr>
              <a:t>Hotel, ODTW, TK, dan lahan yang baik di uji parsial memburuk di uji penuh. Penyebabnya satu: wisatawan tumbuh lebih lambat dari data, lalu galatnya merambat lewat pengeluaran → PDRB → investasi. U1 dominan pada 6 dari 9 variabel.</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4.5.3 (Tabel 47); hasil_uji_perilaku_baseline_v2.xlsx.</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(1/9)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parsial periode 2016–2025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P1 · Jumlah Hotel dan Akomodasi</a:t>
            </a:r>
            <a:r>
              <a:rPr sz="1050" b="0" i="0">
                <a:solidFill>
                  <a:srgbClr val="D7EEF2"/>
                </a:solidFill>
                <a:latin typeface="Calibri (MS)"/>
              </a:rPr>
              <a:t>   Buku Gambar 25</a:t>
            </a:r>
          </a:p>
        </p:txBody>
      </p:sp>
      <p:pic>
        <p:nvPicPr>
          <p:cNvPr id="28" name="Picture 27" descr="image28.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mengikuti kenaikan data dengan baik: tren tidak berbeda nyata, E1 0,0402, E2 0,0773, DC 0,2011. Sisa galat didominasi U3 (derau), jadi struktur akomodasi sudah tepat.</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P1 · Tingkat Penghunian Kamar (TPK)</a:t>
            </a:r>
            <a:r>
              <a:rPr sz="1050" b="0" i="0">
                <a:solidFill>
                  <a:srgbClr val="D7EEF2"/>
                </a:solidFill>
                <a:latin typeface="Calibri (MS)"/>
              </a:rPr>
              <a:t>   Buku Gambar 26</a:t>
            </a:r>
          </a:p>
        </p:txBody>
      </p:sp>
      <p:pic>
        <p:nvPicPr>
          <p:cNvPr id="31" name="Picture 30" descr="image29.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Tren lolos, tetapi simulasi naik-turun jauh lebih tajam dari data (E2 2,5684; U2 dominan). Sumbernya derau data malam menginap 2017 dan 2020 yang dipakai sebagai masukan.</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(2/9)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parsial periode 2016–2025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P1b · Jumlah Hotel dan Akomodasi</a:t>
            </a:r>
            <a:r>
              <a:rPr sz="1050" b="0" i="0">
                <a:solidFill>
                  <a:srgbClr val="D7EEF2"/>
                </a:solidFill>
                <a:latin typeface="Calibri (MS)"/>
              </a:rPr>
              <a:t>   Buku Gambar 27</a:t>
            </a:r>
          </a:p>
        </p:txBody>
      </p:sp>
      <p:pic>
        <p:nvPicPr>
          <p:cNvPr id="28" name="Picture 27" descr="image30.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Dengan kamar per unit tahunan, pola tetap sama dengan P1 (DC 0,2319; MAPE 7,86%). Kesimpulan P1 kokoh terhadap asumsi kamar per unit.</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P1b · Tingkat Penghunian Kamar (TPK)</a:t>
            </a:r>
            <a:r>
              <a:rPr sz="1050" b="0" i="0">
                <a:solidFill>
                  <a:srgbClr val="D7EEF2"/>
                </a:solidFill>
                <a:latin typeface="Calibri (MS)"/>
              </a:rPr>
              <a:t>   Buku Gambar 28</a:t>
            </a:r>
          </a:p>
        </p:txBody>
      </p:sp>
      <p:pic>
        <p:nvPicPr>
          <p:cNvPr id="31" name="Picture 30" descr="image31.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Fluktuasi tetap berlebih (E2 2,9435; DC 0,7053). TPK tetap titik terlemah subsistem akomodasi.</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(3/9)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parsial periode 2016–2025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P2 · Jumlah ODTW</a:t>
            </a:r>
            <a:r>
              <a:rPr sz="1050" b="0" i="0">
                <a:solidFill>
                  <a:srgbClr val="D7EEF2"/>
                </a:solidFill>
                <a:latin typeface="Calibri (MS)"/>
              </a:rPr>
              <a:t>   Buku Gambar 29</a:t>
            </a:r>
          </a:p>
        </p:txBody>
      </p:sp>
      <p:pic>
        <p:nvPicPr>
          <p:cNvPr id="28" name="Picture 27" descr="image32.png"/>
          <p:cNvPicPr>
            <a:picLocks noChangeAspect="1"/>
          </p:cNvPicPr>
          <p:nvPr/>
        </p:nvPicPr>
        <p:blipFill>
          <a:blip r:embed="rId7"/>
          <a:stretch>
            <a:fillRect/>
          </a:stretch>
        </p:blipFill>
        <p:spPr>
          <a:xfrm>
            <a:off x="1385887" y="2377440"/>
            <a:ext cx="7058025"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Arah kenaikan sama dengan data (tren lolos), tetapi ada selisih level yang konsisten (U1 0,73). DC 0,3367 dan MAPE 8,48%: sangat baik.</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P3 · Tenaga Kerja Pariwisata</a:t>
            </a:r>
            <a:r>
              <a:rPr sz="1050" b="0" i="0">
                <a:solidFill>
                  <a:srgbClr val="D7EEF2"/>
                </a:solidFill>
                <a:latin typeface="Calibri (MS)"/>
              </a:rPr>
              <a:t>   Buku Gambar 30</a:t>
            </a:r>
          </a:p>
        </p:txBody>
      </p:sp>
      <p:pic>
        <p:nvPicPr>
          <p:cNvPr id="31" name="Picture 30" descr="image33.png"/>
          <p:cNvPicPr>
            <a:picLocks noChangeAspect="1"/>
          </p:cNvPicPr>
          <p:nvPr/>
        </p:nvPicPr>
        <p:blipFill>
          <a:blip r:embed="rId8"/>
          <a:stretch>
            <a:fillRect/>
          </a:stretch>
        </p:blipFill>
        <p:spPr>
          <a:xfrm>
            <a:off x="9844087" y="2377440"/>
            <a:ext cx="7058025"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tumbuh mulus, data melompat pada 2018 dan 2022. Tren lolos; galat bias (U1 0,62), DC 0,4945, MAPE 12,88%: baik.</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(4/9)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parsial periode 2016–2025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P4 · Lahan Terbangun</a:t>
            </a:r>
            <a:r>
              <a:rPr sz="1050" b="0" i="0">
                <a:solidFill>
                  <a:srgbClr val="D7EEF2"/>
                </a:solidFill>
                <a:latin typeface="Calibri (MS)"/>
              </a:rPr>
              <a:t>   Buku Gambar 31</a:t>
            </a:r>
          </a:p>
        </p:txBody>
      </p:sp>
      <p:pic>
        <p:nvPicPr>
          <p:cNvPr id="28" name="Picture 27" descr="image34.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naik halus mengikuti laju konversi, data citra lebih berfluktuasi. Galat terbagi bias dan kovariasi (U1 0,42; U3 0,43). DC 0,4813, MAPE 12,94%.</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P5 · Jumlah Wisatawan</a:t>
            </a:r>
            <a:r>
              <a:rPr sz="1050" b="0" i="0">
                <a:solidFill>
                  <a:srgbClr val="D7EEF2"/>
                </a:solidFill>
                <a:latin typeface="Calibri (MS)"/>
              </a:rPr>
              <a:t>   Buku Gambar 32</a:t>
            </a:r>
          </a:p>
        </p:txBody>
      </p:sp>
      <p:pic>
        <p:nvPicPr>
          <p:cNvPr id="31" name="Picture 30" descr="image35.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Satu-satunya yang gagal uji tren: simulasi tumbuh ±6,4%/th, data sambungan ±11,7%/th. Galat sistematis (U1 + U2 &gt; 0,95), ditelusuri pada kalibrasi Tahap 3.</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(5/9)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penuh periode 2019–2025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Jumlah Wisatawan</a:t>
            </a:r>
            <a:r>
              <a:rPr sz="1050" b="0" i="0">
                <a:solidFill>
                  <a:srgbClr val="D7EEF2"/>
                </a:solidFill>
                <a:latin typeface="Calibri (MS)"/>
              </a:rPr>
              <a:t>   Buku Gambar 33</a:t>
            </a:r>
          </a:p>
        </p:txBody>
      </p:sp>
      <p:pic>
        <p:nvPicPr>
          <p:cNvPr id="28" name="Picture 27" descr="image36.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Polanya sama dengan P5: simulasi naik lebih lambat dari data (tren berbeda nyata). DC 0,4482, MAPE 12,06%. Inilah sumber galat bagi variabel lain.</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Jumlah Hotel</a:t>
            </a:r>
            <a:r>
              <a:rPr sz="1050" b="0" i="0">
                <a:solidFill>
                  <a:srgbClr val="D7EEF2"/>
                </a:solidFill>
                <a:latin typeface="Calibri (MS)"/>
              </a:rPr>
              <a:t>   Buku Gambar 34</a:t>
            </a:r>
          </a:p>
        </p:txBody>
      </p:sp>
      <p:pic>
        <p:nvPicPr>
          <p:cNvPr id="31" name="Picture 30" descr="image37.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turun sampai 2023 sementara data naik (berlawanan arah), padahal di P1 sangat baik. Artinya galat datang dari hulu: wisatawan rendah → investasi rendah → konstruksi rendah.</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(6/9)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penuh periode 2019–2025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Jumlah ODTW</a:t>
            </a:r>
            <a:r>
              <a:rPr sz="1050" b="0" i="0">
                <a:solidFill>
                  <a:srgbClr val="D7EEF2"/>
                </a:solidFill>
                <a:latin typeface="Calibri (MS)"/>
              </a:rPr>
              <a:t>   Buku Gambar 35</a:t>
            </a:r>
          </a:p>
        </p:txBody>
      </p:sp>
      <p:pic>
        <p:nvPicPr>
          <p:cNvPr id="28" name="Picture 27" descr="image38.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Rata-rata hampir tepat (E1 0,0012, MAPE 5,68%), tetapi simulasi terlalu datar dibanding lonjakan data 2023–2024 (E2 0,8550; U2 dominan).</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Tenaga Kerja</a:t>
            </a:r>
            <a:r>
              <a:rPr sz="1050" b="0" i="0">
                <a:solidFill>
                  <a:srgbClr val="D7EEF2"/>
                </a:solidFill>
                <a:latin typeface="Calibri (MS)"/>
              </a:rPr>
              <a:t>   Buku Gambar 36</a:t>
            </a:r>
          </a:p>
        </p:txBody>
      </p:sp>
      <p:pic>
        <p:nvPicPr>
          <p:cNvPr id="31" name="Picture 30" descr="image39.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menurun, data naik (berlawanan arah). TK bergantung pada PDRB yang ikut rendah karena wisatawan rendah. U1 dominan.</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(7/9)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penuh periode 2019–2025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Lahan Terbangun</a:t>
            </a:r>
            <a:r>
              <a:rPr sz="1050" b="0" i="0">
                <a:solidFill>
                  <a:srgbClr val="D7EEF2"/>
                </a:solidFill>
                <a:latin typeface="Calibri (MS)"/>
              </a:rPr>
              <a:t>   Buku Gambar 37</a:t>
            </a:r>
          </a:p>
        </p:txBody>
      </p:sp>
      <p:pic>
        <p:nvPicPr>
          <p:cNvPr id="28" name="Picture 27" descr="image40.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Tren lolos; simulasi di atas data citra pada 2020–2022, mendekat pada 2023–2024, lalu data 2025 turun ke 55.029 ha. DC 0,6619, MAPE 13,43%, U3 dominan.</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TPK</a:t>
            </a:r>
            <a:r>
              <a:rPr sz="1050" b="0" i="0">
                <a:solidFill>
                  <a:srgbClr val="D7EEF2"/>
                </a:solidFill>
                <a:latin typeface="Calibri (MS)"/>
              </a:rPr>
              <a:t>   Buku Gambar 38</a:t>
            </a:r>
          </a:p>
        </p:txBody>
      </p:sp>
      <p:pic>
        <p:nvPicPr>
          <p:cNvPr id="31" name="Picture 30" descr="image41.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DC 0,6224, lebih baik dari P1 (0,6692), karena malam menginap kini dihitung model sendiri dan tidak membawa derau data. Galat bias (U1).</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(8/9)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penuh periode 2019–2025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PDRB Pariwisata</a:t>
            </a:r>
            <a:r>
              <a:rPr sz="1050" b="0" i="0">
                <a:solidFill>
                  <a:srgbClr val="D7EEF2"/>
                </a:solidFill>
                <a:latin typeface="Calibri (MS)"/>
              </a:rPr>
              <a:t>   Buku Gambar 39</a:t>
            </a:r>
          </a:p>
        </p:txBody>
      </p:sp>
      <p:pic>
        <p:nvPicPr>
          <p:cNvPr id="28" name="Picture 27" descr="image42.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Bentuk pola mirip (DC 0,3062), tetapi levelnya konsisten di bawah data (U1 0,93; MAPE 25,06%). Bias datang dari jumlah wisatawan.</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Investasi Pariwisata</a:t>
            </a:r>
            <a:r>
              <a:rPr sz="1050" b="0" i="0">
                <a:solidFill>
                  <a:srgbClr val="D7EEF2"/>
                </a:solidFill>
                <a:latin typeface="Calibri (MS)"/>
              </a:rPr>
              <a:t>   Buku Gambar 40</a:t>
            </a:r>
          </a:p>
        </p:txBody>
      </p:sp>
      <p:pic>
        <p:nvPicPr>
          <p:cNvPr id="31" name="Picture 30" descr="image43.png"/>
          <p:cNvPicPr>
            <a:picLocks noChangeAspect="1"/>
          </p:cNvPicPr>
          <p:nvPr/>
        </p:nvPicPr>
        <p:blipFill>
          <a:blip r:embed="rId8"/>
          <a:stretch>
            <a:fillRect/>
          </a:stretch>
        </p:blipFill>
        <p:spPr>
          <a:xfrm>
            <a:off x="9658350" y="2377440"/>
            <a:ext cx="7429500" cy="4343400"/>
          </a:xfrm>
          <a:prstGeom prst="rect">
            <a:avLst/>
          </a:prstGeom>
          <a:ln w="12700">
            <a:solidFill>
              <a:srgbClr val="CFE5E9"/>
            </a:solidFill>
          </a:ln>
        </p:spPr>
      </p:pic>
      <p:sp>
        <p:nvSpPr>
          <p:cNvPr id="32" name="Rounded Rectangle 31"/>
          <p:cNvSpPr/>
          <p:nvPr/>
        </p:nvSpPr>
        <p:spPr>
          <a:xfrm>
            <a:off x="92811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Data investasi sangat berfluktuasi, simulasi naik halus dan di bawah data (MAPE 33,54%; DC 0,7356). Galat bias dari hulu.</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56 · Grafik Uji Perilaku (9/9)</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Data aktual dibandingkan hasil simulasi; uji penuh periode 2019–2025</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Uji penuh · Total Malam Menginap</a:t>
            </a:r>
            <a:r>
              <a:rPr sz="1050" b="0" i="0">
                <a:solidFill>
                  <a:srgbClr val="D7EEF2"/>
                </a:solidFill>
                <a:latin typeface="Calibri (MS)"/>
              </a:rPr>
              <a:t>   Buku Gambar 41</a:t>
            </a:r>
          </a:p>
        </p:txBody>
      </p:sp>
      <p:pic>
        <p:nvPicPr>
          <p:cNvPr id="28" name="Picture 27" descr="image44.png"/>
          <p:cNvPicPr>
            <a:picLocks noChangeAspect="1"/>
          </p:cNvPicPr>
          <p:nvPr/>
        </p:nvPicPr>
        <p:blipFill>
          <a:blip r:embed="rId7"/>
          <a:stretch>
            <a:fillRect/>
          </a:stretch>
        </p:blipFill>
        <p:spPr>
          <a:xfrm>
            <a:off x="1200149" y="2377440"/>
            <a:ext cx="7429500" cy="4343400"/>
          </a:xfrm>
          <a:prstGeom prst="rect">
            <a:avLst/>
          </a:prstGeom>
          <a:ln w="12700">
            <a:solidFill>
              <a:srgbClr val="CFE5E9"/>
            </a:solidFill>
          </a:ln>
        </p:spPr>
      </p:pic>
      <p:sp>
        <p:nvSpPr>
          <p:cNvPr id="29" name="Rounded Rectangle 28"/>
          <p:cNvSpPr/>
          <p:nvPr/>
        </p:nvSpPr>
        <p:spPr>
          <a:xfrm>
            <a:off x="822960" y="6812280"/>
            <a:ext cx="8183879"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Interpretasi  </a:t>
            </a:r>
            <a:r>
              <a:rPr sz="1150" b="0" i="0">
                <a:solidFill>
                  <a:srgbClr val="14313B"/>
                </a:solidFill>
                <a:latin typeface="Calibri (MS)"/>
              </a:rPr>
              <a:t>Simulasi naik halus, data jatuh tajam pada 2020 lalu pulih. Level di bawah data (U1 dominan), MAPE 29,52%: layak.</a:t>
            </a:r>
          </a:p>
        </p:txBody>
      </p:sp>
      <p:sp>
        <p:nvSpPr>
          <p:cNvPr id="30" name="Rounded Rectangle 29"/>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MAPE uji penuh (versi dengan COVID)</a:t>
            </a:r>
          </a:p>
        </p:txBody>
      </p:sp>
      <p:graphicFrame>
        <p:nvGraphicFramePr>
          <p:cNvPr id="31" name="Chart 30"/>
          <p:cNvGraphicFramePr>
            <a:graphicFrameLocks noGrp="1"/>
          </p:cNvGraphicFramePr>
          <p:nvPr/>
        </p:nvGraphicFramePr>
        <p:xfrm>
          <a:off x="9281160" y="2377440"/>
          <a:ext cx="8183879" cy="3657600"/>
        </p:xfrm>
        <a:graphic>
          <a:graphicData uri="http://schemas.openxmlformats.org/drawingml/2006/chart">
            <c:chart xmlns:c="http://schemas.openxmlformats.org/drawingml/2006/chart" r:id="rId8"/>
          </a:graphicData>
        </a:graphic>
      </p:graphicFrame>
      <p:sp>
        <p:nvSpPr>
          <p:cNvPr id="32" name="TextBox 31"/>
          <p:cNvSpPr txBox="1"/>
          <p:nvPr/>
        </p:nvSpPr>
        <p:spPr>
          <a:xfrm>
            <a:off x="9281160" y="6053328"/>
            <a:ext cx="8183879"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Hijau &lt; 10% sangat baik · biru 10–20% baik · kuning 20–50% layak · tidak ada yang &gt; 50%</a:t>
            </a:r>
          </a:p>
        </p:txBody>
      </p:sp>
      <p:sp>
        <p:nvSpPr>
          <p:cNvPr id="33" name="Rounded Rectangle 32"/>
          <p:cNvSpPr/>
          <p:nvPr/>
        </p:nvSpPr>
        <p:spPr>
          <a:xfrm>
            <a:off x="9281160" y="6400800"/>
            <a:ext cx="8183879" cy="1920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00" b="1" i="0">
                <a:solidFill>
                  <a:srgbClr val="0B5E6E"/>
                </a:solidFill>
                <a:latin typeface="Calibri (MS) Bold"/>
              </a:rPr>
              <a:t>Rangkuman  </a:t>
            </a:r>
            <a:r>
              <a:rPr sz="1150" b="0" i="0">
                <a:solidFill>
                  <a:srgbClr val="14313B"/>
                </a:solidFill>
                <a:latin typeface="Calibri (MS)"/>
              </a:rPr>
              <a:t>Struktur tiap subsistem memadai (uji parsial). Di model penuh, galat pertumbuhan wisatawan merambat ke variabel hilir lewat jalur ekonomi. Akar masalah di satu titik ini ditelusuri lewat kalibrasi diagnostik Tahap 3.</a:t>
            </a:r>
          </a:p>
        </p:txBody>
      </p:sp>
      <p:sp>
        <p:nvSpPr>
          <p:cNvPr id="34" name="TextBox 3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4.5.2–4.5.3 (Gambar 25–41).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57 · Protokol Kalibrasi: Ketentuan, Rumus, dan Aturan Keputusan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Semua aturan ditetapkan sebelum pencarian dijalankan (Oliva, 2003; Homer, 2012)</a:t>
            </a:r>
          </a:p>
        </p:txBody>
      </p:sp>
      <p:sp>
        <p:nvSpPr>
          <p:cNvPr id="27" name="Rounded Rectangle 26"/>
          <p:cNvSpPr/>
          <p:nvPr/>
        </p:nvSpPr>
        <p:spPr>
          <a:xfrm>
            <a:off x="822960" y="1874519"/>
            <a:ext cx="5852160"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1 · Parameter dibatasi</a:t>
            </a:r>
          </a:p>
          <a:p>
            <a:pPr algn="l">
              <a:spcAft>
                <a:spcPts val="300"/>
              </a:spcAft>
            </a:pPr>
            <a:r>
              <a:rPr sz="1050" b="0" i="0">
                <a:solidFill>
                  <a:srgbClr val="14313B"/>
                </a:solidFill>
                <a:latin typeface="Calibri (MS)"/>
              </a:rPr>
              <a:t>Hanya parameter asumsi/estimasi yang tidak pasti. Data resmi, identitas stok-aliran, dan nilai referensi tidak dikalibrasi.</a:t>
            </a:r>
          </a:p>
        </p:txBody>
      </p:sp>
      <p:sp>
        <p:nvSpPr>
          <p:cNvPr id="28" name="Rounded Rectangle 27"/>
          <p:cNvSpPr/>
          <p:nvPr/>
        </p:nvSpPr>
        <p:spPr>
          <a:xfrm>
            <a:off x="822960" y="2770632"/>
            <a:ext cx="5852160"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2 · Rentang berdasar</a:t>
            </a:r>
          </a:p>
          <a:p>
            <a:pPr algn="l">
              <a:spcAft>
                <a:spcPts val="300"/>
              </a:spcAft>
            </a:pPr>
            <a:r>
              <a:rPr sz="1050" b="0" i="0">
                <a:solidFill>
                  <a:srgbClr val="14313B"/>
                </a:solidFill>
                <a:latin typeface="Calibri (MS)"/>
              </a:rPr>
              <a:t>Dari triangulasi rujukan atau selang kepercayaan 95% estimasi asalnya.</a:t>
            </a:r>
          </a:p>
        </p:txBody>
      </p:sp>
      <p:sp>
        <p:nvSpPr>
          <p:cNvPr id="29" name="Rounded Rectangle 28"/>
          <p:cNvSpPr/>
          <p:nvPr/>
        </p:nvSpPr>
        <p:spPr>
          <a:xfrm>
            <a:off x="822960" y="3666744"/>
            <a:ext cx="5852160"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3 · Pasangan dihitung ulang</a:t>
            </a:r>
          </a:p>
          <a:p>
            <a:pPr algn="l">
              <a:spcAft>
                <a:spcPts val="300"/>
              </a:spcAft>
            </a:pPr>
            <a:r>
              <a:rPr sz="1050" b="0" i="0">
                <a:solidFill>
                  <a:srgbClr val="14313B"/>
                </a:solidFill>
                <a:latin typeface="Calibri (MS)"/>
              </a:rPr>
              <a:t>Parameter pasangan dihitung ulang di setiap titik pencarian agar identitas stok-aliran tetap terpenuhi.</a:t>
            </a:r>
          </a:p>
        </p:txBody>
      </p:sp>
      <p:sp>
        <p:nvSpPr>
          <p:cNvPr id="30" name="Rounded Rectangle 29"/>
          <p:cNvSpPr/>
          <p:nvPr/>
        </p:nvSpPr>
        <p:spPr>
          <a:xfrm>
            <a:off x="822960" y="4562856"/>
            <a:ext cx="5852160"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4 · Fungsi tujuan NRMSE</a:t>
            </a:r>
          </a:p>
          <a:p>
            <a:pPr algn="l">
              <a:spcAft>
                <a:spcPts val="300"/>
              </a:spcAft>
            </a:pPr>
            <a:r>
              <a:rPr sz="1050" b="0" i="0">
                <a:solidFill>
                  <a:srgbClr val="14313B"/>
                </a:solidFill>
                <a:latin typeface="Calibri (MS)"/>
              </a:rPr>
              <a:t>Satu keluarga dengan U1–U3; DC tidak dipakai karena tidak peka terhadap bias.</a:t>
            </a:r>
          </a:p>
        </p:txBody>
      </p:sp>
      <p:sp>
        <p:nvSpPr>
          <p:cNvPr id="31" name="Rounded Rectangle 30"/>
          <p:cNvSpPr/>
          <p:nvPr/>
        </p:nvSpPr>
        <p:spPr>
          <a:xfrm>
            <a:off x="822960" y="5458968"/>
            <a:ext cx="5852160"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5 · Aturan keputusan</a:t>
            </a:r>
          </a:p>
          <a:p>
            <a:pPr algn="l">
              <a:spcAft>
                <a:spcPts val="300"/>
              </a:spcAft>
            </a:pPr>
            <a:r>
              <a:rPr sz="1050" b="0" i="0">
                <a:solidFill>
                  <a:srgbClr val="14313B"/>
                </a:solidFill>
                <a:latin typeface="Calibri (MS)"/>
              </a:rPr>
              <a:t>Himpunan indiferen 5% dan aturan R1–R4; kepekaan diperiksa pada 2% dan 10%.</a:t>
            </a:r>
          </a:p>
        </p:txBody>
      </p:sp>
      <p:sp>
        <p:nvSpPr>
          <p:cNvPr id="32" name="Rounded Rectangle 31"/>
          <p:cNvSpPr/>
          <p:nvPr/>
        </p:nvSpPr>
        <p:spPr>
          <a:xfrm>
            <a:off x="6949440" y="1874519"/>
            <a:ext cx="5120640" cy="26517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00" b="0" i="1">
                <a:solidFill>
                  <a:srgbClr val="14313B"/>
                </a:solidFill>
                <a:latin typeface="Calibri (MS)"/>
              </a:rPr>
              <a:t>NRMSE = √[Σ(Sₜ − Aₜ)² ÷ n] ÷ Ā</a:t>
            </a:r>
          </a:p>
          <a:p>
            <a:pPr algn="l">
              <a:spcAft>
                <a:spcPts val="300"/>
              </a:spcAft>
            </a:pPr>
            <a:r>
              <a:rPr sz="1200" b="0" i="1">
                <a:solidFill>
                  <a:srgbClr val="14313B"/>
                </a:solidFill>
                <a:latin typeface="Calibri (MS)"/>
              </a:rPr>
              <a:t>I = {θ : J(θ) ≤ 1,05 × J_min}</a:t>
            </a:r>
          </a:p>
          <a:p>
            <a:pPr algn="l">
              <a:spcAft>
                <a:spcPts val="300"/>
              </a:spcAft>
            </a:pPr>
            <a:r>
              <a:rPr sz="1200" b="0" i="1">
                <a:solidFill>
                  <a:srgbClr val="14313B"/>
                </a:solidFill>
                <a:latin typeface="Calibri (MS)"/>
              </a:rPr>
              <a:t>k = (e^β₁ − 1) ÷ R̄</a:t>
            </a:r>
          </a:p>
          <a:p>
            <a:pPr algn="l">
              <a:spcAft>
                <a:spcPts val="300"/>
              </a:spcAft>
            </a:pPr>
            <a:r>
              <a:rPr sz="1200" b="0" i="1">
                <a:solidFill>
                  <a:srgbClr val="14313B"/>
                </a:solidFill>
                <a:latin typeface="Calibri (MS)"/>
              </a:rPr>
              <a:t>k_L, k_U = (e^(β₁ ∓ t*·se(β₁)) − 1) ÷ R̄</a:t>
            </a:r>
          </a:p>
          <a:p>
            <a:pPr algn="l">
              <a:spcAft>
                <a:spcPts val="300"/>
              </a:spcAft>
            </a:pPr>
            <a:r>
              <a:rPr sz="1200" b="0" i="1">
                <a:solidFill>
                  <a:srgbClr val="14313B"/>
                </a:solidFill>
                <a:latin typeface="Calibri (MS)"/>
              </a:rPr>
              <a:t>J = fungsi tujuan; I = himpunan indiferen;</a:t>
            </a:r>
            <a:r>
              <a:rPr sz="950" b="0" i="0">
                <a:solidFill>
                  <a:srgbClr val="5E6E78"/>
                </a:solidFill>
                <a:latin typeface="Calibri (MS)"/>
              </a:rPr>
              <a:t> β₁ = kemiringan regresi ln(lahan) thd tahun</a:t>
            </a:r>
          </a:p>
        </p:txBody>
      </p:sp>
      <p:graphicFrame>
        <p:nvGraphicFramePr>
          <p:cNvPr id="33" name="Table 32"/>
          <p:cNvGraphicFramePr>
            <a:graphicFrameLocks noGrp="1"/>
          </p:cNvGraphicFramePr>
          <p:nvPr/>
        </p:nvGraphicFramePr>
        <p:xfrm>
          <a:off x="12344400" y="1874519"/>
          <a:ext cx="5120639" cy="2651760"/>
        </p:xfrm>
        <a:graphic>
          <a:graphicData uri="http://schemas.openxmlformats.org/drawingml/2006/table">
            <a:tbl>
              <a:tblPr firstRow="1" bandRow="1">
                <a:tableStyleId>{5C22544A-7EE6-4342-B048-85BDC9FD1C3A}</a:tableStyleId>
              </a:tblPr>
              <a:tblGrid>
                <a:gridCol w="731519"/>
                <a:gridCol w="2011680"/>
                <a:gridCol w="2377440"/>
              </a:tblGrid>
              <a:tr h="530352">
                <a:tc>
                  <a:txBody>
                    <a:bodyPr wrap="square"/>
                    <a:lstStyle/>
                    <a:p>
                      <a:pPr algn="ctr"/>
                      <a:r>
                        <a:rPr sz="1000" b="1" i="0">
                          <a:solidFill>
                            <a:srgbClr val="FFFFFF"/>
                          </a:solidFill>
                          <a:latin typeface="Calibri (MS) Bold"/>
                        </a:rPr>
                        <a:t>Aturan</a:t>
                      </a:r>
                    </a:p>
                  </a:txBody>
                  <a:tcPr marL="73152" marR="73152" marT="36576" marB="36576" anchor="ctr">
                    <a:solidFill>
                      <a:srgbClr val="0B5E6E"/>
                    </a:solidFill>
                  </a:tcPr>
                </a:tc>
                <a:tc>
                  <a:txBody>
                    <a:bodyPr wrap="square"/>
                    <a:lstStyle/>
                    <a:p>
                      <a:r>
                        <a:rPr sz="1000" b="1" i="0">
                          <a:solidFill>
                            <a:srgbClr val="FFFFFF"/>
                          </a:solidFill>
                          <a:latin typeface="Calibri (MS) Bold"/>
                        </a:rPr>
                        <a:t>Kondisi</a:t>
                      </a:r>
                    </a:p>
                  </a:txBody>
                  <a:tcPr marL="73152" marR="73152" marT="36576" marB="36576" anchor="ctr">
                    <a:solidFill>
                      <a:srgbClr val="0B5E6E"/>
                    </a:solidFill>
                  </a:tcPr>
                </a:tc>
                <a:tc>
                  <a:txBody>
                    <a:bodyPr wrap="square"/>
                    <a:lstStyle/>
                    <a:p>
                      <a:r>
                        <a:rPr sz="1000" b="1" i="0">
                          <a:solidFill>
                            <a:srgbClr val="FFFFFF"/>
                          </a:solidFill>
                          <a:latin typeface="Calibri (MS) Bold"/>
                        </a:rPr>
                        <a:t>Keputusan</a:t>
                      </a:r>
                    </a:p>
                  </a:txBody>
                  <a:tcPr marL="73152" marR="73152" marT="36576" marB="36576" anchor="ctr">
                    <a:solidFill>
                      <a:srgbClr val="0B5E6E"/>
                    </a:solidFill>
                  </a:tcPr>
                </a:tc>
              </a:tr>
              <a:tr h="530352">
                <a:tc>
                  <a:txBody>
                    <a:bodyPr wrap="square"/>
                    <a:lstStyle/>
                    <a:p>
                      <a:pPr algn="ctr"/>
                      <a:r>
                        <a:rPr sz="1000" b="1" i="0">
                          <a:solidFill>
                            <a:srgbClr val="14313B"/>
                          </a:solidFill>
                          <a:latin typeface="Calibri (MS) Bold"/>
                        </a:rPr>
                        <a:t>R1</a:t>
                      </a:r>
                    </a:p>
                  </a:txBody>
                  <a:tcPr marL="73152" marR="73152" marT="36576" marB="36576" anchor="ctr">
                    <a:solidFill>
                      <a:srgbClr val="FFFFFF"/>
                    </a:solidFill>
                  </a:tcPr>
                </a:tc>
                <a:tc>
                  <a:txBody>
                    <a:bodyPr wrap="square"/>
                    <a:lstStyle/>
                    <a:p>
                      <a:r>
                        <a:rPr sz="1000" b="0" i="0">
                          <a:solidFill>
                            <a:srgbClr val="14313B"/>
                          </a:solidFill>
                          <a:latin typeface="Calibri (MS)"/>
                        </a:rPr>
                        <a:t>Nilai turunan data ∈ I</a:t>
                      </a:r>
                    </a:p>
                  </a:txBody>
                  <a:tcPr marL="73152" marR="73152" marT="36576" marB="36576" anchor="ctr">
                    <a:solidFill>
                      <a:srgbClr val="FFFFFF"/>
                    </a:solidFill>
                  </a:tcPr>
                </a:tc>
                <a:tc>
                  <a:txBody>
                    <a:bodyPr wrap="square"/>
                    <a:lstStyle/>
                    <a:p>
                      <a:r>
                        <a:rPr sz="1000" b="0" i="0">
                          <a:solidFill>
                            <a:srgbClr val="14313B"/>
                          </a:solidFill>
                          <a:latin typeface="Calibri (MS)"/>
                        </a:rPr>
                        <a:t>Perbaikan tidak material → pertahankan nilai turunan data</a:t>
                      </a:r>
                    </a:p>
                  </a:txBody>
                  <a:tcPr marL="73152" marR="73152" marT="36576" marB="36576" anchor="ctr">
                    <a:solidFill>
                      <a:srgbClr val="FFFFFF"/>
                    </a:solidFill>
                  </a:tcPr>
                </a:tc>
              </a:tr>
              <a:tr h="530352">
                <a:tc>
                  <a:txBody>
                    <a:bodyPr wrap="square"/>
                    <a:lstStyle/>
                    <a:p>
                      <a:pPr algn="ctr"/>
                      <a:r>
                        <a:rPr sz="1000" b="1" i="0">
                          <a:solidFill>
                            <a:srgbClr val="14313B"/>
                          </a:solidFill>
                          <a:latin typeface="Calibri (MS) Bold"/>
                        </a:rPr>
                        <a:t>R2</a:t>
                      </a:r>
                    </a:p>
                  </a:txBody>
                  <a:tcPr marL="73152" marR="73152" marT="36576" marB="36576" anchor="ctr">
                    <a:solidFill>
                      <a:srgbClr val="EAF8FA"/>
                    </a:solidFill>
                  </a:tcPr>
                </a:tc>
                <a:tc>
                  <a:txBody>
                    <a:bodyPr wrap="square"/>
                    <a:lstStyle/>
                    <a:p>
                      <a:r>
                        <a:rPr sz="1000" b="0" i="0">
                          <a:solidFill>
                            <a:srgbClr val="14313B"/>
                          </a:solidFill>
                          <a:latin typeface="Calibri (MS)"/>
                        </a:rPr>
                        <a:t>I menyentuh kedua ujung rentang</a:t>
                      </a:r>
                    </a:p>
                  </a:txBody>
                  <a:tcPr marL="73152" marR="73152" marT="36576" marB="36576" anchor="ctr">
                    <a:solidFill>
                      <a:srgbClr val="EAF8FA"/>
                    </a:solidFill>
                  </a:tcPr>
                </a:tc>
                <a:tc>
                  <a:txBody>
                    <a:bodyPr wrap="square"/>
                    <a:lstStyle/>
                    <a:p>
                      <a:r>
                        <a:rPr sz="1000" b="0" i="0">
                          <a:solidFill>
                            <a:srgbClr val="14313B"/>
                          </a:solidFill>
                          <a:latin typeface="Calibri (MS)"/>
                        </a:rPr>
                        <a:t>Tidak teridentifikasi → pertahankan</a:t>
                      </a:r>
                    </a:p>
                  </a:txBody>
                  <a:tcPr marL="73152" marR="73152" marT="36576" marB="36576" anchor="ctr">
                    <a:solidFill>
                      <a:srgbClr val="EAF8FA"/>
                    </a:solidFill>
                  </a:tcPr>
                </a:tc>
              </a:tr>
              <a:tr h="530352">
                <a:tc>
                  <a:txBody>
                    <a:bodyPr wrap="square"/>
                    <a:lstStyle/>
                    <a:p>
                      <a:pPr algn="ctr"/>
                      <a:r>
                        <a:rPr sz="1000" b="1" i="0">
                          <a:solidFill>
                            <a:srgbClr val="14313B"/>
                          </a:solidFill>
                          <a:latin typeface="Calibri (MS) Bold"/>
                        </a:rPr>
                        <a:t>R3</a:t>
                      </a:r>
                    </a:p>
                  </a:txBody>
                  <a:tcPr marL="73152" marR="73152" marT="36576" marB="36576" anchor="ctr">
                    <a:solidFill>
                      <a:srgbClr val="FFFFFF"/>
                    </a:solidFill>
                  </a:tcPr>
                </a:tc>
                <a:tc>
                  <a:txBody>
                    <a:bodyPr wrap="square"/>
                    <a:lstStyle/>
                    <a:p>
                      <a:r>
                        <a:rPr sz="1000" b="0" i="0">
                          <a:solidFill>
                            <a:srgbClr val="14313B"/>
                          </a:solidFill>
                          <a:latin typeface="Calibri (MS)"/>
                        </a:rPr>
                        <a:t>Optimum tepat di batas rentang</a:t>
                      </a:r>
                    </a:p>
                  </a:txBody>
                  <a:tcPr marL="73152" marR="73152" marT="36576" marB="36576" anchor="ctr">
                    <a:solidFill>
                      <a:srgbClr val="FFFFFF"/>
                    </a:solidFill>
                  </a:tcPr>
                </a:tc>
                <a:tc>
                  <a:txBody>
                    <a:bodyPr wrap="square"/>
                    <a:lstStyle/>
                    <a:p>
                      <a:r>
                        <a:rPr sz="1000" b="0" i="0">
                          <a:solidFill>
                            <a:srgbClr val="14313B"/>
                          </a:solidFill>
                          <a:latin typeface="Calibri (MS)"/>
                        </a:rPr>
                        <a:t>Telusuri dengan leave-one-year-out (LOYO)</a:t>
                      </a:r>
                    </a:p>
                  </a:txBody>
                  <a:tcPr marL="73152" marR="73152" marT="36576" marB="36576" anchor="ctr">
                    <a:solidFill>
                      <a:srgbClr val="FFFFFF"/>
                    </a:solidFill>
                  </a:tcPr>
                </a:tc>
              </a:tr>
              <a:tr h="530352">
                <a:tc>
                  <a:txBody>
                    <a:bodyPr wrap="square"/>
                    <a:lstStyle/>
                    <a:p>
                      <a:pPr algn="ctr"/>
                      <a:r>
                        <a:rPr sz="1000" b="1" i="0">
                          <a:solidFill>
                            <a:srgbClr val="14313B"/>
                          </a:solidFill>
                          <a:latin typeface="Calibri (MS) Bold"/>
                        </a:rPr>
                        <a:t>R4</a:t>
                      </a:r>
                    </a:p>
                  </a:txBody>
                  <a:tcPr marL="73152" marR="73152" marT="36576" marB="36576" anchor="ctr">
                    <a:solidFill>
                      <a:srgbClr val="EAF8FA"/>
                    </a:solidFill>
                  </a:tcPr>
                </a:tc>
                <a:tc>
                  <a:txBody>
                    <a:bodyPr wrap="square"/>
                    <a:lstStyle/>
                    <a:p>
                      <a:r>
                        <a:rPr sz="1000" b="0" i="0">
                          <a:solidFill>
                            <a:srgbClr val="14313B"/>
                          </a:solidFill>
                          <a:latin typeface="Calibri (MS)"/>
                        </a:rPr>
                        <a:t>Selain ketiganya</a:t>
                      </a:r>
                    </a:p>
                  </a:txBody>
                  <a:tcPr marL="73152" marR="73152" marT="36576" marB="36576" anchor="ctr">
                    <a:solidFill>
                      <a:srgbClr val="EAF8FA"/>
                    </a:solidFill>
                  </a:tcPr>
                </a:tc>
                <a:tc>
                  <a:txBody>
                    <a:bodyPr wrap="square"/>
                    <a:lstStyle/>
                    <a:p>
                      <a:r>
                        <a:rPr sz="1000" b="0" i="0">
                          <a:solidFill>
                            <a:srgbClr val="14313B"/>
                          </a:solidFill>
                          <a:latin typeface="Calibri (MS)"/>
                        </a:rPr>
                        <a:t>Adopsi, bila lolos uji kompatibilitas Tahap 4</a:t>
                      </a:r>
                    </a:p>
                  </a:txBody>
                  <a:tcPr marL="73152" marR="73152" marT="36576" marB="36576" anchor="ctr">
                    <a:solidFill>
                      <a:srgbClr val="EAF8FA"/>
                    </a:solidFill>
                  </a:tcPr>
                </a:tc>
              </a:tr>
            </a:tbl>
          </a:graphicData>
        </a:graphic>
      </p:graphicFrame>
      <p:sp>
        <p:nvSpPr>
          <p:cNvPr id="34" name="Rounded Rectangle 33"/>
          <p:cNvSpPr/>
          <p:nvPr/>
        </p:nvSpPr>
        <p:spPr>
          <a:xfrm>
            <a:off x="6949440" y="4800600"/>
            <a:ext cx="105156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Pemicu penolakan uji kompatibilitas (Tahap 4)</a:t>
            </a:r>
          </a:p>
        </p:txBody>
      </p:sp>
      <p:graphicFrame>
        <p:nvGraphicFramePr>
          <p:cNvPr id="35" name="Table 34"/>
          <p:cNvGraphicFramePr>
            <a:graphicFrameLocks noGrp="1"/>
          </p:cNvGraphicFramePr>
          <p:nvPr/>
        </p:nvGraphicFramePr>
        <p:xfrm>
          <a:off x="6949440" y="5303520"/>
          <a:ext cx="10515600" cy="2057400"/>
        </p:xfrm>
        <a:graphic>
          <a:graphicData uri="http://schemas.openxmlformats.org/drawingml/2006/table">
            <a:tbl>
              <a:tblPr firstRow="1" bandRow="1">
                <a:tableStyleId>{5C22544A-7EE6-4342-B048-85BDC9FD1C3A}</a:tableStyleId>
              </a:tblPr>
              <a:tblGrid>
                <a:gridCol w="822960"/>
                <a:gridCol w="6583680"/>
                <a:gridCol w="3108960"/>
              </a:tblGrid>
              <a:tr h="411480">
                <a:tc>
                  <a:txBody>
                    <a:bodyPr wrap="square"/>
                    <a:lstStyle/>
                    <a:p>
                      <a:pPr algn="ctr"/>
                      <a:r>
                        <a:rPr sz="1050" b="1" i="0">
                          <a:solidFill>
                            <a:srgbClr val="FFFFFF"/>
                          </a:solidFill>
                          <a:latin typeface="Calibri (MS) Bold"/>
                        </a:rPr>
                        <a:t>Kode</a:t>
                      </a:r>
                    </a:p>
                  </a:txBody>
                  <a:tcPr marL="73152" marR="73152" marT="36576" marB="36576" anchor="ctr">
                    <a:solidFill>
                      <a:srgbClr val="0B5E6E"/>
                    </a:solidFill>
                  </a:tcPr>
                </a:tc>
                <a:tc>
                  <a:txBody>
                    <a:bodyPr wrap="square"/>
                    <a:lstStyle/>
                    <a:p>
                      <a:r>
                        <a:rPr sz="1050" b="1" i="0">
                          <a:solidFill>
                            <a:srgbClr val="FFFFFF"/>
                          </a:solidFill>
                          <a:latin typeface="Calibri (MS) Bold"/>
                        </a:rPr>
                        <a:t>Pemicu</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Ambang</a:t>
                      </a:r>
                    </a:p>
                  </a:txBody>
                  <a:tcPr marL="73152" marR="73152" marT="36576" marB="36576" anchor="ctr">
                    <a:solidFill>
                      <a:srgbClr val="0B5E6E"/>
                    </a:solidFill>
                  </a:tcPr>
                </a:tc>
              </a:tr>
              <a:tr h="411480">
                <a:tc>
                  <a:txBody>
                    <a:bodyPr wrap="square"/>
                    <a:lstStyle/>
                    <a:p>
                      <a:pPr algn="ctr"/>
                      <a:r>
                        <a:rPr sz="1050" b="1" i="0">
                          <a:solidFill>
                            <a:srgbClr val="14313B"/>
                          </a:solidFill>
                          <a:latin typeface="Calibri (MS) Bold"/>
                        </a:rPr>
                        <a:t>M1</a:t>
                      </a:r>
                    </a:p>
                  </a:txBody>
                  <a:tcPr marL="73152" marR="73152" marT="36576" marB="36576" anchor="ctr">
                    <a:solidFill>
                      <a:srgbClr val="FFFFFF"/>
                    </a:solidFill>
                  </a:tcPr>
                </a:tc>
                <a:tc>
                  <a:txBody>
                    <a:bodyPr wrap="square"/>
                    <a:lstStyle/>
                    <a:p>
                      <a:r>
                        <a:rPr sz="1050" b="0" i="0">
                          <a:solidFill>
                            <a:srgbClr val="14313B"/>
                          </a:solidFill>
                          <a:latin typeface="Calibri (MS)"/>
                        </a:rPr>
                        <a:t>NRMSE variabel target tahap itu pada uji penuh memburuk</a:t>
                      </a:r>
                    </a:p>
                  </a:txBody>
                  <a:tcPr marL="73152" marR="73152" marT="36576" marB="36576" anchor="ctr">
                    <a:solidFill>
                      <a:srgbClr val="FFFFFF"/>
                    </a:solidFill>
                  </a:tcPr>
                </a:tc>
                <a:tc>
                  <a:txBody>
                    <a:bodyPr wrap="square"/>
                    <a:lstStyle/>
                    <a:p>
                      <a:pPr algn="ctr"/>
                      <a:r>
                        <a:rPr sz="1050" b="0" i="0">
                          <a:solidFill>
                            <a:srgbClr val="14313B"/>
                          </a:solidFill>
                          <a:latin typeface="Calibri (MS)"/>
                        </a:rPr>
                        <a:t>&gt; 1,05 × sebelum kalibrasi</a:t>
                      </a:r>
                    </a:p>
                  </a:txBody>
                  <a:tcPr marL="73152" marR="73152" marT="36576" marB="36576" anchor="ctr">
                    <a:solidFill>
                      <a:srgbClr val="FFFFFF"/>
                    </a:solidFill>
                  </a:tcPr>
                </a:tc>
              </a:tr>
              <a:tr h="411480">
                <a:tc>
                  <a:txBody>
                    <a:bodyPr wrap="square"/>
                    <a:lstStyle/>
                    <a:p>
                      <a:pPr algn="ctr"/>
                      <a:r>
                        <a:rPr sz="1050" b="1" i="0">
                          <a:solidFill>
                            <a:srgbClr val="14313B"/>
                          </a:solidFill>
                          <a:latin typeface="Calibri (MS) Bold"/>
                        </a:rPr>
                        <a:t>M2</a:t>
                      </a:r>
                    </a:p>
                  </a:txBody>
                  <a:tcPr marL="73152" marR="73152" marT="36576" marB="36576" anchor="ctr">
                    <a:solidFill>
                      <a:srgbClr val="EAF8FA"/>
                    </a:solidFill>
                  </a:tcPr>
                </a:tc>
                <a:tc>
                  <a:txBody>
                    <a:bodyPr wrap="square"/>
                    <a:lstStyle/>
                    <a:p>
                      <a:r>
                        <a:rPr sz="1050" b="0" i="0">
                          <a:solidFill>
                            <a:srgbClr val="14313B"/>
                          </a:solidFill>
                          <a:latin typeface="Calibri (MS)"/>
                        </a:rPr>
                        <a:t>Rata-rata NRMSE sembilan variabel uji penuh memburuk</a:t>
                      </a:r>
                    </a:p>
                  </a:txBody>
                  <a:tcPr marL="73152" marR="73152" marT="36576" marB="36576" anchor="ctr">
                    <a:solidFill>
                      <a:srgbClr val="EAF8FA"/>
                    </a:solidFill>
                  </a:tcPr>
                </a:tc>
                <a:tc>
                  <a:txBody>
                    <a:bodyPr wrap="square"/>
                    <a:lstStyle/>
                    <a:p>
                      <a:pPr algn="ctr"/>
                      <a:r>
                        <a:rPr sz="1050" b="0" i="0">
                          <a:solidFill>
                            <a:srgbClr val="14313B"/>
                          </a:solidFill>
                          <a:latin typeface="Calibri (MS)"/>
                        </a:rPr>
                        <a:t>&gt; 1,05 × sebelum kalibrasi</a:t>
                      </a:r>
                    </a:p>
                  </a:txBody>
                  <a:tcPr marL="73152" marR="73152" marT="36576" marB="36576" anchor="ctr">
                    <a:solidFill>
                      <a:srgbClr val="EAF8FA"/>
                    </a:solidFill>
                  </a:tcPr>
                </a:tc>
              </a:tr>
              <a:tr h="411480">
                <a:tc>
                  <a:txBody>
                    <a:bodyPr wrap="square"/>
                    <a:lstStyle/>
                    <a:p>
                      <a:pPr algn="ctr"/>
                      <a:r>
                        <a:rPr sz="1050" b="1" i="0">
                          <a:solidFill>
                            <a:srgbClr val="14313B"/>
                          </a:solidFill>
                          <a:latin typeface="Calibri (MS) Bold"/>
                        </a:rPr>
                        <a:t>S</a:t>
                      </a:r>
                    </a:p>
                  </a:txBody>
                  <a:tcPr marL="73152" marR="73152" marT="36576" marB="36576" anchor="ctr">
                    <a:solidFill>
                      <a:srgbClr val="FFFFFF"/>
                    </a:solidFill>
                  </a:tcPr>
                </a:tc>
                <a:tc>
                  <a:txBody>
                    <a:bodyPr wrap="square"/>
                    <a:lstStyle/>
                    <a:p>
                      <a:r>
                        <a:rPr sz="1050" b="0" i="0">
                          <a:solidFill>
                            <a:srgbClr val="14313B"/>
                          </a:solidFill>
                          <a:latin typeface="Calibri (MS)"/>
                        </a:rPr>
                        <a:t>Uji kondisi ekstrem menjadi gagal / aturan fisik dilanggar</a:t>
                      </a:r>
                    </a:p>
                  </a:txBody>
                  <a:tcPr marL="73152" marR="73152" marT="36576" marB="36576" anchor="ctr">
                    <a:solidFill>
                      <a:srgbClr val="FFFFFF"/>
                    </a:solidFill>
                  </a:tcPr>
                </a:tc>
                <a:tc>
                  <a:txBody>
                    <a:bodyPr wrap="square"/>
                    <a:lstStyle/>
                    <a:p>
                      <a:pPr algn="ctr"/>
                      <a:r>
                        <a:rPr sz="1050" b="0" i="0">
                          <a:solidFill>
                            <a:srgbClr val="14313B"/>
                          </a:solidFill>
                          <a:latin typeface="Calibri (MS)"/>
                        </a:rPr>
                        <a:t>Ada pelanggaran</a:t>
                      </a:r>
                    </a:p>
                  </a:txBody>
                  <a:tcPr marL="73152" marR="73152" marT="36576" marB="36576" anchor="ctr">
                    <a:solidFill>
                      <a:srgbClr val="FFFFFF"/>
                    </a:solidFill>
                  </a:tcPr>
                </a:tc>
              </a:tr>
              <a:tr h="411480">
                <a:tc>
                  <a:txBody>
                    <a:bodyPr wrap="square"/>
                    <a:lstStyle/>
                    <a:p>
                      <a:pPr algn="ctr"/>
                      <a:r>
                        <a:rPr sz="1050" b="1" i="0">
                          <a:solidFill>
                            <a:srgbClr val="14313B"/>
                          </a:solidFill>
                          <a:latin typeface="Calibri (MS) Bold"/>
                        </a:rPr>
                        <a:t>T</a:t>
                      </a:r>
                    </a:p>
                  </a:txBody>
                  <a:tcPr marL="73152" marR="73152" marT="36576" marB="36576" anchor="ctr">
                    <a:solidFill>
                      <a:srgbClr val="EAF8FA"/>
                    </a:solidFill>
                  </a:tcPr>
                </a:tc>
                <a:tc>
                  <a:txBody>
                    <a:bodyPr wrap="square"/>
                    <a:lstStyle/>
                    <a:p>
                      <a:r>
                        <a:rPr sz="1050" b="0" i="0">
                          <a:solidFill>
                            <a:srgbClr val="14313B"/>
                          </a:solidFill>
                          <a:latin typeface="Calibri (MS)"/>
                        </a:rPr>
                        <a:t>Simulasi horizon diperpanjang tidak stabil</a:t>
                      </a:r>
                    </a:p>
                  </a:txBody>
                  <a:tcPr marL="73152" marR="73152" marT="36576" marB="36576" anchor="ctr">
                    <a:solidFill>
                      <a:srgbClr val="EAF8FA"/>
                    </a:solidFill>
                  </a:tcPr>
                </a:tc>
                <a:tc>
                  <a:txBody>
                    <a:bodyPr wrap="square"/>
                    <a:lstStyle/>
                    <a:p>
                      <a:pPr algn="ctr"/>
                      <a:r>
                        <a:rPr sz="1050" b="0" i="0">
                          <a:solidFill>
                            <a:srgbClr val="14313B"/>
                          </a:solidFill>
                          <a:latin typeface="Calibri (MS)"/>
                        </a:rPr>
                        <a:t>Ada ketidakstabilan</a:t>
                      </a:r>
                    </a:p>
                  </a:txBody>
                  <a:tcPr marL="73152" marR="73152" marT="36576" marB="36576" anchor="ctr">
                    <a:solidFill>
                      <a:srgbClr val="EAF8FA"/>
                    </a:solidFill>
                  </a:tcPr>
                </a:tc>
              </a:tr>
            </a:tbl>
          </a:graphicData>
        </a:graphic>
      </p:graphicFrame>
      <p:sp>
        <p:nvSpPr>
          <p:cNvPr id="36" name="Rounded Rectangle 35"/>
          <p:cNvSpPr/>
          <p:nvPr/>
        </p:nvSpPr>
        <p:spPr>
          <a:xfrm>
            <a:off x="822960" y="6537960"/>
            <a:ext cx="5852160" cy="17373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Evaluasi sesudah kalibrasi memakai data yang sama dengan data kalibrasi, sehingga hasilnya adalah kesesuaian pascakalibrasi, bukan validasi independen.</a:t>
            </a:r>
          </a:p>
        </p:txBody>
      </p:sp>
      <p:sp>
        <p:nvSpPr>
          <p:cNvPr id="37" name="TextBox 3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3.7.4 (Tabel 19–20).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58 · Kalibrasi Tahap 0: Koreksi Penurunan LPE dan LPD</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Bukan kalibrasi: penurunan parameter diselaraskan dengan cara Euler menghitung indeks Daya Tarik</a:t>
            </a:r>
          </a:p>
        </p:txBody>
      </p:sp>
      <p:sp>
        <p:nvSpPr>
          <p:cNvPr id="27" name="Rounded Rectangle 26"/>
          <p:cNvSpPr/>
          <p:nvPr/>
        </p:nvSpPr>
        <p:spPr>
          <a:xfrm>
            <a:off x="822960" y="1874519"/>
            <a:ext cx="8046720" cy="21031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 (g = pertumbuhan wisatawan 2024→2025; r = rasio LPD/LPE = 0,75)</a:t>
            </a:r>
          </a:p>
          <a:p>
            <a:pPr algn="l">
              <a:spcAft>
                <a:spcPts val="300"/>
              </a:spcAft>
            </a:pPr>
            <a:r>
              <a:rPr sz="1250" b="0" i="1">
                <a:solidFill>
                  <a:srgbClr val="14313B"/>
                </a:solidFill>
                <a:latin typeface="Calibri (MS)"/>
              </a:rPr>
              <a:t>LPE = g₂₀₂₄→₂₀₂₅ ÷ (DT₂₀₂₄ − r);   LPD = r × LPE</a:t>
            </a:r>
          </a:p>
          <a:p>
            <a:pPr algn="l">
              <a:spcAft>
                <a:spcPts val="300"/>
              </a:spcAft>
            </a:pPr>
            <a:r>
              <a:rPr sz="1250" b="0" i="1">
                <a:solidFill>
                  <a:srgbClr val="14313B"/>
                </a:solidFill>
                <a:latin typeface="Calibri (MS)"/>
              </a:rPr>
              <a:t>Awal (DT dianggap 1):</a:t>
            </a:r>
            <a:r>
              <a:rPr sz="1000" b="0" i="0">
                <a:solidFill>
                  <a:srgbClr val="5E6E78"/>
                </a:solidFill>
                <a:latin typeface="Calibri (MS)"/>
              </a:rPr>
              <a:t>  0,06716 ÷ (1 − 0,75) = 0,26864;  LPD = 0,20148</a:t>
            </a:r>
          </a:p>
          <a:p>
            <a:pPr algn="l">
              <a:spcAft>
                <a:spcPts val="300"/>
              </a:spcAft>
            </a:pPr>
            <a:r>
              <a:rPr sz="1250" b="0" i="1">
                <a:solidFill>
                  <a:srgbClr val="14313B"/>
                </a:solidFill>
                <a:latin typeface="Calibri (MS)"/>
              </a:rPr>
              <a:t>Koreksi (DT₂₀₂₄ = 0,99223):</a:t>
            </a:r>
            <a:r>
              <a:rPr sz="1000" b="0" i="0">
                <a:solidFill>
                  <a:srgbClr val="5E6E78"/>
                </a:solidFill>
                <a:latin typeface="Calibri (MS)"/>
              </a:rPr>
              <a:t>  0,06716 ÷ (0,99223 − 0,75) = 0,27726;  LPD = 0,207945</a:t>
            </a:r>
          </a:p>
        </p:txBody>
      </p:sp>
      <p:sp>
        <p:nvSpPr>
          <p:cNvPr id="28" name="Rounded Rectangle 27"/>
          <p:cNvSpPr/>
          <p:nvPr/>
        </p:nvSpPr>
        <p:spPr>
          <a:xfrm>
            <a:off x="822960" y="4160520"/>
            <a:ext cx="8046720" cy="2377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Bukti model memakai DT tahun awal periode</a:t>
            </a:r>
          </a:p>
          <a:p>
            <a:pPr algn="l">
              <a:spcAft>
                <a:spcPts val="300"/>
              </a:spcAft>
            </a:pPr>
            <a:r>
              <a:rPr sz="1150" b="0" i="0">
                <a:solidFill>
                  <a:srgbClr val="14313B"/>
                </a:solidFill>
                <a:latin typeface="Calibri (MS)"/>
              </a:rPr>
              <a:t>Rasio pertumbuhan 2016→2017 pada keluaran uji P5:</a:t>
            </a:r>
          </a:p>
          <a:p>
            <a:pPr algn="l">
              <a:spcAft>
                <a:spcPts val="300"/>
              </a:spcAft>
            </a:pPr>
            <a:r>
              <a:rPr sz="1500" b="1" i="0">
                <a:solidFill>
                  <a:srgbClr val="0B5E6E"/>
                </a:solidFill>
                <a:latin typeface="Calibri (MS) Bold"/>
              </a:rPr>
              <a:t>1,062357</a:t>
            </a:r>
            <a:r>
              <a:rPr sz="1150" b="0" i="0">
                <a:solidFill>
                  <a:srgbClr val="14313B"/>
                </a:solidFill>
                <a:latin typeface="Calibri (MS)"/>
              </a:rPr>
              <a:t>   = hitung manual dengan DT₂₀₁₆ (cocok 6 digit)</a:t>
            </a:r>
          </a:p>
          <a:p>
            <a:pPr algn="l">
              <a:spcAft>
                <a:spcPts val="300"/>
              </a:spcAft>
            </a:pPr>
            <a:r>
              <a:rPr sz="1500" b="1" i="0">
                <a:solidFill>
                  <a:srgbClr val="E4604F"/>
                </a:solidFill>
                <a:latin typeface="Calibri (MS) Bold"/>
              </a:rPr>
              <a:t>1,063306</a:t>
            </a:r>
            <a:r>
              <a:rPr sz="1150" b="0" i="0">
                <a:solidFill>
                  <a:srgbClr val="14313B"/>
                </a:solidFill>
                <a:latin typeface="Calibri (MS)"/>
              </a:rPr>
              <a:t>   = hitung manual dengan DT₂₀₁₇ (beda di digit ke-4)</a:t>
            </a:r>
          </a:p>
          <a:p>
            <a:pPr algn="l">
              <a:spcAft>
                <a:spcPts val="300"/>
              </a:spcAft>
            </a:pPr>
            <a:r>
              <a:rPr sz="1150" b="0" i="0">
                <a:solidFill>
                  <a:srgbClr val="14313B"/>
                </a:solidFill>
                <a:latin typeface="Calibri (MS)"/>
              </a:rPr>
              <a:t>Jadi laju tahun t memakai DT tahun t, bukan t+1 (Euler).</a:t>
            </a:r>
          </a:p>
        </p:txBody>
      </p:sp>
      <p:sp>
        <p:nvSpPr>
          <p:cNvPr id="29" name="Rounded Rectangle 28"/>
          <p:cNvSpPr/>
          <p:nvPr/>
        </p:nvSpPr>
        <p:spPr>
          <a:xfrm>
            <a:off x="822960" y="6766560"/>
            <a:ext cx="804672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Uji kondisi ekstrem dan uji perilaku dijalankan ulang dengan nilai terkoreksi; hasil ekstrem tetap 15 lolos, 2 lolos dengan catatan, 0 gagal.</a:t>
            </a:r>
          </a:p>
        </p:txBody>
      </p:sp>
      <p:sp>
        <p:nvSpPr>
          <p:cNvPr id="30" name="Rounded Rectangle 29"/>
          <p:cNvSpPr/>
          <p:nvPr/>
        </p:nvSpPr>
        <p:spPr>
          <a:xfrm>
            <a:off x="9144000" y="1874519"/>
            <a:ext cx="83210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Dampak koreksi pada simulasi dasar 2050</a:t>
            </a:r>
          </a:p>
        </p:txBody>
      </p:sp>
      <p:graphicFrame>
        <p:nvGraphicFramePr>
          <p:cNvPr id="31" name="Table 30"/>
          <p:cNvGraphicFramePr>
            <a:graphicFrameLocks noGrp="1"/>
          </p:cNvGraphicFramePr>
          <p:nvPr/>
        </p:nvGraphicFramePr>
        <p:xfrm>
          <a:off x="9144000" y="2377440"/>
          <a:ext cx="8321040" cy="5029200"/>
        </p:xfrm>
        <a:graphic>
          <a:graphicData uri="http://schemas.openxmlformats.org/drawingml/2006/table">
            <a:tbl>
              <a:tblPr firstRow="1" bandRow="1">
                <a:tableStyleId>{5C22544A-7EE6-4342-B048-85BDC9FD1C3A}</a:tableStyleId>
              </a:tblPr>
              <a:tblGrid>
                <a:gridCol w="3108960"/>
                <a:gridCol w="1828800"/>
                <a:gridCol w="1828800"/>
                <a:gridCol w="1554480"/>
              </a:tblGrid>
              <a:tr h="457200">
                <a:tc>
                  <a:txBody>
                    <a:bodyPr wrap="square"/>
                    <a:lstStyle/>
                    <a:p>
                      <a:r>
                        <a:rPr sz="1100" b="1" i="0">
                          <a:solidFill>
                            <a:srgbClr val="FFFFFF"/>
                          </a:solidFill>
                          <a:latin typeface="Calibri (MS) Bold"/>
                        </a:rPr>
                        <a:t>Variabel (2050)</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Sebelum koreksi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Sesudah koreksi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Selisih</a:t>
                      </a:r>
                    </a:p>
                  </a:txBody>
                  <a:tcPr marL="73152" marR="73152" marT="36576" marB="36576" anchor="ctr">
                    <a:solidFill>
                      <a:srgbClr val="0B5E6E"/>
                    </a:solidFill>
                  </a:tcPr>
                </a:tc>
              </a:tr>
              <a:tr h="457200">
                <a:tc>
                  <a:txBody>
                    <a:bodyPr wrap="square"/>
                    <a:lstStyle/>
                    <a:p>
                      <a:r>
                        <a:rPr sz="1100" b="1" i="0">
                          <a:solidFill>
                            <a:srgbClr val="14313B"/>
                          </a:solidFill>
                          <a:latin typeface="Calibri (MS) Bold"/>
                        </a:rPr>
                        <a:t>Jumlah Wisatawan</a:t>
                      </a:r>
                    </a:p>
                  </a:txBody>
                  <a:tcPr marL="73152" marR="73152" marT="36576" marB="36576" anchor="ctr">
                    <a:solidFill>
                      <a:srgbClr val="FFFFFF"/>
                    </a:solidFill>
                  </a:tcPr>
                </a:tc>
                <a:tc>
                  <a:txBody>
                    <a:bodyPr wrap="square"/>
                    <a:lstStyle/>
                    <a:p>
                      <a:pPr algn="ctr"/>
                      <a:r>
                        <a:rPr sz="1100" b="0" i="0">
                          <a:solidFill>
                            <a:srgbClr val="14313B"/>
                          </a:solidFill>
                          <a:latin typeface="Calibri (MS)"/>
                        </a:rPr>
                        <a:t>94.692.357</a:t>
                      </a:r>
                    </a:p>
                  </a:txBody>
                  <a:tcPr marL="73152" marR="73152" marT="36576" marB="36576" anchor="ctr">
                    <a:solidFill>
                      <a:srgbClr val="FFFFFF"/>
                    </a:solidFill>
                  </a:tcPr>
                </a:tc>
                <a:tc>
                  <a:txBody>
                    <a:bodyPr wrap="square"/>
                    <a:lstStyle/>
                    <a:p>
                      <a:pPr algn="ctr"/>
                      <a:r>
                        <a:rPr sz="1100" b="0" i="0">
                          <a:solidFill>
                            <a:srgbClr val="14313B"/>
                          </a:solidFill>
                          <a:latin typeface="Calibri (MS)"/>
                        </a:rPr>
                        <a:t>96.197.154</a:t>
                      </a:r>
                    </a:p>
                  </a:txBody>
                  <a:tcPr marL="73152" marR="73152" marT="36576" marB="36576" anchor="ctr">
                    <a:solidFill>
                      <a:srgbClr val="FFFFFF"/>
                    </a:solidFill>
                  </a:tcPr>
                </a:tc>
                <a:tc>
                  <a:txBody>
                    <a:bodyPr wrap="square"/>
                    <a:lstStyle/>
                    <a:p>
                      <a:pPr algn="ctr"/>
                      <a:r>
                        <a:rPr sz="1100" b="0" i="0">
                          <a:solidFill>
                            <a:srgbClr val="14313B"/>
                          </a:solidFill>
                          <a:latin typeface="Calibri (MS)"/>
                        </a:rPr>
                        <a:t>+1,59%</a:t>
                      </a:r>
                    </a:p>
                  </a:txBody>
                  <a:tcPr marL="73152" marR="73152" marT="36576" marB="36576" anchor="ctr">
                    <a:solidFill>
                      <a:srgbClr val="FFF1BF"/>
                    </a:solidFill>
                  </a:tcPr>
                </a:tc>
              </a:tr>
              <a:tr h="457200">
                <a:tc>
                  <a:txBody>
                    <a:bodyPr wrap="square"/>
                    <a:lstStyle/>
                    <a:p>
                      <a:r>
                        <a:rPr sz="1100" b="1" i="0">
                          <a:solidFill>
                            <a:srgbClr val="14313B"/>
                          </a:solidFill>
                          <a:latin typeface="Calibri (MS) Bold"/>
                        </a:rPr>
                        <a:t>Jumlah Hotel</a:t>
                      </a:r>
                    </a:p>
                  </a:txBody>
                  <a:tcPr marL="73152" marR="73152" marT="36576" marB="36576" anchor="ctr">
                    <a:solidFill>
                      <a:srgbClr val="EAF8FA"/>
                    </a:solidFill>
                  </a:tcPr>
                </a:tc>
                <a:tc>
                  <a:txBody>
                    <a:bodyPr wrap="square"/>
                    <a:lstStyle/>
                    <a:p>
                      <a:pPr algn="ctr"/>
                      <a:r>
                        <a:rPr sz="1100" b="0" i="0">
                          <a:solidFill>
                            <a:srgbClr val="14313B"/>
                          </a:solidFill>
                          <a:latin typeface="Calibri (MS)"/>
                        </a:rPr>
                        <a:t>5.323</a:t>
                      </a:r>
                    </a:p>
                  </a:txBody>
                  <a:tcPr marL="73152" marR="73152" marT="36576" marB="36576" anchor="ctr">
                    <a:solidFill>
                      <a:srgbClr val="EAF8FA"/>
                    </a:solidFill>
                  </a:tcPr>
                </a:tc>
                <a:tc>
                  <a:txBody>
                    <a:bodyPr wrap="square"/>
                    <a:lstStyle/>
                    <a:p>
                      <a:pPr algn="ctr"/>
                      <a:r>
                        <a:rPr sz="1100" b="0" i="0">
                          <a:solidFill>
                            <a:srgbClr val="14313B"/>
                          </a:solidFill>
                          <a:latin typeface="Calibri (MS)"/>
                        </a:rPr>
                        <a:t>5.404</a:t>
                      </a:r>
                    </a:p>
                  </a:txBody>
                  <a:tcPr marL="73152" marR="73152" marT="36576" marB="36576" anchor="ctr">
                    <a:solidFill>
                      <a:srgbClr val="EAF8FA"/>
                    </a:solidFill>
                  </a:tcPr>
                </a:tc>
                <a:tc>
                  <a:txBody>
                    <a:bodyPr wrap="square"/>
                    <a:lstStyle/>
                    <a:p>
                      <a:pPr algn="ctr"/>
                      <a:r>
                        <a:rPr sz="1100" b="0" i="0">
                          <a:solidFill>
                            <a:srgbClr val="14313B"/>
                          </a:solidFill>
                          <a:latin typeface="Calibri (MS)"/>
                        </a:rPr>
                        <a:t>+1,53%</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Jumlah ODTW</a:t>
                      </a:r>
                    </a:p>
                  </a:txBody>
                  <a:tcPr marL="73152" marR="73152" marT="36576" marB="36576" anchor="ctr">
                    <a:solidFill>
                      <a:srgbClr val="FFFFFF"/>
                    </a:solidFill>
                  </a:tcPr>
                </a:tc>
                <a:tc>
                  <a:txBody>
                    <a:bodyPr wrap="square"/>
                    <a:lstStyle/>
                    <a:p>
                      <a:pPr algn="ctr"/>
                      <a:r>
                        <a:rPr sz="1100" b="0" i="0">
                          <a:solidFill>
                            <a:srgbClr val="14313B"/>
                          </a:solidFill>
                          <a:latin typeface="Calibri (MS)"/>
                        </a:rPr>
                        <a:t>364</a:t>
                      </a:r>
                    </a:p>
                  </a:txBody>
                  <a:tcPr marL="73152" marR="73152" marT="36576" marB="36576" anchor="ctr">
                    <a:solidFill>
                      <a:srgbClr val="FFFFFF"/>
                    </a:solidFill>
                  </a:tcPr>
                </a:tc>
                <a:tc>
                  <a:txBody>
                    <a:bodyPr wrap="square"/>
                    <a:lstStyle/>
                    <a:p>
                      <a:pPr algn="ctr"/>
                      <a:r>
                        <a:rPr sz="1100" b="0" i="0">
                          <a:solidFill>
                            <a:srgbClr val="14313B"/>
                          </a:solidFill>
                          <a:latin typeface="Calibri (MS)"/>
                        </a:rPr>
                        <a:t>367</a:t>
                      </a:r>
                    </a:p>
                  </a:txBody>
                  <a:tcPr marL="73152" marR="73152" marT="36576" marB="36576" anchor="ctr">
                    <a:solidFill>
                      <a:srgbClr val="FFFFFF"/>
                    </a:solidFill>
                  </a:tcPr>
                </a:tc>
                <a:tc>
                  <a:txBody>
                    <a:bodyPr wrap="square"/>
                    <a:lstStyle/>
                    <a:p>
                      <a:pPr algn="ctr"/>
                      <a:r>
                        <a:rPr sz="1100" b="0" i="0">
                          <a:solidFill>
                            <a:srgbClr val="14313B"/>
                          </a:solidFill>
                          <a:latin typeface="Calibri (MS)"/>
                        </a:rPr>
                        <a:t>+0,89%</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Tenaga Kerja</a:t>
                      </a:r>
                    </a:p>
                  </a:txBody>
                  <a:tcPr marL="73152" marR="73152" marT="36576" marB="36576" anchor="ctr">
                    <a:solidFill>
                      <a:srgbClr val="EAF8FA"/>
                    </a:solidFill>
                  </a:tcPr>
                </a:tc>
                <a:tc>
                  <a:txBody>
                    <a:bodyPr wrap="square"/>
                    <a:lstStyle/>
                    <a:p>
                      <a:pPr algn="ctr"/>
                      <a:r>
                        <a:rPr sz="1100" b="0" i="0">
                          <a:solidFill>
                            <a:srgbClr val="14313B"/>
                          </a:solidFill>
                          <a:latin typeface="Calibri (MS)"/>
                        </a:rPr>
                        <a:t>640.325</a:t>
                      </a:r>
                    </a:p>
                  </a:txBody>
                  <a:tcPr marL="73152" marR="73152" marT="36576" marB="36576" anchor="ctr">
                    <a:solidFill>
                      <a:srgbClr val="EAF8FA"/>
                    </a:solidFill>
                  </a:tcPr>
                </a:tc>
                <a:tc>
                  <a:txBody>
                    <a:bodyPr wrap="square"/>
                    <a:lstStyle/>
                    <a:p>
                      <a:pPr algn="ctr"/>
                      <a:r>
                        <a:rPr sz="1100" b="0" i="0">
                          <a:solidFill>
                            <a:srgbClr val="14313B"/>
                          </a:solidFill>
                          <a:latin typeface="Calibri (MS)"/>
                        </a:rPr>
                        <a:t>650.355</a:t>
                      </a:r>
                    </a:p>
                  </a:txBody>
                  <a:tcPr marL="73152" marR="73152" marT="36576" marB="36576" anchor="ctr">
                    <a:solidFill>
                      <a:srgbClr val="EAF8FA"/>
                    </a:solidFill>
                  </a:tcPr>
                </a:tc>
                <a:tc>
                  <a:txBody>
                    <a:bodyPr wrap="square"/>
                    <a:lstStyle/>
                    <a:p>
                      <a:pPr algn="ctr"/>
                      <a:r>
                        <a:rPr sz="1100" b="0" i="0">
                          <a:solidFill>
                            <a:srgbClr val="14313B"/>
                          </a:solidFill>
                          <a:latin typeface="Calibri (MS)"/>
                        </a:rPr>
                        <a:t>+1,57%</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Lahan Terbangun (ha)</a:t>
                      </a:r>
                    </a:p>
                  </a:txBody>
                  <a:tcPr marL="73152" marR="73152" marT="36576" marB="36576" anchor="ctr">
                    <a:solidFill>
                      <a:srgbClr val="FFFFFF"/>
                    </a:solidFill>
                  </a:tcPr>
                </a:tc>
                <a:tc>
                  <a:txBody>
                    <a:bodyPr wrap="square"/>
                    <a:lstStyle/>
                    <a:p>
                      <a:pPr algn="ctr"/>
                      <a:r>
                        <a:rPr sz="1100" b="0" i="0">
                          <a:solidFill>
                            <a:srgbClr val="14313B"/>
                          </a:solidFill>
                          <a:latin typeface="Calibri (MS)"/>
                        </a:rPr>
                        <a:t>122.192</a:t>
                      </a:r>
                    </a:p>
                  </a:txBody>
                  <a:tcPr marL="73152" marR="73152" marT="36576" marB="36576" anchor="ctr">
                    <a:solidFill>
                      <a:srgbClr val="FFFFFF"/>
                    </a:solidFill>
                  </a:tcPr>
                </a:tc>
                <a:tc>
                  <a:txBody>
                    <a:bodyPr wrap="square"/>
                    <a:lstStyle/>
                    <a:p>
                      <a:pPr algn="ctr"/>
                      <a:r>
                        <a:rPr sz="1100" b="0" i="0">
                          <a:solidFill>
                            <a:srgbClr val="14313B"/>
                          </a:solidFill>
                          <a:latin typeface="Calibri (MS)"/>
                        </a:rPr>
                        <a:t>122.208</a:t>
                      </a:r>
                    </a:p>
                  </a:txBody>
                  <a:tcPr marL="73152" marR="73152" marT="36576" marB="36576" anchor="ctr">
                    <a:solidFill>
                      <a:srgbClr val="FFFFFF"/>
                    </a:solidFill>
                  </a:tcPr>
                </a:tc>
                <a:tc>
                  <a:txBody>
                    <a:bodyPr wrap="square"/>
                    <a:lstStyle/>
                    <a:p>
                      <a:pPr algn="ctr"/>
                      <a:r>
                        <a:rPr sz="1100" b="0" i="0">
                          <a:solidFill>
                            <a:srgbClr val="14313B"/>
                          </a:solidFill>
                          <a:latin typeface="Calibri (MS)"/>
                        </a:rPr>
                        <a:t>+0,01%</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PDRB Pariwisata (miliar Rp)</a:t>
                      </a:r>
                    </a:p>
                  </a:txBody>
                  <a:tcPr marL="73152" marR="73152" marT="36576" marB="36576" anchor="ctr">
                    <a:solidFill>
                      <a:srgbClr val="EAF8FA"/>
                    </a:solidFill>
                  </a:tcPr>
                </a:tc>
                <a:tc>
                  <a:txBody>
                    <a:bodyPr wrap="square"/>
                    <a:lstStyle/>
                    <a:p>
                      <a:pPr algn="ctr"/>
                      <a:r>
                        <a:rPr sz="1100" b="0" i="0">
                          <a:solidFill>
                            <a:srgbClr val="14313B"/>
                          </a:solidFill>
                          <a:latin typeface="Calibri (MS)"/>
                        </a:rPr>
                        <a:t>39.434</a:t>
                      </a:r>
                    </a:p>
                  </a:txBody>
                  <a:tcPr marL="73152" marR="73152" marT="36576" marB="36576" anchor="ctr">
                    <a:solidFill>
                      <a:srgbClr val="EAF8FA"/>
                    </a:solidFill>
                  </a:tcPr>
                </a:tc>
                <a:tc>
                  <a:txBody>
                    <a:bodyPr wrap="square"/>
                    <a:lstStyle/>
                    <a:p>
                      <a:pPr algn="ctr"/>
                      <a:r>
                        <a:rPr sz="1100" b="0" i="0">
                          <a:solidFill>
                            <a:srgbClr val="14313B"/>
                          </a:solidFill>
                          <a:latin typeface="Calibri (MS)"/>
                        </a:rPr>
                        <a:t>40.061</a:t>
                      </a:r>
                    </a:p>
                  </a:txBody>
                  <a:tcPr marL="73152" marR="73152" marT="36576" marB="36576" anchor="ctr">
                    <a:solidFill>
                      <a:srgbClr val="EAF8FA"/>
                    </a:solidFill>
                  </a:tcPr>
                </a:tc>
                <a:tc>
                  <a:txBody>
                    <a:bodyPr wrap="square"/>
                    <a:lstStyle/>
                    <a:p>
                      <a:pPr algn="ctr"/>
                      <a:r>
                        <a:rPr sz="1100" b="0" i="0">
                          <a:solidFill>
                            <a:srgbClr val="14313B"/>
                          </a:solidFill>
                          <a:latin typeface="Calibri (MS)"/>
                        </a:rPr>
                        <a:t>+1,59%</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Investasi (miliar Rp)</a:t>
                      </a:r>
                    </a:p>
                  </a:txBody>
                  <a:tcPr marL="73152" marR="73152" marT="36576" marB="36576" anchor="ctr">
                    <a:solidFill>
                      <a:srgbClr val="FFFFFF"/>
                    </a:solidFill>
                  </a:tcPr>
                </a:tc>
                <a:tc>
                  <a:txBody>
                    <a:bodyPr wrap="square"/>
                    <a:lstStyle/>
                    <a:p>
                      <a:pPr algn="ctr"/>
                      <a:r>
                        <a:rPr sz="1100" b="0" i="0">
                          <a:solidFill>
                            <a:srgbClr val="14313B"/>
                          </a:solidFill>
                          <a:latin typeface="Calibri (MS)"/>
                        </a:rPr>
                        <a:t>1.925</a:t>
                      </a:r>
                    </a:p>
                  </a:txBody>
                  <a:tcPr marL="73152" marR="73152" marT="36576" marB="36576" anchor="ctr">
                    <a:solidFill>
                      <a:srgbClr val="FFFFFF"/>
                    </a:solidFill>
                  </a:tcPr>
                </a:tc>
                <a:tc>
                  <a:txBody>
                    <a:bodyPr wrap="square"/>
                    <a:lstStyle/>
                    <a:p>
                      <a:pPr algn="ctr"/>
                      <a:r>
                        <a:rPr sz="1100" b="0" i="0">
                          <a:solidFill>
                            <a:srgbClr val="14313B"/>
                          </a:solidFill>
                          <a:latin typeface="Calibri (MS)"/>
                        </a:rPr>
                        <a:t>1.956</a:t>
                      </a:r>
                    </a:p>
                  </a:txBody>
                  <a:tcPr marL="73152" marR="73152" marT="36576" marB="36576" anchor="ctr">
                    <a:solidFill>
                      <a:srgbClr val="FFFFFF"/>
                    </a:solidFill>
                  </a:tcPr>
                </a:tc>
                <a:tc>
                  <a:txBody>
                    <a:bodyPr wrap="square"/>
                    <a:lstStyle/>
                    <a:p>
                      <a:pPr algn="ctr"/>
                      <a:r>
                        <a:rPr sz="1100" b="0" i="0">
                          <a:solidFill>
                            <a:srgbClr val="14313B"/>
                          </a:solidFill>
                          <a:latin typeface="Calibri (MS)"/>
                        </a:rPr>
                        <a:t>+1,59%</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Daya Tarik</a:t>
                      </a:r>
                    </a:p>
                  </a:txBody>
                  <a:tcPr marL="73152" marR="73152" marT="36576" marB="36576" anchor="ctr">
                    <a:solidFill>
                      <a:srgbClr val="EAF8FA"/>
                    </a:solidFill>
                  </a:tcPr>
                </a:tc>
                <a:tc>
                  <a:txBody>
                    <a:bodyPr wrap="square"/>
                    <a:lstStyle/>
                    <a:p>
                      <a:pPr algn="ctr"/>
                      <a:r>
                        <a:rPr sz="1100" b="0" i="0">
                          <a:solidFill>
                            <a:srgbClr val="14313B"/>
                          </a:solidFill>
                          <a:latin typeface="Calibri (MS)"/>
                        </a:rPr>
                        <a:t>0,814</a:t>
                      </a:r>
                    </a:p>
                  </a:txBody>
                  <a:tcPr marL="73152" marR="73152" marT="36576" marB="36576" anchor="ctr">
                    <a:solidFill>
                      <a:srgbClr val="EAF8FA"/>
                    </a:solidFill>
                  </a:tcPr>
                </a:tc>
                <a:tc>
                  <a:txBody>
                    <a:bodyPr wrap="square"/>
                    <a:lstStyle/>
                    <a:p>
                      <a:pPr algn="ctr"/>
                      <a:r>
                        <a:rPr sz="1100" b="0" i="0">
                          <a:solidFill>
                            <a:srgbClr val="14313B"/>
                          </a:solidFill>
                          <a:latin typeface="Calibri (MS)"/>
                        </a:rPr>
                        <a:t>0,813</a:t>
                      </a:r>
                    </a:p>
                  </a:txBody>
                  <a:tcPr marL="73152" marR="73152" marT="36576" marB="36576" anchor="ctr">
                    <a:solidFill>
                      <a:srgbClr val="EAF8FA"/>
                    </a:solidFill>
                  </a:tcPr>
                </a:tc>
                <a:tc>
                  <a:txBody>
                    <a:bodyPr wrap="square"/>
                    <a:lstStyle/>
                    <a:p>
                      <a:pPr algn="ctr"/>
                      <a:r>
                        <a:rPr sz="1100" b="0" i="0">
                          <a:solidFill>
                            <a:srgbClr val="14313B"/>
                          </a:solidFill>
                          <a:latin typeface="Calibri (MS)"/>
                        </a:rPr>
                        <a:t>−0,09%</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TPK</a:t>
                      </a:r>
                    </a:p>
                  </a:txBody>
                  <a:tcPr marL="73152" marR="73152" marT="36576" marB="36576" anchor="ctr">
                    <a:solidFill>
                      <a:srgbClr val="FFFFFF"/>
                    </a:solidFill>
                  </a:tcPr>
                </a:tc>
                <a:tc>
                  <a:txBody>
                    <a:bodyPr wrap="square"/>
                    <a:lstStyle/>
                    <a:p>
                      <a:pPr algn="ctr"/>
                      <a:r>
                        <a:rPr sz="1100" b="0" i="0">
                          <a:solidFill>
                            <a:srgbClr val="14313B"/>
                          </a:solidFill>
                          <a:latin typeface="Calibri (MS)"/>
                        </a:rPr>
                        <a:t>0,358</a:t>
                      </a:r>
                    </a:p>
                  </a:txBody>
                  <a:tcPr marL="73152" marR="73152" marT="36576" marB="36576" anchor="ctr">
                    <a:solidFill>
                      <a:srgbClr val="FFFFFF"/>
                    </a:solidFill>
                  </a:tcPr>
                </a:tc>
                <a:tc>
                  <a:txBody>
                    <a:bodyPr wrap="square"/>
                    <a:lstStyle/>
                    <a:p>
                      <a:pPr algn="ctr"/>
                      <a:r>
                        <a:rPr sz="1100" b="0" i="0">
                          <a:solidFill>
                            <a:srgbClr val="14313B"/>
                          </a:solidFill>
                          <a:latin typeface="Calibri (MS)"/>
                        </a:rPr>
                        <a:t>0,358</a:t>
                      </a:r>
                    </a:p>
                  </a:txBody>
                  <a:tcPr marL="73152" marR="73152" marT="36576" marB="36576" anchor="ctr">
                    <a:solidFill>
                      <a:srgbClr val="FFFFFF"/>
                    </a:solidFill>
                  </a:tcPr>
                </a:tc>
                <a:tc>
                  <a:txBody>
                    <a:bodyPr wrap="square"/>
                    <a:lstStyle/>
                    <a:p>
                      <a:pPr algn="ctr"/>
                      <a:r>
                        <a:rPr sz="1100" b="0" i="0">
                          <a:solidFill>
                            <a:srgbClr val="14313B"/>
                          </a:solidFill>
                          <a:latin typeface="Calibri (MS)"/>
                        </a:rPr>
                        <a:t>+0,10%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RDDL</a:t>
                      </a:r>
                    </a:p>
                  </a:txBody>
                  <a:tcPr marL="73152" marR="73152" marT="36576" marB="36576" anchor="ctr">
                    <a:solidFill>
                      <a:srgbClr val="EAF8FA"/>
                    </a:solidFill>
                  </a:tcPr>
                </a:tc>
                <a:tc>
                  <a:txBody>
                    <a:bodyPr wrap="square"/>
                    <a:lstStyle/>
                    <a:p>
                      <a:pPr algn="ctr"/>
                      <a:r>
                        <a:rPr sz="1100" b="0" i="0">
                          <a:solidFill>
                            <a:srgbClr val="14313B"/>
                          </a:solidFill>
                          <a:latin typeface="Calibri (MS)"/>
                        </a:rPr>
                        <a:t>0,615</a:t>
                      </a:r>
                    </a:p>
                  </a:txBody>
                  <a:tcPr marL="73152" marR="73152" marT="36576" marB="36576" anchor="ctr">
                    <a:solidFill>
                      <a:srgbClr val="EAF8FA"/>
                    </a:solidFill>
                  </a:tcPr>
                </a:tc>
                <a:tc>
                  <a:txBody>
                    <a:bodyPr wrap="square"/>
                    <a:lstStyle/>
                    <a:p>
                      <a:pPr algn="ctr"/>
                      <a:r>
                        <a:rPr sz="1100" b="0" i="0">
                          <a:solidFill>
                            <a:srgbClr val="14313B"/>
                          </a:solidFill>
                          <a:latin typeface="Calibri (MS)"/>
                        </a:rPr>
                        <a:t>0,615</a:t>
                      </a:r>
                    </a:p>
                  </a:txBody>
                  <a:tcPr marL="73152" marR="73152" marT="36576" marB="36576" anchor="ctr">
                    <a:solidFill>
                      <a:srgbClr val="EAF8FA"/>
                    </a:solidFill>
                  </a:tcPr>
                </a:tc>
                <a:tc>
                  <a:txBody>
                    <a:bodyPr wrap="square"/>
                    <a:lstStyle/>
                    <a:p>
                      <a:pPr algn="ctr"/>
                      <a:r>
                        <a:rPr sz="1100" b="0" i="0">
                          <a:solidFill>
                            <a:srgbClr val="14313B"/>
                          </a:solidFill>
                          <a:latin typeface="Calibri (MS)"/>
                        </a:rPr>
                        <a:t>−0,08%</a:t>
                      </a:r>
                    </a:p>
                  </a:txBody>
                  <a:tcPr marL="73152" marR="73152" marT="36576" marB="36576" anchor="ctr">
                    <a:solidFill>
                      <a:srgbClr val="EAF8FA"/>
                    </a:solidFill>
                  </a:tcPr>
                </a:tc>
              </a:tr>
            </a:tbl>
          </a:graphicData>
        </a:graphic>
      </p:graphicFrame>
      <p:sp>
        <p:nvSpPr>
          <p:cNvPr id="32" name="TextBox 3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4.6.1; hasil_uji_kondisi_ekstrem_v2.xlsx (sheet Simulasi Dasar).</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59 · Kalibrasi Tahap 1 (1/2): Akomodasi, Hasil Pencarian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TPK Ambang 0,20–0,35 × Laju Demolisi 0,02–0,08 (775 kombinasi); Sensitivitas Konstruksi dihitung ulang tiap titik</a:t>
            </a:r>
          </a:p>
        </p:txBody>
      </p:sp>
      <p:graphicFrame>
        <p:nvGraphicFramePr>
          <p:cNvPr id="27" name="Table 26"/>
          <p:cNvGraphicFramePr>
            <a:graphicFrameLocks noGrp="1"/>
          </p:cNvGraphicFramePr>
          <p:nvPr/>
        </p:nvGraphicFramePr>
        <p:xfrm>
          <a:off x="822960" y="1874519"/>
          <a:ext cx="16642074" cy="1316736"/>
        </p:xfrm>
        <a:graphic>
          <a:graphicData uri="http://schemas.openxmlformats.org/drawingml/2006/table">
            <a:tbl>
              <a:tblPr firstRow="1" bandRow="1">
                <a:tableStyleId>{5C22544A-7EE6-4342-B048-85BDC9FD1C3A}</a:tableStyleId>
              </a:tblPr>
              <a:tblGrid>
                <a:gridCol w="1097279"/>
                <a:gridCol w="3657599"/>
                <a:gridCol w="2194559"/>
                <a:gridCol w="3840479"/>
                <a:gridCol w="2194559"/>
                <a:gridCol w="3657599"/>
              </a:tblGrid>
              <a:tr h="438912">
                <a:tc>
                  <a:txBody>
                    <a:bodyPr wrap="square"/>
                    <a:lstStyle/>
                    <a:p>
                      <a:pPr algn="ctr"/>
                      <a:r>
                        <a:rPr sz="1150" b="1" i="0">
                          <a:solidFill>
                            <a:srgbClr val="FFFFFF"/>
                          </a:solidFill>
                          <a:latin typeface="Calibri (MS) Bold"/>
                        </a:rPr>
                        <a:t>Uji</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Nilai turunan (Ambang; Demolisi)</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J turunan</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Optimum (Ambang; Demolisi)</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J optimum</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Perbaikan</a:t>
                      </a:r>
                    </a:p>
                  </a:txBody>
                  <a:tcPr marL="73152" marR="73152" marT="36576" marB="36576" anchor="ctr">
                    <a:solidFill>
                      <a:srgbClr val="0B5E6E"/>
                    </a:solidFill>
                  </a:tcPr>
                </a:tc>
              </a:tr>
              <a:tr h="438912">
                <a:tc>
                  <a:txBody>
                    <a:bodyPr wrap="square"/>
                    <a:lstStyle/>
                    <a:p>
                      <a:pPr algn="ctr"/>
                      <a:r>
                        <a:rPr sz="1150" b="1" i="0">
                          <a:solidFill>
                            <a:srgbClr val="14313B"/>
                          </a:solidFill>
                          <a:latin typeface="Calibri (MS) Bold"/>
                        </a:rPr>
                        <a:t>P1</a:t>
                      </a:r>
                    </a:p>
                  </a:txBody>
                  <a:tcPr marL="73152" marR="73152" marT="36576" marB="36576" anchor="ctr">
                    <a:solidFill>
                      <a:srgbClr val="FFFFFF"/>
                    </a:solidFill>
                  </a:tcPr>
                </a:tc>
                <a:tc>
                  <a:txBody>
                    <a:bodyPr wrap="square"/>
                    <a:lstStyle/>
                    <a:p>
                      <a:pPr algn="ctr"/>
                      <a:r>
                        <a:rPr sz="1150" b="0" i="0">
                          <a:solidFill>
                            <a:srgbClr val="14313B"/>
                          </a:solidFill>
                          <a:latin typeface="Calibri (MS)"/>
                        </a:rPr>
                        <a:t>0,275; 0,05</a:t>
                      </a:r>
                    </a:p>
                  </a:txBody>
                  <a:tcPr marL="73152" marR="73152" marT="36576" marB="36576" anchor="ctr">
                    <a:solidFill>
                      <a:srgbClr val="FFFFFF"/>
                    </a:solidFill>
                  </a:tcPr>
                </a:tc>
                <a:tc>
                  <a:txBody>
                    <a:bodyPr wrap="square"/>
                    <a:lstStyle/>
                    <a:p>
                      <a:pPr algn="ctr"/>
                      <a:r>
                        <a:rPr sz="1150" b="0" i="0">
                          <a:solidFill>
                            <a:srgbClr val="14313B"/>
                          </a:solidFill>
                          <a:latin typeface="Calibri (MS)"/>
                        </a:rPr>
                        <a:t>0,10415</a:t>
                      </a:r>
                    </a:p>
                  </a:txBody>
                  <a:tcPr marL="73152" marR="73152" marT="36576" marB="36576" anchor="ctr">
                    <a:solidFill>
                      <a:srgbClr val="FFFFFF"/>
                    </a:solidFill>
                  </a:tcPr>
                </a:tc>
                <a:tc>
                  <a:txBody>
                    <a:bodyPr wrap="square"/>
                    <a:lstStyle/>
                    <a:p>
                      <a:pPr algn="ctr"/>
                      <a:r>
                        <a:rPr sz="1150" b="0" i="0">
                          <a:solidFill>
                            <a:srgbClr val="14313B"/>
                          </a:solidFill>
                          <a:latin typeface="Calibri (MS)"/>
                        </a:rPr>
                        <a:t>0,350; 0,0600</a:t>
                      </a:r>
                    </a:p>
                  </a:txBody>
                  <a:tcPr marL="73152" marR="73152" marT="36576" marB="36576" anchor="ctr">
                    <a:solidFill>
                      <a:srgbClr val="FFF1BF"/>
                    </a:solidFill>
                  </a:tcPr>
                </a:tc>
                <a:tc>
                  <a:txBody>
                    <a:bodyPr wrap="square"/>
                    <a:lstStyle/>
                    <a:p>
                      <a:pPr algn="ctr"/>
                      <a:r>
                        <a:rPr sz="1150" b="0" i="0">
                          <a:solidFill>
                            <a:srgbClr val="14313B"/>
                          </a:solidFill>
                          <a:latin typeface="Calibri (MS)"/>
                        </a:rPr>
                        <a:t>0,09203</a:t>
                      </a:r>
                    </a:p>
                  </a:txBody>
                  <a:tcPr marL="73152" marR="73152" marT="36576" marB="36576" anchor="ctr">
                    <a:solidFill>
                      <a:srgbClr val="FFFFFF"/>
                    </a:solidFill>
                  </a:tcPr>
                </a:tc>
                <a:tc>
                  <a:txBody>
                    <a:bodyPr wrap="square"/>
                    <a:lstStyle/>
                    <a:p>
                      <a:pPr algn="ctr"/>
                      <a:r>
                        <a:rPr sz="1150" b="0" i="0">
                          <a:solidFill>
                            <a:srgbClr val="14313B"/>
                          </a:solidFill>
                          <a:latin typeface="Calibri (MS)"/>
                        </a:rPr>
                        <a:t>11,64%</a:t>
                      </a:r>
                    </a:p>
                  </a:txBody>
                  <a:tcPr marL="73152" marR="73152" marT="36576" marB="36576" anchor="ctr">
                    <a:solidFill>
                      <a:srgbClr val="FFF1BF"/>
                    </a:solidFill>
                  </a:tcPr>
                </a:tc>
              </a:tr>
              <a:tr h="438912">
                <a:tc>
                  <a:txBody>
                    <a:bodyPr wrap="square"/>
                    <a:lstStyle/>
                    <a:p>
                      <a:pPr algn="ctr"/>
                      <a:r>
                        <a:rPr sz="1150" b="1" i="0">
                          <a:solidFill>
                            <a:srgbClr val="14313B"/>
                          </a:solidFill>
                          <a:latin typeface="Calibri (MS) Bold"/>
                        </a:rPr>
                        <a:t>P1b</a:t>
                      </a:r>
                    </a:p>
                  </a:txBody>
                  <a:tcPr marL="73152" marR="73152" marT="36576" marB="36576" anchor="ctr">
                    <a:solidFill>
                      <a:srgbClr val="EAF8FA"/>
                    </a:solidFill>
                  </a:tcPr>
                </a:tc>
                <a:tc>
                  <a:txBody>
                    <a:bodyPr wrap="square"/>
                    <a:lstStyle/>
                    <a:p>
                      <a:pPr algn="ctr"/>
                      <a:r>
                        <a:rPr sz="1150" b="0" i="0">
                          <a:solidFill>
                            <a:srgbClr val="14313B"/>
                          </a:solidFill>
                          <a:latin typeface="Calibri (MS)"/>
                        </a:rPr>
                        <a:t>0,275; 0,05</a:t>
                      </a:r>
                    </a:p>
                  </a:txBody>
                  <a:tcPr marL="73152" marR="73152" marT="36576" marB="36576" anchor="ctr">
                    <a:solidFill>
                      <a:srgbClr val="EAF8FA"/>
                    </a:solidFill>
                  </a:tcPr>
                </a:tc>
                <a:tc>
                  <a:txBody>
                    <a:bodyPr wrap="square"/>
                    <a:lstStyle/>
                    <a:p>
                      <a:pPr algn="ctr"/>
                      <a:r>
                        <a:rPr sz="1150" b="0" i="0">
                          <a:solidFill>
                            <a:srgbClr val="14313B"/>
                          </a:solidFill>
                          <a:latin typeface="Calibri (MS)"/>
                        </a:rPr>
                        <a:t>0,11121</a:t>
                      </a:r>
                    </a:p>
                  </a:txBody>
                  <a:tcPr marL="73152" marR="73152" marT="36576" marB="36576" anchor="ctr">
                    <a:solidFill>
                      <a:srgbClr val="EAF8FA"/>
                    </a:solidFill>
                  </a:tcPr>
                </a:tc>
                <a:tc>
                  <a:txBody>
                    <a:bodyPr wrap="square"/>
                    <a:lstStyle/>
                    <a:p>
                      <a:pPr algn="ctr"/>
                      <a:r>
                        <a:rPr sz="1150" b="0" i="0">
                          <a:solidFill>
                            <a:srgbClr val="14313B"/>
                          </a:solidFill>
                          <a:latin typeface="Calibri (MS)"/>
                        </a:rPr>
                        <a:t>0,330; 0,0600</a:t>
                      </a:r>
                    </a:p>
                  </a:txBody>
                  <a:tcPr marL="73152" marR="73152" marT="36576" marB="36576" anchor="ctr">
                    <a:solidFill>
                      <a:srgbClr val="EAF8FA"/>
                    </a:solidFill>
                  </a:tcPr>
                </a:tc>
                <a:tc>
                  <a:txBody>
                    <a:bodyPr wrap="square"/>
                    <a:lstStyle/>
                    <a:p>
                      <a:pPr algn="ctr"/>
                      <a:r>
                        <a:rPr sz="1150" b="0" i="0">
                          <a:solidFill>
                            <a:srgbClr val="14313B"/>
                          </a:solidFill>
                          <a:latin typeface="Calibri (MS)"/>
                        </a:rPr>
                        <a:t>0,10577</a:t>
                      </a:r>
                    </a:p>
                  </a:txBody>
                  <a:tcPr marL="73152" marR="73152" marT="36576" marB="36576" anchor="ctr">
                    <a:solidFill>
                      <a:srgbClr val="EAF8FA"/>
                    </a:solidFill>
                  </a:tcPr>
                </a:tc>
                <a:tc>
                  <a:txBody>
                    <a:bodyPr wrap="square"/>
                    <a:lstStyle/>
                    <a:p>
                      <a:pPr algn="ctr"/>
                      <a:r>
                        <a:rPr sz="1150" b="0" i="0">
                          <a:solidFill>
                            <a:srgbClr val="14313B"/>
                          </a:solidFill>
                          <a:latin typeface="Calibri (MS)"/>
                        </a:rPr>
                        <a:t>4,89%</a:t>
                      </a:r>
                    </a:p>
                  </a:txBody>
                  <a:tcPr marL="73152" marR="73152" marT="36576" marB="36576" anchor="ctr">
                    <a:solidFill>
                      <a:srgbClr val="EAF8FA"/>
                    </a:solidFill>
                  </a:tcPr>
                </a:tc>
              </a:tr>
            </a:tbl>
          </a:graphicData>
        </a:graphic>
      </p:graphicFrame>
      <p:pic>
        <p:nvPicPr>
          <p:cNvPr id="28" name="Picture 27" descr="image45.png"/>
          <p:cNvPicPr>
            <a:picLocks noChangeAspect="1"/>
          </p:cNvPicPr>
          <p:nvPr/>
        </p:nvPicPr>
        <p:blipFill>
          <a:blip r:embed="rId7"/>
          <a:stretch>
            <a:fillRect/>
          </a:stretch>
        </p:blipFill>
        <p:spPr>
          <a:xfrm>
            <a:off x="1473430" y="3337560"/>
            <a:ext cx="6882938" cy="4206240"/>
          </a:xfrm>
          <a:prstGeom prst="rect">
            <a:avLst/>
          </a:prstGeom>
          <a:ln w="12700">
            <a:solidFill>
              <a:srgbClr val="CFE5E9"/>
            </a:solidFill>
          </a:ln>
        </p:spPr>
      </p:pic>
      <p:sp>
        <p:nvSpPr>
          <p:cNvPr id="29" name="TextBox 28"/>
          <p:cNvSpPr txBox="1"/>
          <p:nvPr/>
        </p:nvSpPr>
        <p:spPr>
          <a:xfrm>
            <a:off x="822960" y="7562088"/>
            <a:ext cx="8183879"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Permukaan fungsi tujuan, uji P1 (Buku Gambar 42)</a:t>
            </a:r>
          </a:p>
        </p:txBody>
      </p:sp>
      <p:pic>
        <p:nvPicPr>
          <p:cNvPr id="30" name="Picture 29" descr="image47.png"/>
          <p:cNvPicPr>
            <a:picLocks noChangeAspect="1"/>
          </p:cNvPicPr>
          <p:nvPr/>
        </p:nvPicPr>
        <p:blipFill>
          <a:blip r:embed="rId8"/>
          <a:stretch>
            <a:fillRect/>
          </a:stretch>
        </p:blipFill>
        <p:spPr>
          <a:xfrm>
            <a:off x="9931630" y="3337560"/>
            <a:ext cx="6882938" cy="4206240"/>
          </a:xfrm>
          <a:prstGeom prst="rect">
            <a:avLst/>
          </a:prstGeom>
          <a:ln w="12700">
            <a:solidFill>
              <a:srgbClr val="CFE5E9"/>
            </a:solidFill>
          </a:ln>
        </p:spPr>
      </p:pic>
      <p:sp>
        <p:nvSpPr>
          <p:cNvPr id="31" name="TextBox 30"/>
          <p:cNvSpPr txBox="1"/>
          <p:nvPr/>
        </p:nvSpPr>
        <p:spPr>
          <a:xfrm>
            <a:off x="9281160" y="7562088"/>
            <a:ext cx="8183879"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Permukaan fungsi tujuan, uji P1b (Buku Gambar 44)</a:t>
            </a:r>
          </a:p>
        </p:txBody>
      </p:sp>
      <p:sp>
        <p:nvSpPr>
          <p:cNvPr id="32" name="Rounded Rectangle 31"/>
          <p:cNvSpPr/>
          <p:nvPr/>
        </p:nvSpPr>
        <p:spPr>
          <a:xfrm>
            <a:off x="822960" y="800100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P1 membaik 11,64% (&gt; 5%), tetapi optimum tepat di batas atas TPK Ambang (0,35) → aturan R3: telusuri dengan LOYO. Pada P1b perbaikan hanya 4,89% dan optimumnya berbeda (0,330).</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4.6.2 (Tabel 48, Gambar 42 dan 44); fungsi tujuan pada versi periode objektif.</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60 · Kalibrasi Tahap 1 (2/2): Diagnostik dan Keputusan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Optimum ternyata ditarik oleh satu tahun (2019) yang berhimpit dengan lonjakan data akomodasi 2018</a:t>
            </a:r>
          </a:p>
        </p:txBody>
      </p:sp>
      <p:sp>
        <p:nvSpPr>
          <p:cNvPr id="27" name="Rounded Rectangle 26"/>
          <p:cNvSpPr/>
          <p:nvPr/>
        </p:nvSpPr>
        <p:spPr>
          <a:xfrm>
            <a:off x="822960" y="1874519"/>
            <a:ext cx="78638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Leave-one-year-out (LOYO), uji P1</a:t>
            </a:r>
          </a:p>
        </p:txBody>
      </p:sp>
      <p:graphicFrame>
        <p:nvGraphicFramePr>
          <p:cNvPr id="28" name="Table 27"/>
          <p:cNvGraphicFramePr>
            <a:graphicFrameLocks noGrp="1"/>
          </p:cNvGraphicFramePr>
          <p:nvPr/>
        </p:nvGraphicFramePr>
        <p:xfrm>
          <a:off x="822960" y="2377440"/>
          <a:ext cx="7863840" cy="3072384"/>
        </p:xfrm>
        <a:graphic>
          <a:graphicData uri="http://schemas.openxmlformats.org/drawingml/2006/table">
            <a:tbl>
              <a:tblPr firstRow="1" bandRow="1">
                <a:tableStyleId>{5C22544A-7EE6-4342-B048-85BDC9FD1C3A}</a:tableStyleId>
              </a:tblPr>
              <a:tblGrid>
                <a:gridCol w="2377440"/>
                <a:gridCol w="1828800"/>
                <a:gridCol w="1828800"/>
                <a:gridCol w="1828800"/>
              </a:tblGrid>
              <a:tr h="438912">
                <a:tc>
                  <a:txBody>
                    <a:bodyPr wrap="square"/>
                    <a:lstStyle/>
                    <a:p>
                      <a:pPr algn="ctr"/>
                      <a:r>
                        <a:rPr sz="1150" b="1" i="0">
                          <a:solidFill>
                            <a:srgbClr val="FFFFFF"/>
                          </a:solidFill>
                          <a:latin typeface="Calibri (MS) Bold"/>
                        </a:rPr>
                        <a:t>Tahun dikeluarkan</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Ambang optimum</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Demolisi optimum</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Perbaikan</a:t>
                      </a:r>
                    </a:p>
                  </a:txBody>
                  <a:tcPr marL="73152" marR="73152" marT="36576" marB="36576" anchor="ctr">
                    <a:solidFill>
                      <a:srgbClr val="0B5E6E"/>
                    </a:solidFill>
                  </a:tcPr>
                </a:tc>
              </a:tr>
              <a:tr h="438912">
                <a:tc>
                  <a:txBody>
                    <a:bodyPr wrap="square"/>
                    <a:lstStyle/>
                    <a:p>
                      <a:pPr algn="ctr"/>
                      <a:r>
                        <a:rPr sz="1150" b="0" i="0">
                          <a:solidFill>
                            <a:srgbClr val="14313B"/>
                          </a:solidFill>
                          <a:latin typeface="Calibri (MS)"/>
                        </a:rPr>
                        <a:t>(tidak ada)</a:t>
                      </a:r>
                    </a:p>
                  </a:txBody>
                  <a:tcPr marL="73152" marR="73152" marT="36576" marB="36576" anchor="ctr">
                    <a:solidFill>
                      <a:srgbClr val="FFFFFF"/>
                    </a:solidFill>
                  </a:tcPr>
                </a:tc>
                <a:tc>
                  <a:txBody>
                    <a:bodyPr wrap="square"/>
                    <a:lstStyle/>
                    <a:p>
                      <a:pPr algn="ctr"/>
                      <a:r>
                        <a:rPr sz="1150" b="0" i="0">
                          <a:solidFill>
                            <a:srgbClr val="14313B"/>
                          </a:solidFill>
                          <a:latin typeface="Calibri (MS)"/>
                        </a:rPr>
                        <a:t>0,35</a:t>
                      </a:r>
                    </a:p>
                  </a:txBody>
                  <a:tcPr marL="73152" marR="73152" marT="36576" marB="36576" anchor="ctr">
                    <a:solidFill>
                      <a:srgbClr val="FFFFFF"/>
                    </a:solidFill>
                  </a:tcPr>
                </a:tc>
                <a:tc>
                  <a:txBody>
                    <a:bodyPr wrap="square"/>
                    <a:lstStyle/>
                    <a:p>
                      <a:pPr algn="ctr"/>
                      <a:r>
                        <a:rPr sz="1150" b="0" i="0">
                          <a:solidFill>
                            <a:srgbClr val="14313B"/>
                          </a:solidFill>
                          <a:latin typeface="Calibri (MS)"/>
                        </a:rPr>
                        <a:t>0,0600</a:t>
                      </a:r>
                    </a:p>
                  </a:txBody>
                  <a:tcPr marL="73152" marR="73152" marT="36576" marB="36576" anchor="ctr">
                    <a:solidFill>
                      <a:srgbClr val="FFFFFF"/>
                    </a:solidFill>
                  </a:tcPr>
                </a:tc>
                <a:tc>
                  <a:txBody>
                    <a:bodyPr wrap="square"/>
                    <a:lstStyle/>
                    <a:p>
                      <a:pPr algn="ctr"/>
                      <a:r>
                        <a:rPr sz="1150" b="0" i="0">
                          <a:solidFill>
                            <a:srgbClr val="14313B"/>
                          </a:solidFill>
                          <a:latin typeface="Calibri (MS)"/>
                        </a:rPr>
                        <a:t>11,64%</a:t>
                      </a:r>
                    </a:p>
                  </a:txBody>
                  <a:tcPr marL="73152" marR="73152" marT="36576" marB="36576" anchor="ctr">
                    <a:solidFill>
                      <a:srgbClr val="FFFFFF"/>
                    </a:solidFill>
                  </a:tcPr>
                </a:tc>
              </a:tr>
              <a:tr h="438912">
                <a:tc>
                  <a:txBody>
                    <a:bodyPr wrap="square"/>
                    <a:lstStyle/>
                    <a:p>
                      <a:pPr algn="ctr"/>
                      <a:r>
                        <a:rPr sz="1150" b="0" i="0">
                          <a:solidFill>
                            <a:srgbClr val="14313B"/>
                          </a:solidFill>
                          <a:latin typeface="Calibri (MS)"/>
                        </a:rPr>
                        <a:t>2018</a:t>
                      </a:r>
                    </a:p>
                  </a:txBody>
                  <a:tcPr marL="73152" marR="73152" marT="36576" marB="36576" anchor="ctr">
                    <a:solidFill>
                      <a:srgbClr val="EAF8FA"/>
                    </a:solidFill>
                  </a:tcPr>
                </a:tc>
                <a:tc>
                  <a:txBody>
                    <a:bodyPr wrap="square"/>
                    <a:lstStyle/>
                    <a:p>
                      <a:pPr algn="ctr"/>
                      <a:r>
                        <a:rPr sz="1150" b="0" i="0">
                          <a:solidFill>
                            <a:srgbClr val="14313B"/>
                          </a:solidFill>
                          <a:latin typeface="Calibri (MS)"/>
                        </a:rPr>
                        <a:t>0,33</a:t>
                      </a:r>
                    </a:p>
                  </a:txBody>
                  <a:tcPr marL="73152" marR="73152" marT="36576" marB="36576" anchor="ctr">
                    <a:solidFill>
                      <a:srgbClr val="EAF8FA"/>
                    </a:solidFill>
                  </a:tcPr>
                </a:tc>
                <a:tc>
                  <a:txBody>
                    <a:bodyPr wrap="square"/>
                    <a:lstStyle/>
                    <a:p>
                      <a:pPr algn="ctr"/>
                      <a:r>
                        <a:rPr sz="1150" b="0" i="0">
                          <a:solidFill>
                            <a:srgbClr val="14313B"/>
                          </a:solidFill>
                          <a:latin typeface="Calibri (MS)"/>
                        </a:rPr>
                        <a:t>0,0550</a:t>
                      </a:r>
                    </a:p>
                  </a:txBody>
                  <a:tcPr marL="73152" marR="73152" marT="36576" marB="36576" anchor="ctr">
                    <a:solidFill>
                      <a:srgbClr val="EAF8FA"/>
                    </a:solidFill>
                  </a:tcPr>
                </a:tc>
                <a:tc>
                  <a:txBody>
                    <a:bodyPr wrap="square"/>
                    <a:lstStyle/>
                    <a:p>
                      <a:pPr algn="ctr"/>
                      <a:r>
                        <a:rPr sz="1150" b="0" i="0">
                          <a:solidFill>
                            <a:srgbClr val="14313B"/>
                          </a:solidFill>
                          <a:latin typeface="Calibri (MS)"/>
                        </a:rPr>
                        <a:t>13,49%</a:t>
                      </a:r>
                    </a:p>
                  </a:txBody>
                  <a:tcPr marL="73152" marR="73152" marT="36576" marB="36576" anchor="ctr">
                    <a:solidFill>
                      <a:srgbClr val="EAF8FA"/>
                    </a:solidFill>
                  </a:tcPr>
                </a:tc>
              </a:tr>
              <a:tr h="438912">
                <a:tc>
                  <a:txBody>
                    <a:bodyPr wrap="square"/>
                    <a:lstStyle/>
                    <a:p>
                      <a:pPr algn="ctr"/>
                      <a:r>
                        <a:rPr sz="1150" b="0" i="0">
                          <a:solidFill>
                            <a:srgbClr val="14313B"/>
                          </a:solidFill>
                          <a:latin typeface="Calibri (MS)"/>
                        </a:rPr>
                        <a:t>2019</a:t>
                      </a:r>
                    </a:p>
                  </a:txBody>
                  <a:tcPr marL="73152" marR="73152" marT="36576" marB="36576" anchor="ctr">
                    <a:solidFill>
                      <a:srgbClr val="FFF1BF"/>
                    </a:solidFill>
                  </a:tcPr>
                </a:tc>
                <a:tc>
                  <a:txBody>
                    <a:bodyPr wrap="square"/>
                    <a:lstStyle/>
                    <a:p>
                      <a:pPr algn="ctr"/>
                      <a:r>
                        <a:rPr sz="1150" b="0" i="0">
                          <a:solidFill>
                            <a:srgbClr val="14313B"/>
                          </a:solidFill>
                          <a:latin typeface="Calibri (MS)"/>
                        </a:rPr>
                        <a:t>0,27</a:t>
                      </a:r>
                    </a:p>
                  </a:txBody>
                  <a:tcPr marL="73152" marR="73152" marT="36576" marB="36576" anchor="ctr">
                    <a:solidFill>
                      <a:srgbClr val="FFF1BF"/>
                    </a:solidFill>
                  </a:tcPr>
                </a:tc>
                <a:tc>
                  <a:txBody>
                    <a:bodyPr wrap="square"/>
                    <a:lstStyle/>
                    <a:p>
                      <a:pPr algn="ctr"/>
                      <a:r>
                        <a:rPr sz="1150" b="0" i="0">
                          <a:solidFill>
                            <a:srgbClr val="14313B"/>
                          </a:solidFill>
                          <a:latin typeface="Calibri (MS)"/>
                        </a:rPr>
                        <a:t>0,0200</a:t>
                      </a:r>
                    </a:p>
                  </a:txBody>
                  <a:tcPr marL="73152" marR="73152" marT="36576" marB="36576" anchor="ctr">
                    <a:solidFill>
                      <a:srgbClr val="FFF1BF"/>
                    </a:solidFill>
                  </a:tcPr>
                </a:tc>
                <a:tc>
                  <a:txBody>
                    <a:bodyPr wrap="square"/>
                    <a:lstStyle/>
                    <a:p>
                      <a:pPr algn="ctr"/>
                      <a:r>
                        <a:rPr sz="1150" b="0" i="0">
                          <a:solidFill>
                            <a:srgbClr val="14313B"/>
                          </a:solidFill>
                          <a:latin typeface="Calibri (MS)"/>
                        </a:rPr>
                        <a:t>5,74%</a:t>
                      </a:r>
                    </a:p>
                  </a:txBody>
                  <a:tcPr marL="73152" marR="73152" marT="36576" marB="36576" anchor="ctr">
                    <a:solidFill>
                      <a:srgbClr val="FFF1BF"/>
                    </a:solidFill>
                  </a:tcPr>
                </a:tc>
              </a:tr>
              <a:tr h="438912">
                <a:tc>
                  <a:txBody>
                    <a:bodyPr wrap="square"/>
                    <a:lstStyle/>
                    <a:p>
                      <a:pPr algn="ctr"/>
                      <a:r>
                        <a:rPr sz="1150" b="0" i="0">
                          <a:solidFill>
                            <a:srgbClr val="14313B"/>
                          </a:solidFill>
                          <a:latin typeface="Calibri (MS)"/>
                        </a:rPr>
                        <a:t>2023</a:t>
                      </a:r>
                    </a:p>
                  </a:txBody>
                  <a:tcPr marL="73152" marR="73152" marT="36576" marB="36576" anchor="ctr">
                    <a:solidFill>
                      <a:srgbClr val="EAF8FA"/>
                    </a:solidFill>
                  </a:tcPr>
                </a:tc>
                <a:tc>
                  <a:txBody>
                    <a:bodyPr wrap="square"/>
                    <a:lstStyle/>
                    <a:p>
                      <a:pPr algn="ctr"/>
                      <a:r>
                        <a:rPr sz="1150" b="0" i="0">
                          <a:solidFill>
                            <a:srgbClr val="14313B"/>
                          </a:solidFill>
                          <a:latin typeface="Calibri (MS)"/>
                        </a:rPr>
                        <a:t>0,35</a:t>
                      </a:r>
                    </a:p>
                  </a:txBody>
                  <a:tcPr marL="73152" marR="73152" marT="36576" marB="36576" anchor="ctr">
                    <a:solidFill>
                      <a:srgbClr val="EAF8FA"/>
                    </a:solidFill>
                  </a:tcPr>
                </a:tc>
                <a:tc>
                  <a:txBody>
                    <a:bodyPr wrap="square"/>
                    <a:lstStyle/>
                    <a:p>
                      <a:pPr algn="ctr"/>
                      <a:r>
                        <a:rPr sz="1150" b="0" i="0">
                          <a:solidFill>
                            <a:srgbClr val="14313B"/>
                          </a:solidFill>
                          <a:latin typeface="Calibri (MS)"/>
                        </a:rPr>
                        <a:t>0,0425</a:t>
                      </a:r>
                    </a:p>
                  </a:txBody>
                  <a:tcPr marL="73152" marR="73152" marT="36576" marB="36576" anchor="ctr">
                    <a:solidFill>
                      <a:srgbClr val="EAF8FA"/>
                    </a:solidFill>
                  </a:tcPr>
                </a:tc>
                <a:tc>
                  <a:txBody>
                    <a:bodyPr wrap="square"/>
                    <a:lstStyle/>
                    <a:p>
                      <a:pPr algn="ctr"/>
                      <a:r>
                        <a:rPr sz="1150" b="0" i="0">
                          <a:solidFill>
                            <a:srgbClr val="14313B"/>
                          </a:solidFill>
                          <a:latin typeface="Calibri (MS)"/>
                        </a:rPr>
                        <a:t>14,96%</a:t>
                      </a:r>
                    </a:p>
                  </a:txBody>
                  <a:tcPr marL="73152" marR="73152" marT="36576" marB="36576" anchor="ctr">
                    <a:solidFill>
                      <a:srgbClr val="EAF8FA"/>
                    </a:solidFill>
                  </a:tcPr>
                </a:tc>
              </a:tr>
              <a:tr h="438912">
                <a:tc>
                  <a:txBody>
                    <a:bodyPr wrap="square"/>
                    <a:lstStyle/>
                    <a:p>
                      <a:pPr algn="ctr"/>
                      <a:r>
                        <a:rPr sz="1150" b="0" i="0">
                          <a:solidFill>
                            <a:srgbClr val="14313B"/>
                          </a:solidFill>
                          <a:latin typeface="Calibri (MS)"/>
                        </a:rPr>
                        <a:t>2024</a:t>
                      </a:r>
                    </a:p>
                  </a:txBody>
                  <a:tcPr marL="73152" marR="73152" marT="36576" marB="36576" anchor="ctr">
                    <a:solidFill>
                      <a:srgbClr val="FFFFFF"/>
                    </a:solidFill>
                  </a:tcPr>
                </a:tc>
                <a:tc>
                  <a:txBody>
                    <a:bodyPr wrap="square"/>
                    <a:lstStyle/>
                    <a:p>
                      <a:pPr algn="ctr"/>
                      <a:r>
                        <a:rPr sz="1150" b="0" i="0">
                          <a:solidFill>
                            <a:srgbClr val="14313B"/>
                          </a:solidFill>
                          <a:latin typeface="Calibri (MS)"/>
                        </a:rPr>
                        <a:t>0,34</a:t>
                      </a:r>
                    </a:p>
                  </a:txBody>
                  <a:tcPr marL="73152" marR="73152" marT="36576" marB="36576" anchor="ctr">
                    <a:solidFill>
                      <a:srgbClr val="FFFFFF"/>
                    </a:solidFill>
                  </a:tcPr>
                </a:tc>
                <a:tc>
                  <a:txBody>
                    <a:bodyPr wrap="square"/>
                    <a:lstStyle/>
                    <a:p>
                      <a:pPr algn="ctr"/>
                      <a:r>
                        <a:rPr sz="1150" b="0" i="0">
                          <a:solidFill>
                            <a:srgbClr val="14313B"/>
                          </a:solidFill>
                          <a:latin typeface="Calibri (MS)"/>
                        </a:rPr>
                        <a:t>0,0775</a:t>
                      </a:r>
                    </a:p>
                  </a:txBody>
                  <a:tcPr marL="73152" marR="73152" marT="36576" marB="36576" anchor="ctr">
                    <a:solidFill>
                      <a:srgbClr val="FFFFFF"/>
                    </a:solidFill>
                  </a:tcPr>
                </a:tc>
                <a:tc>
                  <a:txBody>
                    <a:bodyPr wrap="square"/>
                    <a:lstStyle/>
                    <a:p>
                      <a:pPr algn="ctr"/>
                      <a:r>
                        <a:rPr sz="1150" b="0" i="0">
                          <a:solidFill>
                            <a:srgbClr val="14313B"/>
                          </a:solidFill>
                          <a:latin typeface="Calibri (MS)"/>
                        </a:rPr>
                        <a:t>16,06%</a:t>
                      </a:r>
                    </a:p>
                  </a:txBody>
                  <a:tcPr marL="73152" marR="73152" marT="36576" marB="36576" anchor="ctr">
                    <a:solidFill>
                      <a:srgbClr val="FFFFFF"/>
                    </a:solidFill>
                  </a:tcPr>
                </a:tc>
              </a:tr>
              <a:tr h="438912">
                <a:tc>
                  <a:txBody>
                    <a:bodyPr wrap="square"/>
                    <a:lstStyle/>
                    <a:p>
                      <a:pPr algn="ctr"/>
                      <a:r>
                        <a:rPr sz="1150" b="0" i="0">
                          <a:solidFill>
                            <a:srgbClr val="14313B"/>
                          </a:solidFill>
                          <a:latin typeface="Calibri (MS)"/>
                        </a:rPr>
                        <a:t>2025</a:t>
                      </a:r>
                    </a:p>
                  </a:txBody>
                  <a:tcPr marL="73152" marR="73152" marT="36576" marB="36576" anchor="ctr">
                    <a:solidFill>
                      <a:srgbClr val="EAF8FA"/>
                    </a:solidFill>
                  </a:tcPr>
                </a:tc>
                <a:tc>
                  <a:txBody>
                    <a:bodyPr wrap="square"/>
                    <a:lstStyle/>
                    <a:p>
                      <a:pPr algn="ctr"/>
                      <a:r>
                        <a:rPr sz="1150" b="0" i="0">
                          <a:solidFill>
                            <a:srgbClr val="14313B"/>
                          </a:solidFill>
                          <a:latin typeface="Calibri (MS)"/>
                        </a:rPr>
                        <a:t>0,35</a:t>
                      </a:r>
                    </a:p>
                  </a:txBody>
                  <a:tcPr marL="73152" marR="73152" marT="36576" marB="36576" anchor="ctr">
                    <a:solidFill>
                      <a:srgbClr val="EAF8FA"/>
                    </a:solidFill>
                  </a:tcPr>
                </a:tc>
                <a:tc>
                  <a:txBody>
                    <a:bodyPr wrap="square"/>
                    <a:lstStyle/>
                    <a:p>
                      <a:pPr algn="ctr"/>
                      <a:r>
                        <a:rPr sz="1150" b="0" i="0">
                          <a:solidFill>
                            <a:srgbClr val="14313B"/>
                          </a:solidFill>
                          <a:latin typeface="Calibri (MS)"/>
                        </a:rPr>
                        <a:t>0,0650</a:t>
                      </a:r>
                    </a:p>
                  </a:txBody>
                  <a:tcPr marL="73152" marR="73152" marT="36576" marB="36576" anchor="ctr">
                    <a:solidFill>
                      <a:srgbClr val="EAF8FA"/>
                    </a:solidFill>
                  </a:tcPr>
                </a:tc>
                <a:tc>
                  <a:txBody>
                    <a:bodyPr wrap="square"/>
                    <a:lstStyle/>
                    <a:p>
                      <a:pPr algn="ctr"/>
                      <a:r>
                        <a:rPr sz="1150" b="0" i="0">
                          <a:solidFill>
                            <a:srgbClr val="14313B"/>
                          </a:solidFill>
                          <a:latin typeface="Calibri (MS)"/>
                        </a:rPr>
                        <a:t>22,15%</a:t>
                      </a:r>
                    </a:p>
                  </a:txBody>
                  <a:tcPr marL="73152" marR="73152" marT="36576" marB="36576" anchor="ctr">
                    <a:solidFill>
                      <a:srgbClr val="EAF8FA"/>
                    </a:solidFill>
                  </a:tcPr>
                </a:tc>
              </a:tr>
            </a:tbl>
          </a:graphicData>
        </a:graphic>
      </p:graphicFrame>
      <p:sp>
        <p:nvSpPr>
          <p:cNvPr id="29" name="Rounded Rectangle 28"/>
          <p:cNvSpPr/>
          <p:nvPr/>
        </p:nvSpPr>
        <p:spPr>
          <a:xfrm>
            <a:off x="822960" y="5623560"/>
            <a:ext cx="7863840" cy="26974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Tiga bukti nilai optimum tidak layak</a:t>
            </a:r>
          </a:p>
          <a:p>
            <a:pPr algn="l">
              <a:spcAft>
                <a:spcPts val="300"/>
              </a:spcAft>
            </a:pPr>
            <a:r>
              <a:rPr sz="1050" b="1" i="0">
                <a:solidFill>
                  <a:srgbClr val="14313B"/>
                </a:solidFill>
                <a:latin typeface="Calibri (MS) Bold"/>
              </a:rPr>
              <a:t>1. Satu tahun menentukan:  </a:t>
            </a:r>
            <a:r>
              <a:rPr sz="1050" b="0" i="0">
                <a:solidFill>
                  <a:srgbClr val="14313B"/>
                </a:solidFill>
                <a:latin typeface="Calibri (MS)"/>
              </a:rPr>
              <a:t>hanya mengeluarkan 2019 yang memindah optimum ke dalam rentang dan menjatuhkan perbaikan ke 5,74%. Residual: −22,1% (2018), −13,5% (2019), tahun lain &lt; 1%.</a:t>
            </a:r>
          </a:p>
          <a:p>
            <a:pPr algn="l">
              <a:spcAft>
                <a:spcPts val="300"/>
              </a:spcAft>
            </a:pPr>
            <a:r>
              <a:rPr sz="1050" b="1" i="0">
                <a:solidFill>
                  <a:srgbClr val="14313B"/>
                </a:solidFill>
                <a:latin typeface="Calibri (MS) Bold"/>
              </a:rPr>
              <a:t>2. Gagal di versi lain:  </a:t>
            </a:r>
            <a:r>
              <a:rPr sz="1050" b="0" i="0">
                <a:solidFill>
                  <a:srgbClr val="14313B"/>
                </a:solidFill>
                <a:latin typeface="Calibri (MS)"/>
              </a:rPr>
              <a:t>pada versi dengan COVID, J naik 0,1003 → 0,1445 dan DC 0,2476 → 0,3215.</a:t>
            </a:r>
          </a:p>
          <a:p>
            <a:pPr algn="l">
              <a:spcAft>
                <a:spcPts val="300"/>
              </a:spcAft>
            </a:pPr>
            <a:r>
              <a:rPr sz="1050" b="1" i="0">
                <a:solidFill>
                  <a:srgbClr val="14313B"/>
                </a:solidFill>
                <a:latin typeface="Calibri (MS) Bold"/>
              </a:rPr>
              <a:t>3. Gagal di rancangan lain:  </a:t>
            </a:r>
            <a:r>
              <a:rPr sz="1050" b="0" i="0">
                <a:solidFill>
                  <a:srgbClr val="14313B"/>
                </a:solidFill>
                <a:latin typeface="Calibri (MS)"/>
              </a:rPr>
              <a:t>P1b memberi optimum berbeda (0,330) dan perbaikan &lt; 5%.</a:t>
            </a:r>
          </a:p>
        </p:txBody>
      </p:sp>
      <p:pic>
        <p:nvPicPr>
          <p:cNvPr id="30" name="Picture 29" descr="image46.png"/>
          <p:cNvPicPr>
            <a:picLocks noChangeAspect="1"/>
          </p:cNvPicPr>
          <p:nvPr/>
        </p:nvPicPr>
        <p:blipFill>
          <a:blip r:embed="rId7"/>
          <a:stretch>
            <a:fillRect/>
          </a:stretch>
        </p:blipFill>
        <p:spPr>
          <a:xfrm>
            <a:off x="9555480" y="1874519"/>
            <a:ext cx="7315200" cy="4389120"/>
          </a:xfrm>
          <a:prstGeom prst="rect">
            <a:avLst/>
          </a:prstGeom>
          <a:ln w="12700">
            <a:solidFill>
              <a:srgbClr val="CFE5E9"/>
            </a:solidFill>
          </a:ln>
        </p:spPr>
      </p:pic>
      <p:sp>
        <p:nvSpPr>
          <p:cNvPr id="31" name="TextBox 30"/>
          <p:cNvSpPr txBox="1"/>
          <p:nvPr/>
        </p:nvSpPr>
        <p:spPr>
          <a:xfrm>
            <a:off x="8961120" y="6291072"/>
            <a:ext cx="850392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Jumlah hotel uji P1: data, nilai turunan, dan optimum grid; data melonjak pada 2018 (Buku Gambar 43)</a:t>
            </a:r>
          </a:p>
        </p:txBody>
      </p:sp>
      <p:sp>
        <p:nvSpPr>
          <p:cNvPr id="32" name="Rounded Rectangle 31"/>
          <p:cNvSpPr/>
          <p:nvPr/>
        </p:nvSpPr>
        <p:spPr>
          <a:xfrm>
            <a:off x="8961120" y="6720840"/>
            <a:ext cx="8503920" cy="160020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300" b="1" i="0">
                <a:solidFill>
                  <a:srgbClr val="14313B"/>
                </a:solidFill>
                <a:latin typeface="Calibri (MS) Bold"/>
              </a:rPr>
              <a:t>Keputusan: nilai turunan data dipertahankan</a:t>
            </a:r>
          </a:p>
          <a:p>
            <a:pPr algn="l">
              <a:spcAft>
                <a:spcPts val="300"/>
              </a:spcAft>
            </a:pPr>
            <a:r>
              <a:rPr sz="1150" b="0" i="0">
                <a:solidFill>
                  <a:srgbClr val="14313B"/>
                </a:solidFill>
                <a:latin typeface="Calibri (MS)"/>
              </a:rPr>
              <a:t>TPK Ambang 0,275 · Laju Demolisi Dasar 0,05 · Sensitivitas Konstruksi 2,31385. Lonjakan 2018 (+438 unit, hampir seluruhnya non-bintang) diduga akibat perluasan cakupan pendataan.</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4.6.2 (Tabel 49 dan Gambar 43). Catatan: di buku tabel ini dirujuk sebagai "Tabel 16"; seharusnya Tabel 49.</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61 · Kalibrasi Tahap 2: Laju Konversi Dasar Lahan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Rentang = selang kepercayaan 95% dari regresi log-linear yang sama: 0,0034118–0,0851069</a:t>
            </a:r>
          </a:p>
        </p:txBody>
      </p:sp>
      <p:sp>
        <p:nvSpPr>
          <p:cNvPr id="27" name="Rounded Rectangle 26"/>
          <p:cNvSpPr/>
          <p:nvPr/>
        </p:nvSpPr>
        <p:spPr>
          <a:xfrm>
            <a:off x="822960" y="1874519"/>
            <a:ext cx="51206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Hasil uji parsial P4</a:t>
            </a:r>
          </a:p>
        </p:txBody>
      </p:sp>
      <p:graphicFrame>
        <p:nvGraphicFramePr>
          <p:cNvPr id="28" name="Table 27"/>
          <p:cNvGraphicFramePr>
            <a:graphicFrameLocks noGrp="1"/>
          </p:cNvGraphicFramePr>
          <p:nvPr/>
        </p:nvGraphicFramePr>
        <p:xfrm>
          <a:off x="822960" y="2377440"/>
          <a:ext cx="5120637" cy="3438144"/>
        </p:xfrm>
        <a:graphic>
          <a:graphicData uri="http://schemas.openxmlformats.org/drawingml/2006/table">
            <a:tbl>
              <a:tblPr firstRow="1" bandRow="1">
                <a:tableStyleId>{5C22544A-7EE6-4342-B048-85BDC9FD1C3A}</a:tableStyleId>
              </a:tblPr>
              <a:tblGrid>
                <a:gridCol w="2011679"/>
                <a:gridCol w="1554479"/>
                <a:gridCol w="1554479"/>
              </a:tblGrid>
              <a:tr h="429768">
                <a:tc>
                  <a:txBody>
                    <a:bodyPr wrap="square"/>
                    <a:lstStyle/>
                    <a:p>
                      <a:r>
                        <a:rPr sz="1100" b="1" i="0">
                          <a:solidFill>
                            <a:srgbClr val="FFFFFF"/>
                          </a:solidFill>
                          <a:latin typeface="Calibri (MS) Bold"/>
                        </a:rPr>
                        <a:t>Ukuran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Nilai turunan data</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Titik optimum</a:t>
                      </a:r>
                    </a:p>
                  </a:txBody>
                  <a:tcPr marL="73152" marR="73152" marT="36576" marB="36576" anchor="ctr">
                    <a:solidFill>
                      <a:srgbClr val="0B5E6E"/>
                    </a:solidFill>
                  </a:tcPr>
                </a:tc>
              </a:tr>
              <a:tr h="429768">
                <a:tc>
                  <a:txBody>
                    <a:bodyPr wrap="square"/>
                    <a:lstStyle/>
                    <a:p>
                      <a:r>
                        <a:rPr sz="1100" b="1" i="0">
                          <a:solidFill>
                            <a:srgbClr val="14313B"/>
                          </a:solidFill>
                          <a:latin typeface="Calibri (MS) Bold"/>
                        </a:rPr>
                        <a:t>Laju Konversi Dasar</a:t>
                      </a:r>
                    </a:p>
                  </a:txBody>
                  <a:tcPr marL="73152" marR="73152" marT="36576" marB="36576" anchor="ctr">
                    <a:solidFill>
                      <a:srgbClr val="FFFFFF"/>
                    </a:solidFill>
                  </a:tcPr>
                </a:tc>
                <a:tc>
                  <a:txBody>
                    <a:bodyPr wrap="square"/>
                    <a:lstStyle/>
                    <a:p>
                      <a:pPr algn="ctr"/>
                      <a:r>
                        <a:rPr sz="1100" b="0" i="0">
                          <a:solidFill>
                            <a:srgbClr val="14313B"/>
                          </a:solidFill>
                          <a:latin typeface="Calibri (MS)"/>
                        </a:rPr>
                        <a:t>0,0436052</a:t>
                      </a:r>
                    </a:p>
                  </a:txBody>
                  <a:tcPr marL="73152" marR="73152" marT="36576" marB="36576" anchor="ctr">
                    <a:solidFill>
                      <a:srgbClr val="FFFFFF"/>
                    </a:solidFill>
                  </a:tcPr>
                </a:tc>
                <a:tc>
                  <a:txBody>
                    <a:bodyPr wrap="square"/>
                    <a:lstStyle/>
                    <a:p>
                      <a:pPr algn="ctr"/>
                      <a:r>
                        <a:rPr sz="1100" b="0" i="0">
                          <a:solidFill>
                            <a:srgbClr val="14313B"/>
                          </a:solidFill>
                          <a:latin typeface="Calibri (MS)"/>
                        </a:rPr>
                        <a:t>0,063866</a:t>
                      </a:r>
                    </a:p>
                  </a:txBody>
                  <a:tcPr marL="73152" marR="73152" marT="36576" marB="36576" anchor="ctr">
                    <a:solidFill>
                      <a:srgbClr val="FFFFFF"/>
                    </a:solidFill>
                  </a:tcPr>
                </a:tc>
              </a:tr>
              <a:tr h="429768">
                <a:tc>
                  <a:txBody>
                    <a:bodyPr wrap="square"/>
                    <a:lstStyle/>
                    <a:p>
                      <a:r>
                        <a:rPr sz="1100" b="1" i="0">
                          <a:solidFill>
                            <a:srgbClr val="14313B"/>
                          </a:solidFill>
                          <a:latin typeface="Calibri (MS) Bold"/>
                        </a:rPr>
                        <a:t>J (NRMSE)</a:t>
                      </a:r>
                    </a:p>
                  </a:txBody>
                  <a:tcPr marL="73152" marR="73152" marT="36576" marB="36576" anchor="ctr">
                    <a:solidFill>
                      <a:srgbClr val="EAF8FA"/>
                    </a:solidFill>
                  </a:tcPr>
                </a:tc>
                <a:tc>
                  <a:txBody>
                    <a:bodyPr wrap="square"/>
                    <a:lstStyle/>
                    <a:p>
                      <a:pPr algn="ctr"/>
                      <a:r>
                        <a:rPr sz="1100" b="0" i="0">
                          <a:solidFill>
                            <a:srgbClr val="14313B"/>
                          </a:solidFill>
                          <a:latin typeface="Calibri (MS)"/>
                        </a:rPr>
                        <a:t>0,17264</a:t>
                      </a:r>
                    </a:p>
                  </a:txBody>
                  <a:tcPr marL="73152" marR="73152" marT="36576" marB="36576" anchor="ctr">
                    <a:solidFill>
                      <a:srgbClr val="EAF8FA"/>
                    </a:solidFill>
                  </a:tcPr>
                </a:tc>
                <a:tc>
                  <a:txBody>
                    <a:bodyPr wrap="square"/>
                    <a:lstStyle/>
                    <a:p>
                      <a:pPr algn="ctr"/>
                      <a:r>
                        <a:rPr sz="1100" b="0" i="0">
                          <a:solidFill>
                            <a:srgbClr val="14313B"/>
                          </a:solidFill>
                          <a:latin typeface="Calibri (MS)"/>
                        </a:rPr>
                        <a:t>0,14716</a:t>
                      </a:r>
                    </a:p>
                  </a:txBody>
                  <a:tcPr marL="73152" marR="73152" marT="36576" marB="36576" anchor="ctr">
                    <a:solidFill>
                      <a:srgbClr val="C9F0D6"/>
                    </a:solidFill>
                  </a:tcPr>
                </a:tc>
              </a:tr>
              <a:tr h="429768">
                <a:tc>
                  <a:txBody>
                    <a:bodyPr wrap="square"/>
                    <a:lstStyle/>
                    <a:p>
                      <a:r>
                        <a:rPr sz="1100" b="1" i="0">
                          <a:solidFill>
                            <a:srgbClr val="14313B"/>
                          </a:solidFill>
                          <a:latin typeface="Calibri (MS) Bold"/>
                        </a:rPr>
                        <a:t>E1</a:t>
                      </a:r>
                    </a:p>
                  </a:txBody>
                  <a:tcPr marL="73152" marR="73152" marT="36576" marB="36576" anchor="ctr">
                    <a:solidFill>
                      <a:srgbClr val="FFFFFF"/>
                    </a:solidFill>
                  </a:tcPr>
                </a:tc>
                <a:tc>
                  <a:txBody>
                    <a:bodyPr wrap="square"/>
                    <a:lstStyle/>
                    <a:p>
                      <a:pPr algn="ctr"/>
                      <a:r>
                        <a:rPr sz="1100" b="0" i="0">
                          <a:solidFill>
                            <a:srgbClr val="14313B"/>
                          </a:solidFill>
                          <a:latin typeface="Calibri (MS)"/>
                        </a:rPr>
                        <a:t>0,1125</a:t>
                      </a:r>
                    </a:p>
                  </a:txBody>
                  <a:tcPr marL="73152" marR="73152" marT="36576" marB="36576" anchor="ctr">
                    <a:solidFill>
                      <a:srgbClr val="FFFFFF"/>
                    </a:solidFill>
                  </a:tcPr>
                </a:tc>
                <a:tc>
                  <a:txBody>
                    <a:bodyPr wrap="square"/>
                    <a:lstStyle/>
                    <a:p>
                      <a:pPr algn="ctr"/>
                      <a:r>
                        <a:rPr sz="1100" b="0" i="0">
                          <a:solidFill>
                            <a:srgbClr val="14313B"/>
                          </a:solidFill>
                          <a:latin typeface="Calibri (MS)"/>
                        </a:rPr>
                        <a:t>0,0404</a:t>
                      </a:r>
                    </a:p>
                  </a:txBody>
                  <a:tcPr marL="73152" marR="73152" marT="36576" marB="36576" anchor="ctr">
                    <a:solidFill>
                      <a:srgbClr val="C9F0D6"/>
                    </a:solidFill>
                  </a:tcPr>
                </a:tc>
              </a:tr>
              <a:tr h="429768">
                <a:tc>
                  <a:txBody>
                    <a:bodyPr wrap="square"/>
                    <a:lstStyle/>
                    <a:p>
                      <a:r>
                        <a:rPr sz="1100" b="1" i="0">
                          <a:solidFill>
                            <a:srgbClr val="14313B"/>
                          </a:solidFill>
                          <a:latin typeface="Calibri (MS) Bold"/>
                        </a:rPr>
                        <a:t>E2</a:t>
                      </a:r>
                    </a:p>
                  </a:txBody>
                  <a:tcPr marL="73152" marR="73152" marT="36576" marB="36576" anchor="ctr">
                    <a:solidFill>
                      <a:srgbClr val="EAF8FA"/>
                    </a:solidFill>
                  </a:tcPr>
                </a:tc>
                <a:tc>
                  <a:txBody>
                    <a:bodyPr wrap="square"/>
                    <a:lstStyle/>
                    <a:p>
                      <a:pPr algn="ctr"/>
                      <a:r>
                        <a:rPr sz="1100" b="0" i="0">
                          <a:solidFill>
                            <a:srgbClr val="14313B"/>
                          </a:solidFill>
                          <a:latin typeface="Calibri (MS)"/>
                        </a:rPr>
                        <a:t>0,3918</a:t>
                      </a:r>
                    </a:p>
                  </a:txBody>
                  <a:tcPr marL="73152" marR="73152" marT="36576" marB="36576" anchor="ctr">
                    <a:solidFill>
                      <a:srgbClr val="EAF8FA"/>
                    </a:solidFill>
                  </a:tcPr>
                </a:tc>
                <a:tc>
                  <a:txBody>
                    <a:bodyPr wrap="square"/>
                    <a:lstStyle/>
                    <a:p>
                      <a:pPr algn="ctr"/>
                      <a:r>
                        <a:rPr sz="1100" b="0" i="0">
                          <a:solidFill>
                            <a:srgbClr val="14313B"/>
                          </a:solidFill>
                          <a:latin typeface="Calibri (MS)"/>
                        </a:rPr>
                        <a:t>0,0657</a:t>
                      </a:r>
                    </a:p>
                  </a:txBody>
                  <a:tcPr marL="73152" marR="73152" marT="36576" marB="36576" anchor="ctr">
                    <a:solidFill>
                      <a:srgbClr val="C9F0D6"/>
                    </a:solidFill>
                  </a:tcPr>
                </a:tc>
              </a:tr>
              <a:tr h="429768">
                <a:tc>
                  <a:txBody>
                    <a:bodyPr wrap="square"/>
                    <a:lstStyle/>
                    <a:p>
                      <a:r>
                        <a:rPr sz="1100" b="1" i="0">
                          <a:solidFill>
                            <a:srgbClr val="14313B"/>
                          </a:solidFill>
                          <a:latin typeface="Calibri (MS) Bold"/>
                        </a:rPr>
                        <a:t>U1 (bias)</a:t>
                      </a:r>
                    </a:p>
                  </a:txBody>
                  <a:tcPr marL="73152" marR="73152" marT="36576" marB="36576" anchor="ctr">
                    <a:solidFill>
                      <a:srgbClr val="FFFFFF"/>
                    </a:solidFill>
                  </a:tcPr>
                </a:tc>
                <a:tc>
                  <a:txBody>
                    <a:bodyPr wrap="square"/>
                    <a:lstStyle/>
                    <a:p>
                      <a:pPr algn="ctr"/>
                      <a:r>
                        <a:rPr sz="1100" b="0" i="0">
                          <a:solidFill>
                            <a:srgbClr val="14313B"/>
                          </a:solidFill>
                          <a:latin typeface="Calibri (MS)"/>
                        </a:rPr>
                        <a:t>0,4250</a:t>
                      </a:r>
                    </a:p>
                  </a:txBody>
                  <a:tcPr marL="73152" marR="73152" marT="36576" marB="36576" anchor="ctr">
                    <a:solidFill>
                      <a:srgbClr val="FFFFFF"/>
                    </a:solidFill>
                  </a:tcPr>
                </a:tc>
                <a:tc>
                  <a:txBody>
                    <a:bodyPr wrap="square"/>
                    <a:lstStyle/>
                    <a:p>
                      <a:pPr algn="ctr"/>
                      <a:r>
                        <a:rPr sz="1100" b="0" i="0">
                          <a:solidFill>
                            <a:srgbClr val="14313B"/>
                          </a:solidFill>
                          <a:latin typeface="Calibri (MS)"/>
                        </a:rPr>
                        <a:t>0,0755</a:t>
                      </a:r>
                    </a:p>
                  </a:txBody>
                  <a:tcPr marL="73152" marR="73152" marT="36576" marB="36576" anchor="ctr">
                    <a:solidFill>
                      <a:srgbClr val="C9F0D6"/>
                    </a:solidFill>
                  </a:tcPr>
                </a:tc>
              </a:tr>
              <a:tr h="429768">
                <a:tc>
                  <a:txBody>
                    <a:bodyPr wrap="square"/>
                    <a:lstStyle/>
                    <a:p>
                      <a:r>
                        <a:rPr sz="1100" b="1" i="0">
                          <a:solidFill>
                            <a:srgbClr val="14313B"/>
                          </a:solidFill>
                          <a:latin typeface="Calibri (MS) Bold"/>
                        </a:rPr>
                        <a:t>DC</a:t>
                      </a:r>
                    </a:p>
                  </a:txBody>
                  <a:tcPr marL="73152" marR="73152" marT="36576" marB="36576" anchor="ctr">
                    <a:solidFill>
                      <a:srgbClr val="EAF8FA"/>
                    </a:solidFill>
                  </a:tcPr>
                </a:tc>
                <a:tc>
                  <a:txBody>
                    <a:bodyPr wrap="square"/>
                    <a:lstStyle/>
                    <a:p>
                      <a:pPr algn="ctr"/>
                      <a:r>
                        <a:rPr sz="1100" b="0" i="0">
                          <a:solidFill>
                            <a:srgbClr val="14313B"/>
                          </a:solidFill>
                          <a:latin typeface="Calibri (MS)"/>
                        </a:rPr>
                        <a:t>0,4813</a:t>
                      </a:r>
                    </a:p>
                  </a:txBody>
                  <a:tcPr marL="73152" marR="73152" marT="36576" marB="36576" anchor="ctr">
                    <a:solidFill>
                      <a:srgbClr val="EAF8FA"/>
                    </a:solidFill>
                  </a:tcPr>
                </a:tc>
                <a:tc>
                  <a:txBody>
                    <a:bodyPr wrap="square"/>
                    <a:lstStyle/>
                    <a:p>
                      <a:pPr algn="ctr"/>
                      <a:r>
                        <a:rPr sz="1100" b="0" i="0">
                          <a:solidFill>
                            <a:srgbClr val="14313B"/>
                          </a:solidFill>
                          <a:latin typeface="Calibri (MS)"/>
                        </a:rPr>
                        <a:t>0,4325</a:t>
                      </a:r>
                    </a:p>
                  </a:txBody>
                  <a:tcPr marL="73152" marR="73152" marT="36576" marB="36576" anchor="ctr">
                    <a:solidFill>
                      <a:srgbClr val="C9F0D6"/>
                    </a:solidFill>
                  </a:tcPr>
                </a:tc>
              </a:tr>
              <a:tr h="429768">
                <a:tc>
                  <a:txBody>
                    <a:bodyPr wrap="square"/>
                    <a:lstStyle/>
                    <a:p>
                      <a:r>
                        <a:rPr sz="1100" b="1" i="0">
                          <a:solidFill>
                            <a:srgbClr val="14313B"/>
                          </a:solidFill>
                          <a:latin typeface="Calibri (MS) Bold"/>
                        </a:rPr>
                        <a:t>Perbaikan relatif</a:t>
                      </a:r>
                    </a:p>
                  </a:txBody>
                  <a:tcPr marL="73152" marR="73152" marT="36576" marB="36576" anchor="ctr">
                    <a:solidFill>
                      <a:srgbClr val="FFFFFF"/>
                    </a:solidFill>
                  </a:tcPr>
                </a:tc>
                <a:tc>
                  <a:txBody>
                    <a:bodyPr wrap="square"/>
                    <a:lstStyle/>
                    <a:p>
                      <a:pPr algn="ctr"/>
                      <a:r>
                        <a:rPr sz="1100" b="0" i="0">
                          <a:solidFill>
                            <a:srgbClr val="14313B"/>
                          </a:solidFill>
                          <a:latin typeface="Calibri (MS)"/>
                        </a:rPr>
                        <a:t>—</a:t>
                      </a:r>
                    </a:p>
                  </a:txBody>
                  <a:tcPr marL="73152" marR="73152" marT="36576" marB="36576" anchor="ctr">
                    <a:solidFill>
                      <a:srgbClr val="FFFFFF"/>
                    </a:solidFill>
                  </a:tcPr>
                </a:tc>
                <a:tc>
                  <a:txBody>
                    <a:bodyPr wrap="square"/>
                    <a:lstStyle/>
                    <a:p>
                      <a:pPr algn="ctr"/>
                      <a:r>
                        <a:rPr sz="1100" b="0" i="0">
                          <a:solidFill>
                            <a:srgbClr val="14313B"/>
                          </a:solidFill>
                          <a:latin typeface="Calibri (MS)"/>
                        </a:rPr>
                        <a:t>14,76%</a:t>
                      </a:r>
                    </a:p>
                  </a:txBody>
                  <a:tcPr marL="73152" marR="73152" marT="36576" marB="36576" anchor="ctr">
                    <a:solidFill>
                      <a:srgbClr val="C9F0D6"/>
                    </a:solidFill>
                  </a:tcPr>
                </a:tc>
              </a:tr>
            </a:tbl>
          </a:graphicData>
        </a:graphic>
      </p:graphicFrame>
      <p:pic>
        <p:nvPicPr>
          <p:cNvPr id="29" name="Picture 28" descr="image48.png"/>
          <p:cNvPicPr>
            <a:picLocks noChangeAspect="1"/>
          </p:cNvPicPr>
          <p:nvPr/>
        </p:nvPicPr>
        <p:blipFill>
          <a:blip r:embed="rId7"/>
          <a:stretch>
            <a:fillRect/>
          </a:stretch>
        </p:blipFill>
        <p:spPr>
          <a:xfrm>
            <a:off x="6217920" y="1984248"/>
            <a:ext cx="5486400" cy="3072384"/>
          </a:xfrm>
          <a:prstGeom prst="rect">
            <a:avLst/>
          </a:prstGeom>
          <a:ln w="12700">
            <a:solidFill>
              <a:srgbClr val="CFE5E9"/>
            </a:solidFill>
          </a:ln>
        </p:spPr>
      </p:pic>
      <p:sp>
        <p:nvSpPr>
          <p:cNvPr id="30" name="TextBox 29"/>
          <p:cNvSpPr txBox="1"/>
          <p:nvPr/>
        </p:nvSpPr>
        <p:spPr>
          <a:xfrm>
            <a:off x="6217920" y="5193792"/>
            <a:ext cx="548640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Profil fungsi tujuan, uji P4 (Buku Gambar 45)</a:t>
            </a:r>
          </a:p>
        </p:txBody>
      </p:sp>
      <p:sp>
        <p:nvSpPr>
          <p:cNvPr id="31" name="Rounded Rectangle 30"/>
          <p:cNvSpPr/>
          <p:nvPr/>
        </p:nvSpPr>
        <p:spPr>
          <a:xfrm>
            <a:off x="11978640" y="1874519"/>
            <a:ext cx="54864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LOYO, uji P4</a:t>
            </a:r>
          </a:p>
        </p:txBody>
      </p:sp>
      <p:graphicFrame>
        <p:nvGraphicFramePr>
          <p:cNvPr id="32" name="Table 31"/>
          <p:cNvGraphicFramePr>
            <a:graphicFrameLocks noGrp="1"/>
          </p:cNvGraphicFramePr>
          <p:nvPr/>
        </p:nvGraphicFramePr>
        <p:xfrm>
          <a:off x="11978640" y="2377440"/>
          <a:ext cx="5486398" cy="3657600"/>
        </p:xfrm>
        <a:graphic>
          <a:graphicData uri="http://schemas.openxmlformats.org/drawingml/2006/table">
            <a:tbl>
              <a:tblPr firstRow="1" bandRow="1">
                <a:tableStyleId>{5C22544A-7EE6-4342-B048-85BDC9FD1C3A}</a:tableStyleId>
              </a:tblPr>
              <a:tblGrid>
                <a:gridCol w="1554480"/>
                <a:gridCol w="1280159"/>
                <a:gridCol w="1280159"/>
                <a:gridCol w="1371600"/>
              </a:tblGrid>
              <a:tr h="365760">
                <a:tc>
                  <a:txBody>
                    <a:bodyPr wrap="square"/>
                    <a:lstStyle/>
                    <a:p>
                      <a:pPr algn="ctr"/>
                      <a:r>
                        <a:rPr sz="1050" b="1" i="0">
                          <a:solidFill>
                            <a:srgbClr val="FFFFFF"/>
                          </a:solidFill>
                          <a:latin typeface="Calibri (MS) Bold"/>
                        </a:rPr>
                        <a:t>Tahun keluar</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k optimum</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J min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J turunan</a:t>
                      </a:r>
                    </a:p>
                  </a:txBody>
                  <a:tcPr marL="73152" marR="73152" marT="36576" marB="36576" anchor="ctr">
                    <a:solidFill>
                      <a:srgbClr val="0B5E6E"/>
                    </a:solidFill>
                  </a:tcPr>
                </a:tc>
              </a:tr>
              <a:tr h="365760">
                <a:tc>
                  <a:txBody>
                    <a:bodyPr wrap="square"/>
                    <a:lstStyle/>
                    <a:p>
                      <a:pPr algn="ctr"/>
                      <a:r>
                        <a:rPr sz="1050" b="0" i="0">
                          <a:solidFill>
                            <a:srgbClr val="14313B"/>
                          </a:solidFill>
                          <a:latin typeface="Calibri (MS)"/>
                        </a:rPr>
                        <a:t>(tidak ada)</a:t>
                      </a:r>
                    </a:p>
                  </a:txBody>
                  <a:tcPr marL="73152" marR="73152" marT="36576" marB="36576" anchor="ctr">
                    <a:solidFill>
                      <a:srgbClr val="FFFFFF"/>
                    </a:solidFill>
                  </a:tcPr>
                </a:tc>
                <a:tc>
                  <a:txBody>
                    <a:bodyPr wrap="square"/>
                    <a:lstStyle/>
                    <a:p>
                      <a:pPr algn="ctr"/>
                      <a:r>
                        <a:rPr sz="1050" b="0" i="0">
                          <a:solidFill>
                            <a:srgbClr val="14313B"/>
                          </a:solidFill>
                          <a:latin typeface="Calibri (MS)"/>
                        </a:rPr>
                        <a:t>0,0639</a:t>
                      </a:r>
                    </a:p>
                  </a:txBody>
                  <a:tcPr marL="73152" marR="73152" marT="36576" marB="36576" anchor="ctr">
                    <a:solidFill>
                      <a:srgbClr val="FFFFFF"/>
                    </a:solidFill>
                  </a:tcPr>
                </a:tc>
                <a:tc>
                  <a:txBody>
                    <a:bodyPr wrap="square"/>
                    <a:lstStyle/>
                    <a:p>
                      <a:pPr algn="ctr"/>
                      <a:r>
                        <a:rPr sz="1050" b="0" i="0">
                          <a:solidFill>
                            <a:srgbClr val="14313B"/>
                          </a:solidFill>
                          <a:latin typeface="Calibri (MS)"/>
                        </a:rPr>
                        <a:t>0,14716</a:t>
                      </a:r>
                    </a:p>
                  </a:txBody>
                  <a:tcPr marL="73152" marR="73152" marT="36576" marB="36576" anchor="ctr">
                    <a:solidFill>
                      <a:srgbClr val="FFFFFF"/>
                    </a:solidFill>
                  </a:tcPr>
                </a:tc>
                <a:tc>
                  <a:txBody>
                    <a:bodyPr wrap="square"/>
                    <a:lstStyle/>
                    <a:p>
                      <a:pPr algn="ctr"/>
                      <a:r>
                        <a:rPr sz="1050" b="0" i="0">
                          <a:solidFill>
                            <a:srgbClr val="14313B"/>
                          </a:solidFill>
                          <a:latin typeface="Calibri (MS)"/>
                        </a:rPr>
                        <a:t>0,17264</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2016</a:t>
                      </a:r>
                    </a:p>
                  </a:txBody>
                  <a:tcPr marL="73152" marR="73152" marT="36576" marB="36576" anchor="ctr">
                    <a:solidFill>
                      <a:srgbClr val="EAF8FA"/>
                    </a:solidFill>
                  </a:tcPr>
                </a:tc>
                <a:tc>
                  <a:txBody>
                    <a:bodyPr wrap="square"/>
                    <a:lstStyle/>
                    <a:p>
                      <a:pPr algn="ctr"/>
                      <a:r>
                        <a:rPr sz="1050" b="0" i="0">
                          <a:solidFill>
                            <a:srgbClr val="14313B"/>
                          </a:solidFill>
                          <a:latin typeface="Calibri (MS)"/>
                        </a:rPr>
                        <a:t>0,0639</a:t>
                      </a:r>
                    </a:p>
                  </a:txBody>
                  <a:tcPr marL="73152" marR="73152" marT="36576" marB="36576" anchor="ctr">
                    <a:solidFill>
                      <a:srgbClr val="EAF8FA"/>
                    </a:solidFill>
                  </a:tcPr>
                </a:tc>
                <a:tc>
                  <a:txBody>
                    <a:bodyPr wrap="square"/>
                    <a:lstStyle/>
                    <a:p>
                      <a:pPr algn="ctr"/>
                      <a:r>
                        <a:rPr sz="1050" b="0" i="0">
                          <a:solidFill>
                            <a:srgbClr val="14313B"/>
                          </a:solidFill>
                          <a:latin typeface="Calibri (MS)"/>
                        </a:rPr>
                        <a:t>0,15185</a:t>
                      </a:r>
                    </a:p>
                  </a:txBody>
                  <a:tcPr marL="73152" marR="73152" marT="36576" marB="36576" anchor="ctr">
                    <a:solidFill>
                      <a:srgbClr val="EAF8FA"/>
                    </a:solidFill>
                  </a:tcPr>
                </a:tc>
                <a:tc>
                  <a:txBody>
                    <a:bodyPr wrap="square"/>
                    <a:lstStyle/>
                    <a:p>
                      <a:pPr algn="ctr"/>
                      <a:r>
                        <a:rPr sz="1050" b="0" i="0">
                          <a:solidFill>
                            <a:srgbClr val="14313B"/>
                          </a:solidFill>
                          <a:latin typeface="Calibri (MS)"/>
                        </a:rPr>
                        <a:t>0,17814</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2017</a:t>
                      </a:r>
                    </a:p>
                  </a:txBody>
                  <a:tcPr marL="73152" marR="73152" marT="36576" marB="36576" anchor="ctr">
                    <a:solidFill>
                      <a:srgbClr val="FFFFFF"/>
                    </a:solidFill>
                  </a:tcPr>
                </a:tc>
                <a:tc>
                  <a:txBody>
                    <a:bodyPr wrap="square"/>
                    <a:lstStyle/>
                    <a:p>
                      <a:pPr algn="ctr"/>
                      <a:r>
                        <a:rPr sz="1050" b="0" i="0">
                          <a:solidFill>
                            <a:srgbClr val="14313B"/>
                          </a:solidFill>
                          <a:latin typeface="Calibri (MS)"/>
                        </a:rPr>
                        <a:t>0,0630</a:t>
                      </a:r>
                    </a:p>
                  </a:txBody>
                  <a:tcPr marL="73152" marR="73152" marT="36576" marB="36576" anchor="ctr">
                    <a:solidFill>
                      <a:srgbClr val="FFFFFF"/>
                    </a:solidFill>
                  </a:tcPr>
                </a:tc>
                <a:tc>
                  <a:txBody>
                    <a:bodyPr wrap="square"/>
                    <a:lstStyle/>
                    <a:p>
                      <a:pPr algn="ctr"/>
                      <a:r>
                        <a:rPr sz="1050" b="0" i="0">
                          <a:solidFill>
                            <a:srgbClr val="14313B"/>
                          </a:solidFill>
                          <a:latin typeface="Calibri (MS)"/>
                        </a:rPr>
                        <a:t>0,15257</a:t>
                      </a:r>
                    </a:p>
                  </a:txBody>
                  <a:tcPr marL="73152" marR="73152" marT="36576" marB="36576" anchor="ctr">
                    <a:solidFill>
                      <a:srgbClr val="FFFFFF"/>
                    </a:solidFill>
                  </a:tcPr>
                </a:tc>
                <a:tc>
                  <a:txBody>
                    <a:bodyPr wrap="square"/>
                    <a:lstStyle/>
                    <a:p>
                      <a:pPr algn="ctr"/>
                      <a:r>
                        <a:rPr sz="1050" b="0" i="0">
                          <a:solidFill>
                            <a:srgbClr val="14313B"/>
                          </a:solidFill>
                          <a:latin typeface="Calibri (MS)"/>
                        </a:rPr>
                        <a:t>0,17881</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2018</a:t>
                      </a:r>
                    </a:p>
                  </a:txBody>
                  <a:tcPr marL="73152" marR="73152" marT="36576" marB="36576" anchor="ctr">
                    <a:solidFill>
                      <a:srgbClr val="EAF8FA"/>
                    </a:solidFill>
                  </a:tcPr>
                </a:tc>
                <a:tc>
                  <a:txBody>
                    <a:bodyPr wrap="square"/>
                    <a:lstStyle/>
                    <a:p>
                      <a:pPr algn="ctr"/>
                      <a:r>
                        <a:rPr sz="1050" b="0" i="0">
                          <a:solidFill>
                            <a:srgbClr val="14313B"/>
                          </a:solidFill>
                          <a:latin typeface="Calibri (MS)"/>
                        </a:rPr>
                        <a:t>0,0630</a:t>
                      </a:r>
                    </a:p>
                  </a:txBody>
                  <a:tcPr marL="73152" marR="73152" marT="36576" marB="36576" anchor="ctr">
                    <a:solidFill>
                      <a:srgbClr val="EAF8FA"/>
                    </a:solidFill>
                  </a:tcPr>
                </a:tc>
                <a:tc>
                  <a:txBody>
                    <a:bodyPr wrap="square"/>
                    <a:lstStyle/>
                    <a:p>
                      <a:pPr algn="ctr"/>
                      <a:r>
                        <a:rPr sz="1050" b="0" i="0">
                          <a:solidFill>
                            <a:srgbClr val="14313B"/>
                          </a:solidFill>
                          <a:latin typeface="Calibri (MS)"/>
                        </a:rPr>
                        <a:t>0,14970</a:t>
                      </a:r>
                    </a:p>
                  </a:txBody>
                  <a:tcPr marL="73152" marR="73152" marT="36576" marB="36576" anchor="ctr">
                    <a:solidFill>
                      <a:srgbClr val="EAF8FA"/>
                    </a:solidFill>
                  </a:tcPr>
                </a:tc>
                <a:tc>
                  <a:txBody>
                    <a:bodyPr wrap="square"/>
                    <a:lstStyle/>
                    <a:p>
                      <a:pPr algn="ctr"/>
                      <a:r>
                        <a:rPr sz="1050" b="0" i="0">
                          <a:solidFill>
                            <a:srgbClr val="14313B"/>
                          </a:solidFill>
                          <a:latin typeface="Calibri (MS)"/>
                        </a:rPr>
                        <a:t>0,17499</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2019</a:t>
                      </a:r>
                    </a:p>
                  </a:txBody>
                  <a:tcPr marL="73152" marR="73152" marT="36576" marB="36576" anchor="ctr">
                    <a:solidFill>
                      <a:srgbClr val="FFFFFF"/>
                    </a:solidFill>
                  </a:tcPr>
                </a:tc>
                <a:tc>
                  <a:txBody>
                    <a:bodyPr wrap="square"/>
                    <a:lstStyle/>
                    <a:p>
                      <a:pPr algn="ctr"/>
                      <a:r>
                        <a:rPr sz="1050" b="0" i="0">
                          <a:solidFill>
                            <a:srgbClr val="14313B"/>
                          </a:solidFill>
                          <a:latin typeface="Calibri (MS)"/>
                        </a:rPr>
                        <a:t>0,0614</a:t>
                      </a:r>
                    </a:p>
                  </a:txBody>
                  <a:tcPr marL="73152" marR="73152" marT="36576" marB="36576" anchor="ctr">
                    <a:solidFill>
                      <a:srgbClr val="FFFFFF"/>
                    </a:solidFill>
                  </a:tcPr>
                </a:tc>
                <a:tc>
                  <a:txBody>
                    <a:bodyPr wrap="square"/>
                    <a:lstStyle/>
                    <a:p>
                      <a:pPr algn="ctr"/>
                      <a:r>
                        <a:rPr sz="1050" b="0" i="0">
                          <a:solidFill>
                            <a:srgbClr val="14313B"/>
                          </a:solidFill>
                          <a:latin typeface="Calibri (MS)"/>
                        </a:rPr>
                        <a:t>0,14120</a:t>
                      </a:r>
                    </a:p>
                  </a:txBody>
                  <a:tcPr marL="73152" marR="73152" marT="36576" marB="36576" anchor="ctr">
                    <a:solidFill>
                      <a:srgbClr val="FFFFFF"/>
                    </a:solidFill>
                  </a:tcPr>
                </a:tc>
                <a:tc>
                  <a:txBody>
                    <a:bodyPr wrap="square"/>
                    <a:lstStyle/>
                    <a:p>
                      <a:pPr algn="ctr"/>
                      <a:r>
                        <a:rPr sz="1050" b="0" i="0">
                          <a:solidFill>
                            <a:srgbClr val="14313B"/>
                          </a:solidFill>
                          <a:latin typeface="Calibri (MS)"/>
                        </a:rPr>
                        <a:t>0,16444</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2022</a:t>
                      </a:r>
                    </a:p>
                  </a:txBody>
                  <a:tcPr marL="73152" marR="73152" marT="36576" marB="36576" anchor="ctr">
                    <a:solidFill>
                      <a:srgbClr val="EAF8FA"/>
                    </a:solidFill>
                  </a:tcPr>
                </a:tc>
                <a:tc>
                  <a:txBody>
                    <a:bodyPr wrap="square"/>
                    <a:lstStyle/>
                    <a:p>
                      <a:pPr algn="ctr"/>
                      <a:r>
                        <a:rPr sz="1050" b="0" i="0">
                          <a:solidFill>
                            <a:srgbClr val="14313B"/>
                          </a:solidFill>
                          <a:latin typeface="Calibri (MS)"/>
                        </a:rPr>
                        <a:t>0,0655</a:t>
                      </a:r>
                    </a:p>
                  </a:txBody>
                  <a:tcPr marL="73152" marR="73152" marT="36576" marB="36576" anchor="ctr">
                    <a:solidFill>
                      <a:srgbClr val="EAF8FA"/>
                    </a:solidFill>
                  </a:tcPr>
                </a:tc>
                <a:tc>
                  <a:txBody>
                    <a:bodyPr wrap="square"/>
                    <a:lstStyle/>
                    <a:p>
                      <a:pPr algn="ctr"/>
                      <a:r>
                        <a:rPr sz="1050" b="0" i="0">
                          <a:solidFill>
                            <a:srgbClr val="14313B"/>
                          </a:solidFill>
                          <a:latin typeface="Calibri (MS)"/>
                        </a:rPr>
                        <a:t>0,15499</a:t>
                      </a:r>
                    </a:p>
                  </a:txBody>
                  <a:tcPr marL="73152" marR="73152" marT="36576" marB="36576" anchor="ctr">
                    <a:solidFill>
                      <a:srgbClr val="EAF8FA"/>
                    </a:solidFill>
                  </a:tcPr>
                </a:tc>
                <a:tc>
                  <a:txBody>
                    <a:bodyPr wrap="square"/>
                    <a:lstStyle/>
                    <a:p>
                      <a:pPr algn="ctr"/>
                      <a:r>
                        <a:rPr sz="1050" b="0" i="0">
                          <a:solidFill>
                            <a:srgbClr val="14313B"/>
                          </a:solidFill>
                          <a:latin typeface="Calibri (MS)"/>
                        </a:rPr>
                        <a:t>0,18322</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2023</a:t>
                      </a:r>
                    </a:p>
                  </a:txBody>
                  <a:tcPr marL="73152" marR="73152" marT="36576" marB="36576" anchor="ctr">
                    <a:solidFill>
                      <a:srgbClr val="FFFFFF"/>
                    </a:solidFill>
                  </a:tcPr>
                </a:tc>
                <a:tc>
                  <a:txBody>
                    <a:bodyPr wrap="square"/>
                    <a:lstStyle/>
                    <a:p>
                      <a:pPr algn="ctr"/>
                      <a:r>
                        <a:rPr sz="1050" b="0" i="0">
                          <a:solidFill>
                            <a:srgbClr val="14313B"/>
                          </a:solidFill>
                          <a:latin typeface="Calibri (MS)"/>
                        </a:rPr>
                        <a:t>0,0557</a:t>
                      </a:r>
                    </a:p>
                  </a:txBody>
                  <a:tcPr marL="73152" marR="73152" marT="36576" marB="36576" anchor="ctr">
                    <a:solidFill>
                      <a:srgbClr val="FFFFFF"/>
                    </a:solidFill>
                  </a:tcPr>
                </a:tc>
                <a:tc>
                  <a:txBody>
                    <a:bodyPr wrap="square"/>
                    <a:lstStyle/>
                    <a:p>
                      <a:pPr algn="ctr"/>
                      <a:r>
                        <a:rPr sz="1050" b="0" i="0">
                          <a:solidFill>
                            <a:srgbClr val="14313B"/>
                          </a:solidFill>
                          <a:latin typeface="Calibri (MS)"/>
                        </a:rPr>
                        <a:t>0,14048</a:t>
                      </a:r>
                    </a:p>
                  </a:txBody>
                  <a:tcPr marL="73152" marR="73152" marT="36576" marB="36576" anchor="ctr">
                    <a:solidFill>
                      <a:srgbClr val="FFFFFF"/>
                    </a:solidFill>
                  </a:tcPr>
                </a:tc>
                <a:tc>
                  <a:txBody>
                    <a:bodyPr wrap="square"/>
                    <a:lstStyle/>
                    <a:p>
                      <a:pPr algn="ctr"/>
                      <a:r>
                        <a:rPr sz="1050" b="0" i="0">
                          <a:solidFill>
                            <a:srgbClr val="14313B"/>
                          </a:solidFill>
                          <a:latin typeface="Calibri (MS)"/>
                        </a:rPr>
                        <a:t>0,15041</a:t>
                      </a:r>
                    </a:p>
                  </a:txBody>
                  <a:tcPr marL="73152" marR="73152" marT="36576" marB="36576" anchor="ctr">
                    <a:solidFill>
                      <a:srgbClr val="FFFFFF"/>
                    </a:solidFill>
                  </a:tcPr>
                </a:tc>
              </a:tr>
              <a:tr h="365760">
                <a:tc>
                  <a:txBody>
                    <a:bodyPr wrap="square"/>
                    <a:lstStyle/>
                    <a:p>
                      <a:pPr algn="ctr"/>
                      <a:r>
                        <a:rPr sz="1050" b="0" i="0">
                          <a:solidFill>
                            <a:srgbClr val="14313B"/>
                          </a:solidFill>
                          <a:latin typeface="Calibri (MS)"/>
                        </a:rPr>
                        <a:t>2024</a:t>
                      </a:r>
                    </a:p>
                  </a:txBody>
                  <a:tcPr marL="73152" marR="73152" marT="36576" marB="36576" anchor="ctr">
                    <a:solidFill>
                      <a:srgbClr val="EAF8FA"/>
                    </a:solidFill>
                  </a:tcPr>
                </a:tc>
                <a:tc>
                  <a:txBody>
                    <a:bodyPr wrap="square"/>
                    <a:lstStyle/>
                    <a:p>
                      <a:pPr algn="ctr"/>
                      <a:r>
                        <a:rPr sz="1050" b="0" i="0">
                          <a:solidFill>
                            <a:srgbClr val="14313B"/>
                          </a:solidFill>
                          <a:latin typeface="Calibri (MS)"/>
                        </a:rPr>
                        <a:t>0,0581</a:t>
                      </a:r>
                    </a:p>
                  </a:txBody>
                  <a:tcPr marL="73152" marR="73152" marT="36576" marB="36576" anchor="ctr">
                    <a:solidFill>
                      <a:srgbClr val="EAF8FA"/>
                    </a:solidFill>
                  </a:tcPr>
                </a:tc>
                <a:tc>
                  <a:txBody>
                    <a:bodyPr wrap="square"/>
                    <a:lstStyle/>
                    <a:p>
                      <a:pPr algn="ctr"/>
                      <a:r>
                        <a:rPr sz="1050" b="0" i="0">
                          <a:solidFill>
                            <a:srgbClr val="14313B"/>
                          </a:solidFill>
                          <a:latin typeface="Calibri (MS)"/>
                        </a:rPr>
                        <a:t>0,15606</a:t>
                      </a:r>
                    </a:p>
                  </a:txBody>
                  <a:tcPr marL="73152" marR="73152" marT="36576" marB="36576" anchor="ctr">
                    <a:solidFill>
                      <a:srgbClr val="EAF8FA"/>
                    </a:solidFill>
                  </a:tcPr>
                </a:tc>
                <a:tc>
                  <a:txBody>
                    <a:bodyPr wrap="square"/>
                    <a:lstStyle/>
                    <a:p>
                      <a:pPr algn="ctr"/>
                      <a:r>
                        <a:rPr sz="1050" b="0" i="0">
                          <a:solidFill>
                            <a:srgbClr val="14313B"/>
                          </a:solidFill>
                          <a:latin typeface="Calibri (MS)"/>
                        </a:rPr>
                        <a:t>0,16788</a:t>
                      </a:r>
                    </a:p>
                  </a:txBody>
                  <a:tcPr marL="73152" marR="73152" marT="36576" marB="36576" anchor="ctr">
                    <a:solidFill>
                      <a:srgbClr val="EAF8FA"/>
                    </a:solidFill>
                  </a:tcPr>
                </a:tc>
              </a:tr>
              <a:tr h="365760">
                <a:tc>
                  <a:txBody>
                    <a:bodyPr wrap="square"/>
                    <a:lstStyle/>
                    <a:p>
                      <a:pPr algn="ctr"/>
                      <a:r>
                        <a:rPr sz="1050" b="0" i="0">
                          <a:solidFill>
                            <a:srgbClr val="14313B"/>
                          </a:solidFill>
                          <a:latin typeface="Calibri (MS)"/>
                        </a:rPr>
                        <a:t>2025</a:t>
                      </a:r>
                    </a:p>
                  </a:txBody>
                  <a:tcPr marL="73152" marR="73152" marT="36576" marB="36576" anchor="ctr">
                    <a:solidFill>
                      <a:srgbClr val="FFF1BF"/>
                    </a:solidFill>
                  </a:tcPr>
                </a:tc>
                <a:tc>
                  <a:txBody>
                    <a:bodyPr wrap="square"/>
                    <a:lstStyle/>
                    <a:p>
                      <a:pPr algn="ctr"/>
                      <a:r>
                        <a:rPr sz="1050" b="0" i="0">
                          <a:solidFill>
                            <a:srgbClr val="14313B"/>
                          </a:solidFill>
                          <a:latin typeface="Calibri (MS)"/>
                        </a:rPr>
                        <a:t>0,0827</a:t>
                      </a:r>
                    </a:p>
                  </a:txBody>
                  <a:tcPr marL="73152" marR="73152" marT="36576" marB="36576" anchor="ctr">
                    <a:solidFill>
                      <a:srgbClr val="FFF1BF"/>
                    </a:solidFill>
                  </a:tcPr>
                </a:tc>
                <a:tc>
                  <a:txBody>
                    <a:bodyPr wrap="square"/>
                    <a:lstStyle/>
                    <a:p>
                      <a:pPr algn="ctr"/>
                      <a:r>
                        <a:rPr sz="1050" b="0" i="0">
                          <a:solidFill>
                            <a:srgbClr val="14313B"/>
                          </a:solidFill>
                          <a:latin typeface="Calibri (MS)"/>
                        </a:rPr>
                        <a:t>0,09278</a:t>
                      </a:r>
                    </a:p>
                  </a:txBody>
                  <a:tcPr marL="73152" marR="73152" marT="36576" marB="36576" anchor="ctr">
                    <a:solidFill>
                      <a:srgbClr val="FFF1BF"/>
                    </a:solidFill>
                  </a:tcPr>
                </a:tc>
                <a:tc>
                  <a:txBody>
                    <a:bodyPr wrap="square"/>
                    <a:lstStyle/>
                    <a:p>
                      <a:pPr algn="ctr"/>
                      <a:r>
                        <a:rPr sz="1050" b="0" i="0">
                          <a:solidFill>
                            <a:srgbClr val="14313B"/>
                          </a:solidFill>
                          <a:latin typeface="Calibri (MS)"/>
                        </a:rPr>
                        <a:t>0,17758</a:t>
                      </a:r>
                    </a:p>
                  </a:txBody>
                  <a:tcPr marL="73152" marR="73152" marT="36576" marB="36576" anchor="ctr">
                    <a:solidFill>
                      <a:srgbClr val="FFF1BF"/>
                    </a:solidFill>
                  </a:tcPr>
                </a:tc>
              </a:tr>
            </a:tbl>
          </a:graphicData>
        </a:graphic>
      </p:graphicFrame>
      <p:sp>
        <p:nvSpPr>
          <p:cNvPr id="33" name="Rounded Rectangle 32"/>
          <p:cNvSpPr/>
          <p:nvPr/>
        </p:nvSpPr>
        <p:spPr>
          <a:xfrm>
            <a:off x="6217920" y="5623560"/>
            <a:ext cx="5486400" cy="26974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Membaca hasil</a:t>
            </a:r>
          </a:p>
          <a:p>
            <a:pPr algn="l">
              <a:spcAft>
                <a:spcPts val="300"/>
              </a:spcAft>
            </a:pPr>
            <a:r>
              <a:rPr sz="1100" b="0" i="0">
                <a:solidFill>
                  <a:srgbClr val="14313B"/>
                </a:solidFill>
                <a:latin typeface="Calibri (MS)"/>
              </a:rPr>
              <a:t>Perbaikan 14,76% &gt; 5% dan optimum di dalam rentang.</a:t>
            </a:r>
          </a:p>
          <a:p>
            <a:pPr algn="l">
              <a:spcAft>
                <a:spcPts val="300"/>
              </a:spcAft>
            </a:pPr>
            <a:r>
              <a:rPr sz="1100" b="0" i="0">
                <a:solidFill>
                  <a:srgbClr val="14313B"/>
                </a:solidFill>
                <a:latin typeface="Calibri (MS)"/>
              </a:rPr>
              <a:t>Struktur galat membaik nyata: bias U1 runtuh 0,4250 → 0,0755.</a:t>
            </a:r>
          </a:p>
          <a:p>
            <a:pPr algn="l">
              <a:spcAft>
                <a:spcPts val="300"/>
              </a:spcAft>
            </a:pPr>
            <a:r>
              <a:rPr sz="1100" b="0" i="0">
                <a:solidFill>
                  <a:srgbClr val="14313B"/>
                </a:solidFill>
                <a:latin typeface="Calibri (MS)"/>
              </a:rPr>
              <a:t>Menurut aturan R4 → kandidat adopsi, tetapi wajib lolos uji kompatibilitas (Tahap 4).</a:t>
            </a:r>
          </a:p>
        </p:txBody>
      </p:sp>
      <p:sp>
        <p:nvSpPr>
          <p:cNvPr id="34" name="Rounded Rectangle 33"/>
          <p:cNvSpPr/>
          <p:nvPr/>
        </p:nvSpPr>
        <p:spPr>
          <a:xfrm>
            <a:off x="11978640" y="6263640"/>
            <a:ext cx="5486400" cy="2057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Catatan LOYO</a:t>
            </a:r>
          </a:p>
          <a:p>
            <a:pPr algn="l">
              <a:spcAft>
                <a:spcPts val="300"/>
              </a:spcAft>
            </a:pPr>
            <a:r>
              <a:rPr sz="1050" b="0" i="0">
                <a:solidFill>
                  <a:srgbClr val="14313B"/>
                </a:solidFill>
                <a:latin typeface="Calibri (MS)"/>
              </a:rPr>
              <a:t>Tahun 2016–2024 hanya menggeser k ke 0,056–0,066.</a:t>
            </a:r>
          </a:p>
          <a:p>
            <a:pPr algn="l">
              <a:spcAft>
                <a:spcPts val="300"/>
              </a:spcAft>
            </a:pPr>
            <a:r>
              <a:rPr sz="1050" b="0" i="0">
                <a:solidFill>
                  <a:srgbClr val="14313B"/>
                </a:solidFill>
                <a:latin typeface="Calibri (MS)"/>
              </a:rPr>
              <a:t>Mengeluarkan 2025 (tahun dasar) memindah k ke 0,0827: optimum sebagian bertumpu pada satu titik akhir.</a:t>
            </a:r>
          </a:p>
        </p:txBody>
      </p:sp>
      <p:sp>
        <p:nvSpPr>
          <p:cNvPr id="35" name="TextBox 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4.6.3 (Tabel 50–51, Gambar 45).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62 · Kalibrasi Tahap 4: Uji Kompatibilitas pada Model Penuh</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Tahap 2 (v3: k = 0,0638662) dibandingkan nilai turunan data (v2: k = 0,0436052)</a:t>
            </a:r>
          </a:p>
        </p:txBody>
      </p:sp>
      <p:graphicFrame>
        <p:nvGraphicFramePr>
          <p:cNvPr id="27" name="Table 26"/>
          <p:cNvGraphicFramePr>
            <a:graphicFrameLocks noGrp="1"/>
          </p:cNvGraphicFramePr>
          <p:nvPr/>
        </p:nvGraphicFramePr>
        <p:xfrm>
          <a:off x="822960" y="1874519"/>
          <a:ext cx="8138159" cy="5632704"/>
        </p:xfrm>
        <a:graphic>
          <a:graphicData uri="http://schemas.openxmlformats.org/drawingml/2006/table">
            <a:tbl>
              <a:tblPr firstRow="1" bandRow="1">
                <a:tableStyleId>{5C22544A-7EE6-4342-B048-85BDC9FD1C3A}</a:tableStyleId>
              </a:tblPr>
              <a:tblGrid>
                <a:gridCol w="640080"/>
                <a:gridCol w="2377440"/>
                <a:gridCol w="1188720"/>
                <a:gridCol w="1188720"/>
                <a:gridCol w="1097280"/>
                <a:gridCol w="1645919"/>
              </a:tblGrid>
              <a:tr h="402336">
                <a:tc>
                  <a:txBody>
                    <a:bodyPr wrap="square"/>
                    <a:lstStyle/>
                    <a:p>
                      <a:pPr algn="ctr"/>
                      <a:r>
                        <a:rPr sz="1050" b="1" i="0">
                          <a:solidFill>
                            <a:srgbClr val="FFFFFF"/>
                          </a:solidFill>
                          <a:latin typeface="Calibri (MS) Bold"/>
                        </a:rPr>
                        <a:t>Uji</a:t>
                      </a:r>
                    </a:p>
                  </a:txBody>
                  <a:tcPr marL="73152" marR="73152" marT="36576" marB="36576" anchor="ctr">
                    <a:solidFill>
                      <a:srgbClr val="0B5E6E"/>
                    </a:solidFill>
                  </a:tcPr>
                </a:tc>
                <a:tc>
                  <a:txBody>
                    <a:bodyPr wrap="square"/>
                    <a:lstStyle/>
                    <a:p>
                      <a:r>
                        <a:rPr sz="1050" b="1" i="0">
                          <a:solidFill>
                            <a:srgbClr val="FFFFFF"/>
                          </a:solidFill>
                          <a:latin typeface="Calibri (MS) Bold"/>
                        </a:rPr>
                        <a:t>Variabel</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NRMSE v2</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NRMSE v3</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v3 / v2</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Memburuk material</a:t>
                      </a:r>
                    </a:p>
                  </a:txBody>
                  <a:tcPr marL="73152" marR="73152" marT="36576" marB="36576" anchor="ctr">
                    <a:solidFill>
                      <a:srgbClr val="0B5E6E"/>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FFFFFF"/>
                    </a:solidFill>
                  </a:tcPr>
                </a:tc>
                <a:tc>
                  <a:txBody>
                    <a:bodyPr wrap="square"/>
                    <a:lstStyle/>
                    <a:p>
                      <a:r>
                        <a:rPr sz="1050" b="0" i="0">
                          <a:solidFill>
                            <a:srgbClr val="14313B"/>
                          </a:solidFill>
                          <a:latin typeface="Calibri (MS)"/>
                        </a:rPr>
                        <a:t>Jumlah Wisatawan</a:t>
                      </a:r>
                    </a:p>
                  </a:txBody>
                  <a:tcPr marL="73152" marR="73152" marT="36576" marB="36576" anchor="ctr">
                    <a:solidFill>
                      <a:srgbClr val="FFFFFF"/>
                    </a:solidFill>
                  </a:tcPr>
                </a:tc>
                <a:tc>
                  <a:txBody>
                    <a:bodyPr wrap="square"/>
                    <a:lstStyle/>
                    <a:p>
                      <a:pPr algn="ctr"/>
                      <a:r>
                        <a:rPr sz="1050" b="0" i="0">
                          <a:solidFill>
                            <a:srgbClr val="14313B"/>
                          </a:solidFill>
                          <a:latin typeface="Calibri (MS)"/>
                        </a:rPr>
                        <a:t>0,2233</a:t>
                      </a:r>
                    </a:p>
                  </a:txBody>
                  <a:tcPr marL="73152" marR="73152" marT="36576" marB="36576" anchor="ctr">
                    <a:solidFill>
                      <a:srgbClr val="FFFFFF"/>
                    </a:solidFill>
                  </a:tcPr>
                </a:tc>
                <a:tc>
                  <a:txBody>
                    <a:bodyPr wrap="square"/>
                    <a:lstStyle/>
                    <a:p>
                      <a:pPr algn="ctr"/>
                      <a:r>
                        <a:rPr sz="1050" b="0" i="0">
                          <a:solidFill>
                            <a:srgbClr val="14313B"/>
                          </a:solidFill>
                          <a:latin typeface="Calibri (MS)"/>
                        </a:rPr>
                        <a:t>0,2254</a:t>
                      </a:r>
                    </a:p>
                  </a:txBody>
                  <a:tcPr marL="73152" marR="73152" marT="36576" marB="36576" anchor="ctr">
                    <a:solidFill>
                      <a:srgbClr val="FFFFFF"/>
                    </a:solidFill>
                  </a:tcPr>
                </a:tc>
                <a:tc>
                  <a:txBody>
                    <a:bodyPr wrap="square"/>
                    <a:lstStyle/>
                    <a:p>
                      <a:pPr algn="ctr"/>
                      <a:r>
                        <a:rPr sz="1050" b="0" i="0">
                          <a:solidFill>
                            <a:srgbClr val="14313B"/>
                          </a:solidFill>
                          <a:latin typeface="Calibri (MS)"/>
                        </a:rPr>
                        <a:t>1,0096</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EAF8FA"/>
                    </a:solidFill>
                  </a:tcPr>
                </a:tc>
                <a:tc>
                  <a:txBody>
                    <a:bodyPr wrap="square"/>
                    <a:lstStyle/>
                    <a:p>
                      <a:r>
                        <a:rPr sz="1050" b="0" i="0">
                          <a:solidFill>
                            <a:srgbClr val="14313B"/>
                          </a:solidFill>
                          <a:latin typeface="Calibri (MS)"/>
                        </a:rPr>
                        <a:t>Jumlah Hotel</a:t>
                      </a:r>
                    </a:p>
                  </a:txBody>
                  <a:tcPr marL="73152" marR="73152" marT="36576" marB="36576" anchor="ctr">
                    <a:solidFill>
                      <a:srgbClr val="EAF8FA"/>
                    </a:solidFill>
                  </a:tcPr>
                </a:tc>
                <a:tc>
                  <a:txBody>
                    <a:bodyPr wrap="square"/>
                    <a:lstStyle/>
                    <a:p>
                      <a:pPr algn="ctr"/>
                      <a:r>
                        <a:rPr sz="1050" b="0" i="0">
                          <a:solidFill>
                            <a:srgbClr val="14313B"/>
                          </a:solidFill>
                          <a:latin typeface="Calibri (MS)"/>
                        </a:rPr>
                        <a:t>0,2099</a:t>
                      </a:r>
                    </a:p>
                  </a:txBody>
                  <a:tcPr marL="73152" marR="73152" marT="36576" marB="36576" anchor="ctr">
                    <a:solidFill>
                      <a:srgbClr val="EAF8FA"/>
                    </a:solidFill>
                  </a:tcPr>
                </a:tc>
                <a:tc>
                  <a:txBody>
                    <a:bodyPr wrap="square"/>
                    <a:lstStyle/>
                    <a:p>
                      <a:pPr algn="ctr"/>
                      <a:r>
                        <a:rPr sz="1050" b="0" i="0">
                          <a:solidFill>
                            <a:srgbClr val="14313B"/>
                          </a:solidFill>
                          <a:latin typeface="Calibri (MS)"/>
                        </a:rPr>
                        <a:t>0,2104</a:t>
                      </a:r>
                    </a:p>
                  </a:txBody>
                  <a:tcPr marL="73152" marR="73152" marT="36576" marB="36576" anchor="ctr">
                    <a:solidFill>
                      <a:srgbClr val="EAF8FA"/>
                    </a:solidFill>
                  </a:tcPr>
                </a:tc>
                <a:tc>
                  <a:txBody>
                    <a:bodyPr wrap="square"/>
                    <a:lstStyle/>
                    <a:p>
                      <a:pPr algn="ctr"/>
                      <a:r>
                        <a:rPr sz="1050" b="0" i="0">
                          <a:solidFill>
                            <a:srgbClr val="14313B"/>
                          </a:solidFill>
                          <a:latin typeface="Calibri (MS)"/>
                        </a:rPr>
                        <a:t>1,0027</a:t>
                      </a:r>
                    </a:p>
                  </a:txBody>
                  <a:tcPr marL="73152" marR="73152" marT="36576" marB="36576" anchor="ctr">
                    <a:solidFill>
                      <a:srgbClr val="EAF8FA"/>
                    </a:solidFill>
                  </a:tcPr>
                </a:tc>
                <a:tc>
                  <a:txBody>
                    <a:bodyPr wrap="square"/>
                    <a:lstStyle/>
                    <a:p>
                      <a:pPr algn="ctr"/>
                      <a:r>
                        <a:rPr sz="1050" b="0" i="0">
                          <a:solidFill>
                            <a:srgbClr val="14313B"/>
                          </a:solidFill>
                          <a:latin typeface="Calibri (MS)"/>
                        </a:rPr>
                        <a:t>Tidak</a:t>
                      </a:r>
                    </a:p>
                  </a:txBody>
                  <a:tcPr marL="73152" marR="73152" marT="36576" marB="36576" anchor="ctr">
                    <a:solidFill>
                      <a:srgbClr val="EAF8FA"/>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FFFFFF"/>
                    </a:solidFill>
                  </a:tcPr>
                </a:tc>
                <a:tc>
                  <a:txBody>
                    <a:bodyPr wrap="square"/>
                    <a:lstStyle/>
                    <a:p>
                      <a:r>
                        <a:rPr sz="1050" b="0" i="0">
                          <a:solidFill>
                            <a:srgbClr val="14313B"/>
                          </a:solidFill>
                          <a:latin typeface="Calibri (MS)"/>
                        </a:rPr>
                        <a:t>Jumlah ODTW</a:t>
                      </a:r>
                    </a:p>
                  </a:txBody>
                  <a:tcPr marL="73152" marR="73152" marT="36576" marB="36576" anchor="ctr">
                    <a:solidFill>
                      <a:srgbClr val="FFFFFF"/>
                    </a:solidFill>
                  </a:tcPr>
                </a:tc>
                <a:tc>
                  <a:txBody>
                    <a:bodyPr wrap="square"/>
                    <a:lstStyle/>
                    <a:p>
                      <a:pPr algn="ctr"/>
                      <a:r>
                        <a:rPr sz="1050" b="0" i="0">
                          <a:solidFill>
                            <a:srgbClr val="14313B"/>
                          </a:solidFill>
                          <a:latin typeface="Calibri (MS)"/>
                        </a:rPr>
                        <a:t>0,0625</a:t>
                      </a:r>
                    </a:p>
                  </a:txBody>
                  <a:tcPr marL="73152" marR="73152" marT="36576" marB="36576" anchor="ctr">
                    <a:solidFill>
                      <a:srgbClr val="FFFFFF"/>
                    </a:solidFill>
                  </a:tcPr>
                </a:tc>
                <a:tc>
                  <a:txBody>
                    <a:bodyPr wrap="square"/>
                    <a:lstStyle/>
                    <a:p>
                      <a:pPr algn="ctr"/>
                      <a:r>
                        <a:rPr sz="1050" b="0" i="0">
                          <a:solidFill>
                            <a:srgbClr val="14313B"/>
                          </a:solidFill>
                          <a:latin typeface="Calibri (MS)"/>
                        </a:rPr>
                        <a:t>0,0626</a:t>
                      </a:r>
                    </a:p>
                  </a:txBody>
                  <a:tcPr marL="73152" marR="73152" marT="36576" marB="36576" anchor="ctr">
                    <a:solidFill>
                      <a:srgbClr val="FFFFFF"/>
                    </a:solidFill>
                  </a:tcPr>
                </a:tc>
                <a:tc>
                  <a:txBody>
                    <a:bodyPr wrap="square"/>
                    <a:lstStyle/>
                    <a:p>
                      <a:pPr algn="ctr"/>
                      <a:r>
                        <a:rPr sz="1050" b="0" i="0">
                          <a:solidFill>
                            <a:srgbClr val="14313B"/>
                          </a:solidFill>
                          <a:latin typeface="Calibri (MS)"/>
                        </a:rPr>
                        <a:t>1,0007</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EAF8FA"/>
                    </a:solidFill>
                  </a:tcPr>
                </a:tc>
                <a:tc>
                  <a:txBody>
                    <a:bodyPr wrap="square"/>
                    <a:lstStyle/>
                    <a:p>
                      <a:r>
                        <a:rPr sz="1050" b="0" i="0">
                          <a:solidFill>
                            <a:srgbClr val="14313B"/>
                          </a:solidFill>
                          <a:latin typeface="Calibri (MS)"/>
                        </a:rPr>
                        <a:t>Tenaga Kerja</a:t>
                      </a:r>
                    </a:p>
                  </a:txBody>
                  <a:tcPr marL="73152" marR="73152" marT="36576" marB="36576" anchor="ctr">
                    <a:solidFill>
                      <a:srgbClr val="EAF8FA"/>
                    </a:solidFill>
                  </a:tcPr>
                </a:tc>
                <a:tc>
                  <a:txBody>
                    <a:bodyPr wrap="square"/>
                    <a:lstStyle/>
                    <a:p>
                      <a:pPr algn="ctr"/>
                      <a:r>
                        <a:rPr sz="1050" b="0" i="0">
                          <a:solidFill>
                            <a:srgbClr val="14313B"/>
                          </a:solidFill>
                          <a:latin typeface="Calibri (MS)"/>
                        </a:rPr>
                        <a:t>0,1897</a:t>
                      </a:r>
                    </a:p>
                  </a:txBody>
                  <a:tcPr marL="73152" marR="73152" marT="36576" marB="36576" anchor="ctr">
                    <a:solidFill>
                      <a:srgbClr val="EAF8FA"/>
                    </a:solidFill>
                  </a:tcPr>
                </a:tc>
                <a:tc>
                  <a:txBody>
                    <a:bodyPr wrap="square"/>
                    <a:lstStyle/>
                    <a:p>
                      <a:pPr algn="ctr"/>
                      <a:r>
                        <a:rPr sz="1050" b="0" i="0">
                          <a:solidFill>
                            <a:srgbClr val="14313B"/>
                          </a:solidFill>
                          <a:latin typeface="Calibri (MS)"/>
                        </a:rPr>
                        <a:t>0,1897</a:t>
                      </a:r>
                    </a:p>
                  </a:txBody>
                  <a:tcPr marL="73152" marR="73152" marT="36576" marB="36576" anchor="ctr">
                    <a:solidFill>
                      <a:srgbClr val="EAF8FA"/>
                    </a:solidFill>
                  </a:tcPr>
                </a:tc>
                <a:tc>
                  <a:txBody>
                    <a:bodyPr wrap="square"/>
                    <a:lstStyle/>
                    <a:p>
                      <a:pPr algn="ctr"/>
                      <a:r>
                        <a:rPr sz="1050" b="0" i="0">
                          <a:solidFill>
                            <a:srgbClr val="14313B"/>
                          </a:solidFill>
                          <a:latin typeface="Calibri (MS)"/>
                        </a:rPr>
                        <a:t>1,0000</a:t>
                      </a:r>
                    </a:p>
                  </a:txBody>
                  <a:tcPr marL="73152" marR="73152" marT="36576" marB="36576" anchor="ctr">
                    <a:solidFill>
                      <a:srgbClr val="EAF8FA"/>
                    </a:solidFill>
                  </a:tcPr>
                </a:tc>
                <a:tc>
                  <a:txBody>
                    <a:bodyPr wrap="square"/>
                    <a:lstStyle/>
                    <a:p>
                      <a:pPr algn="ctr"/>
                      <a:r>
                        <a:rPr sz="1050" b="0" i="0">
                          <a:solidFill>
                            <a:srgbClr val="14313B"/>
                          </a:solidFill>
                          <a:latin typeface="Calibri (MS)"/>
                        </a:rPr>
                        <a:t>Tidak</a:t>
                      </a:r>
                    </a:p>
                  </a:txBody>
                  <a:tcPr marL="73152" marR="73152" marT="36576" marB="36576" anchor="ctr">
                    <a:solidFill>
                      <a:srgbClr val="EAF8FA"/>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FDE2DE"/>
                    </a:solidFill>
                  </a:tcPr>
                </a:tc>
                <a:tc>
                  <a:txBody>
                    <a:bodyPr wrap="square"/>
                    <a:lstStyle/>
                    <a:p>
                      <a:r>
                        <a:rPr sz="1050" b="0" i="0">
                          <a:solidFill>
                            <a:srgbClr val="14313B"/>
                          </a:solidFill>
                          <a:latin typeface="Calibri (MS)"/>
                        </a:rPr>
                        <a:t>Lahan Terbangun</a:t>
                      </a:r>
                    </a:p>
                  </a:txBody>
                  <a:tcPr marL="73152" marR="73152" marT="36576" marB="36576" anchor="ctr">
                    <a:solidFill>
                      <a:srgbClr val="FDE2DE"/>
                    </a:solidFill>
                  </a:tcPr>
                </a:tc>
                <a:tc>
                  <a:txBody>
                    <a:bodyPr wrap="square"/>
                    <a:lstStyle/>
                    <a:p>
                      <a:pPr algn="ctr"/>
                      <a:r>
                        <a:rPr sz="1050" b="0" i="0">
                          <a:solidFill>
                            <a:srgbClr val="14313B"/>
                          </a:solidFill>
                          <a:latin typeface="Calibri (MS)"/>
                        </a:rPr>
                        <a:t>0,1796</a:t>
                      </a:r>
                    </a:p>
                  </a:txBody>
                  <a:tcPr marL="73152" marR="73152" marT="36576" marB="36576" anchor="ctr">
                    <a:solidFill>
                      <a:srgbClr val="FDE2DE"/>
                    </a:solidFill>
                  </a:tcPr>
                </a:tc>
                <a:tc>
                  <a:txBody>
                    <a:bodyPr wrap="square"/>
                    <a:lstStyle/>
                    <a:p>
                      <a:pPr algn="ctr"/>
                      <a:r>
                        <a:rPr sz="1050" b="0" i="0">
                          <a:solidFill>
                            <a:srgbClr val="14313B"/>
                          </a:solidFill>
                          <a:latin typeface="Calibri (MS)"/>
                        </a:rPr>
                        <a:t>0,2378</a:t>
                      </a:r>
                    </a:p>
                  </a:txBody>
                  <a:tcPr marL="73152" marR="73152" marT="36576" marB="36576" anchor="ctr">
                    <a:solidFill>
                      <a:srgbClr val="FDE2DE"/>
                    </a:solidFill>
                  </a:tcPr>
                </a:tc>
                <a:tc>
                  <a:txBody>
                    <a:bodyPr wrap="square"/>
                    <a:lstStyle/>
                    <a:p>
                      <a:pPr algn="ctr"/>
                      <a:r>
                        <a:rPr sz="1050" b="0" i="0">
                          <a:solidFill>
                            <a:srgbClr val="14313B"/>
                          </a:solidFill>
                          <a:latin typeface="Calibri (MS)"/>
                        </a:rPr>
                        <a:t>1,3241</a:t>
                      </a:r>
                    </a:p>
                  </a:txBody>
                  <a:tcPr marL="73152" marR="73152" marT="36576" marB="36576" anchor="ctr">
                    <a:solidFill>
                      <a:srgbClr val="FDE2DE"/>
                    </a:solidFill>
                  </a:tcPr>
                </a:tc>
                <a:tc>
                  <a:txBody>
                    <a:bodyPr wrap="square"/>
                    <a:lstStyle/>
                    <a:p>
                      <a:pPr algn="ctr"/>
                      <a:r>
                        <a:rPr sz="1050" b="0" i="0">
                          <a:solidFill>
                            <a:srgbClr val="14313B"/>
                          </a:solidFill>
                          <a:latin typeface="Calibri (MS)"/>
                        </a:rPr>
                        <a:t>Ya</a:t>
                      </a:r>
                    </a:p>
                  </a:txBody>
                  <a:tcPr marL="73152" marR="73152" marT="36576" marB="36576" anchor="ctr">
                    <a:solidFill>
                      <a:srgbClr val="FDE2DE"/>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EAF8FA"/>
                    </a:solidFill>
                  </a:tcPr>
                </a:tc>
                <a:tc>
                  <a:txBody>
                    <a:bodyPr wrap="square"/>
                    <a:lstStyle/>
                    <a:p>
                      <a:r>
                        <a:rPr sz="1050" b="0" i="0">
                          <a:solidFill>
                            <a:srgbClr val="14313B"/>
                          </a:solidFill>
                          <a:latin typeface="Calibri (MS)"/>
                        </a:rPr>
                        <a:t>TPK</a:t>
                      </a:r>
                    </a:p>
                  </a:txBody>
                  <a:tcPr marL="73152" marR="73152" marT="36576" marB="36576" anchor="ctr">
                    <a:solidFill>
                      <a:srgbClr val="EAF8FA"/>
                    </a:solidFill>
                  </a:tcPr>
                </a:tc>
                <a:tc>
                  <a:txBody>
                    <a:bodyPr wrap="square"/>
                    <a:lstStyle/>
                    <a:p>
                      <a:pPr algn="ctr"/>
                      <a:r>
                        <a:rPr sz="1050" b="0" i="0">
                          <a:solidFill>
                            <a:srgbClr val="14313B"/>
                          </a:solidFill>
                          <a:latin typeface="Calibri (MS)"/>
                        </a:rPr>
                        <a:t>0,2986</a:t>
                      </a:r>
                    </a:p>
                  </a:txBody>
                  <a:tcPr marL="73152" marR="73152" marT="36576" marB="36576" anchor="ctr">
                    <a:solidFill>
                      <a:srgbClr val="EAF8FA"/>
                    </a:solidFill>
                  </a:tcPr>
                </a:tc>
                <a:tc>
                  <a:txBody>
                    <a:bodyPr wrap="square"/>
                    <a:lstStyle/>
                    <a:p>
                      <a:pPr algn="ctr"/>
                      <a:r>
                        <a:rPr sz="1050" b="0" i="0">
                          <a:solidFill>
                            <a:srgbClr val="14313B"/>
                          </a:solidFill>
                          <a:latin typeface="Calibri (MS)"/>
                        </a:rPr>
                        <a:t>0,2991</a:t>
                      </a:r>
                    </a:p>
                  </a:txBody>
                  <a:tcPr marL="73152" marR="73152" marT="36576" marB="36576" anchor="ctr">
                    <a:solidFill>
                      <a:srgbClr val="EAF8FA"/>
                    </a:solidFill>
                  </a:tcPr>
                </a:tc>
                <a:tc>
                  <a:txBody>
                    <a:bodyPr wrap="square"/>
                    <a:lstStyle/>
                    <a:p>
                      <a:pPr algn="ctr"/>
                      <a:r>
                        <a:rPr sz="1050" b="0" i="0">
                          <a:solidFill>
                            <a:srgbClr val="14313B"/>
                          </a:solidFill>
                          <a:latin typeface="Calibri (MS)"/>
                        </a:rPr>
                        <a:t>1,0015</a:t>
                      </a:r>
                    </a:p>
                  </a:txBody>
                  <a:tcPr marL="73152" marR="73152" marT="36576" marB="36576" anchor="ctr">
                    <a:solidFill>
                      <a:srgbClr val="EAF8FA"/>
                    </a:solidFill>
                  </a:tcPr>
                </a:tc>
                <a:tc>
                  <a:txBody>
                    <a:bodyPr wrap="square"/>
                    <a:lstStyle/>
                    <a:p>
                      <a:pPr algn="ctr"/>
                      <a:r>
                        <a:rPr sz="1050" b="0" i="0">
                          <a:solidFill>
                            <a:srgbClr val="14313B"/>
                          </a:solidFill>
                          <a:latin typeface="Calibri (MS)"/>
                        </a:rPr>
                        <a:t>Tidak</a:t>
                      </a:r>
                    </a:p>
                  </a:txBody>
                  <a:tcPr marL="73152" marR="73152" marT="36576" marB="36576" anchor="ctr">
                    <a:solidFill>
                      <a:srgbClr val="EAF8FA"/>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FFFFFF"/>
                    </a:solidFill>
                  </a:tcPr>
                </a:tc>
                <a:tc>
                  <a:txBody>
                    <a:bodyPr wrap="square"/>
                    <a:lstStyle/>
                    <a:p>
                      <a:r>
                        <a:rPr sz="1050" b="0" i="0">
                          <a:solidFill>
                            <a:srgbClr val="14313B"/>
                          </a:solidFill>
                          <a:latin typeface="Calibri (MS)"/>
                        </a:rPr>
                        <a:t>PDRB Pariwisata</a:t>
                      </a:r>
                    </a:p>
                  </a:txBody>
                  <a:tcPr marL="73152" marR="73152" marT="36576" marB="36576" anchor="ctr">
                    <a:solidFill>
                      <a:srgbClr val="FFFFFF"/>
                    </a:solidFill>
                  </a:tcPr>
                </a:tc>
                <a:tc>
                  <a:txBody>
                    <a:bodyPr wrap="square"/>
                    <a:lstStyle/>
                    <a:p>
                      <a:pPr algn="ctr"/>
                      <a:r>
                        <a:rPr sz="1050" b="0" i="0">
                          <a:solidFill>
                            <a:srgbClr val="14313B"/>
                          </a:solidFill>
                          <a:latin typeface="Calibri (MS)"/>
                        </a:rPr>
                        <a:t>0,2778</a:t>
                      </a:r>
                    </a:p>
                  </a:txBody>
                  <a:tcPr marL="73152" marR="73152" marT="36576" marB="36576" anchor="ctr">
                    <a:solidFill>
                      <a:srgbClr val="FFFFFF"/>
                    </a:solidFill>
                  </a:tcPr>
                </a:tc>
                <a:tc>
                  <a:txBody>
                    <a:bodyPr wrap="square"/>
                    <a:lstStyle/>
                    <a:p>
                      <a:pPr algn="ctr"/>
                      <a:r>
                        <a:rPr sz="1050" b="0" i="0">
                          <a:solidFill>
                            <a:srgbClr val="14313B"/>
                          </a:solidFill>
                          <a:latin typeface="Calibri (MS)"/>
                        </a:rPr>
                        <a:t>0,2793</a:t>
                      </a:r>
                    </a:p>
                  </a:txBody>
                  <a:tcPr marL="73152" marR="73152" marT="36576" marB="36576" anchor="ctr">
                    <a:solidFill>
                      <a:srgbClr val="FFFFFF"/>
                    </a:solidFill>
                  </a:tcPr>
                </a:tc>
                <a:tc>
                  <a:txBody>
                    <a:bodyPr wrap="square"/>
                    <a:lstStyle/>
                    <a:p>
                      <a:pPr algn="ctr"/>
                      <a:r>
                        <a:rPr sz="1050" b="0" i="0">
                          <a:solidFill>
                            <a:srgbClr val="14313B"/>
                          </a:solidFill>
                          <a:latin typeface="Calibri (MS)"/>
                        </a:rPr>
                        <a:t>1,0054</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EAF8FA"/>
                    </a:solidFill>
                  </a:tcPr>
                </a:tc>
                <a:tc>
                  <a:txBody>
                    <a:bodyPr wrap="square"/>
                    <a:lstStyle/>
                    <a:p>
                      <a:r>
                        <a:rPr sz="1050" b="0" i="0">
                          <a:solidFill>
                            <a:srgbClr val="14313B"/>
                          </a:solidFill>
                          <a:latin typeface="Calibri (MS)"/>
                        </a:rPr>
                        <a:t>Investasi Pariwisata</a:t>
                      </a:r>
                    </a:p>
                  </a:txBody>
                  <a:tcPr marL="73152" marR="73152" marT="36576" marB="36576" anchor="ctr">
                    <a:solidFill>
                      <a:srgbClr val="EAF8FA"/>
                    </a:solidFill>
                  </a:tcPr>
                </a:tc>
                <a:tc>
                  <a:txBody>
                    <a:bodyPr wrap="square"/>
                    <a:lstStyle/>
                    <a:p>
                      <a:pPr algn="ctr"/>
                      <a:r>
                        <a:rPr sz="1050" b="0" i="0">
                          <a:solidFill>
                            <a:srgbClr val="14313B"/>
                          </a:solidFill>
                          <a:latin typeface="Calibri (MS)"/>
                        </a:rPr>
                        <a:t>0,5203</a:t>
                      </a:r>
                    </a:p>
                  </a:txBody>
                  <a:tcPr marL="73152" marR="73152" marT="36576" marB="36576" anchor="ctr">
                    <a:solidFill>
                      <a:srgbClr val="EAF8FA"/>
                    </a:solidFill>
                  </a:tcPr>
                </a:tc>
                <a:tc>
                  <a:txBody>
                    <a:bodyPr wrap="square"/>
                    <a:lstStyle/>
                    <a:p>
                      <a:pPr algn="ctr"/>
                      <a:r>
                        <a:rPr sz="1050" b="0" i="0">
                          <a:solidFill>
                            <a:srgbClr val="14313B"/>
                          </a:solidFill>
                          <a:latin typeface="Calibri (MS)"/>
                        </a:rPr>
                        <a:t>0,5215</a:t>
                      </a:r>
                    </a:p>
                  </a:txBody>
                  <a:tcPr marL="73152" marR="73152" marT="36576" marB="36576" anchor="ctr">
                    <a:solidFill>
                      <a:srgbClr val="EAF8FA"/>
                    </a:solidFill>
                  </a:tcPr>
                </a:tc>
                <a:tc>
                  <a:txBody>
                    <a:bodyPr wrap="square"/>
                    <a:lstStyle/>
                    <a:p>
                      <a:pPr algn="ctr"/>
                      <a:r>
                        <a:rPr sz="1050" b="0" i="0">
                          <a:solidFill>
                            <a:srgbClr val="14313B"/>
                          </a:solidFill>
                          <a:latin typeface="Calibri (MS)"/>
                        </a:rPr>
                        <a:t>1,0024</a:t>
                      </a:r>
                    </a:p>
                  </a:txBody>
                  <a:tcPr marL="73152" marR="73152" marT="36576" marB="36576" anchor="ctr">
                    <a:solidFill>
                      <a:srgbClr val="EAF8FA"/>
                    </a:solidFill>
                  </a:tcPr>
                </a:tc>
                <a:tc>
                  <a:txBody>
                    <a:bodyPr wrap="square"/>
                    <a:lstStyle/>
                    <a:p>
                      <a:pPr algn="ctr"/>
                      <a:r>
                        <a:rPr sz="1050" b="0" i="0">
                          <a:solidFill>
                            <a:srgbClr val="14313B"/>
                          </a:solidFill>
                          <a:latin typeface="Calibri (MS)"/>
                        </a:rPr>
                        <a:t>Tidak</a:t>
                      </a:r>
                    </a:p>
                  </a:txBody>
                  <a:tcPr marL="73152" marR="73152" marT="36576" marB="36576" anchor="ctr">
                    <a:solidFill>
                      <a:srgbClr val="EAF8FA"/>
                    </a:solidFill>
                  </a:tcPr>
                </a:tc>
              </a:tr>
              <a:tr h="402336">
                <a:tc>
                  <a:txBody>
                    <a:bodyPr wrap="square"/>
                    <a:lstStyle/>
                    <a:p>
                      <a:pPr algn="ctr"/>
                      <a:r>
                        <a:rPr sz="1050" b="0" i="0">
                          <a:solidFill>
                            <a:srgbClr val="14313B"/>
                          </a:solidFill>
                          <a:latin typeface="Calibri (MS)"/>
                        </a:rPr>
                        <a:t>B</a:t>
                      </a:r>
                    </a:p>
                  </a:txBody>
                  <a:tcPr marL="73152" marR="73152" marT="36576" marB="36576" anchor="ctr">
                    <a:solidFill>
                      <a:srgbClr val="FFFFFF"/>
                    </a:solidFill>
                  </a:tcPr>
                </a:tc>
                <a:tc>
                  <a:txBody>
                    <a:bodyPr wrap="square"/>
                    <a:lstStyle/>
                    <a:p>
                      <a:r>
                        <a:rPr sz="1050" b="0" i="0">
                          <a:solidFill>
                            <a:srgbClr val="14313B"/>
                          </a:solidFill>
                          <a:latin typeface="Calibri (MS)"/>
                        </a:rPr>
                        <a:t>Total Malam Menginap</a:t>
                      </a:r>
                    </a:p>
                  </a:txBody>
                  <a:tcPr marL="73152" marR="73152" marT="36576" marB="36576" anchor="ctr">
                    <a:solidFill>
                      <a:srgbClr val="FFFFFF"/>
                    </a:solidFill>
                  </a:tcPr>
                </a:tc>
                <a:tc>
                  <a:txBody>
                    <a:bodyPr wrap="square"/>
                    <a:lstStyle/>
                    <a:p>
                      <a:pPr algn="ctr"/>
                      <a:r>
                        <a:rPr sz="1050" b="0" i="0">
                          <a:solidFill>
                            <a:srgbClr val="14313B"/>
                          </a:solidFill>
                          <a:latin typeface="Calibri (MS)"/>
                        </a:rPr>
                        <a:t>0,3741</a:t>
                      </a:r>
                    </a:p>
                  </a:txBody>
                  <a:tcPr marL="73152" marR="73152" marT="36576" marB="36576" anchor="ctr">
                    <a:solidFill>
                      <a:srgbClr val="FFFFFF"/>
                    </a:solidFill>
                  </a:tcPr>
                </a:tc>
                <a:tc>
                  <a:txBody>
                    <a:bodyPr wrap="square"/>
                    <a:lstStyle/>
                    <a:p>
                      <a:pPr algn="ctr"/>
                      <a:r>
                        <a:rPr sz="1050" b="0" i="0">
                          <a:solidFill>
                            <a:srgbClr val="14313B"/>
                          </a:solidFill>
                          <a:latin typeface="Calibri (MS)"/>
                        </a:rPr>
                        <a:t>0,3751</a:t>
                      </a:r>
                    </a:p>
                  </a:txBody>
                  <a:tcPr marL="73152" marR="73152" marT="36576" marB="36576" anchor="ctr">
                    <a:solidFill>
                      <a:srgbClr val="FFFFFF"/>
                    </a:solidFill>
                  </a:tcPr>
                </a:tc>
                <a:tc>
                  <a:txBody>
                    <a:bodyPr wrap="square"/>
                    <a:lstStyle/>
                    <a:p>
                      <a:pPr algn="ctr"/>
                      <a:r>
                        <a:rPr sz="1050" b="0" i="0">
                          <a:solidFill>
                            <a:srgbClr val="14313B"/>
                          </a:solidFill>
                          <a:latin typeface="Calibri (MS)"/>
                        </a:rPr>
                        <a:t>1,0027</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r h="402336">
                <a:tc>
                  <a:txBody>
                    <a:bodyPr wrap="square"/>
                    <a:lstStyle/>
                    <a:p>
                      <a:pPr algn="ctr"/>
                      <a:r>
                        <a:rPr sz="1050" b="0" i="0">
                          <a:solidFill>
                            <a:srgbClr val="14313B"/>
                          </a:solidFill>
                          <a:latin typeface="Calibri (MS)"/>
                        </a:rPr>
                        <a:t>P1</a:t>
                      </a:r>
                    </a:p>
                  </a:txBody>
                  <a:tcPr marL="73152" marR="73152" marT="36576" marB="36576" anchor="ctr">
                    <a:solidFill>
                      <a:srgbClr val="EAF8FA"/>
                    </a:solidFill>
                  </a:tcPr>
                </a:tc>
                <a:tc>
                  <a:txBody>
                    <a:bodyPr wrap="square"/>
                    <a:lstStyle/>
                    <a:p>
                      <a:r>
                        <a:rPr sz="1050" b="0" i="0">
                          <a:solidFill>
                            <a:srgbClr val="14313B"/>
                          </a:solidFill>
                          <a:latin typeface="Calibri (MS)"/>
                        </a:rPr>
                        <a:t>Jumlah Hotel</a:t>
                      </a:r>
                    </a:p>
                  </a:txBody>
                  <a:tcPr marL="73152" marR="73152" marT="36576" marB="36576" anchor="ctr">
                    <a:solidFill>
                      <a:srgbClr val="EAF8FA"/>
                    </a:solidFill>
                  </a:tcPr>
                </a:tc>
                <a:tc>
                  <a:txBody>
                    <a:bodyPr wrap="square"/>
                    <a:lstStyle/>
                    <a:p>
                      <a:pPr algn="ctr"/>
                      <a:r>
                        <a:rPr sz="1050" b="0" i="0">
                          <a:solidFill>
                            <a:srgbClr val="14313B"/>
                          </a:solidFill>
                          <a:latin typeface="Calibri (MS)"/>
                        </a:rPr>
                        <a:t>0,1041</a:t>
                      </a:r>
                    </a:p>
                  </a:txBody>
                  <a:tcPr marL="73152" marR="73152" marT="36576" marB="36576" anchor="ctr">
                    <a:solidFill>
                      <a:srgbClr val="EAF8FA"/>
                    </a:solidFill>
                  </a:tcPr>
                </a:tc>
                <a:tc>
                  <a:txBody>
                    <a:bodyPr wrap="square"/>
                    <a:lstStyle/>
                    <a:p>
                      <a:pPr algn="ctr"/>
                      <a:r>
                        <a:rPr sz="1050" b="0" i="0">
                          <a:solidFill>
                            <a:srgbClr val="14313B"/>
                          </a:solidFill>
                          <a:latin typeface="Calibri (MS)"/>
                        </a:rPr>
                        <a:t>0,1041</a:t>
                      </a:r>
                    </a:p>
                  </a:txBody>
                  <a:tcPr marL="73152" marR="73152" marT="36576" marB="36576" anchor="ctr">
                    <a:solidFill>
                      <a:srgbClr val="EAF8FA"/>
                    </a:solidFill>
                  </a:tcPr>
                </a:tc>
                <a:tc>
                  <a:txBody>
                    <a:bodyPr wrap="square"/>
                    <a:lstStyle/>
                    <a:p>
                      <a:pPr algn="ctr"/>
                      <a:r>
                        <a:rPr sz="1050" b="0" i="0">
                          <a:solidFill>
                            <a:srgbClr val="14313B"/>
                          </a:solidFill>
                          <a:latin typeface="Calibri (MS)"/>
                        </a:rPr>
                        <a:t>1,0000</a:t>
                      </a:r>
                    </a:p>
                  </a:txBody>
                  <a:tcPr marL="73152" marR="73152" marT="36576" marB="36576" anchor="ctr">
                    <a:solidFill>
                      <a:srgbClr val="EAF8FA"/>
                    </a:solidFill>
                  </a:tcPr>
                </a:tc>
                <a:tc>
                  <a:txBody>
                    <a:bodyPr wrap="square"/>
                    <a:lstStyle/>
                    <a:p>
                      <a:pPr algn="ctr"/>
                      <a:r>
                        <a:rPr sz="1050" b="0" i="0">
                          <a:solidFill>
                            <a:srgbClr val="14313B"/>
                          </a:solidFill>
                          <a:latin typeface="Calibri (MS)"/>
                        </a:rPr>
                        <a:t>Tidak</a:t>
                      </a:r>
                    </a:p>
                  </a:txBody>
                  <a:tcPr marL="73152" marR="73152" marT="36576" marB="36576" anchor="ctr">
                    <a:solidFill>
                      <a:srgbClr val="EAF8FA"/>
                    </a:solidFill>
                  </a:tcPr>
                </a:tc>
              </a:tr>
              <a:tr h="402336">
                <a:tc>
                  <a:txBody>
                    <a:bodyPr wrap="square"/>
                    <a:lstStyle/>
                    <a:p>
                      <a:pPr algn="ctr"/>
                      <a:r>
                        <a:rPr sz="1050" b="0" i="0">
                          <a:solidFill>
                            <a:srgbClr val="14313B"/>
                          </a:solidFill>
                          <a:latin typeface="Calibri (MS)"/>
                        </a:rPr>
                        <a:t>P1</a:t>
                      </a:r>
                    </a:p>
                  </a:txBody>
                  <a:tcPr marL="73152" marR="73152" marT="36576" marB="36576" anchor="ctr">
                    <a:solidFill>
                      <a:srgbClr val="FFFFFF"/>
                    </a:solidFill>
                  </a:tcPr>
                </a:tc>
                <a:tc>
                  <a:txBody>
                    <a:bodyPr wrap="square"/>
                    <a:lstStyle/>
                    <a:p>
                      <a:r>
                        <a:rPr sz="1050" b="0" i="0">
                          <a:solidFill>
                            <a:srgbClr val="14313B"/>
                          </a:solidFill>
                          <a:latin typeface="Calibri (MS)"/>
                        </a:rPr>
                        <a:t>TPK</a:t>
                      </a:r>
                    </a:p>
                  </a:txBody>
                  <a:tcPr marL="73152" marR="73152" marT="36576" marB="36576" anchor="ctr">
                    <a:solidFill>
                      <a:srgbClr val="FFFFFF"/>
                    </a:solidFill>
                  </a:tcPr>
                </a:tc>
                <a:tc>
                  <a:txBody>
                    <a:bodyPr wrap="square"/>
                    <a:lstStyle/>
                    <a:p>
                      <a:pPr algn="ctr"/>
                      <a:r>
                        <a:rPr sz="1050" b="0" i="0">
                          <a:solidFill>
                            <a:srgbClr val="14313B"/>
                          </a:solidFill>
                          <a:latin typeface="Calibri (MS)"/>
                        </a:rPr>
                        <a:t>0,2263</a:t>
                      </a:r>
                    </a:p>
                  </a:txBody>
                  <a:tcPr marL="73152" marR="73152" marT="36576" marB="36576" anchor="ctr">
                    <a:solidFill>
                      <a:srgbClr val="FFFFFF"/>
                    </a:solidFill>
                  </a:tcPr>
                </a:tc>
                <a:tc>
                  <a:txBody>
                    <a:bodyPr wrap="square"/>
                    <a:lstStyle/>
                    <a:p>
                      <a:pPr algn="ctr"/>
                      <a:r>
                        <a:rPr sz="1050" b="0" i="0">
                          <a:solidFill>
                            <a:srgbClr val="14313B"/>
                          </a:solidFill>
                          <a:latin typeface="Calibri (MS)"/>
                        </a:rPr>
                        <a:t>0,2263</a:t>
                      </a:r>
                    </a:p>
                  </a:txBody>
                  <a:tcPr marL="73152" marR="73152" marT="36576" marB="36576" anchor="ctr">
                    <a:solidFill>
                      <a:srgbClr val="FFFFFF"/>
                    </a:solidFill>
                  </a:tcPr>
                </a:tc>
                <a:tc>
                  <a:txBody>
                    <a:bodyPr wrap="square"/>
                    <a:lstStyle/>
                    <a:p>
                      <a:pPr algn="ctr"/>
                      <a:r>
                        <a:rPr sz="1050" b="0" i="0">
                          <a:solidFill>
                            <a:srgbClr val="14313B"/>
                          </a:solidFill>
                          <a:latin typeface="Calibri (MS)"/>
                        </a:rPr>
                        <a:t>1,0000</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r h="402336">
                <a:tc>
                  <a:txBody>
                    <a:bodyPr wrap="square"/>
                    <a:lstStyle/>
                    <a:p>
                      <a:pPr algn="ctr"/>
                      <a:r>
                        <a:rPr sz="1050" b="0" i="0">
                          <a:solidFill>
                            <a:srgbClr val="14313B"/>
                          </a:solidFill>
                          <a:latin typeface="Calibri (MS)"/>
                        </a:rPr>
                        <a:t>P4</a:t>
                      </a:r>
                    </a:p>
                  </a:txBody>
                  <a:tcPr marL="73152" marR="73152" marT="36576" marB="36576" anchor="ctr">
                    <a:solidFill>
                      <a:srgbClr val="C9F0D6"/>
                    </a:solidFill>
                  </a:tcPr>
                </a:tc>
                <a:tc>
                  <a:txBody>
                    <a:bodyPr wrap="square"/>
                    <a:lstStyle/>
                    <a:p>
                      <a:r>
                        <a:rPr sz="1050" b="0" i="0">
                          <a:solidFill>
                            <a:srgbClr val="14313B"/>
                          </a:solidFill>
                          <a:latin typeface="Calibri (MS)"/>
                        </a:rPr>
                        <a:t>Lahan Terbangun</a:t>
                      </a:r>
                    </a:p>
                  </a:txBody>
                  <a:tcPr marL="73152" marR="73152" marT="36576" marB="36576" anchor="ctr">
                    <a:solidFill>
                      <a:srgbClr val="C9F0D6"/>
                    </a:solidFill>
                  </a:tcPr>
                </a:tc>
                <a:tc>
                  <a:txBody>
                    <a:bodyPr wrap="square"/>
                    <a:lstStyle/>
                    <a:p>
                      <a:pPr algn="ctr"/>
                      <a:r>
                        <a:rPr sz="1050" b="0" i="0">
                          <a:solidFill>
                            <a:srgbClr val="14313B"/>
                          </a:solidFill>
                          <a:latin typeface="Calibri (MS)"/>
                        </a:rPr>
                        <a:t>0,1726</a:t>
                      </a:r>
                    </a:p>
                  </a:txBody>
                  <a:tcPr marL="73152" marR="73152" marT="36576" marB="36576" anchor="ctr">
                    <a:solidFill>
                      <a:srgbClr val="C9F0D6"/>
                    </a:solidFill>
                  </a:tcPr>
                </a:tc>
                <a:tc>
                  <a:txBody>
                    <a:bodyPr wrap="square"/>
                    <a:lstStyle/>
                    <a:p>
                      <a:pPr algn="ctr"/>
                      <a:r>
                        <a:rPr sz="1050" b="0" i="0">
                          <a:solidFill>
                            <a:srgbClr val="14313B"/>
                          </a:solidFill>
                          <a:latin typeface="Calibri (MS)"/>
                        </a:rPr>
                        <a:t>0,1472</a:t>
                      </a:r>
                    </a:p>
                  </a:txBody>
                  <a:tcPr marL="73152" marR="73152" marT="36576" marB="36576" anchor="ctr">
                    <a:solidFill>
                      <a:srgbClr val="C9F0D6"/>
                    </a:solidFill>
                  </a:tcPr>
                </a:tc>
                <a:tc>
                  <a:txBody>
                    <a:bodyPr wrap="square"/>
                    <a:lstStyle/>
                    <a:p>
                      <a:pPr algn="ctr"/>
                      <a:r>
                        <a:rPr sz="1050" b="0" i="0">
                          <a:solidFill>
                            <a:srgbClr val="14313B"/>
                          </a:solidFill>
                          <a:latin typeface="Calibri (MS)"/>
                        </a:rPr>
                        <a:t>0,8524</a:t>
                      </a:r>
                    </a:p>
                  </a:txBody>
                  <a:tcPr marL="73152" marR="73152" marT="36576" marB="36576" anchor="ctr">
                    <a:solidFill>
                      <a:srgbClr val="C9F0D6"/>
                    </a:solidFill>
                  </a:tcPr>
                </a:tc>
                <a:tc>
                  <a:txBody>
                    <a:bodyPr wrap="square"/>
                    <a:lstStyle/>
                    <a:p>
                      <a:pPr algn="ctr"/>
                      <a:r>
                        <a:rPr sz="1050" b="0" i="0">
                          <a:solidFill>
                            <a:srgbClr val="14313B"/>
                          </a:solidFill>
                          <a:latin typeface="Calibri (MS)"/>
                        </a:rPr>
                        <a:t>— (membaik)</a:t>
                      </a:r>
                    </a:p>
                  </a:txBody>
                  <a:tcPr marL="73152" marR="73152" marT="36576" marB="36576" anchor="ctr">
                    <a:solidFill>
                      <a:srgbClr val="C9F0D6"/>
                    </a:solidFill>
                  </a:tcPr>
                </a:tc>
              </a:tr>
              <a:tr h="402336">
                <a:tc>
                  <a:txBody>
                    <a:bodyPr wrap="square"/>
                    <a:lstStyle/>
                    <a:p>
                      <a:pPr algn="ctr"/>
                      <a:r>
                        <a:rPr sz="1050" b="0" i="0">
                          <a:solidFill>
                            <a:srgbClr val="14313B"/>
                          </a:solidFill>
                          <a:latin typeface="Calibri (MS)"/>
                        </a:rPr>
                        <a:t>P1b</a:t>
                      </a:r>
                    </a:p>
                  </a:txBody>
                  <a:tcPr marL="73152" marR="73152" marT="36576" marB="36576" anchor="ctr">
                    <a:solidFill>
                      <a:srgbClr val="FFFFFF"/>
                    </a:solidFill>
                  </a:tcPr>
                </a:tc>
                <a:tc>
                  <a:txBody>
                    <a:bodyPr wrap="square"/>
                    <a:lstStyle/>
                    <a:p>
                      <a:r>
                        <a:rPr sz="1050" b="0" i="0">
                          <a:solidFill>
                            <a:srgbClr val="14313B"/>
                          </a:solidFill>
                          <a:latin typeface="Calibri (MS)"/>
                        </a:rPr>
                        <a:t>Jumlah Hotel</a:t>
                      </a:r>
                    </a:p>
                  </a:txBody>
                  <a:tcPr marL="73152" marR="73152" marT="36576" marB="36576" anchor="ctr">
                    <a:solidFill>
                      <a:srgbClr val="FFFFFF"/>
                    </a:solidFill>
                  </a:tcPr>
                </a:tc>
                <a:tc>
                  <a:txBody>
                    <a:bodyPr wrap="square"/>
                    <a:lstStyle/>
                    <a:p>
                      <a:pPr algn="ctr"/>
                      <a:r>
                        <a:rPr sz="1050" b="0" i="0">
                          <a:solidFill>
                            <a:srgbClr val="14313B"/>
                          </a:solidFill>
                          <a:latin typeface="Calibri (MS)"/>
                        </a:rPr>
                        <a:t>0,1112</a:t>
                      </a:r>
                    </a:p>
                  </a:txBody>
                  <a:tcPr marL="73152" marR="73152" marT="36576" marB="36576" anchor="ctr">
                    <a:solidFill>
                      <a:srgbClr val="FFFFFF"/>
                    </a:solidFill>
                  </a:tcPr>
                </a:tc>
                <a:tc>
                  <a:txBody>
                    <a:bodyPr wrap="square"/>
                    <a:lstStyle/>
                    <a:p>
                      <a:pPr algn="ctr"/>
                      <a:r>
                        <a:rPr sz="1050" b="0" i="0">
                          <a:solidFill>
                            <a:srgbClr val="14313B"/>
                          </a:solidFill>
                          <a:latin typeface="Calibri (MS)"/>
                        </a:rPr>
                        <a:t>0,1112</a:t>
                      </a:r>
                    </a:p>
                  </a:txBody>
                  <a:tcPr marL="73152" marR="73152" marT="36576" marB="36576" anchor="ctr">
                    <a:solidFill>
                      <a:srgbClr val="FFFFFF"/>
                    </a:solidFill>
                  </a:tcPr>
                </a:tc>
                <a:tc>
                  <a:txBody>
                    <a:bodyPr wrap="square"/>
                    <a:lstStyle/>
                    <a:p>
                      <a:pPr algn="ctr"/>
                      <a:r>
                        <a:rPr sz="1050" b="0" i="0">
                          <a:solidFill>
                            <a:srgbClr val="14313B"/>
                          </a:solidFill>
                          <a:latin typeface="Calibri (MS)"/>
                        </a:rPr>
                        <a:t>1,0000</a:t>
                      </a:r>
                    </a:p>
                  </a:txBody>
                  <a:tcPr marL="73152" marR="73152" marT="36576" marB="36576" anchor="ctr">
                    <a:solidFill>
                      <a:srgbClr val="FFFFFF"/>
                    </a:solidFill>
                  </a:tcPr>
                </a:tc>
                <a:tc>
                  <a:txBody>
                    <a:bodyPr wrap="square"/>
                    <a:lstStyle/>
                    <a:p>
                      <a:pPr algn="ctr"/>
                      <a:r>
                        <a:rPr sz="1050" b="0" i="0">
                          <a:solidFill>
                            <a:srgbClr val="14313B"/>
                          </a:solidFill>
                          <a:latin typeface="Calibri (MS)"/>
                        </a:rPr>
                        <a:t>Tidak</a:t>
                      </a:r>
                    </a:p>
                  </a:txBody>
                  <a:tcPr marL="73152" marR="73152" marT="36576" marB="36576" anchor="ctr">
                    <a:solidFill>
                      <a:srgbClr val="FFFFFF"/>
                    </a:solidFill>
                  </a:tcPr>
                </a:tc>
              </a:tr>
            </a:tbl>
          </a:graphicData>
        </a:graphic>
      </p:graphicFrame>
      <p:pic>
        <p:nvPicPr>
          <p:cNvPr id="28" name="Picture 27" descr="image49.png"/>
          <p:cNvPicPr>
            <a:picLocks noChangeAspect="1"/>
          </p:cNvPicPr>
          <p:nvPr/>
        </p:nvPicPr>
        <p:blipFill>
          <a:blip r:embed="rId7"/>
          <a:stretch>
            <a:fillRect/>
          </a:stretch>
        </p:blipFill>
        <p:spPr>
          <a:xfrm>
            <a:off x="9235440" y="1924811"/>
            <a:ext cx="4023360" cy="2414016"/>
          </a:xfrm>
          <a:prstGeom prst="rect">
            <a:avLst/>
          </a:prstGeom>
          <a:ln w="12700">
            <a:solidFill>
              <a:srgbClr val="CFE5E9"/>
            </a:solidFill>
          </a:ln>
        </p:spPr>
      </p:pic>
      <p:pic>
        <p:nvPicPr>
          <p:cNvPr id="29" name="Picture 28" descr="image50.png"/>
          <p:cNvPicPr>
            <a:picLocks noChangeAspect="1"/>
          </p:cNvPicPr>
          <p:nvPr/>
        </p:nvPicPr>
        <p:blipFill>
          <a:blip r:embed="rId8"/>
          <a:stretch>
            <a:fillRect/>
          </a:stretch>
        </p:blipFill>
        <p:spPr>
          <a:xfrm>
            <a:off x="13441680" y="1924811"/>
            <a:ext cx="4023360" cy="2414016"/>
          </a:xfrm>
          <a:prstGeom prst="rect">
            <a:avLst/>
          </a:prstGeom>
          <a:ln w="12700">
            <a:solidFill>
              <a:srgbClr val="CFE5E9"/>
            </a:solidFill>
          </a:ln>
        </p:spPr>
      </p:pic>
      <p:sp>
        <p:nvSpPr>
          <p:cNvPr id="30" name="TextBox 29"/>
          <p:cNvSpPr txBox="1"/>
          <p:nvPr/>
        </p:nvSpPr>
        <p:spPr>
          <a:xfrm>
            <a:off x="9235440" y="4416552"/>
            <a:ext cx="822960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Kiri: lahan uji penuh, v2 vs v3 (Gambar 46) · Kanan: lahan uji P4, turunan vs optimum (Gambar 47)</a:t>
            </a:r>
          </a:p>
        </p:txBody>
      </p:sp>
      <p:sp>
        <p:nvSpPr>
          <p:cNvPr id="31" name="Rounded Rectangle 30"/>
          <p:cNvSpPr/>
          <p:nvPr/>
        </p:nvSpPr>
        <p:spPr>
          <a:xfrm>
            <a:off x="9235440" y="4846320"/>
            <a:ext cx="8229600" cy="2011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Kenapa membaik di P4 tetapi memburuk di uji penuh?</a:t>
            </a:r>
          </a:p>
          <a:p>
            <a:pPr algn="l">
              <a:spcAft>
                <a:spcPts val="300"/>
              </a:spcAft>
            </a:pPr>
            <a:r>
              <a:rPr sz="1050" b="0" i="0">
                <a:solidFill>
                  <a:srgbClr val="14313B"/>
                </a:solidFill>
                <a:latin typeface="Calibri (MS)"/>
              </a:rPr>
              <a:t>P4 mulai 2016 dari 44.561 ha (di bawah garis tren), jadi laju lebih besar membantu mengejar data.</a:t>
            </a:r>
          </a:p>
          <a:p>
            <a:pPr algn="l">
              <a:spcAft>
                <a:spcPts val="300"/>
              </a:spcAft>
            </a:pPr>
            <a:r>
              <a:rPr sz="1050" b="0" i="0">
                <a:solidFill>
                  <a:srgbClr val="14313B"/>
                </a:solidFill>
                <a:latin typeface="Calibri (MS)"/>
              </a:rPr>
              <a:t>Uji penuh mulai 2019 dari 63.480 ha yang sudah tinggi, jadi laju yang sama justru menjauh dari data 2025 (55.030 ha).</a:t>
            </a:r>
          </a:p>
          <a:p>
            <a:pPr algn="l">
              <a:spcAft>
                <a:spcPts val="300"/>
              </a:spcAft>
            </a:pPr>
            <a:r>
              <a:rPr sz="1050" b="0" i="0">
                <a:solidFill>
                  <a:srgbClr val="14313B"/>
                </a:solidFill>
                <a:latin typeface="Calibri (MS)"/>
              </a:rPr>
              <a:t>Akar masalahnya ketidakstabilan klasifikasi Dynamic World.</a:t>
            </a:r>
          </a:p>
        </p:txBody>
      </p:sp>
      <p:sp>
        <p:nvSpPr>
          <p:cNvPr id="32" name="Rounded Rectangle 31"/>
          <p:cNvSpPr/>
          <p:nvPr/>
        </p:nvSpPr>
        <p:spPr>
          <a:xfrm>
            <a:off x="9235440" y="6949440"/>
            <a:ext cx="8229600" cy="1371600"/>
          </a:xfrm>
          <a:prstGeom prst="roundRect">
            <a:avLst>
              <a:gd name="adj" fmla="val 8000"/>
            </a:avLst>
          </a:prstGeom>
          <a:solidFill>
            <a:srgbClr val="FDE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300" b="1" i="0">
                <a:solidFill>
                  <a:srgbClr val="14313B"/>
                </a:solidFill>
                <a:latin typeface="Calibri (MS) Bold"/>
              </a:rPr>
              <a:t>Keputusan: kalibrasi Tahap 2 ditolak (pemicu M1)</a:t>
            </a:r>
          </a:p>
          <a:p>
            <a:pPr algn="l">
              <a:spcAft>
                <a:spcPts val="300"/>
              </a:spcAft>
            </a:pPr>
            <a:r>
              <a:rPr sz="1150" b="0" i="0">
                <a:solidFill>
                  <a:srgbClr val="14313B"/>
                </a:solidFill>
                <a:latin typeface="Calibri (MS)"/>
              </a:rPr>
              <a:t>Lahan uji penuh memburuk 32,4% (rasio 1,3241 &gt; 1,05). Laju Konversi Dasar kembali ke 0,0436052.</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4.6.3 (Tabel 52, Gambar 46–47).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63 · Kalibrasi Tahap 3 (1/2): Diagnostik Subsistem Wisatawan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LPE dan LPD tidak memenuhi syarat kalibrasi; yang diukur adalah seberapa besar perubahan yang dituntut data</a:t>
            </a:r>
          </a:p>
        </p:txBody>
      </p:sp>
      <p:graphicFrame>
        <p:nvGraphicFramePr>
          <p:cNvPr id="27" name="Table 26"/>
          <p:cNvGraphicFramePr>
            <a:graphicFrameLocks noGrp="1"/>
          </p:cNvGraphicFramePr>
          <p:nvPr/>
        </p:nvGraphicFramePr>
        <p:xfrm>
          <a:off x="822960" y="1874519"/>
          <a:ext cx="16642080" cy="2103120"/>
        </p:xfrm>
        <a:graphic>
          <a:graphicData uri="http://schemas.openxmlformats.org/drawingml/2006/table">
            <a:tbl>
              <a:tblPr firstRow="1" bandRow="1">
                <a:tableStyleId>{5C22544A-7EE6-4342-B048-85BDC9FD1C3A}</a:tableStyleId>
              </a:tblPr>
              <a:tblGrid>
                <a:gridCol w="1188720"/>
                <a:gridCol w="6949440"/>
                <a:gridCol w="2194560"/>
                <a:gridCol w="3291840"/>
                <a:gridCol w="3017520"/>
              </a:tblGrid>
              <a:tr h="420624">
                <a:tc>
                  <a:txBody>
                    <a:bodyPr wrap="square"/>
                    <a:lstStyle/>
                    <a:p>
                      <a:pPr algn="ctr"/>
                      <a:r>
                        <a:rPr sz="1150" b="1" i="0">
                          <a:solidFill>
                            <a:srgbClr val="FFFFFF"/>
                          </a:solidFill>
                          <a:latin typeface="Calibri (MS) Bold"/>
                        </a:rPr>
                        <a:t>Varian</a:t>
                      </a:r>
                    </a:p>
                  </a:txBody>
                  <a:tcPr marL="73152" marR="73152" marT="36576" marB="36576" anchor="ctr">
                    <a:solidFill>
                      <a:srgbClr val="0B5E6E"/>
                    </a:solidFill>
                  </a:tcPr>
                </a:tc>
                <a:tc>
                  <a:txBody>
                    <a:bodyPr wrap="square"/>
                    <a:lstStyle/>
                    <a:p>
                      <a:r>
                        <a:rPr sz="1150" b="1" i="0">
                          <a:solidFill>
                            <a:srgbClr val="FFFFFF"/>
                          </a:solidFill>
                          <a:latin typeface="Calibri (MS) Bold"/>
                        </a:rPr>
                        <a:t>Definisi</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LPE*</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Laju bersih setara</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Perbaikan</a:t>
                      </a:r>
                    </a:p>
                  </a:txBody>
                  <a:tcPr marL="73152" marR="73152" marT="36576" marB="36576" anchor="ctr">
                    <a:solidFill>
                      <a:srgbClr val="0B5E6E"/>
                    </a:solidFill>
                  </a:tcPr>
                </a:tc>
              </a:tr>
              <a:tr h="420624">
                <a:tc>
                  <a:txBody>
                    <a:bodyPr wrap="square"/>
                    <a:lstStyle/>
                    <a:p>
                      <a:pPr algn="ctr"/>
                      <a:r>
                        <a:rPr sz="1150" b="1" i="0">
                          <a:solidFill>
                            <a:srgbClr val="14313B"/>
                          </a:solidFill>
                          <a:latin typeface="Calibri (MS) Bold"/>
                        </a:rPr>
                        <a:t>D-A</a:t>
                      </a:r>
                    </a:p>
                  </a:txBody>
                  <a:tcPr marL="73152" marR="73152" marT="36576" marB="36576" anchor="ctr">
                    <a:solidFill>
                      <a:srgbClr val="FFFFFF"/>
                    </a:solidFill>
                  </a:tcPr>
                </a:tc>
                <a:tc>
                  <a:txBody>
                    <a:bodyPr wrap="square"/>
                    <a:lstStyle/>
                    <a:p>
                      <a:r>
                        <a:rPr sz="1150" b="0" i="0">
                          <a:solidFill>
                            <a:srgbClr val="14313B"/>
                          </a:solidFill>
                          <a:latin typeface="Calibri (MS)"/>
                        </a:rPr>
                        <a:t>Periode normal 2016–2019</a:t>
                      </a:r>
                    </a:p>
                  </a:txBody>
                  <a:tcPr marL="73152" marR="73152" marT="36576" marB="36576" anchor="ctr">
                    <a:solidFill>
                      <a:srgbClr val="FFFFFF"/>
                    </a:solidFill>
                  </a:tcPr>
                </a:tc>
                <a:tc>
                  <a:txBody>
                    <a:bodyPr wrap="square"/>
                    <a:lstStyle/>
                    <a:p>
                      <a:pPr algn="ctr"/>
                      <a:r>
                        <a:rPr sz="1150" b="0" i="0">
                          <a:solidFill>
                            <a:srgbClr val="14313B"/>
                          </a:solidFill>
                          <a:latin typeface="Calibri (MS)"/>
                        </a:rPr>
                        <a:t>0,440</a:t>
                      </a:r>
                    </a:p>
                  </a:txBody>
                  <a:tcPr marL="73152" marR="73152" marT="36576" marB="36576" anchor="ctr">
                    <a:solidFill>
                      <a:srgbClr val="FFFFFF"/>
                    </a:solidFill>
                  </a:tcPr>
                </a:tc>
                <a:tc>
                  <a:txBody>
                    <a:bodyPr wrap="square"/>
                    <a:lstStyle/>
                    <a:p>
                      <a:pPr algn="ctr"/>
                      <a:r>
                        <a:rPr sz="1150" b="0" i="0">
                          <a:solidFill>
                            <a:srgbClr val="14313B"/>
                          </a:solidFill>
                          <a:latin typeface="Calibri (MS)"/>
                        </a:rPr>
                        <a:t>11,00%/th</a:t>
                      </a:r>
                    </a:p>
                  </a:txBody>
                  <a:tcPr marL="73152" marR="73152" marT="36576" marB="36576" anchor="ctr">
                    <a:solidFill>
                      <a:srgbClr val="FFFFFF"/>
                    </a:solidFill>
                  </a:tcPr>
                </a:tc>
                <a:tc>
                  <a:txBody>
                    <a:bodyPr wrap="square"/>
                    <a:lstStyle/>
                    <a:p>
                      <a:pPr algn="ctr"/>
                      <a:r>
                        <a:rPr sz="1150" b="0" i="0">
                          <a:solidFill>
                            <a:srgbClr val="14313B"/>
                          </a:solidFill>
                          <a:latin typeface="Calibri (MS)"/>
                        </a:rPr>
                        <a:t>50,94%</a:t>
                      </a:r>
                    </a:p>
                  </a:txBody>
                  <a:tcPr marL="73152" marR="73152" marT="36576" marB="36576" anchor="ctr">
                    <a:solidFill>
                      <a:srgbClr val="FFFFFF"/>
                    </a:solidFill>
                  </a:tcPr>
                </a:tc>
              </a:tr>
              <a:tr h="420624">
                <a:tc>
                  <a:txBody>
                    <a:bodyPr wrap="square"/>
                    <a:lstStyle/>
                    <a:p>
                      <a:pPr algn="ctr"/>
                      <a:r>
                        <a:rPr sz="1150" b="1" i="0">
                          <a:solidFill>
                            <a:srgbClr val="14313B"/>
                          </a:solidFill>
                          <a:latin typeface="Calibri (MS) Bold"/>
                        </a:rPr>
                        <a:t>D-B</a:t>
                      </a:r>
                    </a:p>
                  </a:txBody>
                  <a:tcPr marL="73152" marR="73152" marT="36576" marB="36576" anchor="ctr">
                    <a:solidFill>
                      <a:srgbClr val="EAF8FA"/>
                    </a:solidFill>
                  </a:tcPr>
                </a:tc>
                <a:tc>
                  <a:txBody>
                    <a:bodyPr wrap="square"/>
                    <a:lstStyle/>
                    <a:p>
                      <a:r>
                        <a:rPr sz="1150" b="0" i="0">
                          <a:solidFill>
                            <a:srgbClr val="14313B"/>
                          </a:solidFill>
                          <a:latin typeface="Calibri (MS)"/>
                        </a:rPr>
                        <a:t>2016–2019 + 2022–2025</a:t>
                      </a:r>
                    </a:p>
                  </a:txBody>
                  <a:tcPr marL="73152" marR="73152" marT="36576" marB="36576" anchor="ctr">
                    <a:solidFill>
                      <a:srgbClr val="EAF8FA"/>
                    </a:solidFill>
                  </a:tcPr>
                </a:tc>
                <a:tc>
                  <a:txBody>
                    <a:bodyPr wrap="square"/>
                    <a:lstStyle/>
                    <a:p>
                      <a:pPr algn="ctr"/>
                      <a:r>
                        <a:rPr sz="1150" b="0" i="0">
                          <a:solidFill>
                            <a:srgbClr val="14313B"/>
                          </a:solidFill>
                          <a:latin typeface="Calibri (MS)"/>
                        </a:rPr>
                        <a:t>0,490</a:t>
                      </a:r>
                    </a:p>
                  </a:txBody>
                  <a:tcPr marL="73152" marR="73152" marT="36576" marB="36576" anchor="ctr">
                    <a:solidFill>
                      <a:srgbClr val="EAF8FA"/>
                    </a:solidFill>
                  </a:tcPr>
                </a:tc>
                <a:tc>
                  <a:txBody>
                    <a:bodyPr wrap="square"/>
                    <a:lstStyle/>
                    <a:p>
                      <a:pPr algn="ctr"/>
                      <a:r>
                        <a:rPr sz="1150" b="0" i="0">
                          <a:solidFill>
                            <a:srgbClr val="14313B"/>
                          </a:solidFill>
                          <a:latin typeface="Calibri (MS)"/>
                        </a:rPr>
                        <a:t>12,25%/th</a:t>
                      </a:r>
                    </a:p>
                  </a:txBody>
                  <a:tcPr marL="73152" marR="73152" marT="36576" marB="36576" anchor="ctr">
                    <a:solidFill>
                      <a:srgbClr val="EAF8FA"/>
                    </a:solidFill>
                  </a:tcPr>
                </a:tc>
                <a:tc>
                  <a:txBody>
                    <a:bodyPr wrap="square"/>
                    <a:lstStyle/>
                    <a:p>
                      <a:pPr algn="ctr"/>
                      <a:r>
                        <a:rPr sz="1150" b="0" i="0">
                          <a:solidFill>
                            <a:srgbClr val="14313B"/>
                          </a:solidFill>
                          <a:latin typeface="Calibri (MS)"/>
                        </a:rPr>
                        <a:t>78,78%</a:t>
                      </a:r>
                    </a:p>
                  </a:txBody>
                  <a:tcPr marL="73152" marR="73152" marT="36576" marB="36576" anchor="ctr">
                    <a:solidFill>
                      <a:srgbClr val="EAF8FA"/>
                    </a:solidFill>
                  </a:tcPr>
                </a:tc>
              </a:tr>
              <a:tr h="420624">
                <a:tc>
                  <a:txBody>
                    <a:bodyPr wrap="square"/>
                    <a:lstStyle/>
                    <a:p>
                      <a:pPr algn="ctr"/>
                      <a:r>
                        <a:rPr sz="1150" b="1" i="0">
                          <a:solidFill>
                            <a:srgbClr val="14313B"/>
                          </a:solidFill>
                          <a:latin typeface="Calibri (MS) Bold"/>
                        </a:rPr>
                        <a:t>D-C</a:t>
                      </a:r>
                    </a:p>
                  </a:txBody>
                  <a:tcPr marL="73152" marR="73152" marT="36576" marB="36576" anchor="ctr">
                    <a:solidFill>
                      <a:srgbClr val="FFFFFF"/>
                    </a:solidFill>
                  </a:tcPr>
                </a:tc>
                <a:tc>
                  <a:txBody>
                    <a:bodyPr wrap="square"/>
                    <a:lstStyle/>
                    <a:p>
                      <a:r>
                        <a:rPr sz="1150" b="0" i="0">
                          <a:solidFill>
                            <a:srgbClr val="14313B"/>
                          </a:solidFill>
                          <a:latin typeface="Calibri (MS)"/>
                        </a:rPr>
                        <a:t>D-A, faktor sambung 2,22 (batas bawah)</a:t>
                      </a:r>
                    </a:p>
                  </a:txBody>
                  <a:tcPr marL="73152" marR="73152" marT="36576" marB="36576" anchor="ctr">
                    <a:solidFill>
                      <a:srgbClr val="FFFFFF"/>
                    </a:solidFill>
                  </a:tcPr>
                </a:tc>
                <a:tc>
                  <a:txBody>
                    <a:bodyPr wrap="square"/>
                    <a:lstStyle/>
                    <a:p>
                      <a:pPr algn="ctr"/>
                      <a:r>
                        <a:rPr sz="1150" b="0" i="0">
                          <a:solidFill>
                            <a:srgbClr val="14313B"/>
                          </a:solidFill>
                          <a:latin typeface="Calibri (MS)"/>
                        </a:rPr>
                        <a:t>0,410</a:t>
                      </a:r>
                    </a:p>
                  </a:txBody>
                  <a:tcPr marL="73152" marR="73152" marT="36576" marB="36576" anchor="ctr">
                    <a:solidFill>
                      <a:srgbClr val="FFFFFF"/>
                    </a:solidFill>
                  </a:tcPr>
                </a:tc>
                <a:tc>
                  <a:txBody>
                    <a:bodyPr wrap="square"/>
                    <a:lstStyle/>
                    <a:p>
                      <a:pPr algn="ctr"/>
                      <a:r>
                        <a:rPr sz="1150" b="0" i="0">
                          <a:solidFill>
                            <a:srgbClr val="14313B"/>
                          </a:solidFill>
                          <a:latin typeface="Calibri (MS)"/>
                        </a:rPr>
                        <a:t>10,25%/th</a:t>
                      </a:r>
                    </a:p>
                  </a:txBody>
                  <a:tcPr marL="73152" marR="73152" marT="36576" marB="36576" anchor="ctr">
                    <a:solidFill>
                      <a:srgbClr val="FFFFFF"/>
                    </a:solidFill>
                  </a:tcPr>
                </a:tc>
                <a:tc>
                  <a:txBody>
                    <a:bodyPr wrap="square"/>
                    <a:lstStyle/>
                    <a:p>
                      <a:pPr algn="ctr"/>
                      <a:r>
                        <a:rPr sz="1150" b="0" i="0">
                          <a:solidFill>
                            <a:srgbClr val="14313B"/>
                          </a:solidFill>
                          <a:latin typeface="Calibri (MS)"/>
                        </a:rPr>
                        <a:t>29,03%</a:t>
                      </a:r>
                    </a:p>
                  </a:txBody>
                  <a:tcPr marL="73152" marR="73152" marT="36576" marB="36576" anchor="ctr">
                    <a:solidFill>
                      <a:srgbClr val="FFFFFF"/>
                    </a:solidFill>
                  </a:tcPr>
                </a:tc>
              </a:tr>
              <a:tr h="420624">
                <a:tc>
                  <a:txBody>
                    <a:bodyPr wrap="square"/>
                    <a:lstStyle/>
                    <a:p>
                      <a:pPr algn="ctr"/>
                      <a:r>
                        <a:rPr sz="1150" b="1" i="0">
                          <a:solidFill>
                            <a:srgbClr val="14313B"/>
                          </a:solidFill>
                          <a:latin typeface="Calibri (MS) Bold"/>
                        </a:rPr>
                        <a:t>D-C</a:t>
                      </a:r>
                    </a:p>
                  </a:txBody>
                  <a:tcPr marL="73152" marR="73152" marT="36576" marB="36576" anchor="ctr">
                    <a:solidFill>
                      <a:srgbClr val="EAF8FA"/>
                    </a:solidFill>
                  </a:tcPr>
                </a:tc>
                <a:tc>
                  <a:txBody>
                    <a:bodyPr wrap="square"/>
                    <a:lstStyle/>
                    <a:p>
                      <a:r>
                        <a:rPr sz="1150" b="0" i="0">
                          <a:solidFill>
                            <a:srgbClr val="14313B"/>
                          </a:solidFill>
                          <a:latin typeface="Calibri (MS)"/>
                        </a:rPr>
                        <a:t>D-A, faktor sambung 2,38 (batas atas)</a:t>
                      </a:r>
                    </a:p>
                  </a:txBody>
                  <a:tcPr marL="73152" marR="73152" marT="36576" marB="36576" anchor="ctr">
                    <a:solidFill>
                      <a:srgbClr val="EAF8FA"/>
                    </a:solidFill>
                  </a:tcPr>
                </a:tc>
                <a:tc>
                  <a:txBody>
                    <a:bodyPr wrap="square"/>
                    <a:lstStyle/>
                    <a:p>
                      <a:pPr algn="ctr"/>
                      <a:r>
                        <a:rPr sz="1150" b="0" i="0">
                          <a:solidFill>
                            <a:srgbClr val="14313B"/>
                          </a:solidFill>
                          <a:latin typeface="Calibri (MS)"/>
                        </a:rPr>
                        <a:t>0,470</a:t>
                      </a:r>
                    </a:p>
                  </a:txBody>
                  <a:tcPr marL="73152" marR="73152" marT="36576" marB="36576" anchor="ctr">
                    <a:solidFill>
                      <a:srgbClr val="EAF8FA"/>
                    </a:solidFill>
                  </a:tcPr>
                </a:tc>
                <a:tc>
                  <a:txBody>
                    <a:bodyPr wrap="square"/>
                    <a:lstStyle/>
                    <a:p>
                      <a:pPr algn="ctr"/>
                      <a:r>
                        <a:rPr sz="1150" b="0" i="0">
                          <a:solidFill>
                            <a:srgbClr val="14313B"/>
                          </a:solidFill>
                          <a:latin typeface="Calibri (MS)"/>
                        </a:rPr>
                        <a:t>11,75%/th</a:t>
                      </a:r>
                    </a:p>
                  </a:txBody>
                  <a:tcPr marL="73152" marR="73152" marT="36576" marB="36576" anchor="ctr">
                    <a:solidFill>
                      <a:srgbClr val="EAF8FA"/>
                    </a:solidFill>
                  </a:tcPr>
                </a:tc>
                <a:tc>
                  <a:txBody>
                    <a:bodyPr wrap="square"/>
                    <a:lstStyle/>
                    <a:p>
                      <a:pPr algn="ctr"/>
                      <a:r>
                        <a:rPr sz="1150" b="0" i="0">
                          <a:solidFill>
                            <a:srgbClr val="14313B"/>
                          </a:solidFill>
                          <a:latin typeface="Calibri (MS)"/>
                        </a:rPr>
                        <a:t>62,99%</a:t>
                      </a:r>
                    </a:p>
                  </a:txBody>
                  <a:tcPr marL="73152" marR="73152" marT="36576" marB="36576" anchor="ctr">
                    <a:solidFill>
                      <a:srgbClr val="EAF8FA"/>
                    </a:solidFill>
                  </a:tcPr>
                </a:tc>
              </a:tr>
            </a:tbl>
          </a:graphicData>
        </a:graphic>
      </p:graphicFrame>
      <p:pic>
        <p:nvPicPr>
          <p:cNvPr id="28" name="Picture 27" descr="image51.png"/>
          <p:cNvPicPr>
            <a:picLocks noChangeAspect="1"/>
          </p:cNvPicPr>
          <p:nvPr/>
        </p:nvPicPr>
        <p:blipFill>
          <a:blip r:embed="rId7"/>
          <a:stretch>
            <a:fillRect/>
          </a:stretch>
        </p:blipFill>
        <p:spPr>
          <a:xfrm>
            <a:off x="1485899" y="4160520"/>
            <a:ext cx="6858000" cy="3840480"/>
          </a:xfrm>
          <a:prstGeom prst="rect">
            <a:avLst/>
          </a:prstGeom>
          <a:ln w="12700">
            <a:solidFill>
              <a:srgbClr val="CFE5E9"/>
            </a:solidFill>
          </a:ln>
        </p:spPr>
      </p:pic>
      <p:sp>
        <p:nvSpPr>
          <p:cNvPr id="29" name="TextBox 28"/>
          <p:cNvSpPr txBox="1"/>
          <p:nvPr/>
        </p:nvSpPr>
        <p:spPr>
          <a:xfrm>
            <a:off x="822960" y="8019288"/>
            <a:ext cx="8183879"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Profil fungsi tujuan terhadap LPE, varian D-A dan D-B (Buku Gambar 48)</a:t>
            </a:r>
          </a:p>
        </p:txBody>
      </p:sp>
      <p:pic>
        <p:nvPicPr>
          <p:cNvPr id="30" name="Picture 29" descr="image52.png"/>
          <p:cNvPicPr>
            <a:picLocks noChangeAspect="1"/>
          </p:cNvPicPr>
          <p:nvPr/>
        </p:nvPicPr>
        <p:blipFill>
          <a:blip r:embed="rId8"/>
          <a:stretch>
            <a:fillRect/>
          </a:stretch>
        </p:blipFill>
        <p:spPr>
          <a:xfrm>
            <a:off x="9916668" y="4160520"/>
            <a:ext cx="6912864" cy="3840480"/>
          </a:xfrm>
          <a:prstGeom prst="rect">
            <a:avLst/>
          </a:prstGeom>
          <a:ln w="12700">
            <a:solidFill>
              <a:srgbClr val="CFE5E9"/>
            </a:solidFill>
          </a:ln>
        </p:spPr>
      </p:pic>
      <p:sp>
        <p:nvSpPr>
          <p:cNvPr id="31" name="TextBox 30"/>
          <p:cNvSpPr txBox="1"/>
          <p:nvPr/>
        </p:nvSpPr>
        <p:spPr>
          <a:xfrm>
            <a:off x="9281160" y="8019288"/>
            <a:ext cx="8183879"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Punggung keteridentifikasian LPE dan rasio LPD/LPE (Buku Gambar 49)</a:t>
            </a:r>
          </a:p>
        </p:txBody>
      </p:sp>
      <p:sp>
        <p:nvSpPr>
          <p:cNvPr id="32" name="Rounded Rectangle 31"/>
          <p:cNvSpPr/>
          <p:nvPr/>
        </p:nvSpPr>
        <p:spPr>
          <a:xfrm>
            <a:off x="822960" y="83667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Data menuntut LPE 0,410–0,490 (nilai model 0,27726). Namun titik-titik yang sama baiknya membentuk punggung memanjang: LPE 0,26–0,80 berpasangan dengan rasio 0,60–0,86. Data hanya bisa mengenali selisih bersih kedua laju, bukan masing-masing → tidak teridentifikasi (R2).</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4.6.4 (Tabel 53, Gambar 48–49).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64 · Kalibrasi Tahap 3 (2/2): Dua Rezim Pertumbuhan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Kesenjangan tren berasal dari pemulihan pascapandemi 2022–2024 yang berada di luar batas model</a:t>
            </a:r>
          </a:p>
        </p:txBody>
      </p:sp>
      <p:sp>
        <p:nvSpPr>
          <p:cNvPr id="27" name="Rounded Rectangle 26"/>
          <p:cNvSpPr/>
          <p:nvPr/>
        </p:nvSpPr>
        <p:spPr>
          <a:xfrm>
            <a:off x="822960" y="1874519"/>
            <a:ext cx="81381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Pertumbuhan tahunan data dan simulasi (%)</a:t>
            </a:r>
          </a:p>
        </p:txBody>
      </p:sp>
      <p:graphicFrame>
        <p:nvGraphicFramePr>
          <p:cNvPr id="28" name="Chart 27"/>
          <p:cNvGraphicFramePr>
            <a:graphicFrameLocks noGrp="1"/>
          </p:cNvGraphicFramePr>
          <p:nvPr/>
        </p:nvGraphicFramePr>
        <p:xfrm>
          <a:off x="822960" y="2377440"/>
          <a:ext cx="8138160" cy="3931920"/>
        </p:xfrm>
        <a:graphic>
          <a:graphicData uri="http://schemas.openxmlformats.org/drawingml/2006/chart">
            <c:chart xmlns:c="http://schemas.openxmlformats.org/drawingml/2006/chart" r:id="rId7"/>
          </a:graphicData>
        </a:graphic>
      </p:graphicFrame>
      <p:graphicFrame>
        <p:nvGraphicFramePr>
          <p:cNvPr id="29" name="Table 28"/>
          <p:cNvGraphicFramePr>
            <a:graphicFrameLocks noGrp="1"/>
          </p:cNvGraphicFramePr>
          <p:nvPr/>
        </p:nvGraphicFramePr>
        <p:xfrm>
          <a:off x="822960" y="6446520"/>
          <a:ext cx="8138154" cy="1097280"/>
        </p:xfrm>
        <a:graphic>
          <a:graphicData uri="http://schemas.openxmlformats.org/drawingml/2006/table">
            <a:tbl>
              <a:tblPr firstRow="1" bandRow="1">
                <a:tableStyleId>{5C22544A-7EE6-4342-B048-85BDC9FD1C3A}</a:tableStyleId>
              </a:tblPr>
              <a:tblGrid>
                <a:gridCol w="1189254"/>
                <a:gridCol w="772100"/>
                <a:gridCol w="772100"/>
                <a:gridCol w="772100"/>
                <a:gridCol w="772100"/>
                <a:gridCol w="772100"/>
                <a:gridCol w="772100"/>
                <a:gridCol w="772100"/>
                <a:gridCol w="772100"/>
                <a:gridCol w="772100"/>
              </a:tblGrid>
              <a:tr h="365760">
                <a:tc>
                  <a:txBody>
                    <a:bodyPr wrap="square"/>
                    <a:lstStyle/>
                    <a:p>
                      <a:r>
                        <a:rPr sz="95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2017</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2018</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2019</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2021</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2022</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2023</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2024</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2025</a:t>
                      </a:r>
                    </a:p>
                  </a:txBody>
                  <a:tcPr marL="73152" marR="73152" marT="36576" marB="36576" anchor="ctr">
                    <a:solidFill>
                      <a:srgbClr val="0B5E6E"/>
                    </a:solidFill>
                  </a:tcPr>
                </a:tc>
              </a:tr>
              <a:tr h="365760">
                <a:tc>
                  <a:txBody>
                    <a:bodyPr wrap="square"/>
                    <a:lstStyle/>
                    <a:p>
                      <a:r>
                        <a:rPr sz="950" b="1" i="0">
                          <a:solidFill>
                            <a:srgbClr val="14313B"/>
                          </a:solidFill>
                          <a:latin typeface="Calibri (MS) Bold"/>
                        </a:rPr>
                        <a:t>Data</a:t>
                      </a:r>
                    </a:p>
                  </a:txBody>
                  <a:tcPr marL="73152" marR="73152" marT="36576" marB="36576" anchor="ctr">
                    <a:solidFill>
                      <a:srgbClr val="FFFFFF"/>
                    </a:solidFill>
                  </a:tcPr>
                </a:tc>
                <a:tc>
                  <a:txBody>
                    <a:bodyPr wrap="square"/>
                    <a:lstStyle/>
                    <a:p>
                      <a:pPr algn="ctr"/>
                      <a:r>
                        <a:rPr sz="950" b="0" i="0">
                          <a:solidFill>
                            <a:srgbClr val="14313B"/>
                          </a:solidFill>
                          <a:latin typeface="Calibri (MS)"/>
                        </a:rPr>
                        <a:t>1,42%</a:t>
                      </a:r>
                    </a:p>
                  </a:txBody>
                  <a:tcPr marL="73152" marR="73152" marT="36576" marB="36576" anchor="ctr">
                    <a:solidFill>
                      <a:srgbClr val="FFFFFF"/>
                    </a:solidFill>
                  </a:tcPr>
                </a:tc>
                <a:tc>
                  <a:txBody>
                    <a:bodyPr wrap="square"/>
                    <a:lstStyle/>
                    <a:p>
                      <a:pPr algn="ctr"/>
                      <a:r>
                        <a:rPr sz="950" b="0" i="0">
                          <a:solidFill>
                            <a:srgbClr val="14313B"/>
                          </a:solidFill>
                          <a:latin typeface="Calibri (MS)"/>
                        </a:rPr>
                        <a:t>20,36%</a:t>
                      </a:r>
                    </a:p>
                  </a:txBody>
                  <a:tcPr marL="73152" marR="73152" marT="36576" marB="36576" anchor="ctr">
                    <a:solidFill>
                      <a:srgbClr val="FFFFFF"/>
                    </a:solidFill>
                  </a:tcPr>
                </a:tc>
                <a:tc>
                  <a:txBody>
                    <a:bodyPr wrap="square"/>
                    <a:lstStyle/>
                    <a:p>
                      <a:pPr algn="ctr"/>
                      <a:r>
                        <a:rPr sz="950" b="0" i="0">
                          <a:solidFill>
                            <a:srgbClr val="14313B"/>
                          </a:solidFill>
                          <a:latin typeface="Calibri (MS)"/>
                        </a:rPr>
                        <a:t>11,58%</a:t>
                      </a:r>
                    </a:p>
                  </a:txBody>
                  <a:tcPr marL="73152" marR="73152" marT="36576" marB="36576" anchor="ctr">
                    <a:solidFill>
                      <a:srgbClr val="FFFFFF"/>
                    </a:solidFill>
                  </a:tcPr>
                </a:tc>
                <a:tc>
                  <a:txBody>
                    <a:bodyPr wrap="square"/>
                    <a:lstStyle/>
                    <a:p>
                      <a:pPr algn="ctr"/>
                      <a:r>
                        <a:rPr sz="950" b="0" i="0">
                          <a:solidFill>
                            <a:srgbClr val="14313B"/>
                          </a:solidFill>
                          <a:latin typeface="Calibri (MS)"/>
                        </a:rPr>
                        <a:t>−4,43%</a:t>
                      </a:r>
                    </a:p>
                  </a:txBody>
                  <a:tcPr marL="73152" marR="73152" marT="36576" marB="36576" anchor="ctr">
                    <a:solidFill>
                      <a:srgbClr val="FFFFFF"/>
                    </a:solidFill>
                  </a:tcPr>
                </a:tc>
                <a:tc>
                  <a:txBody>
                    <a:bodyPr wrap="square"/>
                    <a:lstStyle/>
                    <a:p>
                      <a:pPr algn="ctr"/>
                      <a:r>
                        <a:rPr sz="950" b="0" i="0">
                          <a:solidFill>
                            <a:srgbClr val="14313B"/>
                          </a:solidFill>
                          <a:latin typeface="Calibri (MS)"/>
                        </a:rPr>
                        <a:t>16,52%</a:t>
                      </a:r>
                    </a:p>
                  </a:txBody>
                  <a:tcPr marL="73152" marR="73152" marT="36576" marB="36576" anchor="ctr">
                    <a:solidFill>
                      <a:srgbClr val="FFFFFF"/>
                    </a:solidFill>
                  </a:tcPr>
                </a:tc>
                <a:tc>
                  <a:txBody>
                    <a:bodyPr wrap="square"/>
                    <a:lstStyle/>
                    <a:p>
                      <a:pPr algn="ctr"/>
                      <a:r>
                        <a:rPr sz="950" b="0" i="0">
                          <a:solidFill>
                            <a:srgbClr val="14313B"/>
                          </a:solidFill>
                          <a:latin typeface="Calibri (MS)"/>
                        </a:rPr>
                        <a:t>12,72%</a:t>
                      </a:r>
                    </a:p>
                  </a:txBody>
                  <a:tcPr marL="73152" marR="73152" marT="36576" marB="36576" anchor="ctr">
                    <a:solidFill>
                      <a:srgbClr val="FFFFFF"/>
                    </a:solidFill>
                  </a:tcPr>
                </a:tc>
                <a:tc>
                  <a:txBody>
                    <a:bodyPr wrap="square"/>
                    <a:lstStyle/>
                    <a:p>
                      <a:pPr algn="ctr"/>
                      <a:r>
                        <a:rPr sz="950" b="0" i="0">
                          <a:solidFill>
                            <a:srgbClr val="14313B"/>
                          </a:solidFill>
                          <a:latin typeface="Calibri (MS)"/>
                        </a:rPr>
                        <a:t>18,59%</a:t>
                      </a:r>
                    </a:p>
                  </a:txBody>
                  <a:tcPr marL="73152" marR="73152" marT="36576" marB="36576" anchor="ctr">
                    <a:solidFill>
                      <a:srgbClr val="FFFFFF"/>
                    </a:solidFill>
                  </a:tcPr>
                </a:tc>
                <a:tc>
                  <a:txBody>
                    <a:bodyPr wrap="square"/>
                    <a:lstStyle/>
                    <a:p>
                      <a:pPr algn="ctr"/>
                      <a:r>
                        <a:rPr sz="950" b="0" i="0">
                          <a:solidFill>
                            <a:srgbClr val="14313B"/>
                          </a:solidFill>
                          <a:latin typeface="Calibri (MS)"/>
                        </a:rPr>
                        <a:t>24,86%</a:t>
                      </a:r>
                    </a:p>
                  </a:txBody>
                  <a:tcPr marL="73152" marR="73152" marT="36576" marB="36576" anchor="ctr">
                    <a:solidFill>
                      <a:srgbClr val="FFFFFF"/>
                    </a:solidFill>
                  </a:tcPr>
                </a:tc>
                <a:tc>
                  <a:txBody>
                    <a:bodyPr wrap="square"/>
                    <a:lstStyle/>
                    <a:p>
                      <a:pPr algn="ctr"/>
                      <a:r>
                        <a:rPr sz="950" b="0" i="0">
                          <a:solidFill>
                            <a:srgbClr val="14313B"/>
                          </a:solidFill>
                          <a:latin typeface="Calibri (MS)"/>
                        </a:rPr>
                        <a:t>6,72%</a:t>
                      </a:r>
                    </a:p>
                  </a:txBody>
                  <a:tcPr marL="73152" marR="73152" marT="36576" marB="36576" anchor="ctr">
                    <a:solidFill>
                      <a:srgbClr val="FFFFFF"/>
                    </a:solidFill>
                  </a:tcPr>
                </a:tc>
              </a:tr>
              <a:tr h="365760">
                <a:tc>
                  <a:txBody>
                    <a:bodyPr wrap="square"/>
                    <a:lstStyle/>
                    <a:p>
                      <a:r>
                        <a:rPr sz="950" b="1" i="0">
                          <a:solidFill>
                            <a:srgbClr val="14313B"/>
                          </a:solidFill>
                          <a:latin typeface="Calibri (MS) Bold"/>
                        </a:rPr>
                        <a:t>Simulasi</a:t>
                      </a:r>
                    </a:p>
                  </a:txBody>
                  <a:tcPr marL="73152" marR="73152" marT="36576" marB="36576" anchor="ctr">
                    <a:solidFill>
                      <a:srgbClr val="EAF8FA"/>
                    </a:solidFill>
                  </a:tcPr>
                </a:tc>
                <a:tc>
                  <a:txBody>
                    <a:bodyPr wrap="square"/>
                    <a:lstStyle/>
                    <a:p>
                      <a:pPr algn="ctr"/>
                      <a:r>
                        <a:rPr sz="950" b="0" i="0">
                          <a:solidFill>
                            <a:srgbClr val="14313B"/>
                          </a:solidFill>
                          <a:latin typeface="Calibri (MS)"/>
                        </a:rPr>
                        <a:t>6,44%</a:t>
                      </a:r>
                    </a:p>
                  </a:txBody>
                  <a:tcPr marL="73152" marR="73152" marT="36576" marB="36576" anchor="ctr">
                    <a:solidFill>
                      <a:srgbClr val="EAF8FA"/>
                    </a:solidFill>
                  </a:tcPr>
                </a:tc>
                <a:tc>
                  <a:txBody>
                    <a:bodyPr wrap="square"/>
                    <a:lstStyle/>
                    <a:p>
                      <a:pPr algn="ctr"/>
                      <a:r>
                        <a:rPr sz="950" b="0" i="0">
                          <a:solidFill>
                            <a:srgbClr val="14313B"/>
                          </a:solidFill>
                          <a:latin typeface="Calibri (MS)"/>
                        </a:rPr>
                        <a:t>6,53%</a:t>
                      </a:r>
                    </a:p>
                  </a:txBody>
                  <a:tcPr marL="73152" marR="73152" marT="36576" marB="36576" anchor="ctr">
                    <a:solidFill>
                      <a:srgbClr val="EAF8FA"/>
                    </a:solidFill>
                  </a:tcPr>
                </a:tc>
                <a:tc>
                  <a:txBody>
                    <a:bodyPr wrap="square"/>
                    <a:lstStyle/>
                    <a:p>
                      <a:pPr algn="ctr"/>
                      <a:r>
                        <a:rPr sz="950" b="0" i="0">
                          <a:solidFill>
                            <a:srgbClr val="14313B"/>
                          </a:solidFill>
                          <a:latin typeface="Calibri (MS)"/>
                        </a:rPr>
                        <a:t>6,47%</a:t>
                      </a:r>
                    </a:p>
                  </a:txBody>
                  <a:tcPr marL="73152" marR="73152" marT="36576" marB="36576" anchor="ctr">
                    <a:solidFill>
                      <a:srgbClr val="EAF8FA"/>
                    </a:solidFill>
                  </a:tcPr>
                </a:tc>
                <a:tc>
                  <a:txBody>
                    <a:bodyPr wrap="square"/>
                    <a:lstStyle/>
                    <a:p>
                      <a:pPr algn="ctr"/>
                      <a:r>
                        <a:rPr sz="950" b="0" i="0">
                          <a:solidFill>
                            <a:srgbClr val="14313B"/>
                          </a:solidFill>
                          <a:latin typeface="Calibri (MS)"/>
                        </a:rPr>
                        <a:t>6,51%</a:t>
                      </a:r>
                    </a:p>
                  </a:txBody>
                  <a:tcPr marL="73152" marR="73152" marT="36576" marB="36576" anchor="ctr">
                    <a:solidFill>
                      <a:srgbClr val="EAF8FA"/>
                    </a:solidFill>
                  </a:tcPr>
                </a:tc>
                <a:tc>
                  <a:txBody>
                    <a:bodyPr wrap="square"/>
                    <a:lstStyle/>
                    <a:p>
                      <a:pPr algn="ctr"/>
                      <a:r>
                        <a:rPr sz="950" b="0" i="0">
                          <a:solidFill>
                            <a:srgbClr val="14313B"/>
                          </a:solidFill>
                          <a:latin typeface="Calibri (MS)"/>
                        </a:rPr>
                        <a:t>6,47%</a:t>
                      </a:r>
                    </a:p>
                  </a:txBody>
                  <a:tcPr marL="73152" marR="73152" marT="36576" marB="36576" anchor="ctr">
                    <a:solidFill>
                      <a:srgbClr val="EAF8FA"/>
                    </a:solidFill>
                  </a:tcPr>
                </a:tc>
                <a:tc>
                  <a:txBody>
                    <a:bodyPr wrap="square"/>
                    <a:lstStyle/>
                    <a:p>
                      <a:pPr algn="ctr"/>
                      <a:r>
                        <a:rPr sz="950" b="0" i="0">
                          <a:solidFill>
                            <a:srgbClr val="14313B"/>
                          </a:solidFill>
                          <a:latin typeface="Calibri (MS)"/>
                        </a:rPr>
                        <a:t>6,26%</a:t>
                      </a:r>
                    </a:p>
                  </a:txBody>
                  <a:tcPr marL="73152" marR="73152" marT="36576" marB="36576" anchor="ctr">
                    <a:solidFill>
                      <a:srgbClr val="EAF8FA"/>
                    </a:solidFill>
                  </a:tcPr>
                </a:tc>
                <a:tc>
                  <a:txBody>
                    <a:bodyPr wrap="square"/>
                    <a:lstStyle/>
                    <a:p>
                      <a:pPr algn="ctr"/>
                      <a:r>
                        <a:rPr sz="950" b="0" i="0">
                          <a:solidFill>
                            <a:srgbClr val="14313B"/>
                          </a:solidFill>
                          <a:latin typeface="Calibri (MS)"/>
                        </a:rPr>
                        <a:t>6,55%</a:t>
                      </a:r>
                    </a:p>
                  </a:txBody>
                  <a:tcPr marL="73152" marR="73152" marT="36576" marB="36576" anchor="ctr">
                    <a:solidFill>
                      <a:srgbClr val="EAF8FA"/>
                    </a:solidFill>
                  </a:tcPr>
                </a:tc>
                <a:tc>
                  <a:txBody>
                    <a:bodyPr wrap="square"/>
                    <a:lstStyle/>
                    <a:p>
                      <a:pPr algn="ctr"/>
                      <a:r>
                        <a:rPr sz="950" b="0" i="0">
                          <a:solidFill>
                            <a:srgbClr val="14313B"/>
                          </a:solidFill>
                          <a:latin typeface="Calibri (MS)"/>
                        </a:rPr>
                        <a:t>6,39%</a:t>
                      </a:r>
                    </a:p>
                  </a:txBody>
                  <a:tcPr marL="73152" marR="73152" marT="36576" marB="36576" anchor="ctr">
                    <a:solidFill>
                      <a:srgbClr val="EAF8FA"/>
                    </a:solidFill>
                  </a:tcPr>
                </a:tc>
                <a:tc>
                  <a:txBody>
                    <a:bodyPr wrap="square"/>
                    <a:lstStyle/>
                    <a:p>
                      <a:pPr algn="ctr"/>
                      <a:r>
                        <a:rPr sz="950" b="0" i="0">
                          <a:solidFill>
                            <a:srgbClr val="14313B"/>
                          </a:solidFill>
                          <a:latin typeface="Calibri (MS)"/>
                        </a:rPr>
                        <a:t>6,72%</a:t>
                      </a:r>
                    </a:p>
                  </a:txBody>
                  <a:tcPr marL="73152" marR="73152" marT="36576" marB="36576" anchor="ctr">
                    <a:solidFill>
                      <a:srgbClr val="EAF8FA"/>
                    </a:solidFill>
                  </a:tcPr>
                </a:tc>
              </a:tr>
            </a:tbl>
          </a:graphicData>
        </a:graphic>
      </p:graphicFrame>
      <p:pic>
        <p:nvPicPr>
          <p:cNvPr id="30" name="Picture 29" descr="image53.png"/>
          <p:cNvPicPr>
            <a:picLocks noChangeAspect="1"/>
          </p:cNvPicPr>
          <p:nvPr/>
        </p:nvPicPr>
        <p:blipFill>
          <a:blip r:embed="rId8"/>
          <a:stretch>
            <a:fillRect/>
          </a:stretch>
        </p:blipFill>
        <p:spPr>
          <a:xfrm>
            <a:off x="9654540" y="1874519"/>
            <a:ext cx="7391399" cy="4434840"/>
          </a:xfrm>
          <a:prstGeom prst="rect">
            <a:avLst/>
          </a:prstGeom>
          <a:ln w="12700">
            <a:solidFill>
              <a:srgbClr val="CFE5E9"/>
            </a:solidFill>
          </a:ln>
        </p:spPr>
      </p:pic>
      <p:sp>
        <p:nvSpPr>
          <p:cNvPr id="31" name="TextBox 30"/>
          <p:cNvSpPr txBox="1"/>
          <p:nvPr/>
        </p:nvSpPr>
        <p:spPr>
          <a:xfrm>
            <a:off x="9235440" y="6327648"/>
            <a:ext cx="822960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Data sambungan vs simulasi LPE 0,27726 dan LPE* D-A 0,440 (Buku Gambar 50)</a:t>
            </a:r>
          </a:p>
        </p:txBody>
      </p:sp>
      <p:sp>
        <p:nvSpPr>
          <p:cNvPr id="32" name="Rounded Rectangle 31"/>
          <p:cNvSpPr/>
          <p:nvPr/>
        </p:nvSpPr>
        <p:spPr>
          <a:xfrm>
            <a:off x="9235440" y="6720840"/>
            <a:ext cx="822960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100" b="0" i="0">
                <a:solidFill>
                  <a:srgbClr val="14313B"/>
                </a:solidFill>
                <a:latin typeface="Calibri (MS)"/>
              </a:rPr>
              <a:t>Model bergerak stabil 6,3–6,7%/th; data melonjak 2022–2024 (puncak 24,86%). </a:t>
            </a:r>
          </a:p>
          <a:p>
            <a:pPr algn="l">
              <a:spcAft>
                <a:spcPts val="300"/>
              </a:spcAft>
            </a:pPr>
            <a:r>
              <a:rPr sz="1100" b="0" i="0">
                <a:solidFill>
                  <a:srgbClr val="14313B"/>
                </a:solidFill>
                <a:latin typeface="Calibri (MS)"/>
              </a:rPr>
              <a:t>Simulasi 2025: 26,5 juta vs data 40,7 juta (±35%). LPE 0,440 cocok untuk 2016–2019 tetapi tertinggal lagi sejak 2022. </a:t>
            </a:r>
          </a:p>
          <a:p>
            <a:pPr algn="l">
              <a:spcAft>
                <a:spcPts val="300"/>
              </a:spcAft>
            </a:pPr>
            <a:r>
              <a:rPr sz="1150" b="1" i="0">
                <a:solidFill>
                  <a:srgbClr val="0B5E6E"/>
                </a:solidFill>
                <a:latin typeface="Calibri (MS) Bold"/>
              </a:rPr>
              <a:t>Keputusan: LPE dan LPD dipertahankan; tidak dikalibrasi.</a:t>
            </a:r>
          </a:p>
        </p:txBody>
      </p:sp>
      <p:sp>
        <p:nvSpPr>
          <p:cNvPr id="33" name="TextBox 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4.6.4 (Tabel 54, Gambar 50). Nasional: perjalanan wisnus 2024 naik 21,61%.</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65 · Ringkasan Kalibrasi Tahap 0–4</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Dari tiga parameter yang benar-benar dikalibrasi, tidak satu pun berubah nilai; hanya koreksi Tahap 0 yang dibawa</a:t>
            </a:r>
          </a:p>
        </p:txBody>
      </p:sp>
      <p:graphicFrame>
        <p:nvGraphicFramePr>
          <p:cNvPr id="27" name="Table 26"/>
          <p:cNvGraphicFramePr>
            <a:graphicFrameLocks noGrp="1"/>
          </p:cNvGraphicFramePr>
          <p:nvPr/>
        </p:nvGraphicFramePr>
        <p:xfrm>
          <a:off x="822960" y="1874519"/>
          <a:ext cx="16642072" cy="4608576"/>
        </p:xfrm>
        <a:graphic>
          <a:graphicData uri="http://schemas.openxmlformats.org/drawingml/2006/table">
            <a:tbl>
              <a:tblPr firstRow="1" bandRow="1">
                <a:tableStyleId>{5C22544A-7EE6-4342-B048-85BDC9FD1C3A}</a:tableStyleId>
              </a:tblPr>
              <a:tblGrid>
                <a:gridCol w="731519"/>
                <a:gridCol w="1463039"/>
                <a:gridCol w="2194559"/>
                <a:gridCol w="2194559"/>
                <a:gridCol w="2011679"/>
                <a:gridCol w="2651759"/>
                <a:gridCol w="2743199"/>
                <a:gridCol w="2651759"/>
              </a:tblGrid>
              <a:tr h="658368">
                <a:tc>
                  <a:txBody>
                    <a:bodyPr wrap="square"/>
                    <a:lstStyle/>
                    <a:p>
                      <a:pPr algn="ctr"/>
                      <a:r>
                        <a:rPr sz="1050" b="1" i="0">
                          <a:solidFill>
                            <a:srgbClr val="FFFFFF"/>
                          </a:solidFill>
                          <a:latin typeface="Calibri (MS) Bold"/>
                        </a:rPr>
                        <a:t>Tahap</a:t>
                      </a:r>
                    </a:p>
                  </a:txBody>
                  <a:tcPr marL="73152" marR="73152" marT="36576" marB="36576" anchor="ctr">
                    <a:solidFill>
                      <a:srgbClr val="0B5E6E"/>
                    </a:solidFill>
                  </a:tcPr>
                </a:tc>
                <a:tc>
                  <a:txBody>
                    <a:bodyPr wrap="square"/>
                    <a:lstStyle/>
                    <a:p>
                      <a:r>
                        <a:rPr sz="1050" b="1" i="0">
                          <a:solidFill>
                            <a:srgbClr val="FFFFFF"/>
                          </a:solidFill>
                          <a:latin typeface="Calibri (MS) Bold"/>
                        </a:rPr>
                        <a:t>Subsistem</a:t>
                      </a:r>
                    </a:p>
                  </a:txBody>
                  <a:tcPr marL="73152" marR="73152" marT="36576" marB="36576" anchor="ctr">
                    <a:solidFill>
                      <a:srgbClr val="0B5E6E"/>
                    </a:solidFill>
                  </a:tcPr>
                </a:tc>
                <a:tc>
                  <a:txBody>
                    <a:bodyPr wrap="square"/>
                    <a:lstStyle/>
                    <a:p>
                      <a:r>
                        <a:rPr sz="1050" b="1" i="0">
                          <a:solidFill>
                            <a:srgbClr val="FFFFFF"/>
                          </a:solidFill>
                          <a:latin typeface="Calibri (MS) Bold"/>
                        </a:rPr>
                        <a:t>Parameter</a:t>
                      </a:r>
                    </a:p>
                  </a:txBody>
                  <a:tcPr marL="73152" marR="73152" marT="36576" marB="36576" anchor="ctr">
                    <a:solidFill>
                      <a:srgbClr val="0B5E6E"/>
                    </a:solidFill>
                  </a:tcPr>
                </a:tc>
                <a:tc>
                  <a:txBody>
                    <a:bodyPr wrap="square"/>
                    <a:lstStyle/>
                    <a:p>
                      <a:r>
                        <a:rPr sz="1050" b="1" i="0">
                          <a:solidFill>
                            <a:srgbClr val="FFFFFF"/>
                          </a:solidFill>
                          <a:latin typeface="Calibri (MS) Bold"/>
                        </a:rPr>
                        <a:t>Rentang</a:t>
                      </a:r>
                    </a:p>
                  </a:txBody>
                  <a:tcPr marL="73152" marR="73152" marT="36576" marB="36576" anchor="ctr">
                    <a:solidFill>
                      <a:srgbClr val="0B5E6E"/>
                    </a:solidFill>
                  </a:tcPr>
                </a:tc>
                <a:tc>
                  <a:txBody>
                    <a:bodyPr wrap="square"/>
                    <a:lstStyle/>
                    <a:p>
                      <a:r>
                        <a:rPr sz="1050" b="1" i="0">
                          <a:solidFill>
                            <a:srgbClr val="FFFFFF"/>
                          </a:solidFill>
                          <a:latin typeface="Calibri (MS) Bold"/>
                        </a:rPr>
                        <a:t>Nilai turunan</a:t>
                      </a:r>
                    </a:p>
                  </a:txBody>
                  <a:tcPr marL="73152" marR="73152" marT="36576" marB="36576" anchor="ctr">
                    <a:solidFill>
                      <a:srgbClr val="0B5E6E"/>
                    </a:solidFill>
                  </a:tcPr>
                </a:tc>
                <a:tc>
                  <a:txBody>
                    <a:bodyPr wrap="square"/>
                    <a:lstStyle/>
                    <a:p>
                      <a:r>
                        <a:rPr sz="1050" b="1" i="0">
                          <a:solidFill>
                            <a:srgbClr val="FFFFFF"/>
                          </a:solidFill>
                          <a:latin typeface="Calibri (MS) Bold"/>
                        </a:rPr>
                        <a:t>Optimum</a:t>
                      </a:r>
                    </a:p>
                  </a:txBody>
                  <a:tcPr marL="73152" marR="73152" marT="36576" marB="36576" anchor="ctr">
                    <a:solidFill>
                      <a:srgbClr val="0B5E6E"/>
                    </a:solidFill>
                  </a:tcPr>
                </a:tc>
                <a:tc>
                  <a:txBody>
                    <a:bodyPr wrap="square"/>
                    <a:lstStyle/>
                    <a:p>
                      <a:r>
                        <a:rPr sz="1050" b="1" i="0">
                          <a:solidFill>
                            <a:srgbClr val="FFFFFF"/>
                          </a:solidFill>
                          <a:latin typeface="Calibri (MS) Bold"/>
                        </a:rPr>
                        <a:t>Alasan</a:t>
                      </a:r>
                    </a:p>
                  </a:txBody>
                  <a:tcPr marL="73152" marR="73152" marT="36576" marB="36576" anchor="ctr">
                    <a:solidFill>
                      <a:srgbClr val="0B5E6E"/>
                    </a:solidFill>
                  </a:tcPr>
                </a:tc>
                <a:tc>
                  <a:txBody>
                    <a:bodyPr wrap="square"/>
                    <a:lstStyle/>
                    <a:p>
                      <a:r>
                        <a:rPr sz="1050" b="1" i="0">
                          <a:solidFill>
                            <a:srgbClr val="FFFFFF"/>
                          </a:solidFill>
                          <a:latin typeface="Calibri (MS) Bold"/>
                        </a:rPr>
                        <a:t>Keputusan final</a:t>
                      </a:r>
                    </a:p>
                  </a:txBody>
                  <a:tcPr marL="73152" marR="73152" marT="36576" marB="36576" anchor="ctr">
                    <a:solidFill>
                      <a:srgbClr val="0B5E6E"/>
                    </a:solidFill>
                  </a:tcPr>
                </a:tc>
              </a:tr>
              <a:tr h="658368">
                <a:tc>
                  <a:txBody>
                    <a:bodyPr wrap="square"/>
                    <a:lstStyle/>
                    <a:p>
                      <a:pPr algn="ctr"/>
                      <a:r>
                        <a:rPr sz="1050" b="1" i="0">
                          <a:solidFill>
                            <a:srgbClr val="14313B"/>
                          </a:solidFill>
                          <a:latin typeface="Calibri (MS) Bold"/>
                        </a:rPr>
                        <a:t>0</a:t>
                      </a:r>
                    </a:p>
                  </a:txBody>
                  <a:tcPr marL="73152" marR="73152" marT="36576" marB="36576" anchor="ctr">
                    <a:solidFill>
                      <a:srgbClr val="FFFFFF"/>
                    </a:solidFill>
                  </a:tcPr>
                </a:tc>
                <a:tc>
                  <a:txBody>
                    <a:bodyPr wrap="square"/>
                    <a:lstStyle/>
                    <a:p>
                      <a:r>
                        <a:rPr sz="1050" b="0" i="0">
                          <a:solidFill>
                            <a:srgbClr val="14313B"/>
                          </a:solidFill>
                          <a:latin typeface="Calibri (MS)"/>
                        </a:rPr>
                        <a:t>Wisatawan</a:t>
                      </a:r>
                    </a:p>
                  </a:txBody>
                  <a:tcPr marL="73152" marR="73152" marT="36576" marB="36576" anchor="ctr">
                    <a:solidFill>
                      <a:srgbClr val="FFFFFF"/>
                    </a:solidFill>
                  </a:tcPr>
                </a:tc>
                <a:tc>
                  <a:txBody>
                    <a:bodyPr wrap="square"/>
                    <a:lstStyle/>
                    <a:p>
                      <a:r>
                        <a:rPr sz="1050" b="0" i="0">
                          <a:solidFill>
                            <a:srgbClr val="14313B"/>
                          </a:solidFill>
                          <a:latin typeface="Calibri (MS)"/>
                        </a:rPr>
                        <a:t>LPE, LPD</a:t>
                      </a:r>
                    </a:p>
                  </a:txBody>
                  <a:tcPr marL="73152" marR="73152" marT="36576" marB="36576" anchor="ctr">
                    <a:solidFill>
                      <a:srgbClr val="FFFFFF"/>
                    </a:solidFill>
                  </a:tcPr>
                </a:tc>
                <a:tc>
                  <a:txBody>
                    <a:bodyPr wrap="square"/>
                    <a:lstStyle/>
                    <a:p>
                      <a:r>
                        <a:rPr sz="1050" b="0" i="0">
                          <a:solidFill>
                            <a:srgbClr val="14313B"/>
                          </a:solidFill>
                          <a:latin typeface="Calibri (MS)"/>
                        </a:rPr>
                        <a:t>Koreksi penurunan</a:t>
                      </a:r>
                    </a:p>
                  </a:txBody>
                  <a:tcPr marL="73152" marR="73152" marT="36576" marB="36576" anchor="ctr">
                    <a:solidFill>
                      <a:srgbClr val="FFFFFF"/>
                    </a:solidFill>
                  </a:tcPr>
                </a:tc>
                <a:tc>
                  <a:txBody>
                    <a:bodyPr wrap="square"/>
                    <a:lstStyle/>
                    <a:p>
                      <a:r>
                        <a:rPr sz="1050" b="0" i="0">
                          <a:solidFill>
                            <a:srgbClr val="14313B"/>
                          </a:solidFill>
                          <a:latin typeface="Calibri (MS)"/>
                        </a:rPr>
                        <a:t>0,26864 / 0,20148¹</a:t>
                      </a:r>
                    </a:p>
                  </a:txBody>
                  <a:tcPr marL="73152" marR="73152" marT="36576" marB="36576" anchor="ctr">
                    <a:solidFill>
                      <a:srgbClr val="FFFFFF"/>
                    </a:solidFill>
                  </a:tcPr>
                </a:tc>
                <a:tc>
                  <a:txBody>
                    <a:bodyPr wrap="square"/>
                    <a:lstStyle/>
                    <a:p>
                      <a:r>
                        <a:rPr sz="1050" b="0" i="0">
                          <a:solidFill>
                            <a:srgbClr val="14313B"/>
                          </a:solidFill>
                          <a:latin typeface="Calibri (MS)"/>
                        </a:rPr>
                        <a:t>0,27726 / 0,207945</a:t>
                      </a:r>
                    </a:p>
                  </a:txBody>
                  <a:tcPr marL="73152" marR="73152" marT="36576" marB="36576" anchor="ctr">
                    <a:solidFill>
                      <a:srgbClr val="FFFFFF"/>
                    </a:solidFill>
                  </a:tcPr>
                </a:tc>
                <a:tc>
                  <a:txBody>
                    <a:bodyPr wrap="square"/>
                    <a:lstStyle/>
                    <a:p>
                      <a:r>
                        <a:rPr sz="1050" b="0" i="0">
                          <a:solidFill>
                            <a:srgbClr val="14313B"/>
                          </a:solidFill>
                          <a:latin typeface="Calibri (MS)"/>
                        </a:rPr>
                        <a:t>Selaraskan dengan Euler</a:t>
                      </a:r>
                    </a:p>
                  </a:txBody>
                  <a:tcPr marL="73152" marR="73152" marT="36576" marB="36576" anchor="ctr">
                    <a:solidFill>
                      <a:srgbClr val="FFFFFF"/>
                    </a:solidFill>
                  </a:tcPr>
                </a:tc>
                <a:tc>
                  <a:txBody>
                    <a:bodyPr wrap="square"/>
                    <a:lstStyle/>
                    <a:p>
                      <a:r>
                        <a:rPr sz="1050" b="0" i="0">
                          <a:solidFill>
                            <a:srgbClr val="14313B"/>
                          </a:solidFill>
                          <a:latin typeface="Calibri (MS)"/>
                        </a:rPr>
                        <a:t>Diperbarui (BASE 2050 +1,6%)</a:t>
                      </a:r>
                    </a:p>
                  </a:txBody>
                  <a:tcPr marL="73152" marR="73152" marT="36576" marB="36576" anchor="ctr">
                    <a:solidFill>
                      <a:srgbClr val="C9F0D6"/>
                    </a:solidFill>
                  </a:tcPr>
                </a:tc>
              </a:tr>
              <a:tr h="658368">
                <a:tc>
                  <a:txBody>
                    <a:bodyPr wrap="square"/>
                    <a:lstStyle/>
                    <a:p>
                      <a:pPr algn="ctr"/>
                      <a:r>
                        <a:rPr sz="1050" b="1" i="0">
                          <a:solidFill>
                            <a:srgbClr val="14313B"/>
                          </a:solidFill>
                          <a:latin typeface="Calibri (MS) Bold"/>
                        </a:rPr>
                        <a:t>1</a:t>
                      </a:r>
                    </a:p>
                  </a:txBody>
                  <a:tcPr marL="73152" marR="73152" marT="36576" marB="36576" anchor="ctr">
                    <a:solidFill>
                      <a:srgbClr val="EAF8FA"/>
                    </a:solidFill>
                  </a:tcPr>
                </a:tc>
                <a:tc>
                  <a:txBody>
                    <a:bodyPr wrap="square"/>
                    <a:lstStyle/>
                    <a:p>
                      <a:r>
                        <a:rPr sz="1050" b="0" i="0">
                          <a:solidFill>
                            <a:srgbClr val="14313B"/>
                          </a:solidFill>
                          <a:latin typeface="Calibri (MS)"/>
                        </a:rPr>
                        <a:t>Akomodasi</a:t>
                      </a:r>
                    </a:p>
                  </a:txBody>
                  <a:tcPr marL="73152" marR="73152" marT="36576" marB="36576" anchor="ctr">
                    <a:solidFill>
                      <a:srgbClr val="EAF8FA"/>
                    </a:solidFill>
                  </a:tcPr>
                </a:tc>
                <a:tc>
                  <a:txBody>
                    <a:bodyPr wrap="square"/>
                    <a:lstStyle/>
                    <a:p>
                      <a:r>
                        <a:rPr sz="1050" b="0" i="0">
                          <a:solidFill>
                            <a:srgbClr val="14313B"/>
                          </a:solidFill>
                          <a:latin typeface="Calibri (MS)"/>
                        </a:rPr>
                        <a:t>TPK Ambang</a:t>
                      </a:r>
                    </a:p>
                  </a:txBody>
                  <a:tcPr marL="73152" marR="73152" marT="36576" marB="36576" anchor="ctr">
                    <a:solidFill>
                      <a:srgbClr val="EAF8FA"/>
                    </a:solidFill>
                  </a:tcPr>
                </a:tc>
                <a:tc>
                  <a:txBody>
                    <a:bodyPr wrap="square"/>
                    <a:lstStyle/>
                    <a:p>
                      <a:r>
                        <a:rPr sz="1050" b="0" i="0">
                          <a:solidFill>
                            <a:srgbClr val="14313B"/>
                          </a:solidFill>
                          <a:latin typeface="Calibri (MS)"/>
                        </a:rPr>
                        <a:t>0,20–0,35</a:t>
                      </a:r>
                    </a:p>
                  </a:txBody>
                  <a:tcPr marL="73152" marR="73152" marT="36576" marB="36576" anchor="ctr">
                    <a:solidFill>
                      <a:srgbClr val="EAF8FA"/>
                    </a:solidFill>
                  </a:tcPr>
                </a:tc>
                <a:tc>
                  <a:txBody>
                    <a:bodyPr wrap="square"/>
                    <a:lstStyle/>
                    <a:p>
                      <a:r>
                        <a:rPr sz="1050" b="0" i="0">
                          <a:solidFill>
                            <a:srgbClr val="14313B"/>
                          </a:solidFill>
                          <a:latin typeface="Calibri (MS)"/>
                        </a:rPr>
                        <a:t>0,275</a:t>
                      </a:r>
                    </a:p>
                  </a:txBody>
                  <a:tcPr marL="73152" marR="73152" marT="36576" marB="36576" anchor="ctr">
                    <a:solidFill>
                      <a:srgbClr val="EAF8FA"/>
                    </a:solidFill>
                  </a:tcPr>
                </a:tc>
                <a:tc>
                  <a:txBody>
                    <a:bodyPr wrap="square"/>
                    <a:lstStyle/>
                    <a:p>
                      <a:r>
                        <a:rPr sz="1050" b="0" i="0">
                          <a:solidFill>
                            <a:srgbClr val="14313B"/>
                          </a:solidFill>
                          <a:latin typeface="Calibri (MS)"/>
                        </a:rPr>
                        <a:t>0,350</a:t>
                      </a:r>
                    </a:p>
                  </a:txBody>
                  <a:tcPr marL="73152" marR="73152" marT="36576" marB="36576" anchor="ctr">
                    <a:solidFill>
                      <a:srgbClr val="EAF8FA"/>
                    </a:solidFill>
                  </a:tcPr>
                </a:tc>
                <a:tc>
                  <a:txBody>
                    <a:bodyPr wrap="square"/>
                    <a:lstStyle/>
                    <a:p>
                      <a:r>
                        <a:rPr sz="1050" b="0" i="0">
                          <a:solidFill>
                            <a:srgbClr val="14313B"/>
                          </a:solidFill>
                          <a:latin typeface="Calibri (MS)"/>
                        </a:rPr>
                        <a:t>Optimum di batas; gagal generalisasi</a:t>
                      </a:r>
                    </a:p>
                  </a:txBody>
                  <a:tcPr marL="73152" marR="73152" marT="36576" marB="36576" anchor="ctr">
                    <a:solidFill>
                      <a:srgbClr val="EAF8FA"/>
                    </a:solidFill>
                  </a:tcPr>
                </a:tc>
                <a:tc>
                  <a:txBody>
                    <a:bodyPr wrap="square"/>
                    <a:lstStyle/>
                    <a:p>
                      <a:r>
                        <a:rPr sz="1050" b="0" i="0">
                          <a:solidFill>
                            <a:srgbClr val="14313B"/>
                          </a:solidFill>
                          <a:latin typeface="Calibri (MS)"/>
                        </a:rPr>
                        <a:t>Dipertahankan 0,275</a:t>
                      </a:r>
                    </a:p>
                  </a:txBody>
                  <a:tcPr marL="73152" marR="73152" marT="36576" marB="36576" anchor="ctr">
                    <a:solidFill>
                      <a:srgbClr val="EAF8FA"/>
                    </a:solidFill>
                  </a:tcPr>
                </a:tc>
              </a:tr>
              <a:tr h="658368">
                <a:tc>
                  <a:txBody>
                    <a:bodyPr wrap="square"/>
                    <a:lstStyle/>
                    <a:p>
                      <a:pPr algn="ctr"/>
                      <a:r>
                        <a:rPr sz="1050" b="1" i="0">
                          <a:solidFill>
                            <a:srgbClr val="14313B"/>
                          </a:solidFill>
                          <a:latin typeface="Calibri (MS) Bold"/>
                        </a:rPr>
                        <a:t>1</a:t>
                      </a:r>
                    </a:p>
                  </a:txBody>
                  <a:tcPr marL="73152" marR="73152" marT="36576" marB="36576" anchor="ctr">
                    <a:solidFill>
                      <a:srgbClr val="FFFFFF"/>
                    </a:solidFill>
                  </a:tcPr>
                </a:tc>
                <a:tc>
                  <a:txBody>
                    <a:bodyPr wrap="square"/>
                    <a:lstStyle/>
                    <a:p>
                      <a:r>
                        <a:rPr sz="1050" b="0" i="0">
                          <a:solidFill>
                            <a:srgbClr val="14313B"/>
                          </a:solidFill>
                          <a:latin typeface="Calibri (MS)"/>
                        </a:rPr>
                        <a:t>Akomodasi</a:t>
                      </a:r>
                    </a:p>
                  </a:txBody>
                  <a:tcPr marL="73152" marR="73152" marT="36576" marB="36576" anchor="ctr">
                    <a:solidFill>
                      <a:srgbClr val="FFFFFF"/>
                    </a:solidFill>
                  </a:tcPr>
                </a:tc>
                <a:tc>
                  <a:txBody>
                    <a:bodyPr wrap="square"/>
                    <a:lstStyle/>
                    <a:p>
                      <a:r>
                        <a:rPr sz="1050" b="0" i="0">
                          <a:solidFill>
                            <a:srgbClr val="14313B"/>
                          </a:solidFill>
                          <a:latin typeface="Calibri (MS)"/>
                        </a:rPr>
                        <a:t>Laju Demolisi Dasar</a:t>
                      </a:r>
                    </a:p>
                  </a:txBody>
                  <a:tcPr marL="73152" marR="73152" marT="36576" marB="36576" anchor="ctr">
                    <a:solidFill>
                      <a:srgbClr val="FFFFFF"/>
                    </a:solidFill>
                  </a:tcPr>
                </a:tc>
                <a:tc>
                  <a:txBody>
                    <a:bodyPr wrap="square"/>
                    <a:lstStyle/>
                    <a:p>
                      <a:r>
                        <a:rPr sz="1050" b="0" i="0">
                          <a:solidFill>
                            <a:srgbClr val="14313B"/>
                          </a:solidFill>
                          <a:latin typeface="Calibri (MS)"/>
                        </a:rPr>
                        <a:t>0,02–0,08</a:t>
                      </a:r>
                    </a:p>
                  </a:txBody>
                  <a:tcPr marL="73152" marR="73152" marT="36576" marB="36576" anchor="ctr">
                    <a:solidFill>
                      <a:srgbClr val="FFFFFF"/>
                    </a:solidFill>
                  </a:tcPr>
                </a:tc>
                <a:tc>
                  <a:txBody>
                    <a:bodyPr wrap="square"/>
                    <a:lstStyle/>
                    <a:p>
                      <a:r>
                        <a:rPr sz="1050" b="0" i="0">
                          <a:solidFill>
                            <a:srgbClr val="14313B"/>
                          </a:solidFill>
                          <a:latin typeface="Calibri (MS)"/>
                        </a:rPr>
                        <a:t>0,05</a:t>
                      </a:r>
                    </a:p>
                  </a:txBody>
                  <a:tcPr marL="73152" marR="73152" marT="36576" marB="36576" anchor="ctr">
                    <a:solidFill>
                      <a:srgbClr val="FFFFFF"/>
                    </a:solidFill>
                  </a:tcPr>
                </a:tc>
                <a:tc>
                  <a:txBody>
                    <a:bodyPr wrap="square"/>
                    <a:lstStyle/>
                    <a:p>
                      <a:r>
                        <a:rPr sz="1050" b="0" i="0">
                          <a:solidFill>
                            <a:srgbClr val="14313B"/>
                          </a:solidFill>
                          <a:latin typeface="Calibri (MS)"/>
                        </a:rPr>
                        <a:t>0,0600</a:t>
                      </a:r>
                    </a:p>
                  </a:txBody>
                  <a:tcPr marL="73152" marR="73152" marT="36576" marB="36576" anchor="ctr">
                    <a:solidFill>
                      <a:srgbClr val="FFFFFF"/>
                    </a:solidFill>
                  </a:tcPr>
                </a:tc>
                <a:tc>
                  <a:txBody>
                    <a:bodyPr wrap="square"/>
                    <a:lstStyle/>
                    <a:p>
                      <a:r>
                        <a:rPr sz="1050" b="0" i="0">
                          <a:solidFill>
                            <a:srgbClr val="14313B"/>
                          </a:solidFill>
                          <a:latin typeface="Calibri (MS)"/>
                        </a:rPr>
                        <a:t>Sama seperti di atas</a:t>
                      </a:r>
                    </a:p>
                  </a:txBody>
                  <a:tcPr marL="73152" marR="73152" marT="36576" marB="36576" anchor="ctr">
                    <a:solidFill>
                      <a:srgbClr val="FFFFFF"/>
                    </a:solidFill>
                  </a:tcPr>
                </a:tc>
                <a:tc>
                  <a:txBody>
                    <a:bodyPr wrap="square"/>
                    <a:lstStyle/>
                    <a:p>
                      <a:r>
                        <a:rPr sz="1050" b="0" i="0">
                          <a:solidFill>
                            <a:srgbClr val="14313B"/>
                          </a:solidFill>
                          <a:latin typeface="Calibri (MS)"/>
                        </a:rPr>
                        <a:t>Dipertahankan 0,05</a:t>
                      </a:r>
                    </a:p>
                  </a:txBody>
                  <a:tcPr marL="73152" marR="73152" marT="36576" marB="36576" anchor="ctr">
                    <a:solidFill>
                      <a:srgbClr val="EAF8FA"/>
                    </a:solidFill>
                  </a:tcPr>
                </a:tc>
              </a:tr>
              <a:tr h="658368">
                <a:tc>
                  <a:txBody>
                    <a:bodyPr wrap="square"/>
                    <a:lstStyle/>
                    <a:p>
                      <a:pPr algn="ctr"/>
                      <a:r>
                        <a:rPr sz="1050" b="1" i="0">
                          <a:solidFill>
                            <a:srgbClr val="14313B"/>
                          </a:solidFill>
                          <a:latin typeface="Calibri (MS) Bold"/>
                        </a:rPr>
                        <a:t>2</a:t>
                      </a:r>
                    </a:p>
                  </a:txBody>
                  <a:tcPr marL="73152" marR="73152" marT="36576" marB="36576" anchor="ctr">
                    <a:solidFill>
                      <a:srgbClr val="EAF8FA"/>
                    </a:solidFill>
                  </a:tcPr>
                </a:tc>
                <a:tc>
                  <a:txBody>
                    <a:bodyPr wrap="square"/>
                    <a:lstStyle/>
                    <a:p>
                      <a:r>
                        <a:rPr sz="1050" b="0" i="0">
                          <a:solidFill>
                            <a:srgbClr val="14313B"/>
                          </a:solidFill>
                          <a:latin typeface="Calibri (MS)"/>
                        </a:rPr>
                        <a:t>Lahan</a:t>
                      </a:r>
                    </a:p>
                  </a:txBody>
                  <a:tcPr marL="73152" marR="73152" marT="36576" marB="36576" anchor="ctr">
                    <a:solidFill>
                      <a:srgbClr val="EAF8FA"/>
                    </a:solidFill>
                  </a:tcPr>
                </a:tc>
                <a:tc>
                  <a:txBody>
                    <a:bodyPr wrap="square"/>
                    <a:lstStyle/>
                    <a:p>
                      <a:r>
                        <a:rPr sz="1050" b="0" i="0">
                          <a:solidFill>
                            <a:srgbClr val="14313B"/>
                          </a:solidFill>
                          <a:latin typeface="Calibri (MS)"/>
                        </a:rPr>
                        <a:t>Laju Konversi Dasar</a:t>
                      </a:r>
                    </a:p>
                  </a:txBody>
                  <a:tcPr marL="73152" marR="73152" marT="36576" marB="36576" anchor="ctr">
                    <a:solidFill>
                      <a:srgbClr val="EAF8FA"/>
                    </a:solidFill>
                  </a:tcPr>
                </a:tc>
                <a:tc>
                  <a:txBody>
                    <a:bodyPr wrap="square"/>
                    <a:lstStyle/>
                    <a:p>
                      <a:r>
                        <a:rPr sz="1050" b="0" i="0">
                          <a:solidFill>
                            <a:srgbClr val="14313B"/>
                          </a:solidFill>
                          <a:latin typeface="Calibri (MS)"/>
                        </a:rPr>
                        <a:t>0,0034–0,0851 (CI 95%)</a:t>
                      </a:r>
                    </a:p>
                  </a:txBody>
                  <a:tcPr marL="73152" marR="73152" marT="36576" marB="36576" anchor="ctr">
                    <a:solidFill>
                      <a:srgbClr val="EAF8FA"/>
                    </a:solidFill>
                  </a:tcPr>
                </a:tc>
                <a:tc>
                  <a:txBody>
                    <a:bodyPr wrap="square"/>
                    <a:lstStyle/>
                    <a:p>
                      <a:r>
                        <a:rPr sz="1050" b="0" i="0">
                          <a:solidFill>
                            <a:srgbClr val="14313B"/>
                          </a:solidFill>
                          <a:latin typeface="Calibri (MS)"/>
                        </a:rPr>
                        <a:t>0,0436052</a:t>
                      </a:r>
                    </a:p>
                  </a:txBody>
                  <a:tcPr marL="73152" marR="73152" marT="36576" marB="36576" anchor="ctr">
                    <a:solidFill>
                      <a:srgbClr val="EAF8FA"/>
                    </a:solidFill>
                  </a:tcPr>
                </a:tc>
                <a:tc>
                  <a:txBody>
                    <a:bodyPr wrap="square"/>
                    <a:lstStyle/>
                    <a:p>
                      <a:r>
                        <a:rPr sz="1050" b="0" i="0">
                          <a:solidFill>
                            <a:srgbClr val="14313B"/>
                          </a:solidFill>
                          <a:latin typeface="Calibri (MS)"/>
                        </a:rPr>
                        <a:t>0,0638662</a:t>
                      </a:r>
                    </a:p>
                  </a:txBody>
                  <a:tcPr marL="73152" marR="73152" marT="36576" marB="36576" anchor="ctr">
                    <a:solidFill>
                      <a:srgbClr val="EAF8FA"/>
                    </a:solidFill>
                  </a:tcPr>
                </a:tc>
                <a:tc>
                  <a:txBody>
                    <a:bodyPr wrap="square"/>
                    <a:lstStyle/>
                    <a:p>
                      <a:r>
                        <a:rPr sz="1050" b="0" i="0">
                          <a:solidFill>
                            <a:srgbClr val="14313B"/>
                          </a:solidFill>
                          <a:latin typeface="Calibri (MS)"/>
                        </a:rPr>
                        <a:t>Awalnya memenuhi R4</a:t>
                      </a:r>
                    </a:p>
                  </a:txBody>
                  <a:tcPr marL="73152" marR="73152" marT="36576" marB="36576" anchor="ctr">
                    <a:solidFill>
                      <a:srgbClr val="EAF8FA"/>
                    </a:solidFill>
                  </a:tcPr>
                </a:tc>
                <a:tc>
                  <a:txBody>
                    <a:bodyPr wrap="square"/>
                    <a:lstStyle/>
                    <a:p>
                      <a:r>
                        <a:rPr sz="1050" b="0" i="0">
                          <a:solidFill>
                            <a:srgbClr val="14313B"/>
                          </a:solidFill>
                          <a:latin typeface="Calibri (MS)"/>
                        </a:rPr>
                        <a:t>Ditolak di Tahap 4</a:t>
                      </a:r>
                    </a:p>
                  </a:txBody>
                  <a:tcPr marL="73152" marR="73152" marT="36576" marB="36576" anchor="ctr">
                    <a:solidFill>
                      <a:srgbClr val="FDE2DE"/>
                    </a:solidFill>
                  </a:tcPr>
                </a:tc>
              </a:tr>
              <a:tr h="658368">
                <a:tc>
                  <a:txBody>
                    <a:bodyPr wrap="square"/>
                    <a:lstStyle/>
                    <a:p>
                      <a:pPr algn="ctr"/>
                      <a:r>
                        <a:rPr sz="1050" b="1" i="0">
                          <a:solidFill>
                            <a:srgbClr val="14313B"/>
                          </a:solidFill>
                          <a:latin typeface="Calibri (MS) Bold"/>
                        </a:rPr>
                        <a:t>3</a:t>
                      </a:r>
                    </a:p>
                  </a:txBody>
                  <a:tcPr marL="73152" marR="73152" marT="36576" marB="36576" anchor="ctr">
                    <a:solidFill>
                      <a:srgbClr val="FFFFFF"/>
                    </a:solidFill>
                  </a:tcPr>
                </a:tc>
                <a:tc>
                  <a:txBody>
                    <a:bodyPr wrap="square"/>
                    <a:lstStyle/>
                    <a:p>
                      <a:r>
                        <a:rPr sz="1050" b="0" i="0">
                          <a:solidFill>
                            <a:srgbClr val="14313B"/>
                          </a:solidFill>
                          <a:latin typeface="Calibri (MS)"/>
                        </a:rPr>
                        <a:t>Wisatawan</a:t>
                      </a:r>
                    </a:p>
                  </a:txBody>
                  <a:tcPr marL="73152" marR="73152" marT="36576" marB="36576" anchor="ctr">
                    <a:solidFill>
                      <a:srgbClr val="FFFFFF"/>
                    </a:solidFill>
                  </a:tcPr>
                </a:tc>
                <a:tc>
                  <a:txBody>
                    <a:bodyPr wrap="square"/>
                    <a:lstStyle/>
                    <a:p>
                      <a:r>
                        <a:rPr sz="1050" b="0" i="0">
                          <a:solidFill>
                            <a:srgbClr val="14313B"/>
                          </a:solidFill>
                          <a:latin typeface="Calibri (MS)"/>
                        </a:rPr>
                        <a:t>LPE, LPD</a:t>
                      </a:r>
                    </a:p>
                  </a:txBody>
                  <a:tcPr marL="73152" marR="73152" marT="36576" marB="36576" anchor="ctr">
                    <a:solidFill>
                      <a:srgbClr val="FFFFFF"/>
                    </a:solidFill>
                  </a:tcPr>
                </a:tc>
                <a:tc>
                  <a:txBody>
                    <a:bodyPr wrap="square"/>
                    <a:lstStyle/>
                    <a:p>
                      <a:r>
                        <a:rPr sz="1050" b="0" i="0">
                          <a:solidFill>
                            <a:srgbClr val="14313B"/>
                          </a:solidFill>
                          <a:latin typeface="Calibri (MS)"/>
                        </a:rPr>
                        <a:t>Diagnostik</a:t>
                      </a:r>
                    </a:p>
                  </a:txBody>
                  <a:tcPr marL="73152" marR="73152" marT="36576" marB="36576" anchor="ctr">
                    <a:solidFill>
                      <a:srgbClr val="FFFFFF"/>
                    </a:solidFill>
                  </a:tcPr>
                </a:tc>
                <a:tc>
                  <a:txBody>
                    <a:bodyPr wrap="square"/>
                    <a:lstStyle/>
                    <a:p>
                      <a:r>
                        <a:rPr sz="1050" b="0" i="0">
                          <a:solidFill>
                            <a:srgbClr val="14313B"/>
                          </a:solidFill>
                          <a:latin typeface="Calibri (MS)"/>
                        </a:rPr>
                        <a:t>0,27726 / 0,207945</a:t>
                      </a:r>
                    </a:p>
                  </a:txBody>
                  <a:tcPr marL="73152" marR="73152" marT="36576" marB="36576" anchor="ctr">
                    <a:solidFill>
                      <a:srgbClr val="FFFFFF"/>
                    </a:solidFill>
                  </a:tcPr>
                </a:tc>
                <a:tc>
                  <a:txBody>
                    <a:bodyPr wrap="square"/>
                    <a:lstStyle/>
                    <a:p>
                      <a:r>
                        <a:rPr sz="1050" b="0" i="0">
                          <a:solidFill>
                            <a:srgbClr val="14313B"/>
                          </a:solidFill>
                          <a:latin typeface="Calibri (MS)"/>
                        </a:rPr>
                        <a:t>Tidak teridentifikasi (punggung 0,26–0,80)</a:t>
                      </a:r>
                    </a:p>
                  </a:txBody>
                  <a:tcPr marL="73152" marR="73152" marT="36576" marB="36576" anchor="ctr">
                    <a:solidFill>
                      <a:srgbClr val="FFFFFF"/>
                    </a:solidFill>
                  </a:tcPr>
                </a:tc>
                <a:tc>
                  <a:txBody>
                    <a:bodyPr wrap="square"/>
                    <a:lstStyle/>
                    <a:p>
                      <a:r>
                        <a:rPr sz="1050" b="0" i="0">
                          <a:solidFill>
                            <a:srgbClr val="14313B"/>
                          </a:solidFill>
                          <a:latin typeface="Calibri (MS)"/>
                        </a:rPr>
                        <a:t>Hanya selisih bersih yang terbaca</a:t>
                      </a:r>
                    </a:p>
                  </a:txBody>
                  <a:tcPr marL="73152" marR="73152" marT="36576" marB="36576" anchor="ctr">
                    <a:solidFill>
                      <a:srgbClr val="FFFFFF"/>
                    </a:solidFill>
                  </a:tcPr>
                </a:tc>
                <a:tc>
                  <a:txBody>
                    <a:bodyPr wrap="square"/>
                    <a:lstStyle/>
                    <a:p>
                      <a:r>
                        <a:rPr sz="1050" b="0" i="0">
                          <a:solidFill>
                            <a:srgbClr val="14313B"/>
                          </a:solidFill>
                          <a:latin typeface="Calibri (MS)"/>
                        </a:rPr>
                        <a:t>Dipertahankan</a:t>
                      </a:r>
                    </a:p>
                  </a:txBody>
                  <a:tcPr marL="73152" marR="73152" marT="36576" marB="36576" anchor="ctr">
                    <a:solidFill>
                      <a:srgbClr val="EAF8FA"/>
                    </a:solidFill>
                  </a:tcPr>
                </a:tc>
              </a:tr>
              <a:tr h="658368">
                <a:tc>
                  <a:txBody>
                    <a:bodyPr wrap="square"/>
                    <a:lstStyle/>
                    <a:p>
                      <a:pPr algn="ctr"/>
                      <a:r>
                        <a:rPr sz="1050" b="1" i="0">
                          <a:solidFill>
                            <a:srgbClr val="14313B"/>
                          </a:solidFill>
                          <a:latin typeface="Calibri (MS) Bold"/>
                        </a:rPr>
                        <a:t>4</a:t>
                      </a:r>
                    </a:p>
                  </a:txBody>
                  <a:tcPr marL="73152" marR="73152" marT="36576" marB="36576" anchor="ctr">
                    <a:solidFill>
                      <a:srgbClr val="EAF8FA"/>
                    </a:solidFill>
                  </a:tcPr>
                </a:tc>
                <a:tc>
                  <a:txBody>
                    <a:bodyPr wrap="square"/>
                    <a:lstStyle/>
                    <a:p>
                      <a:r>
                        <a:rPr sz="1050" b="0" i="0">
                          <a:solidFill>
                            <a:srgbClr val="14313B"/>
                          </a:solidFill>
                          <a:latin typeface="Calibri (MS)"/>
                        </a:rPr>
                        <a:t>Lahan</a:t>
                      </a:r>
                    </a:p>
                  </a:txBody>
                  <a:tcPr marL="73152" marR="73152" marT="36576" marB="36576" anchor="ctr">
                    <a:solidFill>
                      <a:srgbClr val="EAF8FA"/>
                    </a:solidFill>
                  </a:tcPr>
                </a:tc>
                <a:tc>
                  <a:txBody>
                    <a:bodyPr wrap="square"/>
                    <a:lstStyle/>
                    <a:p>
                      <a:r>
                        <a:rPr sz="1050" b="0" i="0">
                          <a:solidFill>
                            <a:srgbClr val="14313B"/>
                          </a:solidFill>
                          <a:latin typeface="Calibri (MS)"/>
                        </a:rPr>
                        <a:t>Konversi hasil Tahap 2</a:t>
                      </a:r>
                    </a:p>
                  </a:txBody>
                  <a:tcPr marL="73152" marR="73152" marT="36576" marB="36576" anchor="ctr">
                    <a:solidFill>
                      <a:srgbClr val="EAF8FA"/>
                    </a:solidFill>
                  </a:tcPr>
                </a:tc>
                <a:tc>
                  <a:txBody>
                    <a:bodyPr wrap="square"/>
                    <a:lstStyle/>
                    <a:p>
                      <a:r>
                        <a:rPr sz="1050" b="0" i="0">
                          <a:solidFill>
                            <a:srgbClr val="14313B"/>
                          </a:solidFill>
                          <a:latin typeface="Calibri (MS)"/>
                        </a:rPr>
                        <a:t>—</a:t>
                      </a:r>
                    </a:p>
                  </a:txBody>
                  <a:tcPr marL="73152" marR="73152" marT="36576" marB="36576" anchor="ctr">
                    <a:solidFill>
                      <a:srgbClr val="EAF8FA"/>
                    </a:solidFill>
                  </a:tcPr>
                </a:tc>
                <a:tc>
                  <a:txBody>
                    <a:bodyPr wrap="square"/>
                    <a:lstStyle/>
                    <a:p>
                      <a:r>
                        <a:rPr sz="1050" b="0" i="0">
                          <a:solidFill>
                            <a:srgbClr val="14313B"/>
                          </a:solidFill>
                          <a:latin typeface="Calibri (MS)"/>
                        </a:rPr>
                        <a:t>v2: 0,0436052</a:t>
                      </a:r>
                    </a:p>
                  </a:txBody>
                  <a:tcPr marL="73152" marR="73152" marT="36576" marB="36576" anchor="ctr">
                    <a:solidFill>
                      <a:srgbClr val="EAF8FA"/>
                    </a:solidFill>
                  </a:tcPr>
                </a:tc>
                <a:tc>
                  <a:txBody>
                    <a:bodyPr wrap="square"/>
                    <a:lstStyle/>
                    <a:p>
                      <a:r>
                        <a:rPr sz="1050" b="0" i="0">
                          <a:solidFill>
                            <a:srgbClr val="14313B"/>
                          </a:solidFill>
                          <a:latin typeface="Calibri (MS)"/>
                        </a:rPr>
                        <a:t>v3: 0,0638662</a:t>
                      </a:r>
                    </a:p>
                  </a:txBody>
                  <a:tcPr marL="73152" marR="73152" marT="36576" marB="36576" anchor="ctr">
                    <a:solidFill>
                      <a:srgbClr val="EAF8FA"/>
                    </a:solidFill>
                  </a:tcPr>
                </a:tc>
                <a:tc>
                  <a:txBody>
                    <a:bodyPr wrap="square"/>
                    <a:lstStyle/>
                    <a:p>
                      <a:r>
                        <a:rPr sz="1050" b="0" i="0">
                          <a:solidFill>
                            <a:srgbClr val="14313B"/>
                          </a:solidFill>
                          <a:latin typeface="Calibri (MS)"/>
                        </a:rPr>
                        <a:t>Lahan uji penuh rasio 1,32 &gt; 1,05</a:t>
                      </a:r>
                    </a:p>
                  </a:txBody>
                  <a:tcPr marL="73152" marR="73152" marT="36576" marB="36576" anchor="ctr">
                    <a:solidFill>
                      <a:srgbClr val="EAF8FA"/>
                    </a:solidFill>
                  </a:tcPr>
                </a:tc>
                <a:tc>
                  <a:txBody>
                    <a:bodyPr wrap="square"/>
                    <a:lstStyle/>
                    <a:p>
                      <a:r>
                        <a:rPr sz="1050" b="0" i="0">
                          <a:solidFill>
                            <a:srgbClr val="14313B"/>
                          </a:solidFill>
                          <a:latin typeface="Calibri (MS)"/>
                        </a:rPr>
                        <a:t>Kembali ke 0,0436052</a:t>
                      </a:r>
                    </a:p>
                  </a:txBody>
                  <a:tcPr marL="73152" marR="73152" marT="36576" marB="36576" anchor="ctr">
                    <a:solidFill>
                      <a:srgbClr val="FDE2DE"/>
                    </a:solidFill>
                  </a:tcPr>
                </a:tc>
              </a:tr>
            </a:tbl>
          </a:graphicData>
        </a:graphic>
      </p:graphicFrame>
      <p:sp>
        <p:nvSpPr>
          <p:cNvPr id="28" name="TextBox 27"/>
          <p:cNvSpPr txBox="1"/>
          <p:nvPr/>
        </p:nvSpPr>
        <p:spPr>
          <a:xfrm>
            <a:off x="822960" y="662940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¹ Nilai sebelum koreksi penurunan.</a:t>
            </a:r>
          </a:p>
        </p:txBody>
      </p:sp>
      <p:sp>
        <p:nvSpPr>
          <p:cNvPr id="29" name="Rounded Rectangle 28"/>
          <p:cNvSpPr/>
          <p:nvPr/>
        </p:nvSpPr>
        <p:spPr>
          <a:xfrm>
            <a:off x="822960" y="7040880"/>
            <a:ext cx="3954780" cy="1188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0B5E6E"/>
                </a:solidFill>
                <a:latin typeface="Calibri (MS) Bold"/>
              </a:rPr>
              <a:t>Tahap 1</a:t>
            </a:r>
          </a:p>
          <a:p>
            <a:pPr algn="ctr">
              <a:spcAft>
                <a:spcPts val="300"/>
              </a:spcAft>
            </a:pPr>
            <a:r>
              <a:rPr sz="1100" b="0" i="0">
                <a:solidFill>
                  <a:srgbClr val="14313B"/>
                </a:solidFill>
                <a:latin typeface="Calibri (MS)"/>
              </a:rPr>
              <a:t>artefak data 2018/2019</a:t>
            </a:r>
          </a:p>
        </p:txBody>
      </p:sp>
      <p:sp>
        <p:nvSpPr>
          <p:cNvPr id="30" name="Right Arrow 29"/>
          <p:cNvSpPr/>
          <p:nvPr/>
        </p:nvSpPr>
        <p:spPr>
          <a:xfrm>
            <a:off x="4796028" y="7516367"/>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052060" y="7040880"/>
            <a:ext cx="3954780" cy="1188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0B5E6E"/>
                </a:solidFill>
                <a:latin typeface="Calibri (MS) Bold"/>
              </a:rPr>
              <a:t>Tahap 2–4</a:t>
            </a:r>
          </a:p>
          <a:p>
            <a:pPr algn="ctr">
              <a:spcAft>
                <a:spcPts val="300"/>
              </a:spcAft>
            </a:pPr>
            <a:r>
              <a:rPr sz="1100" b="0" i="0">
                <a:solidFill>
                  <a:srgbClr val="14313B"/>
                </a:solidFill>
                <a:latin typeface="Calibri (MS)"/>
              </a:rPr>
              <a:t>artefak rancangan uji</a:t>
            </a:r>
          </a:p>
        </p:txBody>
      </p:sp>
      <p:sp>
        <p:nvSpPr>
          <p:cNvPr id="32" name="Right Arrow 31"/>
          <p:cNvSpPr/>
          <p:nvPr/>
        </p:nvSpPr>
        <p:spPr>
          <a:xfrm>
            <a:off x="9025128" y="7516367"/>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60" y="7040880"/>
            <a:ext cx="3954780" cy="1188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0B5E6E"/>
                </a:solidFill>
                <a:latin typeface="Calibri (MS) Bold"/>
              </a:rPr>
              <a:t>Tahap 3</a:t>
            </a:r>
          </a:p>
          <a:p>
            <a:pPr algn="ctr">
              <a:spcAft>
                <a:spcPts val="300"/>
              </a:spcAft>
            </a:pPr>
            <a:r>
              <a:rPr sz="1100" b="0" i="0">
                <a:solidFill>
                  <a:srgbClr val="14313B"/>
                </a:solidFill>
                <a:latin typeface="Calibri (MS)"/>
              </a:rPr>
              <a:t>rezim di luar batas model</a:t>
            </a:r>
          </a:p>
        </p:txBody>
      </p:sp>
      <p:sp>
        <p:nvSpPr>
          <p:cNvPr id="34" name="Right Arrow 33"/>
          <p:cNvSpPr/>
          <p:nvPr/>
        </p:nvSpPr>
        <p:spPr>
          <a:xfrm>
            <a:off x="13254228" y="7516367"/>
            <a:ext cx="237744" cy="237744"/>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3510260" y="7040880"/>
            <a:ext cx="3954780" cy="11887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Calibri (MS) Bold"/>
              </a:rPr>
              <a:t>Hasil</a:t>
            </a:r>
          </a:p>
          <a:p>
            <a:pPr algn="ctr">
              <a:spcAft>
                <a:spcPts val="300"/>
              </a:spcAft>
            </a:pPr>
            <a:r>
              <a:rPr sz="1100" b="0" i="0">
                <a:solidFill>
                  <a:srgbClr val="D7EEF2"/>
                </a:solidFill>
                <a:latin typeface="Calibri (MS)"/>
              </a:rPr>
              <a:t>nilai turunan data sudah layak</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4.6.5 (Tabel 55).</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66 · Analisis Sensitivitas: Rancangan dan Rumus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Dua bagian: ±10% satu per satu (Mai &amp; Smith, 2018) dan rentang penuh untuk parameter asumsi dan tuas kebijakan</a:t>
            </a:r>
          </a:p>
        </p:txBody>
      </p:sp>
      <p:sp>
        <p:nvSpPr>
          <p:cNvPr id="27" name="Rounded Rectangle 26"/>
          <p:cNvSpPr/>
          <p:nvPr/>
        </p:nvSpPr>
        <p:spPr>
          <a:xfrm>
            <a:off x="8229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Bagian A · Perubahan ±10%</a:t>
            </a:r>
          </a:p>
        </p:txBody>
      </p:sp>
      <p:sp>
        <p:nvSpPr>
          <p:cNvPr id="28" name="Oval 27"/>
          <p:cNvSpPr/>
          <p:nvPr/>
        </p:nvSpPr>
        <p:spPr>
          <a:xfrm>
            <a:off x="822960" y="262890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29" name="Rounded Rectangle 28"/>
          <p:cNvSpPr/>
          <p:nvPr/>
        </p:nvSpPr>
        <p:spPr>
          <a:xfrm>
            <a:off x="1417320" y="2423160"/>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Ubah satu parameter</a:t>
            </a:r>
          </a:p>
          <a:p>
            <a:pPr algn="l">
              <a:spcAft>
                <a:spcPts val="300"/>
              </a:spcAft>
            </a:pPr>
            <a:r>
              <a:rPr sz="1100" b="0" i="0">
                <a:solidFill>
                  <a:srgbClr val="14313B"/>
                </a:solidFill>
                <a:latin typeface="Calibri (MS)"/>
              </a:rPr>
              <a:t>32 parameter, masing-masing −10% dan +10% dari nilai dasar; yang lain tetap.</a:t>
            </a:r>
          </a:p>
        </p:txBody>
      </p:sp>
      <p:sp>
        <p:nvSpPr>
          <p:cNvPr id="30" name="Oval 29"/>
          <p:cNvSpPr/>
          <p:nvPr/>
        </p:nvSpPr>
        <p:spPr>
          <a:xfrm>
            <a:off x="822960" y="3607308"/>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1" name="Rounded Rectangle 30"/>
          <p:cNvSpPr/>
          <p:nvPr/>
        </p:nvSpPr>
        <p:spPr>
          <a:xfrm>
            <a:off x="1417320" y="3401568"/>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Hitung perubahan keluaran 2050</a:t>
            </a:r>
          </a:p>
          <a:p>
            <a:pPr algn="l">
              <a:spcAft>
                <a:spcPts val="300"/>
              </a:spcAft>
            </a:pPr>
            <a:r>
              <a:rPr sz="1100" b="0" i="0">
                <a:solidFill>
                  <a:srgbClr val="14313B"/>
                </a:solidFill>
                <a:latin typeface="Calibri (MS)"/>
              </a:rPr>
              <a:t>Untuk enam keluaran: wisatawan, lahan, PDRB, hotel, TK, ODTW.</a:t>
            </a:r>
          </a:p>
        </p:txBody>
      </p:sp>
      <p:sp>
        <p:nvSpPr>
          <p:cNvPr id="32" name="Oval 31"/>
          <p:cNvSpPr/>
          <p:nvPr/>
        </p:nvSpPr>
        <p:spPr>
          <a:xfrm>
            <a:off x="822960" y="4585715"/>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33" name="Rounded Rectangle 32"/>
          <p:cNvSpPr/>
          <p:nvPr/>
        </p:nvSpPr>
        <p:spPr>
          <a:xfrm>
            <a:off x="1417320" y="4379975"/>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Peringkatkan</a:t>
            </a:r>
          </a:p>
          <a:p>
            <a:pPr algn="l">
              <a:spcAft>
                <a:spcPts val="300"/>
              </a:spcAft>
            </a:pPr>
            <a:r>
              <a:rPr sz="1100" b="0" i="0">
                <a:solidFill>
                  <a:srgbClr val="14313B"/>
                </a:solidFill>
                <a:latin typeface="Calibri (MS)"/>
              </a:rPr>
              <a:t>Berdasarkan nilai mutlak terbesar dari kedua arah; disajikan sebagai diagram tornado.</a:t>
            </a:r>
          </a:p>
        </p:txBody>
      </p:sp>
      <p:sp>
        <p:nvSpPr>
          <p:cNvPr id="34" name="Rounded Rectangle 33"/>
          <p:cNvSpPr/>
          <p:nvPr/>
        </p:nvSpPr>
        <p:spPr>
          <a:xfrm>
            <a:off x="822960" y="5440680"/>
            <a:ext cx="8183879"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50" b="0" i="1">
                <a:solidFill>
                  <a:srgbClr val="14313B"/>
                </a:solidFill>
                <a:latin typeface="Calibri (MS)"/>
              </a:rPr>
              <a:t>Perubahan % = (Keluaranₚ − Keluaran_BASE) ÷ Keluaran_BASE × 100%</a:t>
            </a:r>
          </a:p>
        </p:txBody>
      </p:sp>
      <p:sp>
        <p:nvSpPr>
          <p:cNvPr id="35" name="Rounded Rectangle 34"/>
          <p:cNvSpPr/>
          <p:nvPr/>
        </p:nvSpPr>
        <p:spPr>
          <a:xfrm>
            <a:off x="9281160" y="1874519"/>
            <a:ext cx="8183879"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Bagian B · Rentang penuh</a:t>
            </a:r>
          </a:p>
        </p:txBody>
      </p:sp>
      <p:sp>
        <p:nvSpPr>
          <p:cNvPr id="36" name="Oval 35"/>
          <p:cNvSpPr/>
          <p:nvPr/>
        </p:nvSpPr>
        <p:spPr>
          <a:xfrm>
            <a:off x="9281160" y="262890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1</a:t>
            </a:r>
          </a:p>
        </p:txBody>
      </p:sp>
      <p:sp>
        <p:nvSpPr>
          <p:cNvPr id="37" name="Rounded Rectangle 36"/>
          <p:cNvSpPr/>
          <p:nvPr/>
        </p:nvSpPr>
        <p:spPr>
          <a:xfrm>
            <a:off x="9875520" y="2423160"/>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Pilih kelompok</a:t>
            </a:r>
          </a:p>
          <a:p>
            <a:pPr algn="l">
              <a:spcAft>
                <a:spcPts val="300"/>
              </a:spcAft>
            </a:pPr>
            <a:r>
              <a:rPr sz="1100" b="0" i="0">
                <a:solidFill>
                  <a:srgbClr val="14313B"/>
                </a:solidFill>
                <a:latin typeface="Calibri (MS)"/>
              </a:rPr>
              <a:t>17 kelompok: parameter asumsi dan dua tuas kebijakan.</a:t>
            </a:r>
          </a:p>
        </p:txBody>
      </p:sp>
      <p:sp>
        <p:nvSpPr>
          <p:cNvPr id="38" name="Oval 37"/>
          <p:cNvSpPr/>
          <p:nvPr/>
        </p:nvSpPr>
        <p:spPr>
          <a:xfrm>
            <a:off x="9281160" y="3607308"/>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2</a:t>
            </a:r>
          </a:p>
        </p:txBody>
      </p:sp>
      <p:sp>
        <p:nvSpPr>
          <p:cNvPr id="39" name="Rounded Rectangle 38"/>
          <p:cNvSpPr/>
          <p:nvPr/>
        </p:nvSpPr>
        <p:spPr>
          <a:xfrm>
            <a:off x="9875520" y="3401568"/>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Jalankan seluruh titik rentang</a:t>
            </a:r>
          </a:p>
          <a:p>
            <a:pPr algn="l">
              <a:spcAft>
                <a:spcPts val="300"/>
              </a:spcAft>
            </a:pPr>
            <a:r>
              <a:rPr sz="1100" b="0" i="0">
                <a:solidFill>
                  <a:srgbClr val="14313B"/>
                </a:solidFill>
                <a:latin typeface="Calibri (MS)"/>
              </a:rPr>
              <a:t>Rentang sama dengan kalibrasi: triangulasi rujukan atau selang kepercayaan 95%.</a:t>
            </a:r>
          </a:p>
        </p:txBody>
      </p:sp>
      <p:sp>
        <p:nvSpPr>
          <p:cNvPr id="40" name="Oval 39"/>
          <p:cNvSpPr/>
          <p:nvPr/>
        </p:nvSpPr>
        <p:spPr>
          <a:xfrm>
            <a:off x="9281160" y="4585715"/>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Calibri (MS) Bold"/>
              </a:rPr>
              <a:t>3</a:t>
            </a:r>
          </a:p>
        </p:txBody>
      </p:sp>
      <p:sp>
        <p:nvSpPr>
          <p:cNvPr id="41" name="Rounded Rectangle 40"/>
          <p:cNvSpPr/>
          <p:nvPr/>
        </p:nvSpPr>
        <p:spPr>
          <a:xfrm>
            <a:off x="9875520" y="4379975"/>
            <a:ext cx="7589519"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0B5E6E"/>
                </a:solidFill>
                <a:latin typeface="Calibri (MS) Bold"/>
              </a:rPr>
              <a:t>Ukur lebar ketidakpastian</a:t>
            </a:r>
          </a:p>
          <a:p>
            <a:pPr algn="l">
              <a:spcAft>
                <a:spcPts val="300"/>
              </a:spcAft>
            </a:pPr>
            <a:r>
              <a:rPr sz="1100" b="0" i="0">
                <a:solidFill>
                  <a:srgbClr val="14313B"/>
                </a:solidFill>
                <a:latin typeface="Calibri (MS)"/>
              </a:rPr>
              <a:t>Selisih hasil tertinggi dan terendah (poin persen terhadap BASE).</a:t>
            </a:r>
          </a:p>
        </p:txBody>
      </p:sp>
      <p:sp>
        <p:nvSpPr>
          <p:cNvPr id="42" name="Rounded Rectangle 41"/>
          <p:cNvSpPr/>
          <p:nvPr/>
        </p:nvSpPr>
        <p:spPr>
          <a:xfrm>
            <a:off x="9281160" y="5440680"/>
            <a:ext cx="8183879"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50" b="0" i="1">
                <a:solidFill>
                  <a:srgbClr val="14313B"/>
                </a:solidFill>
                <a:latin typeface="Calibri (MS)"/>
              </a:rPr>
              <a:t>Lebar rentang = Keluaran_maks − Keluaran_min</a:t>
            </a:r>
          </a:p>
        </p:txBody>
      </p:sp>
      <p:sp>
        <p:nvSpPr>
          <p:cNvPr id="43" name="Rounded Rectangle 42"/>
          <p:cNvSpPr/>
          <p:nvPr/>
        </p:nvSpPr>
        <p:spPr>
          <a:xfrm>
            <a:off x="822960" y="6492240"/>
            <a:ext cx="1664208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Ketentuan di kedua bagian</a:t>
            </a:r>
          </a:p>
          <a:p>
            <a:pPr algn="l">
              <a:spcAft>
                <a:spcPts val="300"/>
              </a:spcAft>
            </a:pPr>
            <a:r>
              <a:rPr sz="1050" b="1" i="0">
                <a:solidFill>
                  <a:srgbClr val="14313B"/>
                </a:solidFill>
                <a:latin typeface="Calibri (MS) Bold"/>
              </a:rPr>
              <a:t>Pasangan dihitung ulang:  </a:t>
            </a:r>
            <a:r>
              <a:rPr sz="1050" b="0" i="0">
                <a:solidFill>
                  <a:srgbClr val="14313B"/>
                </a:solidFill>
                <a:latin typeface="Calibri (MS)"/>
              </a:rPr>
              <a:t>LPE–LPD (rasio 0,75); TPK Ambang &amp; Demolisi ↔ Sensitivitas Konstruksi; Penutupan ODTW ↔ Sensitivitas ODTW &amp; Pembangunan Non-Investasi; Luas Lahan ↔ Kepadatan Ref. &amp; RDDL Ref.</a:t>
            </a:r>
          </a:p>
          <a:p>
            <a:pPr algn="l">
              <a:spcAft>
                <a:spcPts val="300"/>
              </a:spcAft>
            </a:pPr>
            <a:r>
              <a:rPr sz="1050" b="1" i="0">
                <a:solidFill>
                  <a:srgbClr val="14313B"/>
                </a:solidFill>
                <a:latin typeface="Calibri (MS) Bold"/>
              </a:rPr>
              <a:t>Bobot Daya Tarik dinormalisasi ulang  </a:t>
            </a:r>
            <a:r>
              <a:rPr sz="1050" b="0" i="0">
                <a:solidFill>
                  <a:srgbClr val="14313B"/>
                </a:solidFill>
                <a:latin typeface="Calibri (MS)"/>
              </a:rPr>
              <a:t>agar tetap berjumlah 1; LPE dan LPD diturunkan ulang bila indeks Daya Tarik tahun dasar berubah.</a:t>
            </a:r>
          </a:p>
          <a:p>
            <a:pPr algn="l">
              <a:spcAft>
                <a:spcPts val="300"/>
              </a:spcAft>
            </a:pPr>
            <a:r>
              <a:rPr sz="1050" b="1" i="0">
                <a:solidFill>
                  <a:srgbClr val="14313B"/>
                </a:solidFill>
                <a:latin typeface="Calibri (MS) Bold"/>
              </a:rPr>
              <a:t>Tuas kebijakan tidak diuji di Bagian A  </a:t>
            </a:r>
            <a:r>
              <a:rPr sz="1050" b="0" i="0">
                <a:solidFill>
                  <a:srgbClr val="14313B"/>
                </a:solidFill>
                <a:latin typeface="Calibri (MS)"/>
              </a:rPr>
              <a:t>(nilai dasarnya 0); nilai awal stock diubah lewat kondisi awal, bukan konstanta.</a:t>
            </a:r>
          </a:p>
        </p:txBody>
      </p:sp>
      <p:sp>
        <p:nvSpPr>
          <p:cNvPr id="44" name="TextBox 4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3.7.5.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67 · Hasil Sensitivitas ±10%: Seluruh Parameter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Perubahan keluaran tahun 2050 (%) terhadap simulasi dasar; diurutkan menurut pengaruh pada Jumlah Wisatawan</a:t>
            </a:r>
          </a:p>
        </p:txBody>
      </p:sp>
      <p:graphicFrame>
        <p:nvGraphicFramePr>
          <p:cNvPr id="27" name="Table 26"/>
          <p:cNvGraphicFramePr>
            <a:graphicFrameLocks noGrp="1"/>
          </p:cNvGraphicFramePr>
          <p:nvPr/>
        </p:nvGraphicFramePr>
        <p:xfrm>
          <a:off x="822960" y="1874519"/>
          <a:ext cx="16642076" cy="6217920"/>
        </p:xfrm>
        <a:graphic>
          <a:graphicData uri="http://schemas.openxmlformats.org/drawingml/2006/table">
            <a:tbl>
              <a:tblPr firstRow="1" bandRow="1">
                <a:tableStyleId>{5C22544A-7EE6-4342-B048-85BDC9FD1C3A}</a:tableStyleId>
              </a:tblPr>
              <a:tblGrid>
                <a:gridCol w="548652"/>
                <a:gridCol w="3657680"/>
                <a:gridCol w="1036312"/>
                <a:gridCol w="1036312"/>
                <a:gridCol w="1036312"/>
                <a:gridCol w="1036312"/>
                <a:gridCol w="1036312"/>
                <a:gridCol w="1036312"/>
                <a:gridCol w="1036312"/>
                <a:gridCol w="1036312"/>
                <a:gridCol w="1036312"/>
                <a:gridCol w="1036312"/>
                <a:gridCol w="1036312"/>
                <a:gridCol w="1036312"/>
              </a:tblGrid>
              <a:tr h="365760">
                <a:tc>
                  <a:txBody>
                    <a:bodyPr wrap="square"/>
                    <a:lstStyle/>
                    <a:p>
                      <a:pPr algn="ctr"/>
                      <a:r>
                        <a:rPr sz="950" b="1" i="0">
                          <a:solidFill>
                            <a:srgbClr val="FFFFFF"/>
                          </a:solidFill>
                          <a:latin typeface="Calibri (MS) Bold"/>
                        </a:rPr>
                        <a:t>Rank</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Wisatawan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Lahan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PDRB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Hotel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TK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ODTW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r>
              <a:tr h="365760">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42,07</a:t>
                      </a:r>
                    </a:p>
                  </a:txBody>
                  <a:tcPr marL="73152" marR="73152" marT="36576" marB="36576" anchor="ctr">
                    <a:solidFill>
                      <a:srgbClr val="FDE2DE"/>
                    </a:solidFill>
                  </a:tcPr>
                </a:tc>
                <a:tc>
                  <a:txBody>
                    <a:bodyPr wrap="square"/>
                    <a:lstStyle/>
                    <a:p>
                      <a:pPr algn="ctr"/>
                      <a:r>
                        <a:rPr sz="950" b="0" i="0">
                          <a:solidFill>
                            <a:srgbClr val="14313B"/>
                          </a:solidFill>
                          <a:latin typeface="Calibri (MS)"/>
                        </a:rPr>
                        <a:t>−26,93</a:t>
                      </a:r>
                    </a:p>
                  </a:txBody>
                  <a:tcPr marL="73152" marR="73152" marT="36576" marB="36576" anchor="ctr">
                    <a:solidFill>
                      <a:srgbClr val="FDE2DE"/>
                    </a:solidFill>
                  </a:tcPr>
                </a:tc>
                <a:tc>
                  <a:txBody>
                    <a:bodyPr wrap="square"/>
                    <a:lstStyle/>
                    <a:p>
                      <a:pPr algn="ctr"/>
                      <a:r>
                        <a:rPr sz="950" b="0" i="0">
                          <a:solidFill>
                            <a:srgbClr val="14313B"/>
                          </a:solidFill>
                          <a:latin typeface="Calibri (MS)"/>
                        </a:rPr>
                        <a:t>0,26</a:t>
                      </a:r>
                    </a:p>
                  </a:txBody>
                  <a:tcPr marL="73152" marR="73152" marT="36576" marB="36576" anchor="ctr">
                    <a:solidFill>
                      <a:srgbClr val="FFFFFF"/>
                    </a:solidFill>
                  </a:tcPr>
                </a:tc>
                <a:tc>
                  <a:txBody>
                    <a:bodyPr wrap="square"/>
                    <a:lstStyle/>
                    <a:p>
                      <a:pPr algn="ctr"/>
                      <a:r>
                        <a:rPr sz="950" b="0" i="0">
                          <a:solidFill>
                            <a:srgbClr val="14313B"/>
                          </a:solidFill>
                          <a:latin typeface="Calibri (MS)"/>
                        </a:rPr>
                        <a:t>−0,19</a:t>
                      </a:r>
                    </a:p>
                  </a:txBody>
                  <a:tcPr marL="73152" marR="73152" marT="36576" marB="36576" anchor="ctr">
                    <a:solidFill>
                      <a:srgbClr val="FFFFFF"/>
                    </a:solidFill>
                  </a:tcPr>
                </a:tc>
                <a:tc>
                  <a:txBody>
                    <a:bodyPr wrap="square"/>
                    <a:lstStyle/>
                    <a:p>
                      <a:pPr algn="ctr"/>
                      <a:r>
                        <a:rPr sz="950" b="0" i="0">
                          <a:solidFill>
                            <a:srgbClr val="14313B"/>
                          </a:solidFill>
                          <a:latin typeface="Calibri (MS)"/>
                        </a:rPr>
                        <a:t>42,07</a:t>
                      </a:r>
                    </a:p>
                  </a:txBody>
                  <a:tcPr marL="73152" marR="73152" marT="36576" marB="36576" anchor="ctr">
                    <a:solidFill>
                      <a:srgbClr val="FDE2DE"/>
                    </a:solidFill>
                  </a:tcPr>
                </a:tc>
                <a:tc>
                  <a:txBody>
                    <a:bodyPr wrap="square"/>
                    <a:lstStyle/>
                    <a:p>
                      <a:pPr algn="ctr"/>
                      <a:r>
                        <a:rPr sz="950" b="0" i="0">
                          <a:solidFill>
                            <a:srgbClr val="14313B"/>
                          </a:solidFill>
                          <a:latin typeface="Calibri (MS)"/>
                        </a:rPr>
                        <a:t>−26,93</a:t>
                      </a:r>
                    </a:p>
                  </a:txBody>
                  <a:tcPr marL="73152" marR="73152" marT="36576" marB="36576" anchor="ctr">
                    <a:solidFill>
                      <a:srgbClr val="FDE2DE"/>
                    </a:solidFill>
                  </a:tcPr>
                </a:tc>
                <a:tc>
                  <a:txBody>
                    <a:bodyPr wrap="square"/>
                    <a:lstStyle/>
                    <a:p>
                      <a:pPr algn="ctr"/>
                      <a:r>
                        <a:rPr sz="950" b="0" i="0">
                          <a:solidFill>
                            <a:srgbClr val="14313B"/>
                          </a:solidFill>
                          <a:latin typeface="Calibri (MS)"/>
                        </a:rPr>
                        <a:t>37,00</a:t>
                      </a:r>
                    </a:p>
                  </a:txBody>
                  <a:tcPr marL="73152" marR="73152" marT="36576" marB="36576" anchor="ctr">
                    <a:solidFill>
                      <a:srgbClr val="FDE2DE"/>
                    </a:solidFill>
                  </a:tcPr>
                </a:tc>
                <a:tc>
                  <a:txBody>
                    <a:bodyPr wrap="square"/>
                    <a:lstStyle/>
                    <a:p>
                      <a:pPr algn="ctr"/>
                      <a:r>
                        <a:rPr sz="950" b="0" i="0">
                          <a:solidFill>
                            <a:srgbClr val="14313B"/>
                          </a:solidFill>
                          <a:latin typeface="Calibri (MS)"/>
                        </a:rPr>
                        <a:t>−24,73</a:t>
                      </a:r>
                    </a:p>
                  </a:txBody>
                  <a:tcPr marL="73152" marR="73152" marT="36576" marB="36576" anchor="ctr">
                    <a:solidFill>
                      <a:srgbClr val="FDE2DE"/>
                    </a:solidFill>
                  </a:tcPr>
                </a:tc>
                <a:tc>
                  <a:txBody>
                    <a:bodyPr wrap="square"/>
                    <a:lstStyle/>
                    <a:p>
                      <a:pPr algn="ctr"/>
                      <a:r>
                        <a:rPr sz="950" b="0" i="0">
                          <a:solidFill>
                            <a:srgbClr val="14313B"/>
                          </a:solidFill>
                          <a:latin typeface="Calibri (MS)"/>
                        </a:rPr>
                        <a:t>40,07</a:t>
                      </a:r>
                    </a:p>
                  </a:txBody>
                  <a:tcPr marL="73152" marR="73152" marT="36576" marB="36576" anchor="ctr">
                    <a:solidFill>
                      <a:srgbClr val="FDE2DE"/>
                    </a:solidFill>
                  </a:tcPr>
                </a:tc>
                <a:tc>
                  <a:txBody>
                    <a:bodyPr wrap="square"/>
                    <a:lstStyle/>
                    <a:p>
                      <a:pPr algn="ctr"/>
                      <a:r>
                        <a:rPr sz="950" b="0" i="0">
                          <a:solidFill>
                            <a:srgbClr val="14313B"/>
                          </a:solidFill>
                          <a:latin typeface="Calibri (MS)"/>
                        </a:rPr>
                        <a:t>−26,16</a:t>
                      </a:r>
                    </a:p>
                  </a:txBody>
                  <a:tcPr marL="73152" marR="73152" marT="36576" marB="36576" anchor="ctr">
                    <a:solidFill>
                      <a:srgbClr val="FDE2DE"/>
                    </a:solidFill>
                  </a:tcPr>
                </a:tc>
                <a:tc>
                  <a:txBody>
                    <a:bodyPr wrap="square"/>
                    <a:lstStyle/>
                    <a:p>
                      <a:pPr algn="ctr"/>
                      <a:r>
                        <a:rPr sz="950" b="0" i="0">
                          <a:solidFill>
                            <a:srgbClr val="14313B"/>
                          </a:solidFill>
                          <a:latin typeface="Calibri (MS)"/>
                        </a:rPr>
                        <a:t>16,65</a:t>
                      </a:r>
                    </a:p>
                  </a:txBody>
                  <a:tcPr marL="73152" marR="73152" marT="36576" marB="36576" anchor="ctr">
                    <a:solidFill>
                      <a:srgbClr val="FDE2DE"/>
                    </a:solidFill>
                  </a:tcPr>
                </a:tc>
                <a:tc>
                  <a:txBody>
                    <a:bodyPr wrap="square"/>
                    <a:lstStyle/>
                    <a:p>
                      <a:pPr algn="ctr"/>
                      <a:r>
                        <a:rPr sz="950" b="0" i="0">
                          <a:solidFill>
                            <a:srgbClr val="14313B"/>
                          </a:solidFill>
                          <a:latin typeface="Calibri (MS)"/>
                        </a:rPr>
                        <a:t>−12,09</a:t>
                      </a:r>
                    </a:p>
                  </a:txBody>
                  <a:tcPr marL="73152" marR="73152" marT="36576" marB="36576" anchor="ctr">
                    <a:solidFill>
                      <a:srgbClr val="FDE2DE"/>
                    </a:solidFill>
                  </a:tcPr>
                </a:tc>
              </a:tr>
              <a:tr h="365760">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Kepadatan Referensi</a:t>
                      </a:r>
                    </a:p>
                  </a:txBody>
                  <a:tcPr marL="73152" marR="73152" marT="36576" marB="36576" anchor="ctr">
                    <a:solidFill>
                      <a:srgbClr val="EAF8FA"/>
                    </a:solidFill>
                  </a:tcPr>
                </a:tc>
                <a:tc>
                  <a:txBody>
                    <a:bodyPr wrap="square"/>
                    <a:lstStyle/>
                    <a:p>
                      <a:pPr algn="ctr"/>
                      <a:r>
                        <a:rPr sz="950" b="0" i="0">
                          <a:solidFill>
                            <a:srgbClr val="14313B"/>
                          </a:solidFill>
                          <a:latin typeface="Calibri (MS)"/>
                        </a:rPr>
                        <a:t>−6,40</a:t>
                      </a:r>
                    </a:p>
                  </a:txBody>
                  <a:tcPr marL="73152" marR="73152" marT="36576" marB="36576" anchor="ctr">
                    <a:solidFill>
                      <a:srgbClr val="FFF1BF"/>
                    </a:solidFill>
                  </a:tcPr>
                </a:tc>
                <a:tc>
                  <a:txBody>
                    <a:bodyPr wrap="square"/>
                    <a:lstStyle/>
                    <a:p>
                      <a:pPr algn="ctr"/>
                      <a:r>
                        <a:rPr sz="950" b="0" i="0">
                          <a:solidFill>
                            <a:srgbClr val="14313B"/>
                          </a:solidFill>
                          <a:latin typeface="Calibri (MS)"/>
                        </a:rPr>
                        <a:t>8,61</a:t>
                      </a:r>
                    </a:p>
                  </a:txBody>
                  <a:tcPr marL="73152" marR="73152" marT="36576" marB="36576" anchor="ctr">
                    <a:solidFill>
                      <a:srgbClr val="FFF1BF"/>
                    </a:solidFill>
                  </a:tcPr>
                </a:tc>
                <a:tc>
                  <a:txBody>
                    <a:bodyPr wrap="square"/>
                    <a:lstStyle/>
                    <a:p>
                      <a:pPr algn="ctr"/>
                      <a:r>
                        <a:rPr sz="950" b="0" i="0">
                          <a:solidFill>
                            <a:srgbClr val="14313B"/>
                          </a:solidFill>
                          <a:latin typeface="Calibri (MS)"/>
                        </a:rPr>
                        <a:t>−0,05</a:t>
                      </a:r>
                    </a:p>
                  </a:txBody>
                  <a:tcPr marL="73152" marR="73152" marT="36576" marB="36576" anchor="ctr">
                    <a:solidFill>
                      <a:srgbClr val="EAF8FA"/>
                    </a:solidFill>
                  </a:tcPr>
                </a:tc>
                <a:tc>
                  <a:txBody>
                    <a:bodyPr wrap="square"/>
                    <a:lstStyle/>
                    <a:p>
                      <a:pPr algn="ctr"/>
                      <a:r>
                        <a:rPr sz="950" b="0" i="0">
                          <a:solidFill>
                            <a:srgbClr val="14313B"/>
                          </a:solidFill>
                          <a:latin typeface="Calibri (MS)"/>
                        </a:rPr>
                        <a:t>0,06</a:t>
                      </a:r>
                    </a:p>
                  </a:txBody>
                  <a:tcPr marL="73152" marR="73152" marT="36576" marB="36576" anchor="ctr">
                    <a:solidFill>
                      <a:srgbClr val="EAF8FA"/>
                    </a:solidFill>
                  </a:tcPr>
                </a:tc>
                <a:tc>
                  <a:txBody>
                    <a:bodyPr wrap="square"/>
                    <a:lstStyle/>
                    <a:p>
                      <a:pPr algn="ctr"/>
                      <a:r>
                        <a:rPr sz="950" b="0" i="0">
                          <a:solidFill>
                            <a:srgbClr val="14313B"/>
                          </a:solidFill>
                          <a:latin typeface="Calibri (MS)"/>
                        </a:rPr>
                        <a:t>−6,40</a:t>
                      </a:r>
                    </a:p>
                  </a:txBody>
                  <a:tcPr marL="73152" marR="73152" marT="36576" marB="36576" anchor="ctr">
                    <a:solidFill>
                      <a:srgbClr val="FFF1BF"/>
                    </a:solidFill>
                  </a:tcPr>
                </a:tc>
                <a:tc>
                  <a:txBody>
                    <a:bodyPr wrap="square"/>
                    <a:lstStyle/>
                    <a:p>
                      <a:pPr algn="ctr"/>
                      <a:r>
                        <a:rPr sz="950" b="0" i="0">
                          <a:solidFill>
                            <a:srgbClr val="14313B"/>
                          </a:solidFill>
                          <a:latin typeface="Calibri (MS)"/>
                        </a:rPr>
                        <a:t>8,61</a:t>
                      </a:r>
                    </a:p>
                  </a:txBody>
                  <a:tcPr marL="73152" marR="73152" marT="36576" marB="36576" anchor="ctr">
                    <a:solidFill>
                      <a:srgbClr val="FFF1BF"/>
                    </a:solidFill>
                  </a:tcPr>
                </a:tc>
                <a:tc>
                  <a:txBody>
                    <a:bodyPr wrap="square"/>
                    <a:lstStyle/>
                    <a:p>
                      <a:pPr algn="ctr"/>
                      <a:r>
                        <a:rPr sz="950" b="0" i="0">
                          <a:solidFill>
                            <a:srgbClr val="14313B"/>
                          </a:solidFill>
                          <a:latin typeface="Calibri (MS)"/>
                        </a:rPr>
                        <a:t>−5,93</a:t>
                      </a:r>
                    </a:p>
                  </a:txBody>
                  <a:tcPr marL="73152" marR="73152" marT="36576" marB="36576" anchor="ctr">
                    <a:solidFill>
                      <a:srgbClr val="FFF1BF"/>
                    </a:solidFill>
                  </a:tcPr>
                </a:tc>
                <a:tc>
                  <a:txBody>
                    <a:bodyPr wrap="square"/>
                    <a:lstStyle/>
                    <a:p>
                      <a:pPr algn="ctr"/>
                      <a:r>
                        <a:rPr sz="950" b="0" i="0">
                          <a:solidFill>
                            <a:srgbClr val="14313B"/>
                          </a:solidFill>
                          <a:latin typeface="Calibri (MS)"/>
                        </a:rPr>
                        <a:t>8,00</a:t>
                      </a:r>
                    </a:p>
                  </a:txBody>
                  <a:tcPr marL="73152" marR="73152" marT="36576" marB="36576" anchor="ctr">
                    <a:solidFill>
                      <a:srgbClr val="FFF1BF"/>
                    </a:solidFill>
                  </a:tcPr>
                </a:tc>
                <a:tc>
                  <a:txBody>
                    <a:bodyPr wrap="square"/>
                    <a:lstStyle/>
                    <a:p>
                      <a:pPr algn="ctr"/>
                      <a:r>
                        <a:rPr sz="950" b="0" i="0">
                          <a:solidFill>
                            <a:srgbClr val="14313B"/>
                          </a:solidFill>
                          <a:latin typeface="Calibri (MS)"/>
                        </a:rPr>
                        <a:t>−6,23</a:t>
                      </a:r>
                    </a:p>
                  </a:txBody>
                  <a:tcPr marL="73152" marR="73152" marT="36576" marB="36576" anchor="ctr">
                    <a:solidFill>
                      <a:srgbClr val="FFF1BF"/>
                    </a:solidFill>
                  </a:tcPr>
                </a:tc>
                <a:tc>
                  <a:txBody>
                    <a:bodyPr wrap="square"/>
                    <a:lstStyle/>
                    <a:p>
                      <a:pPr algn="ctr"/>
                      <a:r>
                        <a:rPr sz="950" b="0" i="0">
                          <a:solidFill>
                            <a:srgbClr val="14313B"/>
                          </a:solidFill>
                          <a:latin typeface="Calibri (MS)"/>
                        </a:rPr>
                        <a:t>8,38</a:t>
                      </a:r>
                    </a:p>
                  </a:txBody>
                  <a:tcPr marL="73152" marR="73152" marT="36576" marB="36576" anchor="ctr">
                    <a:solidFill>
                      <a:srgbClr val="FFF1BF"/>
                    </a:solidFill>
                  </a:tcPr>
                </a:tc>
                <a:tc>
                  <a:txBody>
                    <a:bodyPr wrap="square"/>
                    <a:lstStyle/>
                    <a:p>
                      <a:pPr algn="ctr"/>
                      <a:r>
                        <a:rPr sz="950" b="0" i="0">
                          <a:solidFill>
                            <a:srgbClr val="14313B"/>
                          </a:solidFill>
                          <a:latin typeface="Calibri (MS)"/>
                        </a:rPr>
                        <a:t>−2,97</a:t>
                      </a:r>
                    </a:p>
                  </a:txBody>
                  <a:tcPr marL="73152" marR="73152" marT="36576" marB="36576" anchor="ctr">
                    <a:solidFill>
                      <a:srgbClr val="EAF8FA"/>
                    </a:solidFill>
                  </a:tcPr>
                </a:tc>
                <a:tc>
                  <a:txBody>
                    <a:bodyPr wrap="square"/>
                    <a:lstStyle/>
                    <a:p>
                      <a:pPr algn="ctr"/>
                      <a:r>
                        <a:rPr sz="950" b="0" i="0">
                          <a:solidFill>
                            <a:srgbClr val="14313B"/>
                          </a:solidFill>
                          <a:latin typeface="Calibri (MS)"/>
                        </a:rPr>
                        <a:t>3,95</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Bobot Kepadatan</a:t>
                      </a:r>
                    </a:p>
                  </a:txBody>
                  <a:tcPr marL="73152" marR="73152" marT="36576" marB="36576" anchor="ctr">
                    <a:solidFill>
                      <a:srgbClr val="FFFFFF"/>
                    </a:solidFill>
                  </a:tcPr>
                </a:tc>
                <a:tc>
                  <a:txBody>
                    <a:bodyPr wrap="square"/>
                    <a:lstStyle/>
                    <a:p>
                      <a:pPr algn="ctr"/>
                      <a:r>
                        <a:rPr sz="950" b="0" i="0">
                          <a:solidFill>
                            <a:srgbClr val="14313B"/>
                          </a:solidFill>
                          <a:latin typeface="Calibri (MS)"/>
                        </a:rPr>
                        <a:t>7,49</a:t>
                      </a:r>
                    </a:p>
                  </a:txBody>
                  <a:tcPr marL="73152" marR="73152" marT="36576" marB="36576" anchor="ctr">
                    <a:solidFill>
                      <a:srgbClr val="FFF1BF"/>
                    </a:solidFill>
                  </a:tcPr>
                </a:tc>
                <a:tc>
                  <a:txBody>
                    <a:bodyPr wrap="square"/>
                    <a:lstStyle/>
                    <a:p>
                      <a:pPr algn="ctr"/>
                      <a:r>
                        <a:rPr sz="950" b="0" i="0">
                          <a:solidFill>
                            <a:srgbClr val="14313B"/>
                          </a:solidFill>
                          <a:latin typeface="Calibri (MS)"/>
                        </a:rPr>
                        <a:t>−6,34</a:t>
                      </a:r>
                    </a:p>
                  </a:txBody>
                  <a:tcPr marL="73152" marR="73152" marT="36576" marB="36576" anchor="ctr">
                    <a:solidFill>
                      <a:srgbClr val="FFF1BF"/>
                    </a:solidFill>
                  </a:tcPr>
                </a:tc>
                <a:tc>
                  <a:txBody>
                    <a:bodyPr wrap="square"/>
                    <a:lstStyle/>
                    <a:p>
                      <a:pPr algn="ctr"/>
                      <a:r>
                        <a:rPr sz="950" b="0" i="0">
                          <a:solidFill>
                            <a:srgbClr val="14313B"/>
                          </a:solidFill>
                          <a:latin typeface="Calibri (MS)"/>
                        </a:rPr>
                        <a:t>0,04</a:t>
                      </a:r>
                    </a:p>
                  </a:txBody>
                  <a:tcPr marL="73152" marR="73152" marT="36576" marB="36576" anchor="ctr">
                    <a:solidFill>
                      <a:srgbClr val="FFFFFF"/>
                    </a:solidFill>
                  </a:tcPr>
                </a:tc>
                <a:tc>
                  <a:txBody>
                    <a:bodyPr wrap="square"/>
                    <a:lstStyle/>
                    <a:p>
                      <a:pPr algn="ctr"/>
                      <a:r>
                        <a:rPr sz="950" b="0" i="0">
                          <a:solidFill>
                            <a:srgbClr val="14313B"/>
                          </a:solidFill>
                          <a:latin typeface="Calibri (MS)"/>
                        </a:rPr>
                        <a:t>−0,03</a:t>
                      </a:r>
                    </a:p>
                  </a:txBody>
                  <a:tcPr marL="73152" marR="73152" marT="36576" marB="36576" anchor="ctr">
                    <a:solidFill>
                      <a:srgbClr val="FFFFFF"/>
                    </a:solidFill>
                  </a:tcPr>
                </a:tc>
                <a:tc>
                  <a:txBody>
                    <a:bodyPr wrap="square"/>
                    <a:lstStyle/>
                    <a:p>
                      <a:pPr algn="ctr"/>
                      <a:r>
                        <a:rPr sz="950" b="0" i="0">
                          <a:solidFill>
                            <a:srgbClr val="14313B"/>
                          </a:solidFill>
                          <a:latin typeface="Calibri (MS)"/>
                        </a:rPr>
                        <a:t>7,49</a:t>
                      </a:r>
                    </a:p>
                  </a:txBody>
                  <a:tcPr marL="73152" marR="73152" marT="36576" marB="36576" anchor="ctr">
                    <a:solidFill>
                      <a:srgbClr val="FFF1BF"/>
                    </a:solidFill>
                  </a:tcPr>
                </a:tc>
                <a:tc>
                  <a:txBody>
                    <a:bodyPr wrap="square"/>
                    <a:lstStyle/>
                    <a:p>
                      <a:pPr algn="ctr"/>
                      <a:r>
                        <a:rPr sz="950" b="0" i="0">
                          <a:solidFill>
                            <a:srgbClr val="14313B"/>
                          </a:solidFill>
                          <a:latin typeface="Calibri (MS)"/>
                        </a:rPr>
                        <a:t>−6,34</a:t>
                      </a:r>
                    </a:p>
                  </a:txBody>
                  <a:tcPr marL="73152" marR="73152" marT="36576" marB="36576" anchor="ctr">
                    <a:solidFill>
                      <a:srgbClr val="FFF1BF"/>
                    </a:solidFill>
                  </a:tcPr>
                </a:tc>
                <a:tc>
                  <a:txBody>
                    <a:bodyPr wrap="square"/>
                    <a:lstStyle/>
                    <a:p>
                      <a:pPr algn="ctr"/>
                      <a:r>
                        <a:rPr sz="950" b="0" i="0">
                          <a:solidFill>
                            <a:srgbClr val="14313B"/>
                          </a:solidFill>
                          <a:latin typeface="Calibri (MS)"/>
                        </a:rPr>
                        <a:t>6,32</a:t>
                      </a:r>
                    </a:p>
                  </a:txBody>
                  <a:tcPr marL="73152" marR="73152" marT="36576" marB="36576" anchor="ctr">
                    <a:solidFill>
                      <a:srgbClr val="FFF1BF"/>
                    </a:solidFill>
                  </a:tcPr>
                </a:tc>
                <a:tc>
                  <a:txBody>
                    <a:bodyPr wrap="square"/>
                    <a:lstStyle/>
                    <a:p>
                      <a:pPr algn="ctr"/>
                      <a:r>
                        <a:rPr sz="950" b="0" i="0">
                          <a:solidFill>
                            <a:srgbClr val="14313B"/>
                          </a:solidFill>
                          <a:latin typeface="Calibri (MS)"/>
                        </a:rPr>
                        <a:t>−5,44</a:t>
                      </a:r>
                    </a:p>
                  </a:txBody>
                  <a:tcPr marL="73152" marR="73152" marT="36576" marB="36576" anchor="ctr">
                    <a:solidFill>
                      <a:srgbClr val="FFF1BF"/>
                    </a:solidFill>
                  </a:tcPr>
                </a:tc>
                <a:tc>
                  <a:txBody>
                    <a:bodyPr wrap="square"/>
                    <a:lstStyle/>
                    <a:p>
                      <a:pPr algn="ctr"/>
                      <a:r>
                        <a:rPr sz="950" b="0" i="0">
                          <a:solidFill>
                            <a:srgbClr val="14313B"/>
                          </a:solidFill>
                          <a:latin typeface="Calibri (MS)"/>
                        </a:rPr>
                        <a:t>7,04</a:t>
                      </a:r>
                    </a:p>
                  </a:txBody>
                  <a:tcPr marL="73152" marR="73152" marT="36576" marB="36576" anchor="ctr">
                    <a:solidFill>
                      <a:srgbClr val="FFF1BF"/>
                    </a:solidFill>
                  </a:tcPr>
                </a:tc>
                <a:tc>
                  <a:txBody>
                    <a:bodyPr wrap="square"/>
                    <a:lstStyle/>
                    <a:p>
                      <a:pPr algn="ctr"/>
                      <a:r>
                        <a:rPr sz="950" b="0" i="0">
                          <a:solidFill>
                            <a:srgbClr val="14313B"/>
                          </a:solidFill>
                          <a:latin typeface="Calibri (MS)"/>
                        </a:rPr>
                        <a:t>−6,01</a:t>
                      </a:r>
                    </a:p>
                  </a:txBody>
                  <a:tcPr marL="73152" marR="73152" marT="36576" marB="36576" anchor="ctr">
                    <a:solidFill>
                      <a:srgbClr val="FFF1BF"/>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−2,26</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Bobot ODTW</a:t>
                      </a:r>
                    </a:p>
                  </a:txBody>
                  <a:tcPr marL="73152" marR="73152" marT="36576" marB="36576" anchor="ctr">
                    <a:solidFill>
                      <a:srgbClr val="EAF8FA"/>
                    </a:solidFill>
                  </a:tcPr>
                </a:tc>
                <a:tc>
                  <a:txBody>
                    <a:bodyPr wrap="square"/>
                    <a:lstStyle/>
                    <a:p>
                      <a:pPr algn="ctr"/>
                      <a:r>
                        <a:rPr sz="950" b="0" i="0">
                          <a:solidFill>
                            <a:srgbClr val="14313B"/>
                          </a:solidFill>
                          <a:latin typeface="Calibri (MS)"/>
                        </a:rPr>
                        <a:t>−6,45</a:t>
                      </a:r>
                    </a:p>
                  </a:txBody>
                  <a:tcPr marL="73152" marR="73152" marT="36576" marB="36576" anchor="ctr">
                    <a:solidFill>
                      <a:srgbClr val="FFF1BF"/>
                    </a:solidFill>
                  </a:tcPr>
                </a:tc>
                <a:tc>
                  <a:txBody>
                    <a:bodyPr wrap="square"/>
                    <a:lstStyle/>
                    <a:p>
                      <a:pPr algn="ctr"/>
                      <a:r>
                        <a:rPr sz="950" b="0" i="0">
                          <a:solidFill>
                            <a:srgbClr val="14313B"/>
                          </a:solidFill>
                          <a:latin typeface="Calibri (MS)"/>
                        </a:rPr>
                        <a:t>7,27</a:t>
                      </a:r>
                    </a:p>
                  </a:txBody>
                  <a:tcPr marL="73152" marR="73152" marT="36576" marB="36576" anchor="ctr">
                    <a:solidFill>
                      <a:srgbClr val="FFF1BF"/>
                    </a:solidFill>
                  </a:tcPr>
                </a:tc>
                <a:tc>
                  <a:txBody>
                    <a:bodyPr wrap="square"/>
                    <a:lstStyle/>
                    <a:p>
                      <a:pPr algn="ctr"/>
                      <a:r>
                        <a:rPr sz="950" b="0" i="0">
                          <a:solidFill>
                            <a:srgbClr val="14313B"/>
                          </a:solidFill>
                          <a:latin typeface="Calibri (MS)"/>
                        </a:rPr>
                        <a:t>−0,03</a:t>
                      </a:r>
                    </a:p>
                  </a:txBody>
                  <a:tcPr marL="73152" marR="73152" marT="36576" marB="36576" anchor="ctr">
                    <a:solidFill>
                      <a:srgbClr val="EAF8FA"/>
                    </a:solidFill>
                  </a:tcPr>
                </a:tc>
                <a:tc>
                  <a:txBody>
                    <a:bodyPr wrap="square"/>
                    <a:lstStyle/>
                    <a:p>
                      <a:pPr algn="ctr"/>
                      <a:r>
                        <a:rPr sz="950" b="0" i="0">
                          <a:solidFill>
                            <a:srgbClr val="14313B"/>
                          </a:solidFill>
                          <a:latin typeface="Calibri (MS)"/>
                        </a:rPr>
                        <a:t>0,03</a:t>
                      </a:r>
                    </a:p>
                  </a:txBody>
                  <a:tcPr marL="73152" marR="73152" marT="36576" marB="36576" anchor="ctr">
                    <a:solidFill>
                      <a:srgbClr val="EAF8FA"/>
                    </a:solidFill>
                  </a:tcPr>
                </a:tc>
                <a:tc>
                  <a:txBody>
                    <a:bodyPr wrap="square"/>
                    <a:lstStyle/>
                    <a:p>
                      <a:pPr algn="ctr"/>
                      <a:r>
                        <a:rPr sz="950" b="0" i="0">
                          <a:solidFill>
                            <a:srgbClr val="14313B"/>
                          </a:solidFill>
                          <a:latin typeface="Calibri (MS)"/>
                        </a:rPr>
                        <a:t>−6,45</a:t>
                      </a:r>
                    </a:p>
                  </a:txBody>
                  <a:tcPr marL="73152" marR="73152" marT="36576" marB="36576" anchor="ctr">
                    <a:solidFill>
                      <a:srgbClr val="FFF1BF"/>
                    </a:solidFill>
                  </a:tcPr>
                </a:tc>
                <a:tc>
                  <a:txBody>
                    <a:bodyPr wrap="square"/>
                    <a:lstStyle/>
                    <a:p>
                      <a:pPr algn="ctr"/>
                      <a:r>
                        <a:rPr sz="950" b="0" i="0">
                          <a:solidFill>
                            <a:srgbClr val="14313B"/>
                          </a:solidFill>
                          <a:latin typeface="Calibri (MS)"/>
                        </a:rPr>
                        <a:t>7,27</a:t>
                      </a:r>
                    </a:p>
                  </a:txBody>
                  <a:tcPr marL="73152" marR="73152" marT="36576" marB="36576" anchor="ctr">
                    <a:solidFill>
                      <a:srgbClr val="FFF1BF"/>
                    </a:solidFill>
                  </a:tcPr>
                </a:tc>
                <a:tc>
                  <a:txBody>
                    <a:bodyPr wrap="square"/>
                    <a:lstStyle/>
                    <a:p>
                      <a:pPr algn="ctr"/>
                      <a:r>
                        <a:rPr sz="950" b="0" i="0">
                          <a:solidFill>
                            <a:srgbClr val="14313B"/>
                          </a:solidFill>
                          <a:latin typeface="Calibri (MS)"/>
                        </a:rPr>
                        <a:t>−5,33</a:t>
                      </a:r>
                    </a:p>
                  </a:txBody>
                  <a:tcPr marL="73152" marR="73152" marT="36576" marB="36576" anchor="ctr">
                    <a:solidFill>
                      <a:srgbClr val="FFF1BF"/>
                    </a:solidFill>
                  </a:tcPr>
                </a:tc>
                <a:tc>
                  <a:txBody>
                    <a:bodyPr wrap="square"/>
                    <a:lstStyle/>
                    <a:p>
                      <a:pPr algn="ctr"/>
                      <a:r>
                        <a:rPr sz="950" b="0" i="0">
                          <a:solidFill>
                            <a:srgbClr val="14313B"/>
                          </a:solidFill>
                          <a:latin typeface="Calibri (MS)"/>
                        </a:rPr>
                        <a:t>5,91</a:t>
                      </a:r>
                    </a:p>
                  </a:txBody>
                  <a:tcPr marL="73152" marR="73152" marT="36576" marB="36576" anchor="ctr">
                    <a:solidFill>
                      <a:srgbClr val="FFF1BF"/>
                    </a:solidFill>
                  </a:tcPr>
                </a:tc>
                <a:tc>
                  <a:txBody>
                    <a:bodyPr wrap="square"/>
                    <a:lstStyle/>
                    <a:p>
                      <a:pPr algn="ctr"/>
                      <a:r>
                        <a:rPr sz="950" b="0" i="0">
                          <a:solidFill>
                            <a:srgbClr val="14313B"/>
                          </a:solidFill>
                          <a:latin typeface="Calibri (MS)"/>
                        </a:rPr>
                        <a:t>−6,02</a:t>
                      </a:r>
                    </a:p>
                  </a:txBody>
                  <a:tcPr marL="73152" marR="73152" marT="36576" marB="36576" anchor="ctr">
                    <a:solidFill>
                      <a:srgbClr val="FFF1BF"/>
                    </a:solidFill>
                  </a:tcPr>
                </a:tc>
                <a:tc>
                  <a:txBody>
                    <a:bodyPr wrap="square"/>
                    <a:lstStyle/>
                    <a:p>
                      <a:pPr algn="ctr"/>
                      <a:r>
                        <a:rPr sz="950" b="0" i="0">
                          <a:solidFill>
                            <a:srgbClr val="14313B"/>
                          </a:solidFill>
                          <a:latin typeface="Calibri (MS)"/>
                        </a:rPr>
                        <a:t>6,73</a:t>
                      </a:r>
                    </a:p>
                  </a:txBody>
                  <a:tcPr marL="73152" marR="73152" marT="36576" marB="36576" anchor="ctr">
                    <a:solidFill>
                      <a:srgbClr val="FFF1BF"/>
                    </a:solidFill>
                  </a:tcPr>
                </a:tc>
                <a:tc>
                  <a:txBody>
                    <a:bodyPr wrap="square"/>
                    <a:lstStyle/>
                    <a:p>
                      <a:pPr algn="ctr"/>
                      <a:r>
                        <a:rPr sz="950" b="0" i="0">
                          <a:solidFill>
                            <a:srgbClr val="14313B"/>
                          </a:solidFill>
                          <a:latin typeface="Calibri (MS)"/>
                        </a:rPr>
                        <a:t>−2,07</a:t>
                      </a:r>
                    </a:p>
                  </a:txBody>
                  <a:tcPr marL="73152" marR="73152" marT="36576" marB="36576" anchor="ctr">
                    <a:solidFill>
                      <a:srgbClr val="EAF8FA"/>
                    </a:solidFill>
                  </a:tcPr>
                </a:tc>
                <a:tc>
                  <a:txBody>
                    <a:bodyPr wrap="square"/>
                    <a:lstStyle/>
                    <a:p>
                      <a:pPr algn="ctr"/>
                      <a:r>
                        <a:rPr sz="950" b="0" i="0">
                          <a:solidFill>
                            <a:srgbClr val="14313B"/>
                          </a:solidFill>
                          <a:latin typeface="Calibri (MS)"/>
                        </a:rPr>
                        <a:t>2,24</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Rasio Daya Dukung Lahan Referensi</a:t>
                      </a:r>
                    </a:p>
                  </a:txBody>
                  <a:tcPr marL="73152" marR="73152" marT="36576" marB="36576" anchor="ctr">
                    <a:solidFill>
                      <a:srgbClr val="FFFFFF"/>
                    </a:solidFill>
                  </a:tcPr>
                </a:tc>
                <a:tc>
                  <a:txBody>
                    <a:bodyPr wrap="square"/>
                    <a:lstStyle/>
                    <a:p>
                      <a:pPr algn="ctr"/>
                      <a:r>
                        <a:rPr sz="950" b="0" i="0">
                          <a:solidFill>
                            <a:srgbClr val="14313B"/>
                          </a:solidFill>
                          <a:latin typeface="Calibri (MS)"/>
                        </a:rPr>
                        <a:t>5,09</a:t>
                      </a:r>
                    </a:p>
                  </a:txBody>
                  <a:tcPr marL="73152" marR="73152" marT="36576" marB="36576" anchor="ctr">
                    <a:solidFill>
                      <a:srgbClr val="FFF1BF"/>
                    </a:solidFill>
                  </a:tcPr>
                </a:tc>
                <a:tc>
                  <a:txBody>
                    <a:bodyPr wrap="square"/>
                    <a:lstStyle/>
                    <a:p>
                      <a:pPr algn="ctr"/>
                      <a:r>
                        <a:rPr sz="950" b="0" i="0">
                          <a:solidFill>
                            <a:srgbClr val="14313B"/>
                          </a:solidFill>
                          <a:latin typeface="Calibri (MS)"/>
                        </a:rPr>
                        <a:t>−4,49</a:t>
                      </a:r>
                    </a:p>
                  </a:txBody>
                  <a:tcPr marL="73152" marR="73152" marT="36576" marB="36576" anchor="ctr">
                    <a:solidFill>
                      <a:srgbClr val="EAF8FA"/>
                    </a:solidFill>
                  </a:tcPr>
                </a:tc>
                <a:tc>
                  <a:txBody>
                    <a:bodyPr wrap="square"/>
                    <a:lstStyle/>
                    <a:p>
                      <a:pPr algn="ctr"/>
                      <a:r>
                        <a:rPr sz="950" b="0" i="0">
                          <a:solidFill>
                            <a:srgbClr val="14313B"/>
                          </a:solidFill>
                          <a:latin typeface="Calibri (MS)"/>
                        </a:rPr>
                        <a:t>0,13</a:t>
                      </a:r>
                    </a:p>
                  </a:txBody>
                  <a:tcPr marL="73152" marR="73152" marT="36576" marB="36576" anchor="ctr">
                    <a:solidFill>
                      <a:srgbClr val="FFFFFF"/>
                    </a:solidFill>
                  </a:tcPr>
                </a:tc>
                <a:tc>
                  <a:txBody>
                    <a:bodyPr wrap="square"/>
                    <a:lstStyle/>
                    <a:p>
                      <a:pPr algn="ctr"/>
                      <a:r>
                        <a:rPr sz="950" b="0" i="0">
                          <a:solidFill>
                            <a:srgbClr val="14313B"/>
                          </a:solidFill>
                          <a:latin typeface="Calibri (MS)"/>
                        </a:rPr>
                        <a:t>−0,11</a:t>
                      </a:r>
                    </a:p>
                  </a:txBody>
                  <a:tcPr marL="73152" marR="73152" marT="36576" marB="36576" anchor="ctr">
                    <a:solidFill>
                      <a:srgbClr val="FFFFFF"/>
                    </a:solidFill>
                  </a:tcPr>
                </a:tc>
                <a:tc>
                  <a:txBody>
                    <a:bodyPr wrap="square"/>
                    <a:lstStyle/>
                    <a:p>
                      <a:pPr algn="ctr"/>
                      <a:r>
                        <a:rPr sz="950" b="0" i="0">
                          <a:solidFill>
                            <a:srgbClr val="14313B"/>
                          </a:solidFill>
                          <a:latin typeface="Calibri (MS)"/>
                        </a:rPr>
                        <a:t>5,09</a:t>
                      </a:r>
                    </a:p>
                  </a:txBody>
                  <a:tcPr marL="73152" marR="73152" marT="36576" marB="36576" anchor="ctr">
                    <a:solidFill>
                      <a:srgbClr val="FFF1BF"/>
                    </a:solidFill>
                  </a:tcPr>
                </a:tc>
                <a:tc>
                  <a:txBody>
                    <a:bodyPr wrap="square"/>
                    <a:lstStyle/>
                    <a:p>
                      <a:pPr algn="ctr"/>
                      <a:r>
                        <a:rPr sz="950" b="0" i="0">
                          <a:solidFill>
                            <a:srgbClr val="14313B"/>
                          </a:solidFill>
                          <a:latin typeface="Calibri (MS)"/>
                        </a:rPr>
                        <a:t>−4,49</a:t>
                      </a:r>
                    </a:p>
                  </a:txBody>
                  <a:tcPr marL="73152" marR="73152" marT="36576" marB="36576" anchor="ctr">
                    <a:solidFill>
                      <a:srgbClr val="EAF8FA"/>
                    </a:solidFill>
                  </a:tcPr>
                </a:tc>
                <a:tc>
                  <a:txBody>
                    <a:bodyPr wrap="square"/>
                    <a:lstStyle/>
                    <a:p>
                      <a:pPr algn="ctr"/>
                      <a:r>
                        <a:rPr sz="950" b="0" i="0">
                          <a:solidFill>
                            <a:srgbClr val="14313B"/>
                          </a:solidFill>
                          <a:latin typeface="Calibri (MS)"/>
                        </a:rPr>
                        <a:t>4,44</a:t>
                      </a:r>
                    </a:p>
                  </a:txBody>
                  <a:tcPr marL="73152" marR="73152" marT="36576" marB="36576" anchor="ctr">
                    <a:solidFill>
                      <a:srgbClr val="EAF8FA"/>
                    </a:solidFill>
                  </a:tcPr>
                </a:tc>
                <a:tc>
                  <a:txBody>
                    <a:bodyPr wrap="square"/>
                    <a:lstStyle/>
                    <a:p>
                      <a:pPr algn="ctr"/>
                      <a:r>
                        <a:rPr sz="950" b="0" i="0">
                          <a:solidFill>
                            <a:srgbClr val="14313B"/>
                          </a:solidFill>
                          <a:latin typeface="Calibri (MS)"/>
                        </a:rPr>
                        <a:t>−3,95</a:t>
                      </a:r>
                    </a:p>
                  </a:txBody>
                  <a:tcPr marL="73152" marR="73152" marT="36576" marB="36576" anchor="ctr">
                    <a:solidFill>
                      <a:srgbClr val="EAF8FA"/>
                    </a:solidFill>
                  </a:tcPr>
                </a:tc>
                <a:tc>
                  <a:txBody>
                    <a:bodyPr wrap="square"/>
                    <a:lstStyle/>
                    <a:p>
                      <a:pPr algn="ctr"/>
                      <a:r>
                        <a:rPr sz="950" b="0" i="0">
                          <a:solidFill>
                            <a:srgbClr val="14313B"/>
                          </a:solidFill>
                          <a:latin typeface="Calibri (MS)"/>
                        </a:rPr>
                        <a:t>4,85</a:t>
                      </a:r>
                    </a:p>
                  </a:txBody>
                  <a:tcPr marL="73152" marR="73152" marT="36576" marB="36576" anchor="ctr">
                    <a:solidFill>
                      <a:srgbClr val="EAF8FA"/>
                    </a:solidFill>
                  </a:tcPr>
                </a:tc>
                <a:tc>
                  <a:txBody>
                    <a:bodyPr wrap="square"/>
                    <a:lstStyle/>
                    <a:p>
                      <a:pPr algn="ctr"/>
                      <a:r>
                        <a:rPr sz="950" b="0" i="0">
                          <a:solidFill>
                            <a:srgbClr val="14313B"/>
                          </a:solidFill>
                          <a:latin typeface="Calibri (MS)"/>
                        </a:rPr>
                        <a:t>−4,29</a:t>
                      </a:r>
                    </a:p>
                  </a:txBody>
                  <a:tcPr marL="73152" marR="73152" marT="36576" marB="36576" anchor="ctr">
                    <a:solidFill>
                      <a:srgbClr val="EAF8FA"/>
                    </a:solidFill>
                  </a:tcPr>
                </a:tc>
                <a:tc>
                  <a:txBody>
                    <a:bodyPr wrap="square"/>
                    <a:lstStyle/>
                    <a:p>
                      <a:pPr algn="ctr"/>
                      <a:r>
                        <a:rPr sz="950" b="0" i="0">
                          <a:solidFill>
                            <a:srgbClr val="14313B"/>
                          </a:solidFill>
                          <a:latin typeface="Calibri (MS)"/>
                        </a:rPr>
                        <a:t>1,89</a:t>
                      </a:r>
                    </a:p>
                  </a:txBody>
                  <a:tcPr marL="73152" marR="73152" marT="36576" marB="36576" anchor="ctr">
                    <a:solidFill>
                      <a:srgbClr val="EAF8FA"/>
                    </a:solidFill>
                  </a:tcPr>
                </a:tc>
                <a:tc>
                  <a:txBody>
                    <a:bodyPr wrap="square"/>
                    <a:lstStyle/>
                    <a:p>
                      <a:pPr algn="ctr"/>
                      <a:r>
                        <a:rPr sz="950" b="0" i="0">
                          <a:solidFill>
                            <a:srgbClr val="14313B"/>
                          </a:solidFill>
                          <a:latin typeface="Calibri (MS)"/>
                        </a:rPr>
                        <a:t>−1,71</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6</a:t>
                      </a:r>
                    </a:p>
                  </a:txBody>
                  <a:tcPr marL="73152" marR="73152" marT="36576" marB="36576" anchor="ctr">
                    <a:solidFill>
                      <a:srgbClr val="EAF8FA"/>
                    </a:solidFill>
                  </a:tcPr>
                </a:tc>
                <a:tc>
                  <a:txBody>
                    <a:bodyPr wrap="square"/>
                    <a:lstStyle/>
                    <a:p>
                      <a:r>
                        <a:rPr sz="950" b="0" i="0">
                          <a:solidFill>
                            <a:srgbClr val="14313B"/>
                          </a:solidFill>
                          <a:latin typeface="Calibri (MS)"/>
                        </a:rPr>
                        <a:t>Laju Pertumbuhan Eksternal</a:t>
                      </a:r>
                    </a:p>
                  </a:txBody>
                  <a:tcPr marL="73152" marR="73152" marT="36576" marB="36576" anchor="ctr">
                    <a:solidFill>
                      <a:srgbClr val="EAF8FA"/>
                    </a:solidFill>
                  </a:tcPr>
                </a:tc>
                <a:tc>
                  <a:txBody>
                    <a:bodyPr wrap="square"/>
                    <a:lstStyle/>
                    <a:p>
                      <a:pPr algn="ctr"/>
                      <a:r>
                        <a:rPr sz="950" b="0" i="0">
                          <a:solidFill>
                            <a:srgbClr val="14313B"/>
                          </a:solidFill>
                          <a:latin typeface="Calibri (MS)"/>
                        </a:rPr>
                        <a:t>−5,06</a:t>
                      </a:r>
                    </a:p>
                  </a:txBody>
                  <a:tcPr marL="73152" marR="73152" marT="36576" marB="36576" anchor="ctr">
                    <a:solidFill>
                      <a:srgbClr val="FFF1BF"/>
                    </a:solidFill>
                  </a:tcPr>
                </a:tc>
                <a:tc>
                  <a:txBody>
                    <a:bodyPr wrap="square"/>
                    <a:lstStyle/>
                    <a:p>
                      <a:pPr algn="ctr"/>
                      <a:r>
                        <a:rPr sz="950" b="0" i="0">
                          <a:solidFill>
                            <a:srgbClr val="14313B"/>
                          </a:solidFill>
                          <a:latin typeface="Calibri (MS)"/>
                        </a:rPr>
                        <a:t>4,99</a:t>
                      </a:r>
                    </a:p>
                  </a:txBody>
                  <a:tcPr marL="73152" marR="73152" marT="36576" marB="36576" anchor="ctr">
                    <a:solidFill>
                      <a:srgbClr val="EAF8FA"/>
                    </a:solidFill>
                  </a:tcPr>
                </a:tc>
                <a:tc>
                  <a:txBody>
                    <a:bodyPr wrap="square"/>
                    <a:lstStyle/>
                    <a:p>
                      <a:pPr algn="ctr"/>
                      <a:r>
                        <a:rPr sz="950" b="0" i="0">
                          <a:solidFill>
                            <a:srgbClr val="14313B"/>
                          </a:solidFill>
                          <a:latin typeface="Calibri (MS)"/>
                        </a:rPr>
                        <a:t>−0,04</a:t>
                      </a:r>
                    </a:p>
                  </a:txBody>
                  <a:tcPr marL="73152" marR="73152" marT="36576" marB="36576" anchor="ctr">
                    <a:solidFill>
                      <a:srgbClr val="EAF8FA"/>
                    </a:solidFill>
                  </a:tcPr>
                </a:tc>
                <a:tc>
                  <a:txBody>
                    <a:bodyPr wrap="square"/>
                    <a:lstStyle/>
                    <a:p>
                      <a:pPr algn="ctr"/>
                      <a:r>
                        <a:rPr sz="950" b="0" i="0">
                          <a:solidFill>
                            <a:srgbClr val="14313B"/>
                          </a:solidFill>
                          <a:latin typeface="Calibri (MS)"/>
                        </a:rPr>
                        <a:t>0,04</a:t>
                      </a:r>
                    </a:p>
                  </a:txBody>
                  <a:tcPr marL="73152" marR="73152" marT="36576" marB="36576" anchor="ctr">
                    <a:solidFill>
                      <a:srgbClr val="EAF8FA"/>
                    </a:solidFill>
                  </a:tcPr>
                </a:tc>
                <a:tc>
                  <a:txBody>
                    <a:bodyPr wrap="square"/>
                    <a:lstStyle/>
                    <a:p>
                      <a:pPr algn="ctr"/>
                      <a:r>
                        <a:rPr sz="950" b="0" i="0">
                          <a:solidFill>
                            <a:srgbClr val="14313B"/>
                          </a:solidFill>
                          <a:latin typeface="Calibri (MS)"/>
                        </a:rPr>
                        <a:t>−5,06</a:t>
                      </a:r>
                    </a:p>
                  </a:txBody>
                  <a:tcPr marL="73152" marR="73152" marT="36576" marB="36576" anchor="ctr">
                    <a:solidFill>
                      <a:srgbClr val="FFF1BF"/>
                    </a:solidFill>
                  </a:tcPr>
                </a:tc>
                <a:tc>
                  <a:txBody>
                    <a:bodyPr wrap="square"/>
                    <a:lstStyle/>
                    <a:p>
                      <a:pPr algn="ctr"/>
                      <a:r>
                        <a:rPr sz="950" b="0" i="0">
                          <a:solidFill>
                            <a:srgbClr val="14313B"/>
                          </a:solidFill>
                          <a:latin typeface="Calibri (MS)"/>
                        </a:rPr>
                        <a:t>4,99</a:t>
                      </a:r>
                    </a:p>
                  </a:txBody>
                  <a:tcPr marL="73152" marR="73152" marT="36576" marB="36576" anchor="ctr">
                    <a:solidFill>
                      <a:srgbClr val="EAF8FA"/>
                    </a:solidFill>
                  </a:tcPr>
                </a:tc>
                <a:tc>
                  <a:txBody>
                    <a:bodyPr wrap="square"/>
                    <a:lstStyle/>
                    <a:p>
                      <a:pPr algn="ctr"/>
                      <a:r>
                        <a:rPr sz="950" b="0" i="0">
                          <a:solidFill>
                            <a:srgbClr val="14313B"/>
                          </a:solidFill>
                          <a:latin typeface="Calibri (MS)"/>
                        </a:rPr>
                        <a:t>−4,85</a:t>
                      </a:r>
                    </a:p>
                  </a:txBody>
                  <a:tcPr marL="73152" marR="73152" marT="36576" marB="36576" anchor="ctr">
                    <a:solidFill>
                      <a:srgbClr val="EAF8FA"/>
                    </a:solidFill>
                  </a:tcPr>
                </a:tc>
                <a:tc>
                  <a:txBody>
                    <a:bodyPr wrap="square"/>
                    <a:lstStyle/>
                    <a:p>
                      <a:pPr algn="ctr"/>
                      <a:r>
                        <a:rPr sz="950" b="0" i="0">
                          <a:solidFill>
                            <a:srgbClr val="14313B"/>
                          </a:solidFill>
                          <a:latin typeface="Calibri (MS)"/>
                        </a:rPr>
                        <a:t>4,77</a:t>
                      </a:r>
                    </a:p>
                  </a:txBody>
                  <a:tcPr marL="73152" marR="73152" marT="36576" marB="36576" anchor="ctr">
                    <a:solidFill>
                      <a:srgbClr val="EAF8FA"/>
                    </a:solidFill>
                  </a:tcPr>
                </a:tc>
                <a:tc>
                  <a:txBody>
                    <a:bodyPr wrap="square"/>
                    <a:lstStyle/>
                    <a:p>
                      <a:pPr algn="ctr"/>
                      <a:r>
                        <a:rPr sz="950" b="0" i="0">
                          <a:solidFill>
                            <a:srgbClr val="14313B"/>
                          </a:solidFill>
                          <a:latin typeface="Calibri (MS)"/>
                        </a:rPr>
                        <a:t>−4,99</a:t>
                      </a:r>
                    </a:p>
                  </a:txBody>
                  <a:tcPr marL="73152" marR="73152" marT="36576" marB="36576" anchor="ctr">
                    <a:solidFill>
                      <a:srgbClr val="EAF8FA"/>
                    </a:solidFill>
                  </a:tcPr>
                </a:tc>
                <a:tc>
                  <a:txBody>
                    <a:bodyPr wrap="square"/>
                    <a:lstStyle/>
                    <a:p>
                      <a:pPr algn="ctr"/>
                      <a:r>
                        <a:rPr sz="950" b="0" i="0">
                          <a:solidFill>
                            <a:srgbClr val="14313B"/>
                          </a:solidFill>
                          <a:latin typeface="Calibri (MS)"/>
                        </a:rPr>
                        <a:t>4,91</a:t>
                      </a:r>
                    </a:p>
                  </a:txBody>
                  <a:tcPr marL="73152" marR="73152" marT="36576" marB="36576" anchor="ctr">
                    <a:solidFill>
                      <a:srgbClr val="EAF8FA"/>
                    </a:solidFill>
                  </a:tcPr>
                </a:tc>
                <a:tc>
                  <a:txBody>
                    <a:bodyPr wrap="square"/>
                    <a:lstStyle/>
                    <a:p>
                      <a:pPr algn="ctr"/>
                      <a:r>
                        <a:rPr sz="950" b="0" i="0">
                          <a:solidFill>
                            <a:srgbClr val="14313B"/>
                          </a:solidFill>
                          <a:latin typeface="Calibri (MS)"/>
                        </a:rPr>
                        <a:t>−2,59</a:t>
                      </a:r>
                    </a:p>
                  </a:txBody>
                  <a:tcPr marL="73152" marR="73152" marT="36576" marB="36576" anchor="ctr">
                    <a:solidFill>
                      <a:srgbClr val="EAF8FA"/>
                    </a:solidFill>
                  </a:tcPr>
                </a:tc>
                <a:tc>
                  <a:txBody>
                    <a:bodyPr wrap="square"/>
                    <a:lstStyle/>
                    <a:p>
                      <a:pPr algn="ctr"/>
                      <a:r>
                        <a:rPr sz="950" b="0" i="0">
                          <a:solidFill>
                            <a:srgbClr val="14313B"/>
                          </a:solidFill>
                          <a:latin typeface="Calibri (MS)"/>
                        </a:rPr>
                        <a:t>2,54</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7</a:t>
                      </a:r>
                    </a:p>
                  </a:txBody>
                  <a:tcPr marL="73152" marR="73152" marT="36576" marB="36576" anchor="ctr">
                    <a:solidFill>
                      <a:srgbClr val="FFFFFF"/>
                    </a:solidFill>
                  </a:tcPr>
                </a:tc>
                <a:tc>
                  <a:txBody>
                    <a:bodyPr wrap="square"/>
                    <a:lstStyle/>
                    <a:p>
                      <a:r>
                        <a:rPr sz="950" b="0" i="0">
                          <a:solidFill>
                            <a:srgbClr val="14313B"/>
                          </a:solidFill>
                          <a:latin typeface="Calibri (MS)"/>
                        </a:rPr>
                        <a:t>ODTW Referensi</a:t>
                      </a:r>
                    </a:p>
                  </a:txBody>
                  <a:tcPr marL="73152" marR="73152" marT="36576" marB="36576" anchor="ctr">
                    <a:solidFill>
                      <a:srgbClr val="FFFFFF"/>
                    </a:solidFill>
                  </a:tcPr>
                </a:tc>
                <a:tc>
                  <a:txBody>
                    <a:bodyPr wrap="square"/>
                    <a:lstStyle/>
                    <a:p>
                      <a:pPr algn="ctr"/>
                      <a:r>
                        <a:rPr sz="950" b="0" i="0">
                          <a:solidFill>
                            <a:srgbClr val="14313B"/>
                          </a:solidFill>
                          <a:latin typeface="Calibri (MS)"/>
                        </a:rPr>
                        <a:t>3,54</a:t>
                      </a:r>
                    </a:p>
                  </a:txBody>
                  <a:tcPr marL="73152" marR="73152" marT="36576" marB="36576" anchor="ctr">
                    <a:solidFill>
                      <a:srgbClr val="EAF8FA"/>
                    </a:solidFill>
                  </a:tcPr>
                </a:tc>
                <a:tc>
                  <a:txBody>
                    <a:bodyPr wrap="square"/>
                    <a:lstStyle/>
                    <a:p>
                      <a:pPr algn="ctr"/>
                      <a:r>
                        <a:rPr sz="950" b="0" i="0">
                          <a:solidFill>
                            <a:srgbClr val="14313B"/>
                          </a:solidFill>
                          <a:latin typeface="Calibri (MS)"/>
                        </a:rPr>
                        <a:t>−3,20</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3,54</a:t>
                      </a:r>
                    </a:p>
                  </a:txBody>
                  <a:tcPr marL="73152" marR="73152" marT="36576" marB="36576" anchor="ctr">
                    <a:solidFill>
                      <a:srgbClr val="EAF8FA"/>
                    </a:solidFill>
                  </a:tcPr>
                </a:tc>
                <a:tc>
                  <a:txBody>
                    <a:bodyPr wrap="square"/>
                    <a:lstStyle/>
                    <a:p>
                      <a:pPr algn="ctr"/>
                      <a:r>
                        <a:rPr sz="950" b="0" i="0">
                          <a:solidFill>
                            <a:srgbClr val="14313B"/>
                          </a:solidFill>
                          <a:latin typeface="Calibri (MS)"/>
                        </a:rPr>
                        <a:t>−3,20</a:t>
                      </a:r>
                    </a:p>
                  </a:txBody>
                  <a:tcPr marL="73152" marR="73152" marT="36576" marB="36576" anchor="ctr">
                    <a:solidFill>
                      <a:srgbClr val="EAF8FA"/>
                    </a:solidFill>
                  </a:tcPr>
                </a:tc>
                <a:tc>
                  <a:txBody>
                    <a:bodyPr wrap="square"/>
                    <a:lstStyle/>
                    <a:p>
                      <a:pPr algn="ctr"/>
                      <a:r>
                        <a:rPr sz="950" b="0" i="0">
                          <a:solidFill>
                            <a:srgbClr val="14313B"/>
                          </a:solidFill>
                          <a:latin typeface="Calibri (MS)"/>
                        </a:rPr>
                        <a:t>2,96</a:t>
                      </a:r>
                    </a:p>
                  </a:txBody>
                  <a:tcPr marL="73152" marR="73152" marT="36576" marB="36576" anchor="ctr">
                    <a:solidFill>
                      <a:srgbClr val="EAF8FA"/>
                    </a:solidFill>
                  </a:tcPr>
                </a:tc>
                <a:tc>
                  <a:txBody>
                    <a:bodyPr wrap="square"/>
                    <a:lstStyle/>
                    <a:p>
                      <a:pPr algn="ctr"/>
                      <a:r>
                        <a:rPr sz="950" b="0" i="0">
                          <a:solidFill>
                            <a:srgbClr val="14313B"/>
                          </a:solidFill>
                          <a:latin typeface="Calibri (MS)"/>
                        </a:rPr>
                        <a:t>−2,69</a:t>
                      </a:r>
                    </a:p>
                  </a:txBody>
                  <a:tcPr marL="73152" marR="73152" marT="36576" marB="36576" anchor="ctr">
                    <a:solidFill>
                      <a:srgbClr val="EAF8FA"/>
                    </a:solidFill>
                  </a:tcPr>
                </a:tc>
                <a:tc>
                  <a:txBody>
                    <a:bodyPr wrap="square"/>
                    <a:lstStyle/>
                    <a:p>
                      <a:pPr algn="ctr"/>
                      <a:r>
                        <a:rPr sz="950" b="0" i="0">
                          <a:solidFill>
                            <a:srgbClr val="14313B"/>
                          </a:solidFill>
                          <a:latin typeface="Calibri (MS)"/>
                        </a:rPr>
                        <a:t>3,31</a:t>
                      </a:r>
                    </a:p>
                  </a:txBody>
                  <a:tcPr marL="73152" marR="73152" marT="36576" marB="36576" anchor="ctr">
                    <a:solidFill>
                      <a:srgbClr val="EAF8FA"/>
                    </a:solidFill>
                  </a:tcPr>
                </a:tc>
                <a:tc>
                  <a:txBody>
                    <a:bodyPr wrap="square"/>
                    <a:lstStyle/>
                    <a:p>
                      <a:pPr algn="ctr"/>
                      <a:r>
                        <a:rPr sz="950" b="0" i="0">
                          <a:solidFill>
                            <a:srgbClr val="14313B"/>
                          </a:solidFill>
                          <a:latin typeface="Calibri (MS)"/>
                        </a:rPr>
                        <a:t>−3,01</a:t>
                      </a:r>
                    </a:p>
                  </a:txBody>
                  <a:tcPr marL="73152" marR="73152" marT="36576" marB="36576" anchor="ctr">
                    <a:solidFill>
                      <a:srgbClr val="EAF8FA"/>
                    </a:solidFill>
                  </a:tcPr>
                </a:tc>
                <a:tc>
                  <a:txBody>
                    <a:bodyPr wrap="square"/>
                    <a:lstStyle/>
                    <a:p>
                      <a:pPr algn="ctr"/>
                      <a:r>
                        <a:rPr sz="950" b="0" i="0">
                          <a:solidFill>
                            <a:srgbClr val="14313B"/>
                          </a:solidFill>
                          <a:latin typeface="Calibri (MS)"/>
                        </a:rPr>
                        <a:t>1,17</a:t>
                      </a:r>
                    </a:p>
                  </a:txBody>
                  <a:tcPr marL="73152" marR="73152" marT="36576" marB="36576" anchor="ctr">
                    <a:solidFill>
                      <a:srgbClr val="EAF8FA"/>
                    </a:solidFill>
                  </a:tcPr>
                </a:tc>
                <a:tc>
                  <a:txBody>
                    <a:bodyPr wrap="square"/>
                    <a:lstStyle/>
                    <a:p>
                      <a:pPr algn="ctr"/>
                      <a:r>
                        <a:rPr sz="950" b="0" i="0">
                          <a:solidFill>
                            <a:srgbClr val="14313B"/>
                          </a:solidFill>
                          <a:latin typeface="Calibri (MS)"/>
                        </a:rPr>
                        <a:t>−1,08</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8</a:t>
                      </a:r>
                    </a:p>
                  </a:txBody>
                  <a:tcPr marL="73152" marR="73152" marT="36576" marB="36576" anchor="ctr">
                    <a:solidFill>
                      <a:srgbClr val="EAF8FA"/>
                    </a:solidFill>
                  </a:tcPr>
                </a:tc>
                <a:tc>
                  <a:txBody>
                    <a:bodyPr wrap="square"/>
                    <a:lstStyle/>
                    <a:p>
                      <a:r>
                        <a:rPr sz="950" b="0" i="0">
                          <a:solidFill>
                            <a:srgbClr val="14313B"/>
                          </a:solidFill>
                          <a:latin typeface="Calibri (MS)"/>
                        </a:rPr>
                        <a:t>Sensitivitas ODTW terhadap Investasi</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2,57</a:t>
                      </a:r>
                    </a:p>
                  </a:txBody>
                  <a:tcPr marL="73152" marR="73152" marT="36576" marB="36576" anchor="ctr">
                    <a:solidFill>
                      <a:srgbClr val="EAF8FA"/>
                    </a:solidFill>
                  </a:tcPr>
                </a:tc>
                <a:tc>
                  <a:txBody>
                    <a:bodyPr wrap="square"/>
                    <a:lstStyle/>
                    <a:p>
                      <a:pPr algn="ctr"/>
                      <a:r>
                        <a:rPr sz="950" b="0" i="0">
                          <a:solidFill>
                            <a:srgbClr val="14313B"/>
                          </a:solidFill>
                          <a:latin typeface="Calibri (MS)"/>
                        </a:rPr>
                        <a:t>−0,03</a:t>
                      </a:r>
                    </a:p>
                  </a:txBody>
                  <a:tcPr marL="73152" marR="73152" marT="36576" marB="36576" anchor="ctr">
                    <a:solidFill>
                      <a:srgbClr val="EAF8FA"/>
                    </a:solidFill>
                  </a:tcPr>
                </a:tc>
                <a:tc>
                  <a:txBody>
                    <a:bodyPr wrap="square"/>
                    <a:lstStyle/>
                    <a:p>
                      <a:pPr algn="ctr"/>
                      <a:r>
                        <a:rPr sz="950" b="0" i="0">
                          <a:solidFill>
                            <a:srgbClr val="14313B"/>
                          </a:solidFill>
                          <a:latin typeface="Calibri (MS)"/>
                        </a:rPr>
                        <a:t>0,03</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2,57</a:t>
                      </a:r>
                    </a:p>
                  </a:txBody>
                  <a:tcPr marL="73152" marR="73152" marT="36576" marB="36576" anchor="ctr">
                    <a:solidFill>
                      <a:srgbClr val="EAF8FA"/>
                    </a:solidFill>
                  </a:tcPr>
                </a:tc>
                <a:tc>
                  <a:txBody>
                    <a:bodyPr wrap="square"/>
                    <a:lstStyle/>
                    <a:p>
                      <a:pPr algn="ctr"/>
                      <a:r>
                        <a:rPr sz="950" b="0" i="0">
                          <a:solidFill>
                            <a:srgbClr val="14313B"/>
                          </a:solidFill>
                          <a:latin typeface="Calibri (MS)"/>
                        </a:rPr>
                        <a:t>−2,12</a:t>
                      </a:r>
                    </a:p>
                  </a:txBody>
                  <a:tcPr marL="73152" marR="73152" marT="36576" marB="36576" anchor="ctr">
                    <a:solidFill>
                      <a:srgbClr val="EAF8FA"/>
                    </a:solidFill>
                  </a:tcPr>
                </a:tc>
                <a:tc>
                  <a:txBody>
                    <a:bodyPr wrap="square"/>
                    <a:lstStyle/>
                    <a:p>
                      <a:pPr algn="ctr"/>
                      <a:r>
                        <a:rPr sz="950" b="0" i="0">
                          <a:solidFill>
                            <a:srgbClr val="14313B"/>
                          </a:solidFill>
                          <a:latin typeface="Calibri (MS)"/>
                        </a:rPr>
                        <a:t>2,12</a:t>
                      </a:r>
                    </a:p>
                  </a:txBody>
                  <a:tcPr marL="73152" marR="73152" marT="36576" marB="36576" anchor="ctr">
                    <a:solidFill>
                      <a:srgbClr val="EAF8FA"/>
                    </a:solidFill>
                  </a:tcPr>
                </a:tc>
                <a:tc>
                  <a:txBody>
                    <a:bodyPr wrap="square"/>
                    <a:lstStyle/>
                    <a:p>
                      <a:pPr algn="ctr"/>
                      <a:r>
                        <a:rPr sz="950" b="0" i="0">
                          <a:solidFill>
                            <a:srgbClr val="14313B"/>
                          </a:solidFill>
                          <a:latin typeface="Calibri (MS)"/>
                        </a:rPr>
                        <a:t>−2,39</a:t>
                      </a:r>
                    </a:p>
                  </a:txBody>
                  <a:tcPr marL="73152" marR="73152" marT="36576" marB="36576" anchor="ctr">
                    <a:solidFill>
                      <a:srgbClr val="EAF8FA"/>
                    </a:solidFill>
                  </a:tcPr>
                </a:tc>
                <a:tc>
                  <a:txBody>
                    <a:bodyPr wrap="square"/>
                    <a:lstStyle/>
                    <a:p>
                      <a:pPr algn="ctr"/>
                      <a:r>
                        <a:rPr sz="950" b="0" i="0">
                          <a:solidFill>
                            <a:srgbClr val="14313B"/>
                          </a:solidFill>
                          <a:latin typeface="Calibri (MS)"/>
                        </a:rPr>
                        <a:t>2,39</a:t>
                      </a:r>
                    </a:p>
                  </a:txBody>
                  <a:tcPr marL="73152" marR="73152" marT="36576" marB="36576" anchor="ctr">
                    <a:solidFill>
                      <a:srgbClr val="EAF8FA"/>
                    </a:solidFill>
                  </a:tcPr>
                </a:tc>
                <a:tc>
                  <a:txBody>
                    <a:bodyPr wrap="square"/>
                    <a:lstStyle/>
                    <a:p>
                      <a:pPr algn="ctr"/>
                      <a:r>
                        <a:rPr sz="950" b="0" i="0">
                          <a:solidFill>
                            <a:srgbClr val="14313B"/>
                          </a:solidFill>
                          <a:latin typeface="Calibri (MS)"/>
                        </a:rPr>
                        <a:t>−7,09</a:t>
                      </a:r>
                    </a:p>
                  </a:txBody>
                  <a:tcPr marL="73152" marR="73152" marT="36576" marB="36576" anchor="ctr">
                    <a:solidFill>
                      <a:srgbClr val="FFF1BF"/>
                    </a:solidFill>
                  </a:tcPr>
                </a:tc>
                <a:tc>
                  <a:txBody>
                    <a:bodyPr wrap="square"/>
                    <a:lstStyle/>
                    <a:p>
                      <a:pPr algn="ctr"/>
                      <a:r>
                        <a:rPr sz="950" b="0" i="0">
                          <a:solidFill>
                            <a:srgbClr val="14313B"/>
                          </a:solidFill>
                          <a:latin typeface="Calibri (MS)"/>
                        </a:rPr>
                        <a:t>7,25</a:t>
                      </a:r>
                    </a:p>
                  </a:txBody>
                  <a:tcPr marL="73152" marR="73152" marT="36576" marB="36576" anchor="ctr">
                    <a:solidFill>
                      <a:srgbClr val="FFF1BF"/>
                    </a:solidFill>
                  </a:tcPr>
                </a:tc>
              </a:tr>
              <a:tr h="365760">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r>
                        <a:rPr sz="950" b="0" i="0">
                          <a:solidFill>
                            <a:srgbClr val="14313B"/>
                          </a:solidFill>
                          <a:latin typeface="Calibri (MS)"/>
                        </a:rPr>
                        <a:t>Rasio Investasi terhadap PDRB</a:t>
                      </a:r>
                    </a:p>
                  </a:txBody>
                  <a:tcPr marL="73152" marR="73152" marT="36576" marB="36576" anchor="ctr">
                    <a:solidFill>
                      <a:srgbClr val="FFFFFF"/>
                    </a:solidFill>
                  </a:tcPr>
                </a:tc>
                <a:tc>
                  <a:txBody>
                    <a:bodyPr wrap="square"/>
                    <a:lstStyle/>
                    <a:p>
                      <a:pPr algn="ctr"/>
                      <a:r>
                        <a:rPr sz="950" b="0" i="0">
                          <a:solidFill>
                            <a:srgbClr val="14313B"/>
                          </a:solidFill>
                          <a:latin typeface="Calibri (MS)"/>
                        </a:rPr>
                        <a:t>−2,55</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c>
                  <a:txBody>
                    <a:bodyPr wrap="square"/>
                    <a:lstStyle/>
                    <a:p>
                      <a:pPr algn="ctr"/>
                      <a:r>
                        <a:rPr sz="950" b="0" i="0">
                          <a:solidFill>
                            <a:srgbClr val="14313B"/>
                          </a:solidFill>
                          <a:latin typeface="Calibri (MS)"/>
                        </a:rPr>
                        <a:t>−2,55</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−4,11</a:t>
                      </a:r>
                    </a:p>
                  </a:txBody>
                  <a:tcPr marL="73152" marR="73152" marT="36576" marB="36576" anchor="ctr">
                    <a:solidFill>
                      <a:srgbClr val="EAF8FA"/>
                    </a:solidFill>
                  </a:tcPr>
                </a:tc>
                <a:tc>
                  <a:txBody>
                    <a:bodyPr wrap="square"/>
                    <a:lstStyle/>
                    <a:p>
                      <a:pPr algn="ctr"/>
                      <a:r>
                        <a:rPr sz="950" b="0" i="0">
                          <a:solidFill>
                            <a:srgbClr val="14313B"/>
                          </a:solidFill>
                          <a:latin typeface="Calibri (MS)"/>
                        </a:rPr>
                        <a:t>3,97</a:t>
                      </a:r>
                    </a:p>
                  </a:txBody>
                  <a:tcPr marL="73152" marR="73152" marT="36576" marB="36576" anchor="ctr">
                    <a:solidFill>
                      <a:srgbClr val="EAF8FA"/>
                    </a:solidFill>
                  </a:tcPr>
                </a:tc>
                <a:tc>
                  <a:txBody>
                    <a:bodyPr wrap="square"/>
                    <a:lstStyle/>
                    <a:p>
                      <a:pPr algn="ctr"/>
                      <a:r>
                        <a:rPr sz="950" b="0" i="0">
                          <a:solidFill>
                            <a:srgbClr val="14313B"/>
                          </a:solidFill>
                          <a:latin typeface="Calibri (MS)"/>
                        </a:rPr>
                        <a:t>−2,38</a:t>
                      </a:r>
                    </a:p>
                  </a:txBody>
                  <a:tcPr marL="73152" marR="73152" marT="36576" marB="36576" anchor="ctr">
                    <a:solidFill>
                      <a:srgbClr val="EAF8FA"/>
                    </a:solidFill>
                  </a:tcPr>
                </a:tc>
                <a:tc>
                  <a:txBody>
                    <a:bodyPr wrap="square"/>
                    <a:lstStyle/>
                    <a:p>
                      <a:pPr algn="ctr"/>
                      <a:r>
                        <a:rPr sz="950" b="0" i="0">
                          <a:solidFill>
                            <a:srgbClr val="14313B"/>
                          </a:solidFill>
                          <a:latin typeface="Calibri (MS)"/>
                        </a:rPr>
                        <a:t>2,39</a:t>
                      </a:r>
                    </a:p>
                  </a:txBody>
                  <a:tcPr marL="73152" marR="73152" marT="36576" marB="36576" anchor="ctr">
                    <a:solidFill>
                      <a:srgbClr val="EAF8FA"/>
                    </a:solidFill>
                  </a:tcPr>
                </a:tc>
                <a:tc>
                  <a:txBody>
                    <a:bodyPr wrap="square"/>
                    <a:lstStyle/>
                    <a:p>
                      <a:pPr algn="ctr"/>
                      <a:r>
                        <a:rPr sz="950" b="0" i="0">
                          <a:solidFill>
                            <a:srgbClr val="14313B"/>
                          </a:solidFill>
                          <a:latin typeface="Calibri (MS)"/>
                        </a:rPr>
                        <a:t>−7,08</a:t>
                      </a:r>
                    </a:p>
                  </a:txBody>
                  <a:tcPr marL="73152" marR="73152" marT="36576" marB="36576" anchor="ctr">
                    <a:solidFill>
                      <a:srgbClr val="FFF1BF"/>
                    </a:solidFill>
                  </a:tcPr>
                </a:tc>
                <a:tc>
                  <a:txBody>
                    <a:bodyPr wrap="square"/>
                    <a:lstStyle/>
                    <a:p>
                      <a:pPr algn="ctr"/>
                      <a:r>
                        <a:rPr sz="950" b="0" i="0">
                          <a:solidFill>
                            <a:srgbClr val="14313B"/>
                          </a:solidFill>
                          <a:latin typeface="Calibri (MS)"/>
                        </a:rPr>
                        <a:t>7,25</a:t>
                      </a:r>
                    </a:p>
                  </a:txBody>
                  <a:tcPr marL="73152" marR="73152" marT="36576" marB="36576" anchor="ctr">
                    <a:solidFill>
                      <a:srgbClr val="FFF1BF"/>
                    </a:solidFill>
                  </a:tcPr>
                </a:tc>
              </a:tr>
              <a:tr h="365760">
                <a:tc>
                  <a:txBody>
                    <a:bodyPr wrap="square"/>
                    <a:lstStyle/>
                    <a:p>
                      <a:pPr algn="ctr"/>
                      <a:r>
                        <a:rPr sz="950" b="0" i="0">
                          <a:solidFill>
                            <a:srgbClr val="14313B"/>
                          </a:solidFill>
                          <a:latin typeface="Calibri (MS)"/>
                        </a:rPr>
                        <a:t>10</a:t>
                      </a:r>
                    </a:p>
                  </a:txBody>
                  <a:tcPr marL="73152" marR="73152" marT="36576" marB="36576" anchor="ctr">
                    <a:solidFill>
                      <a:srgbClr val="EAF8FA"/>
                    </a:solidFill>
                  </a:tcPr>
                </a:tc>
                <a:tc>
                  <a:txBody>
                    <a:bodyPr wrap="square"/>
                    <a:lstStyle/>
                    <a:p>
                      <a:r>
                        <a:rPr sz="95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pPr algn="ctr"/>
                      <a:r>
                        <a:rPr sz="950" b="0" i="0">
                          <a:solidFill>
                            <a:srgbClr val="14313B"/>
                          </a:solidFill>
                          <a:latin typeface="Calibri (MS)"/>
                        </a:rPr>
                        <a:t>−2,55</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−0,05</a:t>
                      </a:r>
                    </a:p>
                  </a:txBody>
                  <a:tcPr marL="73152" marR="73152" marT="36576" marB="36576" anchor="ctr">
                    <a:solidFill>
                      <a:srgbClr val="EAF8FA"/>
                    </a:solidFill>
                  </a:tcPr>
                </a:tc>
                <a:tc>
                  <a:txBody>
                    <a:bodyPr wrap="square"/>
                    <a:lstStyle/>
                    <a:p>
                      <a:pPr algn="ctr"/>
                      <a:r>
                        <a:rPr sz="950" b="0" i="0">
                          <a:solidFill>
                            <a:srgbClr val="14313B"/>
                          </a:solidFill>
                          <a:latin typeface="Calibri (MS)"/>
                        </a:rPr>
                        <a:t>0,05</a:t>
                      </a:r>
                    </a:p>
                  </a:txBody>
                  <a:tcPr marL="73152" marR="73152" marT="36576" marB="36576" anchor="ctr">
                    <a:solidFill>
                      <a:srgbClr val="EAF8FA"/>
                    </a:solidFill>
                  </a:tcPr>
                </a:tc>
                <a:tc>
                  <a:txBody>
                    <a:bodyPr wrap="square"/>
                    <a:lstStyle/>
                    <a:p>
                      <a:pPr algn="ctr"/>
                      <a:r>
                        <a:rPr sz="950" b="0" i="0">
                          <a:solidFill>
                            <a:srgbClr val="14313B"/>
                          </a:solidFill>
                          <a:latin typeface="Calibri (MS)"/>
                        </a:rPr>
                        <a:t>−12,30</a:t>
                      </a:r>
                    </a:p>
                  </a:txBody>
                  <a:tcPr marL="73152" marR="73152" marT="36576" marB="36576" anchor="ctr">
                    <a:solidFill>
                      <a:srgbClr val="FDE2DE"/>
                    </a:solidFill>
                  </a:tcPr>
                </a:tc>
                <a:tc>
                  <a:txBody>
                    <a:bodyPr wrap="square"/>
                    <a:lstStyle/>
                    <a:p>
                      <a:pPr algn="ctr"/>
                      <a:r>
                        <a:rPr sz="950" b="0" i="0">
                          <a:solidFill>
                            <a:srgbClr val="14313B"/>
                          </a:solidFill>
                          <a:latin typeface="Calibri (MS)"/>
                        </a:rPr>
                        <a:t>12,82</a:t>
                      </a:r>
                    </a:p>
                  </a:txBody>
                  <a:tcPr marL="73152" marR="73152" marT="36576" marB="36576" anchor="ctr">
                    <a:solidFill>
                      <a:srgbClr val="FDE2DE"/>
                    </a:solidFill>
                  </a:tcPr>
                </a:tc>
                <a:tc>
                  <a:txBody>
                    <a:bodyPr wrap="square"/>
                    <a:lstStyle/>
                    <a:p>
                      <a:pPr algn="ctr"/>
                      <a:r>
                        <a:rPr sz="950" b="0" i="0">
                          <a:solidFill>
                            <a:srgbClr val="14313B"/>
                          </a:solidFill>
                          <a:latin typeface="Calibri (MS)"/>
                        </a:rPr>
                        <a:t>−4,11</a:t>
                      </a:r>
                    </a:p>
                  </a:txBody>
                  <a:tcPr marL="73152" marR="73152" marT="36576" marB="36576" anchor="ctr">
                    <a:solidFill>
                      <a:srgbClr val="EAF8FA"/>
                    </a:solidFill>
                  </a:tcPr>
                </a:tc>
                <a:tc>
                  <a:txBody>
                    <a:bodyPr wrap="square"/>
                    <a:lstStyle/>
                    <a:p>
                      <a:pPr algn="ctr"/>
                      <a:r>
                        <a:rPr sz="950" b="0" i="0">
                          <a:solidFill>
                            <a:srgbClr val="14313B"/>
                          </a:solidFill>
                          <a:latin typeface="Calibri (MS)"/>
                        </a:rPr>
                        <a:t>3,97</a:t>
                      </a:r>
                    </a:p>
                  </a:txBody>
                  <a:tcPr marL="73152" marR="73152" marT="36576" marB="36576" anchor="ctr">
                    <a:solidFill>
                      <a:srgbClr val="EAF8FA"/>
                    </a:solidFill>
                  </a:tcPr>
                </a:tc>
                <a:tc>
                  <a:txBody>
                    <a:bodyPr wrap="square"/>
                    <a:lstStyle/>
                    <a:p>
                      <a:pPr algn="ctr"/>
                      <a:r>
                        <a:rPr sz="950" b="0" i="0">
                          <a:solidFill>
                            <a:srgbClr val="14313B"/>
                          </a:solidFill>
                          <a:latin typeface="Calibri (MS)"/>
                        </a:rPr>
                        <a:t>−12,15</a:t>
                      </a:r>
                    </a:p>
                  </a:txBody>
                  <a:tcPr marL="73152" marR="73152" marT="36576" marB="36576" anchor="ctr">
                    <a:solidFill>
                      <a:srgbClr val="FDE2DE"/>
                    </a:solidFill>
                  </a:tcPr>
                </a:tc>
                <a:tc>
                  <a:txBody>
                    <a:bodyPr wrap="square"/>
                    <a:lstStyle/>
                    <a:p>
                      <a:pPr algn="ctr"/>
                      <a:r>
                        <a:rPr sz="950" b="0" i="0">
                          <a:solidFill>
                            <a:srgbClr val="14313B"/>
                          </a:solidFill>
                          <a:latin typeface="Calibri (MS)"/>
                        </a:rPr>
                        <a:t>12,63</a:t>
                      </a:r>
                    </a:p>
                  </a:txBody>
                  <a:tcPr marL="73152" marR="73152" marT="36576" marB="36576" anchor="ctr">
                    <a:solidFill>
                      <a:srgbClr val="FDE2DE"/>
                    </a:solidFill>
                  </a:tcPr>
                </a:tc>
                <a:tc>
                  <a:txBody>
                    <a:bodyPr wrap="square"/>
                    <a:lstStyle/>
                    <a:p>
                      <a:pPr algn="ctr"/>
                      <a:r>
                        <a:rPr sz="950" b="0" i="0">
                          <a:solidFill>
                            <a:srgbClr val="14313B"/>
                          </a:solidFill>
                          <a:latin typeface="Calibri (MS)"/>
                        </a:rPr>
                        <a:t>−7,08</a:t>
                      </a:r>
                    </a:p>
                  </a:txBody>
                  <a:tcPr marL="73152" marR="73152" marT="36576" marB="36576" anchor="ctr">
                    <a:solidFill>
                      <a:srgbClr val="FFF1BF"/>
                    </a:solidFill>
                  </a:tcPr>
                </a:tc>
                <a:tc>
                  <a:txBody>
                    <a:bodyPr wrap="square"/>
                    <a:lstStyle/>
                    <a:p>
                      <a:pPr algn="ctr"/>
                      <a:r>
                        <a:rPr sz="950" b="0" i="0">
                          <a:solidFill>
                            <a:srgbClr val="14313B"/>
                          </a:solidFill>
                          <a:latin typeface="Calibri (MS)"/>
                        </a:rPr>
                        <a:t>7,25</a:t>
                      </a:r>
                    </a:p>
                  </a:txBody>
                  <a:tcPr marL="73152" marR="73152" marT="36576" marB="36576" anchor="ctr">
                    <a:solidFill>
                      <a:srgbClr val="FFF1BF"/>
                    </a:solidFill>
                  </a:tcPr>
                </a:tc>
              </a:tr>
              <a:tr h="365760">
                <a:tc>
                  <a:txBody>
                    <a:bodyPr wrap="square"/>
                    <a:lstStyle/>
                    <a:p>
                      <a:pPr algn="ctr"/>
                      <a:r>
                        <a:rPr sz="950" b="0" i="0">
                          <a:solidFill>
                            <a:srgbClr val="14313B"/>
                          </a:solidFill>
                          <a:latin typeface="Calibri (MS)"/>
                        </a:rPr>
                        <a:t>10</a:t>
                      </a:r>
                    </a:p>
                  </a:txBody>
                  <a:tcPr marL="73152" marR="73152" marT="36576" marB="36576" anchor="ctr">
                    <a:solidFill>
                      <a:srgbClr val="FFFFFF"/>
                    </a:solidFill>
                  </a:tcPr>
                </a:tc>
                <a:tc>
                  <a:txBody>
                    <a:bodyPr wrap="square"/>
                    <a:lstStyle/>
                    <a:p>
                      <a:r>
                        <a:rPr sz="950" b="0" i="0">
                          <a:solidFill>
                            <a:srgbClr val="14313B"/>
                          </a:solidFill>
                          <a:latin typeface="Calibri (MS)"/>
                        </a:rPr>
                        <a:t>Pengeluaran per Kunjungan</a:t>
                      </a:r>
                    </a:p>
                  </a:txBody>
                  <a:tcPr marL="73152" marR="73152" marT="36576" marB="36576" anchor="ctr">
                    <a:solidFill>
                      <a:srgbClr val="FFFFFF"/>
                    </a:solidFill>
                  </a:tcPr>
                </a:tc>
                <a:tc>
                  <a:txBody>
                    <a:bodyPr wrap="square"/>
                    <a:lstStyle/>
                    <a:p>
                      <a:pPr algn="ctr"/>
                      <a:r>
                        <a:rPr sz="950" b="0" i="0">
                          <a:solidFill>
                            <a:srgbClr val="14313B"/>
                          </a:solidFill>
                          <a:latin typeface="Calibri (MS)"/>
                        </a:rPr>
                        <a:t>−2,55</a:t>
                      </a:r>
                    </a:p>
                  </a:txBody>
                  <a:tcPr marL="73152" marR="73152" marT="36576" marB="36576" anchor="ctr">
                    <a:solidFill>
                      <a:srgbClr val="EAF8FA"/>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c>
                  <a:txBody>
                    <a:bodyPr wrap="square"/>
                    <a:lstStyle/>
                    <a:p>
                      <a:pPr algn="ctr"/>
                      <a:r>
                        <a:rPr sz="950" b="0" i="0">
                          <a:solidFill>
                            <a:srgbClr val="14313B"/>
                          </a:solidFill>
                          <a:latin typeface="Calibri (MS)"/>
                        </a:rPr>
                        <a:t>−12,30</a:t>
                      </a:r>
                    </a:p>
                  </a:txBody>
                  <a:tcPr marL="73152" marR="73152" marT="36576" marB="36576" anchor="ctr">
                    <a:solidFill>
                      <a:srgbClr val="FDE2DE"/>
                    </a:solidFill>
                  </a:tcPr>
                </a:tc>
                <a:tc>
                  <a:txBody>
                    <a:bodyPr wrap="square"/>
                    <a:lstStyle/>
                    <a:p>
                      <a:pPr algn="ctr"/>
                      <a:r>
                        <a:rPr sz="950" b="0" i="0">
                          <a:solidFill>
                            <a:srgbClr val="14313B"/>
                          </a:solidFill>
                          <a:latin typeface="Calibri (MS)"/>
                        </a:rPr>
                        <a:t>12,82</a:t>
                      </a:r>
                    </a:p>
                  </a:txBody>
                  <a:tcPr marL="73152" marR="73152" marT="36576" marB="36576" anchor="ctr">
                    <a:solidFill>
                      <a:srgbClr val="FDE2DE"/>
                    </a:solidFill>
                  </a:tcPr>
                </a:tc>
                <a:tc>
                  <a:txBody>
                    <a:bodyPr wrap="square"/>
                    <a:lstStyle/>
                    <a:p>
                      <a:pPr algn="ctr"/>
                      <a:r>
                        <a:rPr sz="950" b="0" i="0">
                          <a:solidFill>
                            <a:srgbClr val="14313B"/>
                          </a:solidFill>
                          <a:latin typeface="Calibri (MS)"/>
                        </a:rPr>
                        <a:t>−4,11</a:t>
                      </a:r>
                    </a:p>
                  </a:txBody>
                  <a:tcPr marL="73152" marR="73152" marT="36576" marB="36576" anchor="ctr">
                    <a:solidFill>
                      <a:srgbClr val="EAF8FA"/>
                    </a:solidFill>
                  </a:tcPr>
                </a:tc>
                <a:tc>
                  <a:txBody>
                    <a:bodyPr wrap="square"/>
                    <a:lstStyle/>
                    <a:p>
                      <a:pPr algn="ctr"/>
                      <a:r>
                        <a:rPr sz="950" b="0" i="0">
                          <a:solidFill>
                            <a:srgbClr val="14313B"/>
                          </a:solidFill>
                          <a:latin typeface="Calibri (MS)"/>
                        </a:rPr>
                        <a:t>3,97</a:t>
                      </a:r>
                    </a:p>
                  </a:txBody>
                  <a:tcPr marL="73152" marR="73152" marT="36576" marB="36576" anchor="ctr">
                    <a:solidFill>
                      <a:srgbClr val="EAF8FA"/>
                    </a:solidFill>
                  </a:tcPr>
                </a:tc>
                <a:tc>
                  <a:txBody>
                    <a:bodyPr wrap="square"/>
                    <a:lstStyle/>
                    <a:p>
                      <a:pPr algn="ctr"/>
                      <a:r>
                        <a:rPr sz="950" b="0" i="0">
                          <a:solidFill>
                            <a:srgbClr val="14313B"/>
                          </a:solidFill>
                          <a:latin typeface="Calibri (MS)"/>
                        </a:rPr>
                        <a:t>−12,15</a:t>
                      </a:r>
                    </a:p>
                  </a:txBody>
                  <a:tcPr marL="73152" marR="73152" marT="36576" marB="36576" anchor="ctr">
                    <a:solidFill>
                      <a:srgbClr val="FDE2DE"/>
                    </a:solidFill>
                  </a:tcPr>
                </a:tc>
                <a:tc>
                  <a:txBody>
                    <a:bodyPr wrap="square"/>
                    <a:lstStyle/>
                    <a:p>
                      <a:pPr algn="ctr"/>
                      <a:r>
                        <a:rPr sz="950" b="0" i="0">
                          <a:solidFill>
                            <a:srgbClr val="14313B"/>
                          </a:solidFill>
                          <a:latin typeface="Calibri (MS)"/>
                        </a:rPr>
                        <a:t>12,63</a:t>
                      </a:r>
                    </a:p>
                  </a:txBody>
                  <a:tcPr marL="73152" marR="73152" marT="36576" marB="36576" anchor="ctr">
                    <a:solidFill>
                      <a:srgbClr val="FDE2DE"/>
                    </a:solidFill>
                  </a:tcPr>
                </a:tc>
                <a:tc>
                  <a:txBody>
                    <a:bodyPr wrap="square"/>
                    <a:lstStyle/>
                    <a:p>
                      <a:pPr algn="ctr"/>
                      <a:r>
                        <a:rPr sz="950" b="0" i="0">
                          <a:solidFill>
                            <a:srgbClr val="14313B"/>
                          </a:solidFill>
                          <a:latin typeface="Calibri (MS)"/>
                        </a:rPr>
                        <a:t>−7,08</a:t>
                      </a:r>
                    </a:p>
                  </a:txBody>
                  <a:tcPr marL="73152" marR="73152" marT="36576" marB="36576" anchor="ctr">
                    <a:solidFill>
                      <a:srgbClr val="FFF1BF"/>
                    </a:solidFill>
                  </a:tcPr>
                </a:tc>
                <a:tc>
                  <a:txBody>
                    <a:bodyPr wrap="square"/>
                    <a:lstStyle/>
                    <a:p>
                      <a:pPr algn="ctr"/>
                      <a:r>
                        <a:rPr sz="950" b="0" i="0">
                          <a:solidFill>
                            <a:srgbClr val="14313B"/>
                          </a:solidFill>
                          <a:latin typeface="Calibri (MS)"/>
                        </a:rPr>
                        <a:t>7,25</a:t>
                      </a:r>
                    </a:p>
                  </a:txBody>
                  <a:tcPr marL="73152" marR="73152" marT="36576" marB="36576" anchor="ctr">
                    <a:solidFill>
                      <a:srgbClr val="FFF1BF"/>
                    </a:solidFill>
                  </a:tcPr>
                </a:tc>
              </a:tr>
              <a:tr h="365760">
                <a:tc>
                  <a:txBody>
                    <a:bodyPr wrap="square"/>
                    <a:lstStyle/>
                    <a:p>
                      <a:pPr algn="ctr"/>
                      <a:r>
                        <a:rPr sz="950" b="0" i="0">
                          <a:solidFill>
                            <a:srgbClr val="14313B"/>
                          </a:solidFill>
                          <a:latin typeface="Calibri (MS)"/>
                        </a:rPr>
                        <a:t>12</a:t>
                      </a:r>
                    </a:p>
                  </a:txBody>
                  <a:tcPr marL="73152" marR="73152" marT="36576" marB="36576" anchor="ctr">
                    <a:solidFill>
                      <a:srgbClr val="EAF8FA"/>
                    </a:solidFill>
                  </a:tcPr>
                </a:tc>
                <a:tc>
                  <a:txBody>
                    <a:bodyPr wrap="square"/>
                    <a:lstStyle/>
                    <a:p>
                      <a:r>
                        <a:rPr sz="950" b="0" i="0">
                          <a:solidFill>
                            <a:srgbClr val="14313B"/>
                          </a:solidFill>
                          <a:latin typeface="Calibri (MS)"/>
                        </a:rPr>
                        <a:t>Elastisitas Daya Tarik ODTW</a:t>
                      </a:r>
                    </a:p>
                  </a:txBody>
                  <a:tcPr marL="73152" marR="73152" marT="36576" marB="36576" anchor="ctr">
                    <a:solidFill>
                      <a:srgbClr val="EAF8FA"/>
                    </a:solidFill>
                  </a:tcPr>
                </a:tc>
                <a:tc>
                  <a:txBody>
                    <a:bodyPr wrap="square"/>
                    <a:lstStyle/>
                    <a:p>
                      <a:pPr algn="ctr"/>
                      <a:r>
                        <a:rPr sz="950" b="0" i="0">
                          <a:solidFill>
                            <a:srgbClr val="14313B"/>
                          </a:solidFill>
                          <a:latin typeface="Calibri (MS)"/>
                        </a:rPr>
                        <a:t>−1,83</a:t>
                      </a:r>
                    </a:p>
                  </a:txBody>
                  <a:tcPr marL="73152" marR="73152" marT="36576" marB="36576" anchor="ctr">
                    <a:solidFill>
                      <a:srgbClr val="EAF8FA"/>
                    </a:solidFill>
                  </a:tcPr>
                </a:tc>
                <a:tc>
                  <a:txBody>
                    <a:bodyPr wrap="square"/>
                    <a:lstStyle/>
                    <a:p>
                      <a:pPr algn="ctr"/>
                      <a:r>
                        <a:rPr sz="950" b="0" i="0">
                          <a:solidFill>
                            <a:srgbClr val="14313B"/>
                          </a:solidFill>
                          <a:latin typeface="Calibri (MS)"/>
                        </a:rPr>
                        <a:t>1,90</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−1,83</a:t>
                      </a:r>
                    </a:p>
                  </a:txBody>
                  <a:tcPr marL="73152" marR="73152" marT="36576" marB="36576" anchor="ctr">
                    <a:solidFill>
                      <a:srgbClr val="EAF8FA"/>
                    </a:solidFill>
                  </a:tcPr>
                </a:tc>
                <a:tc>
                  <a:txBody>
                    <a:bodyPr wrap="square"/>
                    <a:lstStyle/>
                    <a:p>
                      <a:pPr algn="ctr"/>
                      <a:r>
                        <a:rPr sz="950" b="0" i="0">
                          <a:solidFill>
                            <a:srgbClr val="14313B"/>
                          </a:solidFill>
                          <a:latin typeface="Calibri (MS)"/>
                        </a:rPr>
                        <a:t>1,90</a:t>
                      </a:r>
                    </a:p>
                  </a:txBody>
                  <a:tcPr marL="73152" marR="73152" marT="36576" marB="36576" anchor="ctr">
                    <a:solidFill>
                      <a:srgbClr val="EAF8FA"/>
                    </a:solidFill>
                  </a:tcPr>
                </a:tc>
                <a:tc>
                  <a:txBody>
                    <a:bodyPr wrap="square"/>
                    <a:lstStyle/>
                    <a:p>
                      <a:pPr algn="ctr"/>
                      <a:r>
                        <a:rPr sz="950" b="0" i="0">
                          <a:solidFill>
                            <a:srgbClr val="14313B"/>
                          </a:solidFill>
                          <a:latin typeface="Calibri (MS)"/>
                        </a:rPr>
                        <a:t>−1,43</a:t>
                      </a:r>
                    </a:p>
                  </a:txBody>
                  <a:tcPr marL="73152" marR="73152" marT="36576" marB="36576" anchor="ctr">
                    <a:solidFill>
                      <a:srgbClr val="EAF8FA"/>
                    </a:solidFill>
                  </a:tcPr>
                </a:tc>
                <a:tc>
                  <a:txBody>
                    <a:bodyPr wrap="square"/>
                    <a:lstStyle/>
                    <a:p>
                      <a:pPr algn="ctr"/>
                      <a:r>
                        <a:rPr sz="950" b="0" i="0">
                          <a:solidFill>
                            <a:srgbClr val="14313B"/>
                          </a:solidFill>
                          <a:latin typeface="Calibri (MS)"/>
                        </a:rPr>
                        <a:t>1,47</a:t>
                      </a:r>
                    </a:p>
                  </a:txBody>
                  <a:tcPr marL="73152" marR="73152" marT="36576" marB="36576" anchor="ctr">
                    <a:solidFill>
                      <a:srgbClr val="EAF8FA"/>
                    </a:solidFill>
                  </a:tcPr>
                </a:tc>
                <a:tc>
                  <a:txBody>
                    <a:bodyPr wrap="square"/>
                    <a:lstStyle/>
                    <a:p>
                      <a:pPr algn="ctr"/>
                      <a:r>
                        <a:rPr sz="950" b="0" i="0">
                          <a:solidFill>
                            <a:srgbClr val="14313B"/>
                          </a:solidFill>
                          <a:latin typeface="Calibri (MS)"/>
                        </a:rPr>
                        <a:t>−1,67</a:t>
                      </a:r>
                    </a:p>
                  </a:txBody>
                  <a:tcPr marL="73152" marR="73152" marT="36576" marB="36576" anchor="ctr">
                    <a:solidFill>
                      <a:srgbClr val="EAF8FA"/>
                    </a:solidFill>
                  </a:tcPr>
                </a:tc>
                <a:tc>
                  <a:txBody>
                    <a:bodyPr wrap="square"/>
                    <a:lstStyle/>
                    <a:p>
                      <a:pPr algn="ctr"/>
                      <a:r>
                        <a:rPr sz="950" b="0" i="0">
                          <a:solidFill>
                            <a:srgbClr val="14313B"/>
                          </a:solidFill>
                          <a:latin typeface="Calibri (MS)"/>
                        </a:rPr>
                        <a:t>1,73</a:t>
                      </a:r>
                    </a:p>
                  </a:txBody>
                  <a:tcPr marL="73152" marR="73152" marT="36576" marB="36576" anchor="ctr">
                    <a:solidFill>
                      <a:srgbClr val="EAF8FA"/>
                    </a:solidFill>
                  </a:tcPr>
                </a:tc>
                <a:tc>
                  <a:txBody>
                    <a:bodyPr wrap="square"/>
                    <a:lstStyle/>
                    <a:p>
                      <a:pPr algn="ctr"/>
                      <a:r>
                        <a:rPr sz="950" b="0" i="0">
                          <a:solidFill>
                            <a:srgbClr val="14313B"/>
                          </a:solidFill>
                          <a:latin typeface="Calibri (MS)"/>
                        </a:rPr>
                        <a:t>−0,50</a:t>
                      </a:r>
                    </a:p>
                  </a:txBody>
                  <a:tcPr marL="73152" marR="73152" marT="36576" marB="36576" anchor="ctr">
                    <a:solidFill>
                      <a:srgbClr val="EAF8FA"/>
                    </a:solidFill>
                  </a:tcPr>
                </a:tc>
                <a:tc>
                  <a:txBody>
                    <a:bodyPr wrap="square"/>
                    <a:lstStyle/>
                    <a:p>
                      <a:pPr algn="ctr"/>
                      <a:r>
                        <a:rPr sz="950" b="0" i="0">
                          <a:solidFill>
                            <a:srgbClr val="14313B"/>
                          </a:solidFill>
                          <a:latin typeface="Calibri (MS)"/>
                        </a:rPr>
                        <a:t>0,51</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13</a:t>
                      </a:r>
                    </a:p>
                  </a:txBody>
                  <a:tcPr marL="73152" marR="73152" marT="36576" marB="36576" anchor="ctr">
                    <a:solidFill>
                      <a:srgbClr val="FFFFFF"/>
                    </a:solidFill>
                  </a:tcPr>
                </a:tc>
                <a:tc>
                  <a:txBody>
                    <a:bodyPr wrap="square"/>
                    <a:lstStyle/>
                    <a:p>
                      <a:r>
                        <a:rPr sz="950" b="0" i="0">
                          <a:solidFill>
                            <a:srgbClr val="14313B"/>
                          </a:solidFill>
                          <a:latin typeface="Calibri (MS)"/>
                        </a:rPr>
                        <a:t>Laju Konversi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1,70</a:t>
                      </a:r>
                    </a:p>
                  </a:txBody>
                  <a:tcPr marL="73152" marR="73152" marT="36576" marB="36576" anchor="ctr">
                    <a:solidFill>
                      <a:srgbClr val="EAF8FA"/>
                    </a:solidFill>
                  </a:tcPr>
                </a:tc>
                <a:tc>
                  <a:txBody>
                    <a:bodyPr wrap="square"/>
                    <a:lstStyle/>
                    <a:p>
                      <a:pPr algn="ctr"/>
                      <a:r>
                        <a:rPr sz="950" b="0" i="0">
                          <a:solidFill>
                            <a:srgbClr val="14313B"/>
                          </a:solidFill>
                          <a:latin typeface="Calibri (MS)"/>
                        </a:rPr>
                        <a:t>−1,71</a:t>
                      </a:r>
                    </a:p>
                  </a:txBody>
                  <a:tcPr marL="73152" marR="73152" marT="36576" marB="36576" anchor="ctr">
                    <a:solidFill>
                      <a:srgbClr val="EAF8FA"/>
                    </a:solidFill>
                  </a:tcPr>
                </a:tc>
                <a:tc>
                  <a:txBody>
                    <a:bodyPr wrap="square"/>
                    <a:lstStyle/>
                    <a:p>
                      <a:pPr algn="ctr"/>
                      <a:r>
                        <a:rPr sz="950" b="0" i="0">
                          <a:solidFill>
                            <a:srgbClr val="14313B"/>
                          </a:solidFill>
                          <a:latin typeface="Calibri (MS)"/>
                        </a:rPr>
                        <a:t>−6,47</a:t>
                      </a:r>
                    </a:p>
                  </a:txBody>
                  <a:tcPr marL="73152" marR="73152" marT="36576" marB="36576" anchor="ctr">
                    <a:solidFill>
                      <a:srgbClr val="FFF1BF"/>
                    </a:solidFill>
                  </a:tcPr>
                </a:tc>
                <a:tc>
                  <a:txBody>
                    <a:bodyPr wrap="square"/>
                    <a:lstStyle/>
                    <a:p>
                      <a:pPr algn="ctr"/>
                      <a:r>
                        <a:rPr sz="950" b="0" i="0">
                          <a:solidFill>
                            <a:srgbClr val="14313B"/>
                          </a:solidFill>
                          <a:latin typeface="Calibri (MS)"/>
                        </a:rPr>
                        <a:t>6,64</a:t>
                      </a:r>
                    </a:p>
                  </a:txBody>
                  <a:tcPr marL="73152" marR="73152" marT="36576" marB="36576" anchor="ctr">
                    <a:solidFill>
                      <a:srgbClr val="FFF1BF"/>
                    </a:solidFill>
                  </a:tcPr>
                </a:tc>
                <a:tc>
                  <a:txBody>
                    <a:bodyPr wrap="square"/>
                    <a:lstStyle/>
                    <a:p>
                      <a:pPr algn="ctr"/>
                      <a:r>
                        <a:rPr sz="950" b="0" i="0">
                          <a:solidFill>
                            <a:srgbClr val="14313B"/>
                          </a:solidFill>
                          <a:latin typeface="Calibri (MS)"/>
                        </a:rPr>
                        <a:t>1,70</a:t>
                      </a:r>
                    </a:p>
                  </a:txBody>
                  <a:tcPr marL="73152" marR="73152" marT="36576" marB="36576" anchor="ctr">
                    <a:solidFill>
                      <a:srgbClr val="EAF8FA"/>
                    </a:solidFill>
                  </a:tcPr>
                </a:tc>
                <a:tc>
                  <a:txBody>
                    <a:bodyPr wrap="square"/>
                    <a:lstStyle/>
                    <a:p>
                      <a:pPr algn="ctr"/>
                      <a:r>
                        <a:rPr sz="950" b="0" i="0">
                          <a:solidFill>
                            <a:srgbClr val="14313B"/>
                          </a:solidFill>
                          <a:latin typeface="Calibri (MS)"/>
                        </a:rPr>
                        <a:t>−1,71</a:t>
                      </a:r>
                    </a:p>
                  </a:txBody>
                  <a:tcPr marL="73152" marR="73152" marT="36576" marB="36576" anchor="ctr">
                    <a:solidFill>
                      <a:srgbClr val="EAF8FA"/>
                    </a:solidFill>
                  </a:tcPr>
                </a:tc>
                <a:tc>
                  <a:txBody>
                    <a:bodyPr wrap="square"/>
                    <a:lstStyle/>
                    <a:p>
                      <a:pPr algn="ctr"/>
                      <a:r>
                        <a:rPr sz="950" b="0" i="0">
                          <a:solidFill>
                            <a:srgbClr val="14313B"/>
                          </a:solidFill>
                          <a:latin typeface="Calibri (MS)"/>
                        </a:rPr>
                        <a:t>1,33</a:t>
                      </a:r>
                    </a:p>
                  </a:txBody>
                  <a:tcPr marL="73152" marR="73152" marT="36576" marB="36576" anchor="ctr">
                    <a:solidFill>
                      <a:srgbClr val="EAF8FA"/>
                    </a:solidFill>
                  </a:tcPr>
                </a:tc>
                <a:tc>
                  <a:txBody>
                    <a:bodyPr wrap="square"/>
                    <a:lstStyle/>
                    <a:p>
                      <a:pPr algn="ctr"/>
                      <a:r>
                        <a:rPr sz="950" b="0" i="0">
                          <a:solidFill>
                            <a:srgbClr val="14313B"/>
                          </a:solidFill>
                          <a:latin typeface="Calibri (MS)"/>
                        </a:rPr>
                        <a:t>−1,34</a:t>
                      </a:r>
                    </a:p>
                  </a:txBody>
                  <a:tcPr marL="73152" marR="73152" marT="36576" marB="36576" anchor="ctr">
                    <a:solidFill>
                      <a:srgbClr val="EAF8FA"/>
                    </a:solidFill>
                  </a:tcPr>
                </a:tc>
                <a:tc>
                  <a:txBody>
                    <a:bodyPr wrap="square"/>
                    <a:lstStyle/>
                    <a:p>
                      <a:pPr algn="ctr"/>
                      <a:r>
                        <a:rPr sz="950" b="0" i="0">
                          <a:solidFill>
                            <a:srgbClr val="14313B"/>
                          </a:solidFill>
                          <a:latin typeface="Calibri (MS)"/>
                        </a:rPr>
                        <a:t>1,55</a:t>
                      </a:r>
                    </a:p>
                  </a:txBody>
                  <a:tcPr marL="73152" marR="73152" marT="36576" marB="36576" anchor="ctr">
                    <a:solidFill>
                      <a:srgbClr val="EAF8FA"/>
                    </a:solidFill>
                  </a:tcPr>
                </a:tc>
                <a:tc>
                  <a:txBody>
                    <a:bodyPr wrap="square"/>
                    <a:lstStyle/>
                    <a:p>
                      <a:pPr algn="ctr"/>
                      <a:r>
                        <a:rPr sz="950" b="0" i="0">
                          <a:solidFill>
                            <a:srgbClr val="14313B"/>
                          </a:solidFill>
                          <a:latin typeface="Calibri (MS)"/>
                        </a:rPr>
                        <a:t>−1,56</a:t>
                      </a:r>
                    </a:p>
                  </a:txBody>
                  <a:tcPr marL="73152" marR="73152" marT="36576" marB="36576" anchor="ctr">
                    <a:solidFill>
                      <a:srgbClr val="EAF8FA"/>
                    </a:solidFill>
                  </a:tcPr>
                </a:tc>
                <a:tc>
                  <a:txBody>
                    <a:bodyPr wrap="square"/>
                    <a:lstStyle/>
                    <a:p>
                      <a:pPr algn="ctr"/>
                      <a:r>
                        <a:rPr sz="950" b="0" i="0">
                          <a:solidFill>
                            <a:srgbClr val="14313B"/>
                          </a:solidFill>
                          <a:latin typeface="Calibri (MS)"/>
                        </a:rPr>
                        <a:t>0,48</a:t>
                      </a:r>
                    </a:p>
                  </a:txBody>
                  <a:tcPr marL="73152" marR="73152" marT="36576" marB="36576" anchor="ctr">
                    <a:solidFill>
                      <a:srgbClr val="FFFFFF"/>
                    </a:solidFill>
                  </a:tcPr>
                </a:tc>
                <a:tc>
                  <a:txBody>
                    <a:bodyPr wrap="square"/>
                    <a:lstStyle/>
                    <a:p>
                      <a:pPr algn="ctr"/>
                      <a:r>
                        <a:rPr sz="950" b="0" i="0">
                          <a:solidFill>
                            <a:srgbClr val="14313B"/>
                          </a:solidFill>
                          <a:latin typeface="Calibri (MS)"/>
                        </a:rPr>
                        <a:t>−0,49</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14</a:t>
                      </a:r>
                    </a:p>
                  </a:txBody>
                  <a:tcPr marL="73152" marR="73152" marT="36576" marB="36576" anchor="ctr">
                    <a:solidFill>
                      <a:srgbClr val="EAF8FA"/>
                    </a:solidFill>
                  </a:tcPr>
                </a:tc>
                <a:tc>
                  <a:txBody>
                    <a:bodyPr wrap="square"/>
                    <a:lstStyle/>
                    <a:p>
                      <a:r>
                        <a:rPr sz="950" b="0" i="0">
                          <a:solidFill>
                            <a:srgbClr val="14313B"/>
                          </a:solidFill>
                          <a:latin typeface="Calibri (MS)"/>
                        </a:rPr>
                        <a:t>Laju Pembangunan ODTW Non Investasi</a:t>
                      </a:r>
                    </a:p>
                  </a:txBody>
                  <a:tcPr marL="73152" marR="73152" marT="36576" marB="36576" anchor="ctr">
                    <a:solidFill>
                      <a:srgbClr val="EAF8FA"/>
                    </a:solidFill>
                  </a:tcPr>
                </a:tc>
                <a:tc>
                  <a:txBody>
                    <a:bodyPr wrap="square"/>
                    <a:lstStyle/>
                    <a:p>
                      <a:pPr algn="ctr"/>
                      <a:r>
                        <a:rPr sz="950" b="0" i="0">
                          <a:solidFill>
                            <a:srgbClr val="14313B"/>
                          </a:solidFill>
                          <a:latin typeface="Calibri (MS)"/>
                        </a:rPr>
                        <a:t>−1,04</a:t>
                      </a:r>
                    </a:p>
                  </a:txBody>
                  <a:tcPr marL="73152" marR="73152" marT="36576" marB="36576" anchor="ctr">
                    <a:solidFill>
                      <a:srgbClr val="EAF8FA"/>
                    </a:solidFill>
                  </a:tcPr>
                </a:tc>
                <a:tc>
                  <a:txBody>
                    <a:bodyPr wrap="square"/>
                    <a:lstStyle/>
                    <a:p>
                      <a:pPr algn="ctr"/>
                      <a:r>
                        <a:rPr sz="950" b="0" i="0">
                          <a:solidFill>
                            <a:srgbClr val="14313B"/>
                          </a:solidFill>
                          <a:latin typeface="Calibri (MS)"/>
                        </a:rPr>
                        <a:t>1,04</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−1,04</a:t>
                      </a:r>
                    </a:p>
                  </a:txBody>
                  <a:tcPr marL="73152" marR="73152" marT="36576" marB="36576" anchor="ctr">
                    <a:solidFill>
                      <a:srgbClr val="EAF8FA"/>
                    </a:solidFill>
                  </a:tcPr>
                </a:tc>
                <a:tc>
                  <a:txBody>
                    <a:bodyPr wrap="square"/>
                    <a:lstStyle/>
                    <a:p>
                      <a:pPr algn="ctr"/>
                      <a:r>
                        <a:rPr sz="950" b="0" i="0">
                          <a:solidFill>
                            <a:srgbClr val="14313B"/>
                          </a:solidFill>
                          <a:latin typeface="Calibri (MS)"/>
                        </a:rPr>
                        <a:t>1,04</a:t>
                      </a:r>
                    </a:p>
                  </a:txBody>
                  <a:tcPr marL="73152" marR="73152" marT="36576" marB="36576" anchor="ctr">
                    <a:solidFill>
                      <a:srgbClr val="EAF8FA"/>
                    </a:solidFill>
                  </a:tcPr>
                </a:tc>
                <a:tc>
                  <a:txBody>
                    <a:bodyPr wrap="square"/>
                    <a:lstStyle/>
                    <a:p>
                      <a:pPr algn="ctr"/>
                      <a:r>
                        <a:rPr sz="950" b="0" i="0">
                          <a:solidFill>
                            <a:srgbClr val="14313B"/>
                          </a:solidFill>
                          <a:latin typeface="Calibri (MS)"/>
                        </a:rPr>
                        <a:t>−0,89</a:t>
                      </a:r>
                    </a:p>
                  </a:txBody>
                  <a:tcPr marL="73152" marR="73152" marT="36576" marB="36576" anchor="ctr">
                    <a:solidFill>
                      <a:srgbClr val="EAF8FA"/>
                    </a:solidFill>
                  </a:tcPr>
                </a:tc>
                <a:tc>
                  <a:txBody>
                    <a:bodyPr wrap="square"/>
                    <a:lstStyle/>
                    <a:p>
                      <a:pPr algn="ctr"/>
                      <a:r>
                        <a:rPr sz="950" b="0" i="0">
                          <a:solidFill>
                            <a:srgbClr val="14313B"/>
                          </a:solidFill>
                          <a:latin typeface="Calibri (MS)"/>
                        </a:rPr>
                        <a:t>0,89</a:t>
                      </a:r>
                    </a:p>
                  </a:txBody>
                  <a:tcPr marL="73152" marR="73152" marT="36576" marB="36576" anchor="ctr">
                    <a:solidFill>
                      <a:srgbClr val="EAF8FA"/>
                    </a:solidFill>
                  </a:tcPr>
                </a:tc>
                <a:tc>
                  <a:txBody>
                    <a:bodyPr wrap="square"/>
                    <a:lstStyle/>
                    <a:p>
                      <a:pPr algn="ctr"/>
                      <a:r>
                        <a:rPr sz="950" b="0" i="0">
                          <a:solidFill>
                            <a:srgbClr val="14313B"/>
                          </a:solidFill>
                          <a:latin typeface="Calibri (MS)"/>
                        </a:rPr>
                        <a:t>−0,98</a:t>
                      </a:r>
                    </a:p>
                  </a:txBody>
                  <a:tcPr marL="73152" marR="73152" marT="36576" marB="36576" anchor="ctr">
                    <a:solidFill>
                      <a:srgbClr val="EAF8FA"/>
                    </a:solidFill>
                  </a:tcPr>
                </a:tc>
                <a:tc>
                  <a:txBody>
                    <a:bodyPr wrap="square"/>
                    <a:lstStyle/>
                    <a:p>
                      <a:pPr algn="ctr"/>
                      <a:r>
                        <a:rPr sz="950" b="0" i="0">
                          <a:solidFill>
                            <a:srgbClr val="14313B"/>
                          </a:solidFill>
                          <a:latin typeface="Calibri (MS)"/>
                        </a:rPr>
                        <a:t>0,98</a:t>
                      </a:r>
                    </a:p>
                  </a:txBody>
                  <a:tcPr marL="73152" marR="73152" marT="36576" marB="36576" anchor="ctr">
                    <a:solidFill>
                      <a:srgbClr val="EAF8FA"/>
                    </a:solidFill>
                  </a:tcPr>
                </a:tc>
                <a:tc>
                  <a:txBody>
                    <a:bodyPr wrap="square"/>
                    <a:lstStyle/>
                    <a:p>
                      <a:pPr algn="ctr"/>
                      <a:r>
                        <a:rPr sz="950" b="0" i="0">
                          <a:solidFill>
                            <a:srgbClr val="14313B"/>
                          </a:solidFill>
                          <a:latin typeface="Calibri (MS)"/>
                        </a:rPr>
                        <a:t>−2,50</a:t>
                      </a:r>
                    </a:p>
                  </a:txBody>
                  <a:tcPr marL="73152" marR="73152" marT="36576" marB="36576" anchor="ctr">
                    <a:solidFill>
                      <a:srgbClr val="EAF8FA"/>
                    </a:solidFill>
                  </a:tcPr>
                </a:tc>
                <a:tc>
                  <a:txBody>
                    <a:bodyPr wrap="square"/>
                    <a:lstStyle/>
                    <a:p>
                      <a:pPr algn="ctr"/>
                      <a:r>
                        <a:rPr sz="950" b="0" i="0">
                          <a:solidFill>
                            <a:srgbClr val="14313B"/>
                          </a:solidFill>
                          <a:latin typeface="Calibri (MS)"/>
                        </a:rPr>
                        <a:t>2,50</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15</a:t>
                      </a:r>
                    </a:p>
                  </a:txBody>
                  <a:tcPr marL="73152" marR="73152" marT="36576" marB="36576" anchor="ctr">
                    <a:solidFill>
                      <a:srgbClr val="FFFFFF"/>
                    </a:solidFill>
                  </a:tcPr>
                </a:tc>
                <a:tc>
                  <a:txBody>
                    <a:bodyPr wrap="square"/>
                    <a:lstStyle/>
                    <a:p>
                      <a:r>
                        <a:rPr sz="950" b="0" i="0">
                          <a:solidFill>
                            <a:srgbClr val="14313B"/>
                          </a:solidFill>
                          <a:latin typeface="Calibri (MS)"/>
                        </a:rPr>
                        <a:t>Luas Lahan Tersedia</a:t>
                      </a:r>
                    </a:p>
                  </a:txBody>
                  <a:tcPr marL="73152" marR="73152" marT="36576" marB="36576" anchor="ctr">
                    <a:solidFill>
                      <a:srgbClr val="FFFFFF"/>
                    </a:solidFill>
                  </a:tcPr>
                </a:tc>
                <a:tc>
                  <a:txBody>
                    <a:bodyPr wrap="square"/>
                    <a:lstStyle/>
                    <a:p>
                      <a:pPr algn="ctr"/>
                      <a:r>
                        <a:rPr sz="950" b="0" i="0">
                          <a:solidFill>
                            <a:srgbClr val="14313B"/>
                          </a:solidFill>
                          <a:latin typeface="Calibri (MS)"/>
                        </a:rPr>
                        <a:t>−0,86</a:t>
                      </a:r>
                    </a:p>
                  </a:txBody>
                  <a:tcPr marL="73152" marR="73152" marT="36576" marB="36576" anchor="ctr">
                    <a:solidFill>
                      <a:srgbClr val="FFFFFF"/>
                    </a:solidFill>
                  </a:tcPr>
                </a:tc>
                <a:tc>
                  <a:txBody>
                    <a:bodyPr wrap="square"/>
                    <a:lstStyle/>
                    <a:p>
                      <a:pPr algn="ctr"/>
                      <a:r>
                        <a:rPr sz="950" b="0" i="0">
                          <a:solidFill>
                            <a:srgbClr val="14313B"/>
                          </a:solidFill>
                          <a:latin typeface="Calibri (MS)"/>
                        </a:rPr>
                        <a:t>0,75</a:t>
                      </a:r>
                    </a:p>
                  </a:txBody>
                  <a:tcPr marL="73152" marR="73152" marT="36576" marB="36576" anchor="ctr">
                    <a:solidFill>
                      <a:srgbClr val="FFFFFF"/>
                    </a:solidFill>
                  </a:tcPr>
                </a:tc>
                <a:tc>
                  <a:txBody>
                    <a:bodyPr wrap="square"/>
                    <a:lstStyle/>
                    <a:p>
                      <a:pPr algn="ctr"/>
                      <a:r>
                        <a:rPr sz="950" b="0" i="0">
                          <a:solidFill>
                            <a:srgbClr val="14313B"/>
                          </a:solidFill>
                          <a:latin typeface="Calibri (MS)"/>
                        </a:rPr>
                        <a:t>−2,67</a:t>
                      </a:r>
                    </a:p>
                  </a:txBody>
                  <a:tcPr marL="73152" marR="73152" marT="36576" marB="36576" anchor="ctr">
                    <a:solidFill>
                      <a:srgbClr val="EAF8FA"/>
                    </a:solidFill>
                  </a:tcPr>
                </a:tc>
                <a:tc>
                  <a:txBody>
                    <a:bodyPr wrap="square"/>
                    <a:lstStyle/>
                    <a:p>
                      <a:pPr algn="ctr"/>
                      <a:r>
                        <a:rPr sz="950" b="0" i="0">
                          <a:solidFill>
                            <a:srgbClr val="14313B"/>
                          </a:solidFill>
                          <a:latin typeface="Calibri (MS)"/>
                        </a:rPr>
                        <a:t>2,29</a:t>
                      </a:r>
                    </a:p>
                  </a:txBody>
                  <a:tcPr marL="73152" marR="73152" marT="36576" marB="36576" anchor="ctr">
                    <a:solidFill>
                      <a:srgbClr val="EAF8FA"/>
                    </a:solidFill>
                  </a:tcPr>
                </a:tc>
                <a:tc>
                  <a:txBody>
                    <a:bodyPr wrap="square"/>
                    <a:lstStyle/>
                    <a:p>
                      <a:pPr algn="ctr"/>
                      <a:r>
                        <a:rPr sz="950" b="0" i="0">
                          <a:solidFill>
                            <a:srgbClr val="14313B"/>
                          </a:solidFill>
                          <a:latin typeface="Calibri (MS)"/>
                        </a:rPr>
                        <a:t>−0,86</a:t>
                      </a:r>
                    </a:p>
                  </a:txBody>
                  <a:tcPr marL="73152" marR="73152" marT="36576" marB="36576" anchor="ctr">
                    <a:solidFill>
                      <a:srgbClr val="FFFFFF"/>
                    </a:solidFill>
                  </a:tcPr>
                </a:tc>
                <a:tc>
                  <a:txBody>
                    <a:bodyPr wrap="square"/>
                    <a:lstStyle/>
                    <a:p>
                      <a:pPr algn="ctr"/>
                      <a:r>
                        <a:rPr sz="950" b="0" i="0">
                          <a:solidFill>
                            <a:srgbClr val="14313B"/>
                          </a:solidFill>
                          <a:latin typeface="Calibri (MS)"/>
                        </a:rPr>
                        <a:t>0,75</a:t>
                      </a:r>
                    </a:p>
                  </a:txBody>
                  <a:tcPr marL="73152" marR="73152" marT="36576" marB="36576" anchor="ctr">
                    <a:solidFill>
                      <a:srgbClr val="FFFFFF"/>
                    </a:solidFill>
                  </a:tcPr>
                </a:tc>
                <a:tc>
                  <a:txBody>
                    <a:bodyPr wrap="square"/>
                    <a:lstStyle/>
                    <a:p>
                      <a:pPr algn="ctr"/>
                      <a:r>
                        <a:rPr sz="950" b="0" i="0">
                          <a:solidFill>
                            <a:srgbClr val="14313B"/>
                          </a:solidFill>
                          <a:latin typeface="Calibri (MS)"/>
                        </a:rPr>
                        <a:t>−0,62</a:t>
                      </a:r>
                    </a:p>
                  </a:txBody>
                  <a:tcPr marL="73152" marR="73152" marT="36576" marB="36576" anchor="ctr">
                    <a:solidFill>
                      <a:srgbClr val="FFFFFF"/>
                    </a:solidFill>
                  </a:tcPr>
                </a:tc>
                <a:tc>
                  <a:txBody>
                    <a:bodyPr wrap="square"/>
                    <a:lstStyle/>
                    <a:p>
                      <a:pPr algn="ctr"/>
                      <a:r>
                        <a:rPr sz="950" b="0" i="0">
                          <a:solidFill>
                            <a:srgbClr val="14313B"/>
                          </a:solidFill>
                          <a:latin typeface="Calibri (MS)"/>
                        </a:rPr>
                        <a:t>0,54</a:t>
                      </a:r>
                    </a:p>
                  </a:txBody>
                  <a:tcPr marL="73152" marR="73152" marT="36576" marB="36576" anchor="ctr">
                    <a:solidFill>
                      <a:srgbClr val="FFFFFF"/>
                    </a:solidFill>
                  </a:tcPr>
                </a:tc>
                <a:tc>
                  <a:txBody>
                    <a:bodyPr wrap="square"/>
                    <a:lstStyle/>
                    <a:p>
                      <a:pPr algn="ctr"/>
                      <a:r>
                        <a:rPr sz="950" b="0" i="0">
                          <a:solidFill>
                            <a:srgbClr val="14313B"/>
                          </a:solidFill>
                          <a:latin typeface="Calibri (MS)"/>
                        </a:rPr>
                        <a:t>−0,77</a:t>
                      </a:r>
                    </a:p>
                  </a:txBody>
                  <a:tcPr marL="73152" marR="73152" marT="36576" marB="36576" anchor="ctr">
                    <a:solidFill>
                      <a:srgbClr val="FFFFFF"/>
                    </a:solidFill>
                  </a:tcPr>
                </a:tc>
                <a:tc>
                  <a:txBody>
                    <a:bodyPr wrap="square"/>
                    <a:lstStyle/>
                    <a:p>
                      <a:pPr algn="ctr"/>
                      <a:r>
                        <a:rPr sz="950" b="0" i="0">
                          <a:solidFill>
                            <a:srgbClr val="14313B"/>
                          </a:solidFill>
                          <a:latin typeface="Calibri (MS)"/>
                        </a:rPr>
                        <a:t>0,67</a:t>
                      </a:r>
                    </a:p>
                  </a:txBody>
                  <a:tcPr marL="73152" marR="73152" marT="36576" marB="36576" anchor="ctr">
                    <a:solidFill>
                      <a:srgbClr val="FFFFFF"/>
                    </a:solidFill>
                  </a:tcPr>
                </a:tc>
                <a:tc>
                  <a:txBody>
                    <a:bodyPr wrap="square"/>
                    <a:lstStyle/>
                    <a:p>
                      <a:pPr algn="ctr"/>
                      <a:r>
                        <a:rPr sz="950" b="0" i="0">
                          <a:solidFill>
                            <a:srgbClr val="14313B"/>
                          </a:solidFill>
                          <a:latin typeface="Calibri (MS)"/>
                        </a:rPr>
                        <a:t>−0,16</a:t>
                      </a:r>
                    </a:p>
                  </a:txBody>
                  <a:tcPr marL="73152" marR="73152" marT="36576" marB="36576" anchor="ctr">
                    <a:solidFill>
                      <a:srgbClr val="FFFFFF"/>
                    </a:solidFill>
                  </a:tcPr>
                </a:tc>
                <a:tc>
                  <a:txBody>
                    <a:bodyPr wrap="square"/>
                    <a:lstStyle/>
                    <a:p>
                      <a:pPr algn="ctr"/>
                      <a:r>
                        <a:rPr sz="950" b="0" i="0">
                          <a:solidFill>
                            <a:srgbClr val="14313B"/>
                          </a:solidFill>
                          <a:latin typeface="Calibri (MS)"/>
                        </a:rPr>
                        <a:t>0,15</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16</a:t>
                      </a:r>
                    </a:p>
                  </a:txBody>
                  <a:tcPr marL="73152" marR="73152" marT="36576" marB="36576" anchor="ctr">
                    <a:solidFill>
                      <a:srgbClr val="EAF8FA"/>
                    </a:solidFill>
                  </a:tcPr>
                </a:tc>
                <a:tc>
                  <a:txBody>
                    <a:bodyPr wrap="square"/>
                    <a:lstStyle/>
                    <a:p>
                      <a:r>
                        <a:rPr sz="950" b="0" i="0">
                          <a:solidFill>
                            <a:srgbClr val="14313B"/>
                          </a:solidFill>
                          <a:latin typeface="Calibri (MS)"/>
                        </a:rPr>
                        <a:t>Bobot Daya Dukung Lahan</a:t>
                      </a:r>
                    </a:p>
                  </a:txBody>
                  <a:tcPr marL="73152" marR="73152" marT="36576" marB="36576" anchor="ctr">
                    <a:solidFill>
                      <a:srgbClr val="EAF8FA"/>
                    </a:solidFill>
                  </a:tcPr>
                </a:tc>
                <a:tc>
                  <a:txBody>
                    <a:bodyPr wrap="square"/>
                    <a:lstStyle/>
                    <a:p>
                      <a:pPr algn="ctr"/>
                      <a:r>
                        <a:rPr sz="950" b="0" i="0">
                          <a:solidFill>
                            <a:srgbClr val="14313B"/>
                          </a:solidFill>
                          <a:latin typeface="Calibri (MS)"/>
                        </a:rPr>
                        <a:t>−0,48</a:t>
                      </a:r>
                    </a:p>
                  </a:txBody>
                  <a:tcPr marL="73152" marR="73152" marT="36576" marB="36576" anchor="ctr">
                    <a:solidFill>
                      <a:srgbClr val="EAF8FA"/>
                    </a:solidFill>
                  </a:tcPr>
                </a:tc>
                <a:tc>
                  <a:txBody>
                    <a:bodyPr wrap="square"/>
                    <a:lstStyle/>
                    <a:p>
                      <a:pPr algn="ctr"/>
                      <a:r>
                        <a:rPr sz="950" b="0" i="0">
                          <a:solidFill>
                            <a:srgbClr val="14313B"/>
                          </a:solidFill>
                          <a:latin typeface="Calibri (MS)"/>
                        </a:rPr>
                        <a:t>0,51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−0,48</a:t>
                      </a:r>
                    </a:p>
                  </a:txBody>
                  <a:tcPr marL="73152" marR="73152" marT="36576" marB="36576" anchor="ctr">
                    <a:solidFill>
                      <a:srgbClr val="EAF8FA"/>
                    </a:solidFill>
                  </a:tcPr>
                </a:tc>
                <a:tc>
                  <a:txBody>
                    <a:bodyPr wrap="square"/>
                    <a:lstStyle/>
                    <a:p>
                      <a:pPr algn="ctr"/>
                      <a:r>
                        <a:rPr sz="950" b="0" i="0">
                          <a:solidFill>
                            <a:srgbClr val="14313B"/>
                          </a:solidFill>
                          <a:latin typeface="Calibri (MS)"/>
                        </a:rPr>
                        <a:t>0,51</a:t>
                      </a:r>
                    </a:p>
                  </a:txBody>
                  <a:tcPr marL="73152" marR="73152" marT="36576" marB="36576" anchor="ctr">
                    <a:solidFill>
                      <a:srgbClr val="EAF8FA"/>
                    </a:solidFill>
                  </a:tcPr>
                </a:tc>
                <a:tc>
                  <a:txBody>
                    <a:bodyPr wrap="square"/>
                    <a:lstStyle/>
                    <a:p>
                      <a:pPr algn="ctr"/>
                      <a:r>
                        <a:rPr sz="950" b="0" i="0">
                          <a:solidFill>
                            <a:srgbClr val="14313B"/>
                          </a:solidFill>
                          <a:latin typeface="Calibri (MS)"/>
                        </a:rPr>
                        <a:t>−0,57</a:t>
                      </a:r>
                    </a:p>
                  </a:txBody>
                  <a:tcPr marL="73152" marR="73152" marT="36576" marB="36576" anchor="ctr">
                    <a:solidFill>
                      <a:srgbClr val="EAF8FA"/>
                    </a:solidFill>
                  </a:tcPr>
                </a:tc>
                <a:tc>
                  <a:txBody>
                    <a:bodyPr wrap="square"/>
                    <a:lstStyle/>
                    <a:p>
                      <a:pPr algn="ctr"/>
                      <a:r>
                        <a:rPr sz="950" b="0" i="0">
                          <a:solidFill>
                            <a:srgbClr val="14313B"/>
                          </a:solidFill>
                          <a:latin typeface="Calibri (MS)"/>
                        </a:rPr>
                        <a:t>0,60</a:t>
                      </a:r>
                    </a:p>
                  </a:txBody>
                  <a:tcPr marL="73152" marR="73152" marT="36576" marB="36576" anchor="ctr">
                    <a:solidFill>
                      <a:srgbClr val="EAF8FA"/>
                    </a:solidFill>
                  </a:tcPr>
                </a:tc>
                <a:tc>
                  <a:txBody>
                    <a:bodyPr wrap="square"/>
                    <a:lstStyle/>
                    <a:p>
                      <a:pPr algn="ctr"/>
                      <a:r>
                        <a:rPr sz="950" b="0" i="0">
                          <a:solidFill>
                            <a:srgbClr val="14313B"/>
                          </a:solidFill>
                          <a:latin typeface="Calibri (MS)"/>
                        </a:rPr>
                        <a:t>−0,52</a:t>
                      </a:r>
                    </a:p>
                  </a:txBody>
                  <a:tcPr marL="73152" marR="73152" marT="36576" marB="36576" anchor="ctr">
                    <a:solidFill>
                      <a:srgbClr val="EAF8FA"/>
                    </a:solidFill>
                  </a:tcPr>
                </a:tc>
                <a:tc>
                  <a:txBody>
                    <a:bodyPr wrap="square"/>
                    <a:lstStyle/>
                    <a:p>
                      <a:pPr algn="ctr"/>
                      <a:r>
                        <a:rPr sz="950" b="0" i="0">
                          <a:solidFill>
                            <a:srgbClr val="14313B"/>
                          </a:solidFill>
                          <a:latin typeface="Calibri (MS)"/>
                        </a:rPr>
                        <a:t>0,55</a:t>
                      </a:r>
                    </a:p>
                  </a:txBody>
                  <a:tcPr marL="73152" marR="73152" marT="36576" marB="36576" anchor="ctr">
                    <a:solidFill>
                      <a:srgbClr val="EAF8FA"/>
                    </a:solidFill>
                  </a:tcPr>
                </a:tc>
                <a:tc>
                  <a:txBody>
                    <a:bodyPr wrap="square"/>
                    <a:lstStyle/>
                    <a:p>
                      <a:pPr algn="ctr"/>
                      <a:r>
                        <a:rPr sz="950" b="0" i="0">
                          <a:solidFill>
                            <a:srgbClr val="14313B"/>
                          </a:solidFill>
                          <a:latin typeface="Calibri (MS)"/>
                        </a:rPr>
                        <a:t>−0,35</a:t>
                      </a:r>
                    </a:p>
                  </a:txBody>
                  <a:tcPr marL="73152" marR="73152" marT="36576" marB="36576" anchor="ctr">
                    <a:solidFill>
                      <a:srgbClr val="EAF8FA"/>
                    </a:solidFill>
                  </a:tcPr>
                </a:tc>
                <a:tc>
                  <a:txBody>
                    <a:bodyPr wrap="square"/>
                    <a:lstStyle/>
                    <a:p>
                      <a:pPr algn="ctr"/>
                      <a:r>
                        <a:rPr sz="950" b="0" i="0">
                          <a:solidFill>
                            <a:srgbClr val="14313B"/>
                          </a:solidFill>
                          <a:latin typeface="Calibri (MS)"/>
                        </a:rPr>
                        <a:t>0,37</a:t>
                      </a:r>
                    </a:p>
                  </a:txBody>
                  <a:tcPr marL="73152" marR="73152" marT="36576" marB="36576" anchor="ctr">
                    <a:solidFill>
                      <a:srgbClr val="EAF8FA"/>
                    </a:solidFill>
                  </a:tcPr>
                </a:tc>
              </a:tr>
            </a:tbl>
          </a:graphicData>
        </a:graphic>
      </p:graphicFrame>
      <p:sp>
        <p:nvSpPr>
          <p:cNvPr id="28" name="TextBox 27"/>
          <p:cNvSpPr txBox="1"/>
          <p:nvPr/>
        </p:nvSpPr>
        <p:spPr>
          <a:xfrm>
            <a:off x="822960" y="822960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Warna: biru muda |x| ≥ 1% · kuning ≥ 5% · merah muda ≥ 10%. "Rank" = peringkat terhadap Jumlah Wisatawan (seri diberi peringkat sama).</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4.7.1; hasil_sensitivitas_bagianA_konsisten.xlsx (sheet Peringkat Tornado).</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67 · Hasil Sensitivitas ±10%: Seluruh Parameter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Perubahan keluaran tahun 2050 (%) terhadap simulasi dasar; diurutkan menurut pengaruh pada Jumlah Wisatawan</a:t>
            </a:r>
          </a:p>
        </p:txBody>
      </p:sp>
      <p:graphicFrame>
        <p:nvGraphicFramePr>
          <p:cNvPr id="27" name="Table 26"/>
          <p:cNvGraphicFramePr>
            <a:graphicFrameLocks noGrp="1"/>
          </p:cNvGraphicFramePr>
          <p:nvPr/>
        </p:nvGraphicFramePr>
        <p:xfrm>
          <a:off x="822960" y="1874519"/>
          <a:ext cx="16642076" cy="6217920"/>
        </p:xfrm>
        <a:graphic>
          <a:graphicData uri="http://schemas.openxmlformats.org/drawingml/2006/table">
            <a:tbl>
              <a:tblPr firstRow="1" bandRow="1">
                <a:tableStyleId>{5C22544A-7EE6-4342-B048-85BDC9FD1C3A}</a:tableStyleId>
              </a:tblPr>
              <a:tblGrid>
                <a:gridCol w="548652"/>
                <a:gridCol w="3657680"/>
                <a:gridCol w="1036312"/>
                <a:gridCol w="1036312"/>
                <a:gridCol w="1036312"/>
                <a:gridCol w="1036312"/>
                <a:gridCol w="1036312"/>
                <a:gridCol w="1036312"/>
                <a:gridCol w="1036312"/>
                <a:gridCol w="1036312"/>
                <a:gridCol w="1036312"/>
                <a:gridCol w="1036312"/>
                <a:gridCol w="1036312"/>
                <a:gridCol w="1036312"/>
              </a:tblGrid>
              <a:tr h="365760">
                <a:tc>
                  <a:txBody>
                    <a:bodyPr wrap="square"/>
                    <a:lstStyle/>
                    <a:p>
                      <a:pPr algn="ctr"/>
                      <a:r>
                        <a:rPr sz="950" b="1" i="0">
                          <a:solidFill>
                            <a:srgbClr val="FFFFFF"/>
                          </a:solidFill>
                          <a:latin typeface="Calibri (MS) Bold"/>
                        </a:rPr>
                        <a:t>Rank</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Wisatawan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Lahan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PDRB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Hotel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TK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ODTW −10%</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+10%</a:t>
                      </a:r>
                    </a:p>
                  </a:txBody>
                  <a:tcPr marL="73152" marR="73152" marT="36576" marB="36576" anchor="ctr">
                    <a:solidFill>
                      <a:srgbClr val="0B5E6E"/>
                    </a:solidFill>
                  </a:tcPr>
                </a:tc>
              </a:tr>
              <a:tr h="365760">
                <a:tc>
                  <a:txBody>
                    <a:bodyPr wrap="square"/>
                    <a:lstStyle/>
                    <a:p>
                      <a:pPr algn="ctr"/>
                      <a:r>
                        <a:rPr sz="950" b="0" i="0">
                          <a:solidFill>
                            <a:srgbClr val="14313B"/>
                          </a:solidFill>
                          <a:latin typeface="Calibri (MS)"/>
                        </a:rPr>
                        <a:t>17</a:t>
                      </a:r>
                    </a:p>
                  </a:txBody>
                  <a:tcPr marL="73152" marR="73152" marT="36576" marB="36576" anchor="ctr">
                    <a:solidFill>
                      <a:srgbClr val="FFFFFF"/>
                    </a:solidFill>
                  </a:tcPr>
                </a:tc>
                <a:tc>
                  <a:txBody>
                    <a:bodyPr wrap="square"/>
                    <a:lstStyle/>
                    <a:p>
                      <a:r>
                        <a:rPr sz="950" b="0" i="0">
                          <a:solidFill>
                            <a:srgbClr val="14313B"/>
                          </a:solidFill>
                          <a:latin typeface="Calibri (MS)"/>
                        </a:rPr>
                        <a:t>Laju Penutupan Dasar ODTW</a:t>
                      </a:r>
                    </a:p>
                  </a:txBody>
                  <a:tcPr marL="73152" marR="73152" marT="36576" marB="36576" anchor="ctr">
                    <a:solidFill>
                      <a:srgbClr val="FFFFFF"/>
                    </a:solidFill>
                  </a:tcPr>
                </a:tc>
                <a:tc>
                  <a:txBody>
                    <a:bodyPr wrap="square"/>
                    <a:lstStyle/>
                    <a:p>
                      <a:pPr algn="ctr"/>
                      <a:r>
                        <a:rPr sz="950" b="0" i="0">
                          <a:solidFill>
                            <a:srgbClr val="14313B"/>
                          </a:solidFill>
                          <a:latin typeface="Calibri (MS)"/>
                        </a:rPr>
                        <a:t>−0,17</a:t>
                      </a:r>
                    </a:p>
                  </a:txBody>
                  <a:tcPr marL="73152" marR="73152" marT="36576" marB="36576" anchor="ctr">
                    <a:solidFill>
                      <a:srgbClr val="FFFFFF"/>
                    </a:solidFill>
                  </a:tcPr>
                </a:tc>
                <a:tc>
                  <a:txBody>
                    <a:bodyPr wrap="square"/>
                    <a:lstStyle/>
                    <a:p>
                      <a:pPr algn="ctr"/>
                      <a:r>
                        <a:rPr sz="950" b="0" i="0">
                          <a:solidFill>
                            <a:srgbClr val="14313B"/>
                          </a:solidFill>
                          <a:latin typeface="Calibri (MS)"/>
                        </a:rPr>
                        <a:t>0,16</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−0,17</a:t>
                      </a:r>
                    </a:p>
                  </a:txBody>
                  <a:tcPr marL="73152" marR="73152" marT="36576" marB="36576" anchor="ctr">
                    <a:solidFill>
                      <a:srgbClr val="FFFFFF"/>
                    </a:solidFill>
                  </a:tcPr>
                </a:tc>
                <a:tc>
                  <a:txBody>
                    <a:bodyPr wrap="square"/>
                    <a:lstStyle/>
                    <a:p>
                      <a:pPr algn="ctr"/>
                      <a:r>
                        <a:rPr sz="950" b="0" i="0">
                          <a:solidFill>
                            <a:srgbClr val="14313B"/>
                          </a:solidFill>
                          <a:latin typeface="Calibri (MS)"/>
                        </a:rPr>
                        <a:t>0,16</a:t>
                      </a:r>
                    </a:p>
                  </a:txBody>
                  <a:tcPr marL="73152" marR="73152" marT="36576" marB="36576" anchor="ctr">
                    <a:solidFill>
                      <a:srgbClr val="FFFFFF"/>
                    </a:solidFill>
                  </a:tcPr>
                </a:tc>
                <a:tc>
                  <a:txBody>
                    <a:bodyPr wrap="square"/>
                    <a:lstStyle/>
                    <a:p>
                      <a:pPr algn="ctr"/>
                      <a:r>
                        <a:rPr sz="950" b="0" i="0">
                          <a:solidFill>
                            <a:srgbClr val="14313B"/>
                          </a:solidFill>
                          <a:latin typeface="Calibri (MS)"/>
                        </a:rPr>
                        <a:t>−0,15</a:t>
                      </a:r>
                    </a:p>
                  </a:txBody>
                  <a:tcPr marL="73152" marR="73152" marT="36576" marB="36576" anchor="ctr">
                    <a:solidFill>
                      <a:srgbClr val="FFFFFF"/>
                    </a:solidFill>
                  </a:tcPr>
                </a:tc>
                <a:tc>
                  <a:txBody>
                    <a:bodyPr wrap="square"/>
                    <a:lstStyle/>
                    <a:p>
                      <a:pPr algn="ctr"/>
                      <a:r>
                        <a:rPr sz="950" b="0" i="0">
                          <a:solidFill>
                            <a:srgbClr val="14313B"/>
                          </a:solidFill>
                          <a:latin typeface="Calibri (MS)"/>
                        </a:rPr>
                        <a:t>0,14</a:t>
                      </a:r>
                    </a:p>
                  </a:txBody>
                  <a:tcPr marL="73152" marR="73152" marT="36576" marB="36576" anchor="ctr">
                    <a:solidFill>
                      <a:srgbClr val="FFFFFF"/>
                    </a:solidFill>
                  </a:tcPr>
                </a:tc>
                <a:tc>
                  <a:txBody>
                    <a:bodyPr wrap="square"/>
                    <a:lstStyle/>
                    <a:p>
                      <a:pPr algn="ctr"/>
                      <a:r>
                        <a:rPr sz="950" b="0" i="0">
                          <a:solidFill>
                            <a:srgbClr val="14313B"/>
                          </a:solidFill>
                          <a:latin typeface="Calibri (MS)"/>
                        </a:rPr>
                        <a:t>−0,17</a:t>
                      </a:r>
                    </a:p>
                  </a:txBody>
                  <a:tcPr marL="73152" marR="73152" marT="36576" marB="36576" anchor="ctr">
                    <a:solidFill>
                      <a:srgbClr val="FFFFFF"/>
                    </a:solidFill>
                  </a:tcPr>
                </a:tc>
                <a:tc>
                  <a:txBody>
                    <a:bodyPr wrap="square"/>
                    <a:lstStyle/>
                    <a:p>
                      <a:pPr algn="ctr"/>
                      <a:r>
                        <a:rPr sz="950" b="0" i="0">
                          <a:solidFill>
                            <a:srgbClr val="14313B"/>
                          </a:solidFill>
                          <a:latin typeface="Calibri (MS)"/>
                        </a:rPr>
                        <a:t>0,15</a:t>
                      </a:r>
                    </a:p>
                  </a:txBody>
                  <a:tcPr marL="73152" marR="73152" marT="36576" marB="36576" anchor="ctr">
                    <a:solidFill>
                      <a:srgbClr val="FFFFFF"/>
                    </a:solidFill>
                  </a:tcPr>
                </a:tc>
                <a:tc>
                  <a:txBody>
                    <a:bodyPr wrap="square"/>
                    <a:lstStyle/>
                    <a:p>
                      <a:pPr algn="ctr"/>
                      <a:r>
                        <a:rPr sz="950" b="0" i="0">
                          <a:solidFill>
                            <a:srgbClr val="14313B"/>
                          </a:solidFill>
                          <a:latin typeface="Calibri (MS)"/>
                        </a:rPr>
                        <a:t>−0,42</a:t>
                      </a:r>
                    </a:p>
                  </a:txBody>
                  <a:tcPr marL="73152" marR="73152" marT="36576" marB="36576" anchor="ctr">
                    <a:solidFill>
                      <a:srgbClr val="FFFFFF"/>
                    </a:solidFill>
                  </a:tcPr>
                </a:tc>
                <a:tc>
                  <a:txBody>
                    <a:bodyPr wrap="square"/>
                    <a:lstStyle/>
                    <a:p>
                      <a:pPr algn="ctr"/>
                      <a:r>
                        <a:rPr sz="950" b="0" i="0">
                          <a:solidFill>
                            <a:srgbClr val="14313B"/>
                          </a:solidFill>
                          <a:latin typeface="Calibri (MS)"/>
                        </a:rPr>
                        <a:t>0,37</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19</a:t>
                      </a:r>
                    </a:p>
                  </a:txBody>
                  <a:tcPr marL="73152" marR="73152" marT="36576" marB="36576" anchor="ctr">
                    <a:solidFill>
                      <a:srgbClr val="EAF8FA"/>
                    </a:solidFill>
                  </a:tcPr>
                </a:tc>
                <a:tc>
                  <a:txBody>
                    <a:bodyPr wrap="square"/>
                    <a:lstStyle/>
                    <a:p>
                      <a:r>
                        <a:rPr sz="950" b="0" i="0">
                          <a:solidFill>
                            <a:srgbClr val="14313B"/>
                          </a:solidFill>
                          <a:latin typeface="Calibri (MS)"/>
                        </a:rPr>
                        <a:t>Tingkat Penghunian Ganda Kamar</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0,08</a:t>
                      </a:r>
                    </a:p>
                  </a:txBody>
                  <a:tcPr marL="73152" marR="73152" marT="36576" marB="36576" anchor="ctr">
                    <a:solidFill>
                      <a:srgbClr val="EAF8FA"/>
                    </a:solidFill>
                  </a:tcPr>
                </a:tc>
                <a:tc>
                  <a:txBody>
                    <a:bodyPr wrap="square"/>
                    <a:lstStyle/>
                    <a:p>
                      <a:pPr algn="ctr"/>
                      <a:r>
                        <a:rPr sz="950" b="0" i="0">
                          <a:solidFill>
                            <a:srgbClr val="14313B"/>
                          </a:solidFill>
                          <a:latin typeface="Calibri (MS)"/>
                        </a:rPr>
                        <a:t>−0,07</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8,80</a:t>
                      </a:r>
                    </a:p>
                  </a:txBody>
                  <a:tcPr marL="73152" marR="73152" marT="36576" marB="36576" anchor="ctr">
                    <a:solidFill>
                      <a:srgbClr val="FFF1BF"/>
                    </a:solidFill>
                  </a:tcPr>
                </a:tc>
                <a:tc>
                  <a:txBody>
                    <a:bodyPr wrap="square"/>
                    <a:lstStyle/>
                    <a:p>
                      <a:pPr algn="ctr"/>
                      <a:r>
                        <a:rPr sz="950" b="0" i="0">
                          <a:solidFill>
                            <a:srgbClr val="14313B"/>
                          </a:solidFill>
                          <a:latin typeface="Calibri (MS)"/>
                        </a:rPr>
                        <a:t>−7,44</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19</a:t>
                      </a:r>
                    </a:p>
                  </a:txBody>
                  <a:tcPr marL="73152" marR="73152" marT="36576" marB="36576" anchor="ctr">
                    <a:solidFill>
                      <a:srgbClr val="FFFFFF"/>
                    </a:solidFill>
                  </a:tcPr>
                </a:tc>
                <a:tc>
                  <a:txBody>
                    <a:bodyPr wrap="square"/>
                    <a:lstStyle/>
                    <a:p>
                      <a:r>
                        <a:rPr sz="950" b="0" i="0">
                          <a:solidFill>
                            <a:srgbClr val="14313B"/>
                          </a:solidFill>
                          <a:latin typeface="Calibri (MS)"/>
                        </a:rPr>
                        <a:t>Malam Tersedia per Kamar</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0,08</a:t>
                      </a:r>
                    </a:p>
                  </a:txBody>
                  <a:tcPr marL="73152" marR="73152" marT="36576" marB="36576" anchor="ctr">
                    <a:solidFill>
                      <a:srgbClr val="FFFFFF"/>
                    </a:solidFill>
                  </a:tcPr>
                </a:tc>
                <a:tc>
                  <a:txBody>
                    <a:bodyPr wrap="square"/>
                    <a:lstStyle/>
                    <a:p>
                      <a:pPr algn="ctr"/>
                      <a:r>
                        <a:rPr sz="950" b="0" i="0">
                          <a:solidFill>
                            <a:srgbClr val="14313B"/>
                          </a:solidFill>
                          <a:latin typeface="Calibri (MS)"/>
                        </a:rPr>
                        <a:t>−0,07</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8,80</a:t>
                      </a:r>
                    </a:p>
                  </a:txBody>
                  <a:tcPr marL="73152" marR="73152" marT="36576" marB="36576" anchor="ctr">
                    <a:solidFill>
                      <a:srgbClr val="FFF1BF"/>
                    </a:solidFill>
                  </a:tcPr>
                </a:tc>
                <a:tc>
                  <a:txBody>
                    <a:bodyPr wrap="square"/>
                    <a:lstStyle/>
                    <a:p>
                      <a:pPr algn="ctr"/>
                      <a:r>
                        <a:rPr sz="950" b="0" i="0">
                          <a:solidFill>
                            <a:srgbClr val="14313B"/>
                          </a:solidFill>
                          <a:latin typeface="Calibri (MS)"/>
                        </a:rPr>
                        <a:t>−7,44</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19</a:t>
                      </a:r>
                    </a:p>
                  </a:txBody>
                  <a:tcPr marL="73152" marR="73152" marT="36576" marB="36576" anchor="ctr">
                    <a:solidFill>
                      <a:srgbClr val="EAF8FA"/>
                    </a:solidFill>
                  </a:tcPr>
                </a:tc>
                <a:tc>
                  <a:txBody>
                    <a:bodyPr wrap="square"/>
                    <a:lstStyle/>
                    <a:p>
                      <a:r>
                        <a:rPr sz="950" b="0" i="0">
                          <a:solidFill>
                            <a:srgbClr val="14313B"/>
                          </a:solidFill>
                          <a:latin typeface="Calibri (MS)"/>
                        </a:rPr>
                        <a:t>Rata-rata Kamar per Unit Akomodasi</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0,08</a:t>
                      </a:r>
                    </a:p>
                  </a:txBody>
                  <a:tcPr marL="73152" marR="73152" marT="36576" marB="36576" anchor="ctr">
                    <a:solidFill>
                      <a:srgbClr val="EAF8FA"/>
                    </a:solidFill>
                  </a:tcPr>
                </a:tc>
                <a:tc>
                  <a:txBody>
                    <a:bodyPr wrap="square"/>
                    <a:lstStyle/>
                    <a:p>
                      <a:pPr algn="ctr"/>
                      <a:r>
                        <a:rPr sz="950" b="0" i="0">
                          <a:solidFill>
                            <a:srgbClr val="14313B"/>
                          </a:solidFill>
                          <a:latin typeface="Calibri (MS)"/>
                        </a:rPr>
                        <a:t>−0,07</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8,80</a:t>
                      </a:r>
                    </a:p>
                  </a:txBody>
                  <a:tcPr marL="73152" marR="73152" marT="36576" marB="36576" anchor="ctr">
                    <a:solidFill>
                      <a:srgbClr val="FFF1BF"/>
                    </a:solidFill>
                  </a:tcPr>
                </a:tc>
                <a:tc>
                  <a:txBody>
                    <a:bodyPr wrap="square"/>
                    <a:lstStyle/>
                    <a:p>
                      <a:pPr algn="ctr"/>
                      <a:r>
                        <a:rPr sz="950" b="0" i="0">
                          <a:solidFill>
                            <a:srgbClr val="14313B"/>
                          </a:solidFill>
                          <a:latin typeface="Calibri (MS)"/>
                        </a:rPr>
                        <a:t>−7,44</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21</a:t>
                      </a:r>
                    </a:p>
                  </a:txBody>
                  <a:tcPr marL="73152" marR="73152" marT="36576" marB="36576" anchor="ctr">
                    <a:solidFill>
                      <a:srgbClr val="FFFFFF"/>
                    </a:solidFill>
                  </a:tcPr>
                </a:tc>
                <a:tc>
                  <a:txBody>
                    <a:bodyPr wrap="square"/>
                    <a:lstStyle/>
                    <a:p>
                      <a:r>
                        <a:rPr sz="950" b="0" i="0">
                          <a:solidFill>
                            <a:srgbClr val="14313B"/>
                          </a:solidFill>
                          <a:latin typeface="Calibri (MS)"/>
                        </a:rPr>
                        <a:t>Rata-rata Lama Menginap Tamu</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−0,08</a:t>
                      </a:r>
                    </a:p>
                  </a:txBody>
                  <a:tcPr marL="73152" marR="73152" marT="36576" marB="36576" anchor="ctr">
                    <a:solidFill>
                      <a:srgbClr val="FFFFFF"/>
                    </a:solidFill>
                  </a:tcPr>
                </a:tc>
                <a:tc>
                  <a:txBody>
                    <a:bodyPr wrap="square"/>
                    <a:lstStyle/>
                    <a:p>
                      <a:pPr algn="ctr"/>
                      <a:r>
                        <a:rPr sz="950" b="0" i="0">
                          <a:solidFill>
                            <a:srgbClr val="14313B"/>
                          </a:solidFill>
                          <a:latin typeface="Calibri (MS)"/>
                        </a:rPr>
                        <a:t>0,07</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−8,19</a:t>
                      </a:r>
                    </a:p>
                  </a:txBody>
                  <a:tcPr marL="73152" marR="73152" marT="36576" marB="36576" anchor="ctr">
                    <a:solidFill>
                      <a:srgbClr val="FFF1BF"/>
                    </a:solidFill>
                  </a:tcPr>
                </a:tc>
                <a:tc>
                  <a:txBody>
                    <a:bodyPr wrap="square"/>
                    <a:lstStyle/>
                    <a:p>
                      <a:pPr algn="ctr"/>
                      <a:r>
                        <a:rPr sz="950" b="0" i="0">
                          <a:solidFill>
                            <a:srgbClr val="14313B"/>
                          </a:solidFill>
                          <a:latin typeface="Calibri (MS)"/>
                        </a:rPr>
                        <a:t>7,94</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21</a:t>
                      </a:r>
                    </a:p>
                  </a:txBody>
                  <a:tcPr marL="73152" marR="73152" marT="36576" marB="36576" anchor="ctr">
                    <a:solidFill>
                      <a:srgbClr val="EAF8FA"/>
                    </a:solidFill>
                  </a:tcPr>
                </a:tc>
                <a:tc>
                  <a:txBody>
                    <a:bodyPr wrap="square"/>
                    <a:lstStyle/>
                    <a:p>
                      <a:r>
                        <a:rPr sz="950" b="0" i="0">
                          <a:solidFill>
                            <a:srgbClr val="14313B"/>
                          </a:solidFill>
                          <a:latin typeface="Calibri (MS)"/>
                        </a:rPr>
                        <a:t>Proporsi Wisatawan Menginap</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−0,08</a:t>
                      </a:r>
                    </a:p>
                  </a:txBody>
                  <a:tcPr marL="73152" marR="73152" marT="36576" marB="36576" anchor="ctr">
                    <a:solidFill>
                      <a:srgbClr val="EAF8FA"/>
                    </a:solidFill>
                  </a:tcPr>
                </a:tc>
                <a:tc>
                  <a:txBody>
                    <a:bodyPr wrap="square"/>
                    <a:lstStyle/>
                    <a:p>
                      <a:pPr algn="ctr"/>
                      <a:r>
                        <a:rPr sz="950" b="0" i="0">
                          <a:solidFill>
                            <a:srgbClr val="14313B"/>
                          </a:solidFill>
                          <a:latin typeface="Calibri (MS)"/>
                        </a:rPr>
                        <a:t>0,07</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−8,19</a:t>
                      </a:r>
                    </a:p>
                  </a:txBody>
                  <a:tcPr marL="73152" marR="73152" marT="36576" marB="36576" anchor="ctr">
                    <a:solidFill>
                      <a:srgbClr val="FFF1BF"/>
                    </a:solidFill>
                  </a:tcPr>
                </a:tc>
                <a:tc>
                  <a:txBody>
                    <a:bodyPr wrap="square"/>
                    <a:lstStyle/>
                    <a:p>
                      <a:pPr algn="ctr"/>
                      <a:r>
                        <a:rPr sz="950" b="0" i="0">
                          <a:solidFill>
                            <a:srgbClr val="14313B"/>
                          </a:solidFill>
                          <a:latin typeface="Calibri (MS)"/>
                        </a:rPr>
                        <a:t>7,94</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23</a:t>
                      </a:r>
                    </a:p>
                  </a:txBody>
                  <a:tcPr marL="73152" marR="73152" marT="36576" marB="36576" anchor="ctr">
                    <a:solidFill>
                      <a:srgbClr val="FFFFFF"/>
                    </a:solidFill>
                  </a:tcPr>
                </a:tc>
                <a:tc>
                  <a:txBody>
                    <a:bodyPr wrap="square"/>
                    <a:lstStyle/>
                    <a:p>
                      <a:r>
                        <a:rPr sz="950" b="0" i="0">
                          <a:solidFill>
                            <a:srgbClr val="14313B"/>
                          </a:solidFill>
                          <a:latin typeface="Calibri (MS)"/>
                        </a:rPr>
                        <a:t>Lahan Per Hotel dan Akomodasi</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−0,07</a:t>
                      </a:r>
                    </a:p>
                  </a:txBody>
                  <a:tcPr marL="73152" marR="73152" marT="36576" marB="36576" anchor="ctr">
                    <a:solidFill>
                      <a:srgbClr val="FFFFFF"/>
                    </a:solidFill>
                  </a:tcPr>
                </a:tc>
                <a:tc>
                  <a:txBody>
                    <a:bodyPr wrap="square"/>
                    <a:lstStyle/>
                    <a:p>
                      <a:pPr algn="ctr"/>
                      <a:r>
                        <a:rPr sz="950" b="0" i="0">
                          <a:solidFill>
                            <a:srgbClr val="14313B"/>
                          </a:solidFill>
                          <a:latin typeface="Calibri (MS)"/>
                        </a:rPr>
                        <a:t>0,07</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24</a:t>
                      </a:r>
                    </a:p>
                  </a:txBody>
                  <a:tcPr marL="73152" marR="73152" marT="36576" marB="36576" anchor="ctr">
                    <a:solidFill>
                      <a:srgbClr val="EAF8FA"/>
                    </a:solidFill>
                  </a:tcPr>
                </a:tc>
                <a:tc>
                  <a:txBody>
                    <a:bodyPr wrap="square"/>
                    <a:lstStyle/>
                    <a:p>
                      <a:r>
                        <a:rPr sz="950" b="0" i="0">
                          <a:solidFill>
                            <a:srgbClr val="14313B"/>
                          </a:solidFill>
                          <a:latin typeface="Calibri (MS)"/>
                        </a:rPr>
                        <a:t>Laju Demolisi Dasar</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−0,04</a:t>
                      </a:r>
                    </a:p>
                  </a:txBody>
                  <a:tcPr marL="73152" marR="73152" marT="36576" marB="36576" anchor="ctr">
                    <a:solidFill>
                      <a:srgbClr val="EAF8FA"/>
                    </a:solidFill>
                  </a:tcPr>
                </a:tc>
                <a:tc>
                  <a:txBody>
                    <a:bodyPr wrap="square"/>
                    <a:lstStyle/>
                    <a:p>
                      <a:pPr algn="ctr"/>
                      <a:r>
                        <a:rPr sz="950" b="0" i="0">
                          <a:solidFill>
                            <a:srgbClr val="14313B"/>
                          </a:solidFill>
                          <a:latin typeface="Calibri (MS)"/>
                        </a:rPr>
                        <a:t>0,04</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0,56</a:t>
                      </a:r>
                    </a:p>
                  </a:txBody>
                  <a:tcPr marL="73152" marR="73152" marT="36576" marB="36576" anchor="ctr">
                    <a:solidFill>
                      <a:srgbClr val="EAF8FA"/>
                    </a:solidFill>
                  </a:tcPr>
                </a:tc>
                <a:tc>
                  <a:txBody>
                    <a:bodyPr wrap="square"/>
                    <a:lstStyle/>
                    <a:p>
                      <a:pPr algn="ctr"/>
                      <a:r>
                        <a:rPr sz="950" b="0" i="0">
                          <a:solidFill>
                            <a:srgbClr val="14313B"/>
                          </a:solidFill>
                          <a:latin typeface="Calibri (MS)"/>
                        </a:rPr>
                        <a:t>−0,51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25</a:t>
                      </a:r>
                    </a:p>
                  </a:txBody>
                  <a:tcPr marL="73152" marR="73152" marT="36576" marB="36576" anchor="ctr">
                    <a:solidFill>
                      <a:srgbClr val="FFFFFF"/>
                    </a:solidFill>
                  </a:tcPr>
                </a:tc>
                <a:tc>
                  <a:txBody>
                    <a:bodyPr wrap="square"/>
                    <a:lstStyle/>
                    <a:p>
                      <a:r>
                        <a:rPr sz="950" b="0" i="0">
                          <a:solidFill>
                            <a:srgbClr val="14313B"/>
                          </a:solidFill>
                          <a:latin typeface="Calibri (MS)"/>
                        </a:rPr>
                        <a:t>Sensitivitas Konstruksi terhadap TPK</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−2,05</a:t>
                      </a:r>
                    </a:p>
                  </a:txBody>
                  <a:tcPr marL="73152" marR="73152" marT="36576" marB="36576" anchor="ctr">
                    <a:solidFill>
                      <a:srgbClr val="EAF8FA"/>
                    </a:solidFill>
                  </a:tcPr>
                </a:tc>
                <a:tc>
                  <a:txBody>
                    <a:bodyPr wrap="square"/>
                    <a:lstStyle/>
                    <a:p>
                      <a:pPr algn="ctr"/>
                      <a:r>
                        <a:rPr sz="950" b="0" i="0">
                          <a:solidFill>
                            <a:srgbClr val="14313B"/>
                          </a:solidFill>
                          <a:latin typeface="Calibri (MS)"/>
                        </a:rPr>
                        <a:t>1,80</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26</a:t>
                      </a:r>
                    </a:p>
                  </a:txBody>
                  <a:tcPr marL="73152" marR="73152" marT="36576" marB="36576" anchor="ctr">
                    <a:solidFill>
                      <a:srgbClr val="EAF8FA"/>
                    </a:solidFill>
                  </a:tcPr>
                </a:tc>
                <a:tc>
                  <a:txBody>
                    <a:bodyPr wrap="square"/>
                    <a:lstStyle/>
                    <a:p>
                      <a:r>
                        <a:rPr sz="950" b="0" i="0">
                          <a:solidFill>
                            <a:srgbClr val="14313B"/>
                          </a:solidFill>
                          <a:latin typeface="Calibri (MS)"/>
                        </a:rPr>
                        <a:t>Lahan Per ODTW</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0,02</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−0,01</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27</a:t>
                      </a:r>
                    </a:p>
                  </a:txBody>
                  <a:tcPr marL="73152" marR="73152" marT="36576" marB="36576" anchor="ctr">
                    <a:solidFill>
                      <a:srgbClr val="FFFFFF"/>
                    </a:solidFill>
                  </a:tcPr>
                </a:tc>
                <a:tc>
                  <a:txBody>
                    <a:bodyPr wrap="square"/>
                    <a:lstStyle/>
                    <a:p>
                      <a:r>
                        <a:rPr sz="950" b="0" i="0">
                          <a:solidFill>
                            <a:srgbClr val="14313B"/>
                          </a:solidFill>
                          <a:latin typeface="Calibri (MS)"/>
                        </a:rPr>
                        <a:t>TPK Ambang</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1,74</a:t>
                      </a:r>
                    </a:p>
                  </a:txBody>
                  <a:tcPr marL="73152" marR="73152" marT="36576" marB="36576" anchor="ctr">
                    <a:solidFill>
                      <a:srgbClr val="EAF8FA"/>
                    </a:solidFill>
                  </a:tcPr>
                </a:tc>
                <a:tc>
                  <a:txBody>
                    <a:bodyPr wrap="square"/>
                    <a:lstStyle/>
                    <a:p>
                      <a:pPr algn="ctr"/>
                      <a:r>
                        <a:rPr sz="950" b="0" i="0">
                          <a:solidFill>
                            <a:srgbClr val="14313B"/>
                          </a:solidFill>
                          <a:latin typeface="Calibri (MS)"/>
                        </a:rPr>
                        <a:t>−2,57</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28</a:t>
                      </a:r>
                    </a:p>
                  </a:txBody>
                  <a:tcPr marL="73152" marR="73152" marT="36576" marB="36576" anchor="ctr">
                    <a:solidFill>
                      <a:srgbClr val="EAF8FA"/>
                    </a:solidFill>
                  </a:tcPr>
                </a:tc>
                <a:tc>
                  <a:txBody>
                    <a:bodyPr wrap="square"/>
                    <a:lstStyle/>
                    <a:p>
                      <a:r>
                        <a:rPr sz="950" b="0" i="0">
                          <a:solidFill>
                            <a:srgbClr val="14313B"/>
                          </a:solidFill>
                          <a:latin typeface="Calibri (MS)"/>
                        </a:rPr>
                        <a:t>Batas Maksimum Efek ODTW</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30</a:t>
                      </a:r>
                    </a:p>
                  </a:txBody>
                  <a:tcPr marL="73152" marR="73152" marT="36576" marB="36576" anchor="ctr">
                    <a:solidFill>
                      <a:srgbClr val="FFFFFF"/>
                    </a:solidFill>
                  </a:tcPr>
                </a:tc>
                <a:tc>
                  <a:txBody>
                    <a:bodyPr wrap="square"/>
                    <a:lstStyle/>
                    <a:p>
                      <a:r>
                        <a:rPr sz="950" b="0" i="0">
                          <a:solidFill>
                            <a:srgbClr val="14313B"/>
                          </a:solidFill>
                          <a:latin typeface="Calibri (MS)"/>
                        </a:rPr>
                        <a:t>Intensitas Tenaga Kerja Awal</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−10,00</a:t>
                      </a:r>
                    </a:p>
                  </a:txBody>
                  <a:tcPr marL="73152" marR="73152" marT="36576" marB="36576" anchor="ctr">
                    <a:solidFill>
                      <a:srgbClr val="FDE2DE"/>
                    </a:solidFill>
                  </a:tcPr>
                </a:tc>
                <a:tc>
                  <a:txBody>
                    <a:bodyPr wrap="square"/>
                    <a:lstStyle/>
                    <a:p>
                      <a:pPr algn="ctr"/>
                      <a:r>
                        <a:rPr sz="950" b="0" i="0">
                          <a:solidFill>
                            <a:srgbClr val="14313B"/>
                          </a:solidFill>
                          <a:latin typeface="Calibri (MS)"/>
                        </a:rPr>
                        <a:t>10,00</a:t>
                      </a:r>
                    </a:p>
                  </a:txBody>
                  <a:tcPr marL="73152" marR="73152" marT="36576" marB="36576" anchor="ctr">
                    <a:solidFill>
                      <a:srgbClr val="FDE2DE"/>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30</a:t>
                      </a:r>
                    </a:p>
                  </a:txBody>
                  <a:tcPr marL="73152" marR="73152" marT="36576" marB="36576" anchor="ctr">
                    <a:solidFill>
                      <a:srgbClr val="EAF8FA"/>
                    </a:solidFill>
                  </a:tcPr>
                </a:tc>
                <a:tc>
                  <a:txBody>
                    <a:bodyPr wrap="square"/>
                    <a:lstStyle/>
                    <a:p>
                      <a:r>
                        <a:rPr sz="950" b="0" i="0">
                          <a:solidFill>
                            <a:srgbClr val="14313B"/>
                          </a:solidFill>
                          <a:latin typeface="Calibri (MS)"/>
                        </a:rPr>
                        <a:t>Laju Kenaikan Produktivitas</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2,68</a:t>
                      </a:r>
                    </a:p>
                  </a:txBody>
                  <a:tcPr marL="73152" marR="73152" marT="36576" marB="36576" anchor="ctr">
                    <a:solidFill>
                      <a:srgbClr val="EAF8FA"/>
                    </a:solidFill>
                  </a:tcPr>
                </a:tc>
                <a:tc>
                  <a:txBody>
                    <a:bodyPr wrap="square"/>
                    <a:lstStyle/>
                    <a:p>
                      <a:pPr algn="ctr"/>
                      <a:r>
                        <a:rPr sz="950" b="0" i="0">
                          <a:solidFill>
                            <a:srgbClr val="14313B"/>
                          </a:solidFill>
                          <a:latin typeface="Calibri (MS)"/>
                        </a:rPr>
                        <a:t>−2,61</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r>
              <a:tr h="365760">
                <a:tc>
                  <a:txBody>
                    <a:bodyPr wrap="square"/>
                    <a:lstStyle/>
                    <a:p>
                      <a:pPr algn="ctr"/>
                      <a:r>
                        <a:rPr sz="950" b="0" i="0">
                          <a:solidFill>
                            <a:srgbClr val="14313B"/>
                          </a:solidFill>
                          <a:latin typeface="Calibri (MS)"/>
                        </a:rPr>
                        <a:t>30</a:t>
                      </a:r>
                    </a:p>
                  </a:txBody>
                  <a:tcPr marL="73152" marR="73152" marT="36576" marB="36576" anchor="ctr">
                    <a:solidFill>
                      <a:srgbClr val="FFFFFF"/>
                    </a:solidFill>
                  </a:tcPr>
                </a:tc>
                <a:tc>
                  <a:txBody>
                    <a:bodyPr wrap="square"/>
                    <a:lstStyle/>
                    <a:p>
                      <a:r>
                        <a:rPr sz="950" b="0" i="0">
                          <a:solidFill>
                            <a:srgbClr val="14313B"/>
                          </a:solidFill>
                          <a:latin typeface="Calibri (MS)"/>
                        </a:rPr>
                        <a:t>Laju Keluar Dasar Tenaga Kerja</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c>
                  <a:txBody>
                    <a:bodyPr wrap="square"/>
                    <a:lstStyle/>
                    <a:p>
                      <a:pPr algn="ctr"/>
                      <a:r>
                        <a:rPr sz="950" b="0" i="0">
                          <a:solidFill>
                            <a:srgbClr val="14313B"/>
                          </a:solidFill>
                          <a:latin typeface="Calibri (MS)"/>
                        </a:rPr>
                        <a:t>0</a:t>
                      </a:r>
                    </a:p>
                  </a:txBody>
                  <a:tcPr marL="73152" marR="73152" marT="36576" marB="36576" anchor="ctr">
                    <a:solidFill>
                      <a:srgbClr val="FFFFFF"/>
                    </a:solidFill>
                  </a:tcPr>
                </a:tc>
              </a:tr>
              <a:tr h="365760">
                <a:tc>
                  <a:txBody>
                    <a:bodyPr wrap="square"/>
                    <a:lstStyle/>
                    <a:p>
                      <a:pPr algn="ctr"/>
                      <a:r>
                        <a:rPr sz="950" b="0" i="0">
                          <a:solidFill>
                            <a:srgbClr val="14313B"/>
                          </a:solidFill>
                          <a:latin typeface="Calibri (MS)"/>
                        </a:rPr>
                        <a:t>30</a:t>
                      </a:r>
                    </a:p>
                  </a:txBody>
                  <a:tcPr marL="73152" marR="73152" marT="36576" marB="36576" anchor="ctr">
                    <a:solidFill>
                      <a:srgbClr val="EAF8FA"/>
                    </a:solidFill>
                  </a:tcPr>
                </a:tc>
                <a:tc>
                  <a:txBody>
                    <a:bodyPr wrap="square"/>
                    <a:lstStyle/>
                    <a:p>
                      <a:r>
                        <a:rPr sz="950" b="0" i="0">
                          <a:solidFill>
                            <a:srgbClr val="14313B"/>
                          </a:solidFill>
                          <a:latin typeface="Calibri (MS)"/>
                        </a:rPr>
                        <a:t>Waktu Penyesuaian Tenaga Kerja</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0,08</a:t>
                      </a:r>
                    </a:p>
                  </a:txBody>
                  <a:tcPr marL="73152" marR="73152" marT="36576" marB="36576" anchor="ctr">
                    <a:solidFill>
                      <a:srgbClr val="EAF8FA"/>
                    </a:solidFill>
                  </a:tcPr>
                </a:tc>
                <a:tc>
                  <a:txBody>
                    <a:bodyPr wrap="square"/>
                    <a:lstStyle/>
                    <a:p>
                      <a:pPr algn="ctr"/>
                      <a:r>
                        <a:rPr sz="950" b="0" i="0">
                          <a:solidFill>
                            <a:srgbClr val="14313B"/>
                          </a:solidFill>
                          <a:latin typeface="Calibri (MS)"/>
                        </a:rPr>
                        <a:t>−0,08</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c>
                  <a:txBody>
                    <a:bodyPr wrap="square"/>
                    <a:lstStyle/>
                    <a:p>
                      <a:pPr algn="ctr"/>
                      <a:r>
                        <a:rPr sz="950" b="0" i="0">
                          <a:solidFill>
                            <a:srgbClr val="14313B"/>
                          </a:solidFill>
                          <a:latin typeface="Calibri (MS)"/>
                        </a:rPr>
                        <a:t>0</a:t>
                      </a:r>
                    </a:p>
                  </a:txBody>
                  <a:tcPr marL="73152" marR="73152" marT="36576" marB="36576" anchor="ctr">
                    <a:solidFill>
                      <a:srgbClr val="EAF8FA"/>
                    </a:solidFill>
                  </a:tcPr>
                </a:tc>
              </a:tr>
            </a:tbl>
          </a:graphicData>
        </a:graphic>
      </p:graphicFrame>
      <p:sp>
        <p:nvSpPr>
          <p:cNvPr id="28" name="TextBox 27"/>
          <p:cNvSpPr txBox="1"/>
          <p:nvPr/>
        </p:nvSpPr>
        <p:spPr>
          <a:xfrm>
            <a:off x="822960" y="822960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Warna: biru muda |x| ≥ 1% · kuning ≥ 5% · merah muda ≥ 10%. "Rank" = peringkat terhadap Jumlah Wisatawan (seri diberi peringkat sama).</a:t>
            </a:r>
          </a:p>
        </p:txBody>
      </p:sp>
      <p:sp>
        <p:nvSpPr>
          <p:cNvPr id="29" name="Rounded Rectangle 28"/>
          <p:cNvSpPr/>
          <p:nvPr/>
        </p:nvSpPr>
        <p:spPr>
          <a:xfrm>
            <a:off x="822960" y="8549640"/>
            <a:ext cx="16642080" cy="6400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Batas Maksimum Efek ODTW dan Laju Keluar Dasar TK tidak berpengaruh pada keenam keluaran: batas ODTW tidak pernah aktif, dan keluar TK langsung diganti lewat penyerapan.</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4.7.1; hasil_sensitivitas_bagianA_konsisten.xlsx (sheet Peringkat Tornado).</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68 · Peringkat Sensitivitas ±10% per Keluaran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Lima parameter paling berpengaruh untuk tiap keluaran; peringkat berbeda antarkeluaran</a:t>
            </a:r>
          </a:p>
        </p:txBody>
      </p:sp>
      <p:sp>
        <p:nvSpPr>
          <p:cNvPr id="27" name="Rounded Rectangle 26"/>
          <p:cNvSpPr/>
          <p:nvPr/>
        </p:nvSpPr>
        <p:spPr>
          <a:xfrm>
            <a:off x="82296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Wisatawan 2050</a:t>
            </a:r>
          </a:p>
        </p:txBody>
      </p:sp>
      <p:graphicFrame>
        <p:nvGraphicFramePr>
          <p:cNvPr id="28" name="Table 27"/>
          <p:cNvGraphicFramePr>
            <a:graphicFrameLocks noGrp="1"/>
          </p:cNvGraphicFramePr>
          <p:nvPr/>
        </p:nvGraphicFramePr>
        <p:xfrm>
          <a:off x="822960" y="233172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42,07%</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Kepadatan Referensi</a:t>
                      </a:r>
                    </a:p>
                  </a:txBody>
                  <a:tcPr marL="73152" marR="73152" marT="36576" marB="36576" anchor="ctr">
                    <a:solidFill>
                      <a:srgbClr val="EAF8FA"/>
                    </a:solidFill>
                  </a:tcPr>
                </a:tc>
                <a:tc>
                  <a:txBody>
                    <a:bodyPr wrap="square"/>
                    <a:lstStyle/>
                    <a:p>
                      <a:pPr algn="ctr"/>
                      <a:r>
                        <a:rPr sz="950" b="0" i="0">
                          <a:solidFill>
                            <a:srgbClr val="14313B"/>
                          </a:solidFill>
                          <a:latin typeface="Calibri (MS)"/>
                        </a:rPr>
                        <a:t>8,61%</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Bobot Kepadatan</a:t>
                      </a:r>
                    </a:p>
                  </a:txBody>
                  <a:tcPr marL="73152" marR="73152" marT="36576" marB="36576" anchor="ctr">
                    <a:solidFill>
                      <a:srgbClr val="FFFFFF"/>
                    </a:solidFill>
                  </a:tcPr>
                </a:tc>
                <a:tc>
                  <a:txBody>
                    <a:bodyPr wrap="square"/>
                    <a:lstStyle/>
                    <a:p>
                      <a:pPr algn="ctr"/>
                      <a:r>
                        <a:rPr sz="950" b="0" i="0">
                          <a:solidFill>
                            <a:srgbClr val="14313B"/>
                          </a:solidFill>
                          <a:latin typeface="Calibri (MS)"/>
                        </a:rPr>
                        <a:t>7,49%</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Bobot ODTW</a:t>
                      </a:r>
                    </a:p>
                  </a:txBody>
                  <a:tcPr marL="73152" marR="73152" marT="36576" marB="36576" anchor="ctr">
                    <a:solidFill>
                      <a:srgbClr val="EAF8FA"/>
                    </a:solidFill>
                  </a:tcPr>
                </a:tc>
                <a:tc>
                  <a:txBody>
                    <a:bodyPr wrap="square"/>
                    <a:lstStyle/>
                    <a:p>
                      <a:pPr algn="ctr"/>
                      <a:r>
                        <a:rPr sz="950" b="0" i="0">
                          <a:solidFill>
                            <a:srgbClr val="14313B"/>
                          </a:solidFill>
                          <a:latin typeface="Calibri (MS)"/>
                        </a:rPr>
                        <a:t>7,27%</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Rasio Daya Dukung Lahan Referensi</a:t>
                      </a:r>
                    </a:p>
                  </a:txBody>
                  <a:tcPr marL="73152" marR="73152" marT="36576" marB="36576" anchor="ctr">
                    <a:solidFill>
                      <a:srgbClr val="FFFFFF"/>
                    </a:solidFill>
                  </a:tcPr>
                </a:tc>
                <a:tc>
                  <a:txBody>
                    <a:bodyPr wrap="square"/>
                    <a:lstStyle/>
                    <a:p>
                      <a:pPr algn="ctr"/>
                      <a:r>
                        <a:rPr sz="950" b="0" i="0">
                          <a:solidFill>
                            <a:srgbClr val="14313B"/>
                          </a:solidFill>
                          <a:latin typeface="Calibri (MS)"/>
                        </a:rPr>
                        <a:t>5,09%</a:t>
                      </a:r>
                    </a:p>
                  </a:txBody>
                  <a:tcPr marL="73152" marR="73152" marT="36576" marB="36576" anchor="ctr">
                    <a:solidFill>
                      <a:srgbClr val="FFFFFF"/>
                    </a:solidFill>
                  </a:tcPr>
                </a:tc>
              </a:tr>
            </a:tbl>
          </a:graphicData>
        </a:graphic>
      </p:graphicFrame>
      <p:sp>
        <p:nvSpPr>
          <p:cNvPr id="29" name="Rounded Rectangle 28"/>
          <p:cNvSpPr/>
          <p:nvPr/>
        </p:nvSpPr>
        <p:spPr>
          <a:xfrm>
            <a:off x="644652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Lahan 2050</a:t>
            </a:r>
          </a:p>
        </p:txBody>
      </p:sp>
      <p:graphicFrame>
        <p:nvGraphicFramePr>
          <p:cNvPr id="30" name="Table 29"/>
          <p:cNvGraphicFramePr>
            <a:graphicFrameLocks noGrp="1"/>
          </p:cNvGraphicFramePr>
          <p:nvPr/>
        </p:nvGraphicFramePr>
        <p:xfrm>
          <a:off x="6446520" y="233172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Konversi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6,64%</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Luas Lahan Tersedia</a:t>
                      </a:r>
                    </a:p>
                  </a:txBody>
                  <a:tcPr marL="73152" marR="73152" marT="36576" marB="36576" anchor="ctr">
                    <a:solidFill>
                      <a:srgbClr val="EAF8FA"/>
                    </a:solidFill>
                  </a:tcPr>
                </a:tc>
                <a:tc>
                  <a:txBody>
                    <a:bodyPr wrap="square"/>
                    <a:lstStyle/>
                    <a:p>
                      <a:pPr algn="ctr"/>
                      <a:r>
                        <a:rPr sz="950" b="0" i="0">
                          <a:solidFill>
                            <a:srgbClr val="14313B"/>
                          </a:solidFill>
                          <a:latin typeface="Calibri (MS)"/>
                        </a:rPr>
                        <a:t>2,67%</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0,26%</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Rasio Daya Dukung Lahan Referensi</a:t>
                      </a:r>
                    </a:p>
                  </a:txBody>
                  <a:tcPr marL="73152" marR="73152" marT="36576" marB="36576" anchor="ctr">
                    <a:solidFill>
                      <a:srgbClr val="EAF8FA"/>
                    </a:solidFill>
                  </a:tcPr>
                </a:tc>
                <a:tc>
                  <a:txBody>
                    <a:bodyPr wrap="square"/>
                    <a:lstStyle/>
                    <a:p>
                      <a:pPr algn="ctr"/>
                      <a:r>
                        <a:rPr sz="950" b="0" i="0">
                          <a:solidFill>
                            <a:srgbClr val="14313B"/>
                          </a:solidFill>
                          <a:latin typeface="Calibri (MS)"/>
                        </a:rPr>
                        <a:t>0,13%</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Tingkat Penghunian Ganda Kamar</a:t>
                      </a:r>
                    </a:p>
                  </a:txBody>
                  <a:tcPr marL="73152" marR="73152" marT="36576" marB="36576" anchor="ctr">
                    <a:solidFill>
                      <a:srgbClr val="FFFFFF"/>
                    </a:solidFill>
                  </a:tcPr>
                </a:tc>
                <a:tc>
                  <a:txBody>
                    <a:bodyPr wrap="square"/>
                    <a:lstStyle/>
                    <a:p>
                      <a:pPr algn="ctr"/>
                      <a:r>
                        <a:rPr sz="950" b="0" i="0">
                          <a:solidFill>
                            <a:srgbClr val="14313B"/>
                          </a:solidFill>
                          <a:latin typeface="Calibri (MS)"/>
                        </a:rPr>
                        <a:t>0,08%</a:t>
                      </a:r>
                    </a:p>
                  </a:txBody>
                  <a:tcPr marL="73152" marR="73152" marT="36576" marB="36576" anchor="ctr">
                    <a:solidFill>
                      <a:srgbClr val="FFFFFF"/>
                    </a:solidFill>
                  </a:tcPr>
                </a:tc>
              </a:tr>
            </a:tbl>
          </a:graphicData>
        </a:graphic>
      </p:graphicFrame>
      <p:sp>
        <p:nvSpPr>
          <p:cNvPr id="31" name="Rounded Rectangle 30"/>
          <p:cNvSpPr/>
          <p:nvPr/>
        </p:nvSpPr>
        <p:spPr>
          <a:xfrm>
            <a:off x="1207008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PDRB 2050</a:t>
            </a:r>
          </a:p>
        </p:txBody>
      </p:sp>
      <p:graphicFrame>
        <p:nvGraphicFramePr>
          <p:cNvPr id="32" name="Table 31"/>
          <p:cNvGraphicFramePr>
            <a:graphicFrameLocks noGrp="1"/>
          </p:cNvGraphicFramePr>
          <p:nvPr/>
        </p:nvGraphicFramePr>
        <p:xfrm>
          <a:off x="12070080" y="233172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42,07%</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pPr algn="ctr"/>
                      <a:r>
                        <a:rPr sz="950" b="0" i="0">
                          <a:solidFill>
                            <a:srgbClr val="14313B"/>
                          </a:solidFill>
                          <a:latin typeface="Calibri (MS)"/>
                        </a:rPr>
                        <a:t>12,82%</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Pengeluaran per Kunjungan</a:t>
                      </a:r>
                    </a:p>
                  </a:txBody>
                  <a:tcPr marL="73152" marR="73152" marT="36576" marB="36576" anchor="ctr">
                    <a:solidFill>
                      <a:srgbClr val="FFFFFF"/>
                    </a:solidFill>
                  </a:tcPr>
                </a:tc>
                <a:tc>
                  <a:txBody>
                    <a:bodyPr wrap="square"/>
                    <a:lstStyle/>
                    <a:p>
                      <a:pPr algn="ctr"/>
                      <a:r>
                        <a:rPr sz="950" b="0" i="0">
                          <a:solidFill>
                            <a:srgbClr val="14313B"/>
                          </a:solidFill>
                          <a:latin typeface="Calibri (MS)"/>
                        </a:rPr>
                        <a:t>12,82%</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Kepadatan Referensi</a:t>
                      </a:r>
                    </a:p>
                  </a:txBody>
                  <a:tcPr marL="73152" marR="73152" marT="36576" marB="36576" anchor="ctr">
                    <a:solidFill>
                      <a:srgbClr val="EAF8FA"/>
                    </a:solidFill>
                  </a:tcPr>
                </a:tc>
                <a:tc>
                  <a:txBody>
                    <a:bodyPr wrap="square"/>
                    <a:lstStyle/>
                    <a:p>
                      <a:pPr algn="ctr"/>
                      <a:r>
                        <a:rPr sz="950" b="0" i="0">
                          <a:solidFill>
                            <a:srgbClr val="14313B"/>
                          </a:solidFill>
                          <a:latin typeface="Calibri (MS)"/>
                        </a:rPr>
                        <a:t>8,61%</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Bobot Kepadatan</a:t>
                      </a:r>
                    </a:p>
                  </a:txBody>
                  <a:tcPr marL="73152" marR="73152" marT="36576" marB="36576" anchor="ctr">
                    <a:solidFill>
                      <a:srgbClr val="FFFFFF"/>
                    </a:solidFill>
                  </a:tcPr>
                </a:tc>
                <a:tc>
                  <a:txBody>
                    <a:bodyPr wrap="square"/>
                    <a:lstStyle/>
                    <a:p>
                      <a:pPr algn="ctr"/>
                      <a:r>
                        <a:rPr sz="950" b="0" i="0">
                          <a:solidFill>
                            <a:srgbClr val="14313B"/>
                          </a:solidFill>
                          <a:latin typeface="Calibri (MS)"/>
                        </a:rPr>
                        <a:t>7,49%</a:t>
                      </a:r>
                    </a:p>
                  </a:txBody>
                  <a:tcPr marL="73152" marR="73152" marT="36576" marB="36576" anchor="ctr">
                    <a:solidFill>
                      <a:srgbClr val="FFFFFF"/>
                    </a:solidFill>
                  </a:tcPr>
                </a:tc>
              </a:tr>
            </a:tbl>
          </a:graphicData>
        </a:graphic>
      </p:graphicFrame>
      <p:sp>
        <p:nvSpPr>
          <p:cNvPr id="33" name="Rounded Rectangle 32"/>
          <p:cNvSpPr/>
          <p:nvPr/>
        </p:nvSpPr>
        <p:spPr>
          <a:xfrm>
            <a:off x="822960" y="4892040"/>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Hotel 2050</a:t>
            </a:r>
          </a:p>
        </p:txBody>
      </p:sp>
      <p:graphicFrame>
        <p:nvGraphicFramePr>
          <p:cNvPr id="34" name="Table 33"/>
          <p:cNvGraphicFramePr>
            <a:graphicFrameLocks noGrp="1"/>
          </p:cNvGraphicFramePr>
          <p:nvPr/>
        </p:nvGraphicFramePr>
        <p:xfrm>
          <a:off x="822960" y="534924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37,00%</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Tingkat Penghunian Ganda Kamar</a:t>
                      </a:r>
                    </a:p>
                  </a:txBody>
                  <a:tcPr marL="73152" marR="73152" marT="36576" marB="36576" anchor="ctr">
                    <a:solidFill>
                      <a:srgbClr val="EAF8FA"/>
                    </a:solidFill>
                  </a:tcPr>
                </a:tc>
                <a:tc>
                  <a:txBody>
                    <a:bodyPr wrap="square"/>
                    <a:lstStyle/>
                    <a:p>
                      <a:pPr algn="ctr"/>
                      <a:r>
                        <a:rPr sz="950" b="0" i="0">
                          <a:solidFill>
                            <a:srgbClr val="14313B"/>
                          </a:solidFill>
                          <a:latin typeface="Calibri (MS)"/>
                        </a:rPr>
                        <a:t>8,80%</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Malam Tersedia per Kamar</a:t>
                      </a:r>
                    </a:p>
                  </a:txBody>
                  <a:tcPr marL="73152" marR="73152" marT="36576" marB="36576" anchor="ctr">
                    <a:solidFill>
                      <a:srgbClr val="FFFFFF"/>
                    </a:solidFill>
                  </a:tcPr>
                </a:tc>
                <a:tc>
                  <a:txBody>
                    <a:bodyPr wrap="square"/>
                    <a:lstStyle/>
                    <a:p>
                      <a:pPr algn="ctr"/>
                      <a:r>
                        <a:rPr sz="950" b="0" i="0">
                          <a:solidFill>
                            <a:srgbClr val="14313B"/>
                          </a:solidFill>
                          <a:latin typeface="Calibri (MS)"/>
                        </a:rPr>
                        <a:t>8,80%</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Rata-rata Kamar per Unit Akomodasi</a:t>
                      </a:r>
                    </a:p>
                  </a:txBody>
                  <a:tcPr marL="73152" marR="73152" marT="36576" marB="36576" anchor="ctr">
                    <a:solidFill>
                      <a:srgbClr val="EAF8FA"/>
                    </a:solidFill>
                  </a:tcPr>
                </a:tc>
                <a:tc>
                  <a:txBody>
                    <a:bodyPr wrap="square"/>
                    <a:lstStyle/>
                    <a:p>
                      <a:pPr algn="ctr"/>
                      <a:r>
                        <a:rPr sz="950" b="0" i="0">
                          <a:solidFill>
                            <a:srgbClr val="14313B"/>
                          </a:solidFill>
                          <a:latin typeface="Calibri (MS)"/>
                        </a:rPr>
                        <a:t>8,80%</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Rata-rata Lama Menginap Tamu</a:t>
                      </a:r>
                    </a:p>
                  </a:txBody>
                  <a:tcPr marL="73152" marR="73152" marT="36576" marB="36576" anchor="ctr">
                    <a:solidFill>
                      <a:srgbClr val="FFFFFF"/>
                    </a:solidFill>
                  </a:tcPr>
                </a:tc>
                <a:tc>
                  <a:txBody>
                    <a:bodyPr wrap="square"/>
                    <a:lstStyle/>
                    <a:p>
                      <a:pPr algn="ctr"/>
                      <a:r>
                        <a:rPr sz="950" b="0" i="0">
                          <a:solidFill>
                            <a:srgbClr val="14313B"/>
                          </a:solidFill>
                          <a:latin typeface="Calibri (MS)"/>
                        </a:rPr>
                        <a:t>8,19%</a:t>
                      </a:r>
                    </a:p>
                  </a:txBody>
                  <a:tcPr marL="73152" marR="73152" marT="36576" marB="36576" anchor="ctr">
                    <a:solidFill>
                      <a:srgbClr val="FFFFFF"/>
                    </a:solidFill>
                  </a:tcPr>
                </a:tc>
              </a:tr>
            </a:tbl>
          </a:graphicData>
        </a:graphic>
      </p:graphicFrame>
      <p:sp>
        <p:nvSpPr>
          <p:cNvPr id="35" name="Rounded Rectangle 34"/>
          <p:cNvSpPr/>
          <p:nvPr/>
        </p:nvSpPr>
        <p:spPr>
          <a:xfrm>
            <a:off x="6446520" y="4892040"/>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TK 2050</a:t>
            </a:r>
          </a:p>
        </p:txBody>
      </p:sp>
      <p:graphicFrame>
        <p:nvGraphicFramePr>
          <p:cNvPr id="36" name="Table 35"/>
          <p:cNvGraphicFramePr>
            <a:graphicFrameLocks noGrp="1"/>
          </p:cNvGraphicFramePr>
          <p:nvPr/>
        </p:nvGraphicFramePr>
        <p:xfrm>
          <a:off x="6446520" y="534924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40,07%</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pPr algn="ctr"/>
                      <a:r>
                        <a:rPr sz="950" b="0" i="0">
                          <a:solidFill>
                            <a:srgbClr val="14313B"/>
                          </a:solidFill>
                          <a:latin typeface="Calibri (MS)"/>
                        </a:rPr>
                        <a:t>12,63%</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Pengeluaran per Kunjungan</a:t>
                      </a:r>
                    </a:p>
                  </a:txBody>
                  <a:tcPr marL="73152" marR="73152" marT="36576" marB="36576" anchor="ctr">
                    <a:solidFill>
                      <a:srgbClr val="FFFFFF"/>
                    </a:solidFill>
                  </a:tcPr>
                </a:tc>
                <a:tc>
                  <a:txBody>
                    <a:bodyPr wrap="square"/>
                    <a:lstStyle/>
                    <a:p>
                      <a:pPr algn="ctr"/>
                      <a:r>
                        <a:rPr sz="950" b="0" i="0">
                          <a:solidFill>
                            <a:srgbClr val="14313B"/>
                          </a:solidFill>
                          <a:latin typeface="Calibri (MS)"/>
                        </a:rPr>
                        <a:t>12,63%</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Intensitas Tenaga Kerja Awal</a:t>
                      </a:r>
                    </a:p>
                  </a:txBody>
                  <a:tcPr marL="73152" marR="73152" marT="36576" marB="36576" anchor="ctr">
                    <a:solidFill>
                      <a:srgbClr val="EAF8FA"/>
                    </a:solidFill>
                  </a:tcPr>
                </a:tc>
                <a:tc>
                  <a:txBody>
                    <a:bodyPr wrap="square"/>
                    <a:lstStyle/>
                    <a:p>
                      <a:pPr algn="ctr"/>
                      <a:r>
                        <a:rPr sz="950" b="0" i="0">
                          <a:solidFill>
                            <a:srgbClr val="14313B"/>
                          </a:solidFill>
                          <a:latin typeface="Calibri (MS)"/>
                        </a:rPr>
                        <a:t>10,00%</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Kepadatan Referensi</a:t>
                      </a:r>
                    </a:p>
                  </a:txBody>
                  <a:tcPr marL="73152" marR="73152" marT="36576" marB="36576" anchor="ctr">
                    <a:solidFill>
                      <a:srgbClr val="FFFFFF"/>
                    </a:solidFill>
                  </a:tcPr>
                </a:tc>
                <a:tc>
                  <a:txBody>
                    <a:bodyPr wrap="square"/>
                    <a:lstStyle/>
                    <a:p>
                      <a:pPr algn="ctr"/>
                      <a:r>
                        <a:rPr sz="950" b="0" i="0">
                          <a:solidFill>
                            <a:srgbClr val="14313B"/>
                          </a:solidFill>
                          <a:latin typeface="Calibri (MS)"/>
                        </a:rPr>
                        <a:t>8,38%</a:t>
                      </a:r>
                    </a:p>
                  </a:txBody>
                  <a:tcPr marL="73152" marR="73152" marT="36576" marB="36576" anchor="ctr">
                    <a:solidFill>
                      <a:srgbClr val="FFFFFF"/>
                    </a:solidFill>
                  </a:tcPr>
                </a:tc>
              </a:tr>
            </a:tbl>
          </a:graphicData>
        </a:graphic>
      </p:graphicFrame>
      <p:sp>
        <p:nvSpPr>
          <p:cNvPr id="37" name="Rounded Rectangle 36"/>
          <p:cNvSpPr/>
          <p:nvPr/>
        </p:nvSpPr>
        <p:spPr>
          <a:xfrm>
            <a:off x="12070080" y="4892040"/>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ODTW 2050</a:t>
            </a:r>
          </a:p>
        </p:txBody>
      </p:sp>
      <p:graphicFrame>
        <p:nvGraphicFramePr>
          <p:cNvPr id="38" name="Table 37"/>
          <p:cNvGraphicFramePr>
            <a:graphicFrameLocks noGrp="1"/>
          </p:cNvGraphicFramePr>
          <p:nvPr/>
        </p:nvGraphicFramePr>
        <p:xfrm>
          <a:off x="12070080" y="5349240"/>
          <a:ext cx="5394959" cy="2304288"/>
        </p:xfrm>
        <a:graphic>
          <a:graphicData uri="http://schemas.openxmlformats.org/drawingml/2006/table">
            <a:tbl>
              <a:tblPr firstRow="1" bandRow="1">
                <a:tableStyleId>{5C22544A-7EE6-4342-B048-85BDC9FD1C3A}</a:tableStyleId>
              </a:tblPr>
              <a:tblGrid>
                <a:gridCol w="365760"/>
                <a:gridCol w="3749039"/>
                <a:gridCol w="1280160"/>
              </a:tblGrid>
              <a:tr h="384048">
                <a:tc>
                  <a:txBody>
                    <a:bodyPr wrap="square"/>
                    <a:lstStyle/>
                    <a:p>
                      <a:pPr algn="ctr"/>
                      <a:r>
                        <a:rPr sz="950" b="1" i="0">
                          <a:solidFill>
                            <a:srgbClr val="FFFFFF"/>
                          </a:solidFill>
                          <a:latin typeface="Calibri (MS) Bold"/>
                        </a:rPr>
                        <a:t>#</a:t>
                      </a:r>
                    </a:p>
                  </a:txBody>
                  <a:tcPr marL="73152" marR="73152" marT="36576" marB="36576" anchor="ctr">
                    <a:solidFill>
                      <a:srgbClr val="0B5E6E"/>
                    </a:solidFill>
                  </a:tcPr>
                </a:tc>
                <a:tc>
                  <a:txBody>
                    <a:bodyPr wrap="square"/>
                    <a:lstStyle/>
                    <a:p>
                      <a:r>
                        <a:rPr sz="950" b="1" i="0">
                          <a:solidFill>
                            <a:srgbClr val="FFFFFF"/>
                          </a:solidFill>
                          <a:latin typeface="Calibri (MS) Bold"/>
                        </a:rPr>
                        <a:t>Parameter</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|maks|</a:t>
                      </a:r>
                    </a:p>
                  </a:txBody>
                  <a:tcPr marL="73152" marR="73152" marT="36576" marB="36576" anchor="ctr">
                    <a:solidFill>
                      <a:srgbClr val="0B5E6E"/>
                    </a:solidFill>
                  </a:tcPr>
                </a:tc>
              </a:tr>
              <a:tr h="384048">
                <a:tc>
                  <a:txBody>
                    <a:bodyPr wrap="square"/>
                    <a:lstStyle/>
                    <a:p>
                      <a:pPr algn="ctr"/>
                      <a:r>
                        <a:rPr sz="950" b="0" i="0">
                          <a:solidFill>
                            <a:srgbClr val="14313B"/>
                          </a:solidFill>
                          <a:latin typeface="Calibri (MS)"/>
                        </a:rPr>
                        <a:t>1</a:t>
                      </a:r>
                    </a:p>
                  </a:txBody>
                  <a:tcPr marL="73152" marR="73152" marT="36576" marB="36576" anchor="ctr">
                    <a:solidFill>
                      <a:srgbClr val="FFFFFF"/>
                    </a:solidFill>
                  </a:tcPr>
                </a:tc>
                <a:tc>
                  <a:txBody>
                    <a:bodyPr wrap="square"/>
                    <a:lstStyle/>
                    <a:p>
                      <a:r>
                        <a:rPr sz="950" b="0" i="0">
                          <a:solidFill>
                            <a:srgbClr val="14313B"/>
                          </a:solidFill>
                          <a:latin typeface="Calibri (MS)"/>
                        </a:rPr>
                        <a:t>Laju Penurunan Dasar</a:t>
                      </a:r>
                    </a:p>
                  </a:txBody>
                  <a:tcPr marL="73152" marR="73152" marT="36576" marB="36576" anchor="ctr">
                    <a:solidFill>
                      <a:srgbClr val="FFFFFF"/>
                    </a:solidFill>
                  </a:tcPr>
                </a:tc>
                <a:tc>
                  <a:txBody>
                    <a:bodyPr wrap="square"/>
                    <a:lstStyle/>
                    <a:p>
                      <a:pPr algn="ctr"/>
                      <a:r>
                        <a:rPr sz="950" b="0" i="0">
                          <a:solidFill>
                            <a:srgbClr val="14313B"/>
                          </a:solidFill>
                          <a:latin typeface="Calibri (MS)"/>
                        </a:rPr>
                        <a:t>16,65%</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2</a:t>
                      </a:r>
                    </a:p>
                  </a:txBody>
                  <a:tcPr marL="73152" marR="73152" marT="36576" marB="36576" anchor="ctr">
                    <a:solidFill>
                      <a:srgbClr val="EAF8FA"/>
                    </a:solidFill>
                  </a:tcPr>
                </a:tc>
                <a:tc>
                  <a:txBody>
                    <a:bodyPr wrap="square"/>
                    <a:lstStyle/>
                    <a:p>
                      <a:r>
                        <a:rPr sz="950" b="0" i="0">
                          <a:solidFill>
                            <a:srgbClr val="14313B"/>
                          </a:solidFill>
                          <a:latin typeface="Calibri (MS)"/>
                        </a:rPr>
                        <a:t>Sensitivitas ODTW terhadap Investasi</a:t>
                      </a:r>
                    </a:p>
                  </a:txBody>
                  <a:tcPr marL="73152" marR="73152" marT="36576" marB="36576" anchor="ctr">
                    <a:solidFill>
                      <a:srgbClr val="EAF8FA"/>
                    </a:solidFill>
                  </a:tcPr>
                </a:tc>
                <a:tc>
                  <a:txBody>
                    <a:bodyPr wrap="square"/>
                    <a:lstStyle/>
                    <a:p>
                      <a:pPr algn="ctr"/>
                      <a:r>
                        <a:rPr sz="950" b="0" i="0">
                          <a:solidFill>
                            <a:srgbClr val="14313B"/>
                          </a:solidFill>
                          <a:latin typeface="Calibri (MS)"/>
                        </a:rPr>
                        <a:t>7,25%</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3</a:t>
                      </a:r>
                    </a:p>
                  </a:txBody>
                  <a:tcPr marL="73152" marR="73152" marT="36576" marB="36576" anchor="ctr">
                    <a:solidFill>
                      <a:srgbClr val="FFFFFF"/>
                    </a:solidFill>
                  </a:tcPr>
                </a:tc>
                <a:tc>
                  <a:txBody>
                    <a:bodyPr wrap="square"/>
                    <a:lstStyle/>
                    <a:p>
                      <a:r>
                        <a:rPr sz="950" b="0" i="0">
                          <a:solidFill>
                            <a:srgbClr val="14313B"/>
                          </a:solidFill>
                          <a:latin typeface="Calibri (MS)"/>
                        </a:rPr>
                        <a:t>Rasio Investasi terhadap PDRB</a:t>
                      </a:r>
                    </a:p>
                  </a:txBody>
                  <a:tcPr marL="73152" marR="73152" marT="36576" marB="36576" anchor="ctr">
                    <a:solidFill>
                      <a:srgbClr val="FFFFFF"/>
                    </a:solidFill>
                  </a:tcPr>
                </a:tc>
                <a:tc>
                  <a:txBody>
                    <a:bodyPr wrap="square"/>
                    <a:lstStyle/>
                    <a:p>
                      <a:pPr algn="ctr"/>
                      <a:r>
                        <a:rPr sz="950" b="0" i="0">
                          <a:solidFill>
                            <a:srgbClr val="14313B"/>
                          </a:solidFill>
                          <a:latin typeface="Calibri (MS)"/>
                        </a:rPr>
                        <a:t>7,25%</a:t>
                      </a:r>
                    </a:p>
                  </a:txBody>
                  <a:tcPr marL="73152" marR="73152" marT="36576" marB="36576" anchor="ctr">
                    <a:solidFill>
                      <a:srgbClr val="FFFFFF"/>
                    </a:solidFill>
                  </a:tcPr>
                </a:tc>
              </a:tr>
              <a:tr h="384048">
                <a:tc>
                  <a:txBody>
                    <a:bodyPr wrap="square"/>
                    <a:lstStyle/>
                    <a:p>
                      <a:pPr algn="ctr"/>
                      <a:r>
                        <a:rPr sz="950" b="0" i="0">
                          <a:solidFill>
                            <a:srgbClr val="14313B"/>
                          </a:solidFill>
                          <a:latin typeface="Calibri (MS)"/>
                        </a:rPr>
                        <a:t>4</a:t>
                      </a:r>
                    </a:p>
                  </a:txBody>
                  <a:tcPr marL="73152" marR="73152" marT="36576" marB="36576" anchor="ctr">
                    <a:solidFill>
                      <a:srgbClr val="EAF8FA"/>
                    </a:solidFill>
                  </a:tcPr>
                </a:tc>
                <a:tc>
                  <a:txBody>
                    <a:bodyPr wrap="square"/>
                    <a:lstStyle/>
                    <a:p>
                      <a:r>
                        <a:rPr sz="95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pPr algn="ctr"/>
                      <a:r>
                        <a:rPr sz="950" b="0" i="0">
                          <a:solidFill>
                            <a:srgbClr val="14313B"/>
                          </a:solidFill>
                          <a:latin typeface="Calibri (MS)"/>
                        </a:rPr>
                        <a:t>7,25%</a:t>
                      </a:r>
                    </a:p>
                  </a:txBody>
                  <a:tcPr marL="73152" marR="73152" marT="36576" marB="36576" anchor="ctr">
                    <a:solidFill>
                      <a:srgbClr val="EAF8FA"/>
                    </a:solidFill>
                  </a:tcPr>
                </a:tc>
              </a:tr>
              <a:tr h="384048">
                <a:tc>
                  <a:txBody>
                    <a:bodyPr wrap="square"/>
                    <a:lstStyle/>
                    <a:p>
                      <a:pPr algn="ctr"/>
                      <a:r>
                        <a:rPr sz="950" b="0" i="0">
                          <a:solidFill>
                            <a:srgbClr val="14313B"/>
                          </a:solidFill>
                          <a:latin typeface="Calibri (MS)"/>
                        </a:rPr>
                        <a:t>5</a:t>
                      </a:r>
                    </a:p>
                  </a:txBody>
                  <a:tcPr marL="73152" marR="73152" marT="36576" marB="36576" anchor="ctr">
                    <a:solidFill>
                      <a:srgbClr val="FFFFFF"/>
                    </a:solidFill>
                  </a:tcPr>
                </a:tc>
                <a:tc>
                  <a:txBody>
                    <a:bodyPr wrap="square"/>
                    <a:lstStyle/>
                    <a:p>
                      <a:r>
                        <a:rPr sz="950" b="0" i="0">
                          <a:solidFill>
                            <a:srgbClr val="14313B"/>
                          </a:solidFill>
                          <a:latin typeface="Calibri (MS)"/>
                        </a:rPr>
                        <a:t>Pengeluaran per Kunjungan</a:t>
                      </a:r>
                    </a:p>
                  </a:txBody>
                  <a:tcPr marL="73152" marR="73152" marT="36576" marB="36576" anchor="ctr">
                    <a:solidFill>
                      <a:srgbClr val="FFFFFF"/>
                    </a:solidFill>
                  </a:tcPr>
                </a:tc>
                <a:tc>
                  <a:txBody>
                    <a:bodyPr wrap="square"/>
                    <a:lstStyle/>
                    <a:p>
                      <a:pPr algn="ctr"/>
                      <a:r>
                        <a:rPr sz="950" b="0" i="0">
                          <a:solidFill>
                            <a:srgbClr val="14313B"/>
                          </a:solidFill>
                          <a:latin typeface="Calibri (MS)"/>
                        </a:rPr>
                        <a:t>7,25%</a:t>
                      </a:r>
                    </a:p>
                  </a:txBody>
                  <a:tcPr marL="73152" marR="73152" marT="36576" marB="36576" anchor="ctr">
                    <a:solidFill>
                      <a:srgbClr val="FFFFFF"/>
                    </a:solidFill>
                  </a:tcPr>
                </a:tc>
              </a:tr>
            </a:tbl>
          </a:graphicData>
        </a:graphic>
      </p:graphicFrame>
      <p:sp>
        <p:nvSpPr>
          <p:cNvPr id="39" name="Rounded Rectangle 38"/>
          <p:cNvSpPr/>
          <p:nvPr/>
        </p:nvSpPr>
        <p:spPr>
          <a:xfrm>
            <a:off x="822960" y="8001000"/>
            <a:ext cx="1664208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Membaca  </a:t>
            </a:r>
            <a:r>
              <a:rPr sz="1200" b="0" i="0">
                <a:solidFill>
                  <a:srgbClr val="14313B"/>
                </a:solidFill>
                <a:latin typeface="Calibri (MS)"/>
              </a:rPr>
              <a:t>LPD peringkat 1 pada lima keluaran karena pertumbuhan bersih = LPE × Daya Tarik − LPD, dan kedua suku hampir seimbang. Laju Konversi Dasar hanya #13 untuk wisatawan tetapi #1 untuk lahan (6,64%); parameter kapasitas kamar hanya berpengaruh pada hotel (8,80%); Intensitas TK Awal hanya pada TK (10%).</a:t>
            </a:r>
          </a:p>
        </p:txBody>
      </p:sp>
      <p:sp>
        <p:nvSpPr>
          <p:cNvPr id="40" name="TextBox 3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4.7.1 (Tabel 56); hasil_sensitivitas_bagianA_konsisten.xlsx.</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69 · Diagram Tornado Sensitivitas ±10%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Batang menunjukkan perubahan keluaran 2050 bila parameter diturunkan atau dinaikkan 10%</a:t>
            </a:r>
          </a:p>
        </p:txBody>
      </p:sp>
      <p:sp>
        <p:nvSpPr>
          <p:cNvPr id="27" name="Rounded Rectangle 26"/>
          <p:cNvSpPr/>
          <p:nvPr/>
        </p:nvSpPr>
        <p:spPr>
          <a:xfrm>
            <a:off x="82296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Jumlah Wisatawan</a:t>
            </a:r>
            <a:r>
              <a:rPr sz="1050" b="0" i="0">
                <a:solidFill>
                  <a:srgbClr val="D7EEF2"/>
                </a:solidFill>
                <a:latin typeface="Calibri (MS)"/>
              </a:rPr>
              <a:t>   Buku Gambar 51</a:t>
            </a:r>
          </a:p>
        </p:txBody>
      </p:sp>
      <p:pic>
        <p:nvPicPr>
          <p:cNvPr id="28" name="Picture 27" descr="image54.png"/>
          <p:cNvPicPr>
            <a:picLocks noChangeAspect="1"/>
          </p:cNvPicPr>
          <p:nvPr/>
        </p:nvPicPr>
        <p:blipFill>
          <a:blip r:embed="rId7"/>
          <a:stretch>
            <a:fillRect/>
          </a:stretch>
        </p:blipFill>
        <p:spPr>
          <a:xfrm>
            <a:off x="936977" y="2377440"/>
            <a:ext cx="5166925" cy="4480560"/>
          </a:xfrm>
          <a:prstGeom prst="rect">
            <a:avLst/>
          </a:prstGeom>
          <a:ln w="12700">
            <a:solidFill>
              <a:srgbClr val="CFE5E9"/>
            </a:solidFill>
          </a:ln>
        </p:spPr>
      </p:pic>
      <p:sp>
        <p:nvSpPr>
          <p:cNvPr id="29" name="Rounded Rectangle 28"/>
          <p:cNvSpPr/>
          <p:nvPr/>
        </p:nvSpPr>
        <p:spPr>
          <a:xfrm>
            <a:off x="82296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Asumsi menempati 4 dari 6 peringkat teratas: LPD, Bobot Kepadatan, Bobot ODTW (+ Kepadatan Ref.).</a:t>
            </a:r>
          </a:p>
        </p:txBody>
      </p:sp>
      <p:sp>
        <p:nvSpPr>
          <p:cNvPr id="30" name="Rounded Rectangle 29"/>
          <p:cNvSpPr/>
          <p:nvPr/>
        </p:nvSpPr>
        <p:spPr>
          <a:xfrm>
            <a:off x="644652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PDRB Pariwisata</a:t>
            </a:r>
            <a:r>
              <a:rPr sz="1050" b="0" i="0">
                <a:solidFill>
                  <a:srgbClr val="D7EEF2"/>
                </a:solidFill>
                <a:latin typeface="Calibri (MS)"/>
              </a:rPr>
              <a:t>   Buku Gambar 52</a:t>
            </a:r>
          </a:p>
        </p:txBody>
      </p:sp>
      <p:pic>
        <p:nvPicPr>
          <p:cNvPr id="31" name="Picture 30" descr="image55.png"/>
          <p:cNvPicPr>
            <a:picLocks noChangeAspect="1"/>
          </p:cNvPicPr>
          <p:nvPr/>
        </p:nvPicPr>
        <p:blipFill>
          <a:blip r:embed="rId8"/>
          <a:stretch>
            <a:fillRect/>
          </a:stretch>
        </p:blipFill>
        <p:spPr>
          <a:xfrm>
            <a:off x="6558870" y="2377440"/>
            <a:ext cx="5170258" cy="4480560"/>
          </a:xfrm>
          <a:prstGeom prst="rect">
            <a:avLst/>
          </a:prstGeom>
          <a:ln w="12700">
            <a:solidFill>
              <a:srgbClr val="CFE5E9"/>
            </a:solidFill>
          </a:ln>
        </p:spPr>
      </p:pic>
      <p:sp>
        <p:nvSpPr>
          <p:cNvPr id="32" name="Rounded Rectangle 31"/>
          <p:cNvSpPr/>
          <p:nvPr/>
        </p:nvSpPr>
        <p:spPr>
          <a:xfrm>
            <a:off x="644652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Pola sama dengan wisatawan karena PDRB = pengeluaran × rasio nilai tambah; plus dua parameter ekonomi (12,8%).</a:t>
            </a:r>
          </a:p>
        </p:txBody>
      </p:sp>
      <p:sp>
        <p:nvSpPr>
          <p:cNvPr id="33" name="Rounded Rectangle 32"/>
          <p:cNvSpPr/>
          <p:nvPr/>
        </p:nvSpPr>
        <p:spPr>
          <a:xfrm>
            <a:off x="1207008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Lahan Terbangun</a:t>
            </a:r>
            <a:r>
              <a:rPr sz="1050" b="0" i="0">
                <a:solidFill>
                  <a:srgbClr val="D7EEF2"/>
                </a:solidFill>
                <a:latin typeface="Calibri (MS)"/>
              </a:rPr>
              <a:t>   Buku Gambar 53</a:t>
            </a:r>
          </a:p>
        </p:txBody>
      </p:sp>
      <p:pic>
        <p:nvPicPr>
          <p:cNvPr id="34" name="Picture 33" descr="image56.png"/>
          <p:cNvPicPr>
            <a:picLocks noChangeAspect="1"/>
          </p:cNvPicPr>
          <p:nvPr/>
        </p:nvPicPr>
        <p:blipFill>
          <a:blip r:embed="rId9"/>
          <a:stretch>
            <a:fillRect/>
          </a:stretch>
        </p:blipFill>
        <p:spPr>
          <a:xfrm>
            <a:off x="12182382" y="2377440"/>
            <a:ext cx="5170354" cy="4480560"/>
          </a:xfrm>
          <a:prstGeom prst="rect">
            <a:avLst/>
          </a:prstGeom>
          <a:ln w="12700">
            <a:solidFill>
              <a:srgbClr val="CFE5E9"/>
            </a:solidFill>
          </a:ln>
        </p:spPr>
      </p:pic>
      <p:sp>
        <p:nvSpPr>
          <p:cNvPr id="35" name="Rounded Rectangle 34"/>
          <p:cNvSpPr/>
          <p:nvPr/>
        </p:nvSpPr>
        <p:spPr>
          <a:xfrm>
            <a:off x="1207008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Laju Konversi Dasar (6,64%) dan Luas Lahan Tersedia (2,67%) mendominasi; parameter lain &lt; 0,3%.</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4.7.1 (Gambar 51–56).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69 · Diagram Tornado Sensitivitas ±10%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Batang menunjukkan perubahan keluaran 2050 bila parameter diturunkan atau dinaikkan 10%</a:t>
            </a:r>
          </a:p>
        </p:txBody>
      </p:sp>
      <p:sp>
        <p:nvSpPr>
          <p:cNvPr id="27" name="Rounded Rectangle 26"/>
          <p:cNvSpPr/>
          <p:nvPr/>
        </p:nvSpPr>
        <p:spPr>
          <a:xfrm>
            <a:off x="82296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Jumlah Hotel</a:t>
            </a:r>
            <a:r>
              <a:rPr sz="1050" b="0" i="0">
                <a:solidFill>
                  <a:srgbClr val="D7EEF2"/>
                </a:solidFill>
                <a:latin typeface="Calibri (MS)"/>
              </a:rPr>
              <a:t>   Buku Gambar 54</a:t>
            </a:r>
          </a:p>
        </p:txBody>
      </p:sp>
      <p:pic>
        <p:nvPicPr>
          <p:cNvPr id="28" name="Picture 27" descr="image57.png"/>
          <p:cNvPicPr>
            <a:picLocks noChangeAspect="1"/>
          </p:cNvPicPr>
          <p:nvPr/>
        </p:nvPicPr>
        <p:blipFill>
          <a:blip r:embed="rId7"/>
          <a:stretch>
            <a:fillRect/>
          </a:stretch>
        </p:blipFill>
        <p:spPr>
          <a:xfrm>
            <a:off x="935694" y="2377440"/>
            <a:ext cx="5169490" cy="4480560"/>
          </a:xfrm>
          <a:prstGeom prst="rect">
            <a:avLst/>
          </a:prstGeom>
          <a:ln w="12700">
            <a:solidFill>
              <a:srgbClr val="CFE5E9"/>
            </a:solidFill>
          </a:ln>
        </p:spPr>
      </p:pic>
      <p:sp>
        <p:nvSpPr>
          <p:cNvPr id="29" name="Rounded Rectangle 28"/>
          <p:cNvSpPr/>
          <p:nvPr/>
        </p:nvSpPr>
        <p:spPr>
          <a:xfrm>
            <a:off x="82296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LPD (37,0%) diikuti tiga parameter kapasitas kamar (8,80%) dan dua parameter permintaan malam (8,19%).</a:t>
            </a:r>
          </a:p>
        </p:txBody>
      </p:sp>
      <p:sp>
        <p:nvSpPr>
          <p:cNvPr id="30" name="Rounded Rectangle 29"/>
          <p:cNvSpPr/>
          <p:nvPr/>
        </p:nvSpPr>
        <p:spPr>
          <a:xfrm>
            <a:off x="644652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Tenaga Kerja</a:t>
            </a:r>
            <a:r>
              <a:rPr sz="1050" b="0" i="0">
                <a:solidFill>
                  <a:srgbClr val="D7EEF2"/>
                </a:solidFill>
                <a:latin typeface="Calibri (MS)"/>
              </a:rPr>
              <a:t>   Buku Gambar 55</a:t>
            </a:r>
          </a:p>
        </p:txBody>
      </p:sp>
      <p:pic>
        <p:nvPicPr>
          <p:cNvPr id="31" name="Picture 30" descr="image58.png"/>
          <p:cNvPicPr>
            <a:picLocks noChangeAspect="1"/>
          </p:cNvPicPr>
          <p:nvPr/>
        </p:nvPicPr>
        <p:blipFill>
          <a:blip r:embed="rId8"/>
          <a:stretch>
            <a:fillRect/>
          </a:stretch>
        </p:blipFill>
        <p:spPr>
          <a:xfrm>
            <a:off x="6559061" y="2377440"/>
            <a:ext cx="5169876" cy="4480560"/>
          </a:xfrm>
          <a:prstGeom prst="rect">
            <a:avLst/>
          </a:prstGeom>
          <a:ln w="12700">
            <a:solidFill>
              <a:srgbClr val="CFE5E9"/>
            </a:solidFill>
          </a:ln>
        </p:spPr>
      </p:pic>
      <p:sp>
        <p:nvSpPr>
          <p:cNvPr id="32" name="Rounded Rectangle 31"/>
          <p:cNvSpPr/>
          <p:nvPr/>
        </p:nvSpPr>
        <p:spPr>
          <a:xfrm>
            <a:off x="644652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LPD (40,1%), lalu parameter ekonomi (12,6%) dan Intensitas TK Awal (10%) yang hanya memengaruhi TK.</a:t>
            </a:r>
          </a:p>
        </p:txBody>
      </p:sp>
      <p:sp>
        <p:nvSpPr>
          <p:cNvPr id="33" name="Rounded Rectangle 32"/>
          <p:cNvSpPr/>
          <p:nvPr/>
        </p:nvSpPr>
        <p:spPr>
          <a:xfrm>
            <a:off x="1207008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Jumlah ODTW</a:t>
            </a:r>
            <a:r>
              <a:rPr sz="1050" b="0" i="0">
                <a:solidFill>
                  <a:srgbClr val="D7EEF2"/>
                </a:solidFill>
                <a:latin typeface="Calibri (MS)"/>
              </a:rPr>
              <a:t>   Buku Gambar 56</a:t>
            </a:r>
          </a:p>
        </p:txBody>
      </p:sp>
      <p:pic>
        <p:nvPicPr>
          <p:cNvPr id="34" name="Picture 33" descr="image59.png"/>
          <p:cNvPicPr>
            <a:picLocks noChangeAspect="1"/>
          </p:cNvPicPr>
          <p:nvPr/>
        </p:nvPicPr>
        <p:blipFill>
          <a:blip r:embed="rId9"/>
          <a:stretch>
            <a:fillRect/>
          </a:stretch>
        </p:blipFill>
        <p:spPr>
          <a:xfrm>
            <a:off x="12181503" y="2377440"/>
            <a:ext cx="5172112" cy="4480560"/>
          </a:xfrm>
          <a:prstGeom prst="rect">
            <a:avLst/>
          </a:prstGeom>
          <a:ln w="12700">
            <a:solidFill>
              <a:srgbClr val="CFE5E9"/>
            </a:solidFill>
          </a:ln>
        </p:spPr>
      </p:pic>
      <p:sp>
        <p:nvSpPr>
          <p:cNvPr id="35" name="Rounded Rectangle 34"/>
          <p:cNvSpPr/>
          <p:nvPr/>
        </p:nvSpPr>
        <p:spPr>
          <a:xfrm>
            <a:off x="12070080" y="6949440"/>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LPD (16,6%), lalu jalur investasi → ODTW (Sensitivitas ODTW, rasio investasi, ekonomi ±7,2%).</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4.7.1 (Gambar 51–56).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70 · Hasil Sensitivitas Rentang Penuh: 17 Kelompok</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Hasil terendah dan tertinggi wisatawan 2050 (% thd BASE) serta lebar rentang (poin persen) pada enam keluaran</a:t>
            </a:r>
          </a:p>
        </p:txBody>
      </p:sp>
      <p:graphicFrame>
        <p:nvGraphicFramePr>
          <p:cNvPr id="27" name="Table 26"/>
          <p:cNvGraphicFramePr>
            <a:graphicFrameLocks noGrp="1"/>
          </p:cNvGraphicFramePr>
          <p:nvPr/>
        </p:nvGraphicFramePr>
        <p:xfrm>
          <a:off x="822960" y="1874519"/>
          <a:ext cx="16642070" cy="6254496"/>
        </p:xfrm>
        <a:graphic>
          <a:graphicData uri="http://schemas.openxmlformats.org/drawingml/2006/table">
            <a:tbl>
              <a:tblPr firstRow="1" bandRow="1">
                <a:tableStyleId>{5C22544A-7EE6-4342-B048-85BDC9FD1C3A}</a:tableStyleId>
              </a:tblPr>
              <a:tblGrid>
                <a:gridCol w="3749039"/>
                <a:gridCol w="3566159"/>
                <a:gridCol w="1051559"/>
                <a:gridCol w="1051559"/>
                <a:gridCol w="1188719"/>
                <a:gridCol w="1188719"/>
                <a:gridCol w="1188719"/>
                <a:gridCol w="1188719"/>
                <a:gridCol w="1188719"/>
                <a:gridCol w="1280159"/>
              </a:tblGrid>
              <a:tr h="347472">
                <a:tc>
                  <a:txBody>
                    <a:bodyPr wrap="square"/>
                    <a:lstStyle/>
                    <a:p>
                      <a:r>
                        <a:rPr sz="950" b="1" i="0">
                          <a:solidFill>
                            <a:srgbClr val="FFFFFF"/>
                          </a:solidFill>
                          <a:latin typeface="Calibri (MS) Bold"/>
                        </a:rPr>
                        <a:t>Kelompok parameter</a:t>
                      </a:r>
                    </a:p>
                  </a:txBody>
                  <a:tcPr marL="73152" marR="73152" marT="36576" marB="36576" anchor="ctr">
                    <a:solidFill>
                      <a:srgbClr val="0B5E6E"/>
                    </a:solidFill>
                  </a:tcPr>
                </a:tc>
                <a:tc>
                  <a:txBody>
                    <a:bodyPr wrap="square"/>
                    <a:lstStyle/>
                    <a:p>
                      <a:r>
                        <a:rPr sz="950" b="1" i="0">
                          <a:solidFill>
                            <a:srgbClr val="FFFFFF"/>
                          </a:solidFill>
                          <a:latin typeface="Calibri (MS) Bold"/>
                        </a:rPr>
                        <a:t>Rentang uji</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 min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 maks</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Lebar Wis.</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Lahan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PDRB</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Hotel</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TK</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ODTW</a:t>
                      </a:r>
                    </a:p>
                  </a:txBody>
                  <a:tcPr marL="73152" marR="73152" marT="36576" marB="36576" anchor="ctr">
                    <a:solidFill>
                      <a:srgbClr val="0B5E6E"/>
                    </a:solidFill>
                  </a:tcPr>
                </a:tc>
              </a:tr>
              <a:tr h="347472">
                <a:tc>
                  <a:txBody>
                    <a:bodyPr wrap="square"/>
                    <a:lstStyle/>
                    <a:p>
                      <a:r>
                        <a:rPr sz="950" b="0" i="0">
                          <a:solidFill>
                            <a:srgbClr val="14313B"/>
                          </a:solidFill>
                          <a:latin typeface="Calibri (MS)"/>
                        </a:rPr>
                        <a:t>Rasio LPD/LPE</a:t>
                      </a:r>
                    </a:p>
                  </a:txBody>
                  <a:tcPr marL="73152" marR="73152" marT="36576" marB="36576" anchor="ctr">
                    <a:solidFill>
                      <a:srgbClr val="FFFFFF"/>
                    </a:solidFill>
                  </a:tcPr>
                </a:tc>
                <a:tc>
                  <a:txBody>
                    <a:bodyPr wrap="square"/>
                    <a:lstStyle/>
                    <a:p>
                      <a:r>
                        <a:rPr sz="950" b="0" i="0">
                          <a:solidFill>
                            <a:srgbClr val="14313B"/>
                          </a:solidFill>
                          <a:latin typeface="Calibri (MS)"/>
                        </a:rPr>
                        <a:t>0,60–0,90 (LPE tetap)</a:t>
                      </a:r>
                    </a:p>
                  </a:txBody>
                  <a:tcPr marL="73152" marR="73152" marT="36576" marB="36576" anchor="ctr">
                    <a:solidFill>
                      <a:srgbClr val="FFFFFF"/>
                    </a:solidFill>
                  </a:tcPr>
                </a:tc>
                <a:tc>
                  <a:txBody>
                    <a:bodyPr wrap="square"/>
                    <a:lstStyle/>
                    <a:p>
                      <a:pPr algn="ctr"/>
                      <a:r>
                        <a:rPr sz="950" b="0" i="0">
                          <a:solidFill>
                            <a:srgbClr val="14313B"/>
                          </a:solidFill>
                          <a:latin typeface="Calibri (MS)"/>
                        </a:rPr>
                        <a:t>−44,54%</a:t>
                      </a:r>
                    </a:p>
                  </a:txBody>
                  <a:tcPr marL="73152" marR="73152" marT="36576" marB="36576" anchor="ctr">
                    <a:solidFill>
                      <a:srgbClr val="FFFFFF"/>
                    </a:solidFill>
                  </a:tcPr>
                </a:tc>
                <a:tc>
                  <a:txBody>
                    <a:bodyPr wrap="square"/>
                    <a:lstStyle/>
                    <a:p>
                      <a:pPr algn="ctr"/>
                      <a:r>
                        <a:rPr sz="950" b="0" i="0">
                          <a:solidFill>
                            <a:srgbClr val="14313B"/>
                          </a:solidFill>
                          <a:latin typeface="Calibri (MS)"/>
                        </a:rPr>
                        <a:t>109,03%</a:t>
                      </a:r>
                    </a:p>
                  </a:txBody>
                  <a:tcPr marL="73152" marR="73152" marT="36576" marB="36576" anchor="ctr">
                    <a:solidFill>
                      <a:srgbClr val="FFFFFF"/>
                    </a:solidFill>
                  </a:tcPr>
                </a:tc>
                <a:tc>
                  <a:txBody>
                    <a:bodyPr wrap="square"/>
                    <a:lstStyle/>
                    <a:p>
                      <a:pPr algn="ctr"/>
                      <a:r>
                        <a:rPr sz="950" b="0" i="0">
                          <a:solidFill>
                            <a:srgbClr val="14313B"/>
                          </a:solidFill>
                          <a:latin typeface="Calibri (MS)"/>
                        </a:rPr>
                        <a:t>153,57</a:t>
                      </a:r>
                    </a:p>
                  </a:txBody>
                  <a:tcPr marL="73152" marR="73152" marT="36576" marB="36576" anchor="ctr">
                    <a:solidFill>
                      <a:srgbClr val="FDE2DE"/>
                    </a:solidFill>
                  </a:tcPr>
                </a:tc>
                <a:tc>
                  <a:txBody>
                    <a:bodyPr wrap="square"/>
                    <a:lstStyle/>
                    <a:p>
                      <a:pPr algn="ctr"/>
                      <a:r>
                        <a:rPr sz="950" b="0" i="0">
                          <a:solidFill>
                            <a:srgbClr val="14313B"/>
                          </a:solidFill>
                          <a:latin typeface="Calibri (MS)"/>
                        </a:rPr>
                        <a:t>0,96</a:t>
                      </a:r>
                    </a:p>
                  </a:txBody>
                  <a:tcPr marL="73152" marR="73152" marT="36576" marB="36576" anchor="ctr">
                    <a:solidFill>
                      <a:srgbClr val="FFFFFF"/>
                    </a:solidFill>
                  </a:tcPr>
                </a:tc>
                <a:tc>
                  <a:txBody>
                    <a:bodyPr wrap="square"/>
                    <a:lstStyle/>
                    <a:p>
                      <a:pPr algn="ctr"/>
                      <a:r>
                        <a:rPr sz="950" b="0" i="0">
                          <a:solidFill>
                            <a:srgbClr val="14313B"/>
                          </a:solidFill>
                          <a:latin typeface="Calibri (MS)"/>
                        </a:rPr>
                        <a:t>153,57</a:t>
                      </a:r>
                    </a:p>
                  </a:txBody>
                  <a:tcPr marL="73152" marR="73152" marT="36576" marB="36576" anchor="ctr">
                    <a:solidFill>
                      <a:srgbClr val="FDE2DE"/>
                    </a:solidFill>
                  </a:tcPr>
                </a:tc>
                <a:tc>
                  <a:txBody>
                    <a:bodyPr wrap="square"/>
                    <a:lstStyle/>
                    <a:p>
                      <a:pPr algn="ctr"/>
                      <a:r>
                        <a:rPr sz="950" b="0" i="0">
                          <a:solidFill>
                            <a:srgbClr val="14313B"/>
                          </a:solidFill>
                          <a:latin typeface="Calibri (MS)"/>
                        </a:rPr>
                        <a:t>134,90</a:t>
                      </a:r>
                    </a:p>
                  </a:txBody>
                  <a:tcPr marL="73152" marR="73152" marT="36576" marB="36576" anchor="ctr">
                    <a:solidFill>
                      <a:srgbClr val="FDE2DE"/>
                    </a:solidFill>
                  </a:tcPr>
                </a:tc>
                <a:tc>
                  <a:txBody>
                    <a:bodyPr wrap="square"/>
                    <a:lstStyle/>
                    <a:p>
                      <a:pPr algn="ctr"/>
                      <a:r>
                        <a:rPr sz="950" b="0" i="0">
                          <a:solidFill>
                            <a:srgbClr val="14313B"/>
                          </a:solidFill>
                          <a:latin typeface="Calibri (MS)"/>
                        </a:rPr>
                        <a:t>145,96</a:t>
                      </a:r>
                    </a:p>
                  </a:txBody>
                  <a:tcPr marL="73152" marR="73152" marT="36576" marB="36576" anchor="ctr">
                    <a:solidFill>
                      <a:srgbClr val="FDE2DE"/>
                    </a:solidFill>
                  </a:tcPr>
                </a:tc>
                <a:tc>
                  <a:txBody>
                    <a:bodyPr wrap="square"/>
                    <a:lstStyle/>
                    <a:p>
                      <a:pPr algn="ctr"/>
                      <a:r>
                        <a:rPr sz="950" b="0" i="0">
                          <a:solidFill>
                            <a:srgbClr val="14313B"/>
                          </a:solidFill>
                          <a:latin typeface="Calibri (MS)"/>
                        </a:rPr>
                        <a:t>60,95</a:t>
                      </a:r>
                    </a:p>
                  </a:txBody>
                  <a:tcPr marL="73152" marR="73152" marT="36576" marB="36576" anchor="ctr">
                    <a:solidFill>
                      <a:srgbClr val="FDE2DE"/>
                    </a:solidFill>
                  </a:tcPr>
                </a:tc>
              </a:tr>
              <a:tr h="347472">
                <a:tc>
                  <a:txBody>
                    <a:bodyPr wrap="square"/>
                    <a:lstStyle/>
                    <a:p>
                      <a:r>
                        <a:rPr sz="950" b="0" i="0">
                          <a:solidFill>
                            <a:srgbClr val="14313B"/>
                          </a:solidFill>
                          <a:latin typeface="Calibri (MS)"/>
                        </a:rPr>
                        <a:t>Rasio LPD/LPE (konsisten data)</a:t>
                      </a:r>
                    </a:p>
                  </a:txBody>
                  <a:tcPr marL="73152" marR="73152" marT="36576" marB="36576" anchor="ctr">
                    <a:solidFill>
                      <a:srgbClr val="EAF8FA"/>
                    </a:solidFill>
                  </a:tcPr>
                </a:tc>
                <a:tc>
                  <a:txBody>
                    <a:bodyPr wrap="square"/>
                    <a:lstStyle/>
                    <a:p>
                      <a:r>
                        <a:rPr sz="950" b="0" i="0">
                          <a:solidFill>
                            <a:srgbClr val="14313B"/>
                          </a:solidFill>
                          <a:latin typeface="Calibri (MS)"/>
                        </a:rPr>
                        <a:t>0,60–0,90 (LPE diturunkan ulang)</a:t>
                      </a:r>
                    </a:p>
                  </a:txBody>
                  <a:tcPr marL="73152" marR="73152" marT="36576" marB="36576" anchor="ctr">
                    <a:solidFill>
                      <a:srgbClr val="EAF8FA"/>
                    </a:solidFill>
                  </a:tcPr>
                </a:tc>
                <a:tc>
                  <a:txBody>
                    <a:bodyPr wrap="square"/>
                    <a:lstStyle/>
                    <a:p>
                      <a:pPr algn="ctr"/>
                      <a:r>
                        <a:rPr sz="950" b="0" i="0">
                          <a:solidFill>
                            <a:srgbClr val="14313B"/>
                          </a:solidFill>
                          <a:latin typeface="Calibri (MS)"/>
                        </a:rPr>
                        <a:t>−41,52%</a:t>
                      </a:r>
                    </a:p>
                  </a:txBody>
                  <a:tcPr marL="73152" marR="73152" marT="36576" marB="36576" anchor="ctr">
                    <a:solidFill>
                      <a:srgbClr val="EAF8FA"/>
                    </a:solidFill>
                  </a:tcPr>
                </a:tc>
                <a:tc>
                  <a:txBody>
                    <a:bodyPr wrap="square"/>
                    <a:lstStyle/>
                    <a:p>
                      <a:pPr algn="ctr"/>
                      <a:r>
                        <a:rPr sz="950" b="0" i="0">
                          <a:solidFill>
                            <a:srgbClr val="14313B"/>
                          </a:solidFill>
                          <a:latin typeface="Calibri (MS)"/>
                        </a:rPr>
                        <a:t>28,13%</a:t>
                      </a:r>
                    </a:p>
                  </a:txBody>
                  <a:tcPr marL="73152" marR="73152" marT="36576" marB="36576" anchor="ctr">
                    <a:solidFill>
                      <a:srgbClr val="EAF8FA"/>
                    </a:solidFill>
                  </a:tcPr>
                </a:tc>
                <a:tc>
                  <a:txBody>
                    <a:bodyPr wrap="square"/>
                    <a:lstStyle/>
                    <a:p>
                      <a:pPr algn="ctr"/>
                      <a:r>
                        <a:rPr sz="950" b="0" i="0">
                          <a:solidFill>
                            <a:srgbClr val="14313B"/>
                          </a:solidFill>
                          <a:latin typeface="Calibri (MS)"/>
                        </a:rPr>
                        <a:t>69,65</a:t>
                      </a:r>
                    </a:p>
                  </a:txBody>
                  <a:tcPr marL="73152" marR="73152" marT="36576" marB="36576" anchor="ctr">
                    <a:solidFill>
                      <a:srgbClr val="FDE2DE"/>
                    </a:solidFill>
                  </a:tcPr>
                </a:tc>
                <a:tc>
                  <a:txBody>
                    <a:bodyPr wrap="square"/>
                    <a:lstStyle/>
                    <a:p>
                      <a:pPr algn="ctr"/>
                      <a:r>
                        <a:rPr sz="950" b="0" i="0">
                          <a:solidFill>
                            <a:srgbClr val="14313B"/>
                          </a:solidFill>
                          <a:latin typeface="Calibri (MS)"/>
                        </a:rPr>
                        <a:t>0,40</a:t>
                      </a:r>
                    </a:p>
                  </a:txBody>
                  <a:tcPr marL="73152" marR="73152" marT="36576" marB="36576" anchor="ctr">
                    <a:solidFill>
                      <a:srgbClr val="EAF8FA"/>
                    </a:solidFill>
                  </a:tcPr>
                </a:tc>
                <a:tc>
                  <a:txBody>
                    <a:bodyPr wrap="square"/>
                    <a:lstStyle/>
                    <a:p>
                      <a:pPr algn="ctr"/>
                      <a:r>
                        <a:rPr sz="950" b="0" i="0">
                          <a:solidFill>
                            <a:srgbClr val="14313B"/>
                          </a:solidFill>
                          <a:latin typeface="Calibri (MS)"/>
                        </a:rPr>
                        <a:t>69,65</a:t>
                      </a:r>
                    </a:p>
                  </a:txBody>
                  <a:tcPr marL="73152" marR="73152" marT="36576" marB="36576" anchor="ctr">
                    <a:solidFill>
                      <a:srgbClr val="FDE2DE"/>
                    </a:solidFill>
                  </a:tcPr>
                </a:tc>
                <a:tc>
                  <a:txBody>
                    <a:bodyPr wrap="square"/>
                    <a:lstStyle/>
                    <a:p>
                      <a:pPr algn="ctr"/>
                      <a:r>
                        <a:rPr sz="950" b="0" i="0">
                          <a:solidFill>
                            <a:srgbClr val="14313B"/>
                          </a:solidFill>
                          <a:latin typeface="Calibri (MS)"/>
                        </a:rPr>
                        <a:t>60,79</a:t>
                      </a:r>
                    </a:p>
                  </a:txBody>
                  <a:tcPr marL="73152" marR="73152" marT="36576" marB="36576" anchor="ctr">
                    <a:solidFill>
                      <a:srgbClr val="FDE2DE"/>
                    </a:solidFill>
                  </a:tcPr>
                </a:tc>
                <a:tc>
                  <a:txBody>
                    <a:bodyPr wrap="square"/>
                    <a:lstStyle/>
                    <a:p>
                      <a:pPr algn="ctr"/>
                      <a:r>
                        <a:rPr sz="950" b="0" i="0">
                          <a:solidFill>
                            <a:srgbClr val="14313B"/>
                          </a:solidFill>
                          <a:latin typeface="Calibri (MS)"/>
                        </a:rPr>
                        <a:t>66,40</a:t>
                      </a:r>
                    </a:p>
                  </a:txBody>
                  <a:tcPr marL="73152" marR="73152" marT="36576" marB="36576" anchor="ctr">
                    <a:solidFill>
                      <a:srgbClr val="FDE2DE"/>
                    </a:solidFill>
                  </a:tcPr>
                </a:tc>
                <a:tc>
                  <a:txBody>
                    <a:bodyPr wrap="square"/>
                    <a:lstStyle/>
                    <a:p>
                      <a:pPr algn="ctr"/>
                      <a:r>
                        <a:rPr sz="950" b="0" i="0">
                          <a:solidFill>
                            <a:srgbClr val="14313B"/>
                          </a:solidFill>
                          <a:latin typeface="Calibri (MS)"/>
                        </a:rPr>
                        <a:t>26,17</a:t>
                      </a:r>
                    </a:p>
                  </a:txBody>
                  <a:tcPr marL="73152" marR="73152" marT="36576" marB="36576" anchor="ctr">
                    <a:solidFill>
                      <a:srgbClr val="FFF1BF"/>
                    </a:solidFill>
                  </a:tcPr>
                </a:tc>
              </a:tr>
              <a:tr h="347472">
                <a:tc>
                  <a:txBody>
                    <a:bodyPr wrap="square"/>
                    <a:lstStyle/>
                    <a:p>
                      <a:r>
                        <a:rPr sz="950" b="0" i="0">
                          <a:solidFill>
                            <a:srgbClr val="14313B"/>
                          </a:solidFill>
                          <a:latin typeface="Calibri (MS)"/>
                        </a:rPr>
                        <a:t>Bobot Daya Tarik</a:t>
                      </a:r>
                    </a:p>
                  </a:txBody>
                  <a:tcPr marL="73152" marR="73152" marT="36576" marB="36576" anchor="ctr">
                    <a:solidFill>
                      <a:srgbClr val="FFFFFF"/>
                    </a:solidFill>
                  </a:tcPr>
                </a:tc>
                <a:tc>
                  <a:txBody>
                    <a:bodyPr wrap="square"/>
                    <a:lstStyle/>
                    <a:p>
                      <a:r>
                        <a:rPr sz="950" b="0" i="0">
                          <a:solidFill>
                            <a:srgbClr val="14313B"/>
                          </a:solidFill>
                          <a:latin typeface="Calibri (MS)"/>
                        </a:rPr>
                        <a:t>0,50/0,25/0,25; 0,30/0,45/0,25; ⅓ masing-masing</a:t>
                      </a:r>
                    </a:p>
                  </a:txBody>
                  <a:tcPr marL="73152" marR="73152" marT="36576" marB="36576" anchor="ctr">
                    <a:solidFill>
                      <a:srgbClr val="FFFFFF"/>
                    </a:solidFill>
                  </a:tcPr>
                </a:tc>
                <a:tc>
                  <a:txBody>
                    <a:bodyPr wrap="square"/>
                    <a:lstStyle/>
                    <a:p>
                      <a:pPr algn="ctr"/>
                      <a:r>
                        <a:rPr sz="950" b="0" i="0">
                          <a:solidFill>
                            <a:srgbClr val="14313B"/>
                          </a:solidFill>
                          <a:latin typeface="Calibri (MS)"/>
                        </a:rPr>
                        <a:t>−18,30%</a:t>
                      </a:r>
                    </a:p>
                  </a:txBody>
                  <a:tcPr marL="73152" marR="73152" marT="36576" marB="36576" anchor="ctr">
                    <a:solidFill>
                      <a:srgbClr val="FFFFFF"/>
                    </a:solidFill>
                  </a:tcPr>
                </a:tc>
                <a:tc>
                  <a:txBody>
                    <a:bodyPr wrap="square"/>
                    <a:lstStyle/>
                    <a:p>
                      <a:pPr algn="ctr"/>
                      <a:r>
                        <a:rPr sz="950" b="0" i="0">
                          <a:solidFill>
                            <a:srgbClr val="14313B"/>
                          </a:solidFill>
                          <a:latin typeface="Calibri (MS)"/>
                        </a:rPr>
                        <a:t>29,81%</a:t>
                      </a:r>
                    </a:p>
                  </a:txBody>
                  <a:tcPr marL="73152" marR="73152" marT="36576" marB="36576" anchor="ctr">
                    <a:solidFill>
                      <a:srgbClr val="FFFFFF"/>
                    </a:solidFill>
                  </a:tcPr>
                </a:tc>
                <a:tc>
                  <a:txBody>
                    <a:bodyPr wrap="square"/>
                    <a:lstStyle/>
                    <a:p>
                      <a:pPr algn="ctr"/>
                      <a:r>
                        <a:rPr sz="950" b="0" i="0">
                          <a:solidFill>
                            <a:srgbClr val="14313B"/>
                          </a:solidFill>
                          <a:latin typeface="Calibri (MS)"/>
                        </a:rPr>
                        <a:t>48,10</a:t>
                      </a:r>
                    </a:p>
                  </a:txBody>
                  <a:tcPr marL="73152" marR="73152" marT="36576" marB="36576" anchor="ctr">
                    <a:solidFill>
                      <a:srgbClr val="FFF1BF"/>
                    </a:solidFill>
                  </a:tcPr>
                </a:tc>
                <a:tc>
                  <a:txBody>
                    <a:bodyPr wrap="square"/>
                    <a:lstStyle/>
                    <a:p>
                      <a:pPr algn="ctr"/>
                      <a:r>
                        <a:rPr sz="950" b="0" i="0">
                          <a:solidFill>
                            <a:srgbClr val="14313B"/>
                          </a:solidFill>
                          <a:latin typeface="Calibri (MS)"/>
                        </a:rPr>
                        <a:t>0,24</a:t>
                      </a:r>
                    </a:p>
                  </a:txBody>
                  <a:tcPr marL="73152" marR="73152" marT="36576" marB="36576" anchor="ctr">
                    <a:solidFill>
                      <a:srgbClr val="FFFFFF"/>
                    </a:solidFill>
                  </a:tcPr>
                </a:tc>
                <a:tc>
                  <a:txBody>
                    <a:bodyPr wrap="square"/>
                    <a:lstStyle/>
                    <a:p>
                      <a:pPr algn="ctr"/>
                      <a:r>
                        <a:rPr sz="950" b="0" i="0">
                          <a:solidFill>
                            <a:srgbClr val="14313B"/>
                          </a:solidFill>
                          <a:latin typeface="Calibri (MS)"/>
                        </a:rPr>
                        <a:t>48,10</a:t>
                      </a:r>
                    </a:p>
                  </a:txBody>
                  <a:tcPr marL="73152" marR="73152" marT="36576" marB="36576" anchor="ctr">
                    <a:solidFill>
                      <a:srgbClr val="FFF1BF"/>
                    </a:solidFill>
                  </a:tcPr>
                </a:tc>
                <a:tc>
                  <a:txBody>
                    <a:bodyPr wrap="square"/>
                    <a:lstStyle/>
                    <a:p>
                      <a:pPr algn="ctr"/>
                      <a:r>
                        <a:rPr sz="950" b="0" i="0">
                          <a:solidFill>
                            <a:srgbClr val="14313B"/>
                          </a:solidFill>
                          <a:latin typeface="Calibri (MS)"/>
                        </a:rPr>
                        <a:t>39,96</a:t>
                      </a:r>
                    </a:p>
                  </a:txBody>
                  <a:tcPr marL="73152" marR="73152" marT="36576" marB="36576" anchor="ctr">
                    <a:solidFill>
                      <a:srgbClr val="FFF1BF"/>
                    </a:solidFill>
                  </a:tcPr>
                </a:tc>
                <a:tc>
                  <a:txBody>
                    <a:bodyPr wrap="square"/>
                    <a:lstStyle/>
                    <a:p>
                      <a:pPr algn="ctr"/>
                      <a:r>
                        <a:rPr sz="950" b="0" i="0">
                          <a:solidFill>
                            <a:srgbClr val="14313B"/>
                          </a:solidFill>
                          <a:latin typeface="Calibri (MS)"/>
                        </a:rPr>
                        <a:t>44,89</a:t>
                      </a:r>
                    </a:p>
                  </a:txBody>
                  <a:tcPr marL="73152" marR="73152" marT="36576" marB="36576" anchor="ctr">
                    <a:solidFill>
                      <a:srgbClr val="FFF1BF"/>
                    </a:solidFill>
                  </a:tcPr>
                </a:tc>
                <a:tc>
                  <a:txBody>
                    <a:bodyPr wrap="square"/>
                    <a:lstStyle/>
                    <a:p>
                      <a:pPr algn="ctr"/>
                      <a:r>
                        <a:rPr sz="950" b="0" i="0">
                          <a:solidFill>
                            <a:srgbClr val="14313B"/>
                          </a:solidFill>
                          <a:latin typeface="Calibri (MS)"/>
                        </a:rPr>
                        <a:t>15,75</a:t>
                      </a:r>
                    </a:p>
                  </a:txBody>
                  <a:tcPr marL="73152" marR="73152" marT="36576" marB="36576" anchor="ctr">
                    <a:solidFill>
                      <a:srgbClr val="FFF1BF"/>
                    </a:solidFill>
                  </a:tcPr>
                </a:tc>
              </a:tr>
              <a:tr h="347472">
                <a:tc>
                  <a:txBody>
                    <a:bodyPr wrap="square"/>
                    <a:lstStyle/>
                    <a:p>
                      <a:r>
                        <a:rPr sz="950" b="0" i="0">
                          <a:solidFill>
                            <a:srgbClr val="14313B"/>
                          </a:solidFill>
                          <a:latin typeface="Calibri (MS)"/>
                        </a:rPr>
                        <a:t>Laju Konversi Dasar (CI 95%)</a:t>
                      </a:r>
                    </a:p>
                  </a:txBody>
                  <a:tcPr marL="73152" marR="73152" marT="36576" marB="36576" anchor="ctr">
                    <a:solidFill>
                      <a:srgbClr val="EAF8FA"/>
                    </a:solidFill>
                  </a:tcPr>
                </a:tc>
                <a:tc>
                  <a:txBody>
                    <a:bodyPr wrap="square"/>
                    <a:lstStyle/>
                    <a:p>
                      <a:r>
                        <a:rPr sz="950" b="0" i="0">
                          <a:solidFill>
                            <a:srgbClr val="14313B"/>
                          </a:solidFill>
                          <a:latin typeface="Calibri (MS)"/>
                        </a:rPr>
                        <a:t>0,0034118–0,0851069</a:t>
                      </a:r>
                    </a:p>
                  </a:txBody>
                  <a:tcPr marL="73152" marR="73152" marT="36576" marB="36576" anchor="ctr">
                    <a:solidFill>
                      <a:srgbClr val="EAF8FA"/>
                    </a:solidFill>
                  </a:tcPr>
                </a:tc>
                <a:tc>
                  <a:txBody>
                    <a:bodyPr wrap="square"/>
                    <a:lstStyle/>
                    <a:p>
                      <a:pPr algn="ctr"/>
                      <a:r>
                        <a:rPr sz="950" b="0" i="0">
                          <a:solidFill>
                            <a:srgbClr val="14313B"/>
                          </a:solidFill>
                          <a:latin typeface="Calibri (MS)"/>
                        </a:rPr>
                        <a:t>−15,95%</a:t>
                      </a:r>
                    </a:p>
                  </a:txBody>
                  <a:tcPr marL="73152" marR="73152" marT="36576" marB="36576" anchor="ctr">
                    <a:solidFill>
                      <a:srgbClr val="EAF8FA"/>
                    </a:solidFill>
                  </a:tcPr>
                </a:tc>
                <a:tc>
                  <a:txBody>
                    <a:bodyPr wrap="square"/>
                    <a:lstStyle/>
                    <a:p>
                      <a:pPr algn="ctr"/>
                      <a:r>
                        <a:rPr sz="950" b="0" i="0">
                          <a:solidFill>
                            <a:srgbClr val="14313B"/>
                          </a:solidFill>
                          <a:latin typeface="Calibri (MS)"/>
                        </a:rPr>
                        <a:t>14,69%</a:t>
                      </a:r>
                    </a:p>
                  </a:txBody>
                  <a:tcPr marL="73152" marR="73152" marT="36576" marB="36576" anchor="ctr">
                    <a:solidFill>
                      <a:srgbClr val="EAF8FA"/>
                    </a:solidFill>
                  </a:tcPr>
                </a:tc>
                <a:tc>
                  <a:txBody>
                    <a:bodyPr wrap="square"/>
                    <a:lstStyle/>
                    <a:p>
                      <a:pPr algn="ctr"/>
                      <a:r>
                        <a:rPr sz="950" b="0" i="0">
                          <a:solidFill>
                            <a:srgbClr val="14313B"/>
                          </a:solidFill>
                          <a:latin typeface="Calibri (MS)"/>
                        </a:rPr>
                        <a:t>30,64</a:t>
                      </a:r>
                    </a:p>
                  </a:txBody>
                  <a:tcPr marL="73152" marR="73152" marT="36576" marB="36576" anchor="ctr">
                    <a:solidFill>
                      <a:srgbClr val="FFF1BF"/>
                    </a:solidFill>
                  </a:tcPr>
                </a:tc>
                <a:tc>
                  <a:txBody>
                    <a:bodyPr wrap="square"/>
                    <a:lstStyle/>
                    <a:p>
                      <a:pPr algn="ctr"/>
                      <a:r>
                        <a:rPr sz="950" b="0" i="0">
                          <a:solidFill>
                            <a:srgbClr val="14313B"/>
                          </a:solidFill>
                          <a:latin typeface="Calibri (MS)"/>
                        </a:rPr>
                        <a:t>115,70</a:t>
                      </a:r>
                    </a:p>
                  </a:txBody>
                  <a:tcPr marL="73152" marR="73152" marT="36576" marB="36576" anchor="ctr">
                    <a:solidFill>
                      <a:srgbClr val="FDE2DE"/>
                    </a:solidFill>
                  </a:tcPr>
                </a:tc>
                <a:tc>
                  <a:txBody>
                    <a:bodyPr wrap="square"/>
                    <a:lstStyle/>
                    <a:p>
                      <a:pPr algn="ctr"/>
                      <a:r>
                        <a:rPr sz="950" b="0" i="0">
                          <a:solidFill>
                            <a:srgbClr val="14313B"/>
                          </a:solidFill>
                          <a:latin typeface="Calibri (MS)"/>
                        </a:rPr>
                        <a:t>30,64</a:t>
                      </a:r>
                    </a:p>
                  </a:txBody>
                  <a:tcPr marL="73152" marR="73152" marT="36576" marB="36576" anchor="ctr">
                    <a:solidFill>
                      <a:srgbClr val="FFF1BF"/>
                    </a:solidFill>
                  </a:tcPr>
                </a:tc>
                <a:tc>
                  <a:txBody>
                    <a:bodyPr wrap="square"/>
                    <a:lstStyle/>
                    <a:p>
                      <a:pPr algn="ctr"/>
                      <a:r>
                        <a:rPr sz="950" b="0" i="0">
                          <a:solidFill>
                            <a:srgbClr val="14313B"/>
                          </a:solidFill>
                          <a:latin typeface="Calibri (MS)"/>
                        </a:rPr>
                        <a:t>24,15</a:t>
                      </a:r>
                    </a:p>
                  </a:txBody>
                  <a:tcPr marL="73152" marR="73152" marT="36576" marB="36576" anchor="ctr">
                    <a:solidFill>
                      <a:srgbClr val="FFF1BF"/>
                    </a:solidFill>
                  </a:tcPr>
                </a:tc>
                <a:tc>
                  <a:txBody>
                    <a:bodyPr wrap="square"/>
                    <a:lstStyle/>
                    <a:p>
                      <a:pPr algn="ctr"/>
                      <a:r>
                        <a:rPr sz="950" b="0" i="0">
                          <a:solidFill>
                            <a:srgbClr val="14313B"/>
                          </a:solidFill>
                          <a:latin typeface="Calibri (MS)"/>
                        </a:rPr>
                        <a:t>28,06</a:t>
                      </a:r>
                    </a:p>
                  </a:txBody>
                  <a:tcPr marL="73152" marR="73152" marT="36576" marB="36576" anchor="ctr">
                    <a:solidFill>
                      <a:srgbClr val="FFF1BF"/>
                    </a:solidFill>
                  </a:tcPr>
                </a:tc>
                <a:tc>
                  <a:txBody>
                    <a:bodyPr wrap="square"/>
                    <a:lstStyle/>
                    <a:p>
                      <a:pPr algn="ctr"/>
                      <a:r>
                        <a:rPr sz="950" b="0" i="0">
                          <a:solidFill>
                            <a:srgbClr val="14313B"/>
                          </a:solidFill>
                          <a:latin typeface="Calibri (MS)"/>
                        </a:rPr>
                        <a:t>8,85</a:t>
                      </a:r>
                    </a:p>
                  </a:txBody>
                  <a:tcPr marL="73152" marR="73152" marT="36576" marB="36576" anchor="ctr">
                    <a:solidFill>
                      <a:srgbClr val="EAF8FA"/>
                    </a:solidFill>
                  </a:tcPr>
                </a:tc>
              </a:tr>
              <a:tr h="347472">
                <a:tc>
                  <a:txBody>
                    <a:bodyPr wrap="square"/>
                    <a:lstStyle/>
                    <a:p>
                      <a:r>
                        <a:rPr sz="950" b="0" i="0">
                          <a:solidFill>
                            <a:srgbClr val="14313B"/>
                          </a:solidFill>
                          <a:latin typeface="Calibri (MS)"/>
                        </a:rPr>
                        <a:t>Elastisitas Daya Tarik ODTW</a:t>
                      </a:r>
                    </a:p>
                  </a:txBody>
                  <a:tcPr marL="73152" marR="73152" marT="36576" marB="36576" anchor="ctr">
                    <a:solidFill>
                      <a:srgbClr val="FFFFFF"/>
                    </a:solidFill>
                  </a:tcPr>
                </a:tc>
                <a:tc>
                  <a:txBody>
                    <a:bodyPr wrap="square"/>
                    <a:lstStyle/>
                    <a:p>
                      <a:r>
                        <a:rPr sz="950" b="0" i="0">
                          <a:solidFill>
                            <a:srgbClr val="14313B"/>
                          </a:solidFill>
                          <a:latin typeface="Calibri (MS)"/>
                        </a:rPr>
                        <a:t>0,2–0,4</a:t>
                      </a:r>
                    </a:p>
                  </a:txBody>
                  <a:tcPr marL="73152" marR="73152" marT="36576" marB="36576" anchor="ctr">
                    <a:solidFill>
                      <a:srgbClr val="FFFFFF"/>
                    </a:solidFill>
                  </a:tcPr>
                </a:tc>
                <a:tc>
                  <a:txBody>
                    <a:bodyPr wrap="square"/>
                    <a:lstStyle/>
                    <a:p>
                      <a:pPr algn="ctr"/>
                      <a:r>
                        <a:rPr sz="950" b="0" i="0">
                          <a:solidFill>
                            <a:srgbClr val="14313B"/>
                          </a:solidFill>
                          <a:latin typeface="Calibri (MS)"/>
                        </a:rPr>
                        <a:t>−5,85%</a:t>
                      </a:r>
                    </a:p>
                  </a:txBody>
                  <a:tcPr marL="73152" marR="73152" marT="36576" marB="36576" anchor="ctr">
                    <a:solidFill>
                      <a:srgbClr val="FFFFFF"/>
                    </a:solidFill>
                  </a:tcPr>
                </a:tc>
                <a:tc>
                  <a:txBody>
                    <a:bodyPr wrap="square"/>
                    <a:lstStyle/>
                    <a:p>
                      <a:pPr algn="ctr"/>
                      <a:r>
                        <a:rPr sz="950" b="0" i="0">
                          <a:solidFill>
                            <a:srgbClr val="14313B"/>
                          </a:solidFill>
                          <a:latin typeface="Calibri (MS)"/>
                        </a:rPr>
                        <a:t>6,65%</a:t>
                      </a:r>
                    </a:p>
                  </a:txBody>
                  <a:tcPr marL="73152" marR="73152" marT="36576" marB="36576" anchor="ctr">
                    <a:solidFill>
                      <a:srgbClr val="FFFFFF"/>
                    </a:solidFill>
                  </a:tcPr>
                </a:tc>
                <a:tc>
                  <a:txBody>
                    <a:bodyPr wrap="square"/>
                    <a:lstStyle/>
                    <a:p>
                      <a:pPr algn="ctr"/>
                      <a:r>
                        <a:rPr sz="950" b="0" i="0">
                          <a:solidFill>
                            <a:srgbClr val="14313B"/>
                          </a:solidFill>
                          <a:latin typeface="Calibri (MS)"/>
                        </a:rPr>
                        <a:t>12,49</a:t>
                      </a:r>
                    </a:p>
                  </a:txBody>
                  <a:tcPr marL="73152" marR="73152" marT="36576" marB="36576" anchor="ctr">
                    <a:solidFill>
                      <a:srgbClr val="FFF1BF"/>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c>
                  <a:txBody>
                    <a:bodyPr wrap="square"/>
                    <a:lstStyle/>
                    <a:p>
                      <a:pPr algn="ctr"/>
                      <a:r>
                        <a:rPr sz="950" b="0" i="0">
                          <a:solidFill>
                            <a:srgbClr val="14313B"/>
                          </a:solidFill>
                          <a:latin typeface="Calibri (MS)"/>
                        </a:rPr>
                        <a:t>12,49</a:t>
                      </a:r>
                    </a:p>
                  </a:txBody>
                  <a:tcPr marL="73152" marR="73152" marT="36576" marB="36576" anchor="ctr">
                    <a:solidFill>
                      <a:srgbClr val="FFF1BF"/>
                    </a:solidFill>
                  </a:tcPr>
                </a:tc>
                <a:tc>
                  <a:txBody>
                    <a:bodyPr wrap="square"/>
                    <a:lstStyle/>
                    <a:p>
                      <a:pPr algn="ctr"/>
                      <a:r>
                        <a:rPr sz="950" b="0" i="0">
                          <a:solidFill>
                            <a:srgbClr val="14313B"/>
                          </a:solidFill>
                          <a:latin typeface="Calibri (MS)"/>
                        </a:rPr>
                        <a:t>9,69</a:t>
                      </a:r>
                    </a:p>
                  </a:txBody>
                  <a:tcPr marL="73152" marR="73152" marT="36576" marB="36576" anchor="ctr">
                    <a:solidFill>
                      <a:srgbClr val="EAF8FA"/>
                    </a:solidFill>
                  </a:tcPr>
                </a:tc>
                <a:tc>
                  <a:txBody>
                    <a:bodyPr wrap="square"/>
                    <a:lstStyle/>
                    <a:p>
                      <a:pPr algn="ctr"/>
                      <a:r>
                        <a:rPr sz="950" b="0" i="0">
                          <a:solidFill>
                            <a:srgbClr val="14313B"/>
                          </a:solidFill>
                          <a:latin typeface="Calibri (MS)"/>
                        </a:rPr>
                        <a:t>11,38</a:t>
                      </a:r>
                    </a:p>
                  </a:txBody>
                  <a:tcPr marL="73152" marR="73152" marT="36576" marB="36576" anchor="ctr">
                    <a:solidFill>
                      <a:srgbClr val="FFF1BF"/>
                    </a:solidFill>
                  </a:tcPr>
                </a:tc>
                <a:tc>
                  <a:txBody>
                    <a:bodyPr wrap="square"/>
                    <a:lstStyle/>
                    <a:p>
                      <a:pPr algn="ctr"/>
                      <a:r>
                        <a:rPr sz="950" b="0" i="0">
                          <a:solidFill>
                            <a:srgbClr val="14313B"/>
                          </a:solidFill>
                          <a:latin typeface="Calibri (MS)"/>
                        </a:rPr>
                        <a:t>3,36</a:t>
                      </a:r>
                    </a:p>
                  </a:txBody>
                  <a:tcPr marL="73152" marR="73152" marT="36576" marB="36576" anchor="ctr">
                    <a:solidFill>
                      <a:srgbClr val="EAF8FA"/>
                    </a:solidFill>
                  </a:tcPr>
                </a:tc>
              </a:tr>
              <a:tr h="347472">
                <a:tc>
                  <a:txBody>
                    <a:bodyPr wrap="square"/>
                    <a:lstStyle/>
                    <a:p>
                      <a:r>
                        <a:rPr sz="950" b="0" i="0">
                          <a:solidFill>
                            <a:srgbClr val="14313B"/>
                          </a:solidFill>
                          <a:latin typeface="Calibri (MS)"/>
                        </a:rPr>
                        <a:t>Insentif Kebijakan</a:t>
                      </a:r>
                    </a:p>
                  </a:txBody>
                  <a:tcPr marL="73152" marR="73152" marT="36576" marB="36576" anchor="ctr">
                    <a:solidFill>
                      <a:srgbClr val="C9F0D6"/>
                    </a:solidFill>
                  </a:tcPr>
                </a:tc>
                <a:tc>
                  <a:txBody>
                    <a:bodyPr wrap="square"/>
                    <a:lstStyle/>
                    <a:p>
                      <a:r>
                        <a:rPr sz="950" b="0" i="0">
                          <a:solidFill>
                            <a:srgbClr val="14313B"/>
                          </a:solidFill>
                          <a:latin typeface="Calibri (MS)"/>
                        </a:rPr>
                        <a:t>0,1; 0,3; 0,5</a:t>
                      </a:r>
                    </a:p>
                  </a:txBody>
                  <a:tcPr marL="73152" marR="73152" marT="36576" marB="36576" anchor="ctr">
                    <a:solidFill>
                      <a:srgbClr val="C9F0D6"/>
                    </a:solidFill>
                  </a:tcPr>
                </a:tc>
                <a:tc>
                  <a:txBody>
                    <a:bodyPr wrap="square"/>
                    <a:lstStyle/>
                    <a:p>
                      <a:pPr algn="ctr"/>
                      <a:r>
                        <a:rPr sz="950" b="0" i="0">
                          <a:solidFill>
                            <a:srgbClr val="14313B"/>
                          </a:solidFill>
                          <a:latin typeface="Calibri (MS)"/>
                        </a:rPr>
                        <a:t>2,56%</a:t>
                      </a:r>
                    </a:p>
                  </a:txBody>
                  <a:tcPr marL="73152" marR="73152" marT="36576" marB="36576" anchor="ctr">
                    <a:solidFill>
                      <a:srgbClr val="EAF8FA"/>
                    </a:solidFill>
                  </a:tcPr>
                </a:tc>
                <a:tc>
                  <a:txBody>
                    <a:bodyPr wrap="square"/>
                    <a:lstStyle/>
                    <a:p>
                      <a:pPr algn="ctr"/>
                      <a:r>
                        <a:rPr sz="950" b="0" i="0">
                          <a:solidFill>
                            <a:srgbClr val="14313B"/>
                          </a:solidFill>
                          <a:latin typeface="Calibri (MS)"/>
                        </a:rPr>
                        <a:t>12,92%</a:t>
                      </a:r>
                    </a:p>
                  </a:txBody>
                  <a:tcPr marL="73152" marR="73152" marT="36576" marB="36576" anchor="ctr">
                    <a:solidFill>
                      <a:srgbClr val="EAF8FA"/>
                    </a:solidFill>
                  </a:tcPr>
                </a:tc>
                <a:tc>
                  <a:txBody>
                    <a:bodyPr wrap="square"/>
                    <a:lstStyle/>
                    <a:p>
                      <a:pPr algn="ctr"/>
                      <a:r>
                        <a:rPr sz="950" b="0" i="0">
                          <a:solidFill>
                            <a:srgbClr val="14313B"/>
                          </a:solidFill>
                          <a:latin typeface="Calibri (MS)"/>
                        </a:rPr>
                        <a:t>10,35</a:t>
                      </a:r>
                    </a:p>
                  </a:txBody>
                  <a:tcPr marL="73152" marR="73152" marT="36576" marB="36576" anchor="ctr">
                    <a:solidFill>
                      <a:srgbClr val="FFF1BF"/>
                    </a:solidFill>
                  </a:tcPr>
                </a:tc>
                <a:tc>
                  <a:txBody>
                    <a:bodyPr wrap="square"/>
                    <a:lstStyle/>
                    <a:p>
                      <a:pPr algn="ctr"/>
                      <a:r>
                        <a:rPr sz="950" b="0" i="0">
                          <a:solidFill>
                            <a:srgbClr val="14313B"/>
                          </a:solidFill>
                          <a:latin typeface="Calibri (MS)"/>
                        </a:rPr>
                        <a:t>0,18</a:t>
                      </a:r>
                    </a:p>
                  </a:txBody>
                  <a:tcPr marL="73152" marR="73152" marT="36576" marB="36576" anchor="ctr">
                    <a:solidFill>
                      <a:srgbClr val="EAF8FA"/>
                    </a:solidFill>
                  </a:tcPr>
                </a:tc>
                <a:tc>
                  <a:txBody>
                    <a:bodyPr wrap="square"/>
                    <a:lstStyle/>
                    <a:p>
                      <a:pPr algn="ctr"/>
                      <a:r>
                        <a:rPr sz="950" b="0" i="0">
                          <a:solidFill>
                            <a:srgbClr val="14313B"/>
                          </a:solidFill>
                          <a:latin typeface="Calibri (MS)"/>
                        </a:rPr>
                        <a:t>10,35</a:t>
                      </a:r>
                    </a:p>
                  </a:txBody>
                  <a:tcPr marL="73152" marR="73152" marT="36576" marB="36576" anchor="ctr">
                    <a:solidFill>
                      <a:srgbClr val="FFF1BF"/>
                    </a:solidFill>
                  </a:tcPr>
                </a:tc>
                <a:tc>
                  <a:txBody>
                    <a:bodyPr wrap="square"/>
                    <a:lstStyle/>
                    <a:p>
                      <a:pPr algn="ctr"/>
                      <a:r>
                        <a:rPr sz="950" b="0" i="0">
                          <a:solidFill>
                            <a:srgbClr val="14313B"/>
                          </a:solidFill>
                          <a:latin typeface="Calibri (MS)"/>
                        </a:rPr>
                        <a:t>15,06</a:t>
                      </a:r>
                    </a:p>
                  </a:txBody>
                  <a:tcPr marL="73152" marR="73152" marT="36576" marB="36576" anchor="ctr">
                    <a:solidFill>
                      <a:srgbClr val="FFF1BF"/>
                    </a:solidFill>
                  </a:tcPr>
                </a:tc>
                <a:tc>
                  <a:txBody>
                    <a:bodyPr wrap="square"/>
                    <a:lstStyle/>
                    <a:p>
                      <a:pPr algn="ctr"/>
                      <a:r>
                        <a:rPr sz="950" b="0" i="0">
                          <a:solidFill>
                            <a:srgbClr val="14313B"/>
                          </a:solidFill>
                          <a:latin typeface="Calibri (MS)"/>
                        </a:rPr>
                        <a:t>9,60</a:t>
                      </a:r>
                    </a:p>
                  </a:txBody>
                  <a:tcPr marL="73152" marR="73152" marT="36576" marB="36576" anchor="ctr">
                    <a:solidFill>
                      <a:srgbClr val="EAF8FA"/>
                    </a:solidFill>
                  </a:tcPr>
                </a:tc>
                <a:tc>
                  <a:txBody>
                    <a:bodyPr wrap="square"/>
                    <a:lstStyle/>
                    <a:p>
                      <a:pPr algn="ctr"/>
                      <a:r>
                        <a:rPr sz="950" b="0" i="0">
                          <a:solidFill>
                            <a:srgbClr val="14313B"/>
                          </a:solidFill>
                          <a:latin typeface="Calibri (MS)"/>
                        </a:rPr>
                        <a:t>30,58</a:t>
                      </a:r>
                    </a:p>
                  </a:txBody>
                  <a:tcPr marL="73152" marR="73152" marT="36576" marB="36576" anchor="ctr">
                    <a:solidFill>
                      <a:srgbClr val="FFF1BF"/>
                    </a:solidFill>
                  </a:tcPr>
                </a:tc>
              </a:tr>
              <a:tr h="347472">
                <a:tc>
                  <a:txBody>
                    <a:bodyPr wrap="square"/>
                    <a:lstStyle/>
                    <a:p>
                      <a:r>
                        <a:rPr sz="950" b="0" i="0">
                          <a:solidFill>
                            <a:srgbClr val="14313B"/>
                          </a:solidFill>
                          <a:latin typeface="Calibri (MS)"/>
                        </a:rPr>
                        <a:t>Laju Penutupan Dasar ODTW</a:t>
                      </a:r>
                    </a:p>
                  </a:txBody>
                  <a:tcPr marL="73152" marR="73152" marT="36576" marB="36576" anchor="ctr">
                    <a:solidFill>
                      <a:srgbClr val="FFFFFF"/>
                    </a:solidFill>
                  </a:tcPr>
                </a:tc>
                <a:tc>
                  <a:txBody>
                    <a:bodyPr wrap="square"/>
                    <a:lstStyle/>
                    <a:p>
                      <a:r>
                        <a:rPr sz="950" b="0" i="0">
                          <a:solidFill>
                            <a:srgbClr val="14313B"/>
                          </a:solidFill>
                          <a:latin typeface="Calibri (MS)"/>
                        </a:rPr>
                        <a:t>0,01–0,07</a:t>
                      </a:r>
                    </a:p>
                  </a:txBody>
                  <a:tcPr marL="73152" marR="73152" marT="36576" marB="36576" anchor="ctr">
                    <a:solidFill>
                      <a:srgbClr val="FFFFFF"/>
                    </a:solidFill>
                  </a:tcPr>
                </a:tc>
                <a:tc>
                  <a:txBody>
                    <a:bodyPr wrap="square"/>
                    <a:lstStyle/>
                    <a:p>
                      <a:pPr algn="ctr"/>
                      <a:r>
                        <a:rPr sz="950" b="0" i="0">
                          <a:solidFill>
                            <a:srgbClr val="14313B"/>
                          </a:solidFill>
                          <a:latin typeface="Calibri (MS)"/>
                        </a:rPr>
                        <a:t>−1,70%</a:t>
                      </a:r>
                    </a:p>
                  </a:txBody>
                  <a:tcPr marL="73152" marR="73152" marT="36576" marB="36576" anchor="ctr">
                    <a:solidFill>
                      <a:srgbClr val="FFFFFF"/>
                    </a:solidFill>
                  </a:tcPr>
                </a:tc>
                <a:tc>
                  <a:txBody>
                    <a:bodyPr wrap="square"/>
                    <a:lstStyle/>
                    <a:p>
                      <a:pPr algn="ctr"/>
                      <a:r>
                        <a:rPr sz="950" b="0" i="0">
                          <a:solidFill>
                            <a:srgbClr val="14313B"/>
                          </a:solidFill>
                          <a:latin typeface="Calibri (MS)"/>
                        </a:rPr>
                        <a:t>0,60%</a:t>
                      </a:r>
                    </a:p>
                  </a:txBody>
                  <a:tcPr marL="73152" marR="73152" marT="36576" marB="36576" anchor="ctr">
                    <a:solidFill>
                      <a:srgbClr val="FFFFFF"/>
                    </a:solidFill>
                  </a:tcPr>
                </a:tc>
                <a:tc>
                  <a:txBody>
                    <a:bodyPr wrap="square"/>
                    <a:lstStyle/>
                    <a:p>
                      <a:pPr algn="ctr"/>
                      <a:r>
                        <a:rPr sz="950" b="0" i="0">
                          <a:solidFill>
                            <a:srgbClr val="14313B"/>
                          </a:solidFill>
                          <a:latin typeface="Calibri (MS)"/>
                        </a:rPr>
                        <a:t>2,30</a:t>
                      </a:r>
                    </a:p>
                  </a:txBody>
                  <a:tcPr marL="73152" marR="73152" marT="36576" marB="36576" anchor="ctr">
                    <a:solidFill>
                      <a:srgbClr val="EAF8FA"/>
                    </a:solidFill>
                  </a:tcPr>
                </a:tc>
                <a:tc>
                  <a:txBody>
                    <a:bodyPr wrap="square"/>
                    <a:lstStyle/>
                    <a:p>
                      <a:pPr algn="ctr"/>
                      <a:r>
                        <a:rPr sz="950" b="0" i="0">
                          <a:solidFill>
                            <a:srgbClr val="14313B"/>
                          </a:solidFill>
                          <a:latin typeface="Calibri (MS)"/>
                        </a:rPr>
                        <a:t>0,20</a:t>
                      </a:r>
                    </a:p>
                  </a:txBody>
                  <a:tcPr marL="73152" marR="73152" marT="36576" marB="36576" anchor="ctr">
                    <a:solidFill>
                      <a:srgbClr val="FFFFFF"/>
                    </a:solidFill>
                  </a:tcPr>
                </a:tc>
                <a:tc>
                  <a:txBody>
                    <a:bodyPr wrap="square"/>
                    <a:lstStyle/>
                    <a:p>
                      <a:pPr algn="ctr"/>
                      <a:r>
                        <a:rPr sz="950" b="0" i="0">
                          <a:solidFill>
                            <a:srgbClr val="14313B"/>
                          </a:solidFill>
                          <a:latin typeface="Calibri (MS)"/>
                        </a:rPr>
                        <a:t>2,30</a:t>
                      </a:r>
                    </a:p>
                  </a:txBody>
                  <a:tcPr marL="73152" marR="73152" marT="36576" marB="36576" anchor="ctr">
                    <a:solidFill>
                      <a:srgbClr val="EAF8FA"/>
                    </a:solidFill>
                  </a:tcPr>
                </a:tc>
                <a:tc>
                  <a:txBody>
                    <a:bodyPr wrap="square"/>
                    <a:lstStyle/>
                    <a:p>
                      <a:pPr algn="ctr"/>
                      <a:r>
                        <a:rPr sz="950" b="0" i="0">
                          <a:solidFill>
                            <a:srgbClr val="14313B"/>
                          </a:solidFill>
                          <a:latin typeface="Calibri (MS)"/>
                        </a:rPr>
                        <a:t>1,93</a:t>
                      </a:r>
                    </a:p>
                  </a:txBody>
                  <a:tcPr marL="73152" marR="73152" marT="36576" marB="36576" anchor="ctr">
                    <a:solidFill>
                      <a:srgbClr val="EAF8FA"/>
                    </a:solidFill>
                  </a:tcPr>
                </a:tc>
                <a:tc>
                  <a:txBody>
                    <a:bodyPr wrap="square"/>
                    <a:lstStyle/>
                    <a:p>
                      <a:pPr algn="ctr"/>
                      <a:r>
                        <a:rPr sz="950" b="0" i="0">
                          <a:solidFill>
                            <a:srgbClr val="14313B"/>
                          </a:solidFill>
                          <a:latin typeface="Calibri (MS)"/>
                        </a:rPr>
                        <a:t>2,17</a:t>
                      </a:r>
                    </a:p>
                  </a:txBody>
                  <a:tcPr marL="73152" marR="73152" marT="36576" marB="36576" anchor="ctr">
                    <a:solidFill>
                      <a:srgbClr val="EAF8FA"/>
                    </a:solidFill>
                  </a:tcPr>
                </a:tc>
                <a:tc>
                  <a:txBody>
                    <a:bodyPr wrap="square"/>
                    <a:lstStyle/>
                    <a:p>
                      <a:pPr algn="ctr"/>
                      <a:r>
                        <a:rPr sz="950" b="0" i="0">
                          <a:solidFill>
                            <a:srgbClr val="14313B"/>
                          </a:solidFill>
                          <a:latin typeface="Calibri (MS)"/>
                        </a:rPr>
                        <a:t>5,83</a:t>
                      </a:r>
                    </a:p>
                  </a:txBody>
                  <a:tcPr marL="73152" marR="73152" marT="36576" marB="36576" anchor="ctr">
                    <a:solidFill>
                      <a:srgbClr val="EAF8FA"/>
                    </a:solidFill>
                  </a:tcPr>
                </a:tc>
              </a:tr>
              <a:tr h="347472">
                <a:tc>
                  <a:txBody>
                    <a:bodyPr wrap="square"/>
                    <a:lstStyle/>
                    <a:p>
                      <a:r>
                        <a:rPr sz="950" b="0" i="0">
                          <a:solidFill>
                            <a:srgbClr val="14313B"/>
                          </a:solidFill>
                          <a:latin typeface="Calibri (MS)"/>
                        </a:rPr>
                        <a:t>ODTW 2025 (nilai awal &amp; referensi)</a:t>
                      </a:r>
                    </a:p>
                  </a:txBody>
                  <a:tcPr marL="73152" marR="73152" marT="36576" marB="36576" anchor="ctr">
                    <a:solidFill>
                      <a:srgbClr val="EAF8FA"/>
                    </a:solidFill>
                  </a:tcPr>
                </a:tc>
                <a:tc>
                  <a:txBody>
                    <a:bodyPr wrap="square"/>
                    <a:lstStyle/>
                    <a:p>
                      <a:r>
                        <a:rPr sz="950" b="0" i="0">
                          <a:solidFill>
                            <a:srgbClr val="14313B"/>
                          </a:solidFill>
                          <a:latin typeface="Calibri (MS)"/>
                        </a:rPr>
                        <a:t>189–218 unit</a:t>
                      </a:r>
                    </a:p>
                  </a:txBody>
                  <a:tcPr marL="73152" marR="73152" marT="36576" marB="36576" anchor="ctr">
                    <a:solidFill>
                      <a:srgbClr val="EAF8FA"/>
                    </a:solidFill>
                  </a:tcPr>
                </a:tc>
                <a:tc>
                  <a:txBody>
                    <a:bodyPr wrap="square"/>
                    <a:lstStyle/>
                    <a:p>
                      <a:pPr algn="ctr"/>
                      <a:r>
                        <a:rPr sz="950" b="0" i="0">
                          <a:solidFill>
                            <a:srgbClr val="14313B"/>
                          </a:solidFill>
                          <a:latin typeface="Calibri (MS)"/>
                        </a:rPr>
                        <a:t>−0,87%</a:t>
                      </a:r>
                    </a:p>
                  </a:txBody>
                  <a:tcPr marL="73152" marR="73152" marT="36576" marB="36576" anchor="ctr">
                    <a:solidFill>
                      <a:srgbClr val="EAF8FA"/>
                    </a:solidFill>
                  </a:tcPr>
                </a:tc>
                <a:tc>
                  <a:txBody>
                    <a:bodyPr wrap="square"/>
                    <a:lstStyle/>
                    <a:p>
                      <a:pPr algn="ctr"/>
                      <a:r>
                        <a:rPr sz="950" b="0" i="0">
                          <a:solidFill>
                            <a:srgbClr val="14313B"/>
                          </a:solidFill>
                          <a:latin typeface="Calibri (MS)"/>
                        </a:rPr>
                        <a:t>0,65%</a:t>
                      </a:r>
                    </a:p>
                  </a:txBody>
                  <a:tcPr marL="73152" marR="73152" marT="36576" marB="36576" anchor="ctr">
                    <a:solidFill>
                      <a:srgbClr val="EAF8FA"/>
                    </a:solidFill>
                  </a:tcPr>
                </a:tc>
                <a:tc>
                  <a:txBody>
                    <a:bodyPr wrap="square"/>
                    <a:lstStyle/>
                    <a:p>
                      <a:pPr algn="ctr"/>
                      <a:r>
                        <a:rPr sz="950" b="0" i="0">
                          <a:solidFill>
                            <a:srgbClr val="14313B"/>
                          </a:solidFill>
                          <a:latin typeface="Calibri (MS)"/>
                        </a:rPr>
                        <a:t>1,51</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1,51</a:t>
                      </a:r>
                    </a:p>
                  </a:txBody>
                  <a:tcPr marL="73152" marR="73152" marT="36576" marB="36576" anchor="ctr">
                    <a:solidFill>
                      <a:srgbClr val="EAF8FA"/>
                    </a:solidFill>
                  </a:tcPr>
                </a:tc>
                <a:tc>
                  <a:txBody>
                    <a:bodyPr wrap="square"/>
                    <a:lstStyle/>
                    <a:p>
                      <a:pPr algn="ctr"/>
                      <a:r>
                        <a:rPr sz="950" b="0" i="0">
                          <a:solidFill>
                            <a:srgbClr val="14313B"/>
                          </a:solidFill>
                          <a:latin typeface="Calibri (MS)"/>
                        </a:rPr>
                        <a:t>0,81</a:t>
                      </a:r>
                    </a:p>
                  </a:txBody>
                  <a:tcPr marL="73152" marR="73152" marT="36576" marB="36576" anchor="ctr">
                    <a:solidFill>
                      <a:srgbClr val="EAF8FA"/>
                    </a:solidFill>
                  </a:tcPr>
                </a:tc>
                <a:tc>
                  <a:txBody>
                    <a:bodyPr wrap="square"/>
                    <a:lstStyle/>
                    <a:p>
                      <a:pPr algn="ctr"/>
                      <a:r>
                        <a:rPr sz="950" b="0" i="0">
                          <a:solidFill>
                            <a:srgbClr val="14313B"/>
                          </a:solidFill>
                          <a:latin typeface="Calibri (MS)"/>
                        </a:rPr>
                        <a:t>1,24</a:t>
                      </a:r>
                    </a:p>
                  </a:txBody>
                  <a:tcPr marL="73152" marR="73152" marT="36576" marB="36576" anchor="ctr">
                    <a:solidFill>
                      <a:srgbClr val="EAF8FA"/>
                    </a:solidFill>
                  </a:tcPr>
                </a:tc>
                <a:tc>
                  <a:txBody>
                    <a:bodyPr wrap="square"/>
                    <a:lstStyle/>
                    <a:p>
                      <a:pPr algn="ctr"/>
                      <a:r>
                        <a:rPr sz="950" b="0" i="0">
                          <a:solidFill>
                            <a:srgbClr val="14313B"/>
                          </a:solidFill>
                          <a:latin typeface="Calibri (MS)"/>
                        </a:rPr>
                        <a:t>2,36</a:t>
                      </a:r>
                    </a:p>
                  </a:txBody>
                  <a:tcPr marL="73152" marR="73152" marT="36576" marB="36576" anchor="ctr">
                    <a:solidFill>
                      <a:srgbClr val="EAF8FA"/>
                    </a:solidFill>
                  </a:tcPr>
                </a:tc>
              </a:tr>
              <a:tr h="347472">
                <a:tc>
                  <a:txBody>
                    <a:bodyPr wrap="square"/>
                    <a:lstStyle/>
                    <a:p>
                      <a:r>
                        <a:rPr sz="950" b="0" i="0">
                          <a:solidFill>
                            <a:srgbClr val="14313B"/>
                          </a:solidFill>
                          <a:latin typeface="Calibri (MS)"/>
                        </a:rPr>
                        <a:t>Lahan Per Hotel dan Akomodasi</a:t>
                      </a:r>
                    </a:p>
                  </a:txBody>
                  <a:tcPr marL="73152" marR="73152" marT="36576" marB="36576" anchor="ctr">
                    <a:solidFill>
                      <a:srgbClr val="FFFFFF"/>
                    </a:solidFill>
                  </a:tcPr>
                </a:tc>
                <a:tc>
                  <a:txBody>
                    <a:bodyPr wrap="square"/>
                    <a:lstStyle/>
                    <a:p>
                      <a:r>
                        <a:rPr sz="950" b="0" i="0">
                          <a:solidFill>
                            <a:srgbClr val="14313B"/>
                          </a:solidFill>
                          <a:latin typeface="Calibri (MS)"/>
                        </a:rPr>
                        <a:t>0,05–0,2 ha/unit</a:t>
                      </a:r>
                    </a:p>
                  </a:txBody>
                  <a:tcPr marL="73152" marR="73152" marT="36576" marB="36576" anchor="ctr">
                    <a:solidFill>
                      <a:srgbClr val="FFFFFF"/>
                    </a:solidFill>
                  </a:tcPr>
                </a:tc>
                <a:tc>
                  <a:txBody>
                    <a:bodyPr wrap="square"/>
                    <a:lstStyle/>
                    <a:p>
                      <a:pPr algn="ctr"/>
                      <a:r>
                        <a:rPr sz="950" b="0" i="0">
                          <a:solidFill>
                            <a:srgbClr val="14313B"/>
                          </a:solidFill>
                          <a:latin typeface="Calibri (MS)"/>
                        </a:rPr>
                        <a:t>−0,18%</a:t>
                      </a:r>
                    </a:p>
                  </a:txBody>
                  <a:tcPr marL="73152" marR="73152" marT="36576" marB="36576" anchor="ctr">
                    <a:solidFill>
                      <a:srgbClr val="FFFFFF"/>
                    </a:solidFill>
                  </a:tcPr>
                </a:tc>
                <a:tc>
                  <a:txBody>
                    <a:bodyPr wrap="square"/>
                    <a:lstStyle/>
                    <a:p>
                      <a:pPr algn="ctr"/>
                      <a:r>
                        <a:rPr sz="950" b="0" i="0">
                          <a:solidFill>
                            <a:srgbClr val="14313B"/>
                          </a:solidFill>
                          <a:latin typeface="Calibri (MS)"/>
                        </a:rPr>
                        <a:t>0,09%</a:t>
                      </a:r>
                    </a:p>
                  </a:txBody>
                  <a:tcPr marL="73152" marR="73152" marT="36576" marB="36576" anchor="ctr">
                    <a:solidFill>
                      <a:srgbClr val="FFFFFF"/>
                    </a:solidFill>
                  </a:tcPr>
                </a:tc>
                <a:tc>
                  <a:txBody>
                    <a:bodyPr wrap="square"/>
                    <a:lstStyle/>
                    <a:p>
                      <a:pPr algn="ctr"/>
                      <a:r>
                        <a:rPr sz="950" b="0" i="0">
                          <a:solidFill>
                            <a:srgbClr val="14313B"/>
                          </a:solidFill>
                          <a:latin typeface="Calibri (MS)"/>
                        </a:rPr>
                        <a:t>0,28</a:t>
                      </a:r>
                    </a:p>
                  </a:txBody>
                  <a:tcPr marL="73152" marR="73152" marT="36576" marB="36576" anchor="ctr">
                    <a:solidFill>
                      <a:srgbClr val="FFFFFF"/>
                    </a:solidFill>
                  </a:tcPr>
                </a:tc>
                <a:tc>
                  <a:txBody>
                    <a:bodyPr wrap="square"/>
                    <a:lstStyle/>
                    <a:p>
                      <a:pPr algn="ctr"/>
                      <a:r>
                        <a:rPr sz="950" b="0" i="0">
                          <a:solidFill>
                            <a:srgbClr val="14313B"/>
                          </a:solidFill>
                          <a:latin typeface="Calibri (MS)"/>
                        </a:rPr>
                        <a:t>1,03</a:t>
                      </a:r>
                    </a:p>
                  </a:txBody>
                  <a:tcPr marL="73152" marR="73152" marT="36576" marB="36576" anchor="ctr">
                    <a:solidFill>
                      <a:srgbClr val="EAF8FA"/>
                    </a:solidFill>
                  </a:tcPr>
                </a:tc>
                <a:tc>
                  <a:txBody>
                    <a:bodyPr wrap="square"/>
                    <a:lstStyle/>
                    <a:p>
                      <a:pPr algn="ctr"/>
                      <a:r>
                        <a:rPr sz="950" b="0" i="0">
                          <a:solidFill>
                            <a:srgbClr val="14313B"/>
                          </a:solidFill>
                          <a:latin typeface="Calibri (MS)"/>
                        </a:rPr>
                        <a:t>0,28</a:t>
                      </a:r>
                    </a:p>
                  </a:txBody>
                  <a:tcPr marL="73152" marR="73152" marT="36576" marB="36576" anchor="ctr">
                    <a:solidFill>
                      <a:srgbClr val="FFFFFF"/>
                    </a:solidFill>
                  </a:tcPr>
                </a:tc>
                <a:tc>
                  <a:txBody>
                    <a:bodyPr wrap="square"/>
                    <a:lstStyle/>
                    <a:p>
                      <a:pPr algn="ctr"/>
                      <a:r>
                        <a:rPr sz="950" b="0" i="0">
                          <a:solidFill>
                            <a:srgbClr val="14313B"/>
                          </a:solidFill>
                          <a:latin typeface="Calibri (MS)"/>
                        </a:rPr>
                        <a:t>0,22</a:t>
                      </a:r>
                    </a:p>
                  </a:txBody>
                  <a:tcPr marL="73152" marR="73152" marT="36576" marB="36576" anchor="ctr">
                    <a:solidFill>
                      <a:srgbClr val="FFFFFF"/>
                    </a:solidFill>
                  </a:tcPr>
                </a:tc>
                <a:tc>
                  <a:txBody>
                    <a:bodyPr wrap="square"/>
                    <a:lstStyle/>
                    <a:p>
                      <a:pPr algn="ctr"/>
                      <a:r>
                        <a:rPr sz="950" b="0" i="0">
                          <a:solidFill>
                            <a:srgbClr val="14313B"/>
                          </a:solidFill>
                          <a:latin typeface="Calibri (MS)"/>
                        </a:rPr>
                        <a:t>0,25</a:t>
                      </a:r>
                    </a:p>
                  </a:txBody>
                  <a:tcPr marL="73152" marR="73152" marT="36576" marB="36576" anchor="ctr">
                    <a:solidFill>
                      <a:srgbClr val="FFFFFF"/>
                    </a:solidFill>
                  </a:tcPr>
                </a:tc>
                <a:tc>
                  <a:txBody>
                    <a:bodyPr wrap="square"/>
                    <a:lstStyle/>
                    <a:p>
                      <a:pPr algn="ctr"/>
                      <a:r>
                        <a:rPr sz="950" b="0" i="0">
                          <a:solidFill>
                            <a:srgbClr val="14313B"/>
                          </a:solidFill>
                          <a:latin typeface="Calibri (MS)"/>
                        </a:rPr>
                        <a:t>0,08</a:t>
                      </a:r>
                    </a:p>
                  </a:txBody>
                  <a:tcPr marL="73152" marR="73152" marT="36576" marB="36576" anchor="ctr">
                    <a:solidFill>
                      <a:srgbClr val="FFFFFF"/>
                    </a:solidFill>
                  </a:tcPr>
                </a:tc>
              </a:tr>
              <a:tr h="347472">
                <a:tc>
                  <a:txBody>
                    <a:bodyPr wrap="square"/>
                    <a:lstStyle/>
                    <a:p>
                      <a:r>
                        <a:rPr sz="950" b="0" i="0">
                          <a:solidFill>
                            <a:srgbClr val="14313B"/>
                          </a:solidFill>
                          <a:latin typeface="Calibri (MS)"/>
                        </a:rPr>
                        <a:t>Lahan Per ODTW</a:t>
                      </a:r>
                    </a:p>
                  </a:txBody>
                  <a:tcPr marL="73152" marR="73152" marT="36576" marB="36576" anchor="ctr">
                    <a:solidFill>
                      <a:srgbClr val="EAF8FA"/>
                    </a:solidFill>
                  </a:tcPr>
                </a:tc>
                <a:tc>
                  <a:txBody>
                    <a:bodyPr wrap="square"/>
                    <a:lstStyle/>
                    <a:p>
                      <a:r>
                        <a:rPr sz="950" b="0" i="0">
                          <a:solidFill>
                            <a:srgbClr val="14313B"/>
                          </a:solidFill>
                          <a:latin typeface="Calibri (MS)"/>
                        </a:rPr>
                        <a:t>0,1–2,0 ha/unit</a:t>
                      </a:r>
                    </a:p>
                  </a:txBody>
                  <a:tcPr marL="73152" marR="73152" marT="36576" marB="36576" anchor="ctr">
                    <a:solidFill>
                      <a:srgbClr val="EAF8FA"/>
                    </a:solidFill>
                  </a:tcPr>
                </a:tc>
                <a:tc>
                  <a:txBody>
                    <a:bodyPr wrap="square"/>
                    <a:lstStyle/>
                    <a:p>
                      <a:pPr algn="ctr"/>
                      <a:r>
                        <a:rPr sz="950" b="0" i="0">
                          <a:solidFill>
                            <a:srgbClr val="14313B"/>
                          </a:solidFill>
                          <a:latin typeface="Calibri (MS)"/>
                        </a:rPr>
                        <a:t>−0,18%</a:t>
                      </a:r>
                    </a:p>
                  </a:txBody>
                  <a:tcPr marL="73152" marR="73152" marT="36576" marB="36576" anchor="ctr">
                    <a:solidFill>
                      <a:srgbClr val="EAF8FA"/>
                    </a:solidFill>
                  </a:tcPr>
                </a:tc>
                <a:tc>
                  <a:txBody>
                    <a:bodyPr wrap="square"/>
                    <a:lstStyle/>
                    <a:p>
                      <a:pPr algn="ctr"/>
                      <a:r>
                        <a:rPr sz="950" b="0" i="0">
                          <a:solidFill>
                            <a:srgbClr val="14313B"/>
                          </a:solidFill>
                          <a:latin typeface="Calibri (MS)"/>
                        </a:rPr>
                        <a:t>0,05%</a:t>
                      </a:r>
                    </a:p>
                  </a:txBody>
                  <a:tcPr marL="73152" marR="73152" marT="36576" marB="36576" anchor="ctr">
                    <a:solidFill>
                      <a:srgbClr val="EAF8FA"/>
                    </a:solidFill>
                  </a:tcPr>
                </a:tc>
                <a:tc>
                  <a:txBody>
                    <a:bodyPr wrap="square"/>
                    <a:lstStyle/>
                    <a:p>
                      <a:pPr algn="ctr"/>
                      <a:r>
                        <a:rPr sz="950" b="0" i="0">
                          <a:solidFill>
                            <a:srgbClr val="14313B"/>
                          </a:solidFill>
                          <a:latin typeface="Calibri (MS)"/>
                        </a:rPr>
                        <a:t>0,23</a:t>
                      </a:r>
                    </a:p>
                  </a:txBody>
                  <a:tcPr marL="73152" marR="73152" marT="36576" marB="36576" anchor="ctr">
                    <a:solidFill>
                      <a:srgbClr val="EAF8FA"/>
                    </a:solidFill>
                  </a:tcPr>
                </a:tc>
                <a:tc>
                  <a:txBody>
                    <a:bodyPr wrap="square"/>
                    <a:lstStyle/>
                    <a:p>
                      <a:pPr algn="ctr"/>
                      <a:r>
                        <a:rPr sz="950" b="0" i="0">
                          <a:solidFill>
                            <a:srgbClr val="14313B"/>
                          </a:solidFill>
                          <a:latin typeface="Calibri (MS)"/>
                        </a:rPr>
                        <a:t>0,84</a:t>
                      </a:r>
                    </a:p>
                  </a:txBody>
                  <a:tcPr marL="73152" marR="73152" marT="36576" marB="36576" anchor="ctr">
                    <a:solidFill>
                      <a:srgbClr val="EAF8FA"/>
                    </a:solidFill>
                  </a:tcPr>
                </a:tc>
                <a:tc>
                  <a:txBody>
                    <a:bodyPr wrap="square"/>
                    <a:lstStyle/>
                    <a:p>
                      <a:pPr algn="ctr"/>
                      <a:r>
                        <a:rPr sz="950" b="0" i="0">
                          <a:solidFill>
                            <a:srgbClr val="14313B"/>
                          </a:solidFill>
                          <a:latin typeface="Calibri (MS)"/>
                        </a:rPr>
                        <a:t>0,23</a:t>
                      </a:r>
                    </a:p>
                  </a:txBody>
                  <a:tcPr marL="73152" marR="73152" marT="36576" marB="36576" anchor="ctr">
                    <a:solidFill>
                      <a:srgbClr val="EAF8FA"/>
                    </a:solidFill>
                  </a:tcPr>
                </a:tc>
                <a:tc>
                  <a:txBody>
                    <a:bodyPr wrap="square"/>
                    <a:lstStyle/>
                    <a:p>
                      <a:pPr algn="ctr"/>
                      <a:r>
                        <a:rPr sz="950" b="0" i="0">
                          <a:solidFill>
                            <a:srgbClr val="14313B"/>
                          </a:solidFill>
                          <a:latin typeface="Calibri (MS)"/>
                        </a:rPr>
                        <a:t>0,18</a:t>
                      </a:r>
                    </a:p>
                  </a:txBody>
                  <a:tcPr marL="73152" marR="73152" marT="36576" marB="36576" anchor="ctr">
                    <a:solidFill>
                      <a:srgbClr val="EAF8FA"/>
                    </a:solidFill>
                  </a:tcPr>
                </a:tc>
                <a:tc>
                  <a:txBody>
                    <a:bodyPr wrap="square"/>
                    <a:lstStyle/>
                    <a:p>
                      <a:pPr algn="ctr"/>
                      <a:r>
                        <a:rPr sz="950" b="0" i="0">
                          <a:solidFill>
                            <a:srgbClr val="14313B"/>
                          </a:solidFill>
                          <a:latin typeface="Calibri (MS)"/>
                        </a:rPr>
                        <a:t>0,21</a:t>
                      </a:r>
                    </a:p>
                  </a:txBody>
                  <a:tcPr marL="73152" marR="73152" marT="36576" marB="36576" anchor="ctr">
                    <a:solidFill>
                      <a:srgbClr val="EAF8FA"/>
                    </a:solidFill>
                  </a:tcPr>
                </a:tc>
                <a:tc>
                  <a:txBody>
                    <a:bodyPr wrap="square"/>
                    <a:lstStyle/>
                    <a:p>
                      <a:pPr algn="ctr"/>
                      <a:r>
                        <a:rPr sz="950" b="0" i="0">
                          <a:solidFill>
                            <a:srgbClr val="14313B"/>
                          </a:solidFill>
                          <a:latin typeface="Calibri (MS)"/>
                        </a:rPr>
                        <a:t>0,06</a:t>
                      </a:r>
                    </a:p>
                  </a:txBody>
                  <a:tcPr marL="73152" marR="73152" marT="36576" marB="36576" anchor="ctr">
                    <a:solidFill>
                      <a:srgbClr val="EAF8FA"/>
                    </a:solidFill>
                  </a:tcPr>
                </a:tc>
              </a:tr>
              <a:tr h="347472">
                <a:tc>
                  <a:txBody>
                    <a:bodyPr wrap="square"/>
                    <a:lstStyle/>
                    <a:p>
                      <a:r>
                        <a:rPr sz="950" b="0" i="0">
                          <a:solidFill>
                            <a:srgbClr val="14313B"/>
                          </a:solidFill>
                          <a:latin typeface="Calibri (MS)"/>
                        </a:rPr>
                        <a:t>Kebijakan Konservasi Lahan</a:t>
                      </a:r>
                    </a:p>
                  </a:txBody>
                  <a:tcPr marL="73152" marR="73152" marT="36576" marB="36576" anchor="ctr">
                    <a:solidFill>
                      <a:srgbClr val="C9F0D6"/>
                    </a:solidFill>
                  </a:tcPr>
                </a:tc>
                <a:tc>
                  <a:txBody>
                    <a:bodyPr wrap="square"/>
                    <a:lstStyle/>
                    <a:p>
                      <a:r>
                        <a:rPr sz="950" b="0" i="0">
                          <a:solidFill>
                            <a:srgbClr val="14313B"/>
                          </a:solidFill>
                          <a:latin typeface="Calibri (MS)"/>
                        </a:rPr>
                        <a:t>0,25; 0,5; 0,75; 1,0</a:t>
                      </a:r>
                    </a:p>
                  </a:txBody>
                  <a:tcPr marL="73152" marR="73152" marT="36576" marB="36576" anchor="ctr">
                    <a:solidFill>
                      <a:srgbClr val="C9F0D6"/>
                    </a:solidFill>
                  </a:tcPr>
                </a:tc>
                <a:tc>
                  <a:txBody>
                    <a:bodyPr wrap="square"/>
                    <a:lstStyle/>
                    <a:p>
                      <a:pPr algn="ctr"/>
                      <a:r>
                        <a:rPr sz="950" b="0" i="0">
                          <a:solidFill>
                            <a:srgbClr val="14313B"/>
                          </a:solidFill>
                          <a:latin typeface="Calibri (MS)"/>
                        </a:rPr>
                        <a:t>0,06%</a:t>
                      </a:r>
                    </a:p>
                  </a:txBody>
                  <a:tcPr marL="73152" marR="73152" marT="36576" marB="36576" anchor="ctr">
                    <a:solidFill>
                      <a:srgbClr val="FFFFFF"/>
                    </a:solidFill>
                  </a:tcPr>
                </a:tc>
                <a:tc>
                  <a:txBody>
                    <a:bodyPr wrap="square"/>
                    <a:lstStyle/>
                    <a:p>
                      <a:pPr algn="ctr"/>
                      <a:r>
                        <a:rPr sz="950" b="0" i="0">
                          <a:solidFill>
                            <a:srgbClr val="14313B"/>
                          </a:solidFill>
                          <a:latin typeface="Calibri (MS)"/>
                        </a:rPr>
                        <a:t>0,25%</a:t>
                      </a:r>
                    </a:p>
                  </a:txBody>
                  <a:tcPr marL="73152" marR="73152" marT="36576" marB="36576" anchor="ctr">
                    <a:solidFill>
                      <a:srgbClr val="FFFFFF"/>
                    </a:solidFill>
                  </a:tcPr>
                </a:tc>
                <a:tc>
                  <a:txBody>
                    <a:bodyPr wrap="square"/>
                    <a:lstStyle/>
                    <a:p>
                      <a:pPr algn="ctr"/>
                      <a:r>
                        <a:rPr sz="950" b="0" i="0">
                          <a:solidFill>
                            <a:srgbClr val="14313B"/>
                          </a:solidFill>
                          <a:latin typeface="Calibri (MS)"/>
                        </a:rPr>
                        <a:t>0,18</a:t>
                      </a:r>
                    </a:p>
                  </a:txBody>
                  <a:tcPr marL="73152" marR="73152" marT="36576" marB="36576" anchor="ctr">
                    <a:solidFill>
                      <a:srgbClr val="FFFFFF"/>
                    </a:solidFill>
                  </a:tcPr>
                </a:tc>
                <a:tc>
                  <a:txBody>
                    <a:bodyPr wrap="square"/>
                    <a:lstStyle/>
                    <a:p>
                      <a:pPr algn="ctr"/>
                      <a:r>
                        <a:rPr sz="950" b="0" i="0">
                          <a:solidFill>
                            <a:srgbClr val="14313B"/>
                          </a:solidFill>
                          <a:latin typeface="Calibri (MS)"/>
                        </a:rPr>
                        <a:t>0,68</a:t>
                      </a:r>
                    </a:p>
                  </a:txBody>
                  <a:tcPr marL="73152" marR="73152" marT="36576" marB="36576" anchor="ctr">
                    <a:solidFill>
                      <a:srgbClr val="FFFFFF"/>
                    </a:solidFill>
                  </a:tcPr>
                </a:tc>
                <a:tc>
                  <a:txBody>
                    <a:bodyPr wrap="square"/>
                    <a:lstStyle/>
                    <a:p>
                      <a:pPr algn="ctr"/>
                      <a:r>
                        <a:rPr sz="950" b="0" i="0">
                          <a:solidFill>
                            <a:srgbClr val="14313B"/>
                          </a:solidFill>
                          <a:latin typeface="Calibri (MS)"/>
                        </a:rPr>
                        <a:t>0,18</a:t>
                      </a:r>
                    </a:p>
                  </a:txBody>
                  <a:tcPr marL="73152" marR="73152" marT="36576" marB="36576" anchor="ctr">
                    <a:solidFill>
                      <a:srgbClr val="FFFFFF"/>
                    </a:solidFill>
                  </a:tcPr>
                </a:tc>
                <a:tc>
                  <a:txBody>
                    <a:bodyPr wrap="square"/>
                    <a:lstStyle/>
                    <a:p>
                      <a:pPr algn="ctr"/>
                      <a:r>
                        <a:rPr sz="950" b="0" i="0">
                          <a:solidFill>
                            <a:srgbClr val="14313B"/>
                          </a:solidFill>
                          <a:latin typeface="Calibri (MS)"/>
                        </a:rPr>
                        <a:t>0,14</a:t>
                      </a:r>
                    </a:p>
                  </a:txBody>
                  <a:tcPr marL="73152" marR="73152" marT="36576" marB="36576" anchor="ctr">
                    <a:solidFill>
                      <a:srgbClr val="FFFFFF"/>
                    </a:solidFill>
                  </a:tcPr>
                </a:tc>
                <a:tc>
                  <a:txBody>
                    <a:bodyPr wrap="square"/>
                    <a:lstStyle/>
                    <a:p>
                      <a:pPr algn="ctr"/>
                      <a:r>
                        <a:rPr sz="950" b="0" i="0">
                          <a:solidFill>
                            <a:srgbClr val="14313B"/>
                          </a:solidFill>
                          <a:latin typeface="Calibri (MS)"/>
                        </a:rPr>
                        <a:t>0,17</a:t>
                      </a:r>
                    </a:p>
                  </a:txBody>
                  <a:tcPr marL="73152" marR="73152" marT="36576" marB="36576" anchor="ctr">
                    <a:solidFill>
                      <a:srgbClr val="FFFFFF"/>
                    </a:solidFill>
                  </a:tcPr>
                </a:tc>
                <a:tc>
                  <a:txBody>
                    <a:bodyPr wrap="square"/>
                    <a:lstStyle/>
                    <a:p>
                      <a:pPr algn="ctr"/>
                      <a:r>
                        <a:rPr sz="950" b="0" i="0">
                          <a:solidFill>
                            <a:srgbClr val="14313B"/>
                          </a:solidFill>
                          <a:latin typeface="Calibri (MS)"/>
                        </a:rPr>
                        <a:t>0,05</a:t>
                      </a:r>
                    </a:p>
                  </a:txBody>
                  <a:tcPr marL="73152" marR="73152" marT="36576" marB="36576" anchor="ctr">
                    <a:solidFill>
                      <a:srgbClr val="FFFFFF"/>
                    </a:solidFill>
                  </a:tcPr>
                </a:tc>
              </a:tr>
              <a:tr h="347472">
                <a:tc>
                  <a:txBody>
                    <a:bodyPr wrap="square"/>
                    <a:lstStyle/>
                    <a:p>
                      <a:r>
                        <a:rPr sz="950" b="0" i="0">
                          <a:solidFill>
                            <a:srgbClr val="14313B"/>
                          </a:solidFill>
                          <a:latin typeface="Calibri (MS)"/>
                        </a:rPr>
                        <a:t>Laju Demolisi Dasar</a:t>
                      </a:r>
                    </a:p>
                  </a:txBody>
                  <a:tcPr marL="73152" marR="73152" marT="36576" marB="36576" anchor="ctr">
                    <a:solidFill>
                      <a:srgbClr val="EAF8FA"/>
                    </a:solidFill>
                  </a:tcPr>
                </a:tc>
                <a:tc>
                  <a:txBody>
                    <a:bodyPr wrap="square"/>
                    <a:lstStyle/>
                    <a:p>
                      <a:r>
                        <a:rPr sz="950" b="0" i="0">
                          <a:solidFill>
                            <a:srgbClr val="14313B"/>
                          </a:solidFill>
                          <a:latin typeface="Calibri (MS)"/>
                        </a:rPr>
                        <a:t>0,02–0,08</a:t>
                      </a:r>
                    </a:p>
                  </a:txBody>
                  <a:tcPr marL="73152" marR="73152" marT="36576" marB="36576" anchor="ctr">
                    <a:solidFill>
                      <a:srgbClr val="EAF8FA"/>
                    </a:solidFill>
                  </a:tcPr>
                </a:tc>
                <a:tc>
                  <a:txBody>
                    <a:bodyPr wrap="square"/>
                    <a:lstStyle/>
                    <a:p>
                      <a:pPr algn="ctr"/>
                      <a:r>
                        <a:rPr sz="950" b="0" i="0">
                          <a:solidFill>
                            <a:srgbClr val="14313B"/>
                          </a:solidFill>
                          <a:latin typeface="Calibri (MS)"/>
                        </a:rPr>
                        <a:t>−0,06%</a:t>
                      </a:r>
                    </a:p>
                  </a:txBody>
                  <a:tcPr marL="73152" marR="73152" marT="36576" marB="36576" anchor="ctr">
                    <a:solidFill>
                      <a:srgbClr val="EAF8FA"/>
                    </a:solidFill>
                  </a:tcPr>
                </a:tc>
                <a:tc>
                  <a:txBody>
                    <a:bodyPr wrap="square"/>
                    <a:lstStyle/>
                    <a:p>
                      <a:pPr algn="ctr"/>
                      <a:r>
                        <a:rPr sz="950" b="0" i="0">
                          <a:solidFill>
                            <a:srgbClr val="14313B"/>
                          </a:solidFill>
                          <a:latin typeface="Calibri (MS)"/>
                        </a:rPr>
                        <a:t>0,06%</a:t>
                      </a:r>
                    </a:p>
                  </a:txBody>
                  <a:tcPr marL="73152" marR="73152" marT="36576" marB="36576" anchor="ctr">
                    <a:solidFill>
                      <a:srgbClr val="EAF8FA"/>
                    </a:solidFill>
                  </a:tcPr>
                </a:tc>
                <a:tc>
                  <a:txBody>
                    <a:bodyPr wrap="square"/>
                    <a:lstStyle/>
                    <a:p>
                      <a:pPr algn="ctr"/>
                      <a:r>
                        <a:rPr sz="950" b="0" i="0">
                          <a:solidFill>
                            <a:srgbClr val="14313B"/>
                          </a:solidFill>
                          <a:latin typeface="Calibri (MS)"/>
                        </a:rPr>
                        <a:t>0,11</a:t>
                      </a:r>
                    </a:p>
                  </a:txBody>
                  <a:tcPr marL="73152" marR="73152" marT="36576" marB="36576" anchor="ctr">
                    <a:solidFill>
                      <a:srgbClr val="EAF8FA"/>
                    </a:solidFill>
                  </a:tcPr>
                </a:tc>
                <a:tc>
                  <a:txBody>
                    <a:bodyPr wrap="square"/>
                    <a:lstStyle/>
                    <a:p>
                      <a:pPr algn="ctr"/>
                      <a:r>
                        <a:rPr sz="950" b="0" i="0">
                          <a:solidFill>
                            <a:srgbClr val="14313B"/>
                          </a:solidFill>
                          <a:latin typeface="Calibri (MS)"/>
                        </a:rPr>
                        <a:t>0,44</a:t>
                      </a:r>
                    </a:p>
                  </a:txBody>
                  <a:tcPr marL="73152" marR="73152" marT="36576" marB="36576" anchor="ctr">
                    <a:solidFill>
                      <a:srgbClr val="EAF8FA"/>
                    </a:solidFill>
                  </a:tcPr>
                </a:tc>
                <a:tc>
                  <a:txBody>
                    <a:bodyPr wrap="square"/>
                    <a:lstStyle/>
                    <a:p>
                      <a:pPr algn="ctr"/>
                      <a:r>
                        <a:rPr sz="950" b="0" i="0">
                          <a:solidFill>
                            <a:srgbClr val="14313B"/>
                          </a:solidFill>
                          <a:latin typeface="Calibri (MS)"/>
                        </a:rPr>
                        <a:t>0,11</a:t>
                      </a:r>
                    </a:p>
                  </a:txBody>
                  <a:tcPr marL="73152" marR="73152" marT="36576" marB="36576" anchor="ctr">
                    <a:solidFill>
                      <a:srgbClr val="EAF8FA"/>
                    </a:solidFill>
                  </a:tcPr>
                </a:tc>
                <a:tc>
                  <a:txBody>
                    <a:bodyPr wrap="square"/>
                    <a:lstStyle/>
                    <a:p>
                      <a:pPr algn="ctr"/>
                      <a:r>
                        <a:rPr sz="950" b="0" i="0">
                          <a:solidFill>
                            <a:srgbClr val="14313B"/>
                          </a:solidFill>
                          <a:latin typeface="Calibri (MS)"/>
                        </a:rPr>
                        <a:t>6,93</a:t>
                      </a:r>
                    </a:p>
                  </a:txBody>
                  <a:tcPr marL="73152" marR="73152" marT="36576" marB="36576" anchor="ctr">
                    <a:solidFill>
                      <a:srgbClr val="EAF8FA"/>
                    </a:solidFill>
                  </a:tcPr>
                </a:tc>
                <a:tc>
                  <a:txBody>
                    <a:bodyPr wrap="square"/>
                    <a:lstStyle/>
                    <a:p>
                      <a:pPr algn="ctr"/>
                      <a:r>
                        <a:rPr sz="950" b="0" i="0">
                          <a:solidFill>
                            <a:srgbClr val="14313B"/>
                          </a:solidFill>
                          <a:latin typeface="Calibri (MS)"/>
                        </a:rPr>
                        <a:t>0,10</a:t>
                      </a:r>
                    </a:p>
                  </a:txBody>
                  <a:tcPr marL="73152" marR="73152" marT="36576" marB="36576" anchor="ctr">
                    <a:solidFill>
                      <a:srgbClr val="EAF8FA"/>
                    </a:solidFill>
                  </a:tcPr>
                </a:tc>
                <a:tc>
                  <a:txBody>
                    <a:bodyPr wrap="square"/>
                    <a:lstStyle/>
                    <a:p>
                      <a:pPr algn="ctr"/>
                      <a:r>
                        <a:rPr sz="950" b="0" i="0">
                          <a:solidFill>
                            <a:srgbClr val="14313B"/>
                          </a:solidFill>
                          <a:latin typeface="Calibri (MS)"/>
                        </a:rPr>
                        <a:t>0,03</a:t>
                      </a:r>
                    </a:p>
                  </a:txBody>
                  <a:tcPr marL="73152" marR="73152" marT="36576" marB="36576" anchor="ctr">
                    <a:solidFill>
                      <a:srgbClr val="EAF8FA"/>
                    </a:solidFill>
                  </a:tcPr>
                </a:tc>
              </a:tr>
              <a:tr h="347472">
                <a:tc>
                  <a:txBody>
                    <a:bodyPr wrap="square"/>
                    <a:lstStyle/>
                    <a:p>
                      <a:r>
                        <a:rPr sz="950" b="0" i="0">
                          <a:solidFill>
                            <a:srgbClr val="14313B"/>
                          </a:solidFill>
                          <a:latin typeface="Calibri (MS)"/>
                        </a:rPr>
                        <a:t>TPK Ambang</a:t>
                      </a:r>
                    </a:p>
                  </a:txBody>
                  <a:tcPr marL="73152" marR="73152" marT="36576" marB="36576" anchor="ctr">
                    <a:solidFill>
                      <a:srgbClr val="FFFFFF"/>
                    </a:solidFill>
                  </a:tcPr>
                </a:tc>
                <a:tc>
                  <a:txBody>
                    <a:bodyPr wrap="square"/>
                    <a:lstStyle/>
                    <a:p>
                      <a:r>
                        <a:rPr sz="950" b="0" i="0">
                          <a:solidFill>
                            <a:srgbClr val="14313B"/>
                          </a:solidFill>
                          <a:latin typeface="Calibri (MS)"/>
                        </a:rPr>
                        <a:t>0,20–0,35</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0,09</a:t>
                      </a:r>
                    </a:p>
                  </a:txBody>
                  <a:tcPr marL="73152" marR="73152" marT="36576" marB="36576" anchor="ctr">
                    <a:solidFill>
                      <a:srgbClr val="FFFFF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11,86</a:t>
                      </a:r>
                    </a:p>
                  </a:txBody>
                  <a:tcPr marL="73152" marR="73152" marT="36576" marB="36576" anchor="ctr">
                    <a:solidFill>
                      <a:srgbClr val="FFF1BF"/>
                    </a:solidFill>
                  </a:tcPr>
                </a:tc>
                <a:tc>
                  <a:txBody>
                    <a:bodyPr wrap="square"/>
                    <a:lstStyle/>
                    <a:p>
                      <a:pPr algn="ctr"/>
                      <a:r>
                        <a:rPr sz="950" b="0" i="0">
                          <a:solidFill>
                            <a:srgbClr val="14313B"/>
                          </a:solidFill>
                          <a:latin typeface="Calibri (MS)"/>
                        </a:rPr>
                        <a:t>0,02</a:t>
                      </a:r>
                    </a:p>
                  </a:txBody>
                  <a:tcPr marL="73152" marR="73152" marT="36576" marB="36576" anchor="ctr">
                    <a:solidFill>
                      <a:srgbClr val="FFFFFF"/>
                    </a:solidFill>
                  </a:tcPr>
                </a:tc>
                <a:tc>
                  <a:txBody>
                    <a:bodyPr wrap="square"/>
                    <a:lstStyle/>
                    <a:p>
                      <a:pPr algn="ctr"/>
                      <a:r>
                        <a:rPr sz="950" b="0" i="0">
                          <a:solidFill>
                            <a:srgbClr val="14313B"/>
                          </a:solidFill>
                          <a:latin typeface="Calibri (MS)"/>
                        </a:rPr>
                        <a:t>0,01</a:t>
                      </a:r>
                    </a:p>
                  </a:txBody>
                  <a:tcPr marL="73152" marR="73152" marT="36576" marB="36576" anchor="ctr">
                    <a:solidFill>
                      <a:srgbClr val="FFFFFF"/>
                    </a:solidFill>
                  </a:tcPr>
                </a:tc>
              </a:tr>
              <a:tr h="347472">
                <a:tc>
                  <a:txBody>
                    <a:bodyPr wrap="square"/>
                    <a:lstStyle/>
                    <a:p>
                      <a:r>
                        <a:rPr sz="950" b="0" i="0">
                          <a:solidFill>
                            <a:srgbClr val="14313B"/>
                          </a:solidFill>
                          <a:latin typeface="Calibri (MS)"/>
                        </a:rPr>
                        <a:t>Batas Maksimum Efek ODTW</a:t>
                      </a:r>
                    </a:p>
                  </a:txBody>
                  <a:tcPr marL="73152" marR="73152" marT="36576" marB="36576" anchor="ctr">
                    <a:solidFill>
                      <a:srgbClr val="EAF8FA"/>
                    </a:solidFill>
                  </a:tcPr>
                </a:tc>
                <a:tc>
                  <a:txBody>
                    <a:bodyPr wrap="square"/>
                    <a:lstStyle/>
                    <a:p>
                      <a:r>
                        <a:rPr sz="950" b="0" i="0">
                          <a:solidFill>
                            <a:srgbClr val="14313B"/>
                          </a:solidFill>
                          <a:latin typeface="Calibri (MS)"/>
                        </a:rPr>
                        <a:t>1,25–1,875</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r>
              <a:tr h="347472">
                <a:tc>
                  <a:txBody>
                    <a:bodyPr wrap="square"/>
                    <a:lstStyle/>
                    <a:p>
                      <a:r>
                        <a:rPr sz="950" b="0" i="0">
                          <a:solidFill>
                            <a:srgbClr val="14313B"/>
                          </a:solidFill>
                          <a:latin typeface="Calibri (MS)"/>
                        </a:rPr>
                        <a:t>Laju Keluar Dasar Tenaga Kerja</a:t>
                      </a:r>
                    </a:p>
                  </a:txBody>
                  <a:tcPr marL="73152" marR="73152" marT="36576" marB="36576" anchor="ctr">
                    <a:solidFill>
                      <a:srgbClr val="FFFFFF"/>
                    </a:solidFill>
                  </a:tcPr>
                </a:tc>
                <a:tc>
                  <a:txBody>
                    <a:bodyPr wrap="square"/>
                    <a:lstStyle/>
                    <a:p>
                      <a:r>
                        <a:rPr sz="950" b="0" i="0">
                          <a:solidFill>
                            <a:srgbClr val="14313B"/>
                          </a:solidFill>
                          <a:latin typeface="Calibri (MS)"/>
                        </a:rPr>
                        <a:t>0,05–0,10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r>
              <a:tr h="347472">
                <a:tc>
                  <a:txBody>
                    <a:bodyPr wrap="square"/>
                    <a:lstStyle/>
                    <a:p>
                      <a:r>
                        <a:rPr sz="950" b="0" i="0">
                          <a:solidFill>
                            <a:srgbClr val="14313B"/>
                          </a:solidFill>
                          <a:latin typeface="Calibri (MS)"/>
                        </a:rPr>
                        <a:t>Laju Kenaikan Produktivitas</a:t>
                      </a:r>
                    </a:p>
                  </a:txBody>
                  <a:tcPr marL="73152" marR="73152" marT="36576" marB="36576" anchor="ctr">
                    <a:solidFill>
                      <a:srgbClr val="EAF8FA"/>
                    </a:solidFill>
                  </a:tcPr>
                </a:tc>
                <a:tc>
                  <a:txBody>
                    <a:bodyPr wrap="square"/>
                    <a:lstStyle/>
                    <a:p>
                      <a:r>
                        <a:rPr sz="950" b="0" i="0">
                          <a:solidFill>
                            <a:srgbClr val="14313B"/>
                          </a:solidFill>
                          <a:latin typeface="Calibri (MS)"/>
                        </a:rPr>
                        <a:t>0–0,0154</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c>
                  <a:txBody>
                    <a:bodyPr wrap="square"/>
                    <a:lstStyle/>
                    <a:p>
                      <a:pPr algn="ctr"/>
                      <a:r>
                        <a:rPr sz="950" b="0" i="0">
                          <a:solidFill>
                            <a:srgbClr val="14313B"/>
                          </a:solidFill>
                          <a:latin typeface="Calibri (MS)"/>
                        </a:rPr>
                        <a:t>40,25</a:t>
                      </a:r>
                    </a:p>
                  </a:txBody>
                  <a:tcPr marL="73152" marR="73152" marT="36576" marB="36576" anchor="ctr">
                    <a:solidFill>
                      <a:srgbClr val="FFF1BF"/>
                    </a:solidFill>
                  </a:tcPr>
                </a:tc>
                <a:tc>
                  <a:txBody>
                    <a:bodyPr wrap="square"/>
                    <a:lstStyle/>
                    <a:p>
                      <a:pPr algn="ctr"/>
                      <a:r>
                        <a:rPr sz="950" b="0" i="0">
                          <a:solidFill>
                            <a:srgbClr val="14313B"/>
                          </a:solidFill>
                          <a:latin typeface="Calibri (MS)"/>
                        </a:rPr>
                        <a:t>0,00</a:t>
                      </a:r>
                    </a:p>
                  </a:txBody>
                  <a:tcPr marL="73152" marR="73152" marT="36576" marB="36576" anchor="ctr">
                    <a:solidFill>
                      <a:srgbClr val="EAF8FA"/>
                    </a:solidFill>
                  </a:tcPr>
                </a:tc>
              </a:tr>
              <a:tr h="347472">
                <a:tc>
                  <a:txBody>
                    <a:bodyPr wrap="square"/>
                    <a:lstStyle/>
                    <a:p>
                      <a:r>
                        <a:rPr sz="950" b="0" i="0">
                          <a:solidFill>
                            <a:srgbClr val="14313B"/>
                          </a:solidFill>
                          <a:latin typeface="Calibri (MS)"/>
                        </a:rPr>
                        <a:t>Waktu Penyesuaian Tenaga Kerja</a:t>
                      </a:r>
                    </a:p>
                  </a:txBody>
                  <a:tcPr marL="73152" marR="73152" marT="36576" marB="36576" anchor="ctr">
                    <a:solidFill>
                      <a:srgbClr val="FFFFFF"/>
                    </a:solidFill>
                  </a:tcPr>
                </a:tc>
                <a:tc>
                  <a:txBody>
                    <a:bodyPr wrap="square"/>
                    <a:lstStyle/>
                    <a:p>
                      <a:r>
                        <a:rPr sz="950" b="0" i="0">
                          <a:solidFill>
                            <a:srgbClr val="14313B"/>
                          </a:solidFill>
                          <a:latin typeface="Calibri (MS)"/>
                        </a:rPr>
                        <a:t>2–3 tahun</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c>
                  <a:txBody>
                    <a:bodyPr wrap="square"/>
                    <a:lstStyle/>
                    <a:p>
                      <a:pPr algn="ctr"/>
                      <a:r>
                        <a:rPr sz="950" b="0" i="0">
                          <a:solidFill>
                            <a:srgbClr val="14313B"/>
                          </a:solidFill>
                          <a:latin typeface="Calibri (MS)"/>
                        </a:rPr>
                        <a:t>1,02</a:t>
                      </a:r>
                    </a:p>
                  </a:txBody>
                  <a:tcPr marL="73152" marR="73152" marT="36576" marB="36576" anchor="ctr">
                    <a:solidFill>
                      <a:srgbClr val="EAF8FA"/>
                    </a:solidFill>
                  </a:tcPr>
                </a:tc>
                <a:tc>
                  <a:txBody>
                    <a:bodyPr wrap="square"/>
                    <a:lstStyle/>
                    <a:p>
                      <a:pPr algn="ctr"/>
                      <a:r>
                        <a:rPr sz="950" b="0" i="0">
                          <a:solidFill>
                            <a:srgbClr val="14313B"/>
                          </a:solidFill>
                          <a:latin typeface="Calibri (MS)"/>
                        </a:rPr>
                        <a:t>0,00</a:t>
                      </a:r>
                    </a:p>
                  </a:txBody>
                  <a:tcPr marL="73152" marR="73152" marT="36576" marB="36576" anchor="ctr">
                    <a:solidFill>
                      <a:srgbClr val="FFFFFF"/>
                    </a:solidFill>
                  </a:tcPr>
                </a:tc>
              </a:tr>
            </a:tbl>
          </a:graphicData>
        </a:graphic>
      </p:graphicFrame>
      <p:sp>
        <p:nvSpPr>
          <p:cNvPr id="28" name="TextBox 27"/>
          <p:cNvSpPr txBox="1"/>
          <p:nvPr/>
        </p:nvSpPr>
        <p:spPr>
          <a:xfrm>
            <a:off x="822960" y="822960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Lebar (poin %): biru muda ≥ 1 · kuning ≥ 10 · merah muda ≥ 50. Baris hijau = tuas kebijakan.</a:t>
            </a:r>
          </a:p>
        </p:txBody>
      </p:sp>
      <p:sp>
        <p:nvSpPr>
          <p:cNvPr id="29" name="Rounded Rectangle 28"/>
          <p:cNvSpPr/>
          <p:nvPr/>
        </p:nvSpPr>
        <p:spPr>
          <a:xfrm>
            <a:off x="822960" y="8549640"/>
            <a:ext cx="16642080" cy="6400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Rasio LPD/LPE paling menentukan (lebar 153,57 poin bila LPE tetap; 69,65 bila LPE diturunkan ulang) sekaligus tidak teridentifikasi dari data (Tahap 3 kalibrasi).</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4.7.2 (Tabel 57); hasil_sensitivitas_bagianB_konsisten.xlsx (sheet Lebar Rentang, Hasil Rentang Penuh).</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71 · Rentang Penuh: Sumber Ketidakpastian dan Respons Tuas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Tiga sumber ketidakpastian terbesar dibawa ke uji kekokohan skenario; dua tuas berperilaku sangat berbeda</a:t>
            </a:r>
          </a:p>
        </p:txBody>
      </p:sp>
      <p:sp>
        <p:nvSpPr>
          <p:cNvPr id="27" name="Rounded Rectangle 26"/>
          <p:cNvSpPr/>
          <p:nvPr/>
        </p:nvSpPr>
        <p:spPr>
          <a:xfrm>
            <a:off x="822960" y="1874519"/>
            <a:ext cx="95097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Lebar rentang (poin %): Jumlah Wisatawan dan Lahan Terbangun 2050</a:t>
            </a:r>
          </a:p>
        </p:txBody>
      </p:sp>
      <p:graphicFrame>
        <p:nvGraphicFramePr>
          <p:cNvPr id="28" name="Chart 27"/>
          <p:cNvGraphicFramePr>
            <a:graphicFrameLocks noGrp="1"/>
          </p:cNvGraphicFramePr>
          <p:nvPr/>
        </p:nvGraphicFramePr>
        <p:xfrm>
          <a:off x="822960" y="2377440"/>
          <a:ext cx="9509760" cy="5943600"/>
        </p:xfrm>
        <a:graphic>
          <a:graphicData uri="http://schemas.openxmlformats.org/drawingml/2006/chart">
            <c:chart xmlns:c="http://schemas.openxmlformats.org/drawingml/2006/chart" r:id="rId7"/>
          </a:graphicData>
        </a:graphic>
      </p:graphicFrame>
      <p:sp>
        <p:nvSpPr>
          <p:cNvPr id="29" name="Rounded Rectangle 28"/>
          <p:cNvSpPr/>
          <p:nvPr/>
        </p:nvSpPr>
        <p:spPr>
          <a:xfrm>
            <a:off x="10607040" y="1874519"/>
            <a:ext cx="68580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Respons dua tuas kebijakan (% thd BASE)</a:t>
            </a:r>
          </a:p>
        </p:txBody>
      </p:sp>
      <p:graphicFrame>
        <p:nvGraphicFramePr>
          <p:cNvPr id="30" name="Table 29"/>
          <p:cNvGraphicFramePr>
            <a:graphicFrameLocks noGrp="1"/>
          </p:cNvGraphicFramePr>
          <p:nvPr/>
        </p:nvGraphicFramePr>
        <p:xfrm>
          <a:off x="10607040" y="2377440"/>
          <a:ext cx="6858000" cy="2057400"/>
        </p:xfrm>
        <a:graphic>
          <a:graphicData uri="http://schemas.openxmlformats.org/drawingml/2006/table">
            <a:tbl>
              <a:tblPr firstRow="1" bandRow="1">
                <a:tableStyleId>{5C22544A-7EE6-4342-B048-85BDC9FD1C3A}</a:tableStyleId>
              </a:tblPr>
              <a:tblGrid>
                <a:gridCol w="2194560"/>
                <a:gridCol w="1554480"/>
                <a:gridCol w="1554480"/>
                <a:gridCol w="1554480"/>
              </a:tblGrid>
              <a:tr h="411480">
                <a:tc>
                  <a:txBody>
                    <a:bodyPr wrap="square"/>
                    <a:lstStyle/>
                    <a:p>
                      <a:r>
                        <a:rPr sz="1100" b="1" i="0">
                          <a:solidFill>
                            <a:srgbClr val="FFFFFF"/>
                          </a:solidFill>
                          <a:latin typeface="Calibri (MS) Bold"/>
                        </a:rPr>
                        <a:t>Nilai</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Wisatawan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Lahan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ODTW</a:t>
                      </a:r>
                    </a:p>
                  </a:txBody>
                  <a:tcPr marL="73152" marR="73152" marT="36576" marB="36576" anchor="ctr">
                    <a:solidFill>
                      <a:srgbClr val="0B5E6E"/>
                    </a:solidFill>
                  </a:tcPr>
                </a:tc>
              </a:tr>
              <a:tr h="411480">
                <a:tc>
                  <a:txBody>
                    <a:bodyPr wrap="square"/>
                    <a:lstStyle/>
                    <a:p>
                      <a:r>
                        <a:rPr sz="1100" b="1" i="0">
                          <a:solidFill>
                            <a:srgbClr val="14313B"/>
                          </a:solidFill>
                          <a:latin typeface="Calibri (MS) Bold"/>
                        </a:rPr>
                        <a:t>Insentif 0,1</a:t>
                      </a:r>
                    </a:p>
                  </a:txBody>
                  <a:tcPr marL="73152" marR="73152" marT="36576" marB="36576" anchor="ctr">
                    <a:solidFill>
                      <a:srgbClr val="FFFFFF"/>
                    </a:solidFill>
                  </a:tcPr>
                </a:tc>
                <a:tc>
                  <a:txBody>
                    <a:bodyPr wrap="square"/>
                    <a:lstStyle/>
                    <a:p>
                      <a:pPr algn="ctr"/>
                      <a:r>
                        <a:rPr sz="1100" b="0" i="0">
                          <a:solidFill>
                            <a:srgbClr val="14313B"/>
                          </a:solidFill>
                          <a:latin typeface="Calibri (MS)"/>
                        </a:rPr>
                        <a:t>+2,56%</a:t>
                      </a:r>
                    </a:p>
                  </a:txBody>
                  <a:tcPr marL="73152" marR="73152" marT="36576" marB="36576" anchor="ctr">
                    <a:solidFill>
                      <a:srgbClr val="FFFFFF"/>
                    </a:solidFill>
                  </a:tcPr>
                </a:tc>
                <a:tc>
                  <a:txBody>
                    <a:bodyPr wrap="square"/>
                    <a:lstStyle/>
                    <a:p>
                      <a:pPr algn="ctr"/>
                      <a:r>
                        <a:rPr sz="1100" b="0" i="0">
                          <a:solidFill>
                            <a:srgbClr val="14313B"/>
                          </a:solidFill>
                          <a:latin typeface="Calibri (MS)"/>
                        </a:rPr>
                        <a:t>+0,05%</a:t>
                      </a:r>
                    </a:p>
                  </a:txBody>
                  <a:tcPr marL="73152" marR="73152" marT="36576" marB="36576" anchor="ctr">
                    <a:solidFill>
                      <a:srgbClr val="FFFFFF"/>
                    </a:solidFill>
                  </a:tcPr>
                </a:tc>
                <a:tc>
                  <a:txBody>
                    <a:bodyPr wrap="square"/>
                    <a:lstStyle/>
                    <a:p>
                      <a:pPr algn="ctr"/>
                      <a:r>
                        <a:rPr sz="1100" b="0" i="0">
                          <a:solidFill>
                            <a:srgbClr val="14313B"/>
                          </a:solidFill>
                          <a:latin typeface="Calibri (MS)"/>
                        </a:rPr>
                        <a:t>+7,25%</a:t>
                      </a:r>
                    </a:p>
                  </a:txBody>
                  <a:tcPr marL="73152" marR="73152" marT="36576" marB="36576" anchor="ctr">
                    <a:solidFill>
                      <a:srgbClr val="FFFFFF"/>
                    </a:solidFill>
                  </a:tcPr>
                </a:tc>
              </a:tr>
              <a:tr h="411480">
                <a:tc>
                  <a:txBody>
                    <a:bodyPr wrap="square"/>
                    <a:lstStyle/>
                    <a:p>
                      <a:r>
                        <a:rPr sz="1100" b="1" i="0">
                          <a:solidFill>
                            <a:srgbClr val="14313B"/>
                          </a:solidFill>
                          <a:latin typeface="Calibri (MS) Bold"/>
                        </a:rPr>
                        <a:t>Insentif 0,5</a:t>
                      </a:r>
                    </a:p>
                  </a:txBody>
                  <a:tcPr marL="73152" marR="73152" marT="36576" marB="36576" anchor="ctr">
                    <a:solidFill>
                      <a:srgbClr val="EAF8FA"/>
                    </a:solidFill>
                  </a:tcPr>
                </a:tc>
                <a:tc>
                  <a:txBody>
                    <a:bodyPr wrap="square"/>
                    <a:lstStyle/>
                    <a:p>
                      <a:pPr algn="ctr"/>
                      <a:r>
                        <a:rPr sz="1100" b="0" i="0">
                          <a:solidFill>
                            <a:srgbClr val="14313B"/>
                          </a:solidFill>
                          <a:latin typeface="Calibri (MS)"/>
                        </a:rPr>
                        <a:t>+12,92%</a:t>
                      </a:r>
                    </a:p>
                  </a:txBody>
                  <a:tcPr marL="73152" marR="73152" marT="36576" marB="36576" anchor="ctr">
                    <a:solidFill>
                      <a:srgbClr val="EAF8FA"/>
                    </a:solidFill>
                  </a:tcPr>
                </a:tc>
                <a:tc>
                  <a:txBody>
                    <a:bodyPr wrap="square"/>
                    <a:lstStyle/>
                    <a:p>
                      <a:pPr algn="ctr"/>
                      <a:r>
                        <a:rPr sz="1100" b="0" i="0">
                          <a:solidFill>
                            <a:srgbClr val="14313B"/>
                          </a:solidFill>
                          <a:latin typeface="Calibri (MS)"/>
                        </a:rPr>
                        <a:t>+0,23%</a:t>
                      </a:r>
                    </a:p>
                  </a:txBody>
                  <a:tcPr marL="73152" marR="73152" marT="36576" marB="36576" anchor="ctr">
                    <a:solidFill>
                      <a:srgbClr val="EAF8FA"/>
                    </a:solidFill>
                  </a:tcPr>
                </a:tc>
                <a:tc>
                  <a:txBody>
                    <a:bodyPr wrap="square"/>
                    <a:lstStyle/>
                    <a:p>
                      <a:pPr algn="ctr"/>
                      <a:r>
                        <a:rPr sz="1100" b="0" i="0">
                          <a:solidFill>
                            <a:srgbClr val="14313B"/>
                          </a:solidFill>
                          <a:latin typeface="Calibri (MS)"/>
                        </a:rPr>
                        <a:t>+37,82%</a:t>
                      </a:r>
                    </a:p>
                  </a:txBody>
                  <a:tcPr marL="73152" marR="73152" marT="36576" marB="36576" anchor="ctr">
                    <a:solidFill>
                      <a:srgbClr val="EAF8FA"/>
                    </a:solidFill>
                  </a:tcPr>
                </a:tc>
              </a:tr>
              <a:tr h="411480">
                <a:tc>
                  <a:txBody>
                    <a:bodyPr wrap="square"/>
                    <a:lstStyle/>
                    <a:p>
                      <a:r>
                        <a:rPr sz="1100" b="1" i="0">
                          <a:solidFill>
                            <a:srgbClr val="14313B"/>
                          </a:solidFill>
                          <a:latin typeface="Calibri (MS) Bold"/>
                        </a:rPr>
                        <a:t>Konservasi 0,25</a:t>
                      </a:r>
                    </a:p>
                  </a:txBody>
                  <a:tcPr marL="73152" marR="73152" marT="36576" marB="36576" anchor="ctr">
                    <a:solidFill>
                      <a:srgbClr val="FFFFFF"/>
                    </a:solidFill>
                  </a:tcPr>
                </a:tc>
                <a:tc>
                  <a:txBody>
                    <a:bodyPr wrap="square"/>
                    <a:lstStyle/>
                    <a:p>
                      <a:pPr algn="ctr"/>
                      <a:r>
                        <a:rPr sz="1100" b="0" i="0">
                          <a:solidFill>
                            <a:srgbClr val="14313B"/>
                          </a:solidFill>
                          <a:latin typeface="Calibri (MS)"/>
                        </a:rPr>
                        <a:t>+0,06%</a:t>
                      </a:r>
                    </a:p>
                  </a:txBody>
                  <a:tcPr marL="73152" marR="73152" marT="36576" marB="36576" anchor="ctr">
                    <a:solidFill>
                      <a:srgbClr val="FFFFFF"/>
                    </a:solidFill>
                  </a:tcPr>
                </a:tc>
                <a:tc>
                  <a:txBody>
                    <a:bodyPr wrap="square"/>
                    <a:lstStyle/>
                    <a:p>
                      <a:pPr algn="ctr"/>
                      <a:r>
                        <a:rPr sz="1100" b="0" i="0">
                          <a:solidFill>
                            <a:srgbClr val="14313B"/>
                          </a:solidFill>
                          <a:latin typeface="Calibri (MS)"/>
                        </a:rPr>
                        <a:t>−0,23%</a:t>
                      </a:r>
                    </a:p>
                  </a:txBody>
                  <a:tcPr marL="73152" marR="73152" marT="36576" marB="36576" anchor="ctr">
                    <a:solidFill>
                      <a:srgbClr val="FFFFFF"/>
                    </a:solidFill>
                  </a:tcPr>
                </a:tc>
                <a:tc>
                  <a:txBody>
                    <a:bodyPr wrap="square"/>
                    <a:lstStyle/>
                    <a:p>
                      <a:pPr algn="ctr"/>
                      <a:r>
                        <a:rPr sz="1100" b="0" i="0">
                          <a:solidFill>
                            <a:srgbClr val="14313B"/>
                          </a:solidFill>
                          <a:latin typeface="Calibri (MS)"/>
                        </a:rPr>
                        <a:t>+0,02%</a:t>
                      </a:r>
                    </a:p>
                  </a:txBody>
                  <a:tcPr marL="73152" marR="73152" marT="36576" marB="36576" anchor="ctr">
                    <a:solidFill>
                      <a:srgbClr val="FFFFFF"/>
                    </a:solidFill>
                  </a:tcPr>
                </a:tc>
              </a:tr>
              <a:tr h="411480">
                <a:tc>
                  <a:txBody>
                    <a:bodyPr wrap="square"/>
                    <a:lstStyle/>
                    <a:p>
                      <a:r>
                        <a:rPr sz="1100" b="1" i="0">
                          <a:solidFill>
                            <a:srgbClr val="14313B"/>
                          </a:solidFill>
                          <a:latin typeface="Calibri (MS) Bold"/>
                        </a:rPr>
                        <a:t>Konservasi 1,0</a:t>
                      </a:r>
                    </a:p>
                  </a:txBody>
                  <a:tcPr marL="73152" marR="73152" marT="36576" marB="36576" anchor="ctr">
                    <a:solidFill>
                      <a:srgbClr val="EAF8FA"/>
                    </a:solidFill>
                  </a:tcPr>
                </a:tc>
                <a:tc>
                  <a:txBody>
                    <a:bodyPr wrap="square"/>
                    <a:lstStyle/>
                    <a:p>
                      <a:pPr algn="ctr"/>
                      <a:r>
                        <a:rPr sz="1100" b="0" i="0">
                          <a:solidFill>
                            <a:srgbClr val="14313B"/>
                          </a:solidFill>
                          <a:latin typeface="Calibri (MS)"/>
                        </a:rPr>
                        <a:t>+0,25%</a:t>
                      </a:r>
                    </a:p>
                  </a:txBody>
                  <a:tcPr marL="73152" marR="73152" marT="36576" marB="36576" anchor="ctr">
                    <a:solidFill>
                      <a:srgbClr val="EAF8FA"/>
                    </a:solidFill>
                  </a:tcPr>
                </a:tc>
                <a:tc>
                  <a:txBody>
                    <a:bodyPr wrap="square"/>
                    <a:lstStyle/>
                    <a:p>
                      <a:pPr algn="ctr"/>
                      <a:r>
                        <a:rPr sz="1100" b="0" i="0">
                          <a:solidFill>
                            <a:srgbClr val="14313B"/>
                          </a:solidFill>
                          <a:latin typeface="Calibri (MS)"/>
                        </a:rPr>
                        <a:t>−0,91%</a:t>
                      </a:r>
                    </a:p>
                  </a:txBody>
                  <a:tcPr marL="73152" marR="73152" marT="36576" marB="36576" anchor="ctr">
                    <a:solidFill>
                      <a:srgbClr val="EAF8FA"/>
                    </a:solidFill>
                  </a:tcPr>
                </a:tc>
                <a:tc>
                  <a:txBody>
                    <a:bodyPr wrap="square"/>
                    <a:lstStyle/>
                    <a:p>
                      <a:pPr algn="ctr"/>
                      <a:r>
                        <a:rPr sz="1100" b="0" i="0">
                          <a:solidFill>
                            <a:srgbClr val="14313B"/>
                          </a:solidFill>
                          <a:latin typeface="Calibri (MS)"/>
                        </a:rPr>
                        <a:t>+0,07%</a:t>
                      </a:r>
                    </a:p>
                  </a:txBody>
                  <a:tcPr marL="73152" marR="73152" marT="36576" marB="36576" anchor="ctr">
                    <a:solidFill>
                      <a:srgbClr val="EAF8FA"/>
                    </a:solidFill>
                  </a:tcPr>
                </a:tc>
              </a:tr>
            </a:tbl>
          </a:graphicData>
        </a:graphic>
      </p:graphicFrame>
      <p:sp>
        <p:nvSpPr>
          <p:cNvPr id="31" name="Rounded Rectangle 30"/>
          <p:cNvSpPr/>
          <p:nvPr/>
        </p:nvSpPr>
        <p:spPr>
          <a:xfrm>
            <a:off x="10607040" y="4572000"/>
            <a:ext cx="6858000" cy="3749039"/>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Membaca</a:t>
            </a:r>
          </a:p>
          <a:p>
            <a:pPr algn="l">
              <a:spcAft>
                <a:spcPts val="300"/>
              </a:spcAft>
            </a:pPr>
            <a:r>
              <a:rPr sz="1100" b="1" i="0">
                <a:solidFill>
                  <a:srgbClr val="14313B"/>
                </a:solidFill>
                <a:latin typeface="Calibri (MS) Bold"/>
              </a:rPr>
              <a:t>Insentif:  </a:t>
            </a:r>
            <a:r>
              <a:rPr sz="1100" b="0" i="0">
                <a:solidFill>
                  <a:srgbClr val="14313B"/>
                </a:solidFill>
                <a:latin typeface="Calibri (MS)"/>
              </a:rPr>
              <a:t>respons hampir linear; pengaruh terbesar justru pada ODTW (lebar 30,58 poin).</a:t>
            </a:r>
          </a:p>
          <a:p>
            <a:pPr algn="l">
              <a:spcAft>
                <a:spcPts val="300"/>
              </a:spcAft>
            </a:pPr>
            <a:r>
              <a:rPr sz="1100" b="1" i="0">
                <a:solidFill>
                  <a:srgbClr val="14313B"/>
                </a:solidFill>
                <a:latin typeface="Calibri (MS) Bold"/>
              </a:rPr>
              <a:t>Konservasi:  </a:t>
            </a:r>
            <a:r>
              <a:rPr sz="1100" b="0" i="0">
                <a:solidFill>
                  <a:srgbClr val="14313B"/>
                </a:solidFill>
                <a:latin typeface="Calibri (MS)"/>
              </a:rPr>
              <a:t>bahkan diterapkan penuh hanya menurunkan lahan 0,91%, karena konversi pariwisata hanya ±23 ha/th dari ±2.000 ha/th total konversi.</a:t>
            </a:r>
          </a:p>
          <a:p>
            <a:pPr algn="l">
              <a:spcAft>
                <a:spcPts val="300"/>
              </a:spcAft>
            </a:pPr>
            <a:r>
              <a:rPr sz="1100" b="1" i="0">
                <a:solidFill>
                  <a:srgbClr val="14313B"/>
                </a:solidFill>
                <a:latin typeface="Calibri (MS) Bold"/>
              </a:rPr>
              <a:t>Dibawa ke uji kekokohan:  </a:t>
            </a:r>
            <a:r>
              <a:rPr sz="1100" b="0" i="0">
                <a:solidFill>
                  <a:srgbClr val="14313B"/>
                </a:solidFill>
                <a:latin typeface="Calibri (MS)"/>
              </a:rPr>
              <a:t>rasio LPD/LPE, bobot Daya Tarik, dan Laju Konversi Dasar.</a:t>
            </a:r>
          </a:p>
        </p:txBody>
      </p:sp>
      <p:sp>
        <p:nvSpPr>
          <p:cNvPr id="32" name="TextBox 3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4.7.2; hasil_sensitivitas_bagianB_konsisten.xlsx. Kelompok dengan lebar &lt; 1 poin (wisatawan) dan &lt; 0,5 poin (lahan) tidak ditampilkan di grafik.</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72 · Penetapan Tuas Kebijakan dan Rancangan Skenario</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Tuas harus lolos tiga kriteria sekaligus; skenario disusun sebagai paket kebijakan</a:t>
            </a:r>
          </a:p>
        </p:txBody>
      </p:sp>
      <p:sp>
        <p:nvSpPr>
          <p:cNvPr id="27" name="Rounded Rectangle 26"/>
          <p:cNvSpPr/>
          <p:nvPr/>
        </p:nvSpPr>
        <p:spPr>
          <a:xfrm>
            <a:off x="822960" y="1874519"/>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300" b="1" i="0">
                <a:solidFill>
                  <a:srgbClr val="0B5E6E"/>
                </a:solidFill>
                <a:latin typeface="Calibri (MS) Bold"/>
              </a:rPr>
              <a:t>1 · Relevansi struktural</a:t>
            </a:r>
          </a:p>
          <a:p>
            <a:pPr algn="l">
              <a:spcAft>
                <a:spcPts val="300"/>
              </a:spcAft>
            </a:pPr>
            <a:r>
              <a:rPr sz="1100" b="0" i="0">
                <a:solidFill>
                  <a:srgbClr val="14313B"/>
                </a:solidFill>
                <a:latin typeface="Calibri (MS)"/>
              </a:rPr>
              <a:t>Terbukti memengaruhi perilaku model pada analisis sensitivitas.</a:t>
            </a:r>
          </a:p>
        </p:txBody>
      </p:sp>
      <p:sp>
        <p:nvSpPr>
          <p:cNvPr id="28" name="Rounded Rectangle 27"/>
          <p:cNvSpPr/>
          <p:nvPr/>
        </p:nvSpPr>
        <p:spPr>
          <a:xfrm>
            <a:off x="6446520" y="1874519"/>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300" b="1" i="0">
                <a:solidFill>
                  <a:srgbClr val="0B5E6E"/>
                </a:solidFill>
                <a:latin typeface="Calibri (MS) Bold"/>
              </a:rPr>
              <a:t>2 · Dasar kebijakan</a:t>
            </a:r>
          </a:p>
          <a:p>
            <a:pPr algn="l">
              <a:spcAft>
                <a:spcPts val="300"/>
              </a:spcAft>
            </a:pPr>
            <a:r>
              <a:rPr sz="1100" b="0" i="0">
                <a:solidFill>
                  <a:srgbClr val="14313B"/>
                </a:solidFill>
                <a:latin typeface="Calibri (MS)"/>
              </a:rPr>
              <a:t>Ada peraturan/dokumen perencanaan: Perda DIY 1/2012 (pembukaan lahan bagi investor) dan Perda DIY 6/2021 (larangan alih fungsi lahan pangan).</a:t>
            </a:r>
          </a:p>
        </p:txBody>
      </p:sp>
      <p:sp>
        <p:nvSpPr>
          <p:cNvPr id="29" name="Rounded Rectangle 28"/>
          <p:cNvSpPr/>
          <p:nvPr/>
        </p:nvSpPr>
        <p:spPr>
          <a:xfrm>
            <a:off x="12070080" y="1874519"/>
            <a:ext cx="5394960" cy="1371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300" b="1" i="0">
                <a:solidFill>
                  <a:srgbClr val="0B5E6E"/>
                </a:solidFill>
                <a:latin typeface="Calibri (MS) Bold"/>
              </a:rPr>
              <a:t>3 · Keterkendalian</a:t>
            </a:r>
          </a:p>
          <a:p>
            <a:pPr algn="l">
              <a:spcAft>
                <a:spcPts val="300"/>
              </a:spcAft>
            </a:pPr>
            <a:r>
              <a:rPr sz="1100" b="0" i="0">
                <a:solidFill>
                  <a:srgbClr val="14313B"/>
                </a:solidFill>
                <a:latin typeface="Calibri (MS)"/>
              </a:rPr>
              <a:t>Pemerintah punya instrumennya: perizinan dan insentif fiskal; zonasi dan moratorium izin.</a:t>
            </a:r>
          </a:p>
        </p:txBody>
      </p:sp>
      <p:sp>
        <p:nvSpPr>
          <p:cNvPr id="30" name="TextBox 29"/>
          <p:cNvSpPr txBox="1"/>
          <p:nvPr/>
        </p:nvSpPr>
        <p:spPr>
          <a:xfrm>
            <a:off x="822960" y="3337560"/>
            <a:ext cx="16642080" cy="365760"/>
          </a:xfrm>
          <a:prstGeom prst="rect">
            <a:avLst/>
          </a:prstGeom>
          <a:noFill/>
        </p:spPr>
        <p:txBody>
          <a:bodyPr wrap="square" anchor="t" lIns="0" rIns="0" tIns="0" bIns="0">
            <a:spAutoFit/>
          </a:bodyPr>
          <a:lstStyle/>
          <a:p>
            <a:pPr algn="l">
              <a:spcAft>
                <a:spcPts val="400"/>
              </a:spcAft>
            </a:pPr>
            <a:r>
              <a:rPr sz="1100" b="0" i="1">
                <a:solidFill>
                  <a:srgbClr val="5E6E78"/>
                </a:solidFill>
                <a:latin typeface="Calibri (MS)"/>
              </a:rPr>
              <a:t>Parameter yang hanya memenuhi kriteria 1 (mis. perilaku wisatawan, bobot indeks) tidak dijadikan tuas, tetapi diuji sebagai sumber ketidakpastian pada uji kekokohan.</a:t>
            </a:r>
          </a:p>
        </p:txBody>
      </p:sp>
      <p:graphicFrame>
        <p:nvGraphicFramePr>
          <p:cNvPr id="31" name="Table 30"/>
          <p:cNvGraphicFramePr>
            <a:graphicFrameLocks noGrp="1"/>
          </p:cNvGraphicFramePr>
          <p:nvPr/>
        </p:nvGraphicFramePr>
        <p:xfrm>
          <a:off x="822960" y="3794760"/>
          <a:ext cx="10607038" cy="2267712"/>
        </p:xfrm>
        <a:graphic>
          <a:graphicData uri="http://schemas.openxmlformats.org/drawingml/2006/table">
            <a:tbl>
              <a:tblPr firstRow="1" bandRow="1">
                <a:tableStyleId>{5C22544A-7EE6-4342-B048-85BDC9FD1C3A}</a:tableStyleId>
              </a:tblPr>
              <a:tblGrid>
                <a:gridCol w="2560320"/>
                <a:gridCol w="1463039"/>
                <a:gridCol w="1463039"/>
                <a:gridCol w="5120640"/>
              </a:tblGrid>
              <a:tr h="566928">
                <a:tc>
                  <a:txBody>
                    <a:bodyPr wrap="square"/>
                    <a:lstStyle/>
                    <a:p>
                      <a:r>
                        <a:rPr sz="1100" b="1" i="0">
                          <a:solidFill>
                            <a:srgbClr val="FFFFFF"/>
                          </a:solidFill>
                          <a:latin typeface="Calibri (MS) Bold"/>
                        </a:rPr>
                        <a:t>Skenario</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Insentif Kebijakan</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Konservasi Lahan</a:t>
                      </a:r>
                    </a:p>
                  </a:txBody>
                  <a:tcPr marL="73152" marR="73152" marT="36576" marB="36576" anchor="ctr">
                    <a:solidFill>
                      <a:srgbClr val="0B5E6E"/>
                    </a:solidFill>
                  </a:tcPr>
                </a:tc>
                <a:tc>
                  <a:txBody>
                    <a:bodyPr wrap="square"/>
                    <a:lstStyle/>
                    <a:p>
                      <a:r>
                        <a:rPr sz="1100" b="1" i="0">
                          <a:solidFill>
                            <a:srgbClr val="FFFFFF"/>
                          </a:solidFill>
                          <a:latin typeface="Calibri (MS) Bold"/>
                        </a:rPr>
                        <a:t>Tafsir kebijakan</a:t>
                      </a:r>
                    </a:p>
                  </a:txBody>
                  <a:tcPr marL="73152" marR="73152" marT="36576" marB="36576" anchor="ctr">
                    <a:solidFill>
                      <a:srgbClr val="0B5E6E"/>
                    </a:solidFill>
                  </a:tcPr>
                </a:tc>
              </a:tr>
              <a:tr h="566928">
                <a:tc>
                  <a:txBody>
                    <a:bodyPr wrap="square"/>
                    <a:lstStyle/>
                    <a:p>
                      <a:r>
                        <a:rPr sz="1100" b="1" i="0">
                          <a:solidFill>
                            <a:srgbClr val="14313B"/>
                          </a:solidFill>
                          <a:latin typeface="Calibri (MS) Bold"/>
                        </a:rPr>
                        <a:t>Business-as-Usual (BAU)</a:t>
                      </a:r>
                    </a:p>
                  </a:txBody>
                  <a:tcPr marL="73152" marR="73152" marT="36576" marB="36576" anchor="ctr">
                    <a:solidFill>
                      <a:srgbClr val="FFFFFF"/>
                    </a:solidFill>
                  </a:tcPr>
                </a:tc>
                <a:tc>
                  <a:txBody>
                    <a:bodyPr wrap="square"/>
                    <a:lstStyle/>
                    <a:p>
                      <a:pPr algn="ctr"/>
                      <a:r>
                        <a:rPr sz="1100" b="0" i="0">
                          <a:solidFill>
                            <a:srgbClr val="14313B"/>
                          </a:solidFill>
                          <a:latin typeface="Calibri (MS)"/>
                        </a:rPr>
                        <a:t>0</a:t>
                      </a:r>
                    </a:p>
                  </a:txBody>
                  <a:tcPr marL="73152" marR="73152" marT="36576" marB="36576" anchor="ctr">
                    <a:solidFill>
                      <a:srgbClr val="FFFFFF"/>
                    </a:solidFill>
                  </a:tcPr>
                </a:tc>
                <a:tc>
                  <a:txBody>
                    <a:bodyPr wrap="square"/>
                    <a:lstStyle/>
                    <a:p>
                      <a:pPr algn="ctr"/>
                      <a:r>
                        <a:rPr sz="1100" b="0" i="0">
                          <a:solidFill>
                            <a:srgbClr val="14313B"/>
                          </a:solidFill>
                          <a:latin typeface="Calibri (MS)"/>
                        </a:rPr>
                        <a:t>0</a:t>
                      </a:r>
                    </a:p>
                  </a:txBody>
                  <a:tcPr marL="73152" marR="73152" marT="36576" marB="36576" anchor="ctr">
                    <a:solidFill>
                      <a:srgbClr val="FFFFFF"/>
                    </a:solidFill>
                  </a:tcPr>
                </a:tc>
                <a:tc>
                  <a:txBody>
                    <a:bodyPr wrap="square"/>
                    <a:lstStyle/>
                    <a:p>
                      <a:r>
                        <a:rPr sz="1100" b="0" i="0">
                          <a:solidFill>
                            <a:srgbClr val="14313B"/>
                          </a:solidFill>
                          <a:latin typeface="Calibri (MS)"/>
                        </a:rPr>
                        <a:t>Tanpa insentif tambahan; kebutuhan lahan fasilitas pariwisata dipenuhi lewat konversi seperti pola historis</a:t>
                      </a:r>
                    </a:p>
                  </a:txBody>
                  <a:tcPr marL="73152" marR="73152" marT="36576" marB="36576" anchor="ctr">
                    <a:solidFill>
                      <a:srgbClr val="FFFFFF"/>
                    </a:solidFill>
                  </a:tcPr>
                </a:tc>
              </a:tr>
              <a:tr h="566928">
                <a:tc>
                  <a:txBody>
                    <a:bodyPr wrap="square"/>
                    <a:lstStyle/>
                    <a:p>
                      <a:r>
                        <a:rPr sz="1100" b="1" i="0">
                          <a:solidFill>
                            <a:srgbClr val="14313B"/>
                          </a:solidFill>
                          <a:latin typeface="Calibri (MS) Bold"/>
                        </a:rPr>
                        <a:t>Sustainable</a:t>
                      </a:r>
                    </a:p>
                  </a:txBody>
                  <a:tcPr marL="73152" marR="73152" marT="36576" marB="36576" anchor="ctr">
                    <a:solidFill>
                      <a:srgbClr val="C9F0D6"/>
                    </a:solidFill>
                  </a:tcPr>
                </a:tc>
                <a:tc>
                  <a:txBody>
                    <a:bodyPr wrap="square"/>
                    <a:lstStyle/>
                    <a:p>
                      <a:pPr algn="ctr"/>
                      <a:r>
                        <a:rPr sz="1100" b="0" i="0">
                          <a:solidFill>
                            <a:srgbClr val="14313B"/>
                          </a:solidFill>
                          <a:latin typeface="Calibri (MS)"/>
                        </a:rPr>
                        <a:t>0,1</a:t>
                      </a:r>
                    </a:p>
                  </a:txBody>
                  <a:tcPr marL="73152" marR="73152" marT="36576" marB="36576" anchor="ctr">
                    <a:solidFill>
                      <a:srgbClr val="EAF8FA"/>
                    </a:solidFill>
                  </a:tcPr>
                </a:tc>
                <a:tc>
                  <a:txBody>
                    <a:bodyPr wrap="square"/>
                    <a:lstStyle/>
                    <a:p>
                      <a:pPr algn="ctr"/>
                      <a:r>
                        <a:rPr sz="1100" b="0" i="0">
                          <a:solidFill>
                            <a:srgbClr val="14313B"/>
                          </a:solidFill>
                          <a:latin typeface="Calibri (MS)"/>
                        </a:rPr>
                        <a:t>1,0</a:t>
                      </a:r>
                    </a:p>
                  </a:txBody>
                  <a:tcPr marL="73152" marR="73152" marT="36576" marB="36576" anchor="ctr">
                    <a:solidFill>
                      <a:srgbClr val="EAF8FA"/>
                    </a:solidFill>
                  </a:tcPr>
                </a:tc>
                <a:tc>
                  <a:txBody>
                    <a:bodyPr wrap="square"/>
                    <a:lstStyle/>
                    <a:p>
                      <a:r>
                        <a:rPr sz="1100" b="0" i="0">
                          <a:solidFill>
                            <a:srgbClr val="14313B"/>
                          </a:solidFill>
                          <a:latin typeface="Calibri (MS)"/>
                        </a:rPr>
                        <a:t>Dorongan investasi terbatas; kebutuhan lahan fasilitas pariwisata dipenuhi tanpa konversi tambahan</a:t>
                      </a:r>
                    </a:p>
                  </a:txBody>
                  <a:tcPr marL="73152" marR="73152" marT="36576" marB="36576" anchor="ctr">
                    <a:solidFill>
                      <a:srgbClr val="EAF8FA"/>
                    </a:solidFill>
                  </a:tcPr>
                </a:tc>
              </a:tr>
              <a:tr h="566928">
                <a:tc>
                  <a:txBody>
                    <a:bodyPr wrap="square"/>
                    <a:lstStyle/>
                    <a:p>
                      <a:r>
                        <a:rPr sz="1100" b="1" i="0">
                          <a:solidFill>
                            <a:srgbClr val="14313B"/>
                          </a:solidFill>
                          <a:latin typeface="Calibri (MS) Bold"/>
                        </a:rPr>
                        <a:t>Development Priority (DP)</a:t>
                      </a:r>
                    </a:p>
                  </a:txBody>
                  <a:tcPr marL="73152" marR="73152" marT="36576" marB="36576" anchor="ctr">
                    <a:solidFill>
                      <a:srgbClr val="FFF1BF"/>
                    </a:solidFill>
                  </a:tcPr>
                </a:tc>
                <a:tc>
                  <a:txBody>
                    <a:bodyPr wrap="square"/>
                    <a:lstStyle/>
                    <a:p>
                      <a:pPr algn="ctr"/>
                      <a:r>
                        <a:rPr sz="1100" b="0" i="0">
                          <a:solidFill>
                            <a:srgbClr val="14313B"/>
                          </a:solidFill>
                          <a:latin typeface="Calibri (MS)"/>
                        </a:rPr>
                        <a:t>0,3</a:t>
                      </a:r>
                    </a:p>
                  </a:txBody>
                  <a:tcPr marL="73152" marR="73152" marT="36576" marB="36576" anchor="ctr">
                    <a:solidFill>
                      <a:srgbClr val="FFFFFF"/>
                    </a:solidFill>
                  </a:tcPr>
                </a:tc>
                <a:tc>
                  <a:txBody>
                    <a:bodyPr wrap="square"/>
                    <a:lstStyle/>
                    <a:p>
                      <a:pPr algn="ctr"/>
                      <a:r>
                        <a:rPr sz="1100" b="0" i="0">
                          <a:solidFill>
                            <a:srgbClr val="14313B"/>
                          </a:solidFill>
                          <a:latin typeface="Calibri (MS)"/>
                        </a:rPr>
                        <a:t>0</a:t>
                      </a:r>
                    </a:p>
                  </a:txBody>
                  <a:tcPr marL="73152" marR="73152" marT="36576" marB="36576" anchor="ctr">
                    <a:solidFill>
                      <a:srgbClr val="FFFFFF"/>
                    </a:solidFill>
                  </a:tcPr>
                </a:tc>
                <a:tc>
                  <a:txBody>
                    <a:bodyPr wrap="square"/>
                    <a:lstStyle/>
                    <a:p>
                      <a:r>
                        <a:rPr sz="1100" b="0" i="0">
                          <a:solidFill>
                            <a:srgbClr val="14313B"/>
                          </a:solidFill>
                          <a:latin typeface="Calibri (MS)"/>
                        </a:rPr>
                        <a:t>Ekspansi investasi agresif tanpa pengendalian kebutuhan lahan pariwisata</a:t>
                      </a:r>
                    </a:p>
                  </a:txBody>
                  <a:tcPr marL="73152" marR="73152" marT="36576" marB="36576" anchor="ctr">
                    <a:solidFill>
                      <a:srgbClr val="FFFFFF"/>
                    </a:solidFill>
                  </a:tcPr>
                </a:tc>
              </a:tr>
            </a:tbl>
          </a:graphicData>
        </a:graphic>
      </p:graphicFrame>
      <p:sp>
        <p:nvSpPr>
          <p:cNvPr id="32" name="Rounded Rectangle 31"/>
          <p:cNvSpPr/>
          <p:nvPr/>
        </p:nvSpPr>
        <p:spPr>
          <a:xfrm>
            <a:off x="822960" y="6263640"/>
            <a:ext cx="1060704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Tiga lapis penetapan nilai tuas</a:t>
            </a:r>
          </a:p>
          <a:p>
            <a:pPr algn="l">
              <a:spcAft>
                <a:spcPts val="300"/>
              </a:spcAft>
            </a:pPr>
            <a:r>
              <a:rPr sz="1050" b="1" i="0">
                <a:solidFill>
                  <a:srgbClr val="14313B"/>
                </a:solidFill>
                <a:latin typeface="Calibri (MS) Bold"/>
              </a:rPr>
              <a:t>Ada instrumennya?  </a:t>
            </a:r>
            <a:r>
              <a:rPr sz="1050" b="0" i="0">
                <a:solidFill>
                  <a:srgbClr val="14313B"/>
                </a:solidFill>
                <a:latin typeface="Calibri (MS)"/>
              </a:rPr>
              <a:t>dijawab peraturan dan dokumen perencanaan.</a:t>
            </a:r>
          </a:p>
          <a:p>
            <a:pPr algn="l">
              <a:spcAft>
                <a:spcPts val="300"/>
              </a:spcAft>
            </a:pPr>
            <a:r>
              <a:rPr sz="1050" b="1" i="0">
                <a:solidFill>
                  <a:srgbClr val="14313B"/>
                </a:solidFill>
                <a:latin typeface="Calibri (MS) Bold"/>
              </a:rPr>
              <a:t>Besarannya wajar?  </a:t>
            </a:r>
            <a:r>
              <a:rPr sz="1050" b="0" i="0">
                <a:solidFill>
                  <a:srgbClr val="14313B"/>
                </a:solidFill>
                <a:latin typeface="Calibri (MS)"/>
              </a:rPr>
              <a:t>dijawab variabilitas historis besaran tersebut.</a:t>
            </a:r>
          </a:p>
          <a:p>
            <a:pPr algn="l">
              <a:spcAft>
                <a:spcPts val="300"/>
              </a:spcAft>
            </a:pPr>
            <a:r>
              <a:rPr sz="1050" b="1" i="0">
                <a:solidFill>
                  <a:srgbClr val="14313B"/>
                </a:solidFill>
                <a:latin typeface="Calibri (MS) Bold"/>
              </a:rPr>
              <a:t>Intensitas antarskenario beda?  </a:t>
            </a:r>
            <a:r>
              <a:rPr sz="1050" b="0" i="0">
                <a:solidFill>
                  <a:srgbClr val="14313B"/>
                </a:solidFill>
                <a:latin typeface="Calibri (MS)"/>
              </a:rPr>
              <a:t>dijawab bentuk respons model pada analisis sensitivitas.</a:t>
            </a:r>
          </a:p>
          <a:p>
            <a:pPr algn="l">
              <a:spcAft>
                <a:spcPts val="300"/>
              </a:spcAft>
            </a:pPr>
            <a:r>
              <a:rPr sz="1100" b="1" i="0">
                <a:solidFill>
                  <a:srgbClr val="E4604F"/>
                </a:solidFill>
                <a:latin typeface="Calibri (MS) Bold"/>
              </a:rPr>
              <a:t>Nilai 0,1; 0,3; 1,0 adalah ketetapan peneliti, bukan target resmi pemerintah.</a:t>
            </a:r>
          </a:p>
        </p:txBody>
      </p:sp>
      <p:sp>
        <p:nvSpPr>
          <p:cNvPr id="33" name="Rounded Rectangle 32"/>
          <p:cNvSpPr/>
          <p:nvPr/>
        </p:nvSpPr>
        <p:spPr>
          <a:xfrm>
            <a:off x="11704320" y="3794760"/>
            <a:ext cx="57607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Rumus tuas dalam model</a:t>
            </a:r>
          </a:p>
        </p:txBody>
      </p:sp>
      <p:sp>
        <p:nvSpPr>
          <p:cNvPr id="34" name="Rounded Rectangle 33"/>
          <p:cNvSpPr/>
          <p:nvPr/>
        </p:nvSpPr>
        <p:spPr>
          <a:xfrm>
            <a:off x="11704320" y="4297680"/>
            <a:ext cx="5760720" cy="17373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Investasi = PDRB × r_I × (1 + Insentif)</a:t>
            </a:r>
          </a:p>
          <a:p>
            <a:pPr algn="l">
              <a:spcAft>
                <a:spcPts val="300"/>
              </a:spcAft>
            </a:pPr>
            <a:r>
              <a:rPr sz="1150" b="0" i="1">
                <a:solidFill>
                  <a:srgbClr val="14313B"/>
                </a:solidFill>
                <a:latin typeface="Calibri (MS)"/>
              </a:rPr>
              <a:t>Konversi pariwisata = (Konstr.·a_H + Pemb.ODTW·a_O) × (1 − Konservasi) × RDDL ÷ RDDL_ref</a:t>
            </a:r>
          </a:p>
        </p:txBody>
      </p:sp>
      <p:sp>
        <p:nvSpPr>
          <p:cNvPr id="35" name="Rounded Rectangle 34"/>
          <p:cNvSpPr/>
          <p:nvPr/>
        </p:nvSpPr>
        <p:spPr>
          <a:xfrm>
            <a:off x="11704320" y="6263640"/>
            <a:ext cx="57607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Dekomposisi (analisis pendukung)</a:t>
            </a:r>
          </a:p>
        </p:txBody>
      </p:sp>
      <p:sp>
        <p:nvSpPr>
          <p:cNvPr id="36" name="Rounded Rectangle 35"/>
          <p:cNvSpPr/>
          <p:nvPr/>
        </p:nvSpPr>
        <p:spPr>
          <a:xfrm>
            <a:off x="11704320" y="6766560"/>
            <a:ext cx="5760720" cy="15544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50" b="0" i="1">
                <a:solidFill>
                  <a:srgbClr val="14313B"/>
                </a:solidFill>
                <a:latin typeface="Calibri (MS)"/>
              </a:rPr>
              <a:t>Kontribusi tuas = Keluaran_D − Keluaran_BAU</a:t>
            </a:r>
          </a:p>
          <a:p>
            <a:pPr algn="l">
              <a:spcAft>
                <a:spcPts val="300"/>
              </a:spcAft>
            </a:pPr>
            <a:r>
              <a:rPr sz="1150" b="0" i="1">
                <a:solidFill>
                  <a:srgbClr val="14313B"/>
                </a:solidFill>
                <a:latin typeface="Calibri (MS)"/>
              </a:rPr>
              <a:t>Interaksi = Selisih paket − (Kontr. Insentif + Kontr. Konservasi)</a:t>
            </a:r>
          </a:p>
        </p:txBody>
      </p:sp>
      <p:sp>
        <p:nvSpPr>
          <p:cNvPr id="37" name="TextBox 3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3.8.1–3.8.2 dan 4.8.1 (Tabel 58).</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73 · Indikator Kinerja dan Aturan Pelaporan Skenario</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Sepuluh indikator dalam tiga dimensi keberlanjutan (triple bottom line) ditambah satu indikator skala</a:t>
            </a:r>
          </a:p>
        </p:txBody>
      </p:sp>
      <p:graphicFrame>
        <p:nvGraphicFramePr>
          <p:cNvPr id="27" name="Table 26"/>
          <p:cNvGraphicFramePr>
            <a:graphicFrameLocks noGrp="1"/>
          </p:cNvGraphicFramePr>
          <p:nvPr/>
        </p:nvGraphicFramePr>
        <p:xfrm>
          <a:off x="822960" y="1874519"/>
          <a:ext cx="9692640" cy="5029200"/>
        </p:xfrm>
        <a:graphic>
          <a:graphicData uri="http://schemas.openxmlformats.org/drawingml/2006/table">
            <a:tbl>
              <a:tblPr firstRow="1" bandRow="1">
                <a:tableStyleId>{5C22544A-7EE6-4342-B048-85BDC9FD1C3A}</a:tableStyleId>
              </a:tblPr>
              <a:tblGrid>
                <a:gridCol w="1463040"/>
                <a:gridCol w="3108960"/>
                <a:gridCol w="3108960"/>
                <a:gridCol w="1097280"/>
                <a:gridCol w="914400"/>
              </a:tblGrid>
              <a:tr h="457200">
                <a:tc>
                  <a:txBody>
                    <a:bodyPr wrap="square"/>
                    <a:lstStyle/>
                    <a:p>
                      <a:r>
                        <a:rPr sz="1050" b="1" i="0">
                          <a:solidFill>
                            <a:srgbClr val="FFFFFF"/>
                          </a:solidFill>
                          <a:latin typeface="Calibri (MS) Bold"/>
                        </a:rPr>
                        <a:t>Dimensi</a:t>
                      </a:r>
                    </a:p>
                  </a:txBody>
                  <a:tcPr marL="73152" marR="73152" marT="36576" marB="36576" anchor="ctr">
                    <a:solidFill>
                      <a:srgbClr val="0B5E6E"/>
                    </a:solidFill>
                  </a:tcPr>
                </a:tc>
                <a:tc>
                  <a:txBody>
                    <a:bodyPr wrap="square"/>
                    <a:lstStyle/>
                    <a:p>
                      <a:r>
                        <a:rPr sz="1050" b="1" i="0">
                          <a:solidFill>
                            <a:srgbClr val="FFFFFF"/>
                          </a:solidFill>
                          <a:latin typeface="Calibri (MS) Bold"/>
                        </a:rPr>
                        <a:t>Indikator</a:t>
                      </a:r>
                    </a:p>
                  </a:txBody>
                  <a:tcPr marL="73152" marR="73152" marT="36576" marB="36576" anchor="ctr">
                    <a:solidFill>
                      <a:srgbClr val="0B5E6E"/>
                    </a:solidFill>
                  </a:tcPr>
                </a:tc>
                <a:tc>
                  <a:txBody>
                    <a:bodyPr wrap="square"/>
                    <a:lstStyle/>
                    <a:p>
                      <a:r>
                        <a:rPr sz="1050" b="1" i="0">
                          <a:solidFill>
                            <a:srgbClr val="FFFFFF"/>
                          </a:solidFill>
                          <a:latin typeface="Calibri (MS) Bold"/>
                        </a:rPr>
                        <a:t>Variabel model</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Arah</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Ambang</a:t>
                      </a:r>
                    </a:p>
                  </a:txBody>
                  <a:tcPr marL="73152" marR="73152" marT="36576" marB="36576" anchor="ctr">
                    <a:solidFill>
                      <a:srgbClr val="0B5E6E"/>
                    </a:solidFill>
                  </a:tcPr>
                </a:tc>
              </a:tr>
              <a:tr h="457200">
                <a:tc>
                  <a:txBody>
                    <a:bodyPr wrap="square"/>
                    <a:lstStyle/>
                    <a:p>
                      <a:r>
                        <a:rPr sz="1050" b="1" i="0">
                          <a:solidFill>
                            <a:srgbClr val="14313B"/>
                          </a:solidFill>
                          <a:latin typeface="Calibri (MS) Bold"/>
                        </a:rPr>
                        <a:t>Ekonomi</a:t>
                      </a:r>
                    </a:p>
                  </a:txBody>
                  <a:tcPr marL="73152" marR="73152" marT="36576" marB="36576" anchor="ctr">
                    <a:solidFill>
                      <a:srgbClr val="FFFFFF"/>
                    </a:solidFill>
                  </a:tcPr>
                </a:tc>
                <a:tc>
                  <a:txBody>
                    <a:bodyPr wrap="square"/>
                    <a:lstStyle/>
                    <a:p>
                      <a:r>
                        <a:rPr sz="1050" b="0" i="0">
                          <a:solidFill>
                            <a:srgbClr val="14313B"/>
                          </a:solidFill>
                          <a:latin typeface="Calibri (MS)"/>
                        </a:rPr>
                        <a:t>Lapangan kerja pariwisata</a:t>
                      </a:r>
                    </a:p>
                  </a:txBody>
                  <a:tcPr marL="73152" marR="73152" marT="36576" marB="36576" anchor="ctr">
                    <a:solidFill>
                      <a:srgbClr val="FFFFFF"/>
                    </a:solidFill>
                  </a:tcPr>
                </a:tc>
                <a:tc>
                  <a:txBody>
                    <a:bodyPr wrap="square"/>
                    <a:lstStyle/>
                    <a:p>
                      <a:r>
                        <a:rPr sz="1050" b="0" i="0">
                          <a:solidFill>
                            <a:srgbClr val="14313B"/>
                          </a:solidFill>
                          <a:latin typeface="Calibri (MS)"/>
                        </a:rPr>
                        <a:t>Tenaga Kerja Pariwisata</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Maksimum</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57200">
                <a:tc>
                  <a:txBody>
                    <a:bodyPr wrap="square"/>
                    <a:lstStyle/>
                    <a:p>
                      <a:r>
                        <a:rPr sz="1050" b="1" i="0">
                          <a:solidFill>
                            <a:srgbClr val="14313B"/>
                          </a:solidFill>
                          <a:latin typeface="Calibri (MS) Bold"/>
                        </a:rPr>
                        <a:t/>
                      </a:r>
                    </a:p>
                  </a:txBody>
                  <a:tcPr marL="73152" marR="73152" marT="36576" marB="36576" anchor="ctr">
                    <a:solidFill>
                      <a:srgbClr val="EAF8FA"/>
                    </a:solidFill>
                  </a:tcPr>
                </a:tc>
                <a:tc>
                  <a:txBody>
                    <a:bodyPr wrap="square"/>
                    <a:lstStyle/>
                    <a:p>
                      <a:r>
                        <a:rPr sz="1050" b="0" i="0">
                          <a:solidFill>
                            <a:srgbClr val="14313B"/>
                          </a:solidFill>
                          <a:latin typeface="Calibri (MS)"/>
                        </a:rPr>
                        <a:t>Nilai tambah pariwisata</a:t>
                      </a:r>
                    </a:p>
                  </a:txBody>
                  <a:tcPr marL="73152" marR="73152" marT="36576" marB="36576" anchor="ctr">
                    <a:solidFill>
                      <a:srgbClr val="EAF8FA"/>
                    </a:solidFill>
                  </a:tcPr>
                </a:tc>
                <a:tc>
                  <a:txBody>
                    <a:bodyPr wrap="square"/>
                    <a:lstStyle/>
                    <a:p>
                      <a:r>
                        <a:rPr sz="1050" b="0" i="0">
                          <a:solidFill>
                            <a:srgbClr val="14313B"/>
                          </a:solidFill>
                          <a:latin typeface="Calibri (MS)"/>
                        </a:rPr>
                        <a:t>PDRB Sektor Pariwisata</a:t>
                      </a:r>
                    </a:p>
                  </a:txBody>
                  <a:tcPr marL="73152" marR="73152" marT="36576" marB="36576" anchor="ctr">
                    <a:solidFill>
                      <a:srgbClr val="EAF8FA"/>
                    </a:solidFill>
                  </a:tcPr>
                </a:tc>
                <a:tc>
                  <a:txBody>
                    <a:bodyPr wrap="square"/>
                    <a:lstStyle/>
                    <a:p>
                      <a:pPr algn="ctr"/>
                      <a:r>
                        <a:rPr sz="1050" b="0" i="0">
                          <a:solidFill>
                            <a:srgbClr val="14313B"/>
                          </a:solidFill>
                          <a:latin typeface="Calibri (MS)"/>
                        </a:rPr>
                        <a:t>Maksimum</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r h="457200">
                <a:tc>
                  <a:txBody>
                    <a:bodyPr wrap="square"/>
                    <a:lstStyle/>
                    <a:p>
                      <a:r>
                        <a:rPr sz="1050" b="1" i="0">
                          <a:solidFill>
                            <a:srgbClr val="14313B"/>
                          </a:solidFill>
                          <a:latin typeface="Calibri (MS) Bold"/>
                        </a:rPr>
                        <a:t/>
                      </a:r>
                    </a:p>
                  </a:txBody>
                  <a:tcPr marL="73152" marR="73152" marT="36576" marB="36576" anchor="ctr">
                    <a:solidFill>
                      <a:srgbClr val="FFFFFF"/>
                    </a:solidFill>
                  </a:tcPr>
                </a:tc>
                <a:tc>
                  <a:txBody>
                    <a:bodyPr wrap="square"/>
                    <a:lstStyle/>
                    <a:p>
                      <a:r>
                        <a:rPr sz="1050" b="0" i="0">
                          <a:solidFill>
                            <a:srgbClr val="14313B"/>
                          </a:solidFill>
                          <a:latin typeface="Calibri (MS)"/>
                        </a:rPr>
                        <a:t>Investasi kumulatif</a:t>
                      </a:r>
                    </a:p>
                  </a:txBody>
                  <a:tcPr marL="73152" marR="73152" marT="36576" marB="36576" anchor="ctr">
                    <a:solidFill>
                      <a:srgbClr val="FFFFFF"/>
                    </a:solidFill>
                  </a:tcPr>
                </a:tc>
                <a:tc>
                  <a:txBody>
                    <a:bodyPr wrap="square"/>
                    <a:lstStyle/>
                    <a:p>
                      <a:r>
                        <a:rPr sz="1050" b="0" i="0">
                          <a:solidFill>
                            <a:srgbClr val="14313B"/>
                          </a:solidFill>
                          <a:latin typeface="Calibri (MS)"/>
                        </a:rPr>
                        <a:t>Akumulasi Investasi</a:t>
                      </a:r>
                    </a:p>
                  </a:txBody>
                  <a:tcPr marL="73152" marR="73152" marT="36576" marB="36576" anchor="ctr">
                    <a:solidFill>
                      <a:srgbClr val="FFFFFF"/>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57200">
                <a:tc>
                  <a:txBody>
                    <a:bodyPr wrap="square"/>
                    <a:lstStyle/>
                    <a:p>
                      <a:r>
                        <a:rPr sz="1050" b="1" i="0">
                          <a:solidFill>
                            <a:srgbClr val="14313B"/>
                          </a:solidFill>
                          <a:latin typeface="Calibri (MS) Bold"/>
                        </a:rPr>
                        <a:t/>
                      </a:r>
                    </a:p>
                  </a:txBody>
                  <a:tcPr marL="73152" marR="73152" marT="36576" marB="36576" anchor="ctr">
                    <a:solidFill>
                      <a:srgbClr val="EAF8FA"/>
                    </a:solidFill>
                  </a:tcPr>
                </a:tc>
                <a:tc>
                  <a:txBody>
                    <a:bodyPr wrap="square"/>
                    <a:lstStyle/>
                    <a:p>
                      <a:r>
                        <a:rPr sz="1050" b="0" i="0">
                          <a:solidFill>
                            <a:srgbClr val="14313B"/>
                          </a:solidFill>
                          <a:latin typeface="Calibri (MS)"/>
                        </a:rPr>
                        <a:t>Okupansi akomodasi</a:t>
                      </a:r>
                    </a:p>
                  </a:txBody>
                  <a:tcPr marL="73152" marR="73152" marT="36576" marB="36576" anchor="ctr">
                    <a:solidFill>
                      <a:srgbClr val="EAF8FA"/>
                    </a:solidFill>
                  </a:tcPr>
                </a:tc>
                <a:tc>
                  <a:txBody>
                    <a:bodyPr wrap="square"/>
                    <a:lstStyle/>
                    <a:p>
                      <a:r>
                        <a:rPr sz="1050" b="0" i="0">
                          <a:solidFill>
                            <a:srgbClr val="14313B"/>
                          </a:solidFill>
                          <a:latin typeface="Calibri (MS)"/>
                        </a:rPr>
                        <a:t>TPK</a:t>
                      </a:r>
                    </a:p>
                  </a:txBody>
                  <a:tcPr marL="73152" marR="73152" marT="36576" marB="36576" anchor="ctr">
                    <a:solidFill>
                      <a:srgbClr val="EAF8FA"/>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r h="457200">
                <a:tc>
                  <a:txBody>
                    <a:bodyPr wrap="square"/>
                    <a:lstStyle/>
                    <a:p>
                      <a:r>
                        <a:rPr sz="1050" b="1" i="0">
                          <a:solidFill>
                            <a:srgbClr val="14313B"/>
                          </a:solidFill>
                          <a:latin typeface="Calibri (MS) Bold"/>
                        </a:rPr>
                        <a:t>Lingkungan</a:t>
                      </a:r>
                    </a:p>
                  </a:txBody>
                  <a:tcPr marL="73152" marR="73152" marT="36576" marB="36576" anchor="ctr">
                    <a:solidFill>
                      <a:srgbClr val="FFFFFF"/>
                    </a:solidFill>
                  </a:tcPr>
                </a:tc>
                <a:tc>
                  <a:txBody>
                    <a:bodyPr wrap="square"/>
                    <a:lstStyle/>
                    <a:p>
                      <a:r>
                        <a:rPr sz="1050" b="0" i="0">
                          <a:solidFill>
                            <a:srgbClr val="14313B"/>
                          </a:solidFill>
                          <a:latin typeface="Calibri (MS)"/>
                        </a:rPr>
                        <a:t>Lahan tersedia untuk konservasi</a:t>
                      </a:r>
                    </a:p>
                  </a:txBody>
                  <a:tcPr marL="73152" marR="73152" marT="36576" marB="36576" anchor="ctr">
                    <a:solidFill>
                      <a:srgbClr val="FFFFFF"/>
                    </a:solidFill>
                  </a:tcPr>
                </a:tc>
                <a:tc>
                  <a:txBody>
                    <a:bodyPr wrap="square"/>
                    <a:lstStyle/>
                    <a:p>
                      <a:r>
                        <a:rPr sz="1050" b="0" i="0">
                          <a:solidFill>
                            <a:srgbClr val="14313B"/>
                          </a:solidFill>
                          <a:latin typeface="Calibri (MS)"/>
                        </a:rPr>
                        <a:t>Rasio Daya Dukung Lahan</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Maksimum</a:t>
                      </a:r>
                    </a:p>
                  </a:txBody>
                  <a:tcPr marL="73152" marR="73152" marT="36576" marB="36576" anchor="ctr">
                    <a:solidFill>
                      <a:srgbClr val="FFFFFF"/>
                    </a:solidFill>
                  </a:tcPr>
                </a:tc>
                <a:tc>
                  <a:txBody>
                    <a:bodyPr wrap="square"/>
                    <a:lstStyle/>
                    <a:p>
                      <a:pPr algn="ctr"/>
                      <a:r>
                        <a:rPr sz="1050" b="0" i="0">
                          <a:solidFill>
                            <a:srgbClr val="14313B"/>
                          </a:solidFill>
                          <a:latin typeface="Calibri (MS)"/>
                        </a:rPr>
                        <a:t>&gt; 0,331</a:t>
                      </a:r>
                    </a:p>
                  </a:txBody>
                  <a:tcPr marL="73152" marR="73152" marT="36576" marB="36576" anchor="ctr">
                    <a:solidFill>
                      <a:srgbClr val="FFF1BF"/>
                    </a:solidFill>
                  </a:tcPr>
                </a:tc>
              </a:tr>
              <a:tr h="457200">
                <a:tc>
                  <a:txBody>
                    <a:bodyPr wrap="square"/>
                    <a:lstStyle/>
                    <a:p>
                      <a:r>
                        <a:rPr sz="1050" b="1" i="0">
                          <a:solidFill>
                            <a:srgbClr val="14313B"/>
                          </a:solidFill>
                          <a:latin typeface="Calibri (MS) Bold"/>
                        </a:rPr>
                        <a:t/>
                      </a:r>
                    </a:p>
                  </a:txBody>
                  <a:tcPr marL="73152" marR="73152" marT="36576" marB="36576" anchor="ctr">
                    <a:solidFill>
                      <a:srgbClr val="EAF8FA"/>
                    </a:solidFill>
                  </a:tcPr>
                </a:tc>
                <a:tc>
                  <a:txBody>
                    <a:bodyPr wrap="square"/>
                    <a:lstStyle/>
                    <a:p>
                      <a:r>
                        <a:rPr sz="1050" b="0" i="0">
                          <a:solidFill>
                            <a:srgbClr val="14313B"/>
                          </a:solidFill>
                          <a:latin typeface="Calibri (MS)"/>
                        </a:rPr>
                        <a:t>Luas lahan terbangun</a:t>
                      </a:r>
                    </a:p>
                  </a:txBody>
                  <a:tcPr marL="73152" marR="73152" marT="36576" marB="36576" anchor="ctr">
                    <a:solidFill>
                      <a:srgbClr val="EAF8FA"/>
                    </a:solidFill>
                  </a:tcPr>
                </a:tc>
                <a:tc>
                  <a:txBody>
                    <a:bodyPr wrap="square"/>
                    <a:lstStyle/>
                    <a:p>
                      <a:r>
                        <a:rPr sz="1050" b="0" i="0">
                          <a:solidFill>
                            <a:srgbClr val="14313B"/>
                          </a:solidFill>
                          <a:latin typeface="Calibri (MS)"/>
                        </a:rPr>
                        <a:t>Lahan Terbangun</a:t>
                      </a:r>
                    </a:p>
                  </a:txBody>
                  <a:tcPr marL="73152" marR="73152" marT="36576" marB="36576" anchor="ctr">
                    <a:solidFill>
                      <a:srgbClr val="EAF8FA"/>
                    </a:solidFill>
                  </a:tcPr>
                </a:tc>
                <a:tc>
                  <a:txBody>
                    <a:bodyPr wrap="square"/>
                    <a:lstStyle/>
                    <a:p>
                      <a:pPr algn="ctr"/>
                      <a:r>
                        <a:rPr sz="1050" b="0" i="0">
                          <a:solidFill>
                            <a:srgbClr val="14313B"/>
                          </a:solidFill>
                          <a:latin typeface="Calibri (MS)"/>
                        </a:rPr>
                        <a:t>Minimum</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r h="457200">
                <a:tc>
                  <a:txBody>
                    <a:bodyPr wrap="square"/>
                    <a:lstStyle/>
                    <a:p>
                      <a:r>
                        <a:rPr sz="1050" b="1" i="0">
                          <a:solidFill>
                            <a:srgbClr val="14313B"/>
                          </a:solidFill>
                          <a:latin typeface="Calibri (MS) Bold"/>
                        </a:rPr>
                        <a:t/>
                      </a:r>
                    </a:p>
                  </a:txBody>
                  <a:tcPr marL="73152" marR="73152" marT="36576" marB="36576" anchor="ctr">
                    <a:solidFill>
                      <a:srgbClr val="FFFFFF"/>
                    </a:solidFill>
                  </a:tcPr>
                </a:tc>
                <a:tc>
                  <a:txBody>
                    <a:bodyPr wrap="square"/>
                    <a:lstStyle/>
                    <a:p>
                      <a:r>
                        <a:rPr sz="1050" b="0" i="0">
                          <a:solidFill>
                            <a:srgbClr val="14313B"/>
                          </a:solidFill>
                          <a:latin typeface="Calibri (MS)"/>
                        </a:rPr>
                        <a:t>Konversi lahan pariwisata kumulatif</a:t>
                      </a:r>
                    </a:p>
                  </a:txBody>
                  <a:tcPr marL="73152" marR="73152" marT="36576" marB="36576" anchor="ctr">
                    <a:solidFill>
                      <a:srgbClr val="FFFFFF"/>
                    </a:solidFill>
                  </a:tcPr>
                </a:tc>
                <a:tc>
                  <a:txBody>
                    <a:bodyPr wrap="square"/>
                    <a:lstStyle/>
                    <a:p>
                      <a:r>
                        <a:rPr sz="1050" b="0" i="0">
                          <a:solidFill>
                            <a:srgbClr val="14313B"/>
                          </a:solidFill>
                          <a:latin typeface="Calibri (MS)"/>
                        </a:rPr>
                        <a:t>Akumulasi Konversi Pariwisata</a:t>
                      </a:r>
                    </a:p>
                  </a:txBody>
                  <a:tcPr marL="73152" marR="73152" marT="36576" marB="36576" anchor="ctr">
                    <a:solidFill>
                      <a:srgbClr val="FFFFFF"/>
                    </a:solidFill>
                  </a:tcPr>
                </a:tc>
                <a:tc>
                  <a:txBody>
                    <a:bodyPr wrap="square"/>
                    <a:lstStyle/>
                    <a:p>
                      <a:pPr algn="ctr"/>
                      <a:r>
                        <a:rPr sz="1050" b="0" i="0">
                          <a:solidFill>
                            <a:srgbClr val="14313B"/>
                          </a:solidFill>
                          <a:latin typeface="Calibri (MS)"/>
                        </a:rPr>
                        <a:t>Minimum</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57200">
                <a:tc>
                  <a:txBody>
                    <a:bodyPr wrap="square"/>
                    <a:lstStyle/>
                    <a:p>
                      <a:r>
                        <a:rPr sz="1050" b="1" i="0">
                          <a:solidFill>
                            <a:srgbClr val="14313B"/>
                          </a:solidFill>
                          <a:latin typeface="Calibri (MS) Bold"/>
                        </a:rPr>
                        <a:t>Sosial</a:t>
                      </a:r>
                    </a:p>
                  </a:txBody>
                  <a:tcPr marL="73152" marR="73152" marT="36576" marB="36576" anchor="ctr">
                    <a:solidFill>
                      <a:srgbClr val="EAF8FA"/>
                    </a:solidFill>
                  </a:tcPr>
                </a:tc>
                <a:tc>
                  <a:txBody>
                    <a:bodyPr wrap="square"/>
                    <a:lstStyle/>
                    <a:p>
                      <a:r>
                        <a:rPr sz="1050" b="0" i="0">
                          <a:solidFill>
                            <a:srgbClr val="14313B"/>
                          </a:solidFill>
                          <a:latin typeface="Calibri (MS)"/>
                        </a:rPr>
                        <a:t>Indeks kepadatan</a:t>
                      </a:r>
                    </a:p>
                  </a:txBody>
                  <a:tcPr marL="73152" marR="73152" marT="36576" marB="36576" anchor="ctr">
                    <a:solidFill>
                      <a:srgbClr val="EAF8FA"/>
                    </a:solidFill>
                  </a:tcPr>
                </a:tc>
                <a:tc>
                  <a:txBody>
                    <a:bodyPr wrap="square"/>
                    <a:lstStyle/>
                    <a:p>
                      <a:r>
                        <a:rPr sz="1050" b="0" i="0">
                          <a:solidFill>
                            <a:srgbClr val="14313B"/>
                          </a:solidFill>
                          <a:latin typeface="Calibri (MS)"/>
                        </a:rPr>
                        <a:t>Kepadatan ÷ Kepadatan Referensi</a:t>
                      </a:r>
                    </a:p>
                  </a:txBody>
                  <a:tcPr marL="73152" marR="73152" marT="36576" marB="36576" anchor="ctr">
                    <a:solidFill>
                      <a:srgbClr val="EAF8FA"/>
                    </a:solidFill>
                  </a:tcPr>
                </a:tc>
                <a:tc>
                  <a:txBody>
                    <a:bodyPr wrap="square"/>
                    <a:lstStyle/>
                    <a:p>
                      <a:pPr algn="ctr"/>
                      <a:r>
                        <a:rPr sz="1050" b="0" i="0">
                          <a:solidFill>
                            <a:srgbClr val="14313B"/>
                          </a:solidFill>
                          <a:latin typeface="Calibri (MS)"/>
                        </a:rPr>
                        <a:t>Minimum</a:t>
                      </a:r>
                    </a:p>
                  </a:txBody>
                  <a:tcPr marL="73152" marR="73152" marT="36576" marB="36576" anchor="ctr">
                    <a:solidFill>
                      <a:srgbClr val="EAF8FA"/>
                    </a:solidFill>
                  </a:tcPr>
                </a:tc>
                <a:tc>
                  <a:txBody>
                    <a:bodyPr wrap="square"/>
                    <a:lstStyle/>
                    <a:p>
                      <a:pPr algn="ctr"/>
                      <a:r>
                        <a:rPr sz="1050" b="0" i="0">
                          <a:solidFill>
                            <a:srgbClr val="14313B"/>
                          </a:solidFill>
                          <a:latin typeface="Calibri (MS)"/>
                        </a:rPr>
                        <a:t>&lt; 2,0</a:t>
                      </a:r>
                    </a:p>
                  </a:txBody>
                  <a:tcPr marL="73152" marR="73152" marT="36576" marB="36576" anchor="ctr">
                    <a:solidFill>
                      <a:srgbClr val="FFF1BF"/>
                    </a:solidFill>
                  </a:tcPr>
                </a:tc>
              </a:tr>
              <a:tr h="457200">
                <a:tc>
                  <a:txBody>
                    <a:bodyPr wrap="square"/>
                    <a:lstStyle/>
                    <a:p>
                      <a:r>
                        <a:rPr sz="1050" b="1" i="0">
                          <a:solidFill>
                            <a:srgbClr val="14313B"/>
                          </a:solidFill>
                          <a:latin typeface="Calibri (MS) Bold"/>
                        </a:rPr>
                        <a:t/>
                      </a:r>
                    </a:p>
                  </a:txBody>
                  <a:tcPr marL="73152" marR="73152" marT="36576" marB="36576" anchor="ctr">
                    <a:solidFill>
                      <a:srgbClr val="FFFFFF"/>
                    </a:solidFill>
                  </a:tcPr>
                </a:tc>
                <a:tc>
                  <a:txBody>
                    <a:bodyPr wrap="square"/>
                    <a:lstStyle/>
                    <a:p>
                      <a:r>
                        <a:rPr sz="1050" b="0" i="0">
                          <a:solidFill>
                            <a:srgbClr val="14313B"/>
                          </a:solidFill>
                          <a:latin typeface="Calibri (MS)"/>
                        </a:rPr>
                        <a:t>Kualitas destinasi</a:t>
                      </a:r>
                    </a:p>
                  </a:txBody>
                  <a:tcPr marL="73152" marR="73152" marT="36576" marB="36576" anchor="ctr">
                    <a:solidFill>
                      <a:srgbClr val="FFFFFF"/>
                    </a:solidFill>
                  </a:tcPr>
                </a:tc>
                <a:tc>
                  <a:txBody>
                    <a:bodyPr wrap="square"/>
                    <a:lstStyle/>
                    <a:p>
                      <a:r>
                        <a:rPr sz="1050" b="0" i="0">
                          <a:solidFill>
                            <a:srgbClr val="14313B"/>
                          </a:solidFill>
                          <a:latin typeface="Calibri (MS)"/>
                        </a:rPr>
                        <a:t>Daya Tarik Destinasi Wisata</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Maksimum</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57200">
                <a:tc>
                  <a:txBody>
                    <a:bodyPr wrap="square"/>
                    <a:lstStyle/>
                    <a:p>
                      <a:r>
                        <a:rPr sz="1050" b="1" i="0">
                          <a:solidFill>
                            <a:srgbClr val="14313B"/>
                          </a:solidFill>
                          <a:latin typeface="Calibri (MS) Bold"/>
                        </a:rPr>
                        <a:t>Skala</a:t>
                      </a:r>
                    </a:p>
                  </a:txBody>
                  <a:tcPr marL="73152" marR="73152" marT="36576" marB="36576" anchor="ctr">
                    <a:solidFill>
                      <a:srgbClr val="EAF8FA"/>
                    </a:solidFill>
                  </a:tcPr>
                </a:tc>
                <a:tc>
                  <a:txBody>
                    <a:bodyPr wrap="square"/>
                    <a:lstStyle/>
                    <a:p>
                      <a:r>
                        <a:rPr sz="1050" b="0" i="0">
                          <a:solidFill>
                            <a:srgbClr val="14313B"/>
                          </a:solidFill>
                          <a:latin typeface="Calibri (MS)"/>
                        </a:rPr>
                        <a:t>Jumlah wisatawan</a:t>
                      </a:r>
                    </a:p>
                  </a:txBody>
                  <a:tcPr marL="73152" marR="73152" marT="36576" marB="36576" anchor="ctr">
                    <a:solidFill>
                      <a:srgbClr val="EAF8FA"/>
                    </a:solidFill>
                  </a:tcPr>
                </a:tc>
                <a:tc>
                  <a:txBody>
                    <a:bodyPr wrap="square"/>
                    <a:lstStyle/>
                    <a:p>
                      <a:r>
                        <a:rPr sz="1050" b="0" i="0">
                          <a:solidFill>
                            <a:srgbClr val="14313B"/>
                          </a:solidFill>
                          <a:latin typeface="Calibri (MS)"/>
                        </a:rPr>
                        <a:t>Jumlah Wisatawan</a:t>
                      </a:r>
                    </a:p>
                  </a:txBody>
                  <a:tcPr marL="73152" marR="73152" marT="36576" marB="36576" anchor="ctr">
                    <a:solidFill>
                      <a:srgbClr val="EAF8FA"/>
                    </a:solidFill>
                  </a:tcPr>
                </a:tc>
                <a:tc>
                  <a:txBody>
                    <a:bodyPr wrap="square"/>
                    <a:lstStyle/>
                    <a:p>
                      <a:pPr algn="ctr"/>
                      <a:r>
                        <a:rPr sz="1050" b="0" i="0">
                          <a:solidFill>
                            <a:srgbClr val="14313B"/>
                          </a:solidFill>
                          <a:latin typeface="Calibri (MS)"/>
                        </a:rPr>
                        <a:t>Dilaporkan</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bl>
          </a:graphicData>
        </a:graphic>
      </p:graphicFrame>
      <p:sp>
        <p:nvSpPr>
          <p:cNvPr id="28" name="Rounded Rectangle 27"/>
          <p:cNvSpPr/>
          <p:nvPr/>
        </p:nvSpPr>
        <p:spPr>
          <a:xfrm>
            <a:off x="10789920" y="1874519"/>
            <a:ext cx="6675120"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Dasar dua ambang</a:t>
            </a:r>
          </a:p>
          <a:p>
            <a:pPr algn="l">
              <a:spcAft>
                <a:spcPts val="300"/>
              </a:spcAft>
            </a:pPr>
            <a:r>
              <a:rPr sz="1050" b="1" i="0">
                <a:solidFill>
                  <a:srgbClr val="14313B"/>
                </a:solidFill>
                <a:latin typeface="Calibri (MS) Bold"/>
              </a:rPr>
              <a:t>RDDL &gt; 0,331:  </a:t>
            </a:r>
            <a:r>
              <a:rPr sz="1050" b="0" i="0">
                <a:solidFill>
                  <a:srgbClr val="14313B"/>
                </a:solidFill>
                <a:latin typeface="Calibri (MS)"/>
              </a:rPr>
              <a:t>luas Kawasan Pertanian Pangan Berkelanjutan (Perda DIY 6/2021) dibagi luas DIY. Tolok ukur luas, bukan pengendalian spasial.</a:t>
            </a:r>
          </a:p>
          <a:p>
            <a:pPr algn="l">
              <a:spcAft>
                <a:spcPts val="300"/>
              </a:spcAft>
            </a:pPr>
            <a:r>
              <a:rPr sz="1050" b="1" i="0">
                <a:solidFill>
                  <a:srgbClr val="14313B"/>
                </a:solidFill>
                <a:latin typeface="Calibri (MS) Bold"/>
              </a:rPr>
              <a:t>Kepadatan &lt; 2,0:  </a:t>
            </a:r>
            <a:r>
              <a:rPr sz="1050" b="0" i="0">
                <a:solidFill>
                  <a:srgbClr val="14313B"/>
                </a:solidFill>
                <a:latin typeface="Calibri (MS)"/>
              </a:rPr>
              <a:t>dua kali kepadatan 2025 sebagai sinyal kepadatan berlebih; tidak ada patokan baku, jadi dinyatakan sebagai batasan peneliti.</a:t>
            </a:r>
          </a:p>
        </p:txBody>
      </p:sp>
      <p:sp>
        <p:nvSpPr>
          <p:cNvPr id="29" name="Rounded Rectangle 28"/>
          <p:cNvSpPr/>
          <p:nvPr/>
        </p:nvSpPr>
        <p:spPr>
          <a:xfrm>
            <a:off x="10789920" y="4206240"/>
            <a:ext cx="667512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Aturan pelaporan</a:t>
            </a:r>
          </a:p>
          <a:p>
            <a:pPr algn="l">
              <a:spcAft>
                <a:spcPts val="300"/>
              </a:spcAft>
            </a:pPr>
            <a:r>
              <a:rPr sz="1050" b="0" i="0">
                <a:solidFill>
                  <a:srgbClr val="14313B"/>
                </a:solidFill>
                <a:latin typeface="Calibri (MS)"/>
              </a:rPr>
              <a:t>Tiap indikator dilaporkan sebagai nilai 2050 dan selisih % terhadap BAU (BAU = pembanding, bukan terbaik/terburuk).</a:t>
            </a:r>
          </a:p>
          <a:p>
            <a:pPr algn="l">
              <a:spcAft>
                <a:spcPts val="300"/>
              </a:spcAft>
            </a:pPr>
            <a:r>
              <a:rPr sz="1050" b="0" i="0">
                <a:solidFill>
                  <a:srgbClr val="14313B"/>
                </a:solidFill>
                <a:latin typeface="Calibri (MS)"/>
              </a:rPr>
              <a:t>Hanya indikator berarah maks/min yang diperingkat.</a:t>
            </a:r>
          </a:p>
        </p:txBody>
      </p:sp>
      <p:sp>
        <p:nvSpPr>
          <p:cNvPr id="30" name="Rounded Rectangle 29"/>
          <p:cNvSpPr/>
          <p:nvPr/>
        </p:nvSpPr>
        <p:spPr>
          <a:xfrm>
            <a:off x="10789920" y="5897880"/>
            <a:ext cx="6675120" cy="2423160"/>
          </a:xfrm>
          <a:prstGeom prst="roundRect">
            <a:avLst>
              <a:gd name="adj" fmla="val 8000"/>
            </a:avLst>
          </a:prstGeom>
          <a:solidFill>
            <a:srgbClr val="FDE2DE"/>
          </a:solidFill>
          <a:ln w="12700">
            <a:solidFill>
              <a:srgbClr val="F3B9B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Tiga larangan</a:t>
            </a:r>
          </a:p>
          <a:p>
            <a:pPr algn="l">
              <a:spcAft>
                <a:spcPts val="300"/>
              </a:spcAft>
            </a:pPr>
            <a:r>
              <a:rPr sz="1050" b="1" i="0">
                <a:solidFill>
                  <a:srgbClr val="14313B"/>
                </a:solidFill>
                <a:latin typeface="Calibri (MS) Bold"/>
              </a:rPr>
              <a:t>1.  </a:t>
            </a:r>
            <a:r>
              <a:rPr sz="1050" b="0" i="0">
                <a:solidFill>
                  <a:srgbClr val="14313B"/>
                </a:solidFill>
                <a:latin typeface="Calibri (MS)"/>
              </a:rPr>
              <a:t>Tidak menyebut "skenario terbaik" tanpa menyebut dimensinya.</a:t>
            </a:r>
          </a:p>
          <a:p>
            <a:pPr algn="l">
              <a:spcAft>
                <a:spcPts val="300"/>
              </a:spcAft>
            </a:pPr>
            <a:r>
              <a:rPr sz="1050" b="1" i="0">
                <a:solidFill>
                  <a:srgbClr val="14313B"/>
                </a:solidFill>
                <a:latin typeface="Calibri (MS) Bold"/>
              </a:rPr>
              <a:t>2.  </a:t>
            </a:r>
            <a:r>
              <a:rPr sz="1050" b="0" i="0">
                <a:solidFill>
                  <a:srgbClr val="14313B"/>
                </a:solidFill>
                <a:latin typeface="Calibri (MS)"/>
              </a:rPr>
              <a:t>Tidak membuat skor gabungan atau bobot antarindikator (itu keputusan kebijakan).</a:t>
            </a:r>
          </a:p>
          <a:p>
            <a:pPr algn="l">
              <a:spcAft>
                <a:spcPts val="300"/>
              </a:spcAft>
            </a:pPr>
            <a:r>
              <a:rPr sz="1050" b="1" i="0">
                <a:solidFill>
                  <a:srgbClr val="14313B"/>
                </a:solidFill>
                <a:latin typeface="Calibri (MS) Bold"/>
              </a:rPr>
              <a:t>3.  </a:t>
            </a:r>
            <a:r>
              <a:rPr sz="1050" b="0" i="0">
                <a:solidFill>
                  <a:srgbClr val="14313B"/>
                </a:solidFill>
                <a:latin typeface="Calibri (MS)"/>
              </a:rPr>
              <a:t>Angka 2050 bukan ramalan, hanya dasar perbandingan.</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3.8.3 (Tabel 21) dan 4.8.2 (Tabel 59).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74 · Hasil Perbandingan Skenario Lengkap, Tahun 2050</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Development Priority unggul di ekonomi, Sustainable unggul di lingkungan, BAU unggul di kepadatan</a:t>
            </a:r>
          </a:p>
        </p:txBody>
      </p:sp>
      <p:graphicFrame>
        <p:nvGraphicFramePr>
          <p:cNvPr id="27" name="Table 26"/>
          <p:cNvGraphicFramePr>
            <a:graphicFrameLocks noGrp="1"/>
          </p:cNvGraphicFramePr>
          <p:nvPr/>
        </p:nvGraphicFramePr>
        <p:xfrm>
          <a:off x="822960" y="1874519"/>
          <a:ext cx="16642080" cy="5586984"/>
        </p:xfrm>
        <a:graphic>
          <a:graphicData uri="http://schemas.openxmlformats.org/drawingml/2006/table">
            <a:tbl>
              <a:tblPr firstRow="1" bandRow="1">
                <a:tableStyleId>{5C22544A-7EE6-4342-B048-85BDC9FD1C3A}</a:tableStyleId>
              </a:tblPr>
              <a:tblGrid>
                <a:gridCol w="1463040"/>
                <a:gridCol w="4023360"/>
                <a:gridCol w="1554480"/>
                <a:gridCol w="1554480"/>
                <a:gridCol w="1645920"/>
                <a:gridCol w="1554480"/>
                <a:gridCol w="1463040"/>
                <a:gridCol w="1554480"/>
                <a:gridCol w="1828800"/>
              </a:tblGrid>
              <a:tr h="429768">
                <a:tc>
                  <a:txBody>
                    <a:bodyPr wrap="square"/>
                    <a:lstStyle/>
                    <a:p>
                      <a:r>
                        <a:rPr sz="1050" b="1" i="0">
                          <a:solidFill>
                            <a:srgbClr val="FFFFFF"/>
                          </a:solidFill>
                          <a:latin typeface="Calibri (MS) Bold"/>
                        </a:rPr>
                        <a:t>Dimensi</a:t>
                      </a:r>
                    </a:p>
                  </a:txBody>
                  <a:tcPr marL="73152" marR="73152" marT="36576" marB="36576" anchor="ctr">
                    <a:solidFill>
                      <a:srgbClr val="0B5E6E"/>
                    </a:solidFill>
                  </a:tcPr>
                </a:tc>
                <a:tc>
                  <a:txBody>
                    <a:bodyPr wrap="square"/>
                    <a:lstStyle/>
                    <a:p>
                      <a:r>
                        <a:rPr sz="1050" b="1" i="0">
                          <a:solidFill>
                            <a:srgbClr val="FFFFFF"/>
                          </a:solidFill>
                          <a:latin typeface="Calibri (MS) Bold"/>
                        </a:rPr>
                        <a:t>Indikator</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BAU</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Sustainable</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Dev. Priority</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Sust. vs BAU</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DP vs BAU</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Arah</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Peringkat (BAU·S·DP)</a:t>
                      </a:r>
                    </a:p>
                  </a:txBody>
                  <a:tcPr marL="73152" marR="73152" marT="36576" marB="36576" anchor="ctr">
                    <a:solidFill>
                      <a:srgbClr val="0B5E6E"/>
                    </a:solidFill>
                  </a:tcPr>
                </a:tc>
              </a:tr>
              <a:tr h="429768">
                <a:tc>
                  <a:txBody>
                    <a:bodyPr wrap="square"/>
                    <a:lstStyle/>
                    <a:p>
                      <a:r>
                        <a:rPr sz="1050" b="0" i="0">
                          <a:solidFill>
                            <a:srgbClr val="14313B"/>
                          </a:solidFill>
                          <a:latin typeface="Calibri (MS)"/>
                        </a:rPr>
                        <a:t>Ekonomi</a:t>
                      </a:r>
                    </a:p>
                  </a:txBody>
                  <a:tcPr marL="73152" marR="73152" marT="36576" marB="36576" anchor="ctr">
                    <a:solidFill>
                      <a:srgbClr val="FFFFFF"/>
                    </a:solidFill>
                  </a:tcPr>
                </a:tc>
                <a:tc>
                  <a:txBody>
                    <a:bodyPr wrap="square"/>
                    <a:lstStyle/>
                    <a:p>
                      <a:r>
                        <a:rPr sz="1050" b="0" i="0">
                          <a:solidFill>
                            <a:srgbClr val="14313B"/>
                          </a:solidFill>
                          <a:latin typeface="Calibri (MS)"/>
                        </a:rPr>
                        <a:t>Lapangan kerja pariwisata (jiwa)</a:t>
                      </a:r>
                    </a:p>
                  </a:txBody>
                  <a:tcPr marL="73152" marR="73152" marT="36576" marB="36576" anchor="ctr">
                    <a:solidFill>
                      <a:srgbClr val="FFFFFF"/>
                    </a:solidFill>
                  </a:tcPr>
                </a:tc>
                <a:tc>
                  <a:txBody>
                    <a:bodyPr wrap="square"/>
                    <a:lstStyle/>
                    <a:p>
                      <a:pPr algn="ctr"/>
                      <a:r>
                        <a:rPr sz="1050" b="0" i="0">
                          <a:solidFill>
                            <a:srgbClr val="14313B"/>
                          </a:solidFill>
                          <a:latin typeface="Calibri (MS)"/>
                        </a:rPr>
                        <a:t>650.355</a:t>
                      </a:r>
                    </a:p>
                  </a:txBody>
                  <a:tcPr marL="73152" marR="73152" marT="36576" marB="36576" anchor="ctr">
                    <a:solidFill>
                      <a:srgbClr val="FFFFFF"/>
                    </a:solidFill>
                  </a:tcPr>
                </a:tc>
                <a:tc>
                  <a:txBody>
                    <a:bodyPr wrap="square"/>
                    <a:lstStyle/>
                    <a:p>
                      <a:pPr algn="ctr"/>
                      <a:r>
                        <a:rPr sz="1050" b="0" i="0">
                          <a:solidFill>
                            <a:srgbClr val="14313B"/>
                          </a:solidFill>
                          <a:latin typeface="Calibri (MS)"/>
                        </a:rPr>
                        <a:t>667.458</a:t>
                      </a:r>
                    </a:p>
                  </a:txBody>
                  <a:tcPr marL="73152" marR="73152" marT="36576" marB="36576" anchor="ctr">
                    <a:solidFill>
                      <a:srgbClr val="FFFFFF"/>
                    </a:solidFill>
                  </a:tcPr>
                </a:tc>
                <a:tc>
                  <a:txBody>
                    <a:bodyPr wrap="square"/>
                    <a:lstStyle/>
                    <a:p>
                      <a:pPr algn="ctr"/>
                      <a:r>
                        <a:rPr sz="1050" b="0" i="0">
                          <a:solidFill>
                            <a:srgbClr val="14313B"/>
                          </a:solidFill>
                          <a:latin typeface="Calibri (MS)"/>
                        </a:rPr>
                        <a:t>697.021</a:t>
                      </a:r>
                    </a:p>
                  </a:txBody>
                  <a:tcPr marL="73152" marR="73152" marT="36576" marB="36576" anchor="ctr">
                    <a:solidFill>
                      <a:srgbClr val="C9F0D6"/>
                    </a:solidFill>
                  </a:tcPr>
                </a:tc>
                <a:tc>
                  <a:txBody>
                    <a:bodyPr wrap="square"/>
                    <a:lstStyle/>
                    <a:p>
                      <a:pPr algn="ctr"/>
                      <a:r>
                        <a:rPr sz="1050" b="0" i="0">
                          <a:solidFill>
                            <a:srgbClr val="14313B"/>
                          </a:solidFill>
                          <a:latin typeface="Calibri (MS)"/>
                        </a:rPr>
                        <a:t>+2,63%</a:t>
                      </a:r>
                    </a:p>
                  </a:txBody>
                  <a:tcPr marL="73152" marR="73152" marT="36576" marB="36576" anchor="ctr">
                    <a:solidFill>
                      <a:srgbClr val="FFFFFF"/>
                    </a:solidFill>
                  </a:tcPr>
                </a:tc>
                <a:tc>
                  <a:txBody>
                    <a:bodyPr wrap="square"/>
                    <a:lstStyle/>
                    <a:p>
                      <a:pPr algn="ctr"/>
                      <a:r>
                        <a:rPr sz="1050" b="0" i="0">
                          <a:solidFill>
                            <a:srgbClr val="14313B"/>
                          </a:solidFill>
                          <a:latin typeface="Calibri (MS)"/>
                        </a:rPr>
                        <a:t>+7,18%</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a:t>
                      </a:r>
                    </a:p>
                  </a:txBody>
                  <a:tcPr marL="73152" marR="73152" marT="36576" marB="36576" anchor="ctr">
                    <a:solidFill>
                      <a:srgbClr val="FFFFFF"/>
                    </a:solidFill>
                  </a:tcPr>
                </a:tc>
                <a:tc>
                  <a:txBody>
                    <a:bodyPr wrap="square"/>
                    <a:lstStyle/>
                    <a:p>
                      <a:pPr algn="ctr"/>
                      <a:r>
                        <a:rPr sz="1050" b="0" i="0">
                          <a:solidFill>
                            <a:srgbClr val="14313B"/>
                          </a:solidFill>
                          <a:latin typeface="Calibri (MS)"/>
                        </a:rPr>
                        <a:t>3 · 2 · 1</a:t>
                      </a:r>
                    </a:p>
                  </a:txBody>
                  <a:tcPr marL="73152" marR="73152" marT="36576" marB="36576" anchor="ctr">
                    <a:solidFill>
                      <a:srgbClr val="FFFFFF"/>
                    </a:solidFill>
                  </a:tcPr>
                </a:tc>
              </a:tr>
              <a:tr h="429768">
                <a:tc>
                  <a:txBody>
                    <a:bodyPr wrap="square"/>
                    <a:lstStyle/>
                    <a:p>
                      <a:r>
                        <a:rPr sz="1050" b="0" i="0">
                          <a:solidFill>
                            <a:srgbClr val="14313B"/>
                          </a:solidFill>
                          <a:latin typeface="Calibri (MS)"/>
                        </a:rPr>
                        <a:t/>
                      </a:r>
                    </a:p>
                  </a:txBody>
                  <a:tcPr marL="73152" marR="73152" marT="36576" marB="36576" anchor="ctr">
                    <a:solidFill>
                      <a:srgbClr val="EAF8FA"/>
                    </a:solidFill>
                  </a:tcPr>
                </a:tc>
                <a:tc>
                  <a:txBody>
                    <a:bodyPr wrap="square"/>
                    <a:lstStyle/>
                    <a:p>
                      <a:r>
                        <a:rPr sz="1050" b="0" i="0">
                          <a:solidFill>
                            <a:srgbClr val="14313B"/>
                          </a:solidFill>
                          <a:latin typeface="Calibri (MS)"/>
                        </a:rPr>
                        <a:t>PDRB pariwisata (miliar Rp)</a:t>
                      </a:r>
                    </a:p>
                  </a:txBody>
                  <a:tcPr marL="73152" marR="73152" marT="36576" marB="36576" anchor="ctr">
                    <a:solidFill>
                      <a:srgbClr val="EAF8FA"/>
                    </a:solidFill>
                  </a:tcPr>
                </a:tc>
                <a:tc>
                  <a:txBody>
                    <a:bodyPr wrap="square"/>
                    <a:lstStyle/>
                    <a:p>
                      <a:pPr algn="ctr"/>
                      <a:r>
                        <a:rPr sz="1050" b="0" i="0">
                          <a:solidFill>
                            <a:srgbClr val="14313B"/>
                          </a:solidFill>
                          <a:latin typeface="Calibri (MS)"/>
                        </a:rPr>
                        <a:t>40.061</a:t>
                      </a:r>
                    </a:p>
                  </a:txBody>
                  <a:tcPr marL="73152" marR="73152" marT="36576" marB="36576" anchor="ctr">
                    <a:solidFill>
                      <a:srgbClr val="EAF8FA"/>
                    </a:solidFill>
                  </a:tcPr>
                </a:tc>
                <a:tc>
                  <a:txBody>
                    <a:bodyPr wrap="square"/>
                    <a:lstStyle/>
                    <a:p>
                      <a:pPr algn="ctr"/>
                      <a:r>
                        <a:rPr sz="1050" b="0" i="0">
                          <a:solidFill>
                            <a:srgbClr val="14313B"/>
                          </a:solidFill>
                          <a:latin typeface="Calibri (MS)"/>
                        </a:rPr>
                        <a:t>41.194</a:t>
                      </a:r>
                    </a:p>
                  </a:txBody>
                  <a:tcPr marL="73152" marR="73152" marT="36576" marB="36576" anchor="ctr">
                    <a:solidFill>
                      <a:srgbClr val="EAF8FA"/>
                    </a:solidFill>
                  </a:tcPr>
                </a:tc>
                <a:tc>
                  <a:txBody>
                    <a:bodyPr wrap="square"/>
                    <a:lstStyle/>
                    <a:p>
                      <a:pPr algn="ctr"/>
                      <a:r>
                        <a:rPr sz="1050" b="0" i="0">
                          <a:solidFill>
                            <a:srgbClr val="14313B"/>
                          </a:solidFill>
                          <a:latin typeface="Calibri (MS)"/>
                        </a:rPr>
                        <a:t>43.152</a:t>
                      </a:r>
                    </a:p>
                  </a:txBody>
                  <a:tcPr marL="73152" marR="73152" marT="36576" marB="36576" anchor="ctr">
                    <a:solidFill>
                      <a:srgbClr val="C9F0D6"/>
                    </a:solidFill>
                  </a:tcPr>
                </a:tc>
                <a:tc>
                  <a:txBody>
                    <a:bodyPr wrap="square"/>
                    <a:lstStyle/>
                    <a:p>
                      <a:pPr algn="ctr"/>
                      <a:r>
                        <a:rPr sz="1050" b="0" i="0">
                          <a:solidFill>
                            <a:srgbClr val="14313B"/>
                          </a:solidFill>
                          <a:latin typeface="Calibri (MS)"/>
                        </a:rPr>
                        <a:t>+2,83%</a:t>
                      </a:r>
                    </a:p>
                  </a:txBody>
                  <a:tcPr marL="73152" marR="73152" marT="36576" marB="36576" anchor="ctr">
                    <a:solidFill>
                      <a:srgbClr val="EAF8FA"/>
                    </a:solidFill>
                  </a:tcPr>
                </a:tc>
                <a:tc>
                  <a:txBody>
                    <a:bodyPr wrap="square"/>
                    <a:lstStyle/>
                    <a:p>
                      <a:pPr algn="ctr"/>
                      <a:r>
                        <a:rPr sz="1050" b="0" i="0">
                          <a:solidFill>
                            <a:srgbClr val="14313B"/>
                          </a:solidFill>
                          <a:latin typeface="Calibri (MS)"/>
                        </a:rPr>
                        <a:t>+7,71%</a:t>
                      </a:r>
                    </a:p>
                  </a:txBody>
                  <a:tcPr marL="73152" marR="73152" marT="36576" marB="36576" anchor="ctr">
                    <a:solidFill>
                      <a:srgbClr val="EAF8FA"/>
                    </a:solidFill>
                  </a:tcPr>
                </a:tc>
                <a:tc>
                  <a:txBody>
                    <a:bodyPr wrap="square"/>
                    <a:lstStyle/>
                    <a:p>
                      <a:pPr algn="ctr"/>
                      <a:r>
                        <a:rPr sz="1050" b="0" i="0">
                          <a:solidFill>
                            <a:srgbClr val="14313B"/>
                          </a:solidFill>
                          <a:latin typeface="Calibri (MS)"/>
                        </a:rPr>
                        <a:t>Maks</a:t>
                      </a:r>
                    </a:p>
                  </a:txBody>
                  <a:tcPr marL="73152" marR="73152" marT="36576" marB="36576" anchor="ctr">
                    <a:solidFill>
                      <a:srgbClr val="EAF8FA"/>
                    </a:solidFill>
                  </a:tcPr>
                </a:tc>
                <a:tc>
                  <a:txBody>
                    <a:bodyPr wrap="square"/>
                    <a:lstStyle/>
                    <a:p>
                      <a:pPr algn="ctr"/>
                      <a:r>
                        <a:rPr sz="1050" b="0" i="0">
                          <a:solidFill>
                            <a:srgbClr val="14313B"/>
                          </a:solidFill>
                          <a:latin typeface="Calibri (MS)"/>
                        </a:rPr>
                        <a:t>3 · 2 · 1</a:t>
                      </a:r>
                    </a:p>
                  </a:txBody>
                  <a:tcPr marL="73152" marR="73152" marT="36576" marB="36576" anchor="ctr">
                    <a:solidFill>
                      <a:srgbClr val="EAF8FA"/>
                    </a:solidFill>
                  </a:tcPr>
                </a:tc>
              </a:tr>
              <a:tr h="429768">
                <a:tc>
                  <a:txBody>
                    <a:bodyPr wrap="square"/>
                    <a:lstStyle/>
                    <a:p>
                      <a:r>
                        <a:rPr sz="1050" b="0" i="0">
                          <a:solidFill>
                            <a:srgbClr val="14313B"/>
                          </a:solidFill>
                          <a:latin typeface="Calibri (MS)"/>
                        </a:rPr>
                        <a:t/>
                      </a:r>
                    </a:p>
                  </a:txBody>
                  <a:tcPr marL="73152" marR="73152" marT="36576" marB="36576" anchor="ctr">
                    <a:solidFill>
                      <a:srgbClr val="FFFFFF"/>
                    </a:solidFill>
                  </a:tcPr>
                </a:tc>
                <a:tc>
                  <a:txBody>
                    <a:bodyPr wrap="square"/>
                    <a:lstStyle/>
                    <a:p>
                      <a:r>
                        <a:rPr sz="1050" b="0" i="0">
                          <a:solidFill>
                            <a:srgbClr val="14313B"/>
                          </a:solidFill>
                          <a:latin typeface="Calibri (MS)"/>
                        </a:rPr>
                        <a:t>Investasi kumulatif 2025–2050 (miliar Rp)</a:t>
                      </a:r>
                    </a:p>
                  </a:txBody>
                  <a:tcPr marL="73152" marR="73152" marT="36576" marB="36576" anchor="ctr">
                    <a:solidFill>
                      <a:srgbClr val="FFFFFF"/>
                    </a:solidFill>
                  </a:tcPr>
                </a:tc>
                <a:tc>
                  <a:txBody>
                    <a:bodyPr wrap="square"/>
                    <a:lstStyle/>
                    <a:p>
                      <a:pPr algn="ctr"/>
                      <a:r>
                        <a:rPr sz="1050" b="0" i="0">
                          <a:solidFill>
                            <a:srgbClr val="14313B"/>
                          </a:solidFill>
                          <a:latin typeface="Calibri (MS)"/>
                        </a:rPr>
                        <a:t>37.318</a:t>
                      </a:r>
                    </a:p>
                  </a:txBody>
                  <a:tcPr marL="73152" marR="73152" marT="36576" marB="36576" anchor="ctr">
                    <a:solidFill>
                      <a:srgbClr val="FFFFFF"/>
                    </a:solidFill>
                  </a:tcPr>
                </a:tc>
                <a:tc>
                  <a:txBody>
                    <a:bodyPr wrap="square"/>
                    <a:lstStyle/>
                    <a:p>
                      <a:pPr algn="ctr"/>
                      <a:r>
                        <a:rPr sz="1050" b="0" i="0">
                          <a:solidFill>
                            <a:srgbClr val="14313B"/>
                          </a:solidFill>
                          <a:latin typeface="Calibri (MS)"/>
                        </a:rPr>
                        <a:t>41.550</a:t>
                      </a:r>
                    </a:p>
                  </a:txBody>
                  <a:tcPr marL="73152" marR="73152" marT="36576" marB="36576" anchor="ctr">
                    <a:solidFill>
                      <a:srgbClr val="FFFFFF"/>
                    </a:solidFill>
                  </a:tcPr>
                </a:tc>
                <a:tc>
                  <a:txBody>
                    <a:bodyPr wrap="square"/>
                    <a:lstStyle/>
                    <a:p>
                      <a:pPr algn="ctr"/>
                      <a:r>
                        <a:rPr sz="1050" b="0" i="0">
                          <a:solidFill>
                            <a:srgbClr val="14313B"/>
                          </a:solidFill>
                          <a:latin typeface="Calibri (MS)"/>
                        </a:rPr>
                        <a:t>50.133</a:t>
                      </a:r>
                    </a:p>
                  </a:txBody>
                  <a:tcPr marL="73152" marR="73152" marT="36576" marB="36576" anchor="ctr">
                    <a:solidFill>
                      <a:srgbClr val="FFFFFF"/>
                    </a:solidFill>
                  </a:tcPr>
                </a:tc>
                <a:tc>
                  <a:txBody>
                    <a:bodyPr wrap="square"/>
                    <a:lstStyle/>
                    <a:p>
                      <a:pPr algn="ctr"/>
                      <a:r>
                        <a:rPr sz="1050" b="0" i="0">
                          <a:solidFill>
                            <a:srgbClr val="14313B"/>
                          </a:solidFill>
                          <a:latin typeface="Calibri (MS)"/>
                        </a:rPr>
                        <a:t>+11,34%</a:t>
                      </a:r>
                    </a:p>
                  </a:txBody>
                  <a:tcPr marL="73152" marR="73152" marT="36576" marB="36576" anchor="ctr">
                    <a:solidFill>
                      <a:srgbClr val="FFFFFF"/>
                    </a:solidFill>
                  </a:tcPr>
                </a:tc>
                <a:tc>
                  <a:txBody>
                    <a:bodyPr wrap="square"/>
                    <a:lstStyle/>
                    <a:p>
                      <a:pPr algn="ctr"/>
                      <a:r>
                        <a:rPr sz="1050" b="0" i="0">
                          <a:solidFill>
                            <a:srgbClr val="14313B"/>
                          </a:solidFill>
                          <a:latin typeface="Calibri (MS)"/>
                        </a:rPr>
                        <a:t>+34,34%</a:t>
                      </a:r>
                    </a:p>
                  </a:txBody>
                  <a:tcPr marL="73152" marR="73152" marT="36576" marB="36576" anchor="ctr">
                    <a:solidFill>
                      <a:srgbClr val="FFFFFF"/>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29768">
                <a:tc>
                  <a:txBody>
                    <a:bodyPr wrap="square"/>
                    <a:lstStyle/>
                    <a:p>
                      <a:r>
                        <a:rPr sz="1050" b="0" i="0">
                          <a:solidFill>
                            <a:srgbClr val="14313B"/>
                          </a:solidFill>
                          <a:latin typeface="Calibri (MS)"/>
                        </a:rPr>
                        <a:t/>
                      </a:r>
                    </a:p>
                  </a:txBody>
                  <a:tcPr marL="73152" marR="73152" marT="36576" marB="36576" anchor="ctr">
                    <a:solidFill>
                      <a:srgbClr val="EAF8FA"/>
                    </a:solidFill>
                  </a:tcPr>
                </a:tc>
                <a:tc>
                  <a:txBody>
                    <a:bodyPr wrap="square"/>
                    <a:lstStyle/>
                    <a:p>
                      <a:r>
                        <a:rPr sz="1050" b="0" i="0">
                          <a:solidFill>
                            <a:srgbClr val="14313B"/>
                          </a:solidFill>
                          <a:latin typeface="Calibri (MS)"/>
                        </a:rPr>
                        <a:t>TPK 2050</a:t>
                      </a:r>
                    </a:p>
                  </a:txBody>
                  <a:tcPr marL="73152" marR="73152" marT="36576" marB="36576" anchor="ctr">
                    <a:solidFill>
                      <a:srgbClr val="EAF8FA"/>
                    </a:solidFill>
                  </a:tcPr>
                </a:tc>
                <a:tc>
                  <a:txBody>
                    <a:bodyPr wrap="square"/>
                    <a:lstStyle/>
                    <a:p>
                      <a:pPr algn="ctr"/>
                      <a:r>
                        <a:rPr sz="1050" b="0" i="0">
                          <a:solidFill>
                            <a:srgbClr val="14313B"/>
                          </a:solidFill>
                          <a:latin typeface="Calibri (MS)"/>
                        </a:rPr>
                        <a:t>0,3584</a:t>
                      </a:r>
                    </a:p>
                  </a:txBody>
                  <a:tcPr marL="73152" marR="73152" marT="36576" marB="36576" anchor="ctr">
                    <a:solidFill>
                      <a:srgbClr val="EAF8FA"/>
                    </a:solidFill>
                  </a:tcPr>
                </a:tc>
                <a:tc>
                  <a:txBody>
                    <a:bodyPr wrap="square"/>
                    <a:lstStyle/>
                    <a:p>
                      <a:pPr algn="ctr"/>
                      <a:r>
                        <a:rPr sz="1050" b="0" i="0">
                          <a:solidFill>
                            <a:srgbClr val="14313B"/>
                          </a:solidFill>
                          <a:latin typeface="Calibri (MS)"/>
                        </a:rPr>
                        <a:t>0,3537</a:t>
                      </a:r>
                    </a:p>
                  </a:txBody>
                  <a:tcPr marL="73152" marR="73152" marT="36576" marB="36576" anchor="ctr">
                    <a:solidFill>
                      <a:srgbClr val="EAF8FA"/>
                    </a:solidFill>
                  </a:tcPr>
                </a:tc>
                <a:tc>
                  <a:txBody>
                    <a:bodyPr wrap="square"/>
                    <a:lstStyle/>
                    <a:p>
                      <a:pPr algn="ctr"/>
                      <a:r>
                        <a:rPr sz="1050" b="0" i="0">
                          <a:solidFill>
                            <a:srgbClr val="14313B"/>
                          </a:solidFill>
                          <a:latin typeface="Calibri (MS)"/>
                        </a:rPr>
                        <a:t>0,3458</a:t>
                      </a:r>
                    </a:p>
                  </a:txBody>
                  <a:tcPr marL="73152" marR="73152" marT="36576" marB="36576" anchor="ctr">
                    <a:solidFill>
                      <a:srgbClr val="EAF8FA"/>
                    </a:solidFill>
                  </a:tcPr>
                </a:tc>
                <a:tc>
                  <a:txBody>
                    <a:bodyPr wrap="square"/>
                    <a:lstStyle/>
                    <a:p>
                      <a:pPr algn="ctr"/>
                      <a:r>
                        <a:rPr sz="1050" b="0" i="0">
                          <a:solidFill>
                            <a:srgbClr val="14313B"/>
                          </a:solidFill>
                          <a:latin typeface="Calibri (MS)"/>
                        </a:rPr>
                        <a:t>−1,30%</a:t>
                      </a:r>
                    </a:p>
                  </a:txBody>
                  <a:tcPr marL="73152" marR="73152" marT="36576" marB="36576" anchor="ctr">
                    <a:solidFill>
                      <a:srgbClr val="EAF8FA"/>
                    </a:solidFill>
                  </a:tcPr>
                </a:tc>
                <a:tc>
                  <a:txBody>
                    <a:bodyPr wrap="square"/>
                    <a:lstStyle/>
                    <a:p>
                      <a:pPr algn="ctr"/>
                      <a:r>
                        <a:rPr sz="1050" b="0" i="0">
                          <a:solidFill>
                            <a:srgbClr val="14313B"/>
                          </a:solidFill>
                          <a:latin typeface="Calibri (MS)"/>
                        </a:rPr>
                        <a:t>−3,50%</a:t>
                      </a:r>
                    </a:p>
                  </a:txBody>
                  <a:tcPr marL="73152" marR="73152" marT="36576" marB="36576" anchor="ctr">
                    <a:solidFill>
                      <a:srgbClr val="EAF8FA"/>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r h="429768">
                <a:tc>
                  <a:txBody>
                    <a:bodyPr wrap="square"/>
                    <a:lstStyle/>
                    <a:p>
                      <a:r>
                        <a:rPr sz="1050" b="0" i="0">
                          <a:solidFill>
                            <a:srgbClr val="14313B"/>
                          </a:solidFill>
                          <a:latin typeface="Calibri (MS)"/>
                        </a:rPr>
                        <a:t>Lingkungan</a:t>
                      </a:r>
                    </a:p>
                  </a:txBody>
                  <a:tcPr marL="73152" marR="73152" marT="36576" marB="36576" anchor="ctr">
                    <a:solidFill>
                      <a:srgbClr val="FFFFFF"/>
                    </a:solidFill>
                  </a:tcPr>
                </a:tc>
                <a:tc>
                  <a:txBody>
                    <a:bodyPr wrap="square"/>
                    <a:lstStyle/>
                    <a:p>
                      <a:r>
                        <a:rPr sz="1050" b="0" i="0">
                          <a:solidFill>
                            <a:srgbClr val="14313B"/>
                          </a:solidFill>
                          <a:latin typeface="Calibri (MS)"/>
                        </a:rPr>
                        <a:t>Rasio daya dukung lahan</a:t>
                      </a:r>
                    </a:p>
                  </a:txBody>
                  <a:tcPr marL="73152" marR="73152" marT="36576" marB="36576" anchor="ctr">
                    <a:solidFill>
                      <a:srgbClr val="FFFFFF"/>
                    </a:solidFill>
                  </a:tcPr>
                </a:tc>
                <a:tc>
                  <a:txBody>
                    <a:bodyPr wrap="square"/>
                    <a:lstStyle/>
                    <a:p>
                      <a:pPr algn="ctr"/>
                      <a:r>
                        <a:rPr sz="1050" b="0" i="0">
                          <a:solidFill>
                            <a:srgbClr val="14313B"/>
                          </a:solidFill>
                          <a:latin typeface="Calibri (MS)"/>
                        </a:rPr>
                        <a:t>0,6145</a:t>
                      </a:r>
                    </a:p>
                  </a:txBody>
                  <a:tcPr marL="73152" marR="73152" marT="36576" marB="36576" anchor="ctr">
                    <a:solidFill>
                      <a:srgbClr val="FFFFFF"/>
                    </a:solidFill>
                  </a:tcPr>
                </a:tc>
                <a:tc>
                  <a:txBody>
                    <a:bodyPr wrap="square"/>
                    <a:lstStyle/>
                    <a:p>
                      <a:pPr algn="ctr"/>
                      <a:r>
                        <a:rPr sz="1050" b="0" i="0">
                          <a:solidFill>
                            <a:srgbClr val="14313B"/>
                          </a:solidFill>
                          <a:latin typeface="Calibri (MS)"/>
                        </a:rPr>
                        <a:t>0,6180</a:t>
                      </a:r>
                    </a:p>
                  </a:txBody>
                  <a:tcPr marL="73152" marR="73152" marT="36576" marB="36576" anchor="ctr">
                    <a:solidFill>
                      <a:srgbClr val="C9F0D6"/>
                    </a:solidFill>
                  </a:tcPr>
                </a:tc>
                <a:tc>
                  <a:txBody>
                    <a:bodyPr wrap="square"/>
                    <a:lstStyle/>
                    <a:p>
                      <a:pPr algn="ctr"/>
                      <a:r>
                        <a:rPr sz="1050" b="0" i="0">
                          <a:solidFill>
                            <a:srgbClr val="14313B"/>
                          </a:solidFill>
                          <a:latin typeface="Calibri (MS)"/>
                        </a:rPr>
                        <a:t>0,6140</a:t>
                      </a:r>
                    </a:p>
                  </a:txBody>
                  <a:tcPr marL="73152" marR="73152" marT="36576" marB="36576" anchor="ctr">
                    <a:solidFill>
                      <a:srgbClr val="FFFFFF"/>
                    </a:solidFill>
                  </a:tcPr>
                </a:tc>
                <a:tc>
                  <a:txBody>
                    <a:bodyPr wrap="square"/>
                    <a:lstStyle/>
                    <a:p>
                      <a:pPr algn="ctr"/>
                      <a:r>
                        <a:rPr sz="1050" b="0" i="0">
                          <a:solidFill>
                            <a:srgbClr val="14313B"/>
                          </a:solidFill>
                          <a:latin typeface="Calibri (MS)"/>
                        </a:rPr>
                        <a:t>+0,57%</a:t>
                      </a:r>
                    </a:p>
                  </a:txBody>
                  <a:tcPr marL="73152" marR="73152" marT="36576" marB="36576" anchor="ctr">
                    <a:solidFill>
                      <a:srgbClr val="FFFFFF"/>
                    </a:solidFill>
                  </a:tcPr>
                </a:tc>
                <a:tc>
                  <a:txBody>
                    <a:bodyPr wrap="square"/>
                    <a:lstStyle/>
                    <a:p>
                      <a:pPr algn="ctr"/>
                      <a:r>
                        <a:rPr sz="1050" b="0" i="0">
                          <a:solidFill>
                            <a:srgbClr val="14313B"/>
                          </a:solidFill>
                          <a:latin typeface="Calibri (MS)"/>
                        </a:rPr>
                        <a:t>−0,09%</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 (&gt; 0,331)</a:t>
                      </a:r>
                    </a:p>
                  </a:txBody>
                  <a:tcPr marL="73152" marR="73152" marT="36576" marB="36576" anchor="ctr">
                    <a:solidFill>
                      <a:srgbClr val="FFFFFF"/>
                    </a:solidFill>
                  </a:tcPr>
                </a:tc>
                <a:tc>
                  <a:txBody>
                    <a:bodyPr wrap="square"/>
                    <a:lstStyle/>
                    <a:p>
                      <a:pPr algn="ctr"/>
                      <a:r>
                        <a:rPr sz="1050" b="0" i="0">
                          <a:solidFill>
                            <a:srgbClr val="14313B"/>
                          </a:solidFill>
                          <a:latin typeface="Calibri (MS)"/>
                        </a:rPr>
                        <a:t>2 · 1 · 3</a:t>
                      </a:r>
                    </a:p>
                  </a:txBody>
                  <a:tcPr marL="73152" marR="73152" marT="36576" marB="36576" anchor="ctr">
                    <a:solidFill>
                      <a:srgbClr val="FFFFFF"/>
                    </a:solidFill>
                  </a:tcPr>
                </a:tc>
              </a:tr>
              <a:tr h="429768">
                <a:tc>
                  <a:txBody>
                    <a:bodyPr wrap="square"/>
                    <a:lstStyle/>
                    <a:p>
                      <a:r>
                        <a:rPr sz="1050" b="0" i="0">
                          <a:solidFill>
                            <a:srgbClr val="14313B"/>
                          </a:solidFill>
                          <a:latin typeface="Calibri (MS)"/>
                        </a:rPr>
                        <a:t/>
                      </a:r>
                    </a:p>
                  </a:txBody>
                  <a:tcPr marL="73152" marR="73152" marT="36576" marB="36576" anchor="ctr">
                    <a:solidFill>
                      <a:srgbClr val="EAF8FA"/>
                    </a:solidFill>
                  </a:tcPr>
                </a:tc>
                <a:tc>
                  <a:txBody>
                    <a:bodyPr wrap="square"/>
                    <a:lstStyle/>
                    <a:p>
                      <a:r>
                        <a:rPr sz="1050" b="0" i="0">
                          <a:solidFill>
                            <a:srgbClr val="14313B"/>
                          </a:solidFill>
                          <a:latin typeface="Calibri (MS)"/>
                        </a:rPr>
                        <a:t>Lahan terbangun (ha)</a:t>
                      </a:r>
                    </a:p>
                  </a:txBody>
                  <a:tcPr marL="73152" marR="73152" marT="36576" marB="36576" anchor="ctr">
                    <a:solidFill>
                      <a:srgbClr val="EAF8FA"/>
                    </a:solidFill>
                  </a:tcPr>
                </a:tc>
                <a:tc>
                  <a:txBody>
                    <a:bodyPr wrap="square"/>
                    <a:lstStyle/>
                    <a:p>
                      <a:pPr algn="ctr"/>
                      <a:r>
                        <a:rPr sz="1050" b="0" i="0">
                          <a:solidFill>
                            <a:srgbClr val="14313B"/>
                          </a:solidFill>
                          <a:latin typeface="Calibri (MS)"/>
                        </a:rPr>
                        <a:t>122.208</a:t>
                      </a:r>
                    </a:p>
                  </a:txBody>
                  <a:tcPr marL="73152" marR="73152" marT="36576" marB="36576" anchor="ctr">
                    <a:solidFill>
                      <a:srgbClr val="EAF8FA"/>
                    </a:solidFill>
                  </a:tcPr>
                </a:tc>
                <a:tc>
                  <a:txBody>
                    <a:bodyPr wrap="square"/>
                    <a:lstStyle/>
                    <a:p>
                      <a:pPr algn="ctr"/>
                      <a:r>
                        <a:rPr sz="10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1050" b="0" i="0">
                          <a:solidFill>
                            <a:srgbClr val="14313B"/>
                          </a:solidFill>
                          <a:latin typeface="Calibri (MS)"/>
                        </a:rPr>
                        <a:t>122.377</a:t>
                      </a:r>
                    </a:p>
                  </a:txBody>
                  <a:tcPr marL="73152" marR="73152" marT="36576" marB="36576" anchor="ctr">
                    <a:solidFill>
                      <a:srgbClr val="EAF8FA"/>
                    </a:solidFill>
                  </a:tcPr>
                </a:tc>
                <a:tc>
                  <a:txBody>
                    <a:bodyPr wrap="square"/>
                    <a:lstStyle/>
                    <a:p>
                      <a:pPr algn="ctr"/>
                      <a:r>
                        <a:rPr sz="1050" b="0" i="0">
                          <a:solidFill>
                            <a:srgbClr val="14313B"/>
                          </a:solidFill>
                          <a:latin typeface="Calibri (MS)"/>
                        </a:rPr>
                        <a:t>−0,91%</a:t>
                      </a:r>
                    </a:p>
                  </a:txBody>
                  <a:tcPr marL="73152" marR="73152" marT="36576" marB="36576" anchor="ctr">
                    <a:solidFill>
                      <a:srgbClr val="EAF8FA"/>
                    </a:solidFill>
                  </a:tcPr>
                </a:tc>
                <a:tc>
                  <a:txBody>
                    <a:bodyPr wrap="square"/>
                    <a:lstStyle/>
                    <a:p>
                      <a:pPr algn="ctr"/>
                      <a:r>
                        <a:rPr sz="1050" b="0" i="0">
                          <a:solidFill>
                            <a:srgbClr val="14313B"/>
                          </a:solidFill>
                          <a:latin typeface="Calibri (MS)"/>
                        </a:rPr>
                        <a:t>+0,14%</a:t>
                      </a:r>
                    </a:p>
                  </a:txBody>
                  <a:tcPr marL="73152" marR="73152" marT="36576" marB="36576" anchor="ctr">
                    <a:solidFill>
                      <a:srgbClr val="EAF8FA"/>
                    </a:solidFill>
                  </a:tcPr>
                </a:tc>
                <a:tc>
                  <a:txBody>
                    <a:bodyPr wrap="square"/>
                    <a:lstStyle/>
                    <a:p>
                      <a:pPr algn="ctr"/>
                      <a:r>
                        <a:rPr sz="1050" b="0" i="0">
                          <a:solidFill>
                            <a:srgbClr val="14313B"/>
                          </a:solidFill>
                          <a:latin typeface="Calibri (MS)"/>
                        </a:rPr>
                        <a:t>Min</a:t>
                      </a:r>
                    </a:p>
                  </a:txBody>
                  <a:tcPr marL="73152" marR="73152" marT="36576" marB="36576" anchor="ctr">
                    <a:solidFill>
                      <a:srgbClr val="EAF8FA"/>
                    </a:solidFill>
                  </a:tcPr>
                </a:tc>
                <a:tc>
                  <a:txBody>
                    <a:bodyPr wrap="square"/>
                    <a:lstStyle/>
                    <a:p>
                      <a:pPr algn="ctr"/>
                      <a:r>
                        <a:rPr sz="1050" b="0" i="0">
                          <a:solidFill>
                            <a:srgbClr val="14313B"/>
                          </a:solidFill>
                          <a:latin typeface="Calibri (MS)"/>
                        </a:rPr>
                        <a:t>2 · 1 · 3</a:t>
                      </a:r>
                    </a:p>
                  </a:txBody>
                  <a:tcPr marL="73152" marR="73152" marT="36576" marB="36576" anchor="ctr">
                    <a:solidFill>
                      <a:srgbClr val="EAF8FA"/>
                    </a:solidFill>
                  </a:tcPr>
                </a:tc>
              </a:tr>
              <a:tr h="429768">
                <a:tc>
                  <a:txBody>
                    <a:bodyPr wrap="square"/>
                    <a:lstStyle/>
                    <a:p>
                      <a:r>
                        <a:rPr sz="1050" b="0" i="0">
                          <a:solidFill>
                            <a:srgbClr val="14313B"/>
                          </a:solidFill>
                          <a:latin typeface="Calibri (MS)"/>
                        </a:rPr>
                        <a:t/>
                      </a:r>
                    </a:p>
                  </a:txBody>
                  <a:tcPr marL="73152" marR="73152" marT="36576" marB="36576" anchor="ctr">
                    <a:solidFill>
                      <a:srgbClr val="FFFFFF"/>
                    </a:solidFill>
                  </a:tcPr>
                </a:tc>
                <a:tc>
                  <a:txBody>
                    <a:bodyPr wrap="square"/>
                    <a:lstStyle/>
                    <a:p>
                      <a:r>
                        <a:rPr sz="1050" b="0" i="0">
                          <a:solidFill>
                            <a:srgbClr val="14313B"/>
                          </a:solidFill>
                          <a:latin typeface="Calibri (MS)"/>
                        </a:rPr>
                        <a:t>Konversi lahan pariwisata kumulatif (ha)</a:t>
                      </a:r>
                    </a:p>
                  </a:txBody>
                  <a:tcPr marL="73152" marR="73152" marT="36576" marB="36576" anchor="ctr">
                    <a:solidFill>
                      <a:srgbClr val="FFFFFF"/>
                    </a:solidFill>
                  </a:tcPr>
                </a:tc>
                <a:tc>
                  <a:txBody>
                    <a:bodyPr wrap="square"/>
                    <a:lstStyle/>
                    <a:p>
                      <a:pPr algn="ctr"/>
                      <a:r>
                        <a:rPr sz="1050" b="0" i="0">
                          <a:solidFill>
                            <a:srgbClr val="14313B"/>
                          </a:solidFill>
                          <a:latin typeface="Calibri (MS)"/>
                        </a:rPr>
                        <a:t>947,0</a:t>
                      </a:r>
                    </a:p>
                  </a:txBody>
                  <a:tcPr marL="73152" marR="73152" marT="36576" marB="36576" anchor="ctr">
                    <a:solidFill>
                      <a:srgbClr val="FFFFFF"/>
                    </a:solidFill>
                  </a:tcPr>
                </a:tc>
                <a:tc>
                  <a:txBody>
                    <a:bodyPr wrap="square"/>
                    <a:lstStyle/>
                    <a:p>
                      <a:pPr algn="ctr"/>
                      <a:r>
                        <a:rPr sz="1050" b="0" i="0">
                          <a:solidFill>
                            <a:srgbClr val="14313B"/>
                          </a:solidFill>
                          <a:latin typeface="Calibri (MS)"/>
                        </a:rPr>
                        <a:t>0,0</a:t>
                      </a:r>
                    </a:p>
                  </a:txBody>
                  <a:tcPr marL="73152" marR="73152" marT="36576" marB="36576" anchor="ctr">
                    <a:solidFill>
                      <a:srgbClr val="C9F0D6"/>
                    </a:solidFill>
                  </a:tcPr>
                </a:tc>
                <a:tc>
                  <a:txBody>
                    <a:bodyPr wrap="square"/>
                    <a:lstStyle/>
                    <a:p>
                      <a:pPr algn="ctr"/>
                      <a:r>
                        <a:rPr sz="1050" b="0" i="0">
                          <a:solidFill>
                            <a:srgbClr val="14313B"/>
                          </a:solidFill>
                          <a:latin typeface="Calibri (MS)"/>
                        </a:rPr>
                        <a:t>1.095,1</a:t>
                      </a:r>
                    </a:p>
                  </a:txBody>
                  <a:tcPr marL="73152" marR="73152" marT="36576" marB="36576" anchor="ctr">
                    <a:solidFill>
                      <a:srgbClr val="FFFFFF"/>
                    </a:solidFill>
                  </a:tcPr>
                </a:tc>
                <a:tc>
                  <a:txBody>
                    <a:bodyPr wrap="square"/>
                    <a:lstStyle/>
                    <a:p>
                      <a:pPr algn="ctr"/>
                      <a:r>
                        <a:rPr sz="1050" b="0" i="0">
                          <a:solidFill>
                            <a:srgbClr val="14313B"/>
                          </a:solidFill>
                          <a:latin typeface="Calibri (MS)"/>
                        </a:rPr>
                        <a:t>−100,00%</a:t>
                      </a:r>
                    </a:p>
                  </a:txBody>
                  <a:tcPr marL="73152" marR="73152" marT="36576" marB="36576" anchor="ctr">
                    <a:solidFill>
                      <a:srgbClr val="FFFFFF"/>
                    </a:solidFill>
                  </a:tcPr>
                </a:tc>
                <a:tc>
                  <a:txBody>
                    <a:bodyPr wrap="square"/>
                    <a:lstStyle/>
                    <a:p>
                      <a:pPr algn="ctr"/>
                      <a:r>
                        <a:rPr sz="1050" b="0" i="0">
                          <a:solidFill>
                            <a:srgbClr val="14313B"/>
                          </a:solidFill>
                          <a:latin typeface="Calibri (MS)"/>
                        </a:rPr>
                        <a:t>+15,64%</a:t>
                      </a:r>
                    </a:p>
                  </a:txBody>
                  <a:tcPr marL="73152" marR="73152" marT="36576" marB="36576" anchor="ctr">
                    <a:solidFill>
                      <a:srgbClr val="FFFFFF"/>
                    </a:solidFill>
                  </a:tcPr>
                </a:tc>
                <a:tc>
                  <a:txBody>
                    <a:bodyPr wrap="square"/>
                    <a:lstStyle/>
                    <a:p>
                      <a:pPr algn="ctr"/>
                      <a:r>
                        <a:rPr sz="1050" b="0" i="0">
                          <a:solidFill>
                            <a:srgbClr val="14313B"/>
                          </a:solidFill>
                          <a:latin typeface="Calibri (MS)"/>
                        </a:rPr>
                        <a:t>Min</a:t>
                      </a:r>
                    </a:p>
                  </a:txBody>
                  <a:tcPr marL="73152" marR="73152" marT="36576" marB="36576" anchor="ctr">
                    <a:solidFill>
                      <a:srgbClr val="FFFFFF"/>
                    </a:solidFill>
                  </a:tcPr>
                </a:tc>
                <a:tc>
                  <a:txBody>
                    <a:bodyPr wrap="square"/>
                    <a:lstStyle/>
                    <a:p>
                      <a:pPr algn="ctr"/>
                      <a:r>
                        <a:rPr sz="1050" b="0" i="0">
                          <a:solidFill>
                            <a:srgbClr val="14313B"/>
                          </a:solidFill>
                          <a:latin typeface="Calibri (MS)"/>
                        </a:rPr>
                        <a:t>2 · 1 · 3</a:t>
                      </a:r>
                    </a:p>
                  </a:txBody>
                  <a:tcPr marL="73152" marR="73152" marT="36576" marB="36576" anchor="ctr">
                    <a:solidFill>
                      <a:srgbClr val="FFFFFF"/>
                    </a:solidFill>
                  </a:tcPr>
                </a:tc>
              </a:tr>
              <a:tr h="429768">
                <a:tc>
                  <a:txBody>
                    <a:bodyPr wrap="square"/>
                    <a:lstStyle/>
                    <a:p>
                      <a:r>
                        <a:rPr sz="1050" b="0" i="0">
                          <a:solidFill>
                            <a:srgbClr val="14313B"/>
                          </a:solidFill>
                          <a:latin typeface="Calibri (MS)"/>
                        </a:rPr>
                        <a:t>Sosial</a:t>
                      </a:r>
                    </a:p>
                  </a:txBody>
                  <a:tcPr marL="73152" marR="73152" marT="36576" marB="36576" anchor="ctr">
                    <a:solidFill>
                      <a:srgbClr val="EAF8FA"/>
                    </a:solidFill>
                  </a:tcPr>
                </a:tc>
                <a:tc>
                  <a:txBody>
                    <a:bodyPr wrap="square"/>
                    <a:lstStyle/>
                    <a:p>
                      <a:r>
                        <a:rPr sz="1050" b="0" i="0">
                          <a:solidFill>
                            <a:srgbClr val="14313B"/>
                          </a:solidFill>
                          <a:latin typeface="Calibri (MS)"/>
                        </a:rPr>
                        <a:t>Indeks kepadatan</a:t>
                      </a:r>
                    </a:p>
                  </a:txBody>
                  <a:tcPr marL="73152" marR="73152" marT="36576" marB="36576" anchor="ctr">
                    <a:solidFill>
                      <a:srgbClr val="EAF8FA"/>
                    </a:solidFill>
                  </a:tcPr>
                </a:tc>
                <a:tc>
                  <a:txBody>
                    <a:bodyPr wrap="square"/>
                    <a:lstStyle/>
                    <a:p>
                      <a:pPr algn="ctr"/>
                      <a:r>
                        <a:rPr sz="1050" b="0" i="0">
                          <a:solidFill>
                            <a:srgbClr val="14313B"/>
                          </a:solidFill>
                          <a:latin typeface="Calibri (MS)"/>
                        </a:rPr>
                        <a:t>2,3638</a:t>
                      </a:r>
                    </a:p>
                  </a:txBody>
                  <a:tcPr marL="73152" marR="73152" marT="36576" marB="36576" anchor="ctr">
                    <a:solidFill>
                      <a:srgbClr val="C9F0D6"/>
                    </a:solidFill>
                  </a:tcPr>
                </a:tc>
                <a:tc>
                  <a:txBody>
                    <a:bodyPr wrap="square"/>
                    <a:lstStyle/>
                    <a:p>
                      <a:pPr algn="ctr"/>
                      <a:r>
                        <a:rPr sz="1050" b="0" i="0">
                          <a:solidFill>
                            <a:srgbClr val="14313B"/>
                          </a:solidFill>
                          <a:latin typeface="Calibri (MS)"/>
                        </a:rPr>
                        <a:t>2,4307</a:t>
                      </a:r>
                    </a:p>
                  </a:txBody>
                  <a:tcPr marL="73152" marR="73152" marT="36576" marB="36576" anchor="ctr">
                    <a:solidFill>
                      <a:srgbClr val="EAF8FA"/>
                    </a:solidFill>
                  </a:tcPr>
                </a:tc>
                <a:tc>
                  <a:txBody>
                    <a:bodyPr wrap="square"/>
                    <a:lstStyle/>
                    <a:p>
                      <a:pPr algn="ctr"/>
                      <a:r>
                        <a:rPr sz="1050" b="0" i="0">
                          <a:solidFill>
                            <a:srgbClr val="14313B"/>
                          </a:solidFill>
                          <a:latin typeface="Calibri (MS)"/>
                        </a:rPr>
                        <a:t>2,5462</a:t>
                      </a:r>
                    </a:p>
                  </a:txBody>
                  <a:tcPr marL="73152" marR="73152" marT="36576" marB="36576" anchor="ctr">
                    <a:solidFill>
                      <a:srgbClr val="EAF8FA"/>
                    </a:solidFill>
                  </a:tcPr>
                </a:tc>
                <a:tc>
                  <a:txBody>
                    <a:bodyPr wrap="square"/>
                    <a:lstStyle/>
                    <a:p>
                      <a:pPr algn="ctr"/>
                      <a:r>
                        <a:rPr sz="1050" b="0" i="0">
                          <a:solidFill>
                            <a:srgbClr val="14313B"/>
                          </a:solidFill>
                          <a:latin typeface="Calibri (MS)"/>
                        </a:rPr>
                        <a:t>+2,83%</a:t>
                      </a:r>
                    </a:p>
                  </a:txBody>
                  <a:tcPr marL="73152" marR="73152" marT="36576" marB="36576" anchor="ctr">
                    <a:solidFill>
                      <a:srgbClr val="EAF8FA"/>
                    </a:solidFill>
                  </a:tcPr>
                </a:tc>
                <a:tc>
                  <a:txBody>
                    <a:bodyPr wrap="square"/>
                    <a:lstStyle/>
                    <a:p>
                      <a:pPr algn="ctr"/>
                      <a:r>
                        <a:rPr sz="1050" b="0" i="0">
                          <a:solidFill>
                            <a:srgbClr val="14313B"/>
                          </a:solidFill>
                          <a:latin typeface="Calibri (MS)"/>
                        </a:rPr>
                        <a:t>+7,71%</a:t>
                      </a:r>
                    </a:p>
                  </a:txBody>
                  <a:tcPr marL="73152" marR="73152" marT="36576" marB="36576" anchor="ctr">
                    <a:solidFill>
                      <a:srgbClr val="EAF8FA"/>
                    </a:solidFill>
                  </a:tcPr>
                </a:tc>
                <a:tc>
                  <a:txBody>
                    <a:bodyPr wrap="square"/>
                    <a:lstStyle/>
                    <a:p>
                      <a:pPr algn="ctr"/>
                      <a:r>
                        <a:rPr sz="1050" b="0" i="0">
                          <a:solidFill>
                            <a:srgbClr val="14313B"/>
                          </a:solidFill>
                          <a:latin typeface="Calibri (MS)"/>
                        </a:rPr>
                        <a:t>Min (&lt; 2,0)</a:t>
                      </a:r>
                    </a:p>
                  </a:txBody>
                  <a:tcPr marL="73152" marR="73152" marT="36576" marB="36576" anchor="ctr">
                    <a:solidFill>
                      <a:srgbClr val="EAF8FA"/>
                    </a:solidFill>
                  </a:tcPr>
                </a:tc>
                <a:tc>
                  <a:txBody>
                    <a:bodyPr wrap="square"/>
                    <a:lstStyle/>
                    <a:p>
                      <a:pPr algn="ctr"/>
                      <a:r>
                        <a:rPr sz="1050" b="0" i="0">
                          <a:solidFill>
                            <a:srgbClr val="14313B"/>
                          </a:solidFill>
                          <a:latin typeface="Calibri (MS)"/>
                        </a:rPr>
                        <a:t>1 · 2 · 3</a:t>
                      </a:r>
                    </a:p>
                  </a:txBody>
                  <a:tcPr marL="73152" marR="73152" marT="36576" marB="36576" anchor="ctr">
                    <a:solidFill>
                      <a:srgbClr val="EAF8FA"/>
                    </a:solidFill>
                  </a:tcPr>
                </a:tc>
              </a:tr>
              <a:tr h="429768">
                <a:tc>
                  <a:txBody>
                    <a:bodyPr wrap="square"/>
                    <a:lstStyle/>
                    <a:p>
                      <a:r>
                        <a:rPr sz="1050" b="0" i="0">
                          <a:solidFill>
                            <a:srgbClr val="14313B"/>
                          </a:solidFill>
                          <a:latin typeface="Calibri (MS)"/>
                        </a:rPr>
                        <a:t/>
                      </a:r>
                    </a:p>
                  </a:txBody>
                  <a:tcPr marL="73152" marR="73152" marT="36576" marB="36576" anchor="ctr">
                    <a:solidFill>
                      <a:srgbClr val="FFFFFF"/>
                    </a:solidFill>
                  </a:tcPr>
                </a:tc>
                <a:tc>
                  <a:txBody>
                    <a:bodyPr wrap="square"/>
                    <a:lstStyle/>
                    <a:p>
                      <a:r>
                        <a:rPr sz="1050" b="0" i="0">
                          <a:solidFill>
                            <a:srgbClr val="14313B"/>
                          </a:solidFill>
                          <a:latin typeface="Calibri (MS)"/>
                        </a:rPr>
                        <a:t>Daya tarik destinasi</a:t>
                      </a:r>
                    </a:p>
                  </a:txBody>
                  <a:tcPr marL="73152" marR="73152" marT="36576" marB="36576" anchor="ctr">
                    <a:solidFill>
                      <a:srgbClr val="FFFFFF"/>
                    </a:solidFill>
                  </a:tcPr>
                </a:tc>
                <a:tc>
                  <a:txBody>
                    <a:bodyPr wrap="square"/>
                    <a:lstStyle/>
                    <a:p>
                      <a:pPr algn="ctr"/>
                      <a:r>
                        <a:rPr sz="1050" b="0" i="0">
                          <a:solidFill>
                            <a:srgbClr val="14313B"/>
                          </a:solidFill>
                          <a:latin typeface="Calibri (MS)"/>
                        </a:rPr>
                        <a:t>0,8132</a:t>
                      </a:r>
                    </a:p>
                  </a:txBody>
                  <a:tcPr marL="73152" marR="73152" marT="36576" marB="36576" anchor="ctr">
                    <a:solidFill>
                      <a:srgbClr val="FFFFFF"/>
                    </a:solidFill>
                  </a:tcPr>
                </a:tc>
                <a:tc>
                  <a:txBody>
                    <a:bodyPr wrap="square"/>
                    <a:lstStyle/>
                    <a:p>
                      <a:pPr algn="ctr"/>
                      <a:r>
                        <a:rPr sz="1050" b="0" i="0">
                          <a:solidFill>
                            <a:srgbClr val="14313B"/>
                          </a:solidFill>
                          <a:latin typeface="Calibri (MS)"/>
                        </a:rPr>
                        <a:t>0,8205</a:t>
                      </a:r>
                    </a:p>
                  </a:txBody>
                  <a:tcPr marL="73152" marR="73152" marT="36576" marB="36576" anchor="ctr">
                    <a:solidFill>
                      <a:srgbClr val="FFFFFF"/>
                    </a:solidFill>
                  </a:tcPr>
                </a:tc>
                <a:tc>
                  <a:txBody>
                    <a:bodyPr wrap="square"/>
                    <a:lstStyle/>
                    <a:p>
                      <a:pPr algn="ctr"/>
                      <a:r>
                        <a:rPr sz="1050" b="0" i="0">
                          <a:solidFill>
                            <a:srgbClr val="14313B"/>
                          </a:solidFill>
                          <a:latin typeface="Calibri (MS)"/>
                        </a:rPr>
                        <a:t>0,8322</a:t>
                      </a:r>
                    </a:p>
                  </a:txBody>
                  <a:tcPr marL="73152" marR="73152" marT="36576" marB="36576" anchor="ctr">
                    <a:solidFill>
                      <a:srgbClr val="C9F0D6"/>
                    </a:solidFill>
                  </a:tcPr>
                </a:tc>
                <a:tc>
                  <a:txBody>
                    <a:bodyPr wrap="square"/>
                    <a:lstStyle/>
                    <a:p>
                      <a:pPr algn="ctr"/>
                      <a:r>
                        <a:rPr sz="1050" b="0" i="0">
                          <a:solidFill>
                            <a:srgbClr val="14313B"/>
                          </a:solidFill>
                          <a:latin typeface="Calibri (MS)"/>
                        </a:rPr>
                        <a:t>+0,89%</a:t>
                      </a:r>
                    </a:p>
                  </a:txBody>
                  <a:tcPr marL="73152" marR="73152" marT="36576" marB="36576" anchor="ctr">
                    <a:solidFill>
                      <a:srgbClr val="FFFFFF"/>
                    </a:solidFill>
                  </a:tcPr>
                </a:tc>
                <a:tc>
                  <a:txBody>
                    <a:bodyPr wrap="square"/>
                    <a:lstStyle/>
                    <a:p>
                      <a:pPr algn="ctr"/>
                      <a:r>
                        <a:rPr sz="1050" b="0" i="0">
                          <a:solidFill>
                            <a:srgbClr val="14313B"/>
                          </a:solidFill>
                          <a:latin typeface="Calibri (MS)"/>
                        </a:rPr>
                        <a:t>+2,33%</a:t>
                      </a:r>
                    </a:p>
                  </a:txBody>
                  <a:tcPr marL="73152" marR="73152" marT="36576" marB="36576" anchor="ctr">
                    <a:solidFill>
                      <a:srgbClr val="FFFFFF"/>
                    </a:solidFill>
                  </a:tcPr>
                </a:tc>
                <a:tc>
                  <a:txBody>
                    <a:bodyPr wrap="square"/>
                    <a:lstStyle/>
                    <a:p>
                      <a:pPr algn="ctr"/>
                      <a:r>
                        <a:rPr sz="1050" b="0" i="0">
                          <a:solidFill>
                            <a:srgbClr val="14313B"/>
                          </a:solidFill>
                          <a:latin typeface="Calibri (MS)"/>
                        </a:rPr>
                        <a:t>Maks</a:t>
                      </a:r>
                    </a:p>
                  </a:txBody>
                  <a:tcPr marL="73152" marR="73152" marT="36576" marB="36576" anchor="ctr">
                    <a:solidFill>
                      <a:srgbClr val="FFFFFF"/>
                    </a:solidFill>
                  </a:tcPr>
                </a:tc>
                <a:tc>
                  <a:txBody>
                    <a:bodyPr wrap="square"/>
                    <a:lstStyle/>
                    <a:p>
                      <a:pPr algn="ctr"/>
                      <a:r>
                        <a:rPr sz="1050" b="0" i="0">
                          <a:solidFill>
                            <a:srgbClr val="14313B"/>
                          </a:solidFill>
                          <a:latin typeface="Calibri (MS)"/>
                        </a:rPr>
                        <a:t>3 · 2 · 1</a:t>
                      </a:r>
                    </a:p>
                  </a:txBody>
                  <a:tcPr marL="73152" marR="73152" marT="36576" marB="36576" anchor="ctr">
                    <a:solidFill>
                      <a:srgbClr val="FFFFFF"/>
                    </a:solidFill>
                  </a:tcPr>
                </a:tc>
              </a:tr>
              <a:tr h="429768">
                <a:tc>
                  <a:txBody>
                    <a:bodyPr wrap="square"/>
                    <a:lstStyle/>
                    <a:p>
                      <a:r>
                        <a:rPr sz="1050" b="0" i="0">
                          <a:solidFill>
                            <a:srgbClr val="14313B"/>
                          </a:solidFill>
                          <a:latin typeface="Calibri (MS)"/>
                        </a:rPr>
                        <a:t>Skala</a:t>
                      </a:r>
                    </a:p>
                  </a:txBody>
                  <a:tcPr marL="73152" marR="73152" marT="36576" marB="36576" anchor="ctr">
                    <a:solidFill>
                      <a:srgbClr val="EAF8FA"/>
                    </a:solidFill>
                  </a:tcPr>
                </a:tc>
                <a:tc>
                  <a:txBody>
                    <a:bodyPr wrap="square"/>
                    <a:lstStyle/>
                    <a:p>
                      <a:r>
                        <a:rPr sz="1050" b="0" i="0">
                          <a:solidFill>
                            <a:srgbClr val="14313B"/>
                          </a:solidFill>
                          <a:latin typeface="Calibri (MS)"/>
                        </a:rPr>
                        <a:t>Jumlah wisatawan (kunjungan)</a:t>
                      </a:r>
                    </a:p>
                  </a:txBody>
                  <a:tcPr marL="73152" marR="73152" marT="36576" marB="36576" anchor="ctr">
                    <a:solidFill>
                      <a:srgbClr val="EAF8FA"/>
                    </a:solidFill>
                  </a:tcPr>
                </a:tc>
                <a:tc>
                  <a:txBody>
                    <a:bodyPr wrap="square"/>
                    <a:lstStyle/>
                    <a:p>
                      <a:pPr algn="ctr"/>
                      <a:r>
                        <a:rPr sz="1050" b="0" i="0">
                          <a:solidFill>
                            <a:srgbClr val="14313B"/>
                          </a:solidFill>
                          <a:latin typeface="Calibri (MS)"/>
                        </a:rPr>
                        <a:t>96.197.154</a:t>
                      </a:r>
                    </a:p>
                  </a:txBody>
                  <a:tcPr marL="73152" marR="73152" marT="36576" marB="36576" anchor="ctr">
                    <a:solidFill>
                      <a:srgbClr val="EAF8FA"/>
                    </a:solidFill>
                  </a:tcPr>
                </a:tc>
                <a:tc>
                  <a:txBody>
                    <a:bodyPr wrap="square"/>
                    <a:lstStyle/>
                    <a:p>
                      <a:pPr algn="ctr"/>
                      <a:r>
                        <a:rPr sz="1050" b="0" i="0">
                          <a:solidFill>
                            <a:srgbClr val="14313B"/>
                          </a:solidFill>
                          <a:latin typeface="Calibri (MS)"/>
                        </a:rPr>
                        <a:t>98.917.127</a:t>
                      </a:r>
                    </a:p>
                  </a:txBody>
                  <a:tcPr marL="73152" marR="73152" marT="36576" marB="36576" anchor="ctr">
                    <a:solidFill>
                      <a:srgbClr val="EAF8FA"/>
                    </a:solidFill>
                  </a:tcPr>
                </a:tc>
                <a:tc>
                  <a:txBody>
                    <a:bodyPr wrap="square"/>
                    <a:lstStyle/>
                    <a:p>
                      <a:pPr algn="ctr"/>
                      <a:r>
                        <a:rPr sz="1050" b="0" i="0">
                          <a:solidFill>
                            <a:srgbClr val="14313B"/>
                          </a:solidFill>
                          <a:latin typeface="Calibri (MS)"/>
                        </a:rPr>
                        <a:t>103.618.412</a:t>
                      </a:r>
                    </a:p>
                  </a:txBody>
                  <a:tcPr marL="73152" marR="73152" marT="36576" marB="36576" anchor="ctr">
                    <a:solidFill>
                      <a:srgbClr val="EAF8FA"/>
                    </a:solidFill>
                  </a:tcPr>
                </a:tc>
                <a:tc>
                  <a:txBody>
                    <a:bodyPr wrap="square"/>
                    <a:lstStyle/>
                    <a:p>
                      <a:pPr algn="ctr"/>
                      <a:r>
                        <a:rPr sz="1050" b="0" i="0">
                          <a:solidFill>
                            <a:srgbClr val="14313B"/>
                          </a:solidFill>
                          <a:latin typeface="Calibri (MS)"/>
                        </a:rPr>
                        <a:t>+2,83%</a:t>
                      </a:r>
                    </a:p>
                  </a:txBody>
                  <a:tcPr marL="73152" marR="73152" marT="36576" marB="36576" anchor="ctr">
                    <a:solidFill>
                      <a:srgbClr val="EAF8FA"/>
                    </a:solidFill>
                  </a:tcPr>
                </a:tc>
                <a:tc>
                  <a:txBody>
                    <a:bodyPr wrap="square"/>
                    <a:lstStyle/>
                    <a:p>
                      <a:pPr algn="ctr"/>
                      <a:r>
                        <a:rPr sz="1050" b="0" i="0">
                          <a:solidFill>
                            <a:srgbClr val="14313B"/>
                          </a:solidFill>
                          <a:latin typeface="Calibri (MS)"/>
                        </a:rPr>
                        <a:t>+7,71%</a:t>
                      </a:r>
                    </a:p>
                  </a:txBody>
                  <a:tcPr marL="73152" marR="73152" marT="36576" marB="36576" anchor="ctr">
                    <a:solidFill>
                      <a:srgbClr val="EAF8FA"/>
                    </a:solidFill>
                  </a:tcPr>
                </a:tc>
                <a:tc>
                  <a:txBody>
                    <a:bodyPr wrap="square"/>
                    <a:lstStyle/>
                    <a:p>
                      <a:pPr algn="ctr"/>
                      <a:r>
                        <a:rPr sz="1050" b="0" i="0">
                          <a:solidFill>
                            <a:srgbClr val="14313B"/>
                          </a:solidFill>
                          <a:latin typeface="Calibri (MS)"/>
                        </a:rPr>
                        <a:t>Dilaporkan</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r h="429768">
                <a:tc>
                  <a:txBody>
                    <a:bodyPr wrap="square"/>
                    <a:lstStyle/>
                    <a:p>
                      <a:r>
                        <a:rPr sz="1050" b="0" i="0">
                          <a:solidFill>
                            <a:srgbClr val="14313B"/>
                          </a:solidFill>
                          <a:latin typeface="Calibri (MS)"/>
                        </a:rPr>
                        <a:t>Pelengkap</a:t>
                      </a:r>
                    </a:p>
                  </a:txBody>
                  <a:tcPr marL="73152" marR="73152" marT="36576" marB="36576" anchor="ctr">
                    <a:solidFill>
                      <a:srgbClr val="FFFFFF"/>
                    </a:solidFill>
                  </a:tcPr>
                </a:tc>
                <a:tc>
                  <a:txBody>
                    <a:bodyPr wrap="square"/>
                    <a:lstStyle/>
                    <a:p>
                      <a:r>
                        <a:rPr sz="1050" b="0" i="0">
                          <a:solidFill>
                            <a:srgbClr val="14313B"/>
                          </a:solidFill>
                          <a:latin typeface="Calibri (MS)"/>
                        </a:rPr>
                        <a:t>Jumlah hotel (unit)</a:t>
                      </a:r>
                    </a:p>
                  </a:txBody>
                  <a:tcPr marL="73152" marR="73152" marT="36576" marB="36576" anchor="ctr">
                    <a:solidFill>
                      <a:srgbClr val="FFFFFF"/>
                    </a:solidFill>
                  </a:tcPr>
                </a:tc>
                <a:tc>
                  <a:txBody>
                    <a:bodyPr wrap="square"/>
                    <a:lstStyle/>
                    <a:p>
                      <a:pPr algn="ctr"/>
                      <a:r>
                        <a:rPr sz="1050" b="0" i="0">
                          <a:solidFill>
                            <a:srgbClr val="14313B"/>
                          </a:solidFill>
                          <a:latin typeface="Calibri (MS)"/>
                        </a:rPr>
                        <a:t>5.404</a:t>
                      </a:r>
                    </a:p>
                  </a:txBody>
                  <a:tcPr marL="73152" marR="73152" marT="36576" marB="36576" anchor="ctr">
                    <a:solidFill>
                      <a:srgbClr val="FFFFFF"/>
                    </a:solidFill>
                  </a:tcPr>
                </a:tc>
                <a:tc>
                  <a:txBody>
                    <a:bodyPr wrap="square"/>
                    <a:lstStyle/>
                    <a:p>
                      <a:pPr algn="ctr"/>
                      <a:r>
                        <a:rPr sz="1050" b="0" i="0">
                          <a:solidFill>
                            <a:srgbClr val="14313B"/>
                          </a:solidFill>
                          <a:latin typeface="Calibri (MS)"/>
                        </a:rPr>
                        <a:t>5.631</a:t>
                      </a:r>
                    </a:p>
                  </a:txBody>
                  <a:tcPr marL="73152" marR="73152" marT="36576" marB="36576" anchor="ctr">
                    <a:solidFill>
                      <a:srgbClr val="FFFFFF"/>
                    </a:solidFill>
                  </a:tcPr>
                </a:tc>
                <a:tc>
                  <a:txBody>
                    <a:bodyPr wrap="square"/>
                    <a:lstStyle/>
                    <a:p>
                      <a:pPr algn="ctr"/>
                      <a:r>
                        <a:rPr sz="1050" b="0" i="0">
                          <a:solidFill>
                            <a:srgbClr val="14313B"/>
                          </a:solidFill>
                          <a:latin typeface="Calibri (MS)"/>
                        </a:rPr>
                        <a:t>6.033</a:t>
                      </a:r>
                    </a:p>
                  </a:txBody>
                  <a:tcPr marL="73152" marR="73152" marT="36576" marB="36576" anchor="ctr">
                    <a:solidFill>
                      <a:srgbClr val="FFFFFF"/>
                    </a:solidFill>
                  </a:tcPr>
                </a:tc>
                <a:tc>
                  <a:txBody>
                    <a:bodyPr wrap="square"/>
                    <a:lstStyle/>
                    <a:p>
                      <a:pPr algn="ctr"/>
                      <a:r>
                        <a:rPr sz="1050" b="0" i="0">
                          <a:solidFill>
                            <a:srgbClr val="14313B"/>
                          </a:solidFill>
                          <a:latin typeface="Calibri (MS)"/>
                        </a:rPr>
                        <a:t>+4,19%</a:t>
                      </a:r>
                    </a:p>
                  </a:txBody>
                  <a:tcPr marL="73152" marR="73152" marT="36576" marB="36576" anchor="ctr">
                    <a:solidFill>
                      <a:srgbClr val="FFFFFF"/>
                    </a:solidFill>
                  </a:tcPr>
                </a:tc>
                <a:tc>
                  <a:txBody>
                    <a:bodyPr wrap="square"/>
                    <a:lstStyle/>
                    <a:p>
                      <a:pPr algn="ctr"/>
                      <a:r>
                        <a:rPr sz="1050" b="0" i="0">
                          <a:solidFill>
                            <a:srgbClr val="14313B"/>
                          </a:solidFill>
                          <a:latin typeface="Calibri (MS)"/>
                        </a:rPr>
                        <a:t>+11,63%</a:t>
                      </a:r>
                    </a:p>
                  </a:txBody>
                  <a:tcPr marL="73152" marR="73152" marT="36576" marB="36576" anchor="ctr">
                    <a:solidFill>
                      <a:srgbClr val="FFFFFF"/>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FFFFFF"/>
                    </a:solidFill>
                  </a:tcPr>
                </a:tc>
                <a:tc>
                  <a:txBody>
                    <a:bodyPr wrap="square"/>
                    <a:lstStyle/>
                    <a:p>
                      <a:pPr algn="ctr"/>
                      <a:r>
                        <a:rPr sz="1050" b="0" i="0">
                          <a:solidFill>
                            <a:srgbClr val="14313B"/>
                          </a:solidFill>
                          <a:latin typeface="Calibri (MS)"/>
                        </a:rPr>
                        <a:t>—</a:t>
                      </a:r>
                    </a:p>
                  </a:txBody>
                  <a:tcPr marL="73152" marR="73152" marT="36576" marB="36576" anchor="ctr">
                    <a:solidFill>
                      <a:srgbClr val="FFFFFF"/>
                    </a:solidFill>
                  </a:tcPr>
                </a:tc>
              </a:tr>
              <a:tr h="429768">
                <a:tc>
                  <a:txBody>
                    <a:bodyPr wrap="square"/>
                    <a:lstStyle/>
                    <a:p>
                      <a:r>
                        <a:rPr sz="1050" b="0" i="0">
                          <a:solidFill>
                            <a:srgbClr val="14313B"/>
                          </a:solidFill>
                          <a:latin typeface="Calibri (MS)"/>
                        </a:rPr>
                        <a:t/>
                      </a:r>
                    </a:p>
                  </a:txBody>
                  <a:tcPr marL="73152" marR="73152" marT="36576" marB="36576" anchor="ctr">
                    <a:solidFill>
                      <a:srgbClr val="EAF8FA"/>
                    </a:solidFill>
                  </a:tcPr>
                </a:tc>
                <a:tc>
                  <a:txBody>
                    <a:bodyPr wrap="square"/>
                    <a:lstStyle/>
                    <a:p>
                      <a:r>
                        <a:rPr sz="1050" b="0" i="0">
                          <a:solidFill>
                            <a:srgbClr val="14313B"/>
                          </a:solidFill>
                          <a:latin typeface="Calibri (MS)"/>
                        </a:rPr>
                        <a:t>Jumlah ODTW (unit)</a:t>
                      </a:r>
                    </a:p>
                  </a:txBody>
                  <a:tcPr marL="73152" marR="73152" marT="36576" marB="36576" anchor="ctr">
                    <a:solidFill>
                      <a:srgbClr val="EAF8FA"/>
                    </a:solidFill>
                  </a:tcPr>
                </a:tc>
                <a:tc>
                  <a:txBody>
                    <a:bodyPr wrap="square"/>
                    <a:lstStyle/>
                    <a:p>
                      <a:pPr algn="ctr"/>
                      <a:r>
                        <a:rPr sz="1050" b="0" i="0">
                          <a:solidFill>
                            <a:srgbClr val="14313B"/>
                          </a:solidFill>
                          <a:latin typeface="Calibri (MS)"/>
                        </a:rPr>
                        <a:t>367</a:t>
                      </a:r>
                    </a:p>
                  </a:txBody>
                  <a:tcPr marL="73152" marR="73152" marT="36576" marB="36576" anchor="ctr">
                    <a:solidFill>
                      <a:srgbClr val="EAF8FA"/>
                    </a:solidFill>
                  </a:tcPr>
                </a:tc>
                <a:tc>
                  <a:txBody>
                    <a:bodyPr wrap="square"/>
                    <a:lstStyle/>
                    <a:p>
                      <a:pPr algn="ctr"/>
                      <a:r>
                        <a:rPr sz="1050" b="0" i="0">
                          <a:solidFill>
                            <a:srgbClr val="14313B"/>
                          </a:solidFill>
                          <a:latin typeface="Calibri (MS)"/>
                        </a:rPr>
                        <a:t>394</a:t>
                      </a:r>
                    </a:p>
                  </a:txBody>
                  <a:tcPr marL="73152" marR="73152" marT="36576" marB="36576" anchor="ctr">
                    <a:solidFill>
                      <a:srgbClr val="EAF8FA"/>
                    </a:solidFill>
                  </a:tcPr>
                </a:tc>
                <a:tc>
                  <a:txBody>
                    <a:bodyPr wrap="square"/>
                    <a:lstStyle/>
                    <a:p>
                      <a:pPr algn="ctr"/>
                      <a:r>
                        <a:rPr sz="1050" b="0" i="0">
                          <a:solidFill>
                            <a:srgbClr val="14313B"/>
                          </a:solidFill>
                          <a:latin typeface="Calibri (MS)"/>
                        </a:rPr>
                        <a:t>449</a:t>
                      </a:r>
                    </a:p>
                  </a:txBody>
                  <a:tcPr marL="73152" marR="73152" marT="36576" marB="36576" anchor="ctr">
                    <a:solidFill>
                      <a:srgbClr val="EAF8FA"/>
                    </a:solidFill>
                  </a:tcPr>
                </a:tc>
                <a:tc>
                  <a:txBody>
                    <a:bodyPr wrap="square"/>
                    <a:lstStyle/>
                    <a:p>
                      <a:pPr algn="ctr"/>
                      <a:r>
                        <a:rPr sz="1050" b="0" i="0">
                          <a:solidFill>
                            <a:srgbClr val="14313B"/>
                          </a:solidFill>
                          <a:latin typeface="Calibri (MS)"/>
                        </a:rPr>
                        <a:t>+7,33%</a:t>
                      </a:r>
                    </a:p>
                  </a:txBody>
                  <a:tcPr marL="73152" marR="73152" marT="36576" marB="36576" anchor="ctr">
                    <a:solidFill>
                      <a:srgbClr val="EAF8FA"/>
                    </a:solidFill>
                  </a:tcPr>
                </a:tc>
                <a:tc>
                  <a:txBody>
                    <a:bodyPr wrap="square"/>
                    <a:lstStyle/>
                    <a:p>
                      <a:pPr algn="ctr"/>
                      <a:r>
                        <a:rPr sz="1050" b="0" i="0">
                          <a:solidFill>
                            <a:srgbClr val="14313B"/>
                          </a:solidFill>
                          <a:latin typeface="Calibri (MS)"/>
                        </a:rPr>
                        <a:t>+22,22%</a:t>
                      </a:r>
                    </a:p>
                  </a:txBody>
                  <a:tcPr marL="73152" marR="73152" marT="36576" marB="36576" anchor="ctr">
                    <a:solidFill>
                      <a:srgbClr val="EAF8FA"/>
                    </a:solidFill>
                  </a:tcPr>
                </a:tc>
                <a:tc>
                  <a:txBody>
                    <a:bodyPr wrap="square"/>
                    <a:lstStyle/>
                    <a:p>
                      <a:pPr algn="ctr"/>
                      <a:r>
                        <a:rPr sz="1050" b="0" i="0">
                          <a:solidFill>
                            <a:srgbClr val="14313B"/>
                          </a:solidFill>
                          <a:latin typeface="Calibri (MS)"/>
                        </a:rPr>
                        <a:t>Deskriptif</a:t>
                      </a:r>
                    </a:p>
                  </a:txBody>
                  <a:tcPr marL="73152" marR="73152" marT="36576" marB="36576" anchor="ctr">
                    <a:solidFill>
                      <a:srgbClr val="EAF8FA"/>
                    </a:solidFill>
                  </a:tcPr>
                </a:tc>
                <a:tc>
                  <a:txBody>
                    <a:bodyPr wrap="square"/>
                    <a:lstStyle/>
                    <a:p>
                      <a:pPr algn="ctr"/>
                      <a:r>
                        <a:rPr sz="1050" b="0" i="0">
                          <a:solidFill>
                            <a:srgbClr val="14313B"/>
                          </a:solidFill>
                          <a:latin typeface="Calibri (MS)"/>
                        </a:rPr>
                        <a:t>—</a:t>
                      </a:r>
                    </a:p>
                  </a:txBody>
                  <a:tcPr marL="73152" marR="73152" marT="36576" marB="36576" anchor="ctr">
                    <a:solidFill>
                      <a:srgbClr val="EAF8FA"/>
                    </a:solidFill>
                  </a:tcPr>
                </a:tc>
              </a:tr>
            </a:tbl>
          </a:graphicData>
        </a:graphic>
      </p:graphicFrame>
      <p:sp>
        <p:nvSpPr>
          <p:cNvPr id="28" name="Rounded Rectangle 27"/>
          <p:cNvSpPr/>
          <p:nvPr/>
        </p:nvSpPr>
        <p:spPr>
          <a:xfrm>
            <a:off x="822960" y="763524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Sel hijau = skenario terbaik pada indikator berperingkat. Untuk indikator berarah minimum, selisih negatif berarti lebih baik. Tidak ada skenario yang unggul di ketiga dimensi sekaligus.</a:t>
            </a:r>
          </a:p>
        </p:txBody>
      </p:sp>
      <p:sp>
        <p:nvSpPr>
          <p:cNvPr id="29" name="TextBox 2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4.8.3 (Tabel 60); hasil_simulasi_skenario.xlsx (Tabel 2 KPI, Tabel 3 Peringkat). Hotel dan ODTW dari indikator pelengkap.</a:t>
            </a:r>
          </a:p>
        </p:txBody>
      </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75 · KPI pelengkap per skenario tahun 2050</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153</a:t>
            </a:r>
          </a:p>
        </p:txBody>
      </p:sp>
      <p:graphicFrame>
        <p:nvGraphicFramePr>
          <p:cNvPr name="Table 26" id="26"/>
          <p:cNvGraphicFramePr>
            <a:graphicFrameLocks noGrp="true"/>
          </p:cNvGraphicFramePr>
          <p:nvPr/>
        </p:nvGraphicFramePr>
        <p:xfrm>
          <a:off x="822960" y="2286000"/>
          <a:ext cx="16573500" cy="3911600"/>
        </p:xfrm>
        <a:graphic>
          <a:graphicData uri="http://schemas.openxmlformats.org/drawingml/2006/table">
            <a:tbl>
              <a:tblPr/>
              <a:tblGrid>
                <a:gridCol w="5708134"/>
                <a:gridCol w="2288942"/>
                <a:gridCol w="2478897"/>
                <a:gridCol w="3238718"/>
                <a:gridCol w="2858809"/>
              </a:tblGrid>
              <a:tr h="5588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Indikator 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Tingkat penghunian kamar (gambaran)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hotel dan akomodasi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6.033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ODTW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Investasi kumulatif 2025–2050 (miliar Rp)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Tahun batas kepadatan 2,0 terlewati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4.8.3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Rasio daya dukung lahan (batas &gt; 0,331)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27" id="27"/>
          <p:cNvSpPr txBox="true"/>
          <p:nvPr/>
        </p:nvSpPr>
        <p:spPr>
          <a:xfrm rot="0">
            <a:off x="822960" y="6526530"/>
            <a:ext cx="16642080" cy="971550"/>
          </a:xfrm>
          <a:prstGeom prst="rect">
            <a:avLst/>
          </a:prstGeom>
        </p:spPr>
        <p:txBody>
          <a:bodyPr anchor="t" rtlCol="false" tIns="0" lIns="0" bIns="0" rIns="0">
            <a:spAutoFit/>
          </a:bodyPr>
          <a:lstStyle/>
          <a:p>
            <a:pPr algn="l">
              <a:lnSpc>
                <a:spcPts val="1788"/>
              </a:lnSpc>
            </a:pPr>
            <a:r>
              <a:rPr lang="en-US" sz="1490" i="true">
                <a:solidFill>
                  <a:srgbClr val="5E6E78"/>
                </a:solidFill>
                <a:latin typeface="Calibri (MS) Italics"/>
                <a:ea typeface="Calibri (MS) Italics"/>
                <a:cs typeface="Calibri (MS) Italics"/>
                <a:sym typeface="Calibri (MS) Italics"/>
              </a:rPr>
              <a:t>TPK tercantum sebagai KPI gambaran pada Tabel 21 buku tetapi tidak ada di Tabel 60; nilainya diambil dari hasil_simulasi_skenario.xlsx (23 run: 3 skenario × 7 kondisi + 2 simulasi kontribusi).</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76 · Grafik Skenario 2025–2050 (1/2)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Lintasan tiga skenario: Business-as-Usual, Sustainable, dan Development Priority</a:t>
            </a:r>
          </a:p>
        </p:txBody>
      </p:sp>
      <p:sp>
        <p:nvSpPr>
          <p:cNvPr id="27" name="Rounded Rectangle 26"/>
          <p:cNvSpPr/>
          <p:nvPr/>
        </p:nvSpPr>
        <p:spPr>
          <a:xfrm>
            <a:off x="82296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Jumlah Wisatawan</a:t>
            </a:r>
            <a:r>
              <a:rPr sz="1050" b="0" i="0">
                <a:solidFill>
                  <a:srgbClr val="D7EEF2"/>
                </a:solidFill>
                <a:latin typeface="Calibri (MS)"/>
              </a:rPr>
              <a:t>   Buku Gambar 57</a:t>
            </a:r>
          </a:p>
        </p:txBody>
      </p:sp>
      <p:pic>
        <p:nvPicPr>
          <p:cNvPr id="28" name="Picture 27" descr="image60.png"/>
          <p:cNvPicPr>
            <a:picLocks noChangeAspect="1"/>
          </p:cNvPicPr>
          <p:nvPr/>
        </p:nvPicPr>
        <p:blipFill>
          <a:blip r:embed="rId7"/>
          <a:stretch>
            <a:fillRect/>
          </a:stretch>
        </p:blipFill>
        <p:spPr>
          <a:xfrm>
            <a:off x="822960" y="2512771"/>
            <a:ext cx="5394960" cy="3021177"/>
          </a:xfrm>
          <a:prstGeom prst="rect">
            <a:avLst/>
          </a:prstGeom>
          <a:ln w="12700">
            <a:solidFill>
              <a:srgbClr val="CFE5E9"/>
            </a:solidFill>
          </a:ln>
        </p:spPr>
      </p:pic>
      <p:sp>
        <p:nvSpPr>
          <p:cNvPr id="29" name="Rounded Rectangle 28"/>
          <p:cNvSpPr/>
          <p:nvPr/>
        </p:nvSpPr>
        <p:spPr>
          <a:xfrm>
            <a:off x="822960" y="5806440"/>
            <a:ext cx="53949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50" b="0" i="0">
                <a:solidFill>
                  <a:srgbClr val="14313B"/>
                </a:solidFill>
                <a:latin typeface="Calibri (MS)"/>
              </a:rPr>
              <a:t>DP tertinggi (103,6 juta), disusul Sustainable (98,9 juta) dan BAU (96,2 juta). Garis berpisah perlahan karena insentif bekerja lewat investasi → ODTW → Daya Tarik.</a:t>
            </a:r>
          </a:p>
        </p:txBody>
      </p:sp>
      <p:sp>
        <p:nvSpPr>
          <p:cNvPr id="30" name="Rounded Rectangle 29"/>
          <p:cNvSpPr/>
          <p:nvPr/>
        </p:nvSpPr>
        <p:spPr>
          <a:xfrm>
            <a:off x="644652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PDRB Sektor Pariwisata</a:t>
            </a:r>
            <a:r>
              <a:rPr sz="1050" b="0" i="0">
                <a:solidFill>
                  <a:srgbClr val="D7EEF2"/>
                </a:solidFill>
                <a:latin typeface="Calibri (MS)"/>
              </a:rPr>
              <a:t>   Buku Gambar 58</a:t>
            </a:r>
          </a:p>
        </p:txBody>
      </p:sp>
      <p:pic>
        <p:nvPicPr>
          <p:cNvPr id="31" name="Picture 30" descr="image61.png"/>
          <p:cNvPicPr>
            <a:picLocks noChangeAspect="1"/>
          </p:cNvPicPr>
          <p:nvPr/>
        </p:nvPicPr>
        <p:blipFill>
          <a:blip r:embed="rId8"/>
          <a:stretch>
            <a:fillRect/>
          </a:stretch>
        </p:blipFill>
        <p:spPr>
          <a:xfrm>
            <a:off x="6446520" y="2512771"/>
            <a:ext cx="5394960" cy="3021177"/>
          </a:xfrm>
          <a:prstGeom prst="rect">
            <a:avLst/>
          </a:prstGeom>
          <a:ln w="12700">
            <a:solidFill>
              <a:srgbClr val="CFE5E9"/>
            </a:solidFill>
          </a:ln>
        </p:spPr>
      </p:pic>
      <p:sp>
        <p:nvSpPr>
          <p:cNvPr id="32" name="Rounded Rectangle 31"/>
          <p:cNvSpPr/>
          <p:nvPr/>
        </p:nvSpPr>
        <p:spPr>
          <a:xfrm>
            <a:off x="6446520" y="5806440"/>
            <a:ext cx="53949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50" b="0" i="0">
                <a:solidFill>
                  <a:srgbClr val="14313B"/>
                </a:solidFill>
                <a:latin typeface="Calibri (MS)"/>
              </a:rPr>
              <a:t>Polanya sama dengan wisatawan karena PDRB sebanding dengan jumlah wisatawan: DP +7,71%, Sustainable +2,83% terhadap BAU.</a:t>
            </a:r>
          </a:p>
        </p:txBody>
      </p:sp>
      <p:sp>
        <p:nvSpPr>
          <p:cNvPr id="33" name="Rounded Rectangle 32"/>
          <p:cNvSpPr/>
          <p:nvPr/>
        </p:nvSpPr>
        <p:spPr>
          <a:xfrm>
            <a:off x="1207008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Rasio Daya Dukung Lahan</a:t>
            </a:r>
            <a:r>
              <a:rPr sz="1050" b="0" i="0">
                <a:solidFill>
                  <a:srgbClr val="D7EEF2"/>
                </a:solidFill>
                <a:latin typeface="Calibri (MS)"/>
              </a:rPr>
              <a:t>   Buku Gambar 59</a:t>
            </a:r>
          </a:p>
        </p:txBody>
      </p:sp>
      <p:pic>
        <p:nvPicPr>
          <p:cNvPr id="34" name="Picture 33" descr="image62.png"/>
          <p:cNvPicPr>
            <a:picLocks noChangeAspect="1"/>
          </p:cNvPicPr>
          <p:nvPr/>
        </p:nvPicPr>
        <p:blipFill>
          <a:blip r:embed="rId9"/>
          <a:stretch>
            <a:fillRect/>
          </a:stretch>
        </p:blipFill>
        <p:spPr>
          <a:xfrm>
            <a:off x="12070080" y="2512771"/>
            <a:ext cx="5394960" cy="3021177"/>
          </a:xfrm>
          <a:prstGeom prst="rect">
            <a:avLst/>
          </a:prstGeom>
          <a:ln w="12700">
            <a:solidFill>
              <a:srgbClr val="CFE5E9"/>
            </a:solidFill>
          </a:ln>
        </p:spPr>
      </p:pic>
      <p:sp>
        <p:nvSpPr>
          <p:cNvPr id="35" name="Rounded Rectangle 34"/>
          <p:cNvSpPr/>
          <p:nvPr/>
        </p:nvSpPr>
        <p:spPr>
          <a:xfrm>
            <a:off x="12070080" y="5806440"/>
            <a:ext cx="53949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50" b="0" i="0">
                <a:solidFill>
                  <a:srgbClr val="14313B"/>
                </a:solidFill>
                <a:latin typeface="Calibri (MS)"/>
              </a:rPr>
              <a:t>Ketiga skenario turun dari 0,826 ke ±0,614 dan tetap jauh di atas ambang 0,331. Sustainable sedikit lebih tinggi (0,6180).</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4.8.3 (Gambar 57–61); hasil_simulasi_skenario.xlsx (Tahun Ambang Kepadatan).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76 · Grafik Skenario 2025–2050 (2/2)</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Lintasan tiga skenario: Business-as-Usual, Sustainable, dan Development Priority</a:t>
            </a:r>
          </a:p>
        </p:txBody>
      </p:sp>
      <p:sp>
        <p:nvSpPr>
          <p:cNvPr id="27" name="Rounded Rectangle 26"/>
          <p:cNvSpPr/>
          <p:nvPr/>
        </p:nvSpPr>
        <p:spPr>
          <a:xfrm>
            <a:off x="82296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Lahan Terbangun</a:t>
            </a:r>
            <a:r>
              <a:rPr sz="1050" b="0" i="0">
                <a:solidFill>
                  <a:srgbClr val="D7EEF2"/>
                </a:solidFill>
                <a:latin typeface="Calibri (MS)"/>
              </a:rPr>
              <a:t>   Buku Gambar 60</a:t>
            </a:r>
          </a:p>
        </p:txBody>
      </p:sp>
      <p:pic>
        <p:nvPicPr>
          <p:cNvPr id="28" name="Picture 27" descr="image63.png"/>
          <p:cNvPicPr>
            <a:picLocks noChangeAspect="1"/>
          </p:cNvPicPr>
          <p:nvPr/>
        </p:nvPicPr>
        <p:blipFill>
          <a:blip r:embed="rId7"/>
          <a:stretch>
            <a:fillRect/>
          </a:stretch>
        </p:blipFill>
        <p:spPr>
          <a:xfrm>
            <a:off x="822960" y="2512771"/>
            <a:ext cx="5394960" cy="3021177"/>
          </a:xfrm>
          <a:prstGeom prst="rect">
            <a:avLst/>
          </a:prstGeom>
          <a:ln w="12700">
            <a:solidFill>
              <a:srgbClr val="CFE5E9"/>
            </a:solidFill>
          </a:ln>
        </p:spPr>
      </p:pic>
      <p:sp>
        <p:nvSpPr>
          <p:cNvPr id="29" name="Rounded Rectangle 28"/>
          <p:cNvSpPr/>
          <p:nvPr/>
        </p:nvSpPr>
        <p:spPr>
          <a:xfrm>
            <a:off x="822960" y="5806440"/>
            <a:ext cx="53949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50" b="0" i="0">
                <a:solidFill>
                  <a:srgbClr val="14313B"/>
                </a:solidFill>
                <a:latin typeface="Calibri (MS)"/>
              </a:rPr>
              <a:t>Ketiga garis hampir berhimpit: Sustainable hanya 0,91% lebih rendah, karena konversi non-pariwisata tetap berjalan.</a:t>
            </a:r>
          </a:p>
        </p:txBody>
      </p:sp>
      <p:sp>
        <p:nvSpPr>
          <p:cNvPr id="30" name="Rounded Rectangle 29"/>
          <p:cNvSpPr/>
          <p:nvPr/>
        </p:nvSpPr>
        <p:spPr>
          <a:xfrm>
            <a:off x="644652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Indeks Kepadatan</a:t>
            </a:r>
            <a:r>
              <a:rPr sz="1050" b="0" i="0">
                <a:solidFill>
                  <a:srgbClr val="D7EEF2"/>
                </a:solidFill>
                <a:latin typeface="Calibri (MS)"/>
              </a:rPr>
              <a:t>   Buku Gambar 61</a:t>
            </a:r>
          </a:p>
        </p:txBody>
      </p:sp>
      <p:pic>
        <p:nvPicPr>
          <p:cNvPr id="31" name="Picture 30" descr="image64.png"/>
          <p:cNvPicPr>
            <a:picLocks noChangeAspect="1"/>
          </p:cNvPicPr>
          <p:nvPr/>
        </p:nvPicPr>
        <p:blipFill>
          <a:blip r:embed="rId8"/>
          <a:stretch>
            <a:fillRect/>
          </a:stretch>
        </p:blipFill>
        <p:spPr>
          <a:xfrm>
            <a:off x="6446520" y="2512771"/>
            <a:ext cx="5394960" cy="3021177"/>
          </a:xfrm>
          <a:prstGeom prst="rect">
            <a:avLst/>
          </a:prstGeom>
          <a:ln w="12700">
            <a:solidFill>
              <a:srgbClr val="CFE5E9"/>
            </a:solidFill>
          </a:ln>
        </p:spPr>
      </p:pic>
      <p:sp>
        <p:nvSpPr>
          <p:cNvPr id="32" name="Rounded Rectangle 31"/>
          <p:cNvSpPr/>
          <p:nvPr/>
        </p:nvSpPr>
        <p:spPr>
          <a:xfrm>
            <a:off x="6446520" y="5806440"/>
            <a:ext cx="539496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50" b="0" i="0">
                <a:solidFill>
                  <a:srgbClr val="14313B"/>
                </a:solidFill>
                <a:latin typeface="Calibri (MS)"/>
              </a:rPr>
              <a:t>Ambang 2,0 terlampaui di semua skenario: DP 2041, Sustainable 2042, BAU 2043. Tuas hanya menggeser waktunya ±2 tahun.</a:t>
            </a:r>
          </a:p>
        </p:txBody>
      </p:sp>
      <p:sp>
        <p:nvSpPr>
          <p:cNvPr id="33" name="Rounded Rectangle 32"/>
          <p:cNvSpPr/>
          <p:nvPr/>
        </p:nvSpPr>
        <p:spPr>
          <a:xfrm>
            <a:off x="12070080" y="1874519"/>
            <a:ext cx="53949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Tahun ambang kepadatan 2,0 terlampaui</a:t>
            </a:r>
          </a:p>
        </p:txBody>
      </p:sp>
      <p:graphicFrame>
        <p:nvGraphicFramePr>
          <p:cNvPr id="34" name="Table 33"/>
          <p:cNvGraphicFramePr>
            <a:graphicFrameLocks noGrp="1"/>
          </p:cNvGraphicFramePr>
          <p:nvPr/>
        </p:nvGraphicFramePr>
        <p:xfrm>
          <a:off x="12070080" y="2377440"/>
          <a:ext cx="5394960" cy="2011680"/>
        </p:xfrm>
        <a:graphic>
          <a:graphicData uri="http://schemas.openxmlformats.org/drawingml/2006/table">
            <a:tbl>
              <a:tblPr firstRow="1" bandRow="1">
                <a:tableStyleId>{5C22544A-7EE6-4342-B048-85BDC9FD1C3A}</a:tableStyleId>
              </a:tblPr>
              <a:tblGrid>
                <a:gridCol w="2468880"/>
                <a:gridCol w="1280160"/>
                <a:gridCol w="1645920"/>
              </a:tblGrid>
              <a:tr h="502920">
                <a:tc>
                  <a:txBody>
                    <a:bodyPr wrap="square"/>
                    <a:lstStyle/>
                    <a:p>
                      <a:r>
                        <a:rPr sz="1150" b="1" i="0">
                          <a:solidFill>
                            <a:srgbClr val="FFFFFF"/>
                          </a:solidFill>
                          <a:latin typeface="Calibri (MS) Bold"/>
                        </a:rPr>
                        <a:t>Skenario</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Indeks 2050</a:t>
                      </a:r>
                    </a:p>
                  </a:txBody>
                  <a:tcPr marL="73152" marR="73152" marT="36576" marB="36576" anchor="ctr">
                    <a:solidFill>
                      <a:srgbClr val="0B5E6E"/>
                    </a:solidFill>
                  </a:tcPr>
                </a:tc>
              </a:tr>
              <a:tr h="502920">
                <a:tc>
                  <a:txBody>
                    <a:bodyPr wrap="square"/>
                    <a:lstStyle/>
                    <a:p>
                      <a:r>
                        <a:rPr sz="1150" b="1" i="0">
                          <a:solidFill>
                            <a:srgbClr val="14313B"/>
                          </a:solidFill>
                          <a:latin typeface="Calibri (MS) Bold"/>
                        </a:rPr>
                        <a:t>Development Priority</a:t>
                      </a:r>
                    </a:p>
                  </a:txBody>
                  <a:tcPr marL="73152" marR="73152" marT="36576" marB="36576" anchor="ctr">
                    <a:solidFill>
                      <a:srgbClr val="FFFFFF"/>
                    </a:solidFill>
                  </a:tcPr>
                </a:tc>
                <a:tc>
                  <a:txBody>
                    <a:bodyPr wrap="square"/>
                    <a:lstStyle/>
                    <a:p>
                      <a:pPr algn="ctr"/>
                      <a:r>
                        <a:rPr sz="1150" b="0" i="0">
                          <a:solidFill>
                            <a:srgbClr val="14313B"/>
                          </a:solidFill>
                          <a:latin typeface="Calibri (MS)"/>
                        </a:rPr>
                        <a:t>2041</a:t>
                      </a:r>
                    </a:p>
                  </a:txBody>
                  <a:tcPr marL="73152" marR="73152" marT="36576" marB="36576" anchor="ctr">
                    <a:solidFill>
                      <a:srgbClr val="FFFFFF"/>
                    </a:solidFill>
                  </a:tcPr>
                </a:tc>
                <a:tc>
                  <a:txBody>
                    <a:bodyPr wrap="square"/>
                    <a:lstStyle/>
                    <a:p>
                      <a:pPr algn="ctr"/>
                      <a:r>
                        <a:rPr sz="1150" b="0" i="0">
                          <a:solidFill>
                            <a:srgbClr val="14313B"/>
                          </a:solidFill>
                          <a:latin typeface="Calibri (MS)"/>
                        </a:rPr>
                        <a:t>2,5462</a:t>
                      </a:r>
                    </a:p>
                  </a:txBody>
                  <a:tcPr marL="73152" marR="73152" marT="36576" marB="36576" anchor="ctr">
                    <a:solidFill>
                      <a:srgbClr val="FFFFFF"/>
                    </a:solidFill>
                  </a:tcPr>
                </a:tc>
              </a:tr>
              <a:tr h="502920">
                <a:tc>
                  <a:txBody>
                    <a:bodyPr wrap="square"/>
                    <a:lstStyle/>
                    <a:p>
                      <a:r>
                        <a:rPr sz="1150" b="1" i="0">
                          <a:solidFill>
                            <a:srgbClr val="14313B"/>
                          </a:solidFill>
                          <a:latin typeface="Calibri (MS) Bold"/>
                        </a:rPr>
                        <a:t>Sustainable</a:t>
                      </a:r>
                    </a:p>
                  </a:txBody>
                  <a:tcPr marL="73152" marR="73152" marT="36576" marB="36576" anchor="ctr">
                    <a:solidFill>
                      <a:srgbClr val="EAF8FA"/>
                    </a:solidFill>
                  </a:tcPr>
                </a:tc>
                <a:tc>
                  <a:txBody>
                    <a:bodyPr wrap="square"/>
                    <a:lstStyle/>
                    <a:p>
                      <a:pPr algn="ctr"/>
                      <a:r>
                        <a:rPr sz="1150" b="0" i="0">
                          <a:solidFill>
                            <a:srgbClr val="14313B"/>
                          </a:solidFill>
                          <a:latin typeface="Calibri (MS)"/>
                        </a:rPr>
                        <a:t>2042</a:t>
                      </a:r>
                    </a:p>
                  </a:txBody>
                  <a:tcPr marL="73152" marR="73152" marT="36576" marB="36576" anchor="ctr">
                    <a:solidFill>
                      <a:srgbClr val="EAF8FA"/>
                    </a:solidFill>
                  </a:tcPr>
                </a:tc>
                <a:tc>
                  <a:txBody>
                    <a:bodyPr wrap="square"/>
                    <a:lstStyle/>
                    <a:p>
                      <a:pPr algn="ctr"/>
                      <a:r>
                        <a:rPr sz="1150" b="0" i="0">
                          <a:solidFill>
                            <a:srgbClr val="14313B"/>
                          </a:solidFill>
                          <a:latin typeface="Calibri (MS)"/>
                        </a:rPr>
                        <a:t>2,4307</a:t>
                      </a:r>
                    </a:p>
                  </a:txBody>
                  <a:tcPr marL="73152" marR="73152" marT="36576" marB="36576" anchor="ctr">
                    <a:solidFill>
                      <a:srgbClr val="EAF8FA"/>
                    </a:solidFill>
                  </a:tcPr>
                </a:tc>
              </a:tr>
              <a:tr h="502920">
                <a:tc>
                  <a:txBody>
                    <a:bodyPr wrap="square"/>
                    <a:lstStyle/>
                    <a:p>
                      <a:r>
                        <a:rPr sz="1150" b="1" i="0">
                          <a:solidFill>
                            <a:srgbClr val="14313B"/>
                          </a:solidFill>
                          <a:latin typeface="Calibri (MS) Bold"/>
                        </a:rPr>
                        <a:t>BAU</a:t>
                      </a:r>
                    </a:p>
                  </a:txBody>
                  <a:tcPr marL="73152" marR="73152" marT="36576" marB="36576" anchor="ctr">
                    <a:solidFill>
                      <a:srgbClr val="FFFFFF"/>
                    </a:solidFill>
                  </a:tcPr>
                </a:tc>
                <a:tc>
                  <a:txBody>
                    <a:bodyPr wrap="square"/>
                    <a:lstStyle/>
                    <a:p>
                      <a:pPr algn="ctr"/>
                      <a:r>
                        <a:rPr sz="1150" b="0" i="0">
                          <a:solidFill>
                            <a:srgbClr val="14313B"/>
                          </a:solidFill>
                          <a:latin typeface="Calibri (MS)"/>
                        </a:rPr>
                        <a:t>2043</a:t>
                      </a:r>
                    </a:p>
                  </a:txBody>
                  <a:tcPr marL="73152" marR="73152" marT="36576" marB="36576" anchor="ctr">
                    <a:solidFill>
                      <a:srgbClr val="FFFFFF"/>
                    </a:solidFill>
                  </a:tcPr>
                </a:tc>
                <a:tc>
                  <a:txBody>
                    <a:bodyPr wrap="square"/>
                    <a:lstStyle/>
                    <a:p>
                      <a:pPr algn="ctr"/>
                      <a:r>
                        <a:rPr sz="1150" b="0" i="0">
                          <a:solidFill>
                            <a:srgbClr val="14313B"/>
                          </a:solidFill>
                          <a:latin typeface="Calibri (MS)"/>
                        </a:rPr>
                        <a:t>2,3638</a:t>
                      </a:r>
                    </a:p>
                  </a:txBody>
                  <a:tcPr marL="73152" marR="73152" marT="36576" marB="36576" anchor="ctr">
                    <a:solidFill>
                      <a:srgbClr val="FFFFFF"/>
                    </a:solidFill>
                  </a:tcPr>
                </a:tc>
              </a:tr>
            </a:tbl>
          </a:graphicData>
        </a:graphic>
      </p:graphicFrame>
      <p:sp>
        <p:nvSpPr>
          <p:cNvPr id="35" name="Rounded Rectangle 34"/>
          <p:cNvSpPr/>
          <p:nvPr/>
        </p:nvSpPr>
        <p:spPr>
          <a:xfrm>
            <a:off x="12070080" y="4526280"/>
            <a:ext cx="5394960" cy="31089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Artinya</a:t>
            </a:r>
          </a:p>
          <a:p>
            <a:pPr algn="l">
              <a:spcAft>
                <a:spcPts val="300"/>
              </a:spcAft>
            </a:pPr>
            <a:r>
              <a:rPr sz="1100" b="0" i="0">
                <a:solidFill>
                  <a:srgbClr val="14313B"/>
                </a:solidFill>
                <a:latin typeface="Calibri (MS)"/>
              </a:rPr>
              <a:t>Kedua tuas bekerja di sisi penawaran (investasi dan lahan), sedangkan kepadatan ditentukan permintaan.</a:t>
            </a:r>
          </a:p>
          <a:p>
            <a:pPr algn="l">
              <a:spcAft>
                <a:spcPts val="300"/>
              </a:spcAft>
            </a:pPr>
            <a:r>
              <a:rPr sz="1100" b="0" i="0">
                <a:solidFill>
                  <a:srgbClr val="14313B"/>
                </a:solidFill>
                <a:latin typeface="Calibri (MS)"/>
              </a:rPr>
              <a:t>Mengendalikan kepadatan butuh instrumen sisi permintaan, misalnya pengaturan sebaran kunjungan antarwaktu dan antarlokasi, yang di luar cakupan model.</a:t>
            </a:r>
          </a:p>
        </p:txBody>
      </p:sp>
      <p:sp>
        <p:nvSpPr>
          <p:cNvPr id="36" name="TextBox 3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4.8.3 (Gambar 57–61); hasil_simulasi_skenario.xlsx (Tahun Ambang Kepadatan).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77 · Komposisi Indeks Daya Tarik dan Dekomposisi Tuas</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Kenapa Daya Tarik tertinggi di DP, dan seberapa besar sumbangan masing-masing tuas pada paket Sustainable</a:t>
            </a:r>
          </a:p>
        </p:txBody>
      </p:sp>
      <p:sp>
        <p:nvSpPr>
          <p:cNvPr id="27" name="Rounded Rectangle 26"/>
          <p:cNvSpPr/>
          <p:nvPr/>
        </p:nvSpPr>
        <p:spPr>
          <a:xfrm>
            <a:off x="822960" y="1874519"/>
            <a:ext cx="694944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Komposisi Daya Tarik 2050</a:t>
            </a:r>
          </a:p>
        </p:txBody>
      </p:sp>
      <p:graphicFrame>
        <p:nvGraphicFramePr>
          <p:cNvPr id="28" name="Chart 27"/>
          <p:cNvGraphicFramePr>
            <a:graphicFrameLocks noGrp="1"/>
          </p:cNvGraphicFramePr>
          <p:nvPr/>
        </p:nvGraphicFramePr>
        <p:xfrm>
          <a:off x="822960" y="2377440"/>
          <a:ext cx="6949440" cy="3566160"/>
        </p:xfrm>
        <a:graphic>
          <a:graphicData uri="http://schemas.openxmlformats.org/drawingml/2006/chart">
            <c:chart xmlns:c="http://schemas.openxmlformats.org/drawingml/2006/chart" r:id="rId7"/>
          </a:graphicData>
        </a:graphic>
      </p:graphicFrame>
      <p:graphicFrame>
        <p:nvGraphicFramePr>
          <p:cNvPr id="29" name="Table 28"/>
          <p:cNvGraphicFramePr>
            <a:graphicFrameLocks noGrp="1"/>
          </p:cNvGraphicFramePr>
          <p:nvPr/>
        </p:nvGraphicFramePr>
        <p:xfrm>
          <a:off x="822960" y="6035040"/>
          <a:ext cx="6949440" cy="768096"/>
        </p:xfrm>
        <a:graphic>
          <a:graphicData uri="http://schemas.openxmlformats.org/drawingml/2006/table">
            <a:tbl>
              <a:tblPr firstRow="1" bandRow="1">
                <a:tableStyleId>{5C22544A-7EE6-4342-B048-85BDC9FD1C3A}</a:tableStyleId>
              </a:tblPr>
              <a:tblGrid>
                <a:gridCol w="2560320"/>
                <a:gridCol w="1463040"/>
                <a:gridCol w="1463040"/>
                <a:gridCol w="1463040"/>
              </a:tblGrid>
              <a:tr h="384048">
                <a:tc>
                  <a:txBody>
                    <a:bodyPr wrap="square"/>
                    <a:lstStyle/>
                    <a:p>
                      <a:r>
                        <a:rPr sz="1100" b="1" i="0">
                          <a:solidFill>
                            <a:srgbClr val="FFFFFF"/>
                          </a:solidFill>
                          <a:latin typeface="Calibri (MS) Bold"/>
                        </a:rPr>
                        <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BAU</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Sust.</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DP</a:t>
                      </a:r>
                    </a:p>
                  </a:txBody>
                  <a:tcPr marL="73152" marR="73152" marT="36576" marB="36576" anchor="ctr">
                    <a:solidFill>
                      <a:srgbClr val="0B5E6E"/>
                    </a:solidFill>
                  </a:tcPr>
                </a:tc>
              </a:tr>
              <a:tr h="384048">
                <a:tc>
                  <a:txBody>
                    <a:bodyPr wrap="square"/>
                    <a:lstStyle/>
                    <a:p>
                      <a:r>
                        <a:rPr sz="1100" b="1" i="0">
                          <a:solidFill>
                            <a:srgbClr val="14313B"/>
                          </a:solidFill>
                          <a:latin typeface="Calibri (MS) Bold"/>
                        </a:rPr>
                        <a:t>Total Daya Tarik</a:t>
                      </a:r>
                    </a:p>
                  </a:txBody>
                  <a:tcPr marL="73152" marR="73152" marT="36576" marB="36576" anchor="ctr">
                    <a:solidFill>
                      <a:srgbClr val="FFFFFF"/>
                    </a:solidFill>
                  </a:tcPr>
                </a:tc>
                <a:tc>
                  <a:txBody>
                    <a:bodyPr wrap="square"/>
                    <a:lstStyle/>
                    <a:p>
                      <a:pPr algn="ctr"/>
                      <a:r>
                        <a:rPr sz="1100" b="0" i="0">
                          <a:solidFill>
                            <a:srgbClr val="14313B"/>
                          </a:solidFill>
                          <a:latin typeface="Calibri (MS)"/>
                        </a:rPr>
                        <a:t>0,8132</a:t>
                      </a:r>
                    </a:p>
                  </a:txBody>
                  <a:tcPr marL="73152" marR="73152" marT="36576" marB="36576" anchor="ctr">
                    <a:solidFill>
                      <a:srgbClr val="FFFFFF"/>
                    </a:solidFill>
                  </a:tcPr>
                </a:tc>
                <a:tc>
                  <a:txBody>
                    <a:bodyPr wrap="square"/>
                    <a:lstStyle/>
                    <a:p>
                      <a:pPr algn="ctr"/>
                      <a:r>
                        <a:rPr sz="1100" b="0" i="0">
                          <a:solidFill>
                            <a:srgbClr val="14313B"/>
                          </a:solidFill>
                          <a:latin typeface="Calibri (MS)"/>
                        </a:rPr>
                        <a:t>0,8205</a:t>
                      </a:r>
                    </a:p>
                  </a:txBody>
                  <a:tcPr marL="73152" marR="73152" marT="36576" marB="36576" anchor="ctr">
                    <a:solidFill>
                      <a:srgbClr val="FFFFFF"/>
                    </a:solidFill>
                  </a:tcPr>
                </a:tc>
                <a:tc>
                  <a:txBody>
                    <a:bodyPr wrap="square"/>
                    <a:lstStyle/>
                    <a:p>
                      <a:pPr algn="ctr"/>
                      <a:r>
                        <a:rPr sz="1100" b="0" i="0">
                          <a:solidFill>
                            <a:srgbClr val="14313B"/>
                          </a:solidFill>
                          <a:latin typeface="Calibri (MS)"/>
                        </a:rPr>
                        <a:t>0,8322</a:t>
                      </a:r>
                    </a:p>
                  </a:txBody>
                  <a:tcPr marL="73152" marR="73152" marT="36576" marB="36576" anchor="ctr">
                    <a:solidFill>
                      <a:srgbClr val="FFFFFF"/>
                    </a:solidFill>
                  </a:tcPr>
                </a:tc>
              </a:tr>
            </a:tbl>
          </a:graphicData>
        </a:graphic>
      </p:graphicFrame>
      <p:sp>
        <p:nvSpPr>
          <p:cNvPr id="30" name="Rounded Rectangle 29"/>
          <p:cNvSpPr/>
          <p:nvPr/>
        </p:nvSpPr>
        <p:spPr>
          <a:xfrm>
            <a:off x="822960" y="6903720"/>
            <a:ext cx="6949440" cy="14173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0" i="0">
                <a:solidFill>
                  <a:srgbClr val="14313B"/>
                </a:solidFill>
                <a:latin typeface="Calibri (MS)"/>
              </a:rPr>
              <a:t>Komponen ODTW di DP naik 0,0297, jauh melebihi turunnya kepadatan (0,0106) dan lahan (0,0002). RDDL masih ±0,614, jadi rem lahan belum terasa sampai 2050.</a:t>
            </a:r>
          </a:p>
        </p:txBody>
      </p:sp>
      <p:sp>
        <p:nvSpPr>
          <p:cNvPr id="31" name="Rounded Rectangle 30"/>
          <p:cNvSpPr/>
          <p:nvPr/>
        </p:nvSpPr>
        <p:spPr>
          <a:xfrm>
            <a:off x="8046720" y="1874519"/>
            <a:ext cx="941832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Dekomposisi paket Sustainable terhadap BAU</a:t>
            </a:r>
          </a:p>
        </p:txBody>
      </p:sp>
      <p:graphicFrame>
        <p:nvGraphicFramePr>
          <p:cNvPr id="32" name="Table 31"/>
          <p:cNvGraphicFramePr>
            <a:graphicFrameLocks noGrp="1"/>
          </p:cNvGraphicFramePr>
          <p:nvPr/>
        </p:nvGraphicFramePr>
        <p:xfrm>
          <a:off x="8046720" y="2377440"/>
          <a:ext cx="9418320" cy="4873752"/>
        </p:xfrm>
        <a:graphic>
          <a:graphicData uri="http://schemas.openxmlformats.org/drawingml/2006/table">
            <a:tbl>
              <a:tblPr firstRow="1" bandRow="1">
                <a:tableStyleId>{5C22544A-7EE6-4342-B048-85BDC9FD1C3A}</a:tableStyleId>
              </a:tblPr>
              <a:tblGrid>
                <a:gridCol w="3017520"/>
                <a:gridCol w="1645920"/>
                <a:gridCol w="1645920"/>
                <a:gridCol w="1645920"/>
                <a:gridCol w="1463040"/>
              </a:tblGrid>
              <a:tr h="374904">
                <a:tc>
                  <a:txBody>
                    <a:bodyPr wrap="square"/>
                    <a:lstStyle/>
                    <a:p>
                      <a:r>
                        <a:rPr sz="1000" b="1" i="0">
                          <a:solidFill>
                            <a:srgbClr val="FFFFFF"/>
                          </a:solidFill>
                          <a:latin typeface="Calibri (MS) Bold"/>
                        </a:rPr>
                        <a:t>Indikator</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Insentif saja</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Konservasi saja</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Paket</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Interaksi</a:t>
                      </a:r>
                    </a:p>
                  </a:txBody>
                  <a:tcPr marL="73152" marR="73152" marT="36576" marB="36576" anchor="ctr">
                    <a:solidFill>
                      <a:srgbClr val="0B5E6E"/>
                    </a:solidFill>
                  </a:tcPr>
                </a:tc>
              </a:tr>
              <a:tr h="374904">
                <a:tc>
                  <a:txBody>
                    <a:bodyPr wrap="square"/>
                    <a:lstStyle/>
                    <a:p>
                      <a:r>
                        <a:rPr sz="1000" b="1" i="0">
                          <a:solidFill>
                            <a:srgbClr val="14313B"/>
                          </a:solidFill>
                          <a:latin typeface="Calibri (MS) Bold"/>
                        </a:rPr>
                        <a:t>Lapangan kerja (jiwa)</a:t>
                      </a:r>
                    </a:p>
                  </a:txBody>
                  <a:tcPr marL="73152" marR="73152" marT="36576" marB="36576" anchor="ctr">
                    <a:solidFill>
                      <a:srgbClr val="FFFFFF"/>
                    </a:solidFill>
                  </a:tcPr>
                </a:tc>
                <a:tc>
                  <a:txBody>
                    <a:bodyPr wrap="square"/>
                    <a:lstStyle/>
                    <a:p>
                      <a:pPr algn="ctr"/>
                      <a:r>
                        <a:rPr sz="1000" b="0" i="0">
                          <a:solidFill>
                            <a:srgbClr val="14313B"/>
                          </a:solidFill>
                          <a:latin typeface="Calibri (MS)"/>
                        </a:rPr>
                        <a:t>+15.526</a:t>
                      </a:r>
                    </a:p>
                  </a:txBody>
                  <a:tcPr marL="73152" marR="73152" marT="36576" marB="36576" anchor="ctr">
                    <a:solidFill>
                      <a:srgbClr val="EAF8FA"/>
                    </a:solidFill>
                  </a:tcPr>
                </a:tc>
                <a:tc>
                  <a:txBody>
                    <a:bodyPr wrap="square"/>
                    <a:lstStyle/>
                    <a:p>
                      <a:pPr algn="ctr"/>
                      <a:r>
                        <a:rPr sz="1000" b="0" i="0">
                          <a:solidFill>
                            <a:srgbClr val="14313B"/>
                          </a:solidFill>
                          <a:latin typeface="Calibri (MS)"/>
                        </a:rPr>
                        <a:t>+1.459</a:t>
                      </a:r>
                    </a:p>
                  </a:txBody>
                  <a:tcPr marL="73152" marR="73152" marT="36576" marB="36576" anchor="ctr">
                    <a:solidFill>
                      <a:srgbClr val="FFFFFF"/>
                    </a:solidFill>
                  </a:tcPr>
                </a:tc>
                <a:tc>
                  <a:txBody>
                    <a:bodyPr wrap="square"/>
                    <a:lstStyle/>
                    <a:p>
                      <a:pPr algn="ctr"/>
                      <a:r>
                        <a:rPr sz="1000" b="0" i="0">
                          <a:solidFill>
                            <a:srgbClr val="14313B"/>
                          </a:solidFill>
                          <a:latin typeface="Calibri (MS)"/>
                        </a:rPr>
                        <a:t>+17.103</a:t>
                      </a:r>
                    </a:p>
                  </a:txBody>
                  <a:tcPr marL="73152" marR="73152" marT="36576" marB="36576" anchor="ctr">
                    <a:solidFill>
                      <a:srgbClr val="FFFFFF"/>
                    </a:solidFill>
                  </a:tcPr>
                </a:tc>
                <a:tc>
                  <a:txBody>
                    <a:bodyPr wrap="square"/>
                    <a:lstStyle/>
                    <a:p>
                      <a:pPr algn="ctr"/>
                      <a:r>
                        <a:rPr sz="1000" b="0" i="0">
                          <a:solidFill>
                            <a:srgbClr val="14313B"/>
                          </a:solidFill>
                          <a:latin typeface="Calibri (MS)"/>
                        </a:rPr>
                        <a:t>+118</a:t>
                      </a:r>
                    </a:p>
                  </a:txBody>
                  <a:tcPr marL="73152" marR="73152" marT="36576" marB="36576" anchor="ctr">
                    <a:solidFill>
                      <a:srgbClr val="FFFFFF"/>
                    </a:solidFill>
                  </a:tcPr>
                </a:tc>
              </a:tr>
              <a:tr h="374904">
                <a:tc>
                  <a:txBody>
                    <a:bodyPr wrap="square"/>
                    <a:lstStyle/>
                    <a:p>
                      <a:r>
                        <a:rPr sz="1000" b="1" i="0">
                          <a:solidFill>
                            <a:srgbClr val="14313B"/>
                          </a:solidFill>
                          <a:latin typeface="Calibri (MS) Bold"/>
                        </a:rPr>
                        <a:t>PDRB (miliar Rp)</a:t>
                      </a:r>
                    </a:p>
                  </a:txBody>
                  <a:tcPr marL="73152" marR="73152" marT="36576" marB="36576" anchor="ctr">
                    <a:solidFill>
                      <a:srgbClr val="EAF8FA"/>
                    </a:solidFill>
                  </a:tcPr>
                </a:tc>
                <a:tc>
                  <a:txBody>
                    <a:bodyPr wrap="square"/>
                    <a:lstStyle/>
                    <a:p>
                      <a:pPr algn="ctr"/>
                      <a:r>
                        <a:rPr sz="1000" b="0" i="0">
                          <a:solidFill>
                            <a:srgbClr val="14313B"/>
                          </a:solidFill>
                          <a:latin typeface="Calibri (MS)"/>
                        </a:rPr>
                        <a:t>+1.026</a:t>
                      </a:r>
                    </a:p>
                  </a:txBody>
                  <a:tcPr marL="73152" marR="73152" marT="36576" marB="36576" anchor="ctr">
                    <a:solidFill>
                      <a:srgbClr val="EAF8FA"/>
                    </a:solidFill>
                  </a:tcPr>
                </a:tc>
                <a:tc>
                  <a:txBody>
                    <a:bodyPr wrap="square"/>
                    <a:lstStyle/>
                    <a:p>
                      <a:pPr algn="ctr"/>
                      <a:r>
                        <a:rPr sz="1000" b="0" i="0">
                          <a:solidFill>
                            <a:srgbClr val="14313B"/>
                          </a:solidFill>
                          <a:latin typeface="Calibri (MS)"/>
                        </a:rPr>
                        <a:t>+98</a:t>
                      </a:r>
                    </a:p>
                  </a:txBody>
                  <a:tcPr marL="73152" marR="73152" marT="36576" marB="36576" anchor="ctr">
                    <a:solidFill>
                      <a:srgbClr val="EAF8FA"/>
                    </a:solidFill>
                  </a:tcPr>
                </a:tc>
                <a:tc>
                  <a:txBody>
                    <a:bodyPr wrap="square"/>
                    <a:lstStyle/>
                    <a:p>
                      <a:pPr algn="ctr"/>
                      <a:r>
                        <a:rPr sz="1000" b="0" i="0">
                          <a:solidFill>
                            <a:srgbClr val="14313B"/>
                          </a:solidFill>
                          <a:latin typeface="Calibri (MS)"/>
                        </a:rPr>
                        <a:t>+1.133</a:t>
                      </a:r>
                    </a:p>
                  </a:txBody>
                  <a:tcPr marL="73152" marR="73152" marT="36576" marB="36576" anchor="ctr">
                    <a:solidFill>
                      <a:srgbClr val="EAF8FA"/>
                    </a:solidFill>
                  </a:tcPr>
                </a:tc>
                <a:tc>
                  <a:txBody>
                    <a:bodyPr wrap="square"/>
                    <a:lstStyle/>
                    <a:p>
                      <a:pPr algn="ctr"/>
                      <a:r>
                        <a:rPr sz="1000" b="0" i="0">
                          <a:solidFill>
                            <a:srgbClr val="14313B"/>
                          </a:solidFill>
                          <a:latin typeface="Calibri (MS)"/>
                        </a:rPr>
                        <a:t>+8</a:t>
                      </a:r>
                    </a:p>
                  </a:txBody>
                  <a:tcPr marL="73152" marR="73152" marT="36576" marB="36576" anchor="ctr">
                    <a:solidFill>
                      <a:srgbClr val="EAF8FA"/>
                    </a:solidFill>
                  </a:tcPr>
                </a:tc>
              </a:tr>
              <a:tr h="374904">
                <a:tc>
                  <a:txBody>
                    <a:bodyPr wrap="square"/>
                    <a:lstStyle/>
                    <a:p>
                      <a:r>
                        <a:rPr sz="1000" b="1" i="0">
                          <a:solidFill>
                            <a:srgbClr val="14313B"/>
                          </a:solidFill>
                          <a:latin typeface="Calibri (MS) Bold"/>
                        </a:rPr>
                        <a:t>Investasi kumulatif (miliar Rp)</a:t>
                      </a:r>
                    </a:p>
                  </a:txBody>
                  <a:tcPr marL="73152" marR="73152" marT="36576" marB="36576" anchor="ctr">
                    <a:solidFill>
                      <a:srgbClr val="FFFFFF"/>
                    </a:solidFill>
                  </a:tcPr>
                </a:tc>
                <a:tc>
                  <a:txBody>
                    <a:bodyPr wrap="square"/>
                    <a:lstStyle/>
                    <a:p>
                      <a:pPr algn="ctr"/>
                      <a:r>
                        <a:rPr sz="1000" b="0" i="0">
                          <a:solidFill>
                            <a:srgbClr val="14313B"/>
                          </a:solidFill>
                          <a:latin typeface="Calibri (MS)"/>
                        </a:rPr>
                        <a:t>+4.190</a:t>
                      </a:r>
                    </a:p>
                  </a:txBody>
                  <a:tcPr marL="73152" marR="73152" marT="36576" marB="36576" anchor="ctr">
                    <a:solidFill>
                      <a:srgbClr val="EAF8FA"/>
                    </a:solidFill>
                  </a:tcPr>
                </a:tc>
                <a:tc>
                  <a:txBody>
                    <a:bodyPr wrap="square"/>
                    <a:lstStyle/>
                    <a:p>
                      <a:pPr algn="ctr"/>
                      <a:r>
                        <a:rPr sz="1000" b="0" i="0">
                          <a:solidFill>
                            <a:srgbClr val="14313B"/>
                          </a:solidFill>
                          <a:latin typeface="Calibri (MS)"/>
                        </a:rPr>
                        <a:t>+35</a:t>
                      </a:r>
                    </a:p>
                  </a:txBody>
                  <a:tcPr marL="73152" marR="73152" marT="36576" marB="36576" anchor="ctr">
                    <a:solidFill>
                      <a:srgbClr val="FFFFFF"/>
                    </a:solidFill>
                  </a:tcPr>
                </a:tc>
                <a:tc>
                  <a:txBody>
                    <a:bodyPr wrap="square"/>
                    <a:lstStyle/>
                    <a:p>
                      <a:pPr algn="ctr"/>
                      <a:r>
                        <a:rPr sz="1000" b="0" i="0">
                          <a:solidFill>
                            <a:srgbClr val="14313B"/>
                          </a:solidFill>
                          <a:latin typeface="Calibri (MS)"/>
                        </a:rPr>
                        <a:t>+4.232</a:t>
                      </a:r>
                    </a:p>
                  </a:txBody>
                  <a:tcPr marL="73152" marR="73152" marT="36576" marB="36576" anchor="ctr">
                    <a:solidFill>
                      <a:srgbClr val="FFFFFF"/>
                    </a:solidFill>
                  </a:tcPr>
                </a:tc>
                <a:tc>
                  <a:txBody>
                    <a:bodyPr wrap="square"/>
                    <a:lstStyle/>
                    <a:p>
                      <a:pPr algn="ctr"/>
                      <a:r>
                        <a:rPr sz="1000" b="0" i="0">
                          <a:solidFill>
                            <a:srgbClr val="14313B"/>
                          </a:solidFill>
                          <a:latin typeface="Calibri (MS)"/>
                        </a:rPr>
                        <a:t>+6</a:t>
                      </a:r>
                    </a:p>
                  </a:txBody>
                  <a:tcPr marL="73152" marR="73152" marT="36576" marB="36576" anchor="ctr">
                    <a:solidFill>
                      <a:srgbClr val="FFFFFF"/>
                    </a:solidFill>
                  </a:tcPr>
                </a:tc>
              </a:tr>
              <a:tr h="374904">
                <a:tc>
                  <a:txBody>
                    <a:bodyPr wrap="square"/>
                    <a:lstStyle/>
                    <a:p>
                      <a:r>
                        <a:rPr sz="1000" b="1" i="0">
                          <a:solidFill>
                            <a:srgbClr val="14313B"/>
                          </a:solidFill>
                          <a:latin typeface="Calibri (MS) Bold"/>
                        </a:rPr>
                        <a:t>TPK</a:t>
                      </a:r>
                    </a:p>
                  </a:txBody>
                  <a:tcPr marL="73152" marR="73152" marT="36576" marB="36576" anchor="ctr">
                    <a:solidFill>
                      <a:srgbClr val="EAF8FA"/>
                    </a:solidFill>
                  </a:tcPr>
                </a:tc>
                <a:tc>
                  <a:txBody>
                    <a:bodyPr wrap="square"/>
                    <a:lstStyle/>
                    <a:p>
                      <a:pPr algn="ctr"/>
                      <a:r>
                        <a:rPr sz="1000" b="0" i="0">
                          <a:solidFill>
                            <a:srgbClr val="14313B"/>
                          </a:solidFill>
                          <a:latin typeface="Calibri (MS)"/>
                        </a:rPr>
                        <a:t>−0,00486</a:t>
                      </a:r>
                    </a:p>
                  </a:txBody>
                  <a:tcPr marL="73152" marR="73152" marT="36576" marB="36576" anchor="ctr">
                    <a:solidFill>
                      <a:srgbClr val="EAF8FA"/>
                    </a:solidFill>
                  </a:tcPr>
                </a:tc>
                <a:tc>
                  <a:txBody>
                    <a:bodyPr wrap="square"/>
                    <a:lstStyle/>
                    <a:p>
                      <a:pPr algn="ctr"/>
                      <a:r>
                        <a:rPr sz="1000" b="0" i="0">
                          <a:solidFill>
                            <a:srgbClr val="14313B"/>
                          </a:solidFill>
                          <a:latin typeface="Calibri (MS)"/>
                        </a:rPr>
                        <a:t>+0,00019</a:t>
                      </a:r>
                    </a:p>
                  </a:txBody>
                  <a:tcPr marL="73152" marR="73152" marT="36576" marB="36576" anchor="ctr">
                    <a:solidFill>
                      <a:srgbClr val="EAF8FA"/>
                    </a:solidFill>
                  </a:tcPr>
                </a:tc>
                <a:tc>
                  <a:txBody>
                    <a:bodyPr wrap="square"/>
                    <a:lstStyle/>
                    <a:p>
                      <a:pPr algn="ctr"/>
                      <a:r>
                        <a:rPr sz="1000" b="0" i="0">
                          <a:solidFill>
                            <a:srgbClr val="14313B"/>
                          </a:solidFill>
                          <a:latin typeface="Calibri (MS)"/>
                        </a:rPr>
                        <a:t>−0,00467</a:t>
                      </a:r>
                    </a:p>
                  </a:txBody>
                  <a:tcPr marL="73152" marR="73152" marT="36576" marB="36576" anchor="ctr">
                    <a:solidFill>
                      <a:srgbClr val="EAF8FA"/>
                    </a:solidFill>
                  </a:tcPr>
                </a:tc>
                <a:tc>
                  <a:txBody>
                    <a:bodyPr wrap="square"/>
                    <a:lstStyle/>
                    <a:p>
                      <a:pPr algn="ctr"/>
                      <a:r>
                        <a:rPr sz="1000" b="0" i="0">
                          <a:solidFill>
                            <a:srgbClr val="14313B"/>
                          </a:solidFill>
                          <a:latin typeface="Calibri (MS)"/>
                        </a:rPr>
                        <a:t>0,00000</a:t>
                      </a:r>
                    </a:p>
                  </a:txBody>
                  <a:tcPr marL="73152" marR="73152" marT="36576" marB="36576" anchor="ctr">
                    <a:solidFill>
                      <a:srgbClr val="EAF8FA"/>
                    </a:solidFill>
                  </a:tcPr>
                </a:tc>
              </a:tr>
              <a:tr h="374904">
                <a:tc>
                  <a:txBody>
                    <a:bodyPr wrap="square"/>
                    <a:lstStyle/>
                    <a:p>
                      <a:r>
                        <a:rPr sz="1000" b="1" i="0">
                          <a:solidFill>
                            <a:srgbClr val="14313B"/>
                          </a:solidFill>
                          <a:latin typeface="Calibri (MS) Bold"/>
                        </a:rPr>
                        <a:t>RDDL</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−0,00018</a:t>
                      </a:r>
                    </a:p>
                  </a:txBody>
                  <a:tcPr marL="73152" marR="73152" marT="36576" marB="36576" anchor="ctr">
                    <a:solidFill>
                      <a:srgbClr val="FFFFFF"/>
                    </a:solidFill>
                  </a:tcPr>
                </a:tc>
                <a:tc>
                  <a:txBody>
                    <a:bodyPr wrap="square"/>
                    <a:lstStyle/>
                    <a:p>
                      <a:pPr algn="ctr"/>
                      <a:r>
                        <a:rPr sz="1000" b="0" i="0">
                          <a:solidFill>
                            <a:srgbClr val="14313B"/>
                          </a:solidFill>
                          <a:latin typeface="Calibri (MS)"/>
                        </a:rPr>
                        <a:t>+0,00351</a:t>
                      </a:r>
                    </a:p>
                  </a:txBody>
                  <a:tcPr marL="73152" marR="73152" marT="36576" marB="36576" anchor="ctr">
                    <a:solidFill>
                      <a:srgbClr val="C9F0D6"/>
                    </a:solidFill>
                  </a:tcPr>
                </a:tc>
                <a:tc>
                  <a:txBody>
                    <a:bodyPr wrap="square"/>
                    <a:lstStyle/>
                    <a:p>
                      <a:pPr algn="ctr"/>
                      <a:r>
                        <a:rPr sz="1000" b="0" i="0">
                          <a:solidFill>
                            <a:srgbClr val="14313B"/>
                          </a:solidFill>
                          <a:latin typeface="Calibri (MS)"/>
                        </a:rPr>
                        <a:t>+0,00351</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+0,00018</a:t>
                      </a:r>
                    </a:p>
                  </a:txBody>
                  <a:tcPr marL="73152" marR="73152" marT="36576" marB="36576" anchor="ctr">
                    <a:solidFill>
                      <a:srgbClr val="FFFFFF"/>
                    </a:solidFill>
                  </a:tcPr>
                </a:tc>
              </a:tr>
              <a:tr h="374904">
                <a:tc>
                  <a:txBody>
                    <a:bodyPr wrap="square"/>
                    <a:lstStyle/>
                    <a:p>
                      <a:r>
                        <a:rPr sz="1000" b="1" i="0">
                          <a:solidFill>
                            <a:srgbClr val="14313B"/>
                          </a:solidFill>
                          <a:latin typeface="Calibri (MS) Bold"/>
                        </a:rPr>
                        <a:t>Lahan terbangun (ha)</a:t>
                      </a:r>
                    </a:p>
                  </a:txBody>
                  <a:tcPr marL="73152" marR="73152" marT="36576" marB="36576" anchor="ctr">
                    <a:solidFill>
                      <a:srgbClr val="EAF8FA"/>
                    </a:solidFill>
                  </a:tcPr>
                </a:tc>
                <a:tc>
                  <a:txBody>
                    <a:bodyPr wrap="square"/>
                    <a:lstStyle/>
                    <a:p>
                      <a:pPr algn="ctr"/>
                      <a:r>
                        <a:rPr sz="1000" b="0" i="0">
                          <a:solidFill>
                            <a:srgbClr val="14313B"/>
                          </a:solidFill>
                          <a:latin typeface="Calibri (MS)"/>
                        </a:rPr>
                        <a:t>+57,6</a:t>
                      </a:r>
                    </a:p>
                  </a:txBody>
                  <a:tcPr marL="73152" marR="73152" marT="36576" marB="36576" anchor="ctr">
                    <a:solidFill>
                      <a:srgbClr val="EAF8FA"/>
                    </a:solidFill>
                  </a:tcPr>
                </a:tc>
                <a:tc>
                  <a:txBody>
                    <a:bodyPr wrap="square"/>
                    <a:lstStyle/>
                    <a:p>
                      <a:pPr algn="ctr"/>
                      <a:r>
                        <a:rPr sz="1000" b="0" i="0">
                          <a:solidFill>
                            <a:srgbClr val="14313B"/>
                          </a:solidFill>
                          <a:latin typeface="Calibri (MS)"/>
                        </a:rPr>
                        <a:t>−1.114,0</a:t>
                      </a:r>
                    </a:p>
                  </a:txBody>
                  <a:tcPr marL="73152" marR="73152" marT="36576" marB="36576" anchor="ctr">
                    <a:solidFill>
                      <a:srgbClr val="C9F0D6"/>
                    </a:solidFill>
                  </a:tcPr>
                </a:tc>
                <a:tc>
                  <a:txBody>
                    <a:bodyPr wrap="square"/>
                    <a:lstStyle/>
                    <a:p>
                      <a:pPr algn="ctr"/>
                      <a:r>
                        <a:rPr sz="1000" b="0" i="0">
                          <a:solidFill>
                            <a:srgbClr val="14313B"/>
                          </a:solidFill>
                          <a:latin typeface="Calibri (MS)"/>
                        </a:rPr>
                        <a:t>−1.114,0</a:t>
                      </a:r>
                    </a:p>
                  </a:txBody>
                  <a:tcPr marL="73152" marR="73152" marT="36576" marB="36576" anchor="ctr">
                    <a:solidFill>
                      <a:srgbClr val="EAF8FA"/>
                    </a:solidFill>
                  </a:tcPr>
                </a:tc>
                <a:tc>
                  <a:txBody>
                    <a:bodyPr wrap="square"/>
                    <a:lstStyle/>
                    <a:p>
                      <a:pPr algn="ctr"/>
                      <a:r>
                        <a:rPr sz="1000" b="0" i="0">
                          <a:solidFill>
                            <a:srgbClr val="14313B"/>
                          </a:solidFill>
                          <a:latin typeface="Calibri (MS)"/>
                        </a:rPr>
                        <a:t>−57,6</a:t>
                      </a:r>
                    </a:p>
                  </a:txBody>
                  <a:tcPr marL="73152" marR="73152" marT="36576" marB="36576" anchor="ctr">
                    <a:solidFill>
                      <a:srgbClr val="FFF1BF"/>
                    </a:solidFill>
                  </a:tcPr>
                </a:tc>
              </a:tr>
              <a:tr h="374904">
                <a:tc>
                  <a:txBody>
                    <a:bodyPr wrap="square"/>
                    <a:lstStyle/>
                    <a:p>
                      <a:r>
                        <a:rPr sz="1000" b="1" i="0">
                          <a:solidFill>
                            <a:srgbClr val="14313B"/>
                          </a:solidFill>
                          <a:latin typeface="Calibri (MS) Bold"/>
                        </a:rPr>
                        <a:t>Konversi pariwisata (ha)</a:t>
                      </a:r>
                    </a:p>
                  </a:txBody>
                  <a:tcPr marL="73152" marR="73152" marT="36576" marB="36576" anchor="ctr">
                    <a:solidFill>
                      <a:srgbClr val="FFFFFF"/>
                    </a:solidFill>
                  </a:tcPr>
                </a:tc>
                <a:tc>
                  <a:txBody>
                    <a:bodyPr wrap="square"/>
                    <a:lstStyle/>
                    <a:p>
                      <a:pPr algn="ctr"/>
                      <a:r>
                        <a:rPr sz="1000" b="0" i="0">
                          <a:solidFill>
                            <a:srgbClr val="14313B"/>
                          </a:solidFill>
                          <a:latin typeface="Calibri (MS)"/>
                        </a:rPr>
                        <a:t>+50,1</a:t>
                      </a:r>
                    </a:p>
                  </a:txBody>
                  <a:tcPr marL="73152" marR="73152" marT="36576" marB="36576" anchor="ctr">
                    <a:solidFill>
                      <a:srgbClr val="FFFFFF"/>
                    </a:solidFill>
                  </a:tcPr>
                </a:tc>
                <a:tc>
                  <a:txBody>
                    <a:bodyPr wrap="square"/>
                    <a:lstStyle/>
                    <a:p>
                      <a:pPr algn="ctr"/>
                      <a:r>
                        <a:rPr sz="1000" b="0" i="0">
                          <a:solidFill>
                            <a:srgbClr val="14313B"/>
                          </a:solidFill>
                          <a:latin typeface="Calibri (MS)"/>
                        </a:rPr>
                        <a:t>−947,0</a:t>
                      </a:r>
                    </a:p>
                  </a:txBody>
                  <a:tcPr marL="73152" marR="73152" marT="36576" marB="36576" anchor="ctr">
                    <a:solidFill>
                      <a:srgbClr val="C9F0D6"/>
                    </a:solidFill>
                  </a:tcPr>
                </a:tc>
                <a:tc>
                  <a:txBody>
                    <a:bodyPr wrap="square"/>
                    <a:lstStyle/>
                    <a:p>
                      <a:pPr algn="ctr"/>
                      <a:r>
                        <a:rPr sz="1000" b="0" i="0">
                          <a:solidFill>
                            <a:srgbClr val="14313B"/>
                          </a:solidFill>
                          <a:latin typeface="Calibri (MS)"/>
                        </a:rPr>
                        <a:t>−947,0</a:t>
                      </a:r>
                    </a:p>
                  </a:txBody>
                  <a:tcPr marL="73152" marR="73152" marT="36576" marB="36576" anchor="ctr">
                    <a:solidFill>
                      <a:srgbClr val="FFFFFF"/>
                    </a:solidFill>
                  </a:tcPr>
                </a:tc>
                <a:tc>
                  <a:txBody>
                    <a:bodyPr wrap="square"/>
                    <a:lstStyle/>
                    <a:p>
                      <a:pPr algn="ctr"/>
                      <a:r>
                        <a:rPr sz="1000" b="0" i="0">
                          <a:solidFill>
                            <a:srgbClr val="14313B"/>
                          </a:solidFill>
                          <a:latin typeface="Calibri (MS)"/>
                        </a:rPr>
                        <a:t>−50,1</a:t>
                      </a:r>
                    </a:p>
                  </a:txBody>
                  <a:tcPr marL="73152" marR="73152" marT="36576" marB="36576" anchor="ctr">
                    <a:solidFill>
                      <a:srgbClr val="FFF1BF"/>
                    </a:solidFill>
                  </a:tcPr>
                </a:tc>
              </a:tr>
              <a:tr h="374904">
                <a:tc>
                  <a:txBody>
                    <a:bodyPr wrap="square"/>
                    <a:lstStyle/>
                    <a:p>
                      <a:r>
                        <a:rPr sz="1000" b="1" i="0">
                          <a:solidFill>
                            <a:srgbClr val="14313B"/>
                          </a:solidFill>
                          <a:latin typeface="Calibri (MS) Bold"/>
                        </a:rPr>
                        <a:t>Indeks kepadatan</a:t>
                      </a:r>
                    </a:p>
                  </a:txBody>
                  <a:tcPr marL="73152" marR="73152" marT="36576" marB="36576" anchor="ctr">
                    <a:solidFill>
                      <a:srgbClr val="EAF8FA"/>
                    </a:solidFill>
                  </a:tcPr>
                </a:tc>
                <a:tc>
                  <a:txBody>
                    <a:bodyPr wrap="square"/>
                    <a:lstStyle/>
                    <a:p>
                      <a:pPr algn="ctr"/>
                      <a:r>
                        <a:rPr sz="1000" b="0" i="0">
                          <a:solidFill>
                            <a:srgbClr val="14313B"/>
                          </a:solidFill>
                          <a:latin typeface="Calibri (MS)"/>
                        </a:rPr>
                        <a:t>+0,0606</a:t>
                      </a:r>
                    </a:p>
                  </a:txBody>
                  <a:tcPr marL="73152" marR="73152" marT="36576" marB="36576" anchor="ctr">
                    <a:solidFill>
                      <a:srgbClr val="EAF8FA"/>
                    </a:solidFill>
                  </a:tcPr>
                </a:tc>
                <a:tc>
                  <a:txBody>
                    <a:bodyPr wrap="square"/>
                    <a:lstStyle/>
                    <a:p>
                      <a:pPr algn="ctr"/>
                      <a:r>
                        <a:rPr sz="1000" b="0" i="0">
                          <a:solidFill>
                            <a:srgbClr val="14313B"/>
                          </a:solidFill>
                          <a:latin typeface="Calibri (MS)"/>
                        </a:rPr>
                        <a:t>+0,0058</a:t>
                      </a:r>
                    </a:p>
                  </a:txBody>
                  <a:tcPr marL="73152" marR="73152" marT="36576" marB="36576" anchor="ctr">
                    <a:solidFill>
                      <a:srgbClr val="EAF8FA"/>
                    </a:solidFill>
                  </a:tcPr>
                </a:tc>
                <a:tc>
                  <a:txBody>
                    <a:bodyPr wrap="square"/>
                    <a:lstStyle/>
                    <a:p>
                      <a:pPr algn="ctr"/>
                      <a:r>
                        <a:rPr sz="1000" b="0" i="0">
                          <a:solidFill>
                            <a:srgbClr val="14313B"/>
                          </a:solidFill>
                          <a:latin typeface="Calibri (MS)"/>
                        </a:rPr>
                        <a:t>+0,0668</a:t>
                      </a:r>
                    </a:p>
                  </a:txBody>
                  <a:tcPr marL="73152" marR="73152" marT="36576" marB="36576" anchor="ctr">
                    <a:solidFill>
                      <a:srgbClr val="EAF8FA"/>
                    </a:solidFill>
                  </a:tcPr>
                </a:tc>
                <a:tc>
                  <a:txBody>
                    <a:bodyPr wrap="square"/>
                    <a:lstStyle/>
                    <a:p>
                      <a:pPr algn="ctr"/>
                      <a:r>
                        <a:rPr sz="1000" b="0" i="0">
                          <a:solidFill>
                            <a:srgbClr val="14313B"/>
                          </a:solidFill>
                          <a:latin typeface="Calibri (MS)"/>
                        </a:rPr>
                        <a:t>+0,0005</a:t>
                      </a:r>
                    </a:p>
                  </a:txBody>
                  <a:tcPr marL="73152" marR="73152" marT="36576" marB="36576" anchor="ctr">
                    <a:solidFill>
                      <a:srgbClr val="EAF8FA"/>
                    </a:solidFill>
                  </a:tcPr>
                </a:tc>
              </a:tr>
              <a:tr h="374904">
                <a:tc>
                  <a:txBody>
                    <a:bodyPr wrap="square"/>
                    <a:lstStyle/>
                    <a:p>
                      <a:r>
                        <a:rPr sz="1000" b="1" i="0">
                          <a:solidFill>
                            <a:srgbClr val="14313B"/>
                          </a:solidFill>
                          <a:latin typeface="Calibri (MS) Bold"/>
                        </a:rPr>
                        <a:t>Daya tarik</a:t>
                      </a:r>
                    </a:p>
                  </a:txBody>
                  <a:tcPr marL="73152" marR="73152" marT="36576" marB="36576" anchor="ctr">
                    <a:solidFill>
                      <a:srgbClr val="FFFFFF"/>
                    </a:solidFill>
                  </a:tcPr>
                </a:tc>
                <a:tc>
                  <a:txBody>
                    <a:bodyPr wrap="square"/>
                    <a:lstStyle/>
                    <a:p>
                      <a:pPr algn="ctr"/>
                      <a:r>
                        <a:rPr sz="1000" b="0" i="0">
                          <a:solidFill>
                            <a:srgbClr val="14313B"/>
                          </a:solidFill>
                          <a:latin typeface="Calibri (MS)"/>
                        </a:rPr>
                        <a:t>+0,0064</a:t>
                      </a:r>
                    </a:p>
                  </a:txBody>
                  <a:tcPr marL="73152" marR="73152" marT="36576" marB="36576" anchor="ctr">
                    <a:solidFill>
                      <a:srgbClr val="EAF8FA"/>
                    </a:solidFill>
                  </a:tcPr>
                </a:tc>
                <a:tc>
                  <a:txBody>
                    <a:bodyPr wrap="square"/>
                    <a:lstStyle/>
                    <a:p>
                      <a:pPr algn="ctr"/>
                      <a:r>
                        <a:rPr sz="1000" b="0" i="0">
                          <a:solidFill>
                            <a:srgbClr val="14313B"/>
                          </a:solidFill>
                          <a:latin typeface="Calibri (MS)"/>
                        </a:rPr>
                        <a:t>+0,0008</a:t>
                      </a:r>
                    </a:p>
                  </a:txBody>
                  <a:tcPr marL="73152" marR="73152" marT="36576" marB="36576" anchor="ctr">
                    <a:solidFill>
                      <a:srgbClr val="FFFFFF"/>
                    </a:solidFill>
                  </a:tcPr>
                </a:tc>
                <a:tc>
                  <a:txBody>
                    <a:bodyPr wrap="square"/>
                    <a:lstStyle/>
                    <a:p>
                      <a:pPr algn="ctr"/>
                      <a:r>
                        <a:rPr sz="1000" b="0" i="0">
                          <a:solidFill>
                            <a:srgbClr val="14313B"/>
                          </a:solidFill>
                          <a:latin typeface="Calibri (MS)"/>
                        </a:rPr>
                        <a:t>+0,0073</a:t>
                      </a:r>
                    </a:p>
                  </a:txBody>
                  <a:tcPr marL="73152" marR="73152" marT="36576" marB="36576" anchor="ctr">
                    <a:solidFill>
                      <a:srgbClr val="FFFFFF"/>
                    </a:solidFill>
                  </a:tcPr>
                </a:tc>
                <a:tc>
                  <a:txBody>
                    <a:bodyPr wrap="square"/>
                    <a:lstStyle/>
                    <a:p>
                      <a:pPr algn="ctr"/>
                      <a:r>
                        <a:rPr sz="1000" b="0" i="0">
                          <a:solidFill>
                            <a:srgbClr val="14313B"/>
                          </a:solidFill>
                          <a:latin typeface="Calibri (MS)"/>
                        </a:rPr>
                        <a:t>+0,0001</a:t>
                      </a:r>
                    </a:p>
                  </a:txBody>
                  <a:tcPr marL="73152" marR="73152" marT="36576" marB="36576" anchor="ctr">
                    <a:solidFill>
                      <a:srgbClr val="FFFFFF"/>
                    </a:solidFill>
                  </a:tcPr>
                </a:tc>
              </a:tr>
              <a:tr h="374904">
                <a:tc>
                  <a:txBody>
                    <a:bodyPr wrap="square"/>
                    <a:lstStyle/>
                    <a:p>
                      <a:r>
                        <a:rPr sz="1000" b="1" i="0">
                          <a:solidFill>
                            <a:srgbClr val="14313B"/>
                          </a:solidFill>
                          <a:latin typeface="Calibri (MS) Bold"/>
                        </a:rPr>
                        <a:t>Jumlah wisatawan</a:t>
                      </a:r>
                    </a:p>
                  </a:txBody>
                  <a:tcPr marL="73152" marR="73152" marT="36576" marB="36576" anchor="ctr">
                    <a:solidFill>
                      <a:srgbClr val="EAF8FA"/>
                    </a:solidFill>
                  </a:tcPr>
                </a:tc>
                <a:tc>
                  <a:txBody>
                    <a:bodyPr wrap="square"/>
                    <a:lstStyle/>
                    <a:p>
                      <a:pPr algn="ctr"/>
                      <a:r>
                        <a:rPr sz="1000" b="0" i="0">
                          <a:solidFill>
                            <a:srgbClr val="14313B"/>
                          </a:solidFill>
                          <a:latin typeface="Calibri (MS)"/>
                        </a:rPr>
                        <a:t>+2.464.305</a:t>
                      </a:r>
                    </a:p>
                  </a:txBody>
                  <a:tcPr marL="73152" marR="73152" marT="36576" marB="36576" anchor="ctr">
                    <a:solidFill>
                      <a:srgbClr val="EAF8FA"/>
                    </a:solidFill>
                  </a:tcPr>
                </a:tc>
                <a:tc>
                  <a:txBody>
                    <a:bodyPr wrap="square"/>
                    <a:lstStyle/>
                    <a:p>
                      <a:pPr algn="ctr"/>
                      <a:r>
                        <a:rPr sz="1000" b="0" i="0">
                          <a:solidFill>
                            <a:srgbClr val="14313B"/>
                          </a:solidFill>
                          <a:latin typeface="Calibri (MS)"/>
                        </a:rPr>
                        <a:t>+235.896</a:t>
                      </a:r>
                    </a:p>
                  </a:txBody>
                  <a:tcPr marL="73152" marR="73152" marT="36576" marB="36576" anchor="ctr">
                    <a:solidFill>
                      <a:srgbClr val="EAF8FA"/>
                    </a:solidFill>
                  </a:tcPr>
                </a:tc>
                <a:tc>
                  <a:txBody>
                    <a:bodyPr wrap="square"/>
                    <a:lstStyle/>
                    <a:p>
                      <a:pPr algn="ctr"/>
                      <a:r>
                        <a:rPr sz="1000" b="0" i="0">
                          <a:solidFill>
                            <a:srgbClr val="14313B"/>
                          </a:solidFill>
                          <a:latin typeface="Calibri (MS)"/>
                        </a:rPr>
                        <a:t>+2.719.973</a:t>
                      </a:r>
                    </a:p>
                  </a:txBody>
                  <a:tcPr marL="73152" marR="73152" marT="36576" marB="36576" anchor="ctr">
                    <a:solidFill>
                      <a:srgbClr val="EAF8FA"/>
                    </a:solidFill>
                  </a:tcPr>
                </a:tc>
                <a:tc>
                  <a:txBody>
                    <a:bodyPr wrap="square"/>
                    <a:lstStyle/>
                    <a:p>
                      <a:pPr algn="ctr"/>
                      <a:r>
                        <a:rPr sz="1000" b="0" i="0">
                          <a:solidFill>
                            <a:srgbClr val="14313B"/>
                          </a:solidFill>
                          <a:latin typeface="Calibri (MS)"/>
                        </a:rPr>
                        <a:t>+19.773</a:t>
                      </a:r>
                    </a:p>
                  </a:txBody>
                  <a:tcPr marL="73152" marR="73152" marT="36576" marB="36576" anchor="ctr">
                    <a:solidFill>
                      <a:srgbClr val="EAF8FA"/>
                    </a:solidFill>
                  </a:tcPr>
                </a:tc>
              </a:tr>
              <a:tr h="374904">
                <a:tc>
                  <a:txBody>
                    <a:bodyPr wrap="square"/>
                    <a:lstStyle/>
                    <a:p>
                      <a:r>
                        <a:rPr sz="1000" b="1" i="0">
                          <a:solidFill>
                            <a:srgbClr val="14313B"/>
                          </a:solidFill>
                          <a:latin typeface="Calibri (MS) Bold"/>
                        </a:rPr>
                        <a:t>Jumlah hotel (unit)</a:t>
                      </a:r>
                    </a:p>
                  </a:txBody>
                  <a:tcPr marL="73152" marR="73152" marT="36576" marB="36576" anchor="ctr">
                    <a:solidFill>
                      <a:srgbClr val="FFFFFF"/>
                    </a:solidFill>
                  </a:tcPr>
                </a:tc>
                <a:tc>
                  <a:txBody>
                    <a:bodyPr wrap="square"/>
                    <a:lstStyle/>
                    <a:p>
                      <a:pPr algn="ctr"/>
                      <a:r>
                        <a:rPr sz="1000" b="0" i="0">
                          <a:solidFill>
                            <a:srgbClr val="14313B"/>
                          </a:solidFill>
                          <a:latin typeface="Calibri (MS)"/>
                        </a:rPr>
                        <a:t>+214,6</a:t>
                      </a:r>
                    </a:p>
                  </a:txBody>
                  <a:tcPr marL="73152" marR="73152" marT="36576" marB="36576" anchor="ctr">
                    <a:solidFill>
                      <a:srgbClr val="EAF8FA"/>
                    </a:solidFill>
                  </a:tcPr>
                </a:tc>
                <a:tc>
                  <a:txBody>
                    <a:bodyPr wrap="square"/>
                    <a:lstStyle/>
                    <a:p>
                      <a:pPr algn="ctr"/>
                      <a:r>
                        <a:rPr sz="1000" b="0" i="0">
                          <a:solidFill>
                            <a:srgbClr val="14313B"/>
                          </a:solidFill>
                          <a:latin typeface="Calibri (MS)"/>
                        </a:rPr>
                        <a:t>+10,4</a:t>
                      </a:r>
                    </a:p>
                  </a:txBody>
                  <a:tcPr marL="73152" marR="73152" marT="36576" marB="36576" anchor="ctr">
                    <a:solidFill>
                      <a:srgbClr val="FFFFFF"/>
                    </a:solidFill>
                  </a:tcPr>
                </a:tc>
                <a:tc>
                  <a:txBody>
                    <a:bodyPr wrap="square"/>
                    <a:lstStyle/>
                    <a:p>
                      <a:pPr algn="ctr"/>
                      <a:r>
                        <a:rPr sz="1000" b="0" i="0">
                          <a:solidFill>
                            <a:srgbClr val="14313B"/>
                          </a:solidFill>
                          <a:latin typeface="Calibri (MS)"/>
                        </a:rPr>
                        <a:t>+226,2</a:t>
                      </a:r>
                    </a:p>
                  </a:txBody>
                  <a:tcPr marL="73152" marR="73152" marT="36576" marB="36576" anchor="ctr">
                    <a:solidFill>
                      <a:srgbClr val="FFFFFF"/>
                    </a:solidFill>
                  </a:tcPr>
                </a:tc>
                <a:tc>
                  <a:txBody>
                    <a:bodyPr wrap="square"/>
                    <a:lstStyle/>
                    <a:p>
                      <a:pPr algn="ctr"/>
                      <a:r>
                        <a:rPr sz="1000" b="0" i="0">
                          <a:solidFill>
                            <a:srgbClr val="14313B"/>
                          </a:solidFill>
                          <a:latin typeface="Calibri (MS)"/>
                        </a:rPr>
                        <a:t>+1,2</a:t>
                      </a:r>
                    </a:p>
                  </a:txBody>
                  <a:tcPr marL="73152" marR="73152" marT="36576" marB="36576" anchor="ctr">
                    <a:solidFill>
                      <a:srgbClr val="FFFFFF"/>
                    </a:solidFill>
                  </a:tcPr>
                </a:tc>
              </a:tr>
              <a:tr h="374904">
                <a:tc>
                  <a:txBody>
                    <a:bodyPr wrap="square"/>
                    <a:lstStyle/>
                    <a:p>
                      <a:r>
                        <a:rPr sz="1000" b="1" i="0">
                          <a:solidFill>
                            <a:srgbClr val="14313B"/>
                          </a:solidFill>
                          <a:latin typeface="Calibri (MS) Bold"/>
                        </a:rPr>
                        <a:t>Jumlah ODTW (unit)</a:t>
                      </a:r>
                    </a:p>
                  </a:txBody>
                  <a:tcPr marL="73152" marR="73152" marT="36576" marB="36576" anchor="ctr">
                    <a:solidFill>
                      <a:srgbClr val="EAF8FA"/>
                    </a:solidFill>
                  </a:tcPr>
                </a:tc>
                <a:tc>
                  <a:txBody>
                    <a:bodyPr wrap="square"/>
                    <a:lstStyle/>
                    <a:p>
                      <a:pPr algn="ctr"/>
                      <a:r>
                        <a:rPr sz="1000" b="0" i="0">
                          <a:solidFill>
                            <a:srgbClr val="14313B"/>
                          </a:solidFill>
                          <a:latin typeface="Calibri (MS)"/>
                        </a:rPr>
                        <a:t>+26,6</a:t>
                      </a:r>
                    </a:p>
                  </a:txBody>
                  <a:tcPr marL="73152" marR="73152" marT="36576" marB="36576" anchor="ctr">
                    <a:solidFill>
                      <a:srgbClr val="EAF8FA"/>
                    </a:solidFill>
                  </a:tcPr>
                </a:tc>
                <a:tc>
                  <a:txBody>
                    <a:bodyPr wrap="square"/>
                    <a:lstStyle/>
                    <a:p>
                      <a:pPr algn="ctr"/>
                      <a:r>
                        <a:rPr sz="1000" b="0" i="0">
                          <a:solidFill>
                            <a:srgbClr val="14313B"/>
                          </a:solidFill>
                          <a:latin typeface="Calibri (MS)"/>
                        </a:rPr>
                        <a:t>+0,3</a:t>
                      </a:r>
                    </a:p>
                  </a:txBody>
                  <a:tcPr marL="73152" marR="73152" marT="36576" marB="36576" anchor="ctr">
                    <a:solidFill>
                      <a:srgbClr val="EAF8FA"/>
                    </a:solidFill>
                  </a:tcPr>
                </a:tc>
                <a:tc>
                  <a:txBody>
                    <a:bodyPr wrap="square"/>
                    <a:lstStyle/>
                    <a:p>
                      <a:pPr algn="ctr"/>
                      <a:r>
                        <a:rPr sz="1000" b="0" i="0">
                          <a:solidFill>
                            <a:srgbClr val="14313B"/>
                          </a:solidFill>
                          <a:latin typeface="Calibri (MS)"/>
                        </a:rPr>
                        <a:t>+26,9</a:t>
                      </a:r>
                    </a:p>
                  </a:txBody>
                  <a:tcPr marL="73152" marR="73152" marT="36576" marB="36576" anchor="ctr">
                    <a:solidFill>
                      <a:srgbClr val="EAF8FA"/>
                    </a:solidFill>
                  </a:tcPr>
                </a:tc>
                <a:tc>
                  <a:txBody>
                    <a:bodyPr wrap="square"/>
                    <a:lstStyle/>
                    <a:p>
                      <a:pPr algn="ctr"/>
                      <a:r>
                        <a:rPr sz="1000" b="0" i="0">
                          <a:solidFill>
                            <a:srgbClr val="14313B"/>
                          </a:solidFill>
                          <a:latin typeface="Calibri (MS)"/>
                        </a:rPr>
                        <a:t>+0,05</a:t>
                      </a:r>
                    </a:p>
                  </a:txBody>
                  <a:tcPr marL="73152" marR="73152" marT="36576" marB="36576" anchor="ctr">
                    <a:solidFill>
                      <a:srgbClr val="EAF8FA"/>
                    </a:solidFill>
                  </a:tcPr>
                </a:tc>
              </a:tr>
            </a:tbl>
          </a:graphicData>
        </a:graphic>
      </p:graphicFrame>
      <p:sp>
        <p:nvSpPr>
          <p:cNvPr id="33" name="TextBox 32"/>
          <p:cNvSpPr txBox="1"/>
          <p:nvPr/>
        </p:nvSpPr>
        <p:spPr>
          <a:xfrm>
            <a:off x="8046720" y="7360920"/>
            <a:ext cx="9418320" cy="960120"/>
          </a:xfrm>
          <a:prstGeom prst="rect">
            <a:avLst/>
          </a:prstGeom>
          <a:noFill/>
        </p:spPr>
        <p:txBody>
          <a:bodyPr wrap="square" anchor="t" lIns="0" rIns="0" tIns="0" bIns="0">
            <a:spAutoFit/>
          </a:bodyPr>
          <a:lstStyle/>
          <a:p>
            <a:pPr algn="l">
              <a:spcAft>
                <a:spcPts val="400"/>
              </a:spcAft>
            </a:pPr>
            <a:r>
              <a:rPr sz="1100" b="0" i="0">
                <a:solidFill>
                  <a:srgbClr val="14313B"/>
                </a:solidFill>
                <a:latin typeface="Calibri (MS)"/>
              </a:rPr>
              <a:t>Insentif menggerakkan ekonomi, konservasi menggerakkan lahan; interaksi kecil (±0,7% untuk wisatawan). Pada lahan, interaksi −57,6 ha persis menetralkan tambahan +57,6 ha dari insentif: konversi pariwisata tetap nol tanpa mengorbankan pertumbuhan.</a:t>
            </a:r>
          </a:p>
        </p:txBody>
      </p:sp>
      <p:sp>
        <p:nvSpPr>
          <p:cNvPr id="34" name="TextBox 3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4.8.3 (Tabel 61) dan 4.8.4 (Tabel 62); hasil_simulasi_skenario.xlsx (Komposisi Daya Tarik, Tabel 4 Dekomposisi).</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78 · Kekokohan Peringkat Skenario (1/2): Kondisi dan Hasil</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157</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Tiga skenario dijalankan pada tujuh kondisi parameter; kokoh bila urutan tidak berubah di semua kondisi</a:t>
            </a:r>
          </a:p>
        </p:txBody>
      </p:sp>
      <p:graphicFrame>
        <p:nvGraphicFramePr>
          <p:cNvPr id="27" name="Table 26"/>
          <p:cNvGraphicFramePr>
            <a:graphicFrameLocks noGrp="1"/>
          </p:cNvGraphicFramePr>
          <p:nvPr/>
        </p:nvGraphicFramePr>
        <p:xfrm>
          <a:off x="822960" y="1874519"/>
          <a:ext cx="8138160" cy="3657600"/>
        </p:xfrm>
        <a:graphic>
          <a:graphicData uri="http://schemas.openxmlformats.org/drawingml/2006/table">
            <a:tbl>
              <a:tblPr firstRow="1" bandRow="1">
                <a:tableStyleId>{5C22544A-7EE6-4342-B048-85BDC9FD1C3A}</a:tableStyleId>
              </a:tblPr>
              <a:tblGrid>
                <a:gridCol w="731520"/>
                <a:gridCol w="3566160"/>
                <a:gridCol w="3840480"/>
              </a:tblGrid>
              <a:tr h="457200">
                <a:tc>
                  <a:txBody>
                    <a:bodyPr wrap="square"/>
                    <a:lstStyle/>
                    <a:p>
                      <a:pPr algn="ctr"/>
                      <a:r>
                        <a:rPr sz="1050" b="1" i="0">
                          <a:solidFill>
                            <a:srgbClr val="FFFFFF"/>
                          </a:solidFill>
                          <a:latin typeface="Calibri (MS) Bold"/>
                        </a:rPr>
                        <a:t>Kode</a:t>
                      </a:r>
                    </a:p>
                  </a:txBody>
                  <a:tcPr marL="73152" marR="73152" marT="36576" marB="36576" anchor="ctr">
                    <a:solidFill>
                      <a:srgbClr val="0B5E6E"/>
                    </a:solidFill>
                  </a:tcPr>
                </a:tc>
                <a:tc>
                  <a:txBody>
                    <a:bodyPr wrap="square"/>
                    <a:lstStyle/>
                    <a:p>
                      <a:r>
                        <a:rPr sz="1050" b="1" i="0">
                          <a:solidFill>
                            <a:srgbClr val="FFFFFF"/>
                          </a:solidFill>
                          <a:latin typeface="Calibri (MS) Bold"/>
                        </a:rPr>
                        <a:t>Kondisi parameter</a:t>
                      </a:r>
                    </a:p>
                  </a:txBody>
                  <a:tcPr marL="73152" marR="73152" marT="36576" marB="36576" anchor="ctr">
                    <a:solidFill>
                      <a:srgbClr val="0B5E6E"/>
                    </a:solidFill>
                  </a:tcPr>
                </a:tc>
                <a:tc>
                  <a:txBody>
                    <a:bodyPr wrap="square"/>
                    <a:lstStyle/>
                    <a:p>
                      <a:r>
                        <a:rPr sz="1050" b="1" i="0">
                          <a:solidFill>
                            <a:srgbClr val="FFFFFF"/>
                          </a:solidFill>
                          <a:latin typeface="Calibri (MS) Bold"/>
                        </a:rPr>
                        <a:t>Alasan dipilih</a:t>
                      </a:r>
                    </a:p>
                  </a:txBody>
                  <a:tcPr marL="73152" marR="73152" marT="36576" marB="36576" anchor="ctr">
                    <a:solidFill>
                      <a:srgbClr val="0B5E6E"/>
                    </a:solidFill>
                  </a:tcPr>
                </a:tc>
              </a:tr>
              <a:tr h="457200">
                <a:tc>
                  <a:txBody>
                    <a:bodyPr wrap="square"/>
                    <a:lstStyle/>
                    <a:p>
                      <a:pPr algn="ctr"/>
                      <a:r>
                        <a:rPr sz="1050" b="1" i="0">
                          <a:solidFill>
                            <a:srgbClr val="14313B"/>
                          </a:solidFill>
                          <a:latin typeface="Calibri (MS) Bold"/>
                        </a:rPr>
                        <a:t>C0</a:t>
                      </a:r>
                    </a:p>
                  </a:txBody>
                  <a:tcPr marL="73152" marR="73152" marT="36576" marB="36576" anchor="ctr">
                    <a:solidFill>
                      <a:srgbClr val="FFFFFF"/>
                    </a:solidFill>
                  </a:tcPr>
                </a:tc>
                <a:tc>
                  <a:txBody>
                    <a:bodyPr wrap="square"/>
                    <a:lstStyle/>
                    <a:p>
                      <a:r>
                        <a:rPr sz="1050" b="0" i="0">
                          <a:solidFill>
                            <a:srgbClr val="14313B"/>
                          </a:solidFill>
                          <a:latin typeface="Calibri (MS)"/>
                        </a:rPr>
                        <a:t>Nilai final</a:t>
                      </a:r>
                    </a:p>
                  </a:txBody>
                  <a:tcPr marL="73152" marR="73152" marT="36576" marB="36576" anchor="ctr">
                    <a:solidFill>
                      <a:srgbClr val="FFFFFF"/>
                    </a:solidFill>
                  </a:tcPr>
                </a:tc>
                <a:tc>
                  <a:txBody>
                    <a:bodyPr wrap="square"/>
                    <a:lstStyle/>
                    <a:p>
                      <a:r>
                        <a:rPr sz="1050" b="0" i="0">
                          <a:solidFill>
                            <a:srgbClr val="14313B"/>
                          </a:solidFill>
                          <a:latin typeface="Calibri (MS)"/>
                        </a:rPr>
                        <a:t>Acuan</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C1</a:t>
                      </a:r>
                    </a:p>
                  </a:txBody>
                  <a:tcPr marL="73152" marR="73152" marT="36576" marB="36576" anchor="ctr">
                    <a:solidFill>
                      <a:srgbClr val="EAF8FA"/>
                    </a:solidFill>
                  </a:tcPr>
                </a:tc>
                <a:tc>
                  <a:txBody>
                    <a:bodyPr wrap="square"/>
                    <a:lstStyle/>
                    <a:p>
                      <a:r>
                        <a:rPr sz="1050" b="0" i="0">
                          <a:solidFill>
                            <a:srgbClr val="14313B"/>
                          </a:solidFill>
                          <a:latin typeface="Calibri (MS)"/>
                        </a:rPr>
                        <a:t>Rasio LPD/LPE = 0,65</a:t>
                      </a:r>
                    </a:p>
                  </a:txBody>
                  <a:tcPr marL="73152" marR="73152" marT="36576" marB="36576" anchor="ctr">
                    <a:solidFill>
                      <a:srgbClr val="EAF8FA"/>
                    </a:solidFill>
                  </a:tcPr>
                </a:tc>
                <a:tc>
                  <a:txBody>
                    <a:bodyPr wrap="square"/>
                    <a:lstStyle/>
                    <a:p>
                      <a:r>
                        <a:rPr sz="1050" b="0" i="0">
                          <a:solidFill>
                            <a:srgbClr val="14313B"/>
                          </a:solidFill>
                          <a:latin typeface="Calibri (MS)"/>
                        </a:rPr>
                        <a:t>Ketidakpastian terbesar (lebar 153,57 poin); tidak teridentifikasi</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C2</a:t>
                      </a:r>
                    </a:p>
                  </a:txBody>
                  <a:tcPr marL="73152" marR="73152" marT="36576" marB="36576" anchor="ctr">
                    <a:solidFill>
                      <a:srgbClr val="FFFFFF"/>
                    </a:solidFill>
                  </a:tcPr>
                </a:tc>
                <a:tc>
                  <a:txBody>
                    <a:bodyPr wrap="square"/>
                    <a:lstStyle/>
                    <a:p>
                      <a:r>
                        <a:rPr sz="1050" b="0" i="0">
                          <a:solidFill>
                            <a:srgbClr val="14313B"/>
                          </a:solidFill>
                          <a:latin typeface="Calibri (MS)"/>
                        </a:rPr>
                        <a:t>Rasio LPD/LPE = 0,90</a:t>
                      </a:r>
                    </a:p>
                  </a:txBody>
                  <a:tcPr marL="73152" marR="73152" marT="36576" marB="36576" anchor="ctr">
                    <a:solidFill>
                      <a:srgbClr val="FFFFFF"/>
                    </a:solidFill>
                  </a:tcPr>
                </a:tc>
                <a:tc>
                  <a:txBody>
                    <a:bodyPr wrap="square"/>
                    <a:lstStyle/>
                    <a:p>
                      <a:r>
                        <a:rPr sz="1050" b="0" i="0">
                          <a:solidFill>
                            <a:srgbClr val="14313B"/>
                          </a:solidFill>
                          <a:latin typeface="Calibri (MS)"/>
                        </a:rPr>
                        <a:t>Ujung atas rentang yang sama</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C3</a:t>
                      </a:r>
                    </a:p>
                  </a:txBody>
                  <a:tcPr marL="73152" marR="73152" marT="36576" marB="36576" anchor="ctr">
                    <a:solidFill>
                      <a:srgbClr val="EAF8FA"/>
                    </a:solidFill>
                  </a:tcPr>
                </a:tc>
                <a:tc>
                  <a:txBody>
                    <a:bodyPr wrap="square"/>
                    <a:lstStyle/>
                    <a:p>
                      <a:r>
                        <a:rPr sz="1050" b="0" i="0">
                          <a:solidFill>
                            <a:srgbClr val="14313B"/>
                          </a:solidFill>
                          <a:latin typeface="Calibri (MS)"/>
                        </a:rPr>
                        <a:t>Bobot ODTW/Kepadatan/Lahan = 0,50/0,25/0,25</a:t>
                      </a:r>
                    </a:p>
                  </a:txBody>
                  <a:tcPr marL="73152" marR="73152" marT="36576" marB="36576" anchor="ctr">
                    <a:solidFill>
                      <a:srgbClr val="EAF8FA"/>
                    </a:solidFill>
                  </a:tcPr>
                </a:tc>
                <a:tc>
                  <a:txBody>
                    <a:bodyPr wrap="square"/>
                    <a:lstStyle/>
                    <a:p>
                      <a:r>
                        <a:rPr sz="1050" b="0" i="0">
                          <a:solidFill>
                            <a:srgbClr val="14313B"/>
                          </a:solidFill>
                          <a:latin typeface="Calibri (MS)"/>
                        </a:rPr>
                        <a:t>Lebar 48,10 poin</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C4</a:t>
                      </a:r>
                    </a:p>
                  </a:txBody>
                  <a:tcPr marL="73152" marR="73152" marT="36576" marB="36576" anchor="ctr">
                    <a:solidFill>
                      <a:srgbClr val="FFFFFF"/>
                    </a:solidFill>
                  </a:tcPr>
                </a:tc>
                <a:tc>
                  <a:txBody>
                    <a:bodyPr wrap="square"/>
                    <a:lstStyle/>
                    <a:p>
                      <a:r>
                        <a:rPr sz="1050" b="0" i="0">
                          <a:solidFill>
                            <a:srgbClr val="14313B"/>
                          </a:solidFill>
                          <a:latin typeface="Calibri (MS)"/>
                        </a:rPr>
                        <a:t>Bobot = 0,30/0,45/0,25</a:t>
                      </a:r>
                    </a:p>
                  </a:txBody>
                  <a:tcPr marL="73152" marR="73152" marT="36576" marB="36576" anchor="ctr">
                    <a:solidFill>
                      <a:srgbClr val="FFFFFF"/>
                    </a:solidFill>
                  </a:tcPr>
                </a:tc>
                <a:tc>
                  <a:txBody>
                    <a:bodyPr wrap="square"/>
                    <a:lstStyle/>
                    <a:p>
                      <a:r>
                        <a:rPr sz="1050" b="0" i="0">
                          <a:solidFill>
                            <a:srgbClr val="14313B"/>
                          </a:solidFill>
                          <a:latin typeface="Calibri (MS)"/>
                        </a:rPr>
                        <a:t>Kombinasi alternatif bobot</a:t>
                      </a:r>
                    </a:p>
                  </a:txBody>
                  <a:tcPr marL="73152" marR="73152" marT="36576" marB="36576" anchor="ctr">
                    <a:solidFill>
                      <a:srgbClr val="FFFFFF"/>
                    </a:solidFill>
                  </a:tcPr>
                </a:tc>
              </a:tr>
              <a:tr h="457200">
                <a:tc>
                  <a:txBody>
                    <a:bodyPr wrap="square"/>
                    <a:lstStyle/>
                    <a:p>
                      <a:pPr algn="ctr"/>
                      <a:r>
                        <a:rPr sz="1050" b="1" i="0">
                          <a:solidFill>
                            <a:srgbClr val="14313B"/>
                          </a:solidFill>
                          <a:latin typeface="Calibri (MS) Bold"/>
                        </a:rPr>
                        <a:t>C5</a:t>
                      </a:r>
                    </a:p>
                  </a:txBody>
                  <a:tcPr marL="73152" marR="73152" marT="36576" marB="36576" anchor="ctr">
                    <a:solidFill>
                      <a:srgbClr val="EAF8FA"/>
                    </a:solidFill>
                  </a:tcPr>
                </a:tc>
                <a:tc>
                  <a:txBody>
                    <a:bodyPr wrap="square"/>
                    <a:lstStyle/>
                    <a:p>
                      <a:r>
                        <a:rPr sz="1050" b="0" i="0">
                          <a:solidFill>
                            <a:srgbClr val="14313B"/>
                          </a:solidFill>
                          <a:latin typeface="Calibri (MS)"/>
                        </a:rPr>
                        <a:t>Laju Konversi Dasar = 0,0034118</a:t>
                      </a:r>
                    </a:p>
                  </a:txBody>
                  <a:tcPr marL="73152" marR="73152" marT="36576" marB="36576" anchor="ctr">
                    <a:solidFill>
                      <a:srgbClr val="EAF8FA"/>
                    </a:solidFill>
                  </a:tcPr>
                </a:tc>
                <a:tc>
                  <a:txBody>
                    <a:bodyPr wrap="square"/>
                    <a:lstStyle/>
                    <a:p>
                      <a:r>
                        <a:rPr sz="1050" b="0" i="0">
                          <a:solidFill>
                            <a:srgbClr val="14313B"/>
                          </a:solidFill>
                          <a:latin typeface="Calibri (MS)"/>
                        </a:rPr>
                        <a:t>Batas bawah CI 95% (lebar lahan 115,70 poin)</a:t>
                      </a:r>
                    </a:p>
                  </a:txBody>
                  <a:tcPr marL="73152" marR="73152" marT="36576" marB="36576" anchor="ctr">
                    <a:solidFill>
                      <a:srgbClr val="EAF8FA"/>
                    </a:solidFill>
                  </a:tcPr>
                </a:tc>
              </a:tr>
              <a:tr h="457200">
                <a:tc>
                  <a:txBody>
                    <a:bodyPr wrap="square"/>
                    <a:lstStyle/>
                    <a:p>
                      <a:pPr algn="ctr"/>
                      <a:r>
                        <a:rPr sz="1050" b="1" i="0">
                          <a:solidFill>
                            <a:srgbClr val="14313B"/>
                          </a:solidFill>
                          <a:latin typeface="Calibri (MS) Bold"/>
                        </a:rPr>
                        <a:t>C6</a:t>
                      </a:r>
                    </a:p>
                  </a:txBody>
                  <a:tcPr marL="73152" marR="73152" marT="36576" marB="36576" anchor="ctr">
                    <a:solidFill>
                      <a:srgbClr val="FFFFFF"/>
                    </a:solidFill>
                  </a:tcPr>
                </a:tc>
                <a:tc>
                  <a:txBody>
                    <a:bodyPr wrap="square"/>
                    <a:lstStyle/>
                    <a:p>
                      <a:r>
                        <a:rPr sz="1050" b="0" i="0">
                          <a:solidFill>
                            <a:srgbClr val="14313B"/>
                          </a:solidFill>
                          <a:latin typeface="Calibri (MS)"/>
                        </a:rPr>
                        <a:t>Laju Konversi Dasar = 0,0851069</a:t>
                      </a:r>
                    </a:p>
                  </a:txBody>
                  <a:tcPr marL="73152" marR="73152" marT="36576" marB="36576" anchor="ctr">
                    <a:solidFill>
                      <a:srgbClr val="FFFFFF"/>
                    </a:solidFill>
                  </a:tcPr>
                </a:tc>
                <a:tc>
                  <a:txBody>
                    <a:bodyPr wrap="square"/>
                    <a:lstStyle/>
                    <a:p>
                      <a:r>
                        <a:rPr sz="1050" b="0" i="0">
                          <a:solidFill>
                            <a:srgbClr val="14313B"/>
                          </a:solidFill>
                          <a:latin typeface="Calibri (MS)"/>
                        </a:rPr>
                        <a:t>Batas atas CI 95%</a:t>
                      </a:r>
                    </a:p>
                  </a:txBody>
                  <a:tcPr marL="73152" marR="73152" marT="36576" marB="36576" anchor="ctr">
                    <a:solidFill>
                      <a:srgbClr val="FFFFFF"/>
                    </a:solidFill>
                  </a:tcPr>
                </a:tc>
              </a:tr>
            </a:tbl>
          </a:graphicData>
        </a:graphic>
      </p:graphicFrame>
      <p:graphicFrame>
        <p:nvGraphicFramePr>
          <p:cNvPr id="28" name="Table 27"/>
          <p:cNvGraphicFramePr>
            <a:graphicFrameLocks noGrp="1"/>
          </p:cNvGraphicFramePr>
          <p:nvPr/>
        </p:nvGraphicFramePr>
        <p:xfrm>
          <a:off x="9235440" y="1874519"/>
          <a:ext cx="8229600" cy="3657600"/>
        </p:xfrm>
        <a:graphic>
          <a:graphicData uri="http://schemas.openxmlformats.org/drawingml/2006/table">
            <a:tbl>
              <a:tblPr firstRow="1" bandRow="1">
                <a:tableStyleId>{5C22544A-7EE6-4342-B048-85BDC9FD1C3A}</a:tableStyleId>
              </a:tblPr>
              <a:tblGrid>
                <a:gridCol w="3108960"/>
                <a:gridCol w="3566160"/>
                <a:gridCol w="1554480"/>
              </a:tblGrid>
              <a:tr h="457200">
                <a:tc>
                  <a:txBody>
                    <a:bodyPr wrap="square"/>
                    <a:lstStyle/>
                    <a:p>
                      <a:r>
                        <a:rPr sz="1050" b="1" i="0">
                          <a:solidFill>
                            <a:srgbClr val="FFFFFF"/>
                          </a:solidFill>
                          <a:latin typeface="Calibri (MS) Bold"/>
                        </a:rPr>
                        <a:t>Indikator</a:t>
                      </a:r>
                    </a:p>
                  </a:txBody>
                  <a:tcPr marL="73152" marR="73152" marT="36576" marB="36576" anchor="ctr">
                    <a:solidFill>
                      <a:srgbClr val="0B5E6E"/>
                    </a:solidFill>
                  </a:tcPr>
                </a:tc>
                <a:tc>
                  <a:txBody>
                    <a:bodyPr wrap="square"/>
                    <a:lstStyle/>
                    <a:p>
                      <a:r>
                        <a:rPr sz="1050" b="1" i="0">
                          <a:solidFill>
                            <a:srgbClr val="FFFFFF"/>
                          </a:solidFill>
                          <a:latin typeface="Calibri (MS) Bold"/>
                        </a:rPr>
                        <a:t>Urutan pada C0–C6</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Status</a:t>
                      </a:r>
                    </a:p>
                  </a:txBody>
                  <a:tcPr marL="73152" marR="73152" marT="36576" marB="36576" anchor="ctr">
                    <a:solidFill>
                      <a:srgbClr val="0B5E6E"/>
                    </a:solidFill>
                  </a:tcPr>
                </a:tc>
              </a:tr>
              <a:tr h="457200">
                <a:tc>
                  <a:txBody>
                    <a:bodyPr wrap="square"/>
                    <a:lstStyle/>
                    <a:p>
                      <a:r>
                        <a:rPr sz="1050" b="1" i="0">
                          <a:solidFill>
                            <a:srgbClr val="14313B"/>
                          </a:solidFill>
                          <a:latin typeface="Calibri (MS) Bold"/>
                        </a:rPr>
                        <a:t>Lapangan kerja pariwisata</a:t>
                      </a:r>
                    </a:p>
                  </a:txBody>
                  <a:tcPr marL="73152" marR="73152" marT="36576" marB="36576" anchor="ctr">
                    <a:solidFill>
                      <a:srgbClr val="FFFFFF"/>
                    </a:solidFill>
                  </a:tcPr>
                </a:tc>
                <a:tc>
                  <a:txBody>
                    <a:bodyPr wrap="square"/>
                    <a:lstStyle/>
                    <a:p>
                      <a:r>
                        <a:rPr sz="1050" b="0" i="0">
                          <a:solidFill>
                            <a:srgbClr val="14313B"/>
                          </a:solidFill>
                          <a:latin typeface="Calibri (MS)"/>
                        </a:rPr>
                        <a:t>DP &gt; Sustainable &gt; BAU</a:t>
                      </a:r>
                    </a:p>
                  </a:txBody>
                  <a:tcPr marL="73152" marR="73152" marT="36576" marB="36576" anchor="ctr">
                    <a:solidFill>
                      <a:srgbClr val="FFFFFF"/>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PDRB pariwisata</a:t>
                      </a:r>
                    </a:p>
                  </a:txBody>
                  <a:tcPr marL="73152" marR="73152" marT="36576" marB="36576" anchor="ctr">
                    <a:solidFill>
                      <a:srgbClr val="EAF8FA"/>
                    </a:solidFill>
                  </a:tcPr>
                </a:tc>
                <a:tc>
                  <a:txBody>
                    <a:bodyPr wrap="square"/>
                    <a:lstStyle/>
                    <a:p>
                      <a:r>
                        <a:rPr sz="1050" b="0" i="0">
                          <a:solidFill>
                            <a:srgbClr val="14313B"/>
                          </a:solidFill>
                          <a:latin typeface="Calibri (MS)"/>
                        </a:rPr>
                        <a:t>DP &gt; Sustainable &gt; BAU</a:t>
                      </a:r>
                    </a:p>
                  </a:txBody>
                  <a:tcPr marL="73152" marR="73152" marT="36576" marB="36576" anchor="ctr">
                    <a:solidFill>
                      <a:srgbClr val="EAF8FA"/>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Daya tarik destinasi</a:t>
                      </a:r>
                    </a:p>
                  </a:txBody>
                  <a:tcPr marL="73152" marR="73152" marT="36576" marB="36576" anchor="ctr">
                    <a:solidFill>
                      <a:srgbClr val="FFFFFF"/>
                    </a:solidFill>
                  </a:tcPr>
                </a:tc>
                <a:tc>
                  <a:txBody>
                    <a:bodyPr wrap="square"/>
                    <a:lstStyle/>
                    <a:p>
                      <a:r>
                        <a:rPr sz="1050" b="0" i="0">
                          <a:solidFill>
                            <a:srgbClr val="14313B"/>
                          </a:solidFill>
                          <a:latin typeface="Calibri (MS)"/>
                        </a:rPr>
                        <a:t>DP &gt; Sustainable &gt; BAU</a:t>
                      </a:r>
                    </a:p>
                  </a:txBody>
                  <a:tcPr marL="73152" marR="73152" marT="36576" marB="36576" anchor="ctr">
                    <a:solidFill>
                      <a:srgbClr val="FFFFFF"/>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Rasio daya dukung lahan</a:t>
                      </a:r>
                    </a:p>
                  </a:txBody>
                  <a:tcPr marL="73152" marR="73152" marT="36576" marB="36576" anchor="ctr">
                    <a:solidFill>
                      <a:srgbClr val="EAF8FA"/>
                    </a:solidFill>
                  </a:tcPr>
                </a:tc>
                <a:tc>
                  <a:txBody>
                    <a:bodyPr wrap="square"/>
                    <a:lstStyle/>
                    <a:p>
                      <a:r>
                        <a:rPr sz="1050" b="0" i="0">
                          <a:solidFill>
                            <a:srgbClr val="14313B"/>
                          </a:solidFill>
                          <a:latin typeface="Calibri (MS)"/>
                        </a:rPr>
                        <a:t>Sustainable &gt; BAU &gt; DP</a:t>
                      </a:r>
                    </a:p>
                  </a:txBody>
                  <a:tcPr marL="73152" marR="73152" marT="36576" marB="36576" anchor="ctr">
                    <a:solidFill>
                      <a:srgbClr val="EAF8FA"/>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Lahan terbangun</a:t>
                      </a:r>
                    </a:p>
                  </a:txBody>
                  <a:tcPr marL="73152" marR="73152" marT="36576" marB="36576" anchor="ctr">
                    <a:solidFill>
                      <a:srgbClr val="FFFFFF"/>
                    </a:solidFill>
                  </a:tcPr>
                </a:tc>
                <a:tc>
                  <a:txBody>
                    <a:bodyPr wrap="square"/>
                    <a:lstStyle/>
                    <a:p>
                      <a:r>
                        <a:rPr sz="1050" b="0" i="0">
                          <a:solidFill>
                            <a:srgbClr val="14313B"/>
                          </a:solidFill>
                          <a:latin typeface="Calibri (MS)"/>
                        </a:rPr>
                        <a:t>Sustainable &gt; BAU &gt; DP</a:t>
                      </a:r>
                    </a:p>
                  </a:txBody>
                  <a:tcPr marL="73152" marR="73152" marT="36576" marB="36576" anchor="ctr">
                    <a:solidFill>
                      <a:srgbClr val="FFFFFF"/>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Konversi lahan pariwisata</a:t>
                      </a:r>
                    </a:p>
                  </a:txBody>
                  <a:tcPr marL="73152" marR="73152" marT="36576" marB="36576" anchor="ctr">
                    <a:solidFill>
                      <a:srgbClr val="EAF8FA"/>
                    </a:solidFill>
                  </a:tcPr>
                </a:tc>
                <a:tc>
                  <a:txBody>
                    <a:bodyPr wrap="square"/>
                    <a:lstStyle/>
                    <a:p>
                      <a:r>
                        <a:rPr sz="1050" b="0" i="0">
                          <a:solidFill>
                            <a:srgbClr val="14313B"/>
                          </a:solidFill>
                          <a:latin typeface="Calibri (MS)"/>
                        </a:rPr>
                        <a:t>Sustainable &gt; BAU &gt; DP</a:t>
                      </a:r>
                    </a:p>
                  </a:txBody>
                  <a:tcPr marL="73152" marR="73152" marT="36576" marB="36576" anchor="ctr">
                    <a:solidFill>
                      <a:srgbClr val="EAF8FA"/>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r h="457200">
                <a:tc>
                  <a:txBody>
                    <a:bodyPr wrap="square"/>
                    <a:lstStyle/>
                    <a:p>
                      <a:r>
                        <a:rPr sz="1050" b="1" i="0">
                          <a:solidFill>
                            <a:srgbClr val="14313B"/>
                          </a:solidFill>
                          <a:latin typeface="Calibri (MS) Bold"/>
                        </a:rPr>
                        <a:t>Indeks kepadatan</a:t>
                      </a:r>
                    </a:p>
                  </a:txBody>
                  <a:tcPr marL="73152" marR="73152" marT="36576" marB="36576" anchor="ctr">
                    <a:solidFill>
                      <a:srgbClr val="FFFFFF"/>
                    </a:solidFill>
                  </a:tcPr>
                </a:tc>
                <a:tc>
                  <a:txBody>
                    <a:bodyPr wrap="square"/>
                    <a:lstStyle/>
                    <a:p>
                      <a:r>
                        <a:rPr sz="1050" b="0" i="0">
                          <a:solidFill>
                            <a:srgbClr val="14313B"/>
                          </a:solidFill>
                          <a:latin typeface="Calibri (MS)"/>
                        </a:rPr>
                        <a:t>BAU &gt; Sustainable &gt; DP</a:t>
                      </a:r>
                    </a:p>
                  </a:txBody>
                  <a:tcPr marL="73152" marR="73152" marT="36576" marB="36576" anchor="ctr">
                    <a:solidFill>
                      <a:srgbClr val="FFFFFF"/>
                    </a:solidFill>
                  </a:tcPr>
                </a:tc>
                <a:tc>
                  <a:txBody>
                    <a:bodyPr wrap="square"/>
                    <a:lstStyle/>
                    <a:p>
                      <a:pPr algn="ctr"/>
                      <a:r>
                        <a:rPr sz="1050" b="0" i="0">
                          <a:solidFill>
                            <a:srgbClr val="14313B"/>
                          </a:solidFill>
                          <a:latin typeface="Calibri (MS)"/>
                        </a:rPr>
                        <a:t>KOKOH</a:t>
                      </a:r>
                    </a:p>
                  </a:txBody>
                  <a:tcPr marL="73152" marR="73152" marT="36576" marB="36576" anchor="ctr">
                    <a:solidFill>
                      <a:srgbClr val="C9F0D6"/>
                    </a:solidFill>
                  </a:tcPr>
                </a:tc>
              </a:tr>
            </a:tbl>
          </a:graphicData>
        </a:graphic>
      </p:graphicFrame>
      <p:sp>
        <p:nvSpPr>
          <p:cNvPr id="29" name="Rounded Rectangle 28"/>
          <p:cNvSpPr/>
          <p:nvPr/>
        </p:nvSpPr>
        <p:spPr>
          <a:xfrm>
            <a:off x="822960" y="5760720"/>
            <a:ext cx="16642080" cy="18288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Membaca kekokohan</a:t>
            </a:r>
          </a:p>
          <a:p>
            <a:pPr algn="l">
              <a:spcAft>
                <a:spcPts val="300"/>
              </a:spcAft>
            </a:pPr>
            <a:r>
              <a:rPr sz="1100" b="1" i="0">
                <a:solidFill>
                  <a:srgbClr val="14313B"/>
                </a:solidFill>
                <a:latin typeface="Calibri (MS) Bold"/>
              </a:rPr>
              <a:t>Yang kokoh adalah urutan, bukan angka.  </a:t>
            </a:r>
            <a:r>
              <a:rPr sz="1100" b="0" i="0">
                <a:solidFill>
                  <a:srgbClr val="14313B"/>
                </a:solidFill>
                <a:latin typeface="Calibri (MS)"/>
              </a:rPr>
              <a:t>Contoh: wisatawan BAU 2050 berkisar 53,4 juta (C2) sampai 154,9 juta (C1), tetapi urutan DP &gt; Sustainable &gt; BAU selalu sama.</a:t>
            </a:r>
          </a:p>
          <a:p>
            <a:pPr algn="l">
              <a:spcAft>
                <a:spcPts val="300"/>
              </a:spcAft>
            </a:pPr>
            <a:r>
              <a:rPr sz="1100" b="1" i="0">
                <a:solidFill>
                  <a:srgbClr val="14313B"/>
                </a:solidFill>
                <a:latin typeface="Calibri (MS) Bold"/>
              </a:rPr>
              <a:t>Kenapa bertahan?  </a:t>
            </a:r>
            <a:r>
              <a:rPr sz="1100" b="0" i="0">
                <a:solidFill>
                  <a:srgbClr val="14313B"/>
                </a:solidFill>
                <a:latin typeface="Calibri (MS)"/>
              </a:rPr>
              <a:t>Ketiga kelompok indikator digerakkan tuas yang berbeda di jalur yang hampir terpisah (lihat dekomposisi).</a:t>
            </a:r>
          </a:p>
          <a:p>
            <a:pPr algn="l">
              <a:spcAft>
                <a:spcPts val="300"/>
              </a:spcAft>
            </a:pPr>
            <a:r>
              <a:rPr sz="1100" b="1" i="0">
                <a:solidFill>
                  <a:srgbClr val="14313B"/>
                </a:solidFill>
                <a:latin typeface="Calibri (MS) Bold"/>
              </a:rPr>
              <a:t>Konsekuensi:  </a:t>
            </a:r>
            <a:r>
              <a:rPr sz="1100" b="0" i="0">
                <a:solidFill>
                  <a:srgbClr val="14313B"/>
                </a:solidFill>
                <a:latin typeface="Calibri (MS)"/>
              </a:rPr>
              <a:t>kesimpulan "tidak ada skenario yang unggul di ketiga dimensi" bukan artefak pilihan parameter; tetapi angka proyeksinya tetap bukan ramalan.</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3.8.4 dan 4.8.5 (Tabel 63); hasil_simulasi_skenario.xlsx (Tabel 5 Kekokohan).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79 · Kekokohan Peringkat Skenario (2/2): Nilai 2050 per Kondisi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158</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Nilai indikator tahun 2050 untuk 21 simulasi (7 kondisi × 3 skenario); sel hijau = terbaik pada kondisi itu</a:t>
            </a:r>
          </a:p>
        </p:txBody>
      </p:sp>
      <p:graphicFrame>
        <p:nvGraphicFramePr>
          <p:cNvPr id="27" name="Table 26"/>
          <p:cNvGraphicFramePr>
            <a:graphicFrameLocks noGrp="1"/>
          </p:cNvGraphicFramePr>
          <p:nvPr/>
        </p:nvGraphicFramePr>
        <p:xfrm>
          <a:off x="822960" y="1874519"/>
          <a:ext cx="16642080" cy="6638544"/>
        </p:xfrm>
        <a:graphic>
          <a:graphicData uri="http://schemas.openxmlformats.org/drawingml/2006/table">
            <a:tbl>
              <a:tblPr firstRow="1" bandRow="1">
                <a:tableStyleId>{5C22544A-7EE6-4342-B048-85BDC9FD1C3A}</a:tableStyleId>
              </a:tblPr>
              <a:tblGrid>
                <a:gridCol w="3108960"/>
                <a:gridCol w="1554480"/>
                <a:gridCol w="1371600"/>
                <a:gridCol w="1554480"/>
                <a:gridCol w="1280160"/>
                <a:gridCol w="1280160"/>
                <a:gridCol w="1554480"/>
                <a:gridCol w="1828800"/>
                <a:gridCol w="1554480"/>
                <a:gridCol w="1554480"/>
              </a:tblGrid>
              <a:tr h="301752">
                <a:tc>
                  <a:txBody>
                    <a:bodyPr wrap="square"/>
                    <a:lstStyle/>
                    <a:p>
                      <a:r>
                        <a:rPr sz="950" b="1" i="0">
                          <a:solidFill>
                            <a:srgbClr val="FFFFFF"/>
                          </a:solidFill>
                          <a:latin typeface="Calibri (MS) Bold"/>
                        </a:rPr>
                        <a:t>Kondisi</a:t>
                      </a:r>
                    </a:p>
                  </a:txBody>
                  <a:tcPr marL="73152" marR="73152" marT="36576" marB="36576" anchor="ctr">
                    <a:solidFill>
                      <a:srgbClr val="0B5E6E"/>
                    </a:solidFill>
                  </a:tcPr>
                </a:tc>
                <a:tc>
                  <a:txBody>
                    <a:bodyPr wrap="square"/>
                    <a:lstStyle/>
                    <a:p>
                      <a:r>
                        <a:rPr sz="950" b="1" i="0">
                          <a:solidFill>
                            <a:srgbClr val="FFFFFF"/>
                          </a:solidFill>
                          <a:latin typeface="Calibri (MS) Bold"/>
                        </a:rPr>
                        <a:t>Skenario</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TK (ribu)</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PDRB (miliar Rp)</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Daya Tarik</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RDDL</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Lahan (ha)</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Konversi pariwisata (ha)</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Indeks kepadatan</a:t>
                      </a:r>
                    </a:p>
                  </a:txBody>
                  <a:tcPr marL="73152" marR="73152" marT="36576" marB="36576" anchor="ctr">
                    <a:solidFill>
                      <a:srgbClr val="0B5E6E"/>
                    </a:solidFill>
                  </a:tcPr>
                </a:tc>
                <a:tc>
                  <a:txBody>
                    <a:bodyPr wrap="square"/>
                    <a:lstStyle/>
                    <a:p>
                      <a:pPr algn="ctr"/>
                      <a:r>
                        <a:rPr sz="950" b="1" i="0">
                          <a:solidFill>
                            <a:srgbClr val="FFFFFF"/>
                          </a:solidFill>
                          <a:latin typeface="Calibri (MS) Bold"/>
                        </a:rPr>
                        <a:t>Wisatawan (juta)</a:t>
                      </a:r>
                    </a:p>
                  </a:txBody>
                  <a:tcPr marL="73152" marR="73152" marT="36576" marB="36576" anchor="ctr">
                    <a:solidFill>
                      <a:srgbClr val="0B5E6E"/>
                    </a:solidFill>
                  </a:tcPr>
                </a:tc>
              </a:tr>
              <a:tr h="301752">
                <a:tc>
                  <a:txBody>
                    <a:bodyPr wrap="square"/>
                    <a:lstStyle/>
                    <a:p>
                      <a:r>
                        <a:rPr sz="950" b="0" i="0">
                          <a:solidFill>
                            <a:srgbClr val="14313B"/>
                          </a:solidFill>
                          <a:latin typeface="Calibri (MS)"/>
                        </a:rPr>
                        <a:t>C0 nilai final</a:t>
                      </a:r>
                    </a:p>
                  </a:txBody>
                  <a:tcPr marL="73152" marR="73152" marT="36576" marB="36576" anchor="ctr">
                    <a:solidFill>
                      <a:srgbClr val="FFFFFF"/>
                    </a:solidFill>
                  </a:tcPr>
                </a:tc>
                <a:tc>
                  <a:txBody>
                    <a:bodyPr wrap="square"/>
                    <a:lstStyle/>
                    <a:p>
                      <a:r>
                        <a:rPr sz="950" b="0" i="0">
                          <a:solidFill>
                            <a:srgbClr val="14313B"/>
                          </a:solidFill>
                          <a:latin typeface="Calibri (MS)"/>
                        </a:rPr>
                        <a:t>BAU</a:t>
                      </a:r>
                    </a:p>
                  </a:txBody>
                  <a:tcPr marL="73152" marR="73152" marT="36576" marB="36576" anchor="ctr">
                    <a:solidFill>
                      <a:srgbClr val="FFFFFF"/>
                    </a:solidFill>
                  </a:tcPr>
                </a:tc>
                <a:tc>
                  <a:txBody>
                    <a:bodyPr wrap="square"/>
                    <a:lstStyle/>
                    <a:p>
                      <a:pPr algn="ctr"/>
                      <a:r>
                        <a:rPr sz="950" b="0" i="0">
                          <a:solidFill>
                            <a:srgbClr val="14313B"/>
                          </a:solidFill>
                          <a:latin typeface="Calibri (MS)"/>
                        </a:rPr>
                        <a:t>650,36</a:t>
                      </a:r>
                    </a:p>
                  </a:txBody>
                  <a:tcPr marL="73152" marR="73152" marT="36576" marB="36576" anchor="ctr">
                    <a:solidFill>
                      <a:srgbClr val="FFFFFF"/>
                    </a:solidFill>
                  </a:tcPr>
                </a:tc>
                <a:tc>
                  <a:txBody>
                    <a:bodyPr wrap="square"/>
                    <a:lstStyle/>
                    <a:p>
                      <a:pPr algn="ctr"/>
                      <a:r>
                        <a:rPr sz="950" b="0" i="0">
                          <a:solidFill>
                            <a:srgbClr val="14313B"/>
                          </a:solidFill>
                          <a:latin typeface="Calibri (MS)"/>
                        </a:rPr>
                        <a:t>40.061</a:t>
                      </a:r>
                    </a:p>
                  </a:txBody>
                  <a:tcPr marL="73152" marR="73152" marT="36576" marB="36576" anchor="ctr">
                    <a:solidFill>
                      <a:srgbClr val="FFFFFF"/>
                    </a:solidFill>
                  </a:tcPr>
                </a:tc>
                <a:tc>
                  <a:txBody>
                    <a:bodyPr wrap="square"/>
                    <a:lstStyle/>
                    <a:p>
                      <a:pPr algn="ctr"/>
                      <a:r>
                        <a:rPr sz="950" b="0" i="0">
                          <a:solidFill>
                            <a:srgbClr val="14313B"/>
                          </a:solidFill>
                          <a:latin typeface="Calibri (MS)"/>
                        </a:rPr>
                        <a:t>0,8132</a:t>
                      </a:r>
                    </a:p>
                  </a:txBody>
                  <a:tcPr marL="73152" marR="73152" marT="36576" marB="36576" anchor="ctr">
                    <a:solidFill>
                      <a:srgbClr val="FFFFFF"/>
                    </a:solidFill>
                  </a:tcPr>
                </a:tc>
                <a:tc>
                  <a:txBody>
                    <a:bodyPr wrap="square"/>
                    <a:lstStyle/>
                    <a:p>
                      <a:pPr algn="ctr"/>
                      <a:r>
                        <a:rPr sz="950" b="0" i="0">
                          <a:solidFill>
                            <a:srgbClr val="14313B"/>
                          </a:solidFill>
                          <a:latin typeface="Calibri (MS)"/>
                        </a:rPr>
                        <a:t>0,6145</a:t>
                      </a:r>
                    </a:p>
                  </a:txBody>
                  <a:tcPr marL="73152" marR="73152" marT="36576" marB="36576" anchor="ctr">
                    <a:solidFill>
                      <a:srgbClr val="FFFFFF"/>
                    </a:solidFill>
                  </a:tcPr>
                </a:tc>
                <a:tc>
                  <a:txBody>
                    <a:bodyPr wrap="square"/>
                    <a:lstStyle/>
                    <a:p>
                      <a:pPr algn="ctr"/>
                      <a:r>
                        <a:rPr sz="950" b="0" i="0">
                          <a:solidFill>
                            <a:srgbClr val="14313B"/>
                          </a:solidFill>
                          <a:latin typeface="Calibri (MS)"/>
                        </a:rPr>
                        <a:t>122.208</a:t>
                      </a:r>
                    </a:p>
                  </a:txBody>
                  <a:tcPr marL="73152" marR="73152" marT="36576" marB="36576" anchor="ctr">
                    <a:solidFill>
                      <a:srgbClr val="FFFFFF"/>
                    </a:solidFill>
                  </a:tcPr>
                </a:tc>
                <a:tc>
                  <a:txBody>
                    <a:bodyPr wrap="square"/>
                    <a:lstStyle/>
                    <a:p>
                      <a:pPr algn="ctr"/>
                      <a:r>
                        <a:rPr sz="950" b="0" i="0">
                          <a:solidFill>
                            <a:srgbClr val="14313B"/>
                          </a:solidFill>
                          <a:latin typeface="Calibri (MS)"/>
                        </a:rPr>
                        <a:t>947,0</a:t>
                      </a:r>
                    </a:p>
                  </a:txBody>
                  <a:tcPr marL="73152" marR="73152" marT="36576" marB="36576" anchor="ctr">
                    <a:solidFill>
                      <a:srgbClr val="FFFFFF"/>
                    </a:solidFill>
                  </a:tcPr>
                </a:tc>
                <a:tc>
                  <a:txBody>
                    <a:bodyPr wrap="square"/>
                    <a:lstStyle/>
                    <a:p>
                      <a:pPr algn="ctr"/>
                      <a:r>
                        <a:rPr sz="950" b="0" i="0">
                          <a:solidFill>
                            <a:srgbClr val="14313B"/>
                          </a:solidFill>
                          <a:latin typeface="Calibri (MS)"/>
                        </a:rPr>
                        <a:t>2,3638</a:t>
                      </a:r>
                    </a:p>
                  </a:txBody>
                  <a:tcPr marL="73152" marR="73152" marT="36576" marB="36576" anchor="ctr">
                    <a:solidFill>
                      <a:srgbClr val="C9F0D6"/>
                    </a:solidFill>
                  </a:tcPr>
                </a:tc>
                <a:tc>
                  <a:txBody>
                    <a:bodyPr wrap="square"/>
                    <a:lstStyle/>
                    <a:p>
                      <a:pPr algn="ctr"/>
                      <a:r>
                        <a:rPr sz="950" b="0" i="0">
                          <a:solidFill>
                            <a:srgbClr val="14313B"/>
                          </a:solidFill>
                          <a:latin typeface="Calibri (MS)"/>
                        </a:rPr>
                        <a:t>96,20</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Sustainable</a:t>
                      </a:r>
                    </a:p>
                  </a:txBody>
                  <a:tcPr marL="73152" marR="73152" marT="36576" marB="36576" anchor="ctr">
                    <a:solidFill>
                      <a:srgbClr val="EAF8FA"/>
                    </a:solidFill>
                  </a:tcPr>
                </a:tc>
                <a:tc>
                  <a:txBody>
                    <a:bodyPr wrap="square"/>
                    <a:lstStyle/>
                    <a:p>
                      <a:pPr algn="ctr"/>
                      <a:r>
                        <a:rPr sz="950" b="0" i="0">
                          <a:solidFill>
                            <a:srgbClr val="14313B"/>
                          </a:solidFill>
                          <a:latin typeface="Calibri (MS)"/>
                        </a:rPr>
                        <a:t>667,46</a:t>
                      </a:r>
                    </a:p>
                  </a:txBody>
                  <a:tcPr marL="73152" marR="73152" marT="36576" marB="36576" anchor="ctr">
                    <a:solidFill>
                      <a:srgbClr val="EAF8FA"/>
                    </a:solidFill>
                  </a:tcPr>
                </a:tc>
                <a:tc>
                  <a:txBody>
                    <a:bodyPr wrap="square"/>
                    <a:lstStyle/>
                    <a:p>
                      <a:pPr algn="ctr"/>
                      <a:r>
                        <a:rPr sz="950" b="0" i="0">
                          <a:solidFill>
                            <a:srgbClr val="14313B"/>
                          </a:solidFill>
                          <a:latin typeface="Calibri (MS)"/>
                        </a:rPr>
                        <a:t>41.194</a:t>
                      </a:r>
                    </a:p>
                  </a:txBody>
                  <a:tcPr marL="73152" marR="73152" marT="36576" marB="36576" anchor="ctr">
                    <a:solidFill>
                      <a:srgbClr val="EAF8FA"/>
                    </a:solidFill>
                  </a:tcPr>
                </a:tc>
                <a:tc>
                  <a:txBody>
                    <a:bodyPr wrap="square"/>
                    <a:lstStyle/>
                    <a:p>
                      <a:pPr algn="ctr"/>
                      <a:r>
                        <a:rPr sz="950" b="0" i="0">
                          <a:solidFill>
                            <a:srgbClr val="14313B"/>
                          </a:solidFill>
                          <a:latin typeface="Calibri (MS)"/>
                        </a:rPr>
                        <a:t>0,8205</a:t>
                      </a:r>
                    </a:p>
                  </a:txBody>
                  <a:tcPr marL="73152" marR="73152" marT="36576" marB="36576" anchor="ctr">
                    <a:solidFill>
                      <a:srgbClr val="EAF8FA"/>
                    </a:solidFill>
                  </a:tcPr>
                </a:tc>
                <a:tc>
                  <a:txBody>
                    <a:bodyPr wrap="square"/>
                    <a:lstStyle/>
                    <a:p>
                      <a:pPr algn="ctr"/>
                      <a:r>
                        <a:rPr sz="950" b="0" i="0">
                          <a:solidFill>
                            <a:srgbClr val="14313B"/>
                          </a:solidFill>
                          <a:latin typeface="Calibri (MS)"/>
                        </a:rPr>
                        <a:t>0,6180</a:t>
                      </a:r>
                    </a:p>
                  </a:txBody>
                  <a:tcPr marL="73152" marR="73152" marT="36576" marB="36576" anchor="ctr">
                    <a:solidFill>
                      <a:srgbClr val="C9F0D6"/>
                    </a:solidFill>
                  </a:tcPr>
                </a:tc>
                <a:tc>
                  <a:txBody>
                    <a:bodyPr wrap="square"/>
                    <a:lstStyle/>
                    <a:p>
                      <a:pPr algn="ctr"/>
                      <a:r>
                        <a:rPr sz="9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2,4307</a:t>
                      </a:r>
                    </a:p>
                  </a:txBody>
                  <a:tcPr marL="73152" marR="73152" marT="36576" marB="36576" anchor="ctr">
                    <a:solidFill>
                      <a:srgbClr val="EAF8FA"/>
                    </a:solidFill>
                  </a:tcPr>
                </a:tc>
                <a:tc>
                  <a:txBody>
                    <a:bodyPr wrap="square"/>
                    <a:lstStyle/>
                    <a:p>
                      <a:pPr algn="ctr"/>
                      <a:r>
                        <a:rPr sz="950" b="0" i="0">
                          <a:solidFill>
                            <a:srgbClr val="14313B"/>
                          </a:solidFill>
                          <a:latin typeface="Calibri (MS)"/>
                        </a:rPr>
                        <a:t>98,92</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Dev. Priority</a:t>
                      </a:r>
                    </a:p>
                  </a:txBody>
                  <a:tcPr marL="73152" marR="73152" marT="36576" marB="36576" anchor="ctr">
                    <a:solidFill>
                      <a:srgbClr val="FFFFFF"/>
                    </a:solidFill>
                  </a:tcPr>
                </a:tc>
                <a:tc>
                  <a:txBody>
                    <a:bodyPr wrap="square"/>
                    <a:lstStyle/>
                    <a:p>
                      <a:pPr algn="ctr"/>
                      <a:r>
                        <a:rPr sz="950" b="0" i="0">
                          <a:solidFill>
                            <a:srgbClr val="14313B"/>
                          </a:solidFill>
                          <a:latin typeface="Calibri (MS)"/>
                        </a:rPr>
                        <a:t>697,02</a:t>
                      </a:r>
                    </a:p>
                  </a:txBody>
                  <a:tcPr marL="73152" marR="73152" marT="36576" marB="36576" anchor="ctr">
                    <a:solidFill>
                      <a:srgbClr val="C9F0D6"/>
                    </a:solidFill>
                  </a:tcPr>
                </a:tc>
                <a:tc>
                  <a:txBody>
                    <a:bodyPr wrap="square"/>
                    <a:lstStyle/>
                    <a:p>
                      <a:pPr algn="ctr"/>
                      <a:r>
                        <a:rPr sz="950" b="0" i="0">
                          <a:solidFill>
                            <a:srgbClr val="14313B"/>
                          </a:solidFill>
                          <a:latin typeface="Calibri (MS)"/>
                        </a:rPr>
                        <a:t>43.152</a:t>
                      </a:r>
                    </a:p>
                  </a:txBody>
                  <a:tcPr marL="73152" marR="73152" marT="36576" marB="36576" anchor="ctr">
                    <a:solidFill>
                      <a:srgbClr val="C9F0D6"/>
                    </a:solidFill>
                  </a:tcPr>
                </a:tc>
                <a:tc>
                  <a:txBody>
                    <a:bodyPr wrap="square"/>
                    <a:lstStyle/>
                    <a:p>
                      <a:pPr algn="ctr"/>
                      <a:r>
                        <a:rPr sz="950" b="0" i="0">
                          <a:solidFill>
                            <a:srgbClr val="14313B"/>
                          </a:solidFill>
                          <a:latin typeface="Calibri (MS)"/>
                        </a:rPr>
                        <a:t>0,8322</a:t>
                      </a:r>
                    </a:p>
                  </a:txBody>
                  <a:tcPr marL="73152" marR="73152" marT="36576" marB="36576" anchor="ctr">
                    <a:solidFill>
                      <a:srgbClr val="C9F0D6"/>
                    </a:solidFill>
                  </a:tcPr>
                </a:tc>
                <a:tc>
                  <a:txBody>
                    <a:bodyPr wrap="square"/>
                    <a:lstStyle/>
                    <a:p>
                      <a:pPr algn="ctr"/>
                      <a:r>
                        <a:rPr sz="950" b="0" i="0">
                          <a:solidFill>
                            <a:srgbClr val="14313B"/>
                          </a:solidFill>
                          <a:latin typeface="Calibri (MS)"/>
                        </a:rPr>
                        <a:t>0,6140</a:t>
                      </a:r>
                    </a:p>
                  </a:txBody>
                  <a:tcPr marL="73152" marR="73152" marT="36576" marB="36576" anchor="ctr">
                    <a:solidFill>
                      <a:srgbClr val="FFFFFF"/>
                    </a:solidFill>
                  </a:tcPr>
                </a:tc>
                <a:tc>
                  <a:txBody>
                    <a:bodyPr wrap="square"/>
                    <a:lstStyle/>
                    <a:p>
                      <a:pPr algn="ctr"/>
                      <a:r>
                        <a:rPr sz="950" b="0" i="0">
                          <a:solidFill>
                            <a:srgbClr val="14313B"/>
                          </a:solidFill>
                          <a:latin typeface="Calibri (MS)"/>
                        </a:rPr>
                        <a:t>122.377</a:t>
                      </a:r>
                    </a:p>
                  </a:txBody>
                  <a:tcPr marL="73152" marR="73152" marT="36576" marB="36576" anchor="ctr">
                    <a:solidFill>
                      <a:srgbClr val="FFFFFF"/>
                    </a:solidFill>
                  </a:tcPr>
                </a:tc>
                <a:tc>
                  <a:txBody>
                    <a:bodyPr wrap="square"/>
                    <a:lstStyle/>
                    <a:p>
                      <a:pPr algn="ctr"/>
                      <a:r>
                        <a:rPr sz="950" b="0" i="0">
                          <a:solidFill>
                            <a:srgbClr val="14313B"/>
                          </a:solidFill>
                          <a:latin typeface="Calibri (MS)"/>
                        </a:rPr>
                        <a:t>1.095,1</a:t>
                      </a:r>
                    </a:p>
                  </a:txBody>
                  <a:tcPr marL="73152" marR="73152" marT="36576" marB="36576" anchor="ctr">
                    <a:solidFill>
                      <a:srgbClr val="FFFFFF"/>
                    </a:solidFill>
                  </a:tcPr>
                </a:tc>
                <a:tc>
                  <a:txBody>
                    <a:bodyPr wrap="square"/>
                    <a:lstStyle/>
                    <a:p>
                      <a:pPr algn="ctr"/>
                      <a:r>
                        <a:rPr sz="950" b="0" i="0">
                          <a:solidFill>
                            <a:srgbClr val="14313B"/>
                          </a:solidFill>
                          <a:latin typeface="Calibri (MS)"/>
                        </a:rPr>
                        <a:t>2,5462</a:t>
                      </a:r>
                    </a:p>
                  </a:txBody>
                  <a:tcPr marL="73152" marR="73152" marT="36576" marB="36576" anchor="ctr">
                    <a:solidFill>
                      <a:srgbClr val="FFFFFF"/>
                    </a:solidFill>
                  </a:tcPr>
                </a:tc>
                <a:tc>
                  <a:txBody>
                    <a:bodyPr wrap="square"/>
                    <a:lstStyle/>
                    <a:p>
                      <a:pPr algn="ctr"/>
                      <a:r>
                        <a:rPr sz="950" b="0" i="0">
                          <a:solidFill>
                            <a:srgbClr val="14313B"/>
                          </a:solidFill>
                          <a:latin typeface="Calibri (MS)"/>
                        </a:rPr>
                        <a:t>103,62</a:t>
                      </a:r>
                    </a:p>
                  </a:txBody>
                  <a:tcPr marL="73152" marR="73152" marT="36576" marB="36576" anchor="ctr">
                    <a:solidFill>
                      <a:srgbClr val="FFFFFF"/>
                    </a:solidFill>
                  </a:tcPr>
                </a:tc>
              </a:tr>
              <a:tr h="301752">
                <a:tc>
                  <a:txBody>
                    <a:bodyPr wrap="square"/>
                    <a:lstStyle/>
                    <a:p>
                      <a:r>
                        <a:rPr sz="950" b="0" i="0">
                          <a:solidFill>
                            <a:srgbClr val="14313B"/>
                          </a:solidFill>
                          <a:latin typeface="Calibri (MS)"/>
                        </a:rPr>
                        <a:t>C1 rasio LPD/LPE 0,65</a:t>
                      </a:r>
                    </a:p>
                  </a:txBody>
                  <a:tcPr marL="73152" marR="73152" marT="36576" marB="36576" anchor="ctr">
                    <a:solidFill>
                      <a:srgbClr val="EAF8FA"/>
                    </a:solidFill>
                  </a:tcPr>
                </a:tc>
                <a:tc>
                  <a:txBody>
                    <a:bodyPr wrap="square"/>
                    <a:lstStyle/>
                    <a:p>
                      <a:r>
                        <a:rPr sz="950" b="0" i="0">
                          <a:solidFill>
                            <a:srgbClr val="14313B"/>
                          </a:solidFill>
                          <a:latin typeface="Calibri (MS)"/>
                        </a:rPr>
                        <a:t>BAU</a:t>
                      </a:r>
                    </a:p>
                  </a:txBody>
                  <a:tcPr marL="73152" marR="73152" marT="36576" marB="36576" anchor="ctr">
                    <a:solidFill>
                      <a:srgbClr val="EAF8FA"/>
                    </a:solidFill>
                  </a:tcPr>
                </a:tc>
                <a:tc>
                  <a:txBody>
                    <a:bodyPr wrap="square"/>
                    <a:lstStyle/>
                    <a:p>
                      <a:pPr algn="ctr"/>
                      <a:r>
                        <a:rPr sz="950" b="0" i="0">
                          <a:solidFill>
                            <a:srgbClr val="14313B"/>
                          </a:solidFill>
                          <a:latin typeface="Calibri (MS)"/>
                        </a:rPr>
                        <a:t>1.026,46</a:t>
                      </a:r>
                    </a:p>
                  </a:txBody>
                  <a:tcPr marL="73152" marR="73152" marT="36576" marB="36576" anchor="ctr">
                    <a:solidFill>
                      <a:srgbClr val="EAF8FA"/>
                    </a:solidFill>
                  </a:tcPr>
                </a:tc>
                <a:tc>
                  <a:txBody>
                    <a:bodyPr wrap="square"/>
                    <a:lstStyle/>
                    <a:p>
                      <a:pPr algn="ctr"/>
                      <a:r>
                        <a:rPr sz="950" b="0" i="0">
                          <a:solidFill>
                            <a:srgbClr val="14313B"/>
                          </a:solidFill>
                          <a:latin typeface="Calibri (MS)"/>
                        </a:rPr>
                        <a:t>64.494</a:t>
                      </a:r>
                    </a:p>
                  </a:txBody>
                  <a:tcPr marL="73152" marR="73152" marT="36576" marB="36576" anchor="ctr">
                    <a:solidFill>
                      <a:srgbClr val="EAF8FA"/>
                    </a:solidFill>
                  </a:tcPr>
                </a:tc>
                <a:tc>
                  <a:txBody>
                    <a:bodyPr wrap="square"/>
                    <a:lstStyle/>
                    <a:p>
                      <a:pPr algn="ctr"/>
                      <a:r>
                        <a:rPr sz="950" b="0" i="0">
                          <a:solidFill>
                            <a:srgbClr val="14313B"/>
                          </a:solidFill>
                          <a:latin typeface="Calibri (MS)"/>
                        </a:rPr>
                        <a:t>0,7881</a:t>
                      </a:r>
                    </a:p>
                  </a:txBody>
                  <a:tcPr marL="73152" marR="73152" marT="36576" marB="36576" anchor="ctr">
                    <a:solidFill>
                      <a:srgbClr val="EAF8FA"/>
                    </a:solidFill>
                  </a:tcPr>
                </a:tc>
                <a:tc>
                  <a:txBody>
                    <a:bodyPr wrap="square"/>
                    <a:lstStyle/>
                    <a:p>
                      <a:pPr algn="ctr"/>
                      <a:r>
                        <a:rPr sz="950" b="0" i="0">
                          <a:solidFill>
                            <a:srgbClr val="14313B"/>
                          </a:solidFill>
                          <a:latin typeface="Calibri (MS)"/>
                        </a:rPr>
                        <a:t>0,6131</a:t>
                      </a:r>
                    </a:p>
                  </a:txBody>
                  <a:tcPr marL="73152" marR="73152" marT="36576" marB="36576" anchor="ctr">
                    <a:solidFill>
                      <a:srgbClr val="EAF8FA"/>
                    </a:solidFill>
                  </a:tcPr>
                </a:tc>
                <a:tc>
                  <a:txBody>
                    <a:bodyPr wrap="square"/>
                    <a:lstStyle/>
                    <a:p>
                      <a:pPr algn="ctr"/>
                      <a:r>
                        <a:rPr sz="950" b="0" i="0">
                          <a:solidFill>
                            <a:srgbClr val="14313B"/>
                          </a:solidFill>
                          <a:latin typeface="Calibri (MS)"/>
                        </a:rPr>
                        <a:t>122.662</a:t>
                      </a:r>
                    </a:p>
                  </a:txBody>
                  <a:tcPr marL="73152" marR="73152" marT="36576" marB="36576" anchor="ctr">
                    <a:solidFill>
                      <a:srgbClr val="EAF8FA"/>
                    </a:solidFill>
                  </a:tcPr>
                </a:tc>
                <a:tc>
                  <a:txBody>
                    <a:bodyPr wrap="square"/>
                    <a:lstStyle/>
                    <a:p>
                      <a:pPr algn="ctr"/>
                      <a:r>
                        <a:rPr sz="950" b="0" i="0">
                          <a:solidFill>
                            <a:srgbClr val="14313B"/>
                          </a:solidFill>
                          <a:latin typeface="Calibri (MS)"/>
                        </a:rPr>
                        <a:t>1.375,3</a:t>
                      </a:r>
                    </a:p>
                  </a:txBody>
                  <a:tcPr marL="73152" marR="73152" marT="36576" marB="36576" anchor="ctr">
                    <a:solidFill>
                      <a:srgbClr val="EAF8FA"/>
                    </a:solidFill>
                  </a:tcPr>
                </a:tc>
                <a:tc>
                  <a:txBody>
                    <a:bodyPr wrap="square"/>
                    <a:lstStyle/>
                    <a:p>
                      <a:pPr algn="ctr"/>
                      <a:r>
                        <a:rPr sz="950" b="0" i="0">
                          <a:solidFill>
                            <a:srgbClr val="14313B"/>
                          </a:solidFill>
                          <a:latin typeface="Calibri (MS)"/>
                        </a:rPr>
                        <a:t>3,8055</a:t>
                      </a:r>
                    </a:p>
                  </a:txBody>
                  <a:tcPr marL="73152" marR="73152" marT="36576" marB="36576" anchor="ctr">
                    <a:solidFill>
                      <a:srgbClr val="C9F0D6"/>
                    </a:solidFill>
                  </a:tcPr>
                </a:tc>
                <a:tc>
                  <a:txBody>
                    <a:bodyPr wrap="square"/>
                    <a:lstStyle/>
                    <a:p>
                      <a:pPr algn="ctr"/>
                      <a:r>
                        <a:rPr sz="950" b="0" i="0">
                          <a:solidFill>
                            <a:srgbClr val="14313B"/>
                          </a:solidFill>
                          <a:latin typeface="Calibri (MS)"/>
                        </a:rPr>
                        <a:t>154,87</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Sustainable</a:t>
                      </a:r>
                    </a:p>
                  </a:txBody>
                  <a:tcPr marL="73152" marR="73152" marT="36576" marB="36576" anchor="ctr">
                    <a:solidFill>
                      <a:srgbClr val="FFFFFF"/>
                    </a:solidFill>
                  </a:tcPr>
                </a:tc>
                <a:tc>
                  <a:txBody>
                    <a:bodyPr wrap="square"/>
                    <a:lstStyle/>
                    <a:p>
                      <a:pPr algn="ctr"/>
                      <a:r>
                        <a:rPr sz="950" b="0" i="0">
                          <a:solidFill>
                            <a:srgbClr val="14313B"/>
                          </a:solidFill>
                          <a:latin typeface="Calibri (MS)"/>
                        </a:rPr>
                        <a:t>1.060,14</a:t>
                      </a:r>
                    </a:p>
                  </a:txBody>
                  <a:tcPr marL="73152" marR="73152" marT="36576" marB="36576" anchor="ctr">
                    <a:solidFill>
                      <a:srgbClr val="FFFFFF"/>
                    </a:solidFill>
                  </a:tcPr>
                </a:tc>
                <a:tc>
                  <a:txBody>
                    <a:bodyPr wrap="square"/>
                    <a:lstStyle/>
                    <a:p>
                      <a:pPr algn="ctr"/>
                      <a:r>
                        <a:rPr sz="950" b="0" i="0">
                          <a:solidFill>
                            <a:srgbClr val="14313B"/>
                          </a:solidFill>
                          <a:latin typeface="Calibri (MS)"/>
                        </a:rPr>
                        <a:t>66.795</a:t>
                      </a:r>
                    </a:p>
                  </a:txBody>
                  <a:tcPr marL="73152" marR="73152" marT="36576" marB="36576" anchor="ctr">
                    <a:solidFill>
                      <a:srgbClr val="FFFFFF"/>
                    </a:solidFill>
                  </a:tcPr>
                </a:tc>
                <a:tc>
                  <a:txBody>
                    <a:bodyPr wrap="square"/>
                    <a:lstStyle/>
                    <a:p>
                      <a:pPr algn="ctr"/>
                      <a:r>
                        <a:rPr sz="950" b="0" i="0">
                          <a:solidFill>
                            <a:srgbClr val="14313B"/>
                          </a:solidFill>
                          <a:latin typeface="Calibri (MS)"/>
                        </a:rPr>
                        <a:t>0,7990</a:t>
                      </a:r>
                    </a:p>
                  </a:txBody>
                  <a:tcPr marL="73152" marR="73152" marT="36576" marB="36576" anchor="ctr">
                    <a:solidFill>
                      <a:srgbClr val="FFFFFF"/>
                    </a:solidFill>
                  </a:tcPr>
                </a:tc>
                <a:tc>
                  <a:txBody>
                    <a:bodyPr wrap="square"/>
                    <a:lstStyle/>
                    <a:p>
                      <a:pPr algn="ctr"/>
                      <a:r>
                        <a:rPr sz="950" b="0" i="0">
                          <a:solidFill>
                            <a:srgbClr val="14313B"/>
                          </a:solidFill>
                          <a:latin typeface="Calibri (MS)"/>
                        </a:rPr>
                        <a:t>0,6180</a:t>
                      </a:r>
                    </a:p>
                  </a:txBody>
                  <a:tcPr marL="73152" marR="73152" marT="36576" marB="36576" anchor="ctr">
                    <a:solidFill>
                      <a:srgbClr val="C9F0D6"/>
                    </a:solidFill>
                  </a:tcPr>
                </a:tc>
                <a:tc>
                  <a:txBody>
                    <a:bodyPr wrap="square"/>
                    <a:lstStyle/>
                    <a:p>
                      <a:pPr algn="ctr"/>
                      <a:r>
                        <a:rPr sz="9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3,9413</a:t>
                      </a:r>
                    </a:p>
                  </a:txBody>
                  <a:tcPr marL="73152" marR="73152" marT="36576" marB="36576" anchor="ctr">
                    <a:solidFill>
                      <a:srgbClr val="FFFFFF"/>
                    </a:solidFill>
                  </a:tcPr>
                </a:tc>
                <a:tc>
                  <a:txBody>
                    <a:bodyPr wrap="square"/>
                    <a:lstStyle/>
                    <a:p>
                      <a:pPr algn="ctr"/>
                      <a:r>
                        <a:rPr sz="950" b="0" i="0">
                          <a:solidFill>
                            <a:srgbClr val="14313B"/>
                          </a:solidFill>
                          <a:latin typeface="Calibri (MS)"/>
                        </a:rPr>
                        <a:t>160,39</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Dev. Priority</a:t>
                      </a:r>
                    </a:p>
                  </a:txBody>
                  <a:tcPr marL="73152" marR="73152" marT="36576" marB="36576" anchor="ctr">
                    <a:solidFill>
                      <a:srgbClr val="EAF8FA"/>
                    </a:solidFill>
                  </a:tcPr>
                </a:tc>
                <a:tc>
                  <a:txBody>
                    <a:bodyPr wrap="square"/>
                    <a:lstStyle/>
                    <a:p>
                      <a:pPr algn="ctr"/>
                      <a:r>
                        <a:rPr sz="950" b="0" i="0">
                          <a:solidFill>
                            <a:srgbClr val="14313B"/>
                          </a:solidFill>
                          <a:latin typeface="Calibri (MS)"/>
                        </a:rPr>
                        <a:t>1.117,30</a:t>
                      </a:r>
                    </a:p>
                  </a:txBody>
                  <a:tcPr marL="73152" marR="73152" marT="36576" marB="36576" anchor="ctr">
                    <a:solidFill>
                      <a:srgbClr val="C9F0D6"/>
                    </a:solidFill>
                  </a:tcPr>
                </a:tc>
                <a:tc>
                  <a:txBody>
                    <a:bodyPr wrap="square"/>
                    <a:lstStyle/>
                    <a:p>
                      <a:pPr algn="ctr"/>
                      <a:r>
                        <a:rPr sz="950" b="0" i="0">
                          <a:solidFill>
                            <a:srgbClr val="14313B"/>
                          </a:solidFill>
                          <a:latin typeface="Calibri (MS)"/>
                        </a:rPr>
                        <a:t>70.700</a:t>
                      </a:r>
                    </a:p>
                  </a:txBody>
                  <a:tcPr marL="73152" marR="73152" marT="36576" marB="36576" anchor="ctr">
                    <a:solidFill>
                      <a:srgbClr val="C9F0D6"/>
                    </a:solidFill>
                  </a:tcPr>
                </a:tc>
                <a:tc>
                  <a:txBody>
                    <a:bodyPr wrap="square"/>
                    <a:lstStyle/>
                    <a:p>
                      <a:pPr algn="ctr"/>
                      <a:r>
                        <a:rPr sz="950" b="0" i="0">
                          <a:solidFill>
                            <a:srgbClr val="14313B"/>
                          </a:solidFill>
                          <a:latin typeface="Calibri (MS)"/>
                        </a:rPr>
                        <a:t>0,8159</a:t>
                      </a:r>
                    </a:p>
                  </a:txBody>
                  <a:tcPr marL="73152" marR="73152" marT="36576" marB="36576" anchor="ctr">
                    <a:solidFill>
                      <a:srgbClr val="C9F0D6"/>
                    </a:solidFill>
                  </a:tcPr>
                </a:tc>
                <a:tc>
                  <a:txBody>
                    <a:bodyPr wrap="square"/>
                    <a:lstStyle/>
                    <a:p>
                      <a:pPr algn="ctr"/>
                      <a:r>
                        <a:rPr sz="950" b="0" i="0">
                          <a:solidFill>
                            <a:srgbClr val="14313B"/>
                          </a:solidFill>
                          <a:latin typeface="Calibri (MS)"/>
                        </a:rPr>
                        <a:t>0,6123</a:t>
                      </a:r>
                    </a:p>
                  </a:txBody>
                  <a:tcPr marL="73152" marR="73152" marT="36576" marB="36576" anchor="ctr">
                    <a:solidFill>
                      <a:srgbClr val="EAF8FA"/>
                    </a:solidFill>
                  </a:tcPr>
                </a:tc>
                <a:tc>
                  <a:txBody>
                    <a:bodyPr wrap="square"/>
                    <a:lstStyle/>
                    <a:p>
                      <a:pPr algn="ctr"/>
                      <a:r>
                        <a:rPr sz="950" b="0" i="0">
                          <a:solidFill>
                            <a:srgbClr val="14313B"/>
                          </a:solidFill>
                          <a:latin typeface="Calibri (MS)"/>
                        </a:rPr>
                        <a:t>122.915</a:t>
                      </a:r>
                    </a:p>
                  </a:txBody>
                  <a:tcPr marL="73152" marR="73152" marT="36576" marB="36576" anchor="ctr">
                    <a:solidFill>
                      <a:srgbClr val="EAF8FA"/>
                    </a:solidFill>
                  </a:tcPr>
                </a:tc>
                <a:tc>
                  <a:txBody>
                    <a:bodyPr wrap="square"/>
                    <a:lstStyle/>
                    <a:p>
                      <a:pPr algn="ctr"/>
                      <a:r>
                        <a:rPr sz="950" b="0" i="0">
                          <a:solidFill>
                            <a:srgbClr val="14313B"/>
                          </a:solidFill>
                          <a:latin typeface="Calibri (MS)"/>
                        </a:rPr>
                        <a:t>1.608,3</a:t>
                      </a:r>
                    </a:p>
                  </a:txBody>
                  <a:tcPr marL="73152" marR="73152" marT="36576" marB="36576" anchor="ctr">
                    <a:solidFill>
                      <a:srgbClr val="EAF8FA"/>
                    </a:solidFill>
                  </a:tcPr>
                </a:tc>
                <a:tc>
                  <a:txBody>
                    <a:bodyPr wrap="square"/>
                    <a:lstStyle/>
                    <a:p>
                      <a:pPr algn="ctr"/>
                      <a:r>
                        <a:rPr sz="950" b="0" i="0">
                          <a:solidFill>
                            <a:srgbClr val="14313B"/>
                          </a:solidFill>
                          <a:latin typeface="Calibri (MS)"/>
                        </a:rPr>
                        <a:t>4,1717</a:t>
                      </a:r>
                    </a:p>
                  </a:txBody>
                  <a:tcPr marL="73152" marR="73152" marT="36576" marB="36576" anchor="ctr">
                    <a:solidFill>
                      <a:srgbClr val="EAF8FA"/>
                    </a:solidFill>
                  </a:tcPr>
                </a:tc>
                <a:tc>
                  <a:txBody>
                    <a:bodyPr wrap="square"/>
                    <a:lstStyle/>
                    <a:p>
                      <a:pPr algn="ctr"/>
                      <a:r>
                        <a:rPr sz="950" b="0" i="0">
                          <a:solidFill>
                            <a:srgbClr val="14313B"/>
                          </a:solidFill>
                          <a:latin typeface="Calibri (MS)"/>
                        </a:rPr>
                        <a:t>169,77</a:t>
                      </a:r>
                    </a:p>
                  </a:txBody>
                  <a:tcPr marL="73152" marR="73152" marT="36576" marB="36576" anchor="ctr">
                    <a:solidFill>
                      <a:srgbClr val="EAF8FA"/>
                    </a:solidFill>
                  </a:tcPr>
                </a:tc>
              </a:tr>
              <a:tr h="301752">
                <a:tc>
                  <a:txBody>
                    <a:bodyPr wrap="square"/>
                    <a:lstStyle/>
                    <a:p>
                      <a:r>
                        <a:rPr sz="950" b="0" i="0">
                          <a:solidFill>
                            <a:srgbClr val="14313B"/>
                          </a:solidFill>
                          <a:latin typeface="Calibri (MS)"/>
                        </a:rPr>
                        <a:t>C2 rasio LPD/LPE 0,90</a:t>
                      </a:r>
                    </a:p>
                  </a:txBody>
                  <a:tcPr marL="73152" marR="73152" marT="36576" marB="36576" anchor="ctr">
                    <a:solidFill>
                      <a:srgbClr val="FFFFFF"/>
                    </a:solidFill>
                  </a:tcPr>
                </a:tc>
                <a:tc>
                  <a:txBody>
                    <a:bodyPr wrap="square"/>
                    <a:lstStyle/>
                    <a:p>
                      <a:r>
                        <a:rPr sz="950" b="0" i="0">
                          <a:solidFill>
                            <a:srgbClr val="14313B"/>
                          </a:solidFill>
                          <a:latin typeface="Calibri (MS)"/>
                        </a:rPr>
                        <a:t>BAU</a:t>
                      </a:r>
                    </a:p>
                  </a:txBody>
                  <a:tcPr marL="73152" marR="73152" marT="36576" marB="36576" anchor="ctr">
                    <a:solidFill>
                      <a:srgbClr val="FFFFFF"/>
                    </a:solidFill>
                  </a:tcPr>
                </a:tc>
                <a:tc>
                  <a:txBody>
                    <a:bodyPr wrap="square"/>
                    <a:lstStyle/>
                    <a:p>
                      <a:pPr algn="ctr"/>
                      <a:r>
                        <a:rPr sz="950" b="0" i="0">
                          <a:solidFill>
                            <a:srgbClr val="14313B"/>
                          </a:solidFill>
                          <a:latin typeface="Calibri (MS)"/>
                        </a:rPr>
                        <a:t>367,10</a:t>
                      </a:r>
                    </a:p>
                  </a:txBody>
                  <a:tcPr marL="73152" marR="73152" marT="36576" marB="36576" anchor="ctr">
                    <a:solidFill>
                      <a:srgbClr val="FFFFFF"/>
                    </a:solidFill>
                  </a:tcPr>
                </a:tc>
                <a:tc>
                  <a:txBody>
                    <a:bodyPr wrap="square"/>
                    <a:lstStyle/>
                    <a:p>
                      <a:pPr algn="ctr"/>
                      <a:r>
                        <a:rPr sz="950" b="0" i="0">
                          <a:solidFill>
                            <a:srgbClr val="14313B"/>
                          </a:solidFill>
                          <a:latin typeface="Calibri (MS)"/>
                        </a:rPr>
                        <a:t>22.218</a:t>
                      </a:r>
                    </a:p>
                  </a:txBody>
                  <a:tcPr marL="73152" marR="73152" marT="36576" marB="36576" anchor="ctr">
                    <a:solidFill>
                      <a:srgbClr val="FFFFFF"/>
                    </a:solidFill>
                  </a:tcPr>
                </a:tc>
                <a:tc>
                  <a:txBody>
                    <a:bodyPr wrap="square"/>
                    <a:lstStyle/>
                    <a:p>
                      <a:pPr algn="ctr"/>
                      <a:r>
                        <a:rPr sz="950" b="0" i="0">
                          <a:solidFill>
                            <a:srgbClr val="14313B"/>
                          </a:solidFill>
                          <a:latin typeface="Calibri (MS)"/>
                        </a:rPr>
                        <a:t>0,8998</a:t>
                      </a:r>
                    </a:p>
                  </a:txBody>
                  <a:tcPr marL="73152" marR="73152" marT="36576" marB="36576" anchor="ctr">
                    <a:solidFill>
                      <a:srgbClr val="FFFFFF"/>
                    </a:solidFill>
                  </a:tcPr>
                </a:tc>
                <a:tc>
                  <a:txBody>
                    <a:bodyPr wrap="square"/>
                    <a:lstStyle/>
                    <a:p>
                      <a:pPr algn="ctr"/>
                      <a:r>
                        <a:rPr sz="950" b="0" i="0">
                          <a:solidFill>
                            <a:srgbClr val="14313B"/>
                          </a:solidFill>
                          <a:latin typeface="Calibri (MS)"/>
                        </a:rPr>
                        <a:t>0,6158</a:t>
                      </a:r>
                    </a:p>
                  </a:txBody>
                  <a:tcPr marL="73152" marR="73152" marT="36576" marB="36576" anchor="ctr">
                    <a:solidFill>
                      <a:srgbClr val="FFFFFF"/>
                    </a:solidFill>
                  </a:tcPr>
                </a:tc>
                <a:tc>
                  <a:txBody>
                    <a:bodyPr wrap="square"/>
                    <a:lstStyle/>
                    <a:p>
                      <a:pPr algn="ctr"/>
                      <a:r>
                        <a:rPr sz="950" b="0" i="0">
                          <a:solidFill>
                            <a:srgbClr val="14313B"/>
                          </a:solidFill>
                          <a:latin typeface="Calibri (MS)"/>
                        </a:rPr>
                        <a:t>121.804</a:t>
                      </a:r>
                    </a:p>
                  </a:txBody>
                  <a:tcPr marL="73152" marR="73152" marT="36576" marB="36576" anchor="ctr">
                    <a:solidFill>
                      <a:srgbClr val="FFFFFF"/>
                    </a:solidFill>
                  </a:tcPr>
                </a:tc>
                <a:tc>
                  <a:txBody>
                    <a:bodyPr wrap="square"/>
                    <a:lstStyle/>
                    <a:p>
                      <a:pPr algn="ctr"/>
                      <a:r>
                        <a:rPr sz="950" b="0" i="0">
                          <a:solidFill>
                            <a:srgbClr val="14313B"/>
                          </a:solidFill>
                          <a:latin typeface="Calibri (MS)"/>
                        </a:rPr>
                        <a:t>584,7</a:t>
                      </a:r>
                    </a:p>
                  </a:txBody>
                  <a:tcPr marL="73152" marR="73152" marT="36576" marB="36576" anchor="ctr">
                    <a:solidFill>
                      <a:srgbClr val="FFFFFF"/>
                    </a:solidFill>
                  </a:tcPr>
                </a:tc>
                <a:tc>
                  <a:txBody>
                    <a:bodyPr wrap="square"/>
                    <a:lstStyle/>
                    <a:p>
                      <a:pPr algn="ctr"/>
                      <a:r>
                        <a:rPr sz="950" b="0" i="0">
                          <a:solidFill>
                            <a:srgbClr val="14313B"/>
                          </a:solidFill>
                          <a:latin typeface="Calibri (MS)"/>
                        </a:rPr>
                        <a:t>1,3110</a:t>
                      </a:r>
                    </a:p>
                  </a:txBody>
                  <a:tcPr marL="73152" marR="73152" marT="36576" marB="36576" anchor="ctr">
                    <a:solidFill>
                      <a:srgbClr val="C9F0D6"/>
                    </a:solidFill>
                  </a:tcPr>
                </a:tc>
                <a:tc>
                  <a:txBody>
                    <a:bodyPr wrap="square"/>
                    <a:lstStyle/>
                    <a:p>
                      <a:pPr algn="ctr"/>
                      <a:r>
                        <a:rPr sz="950" b="0" i="0">
                          <a:solidFill>
                            <a:srgbClr val="14313B"/>
                          </a:solidFill>
                          <a:latin typeface="Calibri (MS)"/>
                        </a:rPr>
                        <a:t>53,35</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Sustainable</a:t>
                      </a:r>
                    </a:p>
                  </a:txBody>
                  <a:tcPr marL="73152" marR="73152" marT="36576" marB="36576" anchor="ctr">
                    <a:solidFill>
                      <a:srgbClr val="EAF8FA"/>
                    </a:solidFill>
                  </a:tcPr>
                </a:tc>
                <a:tc>
                  <a:txBody>
                    <a:bodyPr wrap="square"/>
                    <a:lstStyle/>
                    <a:p>
                      <a:pPr algn="ctr"/>
                      <a:r>
                        <a:rPr sz="950" b="0" i="0">
                          <a:solidFill>
                            <a:srgbClr val="14313B"/>
                          </a:solidFill>
                          <a:latin typeface="Calibri (MS)"/>
                        </a:rPr>
                        <a:t>373,74</a:t>
                      </a:r>
                    </a:p>
                  </a:txBody>
                  <a:tcPr marL="73152" marR="73152" marT="36576" marB="36576" anchor="ctr">
                    <a:solidFill>
                      <a:srgbClr val="EAF8FA"/>
                    </a:solidFill>
                  </a:tcPr>
                </a:tc>
                <a:tc>
                  <a:txBody>
                    <a:bodyPr wrap="square"/>
                    <a:lstStyle/>
                    <a:p>
                      <a:pPr algn="ctr"/>
                      <a:r>
                        <a:rPr sz="950" b="0" i="0">
                          <a:solidFill>
                            <a:srgbClr val="14313B"/>
                          </a:solidFill>
                          <a:latin typeface="Calibri (MS)"/>
                        </a:rPr>
                        <a:t>22.642</a:t>
                      </a:r>
                    </a:p>
                  </a:txBody>
                  <a:tcPr marL="73152" marR="73152" marT="36576" marB="36576" anchor="ctr">
                    <a:solidFill>
                      <a:srgbClr val="EAF8FA"/>
                    </a:solidFill>
                  </a:tcPr>
                </a:tc>
                <a:tc>
                  <a:txBody>
                    <a:bodyPr wrap="square"/>
                    <a:lstStyle/>
                    <a:p>
                      <a:pPr algn="ctr"/>
                      <a:r>
                        <a:rPr sz="950" b="0" i="0">
                          <a:solidFill>
                            <a:srgbClr val="14313B"/>
                          </a:solidFill>
                          <a:latin typeface="Calibri (MS)"/>
                        </a:rPr>
                        <a:t>0,9033</a:t>
                      </a:r>
                    </a:p>
                  </a:txBody>
                  <a:tcPr marL="73152" marR="73152" marT="36576" marB="36576" anchor="ctr">
                    <a:solidFill>
                      <a:srgbClr val="EAF8FA"/>
                    </a:solidFill>
                  </a:tcPr>
                </a:tc>
                <a:tc>
                  <a:txBody>
                    <a:bodyPr wrap="square"/>
                    <a:lstStyle/>
                    <a:p>
                      <a:pPr algn="ctr"/>
                      <a:r>
                        <a:rPr sz="950" b="0" i="0">
                          <a:solidFill>
                            <a:srgbClr val="14313B"/>
                          </a:solidFill>
                          <a:latin typeface="Calibri (MS)"/>
                        </a:rPr>
                        <a:t>0,6180</a:t>
                      </a:r>
                    </a:p>
                  </a:txBody>
                  <a:tcPr marL="73152" marR="73152" marT="36576" marB="36576" anchor="ctr">
                    <a:solidFill>
                      <a:srgbClr val="C9F0D6"/>
                    </a:solidFill>
                  </a:tcPr>
                </a:tc>
                <a:tc>
                  <a:txBody>
                    <a:bodyPr wrap="square"/>
                    <a:lstStyle/>
                    <a:p>
                      <a:pPr algn="ctr"/>
                      <a:r>
                        <a:rPr sz="9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1,3360</a:t>
                      </a:r>
                    </a:p>
                  </a:txBody>
                  <a:tcPr marL="73152" marR="73152" marT="36576" marB="36576" anchor="ctr">
                    <a:solidFill>
                      <a:srgbClr val="EAF8FA"/>
                    </a:solidFill>
                  </a:tcPr>
                </a:tc>
                <a:tc>
                  <a:txBody>
                    <a:bodyPr wrap="square"/>
                    <a:lstStyle/>
                    <a:p>
                      <a:pPr algn="ctr"/>
                      <a:r>
                        <a:rPr sz="950" b="0" i="0">
                          <a:solidFill>
                            <a:srgbClr val="14313B"/>
                          </a:solidFill>
                          <a:latin typeface="Calibri (MS)"/>
                        </a:rPr>
                        <a:t>54,37</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Dev. Priority</a:t>
                      </a:r>
                    </a:p>
                  </a:txBody>
                  <a:tcPr marL="73152" marR="73152" marT="36576" marB="36576" anchor="ctr">
                    <a:solidFill>
                      <a:srgbClr val="FFFFFF"/>
                    </a:solidFill>
                  </a:tcPr>
                </a:tc>
                <a:tc>
                  <a:txBody>
                    <a:bodyPr wrap="square"/>
                    <a:lstStyle/>
                    <a:p>
                      <a:pPr algn="ctr"/>
                      <a:r>
                        <a:rPr sz="950" b="0" i="0">
                          <a:solidFill>
                            <a:srgbClr val="14313B"/>
                          </a:solidFill>
                          <a:latin typeface="Calibri (MS)"/>
                        </a:rPr>
                        <a:t>385,45</a:t>
                      </a:r>
                    </a:p>
                  </a:txBody>
                  <a:tcPr marL="73152" marR="73152" marT="36576" marB="36576" anchor="ctr">
                    <a:solidFill>
                      <a:srgbClr val="C9F0D6"/>
                    </a:solidFill>
                  </a:tcPr>
                </a:tc>
                <a:tc>
                  <a:txBody>
                    <a:bodyPr wrap="square"/>
                    <a:lstStyle/>
                    <a:p>
                      <a:pPr algn="ctr"/>
                      <a:r>
                        <a:rPr sz="950" b="0" i="0">
                          <a:solidFill>
                            <a:srgbClr val="14313B"/>
                          </a:solidFill>
                          <a:latin typeface="Calibri (MS)"/>
                        </a:rPr>
                        <a:t>23.389</a:t>
                      </a:r>
                    </a:p>
                  </a:txBody>
                  <a:tcPr marL="73152" marR="73152" marT="36576" marB="36576" anchor="ctr">
                    <a:solidFill>
                      <a:srgbClr val="C9F0D6"/>
                    </a:solidFill>
                  </a:tcPr>
                </a:tc>
                <a:tc>
                  <a:txBody>
                    <a:bodyPr wrap="square"/>
                    <a:lstStyle/>
                    <a:p>
                      <a:pPr algn="ctr"/>
                      <a:r>
                        <a:rPr sz="950" b="0" i="0">
                          <a:solidFill>
                            <a:srgbClr val="14313B"/>
                          </a:solidFill>
                          <a:latin typeface="Calibri (MS)"/>
                        </a:rPr>
                        <a:t>0,9091</a:t>
                      </a:r>
                    </a:p>
                  </a:txBody>
                  <a:tcPr marL="73152" marR="73152" marT="36576" marB="36576" anchor="ctr">
                    <a:solidFill>
                      <a:srgbClr val="C9F0D6"/>
                    </a:solidFill>
                  </a:tcPr>
                </a:tc>
                <a:tc>
                  <a:txBody>
                    <a:bodyPr wrap="square"/>
                    <a:lstStyle/>
                    <a:p>
                      <a:pPr algn="ctr"/>
                      <a:r>
                        <a:rPr sz="950" b="0" i="0">
                          <a:solidFill>
                            <a:srgbClr val="14313B"/>
                          </a:solidFill>
                          <a:latin typeface="Calibri (MS)"/>
                        </a:rPr>
                        <a:t>0,6155</a:t>
                      </a:r>
                    </a:p>
                  </a:txBody>
                  <a:tcPr marL="73152" marR="73152" marT="36576" marB="36576" anchor="ctr">
                    <a:solidFill>
                      <a:srgbClr val="FFFFFF"/>
                    </a:solidFill>
                  </a:tcPr>
                </a:tc>
                <a:tc>
                  <a:txBody>
                    <a:bodyPr wrap="square"/>
                    <a:lstStyle/>
                    <a:p>
                      <a:pPr algn="ctr"/>
                      <a:r>
                        <a:rPr sz="950" b="0" i="0">
                          <a:solidFill>
                            <a:srgbClr val="14313B"/>
                          </a:solidFill>
                          <a:latin typeface="Calibri (MS)"/>
                        </a:rPr>
                        <a:t>121.905</a:t>
                      </a:r>
                    </a:p>
                  </a:txBody>
                  <a:tcPr marL="73152" marR="73152" marT="36576" marB="36576" anchor="ctr">
                    <a:solidFill>
                      <a:srgbClr val="FFFFFF"/>
                    </a:solidFill>
                  </a:tcPr>
                </a:tc>
                <a:tc>
                  <a:txBody>
                    <a:bodyPr wrap="square"/>
                    <a:lstStyle/>
                    <a:p>
                      <a:pPr algn="ctr"/>
                      <a:r>
                        <a:rPr sz="950" b="0" i="0">
                          <a:solidFill>
                            <a:srgbClr val="14313B"/>
                          </a:solidFill>
                          <a:latin typeface="Calibri (MS)"/>
                        </a:rPr>
                        <a:t>668,8</a:t>
                      </a:r>
                    </a:p>
                  </a:txBody>
                  <a:tcPr marL="73152" marR="73152" marT="36576" marB="36576" anchor="ctr">
                    <a:solidFill>
                      <a:srgbClr val="FFFFFF"/>
                    </a:solidFill>
                  </a:tcPr>
                </a:tc>
                <a:tc>
                  <a:txBody>
                    <a:bodyPr wrap="square"/>
                    <a:lstStyle/>
                    <a:p>
                      <a:pPr algn="ctr"/>
                      <a:r>
                        <a:rPr sz="950" b="0" i="0">
                          <a:solidFill>
                            <a:srgbClr val="14313B"/>
                          </a:solidFill>
                          <a:latin typeface="Calibri (MS)"/>
                        </a:rPr>
                        <a:t>1,3801</a:t>
                      </a:r>
                    </a:p>
                  </a:txBody>
                  <a:tcPr marL="73152" marR="73152" marT="36576" marB="36576" anchor="ctr">
                    <a:solidFill>
                      <a:srgbClr val="FFFFFF"/>
                    </a:solidFill>
                  </a:tcPr>
                </a:tc>
                <a:tc>
                  <a:txBody>
                    <a:bodyPr wrap="square"/>
                    <a:lstStyle/>
                    <a:p>
                      <a:pPr algn="ctr"/>
                      <a:r>
                        <a:rPr sz="950" b="0" i="0">
                          <a:solidFill>
                            <a:srgbClr val="14313B"/>
                          </a:solidFill>
                          <a:latin typeface="Calibri (MS)"/>
                        </a:rPr>
                        <a:t>56,16</a:t>
                      </a:r>
                    </a:p>
                  </a:txBody>
                  <a:tcPr marL="73152" marR="73152" marT="36576" marB="36576" anchor="ctr">
                    <a:solidFill>
                      <a:srgbClr val="FFFFFF"/>
                    </a:solidFill>
                  </a:tcPr>
                </a:tc>
              </a:tr>
              <a:tr h="301752">
                <a:tc>
                  <a:txBody>
                    <a:bodyPr wrap="square"/>
                    <a:lstStyle/>
                    <a:p>
                      <a:r>
                        <a:rPr sz="950" b="0" i="0">
                          <a:solidFill>
                            <a:srgbClr val="14313B"/>
                          </a:solidFill>
                          <a:latin typeface="Calibri (MS)"/>
                        </a:rPr>
                        <a:t>C3 bobot 0,50/0,25/0,25</a:t>
                      </a:r>
                    </a:p>
                  </a:txBody>
                  <a:tcPr marL="73152" marR="73152" marT="36576" marB="36576" anchor="ctr">
                    <a:solidFill>
                      <a:srgbClr val="EAF8FA"/>
                    </a:solidFill>
                  </a:tcPr>
                </a:tc>
                <a:tc>
                  <a:txBody>
                    <a:bodyPr wrap="square"/>
                    <a:lstStyle/>
                    <a:p>
                      <a:r>
                        <a:rPr sz="950" b="0" i="0">
                          <a:solidFill>
                            <a:srgbClr val="14313B"/>
                          </a:solidFill>
                          <a:latin typeface="Calibri (MS)"/>
                        </a:rPr>
                        <a:t>BAU</a:t>
                      </a:r>
                    </a:p>
                  </a:txBody>
                  <a:tcPr marL="73152" marR="73152" marT="36576" marB="36576" anchor="ctr">
                    <a:solidFill>
                      <a:srgbClr val="EAF8FA"/>
                    </a:solidFill>
                  </a:tcPr>
                </a:tc>
                <a:tc>
                  <a:txBody>
                    <a:bodyPr wrap="square"/>
                    <a:lstStyle/>
                    <a:p>
                      <a:pPr algn="ctr"/>
                      <a:r>
                        <a:rPr sz="950" b="0" i="0">
                          <a:solidFill>
                            <a:srgbClr val="14313B"/>
                          </a:solidFill>
                          <a:latin typeface="Calibri (MS)"/>
                        </a:rPr>
                        <a:t>829,38</a:t>
                      </a:r>
                    </a:p>
                  </a:txBody>
                  <a:tcPr marL="73152" marR="73152" marT="36576" marB="36576" anchor="ctr">
                    <a:solidFill>
                      <a:srgbClr val="EAF8FA"/>
                    </a:solidFill>
                  </a:tcPr>
                </a:tc>
                <a:tc>
                  <a:txBody>
                    <a:bodyPr wrap="square"/>
                    <a:lstStyle/>
                    <a:p>
                      <a:pPr algn="ctr"/>
                      <a:r>
                        <a:rPr sz="950" b="0" i="0">
                          <a:solidFill>
                            <a:srgbClr val="14313B"/>
                          </a:solidFill>
                          <a:latin typeface="Calibri (MS)"/>
                        </a:rPr>
                        <a:t>52.002</a:t>
                      </a:r>
                    </a:p>
                  </a:txBody>
                  <a:tcPr marL="73152" marR="73152" marT="36576" marB="36576" anchor="ctr">
                    <a:solidFill>
                      <a:srgbClr val="EAF8FA"/>
                    </a:solidFill>
                  </a:tcPr>
                </a:tc>
                <a:tc>
                  <a:txBody>
                    <a:bodyPr wrap="square"/>
                    <a:lstStyle/>
                    <a:p>
                      <a:pPr algn="ctr"/>
                      <a:r>
                        <a:rPr sz="950" b="0" i="0">
                          <a:solidFill>
                            <a:srgbClr val="14313B"/>
                          </a:solidFill>
                          <a:latin typeface="Calibri (MS)"/>
                        </a:rPr>
                        <a:t>0,8824</a:t>
                      </a:r>
                    </a:p>
                  </a:txBody>
                  <a:tcPr marL="73152" marR="73152" marT="36576" marB="36576" anchor="ctr">
                    <a:solidFill>
                      <a:srgbClr val="EAF8FA"/>
                    </a:solidFill>
                  </a:tcPr>
                </a:tc>
                <a:tc>
                  <a:txBody>
                    <a:bodyPr wrap="square"/>
                    <a:lstStyle/>
                    <a:p>
                      <a:pPr algn="ctr"/>
                      <a:r>
                        <a:rPr sz="950" b="0" i="0">
                          <a:solidFill>
                            <a:srgbClr val="14313B"/>
                          </a:solidFill>
                          <a:latin typeface="Calibri (MS)"/>
                        </a:rPr>
                        <a:t>0,6140</a:t>
                      </a:r>
                    </a:p>
                  </a:txBody>
                  <a:tcPr marL="73152" marR="73152" marT="36576" marB="36576" anchor="ctr">
                    <a:solidFill>
                      <a:srgbClr val="EAF8FA"/>
                    </a:solidFill>
                  </a:tcPr>
                </a:tc>
                <a:tc>
                  <a:txBody>
                    <a:bodyPr wrap="square"/>
                    <a:lstStyle/>
                    <a:p>
                      <a:pPr algn="ctr"/>
                      <a:r>
                        <a:rPr sz="950" b="0" i="0">
                          <a:solidFill>
                            <a:srgbClr val="14313B"/>
                          </a:solidFill>
                          <a:latin typeface="Calibri (MS)"/>
                        </a:rPr>
                        <a:t>122.384</a:t>
                      </a:r>
                    </a:p>
                  </a:txBody>
                  <a:tcPr marL="73152" marR="73152" marT="36576" marB="36576" anchor="ctr">
                    <a:solidFill>
                      <a:srgbClr val="EAF8FA"/>
                    </a:solidFill>
                  </a:tcPr>
                </a:tc>
                <a:tc>
                  <a:txBody>
                    <a:bodyPr wrap="square"/>
                    <a:lstStyle/>
                    <a:p>
                      <a:pPr algn="ctr"/>
                      <a:r>
                        <a:rPr sz="950" b="0" i="0">
                          <a:solidFill>
                            <a:srgbClr val="14313B"/>
                          </a:solidFill>
                          <a:latin typeface="Calibri (MS)"/>
                        </a:rPr>
                        <a:t>1.125,2</a:t>
                      </a:r>
                    </a:p>
                  </a:txBody>
                  <a:tcPr marL="73152" marR="73152" marT="36576" marB="36576" anchor="ctr">
                    <a:solidFill>
                      <a:srgbClr val="EAF8FA"/>
                    </a:solidFill>
                  </a:tcPr>
                </a:tc>
                <a:tc>
                  <a:txBody>
                    <a:bodyPr wrap="square"/>
                    <a:lstStyle/>
                    <a:p>
                      <a:pPr algn="ctr"/>
                      <a:r>
                        <a:rPr sz="950" b="0" i="0">
                          <a:solidFill>
                            <a:srgbClr val="14313B"/>
                          </a:solidFill>
                          <a:latin typeface="Calibri (MS)"/>
                        </a:rPr>
                        <a:t>3,0684</a:t>
                      </a:r>
                    </a:p>
                  </a:txBody>
                  <a:tcPr marL="73152" marR="73152" marT="36576" marB="36576" anchor="ctr">
                    <a:solidFill>
                      <a:srgbClr val="C9F0D6"/>
                    </a:solidFill>
                  </a:tcPr>
                </a:tc>
                <a:tc>
                  <a:txBody>
                    <a:bodyPr wrap="square"/>
                    <a:lstStyle/>
                    <a:p>
                      <a:pPr algn="ctr"/>
                      <a:r>
                        <a:rPr sz="950" b="0" i="0">
                          <a:solidFill>
                            <a:srgbClr val="14313B"/>
                          </a:solidFill>
                          <a:latin typeface="Calibri (MS)"/>
                        </a:rPr>
                        <a:t>124,87</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Sustainable</a:t>
                      </a:r>
                    </a:p>
                  </a:txBody>
                  <a:tcPr marL="73152" marR="73152" marT="36576" marB="36576" anchor="ctr">
                    <a:solidFill>
                      <a:srgbClr val="FFFFFF"/>
                    </a:solidFill>
                  </a:tcPr>
                </a:tc>
                <a:tc>
                  <a:txBody>
                    <a:bodyPr wrap="square"/>
                    <a:lstStyle/>
                    <a:p>
                      <a:pPr algn="ctr"/>
                      <a:r>
                        <a:rPr sz="950" b="0" i="0">
                          <a:solidFill>
                            <a:srgbClr val="14313B"/>
                          </a:solidFill>
                          <a:latin typeface="Calibri (MS)"/>
                        </a:rPr>
                        <a:t>861,09</a:t>
                      </a:r>
                    </a:p>
                  </a:txBody>
                  <a:tcPr marL="73152" marR="73152" marT="36576" marB="36576" anchor="ctr">
                    <a:solidFill>
                      <a:srgbClr val="FFFFFF"/>
                    </a:solidFill>
                  </a:tcPr>
                </a:tc>
                <a:tc>
                  <a:txBody>
                    <a:bodyPr wrap="square"/>
                    <a:lstStyle/>
                    <a:p>
                      <a:pPr algn="ctr"/>
                      <a:r>
                        <a:rPr sz="950" b="0" i="0">
                          <a:solidFill>
                            <a:srgbClr val="14313B"/>
                          </a:solidFill>
                          <a:latin typeface="Calibri (MS)"/>
                        </a:rPr>
                        <a:t>54.163</a:t>
                      </a:r>
                    </a:p>
                  </a:txBody>
                  <a:tcPr marL="73152" marR="73152" marT="36576" marB="36576" anchor="ctr">
                    <a:solidFill>
                      <a:srgbClr val="FFFFFF"/>
                    </a:solidFill>
                  </a:tcPr>
                </a:tc>
                <a:tc>
                  <a:txBody>
                    <a:bodyPr wrap="square"/>
                    <a:lstStyle/>
                    <a:p>
                      <a:pPr algn="ctr"/>
                      <a:r>
                        <a:rPr sz="950" b="0" i="0">
                          <a:solidFill>
                            <a:srgbClr val="14313B"/>
                          </a:solidFill>
                          <a:latin typeface="Calibri (MS)"/>
                        </a:rPr>
                        <a:t>0,8950</a:t>
                      </a:r>
                    </a:p>
                  </a:txBody>
                  <a:tcPr marL="73152" marR="73152" marT="36576" marB="36576" anchor="ctr">
                    <a:solidFill>
                      <a:srgbClr val="FFFFFF"/>
                    </a:solidFill>
                  </a:tcPr>
                </a:tc>
                <a:tc>
                  <a:txBody>
                    <a:bodyPr wrap="square"/>
                    <a:lstStyle/>
                    <a:p>
                      <a:pPr algn="ctr"/>
                      <a:r>
                        <a:rPr sz="950" b="0" i="0">
                          <a:solidFill>
                            <a:srgbClr val="14313B"/>
                          </a:solidFill>
                          <a:latin typeface="Calibri (MS)"/>
                        </a:rPr>
                        <a:t>0,6180</a:t>
                      </a:r>
                    </a:p>
                  </a:txBody>
                  <a:tcPr marL="73152" marR="73152" marT="36576" marB="36576" anchor="ctr">
                    <a:solidFill>
                      <a:srgbClr val="C9F0D6"/>
                    </a:solidFill>
                  </a:tcPr>
                </a:tc>
                <a:tc>
                  <a:txBody>
                    <a:bodyPr wrap="square"/>
                    <a:lstStyle/>
                    <a:p>
                      <a:pPr algn="ctr"/>
                      <a:r>
                        <a:rPr sz="9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3,1959</a:t>
                      </a:r>
                    </a:p>
                  </a:txBody>
                  <a:tcPr marL="73152" marR="73152" marT="36576" marB="36576" anchor="ctr">
                    <a:solidFill>
                      <a:srgbClr val="FFFFFF"/>
                    </a:solidFill>
                  </a:tcPr>
                </a:tc>
                <a:tc>
                  <a:txBody>
                    <a:bodyPr wrap="square"/>
                    <a:lstStyle/>
                    <a:p>
                      <a:pPr algn="ctr"/>
                      <a:r>
                        <a:rPr sz="950" b="0" i="0">
                          <a:solidFill>
                            <a:srgbClr val="14313B"/>
                          </a:solidFill>
                          <a:latin typeface="Calibri (MS)"/>
                        </a:rPr>
                        <a:t>130,06</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Dev. Priority</a:t>
                      </a:r>
                    </a:p>
                  </a:txBody>
                  <a:tcPr marL="73152" marR="73152" marT="36576" marB="36576" anchor="ctr">
                    <a:solidFill>
                      <a:srgbClr val="EAF8FA"/>
                    </a:solidFill>
                  </a:tcPr>
                </a:tc>
                <a:tc>
                  <a:txBody>
                    <a:bodyPr wrap="square"/>
                    <a:lstStyle/>
                    <a:p>
                      <a:pPr algn="ctr"/>
                      <a:r>
                        <a:rPr sz="950" b="0" i="0">
                          <a:solidFill>
                            <a:srgbClr val="14313B"/>
                          </a:solidFill>
                          <a:latin typeface="Calibri (MS)"/>
                        </a:rPr>
                        <a:t>918,34</a:t>
                      </a:r>
                    </a:p>
                  </a:txBody>
                  <a:tcPr marL="73152" marR="73152" marT="36576" marB="36576" anchor="ctr">
                    <a:solidFill>
                      <a:srgbClr val="C9F0D6"/>
                    </a:solidFill>
                  </a:tcPr>
                </a:tc>
                <a:tc>
                  <a:txBody>
                    <a:bodyPr wrap="square"/>
                    <a:lstStyle/>
                    <a:p>
                      <a:pPr algn="ctr"/>
                      <a:r>
                        <a:rPr sz="950" b="0" i="0">
                          <a:solidFill>
                            <a:srgbClr val="14313B"/>
                          </a:solidFill>
                          <a:latin typeface="Calibri (MS)"/>
                        </a:rPr>
                        <a:t>58.072</a:t>
                      </a:r>
                    </a:p>
                  </a:txBody>
                  <a:tcPr marL="73152" marR="73152" marT="36576" marB="36576" anchor="ctr">
                    <a:solidFill>
                      <a:srgbClr val="C9F0D6"/>
                    </a:solidFill>
                  </a:tcPr>
                </a:tc>
                <a:tc>
                  <a:txBody>
                    <a:bodyPr wrap="square"/>
                    <a:lstStyle/>
                    <a:p>
                      <a:pPr algn="ctr"/>
                      <a:r>
                        <a:rPr sz="950" b="0" i="0">
                          <a:solidFill>
                            <a:srgbClr val="14313B"/>
                          </a:solidFill>
                          <a:latin typeface="Calibri (MS)"/>
                        </a:rPr>
                        <a:t>0,9162</a:t>
                      </a:r>
                    </a:p>
                  </a:txBody>
                  <a:tcPr marL="73152" marR="73152" marT="36576" marB="36576" anchor="ctr">
                    <a:solidFill>
                      <a:srgbClr val="C9F0D6"/>
                    </a:solidFill>
                  </a:tcPr>
                </a:tc>
                <a:tc>
                  <a:txBody>
                    <a:bodyPr wrap="square"/>
                    <a:lstStyle/>
                    <a:p>
                      <a:pPr algn="ctr"/>
                      <a:r>
                        <a:rPr sz="950" b="0" i="0">
                          <a:solidFill>
                            <a:srgbClr val="14313B"/>
                          </a:solidFill>
                          <a:latin typeface="Calibri (MS)"/>
                        </a:rPr>
                        <a:t>0,6133</a:t>
                      </a:r>
                    </a:p>
                  </a:txBody>
                  <a:tcPr marL="73152" marR="73152" marT="36576" marB="36576" anchor="ctr">
                    <a:solidFill>
                      <a:srgbClr val="EAF8FA"/>
                    </a:solidFill>
                  </a:tcPr>
                </a:tc>
                <a:tc>
                  <a:txBody>
                    <a:bodyPr wrap="square"/>
                    <a:lstStyle/>
                    <a:p>
                      <a:pPr algn="ctr"/>
                      <a:r>
                        <a:rPr sz="950" b="0" i="0">
                          <a:solidFill>
                            <a:srgbClr val="14313B"/>
                          </a:solidFill>
                          <a:latin typeface="Calibri (MS)"/>
                        </a:rPr>
                        <a:t>122.610</a:t>
                      </a:r>
                    </a:p>
                  </a:txBody>
                  <a:tcPr marL="73152" marR="73152" marT="36576" marB="36576" anchor="ctr">
                    <a:solidFill>
                      <a:srgbClr val="EAF8FA"/>
                    </a:solidFill>
                  </a:tcPr>
                </a:tc>
                <a:tc>
                  <a:txBody>
                    <a:bodyPr wrap="square"/>
                    <a:lstStyle/>
                    <a:p>
                      <a:pPr algn="ctr"/>
                      <a:r>
                        <a:rPr sz="950" b="0" i="0">
                          <a:solidFill>
                            <a:srgbClr val="14313B"/>
                          </a:solidFill>
                          <a:latin typeface="Calibri (MS)"/>
                        </a:rPr>
                        <a:t>1.333,4</a:t>
                      </a:r>
                    </a:p>
                  </a:txBody>
                  <a:tcPr marL="73152" marR="73152" marT="36576" marB="36576" anchor="ctr">
                    <a:solidFill>
                      <a:srgbClr val="EAF8FA"/>
                    </a:solidFill>
                  </a:tcPr>
                </a:tc>
                <a:tc>
                  <a:txBody>
                    <a:bodyPr wrap="square"/>
                    <a:lstStyle/>
                    <a:p>
                      <a:pPr algn="ctr"/>
                      <a:r>
                        <a:rPr sz="950" b="0" i="0">
                          <a:solidFill>
                            <a:srgbClr val="14313B"/>
                          </a:solidFill>
                          <a:latin typeface="Calibri (MS)"/>
                        </a:rPr>
                        <a:t>3,4265</a:t>
                      </a:r>
                    </a:p>
                  </a:txBody>
                  <a:tcPr marL="73152" marR="73152" marT="36576" marB="36576" anchor="ctr">
                    <a:solidFill>
                      <a:srgbClr val="EAF8FA"/>
                    </a:solidFill>
                  </a:tcPr>
                </a:tc>
                <a:tc>
                  <a:txBody>
                    <a:bodyPr wrap="square"/>
                    <a:lstStyle/>
                    <a:p>
                      <a:pPr algn="ctr"/>
                      <a:r>
                        <a:rPr sz="950" b="0" i="0">
                          <a:solidFill>
                            <a:srgbClr val="14313B"/>
                          </a:solidFill>
                          <a:latin typeface="Calibri (MS)"/>
                        </a:rPr>
                        <a:t>139,45</a:t>
                      </a:r>
                    </a:p>
                  </a:txBody>
                  <a:tcPr marL="73152" marR="73152" marT="36576" marB="36576" anchor="ctr">
                    <a:solidFill>
                      <a:srgbClr val="EAF8FA"/>
                    </a:solidFill>
                  </a:tcPr>
                </a:tc>
              </a:tr>
              <a:tr h="301752">
                <a:tc>
                  <a:txBody>
                    <a:bodyPr wrap="square"/>
                    <a:lstStyle/>
                    <a:p>
                      <a:r>
                        <a:rPr sz="950" b="0" i="0">
                          <a:solidFill>
                            <a:srgbClr val="14313B"/>
                          </a:solidFill>
                          <a:latin typeface="Calibri (MS)"/>
                        </a:rPr>
                        <a:t>C4 bobot 0,30/0,45/0,25</a:t>
                      </a:r>
                    </a:p>
                  </a:txBody>
                  <a:tcPr marL="73152" marR="73152" marT="36576" marB="36576" anchor="ctr">
                    <a:solidFill>
                      <a:srgbClr val="FFFFFF"/>
                    </a:solidFill>
                  </a:tcPr>
                </a:tc>
                <a:tc>
                  <a:txBody>
                    <a:bodyPr wrap="square"/>
                    <a:lstStyle/>
                    <a:p>
                      <a:r>
                        <a:rPr sz="950" b="0" i="0">
                          <a:solidFill>
                            <a:srgbClr val="14313B"/>
                          </a:solidFill>
                          <a:latin typeface="Calibri (MS)"/>
                        </a:rPr>
                        <a:t>BAU</a:t>
                      </a:r>
                    </a:p>
                  </a:txBody>
                  <a:tcPr marL="73152" marR="73152" marT="36576" marB="36576" anchor="ctr">
                    <a:solidFill>
                      <a:srgbClr val="FFFFFF"/>
                    </a:solidFill>
                  </a:tcPr>
                </a:tc>
                <a:tc>
                  <a:txBody>
                    <a:bodyPr wrap="square"/>
                    <a:lstStyle/>
                    <a:p>
                      <a:pPr algn="ctr"/>
                      <a:r>
                        <a:rPr sz="950" b="0" i="0">
                          <a:solidFill>
                            <a:srgbClr val="14313B"/>
                          </a:solidFill>
                          <a:latin typeface="Calibri (MS)"/>
                        </a:rPr>
                        <a:t>537,42</a:t>
                      </a:r>
                    </a:p>
                  </a:txBody>
                  <a:tcPr marL="73152" marR="73152" marT="36576" marB="36576" anchor="ctr">
                    <a:solidFill>
                      <a:srgbClr val="FFFFFF"/>
                    </a:solidFill>
                  </a:tcPr>
                </a:tc>
                <a:tc>
                  <a:txBody>
                    <a:bodyPr wrap="square"/>
                    <a:lstStyle/>
                    <a:p>
                      <a:pPr algn="ctr"/>
                      <a:r>
                        <a:rPr sz="950" b="0" i="0">
                          <a:solidFill>
                            <a:srgbClr val="14313B"/>
                          </a:solidFill>
                          <a:latin typeface="Calibri (MS)"/>
                        </a:rPr>
                        <a:t>32.731</a:t>
                      </a:r>
                    </a:p>
                  </a:txBody>
                  <a:tcPr marL="73152" marR="73152" marT="36576" marB="36576" anchor="ctr">
                    <a:solidFill>
                      <a:srgbClr val="FFFFFF"/>
                    </a:solidFill>
                  </a:tcPr>
                </a:tc>
                <a:tc>
                  <a:txBody>
                    <a:bodyPr wrap="square"/>
                    <a:lstStyle/>
                    <a:p>
                      <a:pPr algn="ctr"/>
                      <a:r>
                        <a:rPr sz="950" b="0" i="0">
                          <a:solidFill>
                            <a:srgbClr val="14313B"/>
                          </a:solidFill>
                          <a:latin typeface="Calibri (MS)"/>
                        </a:rPr>
                        <a:t>0,7713</a:t>
                      </a:r>
                    </a:p>
                  </a:txBody>
                  <a:tcPr marL="73152" marR="73152" marT="36576" marB="36576" anchor="ctr">
                    <a:solidFill>
                      <a:srgbClr val="FFFFFF"/>
                    </a:solidFill>
                  </a:tcPr>
                </a:tc>
                <a:tc>
                  <a:txBody>
                    <a:bodyPr wrap="square"/>
                    <a:lstStyle/>
                    <a:p>
                      <a:pPr algn="ctr"/>
                      <a:r>
                        <a:rPr sz="950" b="0" i="0">
                          <a:solidFill>
                            <a:srgbClr val="14313B"/>
                          </a:solidFill>
                          <a:latin typeface="Calibri (MS)"/>
                        </a:rPr>
                        <a:t>0,6149</a:t>
                      </a:r>
                    </a:p>
                  </a:txBody>
                  <a:tcPr marL="73152" marR="73152" marT="36576" marB="36576" anchor="ctr">
                    <a:solidFill>
                      <a:srgbClr val="FFFFFF"/>
                    </a:solidFill>
                  </a:tcPr>
                </a:tc>
                <a:tc>
                  <a:txBody>
                    <a:bodyPr wrap="square"/>
                    <a:lstStyle/>
                    <a:p>
                      <a:pPr algn="ctr"/>
                      <a:r>
                        <a:rPr sz="950" b="0" i="0">
                          <a:solidFill>
                            <a:srgbClr val="14313B"/>
                          </a:solidFill>
                          <a:latin typeface="Calibri (MS)"/>
                        </a:rPr>
                        <a:t>122.085</a:t>
                      </a:r>
                    </a:p>
                  </a:txBody>
                  <a:tcPr marL="73152" marR="73152" marT="36576" marB="36576" anchor="ctr">
                    <a:solidFill>
                      <a:srgbClr val="FFFFFF"/>
                    </a:solidFill>
                  </a:tcPr>
                </a:tc>
                <a:tc>
                  <a:txBody>
                    <a:bodyPr wrap="square"/>
                    <a:lstStyle/>
                    <a:p>
                      <a:pPr algn="ctr"/>
                      <a:r>
                        <a:rPr sz="950" b="0" i="0">
                          <a:solidFill>
                            <a:srgbClr val="14313B"/>
                          </a:solidFill>
                          <a:latin typeface="Calibri (MS)"/>
                        </a:rPr>
                        <a:t>827,7</a:t>
                      </a:r>
                    </a:p>
                  </a:txBody>
                  <a:tcPr marL="73152" marR="73152" marT="36576" marB="36576" anchor="ctr">
                    <a:solidFill>
                      <a:srgbClr val="FFFFFF"/>
                    </a:solidFill>
                  </a:tcPr>
                </a:tc>
                <a:tc>
                  <a:txBody>
                    <a:bodyPr wrap="square"/>
                    <a:lstStyle/>
                    <a:p>
                      <a:pPr algn="ctr"/>
                      <a:r>
                        <a:rPr sz="950" b="0" i="0">
                          <a:solidFill>
                            <a:srgbClr val="14313B"/>
                          </a:solidFill>
                          <a:latin typeface="Calibri (MS)"/>
                        </a:rPr>
                        <a:t>1,9313</a:t>
                      </a:r>
                    </a:p>
                  </a:txBody>
                  <a:tcPr marL="73152" marR="73152" marT="36576" marB="36576" anchor="ctr">
                    <a:solidFill>
                      <a:srgbClr val="C9F0D6"/>
                    </a:solidFill>
                  </a:tcPr>
                </a:tc>
                <a:tc>
                  <a:txBody>
                    <a:bodyPr wrap="square"/>
                    <a:lstStyle/>
                    <a:p>
                      <a:pPr algn="ctr"/>
                      <a:r>
                        <a:rPr sz="950" b="0" i="0">
                          <a:solidFill>
                            <a:srgbClr val="14313B"/>
                          </a:solidFill>
                          <a:latin typeface="Calibri (MS)"/>
                        </a:rPr>
                        <a:t>78,60</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Sustainable</a:t>
                      </a:r>
                    </a:p>
                  </a:txBody>
                  <a:tcPr marL="73152" marR="73152" marT="36576" marB="36576" anchor="ctr">
                    <a:solidFill>
                      <a:srgbClr val="EAF8FA"/>
                    </a:solidFill>
                  </a:tcPr>
                </a:tc>
                <a:tc>
                  <a:txBody>
                    <a:bodyPr wrap="square"/>
                    <a:lstStyle/>
                    <a:p>
                      <a:pPr algn="ctr"/>
                      <a:r>
                        <a:rPr sz="950" b="0" i="0">
                          <a:solidFill>
                            <a:srgbClr val="14313B"/>
                          </a:solidFill>
                          <a:latin typeface="Calibri (MS)"/>
                        </a:rPr>
                        <a:t>546,47</a:t>
                      </a:r>
                    </a:p>
                  </a:txBody>
                  <a:tcPr marL="73152" marR="73152" marT="36576" marB="36576" anchor="ctr">
                    <a:solidFill>
                      <a:srgbClr val="EAF8FA"/>
                    </a:solidFill>
                  </a:tcPr>
                </a:tc>
                <a:tc>
                  <a:txBody>
                    <a:bodyPr wrap="square"/>
                    <a:lstStyle/>
                    <a:p>
                      <a:pPr algn="ctr"/>
                      <a:r>
                        <a:rPr sz="950" b="0" i="0">
                          <a:solidFill>
                            <a:srgbClr val="14313B"/>
                          </a:solidFill>
                          <a:latin typeface="Calibri (MS)"/>
                        </a:rPr>
                        <a:t>33.317</a:t>
                      </a:r>
                    </a:p>
                  </a:txBody>
                  <a:tcPr marL="73152" marR="73152" marT="36576" marB="36576" anchor="ctr">
                    <a:solidFill>
                      <a:srgbClr val="EAF8FA"/>
                    </a:solidFill>
                  </a:tcPr>
                </a:tc>
                <a:tc>
                  <a:txBody>
                    <a:bodyPr wrap="square"/>
                    <a:lstStyle/>
                    <a:p>
                      <a:pPr algn="ctr"/>
                      <a:r>
                        <a:rPr sz="950" b="0" i="0">
                          <a:solidFill>
                            <a:srgbClr val="14313B"/>
                          </a:solidFill>
                          <a:latin typeface="Calibri (MS)"/>
                        </a:rPr>
                        <a:t>0,7751</a:t>
                      </a:r>
                    </a:p>
                  </a:txBody>
                  <a:tcPr marL="73152" marR="73152" marT="36576" marB="36576" anchor="ctr">
                    <a:solidFill>
                      <a:srgbClr val="EAF8FA"/>
                    </a:solidFill>
                  </a:tcPr>
                </a:tc>
                <a:tc>
                  <a:txBody>
                    <a:bodyPr wrap="square"/>
                    <a:lstStyle/>
                    <a:p>
                      <a:pPr algn="ctr"/>
                      <a:r>
                        <a:rPr sz="950" b="0" i="0">
                          <a:solidFill>
                            <a:srgbClr val="14313B"/>
                          </a:solidFill>
                          <a:latin typeface="Calibri (MS)"/>
                        </a:rPr>
                        <a:t>0,6180</a:t>
                      </a:r>
                    </a:p>
                  </a:txBody>
                  <a:tcPr marL="73152" marR="73152" marT="36576" marB="36576" anchor="ctr">
                    <a:solidFill>
                      <a:srgbClr val="C9F0D6"/>
                    </a:solidFill>
                  </a:tcPr>
                </a:tc>
                <a:tc>
                  <a:txBody>
                    <a:bodyPr wrap="square"/>
                    <a:lstStyle/>
                    <a:p>
                      <a:pPr algn="ctr"/>
                      <a:r>
                        <a:rPr sz="950" b="0" i="0">
                          <a:solidFill>
                            <a:srgbClr val="14313B"/>
                          </a:solidFill>
                          <a:latin typeface="Calibri (MS)"/>
                        </a:rPr>
                        <a:t>121.094</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1,9659</a:t>
                      </a:r>
                    </a:p>
                  </a:txBody>
                  <a:tcPr marL="73152" marR="73152" marT="36576" marB="36576" anchor="ctr">
                    <a:solidFill>
                      <a:srgbClr val="EAF8FA"/>
                    </a:solidFill>
                  </a:tcPr>
                </a:tc>
                <a:tc>
                  <a:txBody>
                    <a:bodyPr wrap="square"/>
                    <a:lstStyle/>
                    <a:p>
                      <a:pPr algn="ctr"/>
                      <a:r>
                        <a:rPr sz="950" b="0" i="0">
                          <a:solidFill>
                            <a:srgbClr val="14313B"/>
                          </a:solidFill>
                          <a:latin typeface="Calibri (MS)"/>
                        </a:rPr>
                        <a:t>80,00</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Dev. Priority</a:t>
                      </a:r>
                    </a:p>
                  </a:txBody>
                  <a:tcPr marL="73152" marR="73152" marT="36576" marB="36576" anchor="ctr">
                    <a:solidFill>
                      <a:srgbClr val="FFFFFF"/>
                    </a:solidFill>
                  </a:tcPr>
                </a:tc>
                <a:tc>
                  <a:txBody>
                    <a:bodyPr wrap="square"/>
                    <a:lstStyle/>
                    <a:p>
                      <a:pPr algn="ctr"/>
                      <a:r>
                        <a:rPr sz="950" b="0" i="0">
                          <a:solidFill>
                            <a:srgbClr val="14313B"/>
                          </a:solidFill>
                          <a:latin typeface="Calibri (MS)"/>
                        </a:rPr>
                        <a:t>561,22</a:t>
                      </a:r>
                    </a:p>
                  </a:txBody>
                  <a:tcPr marL="73152" marR="73152" marT="36576" marB="36576" anchor="ctr">
                    <a:solidFill>
                      <a:srgbClr val="C9F0D6"/>
                    </a:solidFill>
                  </a:tcPr>
                </a:tc>
                <a:tc>
                  <a:txBody>
                    <a:bodyPr wrap="square"/>
                    <a:lstStyle/>
                    <a:p>
                      <a:pPr algn="ctr"/>
                      <a:r>
                        <a:rPr sz="950" b="0" i="0">
                          <a:solidFill>
                            <a:srgbClr val="14313B"/>
                          </a:solidFill>
                          <a:latin typeface="Calibri (MS)"/>
                        </a:rPr>
                        <a:t>34.270</a:t>
                      </a:r>
                    </a:p>
                  </a:txBody>
                  <a:tcPr marL="73152" marR="73152" marT="36576" marB="36576" anchor="ctr">
                    <a:solidFill>
                      <a:srgbClr val="C9F0D6"/>
                    </a:solidFill>
                  </a:tcPr>
                </a:tc>
                <a:tc>
                  <a:txBody>
                    <a:bodyPr wrap="square"/>
                    <a:lstStyle/>
                    <a:p>
                      <a:pPr algn="ctr"/>
                      <a:r>
                        <a:rPr sz="950" b="0" i="0">
                          <a:solidFill>
                            <a:srgbClr val="14313B"/>
                          </a:solidFill>
                          <a:latin typeface="Calibri (MS)"/>
                        </a:rPr>
                        <a:t>0,7807</a:t>
                      </a:r>
                    </a:p>
                  </a:txBody>
                  <a:tcPr marL="73152" marR="73152" marT="36576" marB="36576" anchor="ctr">
                    <a:solidFill>
                      <a:srgbClr val="C9F0D6"/>
                    </a:solidFill>
                  </a:tcPr>
                </a:tc>
                <a:tc>
                  <a:txBody>
                    <a:bodyPr wrap="square"/>
                    <a:lstStyle/>
                    <a:p>
                      <a:pPr algn="ctr"/>
                      <a:r>
                        <a:rPr sz="950" b="0" i="0">
                          <a:solidFill>
                            <a:srgbClr val="14313B"/>
                          </a:solidFill>
                          <a:latin typeface="Calibri (MS)"/>
                        </a:rPr>
                        <a:t>0,6145</a:t>
                      </a:r>
                    </a:p>
                  </a:txBody>
                  <a:tcPr marL="73152" marR="73152" marT="36576" marB="36576" anchor="ctr">
                    <a:solidFill>
                      <a:srgbClr val="FFFFFF"/>
                    </a:solidFill>
                  </a:tcPr>
                </a:tc>
                <a:tc>
                  <a:txBody>
                    <a:bodyPr wrap="square"/>
                    <a:lstStyle/>
                    <a:p>
                      <a:pPr algn="ctr"/>
                      <a:r>
                        <a:rPr sz="950" b="0" i="0">
                          <a:solidFill>
                            <a:srgbClr val="14313B"/>
                          </a:solidFill>
                          <a:latin typeface="Calibri (MS)"/>
                        </a:rPr>
                        <a:t>122.219</a:t>
                      </a:r>
                    </a:p>
                  </a:txBody>
                  <a:tcPr marL="73152" marR="73152" marT="36576" marB="36576" anchor="ctr">
                    <a:solidFill>
                      <a:srgbClr val="FFFFFF"/>
                    </a:solidFill>
                  </a:tcPr>
                </a:tc>
                <a:tc>
                  <a:txBody>
                    <a:bodyPr wrap="square"/>
                    <a:lstStyle/>
                    <a:p>
                      <a:pPr algn="ctr"/>
                      <a:r>
                        <a:rPr sz="950" b="0" i="0">
                          <a:solidFill>
                            <a:srgbClr val="14313B"/>
                          </a:solidFill>
                          <a:latin typeface="Calibri (MS)"/>
                        </a:rPr>
                        <a:t>940,0</a:t>
                      </a:r>
                    </a:p>
                  </a:txBody>
                  <a:tcPr marL="73152" marR="73152" marT="36576" marB="36576" anchor="ctr">
                    <a:solidFill>
                      <a:srgbClr val="FFFFFF"/>
                    </a:solidFill>
                  </a:tcPr>
                </a:tc>
                <a:tc>
                  <a:txBody>
                    <a:bodyPr wrap="square"/>
                    <a:lstStyle/>
                    <a:p>
                      <a:pPr algn="ctr"/>
                      <a:r>
                        <a:rPr sz="950" b="0" i="0">
                          <a:solidFill>
                            <a:srgbClr val="14313B"/>
                          </a:solidFill>
                          <a:latin typeface="Calibri (MS)"/>
                        </a:rPr>
                        <a:t>2,0221</a:t>
                      </a:r>
                    </a:p>
                  </a:txBody>
                  <a:tcPr marL="73152" marR="73152" marT="36576" marB="36576" anchor="ctr">
                    <a:solidFill>
                      <a:srgbClr val="FFFFFF"/>
                    </a:solidFill>
                  </a:tcPr>
                </a:tc>
                <a:tc>
                  <a:txBody>
                    <a:bodyPr wrap="square"/>
                    <a:lstStyle/>
                    <a:p>
                      <a:pPr algn="ctr"/>
                      <a:r>
                        <a:rPr sz="950" b="0" i="0">
                          <a:solidFill>
                            <a:srgbClr val="14313B"/>
                          </a:solidFill>
                          <a:latin typeface="Calibri (MS)"/>
                        </a:rPr>
                        <a:t>82,29</a:t>
                      </a:r>
                    </a:p>
                  </a:txBody>
                  <a:tcPr marL="73152" marR="73152" marT="36576" marB="36576" anchor="ctr">
                    <a:solidFill>
                      <a:srgbClr val="FFFFFF"/>
                    </a:solidFill>
                  </a:tcPr>
                </a:tc>
              </a:tr>
              <a:tr h="301752">
                <a:tc>
                  <a:txBody>
                    <a:bodyPr wrap="square"/>
                    <a:lstStyle/>
                    <a:p>
                      <a:r>
                        <a:rPr sz="950" b="0" i="0">
                          <a:solidFill>
                            <a:srgbClr val="14313B"/>
                          </a:solidFill>
                          <a:latin typeface="Calibri (MS)"/>
                        </a:rPr>
                        <a:t>C5 konversi 0,0034118</a:t>
                      </a:r>
                    </a:p>
                  </a:txBody>
                  <a:tcPr marL="73152" marR="73152" marT="36576" marB="36576" anchor="ctr">
                    <a:solidFill>
                      <a:srgbClr val="EAF8FA"/>
                    </a:solidFill>
                  </a:tcPr>
                </a:tc>
                <a:tc>
                  <a:txBody>
                    <a:bodyPr wrap="square"/>
                    <a:lstStyle/>
                    <a:p>
                      <a:r>
                        <a:rPr sz="950" b="0" i="0">
                          <a:solidFill>
                            <a:srgbClr val="14313B"/>
                          </a:solidFill>
                          <a:latin typeface="Calibri (MS)"/>
                        </a:rPr>
                        <a:t>BAU</a:t>
                      </a:r>
                    </a:p>
                  </a:txBody>
                  <a:tcPr marL="73152" marR="73152" marT="36576" marB="36576" anchor="ctr">
                    <a:solidFill>
                      <a:srgbClr val="EAF8FA"/>
                    </a:solidFill>
                  </a:tcPr>
                </a:tc>
                <a:tc>
                  <a:txBody>
                    <a:bodyPr wrap="square"/>
                    <a:lstStyle/>
                    <a:p>
                      <a:pPr algn="ctr"/>
                      <a:r>
                        <a:rPr sz="950" b="0" i="0">
                          <a:solidFill>
                            <a:srgbClr val="14313B"/>
                          </a:solidFill>
                          <a:latin typeface="Calibri (MS)"/>
                        </a:rPr>
                        <a:t>737,10</a:t>
                      </a:r>
                    </a:p>
                  </a:txBody>
                  <a:tcPr marL="73152" marR="73152" marT="36576" marB="36576" anchor="ctr">
                    <a:solidFill>
                      <a:srgbClr val="EAF8FA"/>
                    </a:solidFill>
                  </a:tcPr>
                </a:tc>
                <a:tc>
                  <a:txBody>
                    <a:bodyPr wrap="square"/>
                    <a:lstStyle/>
                    <a:p>
                      <a:pPr algn="ctr"/>
                      <a:r>
                        <a:rPr sz="950" b="0" i="0">
                          <a:solidFill>
                            <a:srgbClr val="14313B"/>
                          </a:solidFill>
                          <a:latin typeface="Calibri (MS)"/>
                        </a:rPr>
                        <a:t>45.945</a:t>
                      </a:r>
                    </a:p>
                  </a:txBody>
                  <a:tcPr marL="73152" marR="73152" marT="36576" marB="36576" anchor="ctr">
                    <a:solidFill>
                      <a:srgbClr val="EAF8FA"/>
                    </a:solidFill>
                  </a:tcPr>
                </a:tc>
                <a:tc>
                  <a:txBody>
                    <a:bodyPr wrap="square"/>
                    <a:lstStyle/>
                    <a:p>
                      <a:pPr algn="ctr"/>
                      <a:r>
                        <a:rPr sz="950" b="0" i="0">
                          <a:solidFill>
                            <a:srgbClr val="14313B"/>
                          </a:solidFill>
                          <a:latin typeface="Calibri (MS)"/>
                        </a:rPr>
                        <a:t>0,8593</a:t>
                      </a:r>
                    </a:p>
                  </a:txBody>
                  <a:tcPr marL="73152" marR="73152" marT="36576" marB="36576" anchor="ctr">
                    <a:solidFill>
                      <a:srgbClr val="EAF8FA"/>
                    </a:solidFill>
                  </a:tcPr>
                </a:tc>
                <a:tc>
                  <a:txBody>
                    <a:bodyPr wrap="square"/>
                    <a:lstStyle/>
                    <a:p>
                      <a:pPr algn="ctr"/>
                      <a:r>
                        <a:rPr sz="950" b="0" i="0">
                          <a:solidFill>
                            <a:srgbClr val="14313B"/>
                          </a:solidFill>
                          <a:latin typeface="Calibri (MS)"/>
                        </a:rPr>
                        <a:t>0,8103</a:t>
                      </a:r>
                    </a:p>
                  </a:txBody>
                  <a:tcPr marL="73152" marR="73152" marT="36576" marB="36576" anchor="ctr">
                    <a:solidFill>
                      <a:srgbClr val="EAF8FA"/>
                    </a:solidFill>
                  </a:tcPr>
                </a:tc>
                <a:tc>
                  <a:txBody>
                    <a:bodyPr wrap="square"/>
                    <a:lstStyle/>
                    <a:p>
                      <a:pPr algn="ctr"/>
                      <a:r>
                        <a:rPr sz="950" b="0" i="0">
                          <a:solidFill>
                            <a:srgbClr val="14313B"/>
                          </a:solidFill>
                          <a:latin typeface="Calibri (MS)"/>
                        </a:rPr>
                        <a:t>60.154</a:t>
                      </a:r>
                    </a:p>
                  </a:txBody>
                  <a:tcPr marL="73152" marR="73152" marT="36576" marB="36576" anchor="ctr">
                    <a:solidFill>
                      <a:srgbClr val="EAF8FA"/>
                    </a:solidFill>
                  </a:tcPr>
                </a:tc>
                <a:tc>
                  <a:txBody>
                    <a:bodyPr wrap="square"/>
                    <a:lstStyle/>
                    <a:p>
                      <a:pPr algn="ctr"/>
                      <a:r>
                        <a:rPr sz="950" b="0" i="0">
                          <a:solidFill>
                            <a:srgbClr val="14313B"/>
                          </a:solidFill>
                          <a:latin typeface="Calibri (MS)"/>
                        </a:rPr>
                        <a:t>1.177,3</a:t>
                      </a:r>
                    </a:p>
                  </a:txBody>
                  <a:tcPr marL="73152" marR="73152" marT="36576" marB="36576" anchor="ctr">
                    <a:solidFill>
                      <a:srgbClr val="EAF8FA"/>
                    </a:solidFill>
                  </a:tcPr>
                </a:tc>
                <a:tc>
                  <a:txBody>
                    <a:bodyPr wrap="square"/>
                    <a:lstStyle/>
                    <a:p>
                      <a:pPr algn="ctr"/>
                      <a:r>
                        <a:rPr sz="950" b="0" i="0">
                          <a:solidFill>
                            <a:srgbClr val="14313B"/>
                          </a:solidFill>
                          <a:latin typeface="Calibri (MS)"/>
                        </a:rPr>
                        <a:t>2,7110</a:t>
                      </a:r>
                    </a:p>
                  </a:txBody>
                  <a:tcPr marL="73152" marR="73152" marT="36576" marB="36576" anchor="ctr">
                    <a:solidFill>
                      <a:srgbClr val="C9F0D6"/>
                    </a:solidFill>
                  </a:tcPr>
                </a:tc>
                <a:tc>
                  <a:txBody>
                    <a:bodyPr wrap="square"/>
                    <a:lstStyle/>
                    <a:p>
                      <a:pPr algn="ctr"/>
                      <a:r>
                        <a:rPr sz="950" b="0" i="0">
                          <a:solidFill>
                            <a:srgbClr val="14313B"/>
                          </a:solidFill>
                          <a:latin typeface="Calibri (MS)"/>
                        </a:rPr>
                        <a:t>110,33</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Sustainable</a:t>
                      </a:r>
                    </a:p>
                  </a:txBody>
                  <a:tcPr marL="73152" marR="73152" marT="36576" marB="36576" anchor="ctr">
                    <a:solidFill>
                      <a:srgbClr val="FFFFFF"/>
                    </a:solidFill>
                  </a:tcPr>
                </a:tc>
                <a:tc>
                  <a:txBody>
                    <a:bodyPr wrap="square"/>
                    <a:lstStyle/>
                    <a:p>
                      <a:pPr algn="ctr"/>
                      <a:r>
                        <a:rPr sz="950" b="0" i="0">
                          <a:solidFill>
                            <a:srgbClr val="14313B"/>
                          </a:solidFill>
                          <a:latin typeface="Calibri (MS)"/>
                        </a:rPr>
                        <a:t>757,06</a:t>
                      </a:r>
                    </a:p>
                  </a:txBody>
                  <a:tcPr marL="73152" marR="73152" marT="36576" marB="36576" anchor="ctr">
                    <a:solidFill>
                      <a:srgbClr val="FFFFFF"/>
                    </a:solidFill>
                  </a:tcPr>
                </a:tc>
                <a:tc>
                  <a:txBody>
                    <a:bodyPr wrap="square"/>
                    <a:lstStyle/>
                    <a:p>
                      <a:pPr algn="ctr"/>
                      <a:r>
                        <a:rPr sz="950" b="0" i="0">
                          <a:solidFill>
                            <a:srgbClr val="14313B"/>
                          </a:solidFill>
                          <a:latin typeface="Calibri (MS)"/>
                        </a:rPr>
                        <a:t>47.288</a:t>
                      </a:r>
                    </a:p>
                  </a:txBody>
                  <a:tcPr marL="73152" marR="73152" marT="36576" marB="36576" anchor="ctr">
                    <a:solidFill>
                      <a:srgbClr val="FFFFFF"/>
                    </a:solidFill>
                  </a:tcPr>
                </a:tc>
                <a:tc>
                  <a:txBody>
                    <a:bodyPr wrap="square"/>
                    <a:lstStyle/>
                    <a:p>
                      <a:pPr algn="ctr"/>
                      <a:r>
                        <a:rPr sz="950" b="0" i="0">
                          <a:solidFill>
                            <a:srgbClr val="14313B"/>
                          </a:solidFill>
                          <a:latin typeface="Calibri (MS)"/>
                        </a:rPr>
                        <a:t>0,8675</a:t>
                      </a:r>
                    </a:p>
                  </a:txBody>
                  <a:tcPr marL="73152" marR="73152" marT="36576" marB="36576" anchor="ctr">
                    <a:solidFill>
                      <a:srgbClr val="FFFFFF"/>
                    </a:solidFill>
                  </a:tcPr>
                </a:tc>
                <a:tc>
                  <a:txBody>
                    <a:bodyPr wrap="square"/>
                    <a:lstStyle/>
                    <a:p>
                      <a:pPr algn="ctr"/>
                      <a:r>
                        <a:rPr sz="950" b="0" i="0">
                          <a:solidFill>
                            <a:srgbClr val="14313B"/>
                          </a:solidFill>
                          <a:latin typeface="Calibri (MS)"/>
                        </a:rPr>
                        <a:t>0,8139</a:t>
                      </a:r>
                    </a:p>
                  </a:txBody>
                  <a:tcPr marL="73152" marR="73152" marT="36576" marB="36576" anchor="ctr">
                    <a:solidFill>
                      <a:srgbClr val="C9F0D6"/>
                    </a:solidFill>
                  </a:tcPr>
                </a:tc>
                <a:tc>
                  <a:txBody>
                    <a:bodyPr wrap="square"/>
                    <a:lstStyle/>
                    <a:p>
                      <a:pPr algn="ctr"/>
                      <a:r>
                        <a:rPr sz="950" b="0" i="0">
                          <a:solidFill>
                            <a:srgbClr val="14313B"/>
                          </a:solidFill>
                          <a:latin typeface="Calibri (MS)"/>
                        </a:rPr>
                        <a:t>59.013</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2,7903</a:t>
                      </a:r>
                    </a:p>
                  </a:txBody>
                  <a:tcPr marL="73152" marR="73152" marT="36576" marB="36576" anchor="ctr">
                    <a:solidFill>
                      <a:srgbClr val="FFFFFF"/>
                    </a:solidFill>
                  </a:tcPr>
                </a:tc>
                <a:tc>
                  <a:txBody>
                    <a:bodyPr wrap="square"/>
                    <a:lstStyle/>
                    <a:p>
                      <a:pPr algn="ctr"/>
                      <a:r>
                        <a:rPr sz="950" b="0" i="0">
                          <a:solidFill>
                            <a:srgbClr val="14313B"/>
                          </a:solidFill>
                          <a:latin typeface="Calibri (MS)"/>
                        </a:rPr>
                        <a:t>113,55</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Dev. Priority</a:t>
                      </a:r>
                    </a:p>
                  </a:txBody>
                  <a:tcPr marL="73152" marR="73152" marT="36576" marB="36576" anchor="ctr">
                    <a:solidFill>
                      <a:srgbClr val="EAF8FA"/>
                    </a:solidFill>
                  </a:tcPr>
                </a:tc>
                <a:tc>
                  <a:txBody>
                    <a:bodyPr wrap="square"/>
                    <a:lstStyle/>
                    <a:p>
                      <a:pPr algn="ctr"/>
                      <a:r>
                        <a:rPr sz="950" b="0" i="0">
                          <a:solidFill>
                            <a:srgbClr val="14313B"/>
                          </a:solidFill>
                          <a:latin typeface="Calibri (MS)"/>
                        </a:rPr>
                        <a:t>791,79</a:t>
                      </a:r>
                    </a:p>
                  </a:txBody>
                  <a:tcPr marL="73152" marR="73152" marT="36576" marB="36576" anchor="ctr">
                    <a:solidFill>
                      <a:srgbClr val="C9F0D6"/>
                    </a:solidFill>
                  </a:tcPr>
                </a:tc>
                <a:tc>
                  <a:txBody>
                    <a:bodyPr wrap="square"/>
                    <a:lstStyle/>
                    <a:p>
                      <a:pPr algn="ctr"/>
                      <a:r>
                        <a:rPr sz="950" b="0" i="0">
                          <a:solidFill>
                            <a:srgbClr val="14313B"/>
                          </a:solidFill>
                          <a:latin typeface="Calibri (MS)"/>
                        </a:rPr>
                        <a:t>49.625</a:t>
                      </a:r>
                    </a:p>
                  </a:txBody>
                  <a:tcPr marL="73152" marR="73152" marT="36576" marB="36576" anchor="ctr">
                    <a:solidFill>
                      <a:srgbClr val="C9F0D6"/>
                    </a:solidFill>
                  </a:tcPr>
                </a:tc>
                <a:tc>
                  <a:txBody>
                    <a:bodyPr wrap="square"/>
                    <a:lstStyle/>
                    <a:p>
                      <a:pPr algn="ctr"/>
                      <a:r>
                        <a:rPr sz="950" b="0" i="0">
                          <a:solidFill>
                            <a:srgbClr val="14313B"/>
                          </a:solidFill>
                          <a:latin typeface="Calibri (MS)"/>
                        </a:rPr>
                        <a:t>0,8805</a:t>
                      </a:r>
                    </a:p>
                  </a:txBody>
                  <a:tcPr marL="73152" marR="73152" marT="36576" marB="36576" anchor="ctr">
                    <a:solidFill>
                      <a:srgbClr val="C9F0D6"/>
                    </a:solidFill>
                  </a:tcPr>
                </a:tc>
                <a:tc>
                  <a:txBody>
                    <a:bodyPr wrap="square"/>
                    <a:lstStyle/>
                    <a:p>
                      <a:pPr algn="ctr"/>
                      <a:r>
                        <a:rPr sz="950" b="0" i="0">
                          <a:solidFill>
                            <a:srgbClr val="14313B"/>
                          </a:solidFill>
                          <a:latin typeface="Calibri (MS)"/>
                        </a:rPr>
                        <a:t>0,8097</a:t>
                      </a:r>
                    </a:p>
                  </a:txBody>
                  <a:tcPr marL="73152" marR="73152" marT="36576" marB="36576" anchor="ctr">
                    <a:solidFill>
                      <a:srgbClr val="EAF8FA"/>
                    </a:solidFill>
                  </a:tcPr>
                </a:tc>
                <a:tc>
                  <a:txBody>
                    <a:bodyPr wrap="square"/>
                    <a:lstStyle/>
                    <a:p>
                      <a:pPr algn="ctr"/>
                      <a:r>
                        <a:rPr sz="950" b="0" i="0">
                          <a:solidFill>
                            <a:srgbClr val="14313B"/>
                          </a:solidFill>
                          <a:latin typeface="Calibri (MS)"/>
                        </a:rPr>
                        <a:t>60.334</a:t>
                      </a:r>
                    </a:p>
                  </a:txBody>
                  <a:tcPr marL="73152" marR="73152" marT="36576" marB="36576" anchor="ctr">
                    <a:solidFill>
                      <a:srgbClr val="EAF8FA"/>
                    </a:solidFill>
                  </a:tcPr>
                </a:tc>
                <a:tc>
                  <a:txBody>
                    <a:bodyPr wrap="square"/>
                    <a:lstStyle/>
                    <a:p>
                      <a:pPr algn="ctr"/>
                      <a:r>
                        <a:rPr sz="950" b="0" i="0">
                          <a:solidFill>
                            <a:srgbClr val="14313B"/>
                          </a:solidFill>
                          <a:latin typeface="Calibri (MS)"/>
                        </a:rPr>
                        <a:t>1.367,8</a:t>
                      </a:r>
                    </a:p>
                  </a:txBody>
                  <a:tcPr marL="73152" marR="73152" marT="36576" marB="36576" anchor="ctr">
                    <a:solidFill>
                      <a:srgbClr val="EAF8FA"/>
                    </a:solidFill>
                  </a:tcPr>
                </a:tc>
                <a:tc>
                  <a:txBody>
                    <a:bodyPr wrap="square"/>
                    <a:lstStyle/>
                    <a:p>
                      <a:pPr algn="ctr"/>
                      <a:r>
                        <a:rPr sz="950" b="0" i="0">
                          <a:solidFill>
                            <a:srgbClr val="14313B"/>
                          </a:solidFill>
                          <a:latin typeface="Calibri (MS)"/>
                        </a:rPr>
                        <a:t>2,9281</a:t>
                      </a:r>
                    </a:p>
                  </a:txBody>
                  <a:tcPr marL="73152" marR="73152" marT="36576" marB="36576" anchor="ctr">
                    <a:solidFill>
                      <a:srgbClr val="EAF8FA"/>
                    </a:solidFill>
                  </a:tcPr>
                </a:tc>
                <a:tc>
                  <a:txBody>
                    <a:bodyPr wrap="square"/>
                    <a:lstStyle/>
                    <a:p>
                      <a:pPr algn="ctr"/>
                      <a:r>
                        <a:rPr sz="950" b="0" i="0">
                          <a:solidFill>
                            <a:srgbClr val="14313B"/>
                          </a:solidFill>
                          <a:latin typeface="Calibri (MS)"/>
                        </a:rPr>
                        <a:t>119,16</a:t>
                      </a:r>
                    </a:p>
                  </a:txBody>
                  <a:tcPr marL="73152" marR="73152" marT="36576" marB="36576" anchor="ctr">
                    <a:solidFill>
                      <a:srgbClr val="EAF8FA"/>
                    </a:solidFill>
                  </a:tcPr>
                </a:tc>
              </a:tr>
              <a:tr h="301752">
                <a:tc>
                  <a:txBody>
                    <a:bodyPr wrap="square"/>
                    <a:lstStyle/>
                    <a:p>
                      <a:r>
                        <a:rPr sz="950" b="0" i="0">
                          <a:solidFill>
                            <a:srgbClr val="14313B"/>
                          </a:solidFill>
                          <a:latin typeface="Calibri (MS)"/>
                        </a:rPr>
                        <a:t>C6 konversi 0,0851069</a:t>
                      </a:r>
                    </a:p>
                  </a:txBody>
                  <a:tcPr marL="73152" marR="73152" marT="36576" marB="36576" anchor="ctr">
                    <a:solidFill>
                      <a:srgbClr val="FFFFFF"/>
                    </a:solidFill>
                  </a:tcPr>
                </a:tc>
                <a:tc>
                  <a:txBody>
                    <a:bodyPr wrap="square"/>
                    <a:lstStyle/>
                    <a:p>
                      <a:r>
                        <a:rPr sz="950" b="0" i="0">
                          <a:solidFill>
                            <a:srgbClr val="14313B"/>
                          </a:solidFill>
                          <a:latin typeface="Calibri (MS)"/>
                        </a:rPr>
                        <a:t>BAU</a:t>
                      </a:r>
                    </a:p>
                  </a:txBody>
                  <a:tcPr marL="73152" marR="73152" marT="36576" marB="36576" anchor="ctr">
                    <a:solidFill>
                      <a:srgbClr val="FFFFFF"/>
                    </a:solidFill>
                  </a:tcPr>
                </a:tc>
                <a:tc>
                  <a:txBody>
                    <a:bodyPr wrap="square"/>
                    <a:lstStyle/>
                    <a:p>
                      <a:pPr algn="ctr"/>
                      <a:r>
                        <a:rPr sz="950" b="0" i="0">
                          <a:solidFill>
                            <a:srgbClr val="14313B"/>
                          </a:solidFill>
                          <a:latin typeface="Calibri (MS)"/>
                        </a:rPr>
                        <a:t>554,60</a:t>
                      </a:r>
                    </a:p>
                  </a:txBody>
                  <a:tcPr marL="73152" marR="73152" marT="36576" marB="36576" anchor="ctr">
                    <a:solidFill>
                      <a:srgbClr val="FFFFFF"/>
                    </a:solidFill>
                  </a:tcPr>
                </a:tc>
                <a:tc>
                  <a:txBody>
                    <a:bodyPr wrap="square"/>
                    <a:lstStyle/>
                    <a:p>
                      <a:pPr algn="ctr"/>
                      <a:r>
                        <a:rPr sz="950" b="0" i="0">
                          <a:solidFill>
                            <a:srgbClr val="14313B"/>
                          </a:solidFill>
                          <a:latin typeface="Calibri (MS)"/>
                        </a:rPr>
                        <a:t>33.672</a:t>
                      </a:r>
                    </a:p>
                  </a:txBody>
                  <a:tcPr marL="73152" marR="73152" marT="36576" marB="36576" anchor="ctr">
                    <a:solidFill>
                      <a:srgbClr val="FFFFFF"/>
                    </a:solidFill>
                  </a:tcPr>
                </a:tc>
                <a:tc>
                  <a:txBody>
                    <a:bodyPr wrap="square"/>
                    <a:lstStyle/>
                    <a:p>
                      <a:pPr algn="ctr"/>
                      <a:r>
                        <a:rPr sz="950" b="0" i="0">
                          <a:solidFill>
                            <a:srgbClr val="14313B"/>
                          </a:solidFill>
                          <a:latin typeface="Calibri (MS)"/>
                        </a:rPr>
                        <a:t>0,7587</a:t>
                      </a:r>
                    </a:p>
                  </a:txBody>
                  <a:tcPr marL="73152" marR="73152" marT="36576" marB="36576" anchor="ctr">
                    <a:solidFill>
                      <a:srgbClr val="FFFFFF"/>
                    </a:solidFill>
                  </a:tcPr>
                </a:tc>
                <a:tc>
                  <a:txBody>
                    <a:bodyPr wrap="square"/>
                    <a:lstStyle/>
                    <a:p>
                      <a:pPr algn="ctr"/>
                      <a:r>
                        <a:rPr sz="950" b="0" i="0">
                          <a:solidFill>
                            <a:srgbClr val="14313B"/>
                          </a:solidFill>
                          <a:latin typeface="Calibri (MS)"/>
                        </a:rPr>
                        <a:t>0,3643</a:t>
                      </a:r>
                    </a:p>
                  </a:txBody>
                  <a:tcPr marL="73152" marR="73152" marT="36576" marB="36576" anchor="ctr">
                    <a:solidFill>
                      <a:srgbClr val="FFFFFF"/>
                    </a:solidFill>
                  </a:tcPr>
                </a:tc>
                <a:tc>
                  <a:txBody>
                    <a:bodyPr wrap="square"/>
                    <a:lstStyle/>
                    <a:p>
                      <a:pPr algn="ctr"/>
                      <a:r>
                        <a:rPr sz="950" b="0" i="0">
                          <a:solidFill>
                            <a:srgbClr val="14313B"/>
                          </a:solidFill>
                          <a:latin typeface="Calibri (MS)"/>
                        </a:rPr>
                        <a:t>201.547</a:t>
                      </a:r>
                    </a:p>
                  </a:txBody>
                  <a:tcPr marL="73152" marR="73152" marT="36576" marB="36576" anchor="ctr">
                    <a:solidFill>
                      <a:srgbClr val="FFFFFF"/>
                    </a:solidFill>
                  </a:tcPr>
                </a:tc>
                <a:tc>
                  <a:txBody>
                    <a:bodyPr wrap="square"/>
                    <a:lstStyle/>
                    <a:p>
                      <a:pPr algn="ctr"/>
                      <a:r>
                        <a:rPr sz="950" b="0" i="0">
                          <a:solidFill>
                            <a:srgbClr val="14313B"/>
                          </a:solidFill>
                          <a:latin typeface="Calibri (MS)"/>
                        </a:rPr>
                        <a:t>713,1</a:t>
                      </a:r>
                    </a:p>
                  </a:txBody>
                  <a:tcPr marL="73152" marR="73152" marT="36576" marB="36576" anchor="ctr">
                    <a:solidFill>
                      <a:srgbClr val="FFFFFF"/>
                    </a:solidFill>
                  </a:tcPr>
                </a:tc>
                <a:tc>
                  <a:txBody>
                    <a:bodyPr wrap="square"/>
                    <a:lstStyle/>
                    <a:p>
                      <a:pPr algn="ctr"/>
                      <a:r>
                        <a:rPr sz="950" b="0" i="0">
                          <a:solidFill>
                            <a:srgbClr val="14313B"/>
                          </a:solidFill>
                          <a:latin typeface="Calibri (MS)"/>
                        </a:rPr>
                        <a:t>1,9868</a:t>
                      </a:r>
                    </a:p>
                  </a:txBody>
                  <a:tcPr marL="73152" marR="73152" marT="36576" marB="36576" anchor="ctr">
                    <a:solidFill>
                      <a:srgbClr val="C9F0D6"/>
                    </a:solidFill>
                  </a:tcPr>
                </a:tc>
                <a:tc>
                  <a:txBody>
                    <a:bodyPr wrap="square"/>
                    <a:lstStyle/>
                    <a:p>
                      <a:pPr algn="ctr"/>
                      <a:r>
                        <a:rPr sz="950" b="0" i="0">
                          <a:solidFill>
                            <a:srgbClr val="14313B"/>
                          </a:solidFill>
                          <a:latin typeface="Calibri (MS)"/>
                        </a:rPr>
                        <a:t>80,86</a:t>
                      </a:r>
                    </a:p>
                  </a:txBody>
                  <a:tcPr marL="73152" marR="73152" marT="36576" marB="36576" anchor="ctr">
                    <a:solidFill>
                      <a:srgbClr val="FFFFFF"/>
                    </a:solidFill>
                  </a:tcPr>
                </a:tc>
              </a:tr>
              <a:tr h="301752">
                <a:tc>
                  <a:txBody>
                    <a:bodyPr wrap="square"/>
                    <a:lstStyle/>
                    <a:p>
                      <a:r>
                        <a:rPr sz="950" b="0" i="0">
                          <a:solidFill>
                            <a:srgbClr val="14313B"/>
                          </a:solidFill>
                          <a:latin typeface="Calibri (MS)"/>
                        </a:rPr>
                        <a:t/>
                      </a:r>
                    </a:p>
                  </a:txBody>
                  <a:tcPr marL="73152" marR="73152" marT="36576" marB="36576" anchor="ctr">
                    <a:solidFill>
                      <a:srgbClr val="EAF8FA"/>
                    </a:solidFill>
                  </a:tcPr>
                </a:tc>
                <a:tc>
                  <a:txBody>
                    <a:bodyPr wrap="square"/>
                    <a:lstStyle/>
                    <a:p>
                      <a:r>
                        <a:rPr sz="950" b="0" i="0">
                          <a:solidFill>
                            <a:srgbClr val="14313B"/>
                          </a:solidFill>
                          <a:latin typeface="Calibri (MS)"/>
                        </a:rPr>
                        <a:t>Sustainable</a:t>
                      </a:r>
                    </a:p>
                  </a:txBody>
                  <a:tcPr marL="73152" marR="73152" marT="36576" marB="36576" anchor="ctr">
                    <a:solidFill>
                      <a:srgbClr val="EAF8FA"/>
                    </a:solidFill>
                  </a:tcPr>
                </a:tc>
                <a:tc>
                  <a:txBody>
                    <a:bodyPr wrap="square"/>
                    <a:lstStyle/>
                    <a:p>
                      <a:pPr algn="ctr"/>
                      <a:r>
                        <a:rPr sz="950" b="0" i="0">
                          <a:solidFill>
                            <a:srgbClr val="14313B"/>
                          </a:solidFill>
                          <a:latin typeface="Calibri (MS)"/>
                        </a:rPr>
                        <a:t>568,44</a:t>
                      </a:r>
                    </a:p>
                  </a:txBody>
                  <a:tcPr marL="73152" marR="73152" marT="36576" marB="36576" anchor="ctr">
                    <a:solidFill>
                      <a:srgbClr val="EAF8FA"/>
                    </a:solidFill>
                  </a:tcPr>
                </a:tc>
                <a:tc>
                  <a:txBody>
                    <a:bodyPr wrap="square"/>
                    <a:lstStyle/>
                    <a:p>
                      <a:pPr algn="ctr"/>
                      <a:r>
                        <a:rPr sz="950" b="0" i="0">
                          <a:solidFill>
                            <a:srgbClr val="14313B"/>
                          </a:solidFill>
                          <a:latin typeface="Calibri (MS)"/>
                        </a:rPr>
                        <a:t>34.568</a:t>
                      </a:r>
                    </a:p>
                  </a:txBody>
                  <a:tcPr marL="73152" marR="73152" marT="36576" marB="36576" anchor="ctr">
                    <a:solidFill>
                      <a:srgbClr val="EAF8FA"/>
                    </a:solidFill>
                  </a:tcPr>
                </a:tc>
                <a:tc>
                  <a:txBody>
                    <a:bodyPr wrap="square"/>
                    <a:lstStyle/>
                    <a:p>
                      <a:pPr algn="ctr"/>
                      <a:r>
                        <a:rPr sz="950" b="0" i="0">
                          <a:solidFill>
                            <a:srgbClr val="14313B"/>
                          </a:solidFill>
                          <a:latin typeface="Calibri (MS)"/>
                        </a:rPr>
                        <a:t>0,7647</a:t>
                      </a:r>
                    </a:p>
                  </a:txBody>
                  <a:tcPr marL="73152" marR="73152" marT="36576" marB="36576" anchor="ctr">
                    <a:solidFill>
                      <a:srgbClr val="EAF8FA"/>
                    </a:solidFill>
                  </a:tcPr>
                </a:tc>
                <a:tc>
                  <a:txBody>
                    <a:bodyPr wrap="square"/>
                    <a:lstStyle/>
                    <a:p>
                      <a:pPr algn="ctr"/>
                      <a:r>
                        <a:rPr sz="950" b="0" i="0">
                          <a:solidFill>
                            <a:srgbClr val="14313B"/>
                          </a:solidFill>
                          <a:latin typeface="Calibri (MS)"/>
                        </a:rPr>
                        <a:t>0,3667</a:t>
                      </a:r>
                    </a:p>
                  </a:txBody>
                  <a:tcPr marL="73152" marR="73152" marT="36576" marB="36576" anchor="ctr">
                    <a:solidFill>
                      <a:srgbClr val="C9F0D6"/>
                    </a:solidFill>
                  </a:tcPr>
                </a:tc>
                <a:tc>
                  <a:txBody>
                    <a:bodyPr wrap="square"/>
                    <a:lstStyle/>
                    <a:p>
                      <a:pPr algn="ctr"/>
                      <a:r>
                        <a:rPr sz="950" b="0" i="0">
                          <a:solidFill>
                            <a:srgbClr val="14313B"/>
                          </a:solidFill>
                          <a:latin typeface="Calibri (MS)"/>
                        </a:rPr>
                        <a:t>200.770</a:t>
                      </a:r>
                    </a:p>
                  </a:txBody>
                  <a:tcPr marL="73152" marR="73152" marT="36576" marB="36576" anchor="ctr">
                    <a:solidFill>
                      <a:srgbClr val="C9F0D6"/>
                    </a:solidFill>
                  </a:tcPr>
                </a:tc>
                <a:tc>
                  <a:txBody>
                    <a:bodyPr wrap="square"/>
                    <a:lstStyle/>
                    <a:p>
                      <a:pPr algn="ctr"/>
                      <a:r>
                        <a:rPr sz="950" b="0" i="0">
                          <a:solidFill>
                            <a:srgbClr val="14313B"/>
                          </a:solidFill>
                          <a:latin typeface="Calibri (MS)"/>
                        </a:rPr>
                        <a:t>0,0</a:t>
                      </a:r>
                    </a:p>
                  </a:txBody>
                  <a:tcPr marL="73152" marR="73152" marT="36576" marB="36576" anchor="ctr">
                    <a:solidFill>
                      <a:srgbClr val="C9F0D6"/>
                    </a:solidFill>
                  </a:tcPr>
                </a:tc>
                <a:tc>
                  <a:txBody>
                    <a:bodyPr wrap="square"/>
                    <a:lstStyle/>
                    <a:p>
                      <a:pPr algn="ctr"/>
                      <a:r>
                        <a:rPr sz="950" b="0" i="0">
                          <a:solidFill>
                            <a:srgbClr val="14313B"/>
                          </a:solidFill>
                          <a:latin typeface="Calibri (MS)"/>
                        </a:rPr>
                        <a:t>2,0397</a:t>
                      </a:r>
                    </a:p>
                  </a:txBody>
                  <a:tcPr marL="73152" marR="73152" marT="36576" marB="36576" anchor="ctr">
                    <a:solidFill>
                      <a:srgbClr val="EAF8FA"/>
                    </a:solidFill>
                  </a:tcPr>
                </a:tc>
                <a:tc>
                  <a:txBody>
                    <a:bodyPr wrap="square"/>
                    <a:lstStyle/>
                    <a:p>
                      <a:pPr algn="ctr"/>
                      <a:r>
                        <a:rPr sz="950" b="0" i="0">
                          <a:solidFill>
                            <a:srgbClr val="14313B"/>
                          </a:solidFill>
                          <a:latin typeface="Calibri (MS)"/>
                        </a:rPr>
                        <a:t>83,01</a:t>
                      </a:r>
                    </a:p>
                  </a:txBody>
                  <a:tcPr marL="73152" marR="73152" marT="36576" marB="36576" anchor="ctr">
                    <a:solidFill>
                      <a:srgbClr val="EAF8FA"/>
                    </a:solidFill>
                  </a:tcPr>
                </a:tc>
              </a:tr>
              <a:tr h="301752">
                <a:tc>
                  <a:txBody>
                    <a:bodyPr wrap="square"/>
                    <a:lstStyle/>
                    <a:p>
                      <a:r>
                        <a:rPr sz="950" b="0" i="0">
                          <a:solidFill>
                            <a:srgbClr val="14313B"/>
                          </a:solidFill>
                          <a:latin typeface="Calibri (MS)"/>
                        </a:rPr>
                        <a:t/>
                      </a:r>
                    </a:p>
                  </a:txBody>
                  <a:tcPr marL="73152" marR="73152" marT="36576" marB="36576" anchor="ctr">
                    <a:solidFill>
                      <a:srgbClr val="FFFFFF"/>
                    </a:solidFill>
                  </a:tcPr>
                </a:tc>
                <a:tc>
                  <a:txBody>
                    <a:bodyPr wrap="square"/>
                    <a:lstStyle/>
                    <a:p>
                      <a:r>
                        <a:rPr sz="950" b="0" i="0">
                          <a:solidFill>
                            <a:srgbClr val="14313B"/>
                          </a:solidFill>
                          <a:latin typeface="Calibri (MS)"/>
                        </a:rPr>
                        <a:t>Dev. Priority</a:t>
                      </a:r>
                    </a:p>
                  </a:txBody>
                  <a:tcPr marL="73152" marR="73152" marT="36576" marB="36576" anchor="ctr">
                    <a:solidFill>
                      <a:srgbClr val="FFFFFF"/>
                    </a:solidFill>
                  </a:tcPr>
                </a:tc>
                <a:tc>
                  <a:txBody>
                    <a:bodyPr wrap="square"/>
                    <a:lstStyle/>
                    <a:p>
                      <a:pPr algn="ctr"/>
                      <a:r>
                        <a:rPr sz="950" b="0" i="0">
                          <a:solidFill>
                            <a:srgbClr val="14313B"/>
                          </a:solidFill>
                          <a:latin typeface="Calibri (MS)"/>
                        </a:rPr>
                        <a:t>592,68</a:t>
                      </a:r>
                    </a:p>
                  </a:txBody>
                  <a:tcPr marL="73152" marR="73152" marT="36576" marB="36576" anchor="ctr">
                    <a:solidFill>
                      <a:srgbClr val="C9F0D6"/>
                    </a:solidFill>
                  </a:tcPr>
                </a:tc>
                <a:tc>
                  <a:txBody>
                    <a:bodyPr wrap="square"/>
                    <a:lstStyle/>
                    <a:p>
                      <a:pPr algn="ctr"/>
                      <a:r>
                        <a:rPr sz="950" b="0" i="0">
                          <a:solidFill>
                            <a:srgbClr val="14313B"/>
                          </a:solidFill>
                          <a:latin typeface="Calibri (MS)"/>
                        </a:rPr>
                        <a:t>36.143</a:t>
                      </a:r>
                    </a:p>
                  </a:txBody>
                  <a:tcPr marL="73152" marR="73152" marT="36576" marB="36576" anchor="ctr">
                    <a:solidFill>
                      <a:srgbClr val="C9F0D6"/>
                    </a:solidFill>
                  </a:tcPr>
                </a:tc>
                <a:tc>
                  <a:txBody>
                    <a:bodyPr wrap="square"/>
                    <a:lstStyle/>
                    <a:p>
                      <a:pPr algn="ctr"/>
                      <a:r>
                        <a:rPr sz="950" b="0" i="0">
                          <a:solidFill>
                            <a:srgbClr val="14313B"/>
                          </a:solidFill>
                          <a:latin typeface="Calibri (MS)"/>
                        </a:rPr>
                        <a:t>0,7749</a:t>
                      </a:r>
                    </a:p>
                  </a:txBody>
                  <a:tcPr marL="73152" marR="73152" marT="36576" marB="36576" anchor="ctr">
                    <a:solidFill>
                      <a:srgbClr val="C9F0D6"/>
                    </a:solidFill>
                  </a:tcPr>
                </a:tc>
                <a:tc>
                  <a:txBody>
                    <a:bodyPr wrap="square"/>
                    <a:lstStyle/>
                    <a:p>
                      <a:pPr algn="ctr"/>
                      <a:r>
                        <a:rPr sz="950" b="0" i="0">
                          <a:solidFill>
                            <a:srgbClr val="14313B"/>
                          </a:solidFill>
                          <a:latin typeface="Calibri (MS)"/>
                        </a:rPr>
                        <a:t>0,3639</a:t>
                      </a:r>
                    </a:p>
                  </a:txBody>
                  <a:tcPr marL="73152" marR="73152" marT="36576" marB="36576" anchor="ctr">
                    <a:solidFill>
                      <a:srgbClr val="FFFFFF"/>
                    </a:solidFill>
                  </a:tcPr>
                </a:tc>
                <a:tc>
                  <a:txBody>
                    <a:bodyPr wrap="square"/>
                    <a:lstStyle/>
                    <a:p>
                      <a:pPr algn="ctr"/>
                      <a:r>
                        <a:rPr sz="950" b="0" i="0">
                          <a:solidFill>
                            <a:srgbClr val="14313B"/>
                          </a:solidFill>
                          <a:latin typeface="Calibri (MS)"/>
                        </a:rPr>
                        <a:t>201.662</a:t>
                      </a:r>
                    </a:p>
                  </a:txBody>
                  <a:tcPr marL="73152" marR="73152" marT="36576" marB="36576" anchor="ctr">
                    <a:solidFill>
                      <a:srgbClr val="FFFFFF"/>
                    </a:solidFill>
                  </a:tcPr>
                </a:tc>
                <a:tc>
                  <a:txBody>
                    <a:bodyPr wrap="square"/>
                    <a:lstStyle/>
                    <a:p>
                      <a:pPr algn="ctr"/>
                      <a:r>
                        <a:rPr sz="950" b="0" i="0">
                          <a:solidFill>
                            <a:srgbClr val="14313B"/>
                          </a:solidFill>
                          <a:latin typeface="Calibri (MS)"/>
                        </a:rPr>
                        <a:t>819,6</a:t>
                      </a:r>
                    </a:p>
                  </a:txBody>
                  <a:tcPr marL="73152" marR="73152" marT="36576" marB="36576" anchor="ctr">
                    <a:solidFill>
                      <a:srgbClr val="FFFFFF"/>
                    </a:solidFill>
                  </a:tcPr>
                </a:tc>
                <a:tc>
                  <a:txBody>
                    <a:bodyPr wrap="square"/>
                    <a:lstStyle/>
                    <a:p>
                      <a:pPr algn="ctr"/>
                      <a:r>
                        <a:rPr sz="950" b="0" i="0">
                          <a:solidFill>
                            <a:srgbClr val="14313B"/>
                          </a:solidFill>
                          <a:latin typeface="Calibri (MS)"/>
                        </a:rPr>
                        <a:t>2,1326</a:t>
                      </a:r>
                    </a:p>
                  </a:txBody>
                  <a:tcPr marL="73152" marR="73152" marT="36576" marB="36576" anchor="ctr">
                    <a:solidFill>
                      <a:srgbClr val="FFFFFF"/>
                    </a:solidFill>
                  </a:tcPr>
                </a:tc>
                <a:tc>
                  <a:txBody>
                    <a:bodyPr wrap="square"/>
                    <a:lstStyle/>
                    <a:p>
                      <a:pPr algn="ctr"/>
                      <a:r>
                        <a:rPr sz="950" b="0" i="0">
                          <a:solidFill>
                            <a:srgbClr val="14313B"/>
                          </a:solidFill>
                          <a:latin typeface="Calibri (MS)"/>
                        </a:rPr>
                        <a:t>86,79</a:t>
                      </a:r>
                    </a:p>
                  </a:txBody>
                  <a:tcPr marL="73152" marR="73152" marT="36576" marB="36576" anchor="ctr">
                    <a:solidFill>
                      <a:srgbClr val="FFFFFF"/>
                    </a:solidFill>
                  </a:tcPr>
                </a:tc>
              </a:tr>
            </a:tbl>
          </a:graphicData>
        </a:graphic>
      </p:graphicFrame>
      <p:sp>
        <p:nvSpPr>
          <p:cNvPr id="28" name="TextBox 2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hasil_simulasi_skenario.xlsx (sheet KPI seluruh run). Pada C6 (konversi tinggi) RDDL turun ke ±0,36, masih di atas ambang 0,331.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80 · Implikasi Kebijakan Lengkap</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159</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Hasil simulasi tidak memberi satu rekomendasi tunggal, tetapi memetakan pertukaran yang harus dipilih</a:t>
            </a:r>
          </a:p>
        </p:txBody>
      </p:sp>
      <p:sp>
        <p:nvSpPr>
          <p:cNvPr id="27" name="Oval 26"/>
          <p:cNvSpPr/>
          <p:nvPr/>
        </p:nvSpPr>
        <p:spPr>
          <a:xfrm>
            <a:off x="822960" y="1920239"/>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00" b="1" i="0">
                <a:solidFill>
                  <a:srgbClr val="FFFFFF"/>
                </a:solidFill>
                <a:latin typeface="Calibri (MS) Bold"/>
              </a:rPr>
              <a:t>1</a:t>
            </a:r>
          </a:p>
        </p:txBody>
      </p:sp>
      <p:sp>
        <p:nvSpPr>
          <p:cNvPr id="28" name="TextBox 27"/>
          <p:cNvSpPr txBox="1"/>
          <p:nvPr/>
        </p:nvSpPr>
        <p:spPr>
          <a:xfrm>
            <a:off x="1508760" y="1874519"/>
            <a:ext cx="7498079" cy="548640"/>
          </a:xfrm>
          <a:prstGeom prst="rect">
            <a:avLst/>
          </a:prstGeom>
          <a:noFill/>
        </p:spPr>
        <p:txBody>
          <a:bodyPr wrap="square" anchor="ctr" lIns="0" rIns="0" tIns="0" bIns="0">
            <a:spAutoFit/>
          </a:bodyPr>
          <a:lstStyle/>
          <a:p>
            <a:pPr algn="l">
              <a:spcAft>
                <a:spcPts val="400"/>
              </a:spcAft>
            </a:pPr>
            <a:r>
              <a:rPr sz="1500" b="1" i="0">
                <a:solidFill>
                  <a:srgbClr val="0B5E6E"/>
                </a:solidFill>
                <a:latin typeface="Calibri (MS) Bold"/>
              </a:rPr>
              <a:t>Prioritas harus dipilih</a:t>
            </a:r>
          </a:p>
        </p:txBody>
      </p:sp>
      <p:sp>
        <p:nvSpPr>
          <p:cNvPr id="29" name="Rounded Rectangle 28"/>
          <p:cNvSpPr/>
          <p:nvPr/>
        </p:nvSpPr>
        <p:spPr>
          <a:xfrm>
            <a:off x="822960" y="2514600"/>
            <a:ext cx="8183879" cy="777240"/>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Tidak ada pilihan yang unggul di semua dimensi.</a:t>
            </a:r>
          </a:p>
        </p:txBody>
      </p:sp>
      <p:sp>
        <p:nvSpPr>
          <p:cNvPr id="30" name="Rounded Rectangle 29"/>
          <p:cNvSpPr/>
          <p:nvPr/>
        </p:nvSpPr>
        <p:spPr>
          <a:xfrm>
            <a:off x="822960" y="3337560"/>
            <a:ext cx="8183879"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Prioritas ekonomi → DP: TK +7,18%, PDRB +7,71%, tetapi konversi lahan pariwisata +15,64% dan kepadatan tertinggi. Prioritas ruang → Sustainable: konversi pariwisata 0 ha dan ekonomi tetap di atas BAU (+2,63% TK).</a:t>
            </a:r>
          </a:p>
        </p:txBody>
      </p:sp>
      <p:sp>
        <p:nvSpPr>
          <p:cNvPr id="31" name="Oval 30"/>
          <p:cNvSpPr/>
          <p:nvPr/>
        </p:nvSpPr>
        <p:spPr>
          <a:xfrm>
            <a:off x="9281160" y="1920239"/>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00" b="1" i="0">
                <a:solidFill>
                  <a:srgbClr val="FFFFFF"/>
                </a:solidFill>
                <a:latin typeface="Calibri (MS) Bold"/>
              </a:rPr>
              <a:t>2</a:t>
            </a:r>
          </a:p>
        </p:txBody>
      </p:sp>
      <p:sp>
        <p:nvSpPr>
          <p:cNvPr id="32" name="TextBox 31"/>
          <p:cNvSpPr txBox="1"/>
          <p:nvPr/>
        </p:nvSpPr>
        <p:spPr>
          <a:xfrm>
            <a:off x="9966960" y="1874519"/>
            <a:ext cx="7498079" cy="548640"/>
          </a:xfrm>
          <a:prstGeom prst="rect">
            <a:avLst/>
          </a:prstGeom>
          <a:noFill/>
        </p:spPr>
        <p:txBody>
          <a:bodyPr wrap="square" anchor="ctr" lIns="0" rIns="0" tIns="0" bIns="0">
            <a:spAutoFit/>
          </a:bodyPr>
          <a:lstStyle/>
          <a:p>
            <a:pPr algn="l">
              <a:spcAft>
                <a:spcPts val="400"/>
              </a:spcAft>
            </a:pPr>
            <a:r>
              <a:rPr sz="1500" b="1" i="0">
                <a:solidFill>
                  <a:srgbClr val="0B5E6E"/>
                </a:solidFill>
                <a:latin typeface="Calibri (MS) Bold"/>
              </a:rPr>
              <a:t>Kendali lahan sektor pariwisata terbatas</a:t>
            </a:r>
          </a:p>
        </p:txBody>
      </p:sp>
      <p:sp>
        <p:nvSpPr>
          <p:cNvPr id="33" name="Rounded Rectangle 32"/>
          <p:cNvSpPr/>
          <p:nvPr/>
        </p:nvSpPr>
        <p:spPr>
          <a:xfrm>
            <a:off x="9281160" y="2514600"/>
            <a:ext cx="8183879" cy="777240"/>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Konservasi menihilkan konversi pariwisata, tetapi lahan terbangun total hanya turun 0,91%.</a:t>
            </a:r>
          </a:p>
        </p:txBody>
      </p:sp>
      <p:sp>
        <p:nvSpPr>
          <p:cNvPr id="34" name="Rounded Rectangle 33"/>
          <p:cNvSpPr/>
          <p:nvPr/>
        </p:nvSpPr>
        <p:spPr>
          <a:xfrm>
            <a:off x="9281160" y="3337560"/>
            <a:ext cx="8183879"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Konversi pariwisata hanya ±23 ha/th dari ±2.000 ha/th total konversi; sisanya non-pariwisata tetap berjalan. Pengendalian ruang perlu keterpaduan lintas sektor.</a:t>
            </a:r>
          </a:p>
        </p:txBody>
      </p:sp>
      <p:sp>
        <p:nvSpPr>
          <p:cNvPr id="35" name="Oval 34"/>
          <p:cNvSpPr/>
          <p:nvPr/>
        </p:nvSpPr>
        <p:spPr>
          <a:xfrm>
            <a:off x="822960" y="4846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00" b="1" i="0">
                <a:solidFill>
                  <a:srgbClr val="FFFFFF"/>
                </a:solidFill>
                <a:latin typeface="Calibri (MS) Bold"/>
              </a:rPr>
              <a:t>3</a:t>
            </a:r>
          </a:p>
        </p:txBody>
      </p:sp>
      <p:sp>
        <p:nvSpPr>
          <p:cNvPr id="36" name="TextBox 35"/>
          <p:cNvSpPr txBox="1"/>
          <p:nvPr/>
        </p:nvSpPr>
        <p:spPr>
          <a:xfrm>
            <a:off x="1508760" y="4800600"/>
            <a:ext cx="7498079" cy="548640"/>
          </a:xfrm>
          <a:prstGeom prst="rect">
            <a:avLst/>
          </a:prstGeom>
          <a:noFill/>
        </p:spPr>
        <p:txBody>
          <a:bodyPr wrap="square" anchor="ctr" lIns="0" rIns="0" tIns="0" bIns="0">
            <a:spAutoFit/>
          </a:bodyPr>
          <a:lstStyle/>
          <a:p>
            <a:pPr algn="l">
              <a:spcAft>
                <a:spcPts val="400"/>
              </a:spcAft>
            </a:pPr>
            <a:r>
              <a:rPr sz="1500" b="1" i="0">
                <a:solidFill>
                  <a:srgbClr val="0B5E6E"/>
                </a:solidFill>
                <a:latin typeface="Calibri (MS) Bold"/>
              </a:rPr>
              <a:t>Kepadatan tidak teratasi kedua tuas</a:t>
            </a:r>
          </a:p>
        </p:txBody>
      </p:sp>
      <p:sp>
        <p:nvSpPr>
          <p:cNvPr id="37" name="Rounded Rectangle 36"/>
          <p:cNvSpPr/>
          <p:nvPr/>
        </p:nvSpPr>
        <p:spPr>
          <a:xfrm>
            <a:off x="822960" y="5440680"/>
            <a:ext cx="8183879" cy="777240"/>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Ambang 2,0 terlampaui 2041–2043 di semua skenario; selisih hanya 2 tahun.</a:t>
            </a:r>
          </a:p>
        </p:txBody>
      </p:sp>
      <p:sp>
        <p:nvSpPr>
          <p:cNvPr id="38" name="Rounded Rectangle 37"/>
          <p:cNvSpPr/>
          <p:nvPr/>
        </p:nvSpPr>
        <p:spPr>
          <a:xfrm>
            <a:off x="822960" y="6263640"/>
            <a:ext cx="8183879"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Tuas bekerja di sisi penawaran, kepadatan ditentukan permintaan. Perlu instrumen sisi permintaan: sebaran kunjungan antarwaktu dan antarlokasi.</a:t>
            </a:r>
          </a:p>
        </p:txBody>
      </p:sp>
      <p:sp>
        <p:nvSpPr>
          <p:cNvPr id="39" name="Oval 38"/>
          <p:cNvSpPr/>
          <p:nvPr/>
        </p:nvSpPr>
        <p:spPr>
          <a:xfrm>
            <a:off x="9281160" y="4846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00" b="1" i="0">
                <a:solidFill>
                  <a:srgbClr val="FFFFFF"/>
                </a:solidFill>
                <a:latin typeface="Calibri (MS) Bold"/>
              </a:rPr>
              <a:t>4</a:t>
            </a:r>
          </a:p>
        </p:txBody>
      </p:sp>
      <p:sp>
        <p:nvSpPr>
          <p:cNvPr id="40" name="TextBox 39"/>
          <p:cNvSpPr txBox="1"/>
          <p:nvPr/>
        </p:nvSpPr>
        <p:spPr>
          <a:xfrm>
            <a:off x="9966960" y="4800600"/>
            <a:ext cx="7498079" cy="548640"/>
          </a:xfrm>
          <a:prstGeom prst="rect">
            <a:avLst/>
          </a:prstGeom>
          <a:noFill/>
        </p:spPr>
        <p:txBody>
          <a:bodyPr wrap="square" anchor="ctr" lIns="0" rIns="0" tIns="0" bIns="0">
            <a:spAutoFit/>
          </a:bodyPr>
          <a:lstStyle/>
          <a:p>
            <a:pPr algn="l">
              <a:spcAft>
                <a:spcPts val="400"/>
              </a:spcAft>
            </a:pPr>
            <a:r>
              <a:rPr sz="1500" b="1" i="0">
                <a:solidFill>
                  <a:srgbClr val="0B5E6E"/>
                </a:solidFill>
                <a:latin typeface="Calibri (MS) Bold"/>
              </a:rPr>
              <a:t>Ada ketegangan antardokumen kebijakan</a:t>
            </a:r>
          </a:p>
        </p:txBody>
      </p:sp>
      <p:sp>
        <p:nvSpPr>
          <p:cNvPr id="41" name="Rounded Rectangle 40"/>
          <p:cNvSpPr/>
          <p:nvPr/>
        </p:nvSpPr>
        <p:spPr>
          <a:xfrm>
            <a:off x="9281160" y="5440680"/>
            <a:ext cx="8183879" cy="777240"/>
          </a:xfrm>
          <a:prstGeom prst="roundRect">
            <a:avLst>
              <a:gd name="adj" fmla="val 8000"/>
            </a:avLst>
          </a:prstGeom>
          <a:solidFill>
            <a:srgbClr val="FFF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1" i="0">
                <a:solidFill>
                  <a:srgbClr val="14313B"/>
                </a:solidFill>
                <a:latin typeface="Calibri (MS) Bold"/>
              </a:rPr>
              <a:t>Perda DIY 1/2012 (lahan baru bagi investor) vs Perda DIY 6/2021 (larangan alih fungsi lahan pangan).</a:t>
            </a:r>
          </a:p>
        </p:txBody>
      </p:sp>
      <p:sp>
        <p:nvSpPr>
          <p:cNvPr id="42" name="Rounded Rectangle 41"/>
          <p:cNvSpPr/>
          <p:nvPr/>
        </p:nvSpPr>
        <p:spPr>
          <a:xfrm>
            <a:off x="9281160" y="6263640"/>
            <a:ext cx="8183879"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00" b="0" i="0">
                <a:solidFill>
                  <a:srgbClr val="14313B"/>
                </a:solidFill>
                <a:latin typeface="Calibri (MS)"/>
              </a:rPr>
              <a:t>Perbandingan DP dan Sustainable memotret ketegangan ini secara kuantitatif.</a:t>
            </a:r>
          </a:p>
        </p:txBody>
      </p:sp>
      <p:sp>
        <p:nvSpPr>
          <p:cNvPr id="43" name="Rounded Rectangle 42"/>
          <p:cNvSpPr/>
          <p:nvPr/>
        </p:nvSpPr>
        <p:spPr>
          <a:xfrm>
            <a:off x="822960" y="786384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Karena urutan skenario kokoh terhadap asumsi paling tidak pasti, implikasi ini layak menjadi bahan diskusi bagi Pemda DIY dan Dinas Pariwisata; angka absolutnya tetap dibaca sebagai perbandingan, bukan ramalan.</a:t>
            </a:r>
          </a:p>
        </p:txBody>
      </p:sp>
      <p:sp>
        <p:nvSpPr>
          <p:cNvPr id="44" name="TextBox 4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4.8.6.</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81 · Alur Implementasi dan Perangkat Aplikasi Web</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160</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Model Vensim yang sudah diuji dijalankan langsung di peramban; antarmuka hanya meneruskan masukan dan menampilkan keluaran</a:t>
            </a:r>
          </a:p>
        </p:txBody>
      </p:sp>
      <p:pic>
        <p:nvPicPr>
          <p:cNvPr id="27" name="Picture 26" descr="image10.png"/>
          <p:cNvPicPr>
            <a:picLocks noChangeAspect="1"/>
          </p:cNvPicPr>
          <p:nvPr/>
        </p:nvPicPr>
        <p:blipFill>
          <a:blip r:embed="rId7"/>
          <a:stretch>
            <a:fillRect/>
          </a:stretch>
        </p:blipFill>
        <p:spPr>
          <a:xfrm>
            <a:off x="4617720" y="1874519"/>
            <a:ext cx="1920239" cy="5120640"/>
          </a:xfrm>
          <a:prstGeom prst="rect">
            <a:avLst/>
          </a:prstGeom>
        </p:spPr>
      </p:pic>
      <p:sp>
        <p:nvSpPr>
          <p:cNvPr id="28" name="TextBox 27"/>
          <p:cNvSpPr txBox="1"/>
          <p:nvPr/>
        </p:nvSpPr>
        <p:spPr>
          <a:xfrm>
            <a:off x="822960" y="7040880"/>
            <a:ext cx="9509760" cy="32004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Alur implementasi aplikasi simulasi (Buku Gambar 9)</a:t>
            </a:r>
          </a:p>
        </p:txBody>
      </p:sp>
      <p:graphicFrame>
        <p:nvGraphicFramePr>
          <p:cNvPr id="29" name="Table 28"/>
          <p:cNvGraphicFramePr>
            <a:graphicFrameLocks noGrp="1"/>
          </p:cNvGraphicFramePr>
          <p:nvPr/>
        </p:nvGraphicFramePr>
        <p:xfrm>
          <a:off x="10607040" y="1874519"/>
          <a:ext cx="6858000" cy="3017520"/>
        </p:xfrm>
        <a:graphic>
          <a:graphicData uri="http://schemas.openxmlformats.org/drawingml/2006/table">
            <a:tbl>
              <a:tblPr firstRow="1" bandRow="1">
                <a:tableStyleId>{5C22544A-7EE6-4342-B048-85BDC9FD1C3A}</a:tableStyleId>
              </a:tblPr>
              <a:tblGrid>
                <a:gridCol w="1645920"/>
                <a:gridCol w="2377440"/>
                <a:gridCol w="2834640"/>
              </a:tblGrid>
              <a:tr h="502920">
                <a:tc>
                  <a:txBody>
                    <a:bodyPr wrap="square"/>
                    <a:lstStyle/>
                    <a:p>
                      <a:r>
                        <a:rPr sz="1050" b="1" i="0">
                          <a:solidFill>
                            <a:srgbClr val="FFFFFF"/>
                          </a:solidFill>
                          <a:latin typeface="Calibri (MS) Bold"/>
                        </a:rPr>
                        <a:t>Komponen</a:t>
                      </a:r>
                    </a:p>
                  </a:txBody>
                  <a:tcPr marL="73152" marR="73152" marT="36576" marB="36576" anchor="ctr">
                    <a:solidFill>
                      <a:srgbClr val="0B5E6E"/>
                    </a:solidFill>
                  </a:tcPr>
                </a:tc>
                <a:tc>
                  <a:txBody>
                    <a:bodyPr wrap="square"/>
                    <a:lstStyle/>
                    <a:p>
                      <a:r>
                        <a:rPr sz="1050" b="1" i="0">
                          <a:solidFill>
                            <a:srgbClr val="FFFFFF"/>
                          </a:solidFill>
                          <a:latin typeface="Calibri (MS) Bold"/>
                        </a:rPr>
                        <a:t>Perangkat</a:t>
                      </a:r>
                    </a:p>
                  </a:txBody>
                  <a:tcPr marL="73152" marR="73152" marT="36576" marB="36576" anchor="ctr">
                    <a:solidFill>
                      <a:srgbClr val="0B5E6E"/>
                    </a:solidFill>
                  </a:tcPr>
                </a:tc>
                <a:tc>
                  <a:txBody>
                    <a:bodyPr wrap="square"/>
                    <a:lstStyle/>
                    <a:p>
                      <a:r>
                        <a:rPr sz="1050" b="1" i="0">
                          <a:solidFill>
                            <a:srgbClr val="FFFFFF"/>
                          </a:solidFill>
                          <a:latin typeface="Calibri (MS) Bold"/>
                        </a:rPr>
                        <a:t>Fungsi</a:t>
                      </a:r>
                    </a:p>
                  </a:txBody>
                  <a:tcPr marL="73152" marR="73152" marT="36576" marB="36576" anchor="ctr">
                    <a:solidFill>
                      <a:srgbClr val="0B5E6E"/>
                    </a:solidFill>
                  </a:tcPr>
                </a:tc>
              </a:tr>
              <a:tr h="502920">
                <a:tc>
                  <a:txBody>
                    <a:bodyPr wrap="square"/>
                    <a:lstStyle/>
                    <a:p>
                      <a:r>
                        <a:rPr sz="1050" b="1" i="0">
                          <a:solidFill>
                            <a:srgbClr val="14313B"/>
                          </a:solidFill>
                          <a:latin typeface="Calibri (MS) Bold"/>
                        </a:rPr>
                        <a:t>Model</a:t>
                      </a:r>
                    </a:p>
                  </a:txBody>
                  <a:tcPr marL="73152" marR="73152" marT="36576" marB="36576" anchor="ctr">
                    <a:solidFill>
                      <a:srgbClr val="FFFFFF"/>
                    </a:solidFill>
                  </a:tcPr>
                </a:tc>
                <a:tc>
                  <a:txBody>
                    <a:bodyPr wrap="square"/>
                    <a:lstStyle/>
                    <a:p>
                      <a:r>
                        <a:rPr sz="1050" b="0" i="0">
                          <a:solidFill>
                            <a:srgbClr val="14313B"/>
                          </a:solidFill>
                          <a:latin typeface="Calibri (MS)"/>
                        </a:rPr>
                        <a:t>Vensim (.mdl)</a:t>
                      </a:r>
                    </a:p>
                  </a:txBody>
                  <a:tcPr marL="73152" marR="73152" marT="36576" marB="36576" anchor="ctr">
                    <a:solidFill>
                      <a:srgbClr val="FFFFFF"/>
                    </a:solidFill>
                  </a:tcPr>
                </a:tc>
                <a:tc>
                  <a:txBody>
                    <a:bodyPr wrap="square"/>
                    <a:lstStyle/>
                    <a:p>
                      <a:r>
                        <a:rPr sz="1050" b="0" i="0">
                          <a:solidFill>
                            <a:srgbClr val="14313B"/>
                          </a:solidFill>
                          <a:latin typeface="Calibri (MS)"/>
                        </a:rPr>
                        <a:t>Struktur dan persamaan model yang sudah diuji</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Konversi model</a:t>
                      </a:r>
                    </a:p>
                  </a:txBody>
                  <a:tcPr marL="73152" marR="73152" marT="36576" marB="36576" anchor="ctr">
                    <a:solidFill>
                      <a:srgbClr val="EAF8FA"/>
                    </a:solidFill>
                  </a:tcPr>
                </a:tc>
                <a:tc>
                  <a:txBody>
                    <a:bodyPr wrap="square"/>
                    <a:lstStyle/>
                    <a:p>
                      <a:r>
                        <a:rPr sz="1050" b="0" i="0">
                          <a:solidFill>
                            <a:srgbClr val="14313B"/>
                          </a:solidFill>
                          <a:latin typeface="Calibri (MS)"/>
                        </a:rPr>
                        <a:t>SDEverywhere</a:t>
                      </a:r>
                    </a:p>
                  </a:txBody>
                  <a:tcPr marL="73152" marR="73152" marT="36576" marB="36576" anchor="ctr">
                    <a:solidFill>
                      <a:srgbClr val="EAF8FA"/>
                    </a:solidFill>
                  </a:tcPr>
                </a:tc>
                <a:tc>
                  <a:txBody>
                    <a:bodyPr wrap="square"/>
                    <a:lstStyle/>
                    <a:p>
                      <a:r>
                        <a:rPr sz="1050" b="0" i="0">
                          <a:solidFill>
                            <a:srgbClr val="14313B"/>
                          </a:solidFill>
                          <a:latin typeface="Calibri (MS)"/>
                        </a:rPr>
                        <a:t>Menerjemahkan model Vensim ke JavaScript/WebAssembly</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Antarmuka</a:t>
                      </a:r>
                    </a:p>
                  </a:txBody>
                  <a:tcPr marL="73152" marR="73152" marT="36576" marB="36576" anchor="ctr">
                    <a:solidFill>
                      <a:srgbClr val="FFFFFF"/>
                    </a:solidFill>
                  </a:tcPr>
                </a:tc>
                <a:tc>
                  <a:txBody>
                    <a:bodyPr wrap="square"/>
                    <a:lstStyle/>
                    <a:p>
                      <a:r>
                        <a:rPr sz="1050" b="0" i="0">
                          <a:solidFill>
                            <a:srgbClr val="14313B"/>
                          </a:solidFill>
                          <a:latin typeface="Calibri (MS)"/>
                        </a:rPr>
                        <a:t>Next.js + TypeScript</a:t>
                      </a:r>
                    </a:p>
                  </a:txBody>
                  <a:tcPr marL="73152" marR="73152" marT="36576" marB="36576" anchor="ctr">
                    <a:solidFill>
                      <a:srgbClr val="FFFFFF"/>
                    </a:solidFill>
                  </a:tcPr>
                </a:tc>
                <a:tc>
                  <a:txBody>
                    <a:bodyPr wrap="square"/>
                    <a:lstStyle/>
                    <a:p>
                      <a:r>
                        <a:rPr sz="1050" b="0" i="0">
                          <a:solidFill>
                            <a:srgbClr val="14313B"/>
                          </a:solidFill>
                          <a:latin typeface="Calibri (MS)"/>
                        </a:rPr>
                        <a:t>Halaman, kontrol tuas, pemanggilan simulasi</a:t>
                      </a:r>
                    </a:p>
                  </a:txBody>
                  <a:tcPr marL="73152" marR="73152" marT="36576" marB="36576" anchor="ctr">
                    <a:solidFill>
                      <a:srgbClr val="FFFFFF"/>
                    </a:solidFill>
                  </a:tcPr>
                </a:tc>
              </a:tr>
              <a:tr h="502920">
                <a:tc>
                  <a:txBody>
                    <a:bodyPr wrap="square"/>
                    <a:lstStyle/>
                    <a:p>
                      <a:r>
                        <a:rPr sz="1050" b="1" i="0">
                          <a:solidFill>
                            <a:srgbClr val="14313B"/>
                          </a:solidFill>
                          <a:latin typeface="Calibri (MS) Bold"/>
                        </a:rPr>
                        <a:t>Tampilan</a:t>
                      </a:r>
                    </a:p>
                  </a:txBody>
                  <a:tcPr marL="73152" marR="73152" marT="36576" marB="36576" anchor="ctr">
                    <a:solidFill>
                      <a:srgbClr val="EAF8FA"/>
                    </a:solidFill>
                  </a:tcPr>
                </a:tc>
                <a:tc>
                  <a:txBody>
                    <a:bodyPr wrap="square"/>
                    <a:lstStyle/>
                    <a:p>
                      <a:r>
                        <a:rPr sz="1050" b="0" i="0">
                          <a:solidFill>
                            <a:srgbClr val="14313B"/>
                          </a:solidFill>
                          <a:latin typeface="Calibri (MS)"/>
                        </a:rPr>
                        <a:t>Tailwind CSS</a:t>
                      </a:r>
                    </a:p>
                  </a:txBody>
                  <a:tcPr marL="73152" marR="73152" marT="36576" marB="36576" anchor="ctr">
                    <a:solidFill>
                      <a:srgbClr val="EAF8FA"/>
                    </a:solidFill>
                  </a:tcPr>
                </a:tc>
                <a:tc>
                  <a:txBody>
                    <a:bodyPr wrap="square"/>
                    <a:lstStyle/>
                    <a:p>
                      <a:r>
                        <a:rPr sz="1050" b="0" i="0">
                          <a:solidFill>
                            <a:srgbClr val="14313B"/>
                          </a:solidFill>
                          <a:latin typeface="Calibri (MS)"/>
                        </a:rPr>
                        <a:t>Pengaturan gaya dan tata letak</a:t>
                      </a:r>
                    </a:p>
                  </a:txBody>
                  <a:tcPr marL="73152" marR="73152" marT="36576" marB="36576" anchor="ctr">
                    <a:solidFill>
                      <a:srgbClr val="EAF8FA"/>
                    </a:solidFill>
                  </a:tcPr>
                </a:tc>
              </a:tr>
              <a:tr h="502920">
                <a:tc>
                  <a:txBody>
                    <a:bodyPr wrap="square"/>
                    <a:lstStyle/>
                    <a:p>
                      <a:r>
                        <a:rPr sz="1050" b="1" i="0">
                          <a:solidFill>
                            <a:srgbClr val="14313B"/>
                          </a:solidFill>
                          <a:latin typeface="Calibri (MS) Bold"/>
                        </a:rPr>
                        <a:t>Akses</a:t>
                      </a:r>
                    </a:p>
                  </a:txBody>
                  <a:tcPr marL="73152" marR="73152" marT="36576" marB="36576" anchor="ctr">
                    <a:solidFill>
                      <a:srgbClr val="FFFFFF"/>
                    </a:solidFill>
                  </a:tcPr>
                </a:tc>
                <a:tc>
                  <a:txBody>
                    <a:bodyPr wrap="square"/>
                    <a:lstStyle/>
                    <a:p>
                      <a:r>
                        <a:rPr sz="1050" b="0" i="0">
                          <a:solidFill>
                            <a:srgbClr val="14313B"/>
                          </a:solidFill>
                          <a:latin typeface="Calibri (MS)"/>
                        </a:rPr>
                        <a:t>sistemdinamispariwisata.vercel.app</a:t>
                      </a:r>
                    </a:p>
                  </a:txBody>
                  <a:tcPr marL="73152" marR="73152" marT="36576" marB="36576" anchor="ctr">
                    <a:solidFill>
                      <a:srgbClr val="FFFFFF"/>
                    </a:solidFill>
                  </a:tcPr>
                </a:tc>
                <a:tc>
                  <a:txBody>
                    <a:bodyPr wrap="square"/>
                    <a:lstStyle/>
                    <a:p>
                      <a:r>
                        <a:rPr sz="1050" b="0" i="0">
                          <a:solidFill>
                            <a:srgbClr val="14313B"/>
                          </a:solidFill>
                          <a:latin typeface="Calibri (MS)"/>
                        </a:rPr>
                        <a:t>Aplikasi daring</a:t>
                      </a:r>
                    </a:p>
                  </a:txBody>
                  <a:tcPr marL="73152" marR="73152" marT="36576" marB="36576" anchor="ctr">
                    <a:solidFill>
                      <a:srgbClr val="FFFFFF"/>
                    </a:solidFill>
                  </a:tcPr>
                </a:tc>
              </a:tr>
            </a:tbl>
          </a:graphicData>
        </a:graphic>
      </p:graphicFrame>
      <p:sp>
        <p:nvSpPr>
          <p:cNvPr id="30" name="Rounded Rectangle 29"/>
          <p:cNvSpPr/>
          <p:nvPr/>
        </p:nvSpPr>
        <p:spPr>
          <a:xfrm>
            <a:off x="10607040" y="5074920"/>
            <a:ext cx="68580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Empat halaman utama</a:t>
            </a:r>
          </a:p>
        </p:txBody>
      </p:sp>
      <p:graphicFrame>
        <p:nvGraphicFramePr>
          <p:cNvPr id="31" name="Table 30"/>
          <p:cNvGraphicFramePr>
            <a:graphicFrameLocks noGrp="1"/>
          </p:cNvGraphicFramePr>
          <p:nvPr/>
        </p:nvGraphicFramePr>
        <p:xfrm>
          <a:off x="10607040" y="5577840"/>
          <a:ext cx="6858000" cy="2194560"/>
        </p:xfrm>
        <a:graphic>
          <a:graphicData uri="http://schemas.openxmlformats.org/drawingml/2006/table">
            <a:tbl>
              <a:tblPr firstRow="1" bandRow="1">
                <a:tableStyleId>{5C22544A-7EE6-4342-B048-85BDC9FD1C3A}</a:tableStyleId>
              </a:tblPr>
              <a:tblGrid>
                <a:gridCol w="1645920"/>
                <a:gridCol w="5212080"/>
              </a:tblGrid>
              <a:tr h="438912">
                <a:tc>
                  <a:txBody>
                    <a:bodyPr wrap="square"/>
                    <a:lstStyle/>
                    <a:p>
                      <a:r>
                        <a:rPr sz="1050" b="1" i="0">
                          <a:solidFill>
                            <a:srgbClr val="FFFFFF"/>
                          </a:solidFill>
                          <a:latin typeface="Calibri (MS) Bold"/>
                        </a:rPr>
                        <a:t>Halaman</a:t>
                      </a:r>
                    </a:p>
                  </a:txBody>
                  <a:tcPr marL="73152" marR="73152" marT="36576" marB="36576" anchor="ctr">
                    <a:solidFill>
                      <a:srgbClr val="0B5E6E"/>
                    </a:solidFill>
                  </a:tcPr>
                </a:tc>
                <a:tc>
                  <a:txBody>
                    <a:bodyPr wrap="square"/>
                    <a:lstStyle/>
                    <a:p>
                      <a:r>
                        <a:rPr sz="1050" b="1" i="0">
                          <a:solidFill>
                            <a:srgbClr val="FFFFFF"/>
                          </a:solidFill>
                          <a:latin typeface="Calibri (MS) Bold"/>
                        </a:rPr>
                        <a:t>Isi</a:t>
                      </a:r>
                    </a:p>
                  </a:txBody>
                  <a:tcPr marL="73152" marR="73152" marT="36576" marB="36576" anchor="ctr">
                    <a:solidFill>
                      <a:srgbClr val="0B5E6E"/>
                    </a:solidFill>
                  </a:tcPr>
                </a:tc>
              </a:tr>
              <a:tr h="438912">
                <a:tc>
                  <a:txBody>
                    <a:bodyPr wrap="square"/>
                    <a:lstStyle/>
                    <a:p>
                      <a:r>
                        <a:rPr sz="1050" b="1" i="0">
                          <a:solidFill>
                            <a:srgbClr val="14313B"/>
                          </a:solidFill>
                          <a:latin typeface="Calibri (MS) Bold"/>
                        </a:rPr>
                        <a:t>Beranda</a:t>
                      </a:r>
                    </a:p>
                  </a:txBody>
                  <a:tcPr marL="73152" marR="73152" marT="36576" marB="36576" anchor="ctr">
                    <a:solidFill>
                      <a:srgbClr val="FFFFFF"/>
                    </a:solidFill>
                  </a:tcPr>
                </a:tc>
                <a:tc>
                  <a:txBody>
                    <a:bodyPr wrap="square"/>
                    <a:lstStyle/>
                    <a:p>
                      <a:r>
                        <a:rPr sz="1050" b="0" i="0">
                          <a:solidFill>
                            <a:srgbClr val="14313B"/>
                          </a:solidFill>
                          <a:latin typeface="Calibri (MS)"/>
                        </a:rPr>
                        <a:t>Gambaran umum dan navigasi</a:t>
                      </a:r>
                    </a:p>
                  </a:txBody>
                  <a:tcPr marL="73152" marR="73152" marT="36576" marB="36576" anchor="ctr">
                    <a:solidFill>
                      <a:srgbClr val="FFFFFF"/>
                    </a:solidFill>
                  </a:tcPr>
                </a:tc>
              </a:tr>
              <a:tr h="438912">
                <a:tc>
                  <a:txBody>
                    <a:bodyPr wrap="square"/>
                    <a:lstStyle/>
                    <a:p>
                      <a:r>
                        <a:rPr sz="1050" b="1" i="0">
                          <a:solidFill>
                            <a:srgbClr val="14313B"/>
                          </a:solidFill>
                          <a:latin typeface="Calibri (MS) Bold"/>
                        </a:rPr>
                        <a:t>Model</a:t>
                      </a:r>
                    </a:p>
                  </a:txBody>
                  <a:tcPr marL="73152" marR="73152" marT="36576" marB="36576" anchor="ctr">
                    <a:solidFill>
                      <a:srgbClr val="EAF8FA"/>
                    </a:solidFill>
                  </a:tcPr>
                </a:tc>
                <a:tc>
                  <a:txBody>
                    <a:bodyPr wrap="square"/>
                    <a:lstStyle/>
                    <a:p>
                      <a:r>
                        <a:rPr sz="1050" b="0" i="0">
                          <a:solidFill>
                            <a:srgbClr val="14313B"/>
                          </a:solidFill>
                          <a:latin typeface="Calibri (MS)"/>
                        </a:rPr>
                        <a:t>Tab Struktur Model dan Evaluasi Model</a:t>
                      </a:r>
                    </a:p>
                  </a:txBody>
                  <a:tcPr marL="73152" marR="73152" marT="36576" marB="36576" anchor="ctr">
                    <a:solidFill>
                      <a:srgbClr val="EAF8FA"/>
                    </a:solidFill>
                  </a:tcPr>
                </a:tc>
              </a:tr>
              <a:tr h="438912">
                <a:tc>
                  <a:txBody>
                    <a:bodyPr wrap="square"/>
                    <a:lstStyle/>
                    <a:p>
                      <a:r>
                        <a:rPr sz="1050" b="1" i="0">
                          <a:solidFill>
                            <a:srgbClr val="14313B"/>
                          </a:solidFill>
                          <a:latin typeface="Calibri (MS) Bold"/>
                        </a:rPr>
                        <a:t>Skenario</a:t>
                      </a:r>
                    </a:p>
                  </a:txBody>
                  <a:tcPr marL="73152" marR="73152" marT="36576" marB="36576" anchor="ctr">
                    <a:solidFill>
                      <a:srgbClr val="FFFFFF"/>
                    </a:solidFill>
                  </a:tcPr>
                </a:tc>
                <a:tc>
                  <a:txBody>
                    <a:bodyPr wrap="square"/>
                    <a:lstStyle/>
                    <a:p>
                      <a:r>
                        <a:rPr sz="1050" b="0" i="0">
                          <a:solidFill>
                            <a:srgbClr val="14313B"/>
                          </a:solidFill>
                          <a:latin typeface="Calibri (MS)"/>
                        </a:rPr>
                        <a:t>Tiga skenario + Bandingkan Semua Skenario</a:t>
                      </a:r>
                    </a:p>
                  </a:txBody>
                  <a:tcPr marL="73152" marR="73152" marT="36576" marB="36576" anchor="ctr">
                    <a:solidFill>
                      <a:srgbClr val="FFFFFF"/>
                    </a:solidFill>
                  </a:tcPr>
                </a:tc>
              </a:tr>
              <a:tr h="438912">
                <a:tc>
                  <a:txBody>
                    <a:bodyPr wrap="square"/>
                    <a:lstStyle/>
                    <a:p>
                      <a:r>
                        <a:rPr sz="1050" b="1" i="0">
                          <a:solidFill>
                            <a:srgbClr val="14313B"/>
                          </a:solidFill>
                          <a:latin typeface="Calibri (MS) Bold"/>
                        </a:rPr>
                        <a:t>Simulasi</a:t>
                      </a:r>
                    </a:p>
                  </a:txBody>
                  <a:tcPr marL="73152" marR="73152" marT="36576" marB="36576" anchor="ctr">
                    <a:solidFill>
                      <a:srgbClr val="EAF8FA"/>
                    </a:solidFill>
                  </a:tcPr>
                </a:tc>
                <a:tc>
                  <a:txBody>
                    <a:bodyPr wrap="square"/>
                    <a:lstStyle/>
                    <a:p>
                      <a:r>
                        <a:rPr sz="1050" b="0" i="0">
                          <a:solidFill>
                            <a:srgbClr val="14313B"/>
                          </a:solidFill>
                          <a:latin typeface="Calibri (MS)"/>
                        </a:rPr>
                        <a:t>Atur dua tuas, pilih variabel, jalankan 2025–2050</a:t>
                      </a:r>
                    </a:p>
                  </a:txBody>
                  <a:tcPr marL="73152" marR="73152" marT="36576" marB="36576" anchor="ctr">
                    <a:solidFill>
                      <a:srgbClr val="EAF8FA"/>
                    </a:solidFill>
                  </a:tcPr>
                </a:tc>
              </a:tr>
            </a:tbl>
          </a:graphicData>
        </a:graphic>
      </p:graphicFrame>
      <p:sp>
        <p:nvSpPr>
          <p:cNvPr id="32" name="TextBox 3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3.9.1 dan 4.9.1; Climate Interactive (n.d.).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82 · Tampilan Halaman Aplikasi</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161</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Beranda, Model (struktur dan evaluasi), Skenario, dan Simulasi</a:t>
            </a:r>
          </a:p>
        </p:txBody>
      </p:sp>
      <p:sp>
        <p:nvSpPr>
          <p:cNvPr id="27" name="Rounded Rectangle 26"/>
          <p:cNvSpPr/>
          <p:nvPr/>
        </p:nvSpPr>
        <p:spPr>
          <a:xfrm>
            <a:off x="822960" y="1874519"/>
            <a:ext cx="3200400" cy="4114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Beranda</a:t>
            </a:r>
          </a:p>
        </p:txBody>
      </p:sp>
      <p:pic>
        <p:nvPicPr>
          <p:cNvPr id="28" name="Picture 27" descr="image65.png"/>
          <p:cNvPicPr>
            <a:picLocks noChangeAspect="1"/>
          </p:cNvPicPr>
          <p:nvPr/>
        </p:nvPicPr>
        <p:blipFill>
          <a:blip r:embed="rId7"/>
          <a:stretch>
            <a:fillRect/>
          </a:stretch>
        </p:blipFill>
        <p:spPr>
          <a:xfrm>
            <a:off x="822960" y="3156870"/>
            <a:ext cx="3200400" cy="3927538"/>
          </a:xfrm>
          <a:prstGeom prst="rect">
            <a:avLst/>
          </a:prstGeom>
          <a:ln w="12700">
            <a:solidFill>
              <a:srgbClr val="CFE5E9"/>
            </a:solidFill>
          </a:ln>
        </p:spPr>
      </p:pic>
      <p:sp>
        <p:nvSpPr>
          <p:cNvPr id="29" name="TextBox 28"/>
          <p:cNvSpPr txBox="1"/>
          <p:nvPr/>
        </p:nvSpPr>
        <p:spPr>
          <a:xfrm>
            <a:off x="822960" y="7882127"/>
            <a:ext cx="3200400" cy="27432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Buku Gambar 62</a:t>
            </a:r>
          </a:p>
        </p:txBody>
      </p:sp>
      <p:sp>
        <p:nvSpPr>
          <p:cNvPr id="30" name="Rounded Rectangle 29"/>
          <p:cNvSpPr/>
          <p:nvPr/>
        </p:nvSpPr>
        <p:spPr>
          <a:xfrm>
            <a:off x="4187952" y="1874519"/>
            <a:ext cx="3200400" cy="4114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Model: struktur</a:t>
            </a:r>
          </a:p>
        </p:txBody>
      </p:sp>
      <p:pic>
        <p:nvPicPr>
          <p:cNvPr id="31" name="Picture 30" descr="image66.png"/>
          <p:cNvPicPr>
            <a:picLocks noChangeAspect="1"/>
          </p:cNvPicPr>
          <p:nvPr/>
        </p:nvPicPr>
        <p:blipFill>
          <a:blip r:embed="rId8"/>
          <a:stretch>
            <a:fillRect/>
          </a:stretch>
        </p:blipFill>
        <p:spPr>
          <a:xfrm>
            <a:off x="4187952" y="2963295"/>
            <a:ext cx="3200399" cy="4314688"/>
          </a:xfrm>
          <a:prstGeom prst="rect">
            <a:avLst/>
          </a:prstGeom>
          <a:ln w="12700">
            <a:solidFill>
              <a:srgbClr val="CFE5E9"/>
            </a:solidFill>
          </a:ln>
        </p:spPr>
      </p:pic>
      <p:sp>
        <p:nvSpPr>
          <p:cNvPr id="32" name="TextBox 31"/>
          <p:cNvSpPr txBox="1"/>
          <p:nvPr/>
        </p:nvSpPr>
        <p:spPr>
          <a:xfrm>
            <a:off x="4187952" y="7882127"/>
            <a:ext cx="3200400" cy="27432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Buku Gambar 63</a:t>
            </a:r>
          </a:p>
        </p:txBody>
      </p:sp>
      <p:sp>
        <p:nvSpPr>
          <p:cNvPr id="33" name="Rounded Rectangle 32"/>
          <p:cNvSpPr/>
          <p:nvPr/>
        </p:nvSpPr>
        <p:spPr>
          <a:xfrm>
            <a:off x="7552944" y="1874519"/>
            <a:ext cx="3200400" cy="4114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Model: evaluasi</a:t>
            </a:r>
          </a:p>
        </p:txBody>
      </p:sp>
      <p:pic>
        <p:nvPicPr>
          <p:cNvPr id="34" name="Picture 33" descr="image67.png"/>
          <p:cNvPicPr>
            <a:picLocks noChangeAspect="1"/>
          </p:cNvPicPr>
          <p:nvPr/>
        </p:nvPicPr>
        <p:blipFill>
          <a:blip r:embed="rId9"/>
          <a:stretch>
            <a:fillRect/>
          </a:stretch>
        </p:blipFill>
        <p:spPr>
          <a:xfrm>
            <a:off x="7552944" y="2994588"/>
            <a:ext cx="3200399" cy="4252103"/>
          </a:xfrm>
          <a:prstGeom prst="rect">
            <a:avLst/>
          </a:prstGeom>
          <a:ln w="12700">
            <a:solidFill>
              <a:srgbClr val="CFE5E9"/>
            </a:solidFill>
          </a:ln>
        </p:spPr>
      </p:pic>
      <p:sp>
        <p:nvSpPr>
          <p:cNvPr id="35" name="TextBox 34"/>
          <p:cNvSpPr txBox="1"/>
          <p:nvPr/>
        </p:nvSpPr>
        <p:spPr>
          <a:xfrm>
            <a:off x="7552944" y="7882127"/>
            <a:ext cx="3200400" cy="27432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Buku Gambar 64</a:t>
            </a:r>
          </a:p>
        </p:txBody>
      </p:sp>
      <p:sp>
        <p:nvSpPr>
          <p:cNvPr id="36" name="Rounded Rectangle 35"/>
          <p:cNvSpPr/>
          <p:nvPr/>
        </p:nvSpPr>
        <p:spPr>
          <a:xfrm>
            <a:off x="10917936" y="1874519"/>
            <a:ext cx="3200400" cy="4114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Skenario</a:t>
            </a:r>
          </a:p>
        </p:txBody>
      </p:sp>
      <p:pic>
        <p:nvPicPr>
          <p:cNvPr id="37" name="Picture 36" descr="image68.png"/>
          <p:cNvPicPr>
            <a:picLocks noChangeAspect="1"/>
          </p:cNvPicPr>
          <p:nvPr/>
        </p:nvPicPr>
        <p:blipFill>
          <a:blip r:embed="rId10"/>
          <a:stretch>
            <a:fillRect/>
          </a:stretch>
        </p:blipFill>
        <p:spPr>
          <a:xfrm>
            <a:off x="10917936" y="3002875"/>
            <a:ext cx="3200400" cy="4235529"/>
          </a:xfrm>
          <a:prstGeom prst="rect">
            <a:avLst/>
          </a:prstGeom>
          <a:ln w="12700">
            <a:solidFill>
              <a:srgbClr val="CFE5E9"/>
            </a:solidFill>
          </a:ln>
        </p:spPr>
      </p:pic>
      <p:sp>
        <p:nvSpPr>
          <p:cNvPr id="38" name="TextBox 37"/>
          <p:cNvSpPr txBox="1"/>
          <p:nvPr/>
        </p:nvSpPr>
        <p:spPr>
          <a:xfrm>
            <a:off x="10917936" y="7882127"/>
            <a:ext cx="3200400" cy="27432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Buku Gambar 65</a:t>
            </a:r>
          </a:p>
        </p:txBody>
      </p:sp>
      <p:sp>
        <p:nvSpPr>
          <p:cNvPr id="39" name="Rounded Rectangle 38"/>
          <p:cNvSpPr/>
          <p:nvPr/>
        </p:nvSpPr>
        <p:spPr>
          <a:xfrm>
            <a:off x="14282928" y="1874519"/>
            <a:ext cx="3200400" cy="4114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Simulasi</a:t>
            </a:r>
          </a:p>
        </p:txBody>
      </p:sp>
      <p:pic>
        <p:nvPicPr>
          <p:cNvPr id="40" name="Picture 39" descr="image69.png"/>
          <p:cNvPicPr>
            <a:picLocks noChangeAspect="1"/>
          </p:cNvPicPr>
          <p:nvPr/>
        </p:nvPicPr>
        <p:blipFill>
          <a:blip r:embed="rId11"/>
          <a:stretch>
            <a:fillRect/>
          </a:stretch>
        </p:blipFill>
        <p:spPr>
          <a:xfrm>
            <a:off x="14282928" y="3024253"/>
            <a:ext cx="3200400" cy="4192772"/>
          </a:xfrm>
          <a:prstGeom prst="rect">
            <a:avLst/>
          </a:prstGeom>
          <a:ln w="12700">
            <a:solidFill>
              <a:srgbClr val="CFE5E9"/>
            </a:solidFill>
          </a:ln>
        </p:spPr>
      </p:pic>
      <p:sp>
        <p:nvSpPr>
          <p:cNvPr id="41" name="TextBox 40"/>
          <p:cNvSpPr txBox="1"/>
          <p:nvPr/>
        </p:nvSpPr>
        <p:spPr>
          <a:xfrm>
            <a:off x="14282928" y="7882127"/>
            <a:ext cx="3200400" cy="274320"/>
          </a:xfrm>
          <a:prstGeom prst="rect">
            <a:avLst/>
          </a:prstGeom>
          <a:noFill/>
        </p:spPr>
        <p:txBody>
          <a:bodyPr wrap="square" anchor="t" lIns="0" rIns="0" tIns="0" bIns="0">
            <a:spAutoFit/>
          </a:bodyPr>
          <a:lstStyle/>
          <a:p>
            <a:pPr algn="ctr">
              <a:spcAft>
                <a:spcPts val="400"/>
              </a:spcAft>
            </a:pPr>
            <a:r>
              <a:rPr sz="1000" b="0" i="1">
                <a:solidFill>
                  <a:srgbClr val="5E6E78"/>
                </a:solidFill>
                <a:latin typeface="Calibri (MS)"/>
              </a:rPr>
              <a:t>Buku Gambar 66</a:t>
            </a:r>
          </a:p>
        </p:txBody>
      </p:sp>
      <p:sp>
        <p:nvSpPr>
          <p:cNvPr id="42" name="Rounded Rectangle 41"/>
          <p:cNvSpPr/>
          <p:nvPr/>
        </p:nvSpPr>
        <p:spPr>
          <a:xfrm>
            <a:off x="822960" y="8275320"/>
            <a:ext cx="16642080" cy="685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Catatan  </a:t>
            </a:r>
            <a:r>
              <a:rPr sz="1200" b="0" i="0">
                <a:solidFill>
                  <a:srgbClr val="14313B"/>
                </a:solidFill>
                <a:latin typeface="Calibri (MS)"/>
              </a:rPr>
              <a:t>Halaman Skenario memakai kombinasi tuas yang ditetapkan penelitian; halaman Simulasi membebaskan pengguna mencoba nilai tuas lain dan melihat responsnya.</a:t>
            </a:r>
          </a:p>
        </p:txBody>
      </p:sp>
      <p:sp>
        <p:nvSpPr>
          <p:cNvPr id="43" name="TextBox 4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4.9.1 (Gambar 62–66).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83 · Pengujian Fungsional (Black-box Testing)</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162</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Sembilan fungsi utama diuji dari masukan dan keluaran, tanpa melihat kode (ISTQB, 2019)</a:t>
            </a:r>
          </a:p>
        </p:txBody>
      </p:sp>
      <p:graphicFrame>
        <p:nvGraphicFramePr>
          <p:cNvPr id="27" name="Table 26"/>
          <p:cNvGraphicFramePr>
            <a:graphicFrameLocks noGrp="1"/>
          </p:cNvGraphicFramePr>
          <p:nvPr/>
        </p:nvGraphicFramePr>
        <p:xfrm>
          <a:off x="822960" y="1874519"/>
          <a:ext cx="12252959" cy="5486400"/>
        </p:xfrm>
        <a:graphic>
          <a:graphicData uri="http://schemas.openxmlformats.org/drawingml/2006/table">
            <a:tbl>
              <a:tblPr firstRow="1" bandRow="1">
                <a:tableStyleId>{5C22544A-7EE6-4342-B048-85BDC9FD1C3A}</a:tableStyleId>
              </a:tblPr>
              <a:tblGrid>
                <a:gridCol w="457200"/>
                <a:gridCol w="2286000"/>
                <a:gridCol w="2926080"/>
                <a:gridCol w="2377440"/>
                <a:gridCol w="2834639"/>
                <a:gridCol w="1371600"/>
              </a:tblGrid>
              <a:tr h="548640">
                <a:tc>
                  <a:txBody>
                    <a:bodyPr wrap="square"/>
                    <a:lstStyle/>
                    <a:p>
                      <a:pPr algn="ctr"/>
                      <a:r>
                        <a:rPr sz="1000" b="1" i="0">
                          <a:solidFill>
                            <a:srgbClr val="FFFFFF"/>
                          </a:solidFill>
                          <a:latin typeface="Calibri (MS) Bold"/>
                        </a:rPr>
                        <a:t>No</a:t>
                      </a:r>
                    </a:p>
                  </a:txBody>
                  <a:tcPr marL="73152" marR="73152" marT="36576" marB="36576" anchor="ctr">
                    <a:solidFill>
                      <a:srgbClr val="0B5E6E"/>
                    </a:solidFill>
                  </a:tcPr>
                </a:tc>
                <a:tc>
                  <a:txBody>
                    <a:bodyPr wrap="square"/>
                    <a:lstStyle/>
                    <a:p>
                      <a:r>
                        <a:rPr sz="1000" b="1" i="0">
                          <a:solidFill>
                            <a:srgbClr val="FFFFFF"/>
                          </a:solidFill>
                          <a:latin typeface="Calibri (MS) Bold"/>
                        </a:rPr>
                        <a:t>Fungsi yang diuji</a:t>
                      </a:r>
                    </a:p>
                  </a:txBody>
                  <a:tcPr marL="73152" marR="73152" marT="36576" marB="36576" anchor="ctr">
                    <a:solidFill>
                      <a:srgbClr val="0B5E6E"/>
                    </a:solidFill>
                  </a:tcPr>
                </a:tc>
                <a:tc>
                  <a:txBody>
                    <a:bodyPr wrap="square"/>
                    <a:lstStyle/>
                    <a:p>
                      <a:r>
                        <a:rPr sz="1000" b="1" i="0">
                          <a:solidFill>
                            <a:srgbClr val="FFFFFF"/>
                          </a:solidFill>
                          <a:latin typeface="Calibri (MS) Bold"/>
                        </a:rPr>
                        <a:t>Tindakan / masukan</a:t>
                      </a:r>
                    </a:p>
                  </a:txBody>
                  <a:tcPr marL="73152" marR="73152" marT="36576" marB="36576" anchor="ctr">
                    <a:solidFill>
                      <a:srgbClr val="0B5E6E"/>
                    </a:solidFill>
                  </a:tcPr>
                </a:tc>
                <a:tc>
                  <a:txBody>
                    <a:bodyPr wrap="square"/>
                    <a:lstStyle/>
                    <a:p>
                      <a:r>
                        <a:rPr sz="1000" b="1" i="0">
                          <a:solidFill>
                            <a:srgbClr val="FFFFFF"/>
                          </a:solidFill>
                          <a:latin typeface="Calibri (MS) Bold"/>
                        </a:rPr>
                        <a:t>Hasil yang diharapkan</a:t>
                      </a:r>
                    </a:p>
                  </a:txBody>
                  <a:tcPr marL="73152" marR="73152" marT="36576" marB="36576" anchor="ctr">
                    <a:solidFill>
                      <a:srgbClr val="0B5E6E"/>
                    </a:solidFill>
                  </a:tcPr>
                </a:tc>
                <a:tc>
                  <a:txBody>
                    <a:bodyPr wrap="square"/>
                    <a:lstStyle/>
                    <a:p>
                      <a:r>
                        <a:rPr sz="1000" b="1" i="0">
                          <a:solidFill>
                            <a:srgbClr val="FFFFFF"/>
                          </a:solidFill>
                          <a:latin typeface="Calibri (MS) Bold"/>
                        </a:rPr>
                        <a:t>Hasil aktual</a:t>
                      </a:r>
                    </a:p>
                  </a:txBody>
                  <a:tcPr marL="73152" marR="73152" marT="36576" marB="36576" anchor="ctr">
                    <a:solidFill>
                      <a:srgbClr val="0B5E6E"/>
                    </a:solidFill>
                  </a:tcPr>
                </a:tc>
                <a:tc>
                  <a:txBody>
                    <a:bodyPr wrap="square"/>
                    <a:lstStyle/>
                    <a:p>
                      <a:pPr algn="ctr"/>
                      <a:r>
                        <a:rPr sz="1000" b="1" i="0">
                          <a:solidFill>
                            <a:srgbClr val="FFFFFF"/>
                          </a:solidFill>
                          <a:latin typeface="Calibri (MS) Bold"/>
                        </a:rPr>
                        <a:t>Status</a:t>
                      </a:r>
                    </a:p>
                  </a:txBody>
                  <a:tcPr marL="73152" marR="73152" marT="36576" marB="36576" anchor="ctr">
                    <a:solidFill>
                      <a:srgbClr val="0B5E6E"/>
                    </a:solidFill>
                  </a:tcPr>
                </a:tc>
              </a:tr>
              <a:tr h="548640">
                <a:tc>
                  <a:txBody>
                    <a:bodyPr wrap="square"/>
                    <a:lstStyle/>
                    <a:p>
                      <a:pPr algn="ctr"/>
                      <a:r>
                        <a:rPr sz="1000" b="0" i="0">
                          <a:solidFill>
                            <a:srgbClr val="14313B"/>
                          </a:solidFill>
                          <a:latin typeface="Calibri (MS)"/>
                        </a:rPr>
                        <a:t>1</a:t>
                      </a:r>
                    </a:p>
                  </a:txBody>
                  <a:tcPr marL="73152" marR="73152" marT="36576" marB="36576" anchor="ctr">
                    <a:solidFill>
                      <a:srgbClr val="FFFFFF"/>
                    </a:solidFill>
                  </a:tcPr>
                </a:tc>
                <a:tc>
                  <a:txBody>
                    <a:bodyPr wrap="square"/>
                    <a:lstStyle/>
                    <a:p>
                      <a:r>
                        <a:rPr sz="1000" b="0" i="0">
                          <a:solidFill>
                            <a:srgbClr val="14313B"/>
                          </a:solidFill>
                          <a:latin typeface="Calibri (MS)"/>
                        </a:rPr>
                        <a:t>Navigasi aplikasi</a:t>
                      </a:r>
                    </a:p>
                  </a:txBody>
                  <a:tcPr marL="73152" marR="73152" marT="36576" marB="36576" anchor="ctr">
                    <a:solidFill>
                      <a:srgbClr val="FFFFFF"/>
                    </a:solidFill>
                  </a:tcPr>
                </a:tc>
                <a:tc>
                  <a:txBody>
                    <a:bodyPr wrap="square"/>
                    <a:lstStyle/>
                    <a:p>
                      <a:r>
                        <a:rPr sz="1000" b="0" i="0">
                          <a:solidFill>
                            <a:srgbClr val="14313B"/>
                          </a:solidFill>
                          <a:latin typeface="Calibri (MS)"/>
                        </a:rPr>
                        <a:t>Pilih menu Beranda, Model, Skenario, Simulasi</a:t>
                      </a:r>
                    </a:p>
                  </a:txBody>
                  <a:tcPr marL="73152" marR="73152" marT="36576" marB="36576" anchor="ctr">
                    <a:solidFill>
                      <a:srgbClr val="FFFFFF"/>
                    </a:solidFill>
                  </a:tcPr>
                </a:tc>
                <a:tc>
                  <a:txBody>
                    <a:bodyPr wrap="square"/>
                    <a:lstStyle/>
                    <a:p>
                      <a:r>
                        <a:rPr sz="1000" b="0" i="0">
                          <a:solidFill>
                            <a:srgbClr val="14313B"/>
                          </a:solidFill>
                          <a:latin typeface="Calibri (MS)"/>
                        </a:rPr>
                        <a:t>Halaman sesuai menu</a:t>
                      </a:r>
                    </a:p>
                  </a:txBody>
                  <a:tcPr marL="73152" marR="73152" marT="36576" marB="36576" anchor="ctr">
                    <a:solidFill>
                      <a:srgbClr val="FFFFFF"/>
                    </a:solidFill>
                  </a:tcPr>
                </a:tc>
                <a:tc>
                  <a:txBody>
                    <a:bodyPr wrap="square"/>
                    <a:lstStyle/>
                    <a:p>
                      <a:r>
                        <a:rPr sz="1000" b="0" i="0">
                          <a:solidFill>
                            <a:srgbClr val="14313B"/>
                          </a:solidFill>
                          <a:latin typeface="Calibri (MS)"/>
                        </a:rPr>
                        <a:t>Halaman tampil sesuai menu</a:t>
                      </a:r>
                    </a:p>
                  </a:txBody>
                  <a:tcPr marL="73152" marR="73152" marT="36576" marB="36576" anchor="ctr">
                    <a:solidFill>
                      <a:srgbClr val="FFFFFF"/>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2</a:t>
                      </a:r>
                    </a:p>
                  </a:txBody>
                  <a:tcPr marL="73152" marR="73152" marT="36576" marB="36576" anchor="ctr">
                    <a:solidFill>
                      <a:srgbClr val="EAF8FA"/>
                    </a:solidFill>
                  </a:tcPr>
                </a:tc>
                <a:tc>
                  <a:txBody>
                    <a:bodyPr wrap="square"/>
                    <a:lstStyle/>
                    <a:p>
                      <a:r>
                        <a:rPr sz="1000" b="0" i="0">
                          <a:solidFill>
                            <a:srgbClr val="14313B"/>
                          </a:solidFill>
                          <a:latin typeface="Calibri (MS)"/>
                        </a:rPr>
                        <a:t>Tampilan Model</a:t>
                      </a:r>
                    </a:p>
                  </a:txBody>
                  <a:tcPr marL="73152" marR="73152" marT="36576" marB="36576" anchor="ctr">
                    <a:solidFill>
                      <a:srgbClr val="EAF8FA"/>
                    </a:solidFill>
                  </a:tcPr>
                </a:tc>
                <a:tc>
                  <a:txBody>
                    <a:bodyPr wrap="square"/>
                    <a:lstStyle/>
                    <a:p>
                      <a:r>
                        <a:rPr sz="1000" b="0" i="0">
                          <a:solidFill>
                            <a:srgbClr val="14313B"/>
                          </a:solidFill>
                          <a:latin typeface="Calibri (MS)"/>
                        </a:rPr>
                        <a:t>Pilih tab Struktur Model / Evaluasi Model</a:t>
                      </a:r>
                    </a:p>
                  </a:txBody>
                  <a:tcPr marL="73152" marR="73152" marT="36576" marB="36576" anchor="ctr">
                    <a:solidFill>
                      <a:srgbClr val="EAF8FA"/>
                    </a:solidFill>
                  </a:tcPr>
                </a:tc>
                <a:tc>
                  <a:txBody>
                    <a:bodyPr wrap="square"/>
                    <a:lstStyle/>
                    <a:p>
                      <a:r>
                        <a:rPr sz="1000" b="0" i="0">
                          <a:solidFill>
                            <a:srgbClr val="14313B"/>
                          </a:solidFill>
                          <a:latin typeface="Calibri (MS)"/>
                        </a:rPr>
                        <a:t>Konten sesuai tab</a:t>
                      </a:r>
                    </a:p>
                  </a:txBody>
                  <a:tcPr marL="73152" marR="73152" marT="36576" marB="36576" anchor="ctr">
                    <a:solidFill>
                      <a:srgbClr val="EAF8FA"/>
                    </a:solidFill>
                  </a:tcPr>
                </a:tc>
                <a:tc>
                  <a:txBody>
                    <a:bodyPr wrap="square"/>
                    <a:lstStyle/>
                    <a:p>
                      <a:r>
                        <a:rPr sz="1000" b="0" i="0">
                          <a:solidFill>
                            <a:srgbClr val="14313B"/>
                          </a:solidFill>
                          <a:latin typeface="Calibri (MS)"/>
                        </a:rPr>
                        <a:t>Konten tiap tab sesuai</a:t>
                      </a:r>
                    </a:p>
                  </a:txBody>
                  <a:tcPr marL="73152" marR="73152" marT="36576" marB="36576" anchor="ctr">
                    <a:solidFill>
                      <a:srgbClr val="EAF8FA"/>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3</a:t>
                      </a:r>
                    </a:p>
                  </a:txBody>
                  <a:tcPr marL="73152" marR="73152" marT="36576" marB="36576" anchor="ctr">
                    <a:solidFill>
                      <a:srgbClr val="FFFFFF"/>
                    </a:solidFill>
                  </a:tcPr>
                </a:tc>
                <a:tc>
                  <a:txBody>
                    <a:bodyPr wrap="square"/>
                    <a:lstStyle/>
                    <a:p>
                      <a:r>
                        <a:rPr sz="1000" b="0" i="0">
                          <a:solidFill>
                            <a:srgbClr val="14313B"/>
                          </a:solidFill>
                          <a:latin typeface="Calibri (MS)"/>
                        </a:rPr>
                        <a:t>Pemilihan skenario</a:t>
                      </a:r>
                    </a:p>
                  </a:txBody>
                  <a:tcPr marL="73152" marR="73152" marT="36576" marB="36576" anchor="ctr">
                    <a:solidFill>
                      <a:srgbClr val="FFFFFF"/>
                    </a:solidFill>
                  </a:tcPr>
                </a:tc>
                <a:tc>
                  <a:txBody>
                    <a:bodyPr wrap="square"/>
                    <a:lstStyle/>
                    <a:p>
                      <a:r>
                        <a:rPr sz="1000" b="0" i="0">
                          <a:solidFill>
                            <a:srgbClr val="14313B"/>
                          </a:solidFill>
                          <a:latin typeface="Calibri (MS)"/>
                        </a:rPr>
                        <a:t>Pilih BAU, Sustainable, atau DP</a:t>
                      </a:r>
                    </a:p>
                  </a:txBody>
                  <a:tcPr marL="73152" marR="73152" marT="36576" marB="36576" anchor="ctr">
                    <a:solidFill>
                      <a:srgbClr val="FFFFFF"/>
                    </a:solidFill>
                  </a:tcPr>
                </a:tc>
                <a:tc>
                  <a:txBody>
                    <a:bodyPr wrap="square"/>
                    <a:lstStyle/>
                    <a:p>
                      <a:r>
                        <a:rPr sz="1000" b="0" i="0">
                          <a:solidFill>
                            <a:srgbClr val="14313B"/>
                          </a:solidFill>
                          <a:latin typeface="Calibri (MS)"/>
                        </a:rPr>
                        <a:t>Skenario menjadi aktif</a:t>
                      </a:r>
                    </a:p>
                  </a:txBody>
                  <a:tcPr marL="73152" marR="73152" marT="36576" marB="36576" anchor="ctr">
                    <a:solidFill>
                      <a:srgbClr val="FFFFFF"/>
                    </a:solidFill>
                  </a:tcPr>
                </a:tc>
                <a:tc>
                  <a:txBody>
                    <a:bodyPr wrap="square"/>
                    <a:lstStyle/>
                    <a:p>
                      <a:r>
                        <a:rPr sz="1000" b="0" i="0">
                          <a:solidFill>
                            <a:srgbClr val="14313B"/>
                          </a:solidFill>
                          <a:latin typeface="Calibri (MS)"/>
                        </a:rPr>
                        <a:t>Skenario aktif saat dipilih</a:t>
                      </a:r>
                    </a:p>
                  </a:txBody>
                  <a:tcPr marL="73152" marR="73152" marT="36576" marB="36576" anchor="ctr">
                    <a:solidFill>
                      <a:srgbClr val="FFFFFF"/>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4</a:t>
                      </a:r>
                    </a:p>
                  </a:txBody>
                  <a:tcPr marL="73152" marR="73152" marT="36576" marB="36576" anchor="ctr">
                    <a:solidFill>
                      <a:srgbClr val="EAF8FA"/>
                    </a:solidFill>
                  </a:tcPr>
                </a:tc>
                <a:tc>
                  <a:txBody>
                    <a:bodyPr wrap="square"/>
                    <a:lstStyle/>
                    <a:p>
                      <a:r>
                        <a:rPr sz="1000" b="0" i="0">
                          <a:solidFill>
                            <a:srgbClr val="14313B"/>
                          </a:solidFill>
                          <a:latin typeface="Calibri (MS)"/>
                        </a:rPr>
                        <a:t>Perbandingan skenario</a:t>
                      </a:r>
                    </a:p>
                  </a:txBody>
                  <a:tcPr marL="73152" marR="73152" marT="36576" marB="36576" anchor="ctr">
                    <a:solidFill>
                      <a:srgbClr val="EAF8FA"/>
                    </a:solidFill>
                  </a:tcPr>
                </a:tc>
                <a:tc>
                  <a:txBody>
                    <a:bodyPr wrap="square"/>
                    <a:lstStyle/>
                    <a:p>
                      <a:r>
                        <a:rPr sz="1000" b="0" i="0">
                          <a:solidFill>
                            <a:srgbClr val="14313B"/>
                          </a:solidFill>
                          <a:latin typeface="Calibri (MS)"/>
                        </a:rPr>
                        <a:t>Aktifkan Bandingkan Semua Skenario</a:t>
                      </a:r>
                    </a:p>
                  </a:txBody>
                  <a:tcPr marL="73152" marR="73152" marT="36576" marB="36576" anchor="ctr">
                    <a:solidFill>
                      <a:srgbClr val="EAF8FA"/>
                    </a:solidFill>
                  </a:tcPr>
                </a:tc>
                <a:tc>
                  <a:txBody>
                    <a:bodyPr wrap="square"/>
                    <a:lstStyle/>
                    <a:p>
                      <a:r>
                        <a:rPr sz="1000" b="0" i="0">
                          <a:solidFill>
                            <a:srgbClr val="14313B"/>
                          </a:solidFill>
                          <a:latin typeface="Calibri (MS)"/>
                        </a:rPr>
                        <a:t>Tiga skenario dapat dibandingkan</a:t>
                      </a:r>
                    </a:p>
                  </a:txBody>
                  <a:tcPr marL="73152" marR="73152" marT="36576" marB="36576" anchor="ctr">
                    <a:solidFill>
                      <a:srgbClr val="EAF8FA"/>
                    </a:solidFill>
                  </a:tcPr>
                </a:tc>
                <a:tc>
                  <a:txBody>
                    <a:bodyPr wrap="square"/>
                    <a:lstStyle/>
                    <a:p>
                      <a:r>
                        <a:rPr sz="1000" b="0" i="0">
                          <a:solidFill>
                            <a:srgbClr val="14313B"/>
                          </a:solidFill>
                          <a:latin typeface="Calibri (MS)"/>
                        </a:rPr>
                        <a:t>Ketiganya tampil dan dapat dibandingkan</a:t>
                      </a:r>
                    </a:p>
                  </a:txBody>
                  <a:tcPr marL="73152" marR="73152" marT="36576" marB="36576" anchor="ctr">
                    <a:solidFill>
                      <a:srgbClr val="EAF8FA"/>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5</a:t>
                      </a:r>
                    </a:p>
                  </a:txBody>
                  <a:tcPr marL="73152" marR="73152" marT="36576" marB="36576" anchor="ctr">
                    <a:solidFill>
                      <a:srgbClr val="FFFFFF"/>
                    </a:solidFill>
                  </a:tcPr>
                </a:tc>
                <a:tc>
                  <a:txBody>
                    <a:bodyPr wrap="square"/>
                    <a:lstStyle/>
                    <a:p>
                      <a:r>
                        <a:rPr sz="1000" b="0" i="0">
                          <a:solidFill>
                            <a:srgbClr val="14313B"/>
                          </a:solidFill>
                          <a:latin typeface="Calibri (MS)"/>
                        </a:rPr>
                        <a:t>Menjalankan simulasi</a:t>
                      </a:r>
                    </a:p>
                  </a:txBody>
                  <a:tcPr marL="73152" marR="73152" marT="36576" marB="36576" anchor="ctr">
                    <a:solidFill>
                      <a:srgbClr val="FFFFFF"/>
                    </a:solidFill>
                  </a:tcPr>
                </a:tc>
                <a:tc>
                  <a:txBody>
                    <a:bodyPr wrap="square"/>
                    <a:lstStyle/>
                    <a:p>
                      <a:r>
                        <a:rPr sz="1000" b="0" i="0">
                          <a:solidFill>
                            <a:srgbClr val="14313B"/>
                          </a:solidFill>
                          <a:latin typeface="Calibri (MS)"/>
                        </a:rPr>
                        <a:t>Tekan Jalankan Simulasi</a:t>
                      </a:r>
                    </a:p>
                  </a:txBody>
                  <a:tcPr marL="73152" marR="73152" marT="36576" marB="36576" anchor="ctr">
                    <a:solidFill>
                      <a:srgbClr val="FFFFFF"/>
                    </a:solidFill>
                  </a:tcPr>
                </a:tc>
                <a:tc>
                  <a:txBody>
                    <a:bodyPr wrap="square"/>
                    <a:lstStyle/>
                    <a:p>
                      <a:r>
                        <a:rPr sz="1000" b="0" i="0">
                          <a:solidFill>
                            <a:srgbClr val="14313B"/>
                          </a:solidFill>
                          <a:latin typeface="Calibri (MS)"/>
                        </a:rPr>
                        <a:t>Hasil 2025–2050 tampil</a:t>
                      </a:r>
                    </a:p>
                  </a:txBody>
                  <a:tcPr marL="73152" marR="73152" marT="36576" marB="36576" anchor="ctr">
                    <a:solidFill>
                      <a:srgbClr val="FFFFFF"/>
                    </a:solidFill>
                  </a:tcPr>
                </a:tc>
                <a:tc>
                  <a:txBody>
                    <a:bodyPr wrap="square"/>
                    <a:lstStyle/>
                    <a:p>
                      <a:r>
                        <a:rPr sz="1000" b="0" i="0">
                          <a:solidFill>
                            <a:srgbClr val="14313B"/>
                          </a:solidFill>
                          <a:latin typeface="Calibri (MS)"/>
                        </a:rPr>
                        <a:t>Simulasi berjalan, hasil tampil</a:t>
                      </a:r>
                    </a:p>
                  </a:txBody>
                  <a:tcPr marL="73152" marR="73152" marT="36576" marB="36576" anchor="ctr">
                    <a:solidFill>
                      <a:srgbClr val="FFFFFF"/>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6</a:t>
                      </a:r>
                    </a:p>
                  </a:txBody>
                  <a:tcPr marL="73152" marR="73152" marT="36576" marB="36576" anchor="ctr">
                    <a:solidFill>
                      <a:srgbClr val="EAF8FA"/>
                    </a:solidFill>
                  </a:tcPr>
                </a:tc>
                <a:tc>
                  <a:txBody>
                    <a:bodyPr wrap="square"/>
                    <a:lstStyle/>
                    <a:p>
                      <a:r>
                        <a:rPr sz="1000" b="0" i="0">
                          <a:solidFill>
                            <a:srgbClr val="14313B"/>
                          </a:solidFill>
                          <a:latin typeface="Calibri (MS)"/>
                        </a:rPr>
                        <a:t>Pemilihan variabel keluaran</a:t>
                      </a:r>
                    </a:p>
                  </a:txBody>
                  <a:tcPr marL="73152" marR="73152" marT="36576" marB="36576" anchor="ctr">
                    <a:solidFill>
                      <a:srgbClr val="EAF8FA"/>
                    </a:solidFill>
                  </a:tcPr>
                </a:tc>
                <a:tc>
                  <a:txBody>
                    <a:bodyPr wrap="square"/>
                    <a:lstStyle/>
                    <a:p>
                      <a:r>
                        <a:rPr sz="1000" b="0" i="0">
                          <a:solidFill>
                            <a:srgbClr val="14313B"/>
                          </a:solidFill>
                          <a:latin typeface="Calibri (MS)"/>
                        </a:rPr>
                        <a:t>Pilih / batalkan variabel output</a:t>
                      </a:r>
                    </a:p>
                  </a:txBody>
                  <a:tcPr marL="73152" marR="73152" marT="36576" marB="36576" anchor="ctr">
                    <a:solidFill>
                      <a:srgbClr val="EAF8FA"/>
                    </a:solidFill>
                  </a:tcPr>
                </a:tc>
                <a:tc>
                  <a:txBody>
                    <a:bodyPr wrap="square"/>
                    <a:lstStyle/>
                    <a:p>
                      <a:r>
                        <a:rPr sz="1000" b="0" i="0">
                          <a:solidFill>
                            <a:srgbClr val="14313B"/>
                          </a:solidFill>
                          <a:latin typeface="Calibri (MS)"/>
                        </a:rPr>
                        <a:t>Grafik dan data menyesuaikan</a:t>
                      </a:r>
                    </a:p>
                  </a:txBody>
                  <a:tcPr marL="73152" marR="73152" marT="36576" marB="36576" anchor="ctr">
                    <a:solidFill>
                      <a:srgbClr val="EAF8FA"/>
                    </a:solidFill>
                  </a:tcPr>
                </a:tc>
                <a:tc>
                  <a:txBody>
                    <a:bodyPr wrap="square"/>
                    <a:lstStyle/>
                    <a:p>
                      <a:r>
                        <a:rPr sz="1000" b="0" i="0">
                          <a:solidFill>
                            <a:srgbClr val="14313B"/>
                          </a:solidFill>
                          <a:latin typeface="Calibri (MS)"/>
                        </a:rPr>
                        <a:t>Grafik dan data sesuai pilihan</a:t>
                      </a:r>
                    </a:p>
                  </a:txBody>
                  <a:tcPr marL="73152" marR="73152" marT="36576" marB="36576" anchor="ctr">
                    <a:solidFill>
                      <a:srgbClr val="EAF8FA"/>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7</a:t>
                      </a:r>
                    </a:p>
                  </a:txBody>
                  <a:tcPr marL="73152" marR="73152" marT="36576" marB="36576" anchor="ctr">
                    <a:solidFill>
                      <a:srgbClr val="FFFFFF"/>
                    </a:solidFill>
                  </a:tcPr>
                </a:tc>
                <a:tc>
                  <a:txBody>
                    <a:bodyPr wrap="square"/>
                    <a:lstStyle/>
                    <a:p>
                      <a:r>
                        <a:rPr sz="1000" b="0" i="0">
                          <a:solidFill>
                            <a:srgbClr val="14313B"/>
                          </a:solidFill>
                          <a:latin typeface="Calibri (MS)"/>
                        </a:rPr>
                        <a:t>Ubah Insentif Kebijakan</a:t>
                      </a:r>
                    </a:p>
                  </a:txBody>
                  <a:tcPr marL="73152" marR="73152" marT="36576" marB="36576" anchor="ctr">
                    <a:solidFill>
                      <a:srgbClr val="FFFFFF"/>
                    </a:solidFill>
                  </a:tcPr>
                </a:tc>
                <a:tc>
                  <a:txBody>
                    <a:bodyPr wrap="square"/>
                    <a:lstStyle/>
                    <a:p>
                      <a:r>
                        <a:rPr sz="1000" b="0" i="0">
                          <a:solidFill>
                            <a:srgbClr val="14313B"/>
                          </a:solidFill>
                          <a:latin typeface="Calibri (MS)"/>
                        </a:rPr>
                        <a:t>Geser kontrol Insentif</a:t>
                      </a:r>
                    </a:p>
                  </a:txBody>
                  <a:tcPr marL="73152" marR="73152" marT="36576" marB="36576" anchor="ctr">
                    <a:solidFill>
                      <a:srgbClr val="FFFFFF"/>
                    </a:solidFill>
                  </a:tcPr>
                </a:tc>
                <a:tc>
                  <a:txBody>
                    <a:bodyPr wrap="square"/>
                    <a:lstStyle/>
                    <a:p>
                      <a:r>
                        <a:rPr sz="100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r>
                        <a:rPr sz="100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8</a:t>
                      </a:r>
                    </a:p>
                  </a:txBody>
                  <a:tcPr marL="73152" marR="73152" marT="36576" marB="36576" anchor="ctr">
                    <a:solidFill>
                      <a:srgbClr val="EAF8FA"/>
                    </a:solidFill>
                  </a:tcPr>
                </a:tc>
                <a:tc>
                  <a:txBody>
                    <a:bodyPr wrap="square"/>
                    <a:lstStyle/>
                    <a:p>
                      <a:r>
                        <a:rPr sz="1000" b="0" i="0">
                          <a:solidFill>
                            <a:srgbClr val="14313B"/>
                          </a:solidFill>
                          <a:latin typeface="Calibri (MS)"/>
                        </a:rPr>
                        <a:t>Ubah Konservasi Lahan</a:t>
                      </a:r>
                    </a:p>
                  </a:txBody>
                  <a:tcPr marL="73152" marR="73152" marT="36576" marB="36576" anchor="ctr">
                    <a:solidFill>
                      <a:srgbClr val="EAF8FA"/>
                    </a:solidFill>
                  </a:tcPr>
                </a:tc>
                <a:tc>
                  <a:txBody>
                    <a:bodyPr wrap="square"/>
                    <a:lstStyle/>
                    <a:p>
                      <a:r>
                        <a:rPr sz="1000" b="0" i="0">
                          <a:solidFill>
                            <a:srgbClr val="14313B"/>
                          </a:solidFill>
                          <a:latin typeface="Calibri (MS)"/>
                        </a:rPr>
                        <a:t>Geser kontrol Konservasi</a:t>
                      </a:r>
                    </a:p>
                  </a:txBody>
                  <a:tcPr marL="73152" marR="73152" marT="36576" marB="36576" anchor="ctr">
                    <a:solidFill>
                      <a:srgbClr val="EAF8FA"/>
                    </a:solidFill>
                  </a:tcPr>
                </a:tc>
                <a:tc>
                  <a:txBody>
                    <a:bodyPr wrap="square"/>
                    <a:lstStyle/>
                    <a:p>
                      <a:r>
                        <a:rPr sz="100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r>
                        <a:rPr sz="100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r h="548640">
                <a:tc>
                  <a:txBody>
                    <a:bodyPr wrap="square"/>
                    <a:lstStyle/>
                    <a:p>
                      <a:pPr algn="ctr"/>
                      <a:r>
                        <a:rPr sz="1000" b="0" i="0">
                          <a:solidFill>
                            <a:srgbClr val="14313B"/>
                          </a:solidFill>
                          <a:latin typeface="Calibri (MS)"/>
                        </a:rPr>
                        <a:t>9</a:t>
                      </a:r>
                    </a:p>
                  </a:txBody>
                  <a:tcPr marL="73152" marR="73152" marT="36576" marB="36576" anchor="ctr">
                    <a:solidFill>
                      <a:srgbClr val="FFFFFF"/>
                    </a:solidFill>
                  </a:tcPr>
                </a:tc>
                <a:tc>
                  <a:txBody>
                    <a:bodyPr wrap="square"/>
                    <a:lstStyle/>
                    <a:p>
                      <a:r>
                        <a:rPr sz="1000" b="0" i="0">
                          <a:solidFill>
                            <a:srgbClr val="14313B"/>
                          </a:solidFill>
                          <a:latin typeface="Calibri (MS)"/>
                        </a:rPr>
                        <a:t>Reset parameter</a:t>
                      </a:r>
                    </a:p>
                  </a:txBody>
                  <a:tcPr marL="73152" marR="73152" marT="36576" marB="36576" anchor="ctr">
                    <a:solidFill>
                      <a:srgbClr val="FFFFFF"/>
                    </a:solidFill>
                  </a:tcPr>
                </a:tc>
                <a:tc>
                  <a:txBody>
                    <a:bodyPr wrap="square"/>
                    <a:lstStyle/>
                    <a:p>
                      <a:r>
                        <a:rPr sz="1000" b="0" i="0">
                          <a:solidFill>
                            <a:srgbClr val="14313B"/>
                          </a:solidFill>
                          <a:latin typeface="Calibri (MS)"/>
                        </a:rPr>
                        <a:t>Ubah parameter lalu tekan Reset ke BAU</a:t>
                      </a:r>
                    </a:p>
                  </a:txBody>
                  <a:tcPr marL="73152" marR="73152" marT="36576" marB="36576" anchor="ctr">
                    <a:solidFill>
                      <a:srgbClr val="FFFFFF"/>
                    </a:solidFill>
                  </a:tcPr>
                </a:tc>
                <a:tc>
                  <a:txBody>
                    <a:bodyPr wrap="square"/>
                    <a:lstStyle/>
                    <a:p>
                      <a:r>
                        <a:rPr sz="1000" b="0" i="0">
                          <a:solidFill>
                            <a:srgbClr val="14313B"/>
                          </a:solidFill>
                          <a:latin typeface="Calibri (MS)"/>
                        </a:rPr>
                        <a:t>Kembali ke konfigurasi BAU</a:t>
                      </a:r>
                    </a:p>
                  </a:txBody>
                  <a:tcPr marL="73152" marR="73152" marT="36576" marB="36576" anchor="ctr">
                    <a:solidFill>
                      <a:srgbClr val="FFFFFF"/>
                    </a:solidFill>
                  </a:tcPr>
                </a:tc>
                <a:tc>
                  <a:txBody>
                    <a:bodyPr wrap="square"/>
                    <a:lstStyle/>
                    <a:p>
                      <a:r>
                        <a:rPr sz="1000" b="0" i="0">
                          <a:solidFill>
                            <a:srgbClr val="14313B"/>
                          </a:solidFill>
                          <a:latin typeface="Calibri (MS)"/>
                        </a:rPr>
                        <a:t>Tombol reset mengembalikan ke BAU</a:t>
                      </a:r>
                    </a:p>
                  </a:txBody>
                  <a:tcPr marL="73152" marR="73152" marT="36576" marB="36576" anchor="ctr">
                    <a:solidFill>
                      <a:srgbClr val="FFFFFF"/>
                    </a:solidFill>
                  </a:tcPr>
                </a:tc>
                <a:tc>
                  <a:txBody>
                    <a:bodyPr wrap="square"/>
                    <a:lstStyle/>
                    <a:p>
                      <a:pPr algn="ctr"/>
                      <a:r>
                        <a:rPr sz="1000" b="0" i="0">
                          <a:solidFill>
                            <a:srgbClr val="14313B"/>
                          </a:solidFill>
                          <a:latin typeface="Calibri (MS)"/>
                        </a:rPr>
                        <a:t>Pass</a:t>
                      </a:r>
                    </a:p>
                  </a:txBody>
                  <a:tcPr marL="73152" marR="73152" marT="36576" marB="36576" anchor="ctr">
                    <a:solidFill>
                      <a:srgbClr val="C9F0D6"/>
                    </a:solidFill>
                  </a:tcPr>
                </a:tc>
              </a:tr>
            </a:tbl>
          </a:graphicData>
        </a:graphic>
      </p:graphicFrame>
      <p:sp>
        <p:nvSpPr>
          <p:cNvPr id="28" name="Rounded Rectangle 27"/>
          <p:cNvSpPr/>
          <p:nvPr/>
        </p:nvSpPr>
        <p:spPr>
          <a:xfrm>
            <a:off x="13350240" y="1874519"/>
            <a:ext cx="4114800" cy="1828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250" b="0" i="1">
                <a:solidFill>
                  <a:srgbClr val="14313B"/>
                </a:solidFill>
                <a:latin typeface="Calibri (MS)"/>
              </a:rPr>
              <a:t>Keberhasilan = Pass ÷ total × 100%</a:t>
            </a:r>
          </a:p>
          <a:p>
            <a:pPr algn="l">
              <a:spcAft>
                <a:spcPts val="300"/>
              </a:spcAft>
            </a:pPr>
            <a:r>
              <a:rPr sz="1250" b="0" i="1">
                <a:solidFill>
                  <a:srgbClr val="14313B"/>
                </a:solidFill>
                <a:latin typeface="Calibri (MS)"/>
              </a:rPr>
              <a:t>= 9 ÷ 9 × 100% = 100%</a:t>
            </a:r>
          </a:p>
        </p:txBody>
      </p:sp>
      <p:sp>
        <p:nvSpPr>
          <p:cNvPr id="29" name="Rounded Rectangle 28"/>
          <p:cNvSpPr/>
          <p:nvPr/>
        </p:nvSpPr>
        <p:spPr>
          <a:xfrm>
            <a:off x="13350240" y="3886200"/>
            <a:ext cx="4114800" cy="128016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2600" b="1" i="0">
                <a:solidFill>
                  <a:srgbClr val="FFFFFF"/>
                </a:solidFill>
                <a:latin typeface="Calibri (MS) Bold"/>
              </a:rPr>
              <a:t>9 / 9 Pass</a:t>
            </a:r>
          </a:p>
          <a:p>
            <a:pPr algn="ctr">
              <a:spcAft>
                <a:spcPts val="300"/>
              </a:spcAft>
            </a:pPr>
            <a:r>
              <a:rPr sz="1200" b="0" i="0">
                <a:solidFill>
                  <a:srgbClr val="D7EEF2"/>
                </a:solidFill>
                <a:latin typeface="Calibri (MS)"/>
              </a:rPr>
              <a:t>tingkat keberhasilan 100%</a:t>
            </a:r>
          </a:p>
        </p:txBody>
      </p:sp>
      <p:sp>
        <p:nvSpPr>
          <p:cNvPr id="30" name="Rounded Rectangle 29"/>
          <p:cNvSpPr/>
          <p:nvPr/>
        </p:nvSpPr>
        <p:spPr>
          <a:xfrm>
            <a:off x="13350240" y="5349240"/>
            <a:ext cx="4114800" cy="29260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Batas tafsir</a:t>
            </a:r>
          </a:p>
          <a:p>
            <a:pPr algn="l">
              <a:spcAft>
                <a:spcPts val="300"/>
              </a:spcAft>
            </a:pPr>
            <a:r>
              <a:rPr sz="1100" b="0" i="0">
                <a:solidFill>
                  <a:srgbClr val="14313B"/>
                </a:solidFill>
                <a:latin typeface="Calibri (MS)"/>
              </a:rPr>
              <a:t>Hanya berlaku untuk sembilan fungsi yang diuji; bukan jaminan aplikasi bebas semua kesalahan.</a:t>
            </a:r>
          </a:p>
          <a:p>
            <a:pPr algn="l">
              <a:spcAft>
                <a:spcPts val="300"/>
              </a:spcAft>
            </a:pPr>
            <a:r>
              <a:rPr sz="1100" b="0" i="0">
                <a:solidFill>
                  <a:srgbClr val="14313B"/>
                </a:solidFill>
                <a:latin typeface="Calibri (MS)"/>
              </a:rPr>
              <a:t>Tidak menilai kemudahan penggunaan; itu diukur terpisah dengan SUS.</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3.9.2 (Tabel 22) dan 4.9.2 (Tabel 64); BlackBox.xlsx.</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800" b="true">
                <a:solidFill>
                  <a:srgbClr val="0B5E6E"/>
                </a:solidFill>
                <a:latin typeface="Calibri (MS) Bold"/>
                <a:ea typeface="Calibri (MS) Bold"/>
                <a:cs typeface="Calibri (MS) Bold"/>
                <a:sym typeface="Calibri (MS) Bold"/>
              </a:rPr>
              <a:t>Lampiran 84 · System Usability Scale (1/3): Instrumen dan Cara Hitung</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163</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Sepuluh pernyataan skala Likert 1–5 (Brooke, 1996); butir ganjil bernada positif, butir genap bernada negatif</a:t>
            </a:r>
          </a:p>
        </p:txBody>
      </p:sp>
      <p:graphicFrame>
        <p:nvGraphicFramePr>
          <p:cNvPr id="27" name="Table 26"/>
          <p:cNvGraphicFramePr>
            <a:graphicFrameLocks noGrp="1"/>
          </p:cNvGraphicFramePr>
          <p:nvPr/>
        </p:nvGraphicFramePr>
        <p:xfrm>
          <a:off x="822960" y="1874519"/>
          <a:ext cx="9875520" cy="5532120"/>
        </p:xfrm>
        <a:graphic>
          <a:graphicData uri="http://schemas.openxmlformats.org/drawingml/2006/table">
            <a:tbl>
              <a:tblPr firstRow="1" bandRow="1">
                <a:tableStyleId>{5C22544A-7EE6-4342-B048-85BDC9FD1C3A}</a:tableStyleId>
              </a:tblPr>
              <a:tblGrid>
                <a:gridCol w="548640"/>
                <a:gridCol w="7863840"/>
                <a:gridCol w="1463040"/>
              </a:tblGrid>
              <a:tr h="502920">
                <a:tc>
                  <a:txBody>
                    <a:bodyPr wrap="square"/>
                    <a:lstStyle/>
                    <a:p>
                      <a:pPr algn="ctr"/>
                      <a:r>
                        <a:rPr sz="1050" b="1" i="0">
                          <a:solidFill>
                            <a:srgbClr val="FFFFFF"/>
                          </a:solidFill>
                          <a:latin typeface="Calibri (MS) Bold"/>
                        </a:rPr>
                        <a:t>No</a:t>
                      </a:r>
                    </a:p>
                  </a:txBody>
                  <a:tcPr marL="73152" marR="73152" marT="36576" marB="36576" anchor="ctr">
                    <a:solidFill>
                      <a:srgbClr val="0B5E6E"/>
                    </a:solidFill>
                  </a:tcPr>
                </a:tc>
                <a:tc>
                  <a:txBody>
                    <a:bodyPr wrap="square"/>
                    <a:lstStyle/>
                    <a:p>
                      <a:r>
                        <a:rPr sz="1050" b="1" i="0">
                          <a:solidFill>
                            <a:srgbClr val="FFFFFF"/>
                          </a:solidFill>
                          <a:latin typeface="Calibri (MS) Bold"/>
                        </a:rPr>
                        <a:t>Pernyataan</a:t>
                      </a:r>
                    </a:p>
                  </a:txBody>
                  <a:tcPr marL="73152" marR="73152" marT="36576" marB="36576" anchor="ctr">
                    <a:solidFill>
                      <a:srgbClr val="0B5E6E"/>
                    </a:solidFill>
                  </a:tcPr>
                </a:tc>
                <a:tc>
                  <a:txBody>
                    <a:bodyPr wrap="square"/>
                    <a:lstStyle/>
                    <a:p>
                      <a:pPr algn="ctr"/>
                      <a:r>
                        <a:rPr sz="1050" b="1" i="0">
                          <a:solidFill>
                            <a:srgbClr val="FFFFFF"/>
                          </a:solidFill>
                          <a:latin typeface="Calibri (MS) Bold"/>
                        </a:rPr>
                        <a:t>Kontribusi</a:t>
                      </a:r>
                    </a:p>
                  </a:txBody>
                  <a:tcPr marL="73152" marR="73152" marT="36576" marB="36576" anchor="ctr">
                    <a:solidFill>
                      <a:srgbClr val="0B5E6E"/>
                    </a:solidFill>
                  </a:tcPr>
                </a:tc>
              </a:tr>
              <a:tr h="502920">
                <a:tc>
                  <a:txBody>
                    <a:bodyPr wrap="square"/>
                    <a:lstStyle/>
                    <a:p>
                      <a:pPr algn="ctr"/>
                      <a:r>
                        <a:rPr sz="1050" b="0" i="0">
                          <a:solidFill>
                            <a:srgbClr val="14313B"/>
                          </a:solidFill>
                          <a:latin typeface="Calibri (MS)"/>
                        </a:rPr>
                        <a:t>1</a:t>
                      </a:r>
                    </a:p>
                  </a:txBody>
                  <a:tcPr marL="73152" marR="73152" marT="36576" marB="36576" anchor="ctr">
                    <a:solidFill>
                      <a:srgbClr val="FFFFFF"/>
                    </a:solidFill>
                  </a:tcPr>
                </a:tc>
                <a:tc>
                  <a:txBody>
                    <a:bodyPr wrap="square"/>
                    <a:lstStyle/>
                    <a:p>
                      <a:r>
                        <a:rPr sz="1050" b="0" i="0">
                          <a:solidFill>
                            <a:srgbClr val="14313B"/>
                          </a:solidFill>
                          <a:latin typeface="Calibri (MS)"/>
                        </a:rPr>
                        <a:t>Saya rasa saya akan sering menggunakan aplikasi ini.</a:t>
                      </a:r>
                    </a:p>
                  </a:txBody>
                  <a:tcPr marL="73152" marR="73152" marT="36576" marB="36576" anchor="ctr">
                    <a:solidFill>
                      <a:srgbClr val="FFFFFF"/>
                    </a:solidFill>
                  </a:tcPr>
                </a:tc>
                <a:tc>
                  <a:txBody>
                    <a:bodyPr wrap="square"/>
                    <a:lstStyle/>
                    <a:p>
                      <a:pPr algn="ctr"/>
                      <a:r>
                        <a:rPr sz="1050" b="0" i="0">
                          <a:solidFill>
                            <a:srgbClr val="14313B"/>
                          </a:solidFill>
                          <a:latin typeface="Calibri (MS)"/>
                        </a:rPr>
                        <a:t>x − 1</a:t>
                      </a:r>
                    </a:p>
                  </a:txBody>
                  <a:tcPr marL="73152" marR="73152" marT="36576" marB="36576" anchor="ctr">
                    <a:solidFill>
                      <a:srgbClr val="C9F0D6"/>
                    </a:solidFill>
                  </a:tcPr>
                </a:tc>
              </a:tr>
              <a:tr h="502920">
                <a:tc>
                  <a:txBody>
                    <a:bodyPr wrap="square"/>
                    <a:lstStyle/>
                    <a:p>
                      <a:pPr algn="ctr"/>
                      <a:r>
                        <a:rPr sz="1050" b="0" i="0">
                          <a:solidFill>
                            <a:srgbClr val="14313B"/>
                          </a:solidFill>
                          <a:latin typeface="Calibri (MS)"/>
                        </a:rPr>
                        <a:t>2</a:t>
                      </a:r>
                    </a:p>
                  </a:txBody>
                  <a:tcPr marL="73152" marR="73152" marT="36576" marB="36576" anchor="ctr">
                    <a:solidFill>
                      <a:srgbClr val="EAF8FA"/>
                    </a:solidFill>
                  </a:tcPr>
                </a:tc>
                <a:tc>
                  <a:txBody>
                    <a:bodyPr wrap="square"/>
                    <a:lstStyle/>
                    <a:p>
                      <a:r>
                        <a:rPr sz="1050" b="0" i="0">
                          <a:solidFill>
                            <a:srgbClr val="14313B"/>
                          </a:solidFill>
                          <a:latin typeface="Calibri (MS)"/>
                        </a:rPr>
                        <a:t>Saya merasa aplikasi ini terlalu rumit padahal dapat dibuat lebih sederhana.</a:t>
                      </a:r>
                    </a:p>
                  </a:txBody>
                  <a:tcPr marL="73152" marR="73152" marT="36576" marB="36576" anchor="ctr">
                    <a:solidFill>
                      <a:srgbClr val="EAF8FA"/>
                    </a:solidFill>
                  </a:tcPr>
                </a:tc>
                <a:tc>
                  <a:txBody>
                    <a:bodyPr wrap="square"/>
                    <a:lstStyle/>
                    <a:p>
                      <a:pPr algn="ctr"/>
                      <a:r>
                        <a:rPr sz="1050" b="0" i="0">
                          <a:solidFill>
                            <a:srgbClr val="14313B"/>
                          </a:solidFill>
                          <a:latin typeface="Calibri (MS)"/>
                        </a:rPr>
                        <a:t>5 − x</a:t>
                      </a:r>
                    </a:p>
                  </a:txBody>
                  <a:tcPr marL="73152" marR="73152" marT="36576" marB="36576" anchor="ctr">
                    <a:solidFill>
                      <a:srgbClr val="FDE2DE"/>
                    </a:solidFill>
                  </a:tcPr>
                </a:tc>
              </a:tr>
              <a:tr h="502920">
                <a:tc>
                  <a:txBody>
                    <a:bodyPr wrap="square"/>
                    <a:lstStyle/>
                    <a:p>
                      <a:pPr algn="ctr"/>
                      <a:r>
                        <a:rPr sz="1050" b="0" i="0">
                          <a:solidFill>
                            <a:srgbClr val="14313B"/>
                          </a:solidFill>
                          <a:latin typeface="Calibri (MS)"/>
                        </a:rPr>
                        <a:t>3</a:t>
                      </a:r>
                    </a:p>
                  </a:txBody>
                  <a:tcPr marL="73152" marR="73152" marT="36576" marB="36576" anchor="ctr">
                    <a:solidFill>
                      <a:srgbClr val="FFFFFF"/>
                    </a:solidFill>
                  </a:tcPr>
                </a:tc>
                <a:tc>
                  <a:txBody>
                    <a:bodyPr wrap="square"/>
                    <a:lstStyle/>
                    <a:p>
                      <a:r>
                        <a:rPr sz="1050" b="0" i="0">
                          <a:solidFill>
                            <a:srgbClr val="14313B"/>
                          </a:solidFill>
                          <a:latin typeface="Calibri (MS)"/>
                        </a:rPr>
                        <a:t>Saya rasa aplikasi ini mudah digunakan.</a:t>
                      </a:r>
                    </a:p>
                  </a:txBody>
                  <a:tcPr marL="73152" marR="73152" marT="36576" marB="36576" anchor="ctr">
                    <a:solidFill>
                      <a:srgbClr val="FFFFFF"/>
                    </a:solidFill>
                  </a:tcPr>
                </a:tc>
                <a:tc>
                  <a:txBody>
                    <a:bodyPr wrap="square"/>
                    <a:lstStyle/>
                    <a:p>
                      <a:pPr algn="ctr"/>
                      <a:r>
                        <a:rPr sz="1050" b="0" i="0">
                          <a:solidFill>
                            <a:srgbClr val="14313B"/>
                          </a:solidFill>
                          <a:latin typeface="Calibri (MS)"/>
                        </a:rPr>
                        <a:t>x − 1</a:t>
                      </a:r>
                    </a:p>
                  </a:txBody>
                  <a:tcPr marL="73152" marR="73152" marT="36576" marB="36576" anchor="ctr">
                    <a:solidFill>
                      <a:srgbClr val="C9F0D6"/>
                    </a:solidFill>
                  </a:tcPr>
                </a:tc>
              </a:tr>
              <a:tr h="502920">
                <a:tc>
                  <a:txBody>
                    <a:bodyPr wrap="square"/>
                    <a:lstStyle/>
                    <a:p>
                      <a:pPr algn="ctr"/>
                      <a:r>
                        <a:rPr sz="1050" b="0" i="0">
                          <a:solidFill>
                            <a:srgbClr val="14313B"/>
                          </a:solidFill>
                          <a:latin typeface="Calibri (MS)"/>
                        </a:rPr>
                        <a:t>4</a:t>
                      </a:r>
                    </a:p>
                  </a:txBody>
                  <a:tcPr marL="73152" marR="73152" marT="36576" marB="36576" anchor="ctr">
                    <a:solidFill>
                      <a:srgbClr val="EAF8FA"/>
                    </a:solidFill>
                  </a:tcPr>
                </a:tc>
                <a:tc>
                  <a:txBody>
                    <a:bodyPr wrap="square"/>
                    <a:lstStyle/>
                    <a:p>
                      <a:r>
                        <a:rPr sz="1050" b="0" i="0">
                          <a:solidFill>
                            <a:srgbClr val="14313B"/>
                          </a:solidFill>
                          <a:latin typeface="Calibri (MS)"/>
                        </a:rPr>
                        <a:t>Saya rasa saya memerlukan bantuan orang teknis untuk dapat menggunakan aplikasi ini.</a:t>
                      </a:r>
                    </a:p>
                  </a:txBody>
                  <a:tcPr marL="73152" marR="73152" marT="36576" marB="36576" anchor="ctr">
                    <a:solidFill>
                      <a:srgbClr val="EAF8FA"/>
                    </a:solidFill>
                  </a:tcPr>
                </a:tc>
                <a:tc>
                  <a:txBody>
                    <a:bodyPr wrap="square"/>
                    <a:lstStyle/>
                    <a:p>
                      <a:pPr algn="ctr"/>
                      <a:r>
                        <a:rPr sz="1050" b="0" i="0">
                          <a:solidFill>
                            <a:srgbClr val="14313B"/>
                          </a:solidFill>
                          <a:latin typeface="Calibri (MS)"/>
                        </a:rPr>
                        <a:t>5 − x</a:t>
                      </a:r>
                    </a:p>
                  </a:txBody>
                  <a:tcPr marL="73152" marR="73152" marT="36576" marB="36576" anchor="ctr">
                    <a:solidFill>
                      <a:srgbClr val="FDE2DE"/>
                    </a:solidFill>
                  </a:tcPr>
                </a:tc>
              </a:tr>
              <a:tr h="502920">
                <a:tc>
                  <a:txBody>
                    <a:bodyPr wrap="square"/>
                    <a:lstStyle/>
                    <a:p>
                      <a:pPr algn="ctr"/>
                      <a:r>
                        <a:rPr sz="1050" b="0" i="0">
                          <a:solidFill>
                            <a:srgbClr val="14313B"/>
                          </a:solidFill>
                          <a:latin typeface="Calibri (MS)"/>
                        </a:rPr>
                        <a:t>5</a:t>
                      </a:r>
                    </a:p>
                  </a:txBody>
                  <a:tcPr marL="73152" marR="73152" marT="36576" marB="36576" anchor="ctr">
                    <a:solidFill>
                      <a:srgbClr val="FFFFFF"/>
                    </a:solidFill>
                  </a:tcPr>
                </a:tc>
                <a:tc>
                  <a:txBody>
                    <a:bodyPr wrap="square"/>
                    <a:lstStyle/>
                    <a:p>
                      <a:r>
                        <a:rPr sz="1050" b="0" i="0">
                          <a:solidFill>
                            <a:srgbClr val="14313B"/>
                          </a:solidFill>
                          <a:latin typeface="Calibri (MS)"/>
                        </a:rPr>
                        <a:t>Saya rasa berbagai fungsi dalam aplikasi ini terpadu dengan baik.</a:t>
                      </a:r>
                    </a:p>
                  </a:txBody>
                  <a:tcPr marL="73152" marR="73152" marT="36576" marB="36576" anchor="ctr">
                    <a:solidFill>
                      <a:srgbClr val="FFFFFF"/>
                    </a:solidFill>
                  </a:tcPr>
                </a:tc>
                <a:tc>
                  <a:txBody>
                    <a:bodyPr wrap="square"/>
                    <a:lstStyle/>
                    <a:p>
                      <a:pPr algn="ctr"/>
                      <a:r>
                        <a:rPr sz="1050" b="0" i="0">
                          <a:solidFill>
                            <a:srgbClr val="14313B"/>
                          </a:solidFill>
                          <a:latin typeface="Calibri (MS)"/>
                        </a:rPr>
                        <a:t>x − 1</a:t>
                      </a:r>
                    </a:p>
                  </a:txBody>
                  <a:tcPr marL="73152" marR="73152" marT="36576" marB="36576" anchor="ctr">
                    <a:solidFill>
                      <a:srgbClr val="C9F0D6"/>
                    </a:solidFill>
                  </a:tcPr>
                </a:tc>
              </a:tr>
              <a:tr h="502920">
                <a:tc>
                  <a:txBody>
                    <a:bodyPr wrap="square"/>
                    <a:lstStyle/>
                    <a:p>
                      <a:pPr algn="ctr"/>
                      <a:r>
                        <a:rPr sz="1050" b="0" i="0">
                          <a:solidFill>
                            <a:srgbClr val="14313B"/>
                          </a:solidFill>
                          <a:latin typeface="Calibri (MS)"/>
                        </a:rPr>
                        <a:t>6</a:t>
                      </a:r>
                    </a:p>
                  </a:txBody>
                  <a:tcPr marL="73152" marR="73152" marT="36576" marB="36576" anchor="ctr">
                    <a:solidFill>
                      <a:srgbClr val="EAF8FA"/>
                    </a:solidFill>
                  </a:tcPr>
                </a:tc>
                <a:tc>
                  <a:txBody>
                    <a:bodyPr wrap="square"/>
                    <a:lstStyle/>
                    <a:p>
                      <a:r>
                        <a:rPr sz="1050" b="0" i="0">
                          <a:solidFill>
                            <a:srgbClr val="14313B"/>
                          </a:solidFill>
                          <a:latin typeface="Calibri (MS)"/>
                        </a:rPr>
                        <a:t>Saya rasa terlalu banyak ketidakkonsistenan dalam aplikasi ini.</a:t>
                      </a:r>
                    </a:p>
                  </a:txBody>
                  <a:tcPr marL="73152" marR="73152" marT="36576" marB="36576" anchor="ctr">
                    <a:solidFill>
                      <a:srgbClr val="EAF8FA"/>
                    </a:solidFill>
                  </a:tcPr>
                </a:tc>
                <a:tc>
                  <a:txBody>
                    <a:bodyPr wrap="square"/>
                    <a:lstStyle/>
                    <a:p>
                      <a:pPr algn="ctr"/>
                      <a:r>
                        <a:rPr sz="1050" b="0" i="0">
                          <a:solidFill>
                            <a:srgbClr val="14313B"/>
                          </a:solidFill>
                          <a:latin typeface="Calibri (MS)"/>
                        </a:rPr>
                        <a:t>5 − x</a:t>
                      </a:r>
                    </a:p>
                  </a:txBody>
                  <a:tcPr marL="73152" marR="73152" marT="36576" marB="36576" anchor="ctr">
                    <a:solidFill>
                      <a:srgbClr val="FDE2DE"/>
                    </a:solidFill>
                  </a:tcPr>
                </a:tc>
              </a:tr>
              <a:tr h="502920">
                <a:tc>
                  <a:txBody>
                    <a:bodyPr wrap="square"/>
                    <a:lstStyle/>
                    <a:p>
                      <a:pPr algn="ctr"/>
                      <a:r>
                        <a:rPr sz="1050" b="0" i="0">
                          <a:solidFill>
                            <a:srgbClr val="14313B"/>
                          </a:solidFill>
                          <a:latin typeface="Calibri (MS)"/>
                        </a:rPr>
                        <a:t>7</a:t>
                      </a:r>
                    </a:p>
                  </a:txBody>
                  <a:tcPr marL="73152" marR="73152" marT="36576" marB="36576" anchor="ctr">
                    <a:solidFill>
                      <a:srgbClr val="FFFFFF"/>
                    </a:solidFill>
                  </a:tcPr>
                </a:tc>
                <a:tc>
                  <a:txBody>
                    <a:bodyPr wrap="square"/>
                    <a:lstStyle/>
                    <a:p>
                      <a:r>
                        <a:rPr sz="1050" b="0" i="0">
                          <a:solidFill>
                            <a:srgbClr val="14313B"/>
                          </a:solidFill>
                          <a:latin typeface="Calibri (MS)"/>
                        </a:rPr>
                        <a:t>Saya rasa kebanyakan orang akan cepat memahami cara menggunakan aplikasi ini.</a:t>
                      </a:r>
                    </a:p>
                  </a:txBody>
                  <a:tcPr marL="73152" marR="73152" marT="36576" marB="36576" anchor="ctr">
                    <a:solidFill>
                      <a:srgbClr val="FFFFFF"/>
                    </a:solidFill>
                  </a:tcPr>
                </a:tc>
                <a:tc>
                  <a:txBody>
                    <a:bodyPr wrap="square"/>
                    <a:lstStyle/>
                    <a:p>
                      <a:pPr algn="ctr"/>
                      <a:r>
                        <a:rPr sz="1050" b="0" i="0">
                          <a:solidFill>
                            <a:srgbClr val="14313B"/>
                          </a:solidFill>
                          <a:latin typeface="Calibri (MS)"/>
                        </a:rPr>
                        <a:t>x − 1</a:t>
                      </a:r>
                    </a:p>
                  </a:txBody>
                  <a:tcPr marL="73152" marR="73152" marT="36576" marB="36576" anchor="ctr">
                    <a:solidFill>
                      <a:srgbClr val="C9F0D6"/>
                    </a:solidFill>
                  </a:tcPr>
                </a:tc>
              </a:tr>
              <a:tr h="502920">
                <a:tc>
                  <a:txBody>
                    <a:bodyPr wrap="square"/>
                    <a:lstStyle/>
                    <a:p>
                      <a:pPr algn="ctr"/>
                      <a:r>
                        <a:rPr sz="1050" b="0" i="0">
                          <a:solidFill>
                            <a:srgbClr val="14313B"/>
                          </a:solidFill>
                          <a:latin typeface="Calibri (MS)"/>
                        </a:rPr>
                        <a:t>8</a:t>
                      </a:r>
                    </a:p>
                  </a:txBody>
                  <a:tcPr marL="73152" marR="73152" marT="36576" marB="36576" anchor="ctr">
                    <a:solidFill>
                      <a:srgbClr val="EAF8FA"/>
                    </a:solidFill>
                  </a:tcPr>
                </a:tc>
                <a:tc>
                  <a:txBody>
                    <a:bodyPr wrap="square"/>
                    <a:lstStyle/>
                    <a:p>
                      <a:r>
                        <a:rPr sz="1050" b="0" i="0">
                          <a:solidFill>
                            <a:srgbClr val="14313B"/>
                          </a:solidFill>
                          <a:latin typeface="Calibri (MS)"/>
                        </a:rPr>
                        <a:t>Saya rasa aplikasi ini merepotkan untuk digunakan.</a:t>
                      </a:r>
                    </a:p>
                  </a:txBody>
                  <a:tcPr marL="73152" marR="73152" marT="36576" marB="36576" anchor="ctr">
                    <a:solidFill>
                      <a:srgbClr val="EAF8FA"/>
                    </a:solidFill>
                  </a:tcPr>
                </a:tc>
                <a:tc>
                  <a:txBody>
                    <a:bodyPr wrap="square"/>
                    <a:lstStyle/>
                    <a:p>
                      <a:pPr algn="ctr"/>
                      <a:r>
                        <a:rPr sz="1050" b="0" i="0">
                          <a:solidFill>
                            <a:srgbClr val="14313B"/>
                          </a:solidFill>
                          <a:latin typeface="Calibri (MS)"/>
                        </a:rPr>
                        <a:t>5 − x</a:t>
                      </a:r>
                    </a:p>
                  </a:txBody>
                  <a:tcPr marL="73152" marR="73152" marT="36576" marB="36576" anchor="ctr">
                    <a:solidFill>
                      <a:srgbClr val="FDE2DE"/>
                    </a:solidFill>
                  </a:tcPr>
                </a:tc>
              </a:tr>
              <a:tr h="502920">
                <a:tc>
                  <a:txBody>
                    <a:bodyPr wrap="square"/>
                    <a:lstStyle/>
                    <a:p>
                      <a:pPr algn="ctr"/>
                      <a:r>
                        <a:rPr sz="1050" b="0" i="0">
                          <a:solidFill>
                            <a:srgbClr val="14313B"/>
                          </a:solidFill>
                          <a:latin typeface="Calibri (MS)"/>
                        </a:rPr>
                        <a:t>9</a:t>
                      </a:r>
                    </a:p>
                  </a:txBody>
                  <a:tcPr marL="73152" marR="73152" marT="36576" marB="36576" anchor="ctr">
                    <a:solidFill>
                      <a:srgbClr val="FFFFFF"/>
                    </a:solidFill>
                  </a:tcPr>
                </a:tc>
                <a:tc>
                  <a:txBody>
                    <a:bodyPr wrap="square"/>
                    <a:lstStyle/>
                    <a:p>
                      <a:r>
                        <a:rPr sz="1050" b="0" i="0">
                          <a:solidFill>
                            <a:srgbClr val="14313B"/>
                          </a:solidFill>
                          <a:latin typeface="Calibri (MS)"/>
                        </a:rPr>
                        <a:t>Saya merasa yakin saat menggunakan aplikasi ini.</a:t>
                      </a:r>
                    </a:p>
                  </a:txBody>
                  <a:tcPr marL="73152" marR="73152" marT="36576" marB="36576" anchor="ctr">
                    <a:solidFill>
                      <a:srgbClr val="FFFFFF"/>
                    </a:solidFill>
                  </a:tcPr>
                </a:tc>
                <a:tc>
                  <a:txBody>
                    <a:bodyPr wrap="square"/>
                    <a:lstStyle/>
                    <a:p>
                      <a:pPr algn="ctr"/>
                      <a:r>
                        <a:rPr sz="1050" b="0" i="0">
                          <a:solidFill>
                            <a:srgbClr val="14313B"/>
                          </a:solidFill>
                          <a:latin typeface="Calibri (MS)"/>
                        </a:rPr>
                        <a:t>x − 1</a:t>
                      </a:r>
                    </a:p>
                  </a:txBody>
                  <a:tcPr marL="73152" marR="73152" marT="36576" marB="36576" anchor="ctr">
                    <a:solidFill>
                      <a:srgbClr val="C9F0D6"/>
                    </a:solidFill>
                  </a:tcPr>
                </a:tc>
              </a:tr>
              <a:tr h="502920">
                <a:tc>
                  <a:txBody>
                    <a:bodyPr wrap="square"/>
                    <a:lstStyle/>
                    <a:p>
                      <a:pPr algn="ctr"/>
                      <a:r>
                        <a:rPr sz="1050" b="0" i="0">
                          <a:solidFill>
                            <a:srgbClr val="14313B"/>
                          </a:solidFill>
                          <a:latin typeface="Calibri (MS)"/>
                        </a:rPr>
                        <a:t>10</a:t>
                      </a:r>
                    </a:p>
                  </a:txBody>
                  <a:tcPr marL="73152" marR="73152" marT="36576" marB="36576" anchor="ctr">
                    <a:solidFill>
                      <a:srgbClr val="EAF8FA"/>
                    </a:solidFill>
                  </a:tcPr>
                </a:tc>
                <a:tc>
                  <a:txBody>
                    <a:bodyPr wrap="square"/>
                    <a:lstStyle/>
                    <a:p>
                      <a:r>
                        <a:rPr sz="1050" b="0" i="0">
                          <a:solidFill>
                            <a:srgbClr val="14313B"/>
                          </a:solidFill>
                          <a:latin typeface="Calibri (MS)"/>
                        </a:rPr>
                        <a:t>Saya perlu mempelajari banyak hal terlebih dahulu sebelum dapat menggunakan aplikasi ini.</a:t>
                      </a:r>
                    </a:p>
                  </a:txBody>
                  <a:tcPr marL="73152" marR="73152" marT="36576" marB="36576" anchor="ctr">
                    <a:solidFill>
                      <a:srgbClr val="EAF8FA"/>
                    </a:solidFill>
                  </a:tcPr>
                </a:tc>
                <a:tc>
                  <a:txBody>
                    <a:bodyPr wrap="square"/>
                    <a:lstStyle/>
                    <a:p>
                      <a:pPr algn="ctr"/>
                      <a:r>
                        <a:rPr sz="1050" b="0" i="0">
                          <a:solidFill>
                            <a:srgbClr val="14313B"/>
                          </a:solidFill>
                          <a:latin typeface="Calibri (MS)"/>
                        </a:rPr>
                        <a:t>5 − x</a:t>
                      </a:r>
                    </a:p>
                  </a:txBody>
                  <a:tcPr marL="73152" marR="73152" marT="36576" marB="36576" anchor="ctr">
                    <a:solidFill>
                      <a:srgbClr val="FDE2DE"/>
                    </a:solidFill>
                  </a:tcPr>
                </a:tc>
              </a:tr>
            </a:tbl>
          </a:graphicData>
        </a:graphic>
      </p:graphicFrame>
      <p:sp>
        <p:nvSpPr>
          <p:cNvPr id="28" name="Rounded Rectangle 27"/>
          <p:cNvSpPr/>
          <p:nvPr/>
        </p:nvSpPr>
        <p:spPr>
          <a:xfrm>
            <a:off x="10972800" y="1874519"/>
            <a:ext cx="6492240" cy="16459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100" b="1" i="0">
                <a:solidFill>
                  <a:srgbClr val="0B5E6E"/>
                </a:solidFill>
                <a:latin typeface="Calibri (MS) Bold"/>
              </a:rPr>
              <a:t>Rumus</a:t>
            </a:r>
          </a:p>
          <a:p>
            <a:pPr algn="l">
              <a:spcAft>
                <a:spcPts val="300"/>
              </a:spcAft>
            </a:pPr>
            <a:r>
              <a:rPr sz="1300" b="0" i="1">
                <a:solidFill>
                  <a:srgbClr val="14313B"/>
                </a:solidFill>
                <a:latin typeface="Calibri (MS)"/>
              </a:rPr>
              <a:t>SUS = 2,5 × [ Σ ganjil (x − 1) + Σ genap (5 − x) ]</a:t>
            </a:r>
          </a:p>
          <a:p>
            <a:pPr algn="l">
              <a:spcAft>
                <a:spcPts val="300"/>
              </a:spcAft>
            </a:pPr>
            <a:r>
              <a:rPr sz="1300" b="0" i="1">
                <a:solidFill>
                  <a:srgbClr val="14313B"/>
                </a:solidFill>
                <a:latin typeface="Calibri (MS)"/>
              </a:rPr>
              <a:t>x = jawaban 1–5;</a:t>
            </a:r>
            <a:r>
              <a:rPr sz="1050" b="0" i="0">
                <a:solidFill>
                  <a:srgbClr val="5E6E78"/>
                </a:solidFill>
                <a:latin typeface="Calibri (MS)"/>
              </a:rPr>
              <a:t> hasil 0–100, bukan persen</a:t>
            </a:r>
          </a:p>
        </p:txBody>
      </p:sp>
      <p:sp>
        <p:nvSpPr>
          <p:cNvPr id="29" name="Rounded Rectangle 28"/>
          <p:cNvSpPr/>
          <p:nvPr/>
        </p:nvSpPr>
        <p:spPr>
          <a:xfrm>
            <a:off x="10972800" y="3703320"/>
            <a:ext cx="649224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Contoh: responden R1</a:t>
            </a:r>
          </a:p>
          <a:p>
            <a:pPr algn="l">
              <a:spcAft>
                <a:spcPts val="300"/>
              </a:spcAft>
            </a:pPr>
            <a:r>
              <a:rPr sz="1150" b="0" i="0">
                <a:solidFill>
                  <a:srgbClr val="14313B"/>
                </a:solidFill>
                <a:latin typeface="Calibri (MS)"/>
              </a:rPr>
              <a:t>Jawaban: 4, 1, 5, 1, 5, 1, 5, 1, 5, 1</a:t>
            </a:r>
          </a:p>
          <a:p>
            <a:pPr algn="l">
              <a:spcAft>
                <a:spcPts val="300"/>
              </a:spcAft>
            </a:pPr>
            <a:r>
              <a:rPr sz="1150" b="0" i="0">
                <a:solidFill>
                  <a:srgbClr val="14313B"/>
                </a:solidFill>
                <a:latin typeface="Calibri (MS)"/>
              </a:rPr>
              <a:t>Ganjil (x − 1): 3 + 4 + 4 + 4 + 4 = 19</a:t>
            </a:r>
          </a:p>
          <a:p>
            <a:pPr algn="l">
              <a:spcAft>
                <a:spcPts val="300"/>
              </a:spcAft>
            </a:pPr>
            <a:r>
              <a:rPr sz="1150" b="0" i="0">
                <a:solidFill>
                  <a:srgbClr val="14313B"/>
                </a:solidFill>
                <a:latin typeface="Calibri (MS)"/>
              </a:rPr>
              <a:t>Genap (5 − x): 4 + 4 + 4 + 4 + 4 = 20</a:t>
            </a:r>
          </a:p>
          <a:p>
            <a:pPr algn="l">
              <a:spcAft>
                <a:spcPts val="300"/>
              </a:spcAft>
            </a:pPr>
            <a:r>
              <a:rPr sz="1400" b="1" i="0">
                <a:solidFill>
                  <a:srgbClr val="0B5E6E"/>
                </a:solidFill>
                <a:latin typeface="Calibri (MS) Bold"/>
              </a:rPr>
              <a:t>SUS = 2,5 × (19 + 20) = 97,5</a:t>
            </a:r>
          </a:p>
        </p:txBody>
      </p:sp>
      <p:sp>
        <p:nvSpPr>
          <p:cNvPr id="30" name="Rounded Rectangle 29"/>
          <p:cNvSpPr/>
          <p:nvPr/>
        </p:nvSpPr>
        <p:spPr>
          <a:xfrm>
            <a:off x="10972800" y="6629400"/>
            <a:ext cx="6492240" cy="16916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00" b="1" i="0">
                <a:solidFill>
                  <a:srgbClr val="0B5E6E"/>
                </a:solidFill>
                <a:latin typeface="Calibri (MS) Bold"/>
              </a:rPr>
              <a:t>Responden</a:t>
            </a:r>
          </a:p>
          <a:p>
            <a:pPr algn="l">
              <a:spcAft>
                <a:spcPts val="300"/>
              </a:spcAft>
            </a:pPr>
            <a:r>
              <a:rPr sz="1050" b="0" i="0">
                <a:solidFill>
                  <a:srgbClr val="14313B"/>
                </a:solidFill>
                <a:latin typeface="Calibri (MS)"/>
              </a:rPr>
              <a:t>10 responden (mahasiswa) setelah mencoba lima tugas di aplikasi. Jumlah 8–12 pengguna cukup untuk gambaran SUS yang andal (Brooke, 2013; Tullis &amp; Stetson, 2004); dibaca deskriptif.</a:t>
            </a:r>
          </a:p>
        </p:txBody>
      </p:sp>
      <p:sp>
        <p:nvSpPr>
          <p:cNvPr id="31" name="TextBox 3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3.9.3 (Tabel 23); Brooke (1996, 2013).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600" b="true">
                <a:solidFill>
                  <a:srgbClr val="0B5E6E"/>
                </a:solidFill>
                <a:latin typeface="Calibri (MS) Bold"/>
                <a:ea typeface="Calibri (MS) Bold"/>
                <a:cs typeface="Calibri (MS) Bold"/>
                <a:sym typeface="Calibri (MS) Bold"/>
              </a:rPr>
              <a:t>Lampiran 85 · System Usability Scale (2/3): Jawaban dan Skor per Responden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164</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Jawaban asli (1 = sangat tidak setuju … 5 = sangat setuju), kontribusi, dan skor SUS; nama responden tidak ditampilkan</a:t>
            </a:r>
          </a:p>
        </p:txBody>
      </p:sp>
      <p:graphicFrame>
        <p:nvGraphicFramePr>
          <p:cNvPr id="27" name="Table 26"/>
          <p:cNvGraphicFramePr>
            <a:graphicFrameLocks noGrp="1"/>
          </p:cNvGraphicFramePr>
          <p:nvPr/>
        </p:nvGraphicFramePr>
        <p:xfrm>
          <a:off x="822960" y="1874519"/>
          <a:ext cx="16642069" cy="5486400"/>
        </p:xfrm>
        <a:graphic>
          <a:graphicData uri="http://schemas.openxmlformats.org/drawingml/2006/table">
            <a:tbl>
              <a:tblPr firstRow="1" bandRow="1">
                <a:tableStyleId>{5C22544A-7EE6-4342-B048-85BDC9FD1C3A}</a:tableStyleId>
              </a:tblPr>
              <a:tblGrid>
                <a:gridCol w="1257831"/>
                <a:gridCol w="1015940"/>
                <a:gridCol w="1015940"/>
                <a:gridCol w="1015940"/>
                <a:gridCol w="1015940"/>
                <a:gridCol w="1015940"/>
                <a:gridCol w="1015940"/>
                <a:gridCol w="1015940"/>
                <a:gridCol w="1015940"/>
                <a:gridCol w="1015940"/>
                <a:gridCol w="1015940"/>
                <a:gridCol w="1789991"/>
                <a:gridCol w="1789991"/>
                <a:gridCol w="1644856"/>
              </a:tblGrid>
              <a:tr h="457200">
                <a:tc>
                  <a:txBody>
                    <a:bodyPr wrap="square"/>
                    <a:lstStyle/>
                    <a:p>
                      <a:r>
                        <a:rPr sz="1100" b="1" i="0">
                          <a:solidFill>
                            <a:srgbClr val="FFFFFF"/>
                          </a:solidFill>
                          <a:latin typeface="Calibri (MS) Bold"/>
                        </a:rPr>
                        <a:t>Resp.</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B1</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B2</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B3</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B4</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B5</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B6</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B7</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B8</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B9</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B10</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Σ ganjil (x−1)</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Σ genap (5−x)</a:t>
                      </a:r>
                    </a:p>
                  </a:txBody>
                  <a:tcPr marL="73152" marR="73152" marT="36576" marB="36576" anchor="ctr">
                    <a:solidFill>
                      <a:srgbClr val="0B5E6E"/>
                    </a:solidFill>
                  </a:tcPr>
                </a:tc>
                <a:tc>
                  <a:txBody>
                    <a:bodyPr wrap="square"/>
                    <a:lstStyle/>
                    <a:p>
                      <a:pPr algn="ctr"/>
                      <a:r>
                        <a:rPr sz="1100" b="1" i="0">
                          <a:solidFill>
                            <a:srgbClr val="FFFFFF"/>
                          </a:solidFill>
                          <a:latin typeface="Calibri (MS) Bold"/>
                        </a:rPr>
                        <a:t>Skor SUS</a:t>
                      </a:r>
                    </a:p>
                  </a:txBody>
                  <a:tcPr marL="73152" marR="73152" marT="36576" marB="36576" anchor="ctr">
                    <a:solidFill>
                      <a:srgbClr val="0B5E6E"/>
                    </a:solidFill>
                  </a:tcPr>
                </a:tc>
              </a:tr>
              <a:tr h="457200">
                <a:tc>
                  <a:txBody>
                    <a:bodyPr wrap="square"/>
                    <a:lstStyle/>
                    <a:p>
                      <a:r>
                        <a:rPr sz="1100" b="1" i="0">
                          <a:solidFill>
                            <a:srgbClr val="14313B"/>
                          </a:solidFill>
                          <a:latin typeface="Calibri (MS) Bold"/>
                        </a:rPr>
                        <a:t>R1</a:t>
                      </a:r>
                    </a:p>
                  </a:txBody>
                  <a:tcPr marL="73152" marR="73152" marT="36576" marB="36576" anchor="ctr">
                    <a:solidFill>
                      <a:srgbClr val="FFFFFF"/>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19</a:t>
                      </a:r>
                    </a:p>
                  </a:txBody>
                  <a:tcPr marL="73152" marR="73152" marT="36576" marB="36576" anchor="ctr">
                    <a:solidFill>
                      <a:srgbClr val="FFFFFF"/>
                    </a:solidFill>
                  </a:tcPr>
                </a:tc>
                <a:tc>
                  <a:txBody>
                    <a:bodyPr wrap="square"/>
                    <a:lstStyle/>
                    <a:p>
                      <a:pPr algn="ctr"/>
                      <a:r>
                        <a:rPr sz="1100" b="0" i="0">
                          <a:solidFill>
                            <a:srgbClr val="14313B"/>
                          </a:solidFill>
                          <a:latin typeface="Calibri (MS)"/>
                        </a:rPr>
                        <a:t>20</a:t>
                      </a:r>
                    </a:p>
                  </a:txBody>
                  <a:tcPr marL="73152" marR="73152" marT="36576" marB="36576" anchor="ctr">
                    <a:solidFill>
                      <a:srgbClr val="FFFFFF"/>
                    </a:solidFill>
                  </a:tcPr>
                </a:tc>
                <a:tc>
                  <a:txBody>
                    <a:bodyPr wrap="square"/>
                    <a:lstStyle/>
                    <a:p>
                      <a:pPr algn="ctr"/>
                      <a:r>
                        <a:rPr sz="1100" b="0" i="0">
                          <a:solidFill>
                            <a:srgbClr val="14313B"/>
                          </a:solidFill>
                          <a:latin typeface="Calibri (MS)"/>
                        </a:rPr>
                        <a:t>97,50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R2</a:t>
                      </a:r>
                    </a:p>
                  </a:txBody>
                  <a:tcPr marL="73152" marR="73152" marT="36576" marB="36576" anchor="ctr">
                    <a:solidFill>
                      <a:srgbClr val="EAF8FA"/>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18</a:t>
                      </a:r>
                    </a:p>
                  </a:txBody>
                  <a:tcPr marL="73152" marR="73152" marT="36576" marB="36576" anchor="ctr">
                    <a:solidFill>
                      <a:srgbClr val="EAF8FA"/>
                    </a:solidFill>
                  </a:tcPr>
                </a:tc>
                <a:tc>
                  <a:txBody>
                    <a:bodyPr wrap="square"/>
                    <a:lstStyle/>
                    <a:p>
                      <a:pPr algn="ctr"/>
                      <a:r>
                        <a:rPr sz="1100" b="0" i="0">
                          <a:solidFill>
                            <a:srgbClr val="14313B"/>
                          </a:solidFill>
                          <a:latin typeface="Calibri (MS)"/>
                        </a:rPr>
                        <a:t>17</a:t>
                      </a:r>
                    </a:p>
                  </a:txBody>
                  <a:tcPr marL="73152" marR="73152" marT="36576" marB="36576" anchor="ctr">
                    <a:solidFill>
                      <a:srgbClr val="EAF8FA"/>
                    </a:solidFill>
                  </a:tcPr>
                </a:tc>
                <a:tc>
                  <a:txBody>
                    <a:bodyPr wrap="square"/>
                    <a:lstStyle/>
                    <a:p>
                      <a:pPr algn="ctr"/>
                      <a:r>
                        <a:rPr sz="1100" b="0" i="0">
                          <a:solidFill>
                            <a:srgbClr val="14313B"/>
                          </a:solidFill>
                          <a:latin typeface="Calibri (MS)"/>
                        </a:rPr>
                        <a:t>87,50</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R3</a:t>
                      </a:r>
                    </a:p>
                  </a:txBody>
                  <a:tcPr marL="73152" marR="73152" marT="36576" marB="36576" anchor="ctr">
                    <a:solidFill>
                      <a:srgbClr val="FFFFFF"/>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20</a:t>
                      </a:r>
                    </a:p>
                  </a:txBody>
                  <a:tcPr marL="73152" marR="73152" marT="36576" marB="36576" anchor="ctr">
                    <a:solidFill>
                      <a:srgbClr val="FFFFFF"/>
                    </a:solidFill>
                  </a:tcPr>
                </a:tc>
                <a:tc>
                  <a:txBody>
                    <a:bodyPr wrap="square"/>
                    <a:lstStyle/>
                    <a:p>
                      <a:pPr algn="ctr"/>
                      <a:r>
                        <a:rPr sz="1100" b="0" i="0">
                          <a:solidFill>
                            <a:srgbClr val="14313B"/>
                          </a:solidFill>
                          <a:latin typeface="Calibri (MS)"/>
                        </a:rPr>
                        <a:t>20</a:t>
                      </a:r>
                    </a:p>
                  </a:txBody>
                  <a:tcPr marL="73152" marR="73152" marT="36576" marB="36576" anchor="ctr">
                    <a:solidFill>
                      <a:srgbClr val="FFFFFF"/>
                    </a:solidFill>
                  </a:tcPr>
                </a:tc>
                <a:tc>
                  <a:txBody>
                    <a:bodyPr wrap="square"/>
                    <a:lstStyle/>
                    <a:p>
                      <a:pPr algn="ctr"/>
                      <a:r>
                        <a:rPr sz="1100" b="0" i="0">
                          <a:solidFill>
                            <a:srgbClr val="14313B"/>
                          </a:solidFill>
                          <a:latin typeface="Calibri (MS)"/>
                        </a:rPr>
                        <a:t>100,00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R4</a:t>
                      </a:r>
                    </a:p>
                  </a:txBody>
                  <a:tcPr marL="73152" marR="73152" marT="36576" marB="36576" anchor="ctr">
                    <a:solidFill>
                      <a:srgbClr val="EAF8FA"/>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20</a:t>
                      </a:r>
                    </a:p>
                  </a:txBody>
                  <a:tcPr marL="73152" marR="73152" marT="36576" marB="36576" anchor="ctr">
                    <a:solidFill>
                      <a:srgbClr val="EAF8FA"/>
                    </a:solidFill>
                  </a:tcPr>
                </a:tc>
                <a:tc>
                  <a:txBody>
                    <a:bodyPr wrap="square"/>
                    <a:lstStyle/>
                    <a:p>
                      <a:pPr algn="ctr"/>
                      <a:r>
                        <a:rPr sz="1100" b="0" i="0">
                          <a:solidFill>
                            <a:srgbClr val="14313B"/>
                          </a:solidFill>
                          <a:latin typeface="Calibri (MS)"/>
                        </a:rPr>
                        <a:t>20</a:t>
                      </a:r>
                    </a:p>
                  </a:txBody>
                  <a:tcPr marL="73152" marR="73152" marT="36576" marB="36576" anchor="ctr">
                    <a:solidFill>
                      <a:srgbClr val="EAF8FA"/>
                    </a:solidFill>
                  </a:tcPr>
                </a:tc>
                <a:tc>
                  <a:txBody>
                    <a:bodyPr wrap="square"/>
                    <a:lstStyle/>
                    <a:p>
                      <a:pPr algn="ctr"/>
                      <a:r>
                        <a:rPr sz="1100" b="0" i="0">
                          <a:solidFill>
                            <a:srgbClr val="14313B"/>
                          </a:solidFill>
                          <a:latin typeface="Calibri (MS)"/>
                        </a:rPr>
                        <a:t>100,00</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R5</a:t>
                      </a:r>
                    </a:p>
                  </a:txBody>
                  <a:tcPr marL="73152" marR="73152" marT="36576" marB="36576" anchor="ctr">
                    <a:solidFill>
                      <a:srgbClr val="FFFFFF"/>
                    </a:solidFill>
                  </a:tcPr>
                </a:tc>
                <a:tc>
                  <a:txBody>
                    <a:bodyPr wrap="square"/>
                    <a:lstStyle/>
                    <a:p>
                      <a:pPr algn="ctr"/>
                      <a:r>
                        <a:rPr sz="1100" b="0" i="0">
                          <a:solidFill>
                            <a:srgbClr val="14313B"/>
                          </a:solidFill>
                          <a:latin typeface="Calibri (MS)"/>
                        </a:rPr>
                        <a:t>2</a:t>
                      </a:r>
                    </a:p>
                  </a:txBody>
                  <a:tcPr marL="73152" marR="73152" marT="36576" marB="36576" anchor="ctr">
                    <a:solidFill>
                      <a:srgbClr val="FDE2DE"/>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16</a:t>
                      </a:r>
                    </a:p>
                  </a:txBody>
                  <a:tcPr marL="73152" marR="73152" marT="36576" marB="36576" anchor="ctr">
                    <a:solidFill>
                      <a:srgbClr val="FFFFFF"/>
                    </a:solidFill>
                  </a:tcPr>
                </a:tc>
                <a:tc>
                  <a:txBody>
                    <a:bodyPr wrap="square"/>
                    <a:lstStyle/>
                    <a:p>
                      <a:pPr algn="ctr"/>
                      <a:r>
                        <a:rPr sz="1100" b="0" i="0">
                          <a:solidFill>
                            <a:srgbClr val="14313B"/>
                          </a:solidFill>
                          <a:latin typeface="Calibri (MS)"/>
                        </a:rPr>
                        <a:t>18</a:t>
                      </a:r>
                    </a:p>
                  </a:txBody>
                  <a:tcPr marL="73152" marR="73152" marT="36576" marB="36576" anchor="ctr">
                    <a:solidFill>
                      <a:srgbClr val="FFFFFF"/>
                    </a:solidFill>
                  </a:tcPr>
                </a:tc>
                <a:tc>
                  <a:txBody>
                    <a:bodyPr wrap="square"/>
                    <a:lstStyle/>
                    <a:p>
                      <a:pPr algn="ctr"/>
                      <a:r>
                        <a:rPr sz="1100" b="0" i="0">
                          <a:solidFill>
                            <a:srgbClr val="14313B"/>
                          </a:solidFill>
                          <a:latin typeface="Calibri (MS)"/>
                        </a:rPr>
                        <a:t>85,00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R6</a:t>
                      </a:r>
                    </a:p>
                  </a:txBody>
                  <a:tcPr marL="73152" marR="73152" marT="36576" marB="36576" anchor="ctr">
                    <a:solidFill>
                      <a:srgbClr val="EAF8FA"/>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4</a:t>
                      </a:r>
                    </a:p>
                  </a:txBody>
                  <a:tcPr marL="73152" marR="73152" marT="36576" marB="36576" anchor="ctr">
                    <a:solidFill>
                      <a:srgbClr val="FDE2DE"/>
                    </a:solidFill>
                  </a:tcPr>
                </a:tc>
                <a:tc>
                  <a:txBody>
                    <a:bodyPr wrap="square"/>
                    <a:lstStyle/>
                    <a:p>
                      <a:pPr algn="ctr"/>
                      <a:r>
                        <a:rPr sz="1100" b="0" i="0">
                          <a:solidFill>
                            <a:srgbClr val="14313B"/>
                          </a:solidFill>
                          <a:latin typeface="Calibri (MS)"/>
                        </a:rPr>
                        <a:t>19</a:t>
                      </a:r>
                    </a:p>
                  </a:txBody>
                  <a:tcPr marL="73152" marR="73152" marT="36576" marB="36576" anchor="ctr">
                    <a:solidFill>
                      <a:srgbClr val="EAF8FA"/>
                    </a:solidFill>
                  </a:tcPr>
                </a:tc>
                <a:tc>
                  <a:txBody>
                    <a:bodyPr wrap="square"/>
                    <a:lstStyle/>
                    <a:p>
                      <a:pPr algn="ctr"/>
                      <a:r>
                        <a:rPr sz="1100" b="0" i="0">
                          <a:solidFill>
                            <a:srgbClr val="14313B"/>
                          </a:solidFill>
                          <a:latin typeface="Calibri (MS)"/>
                        </a:rPr>
                        <a:t>16</a:t>
                      </a:r>
                    </a:p>
                  </a:txBody>
                  <a:tcPr marL="73152" marR="73152" marT="36576" marB="36576" anchor="ctr">
                    <a:solidFill>
                      <a:srgbClr val="EAF8FA"/>
                    </a:solidFill>
                  </a:tcPr>
                </a:tc>
                <a:tc>
                  <a:txBody>
                    <a:bodyPr wrap="square"/>
                    <a:lstStyle/>
                    <a:p>
                      <a:pPr algn="ctr"/>
                      <a:r>
                        <a:rPr sz="1100" b="0" i="0">
                          <a:solidFill>
                            <a:srgbClr val="14313B"/>
                          </a:solidFill>
                          <a:latin typeface="Calibri (MS)"/>
                        </a:rPr>
                        <a:t>87,50</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R7</a:t>
                      </a:r>
                    </a:p>
                  </a:txBody>
                  <a:tcPr marL="73152" marR="73152" marT="36576" marB="36576" anchor="ctr">
                    <a:solidFill>
                      <a:srgbClr val="FFFFFF"/>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19</a:t>
                      </a:r>
                    </a:p>
                  </a:txBody>
                  <a:tcPr marL="73152" marR="73152" marT="36576" marB="36576" anchor="ctr">
                    <a:solidFill>
                      <a:srgbClr val="FFFFFF"/>
                    </a:solidFill>
                  </a:tcPr>
                </a:tc>
                <a:tc>
                  <a:txBody>
                    <a:bodyPr wrap="square"/>
                    <a:lstStyle/>
                    <a:p>
                      <a:pPr algn="ctr"/>
                      <a:r>
                        <a:rPr sz="1100" b="0" i="0">
                          <a:solidFill>
                            <a:srgbClr val="14313B"/>
                          </a:solidFill>
                          <a:latin typeface="Calibri (MS)"/>
                        </a:rPr>
                        <a:t>20</a:t>
                      </a:r>
                    </a:p>
                  </a:txBody>
                  <a:tcPr marL="73152" marR="73152" marT="36576" marB="36576" anchor="ctr">
                    <a:solidFill>
                      <a:srgbClr val="FFFFFF"/>
                    </a:solidFill>
                  </a:tcPr>
                </a:tc>
                <a:tc>
                  <a:txBody>
                    <a:bodyPr wrap="square"/>
                    <a:lstStyle/>
                    <a:p>
                      <a:pPr algn="ctr"/>
                      <a:r>
                        <a:rPr sz="1100" b="0" i="0">
                          <a:solidFill>
                            <a:srgbClr val="14313B"/>
                          </a:solidFill>
                          <a:latin typeface="Calibri (MS)"/>
                        </a:rPr>
                        <a:t>97,50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R8</a:t>
                      </a:r>
                    </a:p>
                  </a:txBody>
                  <a:tcPr marL="73152" marR="73152" marT="36576" marB="36576" anchor="ctr">
                    <a:solidFill>
                      <a:srgbClr val="EAF8FA"/>
                    </a:solidFill>
                  </a:tcPr>
                </a:tc>
                <a:tc>
                  <a:txBody>
                    <a:bodyPr wrap="square"/>
                    <a:lstStyle/>
                    <a:p>
                      <a:pPr algn="ctr"/>
                      <a:r>
                        <a:rPr sz="1100" b="0" i="0">
                          <a:solidFill>
                            <a:srgbClr val="14313B"/>
                          </a:solidFill>
                          <a:latin typeface="Calibri (MS)"/>
                        </a:rPr>
                        <a:t>2</a:t>
                      </a:r>
                    </a:p>
                  </a:txBody>
                  <a:tcPr marL="73152" marR="73152" marT="36576" marB="36576" anchor="ctr">
                    <a:solidFill>
                      <a:srgbClr val="FDE2DE"/>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FDE2DE"/>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FDE2DE"/>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a:t>
                      </a:r>
                    </a:p>
                  </a:txBody>
                  <a:tcPr marL="73152" marR="73152" marT="36576" marB="36576" anchor="ctr">
                    <a:solidFill>
                      <a:srgbClr val="FDE2DE"/>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6</a:t>
                      </a:r>
                    </a:p>
                  </a:txBody>
                  <a:tcPr marL="73152" marR="73152" marT="36576" marB="36576" anchor="ctr">
                    <a:solidFill>
                      <a:srgbClr val="EAF8FA"/>
                    </a:solidFill>
                  </a:tcPr>
                </a:tc>
                <a:tc>
                  <a:txBody>
                    <a:bodyPr wrap="square"/>
                    <a:lstStyle/>
                    <a:p>
                      <a:pPr algn="ctr"/>
                      <a:r>
                        <a:rPr sz="1100" b="0" i="0">
                          <a:solidFill>
                            <a:srgbClr val="14313B"/>
                          </a:solidFill>
                          <a:latin typeface="Calibri (MS)"/>
                        </a:rPr>
                        <a:t>18</a:t>
                      </a:r>
                    </a:p>
                  </a:txBody>
                  <a:tcPr marL="73152" marR="73152" marT="36576" marB="36576" anchor="ctr">
                    <a:solidFill>
                      <a:srgbClr val="EAF8FA"/>
                    </a:solidFill>
                  </a:tcPr>
                </a:tc>
                <a:tc>
                  <a:txBody>
                    <a:bodyPr wrap="square"/>
                    <a:lstStyle/>
                    <a:p>
                      <a:pPr algn="ctr"/>
                      <a:r>
                        <a:rPr sz="1100" b="0" i="0">
                          <a:solidFill>
                            <a:srgbClr val="14313B"/>
                          </a:solidFill>
                          <a:latin typeface="Calibri (MS)"/>
                        </a:rPr>
                        <a:t>60,00</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R9</a:t>
                      </a:r>
                    </a:p>
                  </a:txBody>
                  <a:tcPr marL="73152" marR="73152" marT="36576" marB="36576" anchor="ctr">
                    <a:solidFill>
                      <a:srgbClr val="FFFFFF"/>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4</a:t>
                      </a:r>
                    </a:p>
                  </a:txBody>
                  <a:tcPr marL="73152" marR="73152" marT="36576" marB="36576" anchor="ctr">
                    <a:solidFill>
                      <a:srgbClr val="C9F0D6"/>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3</a:t>
                      </a:r>
                    </a:p>
                  </a:txBody>
                  <a:tcPr marL="73152" marR="73152" marT="36576" marB="36576" anchor="ctr">
                    <a:solidFill>
                      <a:srgbClr val="FFF1BF"/>
                    </a:solidFill>
                  </a:tcPr>
                </a:tc>
                <a:tc>
                  <a:txBody>
                    <a:bodyPr wrap="square"/>
                    <a:lstStyle/>
                    <a:p>
                      <a:pPr algn="ctr"/>
                      <a:r>
                        <a:rPr sz="1100" b="0" i="0">
                          <a:solidFill>
                            <a:srgbClr val="14313B"/>
                          </a:solidFill>
                          <a:latin typeface="Calibri (MS)"/>
                        </a:rPr>
                        <a:t>2</a:t>
                      </a:r>
                    </a:p>
                  </a:txBody>
                  <a:tcPr marL="73152" marR="73152" marT="36576" marB="36576" anchor="ctr">
                    <a:solidFill>
                      <a:srgbClr val="C9F0D6"/>
                    </a:solidFill>
                  </a:tcPr>
                </a:tc>
                <a:tc>
                  <a:txBody>
                    <a:bodyPr wrap="square"/>
                    <a:lstStyle/>
                    <a:p>
                      <a:pPr algn="ctr"/>
                      <a:r>
                        <a:rPr sz="1100" b="0" i="0">
                          <a:solidFill>
                            <a:srgbClr val="14313B"/>
                          </a:solidFill>
                          <a:latin typeface="Calibri (MS)"/>
                        </a:rPr>
                        <a:t>13</a:t>
                      </a:r>
                    </a:p>
                  </a:txBody>
                  <a:tcPr marL="73152" marR="73152" marT="36576" marB="36576" anchor="ctr">
                    <a:solidFill>
                      <a:srgbClr val="FFFFFF"/>
                    </a:solidFill>
                  </a:tcPr>
                </a:tc>
                <a:tc>
                  <a:txBody>
                    <a:bodyPr wrap="square"/>
                    <a:lstStyle/>
                    <a:p>
                      <a:pPr algn="ctr"/>
                      <a:r>
                        <a:rPr sz="1100" b="0" i="0">
                          <a:solidFill>
                            <a:srgbClr val="14313B"/>
                          </a:solidFill>
                          <a:latin typeface="Calibri (MS)"/>
                        </a:rPr>
                        <a:t>15</a:t>
                      </a:r>
                    </a:p>
                  </a:txBody>
                  <a:tcPr marL="73152" marR="73152" marT="36576" marB="36576" anchor="ctr">
                    <a:solidFill>
                      <a:srgbClr val="FFFFFF"/>
                    </a:solidFill>
                  </a:tcPr>
                </a:tc>
                <a:tc>
                  <a:txBody>
                    <a:bodyPr wrap="square"/>
                    <a:lstStyle/>
                    <a:p>
                      <a:pPr algn="ctr"/>
                      <a:r>
                        <a:rPr sz="1100" b="0" i="0">
                          <a:solidFill>
                            <a:srgbClr val="14313B"/>
                          </a:solidFill>
                          <a:latin typeface="Calibri (MS)"/>
                        </a:rPr>
                        <a:t>70,00</a:t>
                      </a:r>
                    </a:p>
                  </a:txBody>
                  <a:tcPr marL="73152" marR="73152" marT="36576" marB="36576" anchor="ctr">
                    <a:solidFill>
                      <a:srgbClr val="FFFFFF"/>
                    </a:solidFill>
                  </a:tcPr>
                </a:tc>
              </a:tr>
              <a:tr h="457200">
                <a:tc>
                  <a:txBody>
                    <a:bodyPr wrap="square"/>
                    <a:lstStyle/>
                    <a:p>
                      <a:r>
                        <a:rPr sz="1100" b="1" i="0">
                          <a:solidFill>
                            <a:srgbClr val="14313B"/>
                          </a:solidFill>
                          <a:latin typeface="Calibri (MS) Bold"/>
                        </a:rPr>
                        <a:t>R10</a:t>
                      </a:r>
                    </a:p>
                  </a:txBody>
                  <a:tcPr marL="73152" marR="73152" marT="36576" marB="36576" anchor="ctr">
                    <a:solidFill>
                      <a:srgbClr val="EAF8FA"/>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5</a:t>
                      </a:r>
                    </a:p>
                  </a:txBody>
                  <a:tcPr marL="73152" marR="73152" marT="36576" marB="36576" anchor="ctr">
                    <a:solidFill>
                      <a:srgbClr val="C9F0D6"/>
                    </a:solidFill>
                  </a:tcPr>
                </a:tc>
                <a:tc>
                  <a:txBody>
                    <a:bodyPr wrap="square"/>
                    <a:lstStyle/>
                    <a:p>
                      <a:pPr algn="ctr"/>
                      <a:r>
                        <a:rPr sz="1100" b="0" i="0">
                          <a:solidFill>
                            <a:srgbClr val="14313B"/>
                          </a:solidFill>
                          <a:latin typeface="Calibri (MS)"/>
                        </a:rPr>
                        <a:t>1</a:t>
                      </a:r>
                    </a:p>
                  </a:txBody>
                  <a:tcPr marL="73152" marR="73152" marT="36576" marB="36576" anchor="ctr">
                    <a:solidFill>
                      <a:srgbClr val="C9F0D6"/>
                    </a:solidFill>
                  </a:tcPr>
                </a:tc>
                <a:tc>
                  <a:txBody>
                    <a:bodyPr wrap="square"/>
                    <a:lstStyle/>
                    <a:p>
                      <a:pPr algn="ctr"/>
                      <a:r>
                        <a:rPr sz="1100" b="0" i="0">
                          <a:solidFill>
                            <a:srgbClr val="14313B"/>
                          </a:solidFill>
                          <a:latin typeface="Calibri (MS)"/>
                        </a:rPr>
                        <a:t>20</a:t>
                      </a:r>
                    </a:p>
                  </a:txBody>
                  <a:tcPr marL="73152" marR="73152" marT="36576" marB="36576" anchor="ctr">
                    <a:solidFill>
                      <a:srgbClr val="EAF8FA"/>
                    </a:solidFill>
                  </a:tcPr>
                </a:tc>
                <a:tc>
                  <a:txBody>
                    <a:bodyPr wrap="square"/>
                    <a:lstStyle/>
                    <a:p>
                      <a:pPr algn="ctr"/>
                      <a:r>
                        <a:rPr sz="1100" b="0" i="0">
                          <a:solidFill>
                            <a:srgbClr val="14313B"/>
                          </a:solidFill>
                          <a:latin typeface="Calibri (MS)"/>
                        </a:rPr>
                        <a:t>20</a:t>
                      </a:r>
                    </a:p>
                  </a:txBody>
                  <a:tcPr marL="73152" marR="73152" marT="36576" marB="36576" anchor="ctr">
                    <a:solidFill>
                      <a:srgbClr val="EAF8FA"/>
                    </a:solidFill>
                  </a:tcPr>
                </a:tc>
                <a:tc>
                  <a:txBody>
                    <a:bodyPr wrap="square"/>
                    <a:lstStyle/>
                    <a:p>
                      <a:pPr algn="ctr"/>
                      <a:r>
                        <a:rPr sz="1100" b="0" i="0">
                          <a:solidFill>
                            <a:srgbClr val="14313B"/>
                          </a:solidFill>
                          <a:latin typeface="Calibri (MS)"/>
                        </a:rPr>
                        <a:t>100,00</a:t>
                      </a:r>
                    </a:p>
                  </a:txBody>
                  <a:tcPr marL="73152" marR="73152" marT="36576" marB="36576" anchor="ctr">
                    <a:solidFill>
                      <a:srgbClr val="EAF8FA"/>
                    </a:solidFill>
                  </a:tcPr>
                </a:tc>
              </a:tr>
              <a:tr h="457200">
                <a:tc>
                  <a:txBody>
                    <a:bodyPr wrap="square"/>
                    <a:lstStyle/>
                    <a:p>
                      <a:r>
                        <a:rPr sz="1100" b="1" i="0">
                          <a:solidFill>
                            <a:srgbClr val="14313B"/>
                          </a:solidFill>
                          <a:latin typeface="Calibri (MS) Bold"/>
                        </a:rPr>
                        <a:t>Rata-rata</a:t>
                      </a:r>
                    </a:p>
                  </a:txBody>
                  <a:tcPr marL="73152" marR="73152" marT="36576" marB="36576" anchor="ctr">
                    <a:solidFill>
                      <a:srgbClr val="EAF8FA"/>
                    </a:solidFill>
                  </a:tcPr>
                </a:tc>
                <a:tc>
                  <a:txBody>
                    <a:bodyPr wrap="square"/>
                    <a:lstStyle/>
                    <a:p>
                      <a:pPr algn="ctr"/>
                      <a:r>
                        <a:rPr sz="1100" b="0" i="0">
                          <a:solidFill>
                            <a:srgbClr val="14313B"/>
                          </a:solidFill>
                          <a:latin typeface="Calibri (MS)"/>
                        </a:rPr>
                        <a:t>3,9</a:t>
                      </a:r>
                    </a:p>
                  </a:txBody>
                  <a:tcPr marL="73152" marR="73152" marT="36576" marB="36576" anchor="ctr">
                    <a:solidFill>
                      <a:srgbClr val="EAF8FA"/>
                    </a:solidFill>
                  </a:tcPr>
                </a:tc>
                <a:tc>
                  <a:txBody>
                    <a:bodyPr wrap="square"/>
                    <a:lstStyle/>
                    <a:p>
                      <a:pPr algn="ctr"/>
                      <a:r>
                        <a:rPr sz="1100" b="0" i="0">
                          <a:solidFill>
                            <a:srgbClr val="14313B"/>
                          </a:solidFill>
                          <a:latin typeface="Calibri (MS)"/>
                        </a:rPr>
                        <a:t>1,4</a:t>
                      </a:r>
                    </a:p>
                  </a:txBody>
                  <a:tcPr marL="73152" marR="73152" marT="36576" marB="36576" anchor="ctr">
                    <a:solidFill>
                      <a:srgbClr val="EAF8FA"/>
                    </a:solidFill>
                  </a:tcPr>
                </a:tc>
                <a:tc>
                  <a:txBody>
                    <a:bodyPr wrap="square"/>
                    <a:lstStyle/>
                    <a:p>
                      <a:pPr algn="ctr"/>
                      <a:r>
                        <a:rPr sz="1100" b="0" i="0">
                          <a:solidFill>
                            <a:srgbClr val="14313B"/>
                          </a:solidFill>
                          <a:latin typeface="Calibri (MS)"/>
                        </a:rPr>
                        <a:t>4,7</a:t>
                      </a:r>
                    </a:p>
                  </a:txBody>
                  <a:tcPr marL="73152" marR="73152" marT="36576" marB="36576" anchor="ctr">
                    <a:solidFill>
                      <a:srgbClr val="EAF8FA"/>
                    </a:solidFill>
                  </a:tcPr>
                </a:tc>
                <a:tc>
                  <a:txBody>
                    <a:bodyPr wrap="square"/>
                    <a:lstStyle/>
                    <a:p>
                      <a:pPr algn="ctr"/>
                      <a:r>
                        <a:rPr sz="1100" b="0" i="0">
                          <a:solidFill>
                            <a:srgbClr val="14313B"/>
                          </a:solidFill>
                          <a:latin typeface="Calibri (MS)"/>
                        </a:rPr>
                        <a:t>1,3</a:t>
                      </a:r>
                    </a:p>
                  </a:txBody>
                  <a:tcPr marL="73152" marR="73152" marT="36576" marB="36576" anchor="ctr">
                    <a:solidFill>
                      <a:srgbClr val="EAF8FA"/>
                    </a:solidFill>
                  </a:tcPr>
                </a:tc>
                <a:tc>
                  <a:txBody>
                    <a:bodyPr wrap="square"/>
                    <a:lstStyle/>
                    <a:p>
                      <a:pPr algn="ctr"/>
                      <a:r>
                        <a:rPr sz="1100" b="0" i="0">
                          <a:solidFill>
                            <a:srgbClr val="14313B"/>
                          </a:solidFill>
                          <a:latin typeface="Calibri (MS)"/>
                        </a:rPr>
                        <a:t>4,5</a:t>
                      </a:r>
                    </a:p>
                  </a:txBody>
                  <a:tcPr marL="73152" marR="73152" marT="36576" marB="36576" anchor="ctr">
                    <a:solidFill>
                      <a:srgbClr val="EAF8FA"/>
                    </a:solidFill>
                  </a:tcPr>
                </a:tc>
                <a:tc>
                  <a:txBody>
                    <a:bodyPr wrap="square"/>
                    <a:lstStyle/>
                    <a:p>
                      <a:pPr algn="ctr"/>
                      <a:r>
                        <a:rPr sz="1100" b="0" i="0">
                          <a:solidFill>
                            <a:srgbClr val="14313B"/>
                          </a:solidFill>
                          <a:latin typeface="Calibri (MS)"/>
                        </a:rPr>
                        <a:t>1,2</a:t>
                      </a:r>
                    </a:p>
                  </a:txBody>
                  <a:tcPr marL="73152" marR="73152" marT="36576" marB="36576" anchor="ctr">
                    <a:solidFill>
                      <a:srgbClr val="EAF8FA"/>
                    </a:solidFill>
                  </a:tcPr>
                </a:tc>
                <a:tc>
                  <a:txBody>
                    <a:bodyPr wrap="square"/>
                    <a:lstStyle/>
                    <a:p>
                      <a:pPr algn="ctr"/>
                      <a:r>
                        <a:rPr sz="1100" b="0" i="0">
                          <a:solidFill>
                            <a:srgbClr val="14313B"/>
                          </a:solidFill>
                          <a:latin typeface="Calibri (MS)"/>
                        </a:rPr>
                        <a:t>4,4</a:t>
                      </a:r>
                    </a:p>
                  </a:txBody>
                  <a:tcPr marL="73152" marR="73152" marT="36576" marB="36576" anchor="ctr">
                    <a:solidFill>
                      <a:srgbClr val="EAF8FA"/>
                    </a:solidFill>
                  </a:tcPr>
                </a:tc>
                <a:tc>
                  <a:txBody>
                    <a:bodyPr wrap="square"/>
                    <a:lstStyle/>
                    <a:p>
                      <a:pPr algn="ctr"/>
                      <a:r>
                        <a:rPr sz="1100" b="0" i="0">
                          <a:solidFill>
                            <a:srgbClr val="14313B"/>
                          </a:solidFill>
                          <a:latin typeface="Calibri (MS)"/>
                        </a:rPr>
                        <a:t>1,1</a:t>
                      </a:r>
                    </a:p>
                  </a:txBody>
                  <a:tcPr marL="73152" marR="73152" marT="36576" marB="36576" anchor="ctr">
                    <a:solidFill>
                      <a:srgbClr val="EAF8FA"/>
                    </a:solidFill>
                  </a:tcPr>
                </a:tc>
                <a:tc>
                  <a:txBody>
                    <a:bodyPr wrap="square"/>
                    <a:lstStyle/>
                    <a:p>
                      <a:pPr algn="ctr"/>
                      <a:r>
                        <a:rPr sz="1100" b="0" i="0">
                          <a:solidFill>
                            <a:srgbClr val="14313B"/>
                          </a:solidFill>
                          <a:latin typeface="Calibri (MS)"/>
                        </a:rPr>
                        <a:t>4,5</a:t>
                      </a:r>
                    </a:p>
                  </a:txBody>
                  <a:tcPr marL="73152" marR="73152" marT="36576" marB="36576" anchor="ctr">
                    <a:solidFill>
                      <a:srgbClr val="EAF8FA"/>
                    </a:solidFill>
                  </a:tcPr>
                </a:tc>
                <a:tc>
                  <a:txBody>
                    <a:bodyPr wrap="square"/>
                    <a:lstStyle/>
                    <a:p>
                      <a:pPr algn="ctr"/>
                      <a:r>
                        <a:rPr sz="1100" b="0" i="0">
                          <a:solidFill>
                            <a:srgbClr val="14313B"/>
                          </a:solidFill>
                          <a:latin typeface="Calibri (MS)"/>
                        </a:rPr>
                        <a:t>1,6</a:t>
                      </a:r>
                    </a:p>
                  </a:txBody>
                  <a:tcPr marL="73152" marR="73152" marT="36576" marB="36576" anchor="ctr">
                    <a:solidFill>
                      <a:srgbClr val="EAF8FA"/>
                    </a:solidFill>
                  </a:tcPr>
                </a:tc>
                <a:tc>
                  <a:txBody>
                    <a:bodyPr wrap="square"/>
                    <a:lstStyle/>
                    <a:p>
                      <a:pPr algn="ctr"/>
                      <a:r>
                        <a:rPr sz="1100" b="0" i="0">
                          <a:solidFill>
                            <a:srgbClr val="14313B"/>
                          </a:solidFill>
                          <a:latin typeface="Calibri (MS)"/>
                        </a:rPr>
                        <a:t/>
                      </a:r>
                    </a:p>
                  </a:txBody>
                  <a:tcPr marL="73152" marR="73152" marT="36576" marB="36576" anchor="ctr">
                    <a:solidFill>
                      <a:srgbClr val="EAF8FA"/>
                    </a:solidFill>
                  </a:tcPr>
                </a:tc>
                <a:tc>
                  <a:txBody>
                    <a:bodyPr wrap="square"/>
                    <a:lstStyle/>
                    <a:p>
                      <a:pPr algn="ctr"/>
                      <a:r>
                        <a:rPr sz="1100" b="0" i="0">
                          <a:solidFill>
                            <a:srgbClr val="14313B"/>
                          </a:solidFill>
                          <a:latin typeface="Calibri (MS)"/>
                        </a:rPr>
                        <a:t/>
                      </a:r>
                    </a:p>
                  </a:txBody>
                  <a:tcPr marL="73152" marR="73152" marT="36576" marB="36576" anchor="ctr">
                    <a:solidFill>
                      <a:srgbClr val="EAF8FA"/>
                    </a:solidFill>
                  </a:tcPr>
                </a:tc>
                <a:tc>
                  <a:txBody>
                    <a:bodyPr wrap="square"/>
                    <a:lstStyle/>
                    <a:p>
                      <a:pPr algn="ctr"/>
                      <a:r>
                        <a:rPr sz="1100" b="0" i="0">
                          <a:solidFill>
                            <a:srgbClr val="14313B"/>
                          </a:solidFill>
                          <a:latin typeface="Calibri (MS)"/>
                        </a:rPr>
                        <a:t>88,50</a:t>
                      </a:r>
                    </a:p>
                  </a:txBody>
                  <a:tcPr marL="73152" marR="73152" marT="36576" marB="36576" anchor="ctr">
                    <a:solidFill>
                      <a:srgbClr val="EAF8FA"/>
                    </a:solidFill>
                  </a:tcPr>
                </a:tc>
              </a:tr>
            </a:tbl>
          </a:graphicData>
        </a:graphic>
      </p:graphicFrame>
      <p:sp>
        <p:nvSpPr>
          <p:cNvPr id="28" name="TextBox 27"/>
          <p:cNvSpPr txBox="1"/>
          <p:nvPr/>
        </p:nvSpPr>
        <p:spPr>
          <a:xfrm>
            <a:off x="822960" y="7406640"/>
            <a:ext cx="16642080" cy="274320"/>
          </a:xfrm>
          <a:prstGeom prst="rect">
            <a:avLst/>
          </a:prstGeom>
          <a:noFill/>
        </p:spPr>
        <p:txBody>
          <a:bodyPr wrap="square" anchor="t" lIns="0" rIns="0" tIns="0" bIns="0">
            <a:spAutoFit/>
          </a:bodyPr>
          <a:lstStyle/>
          <a:p>
            <a:pPr algn="l">
              <a:spcAft>
                <a:spcPts val="400"/>
              </a:spcAft>
            </a:pPr>
            <a:r>
              <a:rPr sz="1000" b="0" i="1">
                <a:solidFill>
                  <a:srgbClr val="5E6E78"/>
                </a:solidFill>
                <a:latin typeface="Calibri (MS)"/>
              </a:rPr>
              <a:t>Hijau: jawaban mendukung kemudahan (butir ganjil ≥ 4, butir genap ≤ 2) · kuning: netral · merah muda: tidak mendukung.</a:t>
            </a:r>
          </a:p>
        </p:txBody>
      </p:sp>
      <p:sp>
        <p:nvSpPr>
          <p:cNvPr id="29" name="Rounded Rectangle 28"/>
          <p:cNvSpPr/>
          <p:nvPr/>
        </p:nvSpPr>
        <p:spPr>
          <a:xfrm>
            <a:off x="822960" y="777240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Membaca  </a:t>
            </a:r>
            <a:r>
              <a:rPr sz="1200" b="0" i="0">
                <a:solidFill>
                  <a:srgbClr val="14313B"/>
                </a:solidFill>
                <a:latin typeface="Calibri (MS)"/>
              </a:rPr>
              <a:t>Butir paling positif: B8 tidak merepotkan (rata-rata 1,1) dan B3 mudah digunakan (4,7). Paling rendah: B1 akan sering menggunakan (3,9). Skor terendah R8 (60,00) dan R9 (70,00); delapan responden lain ≥ 85,00.</a:t>
            </a:r>
          </a:p>
        </p:txBody>
      </p:sp>
      <p:sp>
        <p:nvSpPr>
          <p:cNvPr id="30" name="TextBox 2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4.9.3 (Tabel 65); Evaluasi SUS (Responses).xlsx, dihitung ulang dan sama dengan kolom Skor SUS.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2600" b="true">
                <a:solidFill>
                  <a:srgbClr val="0B5E6E"/>
                </a:solidFill>
                <a:latin typeface="Calibri (MS) Bold"/>
                <a:ea typeface="Calibri (MS) Bold"/>
                <a:cs typeface="Calibri (MS) Bold"/>
                <a:sym typeface="Calibri (MS) Bold"/>
              </a:rPr>
              <a:t>Lampiran 86 · System Usability Scale (3/3): Ringkasan, Tafsir, dan Masukan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165</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Rata-rata 88,50: di atas rata-rata normatif 68, di antara Excellent (85,5) dan Best Imaginable (90,9)</a:t>
            </a:r>
          </a:p>
        </p:txBody>
      </p:sp>
      <p:graphicFrame>
        <p:nvGraphicFramePr>
          <p:cNvPr id="27" name="Table 26"/>
          <p:cNvGraphicFramePr>
            <a:graphicFrameLocks noGrp="1"/>
          </p:cNvGraphicFramePr>
          <p:nvPr/>
        </p:nvGraphicFramePr>
        <p:xfrm>
          <a:off x="822960" y="1874519"/>
          <a:ext cx="3840480" cy="3200400"/>
        </p:xfrm>
        <a:graphic>
          <a:graphicData uri="http://schemas.openxmlformats.org/drawingml/2006/table">
            <a:tbl>
              <a:tblPr firstRow="1" bandRow="1">
                <a:tableStyleId>{5C22544A-7EE6-4342-B048-85BDC9FD1C3A}</a:tableStyleId>
              </a:tblPr>
              <a:tblGrid>
                <a:gridCol w="2194560"/>
                <a:gridCol w="1645920"/>
              </a:tblGrid>
              <a:tr h="457200">
                <a:tc>
                  <a:txBody>
                    <a:bodyPr wrap="square"/>
                    <a:lstStyle/>
                    <a:p>
                      <a:r>
                        <a:rPr sz="1150" b="1" i="0">
                          <a:solidFill>
                            <a:srgbClr val="FFFFFF"/>
                          </a:solidFill>
                          <a:latin typeface="Calibri (MS) Bold"/>
                        </a:rPr>
                        <a:t>Statistik</a:t>
                      </a:r>
                    </a:p>
                  </a:txBody>
                  <a:tcPr marL="73152" marR="73152" marT="36576" marB="36576" anchor="ctr">
                    <a:solidFill>
                      <a:srgbClr val="0B5E6E"/>
                    </a:solidFill>
                  </a:tcPr>
                </a:tc>
                <a:tc>
                  <a:txBody>
                    <a:bodyPr wrap="square"/>
                    <a:lstStyle/>
                    <a:p>
                      <a:pPr algn="ctr"/>
                      <a:r>
                        <a:rPr sz="1150" b="1" i="0">
                          <a:solidFill>
                            <a:srgbClr val="FFFFFF"/>
                          </a:solidFill>
                          <a:latin typeface="Calibri (MS) Bold"/>
                        </a:rPr>
                        <a:t>Nilai</a:t>
                      </a:r>
                    </a:p>
                  </a:txBody>
                  <a:tcPr marL="73152" marR="73152" marT="36576" marB="36576" anchor="ctr">
                    <a:solidFill>
                      <a:srgbClr val="0B5E6E"/>
                    </a:solidFill>
                  </a:tcPr>
                </a:tc>
              </a:tr>
              <a:tr h="457200">
                <a:tc>
                  <a:txBody>
                    <a:bodyPr wrap="square"/>
                    <a:lstStyle/>
                    <a:p>
                      <a:r>
                        <a:rPr sz="1150" b="1" i="0">
                          <a:solidFill>
                            <a:srgbClr val="14313B"/>
                          </a:solidFill>
                          <a:latin typeface="Calibri (MS) Bold"/>
                        </a:rPr>
                        <a:t>Responden</a:t>
                      </a:r>
                    </a:p>
                  </a:txBody>
                  <a:tcPr marL="73152" marR="73152" marT="36576" marB="36576" anchor="ctr">
                    <a:solidFill>
                      <a:srgbClr val="FFFFFF"/>
                    </a:solidFill>
                  </a:tcPr>
                </a:tc>
                <a:tc>
                  <a:txBody>
                    <a:bodyPr wrap="square"/>
                    <a:lstStyle/>
                    <a:p>
                      <a:pPr algn="ctr"/>
                      <a:r>
                        <a:rPr sz="1150" b="0" i="0">
                          <a:solidFill>
                            <a:srgbClr val="14313B"/>
                          </a:solidFill>
                          <a:latin typeface="Calibri (MS)"/>
                        </a:rPr>
                        <a:t>10</a:t>
                      </a:r>
                    </a:p>
                  </a:txBody>
                  <a:tcPr marL="73152" marR="73152" marT="36576" marB="36576" anchor="ctr">
                    <a:solidFill>
                      <a:srgbClr val="FFFFFF"/>
                    </a:solidFill>
                  </a:tcPr>
                </a:tc>
              </a:tr>
              <a:tr h="457200">
                <a:tc>
                  <a:txBody>
                    <a:bodyPr wrap="square"/>
                    <a:lstStyle/>
                    <a:p>
                      <a:r>
                        <a:rPr sz="1150" b="1" i="0">
                          <a:solidFill>
                            <a:srgbClr val="14313B"/>
                          </a:solidFill>
                          <a:latin typeface="Calibri (MS) Bold"/>
                        </a:rPr>
                        <a:t>Rata-rata</a:t>
                      </a:r>
                    </a:p>
                  </a:txBody>
                  <a:tcPr marL="73152" marR="73152" marT="36576" marB="36576" anchor="ctr">
                    <a:solidFill>
                      <a:srgbClr val="EAF8FA"/>
                    </a:solidFill>
                  </a:tcPr>
                </a:tc>
                <a:tc>
                  <a:txBody>
                    <a:bodyPr wrap="square"/>
                    <a:lstStyle/>
                    <a:p>
                      <a:pPr algn="ctr"/>
                      <a:r>
                        <a:rPr sz="1150" b="0" i="0">
                          <a:solidFill>
                            <a:srgbClr val="14313B"/>
                          </a:solidFill>
                          <a:latin typeface="Calibri (MS)"/>
                        </a:rPr>
                        <a:t>88,50</a:t>
                      </a:r>
                    </a:p>
                  </a:txBody>
                  <a:tcPr marL="73152" marR="73152" marT="36576" marB="36576" anchor="ctr">
                    <a:solidFill>
                      <a:srgbClr val="FFF1BF"/>
                    </a:solidFill>
                  </a:tcPr>
                </a:tc>
              </a:tr>
              <a:tr h="457200">
                <a:tc>
                  <a:txBody>
                    <a:bodyPr wrap="square"/>
                    <a:lstStyle/>
                    <a:p>
                      <a:r>
                        <a:rPr sz="1150" b="1" i="0">
                          <a:solidFill>
                            <a:srgbClr val="14313B"/>
                          </a:solidFill>
                          <a:latin typeface="Calibri (MS) Bold"/>
                        </a:rPr>
                        <a:t>Median</a:t>
                      </a:r>
                    </a:p>
                  </a:txBody>
                  <a:tcPr marL="73152" marR="73152" marT="36576" marB="36576" anchor="ctr">
                    <a:solidFill>
                      <a:srgbClr val="FFFFFF"/>
                    </a:solidFill>
                  </a:tcPr>
                </a:tc>
                <a:tc>
                  <a:txBody>
                    <a:bodyPr wrap="square"/>
                    <a:lstStyle/>
                    <a:p>
                      <a:pPr algn="ctr"/>
                      <a:r>
                        <a:rPr sz="1150" b="0" i="0">
                          <a:solidFill>
                            <a:srgbClr val="14313B"/>
                          </a:solidFill>
                          <a:latin typeface="Calibri (MS)"/>
                        </a:rPr>
                        <a:t>92,50</a:t>
                      </a:r>
                    </a:p>
                  </a:txBody>
                  <a:tcPr marL="73152" marR="73152" marT="36576" marB="36576" anchor="ctr">
                    <a:solidFill>
                      <a:srgbClr val="FFFFFF"/>
                    </a:solidFill>
                  </a:tcPr>
                </a:tc>
              </a:tr>
              <a:tr h="457200">
                <a:tc>
                  <a:txBody>
                    <a:bodyPr wrap="square"/>
                    <a:lstStyle/>
                    <a:p>
                      <a:r>
                        <a:rPr sz="1150" b="1" i="0">
                          <a:solidFill>
                            <a:srgbClr val="14313B"/>
                          </a:solidFill>
                          <a:latin typeface="Calibri (MS) Bold"/>
                        </a:rPr>
                        <a:t>Simpangan baku</a:t>
                      </a:r>
                    </a:p>
                  </a:txBody>
                  <a:tcPr marL="73152" marR="73152" marT="36576" marB="36576" anchor="ctr">
                    <a:solidFill>
                      <a:srgbClr val="EAF8FA"/>
                    </a:solidFill>
                  </a:tcPr>
                </a:tc>
                <a:tc>
                  <a:txBody>
                    <a:bodyPr wrap="square"/>
                    <a:lstStyle/>
                    <a:p>
                      <a:pPr algn="ctr"/>
                      <a:r>
                        <a:rPr sz="1150" b="0" i="0">
                          <a:solidFill>
                            <a:srgbClr val="14313B"/>
                          </a:solidFill>
                          <a:latin typeface="Calibri (MS)"/>
                        </a:rPr>
                        <a:t>13,85</a:t>
                      </a:r>
                    </a:p>
                  </a:txBody>
                  <a:tcPr marL="73152" marR="73152" marT="36576" marB="36576" anchor="ctr">
                    <a:solidFill>
                      <a:srgbClr val="EAF8FA"/>
                    </a:solidFill>
                  </a:tcPr>
                </a:tc>
              </a:tr>
              <a:tr h="457200">
                <a:tc>
                  <a:txBody>
                    <a:bodyPr wrap="square"/>
                    <a:lstStyle/>
                    <a:p>
                      <a:r>
                        <a:rPr sz="1150" b="1" i="0">
                          <a:solidFill>
                            <a:srgbClr val="14313B"/>
                          </a:solidFill>
                          <a:latin typeface="Calibri (MS) Bold"/>
                        </a:rPr>
                        <a:t>Minimum</a:t>
                      </a:r>
                    </a:p>
                  </a:txBody>
                  <a:tcPr marL="73152" marR="73152" marT="36576" marB="36576" anchor="ctr">
                    <a:solidFill>
                      <a:srgbClr val="FFFFFF"/>
                    </a:solidFill>
                  </a:tcPr>
                </a:tc>
                <a:tc>
                  <a:txBody>
                    <a:bodyPr wrap="square"/>
                    <a:lstStyle/>
                    <a:p>
                      <a:pPr algn="ctr"/>
                      <a:r>
                        <a:rPr sz="1150" b="0" i="0">
                          <a:solidFill>
                            <a:srgbClr val="14313B"/>
                          </a:solidFill>
                          <a:latin typeface="Calibri (MS)"/>
                        </a:rPr>
                        <a:t>60,00</a:t>
                      </a:r>
                    </a:p>
                  </a:txBody>
                  <a:tcPr marL="73152" marR="73152" marT="36576" marB="36576" anchor="ctr">
                    <a:solidFill>
                      <a:srgbClr val="FFFFFF"/>
                    </a:solidFill>
                  </a:tcPr>
                </a:tc>
              </a:tr>
              <a:tr h="457200">
                <a:tc>
                  <a:txBody>
                    <a:bodyPr wrap="square"/>
                    <a:lstStyle/>
                    <a:p>
                      <a:r>
                        <a:rPr sz="1150" b="1" i="0">
                          <a:solidFill>
                            <a:srgbClr val="14313B"/>
                          </a:solidFill>
                          <a:latin typeface="Calibri (MS) Bold"/>
                        </a:rPr>
                        <a:t>Maksimum</a:t>
                      </a:r>
                    </a:p>
                  </a:txBody>
                  <a:tcPr marL="73152" marR="73152" marT="36576" marB="36576" anchor="ctr">
                    <a:solidFill>
                      <a:srgbClr val="EAF8FA"/>
                    </a:solidFill>
                  </a:tcPr>
                </a:tc>
                <a:tc>
                  <a:txBody>
                    <a:bodyPr wrap="square"/>
                    <a:lstStyle/>
                    <a:p>
                      <a:pPr algn="ctr"/>
                      <a:r>
                        <a:rPr sz="1150" b="0" i="0">
                          <a:solidFill>
                            <a:srgbClr val="14313B"/>
                          </a:solidFill>
                          <a:latin typeface="Calibri (MS)"/>
                        </a:rPr>
                        <a:t>100,00</a:t>
                      </a:r>
                    </a:p>
                  </a:txBody>
                  <a:tcPr marL="73152" marR="73152" marT="36576" marB="36576" anchor="ctr">
                    <a:solidFill>
                      <a:srgbClr val="EAF8FA"/>
                    </a:solidFill>
                  </a:tcPr>
                </a:tc>
              </a:tr>
            </a:tbl>
          </a:graphicData>
        </a:graphic>
      </p:graphicFrame>
      <p:sp>
        <p:nvSpPr>
          <p:cNvPr id="28" name="Rounded Rectangle 27"/>
          <p:cNvSpPr/>
          <p:nvPr/>
        </p:nvSpPr>
        <p:spPr>
          <a:xfrm>
            <a:off x="4937760" y="1874519"/>
            <a:ext cx="640080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Skor SUS per responden</a:t>
            </a:r>
          </a:p>
        </p:txBody>
      </p:sp>
      <p:graphicFrame>
        <p:nvGraphicFramePr>
          <p:cNvPr id="29" name="Chart 28"/>
          <p:cNvGraphicFramePr>
            <a:graphicFrameLocks noGrp="1"/>
          </p:cNvGraphicFramePr>
          <p:nvPr/>
        </p:nvGraphicFramePr>
        <p:xfrm>
          <a:off x="4937760" y="2331720"/>
          <a:ext cx="6400800" cy="3108960"/>
        </p:xfrm>
        <a:graphic>
          <a:graphicData uri="http://schemas.openxmlformats.org/drawingml/2006/chart">
            <c:chart xmlns:c="http://schemas.openxmlformats.org/drawingml/2006/chart" r:id="rId7"/>
          </a:graphicData>
        </a:graphic>
      </p:graphicFrame>
      <p:sp>
        <p:nvSpPr>
          <p:cNvPr id="30" name="Rounded Rectangle 29"/>
          <p:cNvSpPr/>
          <p:nvPr/>
        </p:nvSpPr>
        <p:spPr>
          <a:xfrm>
            <a:off x="11612880" y="1874519"/>
            <a:ext cx="585216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Adjective rating (Bangor et al., 2009)</a:t>
            </a:r>
          </a:p>
        </p:txBody>
      </p:sp>
      <p:sp>
        <p:nvSpPr>
          <p:cNvPr id="31" name="Rounded Rectangle 30"/>
          <p:cNvSpPr/>
          <p:nvPr/>
        </p:nvSpPr>
        <p:spPr>
          <a:xfrm>
            <a:off x="11612880" y="2377440"/>
            <a:ext cx="585216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Good  </a:t>
            </a:r>
            <a:r>
              <a:rPr sz="1150" b="0" i="0">
                <a:solidFill>
                  <a:srgbClr val="14313B"/>
                </a:solidFill>
                <a:latin typeface="Calibri (MS)"/>
              </a:rPr>
              <a:t>rata-rata 71,4</a:t>
            </a:r>
          </a:p>
        </p:txBody>
      </p:sp>
      <p:sp>
        <p:nvSpPr>
          <p:cNvPr id="32" name="Rounded Rectangle 31"/>
          <p:cNvSpPr/>
          <p:nvPr/>
        </p:nvSpPr>
        <p:spPr>
          <a:xfrm>
            <a:off x="11612880" y="2944368"/>
            <a:ext cx="585216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Excellent  </a:t>
            </a:r>
            <a:r>
              <a:rPr sz="1150" b="0" i="0">
                <a:solidFill>
                  <a:srgbClr val="14313B"/>
                </a:solidFill>
                <a:latin typeface="Calibri (MS)"/>
              </a:rPr>
              <a:t>rata-rata 85,5</a:t>
            </a:r>
          </a:p>
        </p:txBody>
      </p:sp>
      <p:sp>
        <p:nvSpPr>
          <p:cNvPr id="33" name="Rounded Rectangle 32"/>
          <p:cNvSpPr/>
          <p:nvPr/>
        </p:nvSpPr>
        <p:spPr>
          <a:xfrm>
            <a:off x="11612880" y="3511296"/>
            <a:ext cx="5852160" cy="475488"/>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200" b="1" i="0">
                <a:solidFill>
                  <a:srgbClr val="0B5E6E"/>
                </a:solidFill>
                <a:latin typeface="Calibri (MS) Bold"/>
              </a:rPr>
              <a:t>Best Imaginable  </a:t>
            </a:r>
            <a:r>
              <a:rPr sz="1150" b="0" i="0">
                <a:solidFill>
                  <a:srgbClr val="14313B"/>
                </a:solidFill>
                <a:latin typeface="Calibri (MS)"/>
              </a:rPr>
              <a:t>rata-rata 90,9</a:t>
            </a:r>
          </a:p>
        </p:txBody>
      </p:sp>
      <p:sp>
        <p:nvSpPr>
          <p:cNvPr id="34" name="Rounded Rectangle 33"/>
          <p:cNvSpPr/>
          <p:nvPr/>
        </p:nvSpPr>
        <p:spPr>
          <a:xfrm>
            <a:off x="11612880" y="4114800"/>
            <a:ext cx="585216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2800" b="1" i="0">
                <a:solidFill>
                  <a:srgbClr val="FFFFFF"/>
                </a:solidFill>
                <a:latin typeface="Calibri (MS) Bold"/>
              </a:rPr>
              <a:t>88,50</a:t>
            </a:r>
          </a:p>
          <a:p>
            <a:pPr algn="ctr">
              <a:spcAft>
                <a:spcPts val="300"/>
              </a:spcAft>
            </a:pPr>
            <a:r>
              <a:rPr sz="1200" b="0" i="0">
                <a:solidFill>
                  <a:srgbClr val="D7EEF2"/>
                </a:solidFill>
                <a:latin typeface="Calibri (MS)"/>
              </a:rPr>
              <a:t>antara Excellent dan Best Imaginable</a:t>
            </a:r>
          </a:p>
        </p:txBody>
      </p:sp>
      <p:sp>
        <p:nvSpPr>
          <p:cNvPr id="35" name="Rounded Rectangle 34"/>
          <p:cNvSpPr/>
          <p:nvPr/>
        </p:nvSpPr>
        <p:spPr>
          <a:xfrm>
            <a:off x="822960" y="5715000"/>
            <a:ext cx="16642080" cy="438912"/>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00" b="1" i="0">
                <a:solidFill>
                  <a:srgbClr val="FFFFFF"/>
                </a:solidFill>
                <a:latin typeface="Calibri (MS) Bold"/>
              </a:rPr>
              <a:t>Jawaban pertanyaan terbuka (yang berisi catatan)</a:t>
            </a:r>
          </a:p>
        </p:txBody>
      </p:sp>
      <p:graphicFrame>
        <p:nvGraphicFramePr>
          <p:cNvPr id="36" name="Table 35"/>
          <p:cNvGraphicFramePr>
            <a:graphicFrameLocks noGrp="1"/>
          </p:cNvGraphicFramePr>
          <p:nvPr/>
        </p:nvGraphicFramePr>
        <p:xfrm>
          <a:off x="822960" y="6217920"/>
          <a:ext cx="16642079" cy="2103120"/>
        </p:xfrm>
        <a:graphic>
          <a:graphicData uri="http://schemas.openxmlformats.org/drawingml/2006/table">
            <a:tbl>
              <a:tblPr firstRow="1" bandRow="1">
                <a:tableStyleId>{5C22544A-7EE6-4342-B048-85BDC9FD1C3A}</a:tableStyleId>
              </a:tblPr>
              <a:tblGrid>
                <a:gridCol w="914400"/>
                <a:gridCol w="8595360"/>
                <a:gridCol w="7132319"/>
              </a:tblGrid>
              <a:tr h="420624">
                <a:tc>
                  <a:txBody>
                    <a:bodyPr wrap="square"/>
                    <a:lstStyle/>
                    <a:p>
                      <a:pPr algn="ctr"/>
                      <a:r>
                        <a:rPr sz="1050" b="1" i="0">
                          <a:solidFill>
                            <a:srgbClr val="FFFFFF"/>
                          </a:solidFill>
                          <a:latin typeface="Calibri (MS) Bold"/>
                        </a:rPr>
                        <a:t>Resp.</a:t>
                      </a:r>
                    </a:p>
                  </a:txBody>
                  <a:tcPr marL="73152" marR="73152" marT="36576" marB="36576" anchor="ctr">
                    <a:solidFill>
                      <a:srgbClr val="0B5E6E"/>
                    </a:solidFill>
                  </a:tcPr>
                </a:tc>
                <a:tc>
                  <a:txBody>
                    <a:bodyPr wrap="square"/>
                    <a:lstStyle/>
                    <a:p>
                      <a:r>
                        <a:rPr sz="1050" b="1" i="0">
                          <a:solidFill>
                            <a:srgbClr val="FFFFFF"/>
                          </a:solidFill>
                          <a:latin typeface="Calibri (MS) Bold"/>
                        </a:rPr>
                        <a:t>Bagian yang membingungkan</a:t>
                      </a:r>
                    </a:p>
                  </a:txBody>
                  <a:tcPr marL="73152" marR="73152" marT="36576" marB="36576" anchor="ctr">
                    <a:solidFill>
                      <a:srgbClr val="0B5E6E"/>
                    </a:solidFill>
                  </a:tcPr>
                </a:tc>
                <a:tc>
                  <a:txBody>
                    <a:bodyPr wrap="square"/>
                    <a:lstStyle/>
                    <a:p>
                      <a:r>
                        <a:rPr sz="1050" b="1" i="0">
                          <a:solidFill>
                            <a:srgbClr val="FFFFFF"/>
                          </a:solidFill>
                          <a:latin typeface="Calibri (MS) Bold"/>
                        </a:rPr>
                        <a:t>Saran</a:t>
                      </a:r>
                    </a:p>
                  </a:txBody>
                  <a:tcPr marL="73152" marR="73152" marT="36576" marB="36576" anchor="ctr">
                    <a:solidFill>
                      <a:srgbClr val="0B5E6E"/>
                    </a:solidFill>
                  </a:tcPr>
                </a:tc>
              </a:tr>
              <a:tr h="420624">
                <a:tc>
                  <a:txBody>
                    <a:bodyPr wrap="square"/>
                    <a:lstStyle/>
                    <a:p>
                      <a:pPr algn="ctr"/>
                      <a:r>
                        <a:rPr sz="1050" b="1" i="0">
                          <a:solidFill>
                            <a:srgbClr val="14313B"/>
                          </a:solidFill>
                          <a:latin typeface="Calibri (MS) Bold"/>
                        </a:rPr>
                        <a:t>R1</a:t>
                      </a:r>
                    </a:p>
                  </a:txBody>
                  <a:tcPr marL="73152" marR="73152" marT="36576" marB="36576" anchor="ctr">
                    <a:solidFill>
                      <a:srgbClr val="FFFFFF"/>
                    </a:solidFill>
                  </a:tcPr>
                </a:tc>
                <a:tc>
                  <a:txBody>
                    <a:bodyPr wrap="square"/>
                    <a:lstStyle/>
                    <a:p>
                      <a:r>
                        <a:rPr sz="1050" b="0" i="0">
                          <a:solidFill>
                            <a:srgbClr val="14313B"/>
                          </a:solidFill>
                          <a:latin typeface="Calibri (MS)"/>
                        </a:rPr>
                        <a:t>Penjelasan teknis; sebaiknya setelah simulasi ada interpretasi tiap grafik (bisa berupa templat mengikuti angka)</a:t>
                      </a:r>
                    </a:p>
                  </a:txBody>
                  <a:tcPr marL="73152" marR="73152" marT="36576" marB="36576" anchor="ctr">
                    <a:solidFill>
                      <a:srgbClr val="FFFFFF"/>
                    </a:solidFill>
                  </a:tcPr>
                </a:tc>
                <a:tc>
                  <a:txBody>
                    <a:bodyPr wrap="square"/>
                    <a:lstStyle/>
                    <a:p>
                      <a:r>
                        <a:rPr sz="1050" b="0" i="0">
                          <a:solidFill>
                            <a:srgbClr val="14313B"/>
                          </a:solidFill>
                          <a:latin typeface="Calibri (MS)"/>
                        </a:rPr>
                        <a:t>Tambahkan fitur chatbot ke depannya</a:t>
                      </a:r>
                    </a:p>
                  </a:txBody>
                  <a:tcPr marL="73152" marR="73152" marT="36576" marB="36576" anchor="ctr">
                    <a:solidFill>
                      <a:srgbClr val="FFFFFF"/>
                    </a:solidFill>
                  </a:tcPr>
                </a:tc>
              </a:tr>
              <a:tr h="420624">
                <a:tc>
                  <a:txBody>
                    <a:bodyPr wrap="square"/>
                    <a:lstStyle/>
                    <a:p>
                      <a:pPr algn="ctr"/>
                      <a:r>
                        <a:rPr sz="1050" b="1" i="0">
                          <a:solidFill>
                            <a:srgbClr val="14313B"/>
                          </a:solidFill>
                          <a:latin typeface="Calibri (MS) Bold"/>
                        </a:rPr>
                        <a:t>R5</a:t>
                      </a:r>
                    </a:p>
                  </a:txBody>
                  <a:tcPr marL="73152" marR="73152" marT="36576" marB="36576" anchor="ctr">
                    <a:solidFill>
                      <a:srgbClr val="EAF8FA"/>
                    </a:solidFill>
                  </a:tcPr>
                </a:tc>
                <a:tc>
                  <a:txBody>
                    <a:bodyPr wrap="square"/>
                    <a:lstStyle/>
                    <a:p>
                      <a:r>
                        <a:rPr sz="1050" b="0" i="0">
                          <a:solidFill>
                            <a:srgbClr val="14313B"/>
                          </a:solidFill>
                          <a:latin typeface="Calibri (MS)"/>
                        </a:rPr>
                        <a:t>Di bagian tuas kebijakan ada dua garis yang membingungkan</a:t>
                      </a:r>
                    </a:p>
                  </a:txBody>
                  <a:tcPr marL="73152" marR="73152" marT="36576" marB="36576" anchor="ctr">
                    <a:solidFill>
                      <a:srgbClr val="EAF8FA"/>
                    </a:solidFill>
                  </a:tcPr>
                </a:tc>
                <a:tc>
                  <a:txBody>
                    <a:bodyPr wrap="square"/>
                    <a:lstStyle/>
                    <a:p>
                      <a:r>
                        <a:rPr sz="1050" b="0" i="0">
                          <a:solidFill>
                            <a:srgbClr val="14313B"/>
                          </a:solidFill>
                          <a:latin typeface="Calibri (MS)"/>
                        </a:rPr>
                        <a:t>—</a:t>
                      </a:r>
                    </a:p>
                  </a:txBody>
                  <a:tcPr marL="73152" marR="73152" marT="36576" marB="36576" anchor="ctr">
                    <a:solidFill>
                      <a:srgbClr val="EAF8FA"/>
                    </a:solidFill>
                  </a:tcPr>
                </a:tc>
              </a:tr>
              <a:tr h="420624">
                <a:tc>
                  <a:txBody>
                    <a:bodyPr wrap="square"/>
                    <a:lstStyle/>
                    <a:p>
                      <a:pPr algn="ctr"/>
                      <a:r>
                        <a:rPr sz="1050" b="1" i="0">
                          <a:solidFill>
                            <a:srgbClr val="14313B"/>
                          </a:solidFill>
                          <a:latin typeface="Calibri (MS) Bold"/>
                        </a:rPr>
                        <a:t>R6</a:t>
                      </a:r>
                    </a:p>
                  </a:txBody>
                  <a:tcPr marL="73152" marR="73152" marT="36576" marB="36576" anchor="ctr">
                    <a:solidFill>
                      <a:srgbClr val="FFFFFF"/>
                    </a:solidFill>
                  </a:tcPr>
                </a:tc>
                <a:tc>
                  <a:txBody>
                    <a:bodyPr wrap="square"/>
                    <a:lstStyle/>
                    <a:p>
                      <a:r>
                        <a:rPr sz="1050" b="0" i="0">
                          <a:solidFill>
                            <a:srgbClr val="14313B"/>
                          </a:solidFill>
                          <a:latin typeface="Calibri (MS)"/>
                        </a:rPr>
                        <a:t>Bingung dalam menginterpretasikannya</a:t>
                      </a:r>
                    </a:p>
                  </a:txBody>
                  <a:tcPr marL="73152" marR="73152" marT="36576" marB="36576" anchor="ctr">
                    <a:solidFill>
                      <a:srgbClr val="FFFFFF"/>
                    </a:solidFill>
                  </a:tcPr>
                </a:tc>
                <a:tc>
                  <a:txBody>
                    <a:bodyPr wrap="square"/>
                    <a:lstStyle/>
                    <a:p>
                      <a:r>
                        <a:rPr sz="1050" b="0" i="0">
                          <a:solidFill>
                            <a:srgbClr val="14313B"/>
                          </a:solidFill>
                          <a:latin typeface="Calibri (MS)"/>
                        </a:rPr>
                        <a:t>Ada interpretasi atau buku panduan</a:t>
                      </a:r>
                    </a:p>
                  </a:txBody>
                  <a:tcPr marL="73152" marR="73152" marT="36576" marB="36576" anchor="ctr">
                    <a:solidFill>
                      <a:srgbClr val="FFFFFF"/>
                    </a:solidFill>
                  </a:tcPr>
                </a:tc>
              </a:tr>
              <a:tr h="420624">
                <a:tc>
                  <a:txBody>
                    <a:bodyPr wrap="square"/>
                    <a:lstStyle/>
                    <a:p>
                      <a:pPr algn="ctr"/>
                      <a:r>
                        <a:rPr sz="1050" b="1" i="0">
                          <a:solidFill>
                            <a:srgbClr val="14313B"/>
                          </a:solidFill>
                          <a:latin typeface="Calibri (MS) Bold"/>
                        </a:rPr>
                        <a:t>R3</a:t>
                      </a:r>
                    </a:p>
                  </a:txBody>
                  <a:tcPr marL="73152" marR="73152" marT="36576" marB="36576" anchor="ctr">
                    <a:solidFill>
                      <a:srgbClr val="EAF8FA"/>
                    </a:solidFill>
                  </a:tcPr>
                </a:tc>
                <a:tc>
                  <a:txBody>
                    <a:bodyPr wrap="square"/>
                    <a:lstStyle/>
                    <a:p>
                      <a:r>
                        <a:rPr sz="1050" b="0" i="0">
                          <a:solidFill>
                            <a:srgbClr val="14313B"/>
                          </a:solidFill>
                          <a:latin typeface="Calibri (MS)"/>
                        </a:rPr>
                        <a:t>Tidak ada; semua fitur mudah dipahami</a:t>
                      </a:r>
                    </a:p>
                  </a:txBody>
                  <a:tcPr marL="73152" marR="73152" marT="36576" marB="36576" anchor="ctr">
                    <a:solidFill>
                      <a:srgbClr val="EAF8FA"/>
                    </a:solidFill>
                  </a:tcPr>
                </a:tc>
                <a:tc>
                  <a:txBody>
                    <a:bodyPr wrap="square"/>
                    <a:lstStyle/>
                    <a:p>
                      <a:r>
                        <a:rPr sz="1050" b="0" i="0">
                          <a:solidFill>
                            <a:srgbClr val="14313B"/>
                          </a:solidFill>
                          <a:latin typeface="Calibri (MS)"/>
                        </a:rPr>
                        <a:t>Aplikasi sudah sangat baik dan mudah digunakan</a:t>
                      </a:r>
                    </a:p>
                  </a:txBody>
                  <a:tcPr marL="73152" marR="73152" marT="36576" marB="36576" anchor="ctr">
                    <a:solidFill>
                      <a:srgbClr val="EAF8FA"/>
                    </a:solidFill>
                  </a:tcPr>
                </a:tc>
              </a:tr>
            </a:tbl>
          </a:graphicData>
        </a:graphic>
      </p:graphicFrame>
      <p:sp>
        <p:nvSpPr>
          <p:cNvPr id="37" name="TextBox 3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4.9.3 (Tabel 66); Evaluasi SUS (Responses).xlsx. Enam responden lain tidak memberi catatan.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2"/>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3">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4">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5">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6">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600" b="true">
                <a:solidFill>
                  <a:srgbClr val="0B5E6E"/>
                </a:solidFill>
                <a:latin typeface="Calibri (MS) Bold"/>
                <a:ea typeface="Calibri (MS) Bold"/>
                <a:cs typeface="Calibri (MS) Bold"/>
                <a:sym typeface="Calibri (MS) Bold"/>
              </a:rPr>
              <a:t>Lampiran 87 · Keterbatasan Penelitian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3">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4">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5">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6">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166</a:t>
            </a:r>
          </a:p>
        </p:txBody>
      </p:sp>
      <p:sp>
        <p:nvSpPr>
          <p:cNvPr id="26" name="TextBox 25"/>
          <p:cNvSpPr txBox="1"/>
          <p:nvPr/>
        </p:nvSpPr>
        <p:spPr>
          <a:xfrm>
            <a:off x="822960" y="1417320"/>
            <a:ext cx="16642080" cy="411480"/>
          </a:xfrm>
          <a:prstGeom prst="rect">
            <a:avLst/>
          </a:prstGeom>
          <a:noFill/>
        </p:spPr>
        <p:txBody>
          <a:bodyPr wrap="square" anchor="t" lIns="0" rIns="0" tIns="0" bIns="0">
            <a:spAutoFit/>
          </a:bodyPr>
          <a:lstStyle/>
          <a:p>
            <a:pPr algn="l">
              <a:spcAft>
                <a:spcPts val="400"/>
              </a:spcAft>
            </a:pPr>
            <a:r>
              <a:rPr sz="1500" b="0" i="0">
                <a:solidFill>
                  <a:srgbClr val="4A5A63"/>
                </a:solidFill>
                <a:latin typeface="Calibri (MS)"/>
              </a:rPr>
              <a:t>Dikelompokkan menjadi keterbatasan data, struktur model, dan penafsiran</a:t>
            </a:r>
          </a:p>
        </p:txBody>
      </p:sp>
      <p:sp>
        <p:nvSpPr>
          <p:cNvPr id="27" name="Rounded Rectangle 26"/>
          <p:cNvSpPr/>
          <p:nvPr/>
        </p:nvSpPr>
        <p:spPr>
          <a:xfrm>
            <a:off x="822960" y="1874519"/>
            <a:ext cx="5394960" cy="59436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FFFFFF"/>
                </a:solidFill>
                <a:latin typeface="Calibri (MS) Bold"/>
              </a:rPr>
              <a:t>Data</a:t>
            </a:r>
          </a:p>
        </p:txBody>
      </p:sp>
      <p:sp>
        <p:nvSpPr>
          <p:cNvPr id="28" name="Rounded Rectangle 27"/>
          <p:cNvSpPr/>
          <p:nvPr/>
        </p:nvSpPr>
        <p:spPr>
          <a:xfrm>
            <a:off x="822960" y="2560320"/>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Patahan metode wisnus 2018→2019; faktor sambung tidak pasti (2,22–2,38).</a:t>
            </a:r>
          </a:p>
        </p:txBody>
      </p:sp>
      <p:sp>
        <p:nvSpPr>
          <p:cNvPr id="29" name="Rounded Rectangle 28"/>
          <p:cNvSpPr/>
          <p:nvPr/>
        </p:nvSpPr>
        <p:spPr>
          <a:xfrm>
            <a:off x="822960" y="3639311"/>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Lahan terbangun citra berderau (turun 27% dalam dua tahun, tidak mungkin secara fisik).</a:t>
            </a:r>
          </a:p>
        </p:txBody>
      </p:sp>
      <p:sp>
        <p:nvSpPr>
          <p:cNvPr id="30" name="Rounded Rectangle 29"/>
          <p:cNvSpPr/>
          <p:nvPr/>
        </p:nvSpPr>
        <p:spPr>
          <a:xfrm>
            <a:off x="822960" y="4718304"/>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ODTW 2015–2017 dan 2025 hasil estimasi NTL dengan R² ±0,41.</a:t>
            </a:r>
          </a:p>
        </p:txBody>
      </p:sp>
      <p:sp>
        <p:nvSpPr>
          <p:cNvPr id="31" name="Rounded Rectangle 30"/>
          <p:cNvSpPr/>
          <p:nvPr/>
        </p:nvSpPr>
        <p:spPr>
          <a:xfrm>
            <a:off x="822960" y="5797296"/>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Lonjakan akomodasi 2018 diduga akibat perluasan cakupan pendataan.</a:t>
            </a:r>
          </a:p>
        </p:txBody>
      </p:sp>
      <p:sp>
        <p:nvSpPr>
          <p:cNvPr id="32" name="Rounded Rectangle 31"/>
          <p:cNvSpPr/>
          <p:nvPr/>
        </p:nvSpPr>
        <p:spPr>
          <a:xfrm>
            <a:off x="822960" y="6876288"/>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Investasi hanya PMA/PMDN (BKPM): tanpa UMKM dan APBN/APBD.</a:t>
            </a:r>
          </a:p>
        </p:txBody>
      </p:sp>
      <p:sp>
        <p:nvSpPr>
          <p:cNvPr id="33" name="Rounded Rectangle 32"/>
          <p:cNvSpPr/>
          <p:nvPr/>
        </p:nvSpPr>
        <p:spPr>
          <a:xfrm>
            <a:off x="6446520" y="1874519"/>
            <a:ext cx="5394960" cy="594360"/>
          </a:xfrm>
          <a:prstGeom prst="roundRect">
            <a:avLst>
              <a:gd name="adj" fmla="val 8000"/>
            </a:avLst>
          </a:prstGeom>
          <a:solidFill>
            <a:srgbClr val="2A9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FFFFFF"/>
                </a:solidFill>
                <a:latin typeface="Calibri (MS) Bold"/>
              </a:rPr>
              <a:t>Struktur model</a:t>
            </a:r>
          </a:p>
        </p:txBody>
      </p:sp>
      <p:sp>
        <p:nvSpPr>
          <p:cNvPr id="34" name="Rounded Rectangle 33"/>
          <p:cNvSpPr/>
          <p:nvPr/>
        </p:nvSpPr>
        <p:spPr>
          <a:xfrm>
            <a:off x="6446520" y="2560320"/>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Guncangan, harga, promosi, musim, dan aspek lingkungan di luar batas model.</a:t>
            </a:r>
          </a:p>
        </p:txBody>
      </p:sp>
      <p:sp>
        <p:nvSpPr>
          <p:cNvPr id="35" name="Rounded Rectangle 34"/>
          <p:cNvSpPr/>
          <p:nvPr/>
        </p:nvSpPr>
        <p:spPr>
          <a:xfrm>
            <a:off x="6446520" y="3639311"/>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Daya dukung lahan memakai luas wilayah administratif, sehingga longgar.</a:t>
            </a:r>
          </a:p>
        </p:txBody>
      </p:sp>
      <p:sp>
        <p:nvSpPr>
          <p:cNvPr id="36" name="Rounded Rectangle 35"/>
          <p:cNvSpPr/>
          <p:nvPr/>
        </p:nvSpPr>
        <p:spPr>
          <a:xfrm>
            <a:off x="6446520" y="4718304"/>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Permintaan kamar tak terlayani tidak menekan kunjungan.</a:t>
            </a:r>
          </a:p>
        </p:txBody>
      </p:sp>
      <p:sp>
        <p:nvSpPr>
          <p:cNvPr id="37" name="Rounded Rectangle 36"/>
          <p:cNvSpPr/>
          <p:nvPr/>
        </p:nvSpPr>
        <p:spPr>
          <a:xfrm>
            <a:off x="6446520" y="5797296"/>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Tenaga kerja hanya indikator keluaran, tanpa umpan balik.</a:t>
            </a:r>
          </a:p>
        </p:txBody>
      </p:sp>
      <p:sp>
        <p:nvSpPr>
          <p:cNvPr id="38" name="Rounded Rectangle 37"/>
          <p:cNvSpPr/>
          <p:nvPr/>
        </p:nvSpPr>
        <p:spPr>
          <a:xfrm>
            <a:off x="6446520" y="6876288"/>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Pembangunan ODTW lewat APBD dan pemberdayaan masyarakat tidak bisa diuji sebagai tuas.</a:t>
            </a:r>
          </a:p>
        </p:txBody>
      </p:sp>
      <p:sp>
        <p:nvSpPr>
          <p:cNvPr id="39" name="Rounded Rectangle 38"/>
          <p:cNvSpPr/>
          <p:nvPr/>
        </p:nvSpPr>
        <p:spPr>
          <a:xfrm>
            <a:off x="12070080" y="1874519"/>
            <a:ext cx="5394960" cy="594360"/>
          </a:xfrm>
          <a:prstGeom prst="roundRect">
            <a:avLst>
              <a:gd name="adj" fmla="val 8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1600" b="1" i="0">
                <a:solidFill>
                  <a:srgbClr val="FFFFFF"/>
                </a:solidFill>
                <a:latin typeface="Calibri (MS) Bold"/>
              </a:rPr>
              <a:t>Penafsiran</a:t>
            </a:r>
          </a:p>
        </p:txBody>
      </p:sp>
      <p:sp>
        <p:nvSpPr>
          <p:cNvPr id="40" name="Rounded Rectangle 39"/>
          <p:cNvSpPr/>
          <p:nvPr/>
        </p:nvSpPr>
        <p:spPr>
          <a:xfrm>
            <a:off x="12070080" y="2560320"/>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Rasio LPD/LPE paling menentukan, tetapi tidak teridentifikasi dari data.</a:t>
            </a:r>
          </a:p>
        </p:txBody>
      </p:sp>
      <p:sp>
        <p:nvSpPr>
          <p:cNvPr id="41" name="Rounded Rectangle 40"/>
          <p:cNvSpPr/>
          <p:nvPr/>
        </p:nvSpPr>
        <p:spPr>
          <a:xfrm>
            <a:off x="12070080" y="3639311"/>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Nilai tuas adalah ketetapan peneliti, bukan target resmi.</a:t>
            </a:r>
          </a:p>
        </p:txBody>
      </p:sp>
      <p:sp>
        <p:nvSpPr>
          <p:cNvPr id="42" name="Rounded Rectangle 41"/>
          <p:cNvSpPr/>
          <p:nvPr/>
        </p:nvSpPr>
        <p:spPr>
          <a:xfrm>
            <a:off x="12070080" y="4718304"/>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Ambang kepadatan 2,0 ketetapan peneliti: dibaca sebagai sinyal deskriptif.</a:t>
            </a:r>
          </a:p>
        </p:txBody>
      </p:sp>
      <p:sp>
        <p:nvSpPr>
          <p:cNvPr id="43" name="Rounded Rectangle 42"/>
          <p:cNvSpPr/>
          <p:nvPr/>
        </p:nvSpPr>
        <p:spPr>
          <a:xfrm>
            <a:off x="12070080" y="5797296"/>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Evaluasi pascakalibrasi memakai data yang sama, bukan validasi independen.</a:t>
            </a:r>
          </a:p>
        </p:txBody>
      </p:sp>
      <p:sp>
        <p:nvSpPr>
          <p:cNvPr id="44" name="Rounded Rectangle 43"/>
          <p:cNvSpPr/>
          <p:nvPr/>
        </p:nvSpPr>
        <p:spPr>
          <a:xfrm>
            <a:off x="12070080" y="6876288"/>
            <a:ext cx="5394960" cy="98755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150" b="0" i="0">
                <a:solidFill>
                  <a:srgbClr val="14313B"/>
                </a:solidFill>
                <a:latin typeface="Calibri (MS)"/>
              </a:rPr>
              <a:t>Skenario disusun tanpa lokakarya pemangku kepentingan.</a:t>
            </a:r>
          </a:p>
        </p:txBody>
      </p:sp>
      <p:sp>
        <p:nvSpPr>
          <p:cNvPr id="45" name="Rounded Rectangle 44"/>
          <p:cNvSpPr/>
          <p:nvPr/>
        </p:nvSpPr>
        <p:spPr>
          <a:xfrm>
            <a:off x="822960" y="809244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00" b="1" i="0">
                <a:solidFill>
                  <a:srgbClr val="0B5E6E"/>
                </a:solidFill>
                <a:latin typeface="Calibri (MS) Bold"/>
              </a:rPr>
              <a:t>Konsekuensi  </a:t>
            </a:r>
            <a:r>
              <a:rPr sz="1200" b="0" i="0">
                <a:solidFill>
                  <a:srgbClr val="14313B"/>
                </a:solidFill>
                <a:latin typeface="Calibri (MS)"/>
              </a:rPr>
              <a:t>Karena keterbatasan ini, model dipakai untuk membandingkan arah dan besaran relatif antarskenario, bukan untuk meramalkan angka absolut pada tahun tertentu.</a:t>
            </a:r>
          </a:p>
        </p:txBody>
      </p:sp>
      <p:sp>
        <p:nvSpPr>
          <p:cNvPr id="46" name="TextBox 4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050" b="0" i="1">
                <a:solidFill>
                  <a:srgbClr val="5E6E78"/>
                </a:solidFill>
                <a:latin typeface="Calibri (MS)"/>
              </a:rPr>
              <a:t>Sumber: Buku Subbab 4.10.1.</a:t>
            </a:r>
          </a:p>
        </p:txBody>
      </p:sp>
    </p:spTree>
  </p:cSld>
  <p:clrMapOvr>
    <a:masterClrMapping/>
  </p:clrMapOvr>
</p:sld>
</file>

<file path=ppt/slides/slide1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88 · Daftar istilah (1/2): kode uji dan tahapan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167</a:t>
            </a:r>
          </a:p>
        </p:txBody>
      </p:sp>
      <p:graphicFrame>
        <p:nvGraphicFramePr>
          <p:cNvPr name="Table 26" id="26"/>
          <p:cNvGraphicFramePr>
            <a:graphicFrameLocks noGrp="true"/>
          </p:cNvGraphicFramePr>
          <p:nvPr/>
        </p:nvGraphicFramePr>
        <p:xfrm>
          <a:off x="822960" y="1828800"/>
          <a:ext cx="16624300" cy="6705600"/>
        </p:xfrm>
        <a:graphic>
          <a:graphicData uri="http://schemas.openxmlformats.org/drawingml/2006/table">
            <a:tbl>
              <a:tblPr/>
              <a:tblGrid>
                <a:gridCol w="2100873"/>
                <a:gridCol w="14523427"/>
              </a:tblGrid>
              <a:tr h="5588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Kode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Arti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P1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Uji parsial subsistem akomodasi (jumlah hotel dan TPK); input dari subsistem lain diganti data aktual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P1b</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Variasi P1 yang memakai rata-rata kamar per unit dari data aktual, untuk mengecek robustness rancangan P1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P2 · P3 · P4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Uji parsial subsistem ODTW · tenaga kerja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P5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Uji parsial subsistem wisatawan; memakai data wisnus yang sudah disesuaikan sejak 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Uji penuh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Seluruh model dijalankan bersama tanpa penggantian data (2019–2025, 9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E01–E17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17 uji kondisi ekstrem: satu parameter dibuat nol atau dilipatgandakan (mis. E01 LPE = 0; E04 rasio investasi/PDRB = 0; E09 laju konversi ×10)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Tahap 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Tahap kalibrasi: 0 koreksi LPE/LPD · 1 akomodasi · 2 lahan · 3 wisatawan (hanya pemeriksaan) · 4 uji kecocokan pada model penuh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Aturan R1–R4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Aturan keputusan kalibrasi (berbeda dengan loop R1–R2): R1 nilai dari data termasuk kumpulan nilai setara → dipertahankan; R2 kumpulan setara menyentuh kedua ujung rentang → tidak bisa ditentukan; R3 optimum di ujung rentang → cek leave-one-year-out; R4 lainnya → dipakai bila lolos Tahap 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M1 · M2 · S · 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Syarat penolakan Tahap 4: NRMSE variabel target memburuk &gt; 5% · rata-rata NRMSE 9 variabel memburuk &gt; 5% · uji ekstrem gagal · simulasi tidak stabil pada horizon diperpanjang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D-A · D-B · D-C</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Varian pemeriksaan Tahap 3: D-A periode 2016–2019 (LPE 0,440) · D-B 2016–2019 + 2022–2025 (0,490) · D-C periode D-A dengan faktor penyesuaian 2,22 atau 2,38 (0,410 / 0,470)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C0–C6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Kondisi uji robustness skenario: C0 acuan (nilai final); C1–C6 menggeser rasio LPD/LPE (0,65; 0,90), bobot daya tarik (2 kombinasi lain), dan laju konversi dasar (batas bawah/atas selang 95%)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032" r="0" b="-513029"/>
              </a:stretch>
            </a:blipFill>
          </p:spPr>
        </p:sp>
      </p:grpSp>
      <p:grpSp>
        <p:nvGrpSpPr>
          <p:cNvPr name="Group 10" id="10"/>
          <p:cNvGrpSpPr/>
          <p:nvPr/>
        </p:nvGrpSpPr>
        <p:grpSpPr>
          <a:xfrm rot="0">
            <a:off x="822960" y="9674066"/>
            <a:ext cx="12344400" cy="448342"/>
            <a:chOff x="0" y="0"/>
            <a:chExt cx="16459200" cy="597789"/>
          </a:xfrm>
        </p:grpSpPr>
        <p:sp>
          <p:nvSpPr>
            <p:cNvPr name="Freeform 11" id="11"/>
            <p:cNvSpPr/>
            <p:nvPr/>
          </p:nvSpPr>
          <p:spPr>
            <a:xfrm flipH="false" flipV="false" rot="0">
              <a:off x="0" y="0"/>
              <a:ext cx="16459200" cy="597788"/>
            </a:xfrm>
            <a:custGeom>
              <a:avLst/>
              <a:gdLst/>
              <a:ahLst/>
              <a:cxnLst/>
              <a:rect r="r" b="b" t="t" l="l"/>
              <a:pathLst>
                <a:path h="597788" w="16459200">
                  <a:moveTo>
                    <a:pt x="0" y="0"/>
                  </a:moveTo>
                  <a:lnTo>
                    <a:pt x="16459200" y="0"/>
                  </a:lnTo>
                  <a:lnTo>
                    <a:pt x="16459200" y="597788"/>
                  </a:lnTo>
                  <a:lnTo>
                    <a:pt x="0" y="597788"/>
                  </a:lnTo>
                  <a:close/>
                </a:path>
              </a:pathLst>
            </a:custGeom>
            <a:blipFill>
              <a:blip r:embed="rId7">
                <a:alphaModFix amt="0"/>
              </a:blip>
              <a:stretch>
                <a:fillRect l="0" t="-486491" r="0" b="-486491"/>
              </a:stretch>
            </a:blipFill>
          </p:spPr>
        </p:sp>
        <p:sp>
          <p:nvSpPr>
            <p:cNvPr name="TextBox 12" id="12"/>
            <p:cNvSpPr txBox="true"/>
            <p:nvPr/>
          </p:nvSpPr>
          <p:spPr>
            <a:xfrm>
              <a:off x="0" y="-28575"/>
              <a:ext cx="16459200" cy="62636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3" id="13"/>
          <p:cNvSpPr txBox="true"/>
          <p:nvPr/>
        </p:nvSpPr>
        <p:spPr>
          <a:xfrm rot="0">
            <a:off x="822960" y="682752"/>
            <a:ext cx="16637508" cy="1402080"/>
          </a:xfrm>
          <a:prstGeom prst="rect">
            <a:avLst/>
          </a:prstGeom>
        </p:spPr>
        <p:txBody>
          <a:bodyPr anchor="t" rtlCol="false" tIns="0" lIns="0" bIns="0" rIns="0">
            <a:spAutoFit/>
          </a:bodyPr>
          <a:lstStyle/>
          <a:p>
            <a:pPr algn="l">
              <a:lnSpc>
                <a:spcPts val="4860"/>
              </a:lnSpc>
            </a:pPr>
            <a:r>
              <a:rPr lang="en-US" sz="3000" b="true">
                <a:solidFill>
                  <a:srgbClr val="0B5E6E"/>
                </a:solidFill>
                <a:latin typeface="Calibri (MS) Bold"/>
                <a:ea typeface="Calibri (MS) Bold"/>
                <a:cs typeface="Calibri (MS) Bold"/>
                <a:sym typeface="Calibri (MS) Bold"/>
              </a:rPr>
              <a:t>Lampiran 89 · Daftar istilah (2/2): ukuran dan singkatan</a:t>
            </a:r>
          </a:p>
        </p:txBody>
      </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6" id="16"/>
          <p:cNvGrpSpPr/>
          <p:nvPr/>
        </p:nvGrpSpPr>
        <p:grpSpPr>
          <a:xfrm rot="0">
            <a:off x="822960" y="274320"/>
            <a:ext cx="1366076" cy="411480"/>
            <a:chOff x="0" y="0"/>
            <a:chExt cx="1821434" cy="548640"/>
          </a:xfrm>
        </p:grpSpPr>
        <p:sp>
          <p:nvSpPr>
            <p:cNvPr name="Freeform 17" id="17"/>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sp>
      </p:grpSp>
      <p:grpSp>
        <p:nvGrpSpPr>
          <p:cNvPr name="Group 18" id="18"/>
          <p:cNvGrpSpPr/>
          <p:nvPr/>
        </p:nvGrpSpPr>
        <p:grpSpPr>
          <a:xfrm rot="0">
            <a:off x="822960" y="260033"/>
            <a:ext cx="1366076" cy="425768"/>
            <a:chOff x="0" y="0"/>
            <a:chExt cx="1821434" cy="567690"/>
          </a:xfrm>
        </p:grpSpPr>
        <p:sp>
          <p:nvSpPr>
            <p:cNvPr name="Freeform 19" id="19"/>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4" r="0" b="-12474"/>
              </a:stretch>
            </a:blipFill>
          </p:spPr>
        </p:sp>
      </p:grpSp>
      <p:grpSp>
        <p:nvGrpSpPr>
          <p:cNvPr name="Group 20" id="20"/>
          <p:cNvGrpSpPr/>
          <p:nvPr/>
        </p:nvGrpSpPr>
        <p:grpSpPr>
          <a:xfrm rot="0">
            <a:off x="822960" y="245745"/>
            <a:ext cx="1366114" cy="440055"/>
            <a:chOff x="0" y="0"/>
            <a:chExt cx="1821485" cy="586740"/>
          </a:xfrm>
        </p:grpSpPr>
        <p:sp>
          <p:nvSpPr>
            <p:cNvPr name="Freeform 21" id="21"/>
            <p:cNvSpPr/>
            <p:nvPr/>
          </p:nvSpPr>
          <p:spPr>
            <a:xfrm flipH="false" flipV="false" rot="0">
              <a:off x="0" y="0"/>
              <a:ext cx="1821434" cy="586740"/>
            </a:xfrm>
            <a:custGeom>
              <a:avLst/>
              <a:gdLst/>
              <a:ahLst/>
              <a:cxnLst/>
              <a:rect r="r" b="b" t="t" l="l"/>
              <a:pathLst>
                <a:path h="586740" w="1821434">
                  <a:moveTo>
                    <a:pt x="0" y="0"/>
                  </a:moveTo>
                  <a:lnTo>
                    <a:pt x="1821434" y="0"/>
                  </a:lnTo>
                  <a:lnTo>
                    <a:pt x="1821434" y="586740"/>
                  </a:lnTo>
                  <a:lnTo>
                    <a:pt x="0" y="586740"/>
                  </a:lnTo>
                  <a:close/>
                </a:path>
              </a:pathLst>
            </a:custGeom>
            <a:blipFill>
              <a:blip r:embed="rId6">
                <a:alphaModFix amt="0"/>
              </a:blip>
              <a:stretch>
                <a:fillRect l="0" t="-10448" r="-2" b="-10448"/>
              </a:stretch>
            </a:blipFill>
          </p:spPr>
        </p:sp>
      </p:grpSp>
      <p:grpSp>
        <p:nvGrpSpPr>
          <p:cNvPr name="Group 22" id="22"/>
          <p:cNvGrpSpPr/>
          <p:nvPr/>
        </p:nvGrpSpPr>
        <p:grpSpPr>
          <a:xfrm rot="0">
            <a:off x="822960" y="231458"/>
            <a:ext cx="1366114" cy="454343"/>
            <a:chOff x="0" y="0"/>
            <a:chExt cx="1821485" cy="605790"/>
          </a:xfrm>
        </p:grpSpPr>
        <p:sp>
          <p:nvSpPr>
            <p:cNvPr name="Freeform 23" id="23"/>
            <p:cNvSpPr/>
            <p:nvPr/>
          </p:nvSpPr>
          <p:spPr>
            <a:xfrm flipH="false" flipV="false" rot="0">
              <a:off x="0" y="0"/>
              <a:ext cx="1821485" cy="605790"/>
            </a:xfrm>
            <a:custGeom>
              <a:avLst/>
              <a:gdLst/>
              <a:ahLst/>
              <a:cxnLst/>
              <a:rect r="r" b="b" t="t" l="l"/>
              <a:pathLst>
                <a:path h="605790" w="1821485">
                  <a:moveTo>
                    <a:pt x="0" y="0"/>
                  </a:moveTo>
                  <a:lnTo>
                    <a:pt x="1821485" y="0"/>
                  </a:lnTo>
                  <a:lnTo>
                    <a:pt x="1821485" y="605790"/>
                  </a:lnTo>
                  <a:lnTo>
                    <a:pt x="0" y="605790"/>
                  </a:lnTo>
                  <a:close/>
                </a:path>
              </a:pathLst>
            </a:custGeom>
            <a:blipFill>
              <a:blip r:embed="rId7">
                <a:alphaModFix amt="0"/>
              </a:blip>
              <a:stretch>
                <a:fillRect l="0" t="-8587" r="0" b="-8587"/>
              </a:stretch>
            </a:blipFill>
          </p:spPr>
        </p:sp>
        <p:sp>
          <p:nvSpPr>
            <p:cNvPr name="TextBox 24" id="24"/>
            <p:cNvSpPr txBox="true"/>
            <p:nvPr/>
          </p:nvSpPr>
          <p:spPr>
            <a:xfrm>
              <a:off x="0" y="-19050"/>
              <a:ext cx="1821485" cy="6248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5" id="25"/>
          <p:cNvSpPr txBox="true"/>
          <p:nvPr/>
        </p:nvSpPr>
        <p:spPr>
          <a:xfrm rot="0">
            <a:off x="16550640" y="9604248"/>
            <a:ext cx="818388" cy="4724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168</a:t>
            </a:r>
          </a:p>
        </p:txBody>
      </p:sp>
      <p:graphicFrame>
        <p:nvGraphicFramePr>
          <p:cNvPr name="Table 26" id="26"/>
          <p:cNvGraphicFramePr>
            <a:graphicFrameLocks noGrp="true"/>
          </p:cNvGraphicFramePr>
          <p:nvPr/>
        </p:nvGraphicFramePr>
        <p:xfrm>
          <a:off x="822960" y="1828800"/>
          <a:ext cx="16637000" cy="7182130"/>
        </p:xfrm>
        <a:graphic>
          <a:graphicData uri="http://schemas.openxmlformats.org/drawingml/2006/table">
            <a:tbl>
              <a:tblPr/>
              <a:tblGrid>
                <a:gridCol w="3290835"/>
                <a:gridCol w="13346165"/>
              </a:tblGrid>
              <a:tr h="419098">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Istilah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Arti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76566">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R1 · 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Reinforcing loop (saling memperkuat): R1 pertumbuhan wisatawan · R2 ekonomi–objek 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B1–B4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Balancing loop (menahan pertumbuhan): B1 kepadatan · B2 daya dukung lahan · B3 kapasitas kamar · B4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E1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Error rata-rata = |rata-rata simulasi − rata-rata data| ÷ rata-rata data; baik bila &lt; 0,05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E2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Error variasi = |simpangan baku simulasi − simpangan baku data| ÷ simpangan baku data; baik bila &lt; 0,30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DC</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Discrepancy coefficient: 0 = sempurna; 0,4–0,7 = rata-rata sampai baik (Barlas)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U1 · U2 · 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Theil inequality: porsi error karena beda rata-rata (U1), beda variasi (U2), dan sisa acak (U3)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MAPE · NRMSE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Mean absolute percentage error · RMSE dibagi rata-rata data (fungsi tujuan kalibrasi)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LOOCV</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Leave-one-out cross-validation: satu tahun dikeluarkan bergantian lalu diprediksi oleh model sisanya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OA · UA · PA · F1 · κ</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Akurasi klasifikasi: keseluruhan · user's accuracy · producer's accuracy · F1-score · Kappa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Commission / omission error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Commission: terpetakan terbangun padahal bukan · Omission: terbangun tetapi tidak terpetakan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LPE · LPD</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Laju Pertumbuhan Eksternal · Laju Penurunan Dasar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RDDL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Rasio Daya Dukung Lahan = 1 − lahan terbangun ÷ luas wilayah DIY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TPK · TPG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Tingkat Penghunian Kamar · rata-rata tamu per kamar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ODTW · 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Objek Daya Tarik Wisata · night-time light (intensitas cahaya malam VIIRS)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BAU · Sustainable · DP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Business-as-Usual (tanpa kebijakan) · insentif 0,1 + konservasi 1,0 · Development Priority (insentif 0,3 + konservasi 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19098">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SUS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System Usability Scale, skor 0–100 (rata-rata umum ±68)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27" id="27"/>
          <p:cNvSpPr txBox="true"/>
          <p:nvPr/>
        </p:nvSpPr>
        <p:spPr>
          <a:xfrm rot="0">
            <a:off x="822960" y="9262110"/>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3.5, 3.7.4, 3.9, 4.1.3; Barlas (1996); Sterman (1984).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DAHXD8JLPuo</dc:identifier>
  <dcterms:modified xsi:type="dcterms:W3CDTF">2011-08-01T06:04:30Z</dcterms:modified>
  <cp:revision>1</cp:revision>
  <dc:title>PPT Sidang - Lengkap (Final (kurang lengkapi lampiran)</dc:title>
</cp:coreProperties>
</file>